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2"/>
  </p:sldMasterIdLst>
  <p:notesMasterIdLst>
    <p:notesMasterId r:id="rId64"/>
  </p:notesMasterIdLst>
  <p:handoutMasterIdLst>
    <p:handoutMasterId r:id="rId65"/>
  </p:handoutMasterIdLst>
  <p:sldIdLst>
    <p:sldId id="683" r:id="rId3"/>
    <p:sldId id="411" r:id="rId4"/>
    <p:sldId id="389" r:id="rId5"/>
    <p:sldId id="412" r:id="rId6"/>
    <p:sldId id="416" r:id="rId7"/>
    <p:sldId id="418" r:id="rId8"/>
    <p:sldId id="419" r:id="rId9"/>
    <p:sldId id="420" r:id="rId10"/>
    <p:sldId id="421" r:id="rId11"/>
    <p:sldId id="422" r:id="rId12"/>
    <p:sldId id="423" r:id="rId13"/>
    <p:sldId id="424" r:id="rId14"/>
    <p:sldId id="425" r:id="rId15"/>
    <p:sldId id="426" r:id="rId16"/>
    <p:sldId id="414" r:id="rId17"/>
    <p:sldId id="427" r:id="rId18"/>
    <p:sldId id="428" r:id="rId19"/>
    <p:sldId id="434" r:id="rId20"/>
    <p:sldId id="435" r:id="rId21"/>
    <p:sldId id="436" r:id="rId22"/>
    <p:sldId id="437" r:id="rId23"/>
    <p:sldId id="438" r:id="rId24"/>
    <p:sldId id="439" r:id="rId25"/>
    <p:sldId id="440" r:id="rId26"/>
    <p:sldId id="441" r:id="rId27"/>
    <p:sldId id="442" r:id="rId28"/>
    <p:sldId id="443" r:id="rId29"/>
    <p:sldId id="444" r:id="rId30"/>
    <p:sldId id="445" r:id="rId31"/>
    <p:sldId id="446" r:id="rId32"/>
    <p:sldId id="447" r:id="rId33"/>
    <p:sldId id="743" r:id="rId34"/>
    <p:sldId id="415" r:id="rId35"/>
    <p:sldId id="454" r:id="rId36"/>
    <p:sldId id="453" r:id="rId37"/>
    <p:sldId id="451" r:id="rId38"/>
    <p:sldId id="455" r:id="rId39"/>
    <p:sldId id="452" r:id="rId40"/>
    <p:sldId id="450" r:id="rId41"/>
    <p:sldId id="448" r:id="rId42"/>
    <p:sldId id="578" r:id="rId43"/>
    <p:sldId id="579" r:id="rId44"/>
    <p:sldId id="581" r:id="rId45"/>
    <p:sldId id="665" r:id="rId46"/>
    <p:sldId id="582" r:id="rId47"/>
    <p:sldId id="666" r:id="rId48"/>
    <p:sldId id="583" r:id="rId49"/>
    <p:sldId id="587" r:id="rId50"/>
    <p:sldId id="588" r:id="rId51"/>
    <p:sldId id="589" r:id="rId52"/>
    <p:sldId id="590" r:id="rId53"/>
    <p:sldId id="593" r:id="rId54"/>
    <p:sldId id="604" r:id="rId55"/>
    <p:sldId id="595" r:id="rId56"/>
    <p:sldId id="597" r:id="rId57"/>
    <p:sldId id="598" r:id="rId58"/>
    <p:sldId id="599" r:id="rId59"/>
    <p:sldId id="600" r:id="rId60"/>
    <p:sldId id="601" r:id="rId61"/>
    <p:sldId id="602" r:id="rId62"/>
    <p:sldId id="667" r:id="rId63"/>
  </p:sldIdLst>
  <p:sldSz cx="9144000" cy="6858000" type="screen4x3"/>
  <p:notesSz cx="6858000" cy="9144000"/>
  <p:custDataLst>
    <p:tags r:id="rId66"/>
  </p:custDataLst>
  <p:defaultTextStyle>
    <a:defPPr>
      <a:defRPr lang="zh-CN"/>
    </a:defPPr>
    <a:lvl1pPr marL="0" lvl="0" indent="0" algn="l" defTabSz="914400" rtl="0" eaLnBrk="1" fontAlgn="base" latinLnBrk="0" hangingPunct="1">
      <a:lnSpc>
        <a:spcPct val="90000"/>
      </a:lnSpc>
      <a:spcBef>
        <a:spcPct val="2000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47" userDrawn="1">
          <p15:clr>
            <a:srgbClr val="A4A3A4"/>
          </p15:clr>
        </p15:guide>
        <p15:guide id="2" pos="66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99FFCC"/>
    <a:srgbClr val="66FFCC"/>
    <a:srgbClr val="FFFF66"/>
    <a:srgbClr val="FF3300"/>
    <a:srgbClr val="FF7C80"/>
    <a:srgbClr val="00CC00"/>
    <a:srgbClr val="FDEA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671"/>
    <p:restoredTop sz="98166"/>
  </p:normalViewPr>
  <p:slideViewPr>
    <p:cSldViewPr snapToGrid="0" showGuides="1">
      <p:cViewPr varScale="1">
        <p:scale>
          <a:sx n="137" d="100"/>
          <a:sy n="137" d="100"/>
        </p:scale>
        <p:origin x="64" y="144"/>
      </p:cViewPr>
      <p:guideLst>
        <p:guide orient="horz" pos="2147"/>
        <p:guide pos="66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gs" Target="tags/tag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latinLnBrk="1">
              <a:spcBef>
                <a:spcPct val="0"/>
              </a:spcBef>
              <a:defRPr sz="1200" b="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4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latinLnBrk="1">
              <a:spcBef>
                <a:spcPct val="0"/>
              </a:spcBef>
              <a:defRPr sz="1200" b="0">
                <a:latin typeface="Times New Roman" panose="02020603050405020304" pitchFamily="18" charset="0"/>
              </a:defRPr>
            </a:lvl1pPr>
          </a:lstStyle>
          <a:p>
            <a:pPr marL="0" marR="0" lvl="0" indent="0" algn="r"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4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latinLnBrk="1">
              <a:spcBef>
                <a:spcPct val="0"/>
              </a:spcBef>
              <a:defRPr sz="1200" b="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4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fontAlgn="base" latinLnBrk="1" hangingPunct="1">
              <a:spcBef>
                <a:spcPct val="0"/>
              </a:spcBef>
            </a:pPr>
            <a:fld id="{9A0DB2DC-4C9A-4742-B13C-FB6460FD3503}" type="slidenum">
              <a:rPr lang="en-US" altLang="zh-CN" sz="1200" b="0" strike="noStrike" noProof="1" dirty="0">
                <a:latin typeface="Times New Roman" panose="02020603050405020304" pitchFamily="18" charset="0"/>
                <a:ea typeface="宋体" panose="02010600030101010101" pitchFamily="2" charset="-122"/>
                <a:cs typeface="+mn-ea"/>
              </a:rPr>
              <a:t>‹#›</a:t>
            </a:fld>
            <a:endParaRPr lang="en-US" altLang="zh-CN" sz="1200" b="0" strike="noStrike" noProof="1">
              <a:latin typeface="Times New Roman" panose="02020603050405020304" pitchFamily="18"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latinLnBrk="1">
              <a:spcBef>
                <a:spcPct val="0"/>
              </a:spcBef>
              <a:defRPr sz="1200" b="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23"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latinLnBrk="1">
              <a:spcBef>
                <a:spcPct val="0"/>
              </a:spcBef>
              <a:defRPr sz="1200" b="0">
                <a:latin typeface="Times New Roman" panose="02020603050405020304" pitchFamily="18" charset="0"/>
              </a:defRPr>
            </a:lvl1pPr>
          </a:lstStyle>
          <a:p>
            <a:pPr marL="0" marR="0" lvl="0" indent="0" algn="r"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196"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0725"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30726"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latinLnBrk="1">
              <a:spcBef>
                <a:spcPct val="0"/>
              </a:spcBef>
              <a:defRPr sz="1200" b="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27"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fontAlgn="base" latinLnBrk="1" hangingPunct="1">
              <a:spcBef>
                <a:spcPct val="0"/>
              </a:spcBef>
            </a:pPr>
            <a:fld id="{9A0DB2DC-4C9A-4742-B13C-FB6460FD3503}" type="slidenum">
              <a:rPr lang="en-US" altLang="zh-CN" sz="1200" b="0" strike="noStrike" noProof="1" dirty="0">
                <a:latin typeface="Times New Roman" panose="02020603050405020304" pitchFamily="18" charset="0"/>
                <a:ea typeface="宋体" panose="02010600030101010101" pitchFamily="2" charset="-122"/>
                <a:cs typeface="+mn-ea"/>
              </a:rPr>
              <a:t>‹#›</a:t>
            </a:fld>
            <a:endParaRPr lang="en-US" altLang="zh-CN" sz="1200" b="0" strike="noStrike" noProof="1">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2</a:t>
            </a:fld>
            <a:endParaRPr lang="en-US" altLang="zh-CN" sz="1200" b="0" dirty="0"/>
          </a:p>
        </p:txBody>
      </p:sp>
      <p:sp>
        <p:nvSpPr>
          <p:cNvPr id="11266" name="Rectangle 2"/>
          <p:cNvSpPr>
            <a:spLocks noGrp="1" noRot="1" noChangeAspect="1" noTextEdit="1"/>
          </p:cNvSpPr>
          <p:nvPr>
            <p:ph type="sldImg"/>
          </p:nvPr>
        </p:nvSpPr>
        <p:spPr>
          <a:ln/>
        </p:spPr>
      </p:sp>
      <p:sp>
        <p:nvSpPr>
          <p:cNvPr id="1126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3</a:t>
            </a:fld>
            <a:endParaRPr lang="en-US" altLang="zh-CN" sz="1200" b="0" dirty="0"/>
          </a:p>
        </p:txBody>
      </p:sp>
      <p:sp>
        <p:nvSpPr>
          <p:cNvPr id="13314" name="Rectangle 2"/>
          <p:cNvSpPr>
            <a:spLocks noGrp="1" noRot="1" noChangeAspect="1" noTextEdit="1"/>
          </p:cNvSpPr>
          <p:nvPr>
            <p:ph type="sldImg"/>
          </p:nvPr>
        </p:nvSpPr>
        <p:spPr>
          <a:ln/>
        </p:spPr>
      </p:sp>
      <p:sp>
        <p:nvSpPr>
          <p:cNvPr id="1331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t>61</a:t>
            </a:fld>
            <a:endParaRPr lang="en-US" altLang="zh-CN" sz="1200" b="0" dirty="0"/>
          </a:p>
        </p:txBody>
      </p:sp>
      <p:sp>
        <p:nvSpPr>
          <p:cNvPr id="73730" name="Rectangle 2"/>
          <p:cNvSpPr>
            <a:spLocks noGrp="1" noRot="1" noChangeAspect="1" noTextEdit="1"/>
          </p:cNvSpPr>
          <p:nvPr>
            <p:ph type="sldImg"/>
          </p:nvPr>
        </p:nvSpPr>
        <p:spPr>
          <a:ln/>
        </p:spPr>
      </p:sp>
      <p:sp>
        <p:nvSpPr>
          <p:cNvPr id="7373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Only" preserve="1">
  <p:cSld name="2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 typeface="Arial" panose="020B0604020202020204" pitchFamily="34" charset="0"/>
              <a:buNone/>
              <a:defRPr/>
            </a:pPr>
            <a:endParaRPr kumimoji="0" lang="en-US" i="0" strike="noStrike" kern="1200" cap="none" spc="0" normalizeH="0" baseline="0" noProof="0">
              <a:solidFill>
                <a:schemeClr val="tx1"/>
              </a:solidFill>
              <a:latin typeface="+mn-lt"/>
              <a:ea typeface="宋体" panose="02010600030101010101" pitchFamily="2" charset="-122"/>
              <a:cs typeface="+mn-cs"/>
            </a:endParaRPr>
          </a:p>
        </p:txBody>
      </p:sp>
      <p:sp>
        <p:nvSpPr>
          <p:cNvPr id="4" name="页脚占位符 3"/>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 typeface="Arial" panose="020B0604020202020204" pitchFamily="34" charset="0"/>
              <a:buNone/>
              <a:defRPr/>
            </a:pPr>
            <a:endParaRPr kumimoji="0" lang="en-US" i="0" strike="noStrike" kern="1200" cap="none" spc="0" normalizeH="0" baseline="0" noProof="0">
              <a:solidFill>
                <a:schemeClr val="tx1"/>
              </a:solidFill>
              <a:latin typeface="+mn-lt"/>
              <a:ea typeface="宋体" panose="02010600030101010101" pitchFamily="2" charset="-122"/>
              <a:cs typeface="+mn-cs"/>
            </a:endParaRPr>
          </a:p>
        </p:txBody>
      </p:sp>
      <p:sp>
        <p:nvSpPr>
          <p:cNvPr id="5" name="灯片编号占位符 4"/>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2" name="日期占位符 1"/>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577850" y="1387475"/>
            <a:ext cx="4022725" cy="48148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752975" y="1387475"/>
            <a:ext cx="4022725" cy="48148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 typeface="Arial" panose="020B0604020202020204" pitchFamily="34" charset="0"/>
              <a:buNone/>
              <a:defRPr/>
            </a:pPr>
            <a:endParaRPr kumimoji="0" lang="en-US" i="0" strike="noStrike" kern="1200" cap="none" spc="0" normalizeH="0" baseline="0" noProof="0">
              <a:solidFill>
                <a:schemeClr val="tx1"/>
              </a:solidFill>
              <a:latin typeface="+mn-lt"/>
              <a:ea typeface="宋体" panose="02010600030101010101" pitchFamily="2" charset="-122"/>
              <a:cs typeface="+mn-cs"/>
            </a:endParaRPr>
          </a:p>
        </p:txBody>
      </p:sp>
      <p:sp>
        <p:nvSpPr>
          <p:cNvPr id="4" name="页脚占位符 3"/>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 typeface="Arial" panose="020B0604020202020204" pitchFamily="34" charset="0"/>
              <a:buNone/>
              <a:defRPr/>
            </a:pPr>
            <a:endParaRPr kumimoji="0" lang="en-US" i="0" strike="noStrike" kern="1200" cap="none" spc="0" normalizeH="0" baseline="0" noProof="0">
              <a:solidFill>
                <a:schemeClr val="tx1"/>
              </a:solidFill>
              <a:latin typeface="+mn-lt"/>
              <a:ea typeface="宋体" panose="02010600030101010101" pitchFamily="2" charset="-122"/>
              <a:cs typeface="+mn-cs"/>
            </a:endParaRPr>
          </a:p>
        </p:txBody>
      </p:sp>
      <p:sp>
        <p:nvSpPr>
          <p:cNvPr id="5" name="灯片编号占位符 4"/>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2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 typeface="Arial" panose="020B0604020202020204" pitchFamily="34" charset="0"/>
              <a:buNone/>
              <a:defRPr/>
            </a:pPr>
            <a:endParaRPr kumimoji="0" lang="en-US" i="0" strike="noStrike" kern="1200" cap="none" spc="0" normalizeH="0" baseline="0" noProof="0">
              <a:solidFill>
                <a:schemeClr val="tx1"/>
              </a:solidFill>
              <a:latin typeface="+mn-lt"/>
              <a:ea typeface="宋体" panose="02010600030101010101" pitchFamily="2" charset="-122"/>
              <a:cs typeface="+mn-cs"/>
            </a:endParaRPr>
          </a:p>
        </p:txBody>
      </p:sp>
      <p:sp>
        <p:nvSpPr>
          <p:cNvPr id="4" name="页脚占位符 3"/>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 typeface="Arial" panose="020B0604020202020204" pitchFamily="34" charset="0"/>
              <a:buNone/>
              <a:defRPr/>
            </a:pPr>
            <a:endParaRPr kumimoji="0" lang="en-US" i="0" strike="noStrike" kern="1200" cap="none" spc="0" normalizeH="0" baseline="0" noProof="0">
              <a:solidFill>
                <a:schemeClr val="tx1"/>
              </a:solidFill>
              <a:latin typeface="+mn-lt"/>
              <a:ea typeface="宋体" panose="02010600030101010101" pitchFamily="2" charset="-122"/>
              <a:cs typeface="+mn-cs"/>
            </a:endParaRPr>
          </a:p>
        </p:txBody>
      </p:sp>
      <p:sp>
        <p:nvSpPr>
          <p:cNvPr id="5" name="灯片编号占位符 4"/>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2" name="日期占位符 1"/>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577850" y="1387475"/>
            <a:ext cx="4022725" cy="48148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752975" y="1387475"/>
            <a:ext cx="4022725" cy="48148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 typeface="Arial" panose="020B0604020202020204" pitchFamily="34" charset="0"/>
              <a:buNone/>
              <a:defRPr/>
            </a:pPr>
            <a:endParaRPr kumimoji="0" lang="en-US" i="0" strike="noStrike" kern="1200" cap="none" spc="0" normalizeH="0" baseline="0" noProof="0">
              <a:solidFill>
                <a:schemeClr val="tx1"/>
              </a:solidFill>
              <a:latin typeface="+mn-lt"/>
              <a:ea typeface="宋体" panose="02010600030101010101" pitchFamily="2" charset="-122"/>
              <a:cs typeface="+mn-cs"/>
            </a:endParaRPr>
          </a:p>
        </p:txBody>
      </p:sp>
      <p:sp>
        <p:nvSpPr>
          <p:cNvPr id="4" name="页脚占位符 3"/>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 typeface="Arial" panose="020B0604020202020204" pitchFamily="34" charset="0"/>
              <a:buNone/>
              <a:defRPr/>
            </a:pPr>
            <a:endParaRPr kumimoji="0" lang="en-US" i="0" strike="noStrike" kern="1200" cap="none" spc="0" normalizeH="0" baseline="0" noProof="0">
              <a:solidFill>
                <a:schemeClr val="tx1"/>
              </a:solidFill>
              <a:latin typeface="+mn-lt"/>
              <a:ea typeface="宋体" panose="02010600030101010101" pitchFamily="2" charset="-122"/>
              <a:cs typeface="+mn-cs"/>
            </a:endParaRPr>
          </a:p>
        </p:txBody>
      </p:sp>
      <p:sp>
        <p:nvSpPr>
          <p:cNvPr id="5" name="灯片编号占位符 4"/>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381000" y="0"/>
            <a:ext cx="1447800" cy="6856413"/>
          </a:xfrm>
          <a:prstGeom prst="rect">
            <a:avLst/>
          </a:prstGeom>
          <a:gradFill rotWithShape="0">
            <a:gsLst>
              <a:gs pos="0">
                <a:schemeClr val="bg1">
                  <a:alpha val="50000"/>
                </a:schemeClr>
              </a:gs>
              <a:gs pos="100000">
                <a:schemeClr val="bg1">
                  <a:gamma/>
                  <a:shade val="61961"/>
                  <a:invGamma/>
                </a:schemeClr>
              </a:gs>
            </a:gsLst>
            <a:lin ang="540000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ChangeArrowheads="1"/>
          </p:cNvSpPr>
          <p:nvPr/>
        </p:nvSpPr>
        <p:spPr bwMode="auto">
          <a:xfrm>
            <a:off x="0" y="1219200"/>
            <a:ext cx="4724400" cy="152400"/>
          </a:xfrm>
          <a:prstGeom prst="rect">
            <a:avLst/>
          </a:prstGeom>
          <a:solidFill>
            <a:schemeClr val="accent1">
              <a:alpha val="50000"/>
            </a:schemeClr>
          </a:soli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ChangeArrowheads="1"/>
          </p:cNvSpPr>
          <p:nvPr/>
        </p:nvSpPr>
        <p:spPr bwMode="auto">
          <a:xfrm>
            <a:off x="763588" y="457200"/>
            <a:ext cx="8380413" cy="762000"/>
          </a:xfrm>
          <a:prstGeom prst="rect">
            <a:avLst/>
          </a:prstGeom>
          <a:gradFill rotWithShape="0">
            <a:gsLst>
              <a:gs pos="0">
                <a:schemeClr val="bg1"/>
              </a:gs>
              <a:gs pos="100000">
                <a:schemeClr val="bg1">
                  <a:gamma/>
                  <a:shade val="15294"/>
                  <a:invGamma/>
                </a:schemeClr>
              </a:gs>
            </a:gsLst>
            <a:lin ang="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8" name="Rectangle 6"/>
          <p:cNvSpPr>
            <a:spLocks noGrp="1" noChangeArrowheads="1"/>
          </p:cNvSpPr>
          <p:nvPr>
            <p:ph type="title"/>
          </p:nvPr>
        </p:nvSpPr>
        <p:spPr bwMode="auto">
          <a:xfrm>
            <a:off x="417513" y="228600"/>
            <a:ext cx="8331200" cy="1143000"/>
          </a:xfrm>
          <a:prstGeom prst="rect">
            <a:avLst/>
          </a:prstGeom>
          <a:noFill/>
          <a:ln w="9525">
            <a:noFill/>
            <a:miter lim="800000"/>
          </a:ln>
          <a:effectLst/>
        </p:spPr>
        <p:txBody>
          <a:bodyPr vert="horz" wrap="square" lIns="92075" tIns="46038" rIns="92075" bIns="46038" numCol="1" anchor="ctr" anchorCtr="0" compatLnSpc="1"/>
          <a:lstStyle/>
          <a:p>
            <a:pPr lvl="0" fontAlgn="base"/>
            <a:r>
              <a:rPr lang="zh-CN" altLang="en-US" strike="noStrike" noProof="1"/>
              <a:t>单击此处编辑母版标题样式</a:t>
            </a:r>
          </a:p>
        </p:txBody>
      </p:sp>
      <p:sp>
        <p:nvSpPr>
          <p:cNvPr id="1030" name="Rectangle 7"/>
          <p:cNvSpPr>
            <a:spLocks noGrp="1"/>
          </p:cNvSpPr>
          <p:nvPr>
            <p:ph type="body"/>
          </p:nvPr>
        </p:nvSpPr>
        <p:spPr>
          <a:xfrm>
            <a:off x="577850" y="1387475"/>
            <a:ext cx="8197850" cy="4814888"/>
          </a:xfrm>
          <a:prstGeom prst="rect">
            <a:avLst/>
          </a:prstGeom>
          <a:noFill/>
          <a:ln w="9525">
            <a:noFill/>
          </a:ln>
        </p:spPr>
        <p:txBody>
          <a:bodyPr lIns="92075" tIns="46038" rIns="92075" bIns="46038" anchor="t" anchorCtr="0"/>
          <a:lstStyle/>
          <a:p>
            <a:pPr lvl="0"/>
            <a:r>
              <a:rPr lang="zh-CN" altLang="en-US" dirty="0"/>
              <a:t>单击此处编辑母版文本样式</a:t>
            </a:r>
          </a:p>
          <a:p>
            <a:pPr lvl="1" indent="-285750"/>
            <a:r>
              <a:rPr lang="zh-CN" altLang="en-US" dirty="0"/>
              <a:t>第二层</a:t>
            </a:r>
          </a:p>
          <a:p>
            <a:pPr lvl="2" indent="-228600"/>
            <a:r>
              <a:rPr lang="zh-CN" altLang="en-US" dirty="0"/>
              <a:t>第三层</a:t>
            </a:r>
          </a:p>
          <a:p>
            <a:pPr lvl="3" indent="-228600"/>
            <a:r>
              <a:rPr lang="zh-CN" altLang="en-US" dirty="0"/>
              <a:t>第四层</a:t>
            </a:r>
          </a:p>
          <a:p>
            <a:pPr lvl="4" indent="-228600"/>
            <a:r>
              <a:rPr lang="zh-CN" altLang="en-US" dirty="0"/>
              <a:t>第五层</a:t>
            </a:r>
          </a:p>
        </p:txBody>
      </p:sp>
      <p:sp>
        <p:nvSpPr>
          <p:cNvPr id="3080" name="Rectangle 8"/>
          <p:cNvSpPr>
            <a:spLocks noGrp="1" noChangeArrowheads="1"/>
          </p:cNvSpPr>
          <p:nvPr>
            <p:ph type="dt" sz="half" idx="2"/>
          </p:nvPr>
        </p:nvSpPr>
        <p:spPr bwMode="auto">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lvl1pPr>
              <a:spcBef>
                <a:spcPct val="0"/>
              </a:spcBef>
              <a:defRPr sz="1400" b="0">
                <a:latin typeface="+mn-lt"/>
              </a:defRPr>
            </a:lvl1p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081" name="Rectangle 9"/>
          <p:cNvSpPr>
            <a:spLocks noGrp="1" noChangeArrowheads="1"/>
          </p:cNvSpPr>
          <p:nvPr>
            <p:ph type="ftr" sz="quarter" idx="3"/>
          </p:nvPr>
        </p:nvSpPr>
        <p:spPr bwMode="auto">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lvl1pPr algn="ctr">
              <a:spcBef>
                <a:spcPct val="0"/>
              </a:spcBef>
              <a:defRPr sz="1400" b="0">
                <a:latin typeface="+mn-lt"/>
              </a:defRPr>
            </a:lvl1p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082" name="Rectangle 10"/>
          <p:cNvSpPr>
            <a:spLocks noGrp="1" noChangeArrowheads="1"/>
          </p:cNvSpPr>
          <p:nvPr>
            <p:ph type="sldNum" sz="quarter" idx="4"/>
          </p:nvPr>
        </p:nvSpPr>
        <p:spPr bwMode="auto">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spd="med">
    <p:random/>
  </p:transition>
  <p:hf sldNum="0" hdr="0" ftr="0" dt="0"/>
  <p:txStyles>
    <p:titleStyle>
      <a:lvl1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70000"/>
        <a:buFont typeface="Wingdings" panose="05000000000000000000" pitchFamily="2" charset="2"/>
        <a:buChar char="u"/>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Ø"/>
        <a:defRPr kumimoji="1" sz="24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80000"/>
        <a:buFont typeface="Wingdings" panose="05000000000000000000" pitchFamily="2" charset="2"/>
        <a:buChar char="v"/>
        <a:defRPr kumimoji="1" sz="2000" b="1">
          <a:solidFill>
            <a:schemeClr val="tx1"/>
          </a:solidFill>
          <a:latin typeface="+mn-lt"/>
          <a:ea typeface="+mn-ea"/>
        </a:defRPr>
      </a:lvl3pPr>
      <a:lvl4pPr marL="1600200" indent="-228600" algn="l" rtl="0" eaLnBrk="0" fontAlgn="base" hangingPunct="0">
        <a:spcBef>
          <a:spcPct val="20000"/>
        </a:spcBef>
        <a:spcAft>
          <a:spcPct val="0"/>
        </a:spcAft>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Char char="•"/>
        <a:defRPr kumimoji="1" sz="2000" b="1">
          <a:solidFill>
            <a:schemeClr val="tx1"/>
          </a:solidFill>
          <a:latin typeface="+mn-lt"/>
          <a:ea typeface="+mn-ea"/>
        </a:defRPr>
      </a:lvl5pPr>
      <a:lvl6pPr marL="2514600" indent="-228600" algn="l" rtl="0" fontAlgn="base">
        <a:spcBef>
          <a:spcPct val="20000"/>
        </a:spcBef>
        <a:spcAft>
          <a:spcPct val="0"/>
        </a:spcAft>
        <a:buClr>
          <a:schemeClr val="accent2"/>
        </a:buClr>
        <a:buChar char="•"/>
        <a:defRPr kumimoji="1" sz="2000" b="1">
          <a:solidFill>
            <a:schemeClr val="tx1"/>
          </a:solidFill>
          <a:latin typeface="+mn-lt"/>
          <a:ea typeface="+mn-ea"/>
        </a:defRPr>
      </a:lvl6pPr>
      <a:lvl7pPr marL="2971800" indent="-228600" algn="l" rtl="0" fontAlgn="base">
        <a:spcBef>
          <a:spcPct val="20000"/>
        </a:spcBef>
        <a:spcAft>
          <a:spcPct val="0"/>
        </a:spcAft>
        <a:buClr>
          <a:schemeClr val="accent2"/>
        </a:buClr>
        <a:buChar char="•"/>
        <a:defRPr kumimoji="1" sz="2000" b="1">
          <a:solidFill>
            <a:schemeClr val="tx1"/>
          </a:solidFill>
          <a:latin typeface="+mn-lt"/>
          <a:ea typeface="+mn-ea"/>
        </a:defRPr>
      </a:lvl7pPr>
      <a:lvl8pPr marL="3429000" indent="-228600" algn="l" rtl="0" fontAlgn="base">
        <a:spcBef>
          <a:spcPct val="20000"/>
        </a:spcBef>
        <a:spcAft>
          <a:spcPct val="0"/>
        </a:spcAft>
        <a:buClr>
          <a:schemeClr val="accent2"/>
        </a:buClr>
        <a:buChar char="•"/>
        <a:defRPr kumimoji="1" sz="2000" b="1">
          <a:solidFill>
            <a:schemeClr val="tx1"/>
          </a:solidFill>
          <a:latin typeface="+mn-lt"/>
          <a:ea typeface="+mn-ea"/>
        </a:defRPr>
      </a:lvl8pPr>
      <a:lvl9pPr marL="3886200" indent="-228600" algn="l" rtl="0" fontAlgn="base">
        <a:spcBef>
          <a:spcPct val="20000"/>
        </a:spcBef>
        <a:spcAft>
          <a:spcPct val="0"/>
        </a:spcAft>
        <a:buClr>
          <a:schemeClr val="accent2"/>
        </a:buClr>
        <a:buChar char="•"/>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381000" y="0"/>
            <a:ext cx="1447800" cy="6856413"/>
          </a:xfrm>
          <a:prstGeom prst="rect">
            <a:avLst/>
          </a:prstGeom>
          <a:gradFill rotWithShape="0">
            <a:gsLst>
              <a:gs pos="0">
                <a:schemeClr val="bg1">
                  <a:alpha val="50000"/>
                </a:schemeClr>
              </a:gs>
              <a:gs pos="100000">
                <a:schemeClr val="bg1">
                  <a:gamma/>
                  <a:shade val="61961"/>
                  <a:invGamma/>
                </a:schemeClr>
              </a:gs>
            </a:gsLst>
            <a:lin ang="540000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ChangeArrowheads="1"/>
          </p:cNvSpPr>
          <p:nvPr/>
        </p:nvSpPr>
        <p:spPr bwMode="auto">
          <a:xfrm>
            <a:off x="0" y="1219200"/>
            <a:ext cx="4724400" cy="152400"/>
          </a:xfrm>
          <a:prstGeom prst="rect">
            <a:avLst/>
          </a:prstGeom>
          <a:solidFill>
            <a:schemeClr val="accent1">
              <a:alpha val="50000"/>
            </a:schemeClr>
          </a:soli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ChangeArrowheads="1"/>
          </p:cNvSpPr>
          <p:nvPr/>
        </p:nvSpPr>
        <p:spPr bwMode="auto">
          <a:xfrm>
            <a:off x="763588" y="457200"/>
            <a:ext cx="8380413" cy="762000"/>
          </a:xfrm>
          <a:prstGeom prst="rect">
            <a:avLst/>
          </a:prstGeom>
          <a:gradFill rotWithShape="0">
            <a:gsLst>
              <a:gs pos="0">
                <a:schemeClr val="bg1"/>
              </a:gs>
              <a:gs pos="100000">
                <a:schemeClr val="bg1">
                  <a:gamma/>
                  <a:shade val="15294"/>
                  <a:invGamma/>
                </a:schemeClr>
              </a:gs>
            </a:gsLst>
            <a:lin ang="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8" name="Rectangle 6"/>
          <p:cNvSpPr>
            <a:spLocks noGrp="1" noChangeArrowheads="1"/>
          </p:cNvSpPr>
          <p:nvPr>
            <p:ph type="title"/>
          </p:nvPr>
        </p:nvSpPr>
        <p:spPr bwMode="auto">
          <a:xfrm>
            <a:off x="417513" y="228600"/>
            <a:ext cx="8331200" cy="1143000"/>
          </a:xfrm>
          <a:prstGeom prst="rect">
            <a:avLst/>
          </a:prstGeom>
          <a:noFill/>
          <a:ln w="9525">
            <a:noFill/>
            <a:miter lim="800000"/>
          </a:ln>
          <a:effectLst/>
        </p:spPr>
        <p:txBody>
          <a:bodyPr vert="horz" wrap="square" lIns="92075" tIns="46038" rIns="92075" bIns="46038" numCol="1" anchor="ctr" anchorCtr="0" compatLnSpc="1"/>
          <a:lstStyle/>
          <a:p>
            <a:pPr lvl="0" fontAlgn="base"/>
            <a:r>
              <a:rPr lang="zh-CN" altLang="en-US" strike="noStrike" noProof="1"/>
              <a:t>单击此处编辑母版标题样式</a:t>
            </a:r>
          </a:p>
        </p:txBody>
      </p:sp>
      <p:sp>
        <p:nvSpPr>
          <p:cNvPr id="2054" name="Rectangle 7"/>
          <p:cNvSpPr>
            <a:spLocks noGrp="1"/>
          </p:cNvSpPr>
          <p:nvPr>
            <p:ph type="body"/>
          </p:nvPr>
        </p:nvSpPr>
        <p:spPr>
          <a:xfrm>
            <a:off x="577850" y="1387475"/>
            <a:ext cx="8197850" cy="4814888"/>
          </a:xfrm>
          <a:prstGeom prst="rect">
            <a:avLst/>
          </a:prstGeom>
          <a:noFill/>
          <a:ln w="9525">
            <a:noFill/>
          </a:ln>
        </p:spPr>
        <p:txBody>
          <a:bodyPr lIns="92075" tIns="46038" rIns="92075" bIns="46038" anchor="t" anchorCtr="0"/>
          <a:lstStyle/>
          <a:p>
            <a:pPr lvl="0"/>
            <a:r>
              <a:rPr lang="zh-CN" altLang="en-US" dirty="0"/>
              <a:t>单击此处编辑母版文本样式</a:t>
            </a:r>
          </a:p>
          <a:p>
            <a:pPr lvl="1" indent="-285750"/>
            <a:r>
              <a:rPr lang="zh-CN" altLang="en-US" dirty="0"/>
              <a:t>第二层</a:t>
            </a:r>
          </a:p>
          <a:p>
            <a:pPr lvl="2" indent="-228600"/>
            <a:r>
              <a:rPr lang="zh-CN" altLang="en-US" dirty="0"/>
              <a:t>第三层</a:t>
            </a:r>
          </a:p>
          <a:p>
            <a:pPr lvl="3" indent="-228600"/>
            <a:r>
              <a:rPr lang="zh-CN" altLang="en-US" dirty="0"/>
              <a:t>第四层</a:t>
            </a:r>
          </a:p>
          <a:p>
            <a:pPr lvl="4" indent="-228600"/>
            <a:r>
              <a:rPr lang="zh-CN" altLang="en-US" dirty="0"/>
              <a:t>第五层</a:t>
            </a:r>
          </a:p>
        </p:txBody>
      </p:sp>
      <p:sp>
        <p:nvSpPr>
          <p:cNvPr id="3080" name="Rectangle 8"/>
          <p:cNvSpPr>
            <a:spLocks noGrp="1" noChangeArrowheads="1"/>
          </p:cNvSpPr>
          <p:nvPr>
            <p:ph type="dt" sz="half" idx="2"/>
          </p:nvPr>
        </p:nvSpPr>
        <p:spPr bwMode="auto">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lvl1pPr>
              <a:spcBef>
                <a:spcPct val="0"/>
              </a:spcBef>
              <a:defRPr sz="1400" b="0">
                <a:latin typeface="+mn-lt"/>
              </a:defRPr>
            </a:lvl1p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081" name="Rectangle 9"/>
          <p:cNvSpPr>
            <a:spLocks noGrp="1" noChangeArrowheads="1"/>
          </p:cNvSpPr>
          <p:nvPr>
            <p:ph type="ftr" sz="quarter" idx="3"/>
          </p:nvPr>
        </p:nvSpPr>
        <p:spPr bwMode="auto">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lvl1pPr algn="ctr">
              <a:spcBef>
                <a:spcPct val="0"/>
              </a:spcBef>
              <a:defRPr sz="1400" b="0">
                <a:latin typeface="+mn-lt"/>
              </a:defRPr>
            </a:lvl1p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082" name="Rectangle 10"/>
          <p:cNvSpPr>
            <a:spLocks noGrp="1" noChangeArrowheads="1"/>
          </p:cNvSpPr>
          <p:nvPr>
            <p:ph type="sldNum" sz="quarter" idx="4"/>
          </p:nvPr>
        </p:nvSpPr>
        <p:spPr bwMode="auto">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 bg1="dk2" tx1="lt1" bg2="dk1" tx2="lt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Lst>
  <p:transition spd="med">
    <p:random/>
  </p:transition>
  <p:hf sldNum="0" hdr="0" ftr="0" dt="0"/>
  <p:txStyles>
    <p:titleStyle>
      <a:lvl1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70000"/>
        <a:buFont typeface="Wingdings" panose="05000000000000000000" pitchFamily="2" charset="2"/>
        <a:buChar char="u"/>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Ø"/>
        <a:defRPr kumimoji="1" sz="24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80000"/>
        <a:buFont typeface="Wingdings" panose="05000000000000000000" pitchFamily="2" charset="2"/>
        <a:buChar char="v"/>
        <a:defRPr kumimoji="1" sz="2000" b="1">
          <a:solidFill>
            <a:schemeClr val="tx1"/>
          </a:solidFill>
          <a:latin typeface="+mn-lt"/>
          <a:ea typeface="+mn-ea"/>
        </a:defRPr>
      </a:lvl3pPr>
      <a:lvl4pPr marL="1600200" indent="-228600" algn="l" rtl="0" eaLnBrk="0" fontAlgn="base" hangingPunct="0">
        <a:spcBef>
          <a:spcPct val="20000"/>
        </a:spcBef>
        <a:spcAft>
          <a:spcPct val="0"/>
        </a:spcAft>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Char char="•"/>
        <a:defRPr kumimoji="1" sz="2000" b="1">
          <a:solidFill>
            <a:schemeClr val="tx1"/>
          </a:solidFill>
          <a:latin typeface="+mn-lt"/>
          <a:ea typeface="+mn-ea"/>
        </a:defRPr>
      </a:lvl5pPr>
      <a:lvl6pPr marL="2514600" indent="-228600" algn="l" rtl="0" fontAlgn="base">
        <a:spcBef>
          <a:spcPct val="20000"/>
        </a:spcBef>
        <a:spcAft>
          <a:spcPct val="0"/>
        </a:spcAft>
        <a:buClr>
          <a:schemeClr val="accent2"/>
        </a:buClr>
        <a:buChar char="•"/>
        <a:defRPr kumimoji="1" sz="2000" b="1">
          <a:solidFill>
            <a:schemeClr val="tx1"/>
          </a:solidFill>
          <a:latin typeface="+mn-lt"/>
          <a:ea typeface="+mn-ea"/>
        </a:defRPr>
      </a:lvl6pPr>
      <a:lvl7pPr marL="2971800" indent="-228600" algn="l" rtl="0" fontAlgn="base">
        <a:spcBef>
          <a:spcPct val="20000"/>
        </a:spcBef>
        <a:spcAft>
          <a:spcPct val="0"/>
        </a:spcAft>
        <a:buClr>
          <a:schemeClr val="accent2"/>
        </a:buClr>
        <a:buChar char="•"/>
        <a:defRPr kumimoji="1" sz="2000" b="1">
          <a:solidFill>
            <a:schemeClr val="tx1"/>
          </a:solidFill>
          <a:latin typeface="+mn-lt"/>
          <a:ea typeface="+mn-ea"/>
        </a:defRPr>
      </a:lvl7pPr>
      <a:lvl8pPr marL="3429000" indent="-228600" algn="l" rtl="0" fontAlgn="base">
        <a:spcBef>
          <a:spcPct val="20000"/>
        </a:spcBef>
        <a:spcAft>
          <a:spcPct val="0"/>
        </a:spcAft>
        <a:buClr>
          <a:schemeClr val="accent2"/>
        </a:buClr>
        <a:buChar char="•"/>
        <a:defRPr kumimoji="1" sz="2000" b="1">
          <a:solidFill>
            <a:schemeClr val="tx1"/>
          </a:solidFill>
          <a:latin typeface="+mn-lt"/>
          <a:ea typeface="+mn-ea"/>
        </a:defRPr>
      </a:lvl8pPr>
      <a:lvl9pPr marL="3886200" indent="-228600" algn="l" rtl="0" fontAlgn="base">
        <a:spcBef>
          <a:spcPct val="20000"/>
        </a:spcBef>
        <a:spcAft>
          <a:spcPct val="0"/>
        </a:spcAft>
        <a:buClr>
          <a:schemeClr val="accent2"/>
        </a:buClr>
        <a:buChar char="•"/>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GIF"/><Relationship Id="rId1" Type="http://schemas.openxmlformats.org/officeDocument/2006/relationships/slideLayout" Target="../slideLayouts/slideLayout2.xml"/><Relationship Id="rId4" Type="http://schemas.openxmlformats.org/officeDocument/2006/relationships/image" Target="../media/image2.GIF"/></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1035"/>
          <p:cNvSpPr>
            <a:spLocks noGrp="1" noChangeArrowheads="1"/>
          </p:cNvSpPr>
          <p:nvPr/>
        </p:nvSpPr>
        <p:spPr bwMode="auto">
          <a:xfrm>
            <a:off x="685800" y="1549400"/>
            <a:ext cx="7772400" cy="1285875"/>
          </a:xfrm>
          <a:prstGeom prst="rect">
            <a:avLst/>
          </a:prstGeom>
          <a:noFill/>
          <a:ln w="9525">
            <a:noFill/>
            <a:miter lim="800000"/>
          </a:ln>
        </p:spPr>
        <p:txBody>
          <a:bodyPr lIns="92075" tIns="46038" rIns="92075" bIns="46038" anchor="ctr"/>
          <a:lstStyle/>
          <a:p>
            <a:pPr marL="0" marR="0" lvl="0" indent="0" algn="ctr" defTabSz="914400" rtl="0" eaLnBrk="0" fontAlgn="base" latinLnBrk="0" hangingPunct="0">
              <a:spcBef>
                <a:spcPct val="0"/>
              </a:spcBef>
              <a:spcAft>
                <a:spcPct val="0"/>
              </a:spcAft>
              <a:buClrTx/>
              <a:buSzTx/>
              <a:buFont typeface="Arial" panose="020B0604020202020204" pitchFamily="34" charset="0"/>
              <a:buNone/>
              <a:defRPr/>
            </a:pPr>
            <a:r>
              <a:rPr kumimoji="0" lang="zh-CN" altLang="en-US" sz="6600" b="0" i="0" u="none" strike="noStrike" kern="1200" cap="none" spc="0" normalizeH="0" baseline="0" noProof="0">
                <a:ln>
                  <a:noFill/>
                </a:ln>
                <a:solidFill>
                  <a:schemeClr val="bg2"/>
                </a:solidFill>
                <a:effectLst>
                  <a:outerShdw blurRad="38100" dist="38100" dir="2700000" algn="tl">
                    <a:srgbClr val="FFFFFF"/>
                  </a:outerShdw>
                </a:effectLst>
                <a:uLnTx/>
                <a:uFillTx/>
                <a:latin typeface="隶书" panose="02010509060101010101" pitchFamily="49" charset="-122"/>
                <a:ea typeface="隶书" panose="02010509060101010101" pitchFamily="49" charset="-122"/>
                <a:cs typeface="+mn-cs"/>
              </a:rPr>
              <a:t>微机原理及应用</a:t>
            </a:r>
            <a:endParaRPr kumimoji="0" lang="zh-CN" altLang="en-US" sz="5400" b="0" i="0" u="none" strike="noStrike" kern="1200" cap="none" spc="0" normalizeH="0" baseline="0" noProof="0">
              <a:ln>
                <a:noFill/>
              </a:ln>
              <a:solidFill>
                <a:schemeClr val="bg2"/>
              </a:solidFill>
              <a:effectLst>
                <a:outerShdw blurRad="38100" dist="38100" dir="2700000" algn="tl">
                  <a:srgbClr val="FFFFFF"/>
                </a:outerShdw>
              </a:effectLst>
              <a:uLnTx/>
              <a:uFillTx/>
              <a:latin typeface="隶书" panose="02010509060101010101" pitchFamily="49" charset="-122"/>
              <a:ea typeface="隶书" panose="02010509060101010101" pitchFamily="49" charset="-122"/>
              <a:cs typeface="+mn-cs"/>
            </a:endParaRPr>
          </a:p>
        </p:txBody>
      </p:sp>
    </p:spTree>
  </p:cSld>
  <p:clrMapOvr>
    <a:masterClrMapping/>
  </p:clrMapOvr>
  <p:transition spd="med">
    <p:random/>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6914" name="Rectangle 2"/>
          <p:cNvSpPr>
            <a:spLocks noGrp="1" noChangeArrowheads="1"/>
          </p:cNvSpPr>
          <p:nvPr>
            <p:ph type="title" idx="4294967295"/>
          </p:nvPr>
        </p:nvSpPr>
        <p:spPr>
          <a:xfrm>
            <a:off x="200025" y="388938"/>
            <a:ext cx="8501063" cy="985838"/>
          </a:xfrm>
        </p:spPr>
        <p:txBody>
          <a:bodyPr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 </a:t>
            </a:r>
            <a:r>
              <a:rPr kumimoji="1" lang="zh-CN" altLang="en-US" sz="36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第</a:t>
            </a:r>
            <a:r>
              <a:rPr kumimoji="1" lang="en-US" sz="36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8</a:t>
            </a:r>
            <a:r>
              <a:rPr kumimoji="1" lang="zh-CN" altLang="en-US" sz="36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章</a:t>
            </a:r>
            <a:r>
              <a:rPr kumimoji="1" lang="en-US" sz="36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  </a:t>
            </a:r>
            <a:r>
              <a:rPr kumimoji="1" lang="zh-CN" altLang="en-US" sz="36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计数器/定时器与DMA控制器</a:t>
            </a:r>
            <a:endParaRPr kumimoji="1" lang="zh-CN" altLang="en-US"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10242" name="Rectangle 3"/>
          <p:cNvSpPr>
            <a:spLocks noGrp="1"/>
          </p:cNvSpPr>
          <p:nvPr>
            <p:ph idx="1"/>
          </p:nvPr>
        </p:nvSpPr>
        <p:spPr>
          <a:xfrm>
            <a:off x="219075" y="1387475"/>
            <a:ext cx="8556625" cy="4814888"/>
          </a:xfrm>
          <a:ln/>
        </p:spPr>
        <p:txBody>
          <a:bodyPr wrap="square" lIns="92075" tIns="46038" rIns="92075" bIns="46038" anchor="t" anchorCtr="0"/>
          <a:lstStyle/>
          <a:p>
            <a:pPr eaLnBrk="1" hangingPunct="1">
              <a:lnSpc>
                <a:spcPct val="130000"/>
              </a:lnSpc>
              <a:buNone/>
            </a:pPr>
            <a:r>
              <a:rPr lang="en-US" altLang="zh-CN" sz="3200" dirty="0">
                <a:solidFill>
                  <a:srgbClr val="FFCC00"/>
                </a:solidFill>
              </a:rPr>
              <a:t> </a:t>
            </a:r>
          </a:p>
          <a:p>
            <a:pPr algn="just" eaLnBrk="1" hangingPunct="1">
              <a:lnSpc>
                <a:spcPts val="7500"/>
              </a:lnSpc>
              <a:buNone/>
            </a:pPr>
            <a:r>
              <a:rPr lang="zh-CN" altLang="en-US" sz="2400" dirty="0">
                <a:latin typeface="宋体" panose="02010600030101010101" pitchFamily="2" charset="-122"/>
              </a:rPr>
              <a:t>     </a:t>
            </a:r>
            <a:r>
              <a:rPr lang="zh-CN" altLang="en-US" sz="2400" dirty="0">
                <a:solidFill>
                  <a:srgbClr val="FFFF00"/>
                </a:solidFill>
                <a:latin typeface="宋体" panose="02010600030101010101" pitchFamily="2" charset="-122"/>
              </a:rPr>
              <a:t>一、了解常见接口芯片</a:t>
            </a:r>
            <a:r>
              <a:rPr lang="en-US" altLang="zh-CN" sz="2400" dirty="0">
                <a:solidFill>
                  <a:srgbClr val="FFFF00"/>
                </a:solidFill>
                <a:latin typeface="宋体" panose="02010600030101010101" pitchFamily="2" charset="-122"/>
              </a:rPr>
              <a:t>8253</a:t>
            </a:r>
            <a:r>
              <a:rPr lang="zh-CN" altLang="en-US" sz="2400" dirty="0">
                <a:solidFill>
                  <a:srgbClr val="FFFF00"/>
                </a:solidFill>
                <a:latin typeface="宋体" panose="02010600030101010101" pitchFamily="2" charset="-122"/>
              </a:rPr>
              <a:t>、</a:t>
            </a:r>
            <a:r>
              <a:rPr lang="en-US" altLang="en-US" sz="2400" dirty="0">
                <a:solidFill>
                  <a:srgbClr val="FFFF00"/>
                </a:solidFill>
                <a:latin typeface="宋体" panose="02010600030101010101" pitchFamily="2" charset="-122"/>
              </a:rPr>
              <a:t>8237</a:t>
            </a:r>
            <a:r>
              <a:rPr lang="zh-CN" altLang="en-US" sz="2400" dirty="0">
                <a:solidFill>
                  <a:srgbClr val="FFFF00"/>
                </a:solidFill>
                <a:latin typeface="宋体" panose="02010600030101010101" pitchFamily="2" charset="-122"/>
              </a:rPr>
              <a:t>的内部结构</a:t>
            </a:r>
            <a:endParaRPr lang="en-US" altLang="zh-CN" sz="2400" dirty="0">
              <a:solidFill>
                <a:srgbClr val="FFFF00"/>
              </a:solidFill>
              <a:latin typeface="宋体" panose="02010600030101010101" pitchFamily="2" charset="-122"/>
            </a:endParaRPr>
          </a:p>
          <a:p>
            <a:pPr algn="just" eaLnBrk="1" hangingPunct="1">
              <a:lnSpc>
                <a:spcPts val="7500"/>
              </a:lnSpc>
              <a:buNone/>
            </a:pPr>
            <a:r>
              <a:rPr lang="zh-CN" altLang="en-US" sz="2400" dirty="0">
                <a:solidFill>
                  <a:srgbClr val="FFFF00"/>
                </a:solidFill>
                <a:latin typeface="宋体" panose="02010600030101010101" pitchFamily="2" charset="-122"/>
              </a:rPr>
              <a:t>     二、掌握上述芯片的工作原理</a:t>
            </a:r>
          </a:p>
          <a:p>
            <a:pPr algn="just" eaLnBrk="1" hangingPunct="1">
              <a:lnSpc>
                <a:spcPts val="7500"/>
              </a:lnSpc>
              <a:buNone/>
            </a:pPr>
            <a:r>
              <a:rPr lang="zh-CN" altLang="en-US" sz="2400" dirty="0">
                <a:solidFill>
                  <a:srgbClr val="FFFF00"/>
                </a:solidFill>
                <a:latin typeface="宋体" panose="02010600030101010101" pitchFamily="2" charset="-122"/>
              </a:rPr>
              <a:t>     三、理解</a:t>
            </a:r>
            <a:r>
              <a:rPr lang="en-US" altLang="zh-CN" sz="2400" dirty="0">
                <a:solidFill>
                  <a:srgbClr val="FFFF00"/>
                </a:solidFill>
                <a:latin typeface="宋体" panose="02010600030101010101" pitchFamily="2" charset="-122"/>
              </a:rPr>
              <a:t>8253</a:t>
            </a:r>
            <a:r>
              <a:rPr lang="zh-CN" altLang="en-US" sz="2400" dirty="0">
                <a:solidFill>
                  <a:srgbClr val="FFFF00"/>
                </a:solidFill>
                <a:latin typeface="宋体" panose="02010600030101010101" pitchFamily="2" charset="-122"/>
              </a:rPr>
              <a:t>等芯片</a:t>
            </a:r>
            <a:r>
              <a:rPr lang="zh-CN" altLang="en-US" sz="2400" dirty="0">
                <a:solidFill>
                  <a:srgbClr val="FFFF00"/>
                </a:solidFill>
              </a:rPr>
              <a:t>在微机系统中的应用。</a:t>
            </a:r>
          </a:p>
          <a:p>
            <a:pPr algn="just" eaLnBrk="1" hangingPunct="1">
              <a:lnSpc>
                <a:spcPct val="150000"/>
              </a:lnSpc>
              <a:buNone/>
            </a:pPr>
            <a:endParaRPr lang="zh-CN" altLang="en-US" sz="2400" i="1" dirty="0">
              <a:solidFill>
                <a:srgbClr val="FFFF00"/>
              </a:solidFill>
              <a:latin typeface="宋体" panose="02010600030101010101" pitchFamily="2" charset="-122"/>
            </a:endParaRPr>
          </a:p>
        </p:txBody>
      </p:sp>
      <p:sp>
        <p:nvSpPr>
          <p:cNvPr id="10243" name="Rectangle 12"/>
          <p:cNvSpPr/>
          <p:nvPr/>
        </p:nvSpPr>
        <p:spPr>
          <a:xfrm>
            <a:off x="376238" y="1438275"/>
            <a:ext cx="3106737" cy="795338"/>
          </a:xfrm>
          <a:prstGeom prst="rect">
            <a:avLst/>
          </a:prstGeom>
          <a:noFill/>
          <a:ln w="9525">
            <a:noFill/>
          </a:ln>
        </p:spPr>
        <p:txBody>
          <a:bodyPr lIns="92075" tIns="46038" rIns="92075" bIns="46038" anchor="t" anchorCtr="0"/>
          <a:lstStyle/>
          <a:p>
            <a:pPr marL="342900" indent="-342900">
              <a:lnSpc>
                <a:spcPct val="130000"/>
              </a:lnSpc>
              <a:buClr>
                <a:schemeClr val="accent2"/>
              </a:buClr>
              <a:buSzPct val="70000"/>
            </a:pPr>
            <a:endParaRPr lang="zh-CN" altLang="en-US" sz="2800" dirty="0">
              <a:latin typeface="宋体" panose="02010600030101010101" pitchFamily="2" charset="-122"/>
              <a:ea typeface="宋体" panose="02010600030101010101" pitchFamily="2" charset="-122"/>
            </a:endParaRPr>
          </a:p>
        </p:txBody>
      </p:sp>
      <p:sp>
        <p:nvSpPr>
          <p:cNvPr id="5" name="矩形 4"/>
          <p:cNvSpPr/>
          <p:nvPr/>
        </p:nvSpPr>
        <p:spPr>
          <a:xfrm>
            <a:off x="797308" y="1551556"/>
            <a:ext cx="2501006" cy="590931"/>
          </a:xfrm>
          <a:prstGeom prst="rect">
            <a:avLst/>
          </a:prstGeom>
          <a:noFill/>
        </p:spPr>
        <p:txBody>
          <a:bodyPr wrap="none">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marL="0" marR="0" lvl="0" indent="0" algn="ctr" defTabSz="914400" rtl="0" eaLnBrk="1" fontAlgn="base" latinLnBrk="0" hangingPunct="1">
              <a:lnSpc>
                <a:spcPct val="90000"/>
              </a:lnSpc>
              <a:spcBef>
                <a:spcPct val="20000"/>
              </a:spcBef>
              <a:spcAft>
                <a:spcPct val="0"/>
              </a:spcAft>
              <a:buClrTx/>
              <a:buSzTx/>
              <a:buFontTx/>
              <a:buNone/>
              <a:defRPr/>
            </a:pPr>
            <a:r>
              <a:rPr kumimoji="1" lang="zh-CN" altLang="en-US" sz="3600" b="1" i="0" u="none" strike="noStrike" kern="1200" cap="all" spc="0" normalizeH="0" baseline="0" noProof="0" dirty="0">
                <a:solidFill>
                  <a:schemeClr val="accent2"/>
                </a:solidFill>
                <a:effectLst>
                  <a:outerShdw blurRad="19685" dist="12700" dir="5400000" algn="tl" rotWithShape="0">
                    <a:schemeClr val="accent1">
                      <a:satMod val="130000"/>
                      <a:alpha val="60000"/>
                    </a:schemeClr>
                  </a:outerShdw>
                  <a:reflection blurRad="10000" stA="55000" endPos="48000" dist="500" dir="5400000" sy="-100000" algn="bl" rotWithShape="0"/>
                </a:effectLst>
                <a:uLnTx/>
                <a:uFillTx/>
                <a:latin typeface="Times New Roman" panose="02020603050405020304" pitchFamily="18" charset="0"/>
                <a:ea typeface="宋体" panose="02010600030101010101" pitchFamily="2" charset="-122"/>
                <a:cs typeface="+mn-cs"/>
              </a:rPr>
              <a:t>学习目标：</a:t>
            </a:r>
            <a:endParaRPr kumimoji="1" lang="zh-CN" altLang="en-US" sz="3600" b="1" i="0" u="none" strike="noStrike" kern="1200" cap="all" spc="0" normalizeH="0" baseline="0" noProof="0" dirty="0">
              <a:solidFill>
                <a:schemeClr val="accent2"/>
              </a:solidFill>
              <a:effectLst>
                <a:outerShdw blurRad="19685" dist="12700" dir="5400000" algn="tl" rotWithShape="0">
                  <a:schemeClr val="accent1">
                    <a:satMod val="130000"/>
                    <a:alpha val="60000"/>
                  </a:schemeClr>
                </a:outerShdw>
                <a:reflection blurRad="10000" stA="55000" endPos="48000" dist="500" dir="5400000" sy="-100000" algn="bl" rotWithShape="0"/>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random/>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430213" y="268288"/>
            <a:ext cx="7018338" cy="1143000"/>
          </a:xfrm>
        </p:spPr>
        <p:txBody>
          <a:bodyPr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8.1  可编程定时器/计数器8253</a:t>
            </a:r>
          </a:p>
        </p:txBody>
      </p:sp>
      <p:sp>
        <p:nvSpPr>
          <p:cNvPr id="12290"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5124" name="Rectangle 11"/>
          <p:cNvSpPr>
            <a:spLocks noGrp="1" noChangeArrowheads="1"/>
          </p:cNvSpPr>
          <p:nvPr>
            <p:ph idx="1"/>
          </p:nvPr>
        </p:nvSpPr>
        <p:spPr>
          <a:xfrm>
            <a:off x="209550" y="1524000"/>
            <a:ext cx="8334375" cy="4933950"/>
          </a:xfrm>
          <a:ln>
            <a:miter/>
          </a:ln>
        </p:spPr>
        <p:txBody>
          <a:bodyPr vert="horz" wrap="square" lIns="92075" tIns="46038" rIns="92075" bIns="46038"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defRPr/>
            </a:pPr>
            <a:endParaRPr kumimoji="1"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defRPr/>
            </a:pPr>
            <a:endParaRPr kumimoji="1"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ts val="5000"/>
              </a:lnSpc>
              <a:spcBef>
                <a:spcPct val="20000"/>
              </a:spcBef>
              <a:spcAft>
                <a:spcPct val="0"/>
              </a:spcAft>
              <a:buClr>
                <a:schemeClr val="accent2"/>
              </a:buClr>
              <a:buSzPct val="70000"/>
              <a:buFont typeface="Wingdings" panose="05000000000000000000" pitchFamily="2" charset="2"/>
              <a:buNone/>
              <a:defRPr/>
            </a:pPr>
            <a:r>
              <a:rPr kumimoji="1" lang="zh-CN" altLang="en-US" sz="2800" b="1" i="1" u="none" strike="noStrike" kern="0" cap="none" spc="0" normalizeH="0" baseline="0" noProof="0" dirty="0">
                <a:ln>
                  <a:noFill/>
                </a:ln>
                <a:solidFill>
                  <a:schemeClr val="tx1"/>
                </a:solidFill>
                <a:effectLst/>
                <a:uLnTx/>
                <a:uFillTx/>
                <a:latin typeface="+mn-lt"/>
                <a:ea typeface="+mn-ea"/>
                <a:cs typeface="+mn-cs"/>
              </a:rPr>
              <a:t>          </a:t>
            </a:r>
            <a:r>
              <a:rPr kumimoji="1" lang="zh-CN" altLang="en-US" sz="2800" b="1" i="1" u="none" strike="noStrike" kern="0" cap="none" spc="0" normalizeH="0" baseline="0" noProof="0" dirty="0">
                <a:ln>
                  <a:noFill/>
                </a:ln>
                <a:solidFill>
                  <a:schemeClr val="accent6"/>
                </a:solidFill>
                <a:effectLst/>
                <a:uLnTx/>
                <a:uFillTx/>
                <a:latin typeface="+mn-lt"/>
                <a:ea typeface="+mn-ea"/>
                <a:cs typeface="+mn-cs"/>
              </a:rPr>
              <a:t>一、</a:t>
            </a:r>
            <a:r>
              <a:rPr kumimoji="1" lang="en-US" altLang="zh-CN" sz="2800" b="1" i="1" u="none" strike="noStrike" kern="0" cap="none" spc="0" normalizeH="0" baseline="0" noProof="0" dirty="0">
                <a:ln>
                  <a:noFill/>
                </a:ln>
                <a:solidFill>
                  <a:schemeClr val="accent6"/>
                </a:solidFill>
                <a:effectLst/>
                <a:uLnTx/>
                <a:uFillTx/>
                <a:latin typeface="+mn-lt"/>
                <a:ea typeface="+mn-ea"/>
                <a:cs typeface="+mn-cs"/>
              </a:rPr>
              <a:t>8253</a:t>
            </a:r>
            <a:r>
              <a:rPr kumimoji="1" lang="zh-CN" altLang="en-US" sz="2800" b="1" i="1" u="none" strike="noStrike" kern="0" cap="none" spc="0" normalizeH="0" baseline="0" noProof="0" dirty="0">
                <a:ln>
                  <a:noFill/>
                </a:ln>
                <a:solidFill>
                  <a:schemeClr val="accent6"/>
                </a:solidFill>
                <a:effectLst/>
                <a:uLnTx/>
                <a:uFillTx/>
                <a:latin typeface="+mn-lt"/>
                <a:ea typeface="+mn-ea"/>
                <a:cs typeface="+mn-cs"/>
              </a:rPr>
              <a:t>的功能与结构</a:t>
            </a:r>
            <a:endParaRPr kumimoji="1" lang="en-US" altLang="zh-CN" sz="2800" b="1" i="1" u="none" strike="noStrike" kern="0" cap="none" spc="0" normalizeH="0" baseline="0" noProof="0" dirty="0">
              <a:ln>
                <a:noFill/>
              </a:ln>
              <a:solidFill>
                <a:schemeClr val="accent6"/>
              </a:solidFill>
              <a:effectLst/>
              <a:uLnTx/>
              <a:uFillTx/>
              <a:latin typeface="+mn-lt"/>
              <a:ea typeface="+mn-ea"/>
              <a:cs typeface="+mn-cs"/>
            </a:endParaRPr>
          </a:p>
          <a:p>
            <a:pPr marL="342900" marR="0" lvl="0" indent="-342900" algn="l" defTabSz="914400" rtl="0" eaLnBrk="1" fontAlgn="base" latinLnBrk="0" hangingPunct="1">
              <a:lnSpc>
                <a:spcPts val="5000"/>
              </a:lnSpc>
              <a:spcBef>
                <a:spcPct val="20000"/>
              </a:spcBef>
              <a:spcAft>
                <a:spcPct val="0"/>
              </a:spcAft>
              <a:buClr>
                <a:schemeClr val="accent2"/>
              </a:buClr>
              <a:buSzPct val="70000"/>
              <a:buFont typeface="Wingdings" panose="05000000000000000000" pitchFamily="2" charset="2"/>
              <a:buNone/>
              <a:defRPr/>
            </a:pPr>
            <a:r>
              <a:rPr kumimoji="1" lang="zh-CN" altLang="en-US" sz="2800" b="1" i="1" u="none" strike="noStrike" kern="0" cap="none" spc="0" normalizeH="0" baseline="0" noProof="0" dirty="0">
                <a:ln>
                  <a:noFill/>
                </a:ln>
                <a:solidFill>
                  <a:schemeClr val="accent6"/>
                </a:solidFill>
                <a:effectLst/>
                <a:uLnTx/>
                <a:uFillTx/>
                <a:latin typeface="+mn-lt"/>
                <a:ea typeface="+mn-ea"/>
                <a:cs typeface="+mn-cs"/>
              </a:rPr>
              <a:t>          二、</a:t>
            </a:r>
            <a:r>
              <a:rPr kumimoji="1" lang="en-US" altLang="zh-CN" sz="2800" b="1" i="1" u="none" strike="noStrike" kern="0" cap="none" spc="0" normalizeH="0" baseline="0" noProof="0" dirty="0">
                <a:ln>
                  <a:noFill/>
                </a:ln>
                <a:solidFill>
                  <a:schemeClr val="accent6"/>
                </a:solidFill>
                <a:effectLst/>
                <a:uLnTx/>
                <a:uFillTx/>
                <a:latin typeface="+mn-lt"/>
                <a:ea typeface="+mn-ea"/>
                <a:cs typeface="+mn-cs"/>
              </a:rPr>
              <a:t>8253</a:t>
            </a:r>
            <a:r>
              <a:rPr kumimoji="1" lang="zh-CN" altLang="en-US" sz="2800" b="1" i="1" u="none" strike="noStrike" kern="0" cap="none" spc="0" normalizeH="0" baseline="0" noProof="0" dirty="0">
                <a:ln>
                  <a:noFill/>
                </a:ln>
                <a:solidFill>
                  <a:schemeClr val="accent6"/>
                </a:solidFill>
                <a:effectLst/>
                <a:uLnTx/>
                <a:uFillTx/>
                <a:latin typeface="+mn-lt"/>
                <a:ea typeface="+mn-ea"/>
                <a:cs typeface="+mn-cs"/>
              </a:rPr>
              <a:t>的控制字</a:t>
            </a:r>
          </a:p>
          <a:p>
            <a:pPr marL="342900" marR="0" lvl="0" indent="-342900" algn="l" defTabSz="914400" rtl="0" eaLnBrk="1" fontAlgn="base" latinLnBrk="0" hangingPunct="1">
              <a:lnSpc>
                <a:spcPts val="5000"/>
              </a:lnSpc>
              <a:spcBef>
                <a:spcPct val="20000"/>
              </a:spcBef>
              <a:spcAft>
                <a:spcPct val="0"/>
              </a:spcAft>
              <a:buClr>
                <a:schemeClr val="accent2"/>
              </a:buClr>
              <a:buSzPct val="70000"/>
              <a:buFont typeface="Wingdings" panose="05000000000000000000" pitchFamily="2" charset="2"/>
              <a:buNone/>
              <a:defRPr/>
            </a:pPr>
            <a:r>
              <a:rPr kumimoji="1" lang="zh-CN" altLang="en-US" sz="2800" b="1" i="1" u="none" strike="noStrike" kern="0" cap="none" spc="0" normalizeH="0" baseline="0" noProof="0" dirty="0">
                <a:ln>
                  <a:noFill/>
                </a:ln>
                <a:solidFill>
                  <a:schemeClr val="accent6"/>
                </a:solidFill>
                <a:effectLst/>
                <a:uLnTx/>
                <a:uFillTx/>
                <a:latin typeface="+mn-lt"/>
                <a:ea typeface="+mn-ea"/>
                <a:cs typeface="+mn-cs"/>
              </a:rPr>
              <a:t>          三、</a:t>
            </a:r>
            <a:r>
              <a:rPr kumimoji="1" lang="en-US" altLang="zh-CN" sz="2800" b="1" i="1" u="none" strike="noStrike" kern="0" cap="none" spc="0" normalizeH="0" baseline="0" noProof="0" dirty="0">
                <a:ln>
                  <a:noFill/>
                </a:ln>
                <a:solidFill>
                  <a:schemeClr val="accent6"/>
                </a:solidFill>
                <a:effectLst/>
                <a:uLnTx/>
                <a:uFillTx/>
                <a:latin typeface="+mn-lt"/>
                <a:ea typeface="+mn-ea"/>
                <a:cs typeface="+mn-cs"/>
              </a:rPr>
              <a:t>8253</a:t>
            </a:r>
            <a:r>
              <a:rPr kumimoji="1" lang="zh-CN" altLang="en-US" sz="2800" b="1" i="1" u="none" strike="noStrike" kern="0" cap="none" spc="0" normalizeH="0" baseline="0" noProof="0" dirty="0">
                <a:ln>
                  <a:noFill/>
                </a:ln>
                <a:solidFill>
                  <a:schemeClr val="accent6"/>
                </a:solidFill>
                <a:effectLst/>
                <a:uLnTx/>
                <a:uFillTx/>
                <a:latin typeface="+mn-lt"/>
                <a:ea typeface="+mn-ea"/>
                <a:cs typeface="+mn-cs"/>
              </a:rPr>
              <a:t>工作方式与工作时序</a:t>
            </a:r>
            <a:endParaRPr kumimoji="1" lang="en-US" altLang="zh-CN" sz="2800" b="1" i="1" u="none" strike="noStrike" kern="0" cap="none" spc="0" normalizeH="0" baseline="0" noProof="0" dirty="0">
              <a:ln>
                <a:noFill/>
              </a:ln>
              <a:solidFill>
                <a:schemeClr val="accent6"/>
              </a:solidFill>
              <a:effectLst/>
              <a:uLnTx/>
              <a:uFillTx/>
              <a:latin typeface="+mn-lt"/>
              <a:ea typeface="+mn-ea"/>
              <a:cs typeface="+mn-cs"/>
            </a:endParaRPr>
          </a:p>
          <a:p>
            <a:pPr marL="342900" marR="0" lvl="0" indent="-342900" algn="l" defTabSz="914400" rtl="0" eaLnBrk="1" fontAlgn="base" latinLnBrk="0" hangingPunct="1">
              <a:lnSpc>
                <a:spcPts val="5000"/>
              </a:lnSpc>
              <a:spcBef>
                <a:spcPct val="20000"/>
              </a:spcBef>
              <a:spcAft>
                <a:spcPct val="0"/>
              </a:spcAft>
              <a:buClr>
                <a:schemeClr val="accent2"/>
              </a:buClr>
              <a:buSzPct val="70000"/>
              <a:buFont typeface="Wingdings" panose="05000000000000000000" pitchFamily="2" charset="2"/>
              <a:buNone/>
              <a:defRPr/>
            </a:pPr>
            <a:r>
              <a:rPr kumimoji="1" lang="zh-CN" altLang="en-US" sz="2800" b="1" i="1" u="none" strike="noStrike" kern="0" cap="none" spc="0" normalizeH="0" baseline="0" noProof="0" dirty="0">
                <a:ln>
                  <a:noFill/>
                </a:ln>
                <a:solidFill>
                  <a:schemeClr val="accent6"/>
                </a:solidFill>
                <a:effectLst/>
                <a:uLnTx/>
                <a:uFillTx/>
                <a:latin typeface="+mn-lt"/>
                <a:ea typeface="+mn-ea"/>
                <a:cs typeface="+mn-cs"/>
              </a:rPr>
              <a:t>          四、</a:t>
            </a:r>
            <a:r>
              <a:rPr kumimoji="1" lang="en-US" altLang="zh-CN" sz="2800" b="1" i="1" u="none" strike="noStrike" kern="0" cap="none" spc="0" normalizeH="0" baseline="0" noProof="0" dirty="0">
                <a:ln>
                  <a:noFill/>
                </a:ln>
                <a:solidFill>
                  <a:schemeClr val="accent6"/>
                </a:solidFill>
                <a:effectLst/>
                <a:uLnTx/>
                <a:uFillTx/>
                <a:latin typeface="+mn-lt"/>
                <a:ea typeface="+mn-ea"/>
                <a:cs typeface="+mn-cs"/>
              </a:rPr>
              <a:t>8253</a:t>
            </a:r>
            <a:r>
              <a:rPr kumimoji="1" lang="zh-CN" altLang="en-US" sz="2800" b="1" i="1" u="none" strike="noStrike" kern="0" cap="none" spc="0" normalizeH="0" baseline="0" noProof="0" dirty="0">
                <a:ln>
                  <a:noFill/>
                </a:ln>
                <a:solidFill>
                  <a:schemeClr val="accent6"/>
                </a:solidFill>
                <a:effectLst/>
                <a:uLnTx/>
                <a:uFillTx/>
                <a:latin typeface="+mn-lt"/>
                <a:ea typeface="+mn-ea"/>
                <a:cs typeface="+mn-cs"/>
              </a:rPr>
              <a:t>的初始化编程及应用</a:t>
            </a:r>
          </a:p>
          <a:p>
            <a:pPr marL="342900" marR="0" lvl="0" indent="-3429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u"/>
              <a:defRPr/>
            </a:pPr>
            <a:endParaRPr kumimoji="1"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
        <p:nvSpPr>
          <p:cNvPr id="5" name="矩形 4"/>
          <p:cNvSpPr/>
          <p:nvPr/>
        </p:nvSpPr>
        <p:spPr>
          <a:xfrm>
            <a:off x="463951" y="1637281"/>
            <a:ext cx="3154680" cy="593090"/>
          </a:xfrm>
          <a:prstGeom prst="rect">
            <a:avLst/>
          </a:prstGeom>
          <a:noFill/>
        </p:spPr>
        <p:txBody>
          <a:bodyPr wrap="none">
            <a:spAutoFit/>
          </a:bodyPr>
          <a:lstStyle/>
          <a:p>
            <a:pPr marL="0" marR="0" lvl="0" indent="0" algn="ctr" defTabSz="914400" rtl="0" eaLnBrk="1" fontAlgn="base" latinLnBrk="0" hangingPunct="1">
              <a:lnSpc>
                <a:spcPct val="90000"/>
              </a:lnSpc>
              <a:spcBef>
                <a:spcPct val="20000"/>
              </a:spcBef>
              <a:spcAft>
                <a:spcPct val="0"/>
              </a:spcAft>
              <a:buClrTx/>
              <a:buSzTx/>
              <a:buFontTx/>
              <a:buNone/>
              <a:defRPr/>
            </a:pPr>
            <a:r>
              <a:rPr kumimoji="1" lang="en-US" altLang="zh-CN" sz="3600" b="1" i="0" u="none" strike="noStrike" kern="1200" cap="none" spc="0" normalizeH="0" baseline="0" noProof="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uLnTx/>
                <a:uFillTx/>
                <a:latin typeface="宋体" panose="02010600030101010101" pitchFamily="2" charset="-122"/>
                <a:ea typeface="宋体" panose="02010600030101010101" pitchFamily="2" charset="-122"/>
                <a:cs typeface="+mn-cs"/>
              </a:rPr>
              <a:t>【</a:t>
            </a:r>
            <a:r>
              <a:rPr kumimoji="1" lang="zh-CN" altLang="en-US" sz="3600" b="1" i="0" u="none" strike="noStrike" kern="1200" cap="none" spc="0" normalizeH="0" baseline="0" noProof="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uLnTx/>
                <a:uFillTx/>
                <a:latin typeface="宋体" panose="02010600030101010101" pitchFamily="2" charset="-122"/>
                <a:ea typeface="宋体" panose="02010600030101010101" pitchFamily="2" charset="-122"/>
                <a:cs typeface="+mn-cs"/>
              </a:rPr>
              <a:t>知识点 </a:t>
            </a:r>
            <a:r>
              <a:rPr kumimoji="1" lang="en-US" altLang="zh-CN" sz="3600" b="1" i="0" u="none" strike="noStrike" kern="1200" cap="none" spc="0" normalizeH="0" baseline="0" noProof="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uLnTx/>
                <a:uFillTx/>
                <a:latin typeface="宋体" panose="02010600030101010101" pitchFamily="2" charset="-122"/>
                <a:ea typeface="宋体" panose="02010600030101010101" pitchFamily="2" charset="-122"/>
                <a:cs typeface="+mn-cs"/>
              </a:rPr>
              <a:t>】</a:t>
            </a:r>
            <a:r>
              <a:rPr kumimoji="1" lang="zh-CN" altLang="en-US" sz="3600" b="1" i="0" u="none" strike="noStrike" kern="1200" cap="none" spc="0" normalizeH="0" baseline="0" noProof="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uLnTx/>
                <a:uFillTx/>
                <a:latin typeface="宋体" panose="02010600030101010101" pitchFamily="2" charset="-122"/>
                <a:ea typeface="宋体" panose="02010600030101010101" pitchFamily="2" charset="-122"/>
                <a:cs typeface="+mn-cs"/>
              </a:rPr>
              <a:t>：</a:t>
            </a:r>
          </a:p>
        </p:txBody>
      </p:sp>
    </p:spTree>
  </p:cSld>
  <p:clrMapOvr>
    <a:masterClrMapping/>
  </p:clrMapOvr>
  <p:transition spd="med">
    <p:random/>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4000" b="1" i="1"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 </a:t>
            </a:r>
            <a:r>
              <a:rPr kumimoji="1" lang="zh-CN" altLang="en-US" sz="40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j-lt"/>
                <a:ea typeface="+mj-ea"/>
                <a:cs typeface="+mj-cs"/>
              </a:rPr>
              <a:t>一、</a:t>
            </a:r>
            <a:r>
              <a:rPr kumimoji="1" lang="en-US" altLang="zh-CN" sz="40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j-lt"/>
                <a:ea typeface="+mj-ea"/>
                <a:cs typeface="+mj-cs"/>
              </a:rPr>
              <a:t>8253</a:t>
            </a:r>
            <a:r>
              <a:rPr kumimoji="1" lang="zh-CN" altLang="en-US" sz="40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j-lt"/>
                <a:ea typeface="+mj-ea"/>
                <a:cs typeface="+mj-cs"/>
              </a:rPr>
              <a:t>的功能与结构</a:t>
            </a:r>
          </a:p>
        </p:txBody>
      </p:sp>
      <p:sp>
        <p:nvSpPr>
          <p:cNvPr id="14338" name="内容占位符 2"/>
          <p:cNvSpPr>
            <a:spLocks noGrp="1"/>
          </p:cNvSpPr>
          <p:nvPr>
            <p:ph idx="1"/>
          </p:nvPr>
        </p:nvSpPr>
        <p:spPr>
          <a:xfrm>
            <a:off x="0" y="1387475"/>
            <a:ext cx="8775700" cy="4814888"/>
          </a:xfrm>
          <a:ln/>
        </p:spPr>
        <p:txBody>
          <a:bodyPr wrap="square" lIns="92075" tIns="46038" rIns="92075" bIns="46038" anchor="t" anchorCtr="0"/>
          <a:lstStyle/>
          <a:p>
            <a:pPr>
              <a:buNone/>
            </a:pPr>
            <a:r>
              <a:rPr lang="zh-CN" altLang="en-US" sz="2400" dirty="0"/>
              <a:t>   </a:t>
            </a:r>
            <a:endParaRPr lang="en-US" altLang="zh-CN" sz="2400" dirty="0"/>
          </a:p>
          <a:p>
            <a:pPr>
              <a:buNone/>
            </a:pPr>
            <a:r>
              <a:rPr lang="en-US" altLang="zh-CN" sz="2400" dirty="0"/>
              <a:t>       </a:t>
            </a:r>
          </a:p>
          <a:p>
            <a:pPr>
              <a:buNone/>
            </a:pPr>
            <a:r>
              <a:rPr lang="zh-CN" altLang="en-US" sz="2400" dirty="0"/>
              <a:t>         （</a:t>
            </a:r>
            <a:r>
              <a:rPr lang="en-US" altLang="zh-CN" sz="2400" dirty="0"/>
              <a:t>1</a:t>
            </a:r>
            <a:r>
              <a:rPr lang="zh-CN" altLang="en-US" sz="2400" dirty="0"/>
              <a:t>）每片有三个独立的</a:t>
            </a:r>
            <a:r>
              <a:rPr lang="en-US" altLang="zh-CN" sz="2400" dirty="0"/>
              <a:t>16</a:t>
            </a:r>
            <a:r>
              <a:rPr lang="zh-CN" altLang="en-US" sz="2400" dirty="0"/>
              <a:t>位计数器通道，称为</a:t>
            </a:r>
            <a:r>
              <a:rPr lang="zh-CN" altLang="en-US" sz="2400" dirty="0">
                <a:solidFill>
                  <a:srgbClr val="FF0000"/>
                </a:solidFill>
              </a:rPr>
              <a:t>通道</a:t>
            </a:r>
            <a:r>
              <a:rPr lang="en-US" altLang="zh-CN" sz="2400" dirty="0">
                <a:solidFill>
                  <a:srgbClr val="FF0000"/>
                </a:solidFill>
              </a:rPr>
              <a:t>0</a:t>
            </a:r>
            <a:r>
              <a:rPr lang="zh-CN" altLang="en-US" sz="2400" dirty="0">
                <a:solidFill>
                  <a:srgbClr val="FF0000"/>
                </a:solidFill>
              </a:rPr>
              <a:t>～通道</a:t>
            </a:r>
            <a:r>
              <a:rPr lang="en-US" altLang="zh-CN" sz="2400" dirty="0">
                <a:solidFill>
                  <a:srgbClr val="FF0000"/>
                </a:solidFill>
              </a:rPr>
              <a:t>2</a:t>
            </a:r>
            <a:r>
              <a:rPr lang="zh-CN" altLang="en-US" sz="2400" dirty="0"/>
              <a:t>；</a:t>
            </a:r>
          </a:p>
          <a:p>
            <a:pPr>
              <a:lnSpc>
                <a:spcPts val="3800"/>
              </a:lnSpc>
              <a:buNone/>
            </a:pPr>
            <a:r>
              <a:rPr lang="zh-CN" altLang="en-US" sz="2400" dirty="0"/>
              <a:t>         （</a:t>
            </a:r>
            <a:r>
              <a:rPr lang="en-US" altLang="zh-CN" sz="2400" dirty="0"/>
              <a:t>2</a:t>
            </a:r>
            <a:r>
              <a:rPr lang="zh-CN" altLang="en-US" sz="2400" dirty="0"/>
              <a:t>）每个计数器都可以按照</a:t>
            </a:r>
            <a:r>
              <a:rPr lang="zh-CN" altLang="en-US" sz="2400" dirty="0">
                <a:solidFill>
                  <a:srgbClr val="FF0000"/>
                </a:solidFill>
              </a:rPr>
              <a:t>二进制或十进制</a:t>
            </a:r>
            <a:r>
              <a:rPr lang="zh-CN" altLang="en-US" sz="2400" dirty="0"/>
              <a:t>计数；</a:t>
            </a:r>
          </a:p>
          <a:p>
            <a:pPr>
              <a:lnSpc>
                <a:spcPts val="3800"/>
              </a:lnSpc>
              <a:buNone/>
            </a:pPr>
            <a:r>
              <a:rPr lang="zh-CN" altLang="en-US" sz="2400" dirty="0"/>
              <a:t>         （</a:t>
            </a:r>
            <a:r>
              <a:rPr lang="en-US" altLang="zh-CN" sz="2400" dirty="0"/>
              <a:t>3</a:t>
            </a:r>
            <a:r>
              <a:rPr lang="zh-CN" altLang="en-US" sz="2400" dirty="0"/>
              <a:t>）每个计数器的最高计数速率可达</a:t>
            </a:r>
            <a:r>
              <a:rPr lang="en-US" altLang="zh-CN" sz="2400" dirty="0">
                <a:solidFill>
                  <a:srgbClr val="FF0000"/>
                </a:solidFill>
              </a:rPr>
              <a:t>2.6MHZ</a:t>
            </a:r>
            <a:r>
              <a:rPr lang="zh-CN" altLang="en-US" sz="2400" dirty="0"/>
              <a:t>；</a:t>
            </a:r>
          </a:p>
          <a:p>
            <a:pPr>
              <a:lnSpc>
                <a:spcPts val="3800"/>
              </a:lnSpc>
              <a:buNone/>
            </a:pPr>
            <a:r>
              <a:rPr lang="zh-CN" altLang="en-US" sz="2400" dirty="0"/>
              <a:t>         （</a:t>
            </a:r>
            <a:r>
              <a:rPr lang="en-US" altLang="zh-CN" sz="2400" dirty="0"/>
              <a:t>4</a:t>
            </a:r>
            <a:r>
              <a:rPr lang="zh-CN" altLang="en-US" sz="2400" dirty="0"/>
              <a:t>）每个计数器具有</a:t>
            </a:r>
            <a:r>
              <a:rPr lang="en-US" altLang="zh-CN" sz="2400" dirty="0">
                <a:solidFill>
                  <a:srgbClr val="FF0000"/>
                </a:solidFill>
              </a:rPr>
              <a:t>6</a:t>
            </a:r>
            <a:r>
              <a:rPr lang="zh-CN" altLang="en-US" sz="2400" dirty="0"/>
              <a:t>种可编程工作方式；</a:t>
            </a:r>
          </a:p>
          <a:p>
            <a:pPr>
              <a:lnSpc>
                <a:spcPts val="3800"/>
              </a:lnSpc>
              <a:buNone/>
            </a:pPr>
            <a:r>
              <a:rPr lang="zh-CN" altLang="en-US" sz="2400" dirty="0"/>
              <a:t>         （</a:t>
            </a:r>
            <a:r>
              <a:rPr lang="en-US" altLang="zh-CN" sz="2400" dirty="0"/>
              <a:t>5</a:t>
            </a:r>
            <a:r>
              <a:rPr lang="zh-CN" altLang="en-US" sz="2400" dirty="0"/>
              <a:t>）所有输入、输出都与</a:t>
            </a:r>
            <a:r>
              <a:rPr lang="en-US" altLang="zh-CN" sz="2400" dirty="0">
                <a:solidFill>
                  <a:srgbClr val="FF0000"/>
                </a:solidFill>
              </a:rPr>
              <a:t>TTL</a:t>
            </a:r>
            <a:r>
              <a:rPr lang="zh-CN" altLang="en-US" sz="2400" dirty="0">
                <a:solidFill>
                  <a:srgbClr val="FF0000"/>
                </a:solidFill>
              </a:rPr>
              <a:t>电平</a:t>
            </a:r>
            <a:r>
              <a:rPr lang="zh-CN" altLang="en-US" sz="2400" dirty="0"/>
              <a:t>兼容，便于与外界接口电路相连。</a:t>
            </a:r>
          </a:p>
          <a:p>
            <a:endParaRPr lang="zh-CN" altLang="en-US" dirty="0"/>
          </a:p>
        </p:txBody>
      </p:sp>
      <p:sp>
        <p:nvSpPr>
          <p:cNvPr id="5" name="矩形 4"/>
          <p:cNvSpPr/>
          <p:nvPr/>
        </p:nvSpPr>
        <p:spPr>
          <a:xfrm>
            <a:off x="423309" y="1427734"/>
            <a:ext cx="3434080" cy="537210"/>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marL="0" marR="0" lvl="0" indent="0" algn="ctr" defTabSz="914400" rtl="0" eaLnBrk="1" fontAlgn="base" latinLnBrk="0" hangingPunct="1">
              <a:lnSpc>
                <a:spcPct val="90000"/>
              </a:lnSpc>
              <a:spcBef>
                <a:spcPct val="20000"/>
              </a:spcBef>
              <a:spcAft>
                <a:spcPct val="0"/>
              </a:spcAft>
              <a:buClrTx/>
              <a:buSzTx/>
              <a:buFontTx/>
              <a:buNone/>
              <a:defRPr/>
            </a:pPr>
            <a:r>
              <a:rPr kumimoji="1" lang="en-US" sz="3200" b="1" i="1"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1 .8253</a:t>
            </a:r>
            <a:r>
              <a:rPr kumimoji="1" lang="zh-CN" altLang="en-US" sz="3200" b="1" i="1"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主要功能</a:t>
            </a:r>
            <a:r>
              <a:rPr kumimoji="1" lang="en-US" altLang="zh-CN" sz="3200" b="1" i="1"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a:t>
            </a:r>
            <a:endParaRPr kumimoji="1" lang="zh-CN" altLang="en-US" sz="3200" b="1" i="0"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random/>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446088" y="447675"/>
            <a:ext cx="8331200" cy="1143000"/>
          </a:xfrm>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br>
              <a:rPr kumimoji="1" lang="zh-CN" altLang="en-US"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br>
            <a:endParaRPr kumimoji="1" lang="zh-CN" altLang="en-US"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15362" name="内容占位符 7"/>
          <p:cNvSpPr>
            <a:spLocks noGrp="1"/>
          </p:cNvSpPr>
          <p:nvPr>
            <p:ph sz="half" idx="1"/>
          </p:nvPr>
        </p:nvSpPr>
        <p:spPr>
          <a:xfrm>
            <a:off x="577850" y="1387475"/>
            <a:ext cx="4022725" cy="5470525"/>
          </a:xfrm>
          <a:ln/>
        </p:spPr>
        <p:txBody>
          <a:bodyPr wrap="square" lIns="92075" tIns="46038" rIns="92075" bIns="46038" anchor="t" anchorCtr="0"/>
          <a:lstStyle/>
          <a:p>
            <a:pPr>
              <a:buSzPct val="70000"/>
              <a:buFont typeface="Wingdings" panose="05000000000000000000" pitchFamily="2" charset="2"/>
              <a:buNone/>
            </a:pPr>
            <a:r>
              <a:rPr kumimoji="1" lang="en-US" altLang="zh-CN" i="1" dirty="0">
                <a:latin typeface="+mn-lt"/>
                <a:ea typeface="+mn-ea"/>
                <a:cs typeface="+mn-cs"/>
              </a:rPr>
              <a:t>8253</a:t>
            </a:r>
            <a:r>
              <a:rPr kumimoji="1" lang="zh-CN" altLang="en-US" i="1" dirty="0">
                <a:latin typeface="+mn-lt"/>
                <a:ea typeface="+mn-ea"/>
                <a:cs typeface="+mn-cs"/>
              </a:rPr>
              <a:t>的内部结构如图</a:t>
            </a:r>
            <a:r>
              <a:rPr kumimoji="1" lang="en-US" altLang="zh-CN" dirty="0">
                <a:latin typeface="+mn-lt"/>
                <a:ea typeface="+mn-ea"/>
                <a:cs typeface="+mn-cs"/>
              </a:rPr>
              <a:t>:</a:t>
            </a:r>
            <a:endParaRPr kumimoji="1" lang="zh-CN" altLang="en-US" dirty="0">
              <a:latin typeface="+mn-lt"/>
              <a:ea typeface="+mn-ea"/>
              <a:cs typeface="+mn-cs"/>
            </a:endParaRPr>
          </a:p>
        </p:txBody>
      </p:sp>
      <p:sp>
        <p:nvSpPr>
          <p:cNvPr id="15363" name="内容占位符 9"/>
          <p:cNvSpPr>
            <a:spLocks noGrp="1"/>
          </p:cNvSpPr>
          <p:nvPr>
            <p:ph sz="half" idx="2"/>
          </p:nvPr>
        </p:nvSpPr>
        <p:spPr>
          <a:xfrm>
            <a:off x="4584700" y="1573213"/>
            <a:ext cx="4022725" cy="4814887"/>
          </a:xfrm>
          <a:ln/>
        </p:spPr>
        <p:txBody>
          <a:bodyPr wrap="square" lIns="92075" tIns="46038" rIns="92075" bIns="46038" anchor="t" anchorCtr="0"/>
          <a:lstStyle/>
          <a:p>
            <a:pPr>
              <a:buSzPct val="70000"/>
              <a:buFont typeface="Wingdings" panose="05000000000000000000" pitchFamily="2" charset="2"/>
              <a:buNone/>
            </a:pPr>
            <a:r>
              <a:rPr kumimoji="1" lang="zh-CN" altLang="en-US" sz="2400" dirty="0">
                <a:latin typeface="+mn-lt"/>
                <a:ea typeface="+mn-ea"/>
                <a:cs typeface="+mn-cs"/>
              </a:rPr>
              <a:t>          它主要包括以下几个主要部分：</a:t>
            </a:r>
            <a:endParaRPr kumimoji="1" lang="en-US" altLang="zh-CN" sz="2400" dirty="0">
              <a:latin typeface="+mn-lt"/>
              <a:ea typeface="+mn-ea"/>
              <a:cs typeface="+mn-cs"/>
            </a:endParaRPr>
          </a:p>
          <a:p>
            <a:pPr>
              <a:buSzPct val="70000"/>
              <a:buFont typeface="Wingdings" panose="05000000000000000000" pitchFamily="2" charset="2"/>
              <a:buNone/>
            </a:pPr>
            <a:r>
              <a:rPr kumimoji="1" lang="en-US" altLang="zh-CN" sz="2400" dirty="0">
                <a:latin typeface="+mn-lt"/>
                <a:ea typeface="+mn-ea"/>
                <a:cs typeface="+mn-cs"/>
              </a:rPr>
              <a:t>            (1) </a:t>
            </a:r>
            <a:r>
              <a:rPr kumimoji="1" lang="zh-CN" altLang="en-US" sz="2400" dirty="0">
                <a:latin typeface="+mn-lt"/>
                <a:ea typeface="+mn-ea"/>
                <a:cs typeface="+mn-cs"/>
              </a:rPr>
              <a:t>数据总线缓冲器</a:t>
            </a:r>
            <a:r>
              <a:rPr kumimoji="1" lang="en-US" altLang="zh-CN" sz="2400" dirty="0">
                <a:latin typeface="+mn-lt"/>
                <a:ea typeface="+mn-ea"/>
                <a:cs typeface="+mn-cs"/>
              </a:rPr>
              <a:t>  </a:t>
            </a:r>
            <a:r>
              <a:rPr kumimoji="1" lang="zh-CN" altLang="en-US" sz="2400" dirty="0">
                <a:latin typeface="+mn-lt"/>
                <a:ea typeface="+mn-ea"/>
                <a:cs typeface="+mn-cs"/>
              </a:rPr>
              <a:t>数据总线缓冲器是</a:t>
            </a:r>
            <a:r>
              <a:rPr kumimoji="1" lang="en-US" altLang="zh-CN" sz="2400" dirty="0">
                <a:solidFill>
                  <a:srgbClr val="FFFF00"/>
                </a:solidFill>
                <a:latin typeface="+mn-lt"/>
                <a:ea typeface="+mn-ea"/>
                <a:cs typeface="+mn-cs"/>
              </a:rPr>
              <a:t>8</a:t>
            </a:r>
            <a:r>
              <a:rPr kumimoji="1" lang="zh-CN" altLang="en-US" sz="2400" dirty="0">
                <a:solidFill>
                  <a:srgbClr val="FFFF00"/>
                </a:solidFill>
                <a:latin typeface="+mn-lt"/>
                <a:ea typeface="+mn-ea"/>
                <a:cs typeface="+mn-cs"/>
              </a:rPr>
              <a:t>位双向三态缓冲器</a:t>
            </a:r>
            <a:r>
              <a:rPr kumimoji="1" lang="zh-CN" altLang="en-US" sz="2400" dirty="0">
                <a:latin typeface="+mn-lt"/>
                <a:ea typeface="+mn-ea"/>
                <a:cs typeface="+mn-cs"/>
              </a:rPr>
              <a:t>，主要用于</a:t>
            </a:r>
            <a:r>
              <a:rPr kumimoji="1" lang="en-US" altLang="zh-CN" sz="2400" dirty="0">
                <a:latin typeface="+mn-lt"/>
                <a:ea typeface="+mn-ea"/>
                <a:cs typeface="+mn-cs"/>
              </a:rPr>
              <a:t>8253</a:t>
            </a:r>
            <a:r>
              <a:rPr kumimoji="1" lang="zh-CN" altLang="en-US" sz="2400" dirty="0">
                <a:latin typeface="+mn-lt"/>
                <a:ea typeface="+mn-ea"/>
                <a:cs typeface="+mn-cs"/>
              </a:rPr>
              <a:t>与</a:t>
            </a:r>
            <a:r>
              <a:rPr kumimoji="1" lang="en-US" altLang="zh-CN" sz="2400" dirty="0">
                <a:latin typeface="+mn-lt"/>
                <a:ea typeface="+mn-ea"/>
                <a:cs typeface="+mn-cs"/>
              </a:rPr>
              <a:t>CPU</a:t>
            </a:r>
            <a:r>
              <a:rPr kumimoji="1" lang="zh-CN" altLang="en-US" sz="2400" dirty="0">
                <a:latin typeface="+mn-lt"/>
                <a:ea typeface="+mn-ea"/>
                <a:cs typeface="+mn-cs"/>
              </a:rPr>
              <a:t>之间进行数据传输。该数据包括</a:t>
            </a:r>
            <a:r>
              <a:rPr kumimoji="1" lang="en-US" altLang="zh-CN" sz="2400" dirty="0">
                <a:solidFill>
                  <a:srgbClr val="FF0000"/>
                </a:solidFill>
                <a:latin typeface="+mn-lt"/>
                <a:ea typeface="+mn-ea"/>
                <a:cs typeface="+mn-cs"/>
              </a:rPr>
              <a:t>8253</a:t>
            </a:r>
            <a:r>
              <a:rPr kumimoji="1" lang="zh-CN" altLang="en-US" sz="2400" dirty="0">
                <a:solidFill>
                  <a:srgbClr val="FF0000"/>
                </a:solidFill>
                <a:latin typeface="+mn-lt"/>
                <a:ea typeface="+mn-ea"/>
                <a:cs typeface="+mn-cs"/>
              </a:rPr>
              <a:t>控制字、计数器计算初值及计数器当前计数值</a:t>
            </a:r>
            <a:r>
              <a:rPr kumimoji="1" lang="zh-CN" altLang="en-US" sz="2400" dirty="0">
                <a:latin typeface="+mn-lt"/>
                <a:ea typeface="+mn-ea"/>
                <a:cs typeface="+mn-cs"/>
              </a:rPr>
              <a:t>三个部分。</a:t>
            </a:r>
          </a:p>
          <a:p>
            <a:pPr>
              <a:buSzPct val="70000"/>
              <a:buFont typeface="Wingdings" panose="05000000000000000000" pitchFamily="2" charset="2"/>
              <a:buNone/>
            </a:pPr>
            <a:endParaRPr kumimoji="1" lang="zh-CN" altLang="en-US" dirty="0">
              <a:latin typeface="+mn-lt"/>
              <a:ea typeface="+mn-ea"/>
              <a:cs typeface="+mn-cs"/>
            </a:endParaRPr>
          </a:p>
        </p:txBody>
      </p:sp>
      <p:sp>
        <p:nvSpPr>
          <p:cNvPr id="11" name="矩形 10"/>
          <p:cNvSpPr/>
          <p:nvPr/>
        </p:nvSpPr>
        <p:spPr>
          <a:xfrm>
            <a:off x="1158338" y="465710"/>
            <a:ext cx="6214012" cy="537210"/>
          </a:xfrm>
          <a:prstGeom prst="rect">
            <a:avLst/>
          </a:prstGeom>
          <a:noFill/>
        </p:spPr>
        <p:txBody>
          <a:bodyPr>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marL="0" marR="0" lvl="0" indent="0" algn="l" defTabSz="914400" rtl="0" eaLnBrk="1" fontAlgn="base" latinLnBrk="0" hangingPunct="1">
              <a:lnSpc>
                <a:spcPct val="90000"/>
              </a:lnSpc>
              <a:spcBef>
                <a:spcPct val="20000"/>
              </a:spcBef>
              <a:spcAft>
                <a:spcPct val="0"/>
              </a:spcAft>
              <a:buClrTx/>
              <a:buSzTx/>
              <a:buFontTx/>
              <a:buNone/>
              <a:defRPr/>
            </a:pPr>
            <a:r>
              <a:rPr kumimoji="1" lang="en-US" sz="3200" b="1" i="1"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2 .8253</a:t>
            </a:r>
            <a:r>
              <a:rPr kumimoji="1" lang="zh-CN" altLang="en-US" sz="3200" b="1" i="1"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的内部结构</a:t>
            </a:r>
            <a:endParaRPr kumimoji="1" lang="zh-CN" altLang="en-US" sz="3200" b="1" i="0"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endParaRPr>
          </a:p>
        </p:txBody>
      </p:sp>
      <p:pic>
        <p:nvPicPr>
          <p:cNvPr id="15365" name="Picture 1" descr="8"/>
          <p:cNvPicPr>
            <a:picLocks noChangeAspect="1"/>
          </p:cNvPicPr>
          <p:nvPr/>
        </p:nvPicPr>
        <p:blipFill>
          <a:blip r:embed="rId2"/>
          <a:stretch>
            <a:fillRect/>
          </a:stretch>
        </p:blipFill>
        <p:spPr>
          <a:xfrm>
            <a:off x="525463" y="2243138"/>
            <a:ext cx="3746500" cy="2862262"/>
          </a:xfrm>
          <a:prstGeom prst="rect">
            <a:avLst/>
          </a:prstGeom>
          <a:noFill/>
          <a:ln w="9525">
            <a:noFill/>
          </a:ln>
        </p:spPr>
      </p:pic>
    </p:spTree>
  </p:cSld>
  <p:clrMapOvr>
    <a:masterClrMapping/>
  </p:clrMapOvr>
  <p:transition spd="med">
    <p:random/>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bwMode="auto">
          <a:xfrm>
            <a:off x="417507" y="228600"/>
            <a:ext cx="8331200" cy="1143000"/>
          </a:xfrm>
          <a:scene3d>
            <a:camera prst="orthographicFront"/>
            <a:lightRig rig="balanced" dir="t"/>
          </a:scene3d>
          <a:sp3d prstMaterial="plastic"/>
        </p:spPr>
        <p:txBody>
          <a:bodyPr wrap="square" lIns="92075" tIns="46038" rIns="92075" bIns="46038" numCol="1" anchor="ctr" anchorCtr="0" compatLnSpc="1"/>
          <a:lstStyle/>
          <a:p>
            <a:pPr marL="0" marR="0" lvl="0" indent="0" algn="ctr" defTabSz="914400" rtl="0" eaLnBrk="0" fontAlgn="base" latinLnBrk="0" hangingPunct="0">
              <a:spcBef>
                <a:spcPct val="0"/>
              </a:spcBef>
              <a:spcAft>
                <a:spcPct val="0"/>
              </a:spcAft>
              <a:buClrTx/>
              <a:buSzTx/>
              <a:buFontTx/>
              <a:buNone/>
              <a:defRPr/>
            </a:pPr>
            <a:r>
              <a:rPr kumimoji="1" lang="en-US" b="1" i="1" u="none" strike="noStrike" kern="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mj-lt"/>
                <a:ea typeface="+mj-ea"/>
                <a:cs typeface="+mj-cs"/>
              </a:rPr>
              <a:t>2  .  8253</a:t>
            </a:r>
            <a:r>
              <a:rPr kumimoji="1" lang="zh-CN" altLang="en-US" b="1" i="1" u="none" strike="noStrike" kern="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mj-lt"/>
                <a:ea typeface="+mj-ea"/>
                <a:cs typeface="+mj-cs"/>
              </a:rPr>
              <a:t>的内部结构</a:t>
            </a:r>
            <a:endParaRPr kumimoji="1" lang="zh-CN" altLang="en-US" b="1" i="0" u="none" strike="noStrike" kern="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mj-lt"/>
              <a:ea typeface="+mj-ea"/>
              <a:cs typeface="+mj-cs"/>
            </a:endParaRPr>
          </a:p>
        </p:txBody>
      </p:sp>
      <p:sp>
        <p:nvSpPr>
          <p:cNvPr id="3" name="内容占位符 2"/>
          <p:cNvSpPr>
            <a:spLocks noGrp="1"/>
          </p:cNvSpPr>
          <p:nvPr>
            <p:ph idx="1"/>
          </p:nvPr>
        </p:nvSpPr>
        <p:spPr>
          <a:xfrm>
            <a:off x="577850" y="1387475"/>
            <a:ext cx="8197850" cy="5470525"/>
          </a:xfrm>
          <a:ln>
            <a:miter/>
          </a:ln>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1" lang="en-US" sz="2000" b="1" i="0" u="none" strike="noStrike" kern="0" cap="none" spc="0" normalizeH="0" baseline="0" noProof="0" dirty="0">
                <a:ln>
                  <a:noFill/>
                </a:ln>
                <a:solidFill>
                  <a:schemeClr val="tx1"/>
                </a:solidFill>
                <a:effectLst/>
                <a:uLnTx/>
                <a:uFillTx/>
                <a:latin typeface="+mn-lt"/>
                <a:ea typeface="+mn-ea"/>
                <a:cs typeface="+mn-cs"/>
              </a:rPr>
              <a:t>         (2)  </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读</a:t>
            </a:r>
            <a:r>
              <a:rPr kumimoji="1" lang="en-US" sz="2000" b="1" i="0" u="none" strike="noStrike" kern="0" cap="none" spc="0" normalizeH="0" baseline="0" noProof="0" dirty="0">
                <a:ln>
                  <a:noFill/>
                </a:ln>
                <a:solidFill>
                  <a:schemeClr val="tx1"/>
                </a:solidFill>
                <a:effectLst/>
                <a:uLnTx/>
                <a:uFillTx/>
                <a:latin typeface="+mn-lt"/>
                <a:ea typeface="+mn-ea"/>
                <a:cs typeface="+mn-cs"/>
              </a:rPr>
              <a:t>/</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写控制逻辑</a:t>
            </a:r>
            <a:r>
              <a:rPr kumimoji="1" lang="en-US" sz="2000" b="1" i="0" u="none" strike="noStrike" kern="0" cap="none" spc="0" normalizeH="0" baseline="0" noProof="0" dirty="0">
                <a:ln>
                  <a:noFill/>
                </a:ln>
                <a:solidFill>
                  <a:schemeClr val="tx1"/>
                </a:solidFill>
                <a:effectLst/>
                <a:uLnTx/>
                <a:uFillTx/>
                <a:latin typeface="+mn-lt"/>
                <a:ea typeface="+mn-ea"/>
                <a:cs typeface="+mn-cs"/>
              </a:rPr>
              <a:t>  </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读</a:t>
            </a:r>
            <a:r>
              <a:rPr kumimoji="1" lang="en-US" sz="2000" b="1" i="0" u="none" strike="noStrike" kern="0" cap="none" spc="0" normalizeH="0" baseline="0" noProof="0" dirty="0">
                <a:ln>
                  <a:noFill/>
                </a:ln>
                <a:solidFill>
                  <a:schemeClr val="tx1"/>
                </a:solidFill>
                <a:effectLst/>
                <a:uLnTx/>
                <a:uFillTx/>
                <a:latin typeface="+mn-lt"/>
                <a:ea typeface="+mn-ea"/>
                <a:cs typeface="+mn-cs"/>
              </a:rPr>
              <a:t>/</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写控制逻辑电路接受输入到</a:t>
            </a:r>
            <a:r>
              <a:rPr kumimoji="1" lang="en-US" sz="2000" b="1" i="0" u="none" strike="noStrike" kern="0" cap="none" spc="0" normalizeH="0" baseline="0" noProof="0" dirty="0">
                <a:ln>
                  <a:noFill/>
                </a:ln>
                <a:solidFill>
                  <a:schemeClr val="tx1"/>
                </a:solidFill>
                <a:effectLst/>
                <a:uLnTx/>
                <a:uFillTx/>
                <a:latin typeface="+mn-lt"/>
                <a:ea typeface="+mn-ea"/>
                <a:cs typeface="+mn-cs"/>
              </a:rPr>
              <a:t>8253</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的</a:t>
            </a:r>
            <a:r>
              <a:rPr kumimoji="1" lang="en-US" sz="2000" b="1" i="0" u="none" strike="noStrike" kern="0" cap="none" spc="0" normalizeH="0" baseline="0" noProof="0" dirty="0">
                <a:ln>
                  <a:noFill/>
                </a:ln>
                <a:solidFill>
                  <a:schemeClr val="tx1"/>
                </a:solidFill>
                <a:effectLst/>
                <a:uLnTx/>
                <a:uFillTx/>
                <a:latin typeface="+mn-lt"/>
                <a:ea typeface="+mn-ea"/>
                <a:cs typeface="+mn-cs"/>
              </a:rPr>
              <a:t>     </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 </a:t>
            </a:r>
            <a:r>
              <a:rPr kumimoji="1" lang="en-US" sz="2000" b="1" i="0" u="none" strike="noStrike" kern="0" cap="none" spc="0" normalizeH="0" baseline="0" noProof="0" dirty="0">
                <a:ln>
                  <a:noFill/>
                </a:ln>
                <a:solidFill>
                  <a:schemeClr val="tx1"/>
                </a:solidFill>
                <a:effectLst/>
                <a:uLnTx/>
                <a:uFillTx/>
                <a:latin typeface="+mn-lt"/>
                <a:ea typeface="+mn-ea"/>
                <a:cs typeface="+mn-cs"/>
              </a:rPr>
              <a:t>  </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a:t>
            </a:r>
            <a:r>
              <a:rPr kumimoji="1" lang="en-US" sz="2000" b="1" i="0" u="none" strike="noStrike" kern="0" cap="none" spc="0" normalizeH="0" baseline="0" noProof="0" dirty="0">
                <a:ln>
                  <a:noFill/>
                </a:ln>
                <a:solidFill>
                  <a:schemeClr val="tx1"/>
                </a:solidFill>
                <a:effectLst/>
                <a:uLnTx/>
                <a:uFillTx/>
                <a:latin typeface="+mn-lt"/>
                <a:ea typeface="+mn-ea"/>
                <a:cs typeface="+mn-cs"/>
              </a:rPr>
              <a:t>  </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                   </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	</a:t>
            </a:r>
            <a:r>
              <a:rPr kumimoji="1" lang="en-US" sz="2000" b="1" i="0" u="none" strike="noStrike" kern="1200" cap="none" spc="0" normalizeH="0" baseline="0" noProof="0" dirty="0">
                <a:ln>
                  <a:noFill/>
                </a:ln>
                <a:solidFill>
                  <a:schemeClr val="tx1"/>
                </a:solidFill>
                <a:effectLst/>
                <a:uLnTx/>
                <a:uFillTx/>
                <a:latin typeface="+mn-lt"/>
                <a:ea typeface="+mn-ea"/>
                <a:cs typeface="+mn-cs"/>
              </a:rPr>
              <a:t>A</a:t>
            </a:r>
            <a:r>
              <a:rPr kumimoji="1" lang="en-US" sz="2000" b="1" i="0" u="none" strike="noStrike" kern="1200" cap="none" spc="0" normalizeH="0" baseline="-25000" noProof="0" dirty="0">
                <a:ln>
                  <a:noFill/>
                </a:ln>
                <a:solidFill>
                  <a:schemeClr val="tx1"/>
                </a:solidFill>
                <a:effectLst/>
                <a:uLnTx/>
                <a:uFillTx/>
                <a:latin typeface="+mn-lt"/>
                <a:ea typeface="+mn-ea"/>
                <a:cs typeface="+mn-cs"/>
              </a:rPr>
              <a:t>1</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 、</a:t>
            </a:r>
            <a:r>
              <a:rPr kumimoji="1" lang="en-US" sz="2000" b="1" i="0" u="none" strike="noStrike" kern="1200" cap="none" spc="0" normalizeH="0" baseline="0" noProof="0" dirty="0">
                <a:ln>
                  <a:noFill/>
                </a:ln>
                <a:solidFill>
                  <a:schemeClr val="tx1"/>
                </a:solidFill>
                <a:effectLst/>
                <a:uLnTx/>
                <a:uFillTx/>
                <a:latin typeface="+mn-lt"/>
                <a:ea typeface="+mn-ea"/>
                <a:cs typeface="+mn-cs"/>
              </a:rPr>
              <a:t>A</a:t>
            </a:r>
            <a:r>
              <a:rPr kumimoji="1" lang="en-US" sz="2000" b="1" i="0" u="none" strike="noStrike" kern="1200" cap="none" spc="0" normalizeH="0" baseline="-25000" noProof="0" dirty="0">
                <a:ln>
                  <a:noFill/>
                </a:ln>
                <a:solidFill>
                  <a:schemeClr val="tx1"/>
                </a:solidFill>
                <a:effectLst/>
                <a:uLnTx/>
                <a:uFillTx/>
                <a:latin typeface="+mn-lt"/>
                <a:ea typeface="+mn-ea"/>
                <a:cs typeface="+mn-cs"/>
              </a:rPr>
              <a:t>0</a:t>
            </a:r>
            <a:r>
              <a:rPr kumimoji="1" lang="en-US" sz="2000" b="1" i="0" u="none" strike="noStrike" kern="0" cap="none" spc="0" normalizeH="0" baseline="0" noProof="0" dirty="0">
                <a:ln>
                  <a:noFill/>
                </a:ln>
                <a:solidFill>
                  <a:schemeClr val="tx1"/>
                </a:solidFill>
                <a:effectLst/>
                <a:uLnTx/>
                <a:uFillTx/>
                <a:latin typeface="+mn-lt"/>
                <a:ea typeface="+mn-ea"/>
                <a:cs typeface="+mn-cs"/>
              </a:rPr>
              <a:t> </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信号，经过逻辑控制电路的组合产生相应操作，具体操作如下图所示：</a:t>
            </a:r>
          </a:p>
        </p:txBody>
      </p:sp>
      <p:graphicFrame>
        <p:nvGraphicFramePr>
          <p:cNvPr id="4" name="表格 3"/>
          <p:cNvGraphicFramePr>
            <a:graphicFrameLocks noGrp="1"/>
          </p:cNvGraphicFramePr>
          <p:nvPr/>
        </p:nvGraphicFramePr>
        <p:xfrm>
          <a:off x="942975" y="2659063"/>
          <a:ext cx="7762878" cy="4011486"/>
        </p:xfrm>
        <a:graphic>
          <a:graphicData uri="http://schemas.openxmlformats.org/drawingml/2006/table">
            <a:tbl>
              <a:tblPr firstRow="1" bandRow="1">
                <a:tableStyleId>{5C22544A-7EE6-4342-B048-85BDC9FD1C3A}</a:tableStyleId>
              </a:tblPr>
              <a:tblGrid>
                <a:gridCol w="1189038">
                  <a:extLst>
                    <a:ext uri="{9D8B030D-6E8A-4147-A177-3AD203B41FA5}">
                      <a16:colId xmlns:a16="http://schemas.microsoft.com/office/drawing/2014/main" val="20000"/>
                    </a:ext>
                  </a:extLst>
                </a:gridCol>
                <a:gridCol w="1189038">
                  <a:extLst>
                    <a:ext uri="{9D8B030D-6E8A-4147-A177-3AD203B41FA5}">
                      <a16:colId xmlns:a16="http://schemas.microsoft.com/office/drawing/2014/main" val="20001"/>
                    </a:ext>
                  </a:extLst>
                </a:gridCol>
                <a:gridCol w="1189038">
                  <a:extLst>
                    <a:ext uri="{9D8B030D-6E8A-4147-A177-3AD203B41FA5}">
                      <a16:colId xmlns:a16="http://schemas.microsoft.com/office/drawing/2014/main" val="20002"/>
                    </a:ext>
                  </a:extLst>
                </a:gridCol>
                <a:gridCol w="1189038">
                  <a:extLst>
                    <a:ext uri="{9D8B030D-6E8A-4147-A177-3AD203B41FA5}">
                      <a16:colId xmlns:a16="http://schemas.microsoft.com/office/drawing/2014/main" val="20003"/>
                    </a:ext>
                  </a:extLst>
                </a:gridCol>
                <a:gridCol w="625476">
                  <a:extLst>
                    <a:ext uri="{9D8B030D-6E8A-4147-A177-3AD203B41FA5}">
                      <a16:colId xmlns:a16="http://schemas.microsoft.com/office/drawing/2014/main" val="20004"/>
                    </a:ext>
                  </a:extLst>
                </a:gridCol>
                <a:gridCol w="2381250">
                  <a:extLst>
                    <a:ext uri="{9D8B030D-6E8A-4147-A177-3AD203B41FA5}">
                      <a16:colId xmlns:a16="http://schemas.microsoft.com/office/drawing/2014/main" val="20005"/>
                    </a:ext>
                  </a:extLst>
                </a:gridCol>
              </a:tblGrid>
              <a:tr h="326390">
                <a:tc>
                  <a:txBody>
                    <a:bodyPr/>
                    <a:lstStyle/>
                    <a:p>
                      <a:endParaRPr lang="zh-CN" altLang="en-US" sz="2000" dirty="0"/>
                    </a:p>
                  </a:txBody>
                  <a:tcPr/>
                </a:tc>
                <a:tc>
                  <a:txBody>
                    <a:bodyPr/>
                    <a:lstStyle/>
                    <a:p>
                      <a:endParaRPr lang="zh-CN" altLang="en-US" sz="2000" dirty="0"/>
                    </a:p>
                  </a:txBody>
                  <a:tcPr/>
                </a:tc>
                <a:tc>
                  <a:txBody>
                    <a:bodyPr/>
                    <a:lstStyle/>
                    <a:p>
                      <a:endParaRPr lang="zh-CN" altLang="en-US" sz="2000" baseline="-26000" dirty="0"/>
                    </a:p>
                  </a:txBody>
                  <a:tcPr/>
                </a:tc>
                <a:tc>
                  <a:txBody>
                    <a:bodyPr/>
                    <a:lstStyle/>
                    <a:p>
                      <a:pPr algn="ctr"/>
                      <a:r>
                        <a:rPr lang="en-US" sz="1800" b="1" kern="1200" dirty="0">
                          <a:solidFill>
                            <a:schemeClr val="bg2"/>
                          </a:solidFill>
                          <a:latin typeface="+mn-lt"/>
                          <a:ea typeface="+mn-ea"/>
                          <a:cs typeface="+mn-cs"/>
                        </a:rPr>
                        <a:t>A</a:t>
                      </a:r>
                      <a:r>
                        <a:rPr lang="en-US" sz="1800" b="1" kern="1200" baseline="-25000" dirty="0">
                          <a:solidFill>
                            <a:schemeClr val="bg2"/>
                          </a:solidFill>
                          <a:latin typeface="+mn-lt"/>
                          <a:ea typeface="+mn-ea"/>
                          <a:cs typeface="+mn-cs"/>
                        </a:rPr>
                        <a:t>1</a:t>
                      </a:r>
                      <a:endParaRPr lang="zh-CN" altLang="en-US" sz="1800" baseline="-26000" dirty="0">
                        <a:solidFill>
                          <a:schemeClr val="bg2"/>
                        </a:solidFill>
                      </a:endParaRPr>
                    </a:p>
                  </a:txBody>
                  <a:tcPr/>
                </a:tc>
                <a:tc>
                  <a:txBody>
                    <a:bodyPr/>
                    <a:lstStyle/>
                    <a:p>
                      <a:r>
                        <a:rPr lang="en-US" sz="1800" b="1" kern="1200" dirty="0">
                          <a:solidFill>
                            <a:schemeClr val="bg2"/>
                          </a:solidFill>
                          <a:latin typeface="+mn-lt"/>
                          <a:ea typeface="+mn-ea"/>
                          <a:cs typeface="+mn-cs"/>
                        </a:rPr>
                        <a:t>A</a:t>
                      </a:r>
                      <a:r>
                        <a:rPr lang="en-US" sz="1800" b="1" kern="1200" baseline="-25000" dirty="0">
                          <a:solidFill>
                            <a:schemeClr val="bg2"/>
                          </a:solidFill>
                          <a:latin typeface="+mn-lt"/>
                          <a:ea typeface="+mn-ea"/>
                          <a:cs typeface="+mn-cs"/>
                        </a:rPr>
                        <a:t>0</a:t>
                      </a:r>
                      <a:endParaRPr lang="zh-CN" altLang="en-US" sz="2000" dirty="0">
                        <a:solidFill>
                          <a:schemeClr val="bg2"/>
                        </a:solidFill>
                      </a:endParaRPr>
                    </a:p>
                  </a:txBody>
                  <a:tcPr/>
                </a:tc>
                <a:tc>
                  <a:txBody>
                    <a:bodyPr/>
                    <a:lstStyle/>
                    <a:p>
                      <a:pPr algn="ctr">
                        <a:lnSpc>
                          <a:spcPts val="1200"/>
                        </a:lnSpc>
                        <a:spcAft>
                          <a:spcPts val="0"/>
                        </a:spcAft>
                      </a:pPr>
                      <a:r>
                        <a:rPr lang="zh-CN" sz="1400" kern="100" dirty="0">
                          <a:solidFill>
                            <a:schemeClr val="tx1"/>
                          </a:solidFill>
                          <a:latin typeface="Times New Roman" panose="02020603050405020304"/>
                          <a:ea typeface="宋体" panose="02010600030101010101" pitchFamily="2" charset="-122"/>
                          <a:cs typeface="Times New Roman" panose="02020603050405020304"/>
                        </a:rPr>
                        <a:t>执行的操作</a:t>
                      </a:r>
                      <a:endParaRPr lang="zh-CN" sz="1400" kern="100" dirty="0">
                        <a:solidFill>
                          <a:schemeClr val="tx1"/>
                        </a:solidFill>
                        <a:latin typeface="宋体" panose="02010600030101010101" pitchFamily="2" charset="-122"/>
                        <a:ea typeface="宋体" panose="02010600030101010101" pitchFamily="2" charset="-122"/>
                        <a:cs typeface="Times New Roman" panose="02020603050405020304"/>
                      </a:endParaRPr>
                    </a:p>
                  </a:txBody>
                  <a:tcPr marL="68580" marR="68580" marT="0" marB="0" anchor="ctr"/>
                </a:tc>
                <a:extLst>
                  <a:ext uri="{0D108BD9-81ED-4DB2-BD59-A6C34878D82A}">
                    <a16:rowId xmlns:a16="http://schemas.microsoft.com/office/drawing/2014/main" val="10000"/>
                  </a:ext>
                </a:extLst>
              </a:tr>
              <a:tr h="379730">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1</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l">
                        <a:lnSpc>
                          <a:spcPts val="2600"/>
                        </a:lnSpc>
                        <a:spcAft>
                          <a:spcPts val="0"/>
                        </a:spcAft>
                      </a:pPr>
                      <a:r>
                        <a:rPr lang="zh-CN" sz="1400" kern="100" dirty="0">
                          <a:solidFill>
                            <a:srgbClr val="000000"/>
                          </a:solidFill>
                          <a:latin typeface="Times New Roman" panose="02020603050405020304"/>
                          <a:ea typeface="宋体" panose="02010600030101010101" pitchFamily="2" charset="-122"/>
                          <a:cs typeface="Times New Roman" panose="02020603050405020304"/>
                        </a:rPr>
                        <a:t>对计数器</a:t>
                      </a:r>
                      <a:r>
                        <a:rPr lang="en-US" sz="1400" kern="100" dirty="0">
                          <a:solidFill>
                            <a:srgbClr val="000000"/>
                          </a:solidFill>
                          <a:latin typeface="Times New Roman" panose="02020603050405020304"/>
                          <a:ea typeface="宋体" panose="02010600030101010101" pitchFamily="2" charset="-122"/>
                          <a:cs typeface="Times New Roman" panose="02020603050405020304"/>
                        </a:rPr>
                        <a:t>0</a:t>
                      </a:r>
                      <a:r>
                        <a:rPr lang="zh-CN" sz="1400" kern="100" dirty="0">
                          <a:solidFill>
                            <a:srgbClr val="000000"/>
                          </a:solidFill>
                          <a:latin typeface="Times New Roman" panose="02020603050405020304"/>
                          <a:ea typeface="宋体" panose="02010600030101010101" pitchFamily="2" charset="-122"/>
                          <a:cs typeface="Times New Roman" panose="02020603050405020304"/>
                        </a:rPr>
                        <a:t>设置初值</a:t>
                      </a:r>
                      <a:endParaRPr lang="zh-CN" sz="14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1"/>
                  </a:ext>
                </a:extLst>
              </a:tr>
              <a:tr h="370840">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1</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1</a:t>
                      </a:r>
                      <a:endParaRPr lang="zh-CN" sz="2000" kern="10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l">
                        <a:lnSpc>
                          <a:spcPts val="2600"/>
                        </a:lnSpc>
                        <a:spcAft>
                          <a:spcPts val="0"/>
                        </a:spcAft>
                      </a:pPr>
                      <a:r>
                        <a:rPr lang="zh-CN" sz="1400" kern="100" dirty="0">
                          <a:solidFill>
                            <a:srgbClr val="000000"/>
                          </a:solidFill>
                          <a:latin typeface="Times New Roman" panose="02020603050405020304"/>
                          <a:ea typeface="宋体" panose="02010600030101010101" pitchFamily="2" charset="-122"/>
                          <a:cs typeface="Times New Roman" panose="02020603050405020304"/>
                        </a:rPr>
                        <a:t>对计数器</a:t>
                      </a:r>
                      <a:r>
                        <a:rPr lang="en-US" sz="1400" kern="100" dirty="0">
                          <a:solidFill>
                            <a:srgbClr val="000000"/>
                          </a:solidFill>
                          <a:latin typeface="Times New Roman" panose="02020603050405020304"/>
                          <a:ea typeface="宋体" panose="02010600030101010101" pitchFamily="2" charset="-122"/>
                          <a:cs typeface="Times New Roman" panose="02020603050405020304"/>
                        </a:rPr>
                        <a:t>1</a:t>
                      </a:r>
                      <a:r>
                        <a:rPr lang="zh-CN" sz="1400" kern="100" dirty="0">
                          <a:solidFill>
                            <a:srgbClr val="000000"/>
                          </a:solidFill>
                          <a:latin typeface="Times New Roman" panose="02020603050405020304"/>
                          <a:ea typeface="宋体" panose="02010600030101010101" pitchFamily="2" charset="-122"/>
                          <a:cs typeface="Times New Roman" panose="02020603050405020304"/>
                        </a:rPr>
                        <a:t>设置初值</a:t>
                      </a:r>
                      <a:endParaRPr lang="zh-CN" sz="14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2"/>
                  </a:ext>
                </a:extLst>
              </a:tr>
              <a:tr h="370840">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1</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1</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l">
                        <a:lnSpc>
                          <a:spcPts val="2600"/>
                        </a:lnSpc>
                        <a:spcAft>
                          <a:spcPts val="0"/>
                        </a:spcAft>
                      </a:pPr>
                      <a:r>
                        <a:rPr lang="zh-CN" sz="1400" kern="100" dirty="0">
                          <a:solidFill>
                            <a:srgbClr val="000000"/>
                          </a:solidFill>
                          <a:latin typeface="Times New Roman" panose="02020603050405020304"/>
                          <a:ea typeface="宋体" panose="02010600030101010101" pitchFamily="2" charset="-122"/>
                          <a:cs typeface="Times New Roman" panose="02020603050405020304"/>
                        </a:rPr>
                        <a:t>对计数器</a:t>
                      </a:r>
                      <a:r>
                        <a:rPr lang="en-US" sz="1400" kern="100" dirty="0">
                          <a:solidFill>
                            <a:srgbClr val="000000"/>
                          </a:solidFill>
                          <a:latin typeface="Times New Roman" panose="02020603050405020304"/>
                          <a:ea typeface="宋体" panose="02010600030101010101" pitchFamily="2" charset="-122"/>
                          <a:cs typeface="Times New Roman" panose="02020603050405020304"/>
                        </a:rPr>
                        <a:t>2</a:t>
                      </a:r>
                      <a:r>
                        <a:rPr lang="zh-CN" sz="1400" kern="100" dirty="0">
                          <a:solidFill>
                            <a:srgbClr val="000000"/>
                          </a:solidFill>
                          <a:latin typeface="Times New Roman" panose="02020603050405020304"/>
                          <a:ea typeface="宋体" panose="02010600030101010101" pitchFamily="2" charset="-122"/>
                          <a:cs typeface="Times New Roman" panose="02020603050405020304"/>
                        </a:rPr>
                        <a:t>设置初值</a:t>
                      </a:r>
                      <a:endParaRPr lang="zh-CN" sz="14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3"/>
                  </a:ext>
                </a:extLst>
              </a:tr>
              <a:tr h="370840">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1</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1</a:t>
                      </a:r>
                      <a:endParaRPr lang="zh-CN" sz="2000" kern="10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1</a:t>
                      </a:r>
                      <a:endParaRPr lang="zh-CN" sz="2000" kern="10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l">
                        <a:lnSpc>
                          <a:spcPts val="2600"/>
                        </a:lnSpc>
                        <a:spcAft>
                          <a:spcPts val="0"/>
                        </a:spcAft>
                      </a:pPr>
                      <a:r>
                        <a:rPr lang="zh-CN" sz="1400" kern="100" dirty="0">
                          <a:solidFill>
                            <a:srgbClr val="000000"/>
                          </a:solidFill>
                          <a:latin typeface="Times New Roman" panose="02020603050405020304"/>
                          <a:ea typeface="宋体" panose="02010600030101010101" pitchFamily="2" charset="-122"/>
                          <a:cs typeface="Times New Roman" panose="02020603050405020304"/>
                        </a:rPr>
                        <a:t>写控制字</a:t>
                      </a:r>
                      <a:endParaRPr lang="zh-CN" sz="14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4"/>
                  </a:ext>
                </a:extLst>
              </a:tr>
              <a:tr h="370840">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1</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l">
                        <a:lnSpc>
                          <a:spcPts val="2600"/>
                        </a:lnSpc>
                        <a:spcAft>
                          <a:spcPts val="0"/>
                        </a:spcAft>
                      </a:pPr>
                      <a:r>
                        <a:rPr lang="zh-CN" sz="1400" kern="100" dirty="0">
                          <a:solidFill>
                            <a:srgbClr val="000000"/>
                          </a:solidFill>
                          <a:latin typeface="Times New Roman" panose="02020603050405020304"/>
                          <a:ea typeface="宋体" panose="02010600030101010101" pitchFamily="2" charset="-122"/>
                          <a:cs typeface="Times New Roman" panose="02020603050405020304"/>
                        </a:rPr>
                        <a:t>读计数器</a:t>
                      </a:r>
                      <a:r>
                        <a:rPr lang="en-US" sz="1400" kern="100" dirty="0">
                          <a:solidFill>
                            <a:srgbClr val="000000"/>
                          </a:solidFill>
                          <a:latin typeface="Times New Roman" panose="02020603050405020304"/>
                          <a:ea typeface="宋体" panose="02010600030101010101" pitchFamily="2" charset="-122"/>
                          <a:cs typeface="Times New Roman" panose="02020603050405020304"/>
                        </a:rPr>
                        <a:t>0</a:t>
                      </a:r>
                      <a:r>
                        <a:rPr lang="zh-CN" sz="1400" kern="100" dirty="0">
                          <a:solidFill>
                            <a:srgbClr val="000000"/>
                          </a:solidFill>
                          <a:latin typeface="Times New Roman" panose="02020603050405020304"/>
                          <a:ea typeface="宋体" panose="02010600030101010101" pitchFamily="2" charset="-122"/>
                          <a:cs typeface="Times New Roman" panose="02020603050405020304"/>
                        </a:rPr>
                        <a:t>当前计数值</a:t>
                      </a:r>
                      <a:endParaRPr lang="zh-CN" sz="14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5"/>
                  </a:ext>
                </a:extLst>
              </a:tr>
              <a:tr h="370840">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1</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1</a:t>
                      </a:r>
                      <a:endParaRPr lang="zh-CN" sz="2000" kern="10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l">
                        <a:lnSpc>
                          <a:spcPts val="2600"/>
                        </a:lnSpc>
                        <a:spcAft>
                          <a:spcPts val="0"/>
                        </a:spcAft>
                      </a:pPr>
                      <a:r>
                        <a:rPr lang="zh-CN" sz="1400" kern="100" dirty="0">
                          <a:solidFill>
                            <a:srgbClr val="000000"/>
                          </a:solidFill>
                          <a:latin typeface="Times New Roman" panose="02020603050405020304"/>
                          <a:ea typeface="宋体" panose="02010600030101010101" pitchFamily="2" charset="-122"/>
                          <a:cs typeface="Times New Roman" panose="02020603050405020304"/>
                        </a:rPr>
                        <a:t>读计数器</a:t>
                      </a:r>
                      <a:r>
                        <a:rPr lang="en-US" sz="1400" kern="100" dirty="0">
                          <a:solidFill>
                            <a:srgbClr val="000000"/>
                          </a:solidFill>
                          <a:latin typeface="Times New Roman" panose="02020603050405020304"/>
                          <a:ea typeface="宋体" panose="02010600030101010101" pitchFamily="2" charset="-122"/>
                          <a:cs typeface="Times New Roman" panose="02020603050405020304"/>
                        </a:rPr>
                        <a:t>1</a:t>
                      </a:r>
                      <a:r>
                        <a:rPr lang="zh-CN" sz="1400" kern="100" dirty="0">
                          <a:solidFill>
                            <a:srgbClr val="000000"/>
                          </a:solidFill>
                          <a:latin typeface="Times New Roman" panose="02020603050405020304"/>
                          <a:ea typeface="宋体" panose="02010600030101010101" pitchFamily="2" charset="-122"/>
                          <a:cs typeface="Times New Roman" panose="02020603050405020304"/>
                        </a:rPr>
                        <a:t>当前计数值</a:t>
                      </a:r>
                      <a:endParaRPr lang="zh-CN" sz="14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6"/>
                  </a:ext>
                </a:extLst>
              </a:tr>
              <a:tr h="370840">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1</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1</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l">
                        <a:lnSpc>
                          <a:spcPts val="2600"/>
                        </a:lnSpc>
                        <a:spcAft>
                          <a:spcPts val="0"/>
                        </a:spcAft>
                      </a:pPr>
                      <a:r>
                        <a:rPr lang="zh-CN" sz="1400" kern="100" dirty="0">
                          <a:solidFill>
                            <a:srgbClr val="000000"/>
                          </a:solidFill>
                          <a:latin typeface="Times New Roman" panose="02020603050405020304"/>
                          <a:ea typeface="宋体" panose="02010600030101010101" pitchFamily="2" charset="-122"/>
                          <a:cs typeface="Times New Roman" panose="02020603050405020304"/>
                        </a:rPr>
                        <a:t>读计数器</a:t>
                      </a:r>
                      <a:r>
                        <a:rPr lang="en-US" sz="1400" kern="100" dirty="0">
                          <a:solidFill>
                            <a:srgbClr val="000000"/>
                          </a:solidFill>
                          <a:latin typeface="Times New Roman" panose="02020603050405020304"/>
                          <a:ea typeface="宋体" panose="02010600030101010101" pitchFamily="2" charset="-122"/>
                          <a:cs typeface="Times New Roman" panose="02020603050405020304"/>
                        </a:rPr>
                        <a:t>2</a:t>
                      </a:r>
                      <a:r>
                        <a:rPr lang="zh-CN" sz="1400" kern="100" dirty="0">
                          <a:solidFill>
                            <a:srgbClr val="000000"/>
                          </a:solidFill>
                          <a:latin typeface="Times New Roman" panose="02020603050405020304"/>
                          <a:ea typeface="宋体" panose="02010600030101010101" pitchFamily="2" charset="-122"/>
                          <a:cs typeface="Times New Roman" panose="02020603050405020304"/>
                        </a:rPr>
                        <a:t>当前计数值</a:t>
                      </a:r>
                      <a:endParaRPr lang="zh-CN" sz="14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7"/>
                  </a:ext>
                </a:extLst>
              </a:tr>
              <a:tr h="427990">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1</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1</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1</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l">
                        <a:lnSpc>
                          <a:spcPts val="2600"/>
                        </a:lnSpc>
                        <a:spcAft>
                          <a:spcPts val="0"/>
                        </a:spcAft>
                      </a:pPr>
                      <a:r>
                        <a:rPr lang="zh-CN" sz="1400" kern="100" dirty="0">
                          <a:solidFill>
                            <a:srgbClr val="000000"/>
                          </a:solidFill>
                          <a:latin typeface="Times New Roman" panose="02020603050405020304"/>
                          <a:ea typeface="宋体" panose="02010600030101010101" pitchFamily="2" charset="-122"/>
                          <a:cs typeface="Times New Roman" panose="02020603050405020304"/>
                        </a:rPr>
                        <a:t>无操作（</a:t>
                      </a:r>
                      <a:r>
                        <a:rPr lang="en-US" sz="1400" kern="100" dirty="0">
                          <a:solidFill>
                            <a:srgbClr val="000000"/>
                          </a:solidFill>
                          <a:latin typeface="Times New Roman" panose="02020603050405020304"/>
                          <a:ea typeface="宋体" panose="02010600030101010101" pitchFamily="2" charset="-122"/>
                          <a:cs typeface="Times New Roman" panose="02020603050405020304"/>
                        </a:rPr>
                        <a:t>3</a:t>
                      </a:r>
                      <a:r>
                        <a:rPr lang="zh-CN" sz="1400" kern="100" dirty="0">
                          <a:solidFill>
                            <a:srgbClr val="000000"/>
                          </a:solidFill>
                          <a:latin typeface="Times New Roman" panose="02020603050405020304"/>
                          <a:ea typeface="宋体" panose="02010600030101010101" pitchFamily="2" charset="-122"/>
                          <a:cs typeface="Times New Roman" panose="02020603050405020304"/>
                        </a:rPr>
                        <a:t>态）</a:t>
                      </a:r>
                      <a:endParaRPr lang="zh-CN" sz="14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8"/>
                  </a:ext>
                </a:extLst>
              </a:tr>
              <a:tr h="295275">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1</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mn-lt"/>
                          <a:ea typeface="+mn-ea"/>
                          <a:cs typeface="Times New Roman" panose="02020603050405020304"/>
                        </a:rPr>
                        <a:t>×</a:t>
                      </a:r>
                      <a:endParaRPr lang="en-US" sz="2000" kern="100" dirty="0">
                        <a:solidFill>
                          <a:srgbClr val="000000"/>
                        </a:solidFill>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ctr"/>
                      <a:r>
                        <a:rPr lang="en-US" altLang="zh-CN" dirty="0"/>
                        <a:t>×</a:t>
                      </a:r>
                      <a:endParaRPr lang="zh-CN" altLang="en-US" dirty="0"/>
                    </a:p>
                  </a:txBody>
                  <a:tcPr marL="68580" marR="68580" marT="0" marB="0"/>
                </a:tc>
                <a:tc>
                  <a:txBody>
                    <a:bodyPr/>
                    <a:lstStyle/>
                    <a:p>
                      <a:r>
                        <a:rPr lang="en-US" altLang="zh-CN" dirty="0"/>
                        <a:t>       ×</a:t>
                      </a:r>
                      <a:endParaRPr lang="zh-CN" altLang="en-US" dirty="0"/>
                    </a:p>
                  </a:txBody>
                  <a:tcPr marL="68580" marR="68580" marT="0" marB="0"/>
                </a:tc>
                <a:tc>
                  <a:txBody>
                    <a:bodyPr/>
                    <a:lstStyle/>
                    <a:p>
                      <a:pPr algn="ctr">
                        <a:lnSpc>
                          <a:spcPts val="2100"/>
                        </a:lnSpc>
                        <a:spcAft>
                          <a:spcPts val="0"/>
                        </a:spcAft>
                      </a:pPr>
                      <a:r>
                        <a:rPr lang="en-US" sz="2000" kern="100" dirty="0">
                          <a:solidFill>
                            <a:srgbClr val="000000"/>
                          </a:solidFill>
                          <a:latin typeface="+mn-lt"/>
                          <a:ea typeface="+mn-ea"/>
                          <a:cs typeface="Times New Roman" panose="02020603050405020304"/>
                        </a:rPr>
                        <a:t>×</a:t>
                      </a:r>
                      <a:endParaRPr lang="en-US" sz="2000" kern="100" dirty="0">
                        <a:solidFill>
                          <a:srgbClr val="000000"/>
                        </a:solidFill>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l">
                        <a:lnSpc>
                          <a:spcPts val="2600"/>
                        </a:lnSpc>
                        <a:spcAft>
                          <a:spcPts val="0"/>
                        </a:spcAft>
                      </a:pPr>
                      <a:r>
                        <a:rPr lang="zh-CN" sz="1400" kern="100" dirty="0">
                          <a:solidFill>
                            <a:srgbClr val="000000"/>
                          </a:solidFill>
                          <a:latin typeface="Times New Roman" panose="02020603050405020304"/>
                          <a:ea typeface="宋体" panose="02010600030101010101" pitchFamily="2" charset="-122"/>
                          <a:cs typeface="Times New Roman" panose="02020603050405020304"/>
                        </a:rPr>
                        <a:t>禁止（</a:t>
                      </a:r>
                      <a:r>
                        <a:rPr lang="en-US" sz="1400" kern="100" dirty="0">
                          <a:solidFill>
                            <a:srgbClr val="000000"/>
                          </a:solidFill>
                          <a:latin typeface="Times New Roman" panose="02020603050405020304"/>
                          <a:ea typeface="宋体" panose="02010600030101010101" pitchFamily="2" charset="-122"/>
                          <a:cs typeface="Times New Roman" panose="02020603050405020304"/>
                        </a:rPr>
                        <a:t>3</a:t>
                      </a:r>
                      <a:r>
                        <a:rPr lang="zh-CN" sz="1400" kern="100" dirty="0">
                          <a:solidFill>
                            <a:srgbClr val="000000"/>
                          </a:solidFill>
                          <a:latin typeface="Times New Roman" panose="02020603050405020304"/>
                          <a:ea typeface="宋体" panose="02010600030101010101" pitchFamily="2" charset="-122"/>
                          <a:cs typeface="Times New Roman" panose="02020603050405020304"/>
                        </a:rPr>
                        <a:t>态）</a:t>
                      </a:r>
                      <a:endParaRPr lang="zh-CN" sz="14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9"/>
                  </a:ext>
                </a:extLst>
              </a:tr>
              <a:tr h="204470">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0</a:t>
                      </a:r>
                      <a:endParaRPr lang="zh-CN" sz="2000" kern="10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1</a:t>
                      </a:r>
                      <a:endParaRPr lang="zh-CN" sz="2000" kern="10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Times New Roman" panose="02020603050405020304"/>
                          <a:ea typeface="宋体" panose="02010600030101010101" pitchFamily="2" charset="-122"/>
                          <a:cs typeface="Times New Roman" panose="02020603050405020304"/>
                        </a:rPr>
                        <a:t>1</a:t>
                      </a:r>
                      <a:endParaRPr lang="zh-CN" sz="20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mn-lt"/>
                          <a:ea typeface="+mn-ea"/>
                          <a:cs typeface="Times New Roman" panose="02020603050405020304"/>
                        </a:rPr>
                        <a:t>×</a:t>
                      </a:r>
                      <a:endParaRPr lang="en-US" sz="2000" kern="100" dirty="0">
                        <a:solidFill>
                          <a:srgbClr val="000000"/>
                        </a:solidFill>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ctr">
                        <a:lnSpc>
                          <a:spcPts val="2100"/>
                        </a:lnSpc>
                        <a:spcAft>
                          <a:spcPts val="0"/>
                        </a:spcAft>
                      </a:pPr>
                      <a:r>
                        <a:rPr lang="en-US" sz="2000" kern="100" dirty="0">
                          <a:solidFill>
                            <a:srgbClr val="000000"/>
                          </a:solidFill>
                          <a:latin typeface="+mn-lt"/>
                          <a:ea typeface="+mn-ea"/>
                          <a:cs typeface="Times New Roman" panose="02020603050405020304"/>
                        </a:rPr>
                        <a:t>×</a:t>
                      </a:r>
                      <a:endParaRPr lang="en-US" sz="2000" kern="100" dirty="0">
                        <a:solidFill>
                          <a:srgbClr val="000000"/>
                        </a:solidFill>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l">
                        <a:lnSpc>
                          <a:spcPts val="2600"/>
                        </a:lnSpc>
                        <a:spcAft>
                          <a:spcPts val="0"/>
                        </a:spcAft>
                      </a:pPr>
                      <a:r>
                        <a:rPr lang="zh-CN" sz="1400" kern="100" dirty="0">
                          <a:solidFill>
                            <a:srgbClr val="000000"/>
                          </a:solidFill>
                          <a:latin typeface="Times New Roman" panose="02020603050405020304"/>
                          <a:ea typeface="宋体" panose="02010600030101010101" pitchFamily="2" charset="-122"/>
                          <a:cs typeface="Times New Roman" panose="02020603050405020304"/>
                        </a:rPr>
                        <a:t>无操作（</a:t>
                      </a:r>
                      <a:r>
                        <a:rPr lang="en-US" sz="1400" kern="100" dirty="0">
                          <a:solidFill>
                            <a:srgbClr val="000000"/>
                          </a:solidFill>
                          <a:latin typeface="Times New Roman" panose="02020603050405020304"/>
                          <a:ea typeface="宋体" panose="02010600030101010101" pitchFamily="2" charset="-122"/>
                          <a:cs typeface="Times New Roman" panose="02020603050405020304"/>
                        </a:rPr>
                        <a:t>3</a:t>
                      </a:r>
                      <a:r>
                        <a:rPr lang="zh-CN" sz="1400" kern="100" dirty="0">
                          <a:solidFill>
                            <a:srgbClr val="000000"/>
                          </a:solidFill>
                          <a:latin typeface="Times New Roman" panose="02020603050405020304"/>
                          <a:ea typeface="宋体" panose="02010600030101010101" pitchFamily="2" charset="-122"/>
                          <a:cs typeface="Times New Roman" panose="02020603050405020304"/>
                        </a:rPr>
                        <a:t>态）</a:t>
                      </a:r>
                      <a:endParaRPr lang="zh-CN" sz="1400" kern="100" dirty="0">
                        <a:latin typeface="宋体" panose="02010600030101010101" pitchFamily="2" charset="-122"/>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10"/>
                  </a:ext>
                </a:extLst>
              </a:tr>
            </a:tbl>
          </a:graphicData>
        </a:graphic>
      </p:graphicFrame>
      <p:pic>
        <p:nvPicPr>
          <p:cNvPr id="6" name="图片 5" descr="clip_image006.gif"/>
          <p:cNvPicPr>
            <a:picLocks noChangeAspect="1"/>
          </p:cNvPicPr>
          <p:nvPr/>
        </p:nvPicPr>
        <p:blipFill>
          <a:blip r:embed="rId2">
            <a:duotone>
              <a:prstClr val="black"/>
              <a:schemeClr val="accent1">
                <a:tint val="45000"/>
                <a:satMod val="400000"/>
              </a:schemeClr>
            </a:duotone>
            <a:lum bright="100000"/>
          </a:blip>
          <a:stretch>
            <a:fillRect/>
          </a:stretch>
        </p:blipFill>
        <p:spPr>
          <a:xfrm>
            <a:off x="7634282" y="1490656"/>
            <a:ext cx="238125" cy="219075"/>
          </a:xfrm>
          <a:prstGeom prst="rect">
            <a:avLst/>
          </a:prstGeom>
        </p:spPr>
      </p:pic>
      <p:pic>
        <p:nvPicPr>
          <p:cNvPr id="16474" name="图片 6" descr="clip_image002.gif"/>
          <p:cNvPicPr>
            <a:picLocks noChangeAspect="1"/>
          </p:cNvPicPr>
          <p:nvPr/>
        </p:nvPicPr>
        <p:blipFill>
          <a:blip r:embed="rId3">
            <a:lum bright="100000"/>
          </a:blip>
          <a:stretch>
            <a:fillRect/>
          </a:stretch>
        </p:blipFill>
        <p:spPr>
          <a:xfrm>
            <a:off x="8053388" y="1490663"/>
            <a:ext cx="257175" cy="200025"/>
          </a:xfrm>
          <a:prstGeom prst="rect">
            <a:avLst/>
          </a:prstGeom>
          <a:noFill/>
          <a:ln w="9525">
            <a:noFill/>
          </a:ln>
        </p:spPr>
      </p:pic>
      <p:pic>
        <p:nvPicPr>
          <p:cNvPr id="16475" name="图片 10" descr="clip_image006.gif"/>
          <p:cNvPicPr>
            <a:picLocks noChangeAspect="1"/>
          </p:cNvPicPr>
          <p:nvPr/>
        </p:nvPicPr>
        <p:blipFill>
          <a:blip r:embed="rId2">
            <a:lum bright="-48001"/>
          </a:blip>
          <a:stretch>
            <a:fillRect/>
          </a:stretch>
        </p:blipFill>
        <p:spPr>
          <a:xfrm>
            <a:off x="1423988" y="2776538"/>
            <a:ext cx="238125" cy="219075"/>
          </a:xfrm>
          <a:prstGeom prst="rect">
            <a:avLst/>
          </a:prstGeom>
          <a:noFill/>
          <a:ln w="9525">
            <a:noFill/>
          </a:ln>
        </p:spPr>
      </p:pic>
      <p:pic>
        <p:nvPicPr>
          <p:cNvPr id="16476" name="图片 11" descr="clip_image002.gif"/>
          <p:cNvPicPr>
            <a:picLocks noChangeAspect="1"/>
          </p:cNvPicPr>
          <p:nvPr/>
        </p:nvPicPr>
        <p:blipFill>
          <a:blip r:embed="rId3"/>
          <a:stretch>
            <a:fillRect/>
          </a:stretch>
        </p:blipFill>
        <p:spPr>
          <a:xfrm>
            <a:off x="2576513" y="2767013"/>
            <a:ext cx="257175" cy="200025"/>
          </a:xfrm>
          <a:prstGeom prst="rect">
            <a:avLst/>
          </a:prstGeom>
          <a:noFill/>
          <a:ln w="9525">
            <a:noFill/>
          </a:ln>
        </p:spPr>
      </p:pic>
      <p:pic>
        <p:nvPicPr>
          <p:cNvPr id="16477" name="图片 12" descr="clip_image302.gif"/>
          <p:cNvPicPr>
            <a:picLocks noChangeAspect="1"/>
          </p:cNvPicPr>
          <p:nvPr/>
        </p:nvPicPr>
        <p:blipFill>
          <a:blip r:embed="rId4"/>
          <a:stretch>
            <a:fillRect/>
          </a:stretch>
        </p:blipFill>
        <p:spPr>
          <a:xfrm>
            <a:off x="3767138" y="2795588"/>
            <a:ext cx="257175" cy="219075"/>
          </a:xfrm>
          <a:prstGeom prst="rect">
            <a:avLst/>
          </a:prstGeom>
          <a:noFill/>
          <a:ln w="9525">
            <a:noFill/>
          </a:ln>
        </p:spPr>
      </p:pic>
      <p:pic>
        <p:nvPicPr>
          <p:cNvPr id="16478" name="图片 13" descr="clip_image302.gif"/>
          <p:cNvPicPr>
            <a:picLocks noChangeAspect="1"/>
          </p:cNvPicPr>
          <p:nvPr/>
        </p:nvPicPr>
        <p:blipFill>
          <a:blip r:embed="rId4">
            <a:lum bright="79999"/>
          </a:blip>
          <a:stretch>
            <a:fillRect/>
          </a:stretch>
        </p:blipFill>
        <p:spPr>
          <a:xfrm>
            <a:off x="1033463" y="1763713"/>
            <a:ext cx="369887" cy="315912"/>
          </a:xfrm>
          <a:prstGeom prst="rect">
            <a:avLst/>
          </a:prstGeom>
          <a:noFill/>
          <a:ln w="9525">
            <a:noFill/>
          </a:ln>
        </p:spPr>
      </p:pic>
    </p:spTree>
  </p:cSld>
  <p:clrMapOvr>
    <a:masterClrMapping/>
  </p:clrMapOvr>
  <p:transition spd="med">
    <p:random/>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bwMode="auto">
          <a:xfrm>
            <a:off x="8250" y="286385"/>
            <a:ext cx="8331200" cy="1216025"/>
          </a:xfrm>
          <a:scene3d>
            <a:camera prst="orthographicFront"/>
            <a:lightRig rig="balanced" dir="t"/>
          </a:scene3d>
          <a:sp3d prstMaterial="plastic"/>
        </p:spPr>
        <p:txBody>
          <a:bodyPr wrap="square" lIns="92075" tIns="46038" rIns="92075" bIns="46038" numCol="1" anchor="ctr" anchorCtr="0" compatLnSpc="1"/>
          <a:lstStyle/>
          <a:p>
            <a:pPr marL="0" marR="0" lvl="0" indent="0" algn="ctr" defTabSz="914400" rtl="0" eaLnBrk="0" fontAlgn="base" latinLnBrk="0" hangingPunct="0">
              <a:spcBef>
                <a:spcPct val="0"/>
              </a:spcBef>
              <a:spcAft>
                <a:spcPct val="0"/>
              </a:spcAft>
              <a:buClrTx/>
              <a:buSzTx/>
              <a:buFontTx/>
              <a:buNone/>
              <a:defRPr/>
            </a:pPr>
            <a:r>
              <a:rPr kumimoji="1" lang="en-US" b="1" i="1" u="none" strike="noStrike" kern="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mj-lt"/>
                <a:ea typeface="+mj-ea"/>
                <a:cs typeface="+mj-cs"/>
              </a:rPr>
              <a:t>2  .  8253</a:t>
            </a:r>
            <a:r>
              <a:rPr kumimoji="1" lang="zh-CN" altLang="en-US" b="1" i="1" u="none" strike="noStrike" kern="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mj-lt"/>
                <a:ea typeface="+mj-ea"/>
                <a:cs typeface="+mj-cs"/>
              </a:rPr>
              <a:t>的内部结构</a:t>
            </a:r>
            <a:endParaRPr kumimoji="1" lang="zh-CN" altLang="en-US"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17410" name="内容占位符 2"/>
          <p:cNvSpPr>
            <a:spLocks noGrp="1"/>
          </p:cNvSpPr>
          <p:nvPr>
            <p:ph idx="1"/>
          </p:nvPr>
        </p:nvSpPr>
        <p:spPr>
          <a:xfrm>
            <a:off x="333375" y="1397000"/>
            <a:ext cx="8197850" cy="4814888"/>
          </a:xfrm>
          <a:ln/>
        </p:spPr>
        <p:txBody>
          <a:bodyPr wrap="square" lIns="92075" tIns="46038" rIns="92075" bIns="46038" anchor="t" anchorCtr="0"/>
          <a:lstStyle/>
          <a:p>
            <a:pPr>
              <a:lnSpc>
                <a:spcPts val="3900"/>
              </a:lnSpc>
              <a:buNone/>
            </a:pPr>
            <a:r>
              <a:rPr lang="en-US" altLang="zh-CN" sz="2400" i="1" dirty="0">
                <a:solidFill>
                  <a:srgbClr val="FF0000"/>
                </a:solidFill>
              </a:rPr>
              <a:t>            (3) </a:t>
            </a:r>
            <a:r>
              <a:rPr lang="zh-CN" altLang="en-US" sz="2400" i="1" dirty="0">
                <a:solidFill>
                  <a:srgbClr val="FF0000"/>
                </a:solidFill>
              </a:rPr>
              <a:t>控制寄存器</a:t>
            </a:r>
            <a:r>
              <a:rPr lang="en-US" altLang="zh-CN" sz="2400" i="1" dirty="0">
                <a:solidFill>
                  <a:srgbClr val="FF0000"/>
                </a:solidFill>
              </a:rPr>
              <a:t>  </a:t>
            </a:r>
            <a:r>
              <a:rPr lang="zh-CN" altLang="en-US" sz="2400" dirty="0"/>
              <a:t>接收</a:t>
            </a:r>
            <a:r>
              <a:rPr lang="en-US" altLang="zh-CN" sz="2400" dirty="0"/>
              <a:t>CPU</a:t>
            </a:r>
            <a:r>
              <a:rPr lang="zh-CN" altLang="en-US" sz="2400" dirty="0"/>
              <a:t>对</a:t>
            </a:r>
            <a:r>
              <a:rPr lang="en-US" altLang="zh-CN" sz="2400" dirty="0"/>
              <a:t>8253</a:t>
            </a:r>
            <a:r>
              <a:rPr lang="zh-CN" altLang="en-US" sz="2400" dirty="0"/>
              <a:t>的初始化控制字。对控制字寄存器只能写入不能读出。</a:t>
            </a:r>
          </a:p>
          <a:p>
            <a:pPr>
              <a:lnSpc>
                <a:spcPts val="3900"/>
              </a:lnSpc>
              <a:buNone/>
            </a:pPr>
            <a:r>
              <a:rPr lang="en-US" altLang="zh-CN" sz="2400" dirty="0">
                <a:solidFill>
                  <a:srgbClr val="FF0000"/>
                </a:solidFill>
              </a:rPr>
              <a:t>           (4) </a:t>
            </a:r>
            <a:r>
              <a:rPr lang="zh-CN" altLang="en-US" sz="2400" dirty="0">
                <a:solidFill>
                  <a:srgbClr val="FF0000"/>
                </a:solidFill>
              </a:rPr>
              <a:t>三个计数器</a:t>
            </a:r>
            <a:r>
              <a:rPr lang="en-US" altLang="zh-CN" sz="2400" dirty="0">
                <a:solidFill>
                  <a:srgbClr val="FF0000"/>
                </a:solidFill>
              </a:rPr>
              <a:t>  </a:t>
            </a:r>
            <a:r>
              <a:rPr lang="zh-CN" altLang="en-US" sz="2400" dirty="0"/>
              <a:t>每个计数器内部都包含一个</a:t>
            </a:r>
            <a:r>
              <a:rPr lang="en-US" altLang="zh-CN" sz="2400" dirty="0"/>
              <a:t>16</a:t>
            </a:r>
            <a:r>
              <a:rPr lang="zh-CN" altLang="en-US" sz="2400" dirty="0"/>
              <a:t>位的计数初值寄存器、一个</a:t>
            </a:r>
            <a:r>
              <a:rPr lang="en-US" altLang="zh-CN" sz="2400" dirty="0"/>
              <a:t>16</a:t>
            </a:r>
            <a:r>
              <a:rPr lang="zh-CN" altLang="en-US" sz="2400" dirty="0"/>
              <a:t>位的减法计数寄存器和一个</a:t>
            </a:r>
            <a:r>
              <a:rPr lang="en-US" altLang="zh-CN" sz="2400" dirty="0"/>
              <a:t>16</a:t>
            </a:r>
            <a:r>
              <a:rPr lang="zh-CN" altLang="en-US" sz="2400" dirty="0"/>
              <a:t>位的当前计数输出寄存器。当前计数输出寄存器跟随减法计数寄存器内容变化，当有一个锁存器命令出现后，当前计数输出寄存器锁定当前计数，直到被</a:t>
            </a:r>
            <a:r>
              <a:rPr lang="en-US" altLang="zh-CN" sz="2400" dirty="0"/>
              <a:t>CPU</a:t>
            </a:r>
            <a:r>
              <a:rPr lang="zh-CN" altLang="en-US" sz="2400" dirty="0"/>
              <a:t>读走之后，又随减法计数寄存器的变化而变化。</a:t>
            </a:r>
          </a:p>
          <a:p>
            <a:pPr>
              <a:buNone/>
            </a:pPr>
            <a:endParaRPr lang="zh-CN" altLang="en-US" dirty="0"/>
          </a:p>
        </p:txBody>
      </p:sp>
    </p:spTree>
  </p:cSld>
  <p:clrMapOvr>
    <a:masterClrMapping/>
  </p:clrMapOvr>
  <p:transition spd="med">
    <p:random/>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bwMode="auto">
          <a:xfrm>
            <a:off x="417507" y="228600"/>
            <a:ext cx="8331200" cy="1143000"/>
          </a:xfrm>
          <a:scene3d>
            <a:camera prst="orthographicFront"/>
            <a:lightRig rig="balanced" dir="t"/>
          </a:scene3d>
          <a:sp3d prstMaterial="plastic"/>
        </p:spPr>
        <p:txBody>
          <a:bodyPr wrap="square" lIns="92075" tIns="46038" rIns="92075" bIns="46038" numCol="1" anchor="ctr" anchorCtr="0" compatLnSpc="1"/>
          <a:lstStyle/>
          <a:p>
            <a:pPr marL="0" marR="0" lvl="0" indent="0" algn="ctr" defTabSz="914400" rtl="0" eaLnBrk="0" fontAlgn="base" latinLnBrk="0" hangingPunct="0">
              <a:spcBef>
                <a:spcPct val="0"/>
              </a:spcBef>
              <a:spcAft>
                <a:spcPct val="0"/>
              </a:spcAft>
              <a:buClrTx/>
              <a:buSzTx/>
              <a:buFontTx/>
              <a:buNone/>
              <a:defRPr/>
            </a:pPr>
            <a:br>
              <a:rPr kumimoji="1" lang="zh-CN" altLang="en-US" sz="3200" b="1" i="0" u="none" strike="noStrike" kern="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mj-lt"/>
                <a:ea typeface="+mj-ea"/>
                <a:cs typeface="+mj-cs"/>
              </a:rPr>
            </a:br>
            <a:endParaRPr kumimoji="1" lang="zh-CN" altLang="en-US" sz="3200" b="1" i="0" u="none" strike="noStrike" kern="0" cap="none" spc="0" normalizeH="0" baseline="0" noProof="0" dirty="0">
              <a:ln>
                <a:noFill/>
              </a:ln>
              <a:solidFill>
                <a:schemeClr val="accent2"/>
              </a:solidFill>
              <a:effectLst>
                <a:outerShdw blurRad="38100" dist="38100" dir="2700000" algn="tl">
                  <a:srgbClr val="000000"/>
                </a:outerShdw>
              </a:effectLst>
              <a:uLnTx/>
              <a:uFillTx/>
              <a:latin typeface="+mj-lt"/>
              <a:ea typeface="+mj-ea"/>
              <a:cs typeface="+mj-cs"/>
            </a:endParaRPr>
          </a:p>
        </p:txBody>
      </p:sp>
      <p:sp>
        <p:nvSpPr>
          <p:cNvPr id="18434" name="内容占位符 2"/>
          <p:cNvSpPr>
            <a:spLocks noGrp="1"/>
          </p:cNvSpPr>
          <p:nvPr>
            <p:ph idx="1"/>
          </p:nvPr>
        </p:nvSpPr>
        <p:spPr>
          <a:xfrm>
            <a:off x="577850" y="1387475"/>
            <a:ext cx="8197850" cy="5470525"/>
          </a:xfrm>
          <a:ln/>
        </p:spPr>
        <p:txBody>
          <a:bodyPr wrap="square" lIns="92075" tIns="46038" rIns="92075" bIns="46038" anchor="t" anchorCtr="0"/>
          <a:lstStyle/>
          <a:p>
            <a:pPr>
              <a:buNone/>
            </a:pPr>
            <a:r>
              <a:rPr lang="en-US" altLang="zh-CN" sz="2400" dirty="0"/>
              <a:t>             8253</a:t>
            </a:r>
            <a:r>
              <a:rPr lang="zh-CN" altLang="en-US" sz="2400" dirty="0"/>
              <a:t>芯片是具有</a:t>
            </a:r>
            <a:r>
              <a:rPr lang="en-US" altLang="zh-CN" sz="2400" i="1" dirty="0">
                <a:solidFill>
                  <a:srgbClr val="FFFF00"/>
                </a:solidFill>
              </a:rPr>
              <a:t>24</a:t>
            </a:r>
            <a:r>
              <a:rPr lang="zh-CN" altLang="en-US" sz="2400" i="1" dirty="0">
                <a:solidFill>
                  <a:srgbClr val="FFFF00"/>
                </a:solidFill>
              </a:rPr>
              <a:t>个</a:t>
            </a:r>
            <a:r>
              <a:rPr lang="zh-CN" altLang="en-US" sz="2400" dirty="0"/>
              <a:t>引脚的</a:t>
            </a:r>
            <a:r>
              <a:rPr lang="zh-CN" altLang="en-US" sz="2400" i="1" dirty="0">
                <a:solidFill>
                  <a:srgbClr val="FFFF00"/>
                </a:solidFill>
              </a:rPr>
              <a:t>双列直插式</a:t>
            </a:r>
            <a:r>
              <a:rPr lang="zh-CN" altLang="en-US" sz="2400" dirty="0"/>
              <a:t>集成电路芯片，其引脚分布如图所示：</a:t>
            </a: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endParaRPr lang="en-US" altLang="zh-CN" sz="2400" dirty="0"/>
          </a:p>
          <a:p>
            <a:pPr>
              <a:buNone/>
            </a:pPr>
            <a:r>
              <a:rPr lang="zh-CN" altLang="en-US" sz="2400" dirty="0"/>
              <a:t>     </a:t>
            </a:r>
            <a:r>
              <a:rPr lang="zh-CN" altLang="en-US" sz="2400" i="1" dirty="0"/>
              <a:t>每个引脚的功能定义如下：</a:t>
            </a:r>
            <a:endParaRPr lang="en-US" altLang="zh-CN" sz="2400" i="1" dirty="0"/>
          </a:p>
          <a:p>
            <a:pPr>
              <a:buNone/>
            </a:pPr>
            <a:r>
              <a:rPr lang="en-US" altLang="zh-CN" sz="2400" dirty="0"/>
              <a:t>          (1)  D</a:t>
            </a:r>
            <a:r>
              <a:rPr lang="en-US" altLang="zh-CN" sz="2400" baseline="-25000" dirty="0"/>
              <a:t>7</a:t>
            </a:r>
            <a:r>
              <a:rPr lang="en-US" altLang="zh-CN" sz="2400" dirty="0"/>
              <a:t>~D</a:t>
            </a:r>
            <a:r>
              <a:rPr lang="en-US" altLang="zh-CN" sz="2400" baseline="-25000" dirty="0"/>
              <a:t>0</a:t>
            </a:r>
            <a:r>
              <a:rPr lang="zh-CN" altLang="en-US" sz="2400" dirty="0"/>
              <a:t>：双向、三态数据线引脚</a:t>
            </a:r>
            <a:r>
              <a:rPr lang="en-US" altLang="zh-CN" sz="2400" dirty="0"/>
              <a:t>;</a:t>
            </a:r>
            <a:endParaRPr lang="zh-CN" altLang="en-US" sz="2400" dirty="0"/>
          </a:p>
        </p:txBody>
      </p:sp>
      <p:sp>
        <p:nvSpPr>
          <p:cNvPr id="4" name="矩形 3"/>
          <p:cNvSpPr/>
          <p:nvPr/>
        </p:nvSpPr>
        <p:spPr>
          <a:xfrm>
            <a:off x="2009247" y="341885"/>
            <a:ext cx="2824480" cy="537210"/>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marL="0" marR="0" lvl="0" indent="0" algn="ctr" defTabSz="914400" rtl="0" eaLnBrk="1" fontAlgn="base" latinLnBrk="0" hangingPunct="1">
              <a:lnSpc>
                <a:spcPct val="90000"/>
              </a:lnSpc>
              <a:spcBef>
                <a:spcPct val="20000"/>
              </a:spcBef>
              <a:spcAft>
                <a:spcPct val="0"/>
              </a:spcAft>
              <a:buClrTx/>
              <a:buSzTx/>
              <a:buFontTx/>
              <a:buNone/>
              <a:defRPr/>
            </a:pPr>
            <a:r>
              <a:rPr kumimoji="1" lang="en-US" sz="3200" b="1" i="1"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3 .8253</a:t>
            </a:r>
            <a:r>
              <a:rPr kumimoji="1" lang="zh-CN" altLang="en-US" sz="3200" b="1" i="1"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的引脚</a:t>
            </a:r>
          </a:p>
        </p:txBody>
      </p:sp>
      <p:pic>
        <p:nvPicPr>
          <p:cNvPr id="18436" name="Picture 18" descr="8"/>
          <p:cNvPicPr>
            <a:picLocks noChangeAspect="1"/>
          </p:cNvPicPr>
          <p:nvPr/>
        </p:nvPicPr>
        <p:blipFill>
          <a:blip r:embed="rId2"/>
          <a:stretch>
            <a:fillRect/>
          </a:stretch>
        </p:blipFill>
        <p:spPr>
          <a:xfrm>
            <a:off x="1651000" y="2257425"/>
            <a:ext cx="4346575" cy="3348038"/>
          </a:xfrm>
          <a:prstGeom prst="rect">
            <a:avLst/>
          </a:prstGeom>
          <a:noFill/>
          <a:ln w="9525">
            <a:noFill/>
          </a:ln>
        </p:spPr>
      </p:pic>
    </p:spTree>
  </p:cSld>
  <p:clrMapOvr>
    <a:masterClrMapping/>
  </p:clrMapOvr>
  <p:transition spd="med">
    <p:random/>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bwMode="auto">
          <a:xfrm>
            <a:off x="398775" y="497839"/>
            <a:ext cx="8331200" cy="1102360"/>
          </a:xfrm>
          <a:scene3d>
            <a:camera prst="orthographicFront"/>
            <a:lightRig rig="balanced" dir="t"/>
          </a:scene3d>
          <a:sp3d prstMaterial="plastic"/>
        </p:spPr>
        <p:txBody>
          <a:bodyPr wrap="square" lIns="92075" tIns="46038" rIns="92075" bIns="46038" numCol="1" anchor="ctr" anchorCtr="0" compatLnSpc="1"/>
          <a:lstStyle/>
          <a:p>
            <a:pPr marL="0" marR="0" lvl="0" indent="0" algn="ctr" defTabSz="914400" rtl="0" eaLnBrk="0" fontAlgn="base" latinLnBrk="0" hangingPunct="0">
              <a:spcBef>
                <a:spcPct val="0"/>
              </a:spcBef>
              <a:spcAft>
                <a:spcPct val="0"/>
              </a:spcAft>
              <a:buClrTx/>
              <a:buSzTx/>
              <a:buFontTx/>
              <a:buNone/>
              <a:defRPr/>
            </a:pPr>
            <a:r>
              <a:rPr kumimoji="1" lang="en-US" b="1" i="1" u="none" strike="noStrike" kern="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mj-lt"/>
                <a:ea typeface="+mj-ea"/>
                <a:cs typeface="+mj-cs"/>
              </a:rPr>
              <a:t>3 .8253</a:t>
            </a:r>
            <a:r>
              <a:rPr kumimoji="1" lang="zh-CN" altLang="en-US" b="1" i="1" u="none" strike="noStrike" kern="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mj-lt"/>
                <a:ea typeface="+mj-ea"/>
                <a:cs typeface="+mj-cs"/>
              </a:rPr>
              <a:t>的引脚</a:t>
            </a:r>
            <a:br>
              <a:rPr kumimoji="1" lang="zh-CN" altLang="en-US" b="1" i="1" u="none" strike="noStrike" kern="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mj-lt"/>
                <a:ea typeface="+mj-ea"/>
                <a:cs typeface="+mj-cs"/>
              </a:rPr>
            </a:br>
            <a:endParaRPr kumimoji="1" lang="zh-CN" altLang="en-US"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19458" name="内容占位符 2"/>
          <p:cNvSpPr>
            <a:spLocks noGrp="1"/>
          </p:cNvSpPr>
          <p:nvPr>
            <p:ph idx="1"/>
          </p:nvPr>
        </p:nvSpPr>
        <p:spPr>
          <a:xfrm>
            <a:off x="577850" y="1387475"/>
            <a:ext cx="8197850" cy="5470525"/>
          </a:xfrm>
          <a:ln/>
        </p:spPr>
        <p:txBody>
          <a:bodyPr wrap="square" lIns="92075" tIns="46038" rIns="92075" bIns="46038" anchor="t" anchorCtr="0"/>
          <a:lstStyle/>
          <a:p>
            <a:pPr>
              <a:lnSpc>
                <a:spcPts val="2400"/>
              </a:lnSpc>
              <a:buNone/>
            </a:pPr>
            <a:r>
              <a:rPr lang="en-US" altLang="zh-CN" sz="1800" dirty="0"/>
              <a:t>            </a:t>
            </a:r>
            <a:r>
              <a:rPr lang="en-US" altLang="zh-CN" sz="1800" dirty="0">
                <a:solidFill>
                  <a:srgbClr val="00B0F0"/>
                </a:solidFill>
              </a:rPr>
              <a:t>(2)</a:t>
            </a:r>
            <a:r>
              <a:rPr lang="en-US" altLang="zh-CN" sz="1800" dirty="0"/>
              <a:t>     </a:t>
            </a:r>
            <a:r>
              <a:rPr lang="zh-CN" altLang="en-US" sz="1800" dirty="0"/>
              <a:t>：输入引脚</a:t>
            </a:r>
            <a:r>
              <a:rPr lang="en-US" altLang="zh-CN" sz="1800" dirty="0"/>
              <a:t>,</a:t>
            </a:r>
            <a:r>
              <a:rPr lang="zh-CN" altLang="en-US" sz="1800" dirty="0"/>
              <a:t>读信号，低电平有效，有效时表示正在读取某个计数器的当前计数值。</a:t>
            </a:r>
          </a:p>
          <a:p>
            <a:pPr>
              <a:lnSpc>
                <a:spcPts val="2400"/>
              </a:lnSpc>
              <a:buNone/>
            </a:pPr>
            <a:r>
              <a:rPr lang="en-US" altLang="zh-CN" sz="1800" dirty="0"/>
              <a:t>            </a:t>
            </a:r>
            <a:r>
              <a:rPr lang="en-US" altLang="zh-CN" sz="1800" dirty="0">
                <a:solidFill>
                  <a:srgbClr val="00B0F0"/>
                </a:solidFill>
              </a:rPr>
              <a:t>(3)      </a:t>
            </a:r>
            <a:r>
              <a:rPr lang="zh-CN" altLang="en-US" sz="1800" dirty="0"/>
              <a:t>：输入引脚</a:t>
            </a:r>
            <a:r>
              <a:rPr lang="en-US" altLang="zh-CN" sz="1800" dirty="0"/>
              <a:t>,</a:t>
            </a:r>
            <a:r>
              <a:rPr lang="zh-CN" altLang="en-US" sz="1800" dirty="0"/>
              <a:t>读信号，低电平有效，有效时表示正对某个计数器写入计数初值或写入控制字。</a:t>
            </a:r>
          </a:p>
          <a:p>
            <a:pPr>
              <a:lnSpc>
                <a:spcPts val="2400"/>
              </a:lnSpc>
              <a:buNone/>
            </a:pPr>
            <a:r>
              <a:rPr lang="en-US" altLang="zh-CN" sz="1800" dirty="0">
                <a:solidFill>
                  <a:srgbClr val="00B0F0"/>
                </a:solidFill>
              </a:rPr>
              <a:t>            (4)       </a:t>
            </a:r>
            <a:r>
              <a:rPr lang="zh-CN" altLang="en-US" sz="1800" dirty="0"/>
              <a:t>：输入引脚，片选信号，低电平有效，</a:t>
            </a:r>
            <a:r>
              <a:rPr lang="en-US" altLang="zh-CN" sz="1800" dirty="0"/>
              <a:t>CPU</a:t>
            </a:r>
            <a:r>
              <a:rPr lang="zh-CN" altLang="en-US" sz="1800" dirty="0"/>
              <a:t>通过该信号有效选中</a:t>
            </a:r>
            <a:r>
              <a:rPr lang="en-US" altLang="zh-CN" sz="1800" dirty="0"/>
              <a:t>8253</a:t>
            </a:r>
            <a:r>
              <a:rPr lang="zh-CN" altLang="en-US" sz="1800" dirty="0"/>
              <a:t>，对其进行读写操作。</a:t>
            </a:r>
          </a:p>
          <a:p>
            <a:pPr>
              <a:lnSpc>
                <a:spcPts val="2400"/>
              </a:lnSpc>
              <a:buNone/>
            </a:pPr>
            <a:r>
              <a:rPr lang="en-US" altLang="zh-CN" sz="1800" dirty="0">
                <a:solidFill>
                  <a:srgbClr val="00B0F0"/>
                </a:solidFill>
              </a:rPr>
              <a:t>             (5) A</a:t>
            </a:r>
            <a:r>
              <a:rPr lang="en-US" altLang="zh-CN" sz="1800" baseline="-25000" dirty="0">
                <a:solidFill>
                  <a:srgbClr val="00B0F0"/>
                </a:solidFill>
              </a:rPr>
              <a:t>1</a:t>
            </a:r>
            <a:r>
              <a:rPr lang="zh-CN" altLang="en-US" sz="1800" dirty="0">
                <a:solidFill>
                  <a:srgbClr val="00B0F0"/>
                </a:solidFill>
              </a:rPr>
              <a:t>、</a:t>
            </a:r>
            <a:r>
              <a:rPr lang="en-US" altLang="zh-CN" sz="1800" dirty="0">
                <a:solidFill>
                  <a:srgbClr val="00B0F0"/>
                </a:solidFill>
              </a:rPr>
              <a:t>A</a:t>
            </a:r>
            <a:r>
              <a:rPr lang="en-US" altLang="zh-CN" sz="1800" baseline="-25000" dirty="0">
                <a:solidFill>
                  <a:srgbClr val="00B0F0"/>
                </a:solidFill>
              </a:rPr>
              <a:t>0</a:t>
            </a:r>
            <a:r>
              <a:rPr lang="zh-CN" altLang="en-US" sz="1800" dirty="0"/>
              <a:t>：输入引脚，</a:t>
            </a:r>
            <a:r>
              <a:rPr lang="en-US" altLang="zh-CN" sz="1800" dirty="0"/>
              <a:t>8253</a:t>
            </a:r>
            <a:r>
              <a:rPr lang="zh-CN" altLang="en-US" sz="1800" dirty="0"/>
              <a:t>端口选择线，可对三个计数器和控制寄存器寻址。</a:t>
            </a:r>
          </a:p>
          <a:p>
            <a:pPr>
              <a:lnSpc>
                <a:spcPts val="2400"/>
              </a:lnSpc>
              <a:buNone/>
            </a:pPr>
            <a:r>
              <a:rPr lang="en-US" altLang="zh-CN" sz="1800" dirty="0"/>
              <a:t>             </a:t>
            </a:r>
            <a:r>
              <a:rPr lang="en-US" altLang="zh-CN" sz="1800" dirty="0">
                <a:solidFill>
                  <a:srgbClr val="00B0F0"/>
                </a:solidFill>
              </a:rPr>
              <a:t>GATE</a:t>
            </a:r>
            <a:r>
              <a:rPr lang="zh-CN" altLang="en-US" sz="1800" dirty="0"/>
              <a:t>：门控信号，用于控制计数的进行。多数情况下，</a:t>
            </a:r>
            <a:r>
              <a:rPr lang="en-US" altLang="zh-CN" sz="1800" dirty="0"/>
              <a:t>GATE=1</a:t>
            </a:r>
            <a:r>
              <a:rPr lang="zh-CN" altLang="en-US" sz="1800" dirty="0"/>
              <a:t>时，允许计数，</a:t>
            </a:r>
            <a:r>
              <a:rPr lang="en-US" altLang="zh-CN" sz="1800" dirty="0"/>
              <a:t>GATE=0</a:t>
            </a:r>
            <a:r>
              <a:rPr lang="zh-CN" altLang="en-US" sz="1800" dirty="0"/>
              <a:t>时，中止计数。用一句话来说，</a:t>
            </a:r>
            <a:r>
              <a:rPr lang="en-US" altLang="zh-CN" sz="1800" i="1" dirty="0">
                <a:solidFill>
                  <a:srgbClr val="FFFF00"/>
                </a:solidFill>
              </a:rPr>
              <a:t>GATE</a:t>
            </a:r>
            <a:r>
              <a:rPr lang="zh-CN" altLang="en-US" sz="1800" i="1" dirty="0">
                <a:solidFill>
                  <a:srgbClr val="FFFF00"/>
                </a:solidFill>
              </a:rPr>
              <a:t>信号的作用是用来禁止、允许或开始计数过程</a:t>
            </a:r>
            <a:r>
              <a:rPr lang="zh-CN" altLang="en-US" sz="1800" dirty="0"/>
              <a:t>。</a:t>
            </a:r>
          </a:p>
          <a:p>
            <a:pPr>
              <a:lnSpc>
                <a:spcPts val="2400"/>
              </a:lnSpc>
              <a:buNone/>
            </a:pPr>
            <a:r>
              <a:rPr lang="en-US" altLang="zh-CN" sz="1800" dirty="0"/>
              <a:t>             </a:t>
            </a:r>
            <a:r>
              <a:rPr lang="en-US" altLang="zh-CN" sz="1800" dirty="0">
                <a:solidFill>
                  <a:srgbClr val="00B0F0"/>
                </a:solidFill>
              </a:rPr>
              <a:t>CLK</a:t>
            </a:r>
            <a:r>
              <a:rPr lang="zh-CN" altLang="en-US" sz="1800" dirty="0"/>
              <a:t>：时钟信号。作用是：在</a:t>
            </a:r>
            <a:r>
              <a:rPr lang="en-US" altLang="zh-CN" sz="1800" dirty="0"/>
              <a:t>8253</a:t>
            </a:r>
            <a:r>
              <a:rPr lang="zh-CN" altLang="en-US" sz="1800" dirty="0"/>
              <a:t>进行定时或计数工作时，每输入一个时钟信号，便使定时计数值减</a:t>
            </a:r>
            <a:r>
              <a:rPr lang="en-US" altLang="zh-CN" sz="1800" dirty="0"/>
              <a:t>1</a:t>
            </a:r>
            <a:r>
              <a:rPr lang="zh-CN" altLang="en-US" sz="1800" dirty="0"/>
              <a:t>。</a:t>
            </a:r>
          </a:p>
          <a:p>
            <a:pPr>
              <a:lnSpc>
                <a:spcPts val="2400"/>
              </a:lnSpc>
              <a:buNone/>
            </a:pPr>
            <a:r>
              <a:rPr lang="en-US" altLang="zh-CN" sz="1800" dirty="0"/>
              <a:t>             </a:t>
            </a:r>
            <a:r>
              <a:rPr lang="en-US" altLang="zh-CN" sz="1800" dirty="0">
                <a:solidFill>
                  <a:srgbClr val="00B0F0"/>
                </a:solidFill>
              </a:rPr>
              <a:t>OUT</a:t>
            </a:r>
            <a:r>
              <a:rPr lang="zh-CN" altLang="en-US" sz="1800" dirty="0"/>
              <a:t>：</a:t>
            </a:r>
            <a:r>
              <a:rPr lang="en-US" altLang="zh-CN" sz="1800" dirty="0"/>
              <a:t>OUT</a:t>
            </a:r>
            <a:r>
              <a:rPr lang="zh-CN" altLang="en-US" sz="1800" dirty="0"/>
              <a:t>是</a:t>
            </a:r>
            <a:r>
              <a:rPr lang="en-US" altLang="zh-CN" sz="1800" dirty="0"/>
              <a:t>8253</a:t>
            </a:r>
            <a:r>
              <a:rPr lang="zh-CN" altLang="en-US" sz="1800" dirty="0"/>
              <a:t>向外输出的信号。它的作用是：计数器工作时，当定时</a:t>
            </a:r>
            <a:r>
              <a:rPr lang="en-US" altLang="zh-CN" sz="1800" dirty="0"/>
              <a:t>/</a:t>
            </a:r>
            <a:r>
              <a:rPr lang="zh-CN" altLang="en-US" sz="1800" dirty="0"/>
              <a:t>计数值减为</a:t>
            </a:r>
            <a:r>
              <a:rPr lang="en-US" altLang="zh-CN" sz="1800" dirty="0"/>
              <a:t>0</a:t>
            </a:r>
            <a:r>
              <a:rPr lang="zh-CN" altLang="en-US" sz="1800" dirty="0"/>
              <a:t>时，即在</a:t>
            </a:r>
            <a:r>
              <a:rPr lang="en-US" altLang="zh-CN" sz="1800" dirty="0"/>
              <a:t>OUT</a:t>
            </a:r>
            <a:r>
              <a:rPr lang="zh-CN" altLang="en-US" sz="1800" dirty="0"/>
              <a:t>线上输出一个</a:t>
            </a:r>
            <a:r>
              <a:rPr lang="en-US" altLang="zh-CN" sz="1800" dirty="0"/>
              <a:t>OUT</a:t>
            </a:r>
            <a:r>
              <a:rPr lang="zh-CN" altLang="en-US" sz="1800" dirty="0"/>
              <a:t>信号，用以指示定时或计数已到。</a:t>
            </a:r>
            <a:endParaRPr lang="zh-CN" altLang="en-US" dirty="0"/>
          </a:p>
        </p:txBody>
      </p:sp>
      <p:pic>
        <p:nvPicPr>
          <p:cNvPr id="4" name="图片 3" descr="clip_image002.gif"/>
          <p:cNvPicPr>
            <a:picLocks noChangeAspect="1"/>
          </p:cNvPicPr>
          <p:nvPr/>
        </p:nvPicPr>
        <p:blipFill>
          <a:blip r:embed="rId2">
            <a:duotone>
              <a:prstClr val="black"/>
              <a:schemeClr val="accent1">
                <a:tint val="45000"/>
                <a:satMod val="400000"/>
              </a:schemeClr>
            </a:duotone>
            <a:lum bright="100000"/>
          </a:blip>
          <a:stretch>
            <a:fillRect/>
          </a:stretch>
        </p:blipFill>
        <p:spPr>
          <a:xfrm>
            <a:off x="1628775" y="1458594"/>
            <a:ext cx="298450" cy="232410"/>
          </a:xfrm>
          <a:prstGeom prst="rect">
            <a:avLst/>
          </a:prstGeom>
          <a:ln>
            <a:solidFill>
              <a:schemeClr val="accent2">
                <a:alpha val="28000"/>
              </a:schemeClr>
            </a:solidFill>
          </a:ln>
        </p:spPr>
      </p:pic>
      <p:pic>
        <p:nvPicPr>
          <p:cNvPr id="19460" name="图片 4" descr="clip_image302.gif"/>
          <p:cNvPicPr>
            <a:picLocks noChangeAspect="1"/>
          </p:cNvPicPr>
          <p:nvPr/>
        </p:nvPicPr>
        <p:blipFill>
          <a:blip r:embed="rId3">
            <a:lum bright="100000"/>
          </a:blip>
          <a:stretch>
            <a:fillRect/>
          </a:stretch>
        </p:blipFill>
        <p:spPr>
          <a:xfrm>
            <a:off x="1673225" y="2117725"/>
            <a:ext cx="336550" cy="287338"/>
          </a:xfrm>
          <a:prstGeom prst="rect">
            <a:avLst/>
          </a:prstGeom>
          <a:noFill/>
          <a:ln w="9525">
            <a:noFill/>
          </a:ln>
        </p:spPr>
      </p:pic>
      <p:pic>
        <p:nvPicPr>
          <p:cNvPr id="19461" name="图片 5" descr="clip_image006.gif"/>
          <p:cNvPicPr>
            <a:picLocks noChangeAspect="1"/>
          </p:cNvPicPr>
          <p:nvPr/>
        </p:nvPicPr>
        <p:blipFill>
          <a:blip r:embed="rId4">
            <a:lum bright="100000"/>
          </a:blip>
          <a:stretch>
            <a:fillRect/>
          </a:stretch>
        </p:blipFill>
        <p:spPr>
          <a:xfrm>
            <a:off x="1682750" y="2725738"/>
            <a:ext cx="355600" cy="328612"/>
          </a:xfrm>
          <a:prstGeom prst="rect">
            <a:avLst/>
          </a:prstGeom>
          <a:noFill/>
          <a:ln w="9525">
            <a:noFill/>
          </a:ln>
        </p:spPr>
      </p:pic>
    </p:spTree>
  </p:cSld>
  <p:clrMapOvr>
    <a:masterClrMapping/>
  </p:clrMapOvr>
  <p:transition spd="med">
    <p:random/>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 </a:t>
            </a:r>
            <a:r>
              <a:rPr kumimoji="1" lang="zh-CN" altLang="en-US" sz="32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j-lt"/>
                <a:ea typeface="+mj-ea"/>
                <a:cs typeface="+mj-cs"/>
              </a:rPr>
              <a:t>二、</a:t>
            </a:r>
            <a:r>
              <a:rPr kumimoji="1" lang="en-US" sz="32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j-lt"/>
                <a:ea typeface="+mj-ea"/>
                <a:cs typeface="+mj-cs"/>
              </a:rPr>
              <a:t>  </a:t>
            </a:r>
            <a:r>
              <a:rPr kumimoji="1" lang="en-US" altLang="zh-CN" sz="32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j-lt"/>
                <a:ea typeface="+mj-ea"/>
                <a:cs typeface="+mj-cs"/>
              </a:rPr>
              <a:t>8253</a:t>
            </a:r>
            <a:r>
              <a:rPr kumimoji="1" lang="zh-CN" altLang="en-US" sz="32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j-lt"/>
                <a:ea typeface="+mj-ea"/>
                <a:cs typeface="+mj-cs"/>
              </a:rPr>
              <a:t>的控制字</a:t>
            </a:r>
          </a:p>
        </p:txBody>
      </p:sp>
      <p:sp>
        <p:nvSpPr>
          <p:cNvPr id="20482" name="内容占位符 2"/>
          <p:cNvSpPr>
            <a:spLocks noGrp="1"/>
          </p:cNvSpPr>
          <p:nvPr>
            <p:ph idx="1"/>
          </p:nvPr>
        </p:nvSpPr>
        <p:spPr>
          <a:xfrm>
            <a:off x="647700" y="1365250"/>
            <a:ext cx="8197850" cy="5470525"/>
          </a:xfrm>
          <a:ln/>
        </p:spPr>
        <p:txBody>
          <a:bodyPr wrap="square" lIns="92075" tIns="46038" rIns="92075" bIns="46038" anchor="t" anchorCtr="0"/>
          <a:lstStyle/>
          <a:p>
            <a:pPr algn="just">
              <a:buNone/>
            </a:pPr>
            <a:endParaRPr lang="en-US" altLang="zh-CN" sz="2400" dirty="0"/>
          </a:p>
          <a:p>
            <a:pPr algn="just">
              <a:lnSpc>
                <a:spcPts val="3000"/>
              </a:lnSpc>
              <a:buNone/>
            </a:pPr>
            <a:r>
              <a:rPr lang="en-US" altLang="zh-CN" sz="2000" dirty="0"/>
              <a:t>              8253</a:t>
            </a:r>
            <a:r>
              <a:rPr lang="zh-CN" altLang="en-US" sz="2000" dirty="0"/>
              <a:t>是一个可编程的芯片，有</a:t>
            </a:r>
            <a:r>
              <a:rPr lang="zh-CN" altLang="en-US" sz="2000" i="1" dirty="0">
                <a:solidFill>
                  <a:srgbClr val="FF0000"/>
                </a:solidFill>
              </a:rPr>
              <a:t>一个</a:t>
            </a:r>
            <a:r>
              <a:rPr lang="en-US" altLang="zh-CN" sz="2000" i="1" dirty="0">
                <a:solidFill>
                  <a:srgbClr val="FF0000"/>
                </a:solidFill>
              </a:rPr>
              <a:t>8</a:t>
            </a:r>
            <a:r>
              <a:rPr lang="zh-CN" altLang="en-US" sz="2000" i="1" dirty="0">
                <a:solidFill>
                  <a:srgbClr val="FF0000"/>
                </a:solidFill>
              </a:rPr>
              <a:t>位的控制字寄存器</a:t>
            </a:r>
            <a:r>
              <a:rPr lang="zh-CN" altLang="en-US" sz="2000" dirty="0"/>
              <a:t>，在初始化编程时，由</a:t>
            </a:r>
            <a:r>
              <a:rPr lang="en-US" altLang="zh-CN" sz="2000" i="1" dirty="0">
                <a:solidFill>
                  <a:srgbClr val="FF0000"/>
                </a:solidFill>
              </a:rPr>
              <a:t>CPU</a:t>
            </a:r>
            <a:r>
              <a:rPr lang="zh-CN" altLang="en-US" sz="2000" dirty="0"/>
              <a:t>向</a:t>
            </a:r>
            <a:r>
              <a:rPr lang="en-US" altLang="zh-CN" sz="2000" dirty="0"/>
              <a:t>8253</a:t>
            </a:r>
            <a:r>
              <a:rPr lang="zh-CN" altLang="en-US" sz="2000" dirty="0"/>
              <a:t>的控制字寄存器写入一个控制字，用来</a:t>
            </a:r>
            <a:r>
              <a:rPr lang="zh-CN" altLang="en-US" sz="2000" i="1" dirty="0">
                <a:solidFill>
                  <a:srgbClr val="FF0000"/>
                </a:solidFill>
              </a:rPr>
              <a:t>选择计数器</a:t>
            </a:r>
            <a:r>
              <a:rPr lang="zh-CN" altLang="en-US" sz="2000" dirty="0"/>
              <a:t>，</a:t>
            </a:r>
            <a:r>
              <a:rPr lang="zh-CN" altLang="en-US" sz="2000" i="1" dirty="0">
                <a:solidFill>
                  <a:srgbClr val="FF0000"/>
                </a:solidFill>
              </a:rPr>
              <a:t>设置工作方式、计算方法</a:t>
            </a:r>
            <a:r>
              <a:rPr lang="zh-CN" altLang="en-US" sz="2000" dirty="0"/>
              <a:t>以及</a:t>
            </a:r>
            <a:r>
              <a:rPr lang="en-US" altLang="zh-CN" sz="2000" i="1" dirty="0">
                <a:solidFill>
                  <a:srgbClr val="FF0000"/>
                </a:solidFill>
              </a:rPr>
              <a:t>CPU</a:t>
            </a:r>
            <a:r>
              <a:rPr lang="zh-CN" altLang="en-US" sz="2000" i="1" dirty="0">
                <a:solidFill>
                  <a:srgbClr val="FF0000"/>
                </a:solidFill>
              </a:rPr>
              <a:t>访问计算器的读</a:t>
            </a:r>
            <a:r>
              <a:rPr lang="en-US" altLang="zh-CN" sz="2000" i="1" dirty="0">
                <a:solidFill>
                  <a:srgbClr val="FF0000"/>
                </a:solidFill>
              </a:rPr>
              <a:t>/</a:t>
            </a:r>
            <a:r>
              <a:rPr lang="zh-CN" altLang="en-US" sz="2000" i="1" dirty="0">
                <a:solidFill>
                  <a:srgbClr val="FF0000"/>
                </a:solidFill>
              </a:rPr>
              <a:t>写方法</a:t>
            </a:r>
            <a:r>
              <a:rPr lang="zh-CN" altLang="en-US" sz="2000" dirty="0"/>
              <a:t>等。</a:t>
            </a:r>
            <a:r>
              <a:rPr lang="en-US" altLang="zh-CN" sz="2000" dirty="0"/>
              <a:t>8253</a:t>
            </a:r>
            <a:r>
              <a:rPr lang="zh-CN" altLang="en-US" sz="2000" dirty="0"/>
              <a:t>控制字的格式如图所示。</a:t>
            </a:r>
            <a:endParaRPr lang="en-US" altLang="zh-CN" sz="2000" dirty="0"/>
          </a:p>
          <a:p>
            <a:pPr algn="just">
              <a:lnSpc>
                <a:spcPts val="3000"/>
              </a:lnSpc>
              <a:buNone/>
            </a:pPr>
            <a:endParaRPr lang="en-US" altLang="zh-CN" sz="2000" dirty="0"/>
          </a:p>
          <a:p>
            <a:pPr algn="just">
              <a:lnSpc>
                <a:spcPts val="3000"/>
              </a:lnSpc>
              <a:buNone/>
            </a:pPr>
            <a:endParaRPr lang="en-US" altLang="zh-CN" sz="2000" dirty="0"/>
          </a:p>
          <a:p>
            <a:pPr algn="just">
              <a:lnSpc>
                <a:spcPts val="3000"/>
              </a:lnSpc>
              <a:buNone/>
            </a:pPr>
            <a:endParaRPr lang="en-US" altLang="zh-CN" sz="2000" dirty="0"/>
          </a:p>
          <a:p>
            <a:pPr algn="just">
              <a:lnSpc>
                <a:spcPts val="3000"/>
              </a:lnSpc>
              <a:buNone/>
            </a:pPr>
            <a:endParaRPr lang="en-US" altLang="zh-CN" sz="2000" dirty="0"/>
          </a:p>
          <a:p>
            <a:pPr algn="just">
              <a:lnSpc>
                <a:spcPts val="3000"/>
              </a:lnSpc>
              <a:buNone/>
            </a:pPr>
            <a:endParaRPr lang="en-US" altLang="zh-CN" sz="2000" dirty="0"/>
          </a:p>
          <a:p>
            <a:pPr algn="just">
              <a:lnSpc>
                <a:spcPts val="3000"/>
              </a:lnSpc>
              <a:buNone/>
            </a:pPr>
            <a:r>
              <a:rPr lang="en-US" altLang="zh-CN" sz="2000" dirty="0"/>
              <a:t>         </a:t>
            </a:r>
          </a:p>
          <a:p>
            <a:pPr algn="just">
              <a:lnSpc>
                <a:spcPts val="3000"/>
              </a:lnSpc>
              <a:buNone/>
            </a:pPr>
            <a:r>
              <a:rPr lang="en-US" altLang="zh-CN" sz="2000" dirty="0"/>
              <a:t>          </a:t>
            </a:r>
            <a:r>
              <a:rPr lang="zh-CN" altLang="en-US" sz="2000" dirty="0"/>
              <a:t>  其中：</a:t>
            </a:r>
            <a:r>
              <a:rPr lang="en-US" altLang="zh-CN" sz="2000" dirty="0"/>
              <a:t>D</a:t>
            </a:r>
            <a:r>
              <a:rPr lang="en-US" altLang="zh-CN" sz="2000" baseline="-25000" dirty="0"/>
              <a:t>7</a:t>
            </a:r>
            <a:r>
              <a:rPr lang="zh-CN" altLang="en-US" sz="2000" baseline="-25000" dirty="0"/>
              <a:t>、</a:t>
            </a:r>
            <a:r>
              <a:rPr lang="en-US" altLang="zh-CN" sz="2000" dirty="0"/>
              <a:t>D</a:t>
            </a:r>
            <a:r>
              <a:rPr lang="en-US" altLang="zh-CN" sz="2000" baseline="-25000" dirty="0"/>
              <a:t>6</a:t>
            </a:r>
            <a:r>
              <a:rPr lang="zh-CN" altLang="en-US" sz="2000" dirty="0"/>
              <a:t>用于选择定时器；</a:t>
            </a:r>
            <a:r>
              <a:rPr lang="en-US" altLang="zh-CN" sz="2000" dirty="0"/>
              <a:t>D</a:t>
            </a:r>
            <a:r>
              <a:rPr lang="en-US" altLang="zh-CN" sz="2000" baseline="-25000" dirty="0"/>
              <a:t>5</a:t>
            </a:r>
            <a:r>
              <a:rPr lang="zh-CN" altLang="en-US" sz="2000" baseline="-25000" dirty="0"/>
              <a:t>、</a:t>
            </a:r>
            <a:r>
              <a:rPr lang="en-US" altLang="zh-CN" sz="2000" dirty="0"/>
              <a:t>D</a:t>
            </a:r>
            <a:r>
              <a:rPr lang="en-US" altLang="zh-CN" sz="2000" baseline="-25000" dirty="0"/>
              <a:t>4</a:t>
            </a:r>
            <a:r>
              <a:rPr lang="zh-CN" altLang="en-US" sz="2000" dirty="0"/>
              <a:t>用于确定时间常数的读</a:t>
            </a:r>
            <a:r>
              <a:rPr lang="en-US" altLang="zh-CN" sz="2000" dirty="0"/>
              <a:t>/</a:t>
            </a:r>
            <a:r>
              <a:rPr lang="zh-CN" altLang="en-US" sz="2000" dirty="0"/>
              <a:t>写格式；</a:t>
            </a:r>
            <a:r>
              <a:rPr lang="en-US" altLang="zh-CN" sz="2000" dirty="0"/>
              <a:t>D</a:t>
            </a:r>
            <a:r>
              <a:rPr lang="en-US" altLang="zh-CN" sz="2000" baseline="-25000" dirty="0"/>
              <a:t>3</a:t>
            </a:r>
            <a:r>
              <a:rPr lang="zh-CN" altLang="en-US" sz="2000" baseline="-25000" dirty="0"/>
              <a:t>、</a:t>
            </a:r>
            <a:r>
              <a:rPr lang="en-US" altLang="zh-CN" sz="2000" dirty="0"/>
              <a:t>D</a:t>
            </a:r>
            <a:r>
              <a:rPr lang="en-US" altLang="zh-CN" sz="2000" baseline="-25000" dirty="0"/>
              <a:t>2</a:t>
            </a:r>
            <a:r>
              <a:rPr lang="zh-CN" altLang="en-US" sz="2000" baseline="-25000" dirty="0"/>
              <a:t>、</a:t>
            </a:r>
            <a:r>
              <a:rPr lang="en-US" altLang="zh-CN" sz="2000" dirty="0"/>
              <a:t>D</a:t>
            </a:r>
            <a:r>
              <a:rPr lang="en-US" altLang="zh-CN" sz="2000" baseline="-25000" dirty="0"/>
              <a:t>1</a:t>
            </a:r>
            <a:r>
              <a:rPr lang="zh-CN" altLang="en-US" sz="2000" dirty="0"/>
              <a:t>用来设定计数器的工作方式；</a:t>
            </a:r>
            <a:r>
              <a:rPr lang="en-US" altLang="zh-CN" sz="2000" dirty="0"/>
              <a:t>D</a:t>
            </a:r>
            <a:r>
              <a:rPr lang="en-US" altLang="zh-CN" sz="2000" baseline="-25000" dirty="0"/>
              <a:t>0</a:t>
            </a:r>
            <a:r>
              <a:rPr lang="zh-CN" altLang="en-US" sz="2000" dirty="0"/>
              <a:t>用来设定计数方式</a:t>
            </a:r>
            <a:r>
              <a:rPr lang="en-US" altLang="zh-CN" sz="2000" dirty="0"/>
              <a:t>.</a:t>
            </a:r>
          </a:p>
        </p:txBody>
      </p:sp>
      <p:sp>
        <p:nvSpPr>
          <p:cNvPr id="5" name="矩形 4"/>
          <p:cNvSpPr/>
          <p:nvPr/>
        </p:nvSpPr>
        <p:spPr>
          <a:xfrm>
            <a:off x="1334372" y="1378868"/>
            <a:ext cx="3281679" cy="481330"/>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base" latinLnBrk="0" hangingPunct="1">
              <a:lnSpc>
                <a:spcPct val="90000"/>
              </a:lnSpc>
              <a:spcBef>
                <a:spcPct val="20000"/>
              </a:spcBef>
              <a:spcAft>
                <a:spcPct val="0"/>
              </a:spcAft>
              <a:buClrTx/>
              <a:buSzTx/>
              <a:buFontTx/>
              <a:buNone/>
              <a:defRPr/>
            </a:pPr>
            <a:r>
              <a:rPr kumimoji="1" lang="en-US" sz="2800" b="1" i="0" u="none" strike="noStrike" kern="1200" cap="none" spc="50" normalizeH="0" baseline="0" noProof="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宋体" panose="02010600030101010101" pitchFamily="2" charset="-122"/>
                <a:ea typeface="宋体" panose="02010600030101010101" pitchFamily="2" charset="-122"/>
                <a:cs typeface="+mn-cs"/>
              </a:rPr>
              <a:t>1.8253</a:t>
            </a:r>
            <a:r>
              <a:rPr kumimoji="1" lang="zh-CN" altLang="en-US" sz="2800" b="1" i="0" u="none" strike="noStrike" kern="1200" cap="none" spc="50" normalizeH="0" baseline="0" noProof="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宋体" panose="02010600030101010101" pitchFamily="2" charset="-122"/>
                <a:ea typeface="宋体" panose="02010600030101010101" pitchFamily="2" charset="-122"/>
                <a:cs typeface="+mn-cs"/>
              </a:rPr>
              <a:t>控制字格式</a:t>
            </a:r>
            <a:r>
              <a:rPr kumimoji="1" lang="en-US" altLang="zh-CN" sz="2800" b="1" i="0" u="none" strike="noStrike" kern="1200" cap="none" spc="50" normalizeH="0" baseline="0" noProof="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宋体" panose="02010600030101010101" pitchFamily="2" charset="-122"/>
                <a:ea typeface="宋体" panose="02010600030101010101" pitchFamily="2" charset="-122"/>
                <a:cs typeface="+mn-cs"/>
              </a:rPr>
              <a:t>:</a:t>
            </a:r>
            <a:endParaRPr kumimoji="1" lang="zh-CN" altLang="en-US" sz="2800" b="1" i="0" u="none" strike="noStrike" kern="1200" cap="none" spc="50" normalizeH="0" baseline="0" noProof="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宋体" panose="02010600030101010101" pitchFamily="2" charset="-122"/>
              <a:ea typeface="宋体" panose="02010600030101010101" pitchFamily="2" charset="-122"/>
              <a:cs typeface="+mn-cs"/>
            </a:endParaRPr>
          </a:p>
        </p:txBody>
      </p:sp>
      <p:pic>
        <p:nvPicPr>
          <p:cNvPr id="20484" name="Picture 22" descr="8"/>
          <p:cNvPicPr>
            <a:picLocks noChangeAspect="1"/>
          </p:cNvPicPr>
          <p:nvPr/>
        </p:nvPicPr>
        <p:blipFill>
          <a:blip r:embed="rId2"/>
          <a:stretch>
            <a:fillRect/>
          </a:stretch>
        </p:blipFill>
        <p:spPr>
          <a:xfrm>
            <a:off x="1925638" y="3408363"/>
            <a:ext cx="4960937" cy="2695575"/>
          </a:xfrm>
          <a:prstGeom prst="rect">
            <a:avLst/>
          </a:prstGeom>
          <a:noFill/>
          <a:ln w="9525">
            <a:noFill/>
          </a:ln>
        </p:spPr>
      </p:pic>
    </p:spTree>
  </p:cSld>
  <p:clrMapOvr>
    <a:masterClrMapping/>
  </p:clrMapOvr>
  <p:transition spd="med">
    <p:random/>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09550" y="569913"/>
            <a:ext cx="8331200" cy="881063"/>
          </a:xfrm>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sz="3600" b="1" i="1" u="none" strike="noStrike" kern="0" cap="none" spc="0" normalizeH="0" baseline="0" noProof="0" dirty="0">
                <a:ln>
                  <a:noFill/>
                </a:ln>
                <a:solidFill>
                  <a:schemeClr val="accent2"/>
                </a:solidFill>
                <a:effectLst>
                  <a:outerShdw blurRad="38100" dist="38100" dir="2700000" algn="tl">
                    <a:srgbClr val="000000"/>
                  </a:outerShdw>
                </a:effectLst>
                <a:uLnTx/>
                <a:uFillTx/>
                <a:latin typeface="+mj-lt"/>
                <a:ea typeface="+mj-ea"/>
                <a:cs typeface="+mj-cs"/>
              </a:rPr>
              <a:t>2 .  8253</a:t>
            </a:r>
            <a:r>
              <a:rPr kumimoji="1" lang="zh-CN" altLang="en-US" sz="3600" b="1" i="1" u="none" strike="noStrike" kern="0" cap="none" spc="0" normalizeH="0" baseline="0" noProof="0" dirty="0">
                <a:ln>
                  <a:noFill/>
                </a:ln>
                <a:solidFill>
                  <a:schemeClr val="accent2"/>
                </a:solidFill>
                <a:effectLst>
                  <a:outerShdw blurRad="38100" dist="38100" dir="2700000" algn="tl">
                    <a:srgbClr val="000000"/>
                  </a:outerShdw>
                </a:effectLst>
                <a:uLnTx/>
                <a:uFillTx/>
                <a:latin typeface="+mj-lt"/>
                <a:ea typeface="+mj-ea"/>
                <a:cs typeface="+mj-cs"/>
              </a:rPr>
              <a:t>初始化编程原则</a:t>
            </a:r>
            <a:br>
              <a:rPr kumimoji="1" lang="zh-CN" altLang="en-US"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br>
            <a:endParaRPr kumimoji="1" lang="zh-CN" altLang="en-US"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21506" name="内容占位符 2"/>
          <p:cNvSpPr>
            <a:spLocks noGrp="1"/>
          </p:cNvSpPr>
          <p:nvPr>
            <p:ph idx="1"/>
          </p:nvPr>
        </p:nvSpPr>
        <p:spPr>
          <a:xfrm>
            <a:off x="577850" y="1387475"/>
            <a:ext cx="8197850" cy="5470525"/>
          </a:xfrm>
          <a:ln/>
        </p:spPr>
        <p:txBody>
          <a:bodyPr wrap="square" lIns="92075" tIns="46038" rIns="92075" bIns="46038" anchor="t" anchorCtr="0"/>
          <a:lstStyle/>
          <a:p>
            <a:pPr>
              <a:lnSpc>
                <a:spcPts val="3600"/>
              </a:lnSpc>
              <a:buNone/>
            </a:pPr>
            <a:r>
              <a:rPr lang="en-US" altLang="zh-CN" sz="2400" dirty="0"/>
              <a:t>               8253</a:t>
            </a:r>
            <a:r>
              <a:rPr lang="zh-CN" altLang="en-US" sz="2400" dirty="0"/>
              <a:t>是一可编程的芯片，在使用之前必须对它进行编程。</a:t>
            </a:r>
            <a:endParaRPr lang="en-US" altLang="zh-CN" sz="2400" dirty="0"/>
          </a:p>
          <a:p>
            <a:pPr>
              <a:lnSpc>
                <a:spcPts val="3600"/>
              </a:lnSpc>
              <a:buNone/>
            </a:pPr>
            <a:r>
              <a:rPr lang="en-US" altLang="zh-CN" sz="2400" i="1" dirty="0">
                <a:solidFill>
                  <a:srgbClr val="FF0000"/>
                </a:solidFill>
              </a:rPr>
              <a:t>           </a:t>
            </a:r>
            <a:r>
              <a:rPr lang="zh-CN" altLang="en-US" sz="2400" i="1" dirty="0">
                <a:solidFill>
                  <a:srgbClr val="FF0000"/>
                </a:solidFill>
              </a:rPr>
              <a:t>初始化编程的步骤为：</a:t>
            </a:r>
          </a:p>
          <a:p>
            <a:pPr>
              <a:lnSpc>
                <a:spcPts val="3600"/>
              </a:lnSpc>
              <a:buNone/>
            </a:pPr>
            <a:r>
              <a:rPr lang="en-US" altLang="zh-CN" sz="2400" dirty="0"/>
              <a:t>      (1)  </a:t>
            </a:r>
            <a:r>
              <a:rPr lang="zh-CN" altLang="en-US" sz="2400" dirty="0"/>
              <a:t>写入每一通道控制字，规定各通道的工作方式；</a:t>
            </a:r>
          </a:p>
          <a:p>
            <a:pPr>
              <a:lnSpc>
                <a:spcPts val="3600"/>
              </a:lnSpc>
              <a:buNone/>
            </a:pPr>
            <a:r>
              <a:rPr lang="en-US" altLang="zh-CN" sz="2400" dirty="0"/>
              <a:t>      (2)  </a:t>
            </a:r>
            <a:r>
              <a:rPr lang="zh-CN" altLang="en-US" sz="2400" dirty="0"/>
              <a:t>写入每一通道的计数值，分三种情况：</a:t>
            </a:r>
          </a:p>
          <a:p>
            <a:pPr>
              <a:lnSpc>
                <a:spcPts val="3600"/>
              </a:lnSpc>
              <a:buNone/>
            </a:pPr>
            <a:r>
              <a:rPr lang="zh-CN" altLang="en-US" sz="2400" dirty="0"/>
              <a:t>      </a:t>
            </a:r>
            <a:r>
              <a:rPr lang="en-US" altLang="zh-CN" sz="2400" i="1" dirty="0">
                <a:solidFill>
                  <a:srgbClr val="FFFF00"/>
                </a:solidFill>
              </a:rPr>
              <a:t>Ⅰ : </a:t>
            </a:r>
            <a:r>
              <a:rPr lang="zh-CN" altLang="en-US" sz="2400" i="1" dirty="0">
                <a:solidFill>
                  <a:srgbClr val="FFFF00"/>
                </a:solidFill>
              </a:rPr>
              <a:t>只写低</a:t>
            </a:r>
            <a:r>
              <a:rPr lang="en-US" altLang="zh-CN" sz="2400" i="1" dirty="0">
                <a:solidFill>
                  <a:srgbClr val="FFFF00"/>
                </a:solidFill>
              </a:rPr>
              <a:t>8</a:t>
            </a:r>
            <a:r>
              <a:rPr lang="zh-CN" altLang="en-US" sz="2400" i="1" dirty="0">
                <a:solidFill>
                  <a:srgbClr val="FFFF00"/>
                </a:solidFill>
              </a:rPr>
              <a:t>位，则高</a:t>
            </a:r>
            <a:r>
              <a:rPr lang="en-US" altLang="zh-CN" sz="2400" i="1" dirty="0">
                <a:solidFill>
                  <a:srgbClr val="FFFF00"/>
                </a:solidFill>
              </a:rPr>
              <a:t>8</a:t>
            </a:r>
            <a:r>
              <a:rPr lang="zh-CN" altLang="en-US" sz="2400" i="1" dirty="0">
                <a:solidFill>
                  <a:srgbClr val="FFFF00"/>
                </a:solidFill>
              </a:rPr>
              <a:t>位自动置</a:t>
            </a:r>
            <a:r>
              <a:rPr lang="en-US" altLang="zh-CN" sz="2400" i="1" dirty="0">
                <a:solidFill>
                  <a:srgbClr val="FFFF00"/>
                </a:solidFill>
              </a:rPr>
              <a:t>0</a:t>
            </a:r>
            <a:r>
              <a:rPr lang="zh-CN" altLang="en-US" sz="2400" i="1" dirty="0">
                <a:solidFill>
                  <a:srgbClr val="FFFF00"/>
                </a:solidFill>
              </a:rPr>
              <a:t>；</a:t>
            </a:r>
            <a:r>
              <a:rPr lang="en-US" altLang="zh-CN" sz="2400" i="1" dirty="0">
                <a:solidFill>
                  <a:srgbClr val="FFFF00"/>
                </a:solidFill>
              </a:rPr>
              <a:t>――</a:t>
            </a:r>
            <a:r>
              <a:rPr lang="zh-CN" altLang="en-US" sz="2400" i="1" dirty="0">
                <a:solidFill>
                  <a:srgbClr val="FFFF00"/>
                </a:solidFill>
              </a:rPr>
              <a:t>对应</a:t>
            </a:r>
            <a:r>
              <a:rPr lang="en-US" altLang="zh-CN" sz="2400" i="1" dirty="0">
                <a:solidFill>
                  <a:srgbClr val="FFFF00"/>
                </a:solidFill>
              </a:rPr>
              <a:t>8</a:t>
            </a:r>
            <a:r>
              <a:rPr lang="zh-CN" altLang="en-US" sz="2400" i="1" dirty="0">
                <a:solidFill>
                  <a:srgbClr val="FFFF00"/>
                </a:solidFill>
              </a:rPr>
              <a:t>位计数</a:t>
            </a:r>
          </a:p>
          <a:p>
            <a:pPr>
              <a:lnSpc>
                <a:spcPts val="3600"/>
              </a:lnSpc>
              <a:buNone/>
            </a:pPr>
            <a:r>
              <a:rPr lang="zh-CN" altLang="en-US" sz="2400" dirty="0">
                <a:solidFill>
                  <a:srgbClr val="FFFF00"/>
                </a:solidFill>
              </a:rPr>
              <a:t>      </a:t>
            </a:r>
            <a:r>
              <a:rPr lang="en-US" altLang="zh-CN" sz="2400" i="1" dirty="0">
                <a:solidFill>
                  <a:srgbClr val="FFFF00"/>
                </a:solidFill>
              </a:rPr>
              <a:t>Ⅱ : </a:t>
            </a:r>
            <a:r>
              <a:rPr lang="zh-CN" altLang="en-US" sz="2400" i="1" dirty="0">
                <a:solidFill>
                  <a:srgbClr val="FFFF00"/>
                </a:solidFill>
              </a:rPr>
              <a:t>只写高</a:t>
            </a:r>
            <a:r>
              <a:rPr lang="en-US" altLang="zh-CN" sz="2400" i="1" dirty="0">
                <a:solidFill>
                  <a:srgbClr val="FFFF00"/>
                </a:solidFill>
              </a:rPr>
              <a:t>8</a:t>
            </a:r>
            <a:r>
              <a:rPr lang="zh-CN" altLang="en-US" sz="2400" i="1" dirty="0">
                <a:solidFill>
                  <a:srgbClr val="FFFF00"/>
                </a:solidFill>
              </a:rPr>
              <a:t>位，则低</a:t>
            </a:r>
            <a:r>
              <a:rPr lang="en-US" altLang="zh-CN" sz="2400" i="1" dirty="0">
                <a:solidFill>
                  <a:srgbClr val="FFFF00"/>
                </a:solidFill>
              </a:rPr>
              <a:t>8</a:t>
            </a:r>
            <a:r>
              <a:rPr lang="zh-CN" altLang="en-US" sz="2400" i="1" dirty="0">
                <a:solidFill>
                  <a:srgbClr val="FFFF00"/>
                </a:solidFill>
              </a:rPr>
              <a:t>位自动置</a:t>
            </a:r>
            <a:r>
              <a:rPr lang="en-US" altLang="zh-CN" sz="2400" i="1" dirty="0">
                <a:solidFill>
                  <a:srgbClr val="FFFF00"/>
                </a:solidFill>
              </a:rPr>
              <a:t>0</a:t>
            </a:r>
            <a:r>
              <a:rPr lang="zh-CN" altLang="en-US" sz="2400" i="1" dirty="0">
                <a:solidFill>
                  <a:srgbClr val="FFFF00"/>
                </a:solidFill>
              </a:rPr>
              <a:t>；</a:t>
            </a:r>
            <a:r>
              <a:rPr lang="en-US" altLang="zh-CN" sz="2400" i="1" dirty="0">
                <a:solidFill>
                  <a:srgbClr val="FFFF00"/>
                </a:solidFill>
              </a:rPr>
              <a:t>――</a:t>
            </a:r>
            <a:r>
              <a:rPr lang="zh-CN" altLang="en-US" sz="2400" i="1" dirty="0">
                <a:solidFill>
                  <a:srgbClr val="FFFF00"/>
                </a:solidFill>
              </a:rPr>
              <a:t>对应</a:t>
            </a:r>
            <a:r>
              <a:rPr lang="en-US" altLang="zh-CN" sz="2400" i="1" dirty="0">
                <a:solidFill>
                  <a:srgbClr val="FFFF00"/>
                </a:solidFill>
              </a:rPr>
              <a:t>16</a:t>
            </a:r>
            <a:r>
              <a:rPr lang="zh-CN" altLang="en-US" sz="2400" i="1" dirty="0">
                <a:solidFill>
                  <a:srgbClr val="FFFF00"/>
                </a:solidFill>
              </a:rPr>
              <a:t>位计数</a:t>
            </a:r>
          </a:p>
          <a:p>
            <a:pPr>
              <a:lnSpc>
                <a:spcPts val="3600"/>
              </a:lnSpc>
              <a:buNone/>
            </a:pPr>
            <a:r>
              <a:rPr lang="zh-CN" altLang="en-US" sz="2400" i="1" dirty="0">
                <a:solidFill>
                  <a:srgbClr val="FFFF00"/>
                </a:solidFill>
              </a:rPr>
              <a:t>      </a:t>
            </a:r>
            <a:r>
              <a:rPr lang="en-US" altLang="zh-CN" sz="2400" i="1" dirty="0">
                <a:solidFill>
                  <a:srgbClr val="FFFF00"/>
                </a:solidFill>
              </a:rPr>
              <a:t>Ⅲ : </a:t>
            </a:r>
            <a:r>
              <a:rPr lang="zh-CN" altLang="en-US" sz="2400" i="1" dirty="0">
                <a:solidFill>
                  <a:srgbClr val="FFFF00"/>
                </a:solidFill>
              </a:rPr>
              <a:t>规定为</a:t>
            </a:r>
            <a:r>
              <a:rPr lang="en-US" altLang="zh-CN" sz="2400" i="1" dirty="0">
                <a:solidFill>
                  <a:srgbClr val="FFFF00"/>
                </a:solidFill>
              </a:rPr>
              <a:t>16</a:t>
            </a:r>
            <a:r>
              <a:rPr lang="zh-CN" altLang="en-US" sz="2400" i="1" dirty="0">
                <a:solidFill>
                  <a:srgbClr val="FFFF00"/>
                </a:solidFill>
              </a:rPr>
              <a:t>位计数，先写低</a:t>
            </a:r>
            <a:r>
              <a:rPr lang="en-US" altLang="zh-CN" sz="2400" i="1" dirty="0">
                <a:solidFill>
                  <a:srgbClr val="FFFF00"/>
                </a:solidFill>
              </a:rPr>
              <a:t>8</a:t>
            </a:r>
            <a:r>
              <a:rPr lang="zh-CN" altLang="en-US" sz="2400" i="1" dirty="0">
                <a:solidFill>
                  <a:srgbClr val="FFFF00"/>
                </a:solidFill>
              </a:rPr>
              <a:t>位，后写高</a:t>
            </a:r>
            <a:r>
              <a:rPr lang="en-US" altLang="zh-CN" sz="2400" i="1" dirty="0">
                <a:solidFill>
                  <a:srgbClr val="FFFF00"/>
                </a:solidFill>
              </a:rPr>
              <a:t>8</a:t>
            </a:r>
            <a:r>
              <a:rPr lang="zh-CN" altLang="en-US" sz="2400" i="1" dirty="0">
                <a:solidFill>
                  <a:srgbClr val="FFFF00"/>
                </a:solidFill>
              </a:rPr>
              <a:t>位。</a:t>
            </a:r>
            <a:r>
              <a:rPr lang="en-US" altLang="zh-CN" sz="2400" i="1" dirty="0">
                <a:solidFill>
                  <a:srgbClr val="FFFF00"/>
                </a:solidFill>
              </a:rPr>
              <a:t>――</a:t>
            </a:r>
            <a:r>
              <a:rPr lang="zh-CN" altLang="en-US" sz="2400" i="1" dirty="0">
                <a:solidFill>
                  <a:srgbClr val="FFFF00"/>
                </a:solidFill>
              </a:rPr>
              <a:t>对应</a:t>
            </a:r>
            <a:r>
              <a:rPr lang="en-US" altLang="zh-CN" sz="2400" i="1" dirty="0">
                <a:solidFill>
                  <a:srgbClr val="FFFF00"/>
                </a:solidFill>
              </a:rPr>
              <a:t>16</a:t>
            </a:r>
            <a:r>
              <a:rPr lang="zh-CN" altLang="en-US" sz="2400" i="1" dirty="0">
                <a:solidFill>
                  <a:srgbClr val="FFFF00"/>
                </a:solidFill>
              </a:rPr>
              <a:t>位计数</a:t>
            </a:r>
          </a:p>
          <a:p>
            <a:pPr>
              <a:lnSpc>
                <a:spcPts val="3600"/>
              </a:lnSpc>
              <a:buNone/>
            </a:pPr>
            <a:r>
              <a:rPr lang="en-US" altLang="zh-CN" sz="2400" dirty="0"/>
              <a:t>     D</a:t>
            </a:r>
            <a:r>
              <a:rPr lang="en-US" altLang="zh-CN" sz="2400" baseline="-25000" dirty="0"/>
              <a:t>0</a:t>
            </a:r>
            <a:r>
              <a:rPr lang="zh-CN" altLang="en-US" sz="2400" dirty="0"/>
              <a:t>：用于确定计数数制，</a:t>
            </a:r>
            <a:r>
              <a:rPr lang="en-US" altLang="zh-CN" sz="2400" dirty="0"/>
              <a:t>0</a:t>
            </a:r>
            <a:r>
              <a:rPr lang="zh-CN" altLang="en-US" sz="2400" dirty="0"/>
              <a:t>，二进制；</a:t>
            </a:r>
            <a:r>
              <a:rPr lang="en-US" altLang="zh-CN" sz="2400" dirty="0"/>
              <a:t>1</a:t>
            </a:r>
            <a:r>
              <a:rPr lang="zh-CN" altLang="en-US" sz="2400" dirty="0"/>
              <a:t>，</a:t>
            </a:r>
            <a:r>
              <a:rPr lang="en-US" altLang="zh-CN" sz="2400" dirty="0"/>
              <a:t>BCD</a:t>
            </a:r>
            <a:endParaRPr lang="zh-CN" altLang="en-US" sz="2400" dirty="0"/>
          </a:p>
          <a:p>
            <a:pPr>
              <a:buNone/>
            </a:pPr>
            <a:endParaRPr lang="zh-CN" altLang="en-US" dirty="0"/>
          </a:p>
        </p:txBody>
      </p:sp>
    </p:spTree>
  </p:cSld>
  <p:clrMapOvr>
    <a:masterClrMapping/>
  </p:clrMapOvr>
  <p:transition spd="med">
    <p:random/>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dirty="0">
                <a:ln>
                  <a:noFill/>
                </a:ln>
                <a:solidFill>
                  <a:schemeClr val="accent2"/>
                </a:solidFill>
                <a:effectLst>
                  <a:outerShdw blurRad="38100" dist="38100" dir="2700000" algn="tl">
                    <a:srgbClr val="000000"/>
                  </a:outerShdw>
                </a:effectLst>
                <a:uLnTx/>
                <a:uFillTx/>
                <a:latin typeface="+mj-lt"/>
                <a:ea typeface="+mj-ea"/>
                <a:cs typeface="+mj-cs"/>
              </a:rPr>
              <a:t>例 题 赏 析</a:t>
            </a:r>
          </a:p>
        </p:txBody>
      </p:sp>
      <p:sp>
        <p:nvSpPr>
          <p:cNvPr id="22530" name="内容占位符 4"/>
          <p:cNvSpPr>
            <a:spLocks noGrp="1"/>
          </p:cNvSpPr>
          <p:nvPr>
            <p:ph idx="1"/>
          </p:nvPr>
        </p:nvSpPr>
        <p:spPr>
          <a:xfrm>
            <a:off x="577850" y="1387475"/>
            <a:ext cx="8197850" cy="5470525"/>
          </a:xfrm>
          <a:ln/>
        </p:spPr>
        <p:txBody>
          <a:bodyPr wrap="square" lIns="92075" tIns="46038" rIns="92075" bIns="46038" anchor="t" anchorCtr="0"/>
          <a:lstStyle/>
          <a:p>
            <a:pPr>
              <a:buNone/>
            </a:pPr>
            <a:r>
              <a:rPr lang="en-US" altLang="zh-CN" sz="2400" dirty="0">
                <a:solidFill>
                  <a:srgbClr val="FFFF00"/>
                </a:solidFill>
              </a:rPr>
              <a:t>              </a:t>
            </a:r>
          </a:p>
          <a:p>
            <a:pPr>
              <a:buNone/>
            </a:pPr>
            <a:endParaRPr lang="en-US" altLang="zh-CN" sz="2400" dirty="0">
              <a:solidFill>
                <a:srgbClr val="FFFF00"/>
              </a:solidFill>
            </a:endParaRPr>
          </a:p>
          <a:p>
            <a:pPr>
              <a:buNone/>
            </a:pPr>
            <a:r>
              <a:rPr lang="en-US" altLang="zh-CN" sz="2400" dirty="0">
                <a:solidFill>
                  <a:srgbClr val="FFFF00"/>
                </a:solidFill>
              </a:rPr>
              <a:t>    </a:t>
            </a:r>
            <a:r>
              <a:rPr lang="en-US" altLang="zh-CN" sz="2400" i="1" dirty="0">
                <a:solidFill>
                  <a:srgbClr val="FFFF00"/>
                </a:solidFill>
              </a:rPr>
              <a:t>【</a:t>
            </a:r>
            <a:r>
              <a:rPr lang="zh-CN" altLang="en-US" sz="2400" i="1" dirty="0">
                <a:solidFill>
                  <a:srgbClr val="FFFF00"/>
                </a:solidFill>
              </a:rPr>
              <a:t>例题</a:t>
            </a:r>
            <a:r>
              <a:rPr lang="en-US" altLang="zh-CN" sz="2400" i="1" dirty="0">
                <a:solidFill>
                  <a:srgbClr val="FFFF00"/>
                </a:solidFill>
              </a:rPr>
              <a:t>8.1】</a:t>
            </a:r>
            <a:r>
              <a:rPr lang="zh-CN" altLang="en-US" sz="2400" i="1" dirty="0">
                <a:solidFill>
                  <a:srgbClr val="FFFF00"/>
                </a:solidFill>
              </a:rPr>
              <a:t>：</a:t>
            </a:r>
            <a:r>
              <a:rPr lang="zh-CN" altLang="en-US" sz="2400" dirty="0"/>
              <a:t>设</a:t>
            </a:r>
            <a:r>
              <a:rPr lang="en-US" altLang="zh-CN" sz="2400" dirty="0"/>
              <a:t>8253</a:t>
            </a:r>
            <a:r>
              <a:rPr lang="zh-CN" altLang="en-US" sz="2400" dirty="0"/>
              <a:t>的端口地址为：</a:t>
            </a:r>
            <a:r>
              <a:rPr lang="en-US" altLang="zh-CN" sz="2400" dirty="0"/>
              <a:t>04H</a:t>
            </a:r>
            <a:r>
              <a:rPr lang="zh-CN" altLang="en-US" sz="2400" dirty="0"/>
              <a:t>～</a:t>
            </a:r>
            <a:r>
              <a:rPr lang="en-US" altLang="zh-CN" sz="2400" dirty="0"/>
              <a:t>07H</a:t>
            </a:r>
            <a:r>
              <a:rPr lang="zh-CN" altLang="en-US" sz="2400" dirty="0"/>
              <a:t>，要使计数器</a:t>
            </a:r>
            <a:r>
              <a:rPr lang="en-US" altLang="zh-CN" sz="2400" dirty="0"/>
              <a:t>1</a:t>
            </a:r>
            <a:r>
              <a:rPr lang="zh-CN" altLang="en-US" sz="2400" dirty="0"/>
              <a:t>工作在方式</a:t>
            </a:r>
            <a:r>
              <a:rPr lang="en-US" altLang="zh-CN" sz="2400" dirty="0"/>
              <a:t>0</a:t>
            </a:r>
            <a:r>
              <a:rPr lang="zh-CN" altLang="en-US" sz="2400" dirty="0"/>
              <a:t>，仅用</a:t>
            </a:r>
            <a:r>
              <a:rPr lang="en-US" altLang="zh-CN" sz="2400" dirty="0"/>
              <a:t>8</a:t>
            </a:r>
            <a:r>
              <a:rPr lang="zh-CN" altLang="en-US" sz="2400" dirty="0"/>
              <a:t>位二进制计数，计数值为</a:t>
            </a:r>
            <a:r>
              <a:rPr lang="en-US" altLang="zh-CN" sz="2400" dirty="0"/>
              <a:t>128</a:t>
            </a:r>
            <a:r>
              <a:rPr lang="zh-CN" altLang="en-US" sz="2400" dirty="0"/>
              <a:t>，进行初始化编程。</a:t>
            </a:r>
          </a:p>
          <a:p>
            <a:pPr>
              <a:buNone/>
            </a:pPr>
            <a:r>
              <a:rPr lang="en-US" altLang="zh-CN" sz="2400" dirty="0"/>
              <a:t>    </a:t>
            </a:r>
            <a:r>
              <a:rPr lang="zh-CN" altLang="en-US" sz="2400" dirty="0"/>
              <a:t>控制字：</a:t>
            </a:r>
            <a:r>
              <a:rPr lang="en-US" altLang="zh-CN" sz="2400" dirty="0"/>
              <a:t>0101</a:t>
            </a:r>
            <a:r>
              <a:rPr lang="zh-CN" altLang="en-US" sz="2400" dirty="0"/>
              <a:t>　</a:t>
            </a:r>
            <a:r>
              <a:rPr lang="en-US" altLang="zh-CN" sz="2400" dirty="0"/>
              <a:t>0000――</a:t>
            </a:r>
            <a:r>
              <a:rPr lang="zh-CN" altLang="en-US" sz="2400" dirty="0"/>
              <a:t>二进制　　　</a:t>
            </a:r>
            <a:r>
              <a:rPr lang="en-US" altLang="zh-CN" sz="2400" dirty="0"/>
              <a:t>50H</a:t>
            </a:r>
            <a:endParaRPr lang="zh-CN" altLang="en-US" sz="2400" dirty="0"/>
          </a:p>
          <a:p>
            <a:pPr>
              <a:buNone/>
            </a:pPr>
            <a:r>
              <a:rPr lang="en-US" altLang="zh-CN" sz="2400" dirty="0"/>
              <a:t>   </a:t>
            </a:r>
            <a:r>
              <a:rPr lang="zh-CN" altLang="en-US" sz="2400" dirty="0"/>
              <a:t>初始化编程</a:t>
            </a:r>
            <a:r>
              <a:rPr lang="zh-CN" altLang="en-US" sz="2400" i="1" dirty="0"/>
              <a:t>：</a:t>
            </a:r>
            <a:endParaRPr lang="zh-CN" altLang="en-US" sz="2400" dirty="0"/>
          </a:p>
          <a:p>
            <a:pPr>
              <a:buNone/>
            </a:pPr>
            <a:endParaRPr lang="zh-CN" altLang="en-US" dirty="0"/>
          </a:p>
        </p:txBody>
      </p:sp>
      <p:graphicFrame>
        <p:nvGraphicFramePr>
          <p:cNvPr id="6" name="表格 5"/>
          <p:cNvGraphicFramePr>
            <a:graphicFrameLocks noGrp="1"/>
          </p:cNvGraphicFramePr>
          <p:nvPr/>
        </p:nvGraphicFramePr>
        <p:xfrm>
          <a:off x="1057275" y="4746625"/>
          <a:ext cx="6096000" cy="1468562"/>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spcAft>
                          <a:spcPts val="0"/>
                        </a:spcAft>
                      </a:pPr>
                      <a:r>
                        <a:rPr lang="en-US" sz="1800" kern="100" dirty="0">
                          <a:latin typeface="Times New Roman" panose="02020603050405020304"/>
                          <a:ea typeface="宋体" panose="02010600030101010101" pitchFamily="2" charset="-122"/>
                          <a:cs typeface="Times New Roman" panose="02020603050405020304"/>
                        </a:rPr>
                        <a:t>MOV</a:t>
                      </a:r>
                      <a:endParaRPr lang="zh-CN" sz="1800" kern="100" dirty="0">
                        <a:latin typeface="Times New Roman" panose="02020603050405020304"/>
                        <a:ea typeface="宋体" panose="02010600030101010101" pitchFamily="2" charset="-122"/>
                        <a:cs typeface="Times New Roman" panose="02020603050405020304"/>
                      </a:endParaRPr>
                    </a:p>
                  </a:txBody>
                  <a:tcPr marL="68580" marR="68580" marT="0" marB="0" anchor="ctr"/>
                </a:tc>
                <a:tc>
                  <a:txBody>
                    <a:bodyPr/>
                    <a:lstStyle/>
                    <a:p>
                      <a:pPr algn="ctr">
                        <a:spcAft>
                          <a:spcPts val="0"/>
                        </a:spcAft>
                      </a:pPr>
                      <a:r>
                        <a:rPr lang="en-US" sz="1800" kern="100" dirty="0">
                          <a:latin typeface="Times New Roman" panose="02020603050405020304"/>
                          <a:ea typeface="宋体" panose="02010600030101010101" pitchFamily="2" charset="-122"/>
                          <a:cs typeface="Times New Roman" panose="02020603050405020304"/>
                        </a:rPr>
                        <a:t>AL</a:t>
                      </a:r>
                      <a:r>
                        <a:rPr lang="zh-CN" sz="1800" kern="100">
                          <a:latin typeface="Times New Roman" panose="02020603050405020304"/>
                          <a:ea typeface="宋体" panose="02010600030101010101" pitchFamily="2" charset="-122"/>
                          <a:cs typeface="Times New Roman" panose="02020603050405020304"/>
                        </a:rPr>
                        <a:t>，</a:t>
                      </a:r>
                      <a:r>
                        <a:rPr lang="en-US" sz="1800" kern="100" dirty="0">
                          <a:latin typeface="Times New Roman" panose="02020603050405020304"/>
                          <a:ea typeface="宋体" panose="02010600030101010101" pitchFamily="2" charset="-122"/>
                          <a:cs typeface="Times New Roman" panose="02020603050405020304"/>
                        </a:rPr>
                        <a:t>50H</a:t>
                      </a:r>
                      <a:r>
                        <a:rPr lang="zh-CN" sz="1800" kern="100">
                          <a:latin typeface="Times New Roman" panose="02020603050405020304"/>
                          <a:ea typeface="宋体" panose="02010600030101010101" pitchFamily="2" charset="-122"/>
                          <a:cs typeface="Times New Roman" panose="02020603050405020304"/>
                        </a:rPr>
                        <a:t>；</a:t>
                      </a:r>
                      <a:r>
                        <a:rPr lang="en-US" sz="1800" kern="100" dirty="0">
                          <a:latin typeface="Times New Roman" panose="02020603050405020304"/>
                          <a:ea typeface="宋体" panose="02010600030101010101" pitchFamily="2" charset="-122"/>
                          <a:cs typeface="Times New Roman" panose="02020603050405020304"/>
                        </a:rPr>
                        <a:t>0101</a:t>
                      </a:r>
                      <a:r>
                        <a:rPr lang="zh-CN" sz="1800" kern="100">
                          <a:latin typeface="Times New Roman" panose="02020603050405020304"/>
                          <a:ea typeface="宋体" panose="02010600030101010101" pitchFamily="2" charset="-122"/>
                          <a:cs typeface="Times New Roman" panose="02020603050405020304"/>
                        </a:rPr>
                        <a:t>　</a:t>
                      </a:r>
                      <a:r>
                        <a:rPr lang="en-US" sz="1800" kern="100" dirty="0">
                          <a:latin typeface="Times New Roman" panose="02020603050405020304"/>
                          <a:ea typeface="宋体" panose="02010600030101010101" pitchFamily="2" charset="-122"/>
                          <a:cs typeface="Times New Roman" panose="02020603050405020304"/>
                        </a:rPr>
                        <a:t>0000B</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nchor="ctr"/>
                </a:tc>
                <a:extLst>
                  <a:ext uri="{0D108BD9-81ED-4DB2-BD59-A6C34878D82A}">
                    <a16:rowId xmlns:a16="http://schemas.microsoft.com/office/drawing/2014/main" val="10000"/>
                  </a:ext>
                </a:extLst>
              </a:tr>
              <a:tr h="370840">
                <a:tc>
                  <a:txBody>
                    <a:bodyPr/>
                    <a:lstStyle/>
                    <a:p>
                      <a:pPr algn="ctr">
                        <a:spcAft>
                          <a:spcPts val="0"/>
                        </a:spcAft>
                      </a:pPr>
                      <a:r>
                        <a:rPr lang="en-US" sz="1800" kern="100" dirty="0">
                          <a:latin typeface="Times New Roman" panose="02020603050405020304"/>
                          <a:ea typeface="宋体" panose="02010600030101010101" pitchFamily="2" charset="-122"/>
                          <a:cs typeface="Times New Roman" panose="02020603050405020304"/>
                        </a:rPr>
                        <a:t>OUT</a:t>
                      </a:r>
                      <a:endParaRPr lang="zh-CN" sz="1800" kern="100" dirty="0">
                        <a:latin typeface="Times New Roman" panose="02020603050405020304"/>
                        <a:ea typeface="宋体" panose="02010600030101010101" pitchFamily="2" charset="-122"/>
                        <a:cs typeface="Times New Roman" panose="02020603050405020304"/>
                      </a:endParaRPr>
                    </a:p>
                  </a:txBody>
                  <a:tcPr marL="68580" marR="68580" marT="0" marB="0" anchor="ctr"/>
                </a:tc>
                <a:tc>
                  <a:txBody>
                    <a:bodyPr/>
                    <a:lstStyle/>
                    <a:p>
                      <a:pPr algn="ctr">
                        <a:spcAft>
                          <a:spcPts val="0"/>
                        </a:spcAft>
                      </a:pPr>
                      <a:r>
                        <a:rPr lang="en-US" sz="1800" kern="100" dirty="0">
                          <a:latin typeface="Times New Roman" panose="02020603050405020304"/>
                          <a:ea typeface="宋体" panose="02010600030101010101" pitchFamily="2" charset="-122"/>
                          <a:cs typeface="Times New Roman" panose="02020603050405020304"/>
                        </a:rPr>
                        <a:t>07H</a:t>
                      </a:r>
                      <a:r>
                        <a:rPr lang="zh-CN" sz="1800" kern="100" dirty="0">
                          <a:latin typeface="Times New Roman" panose="02020603050405020304"/>
                          <a:ea typeface="宋体" panose="02010600030101010101" pitchFamily="2" charset="-122"/>
                          <a:cs typeface="Times New Roman" panose="02020603050405020304"/>
                        </a:rPr>
                        <a:t>，</a:t>
                      </a:r>
                      <a:r>
                        <a:rPr lang="en-US" sz="1800" kern="100" dirty="0">
                          <a:latin typeface="Times New Roman" panose="02020603050405020304"/>
                          <a:ea typeface="宋体" panose="02010600030101010101" pitchFamily="2" charset="-122"/>
                          <a:cs typeface="Times New Roman" panose="02020603050405020304"/>
                        </a:rPr>
                        <a:t>AL</a:t>
                      </a:r>
                      <a:endParaRPr lang="zh-CN" sz="1800" kern="100" dirty="0">
                        <a:latin typeface="Times New Roman" panose="02020603050405020304"/>
                        <a:ea typeface="宋体" panose="02010600030101010101" pitchFamily="2" charset="-122"/>
                        <a:cs typeface="Times New Roman" panose="02020603050405020304"/>
                      </a:endParaRPr>
                    </a:p>
                  </a:txBody>
                  <a:tcPr marL="68580" marR="68580" marT="0" marB="0" anchor="ctr"/>
                </a:tc>
                <a:extLst>
                  <a:ext uri="{0D108BD9-81ED-4DB2-BD59-A6C34878D82A}">
                    <a16:rowId xmlns:a16="http://schemas.microsoft.com/office/drawing/2014/main" val="10001"/>
                  </a:ext>
                </a:extLst>
              </a:tr>
              <a:tr h="356042">
                <a:tc>
                  <a:txBody>
                    <a:bodyPr/>
                    <a:lstStyle/>
                    <a:p>
                      <a:pPr algn="ctr">
                        <a:spcAft>
                          <a:spcPts val="0"/>
                        </a:spcAft>
                      </a:pPr>
                      <a:r>
                        <a:rPr lang="en-US" sz="1800" kern="100" dirty="0">
                          <a:latin typeface="Times New Roman" panose="02020603050405020304"/>
                          <a:ea typeface="宋体" panose="02010600030101010101" pitchFamily="2" charset="-122"/>
                          <a:cs typeface="Times New Roman" panose="02020603050405020304"/>
                        </a:rPr>
                        <a:t>MOV</a:t>
                      </a:r>
                      <a:endParaRPr lang="zh-CN" sz="1800" kern="100" dirty="0">
                        <a:latin typeface="Times New Roman" panose="02020603050405020304"/>
                        <a:ea typeface="宋体" panose="02010600030101010101" pitchFamily="2" charset="-122"/>
                        <a:cs typeface="Times New Roman" panose="02020603050405020304"/>
                      </a:endParaRPr>
                    </a:p>
                  </a:txBody>
                  <a:tcPr marL="68580" marR="68580" marT="0" marB="0" anchor="ctr"/>
                </a:tc>
                <a:tc>
                  <a:txBody>
                    <a:bodyPr/>
                    <a:lstStyle/>
                    <a:p>
                      <a:pPr algn="ctr">
                        <a:spcAft>
                          <a:spcPts val="0"/>
                        </a:spcAft>
                      </a:pPr>
                      <a:r>
                        <a:rPr lang="en-US" sz="1800" kern="100" dirty="0">
                          <a:latin typeface="Times New Roman" panose="02020603050405020304"/>
                          <a:ea typeface="宋体" panose="02010600030101010101" pitchFamily="2" charset="-122"/>
                          <a:cs typeface="Times New Roman" panose="02020603050405020304"/>
                        </a:rPr>
                        <a:t>AL</a:t>
                      </a:r>
                      <a:r>
                        <a:rPr lang="zh-CN" sz="1800" kern="100" dirty="0">
                          <a:latin typeface="Times New Roman" panose="02020603050405020304"/>
                          <a:ea typeface="宋体" panose="02010600030101010101" pitchFamily="2" charset="-122"/>
                          <a:cs typeface="Times New Roman" panose="02020603050405020304"/>
                        </a:rPr>
                        <a:t>，</a:t>
                      </a:r>
                      <a:r>
                        <a:rPr lang="en-US" sz="1800" kern="100" dirty="0">
                          <a:latin typeface="Times New Roman" panose="02020603050405020304"/>
                          <a:ea typeface="宋体" panose="02010600030101010101" pitchFamily="2" charset="-122"/>
                          <a:cs typeface="Times New Roman" panose="02020603050405020304"/>
                        </a:rPr>
                        <a:t>80H</a:t>
                      </a:r>
                      <a:endParaRPr lang="zh-CN" sz="1800" kern="100" dirty="0">
                        <a:latin typeface="Times New Roman" panose="02020603050405020304"/>
                        <a:ea typeface="宋体" panose="02010600030101010101" pitchFamily="2" charset="-122"/>
                        <a:cs typeface="Times New Roman" panose="02020603050405020304"/>
                      </a:endParaRPr>
                    </a:p>
                  </a:txBody>
                  <a:tcPr marL="68580" marR="68580" marT="0" marB="0" anchor="ctr"/>
                </a:tc>
                <a:extLst>
                  <a:ext uri="{0D108BD9-81ED-4DB2-BD59-A6C34878D82A}">
                    <a16:rowId xmlns:a16="http://schemas.microsoft.com/office/drawing/2014/main" val="10002"/>
                  </a:ext>
                </a:extLst>
              </a:tr>
              <a:tr h="370840">
                <a:tc>
                  <a:txBody>
                    <a:bodyPr/>
                    <a:lstStyle/>
                    <a:p>
                      <a:pPr algn="ctr">
                        <a:spcAft>
                          <a:spcPts val="0"/>
                        </a:spcAft>
                      </a:pPr>
                      <a:r>
                        <a:rPr lang="en-US" sz="1800" kern="100" dirty="0">
                          <a:latin typeface="Times New Roman" panose="02020603050405020304"/>
                          <a:ea typeface="宋体" panose="02010600030101010101" pitchFamily="2" charset="-122"/>
                          <a:cs typeface="Times New Roman" panose="02020603050405020304"/>
                        </a:rPr>
                        <a:t>OUT</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nchor="ctr"/>
                </a:tc>
                <a:tc>
                  <a:txBody>
                    <a:bodyPr/>
                    <a:lstStyle/>
                    <a:p>
                      <a:pPr algn="ctr">
                        <a:spcAft>
                          <a:spcPts val="0"/>
                        </a:spcAft>
                      </a:pPr>
                      <a:r>
                        <a:rPr lang="en-US" sz="1800" kern="100" dirty="0">
                          <a:latin typeface="Times New Roman" panose="02020603050405020304"/>
                          <a:ea typeface="宋体" panose="02010600030101010101" pitchFamily="2" charset="-122"/>
                          <a:cs typeface="Times New Roman" panose="02020603050405020304"/>
                        </a:rPr>
                        <a:t>05H</a:t>
                      </a:r>
                      <a:r>
                        <a:rPr lang="zh-CN" sz="1800" kern="100" dirty="0">
                          <a:latin typeface="Times New Roman" panose="02020603050405020304"/>
                          <a:ea typeface="宋体" panose="02010600030101010101" pitchFamily="2" charset="-122"/>
                          <a:cs typeface="Times New Roman" panose="02020603050405020304"/>
                        </a:rPr>
                        <a:t>，</a:t>
                      </a:r>
                      <a:r>
                        <a:rPr lang="en-US" sz="1800" kern="100" dirty="0">
                          <a:latin typeface="Times New Roman" panose="02020603050405020304"/>
                          <a:ea typeface="宋体" panose="02010600030101010101" pitchFamily="2" charset="-122"/>
                          <a:cs typeface="Times New Roman" panose="02020603050405020304"/>
                        </a:rPr>
                        <a:t>AL</a:t>
                      </a:r>
                      <a:endParaRPr lang="zh-CN" sz="1800" kern="100" dirty="0">
                        <a:latin typeface="Times New Roman" panose="02020603050405020304"/>
                        <a:ea typeface="宋体" panose="02010600030101010101" pitchFamily="2" charset="-122"/>
                        <a:cs typeface="Times New Roman" panose="02020603050405020304"/>
                      </a:endParaRPr>
                    </a:p>
                  </a:txBody>
                  <a:tcPr marL="68580" marR="68580" marT="0" marB="0" anchor="ctr"/>
                </a:tc>
                <a:extLst>
                  <a:ext uri="{0D108BD9-81ED-4DB2-BD59-A6C34878D82A}">
                    <a16:rowId xmlns:a16="http://schemas.microsoft.com/office/drawing/2014/main" val="10003"/>
                  </a:ext>
                </a:extLst>
              </a:tr>
            </a:tbl>
          </a:graphicData>
        </a:graphic>
      </p:graphicFrame>
    </p:spTree>
  </p:cSld>
  <p:clrMapOvr>
    <a:masterClrMapping/>
  </p:clrMapOvr>
  <p:transition spd="med">
    <p:random/>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dirty="0">
                <a:ln>
                  <a:noFill/>
                </a:ln>
                <a:solidFill>
                  <a:schemeClr val="accent2"/>
                </a:solidFill>
                <a:effectLst>
                  <a:outerShdw blurRad="38100" dist="38100" dir="2700000" algn="tl">
                    <a:srgbClr val="000000"/>
                  </a:outerShdw>
                </a:effectLst>
                <a:uLnTx/>
                <a:uFillTx/>
                <a:latin typeface="+mj-lt"/>
                <a:ea typeface="+mj-ea"/>
                <a:cs typeface="+mj-cs"/>
              </a:rPr>
              <a:t> 例 题 赏 析</a:t>
            </a:r>
            <a:endParaRPr kumimoji="1" lang="zh-CN" altLang="en-US" sz="4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23554" name="内容占位符 4"/>
          <p:cNvSpPr>
            <a:spLocks noGrp="1"/>
          </p:cNvSpPr>
          <p:nvPr>
            <p:ph idx="1"/>
          </p:nvPr>
        </p:nvSpPr>
        <p:spPr>
          <a:xfrm>
            <a:off x="577850" y="1387475"/>
            <a:ext cx="8316913" cy="5470525"/>
          </a:xfrm>
          <a:ln/>
        </p:spPr>
        <p:txBody>
          <a:bodyPr wrap="square" lIns="92075" tIns="46038" rIns="92075" bIns="46038" anchor="t" anchorCtr="0"/>
          <a:lstStyle/>
          <a:p>
            <a:pPr>
              <a:buNone/>
            </a:pPr>
            <a:r>
              <a:rPr lang="en-US" altLang="zh-CN" dirty="0"/>
              <a:t>  </a:t>
            </a:r>
            <a:r>
              <a:rPr lang="en-US" altLang="zh-CN" i="1" dirty="0">
                <a:solidFill>
                  <a:srgbClr val="FFFF00"/>
                </a:solidFill>
              </a:rPr>
              <a:t>【</a:t>
            </a:r>
            <a:r>
              <a:rPr lang="zh-CN" altLang="en-US" i="1" dirty="0">
                <a:solidFill>
                  <a:srgbClr val="FFFF00"/>
                </a:solidFill>
              </a:rPr>
              <a:t>例题</a:t>
            </a:r>
            <a:r>
              <a:rPr lang="en-US" altLang="zh-CN" i="1" dirty="0">
                <a:solidFill>
                  <a:srgbClr val="FFFF00"/>
                </a:solidFill>
              </a:rPr>
              <a:t>8.2】</a:t>
            </a:r>
            <a:r>
              <a:rPr lang="zh-CN" altLang="en-US" i="1" dirty="0">
                <a:solidFill>
                  <a:srgbClr val="FFFF00"/>
                </a:solidFill>
              </a:rPr>
              <a:t>：</a:t>
            </a:r>
            <a:endParaRPr lang="en-US" altLang="zh-CN" i="1" dirty="0">
              <a:solidFill>
                <a:srgbClr val="FFFF00"/>
              </a:solidFill>
            </a:endParaRPr>
          </a:p>
          <a:p>
            <a:pPr>
              <a:buNone/>
            </a:pPr>
            <a:r>
              <a:rPr lang="en-US" altLang="zh-CN" i="1" dirty="0">
                <a:solidFill>
                  <a:srgbClr val="FFFF00"/>
                </a:solidFill>
              </a:rPr>
              <a:t>        </a:t>
            </a:r>
            <a:r>
              <a:rPr lang="en-US" altLang="zh-CN" sz="2400" i="1" dirty="0">
                <a:solidFill>
                  <a:srgbClr val="FFFF00"/>
                </a:solidFill>
              </a:rPr>
              <a:t>   </a:t>
            </a:r>
            <a:r>
              <a:rPr lang="zh-CN" altLang="en-US" sz="2400" dirty="0"/>
              <a:t>设</a:t>
            </a:r>
            <a:r>
              <a:rPr lang="en-US" altLang="zh-CN" sz="2400" dirty="0"/>
              <a:t>8253</a:t>
            </a:r>
            <a:r>
              <a:rPr lang="zh-CN" altLang="en-US" sz="2400" dirty="0"/>
              <a:t>的端口地址为：</a:t>
            </a:r>
            <a:r>
              <a:rPr lang="en-US" altLang="zh-CN" sz="2400" dirty="0"/>
              <a:t>F8H</a:t>
            </a:r>
            <a:r>
              <a:rPr lang="zh-CN" altLang="en-US" sz="2400" dirty="0"/>
              <a:t>～  </a:t>
            </a:r>
            <a:r>
              <a:rPr lang="en-US" altLang="zh-CN" sz="2400" dirty="0"/>
              <a:t>FBH</a:t>
            </a:r>
            <a:r>
              <a:rPr lang="zh-CN" altLang="en-US" sz="2400" dirty="0"/>
              <a:t>，若用通道</a:t>
            </a:r>
            <a:r>
              <a:rPr lang="en-US" altLang="zh-CN" sz="2400" dirty="0"/>
              <a:t>0</a:t>
            </a:r>
            <a:r>
              <a:rPr lang="zh-CN" altLang="en-US" sz="2400" dirty="0"/>
              <a:t>工作在方式</a:t>
            </a:r>
            <a:r>
              <a:rPr lang="en-US" altLang="zh-CN" sz="2400" dirty="0"/>
              <a:t>1</a:t>
            </a:r>
            <a:r>
              <a:rPr lang="zh-CN" altLang="en-US" sz="2400" dirty="0"/>
              <a:t>，按二</a:t>
            </a:r>
            <a:r>
              <a:rPr lang="en-US" altLang="zh-CN" sz="2400" dirty="0"/>
              <a:t>――</a:t>
            </a:r>
            <a:r>
              <a:rPr lang="zh-CN" altLang="en-US" sz="2400" dirty="0"/>
              <a:t>十   进制计数，计数值为</a:t>
            </a:r>
            <a:r>
              <a:rPr lang="en-US" altLang="zh-CN" sz="2400" dirty="0"/>
              <a:t>5080</a:t>
            </a:r>
            <a:r>
              <a:rPr lang="zh-CN" altLang="en-US" sz="2400" dirty="0"/>
              <a:t>，进行初始化编程。</a:t>
            </a:r>
          </a:p>
          <a:p>
            <a:pPr>
              <a:buNone/>
            </a:pPr>
            <a:r>
              <a:rPr lang="zh-CN" altLang="en-US" sz="2400" dirty="0"/>
              <a:t>     控制字：</a:t>
            </a:r>
            <a:r>
              <a:rPr lang="en-US" altLang="zh-CN" sz="2400" dirty="0"/>
              <a:t>0011</a:t>
            </a:r>
            <a:r>
              <a:rPr lang="zh-CN" altLang="en-US" sz="2400" dirty="0"/>
              <a:t>　</a:t>
            </a:r>
            <a:r>
              <a:rPr lang="en-US" altLang="zh-CN" sz="2400" dirty="0"/>
              <a:t>0011――</a:t>
            </a:r>
            <a:r>
              <a:rPr lang="zh-CN" altLang="en-US" sz="2400" dirty="0"/>
              <a:t>二进制　  </a:t>
            </a:r>
            <a:r>
              <a:rPr lang="en-US" altLang="zh-CN" sz="2400" dirty="0"/>
              <a:t>33H</a:t>
            </a:r>
            <a:endParaRPr lang="zh-CN" altLang="en-US" sz="2400" dirty="0"/>
          </a:p>
          <a:p>
            <a:pPr>
              <a:buNone/>
            </a:pPr>
            <a:r>
              <a:rPr lang="zh-CN" altLang="en-US" sz="2400" dirty="0"/>
              <a:t>            初始化编程：</a:t>
            </a:r>
          </a:p>
          <a:p>
            <a:pPr>
              <a:buNone/>
            </a:pPr>
            <a:endParaRPr lang="zh-CN" altLang="en-US" dirty="0"/>
          </a:p>
        </p:txBody>
      </p:sp>
      <p:graphicFrame>
        <p:nvGraphicFramePr>
          <p:cNvPr id="7" name="表格 6"/>
          <p:cNvGraphicFramePr>
            <a:graphicFrameLocks noGrp="1"/>
          </p:cNvGraphicFramePr>
          <p:nvPr/>
        </p:nvGraphicFramePr>
        <p:xfrm>
          <a:off x="706438" y="4424363"/>
          <a:ext cx="6546574" cy="2159000"/>
        </p:xfrm>
        <a:graphic>
          <a:graphicData uri="http://schemas.openxmlformats.org/drawingml/2006/table">
            <a:tbl>
              <a:tblPr firstRow="1" bandRow="1">
                <a:tableStyleId>{5C22544A-7EE6-4342-B048-85BDC9FD1C3A}</a:tableStyleId>
              </a:tblPr>
              <a:tblGrid>
                <a:gridCol w="3273287">
                  <a:extLst>
                    <a:ext uri="{9D8B030D-6E8A-4147-A177-3AD203B41FA5}">
                      <a16:colId xmlns:a16="http://schemas.microsoft.com/office/drawing/2014/main" val="20000"/>
                    </a:ext>
                  </a:extLst>
                </a:gridCol>
                <a:gridCol w="3273287">
                  <a:extLst>
                    <a:ext uri="{9D8B030D-6E8A-4147-A177-3AD203B41FA5}">
                      <a16:colId xmlns:a16="http://schemas.microsoft.com/office/drawing/2014/main" val="20001"/>
                    </a:ext>
                  </a:extLst>
                </a:gridCol>
              </a:tblGrid>
              <a:tr h="0">
                <a:tc>
                  <a:txBody>
                    <a:bodyPr/>
                    <a:lstStyle/>
                    <a:p>
                      <a:pPr algn="ctr">
                        <a:spcAft>
                          <a:spcPts val="0"/>
                        </a:spcAft>
                      </a:pPr>
                      <a:r>
                        <a:rPr lang="en-US" sz="2000" kern="100" dirty="0">
                          <a:latin typeface="Times New Roman" panose="02020603050405020304"/>
                          <a:ea typeface="宋体" panose="02010600030101010101" pitchFamily="2" charset="-122"/>
                          <a:cs typeface="Times New Roman" panose="02020603050405020304"/>
                        </a:rPr>
                        <a:t>MOV</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nchor="ctr"/>
                </a:tc>
                <a:tc>
                  <a:txBody>
                    <a:bodyPr/>
                    <a:lstStyle/>
                    <a:p>
                      <a:pPr algn="ctr">
                        <a:spcAft>
                          <a:spcPts val="0"/>
                        </a:spcAft>
                      </a:pPr>
                      <a:r>
                        <a:rPr lang="en-US" sz="2000" kern="100" dirty="0">
                          <a:latin typeface="Times New Roman" panose="02020603050405020304"/>
                          <a:ea typeface="宋体" panose="02010600030101010101" pitchFamily="2" charset="-122"/>
                          <a:cs typeface="Times New Roman" panose="02020603050405020304"/>
                        </a:rPr>
                        <a:t>AL</a:t>
                      </a:r>
                      <a:r>
                        <a:rPr lang="zh-CN" sz="2000" kern="100" dirty="0">
                          <a:latin typeface="Times New Roman" panose="02020603050405020304"/>
                          <a:ea typeface="宋体" panose="02010600030101010101" pitchFamily="2" charset="-122"/>
                          <a:cs typeface="Times New Roman" panose="02020603050405020304"/>
                        </a:rPr>
                        <a:t>，</a:t>
                      </a:r>
                      <a:r>
                        <a:rPr lang="en-US" sz="2000" kern="100" dirty="0">
                          <a:latin typeface="Times New Roman" panose="02020603050405020304"/>
                          <a:ea typeface="宋体" panose="02010600030101010101" pitchFamily="2" charset="-122"/>
                          <a:cs typeface="Times New Roman" panose="02020603050405020304"/>
                        </a:rPr>
                        <a:t>33H</a:t>
                      </a:r>
                      <a:r>
                        <a:rPr lang="zh-CN" sz="2000" kern="100" dirty="0">
                          <a:latin typeface="Times New Roman" panose="02020603050405020304"/>
                          <a:ea typeface="宋体" panose="02010600030101010101" pitchFamily="2" charset="-122"/>
                          <a:cs typeface="Times New Roman" panose="02020603050405020304"/>
                        </a:rPr>
                        <a:t>；</a:t>
                      </a:r>
                      <a:r>
                        <a:rPr lang="en-US" sz="2000" kern="100" dirty="0">
                          <a:latin typeface="Times New Roman" panose="02020603050405020304"/>
                          <a:ea typeface="宋体" panose="02010600030101010101" pitchFamily="2" charset="-122"/>
                          <a:cs typeface="Times New Roman" panose="02020603050405020304"/>
                        </a:rPr>
                        <a:t>0011</a:t>
                      </a:r>
                      <a:r>
                        <a:rPr lang="zh-CN" sz="2000" kern="100" dirty="0">
                          <a:latin typeface="Times New Roman" panose="02020603050405020304"/>
                          <a:ea typeface="宋体" panose="02010600030101010101" pitchFamily="2" charset="-122"/>
                          <a:cs typeface="Times New Roman" panose="02020603050405020304"/>
                        </a:rPr>
                        <a:t>　</a:t>
                      </a:r>
                      <a:r>
                        <a:rPr lang="en-US" sz="2000" kern="100" dirty="0">
                          <a:latin typeface="Times New Roman" panose="02020603050405020304"/>
                          <a:ea typeface="宋体" panose="02010600030101010101" pitchFamily="2" charset="-122"/>
                          <a:cs typeface="Times New Roman" panose="02020603050405020304"/>
                        </a:rPr>
                        <a:t>0011B</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nchor="ctr"/>
                </a:tc>
                <a:extLst>
                  <a:ext uri="{0D108BD9-81ED-4DB2-BD59-A6C34878D82A}">
                    <a16:rowId xmlns:a16="http://schemas.microsoft.com/office/drawing/2014/main" val="10000"/>
                  </a:ext>
                </a:extLst>
              </a:tr>
              <a:tr h="370840">
                <a:tc>
                  <a:txBody>
                    <a:bodyPr/>
                    <a:lstStyle/>
                    <a:p>
                      <a:pPr algn="ctr">
                        <a:spcAft>
                          <a:spcPts val="0"/>
                        </a:spcAft>
                      </a:pPr>
                      <a:r>
                        <a:rPr lang="en-US" sz="2000" kern="100" dirty="0">
                          <a:latin typeface="Times New Roman" panose="02020603050405020304"/>
                          <a:ea typeface="宋体" panose="02010600030101010101" pitchFamily="2" charset="-122"/>
                          <a:cs typeface="Times New Roman" panose="02020603050405020304"/>
                        </a:rPr>
                        <a:t>OUT</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nchor="ctr"/>
                </a:tc>
                <a:tc>
                  <a:txBody>
                    <a:bodyPr/>
                    <a:lstStyle/>
                    <a:p>
                      <a:pPr algn="ctr">
                        <a:spcAft>
                          <a:spcPts val="0"/>
                        </a:spcAft>
                      </a:pPr>
                      <a:r>
                        <a:rPr lang="en-US" sz="2000" kern="100" dirty="0">
                          <a:latin typeface="Times New Roman" panose="02020603050405020304"/>
                          <a:ea typeface="宋体" panose="02010600030101010101" pitchFamily="2" charset="-122"/>
                          <a:cs typeface="Times New Roman" panose="02020603050405020304"/>
                        </a:rPr>
                        <a:t>0FBH</a:t>
                      </a:r>
                      <a:r>
                        <a:rPr lang="zh-CN" sz="2000" kern="100" dirty="0">
                          <a:latin typeface="Times New Roman" panose="02020603050405020304"/>
                          <a:ea typeface="宋体" panose="02010600030101010101" pitchFamily="2" charset="-122"/>
                          <a:cs typeface="Times New Roman" panose="02020603050405020304"/>
                        </a:rPr>
                        <a:t>，</a:t>
                      </a:r>
                      <a:r>
                        <a:rPr lang="en-US" sz="2000" kern="100" dirty="0">
                          <a:latin typeface="Times New Roman" panose="02020603050405020304"/>
                          <a:ea typeface="宋体" panose="02010600030101010101" pitchFamily="2" charset="-122"/>
                          <a:cs typeface="Times New Roman" panose="02020603050405020304"/>
                        </a:rPr>
                        <a:t>AL</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nchor="ctr"/>
                </a:tc>
                <a:extLst>
                  <a:ext uri="{0D108BD9-81ED-4DB2-BD59-A6C34878D82A}">
                    <a16:rowId xmlns:a16="http://schemas.microsoft.com/office/drawing/2014/main" val="10001"/>
                  </a:ext>
                </a:extLst>
              </a:tr>
              <a:tr h="370840">
                <a:tc>
                  <a:txBody>
                    <a:bodyPr/>
                    <a:lstStyle/>
                    <a:p>
                      <a:pPr algn="ctr">
                        <a:spcAft>
                          <a:spcPts val="0"/>
                        </a:spcAft>
                      </a:pPr>
                      <a:r>
                        <a:rPr lang="en-US" sz="2000" kern="100" dirty="0">
                          <a:latin typeface="Times New Roman" panose="02020603050405020304"/>
                          <a:ea typeface="宋体" panose="02010600030101010101" pitchFamily="2" charset="-122"/>
                          <a:cs typeface="Times New Roman" panose="02020603050405020304"/>
                        </a:rPr>
                        <a:t>MOV</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nchor="ctr"/>
                </a:tc>
                <a:tc>
                  <a:txBody>
                    <a:bodyPr/>
                    <a:lstStyle/>
                    <a:p>
                      <a:pPr algn="ctr">
                        <a:spcAft>
                          <a:spcPts val="0"/>
                        </a:spcAft>
                      </a:pPr>
                      <a:r>
                        <a:rPr lang="en-US" sz="2000" kern="100" dirty="0">
                          <a:latin typeface="Times New Roman" panose="02020603050405020304"/>
                          <a:ea typeface="宋体" panose="02010600030101010101" pitchFamily="2" charset="-122"/>
                          <a:cs typeface="Times New Roman" panose="02020603050405020304"/>
                        </a:rPr>
                        <a:t>AL</a:t>
                      </a:r>
                      <a:r>
                        <a:rPr lang="zh-CN" sz="2000" kern="100" dirty="0">
                          <a:latin typeface="Times New Roman" panose="02020603050405020304"/>
                          <a:ea typeface="宋体" panose="02010600030101010101" pitchFamily="2" charset="-122"/>
                          <a:cs typeface="Times New Roman" panose="02020603050405020304"/>
                        </a:rPr>
                        <a:t>，</a:t>
                      </a:r>
                      <a:r>
                        <a:rPr lang="en-US" sz="2000" kern="100" dirty="0">
                          <a:latin typeface="Times New Roman" panose="02020603050405020304"/>
                          <a:ea typeface="宋体" panose="02010600030101010101" pitchFamily="2" charset="-122"/>
                          <a:cs typeface="Times New Roman" panose="02020603050405020304"/>
                        </a:rPr>
                        <a:t>80H</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nchor="ctr"/>
                </a:tc>
                <a:extLst>
                  <a:ext uri="{0D108BD9-81ED-4DB2-BD59-A6C34878D82A}">
                    <a16:rowId xmlns:a16="http://schemas.microsoft.com/office/drawing/2014/main" val="10002"/>
                  </a:ext>
                </a:extLst>
              </a:tr>
              <a:tr h="370840">
                <a:tc>
                  <a:txBody>
                    <a:bodyPr/>
                    <a:lstStyle/>
                    <a:p>
                      <a:pPr algn="ctr">
                        <a:spcAft>
                          <a:spcPts val="0"/>
                        </a:spcAft>
                      </a:pPr>
                      <a:r>
                        <a:rPr lang="en-US" sz="2000" kern="100" dirty="0">
                          <a:latin typeface="Times New Roman" panose="02020603050405020304"/>
                          <a:ea typeface="宋体" panose="02010600030101010101" pitchFamily="2" charset="-122"/>
                          <a:cs typeface="Times New Roman" panose="02020603050405020304"/>
                        </a:rPr>
                        <a:t>OUT</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nchor="ctr"/>
                </a:tc>
                <a:tc>
                  <a:txBody>
                    <a:bodyPr/>
                    <a:lstStyle/>
                    <a:p>
                      <a:pPr algn="ctr">
                        <a:spcAft>
                          <a:spcPts val="0"/>
                        </a:spcAft>
                      </a:pPr>
                      <a:r>
                        <a:rPr lang="en-US" sz="2000" kern="100" dirty="0">
                          <a:latin typeface="Times New Roman" panose="02020603050405020304"/>
                          <a:ea typeface="宋体" panose="02010600030101010101" pitchFamily="2" charset="-122"/>
                          <a:cs typeface="Times New Roman" panose="02020603050405020304"/>
                        </a:rPr>
                        <a:t>0F8H</a:t>
                      </a:r>
                      <a:r>
                        <a:rPr lang="zh-CN" sz="2000" kern="100" dirty="0">
                          <a:latin typeface="Times New Roman" panose="02020603050405020304"/>
                          <a:ea typeface="宋体" panose="02010600030101010101" pitchFamily="2" charset="-122"/>
                          <a:cs typeface="Times New Roman" panose="02020603050405020304"/>
                        </a:rPr>
                        <a:t>，</a:t>
                      </a:r>
                      <a:r>
                        <a:rPr lang="en-US" sz="2000" kern="100" dirty="0">
                          <a:latin typeface="Times New Roman" panose="02020603050405020304"/>
                          <a:ea typeface="宋体" panose="02010600030101010101" pitchFamily="2" charset="-122"/>
                          <a:cs typeface="Times New Roman" panose="02020603050405020304"/>
                        </a:rPr>
                        <a:t>AL</a:t>
                      </a:r>
                      <a:r>
                        <a:rPr lang="zh-CN" sz="2000" kern="100" dirty="0">
                          <a:latin typeface="Times New Roman" panose="02020603050405020304"/>
                          <a:ea typeface="宋体" panose="02010600030101010101" pitchFamily="2" charset="-122"/>
                          <a:cs typeface="Times New Roman" panose="02020603050405020304"/>
                        </a:rPr>
                        <a:t>；先送低八位</a:t>
                      </a:r>
                    </a:p>
                  </a:txBody>
                  <a:tcPr marL="68580" marR="68580" marT="0" marB="0" anchor="ctr"/>
                </a:tc>
                <a:extLst>
                  <a:ext uri="{0D108BD9-81ED-4DB2-BD59-A6C34878D82A}">
                    <a16:rowId xmlns:a16="http://schemas.microsoft.com/office/drawing/2014/main" val="10003"/>
                  </a:ext>
                </a:extLst>
              </a:tr>
              <a:tr h="370840">
                <a:tc>
                  <a:txBody>
                    <a:bodyPr/>
                    <a:lstStyle/>
                    <a:p>
                      <a:pPr algn="ctr">
                        <a:spcAft>
                          <a:spcPts val="0"/>
                        </a:spcAft>
                      </a:pPr>
                      <a:r>
                        <a:rPr lang="en-US" sz="2000" kern="100" dirty="0">
                          <a:latin typeface="Times New Roman" panose="02020603050405020304"/>
                          <a:ea typeface="宋体" panose="02010600030101010101" pitchFamily="2" charset="-122"/>
                          <a:cs typeface="Times New Roman" panose="02020603050405020304"/>
                        </a:rPr>
                        <a:t>MOV</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nchor="ctr"/>
                </a:tc>
                <a:tc>
                  <a:txBody>
                    <a:bodyPr/>
                    <a:lstStyle/>
                    <a:p>
                      <a:pPr algn="ctr">
                        <a:spcAft>
                          <a:spcPts val="0"/>
                        </a:spcAft>
                      </a:pPr>
                      <a:r>
                        <a:rPr lang="en-US" sz="2000" kern="100" dirty="0">
                          <a:latin typeface="Times New Roman" panose="02020603050405020304"/>
                          <a:ea typeface="宋体" panose="02010600030101010101" pitchFamily="2" charset="-122"/>
                          <a:cs typeface="Times New Roman" panose="02020603050405020304"/>
                        </a:rPr>
                        <a:t>AL</a:t>
                      </a:r>
                      <a:r>
                        <a:rPr lang="zh-CN" sz="2000" kern="100">
                          <a:latin typeface="Times New Roman" panose="02020603050405020304"/>
                          <a:ea typeface="宋体" panose="02010600030101010101" pitchFamily="2" charset="-122"/>
                          <a:cs typeface="Times New Roman" panose="02020603050405020304"/>
                        </a:rPr>
                        <a:t>，</a:t>
                      </a:r>
                      <a:r>
                        <a:rPr lang="en-US" sz="2000" kern="100" dirty="0">
                          <a:latin typeface="Times New Roman" panose="02020603050405020304"/>
                          <a:ea typeface="宋体" panose="02010600030101010101" pitchFamily="2" charset="-122"/>
                          <a:cs typeface="Times New Roman" panose="02020603050405020304"/>
                        </a:rPr>
                        <a:t>50H</a:t>
                      </a:r>
                      <a:endParaRPr lang="zh-CN" sz="2000" kern="100">
                        <a:latin typeface="Times New Roman" panose="02020603050405020304"/>
                        <a:ea typeface="宋体" panose="02010600030101010101" pitchFamily="2" charset="-122"/>
                        <a:cs typeface="Times New Roman" panose="02020603050405020304"/>
                      </a:endParaRPr>
                    </a:p>
                  </a:txBody>
                  <a:tcPr marL="68580" marR="68580" marT="0" marB="0" anchor="ctr"/>
                </a:tc>
                <a:extLst>
                  <a:ext uri="{0D108BD9-81ED-4DB2-BD59-A6C34878D82A}">
                    <a16:rowId xmlns:a16="http://schemas.microsoft.com/office/drawing/2014/main" val="10004"/>
                  </a:ext>
                </a:extLst>
              </a:tr>
              <a:tr h="370840">
                <a:tc>
                  <a:txBody>
                    <a:bodyPr/>
                    <a:lstStyle/>
                    <a:p>
                      <a:pPr algn="ctr">
                        <a:spcAft>
                          <a:spcPts val="0"/>
                        </a:spcAft>
                      </a:pPr>
                      <a:r>
                        <a:rPr lang="en-US" sz="2000" kern="100" dirty="0">
                          <a:latin typeface="Times New Roman" panose="02020603050405020304"/>
                          <a:ea typeface="宋体" panose="02010600030101010101" pitchFamily="2" charset="-122"/>
                          <a:cs typeface="Times New Roman" panose="02020603050405020304"/>
                        </a:rPr>
                        <a:t>OUT</a:t>
                      </a:r>
                      <a:endParaRPr lang="zh-CN" sz="2000" kern="100">
                        <a:latin typeface="Times New Roman" panose="02020603050405020304"/>
                        <a:ea typeface="宋体" panose="02010600030101010101" pitchFamily="2" charset="-122"/>
                        <a:cs typeface="Times New Roman" panose="02020603050405020304"/>
                      </a:endParaRPr>
                    </a:p>
                  </a:txBody>
                  <a:tcPr marL="68580" marR="68580" marT="0" marB="0" anchor="ctr"/>
                </a:tc>
                <a:tc>
                  <a:txBody>
                    <a:bodyPr/>
                    <a:lstStyle/>
                    <a:p>
                      <a:pPr algn="ctr">
                        <a:spcAft>
                          <a:spcPts val="0"/>
                        </a:spcAft>
                      </a:pPr>
                      <a:r>
                        <a:rPr lang="en-US" sz="2000" kern="100" dirty="0">
                          <a:latin typeface="Times New Roman" panose="02020603050405020304"/>
                          <a:ea typeface="宋体" panose="02010600030101010101" pitchFamily="2" charset="-122"/>
                          <a:cs typeface="Times New Roman" panose="02020603050405020304"/>
                        </a:rPr>
                        <a:t>0F8H</a:t>
                      </a:r>
                      <a:r>
                        <a:rPr lang="zh-CN" sz="2000" kern="100" dirty="0">
                          <a:latin typeface="Times New Roman" panose="02020603050405020304"/>
                          <a:ea typeface="宋体" panose="02010600030101010101" pitchFamily="2" charset="-122"/>
                          <a:cs typeface="Times New Roman" panose="02020603050405020304"/>
                        </a:rPr>
                        <a:t>，</a:t>
                      </a:r>
                      <a:r>
                        <a:rPr lang="en-US" sz="2000" kern="100" dirty="0">
                          <a:latin typeface="Times New Roman" panose="02020603050405020304"/>
                          <a:ea typeface="宋体" panose="02010600030101010101" pitchFamily="2" charset="-122"/>
                          <a:cs typeface="Times New Roman" panose="02020603050405020304"/>
                        </a:rPr>
                        <a:t>AL</a:t>
                      </a:r>
                      <a:r>
                        <a:rPr lang="zh-CN" sz="2000" kern="100" dirty="0">
                          <a:latin typeface="Times New Roman" panose="02020603050405020304"/>
                          <a:ea typeface="宋体" panose="02010600030101010101" pitchFamily="2" charset="-122"/>
                          <a:cs typeface="Times New Roman" panose="02020603050405020304"/>
                        </a:rPr>
                        <a:t>；再送高八位</a:t>
                      </a:r>
                    </a:p>
                  </a:txBody>
                  <a:tcPr marL="68580" marR="68580" marT="0" marB="0" anchor="ctr"/>
                </a:tc>
                <a:extLst>
                  <a:ext uri="{0D108BD9-81ED-4DB2-BD59-A6C34878D82A}">
                    <a16:rowId xmlns:a16="http://schemas.microsoft.com/office/drawing/2014/main" val="10005"/>
                  </a:ext>
                </a:extLst>
              </a:tr>
            </a:tbl>
          </a:graphicData>
        </a:graphic>
      </p:graphicFrame>
    </p:spTree>
  </p:cSld>
  <p:clrMapOvr>
    <a:masterClrMapping/>
  </p:clrMapOvr>
  <p:transition spd="med">
    <p:random/>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dirty="0">
                <a:ln>
                  <a:noFill/>
                </a:ln>
                <a:solidFill>
                  <a:schemeClr val="accent2"/>
                </a:solidFill>
                <a:effectLst>
                  <a:outerShdw blurRad="38100" dist="38100" dir="2700000" algn="tl">
                    <a:srgbClr val="000000"/>
                  </a:outerShdw>
                </a:effectLst>
                <a:uLnTx/>
                <a:uFillTx/>
                <a:latin typeface="+mj-lt"/>
                <a:ea typeface="+mj-ea"/>
                <a:cs typeface="+mj-cs"/>
              </a:rPr>
              <a:t>例 题 赏 析</a:t>
            </a:r>
            <a:endParaRPr kumimoji="1" lang="zh-CN" altLang="en-US" sz="4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24578" name="内容占位符 2"/>
          <p:cNvSpPr>
            <a:spLocks noGrp="1"/>
          </p:cNvSpPr>
          <p:nvPr>
            <p:ph idx="1"/>
          </p:nvPr>
        </p:nvSpPr>
        <p:spPr>
          <a:xfrm>
            <a:off x="577850" y="1387475"/>
            <a:ext cx="8197850" cy="5321300"/>
          </a:xfrm>
          <a:ln/>
        </p:spPr>
        <p:txBody>
          <a:bodyPr wrap="square" lIns="92075" tIns="46038" rIns="92075" bIns="46038" anchor="t" anchorCtr="0"/>
          <a:lstStyle/>
          <a:p>
            <a:pPr>
              <a:buNone/>
            </a:pPr>
            <a:r>
              <a:rPr lang="en-US" altLang="zh-CN" i="1" dirty="0">
                <a:solidFill>
                  <a:srgbClr val="FFFF00"/>
                </a:solidFill>
              </a:rPr>
              <a:t>【</a:t>
            </a:r>
            <a:r>
              <a:rPr lang="zh-CN" altLang="en-US" i="1" dirty="0">
                <a:solidFill>
                  <a:srgbClr val="FFFF00"/>
                </a:solidFill>
              </a:rPr>
              <a:t>例题</a:t>
            </a:r>
            <a:r>
              <a:rPr lang="en-US" altLang="zh-CN" i="1" dirty="0">
                <a:solidFill>
                  <a:srgbClr val="FFFF00"/>
                </a:solidFill>
              </a:rPr>
              <a:t>8.3】:</a:t>
            </a:r>
          </a:p>
          <a:p>
            <a:pPr>
              <a:buNone/>
            </a:pPr>
            <a:r>
              <a:rPr lang="en-US" altLang="zh-CN" i="1" dirty="0">
                <a:solidFill>
                  <a:srgbClr val="FFFF00"/>
                </a:solidFill>
              </a:rPr>
              <a:t>           </a:t>
            </a:r>
            <a:r>
              <a:rPr lang="zh-CN" altLang="en-US" sz="2400" dirty="0"/>
              <a:t>设</a:t>
            </a:r>
            <a:r>
              <a:rPr lang="en-US" altLang="zh-CN" sz="2400" dirty="0"/>
              <a:t>8253</a:t>
            </a:r>
            <a:r>
              <a:rPr lang="zh-CN" altLang="en-US" sz="2400" dirty="0"/>
              <a:t>的端口地址为：</a:t>
            </a:r>
            <a:r>
              <a:rPr lang="en-US" altLang="zh-CN" sz="2400" dirty="0"/>
              <a:t>04H</a:t>
            </a:r>
            <a:r>
              <a:rPr lang="zh-CN" altLang="en-US" sz="2400" dirty="0"/>
              <a:t>～</a:t>
            </a:r>
            <a:r>
              <a:rPr lang="en-US" altLang="zh-CN" sz="2400" dirty="0"/>
              <a:t>07H</a:t>
            </a:r>
            <a:r>
              <a:rPr lang="zh-CN" altLang="en-US" sz="2400" dirty="0"/>
              <a:t>，若用通道</a:t>
            </a:r>
            <a:r>
              <a:rPr lang="en-US" altLang="zh-CN" sz="2400" dirty="0"/>
              <a:t>2</a:t>
            </a:r>
            <a:r>
              <a:rPr lang="zh-CN" altLang="en-US" sz="2400" dirty="0"/>
              <a:t>工作在方式</a:t>
            </a:r>
            <a:r>
              <a:rPr lang="en-US" altLang="zh-CN" sz="2400" dirty="0"/>
              <a:t>2</a:t>
            </a:r>
            <a:r>
              <a:rPr lang="zh-CN" altLang="en-US" sz="2400" dirty="0"/>
              <a:t>，按二进制计数，计数值为</a:t>
            </a:r>
            <a:r>
              <a:rPr lang="en-US" altLang="zh-CN" sz="2400" dirty="0"/>
              <a:t>02F0H</a:t>
            </a:r>
            <a:r>
              <a:rPr lang="zh-CN" altLang="en-US" sz="2400" dirty="0"/>
              <a:t>，进行初始化编程。</a:t>
            </a:r>
          </a:p>
          <a:p>
            <a:pPr>
              <a:buNone/>
            </a:pPr>
            <a:r>
              <a:rPr lang="zh-CN" altLang="en-US" sz="2400" dirty="0"/>
              <a:t>              控制字：</a:t>
            </a:r>
          </a:p>
          <a:p>
            <a:pPr>
              <a:buNone/>
            </a:pPr>
            <a:r>
              <a:rPr lang="zh-CN" altLang="en-US" sz="2400" dirty="0"/>
              <a:t>    初始化编程：</a:t>
            </a:r>
          </a:p>
          <a:p>
            <a:pPr>
              <a:buNone/>
            </a:pPr>
            <a:endParaRPr lang="zh-CN" altLang="en-US" dirty="0"/>
          </a:p>
        </p:txBody>
      </p:sp>
      <p:graphicFrame>
        <p:nvGraphicFramePr>
          <p:cNvPr id="4" name="表格 3"/>
          <p:cNvGraphicFramePr>
            <a:graphicFrameLocks noGrp="1"/>
          </p:cNvGraphicFramePr>
          <p:nvPr/>
        </p:nvGraphicFramePr>
        <p:xfrm>
          <a:off x="1395413" y="4348163"/>
          <a:ext cx="6536635" cy="22250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488635">
                  <a:extLst>
                    <a:ext uri="{9D8B030D-6E8A-4147-A177-3AD203B41FA5}">
                      <a16:colId xmlns:a16="http://schemas.microsoft.com/office/drawing/2014/main" val="20001"/>
                    </a:ext>
                  </a:extLst>
                </a:gridCol>
              </a:tblGrid>
              <a:tr h="370840">
                <a:tc>
                  <a:txBody>
                    <a:bodyPr/>
                    <a:lstStyle/>
                    <a:p>
                      <a:pPr algn="ctr">
                        <a:spcAft>
                          <a:spcPts val="0"/>
                        </a:spcAft>
                      </a:pPr>
                      <a:r>
                        <a:rPr lang="en-US" sz="2000" kern="100" dirty="0">
                          <a:solidFill>
                            <a:schemeClr val="bg2"/>
                          </a:solidFill>
                          <a:latin typeface="Times New Roman" panose="02020603050405020304"/>
                          <a:ea typeface="宋体" panose="02010600030101010101" pitchFamily="2" charset="-122"/>
                          <a:cs typeface="Times New Roman" panose="02020603050405020304"/>
                        </a:rPr>
                        <a:t>MOV</a:t>
                      </a:r>
                      <a:endParaRPr lang="zh-CN" sz="2000" kern="100" dirty="0">
                        <a:solidFill>
                          <a:schemeClr val="bg2"/>
                        </a:solidFill>
                        <a:latin typeface="Times New Roman" panose="02020603050405020304"/>
                        <a:ea typeface="宋体" panose="02010600030101010101" pitchFamily="2" charset="-122"/>
                        <a:cs typeface="Times New Roman" panose="02020603050405020304"/>
                      </a:endParaRPr>
                    </a:p>
                  </a:txBody>
                  <a:tcPr marL="68580" marR="68580" marT="0" marB="0" anchor="ctr">
                    <a:solidFill>
                      <a:schemeClr val="accent2"/>
                    </a:solidFill>
                  </a:tcPr>
                </a:tc>
                <a:tc>
                  <a:txBody>
                    <a:bodyPr/>
                    <a:lstStyle/>
                    <a:p>
                      <a:pPr algn="ctr">
                        <a:spcAft>
                          <a:spcPts val="0"/>
                        </a:spcAft>
                      </a:pPr>
                      <a:r>
                        <a:rPr lang="en-US" sz="2000" kern="100" dirty="0">
                          <a:solidFill>
                            <a:schemeClr val="bg2"/>
                          </a:solidFill>
                          <a:latin typeface="Times New Roman" panose="02020603050405020304"/>
                          <a:ea typeface="宋体" panose="02010600030101010101" pitchFamily="2" charset="-122"/>
                          <a:cs typeface="Times New Roman" panose="02020603050405020304"/>
                        </a:rPr>
                        <a:t>AL</a:t>
                      </a:r>
                      <a:r>
                        <a:rPr lang="zh-CN" sz="2000" kern="100" dirty="0">
                          <a:solidFill>
                            <a:schemeClr val="bg2"/>
                          </a:solidFill>
                          <a:latin typeface="Times New Roman" panose="02020603050405020304"/>
                          <a:ea typeface="宋体" panose="02010600030101010101" pitchFamily="2" charset="-122"/>
                          <a:cs typeface="Times New Roman" panose="02020603050405020304"/>
                        </a:rPr>
                        <a:t>，</a:t>
                      </a:r>
                      <a:r>
                        <a:rPr lang="en-US" sz="2000" kern="100" dirty="0">
                          <a:solidFill>
                            <a:schemeClr val="bg2"/>
                          </a:solidFill>
                          <a:latin typeface="Times New Roman" panose="02020603050405020304"/>
                          <a:ea typeface="宋体" panose="02010600030101010101" pitchFamily="2" charset="-122"/>
                          <a:cs typeface="Times New Roman" panose="02020603050405020304"/>
                        </a:rPr>
                        <a:t>0B4H</a:t>
                      </a:r>
                      <a:r>
                        <a:rPr lang="zh-CN" sz="2000" kern="100" dirty="0">
                          <a:solidFill>
                            <a:schemeClr val="bg2"/>
                          </a:solidFill>
                          <a:latin typeface="Times New Roman" panose="02020603050405020304"/>
                          <a:ea typeface="宋体" panose="02010600030101010101" pitchFamily="2" charset="-122"/>
                          <a:cs typeface="Times New Roman" panose="02020603050405020304"/>
                        </a:rPr>
                        <a:t>；</a:t>
                      </a:r>
                      <a:r>
                        <a:rPr lang="en-US" sz="2000" kern="100" dirty="0">
                          <a:solidFill>
                            <a:schemeClr val="bg2"/>
                          </a:solidFill>
                          <a:latin typeface="Times New Roman" panose="02020603050405020304"/>
                          <a:ea typeface="宋体" panose="02010600030101010101" pitchFamily="2" charset="-122"/>
                          <a:cs typeface="Times New Roman" panose="02020603050405020304"/>
                        </a:rPr>
                        <a:t>1011</a:t>
                      </a:r>
                      <a:r>
                        <a:rPr lang="zh-CN" sz="2000" kern="100" dirty="0">
                          <a:solidFill>
                            <a:schemeClr val="bg2"/>
                          </a:solidFill>
                          <a:latin typeface="Times New Roman" panose="02020603050405020304"/>
                          <a:ea typeface="宋体" panose="02010600030101010101" pitchFamily="2" charset="-122"/>
                          <a:cs typeface="Times New Roman" panose="02020603050405020304"/>
                        </a:rPr>
                        <a:t>　</a:t>
                      </a:r>
                      <a:r>
                        <a:rPr lang="en-US" sz="2000" kern="100" dirty="0">
                          <a:solidFill>
                            <a:schemeClr val="bg2"/>
                          </a:solidFill>
                          <a:latin typeface="Times New Roman" panose="02020603050405020304"/>
                          <a:ea typeface="宋体" panose="02010600030101010101" pitchFamily="2" charset="-122"/>
                          <a:cs typeface="Times New Roman" panose="02020603050405020304"/>
                        </a:rPr>
                        <a:t>0100B</a:t>
                      </a:r>
                      <a:endParaRPr lang="zh-CN" sz="2000" kern="100" dirty="0">
                        <a:solidFill>
                          <a:schemeClr val="bg2"/>
                        </a:solidFill>
                        <a:latin typeface="Times New Roman" panose="02020603050405020304"/>
                        <a:ea typeface="宋体" panose="02010600030101010101" pitchFamily="2" charset="-122"/>
                        <a:cs typeface="Times New Roman" panose="02020603050405020304"/>
                      </a:endParaRPr>
                    </a:p>
                  </a:txBody>
                  <a:tcPr marL="68580" marR="68580" marT="0" marB="0" anchor="ctr">
                    <a:solidFill>
                      <a:schemeClr val="accent2"/>
                    </a:solidFill>
                  </a:tcPr>
                </a:tc>
                <a:extLst>
                  <a:ext uri="{0D108BD9-81ED-4DB2-BD59-A6C34878D82A}">
                    <a16:rowId xmlns:a16="http://schemas.microsoft.com/office/drawing/2014/main" val="10000"/>
                  </a:ext>
                </a:extLst>
              </a:tr>
              <a:tr h="370840">
                <a:tc>
                  <a:txBody>
                    <a:bodyPr/>
                    <a:lstStyle/>
                    <a:p>
                      <a:pPr algn="ctr">
                        <a:spcAft>
                          <a:spcPts val="0"/>
                        </a:spcAft>
                      </a:pPr>
                      <a:r>
                        <a:rPr lang="en-US" sz="2000" kern="100" dirty="0">
                          <a:latin typeface="Times New Roman" panose="02020603050405020304"/>
                          <a:ea typeface="宋体" panose="02010600030101010101" pitchFamily="2" charset="-122"/>
                          <a:cs typeface="Times New Roman" panose="02020603050405020304"/>
                        </a:rPr>
                        <a:t>OUT</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nchor="ctr">
                    <a:solidFill>
                      <a:schemeClr val="accent2"/>
                    </a:solidFill>
                  </a:tcPr>
                </a:tc>
                <a:tc>
                  <a:txBody>
                    <a:bodyPr/>
                    <a:lstStyle/>
                    <a:p>
                      <a:pPr algn="ctr">
                        <a:spcAft>
                          <a:spcPts val="0"/>
                        </a:spcAft>
                      </a:pPr>
                      <a:r>
                        <a:rPr lang="en-US" sz="2000" kern="100" dirty="0">
                          <a:latin typeface="Times New Roman" panose="02020603050405020304"/>
                          <a:ea typeface="宋体" panose="02010600030101010101" pitchFamily="2" charset="-122"/>
                          <a:cs typeface="Times New Roman" panose="02020603050405020304"/>
                        </a:rPr>
                        <a:t>07H</a:t>
                      </a:r>
                      <a:r>
                        <a:rPr lang="zh-CN" sz="2000" kern="100" dirty="0">
                          <a:latin typeface="Times New Roman" panose="02020603050405020304"/>
                          <a:ea typeface="宋体" panose="02010600030101010101" pitchFamily="2" charset="-122"/>
                          <a:cs typeface="Times New Roman" panose="02020603050405020304"/>
                        </a:rPr>
                        <a:t>，</a:t>
                      </a:r>
                      <a:r>
                        <a:rPr lang="en-US" sz="2000" kern="100" dirty="0">
                          <a:latin typeface="Times New Roman" panose="02020603050405020304"/>
                          <a:ea typeface="宋体" panose="02010600030101010101" pitchFamily="2" charset="-122"/>
                          <a:cs typeface="Times New Roman" panose="02020603050405020304"/>
                        </a:rPr>
                        <a:t>AL</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nchor="ctr">
                    <a:solidFill>
                      <a:schemeClr val="accent2"/>
                    </a:solidFill>
                  </a:tcPr>
                </a:tc>
                <a:extLst>
                  <a:ext uri="{0D108BD9-81ED-4DB2-BD59-A6C34878D82A}">
                    <a16:rowId xmlns:a16="http://schemas.microsoft.com/office/drawing/2014/main" val="10001"/>
                  </a:ext>
                </a:extLst>
              </a:tr>
              <a:tr h="370840">
                <a:tc>
                  <a:txBody>
                    <a:bodyPr/>
                    <a:lstStyle/>
                    <a:p>
                      <a:pPr algn="ctr">
                        <a:spcAft>
                          <a:spcPts val="0"/>
                        </a:spcAft>
                      </a:pPr>
                      <a:r>
                        <a:rPr lang="en-US" sz="2000" kern="100" dirty="0">
                          <a:latin typeface="Times New Roman" panose="02020603050405020304"/>
                          <a:ea typeface="宋体" panose="02010600030101010101" pitchFamily="2" charset="-122"/>
                          <a:cs typeface="Times New Roman" panose="02020603050405020304"/>
                        </a:rPr>
                        <a:t>MOV</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nchor="ctr">
                    <a:solidFill>
                      <a:schemeClr val="accent2"/>
                    </a:solidFill>
                  </a:tcPr>
                </a:tc>
                <a:tc>
                  <a:txBody>
                    <a:bodyPr/>
                    <a:lstStyle/>
                    <a:p>
                      <a:pPr algn="ctr">
                        <a:spcAft>
                          <a:spcPts val="0"/>
                        </a:spcAft>
                      </a:pPr>
                      <a:r>
                        <a:rPr lang="en-US" sz="2000" kern="100" dirty="0">
                          <a:latin typeface="Times New Roman" panose="02020603050405020304"/>
                          <a:ea typeface="宋体" panose="02010600030101010101" pitchFamily="2" charset="-122"/>
                          <a:cs typeface="Times New Roman" panose="02020603050405020304"/>
                        </a:rPr>
                        <a:t>AL</a:t>
                      </a:r>
                      <a:r>
                        <a:rPr lang="zh-CN" sz="2000" kern="100" dirty="0">
                          <a:latin typeface="Times New Roman" panose="02020603050405020304"/>
                          <a:ea typeface="宋体" panose="02010600030101010101" pitchFamily="2" charset="-122"/>
                          <a:cs typeface="Times New Roman" panose="02020603050405020304"/>
                        </a:rPr>
                        <a:t>，</a:t>
                      </a:r>
                      <a:r>
                        <a:rPr lang="en-US" sz="2000" kern="100" dirty="0">
                          <a:latin typeface="Times New Roman" panose="02020603050405020304"/>
                          <a:ea typeface="宋体" panose="02010600030101010101" pitchFamily="2" charset="-122"/>
                          <a:cs typeface="Times New Roman" panose="02020603050405020304"/>
                        </a:rPr>
                        <a:t>0F0H</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nchor="ctr">
                    <a:solidFill>
                      <a:schemeClr val="accent2"/>
                    </a:solidFill>
                  </a:tcPr>
                </a:tc>
                <a:extLst>
                  <a:ext uri="{0D108BD9-81ED-4DB2-BD59-A6C34878D82A}">
                    <a16:rowId xmlns:a16="http://schemas.microsoft.com/office/drawing/2014/main" val="10002"/>
                  </a:ext>
                </a:extLst>
              </a:tr>
              <a:tr h="370840">
                <a:tc>
                  <a:txBody>
                    <a:bodyPr/>
                    <a:lstStyle/>
                    <a:p>
                      <a:pPr algn="ctr">
                        <a:spcAft>
                          <a:spcPts val="0"/>
                        </a:spcAft>
                      </a:pPr>
                      <a:r>
                        <a:rPr lang="en-US" sz="2000" kern="100" dirty="0">
                          <a:latin typeface="Times New Roman" panose="02020603050405020304"/>
                          <a:ea typeface="宋体" panose="02010600030101010101" pitchFamily="2" charset="-122"/>
                          <a:cs typeface="Times New Roman" panose="02020603050405020304"/>
                        </a:rPr>
                        <a:t>OUT</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nchor="ctr">
                    <a:solidFill>
                      <a:schemeClr val="accent2"/>
                    </a:solidFill>
                  </a:tcPr>
                </a:tc>
                <a:tc>
                  <a:txBody>
                    <a:bodyPr/>
                    <a:lstStyle/>
                    <a:p>
                      <a:pPr algn="ctr">
                        <a:spcAft>
                          <a:spcPts val="0"/>
                        </a:spcAft>
                      </a:pPr>
                      <a:r>
                        <a:rPr lang="en-US" sz="2000" kern="100" dirty="0">
                          <a:latin typeface="Times New Roman" panose="02020603050405020304"/>
                          <a:ea typeface="宋体" panose="02010600030101010101" pitchFamily="2" charset="-122"/>
                          <a:cs typeface="Times New Roman" panose="02020603050405020304"/>
                        </a:rPr>
                        <a:t>06H</a:t>
                      </a:r>
                      <a:r>
                        <a:rPr lang="zh-CN" sz="2000" kern="100" dirty="0">
                          <a:latin typeface="Times New Roman" panose="02020603050405020304"/>
                          <a:ea typeface="宋体" panose="02010600030101010101" pitchFamily="2" charset="-122"/>
                          <a:cs typeface="Times New Roman" panose="02020603050405020304"/>
                        </a:rPr>
                        <a:t>，</a:t>
                      </a:r>
                      <a:r>
                        <a:rPr lang="en-US" sz="2000" kern="100" dirty="0">
                          <a:latin typeface="Times New Roman" panose="02020603050405020304"/>
                          <a:ea typeface="宋体" panose="02010600030101010101" pitchFamily="2" charset="-122"/>
                          <a:cs typeface="Times New Roman" panose="02020603050405020304"/>
                        </a:rPr>
                        <a:t>AL</a:t>
                      </a:r>
                      <a:r>
                        <a:rPr lang="zh-CN" sz="2000" kern="100" dirty="0">
                          <a:latin typeface="Times New Roman" panose="02020603050405020304"/>
                          <a:ea typeface="宋体" panose="02010600030101010101" pitchFamily="2" charset="-122"/>
                          <a:cs typeface="Times New Roman" panose="02020603050405020304"/>
                        </a:rPr>
                        <a:t>；先送低八位</a:t>
                      </a:r>
                    </a:p>
                  </a:txBody>
                  <a:tcPr marL="68580" marR="68580" marT="0" marB="0" anchor="ctr">
                    <a:solidFill>
                      <a:schemeClr val="accent2"/>
                    </a:solidFill>
                  </a:tcPr>
                </a:tc>
                <a:extLst>
                  <a:ext uri="{0D108BD9-81ED-4DB2-BD59-A6C34878D82A}">
                    <a16:rowId xmlns:a16="http://schemas.microsoft.com/office/drawing/2014/main" val="10003"/>
                  </a:ext>
                </a:extLst>
              </a:tr>
              <a:tr h="370840">
                <a:tc>
                  <a:txBody>
                    <a:bodyPr/>
                    <a:lstStyle/>
                    <a:p>
                      <a:pPr algn="ctr">
                        <a:spcAft>
                          <a:spcPts val="0"/>
                        </a:spcAft>
                      </a:pPr>
                      <a:r>
                        <a:rPr lang="en-US" sz="2000" kern="100" dirty="0">
                          <a:latin typeface="Times New Roman" panose="02020603050405020304"/>
                          <a:ea typeface="宋体" panose="02010600030101010101" pitchFamily="2" charset="-122"/>
                          <a:cs typeface="Times New Roman" panose="02020603050405020304"/>
                        </a:rPr>
                        <a:t>MOV</a:t>
                      </a:r>
                      <a:endParaRPr lang="zh-CN" sz="2000" kern="100">
                        <a:latin typeface="Times New Roman" panose="02020603050405020304"/>
                        <a:ea typeface="宋体" panose="02010600030101010101" pitchFamily="2" charset="-122"/>
                        <a:cs typeface="Times New Roman" panose="02020603050405020304"/>
                      </a:endParaRPr>
                    </a:p>
                  </a:txBody>
                  <a:tcPr marL="68580" marR="68580" marT="0" marB="0" anchor="ctr">
                    <a:solidFill>
                      <a:schemeClr val="accent2"/>
                    </a:solidFill>
                  </a:tcPr>
                </a:tc>
                <a:tc>
                  <a:txBody>
                    <a:bodyPr/>
                    <a:lstStyle/>
                    <a:p>
                      <a:pPr algn="ctr">
                        <a:spcAft>
                          <a:spcPts val="0"/>
                        </a:spcAft>
                      </a:pPr>
                      <a:r>
                        <a:rPr lang="en-US" sz="2000" kern="100" dirty="0">
                          <a:latin typeface="Times New Roman" panose="02020603050405020304"/>
                          <a:ea typeface="宋体" panose="02010600030101010101" pitchFamily="2" charset="-122"/>
                          <a:cs typeface="Times New Roman" panose="02020603050405020304"/>
                        </a:rPr>
                        <a:t>AL</a:t>
                      </a:r>
                      <a:r>
                        <a:rPr lang="zh-CN" sz="2000" kern="100" dirty="0">
                          <a:latin typeface="Times New Roman" panose="02020603050405020304"/>
                          <a:ea typeface="宋体" panose="02010600030101010101" pitchFamily="2" charset="-122"/>
                          <a:cs typeface="Times New Roman" panose="02020603050405020304"/>
                        </a:rPr>
                        <a:t>，</a:t>
                      </a:r>
                      <a:r>
                        <a:rPr lang="en-US" sz="2000" kern="100" dirty="0">
                          <a:latin typeface="Times New Roman" panose="02020603050405020304"/>
                          <a:ea typeface="宋体" panose="02010600030101010101" pitchFamily="2" charset="-122"/>
                          <a:cs typeface="Times New Roman" panose="02020603050405020304"/>
                        </a:rPr>
                        <a:t>02H</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nchor="ctr">
                    <a:solidFill>
                      <a:schemeClr val="accent2"/>
                    </a:solidFill>
                  </a:tcPr>
                </a:tc>
                <a:extLst>
                  <a:ext uri="{0D108BD9-81ED-4DB2-BD59-A6C34878D82A}">
                    <a16:rowId xmlns:a16="http://schemas.microsoft.com/office/drawing/2014/main" val="10004"/>
                  </a:ext>
                </a:extLst>
              </a:tr>
              <a:tr h="370840">
                <a:tc>
                  <a:txBody>
                    <a:bodyPr/>
                    <a:lstStyle/>
                    <a:p>
                      <a:pPr algn="ctr">
                        <a:spcAft>
                          <a:spcPts val="0"/>
                        </a:spcAft>
                      </a:pPr>
                      <a:r>
                        <a:rPr lang="en-US" sz="2000" kern="100" dirty="0">
                          <a:latin typeface="Times New Roman" panose="02020603050405020304"/>
                          <a:ea typeface="宋体" panose="02010600030101010101" pitchFamily="2" charset="-122"/>
                          <a:cs typeface="Times New Roman" panose="02020603050405020304"/>
                        </a:rPr>
                        <a:t>OUT</a:t>
                      </a:r>
                      <a:endParaRPr lang="zh-CN" sz="2000" kern="100">
                        <a:latin typeface="Times New Roman" panose="02020603050405020304"/>
                        <a:ea typeface="宋体" panose="02010600030101010101" pitchFamily="2" charset="-122"/>
                        <a:cs typeface="Times New Roman" panose="02020603050405020304"/>
                      </a:endParaRPr>
                    </a:p>
                  </a:txBody>
                  <a:tcPr marL="68580" marR="68580" marT="0" marB="0" anchor="ctr">
                    <a:solidFill>
                      <a:schemeClr val="accent2"/>
                    </a:solidFill>
                  </a:tcPr>
                </a:tc>
                <a:tc>
                  <a:txBody>
                    <a:bodyPr/>
                    <a:lstStyle/>
                    <a:p>
                      <a:pPr algn="ctr">
                        <a:spcAft>
                          <a:spcPts val="0"/>
                        </a:spcAft>
                      </a:pPr>
                      <a:r>
                        <a:rPr lang="en-US" sz="2000" kern="100" dirty="0">
                          <a:latin typeface="Times New Roman" panose="02020603050405020304"/>
                          <a:ea typeface="宋体" panose="02010600030101010101" pitchFamily="2" charset="-122"/>
                          <a:cs typeface="Times New Roman" panose="02020603050405020304"/>
                        </a:rPr>
                        <a:t>06H</a:t>
                      </a:r>
                      <a:r>
                        <a:rPr lang="zh-CN" sz="2000" kern="100" dirty="0">
                          <a:latin typeface="Times New Roman" panose="02020603050405020304"/>
                          <a:ea typeface="宋体" panose="02010600030101010101" pitchFamily="2" charset="-122"/>
                          <a:cs typeface="Times New Roman" panose="02020603050405020304"/>
                        </a:rPr>
                        <a:t>，</a:t>
                      </a:r>
                      <a:r>
                        <a:rPr lang="en-US" sz="2000" kern="100" dirty="0">
                          <a:latin typeface="Times New Roman" panose="02020603050405020304"/>
                          <a:ea typeface="宋体" panose="02010600030101010101" pitchFamily="2" charset="-122"/>
                          <a:cs typeface="Times New Roman" panose="02020603050405020304"/>
                        </a:rPr>
                        <a:t>AL</a:t>
                      </a:r>
                      <a:r>
                        <a:rPr lang="zh-CN" sz="2000" kern="100" dirty="0">
                          <a:latin typeface="Times New Roman" panose="02020603050405020304"/>
                          <a:ea typeface="宋体" panose="02010600030101010101" pitchFamily="2" charset="-122"/>
                          <a:cs typeface="Times New Roman" panose="02020603050405020304"/>
                        </a:rPr>
                        <a:t>；再送高八位</a:t>
                      </a:r>
                    </a:p>
                  </a:txBody>
                  <a:tcPr marL="68580" marR="68580" marT="0" marB="0" anchor="ctr">
                    <a:solidFill>
                      <a:schemeClr val="accent2"/>
                    </a:solidFill>
                  </a:tcPr>
                </a:tc>
                <a:extLst>
                  <a:ext uri="{0D108BD9-81ED-4DB2-BD59-A6C34878D82A}">
                    <a16:rowId xmlns:a16="http://schemas.microsoft.com/office/drawing/2014/main" val="10005"/>
                  </a:ext>
                </a:extLst>
              </a:tr>
            </a:tbl>
          </a:graphicData>
        </a:graphic>
      </p:graphicFrame>
      <p:sp>
        <p:nvSpPr>
          <p:cNvPr id="5" name="矩形 4"/>
          <p:cNvSpPr/>
          <p:nvPr/>
        </p:nvSpPr>
        <p:spPr>
          <a:xfrm>
            <a:off x="2880074" y="3177850"/>
            <a:ext cx="5144357" cy="424726"/>
          </a:xfrm>
          <a:prstGeom prst="rect">
            <a:avLst/>
          </a:prstGeom>
          <a:noFill/>
        </p:spPr>
        <p:txBody>
          <a:bodyPr wrap="none">
            <a:spAutoFit/>
          </a:bodyPr>
          <a:lstStyle/>
          <a:p>
            <a:pPr marL="0" marR="0" lvl="0" indent="0" algn="ctr" defTabSz="914400" rtl="0" eaLnBrk="1" fontAlgn="base" latinLnBrk="0" hangingPunct="1">
              <a:lnSpc>
                <a:spcPct val="90000"/>
              </a:lnSpc>
              <a:spcBef>
                <a:spcPct val="20000"/>
              </a:spcBef>
              <a:spcAft>
                <a:spcPct val="0"/>
              </a:spcAft>
              <a:buClrTx/>
              <a:buSzTx/>
              <a:buFontTx/>
              <a:buNone/>
              <a:defRPr/>
            </a:pPr>
            <a:r>
              <a:rPr kumimoji="1" lang="en-US" sz="2400" b="1" i="0" u="none" strike="noStrike" kern="1200" cap="none" spc="0" normalizeH="0" baseline="0" noProof="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uLnTx/>
                <a:uFillTx/>
                <a:latin typeface="宋体" panose="02010600030101010101" pitchFamily="2" charset="-122"/>
                <a:ea typeface="宋体" panose="02010600030101010101" pitchFamily="2" charset="-122"/>
                <a:cs typeface="+mn-cs"/>
              </a:rPr>
              <a:t>1011</a:t>
            </a:r>
            <a:r>
              <a:rPr kumimoji="1" lang="zh-CN" altLang="en-US" sz="2400" b="1" i="0" u="none" strike="noStrike" kern="1200" cap="none" spc="0" normalizeH="0" baseline="0" noProof="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uLnTx/>
                <a:uFillTx/>
                <a:latin typeface="宋体" panose="02010600030101010101" pitchFamily="2" charset="-122"/>
                <a:ea typeface="宋体" panose="02010600030101010101" pitchFamily="2" charset="-122"/>
                <a:cs typeface="+mn-cs"/>
              </a:rPr>
              <a:t>　</a:t>
            </a:r>
            <a:r>
              <a:rPr kumimoji="1" lang="en-US" sz="2400" b="1" i="0" u="none" strike="noStrike" kern="1200" cap="none" spc="0" normalizeH="0" baseline="0" noProof="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uLnTx/>
                <a:uFillTx/>
                <a:latin typeface="宋体" panose="02010600030101010101" pitchFamily="2" charset="-122"/>
                <a:ea typeface="宋体" panose="02010600030101010101" pitchFamily="2" charset="-122"/>
                <a:cs typeface="+mn-cs"/>
              </a:rPr>
              <a:t>0100――</a:t>
            </a:r>
            <a:r>
              <a:rPr kumimoji="1" lang="zh-CN" altLang="en-US" sz="2400" b="1" i="0" u="none" strike="noStrike" kern="1200" cap="none" spc="0" normalizeH="0" baseline="0" noProof="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uLnTx/>
                <a:uFillTx/>
                <a:latin typeface="宋体" panose="02010600030101010101" pitchFamily="2" charset="-122"/>
                <a:ea typeface="宋体" panose="02010600030101010101" pitchFamily="2" charset="-122"/>
                <a:cs typeface="+mn-cs"/>
              </a:rPr>
              <a:t>二进制　　　　</a:t>
            </a:r>
            <a:r>
              <a:rPr kumimoji="1" lang="en-US" sz="2400" b="1" i="0" u="none" strike="noStrike" kern="1200" cap="none" spc="0" normalizeH="0" baseline="0" noProof="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uLnTx/>
                <a:uFillTx/>
                <a:latin typeface="宋体" panose="02010600030101010101" pitchFamily="2" charset="-122"/>
                <a:ea typeface="宋体" panose="02010600030101010101" pitchFamily="2" charset="-122"/>
                <a:cs typeface="+mn-cs"/>
              </a:rPr>
              <a:t>0B4H</a:t>
            </a:r>
            <a:endParaRPr kumimoji="1" lang="zh-CN" altLang="en-US" sz="2400" b="1" i="0" u="none" strike="noStrike" kern="1200" cap="none" spc="0" normalizeH="0" baseline="0" noProof="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random/>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j-lt"/>
                <a:ea typeface="+mj-ea"/>
                <a:cs typeface="+mj-cs"/>
              </a:rPr>
              <a:t>三、</a:t>
            </a:r>
            <a:r>
              <a:rPr kumimoji="1" lang="en-US" altLang="zh-CN" sz="32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j-lt"/>
                <a:ea typeface="+mj-ea"/>
                <a:cs typeface="+mj-cs"/>
              </a:rPr>
              <a:t>8253</a:t>
            </a:r>
            <a:r>
              <a:rPr kumimoji="1" lang="zh-CN" altLang="en-US" sz="32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j-lt"/>
                <a:ea typeface="+mj-ea"/>
                <a:cs typeface="+mj-cs"/>
              </a:rPr>
              <a:t>工作方式与工作时序</a:t>
            </a:r>
          </a:p>
        </p:txBody>
      </p:sp>
      <p:sp>
        <p:nvSpPr>
          <p:cNvPr id="17411" name="内容占位符 2"/>
          <p:cNvSpPr>
            <a:spLocks noGrp="1"/>
          </p:cNvSpPr>
          <p:nvPr>
            <p:ph idx="1"/>
          </p:nvPr>
        </p:nvSpPr>
        <p:spPr>
          <a:xfrm>
            <a:off x="577850" y="1387475"/>
            <a:ext cx="8197850" cy="5470525"/>
          </a:xfrm>
          <a:ln>
            <a:miter/>
          </a:ln>
        </p:spPr>
        <p:txBody>
          <a:bodyPr vert="horz" wrap="square" lIns="92075" tIns="46038" rIns="92075" bIns="46038" numCol="1" anchor="t" anchorCtr="0" compatLnSpc="1"/>
          <a:lstStyle/>
          <a:p>
            <a:pPr marL="342900" marR="0" lvl="0" indent="-342900" algn="l" defTabSz="914400" rtl="0" eaLnBrk="0" fontAlgn="base" latinLnBrk="0" hangingPunct="0">
              <a:lnSpc>
                <a:spcPts val="3000"/>
              </a:lnSpc>
              <a:spcBef>
                <a:spcPct val="20000"/>
              </a:spcBef>
              <a:spcAft>
                <a:spcPct val="0"/>
              </a:spcAft>
              <a:buClr>
                <a:schemeClr val="accent2"/>
              </a:buClr>
              <a:buSzPct val="70000"/>
              <a:buFont typeface="Wingdings" panose="05000000000000000000" pitchFamily="2" charset="2"/>
              <a:buNone/>
              <a:defRPr/>
            </a:pPr>
            <a:r>
              <a:rPr kumimoji="1" lang="en-US" sz="2000" b="1" i="0" u="none" strike="noStrike" kern="0" cap="none" spc="0" normalizeH="0" baseline="0" noProof="0" dirty="0">
                <a:ln>
                  <a:noFill/>
                </a:ln>
                <a:solidFill>
                  <a:schemeClr val="tx1"/>
                </a:solidFill>
                <a:effectLst/>
                <a:uLnTx/>
                <a:uFillTx/>
                <a:latin typeface="+mn-lt"/>
                <a:ea typeface="+mn-ea"/>
                <a:cs typeface="+mn-cs"/>
              </a:rPr>
              <a:t>8253</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共有</a:t>
            </a:r>
            <a:r>
              <a:rPr kumimoji="1" lang="en-US" sz="2000" b="1" i="0" u="none" strike="noStrike" kern="0" cap="none" spc="0" normalizeH="0" baseline="0" noProof="0" dirty="0">
                <a:ln>
                  <a:noFill/>
                </a:ln>
                <a:solidFill>
                  <a:schemeClr val="tx1"/>
                </a:solidFill>
                <a:effectLst/>
                <a:uLnTx/>
                <a:uFillTx/>
                <a:latin typeface="+mn-lt"/>
                <a:ea typeface="+mn-ea"/>
                <a:cs typeface="+mn-cs"/>
              </a:rPr>
              <a:t>6</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种工作方式，对它们的操作遵守以下三条基本原则。</a:t>
            </a:r>
          </a:p>
          <a:p>
            <a:pPr marL="342900" marR="0" lvl="0" indent="-342900" algn="l" defTabSz="914400" rtl="0" eaLnBrk="0" fontAlgn="base" latinLnBrk="0" hangingPunct="0">
              <a:lnSpc>
                <a:spcPts val="3000"/>
              </a:lnSpc>
              <a:spcBef>
                <a:spcPct val="20000"/>
              </a:spcBef>
              <a:spcAft>
                <a:spcPct val="0"/>
              </a:spcAft>
              <a:buClr>
                <a:schemeClr val="accent2"/>
              </a:buClr>
              <a:buSzPct val="70000"/>
              <a:buFont typeface="Wingdings" panose="05000000000000000000" pitchFamily="2" charset="2"/>
              <a:buNone/>
              <a:defRPr/>
            </a:pPr>
            <a:r>
              <a:rPr kumimoji="1" lang="en-US" sz="2000" b="1" i="0" u="none" strike="noStrike" kern="0" cap="none" spc="0" normalizeH="0" baseline="0" noProof="0" dirty="0">
                <a:ln>
                  <a:noFill/>
                </a:ln>
                <a:solidFill>
                  <a:schemeClr val="tx1"/>
                </a:solidFill>
                <a:effectLst/>
                <a:uLnTx/>
                <a:uFillTx/>
                <a:latin typeface="+mn-lt"/>
                <a:ea typeface="+mn-ea"/>
                <a:cs typeface="+mn-cs"/>
              </a:rPr>
              <a:t>(1) </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当控制字写入</a:t>
            </a:r>
            <a:r>
              <a:rPr kumimoji="1" lang="en-US" sz="2000" b="1" i="0" u="none" strike="noStrike" kern="0" cap="none" spc="0" normalizeH="0" baseline="0" noProof="0" dirty="0">
                <a:ln>
                  <a:noFill/>
                </a:ln>
                <a:solidFill>
                  <a:schemeClr val="tx1"/>
                </a:solidFill>
                <a:effectLst/>
                <a:uLnTx/>
                <a:uFillTx/>
                <a:latin typeface="+mn-lt"/>
                <a:ea typeface="+mn-ea"/>
                <a:cs typeface="+mn-cs"/>
              </a:rPr>
              <a:t>8253</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时，所有的控制逻辑电路立即复位，输出端</a:t>
            </a:r>
            <a:r>
              <a:rPr kumimoji="1" lang="en-US" sz="2000" b="1" i="0" u="none" strike="noStrike" kern="0" cap="none" spc="0" normalizeH="0" baseline="0" noProof="0" dirty="0">
                <a:ln>
                  <a:noFill/>
                </a:ln>
                <a:solidFill>
                  <a:schemeClr val="tx1"/>
                </a:solidFill>
                <a:effectLst/>
                <a:uLnTx/>
                <a:uFillTx/>
                <a:latin typeface="+mn-lt"/>
                <a:ea typeface="+mn-ea"/>
                <a:cs typeface="+mn-cs"/>
              </a:rPr>
              <a:t>OUT</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进入初始状态。</a:t>
            </a:r>
          </a:p>
          <a:p>
            <a:pPr marL="342900" marR="0" lvl="0" indent="-342900" algn="l" defTabSz="914400" rtl="0" eaLnBrk="0" fontAlgn="base" latinLnBrk="0" hangingPunct="0">
              <a:lnSpc>
                <a:spcPts val="3000"/>
              </a:lnSpc>
              <a:spcBef>
                <a:spcPct val="20000"/>
              </a:spcBef>
              <a:spcAft>
                <a:spcPct val="0"/>
              </a:spcAft>
              <a:buClr>
                <a:schemeClr val="accent2"/>
              </a:buClr>
              <a:buSzPct val="70000"/>
              <a:buFont typeface="Wingdings" panose="05000000000000000000" pitchFamily="2" charset="2"/>
              <a:buNone/>
              <a:defRPr/>
            </a:pPr>
            <a:r>
              <a:rPr kumimoji="1" lang="en-US" sz="2000" b="1" i="0" u="none" strike="noStrike" kern="0" cap="none" spc="0" normalizeH="0" baseline="0" noProof="0" dirty="0">
                <a:ln>
                  <a:noFill/>
                </a:ln>
                <a:solidFill>
                  <a:schemeClr val="tx1"/>
                </a:solidFill>
                <a:effectLst/>
                <a:uLnTx/>
                <a:uFillTx/>
                <a:latin typeface="+mn-lt"/>
                <a:ea typeface="+mn-ea"/>
                <a:cs typeface="+mn-cs"/>
              </a:rPr>
              <a:t> (2) </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当初始值写入计数器后，要经过一个时钟周期，减法计数器才开始工作，时钟脉冲的下降沿使计数器进行减法操作。计数器的最大初始值是</a:t>
            </a:r>
            <a:r>
              <a:rPr kumimoji="1" lang="en-US" sz="2000" b="1" i="0" u="none" strike="noStrike" kern="0" cap="none" spc="0" normalizeH="0" baseline="0" noProof="0" dirty="0">
                <a:ln>
                  <a:noFill/>
                </a:ln>
                <a:solidFill>
                  <a:schemeClr val="tx1"/>
                </a:solidFill>
                <a:effectLst/>
                <a:uLnTx/>
                <a:uFillTx/>
                <a:latin typeface="+mn-lt"/>
                <a:ea typeface="+mn-ea"/>
                <a:cs typeface="+mn-cs"/>
              </a:rPr>
              <a:t>0</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，用</a:t>
            </a:r>
            <a:r>
              <a:rPr kumimoji="1" lang="zh-CN" altLang="en-US" sz="2000" b="1" i="1" u="none" strike="noStrike" kern="0" cap="none" spc="0" normalizeH="0" baseline="0" noProof="0" dirty="0">
                <a:ln>
                  <a:noFill/>
                </a:ln>
                <a:solidFill>
                  <a:schemeClr val="accent6">
                    <a:lumMod val="60000"/>
                    <a:lumOff val="40000"/>
                  </a:schemeClr>
                </a:solidFill>
                <a:effectLst/>
                <a:uLnTx/>
                <a:uFillTx/>
                <a:latin typeface="+mn-lt"/>
                <a:ea typeface="+mn-ea"/>
                <a:cs typeface="+mn-cs"/>
              </a:rPr>
              <a:t>二进制计数时</a:t>
            </a:r>
            <a:r>
              <a:rPr kumimoji="1" lang="en-US" sz="2000" b="1" i="1" u="none" strike="noStrike" kern="0" cap="none" spc="0" normalizeH="0" baseline="0" noProof="0" dirty="0">
                <a:ln>
                  <a:noFill/>
                </a:ln>
                <a:solidFill>
                  <a:schemeClr val="accent6">
                    <a:lumMod val="60000"/>
                    <a:lumOff val="40000"/>
                  </a:schemeClr>
                </a:solidFill>
                <a:effectLst/>
                <a:uLnTx/>
                <a:uFillTx/>
                <a:latin typeface="+mn-lt"/>
                <a:ea typeface="+mn-ea"/>
                <a:cs typeface="+mn-cs"/>
              </a:rPr>
              <a:t>0</a:t>
            </a:r>
            <a:r>
              <a:rPr kumimoji="1" lang="zh-CN" altLang="en-US" sz="2000" b="1" i="1" u="none" strike="noStrike" kern="0" cap="none" spc="0" normalizeH="0" baseline="0" noProof="0" dirty="0">
                <a:ln>
                  <a:noFill/>
                </a:ln>
                <a:solidFill>
                  <a:schemeClr val="accent6">
                    <a:lumMod val="60000"/>
                    <a:lumOff val="40000"/>
                  </a:schemeClr>
                </a:solidFill>
                <a:effectLst/>
                <a:uLnTx/>
                <a:uFillTx/>
                <a:latin typeface="+mn-lt"/>
                <a:ea typeface="+mn-ea"/>
                <a:cs typeface="+mn-cs"/>
              </a:rPr>
              <a:t>相当于</a:t>
            </a:r>
            <a:r>
              <a:rPr kumimoji="1" lang="en-US" sz="2000" b="1" i="1" u="none" strike="noStrike" kern="0" cap="none" spc="0" normalizeH="0" baseline="0" noProof="0" dirty="0">
                <a:ln>
                  <a:noFill/>
                </a:ln>
                <a:solidFill>
                  <a:schemeClr val="accent6">
                    <a:lumMod val="60000"/>
                    <a:lumOff val="40000"/>
                  </a:schemeClr>
                </a:solidFill>
                <a:effectLst/>
                <a:uLnTx/>
                <a:uFillTx/>
                <a:latin typeface="+mn-lt"/>
                <a:ea typeface="+mn-ea"/>
                <a:cs typeface="+mn-cs"/>
              </a:rPr>
              <a:t>2</a:t>
            </a:r>
            <a:r>
              <a:rPr kumimoji="1" lang="en-US" sz="2000" b="1" i="1" u="none" strike="noStrike" kern="0" cap="none" spc="0" normalizeH="0" baseline="30000" noProof="0" dirty="0">
                <a:ln>
                  <a:noFill/>
                </a:ln>
                <a:solidFill>
                  <a:schemeClr val="accent6">
                    <a:lumMod val="60000"/>
                    <a:lumOff val="40000"/>
                  </a:schemeClr>
                </a:solidFill>
                <a:effectLst/>
                <a:uLnTx/>
                <a:uFillTx/>
                <a:latin typeface="+mn-lt"/>
                <a:ea typeface="+mn-ea"/>
                <a:cs typeface="+mn-cs"/>
              </a:rPr>
              <a:t>16</a:t>
            </a:r>
            <a:r>
              <a:rPr kumimoji="1" lang="en-US" sz="2000" b="1" i="1" u="none" strike="noStrike" kern="0" cap="none" spc="0" normalizeH="0" baseline="0" noProof="0" dirty="0">
                <a:ln>
                  <a:noFill/>
                </a:ln>
                <a:solidFill>
                  <a:schemeClr val="accent6">
                    <a:lumMod val="60000"/>
                    <a:lumOff val="40000"/>
                  </a:schemeClr>
                </a:solidFill>
                <a:effectLst/>
                <a:uLnTx/>
                <a:uFillTx/>
                <a:latin typeface="+mn-lt"/>
                <a:ea typeface="+mn-ea"/>
                <a:cs typeface="+mn-cs"/>
              </a:rPr>
              <a:t> </a:t>
            </a:r>
            <a:r>
              <a:rPr kumimoji="1" lang="zh-CN" altLang="en-US" sz="2000" b="1" i="1" u="none" strike="noStrike" kern="0" cap="none" spc="0" normalizeH="0" baseline="0" noProof="0" dirty="0">
                <a:ln>
                  <a:noFill/>
                </a:ln>
                <a:solidFill>
                  <a:schemeClr val="accent6">
                    <a:lumMod val="60000"/>
                    <a:lumOff val="40000"/>
                  </a:schemeClr>
                </a:solidFill>
                <a:effectLst/>
                <a:uLnTx/>
                <a:uFillTx/>
                <a:latin typeface="+mn-lt"/>
                <a:ea typeface="+mn-ea"/>
                <a:cs typeface="+mn-cs"/>
              </a:rPr>
              <a:t>，用十进制计数时</a:t>
            </a:r>
            <a:r>
              <a:rPr kumimoji="1" lang="en-US" sz="2000" b="1" i="1" u="none" strike="noStrike" kern="0" cap="none" spc="0" normalizeH="0" baseline="0" noProof="0" dirty="0">
                <a:ln>
                  <a:noFill/>
                </a:ln>
                <a:solidFill>
                  <a:schemeClr val="accent6">
                    <a:lumMod val="60000"/>
                    <a:lumOff val="40000"/>
                  </a:schemeClr>
                </a:solidFill>
                <a:effectLst/>
                <a:uLnTx/>
                <a:uFillTx/>
                <a:latin typeface="+mn-lt"/>
                <a:ea typeface="+mn-ea"/>
                <a:cs typeface="+mn-cs"/>
              </a:rPr>
              <a:t>0</a:t>
            </a:r>
            <a:r>
              <a:rPr kumimoji="1" lang="zh-CN" altLang="en-US" sz="2000" b="1" i="1" u="none" strike="noStrike" kern="0" cap="none" spc="0" normalizeH="0" baseline="0" noProof="0" dirty="0">
                <a:ln>
                  <a:noFill/>
                </a:ln>
                <a:solidFill>
                  <a:schemeClr val="accent6">
                    <a:lumMod val="60000"/>
                    <a:lumOff val="40000"/>
                  </a:schemeClr>
                </a:solidFill>
                <a:effectLst/>
                <a:uLnTx/>
                <a:uFillTx/>
                <a:latin typeface="+mn-lt"/>
                <a:ea typeface="+mn-ea"/>
                <a:cs typeface="+mn-cs"/>
              </a:rPr>
              <a:t>相当于</a:t>
            </a:r>
            <a:r>
              <a:rPr kumimoji="1" lang="en-US" sz="2000" b="1" i="1" u="none" strike="noStrike" kern="0" cap="none" spc="0" normalizeH="0" baseline="0" noProof="0" dirty="0">
                <a:ln>
                  <a:noFill/>
                </a:ln>
                <a:solidFill>
                  <a:schemeClr val="accent6">
                    <a:lumMod val="60000"/>
                    <a:lumOff val="40000"/>
                  </a:schemeClr>
                </a:solidFill>
                <a:effectLst/>
                <a:uLnTx/>
                <a:uFillTx/>
                <a:latin typeface="+mn-lt"/>
                <a:ea typeface="+mn-ea"/>
                <a:cs typeface="+mn-cs"/>
              </a:rPr>
              <a:t> 10</a:t>
            </a:r>
            <a:r>
              <a:rPr kumimoji="1" lang="en-US" sz="2000" b="1" i="1" u="none" strike="noStrike" kern="0" cap="none" spc="0" normalizeH="0" baseline="30000" noProof="0" dirty="0">
                <a:ln>
                  <a:noFill/>
                </a:ln>
                <a:solidFill>
                  <a:schemeClr val="accent6">
                    <a:lumMod val="60000"/>
                    <a:lumOff val="40000"/>
                  </a:schemeClr>
                </a:solidFill>
                <a:effectLst/>
                <a:uLnTx/>
                <a:uFillTx/>
                <a:latin typeface="+mn-lt"/>
                <a:ea typeface="+mn-ea"/>
                <a:cs typeface="+mn-cs"/>
              </a:rPr>
              <a:t>4</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a:t>
            </a:r>
            <a:endParaRPr kumimoji="1" lang="en-US" altLang="zh-CN" sz="20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ts val="3000"/>
              </a:lnSpc>
              <a:spcBef>
                <a:spcPct val="20000"/>
              </a:spcBef>
              <a:spcAft>
                <a:spcPct val="0"/>
              </a:spcAft>
              <a:buClr>
                <a:schemeClr val="accent2"/>
              </a:buClr>
              <a:buSzPct val="70000"/>
              <a:buFont typeface="Wingdings" panose="05000000000000000000" pitchFamily="2" charset="2"/>
              <a:buNone/>
              <a:defRPr/>
            </a:pPr>
            <a:r>
              <a:rPr kumimoji="1" lang="en-US" sz="2000" b="1" i="0" u="none" strike="noStrike" kern="0" cap="none" spc="0" normalizeH="0" baseline="0" noProof="0" dirty="0">
                <a:ln>
                  <a:noFill/>
                </a:ln>
                <a:solidFill>
                  <a:schemeClr val="tx1"/>
                </a:solidFill>
                <a:effectLst/>
                <a:uLnTx/>
                <a:uFillTx/>
                <a:latin typeface="+mn-lt"/>
                <a:ea typeface="+mn-ea"/>
                <a:cs typeface="+mn-cs"/>
              </a:rPr>
              <a:t> (3) </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通常，在时钟脉冲</a:t>
            </a:r>
            <a:r>
              <a:rPr kumimoji="1" lang="en-US" sz="2000" b="1" i="0" u="none" strike="noStrike" kern="0" cap="none" spc="0" normalizeH="0" baseline="0" noProof="0" dirty="0">
                <a:ln>
                  <a:noFill/>
                </a:ln>
                <a:solidFill>
                  <a:schemeClr val="tx1"/>
                </a:solidFill>
                <a:effectLst/>
                <a:uLnTx/>
                <a:uFillTx/>
                <a:latin typeface="+mn-lt"/>
                <a:ea typeface="+mn-ea"/>
                <a:cs typeface="+mn-cs"/>
              </a:rPr>
              <a:t>CLK</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的上升沿采样门控信号</a:t>
            </a:r>
            <a:r>
              <a:rPr kumimoji="1" lang="en-US" sz="2000" b="1" i="0" u="none" strike="noStrike" kern="0" cap="none" spc="0" normalizeH="0" baseline="0" noProof="0" dirty="0">
                <a:ln>
                  <a:noFill/>
                </a:ln>
                <a:solidFill>
                  <a:schemeClr val="tx1"/>
                </a:solidFill>
                <a:effectLst/>
                <a:uLnTx/>
                <a:uFillTx/>
                <a:latin typeface="+mn-lt"/>
                <a:ea typeface="+mn-ea"/>
                <a:cs typeface="+mn-cs"/>
              </a:rPr>
              <a:t>GATE</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。门控信号的触发方式有</a:t>
            </a:r>
            <a:r>
              <a:rPr kumimoji="1" lang="zh-CN" altLang="en-US" sz="2000" b="1" i="0" u="sng" strike="noStrike" kern="0" cap="none" spc="0" normalizeH="0" baseline="0" noProof="0" dirty="0">
                <a:ln>
                  <a:noFill/>
                </a:ln>
                <a:solidFill>
                  <a:srgbClr val="92D050"/>
                </a:solidFill>
                <a:effectLst/>
                <a:uLnTx/>
                <a:uFillTx/>
                <a:latin typeface="+mn-lt"/>
                <a:ea typeface="+mn-ea"/>
                <a:cs typeface="+mn-cs"/>
              </a:rPr>
              <a:t>上升沿触发</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和</a:t>
            </a:r>
            <a:r>
              <a:rPr kumimoji="1" lang="zh-CN" altLang="en-US" sz="2000" b="1" i="1" u="sng" strike="noStrike" kern="0" cap="none" spc="0" normalizeH="0" baseline="0" noProof="0" dirty="0">
                <a:ln>
                  <a:noFill/>
                </a:ln>
                <a:solidFill>
                  <a:srgbClr val="92D050"/>
                </a:solidFill>
                <a:effectLst/>
                <a:uLnTx/>
                <a:uFillTx/>
                <a:latin typeface="+mn-lt"/>
                <a:ea typeface="+mn-ea"/>
                <a:cs typeface="+mn-cs"/>
              </a:rPr>
              <a:t>电平触发</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两种。</a:t>
            </a:r>
          </a:p>
          <a:p>
            <a:pPr marL="342900" marR="0" lvl="0" indent="-342900" algn="l" defTabSz="914400" rtl="0" eaLnBrk="0" fontAlgn="base" latinLnBrk="0" hangingPunct="0">
              <a:lnSpc>
                <a:spcPts val="3000"/>
              </a:lnSpc>
              <a:spcBef>
                <a:spcPct val="20000"/>
              </a:spcBef>
              <a:spcAft>
                <a:spcPct val="0"/>
              </a:spcAft>
              <a:buClr>
                <a:schemeClr val="accent2"/>
              </a:buClr>
              <a:buSzPct val="70000"/>
              <a:buFont typeface="Wingdings" panose="05000000000000000000" pitchFamily="2" charset="2"/>
              <a:buNone/>
              <a:defRPr/>
            </a:pPr>
            <a:r>
              <a:rPr kumimoji="1" lang="zh-CN" altLang="en-US" sz="2000" b="1" i="0" u="none" strike="noStrike" kern="0" cap="none" spc="0" normalizeH="0" baseline="0" noProof="0" dirty="0">
                <a:ln>
                  <a:noFill/>
                </a:ln>
                <a:solidFill>
                  <a:schemeClr val="tx1"/>
                </a:solidFill>
                <a:effectLst/>
                <a:uLnTx/>
                <a:uFillTx/>
                <a:latin typeface="+mn-lt"/>
                <a:ea typeface="+mn-ea"/>
                <a:cs typeface="+mn-cs"/>
              </a:rPr>
              <a:t>          </a:t>
            </a:r>
            <a:endParaRPr kumimoji="1" lang="en-US" altLang="zh-CN" sz="20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ts val="3000"/>
              </a:lnSpc>
              <a:spcBef>
                <a:spcPct val="20000"/>
              </a:spcBef>
              <a:spcAft>
                <a:spcPct val="0"/>
              </a:spcAft>
              <a:buClr>
                <a:schemeClr val="accent2"/>
              </a:buClr>
              <a:buSzPct val="70000"/>
              <a:buFont typeface="Wingdings" panose="05000000000000000000" pitchFamily="2" charset="2"/>
              <a:buNone/>
              <a:defRPr/>
            </a:pPr>
            <a:r>
              <a:rPr kumimoji="1" lang="en-US" altLang="zh-CN" sz="2000" b="1" i="0" u="none" strike="noStrike" kern="0" cap="none" spc="0" normalizeH="0" baseline="0" noProof="0" dirty="0">
                <a:ln>
                  <a:noFill/>
                </a:ln>
                <a:solidFill>
                  <a:schemeClr val="tx1"/>
                </a:solidFill>
                <a:effectLst/>
                <a:uLnTx/>
                <a:uFillTx/>
                <a:latin typeface="+mn-lt"/>
                <a:ea typeface="+mn-ea"/>
                <a:cs typeface="+mn-cs"/>
              </a:rPr>
              <a:t>      </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①  门控信号为电平触发的有：方式</a:t>
            </a:r>
            <a:r>
              <a:rPr kumimoji="1" lang="en-US" sz="2000" b="1" i="0" u="none" strike="noStrike" kern="0" cap="none" spc="0" normalizeH="0" baseline="0" noProof="0" dirty="0">
                <a:ln>
                  <a:noFill/>
                </a:ln>
                <a:solidFill>
                  <a:schemeClr val="tx1"/>
                </a:solidFill>
                <a:effectLst/>
                <a:uLnTx/>
                <a:uFillTx/>
                <a:latin typeface="+mn-lt"/>
                <a:ea typeface="+mn-ea"/>
                <a:cs typeface="+mn-cs"/>
              </a:rPr>
              <a:t>0</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、方式</a:t>
            </a:r>
            <a:r>
              <a:rPr kumimoji="1" lang="en-US" sz="2000" b="1" i="0" u="none" strike="noStrike" kern="0" cap="none" spc="0" normalizeH="0" baseline="0" noProof="0" dirty="0">
                <a:ln>
                  <a:noFill/>
                </a:ln>
                <a:solidFill>
                  <a:schemeClr val="tx1"/>
                </a:solidFill>
                <a:effectLst/>
                <a:uLnTx/>
                <a:uFillTx/>
                <a:latin typeface="+mn-lt"/>
                <a:ea typeface="+mn-ea"/>
                <a:cs typeface="+mn-cs"/>
              </a:rPr>
              <a:t>4</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0" fontAlgn="base" latinLnBrk="0" hangingPunct="0">
              <a:lnSpc>
                <a:spcPts val="3000"/>
              </a:lnSpc>
              <a:spcBef>
                <a:spcPct val="20000"/>
              </a:spcBef>
              <a:spcAft>
                <a:spcPct val="0"/>
              </a:spcAft>
              <a:buClr>
                <a:schemeClr val="accent2"/>
              </a:buClr>
              <a:buSzPct val="70000"/>
              <a:buFont typeface="Wingdings" panose="05000000000000000000" pitchFamily="2" charset="2"/>
              <a:buNone/>
              <a:defRPr/>
            </a:pPr>
            <a:r>
              <a:rPr kumimoji="1" lang="zh-CN" altLang="en-US" sz="2000" b="1" i="0" u="none" strike="noStrike" kern="0" cap="none" spc="0" normalizeH="0" baseline="0" noProof="0" dirty="0">
                <a:ln>
                  <a:noFill/>
                </a:ln>
                <a:solidFill>
                  <a:schemeClr val="tx1"/>
                </a:solidFill>
                <a:effectLst/>
                <a:uLnTx/>
                <a:uFillTx/>
                <a:latin typeface="+mn-lt"/>
                <a:ea typeface="+mn-ea"/>
                <a:cs typeface="+mn-cs"/>
              </a:rPr>
              <a:t>      ②  门控信号为上升沿触发的有：方式</a:t>
            </a:r>
            <a:r>
              <a:rPr kumimoji="1" lang="en-US" sz="2000" b="1" i="0" u="none" strike="noStrike" kern="0" cap="none" spc="0" normalizeH="0" baseline="0" noProof="0" dirty="0">
                <a:ln>
                  <a:noFill/>
                </a:ln>
                <a:solidFill>
                  <a:schemeClr val="tx1"/>
                </a:solidFill>
                <a:effectLst/>
                <a:uLnTx/>
                <a:uFillTx/>
                <a:latin typeface="+mn-lt"/>
                <a:ea typeface="+mn-ea"/>
                <a:cs typeface="+mn-cs"/>
              </a:rPr>
              <a:t>1</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、方式</a:t>
            </a:r>
            <a:r>
              <a:rPr kumimoji="1" lang="en-US" sz="2000" b="1" i="0" u="none" strike="noStrike" kern="0" cap="none" spc="0" normalizeH="0" baseline="0" noProof="0" dirty="0">
                <a:ln>
                  <a:noFill/>
                </a:ln>
                <a:solidFill>
                  <a:schemeClr val="tx1"/>
                </a:solidFill>
                <a:effectLst/>
                <a:uLnTx/>
                <a:uFillTx/>
                <a:latin typeface="+mn-lt"/>
                <a:ea typeface="+mn-ea"/>
                <a:cs typeface="+mn-cs"/>
              </a:rPr>
              <a:t>5</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0" fontAlgn="base" latinLnBrk="0" hangingPunct="0">
              <a:lnSpc>
                <a:spcPts val="3000"/>
              </a:lnSpc>
              <a:spcBef>
                <a:spcPct val="20000"/>
              </a:spcBef>
              <a:spcAft>
                <a:spcPct val="0"/>
              </a:spcAft>
              <a:buClr>
                <a:schemeClr val="accent2"/>
              </a:buClr>
              <a:buSzPct val="70000"/>
              <a:buFont typeface="Wingdings" panose="05000000000000000000" pitchFamily="2" charset="2"/>
              <a:buNone/>
              <a:defRPr/>
            </a:pPr>
            <a:r>
              <a:rPr kumimoji="1" lang="zh-CN" altLang="en-US" sz="2000" b="1" i="0" u="none" strike="noStrike" kern="0" cap="none" spc="0" normalizeH="0" baseline="0" noProof="0" dirty="0">
                <a:ln>
                  <a:noFill/>
                </a:ln>
                <a:solidFill>
                  <a:schemeClr val="tx1"/>
                </a:solidFill>
                <a:effectLst/>
                <a:uLnTx/>
                <a:uFillTx/>
                <a:latin typeface="+mn-lt"/>
                <a:ea typeface="+mn-ea"/>
                <a:cs typeface="+mn-cs"/>
              </a:rPr>
              <a:t>      ③  门控信号可为电平触发也可为上升沿触发的有：方式</a:t>
            </a:r>
            <a:r>
              <a:rPr kumimoji="1" lang="en-US" sz="2000" b="1" i="0" u="none" strike="noStrike" kern="0" cap="none" spc="0" normalizeH="0" baseline="0" noProof="0" dirty="0">
                <a:ln>
                  <a:noFill/>
                </a:ln>
                <a:solidFill>
                  <a:schemeClr val="tx1"/>
                </a:solidFill>
                <a:effectLst/>
                <a:uLnTx/>
                <a:uFillTx/>
                <a:latin typeface="+mn-lt"/>
                <a:ea typeface="+mn-ea"/>
                <a:cs typeface="+mn-cs"/>
              </a:rPr>
              <a:t>2</a:t>
            </a:r>
            <a:r>
              <a:rPr kumimoji="1" lang="zh-CN" altLang="en-US" sz="2000" b="1" i="0" u="none" strike="noStrike" kern="0" cap="none" spc="0" normalizeH="0" baseline="0" noProof="0" dirty="0">
                <a:ln>
                  <a:noFill/>
                </a:ln>
                <a:solidFill>
                  <a:schemeClr val="tx1"/>
                </a:solidFill>
                <a:effectLst/>
                <a:uLnTx/>
                <a:uFillTx/>
                <a:latin typeface="+mn-lt"/>
                <a:ea typeface="+mn-ea"/>
                <a:cs typeface="+mn-cs"/>
              </a:rPr>
              <a:t>、方式</a:t>
            </a:r>
            <a:r>
              <a:rPr kumimoji="1" lang="en-US" sz="2000" b="1" i="0" u="none" strike="noStrike" kern="0" cap="none" spc="0" normalizeH="0" baseline="0" noProof="0" dirty="0">
                <a:ln>
                  <a:noFill/>
                </a:ln>
                <a:solidFill>
                  <a:schemeClr val="tx1"/>
                </a:solidFill>
                <a:effectLst/>
                <a:uLnTx/>
                <a:uFillTx/>
                <a:latin typeface="+mn-lt"/>
                <a:ea typeface="+mn-ea"/>
                <a:cs typeface="+mn-cs"/>
              </a:rPr>
              <a:t>3</a:t>
            </a:r>
          </a:p>
        </p:txBody>
      </p:sp>
      <p:sp>
        <p:nvSpPr>
          <p:cNvPr id="6" name="矩形 5"/>
          <p:cNvSpPr/>
          <p:nvPr/>
        </p:nvSpPr>
        <p:spPr>
          <a:xfrm>
            <a:off x="484223" y="4698535"/>
            <a:ext cx="1988044" cy="480131"/>
          </a:xfrm>
          <a:prstGeom prst="rect">
            <a:avLst/>
          </a:prstGeom>
          <a:noFill/>
        </p:spPr>
        <p:txBody>
          <a:bodyPr wrap="none">
            <a:spAutoFit/>
          </a:bodyPr>
          <a:lstStyle/>
          <a:p>
            <a:pPr marL="0" marR="0" lvl="0" indent="0" algn="ctr" defTabSz="914400" rtl="0" eaLnBrk="1" fontAlgn="base" latinLnBrk="0" hangingPunct="1">
              <a:lnSpc>
                <a:spcPct val="90000"/>
              </a:lnSpc>
              <a:spcBef>
                <a:spcPct val="20000"/>
              </a:spcBef>
              <a:spcAft>
                <a:spcPct val="0"/>
              </a:spcAft>
              <a:buClrTx/>
              <a:buSzTx/>
              <a:buFontTx/>
              <a:buNone/>
              <a:defRPr/>
            </a:pPr>
            <a:r>
              <a:rPr kumimoji="1" lang="zh-CN" altLang="en-US" sz="2800" b="1" i="0" u="none" strike="noStrike" kern="1200" cap="none" spc="0" normalizeH="0" baseline="0" noProof="0" dirty="0">
                <a:ln w="31550" cmpd="sng">
                  <a:gradFill>
                    <a:gsLst>
                      <a:gs pos="70000">
                        <a:schemeClr val="accent6">
                          <a:shade val="50000"/>
                          <a:satMod val="190000"/>
                        </a:schemeClr>
                      </a:gs>
                      <a:gs pos="0">
                        <a:schemeClr val="accent6">
                          <a:tint val="77000"/>
                          <a:satMod val="180000"/>
                        </a:schemeClr>
                      </a:gs>
                    </a:gsLst>
                    <a:lin ang="5400000"/>
                  </a:gradFill>
                  <a:prstDash val="solid"/>
                </a:ln>
                <a:solidFill>
                  <a:srgbClr val="FDEAE9"/>
                </a:solidFill>
                <a:effectLst>
                  <a:outerShdw blurRad="50800" dist="40000" dir="5400000" algn="tl" rotWithShape="0">
                    <a:srgbClr val="000000">
                      <a:shade val="5000"/>
                      <a:satMod val="120000"/>
                      <a:alpha val="33000"/>
                    </a:srgbClr>
                  </a:outerShdw>
                </a:effectLst>
                <a:uLnTx/>
                <a:uFillTx/>
                <a:latin typeface="宋体" panose="02010600030101010101" pitchFamily="2" charset="-122"/>
                <a:ea typeface="宋体" panose="02010600030101010101" pitchFamily="2" charset="-122"/>
                <a:cs typeface="+mn-cs"/>
              </a:rPr>
              <a:t>温馨提示：</a:t>
            </a:r>
            <a:endParaRPr kumimoji="1" lang="en-US" altLang="zh-CN" sz="2800" b="1" i="0" u="none" strike="noStrike" kern="1200" cap="none" spc="0" normalizeH="0" baseline="0" noProof="0" dirty="0">
              <a:ln w="31550" cmpd="sng">
                <a:gradFill>
                  <a:gsLst>
                    <a:gs pos="70000">
                      <a:schemeClr val="accent6">
                        <a:shade val="50000"/>
                        <a:satMod val="190000"/>
                      </a:schemeClr>
                    </a:gs>
                    <a:gs pos="0">
                      <a:schemeClr val="accent6">
                        <a:tint val="77000"/>
                        <a:satMod val="180000"/>
                      </a:schemeClr>
                    </a:gs>
                  </a:gsLst>
                  <a:lin ang="5400000"/>
                </a:gradFill>
                <a:prstDash val="solid"/>
              </a:ln>
              <a:solidFill>
                <a:srgbClr val="FDEAE9"/>
              </a:solidFill>
              <a:effectLst>
                <a:outerShdw blurRad="50800" dist="40000" dir="5400000" algn="tl" rotWithShape="0">
                  <a:srgbClr val="000000">
                    <a:shade val="5000"/>
                    <a:satMod val="120000"/>
                    <a:alpha val="33000"/>
                  </a:srgbClr>
                </a:outerShdw>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random/>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5" name="内容占位符 2"/>
          <p:cNvSpPr>
            <a:spLocks noGrp="1"/>
          </p:cNvSpPr>
          <p:nvPr>
            <p:ph idx="1"/>
          </p:nvPr>
        </p:nvSpPr>
        <p:spPr>
          <a:xfrm>
            <a:off x="0" y="1387475"/>
            <a:ext cx="8775700" cy="5291138"/>
          </a:xfrm>
          <a:ln/>
        </p:spPr>
        <p:txBody>
          <a:bodyPr wrap="square" lIns="92075" tIns="46038" rIns="92075" bIns="46038" anchor="t" anchorCtr="0"/>
          <a:lstStyle/>
          <a:p>
            <a:pPr>
              <a:buNone/>
            </a:pPr>
            <a:endParaRPr lang="en-US" altLang="zh-CN" sz="2400" i="1" dirty="0"/>
          </a:p>
          <a:p>
            <a:pPr>
              <a:buNone/>
            </a:pPr>
            <a:endParaRPr lang="en-US" altLang="zh-CN" sz="2400" dirty="0"/>
          </a:p>
          <a:p>
            <a:pPr>
              <a:lnSpc>
                <a:spcPts val="4200"/>
              </a:lnSpc>
              <a:buNone/>
            </a:pPr>
            <a:r>
              <a:rPr lang="zh-CN" altLang="en-US" sz="2400" dirty="0"/>
              <a:t>              采用这种工作方式，</a:t>
            </a:r>
            <a:r>
              <a:rPr lang="en-US" altLang="zh-CN" sz="2400" i="1" dirty="0">
                <a:solidFill>
                  <a:srgbClr val="FF3300"/>
                </a:solidFill>
              </a:rPr>
              <a:t>8253</a:t>
            </a:r>
            <a:r>
              <a:rPr lang="zh-CN" altLang="en-US" sz="2400" i="1" dirty="0">
                <a:solidFill>
                  <a:srgbClr val="FF3300"/>
                </a:solidFill>
              </a:rPr>
              <a:t>可完成计数功能，且计数器只计一遍</a:t>
            </a:r>
            <a:r>
              <a:rPr lang="zh-CN" altLang="en-US" sz="2400" dirty="0"/>
              <a:t>。当控制字写入控制字寄存器后，输出端</a:t>
            </a:r>
            <a:r>
              <a:rPr lang="en-US" altLang="zh-CN" sz="2400" dirty="0"/>
              <a:t>OUT</a:t>
            </a:r>
            <a:r>
              <a:rPr lang="zh-CN" altLang="en-US" sz="2400" dirty="0"/>
              <a:t>为低电平，当计数初值写入后，在下一个</a:t>
            </a:r>
            <a:r>
              <a:rPr lang="en-US" altLang="zh-CN" sz="2400" dirty="0"/>
              <a:t>CLK</a:t>
            </a:r>
            <a:r>
              <a:rPr lang="zh-CN" altLang="en-US" sz="2400" dirty="0"/>
              <a:t>脉冲的下降沿将计数初值寄存器内容装入减法计数寄存器，然后减法计数器开始减</a:t>
            </a:r>
            <a:r>
              <a:rPr lang="en-US" altLang="zh-CN" sz="2400" dirty="0"/>
              <a:t>1</a:t>
            </a:r>
            <a:r>
              <a:rPr lang="zh-CN" altLang="en-US" sz="2400" dirty="0"/>
              <a:t>计算。在计数过程中，</a:t>
            </a:r>
            <a:r>
              <a:rPr lang="en-US" altLang="zh-CN" sz="2400" dirty="0"/>
              <a:t>OUT</a:t>
            </a:r>
            <a:r>
              <a:rPr lang="zh-CN" altLang="en-US" sz="2400" dirty="0"/>
              <a:t>保持为低电平，当计数到</a:t>
            </a:r>
            <a:r>
              <a:rPr lang="en-US" altLang="zh-CN" sz="2400" dirty="0"/>
              <a:t>0</a:t>
            </a:r>
            <a:r>
              <a:rPr lang="zh-CN" altLang="en-US" sz="2400" dirty="0"/>
              <a:t>后，</a:t>
            </a:r>
            <a:r>
              <a:rPr lang="en-US" altLang="zh-CN" sz="2400" dirty="0"/>
              <a:t>OUT</a:t>
            </a:r>
            <a:r>
              <a:rPr lang="zh-CN" altLang="en-US" sz="2400" dirty="0"/>
              <a:t>变高电平，可作为中断请求信号，并保持到重新写入新的控制字或新的计数值为止。</a:t>
            </a:r>
          </a:p>
        </p:txBody>
      </p:sp>
      <p:sp>
        <p:nvSpPr>
          <p:cNvPr id="5" name="矩形 4"/>
          <p:cNvSpPr/>
          <p:nvPr/>
        </p:nvSpPr>
        <p:spPr>
          <a:xfrm>
            <a:off x="337925" y="1438501"/>
            <a:ext cx="6211957" cy="590931"/>
          </a:xfrm>
          <a:prstGeom prst="rect">
            <a:avLst/>
          </a:prstGeom>
          <a:noFill/>
        </p:spPr>
        <p:txBody>
          <a:bodyPr wrap="none">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marL="0" marR="0" lvl="0" indent="0" algn="ctr" defTabSz="914400" rtl="0" eaLnBrk="1" fontAlgn="base" latinLnBrk="0" hangingPunct="1">
              <a:lnSpc>
                <a:spcPct val="90000"/>
              </a:lnSpc>
              <a:spcBef>
                <a:spcPct val="20000"/>
              </a:spcBef>
              <a:spcAft>
                <a:spcPct val="0"/>
              </a:spcAft>
              <a:buClrTx/>
              <a:buSzTx/>
              <a:buFontTx/>
              <a:buNone/>
              <a:defRPr/>
            </a:pPr>
            <a:r>
              <a:rPr kumimoji="1" lang="en-US" sz="3600" b="1" i="0" u="none" strike="noStrike" kern="1200" cap="all" spc="0" normalizeH="0" baseline="0" noProof="0" dirty="0">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uLnTx/>
                <a:uFillTx/>
                <a:latin typeface="宋体" panose="02010600030101010101" pitchFamily="2" charset="-122"/>
                <a:ea typeface="宋体" panose="02010600030101010101" pitchFamily="2" charset="-122"/>
                <a:cs typeface="+mn-cs"/>
              </a:rPr>
              <a:t>1 .</a:t>
            </a:r>
            <a:r>
              <a:rPr kumimoji="1" lang="zh-CN" altLang="en-US" sz="3600" b="1" i="0" u="none" strike="noStrike" kern="1200" cap="all" spc="0" normalizeH="0" baseline="0" noProof="0" dirty="0">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uLnTx/>
                <a:uFillTx/>
                <a:latin typeface="宋体" panose="02010600030101010101" pitchFamily="2" charset="-122"/>
                <a:ea typeface="宋体" panose="02010600030101010101" pitchFamily="2" charset="-122"/>
                <a:cs typeface="+mn-cs"/>
              </a:rPr>
              <a:t>方式</a:t>
            </a:r>
            <a:r>
              <a:rPr kumimoji="1" lang="en-US" sz="3600" b="1" i="0" u="none" strike="noStrike" kern="1200" cap="all" spc="0" normalizeH="0" baseline="0" noProof="0" dirty="0">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uLnTx/>
                <a:uFillTx/>
                <a:latin typeface="宋体" panose="02010600030101010101" pitchFamily="2" charset="-122"/>
                <a:ea typeface="宋体" panose="02010600030101010101" pitchFamily="2" charset="-122"/>
                <a:cs typeface="+mn-cs"/>
              </a:rPr>
              <a:t>0(</a:t>
            </a:r>
            <a:r>
              <a:rPr kumimoji="1" lang="zh-CN" altLang="en-US" sz="3600" b="1" i="0" u="none" strike="noStrike" kern="1200" cap="all" spc="0" normalizeH="0" baseline="0" noProof="0" dirty="0">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uLnTx/>
                <a:uFillTx/>
                <a:latin typeface="宋体" panose="02010600030101010101" pitchFamily="2" charset="-122"/>
                <a:ea typeface="宋体" panose="02010600030101010101" pitchFamily="2" charset="-122"/>
                <a:cs typeface="+mn-cs"/>
              </a:rPr>
              <a:t>计数结束产生中断</a:t>
            </a:r>
            <a:r>
              <a:rPr kumimoji="1" lang="en-US" sz="3600" b="1" i="0" u="none" strike="noStrike" kern="1200" cap="all" spc="0" normalizeH="0" baseline="0" noProof="0" dirty="0">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uLnTx/>
                <a:uFillTx/>
                <a:latin typeface="宋体" panose="02010600030101010101" pitchFamily="2" charset="-122"/>
                <a:ea typeface="宋体" panose="02010600030101010101" pitchFamily="2" charset="-122"/>
                <a:cs typeface="+mn-cs"/>
              </a:rPr>
              <a:t>)</a:t>
            </a:r>
            <a:endParaRPr kumimoji="1" lang="zh-CN" altLang="en-US" sz="3600" b="1" i="0" u="none" strike="noStrike" kern="1200" cap="all" spc="0" normalizeH="0" baseline="0" noProof="0" dirty="0">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uLnTx/>
              <a:uFillTx/>
              <a:latin typeface="宋体" panose="02010600030101010101" pitchFamily="2" charset="-122"/>
              <a:ea typeface="宋体" panose="02010600030101010101" pitchFamily="2" charset="-122"/>
              <a:cs typeface="+mn-cs"/>
            </a:endParaRPr>
          </a:p>
        </p:txBody>
      </p:sp>
      <p:sp>
        <p:nvSpPr>
          <p:cNvPr id="3" name="标题 2"/>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j-lt"/>
                <a:ea typeface="+mj-ea"/>
                <a:cs typeface="+mj-cs"/>
              </a:rPr>
              <a:t>三、</a:t>
            </a:r>
            <a:r>
              <a:rPr kumimoji="1" lang="en-US" altLang="zh-CN" sz="32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j-lt"/>
                <a:ea typeface="+mj-ea"/>
                <a:cs typeface="+mj-cs"/>
              </a:rPr>
              <a:t>8253</a:t>
            </a:r>
            <a:r>
              <a:rPr kumimoji="1" lang="zh-CN" altLang="en-US" sz="32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j-lt"/>
                <a:ea typeface="+mj-ea"/>
                <a:cs typeface="+mj-cs"/>
              </a:rPr>
              <a:t>工作方式与工作时序</a:t>
            </a:r>
          </a:p>
        </p:txBody>
      </p:sp>
    </p:spTree>
  </p:cSld>
  <p:clrMapOvr>
    <a:masterClrMapping/>
  </p:clrMapOvr>
  <p:transition spd="med">
    <p:random/>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07" y="228600"/>
            <a:ext cx="8331200" cy="1143000"/>
          </a:xfrm>
        </p:spPr>
        <p:txBody>
          <a:bodyPr wrap="square" lIns="92075" tIns="46038" rIns="92075" bIns="46038" numCol="1" anchor="ctr" anchorCtr="0" compatLnSpc="1"/>
          <a:lstStyle/>
          <a:p>
            <a:pPr marL="0" marR="0" lvl="0" indent="0" algn="ctr" defTabSz="914400" rtl="0" eaLnBrk="0" fontAlgn="base" latinLnBrk="0" hangingPunct="0">
              <a:spcBef>
                <a:spcPct val="0"/>
              </a:spcBef>
              <a:spcAft>
                <a:spcPct val="0"/>
              </a:spcAft>
              <a:buClrTx/>
              <a:buSzTx/>
              <a:buFontTx/>
              <a:buNone/>
              <a:defRPr/>
            </a:pPr>
            <a:r>
              <a:rPr kumimoji="1" lang="en-US" sz="3600" b="1" i="0" u="none" strike="noStrike" kern="0" cap="all" spc="0" normalizeH="0" baseline="0" noProof="0" dirty="0">
                <a:solidFill>
                  <a:schemeClr val="accent6"/>
                </a:solidFill>
                <a:effectLst>
                  <a:outerShdw blurRad="19685" dist="12700" dir="5400000" algn="tl" rotWithShape="0">
                    <a:schemeClr val="accent1">
                      <a:satMod val="130000"/>
                      <a:alpha val="60000"/>
                    </a:schemeClr>
                  </a:outerShdw>
                  <a:reflection blurRad="10000" stA="55000" endPos="48000" dist="500" dir="5400000" sy="-100000" algn="bl" rotWithShape="0"/>
                </a:effectLst>
                <a:uLnTx/>
                <a:uFillTx/>
                <a:latin typeface="+mj-lt"/>
                <a:ea typeface="+mj-ea"/>
                <a:cs typeface="+mj-cs"/>
              </a:rPr>
              <a:t>1 .</a:t>
            </a:r>
            <a:r>
              <a:rPr kumimoji="1" lang="zh-CN" altLang="en-US" sz="3600" b="1" i="0" u="none" strike="noStrike" kern="0" cap="all" spc="0" normalizeH="0" baseline="0" noProof="0" dirty="0">
                <a:solidFill>
                  <a:schemeClr val="accent6"/>
                </a:solidFill>
                <a:effectLst>
                  <a:outerShdw blurRad="19685" dist="12700" dir="5400000" algn="tl" rotWithShape="0">
                    <a:schemeClr val="accent1">
                      <a:satMod val="130000"/>
                      <a:alpha val="60000"/>
                    </a:schemeClr>
                  </a:outerShdw>
                  <a:reflection blurRad="10000" stA="55000" endPos="48000" dist="500" dir="5400000" sy="-100000" algn="bl" rotWithShape="0"/>
                </a:effectLst>
                <a:uLnTx/>
                <a:uFillTx/>
                <a:latin typeface="+mj-lt"/>
                <a:ea typeface="+mj-ea"/>
                <a:cs typeface="+mj-cs"/>
              </a:rPr>
              <a:t>方式</a:t>
            </a:r>
            <a:r>
              <a:rPr kumimoji="1" lang="en-US" sz="3600" b="1" i="0" u="none" strike="noStrike" kern="0" cap="all" spc="0" normalizeH="0" baseline="0" noProof="0" dirty="0">
                <a:solidFill>
                  <a:schemeClr val="accent6"/>
                </a:solidFill>
                <a:effectLst>
                  <a:outerShdw blurRad="19685" dist="12700" dir="5400000" algn="tl" rotWithShape="0">
                    <a:schemeClr val="accent1">
                      <a:satMod val="130000"/>
                      <a:alpha val="60000"/>
                    </a:schemeClr>
                  </a:outerShdw>
                  <a:reflection blurRad="10000" stA="55000" endPos="48000" dist="500" dir="5400000" sy="-100000" algn="bl" rotWithShape="0"/>
                </a:effectLst>
                <a:uLnTx/>
                <a:uFillTx/>
                <a:latin typeface="+mj-lt"/>
                <a:ea typeface="+mj-ea"/>
                <a:cs typeface="+mj-cs"/>
              </a:rPr>
              <a:t>0(</a:t>
            </a:r>
            <a:r>
              <a:rPr kumimoji="1" lang="zh-CN" altLang="en-US" sz="3600" b="1" i="0" u="none" strike="noStrike" kern="0" cap="all" spc="0" normalizeH="0" baseline="0" noProof="0" dirty="0">
                <a:solidFill>
                  <a:schemeClr val="accent6"/>
                </a:solidFill>
                <a:effectLst>
                  <a:outerShdw blurRad="19685" dist="12700" dir="5400000" algn="tl" rotWithShape="0">
                    <a:schemeClr val="accent1">
                      <a:satMod val="130000"/>
                      <a:alpha val="60000"/>
                    </a:schemeClr>
                  </a:outerShdw>
                  <a:reflection blurRad="10000" stA="55000" endPos="48000" dist="500" dir="5400000" sy="-100000" algn="bl" rotWithShape="0"/>
                </a:effectLst>
                <a:uLnTx/>
                <a:uFillTx/>
                <a:latin typeface="+mj-lt"/>
                <a:ea typeface="+mj-ea"/>
                <a:cs typeface="+mj-cs"/>
              </a:rPr>
              <a:t>计数结束产生中断</a:t>
            </a:r>
            <a:r>
              <a:rPr kumimoji="1" lang="en-US" sz="3600" b="1" i="0" u="none" strike="noStrike" kern="0" cap="all" spc="0" normalizeH="0" baseline="0" noProof="0" dirty="0">
                <a:solidFill>
                  <a:schemeClr val="accent6"/>
                </a:solidFill>
                <a:effectLst>
                  <a:outerShdw blurRad="19685" dist="12700" dir="5400000" algn="tl" rotWithShape="0">
                    <a:schemeClr val="accent1">
                      <a:satMod val="130000"/>
                      <a:alpha val="60000"/>
                    </a:schemeClr>
                  </a:outerShdw>
                  <a:reflection blurRad="10000" stA="55000" endPos="48000" dist="500" dir="5400000" sy="-100000" algn="bl" rotWithShape="0"/>
                </a:effectLst>
                <a:uLnTx/>
                <a:uFillTx/>
                <a:latin typeface="+mj-lt"/>
                <a:ea typeface="+mj-ea"/>
                <a:cs typeface="+mj-cs"/>
              </a:rPr>
              <a:t>)</a:t>
            </a:r>
            <a:endParaRPr kumimoji="1" lang="zh-CN" altLang="en-US" sz="3600" b="1" i="0" u="none" strike="noStrike" kern="0" cap="all" spc="0" normalizeH="0" baseline="0" noProof="0" dirty="0">
              <a:solidFill>
                <a:schemeClr val="accent6"/>
              </a:solidFill>
              <a:effectLst>
                <a:outerShdw blurRad="19685" dist="12700" dir="5400000" algn="tl" rotWithShape="0">
                  <a:schemeClr val="accent1">
                    <a:satMod val="130000"/>
                    <a:alpha val="60000"/>
                  </a:schemeClr>
                </a:outerShdw>
                <a:reflection blurRad="10000" stA="55000" endPos="48000" dist="500" dir="5400000" sy="-100000" algn="bl" rotWithShape="0"/>
              </a:effectLst>
              <a:uLnTx/>
              <a:uFillTx/>
              <a:latin typeface="+mj-lt"/>
              <a:ea typeface="+mj-ea"/>
              <a:cs typeface="+mj-cs"/>
            </a:endParaRPr>
          </a:p>
        </p:txBody>
      </p:sp>
      <p:sp>
        <p:nvSpPr>
          <p:cNvPr id="27650" name="内容占位符 2"/>
          <p:cNvSpPr>
            <a:spLocks noGrp="1"/>
          </p:cNvSpPr>
          <p:nvPr>
            <p:ph idx="1"/>
          </p:nvPr>
        </p:nvSpPr>
        <p:spPr>
          <a:xfrm>
            <a:off x="38100" y="1365250"/>
            <a:ext cx="8775700" cy="5470525"/>
          </a:xfrm>
          <a:ln/>
        </p:spPr>
        <p:txBody>
          <a:bodyPr wrap="square" lIns="92075" tIns="46038" rIns="92075" bIns="46038" anchor="t" anchorCtr="0"/>
          <a:lstStyle/>
          <a:p>
            <a:pPr algn="just">
              <a:buNone/>
            </a:pPr>
            <a:r>
              <a:rPr lang="zh-CN" altLang="en-US" sz="2200" dirty="0"/>
              <a:t>                                                   </a:t>
            </a:r>
            <a:endParaRPr lang="en-US" altLang="zh-CN" sz="2200" dirty="0"/>
          </a:p>
          <a:p>
            <a:pPr algn="just">
              <a:buNone/>
            </a:pPr>
            <a:r>
              <a:rPr lang="zh-CN" altLang="en-US" sz="2200" dirty="0"/>
              <a:t>                当</a:t>
            </a:r>
            <a:r>
              <a:rPr lang="en-US" altLang="zh-CN" sz="2200" dirty="0"/>
              <a:t>GATE</a:t>
            </a:r>
            <a:r>
              <a:rPr lang="zh-CN" altLang="en-US" sz="2200" dirty="0"/>
              <a:t>＝</a:t>
            </a:r>
            <a:r>
              <a:rPr lang="en-US" altLang="zh-CN" sz="2200" dirty="0"/>
              <a:t>0</a:t>
            </a:r>
            <a:r>
              <a:rPr lang="zh-CN" altLang="en-US" sz="2200" dirty="0"/>
              <a:t>时，暂停计数，减法计数寄存器值保持不变；当  </a:t>
            </a:r>
            <a:r>
              <a:rPr lang="en-US" altLang="zh-CN" sz="2200" dirty="0"/>
              <a:t>GATE</a:t>
            </a:r>
            <a:r>
              <a:rPr lang="zh-CN" altLang="en-US" sz="2200" dirty="0"/>
              <a:t>＝</a:t>
            </a:r>
            <a:r>
              <a:rPr lang="en-US" altLang="zh-CN" sz="2200" dirty="0"/>
              <a:t>1</a:t>
            </a:r>
            <a:r>
              <a:rPr lang="zh-CN" altLang="en-US" sz="2200" dirty="0"/>
              <a:t>时，继续计数。</a:t>
            </a:r>
          </a:p>
          <a:p>
            <a:pPr algn="just">
              <a:buNone/>
            </a:pPr>
            <a:r>
              <a:rPr lang="zh-CN" altLang="en-US" sz="2200" dirty="0"/>
              <a:t> </a:t>
            </a:r>
            <a:endParaRPr lang="zh-CN" altLang="en-US" sz="2400" dirty="0"/>
          </a:p>
          <a:p>
            <a:pPr algn="just">
              <a:buNone/>
            </a:pPr>
            <a:r>
              <a:rPr lang="zh-CN" altLang="en-US" sz="2200" dirty="0"/>
              <a:t>             分成两种情况：若是</a:t>
            </a:r>
            <a:r>
              <a:rPr lang="en-US" altLang="zh-CN" sz="2200" dirty="0"/>
              <a:t>8</a:t>
            </a:r>
            <a:r>
              <a:rPr lang="zh-CN" altLang="en-US" sz="2200" dirty="0"/>
              <a:t>位计数，则写入新值后的下一个脉冲按新值计数；若是</a:t>
            </a:r>
            <a:r>
              <a:rPr lang="en-US" altLang="zh-CN" sz="2200" dirty="0"/>
              <a:t>16</a:t>
            </a:r>
            <a:r>
              <a:rPr lang="zh-CN" altLang="en-US" sz="2200" dirty="0"/>
              <a:t>位计数，则在写入第一个字节后，停止计数，写入第二个字节后的下一个脉冲按新值计数。</a:t>
            </a:r>
          </a:p>
          <a:p>
            <a:pPr algn="just">
              <a:buNone/>
            </a:pPr>
            <a:r>
              <a:rPr lang="zh-CN" altLang="en-US" sz="2200" dirty="0"/>
              <a:t>              方式</a:t>
            </a:r>
            <a:r>
              <a:rPr lang="en-US" altLang="zh-CN" sz="2200" dirty="0"/>
              <a:t>0</a:t>
            </a:r>
            <a:r>
              <a:rPr lang="zh-CN" altLang="en-US" sz="2200" dirty="0"/>
              <a:t>下波形如图所示：</a:t>
            </a:r>
          </a:p>
          <a:p>
            <a:pPr algn="just">
              <a:buNone/>
            </a:pPr>
            <a:endParaRPr lang="zh-CN" altLang="en-US" sz="2200" dirty="0"/>
          </a:p>
        </p:txBody>
      </p:sp>
      <p:sp>
        <p:nvSpPr>
          <p:cNvPr id="4" name="矩形 3"/>
          <p:cNvSpPr/>
          <p:nvPr/>
        </p:nvSpPr>
        <p:spPr>
          <a:xfrm>
            <a:off x="171450" y="1463040"/>
            <a:ext cx="6413500" cy="426085"/>
          </a:xfrm>
          <a:prstGeom prst="rect">
            <a:avLst/>
          </a:prstGeom>
          <a:noFill/>
        </p:spPr>
        <p:txBody>
          <a:bodyPr wrap="square">
            <a:spAutoFit/>
          </a:bodyPr>
          <a:lstStyle/>
          <a:p>
            <a:pPr marL="0" marR="0" lvl="0" indent="0" algn="ctr" defTabSz="914400" rtl="0" eaLnBrk="1" fontAlgn="base" latinLnBrk="0" hangingPunct="1">
              <a:lnSpc>
                <a:spcPct val="90000"/>
              </a:lnSpc>
              <a:spcBef>
                <a:spcPct val="20000"/>
              </a:spcBef>
              <a:spcAft>
                <a:spcPct val="0"/>
              </a:spcAft>
              <a:buClrTx/>
              <a:buSzTx/>
              <a:buFontTx/>
              <a:buNone/>
              <a:defRPr/>
            </a:pPr>
            <a:r>
              <a:rPr kumimoji="1" lang="zh-CN" altLang="en-US" sz="2400" b="0" i="0" u="none" strike="noStrike" kern="1200" cap="none" spc="0" normalizeH="0" baseline="0" noProof="0" dirty="0">
                <a:ln>
                  <a:noFill/>
                </a:ln>
                <a:solidFill>
                  <a:schemeClr val="accent2"/>
                </a:solidFill>
                <a:effectLst/>
                <a:uLnTx/>
                <a:uFillTx/>
                <a:latin typeface="宋体" panose="02010600030101010101" pitchFamily="2" charset="-122"/>
                <a:ea typeface="宋体" panose="02010600030101010101" pitchFamily="2" charset="-122"/>
                <a:cs typeface="+mn-cs"/>
              </a:rPr>
              <a:t>①</a:t>
            </a:r>
            <a:r>
              <a:rPr kumimoji="1" lang="zh-CN" altLang="en-US" sz="2400" b="0" i="0" u="none" strike="noStrike" kern="1200" cap="none" spc="0" normalizeH="0" baseline="0" noProof="0" dirty="0">
                <a:ln w="10541" cmpd="sng">
                  <a:solidFill>
                    <a:schemeClr val="accent1">
                      <a:shade val="88000"/>
                      <a:satMod val="110000"/>
                    </a:schemeClr>
                  </a:solidFill>
                  <a:prstDash val="solid"/>
                </a:ln>
                <a:solidFill>
                  <a:srgbClr val="66FFCC"/>
                </a:solidFill>
                <a:effectLst/>
                <a:uLnTx/>
                <a:uFillTx/>
                <a:latin typeface="宋体" panose="02010600030101010101" pitchFamily="2" charset="-122"/>
                <a:ea typeface="宋体" panose="02010600030101010101" pitchFamily="2" charset="-122"/>
                <a:cs typeface="+mn-cs"/>
              </a:rPr>
              <a:t>在</a:t>
            </a:r>
            <a:r>
              <a:rPr kumimoji="1" lang="zh-CN" altLang="en-US" sz="2400" b="0" i="0" u="none" strike="noStrike" kern="1200" cap="none" spc="0" normalizeH="0" baseline="0" noProof="0" dirty="0">
                <a:ln w="10541" cmpd="sng">
                  <a:solidFill>
                    <a:schemeClr val="accent1">
                      <a:shade val="88000"/>
                      <a:satMod val="110000"/>
                    </a:schemeClr>
                  </a:solidFill>
                  <a:prstDash val="solid"/>
                </a:ln>
                <a:solidFill>
                  <a:schemeClr val="accent2"/>
                </a:solidFill>
                <a:effectLst/>
                <a:uLnTx/>
                <a:uFillTx/>
                <a:latin typeface="宋体" panose="02010600030101010101" pitchFamily="2" charset="-122"/>
                <a:ea typeface="宋体" panose="02010600030101010101" pitchFamily="2" charset="-122"/>
                <a:cs typeface="+mn-cs"/>
              </a:rPr>
              <a:t>计数过程中</a:t>
            </a:r>
            <a:r>
              <a:rPr kumimoji="1" lang="zh-CN" altLang="en-US" sz="2400" b="0" i="0" u="none" strike="noStrike" kern="1200" cap="none" spc="0" normalizeH="0" baseline="0" noProof="0" dirty="0">
                <a:ln w="10541" cmpd="sng">
                  <a:solidFill>
                    <a:schemeClr val="accent1">
                      <a:shade val="88000"/>
                      <a:satMod val="110000"/>
                    </a:schemeClr>
                  </a:solidFill>
                  <a:prstDash val="solid"/>
                </a:ln>
                <a:solidFill>
                  <a:schemeClr val="accent6"/>
                </a:solidFill>
                <a:effectLst/>
                <a:uLnTx/>
                <a:uFillTx/>
                <a:latin typeface="宋体" panose="02010600030101010101" pitchFamily="2" charset="-122"/>
                <a:ea typeface="宋体" panose="02010600030101010101" pitchFamily="2" charset="-122"/>
                <a:cs typeface="+mn-cs"/>
              </a:rPr>
              <a:t>，可由</a:t>
            </a:r>
            <a:r>
              <a:rPr kumimoji="1" lang="en-US" sz="2400" b="0" i="0" u="none" strike="noStrike" kern="1200" cap="none" spc="0" normalizeH="0" baseline="0" noProof="0" dirty="0">
                <a:ln w="10541" cmpd="sng">
                  <a:solidFill>
                    <a:schemeClr val="accent1">
                      <a:shade val="88000"/>
                      <a:satMod val="110000"/>
                    </a:schemeClr>
                  </a:solidFill>
                  <a:prstDash val="solid"/>
                </a:ln>
                <a:solidFill>
                  <a:schemeClr val="accent2"/>
                </a:solidFill>
                <a:effectLst/>
                <a:uLnTx/>
                <a:uFillTx/>
                <a:latin typeface="宋体" panose="02010600030101010101" pitchFamily="2" charset="-122"/>
                <a:ea typeface="宋体" panose="02010600030101010101" pitchFamily="2" charset="-122"/>
                <a:cs typeface="+mn-cs"/>
              </a:rPr>
              <a:t>GATE</a:t>
            </a:r>
            <a:r>
              <a:rPr kumimoji="1" lang="zh-CN" altLang="en-US" sz="2400" b="0" i="0" u="none" strike="noStrike" kern="1200" cap="none" spc="0" normalizeH="0" baseline="0" noProof="0" dirty="0">
                <a:ln w="10541" cmpd="sng">
                  <a:solidFill>
                    <a:schemeClr val="accent1">
                      <a:shade val="88000"/>
                      <a:satMod val="110000"/>
                    </a:schemeClr>
                  </a:solidFill>
                  <a:prstDash val="solid"/>
                </a:ln>
                <a:solidFill>
                  <a:schemeClr val="accent2"/>
                </a:solidFill>
                <a:effectLst/>
                <a:uLnTx/>
                <a:uFillTx/>
                <a:latin typeface="宋体" panose="02010600030101010101" pitchFamily="2" charset="-122"/>
                <a:ea typeface="宋体" panose="02010600030101010101" pitchFamily="2" charset="-122"/>
                <a:cs typeface="+mn-cs"/>
              </a:rPr>
              <a:t>信号控制暂停：</a:t>
            </a:r>
          </a:p>
        </p:txBody>
      </p:sp>
      <p:sp>
        <p:nvSpPr>
          <p:cNvPr id="5" name="矩形 4"/>
          <p:cNvSpPr/>
          <p:nvPr/>
        </p:nvSpPr>
        <p:spPr>
          <a:xfrm>
            <a:off x="0" y="2551680"/>
            <a:ext cx="9034843" cy="424732"/>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base" latinLnBrk="0" hangingPunct="1">
              <a:lnSpc>
                <a:spcPct val="90000"/>
              </a:lnSpc>
              <a:spcBef>
                <a:spcPct val="20000"/>
              </a:spcBef>
              <a:spcAft>
                <a:spcPct val="0"/>
              </a:spcAft>
              <a:buClrTx/>
              <a:buSzTx/>
              <a:buFontTx/>
              <a:buNone/>
              <a:defRPr/>
            </a:pPr>
            <a:r>
              <a:rPr kumimoji="1" lang="zh-CN" altLang="en-US" sz="2400" b="1" i="0" u="none" strike="noStrike" kern="1200" cap="none" spc="50" normalizeH="0" baseline="0" noProof="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宋体" panose="02010600030101010101" pitchFamily="2" charset="-122"/>
                <a:ea typeface="宋体" panose="02010600030101010101" pitchFamily="2" charset="-122"/>
                <a:cs typeface="+mn-cs"/>
              </a:rPr>
              <a:t>  ②在计数过程中可以改变计数值，且这种改变是立即有效的：</a:t>
            </a:r>
          </a:p>
        </p:txBody>
      </p:sp>
      <p:pic>
        <p:nvPicPr>
          <p:cNvPr id="27653" name="Picture 25" descr="8"/>
          <p:cNvPicPr>
            <a:picLocks noChangeAspect="1"/>
          </p:cNvPicPr>
          <p:nvPr/>
        </p:nvPicPr>
        <p:blipFill>
          <a:blip r:embed="rId2"/>
          <a:stretch>
            <a:fillRect/>
          </a:stretch>
        </p:blipFill>
        <p:spPr>
          <a:xfrm>
            <a:off x="3963988" y="4362450"/>
            <a:ext cx="3827462" cy="2330450"/>
          </a:xfrm>
          <a:prstGeom prst="rect">
            <a:avLst/>
          </a:prstGeom>
          <a:noFill/>
          <a:ln w="9525">
            <a:noFill/>
          </a:ln>
        </p:spPr>
      </p:pic>
    </p:spTree>
  </p:cSld>
  <p:clrMapOvr>
    <a:masterClrMapping/>
  </p:clrMapOvr>
  <p:transition spd="med">
    <p:random/>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600" b="1" i="0" u="none" strike="noStrike" kern="0" cap="none" spc="0" normalizeH="0" baseline="0" noProof="0" dirty="0">
                <a:ln>
                  <a:noFill/>
                </a:ln>
                <a:solidFill>
                  <a:schemeClr val="accent2"/>
                </a:solidFill>
                <a:effectLst>
                  <a:outerShdw blurRad="38100" dist="38100" dir="2700000" algn="tl">
                    <a:srgbClr val="000000"/>
                  </a:outerShdw>
                </a:effectLst>
                <a:uLnTx/>
                <a:uFillTx/>
                <a:latin typeface="+mj-lt"/>
                <a:ea typeface="+mj-ea"/>
                <a:cs typeface="+mj-cs"/>
              </a:rPr>
              <a:t>例 题 赏 析</a:t>
            </a:r>
            <a:endParaRPr kumimoji="1" lang="zh-CN" altLang="en-US"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28674" name="内容占位符 2"/>
          <p:cNvSpPr>
            <a:spLocks noGrp="1"/>
          </p:cNvSpPr>
          <p:nvPr>
            <p:ph idx="1"/>
          </p:nvPr>
        </p:nvSpPr>
        <p:spPr>
          <a:ln/>
        </p:spPr>
        <p:txBody>
          <a:bodyPr wrap="square" lIns="92075" tIns="46038" rIns="92075" bIns="46038" anchor="t" anchorCtr="0"/>
          <a:lstStyle/>
          <a:p>
            <a:pPr>
              <a:buNone/>
            </a:pPr>
            <a:r>
              <a:rPr lang="en-US" altLang="zh-CN" dirty="0"/>
              <a:t>  </a:t>
            </a:r>
            <a:r>
              <a:rPr lang="en-US" altLang="zh-CN" i="1" dirty="0">
                <a:solidFill>
                  <a:srgbClr val="FFFF00"/>
                </a:solidFill>
              </a:rPr>
              <a:t>【</a:t>
            </a:r>
            <a:r>
              <a:rPr lang="zh-CN" altLang="en-US" i="1" dirty="0">
                <a:solidFill>
                  <a:srgbClr val="FFFF00"/>
                </a:solidFill>
              </a:rPr>
              <a:t>例题</a:t>
            </a:r>
            <a:r>
              <a:rPr lang="en-US" altLang="zh-CN" i="1" dirty="0">
                <a:solidFill>
                  <a:srgbClr val="FFFF00"/>
                </a:solidFill>
              </a:rPr>
              <a:t>8.4】</a:t>
            </a:r>
            <a:r>
              <a:rPr lang="zh-CN" altLang="en-US" i="1" dirty="0">
                <a:solidFill>
                  <a:srgbClr val="FFFF00"/>
                </a:solidFill>
              </a:rPr>
              <a:t>：</a:t>
            </a:r>
            <a:endParaRPr lang="en-US" altLang="zh-CN" i="1" dirty="0">
              <a:solidFill>
                <a:srgbClr val="FFFF00"/>
              </a:solidFill>
            </a:endParaRPr>
          </a:p>
          <a:p>
            <a:pPr>
              <a:buNone/>
            </a:pPr>
            <a:r>
              <a:rPr lang="en-US" altLang="zh-CN" dirty="0"/>
              <a:t>              </a:t>
            </a:r>
            <a:r>
              <a:rPr lang="zh-CN" altLang="en-US" dirty="0"/>
              <a:t>端口地址为：</a:t>
            </a:r>
            <a:r>
              <a:rPr lang="en-US" altLang="zh-CN" dirty="0"/>
              <a:t>04H</a:t>
            </a:r>
            <a:r>
              <a:rPr lang="zh-CN" altLang="en-US" dirty="0"/>
              <a:t>～</a:t>
            </a:r>
            <a:r>
              <a:rPr lang="en-US" altLang="zh-CN" dirty="0"/>
              <a:t>07H</a:t>
            </a:r>
            <a:r>
              <a:rPr lang="zh-CN" altLang="en-US" dirty="0"/>
              <a:t>，</a:t>
            </a:r>
            <a:r>
              <a:rPr lang="en-US" altLang="zh-CN" dirty="0"/>
              <a:t>1</a:t>
            </a:r>
            <a:r>
              <a:rPr lang="zh-CN" altLang="en-US" dirty="0"/>
              <a:t>＃计数器，方式</a:t>
            </a:r>
            <a:r>
              <a:rPr lang="en-US" altLang="zh-CN" dirty="0"/>
              <a:t>0</a:t>
            </a:r>
            <a:r>
              <a:rPr lang="zh-CN" altLang="en-US" dirty="0"/>
              <a:t>，</a:t>
            </a:r>
            <a:r>
              <a:rPr lang="en-US" altLang="zh-CN" dirty="0"/>
              <a:t>8</a:t>
            </a:r>
            <a:r>
              <a:rPr lang="zh-CN" altLang="en-US" dirty="0"/>
              <a:t>位计数，二进制初值为：</a:t>
            </a:r>
            <a:r>
              <a:rPr lang="en-US" altLang="zh-CN" dirty="0"/>
              <a:t>80H</a:t>
            </a:r>
            <a:r>
              <a:rPr lang="zh-CN" altLang="en-US" dirty="0"/>
              <a:t>，进行初始化编程。</a:t>
            </a:r>
          </a:p>
          <a:p>
            <a:pPr>
              <a:buNone/>
            </a:pPr>
            <a:endParaRPr lang="zh-CN" altLang="en-US" sz="2400" dirty="0"/>
          </a:p>
        </p:txBody>
      </p:sp>
      <p:graphicFrame>
        <p:nvGraphicFramePr>
          <p:cNvPr id="5" name="表格 4"/>
          <p:cNvGraphicFramePr>
            <a:graphicFrameLocks noGrp="1"/>
          </p:cNvGraphicFramePr>
          <p:nvPr/>
        </p:nvGraphicFramePr>
        <p:xfrm>
          <a:off x="3568700" y="3951288"/>
          <a:ext cx="4909932" cy="1722120"/>
        </p:xfrm>
        <a:graphic>
          <a:graphicData uri="http://schemas.openxmlformats.org/drawingml/2006/table">
            <a:tbl>
              <a:tblPr firstRow="1" bandRow="1">
                <a:tableStyleId>{5C22544A-7EE6-4342-B048-85BDC9FD1C3A}</a:tableStyleId>
              </a:tblPr>
              <a:tblGrid>
                <a:gridCol w="2454966">
                  <a:extLst>
                    <a:ext uri="{9D8B030D-6E8A-4147-A177-3AD203B41FA5}">
                      <a16:colId xmlns:a16="http://schemas.microsoft.com/office/drawing/2014/main" val="20000"/>
                    </a:ext>
                  </a:extLst>
                </a:gridCol>
                <a:gridCol w="2454966">
                  <a:extLst>
                    <a:ext uri="{9D8B030D-6E8A-4147-A177-3AD203B41FA5}">
                      <a16:colId xmlns:a16="http://schemas.microsoft.com/office/drawing/2014/main" val="20001"/>
                    </a:ext>
                  </a:extLst>
                </a:gridCol>
              </a:tblGrid>
              <a:tr h="370840">
                <a:tc>
                  <a:txBody>
                    <a:bodyPr/>
                    <a:lstStyle/>
                    <a:p>
                      <a:pPr algn="ctr">
                        <a:spcAft>
                          <a:spcPts val="0"/>
                        </a:spcAft>
                      </a:pPr>
                      <a:r>
                        <a:rPr lang="en-US" sz="2000" b="0" kern="100" dirty="0">
                          <a:solidFill>
                            <a:schemeClr val="bg2"/>
                          </a:solidFill>
                          <a:latin typeface="Times New Roman" panose="02020603050405020304"/>
                          <a:ea typeface="宋体" panose="02010600030101010101" pitchFamily="2" charset="-122"/>
                          <a:cs typeface="Times New Roman" panose="02020603050405020304"/>
                        </a:rPr>
                        <a:t>MOV</a:t>
                      </a:r>
                      <a:endParaRPr lang="zh-CN" sz="2000" b="0" kern="100" dirty="0">
                        <a:solidFill>
                          <a:schemeClr val="bg2"/>
                        </a:solidFill>
                        <a:latin typeface="Times New Roman" panose="02020603050405020304"/>
                        <a:ea typeface="宋体" panose="02010600030101010101" pitchFamily="2" charset="-122"/>
                        <a:cs typeface="Times New Roman" panose="02020603050405020304"/>
                      </a:endParaRPr>
                    </a:p>
                  </a:txBody>
                  <a:tcPr marL="68580" marR="68580" marT="0" marB="0" anchor="ctr">
                    <a:solidFill>
                      <a:schemeClr val="accent2"/>
                    </a:solidFill>
                  </a:tcPr>
                </a:tc>
                <a:tc>
                  <a:txBody>
                    <a:bodyPr/>
                    <a:lstStyle/>
                    <a:p>
                      <a:pPr algn="ctr">
                        <a:spcAft>
                          <a:spcPts val="0"/>
                        </a:spcAft>
                      </a:pPr>
                      <a:r>
                        <a:rPr lang="en-US" sz="2000" b="0" kern="100" dirty="0">
                          <a:solidFill>
                            <a:schemeClr val="bg2"/>
                          </a:solidFill>
                          <a:latin typeface="Times New Roman" panose="02020603050405020304"/>
                          <a:ea typeface="宋体" panose="02010600030101010101" pitchFamily="2" charset="-122"/>
                          <a:cs typeface="Times New Roman" panose="02020603050405020304"/>
                        </a:rPr>
                        <a:t>AL</a:t>
                      </a:r>
                      <a:r>
                        <a:rPr lang="zh-CN" sz="2000" b="0" kern="100" dirty="0">
                          <a:solidFill>
                            <a:schemeClr val="bg2"/>
                          </a:solidFill>
                          <a:latin typeface="Times New Roman" panose="02020603050405020304"/>
                          <a:ea typeface="宋体" panose="02010600030101010101" pitchFamily="2" charset="-122"/>
                          <a:cs typeface="Times New Roman" panose="02020603050405020304"/>
                        </a:rPr>
                        <a:t>，</a:t>
                      </a:r>
                      <a:r>
                        <a:rPr lang="en-US" sz="2000" b="0" kern="100" dirty="0">
                          <a:solidFill>
                            <a:schemeClr val="bg2"/>
                          </a:solidFill>
                          <a:latin typeface="Times New Roman" panose="02020603050405020304"/>
                          <a:ea typeface="宋体" panose="02010600030101010101" pitchFamily="2" charset="-122"/>
                          <a:cs typeface="Times New Roman" panose="02020603050405020304"/>
                        </a:rPr>
                        <a:t>50H</a:t>
                      </a:r>
                      <a:r>
                        <a:rPr lang="zh-CN" sz="2000" b="0" kern="100" dirty="0">
                          <a:solidFill>
                            <a:schemeClr val="bg2"/>
                          </a:solidFill>
                          <a:latin typeface="Times New Roman" panose="02020603050405020304"/>
                          <a:ea typeface="宋体" panose="02010600030101010101" pitchFamily="2" charset="-122"/>
                          <a:cs typeface="Times New Roman" panose="02020603050405020304"/>
                        </a:rPr>
                        <a:t>；</a:t>
                      </a:r>
                      <a:endParaRPr lang="en-US" altLang="zh-CN" sz="2000" b="0" kern="100" dirty="0">
                        <a:solidFill>
                          <a:schemeClr val="bg2"/>
                        </a:solidFill>
                        <a:latin typeface="Times New Roman" panose="02020603050405020304"/>
                        <a:ea typeface="宋体" panose="02010600030101010101" pitchFamily="2" charset="-122"/>
                        <a:cs typeface="Times New Roman" panose="02020603050405020304"/>
                      </a:endParaRPr>
                    </a:p>
                    <a:p>
                      <a:pPr algn="ctr">
                        <a:spcAft>
                          <a:spcPts val="0"/>
                        </a:spcAft>
                      </a:pPr>
                      <a:r>
                        <a:rPr lang="en-US" sz="2000" b="0" kern="100" dirty="0">
                          <a:solidFill>
                            <a:schemeClr val="bg2"/>
                          </a:solidFill>
                          <a:latin typeface="Times New Roman" panose="02020603050405020304"/>
                          <a:ea typeface="宋体" panose="02010600030101010101" pitchFamily="2" charset="-122"/>
                          <a:cs typeface="Times New Roman" panose="02020603050405020304"/>
                        </a:rPr>
                        <a:t>0101</a:t>
                      </a:r>
                      <a:r>
                        <a:rPr lang="zh-CN" sz="2000" b="0" kern="100" dirty="0">
                          <a:solidFill>
                            <a:schemeClr val="bg2"/>
                          </a:solidFill>
                          <a:latin typeface="Times New Roman" panose="02020603050405020304"/>
                          <a:ea typeface="宋体" panose="02010600030101010101" pitchFamily="2" charset="-122"/>
                          <a:cs typeface="Times New Roman" panose="02020603050405020304"/>
                        </a:rPr>
                        <a:t>　</a:t>
                      </a:r>
                      <a:r>
                        <a:rPr lang="en-US" sz="2000" b="0" kern="100" dirty="0">
                          <a:solidFill>
                            <a:schemeClr val="bg2"/>
                          </a:solidFill>
                          <a:latin typeface="Times New Roman" panose="02020603050405020304"/>
                          <a:ea typeface="宋体" panose="02010600030101010101" pitchFamily="2" charset="-122"/>
                          <a:cs typeface="Times New Roman" panose="02020603050405020304"/>
                        </a:rPr>
                        <a:t>0000B</a:t>
                      </a:r>
                      <a:endParaRPr lang="zh-CN" sz="2000" b="0" kern="100" dirty="0">
                        <a:solidFill>
                          <a:schemeClr val="bg2"/>
                        </a:solidFill>
                        <a:latin typeface="Times New Roman" panose="02020603050405020304"/>
                        <a:ea typeface="宋体" panose="02010600030101010101" pitchFamily="2" charset="-122"/>
                        <a:cs typeface="Times New Roman" panose="02020603050405020304"/>
                      </a:endParaRPr>
                    </a:p>
                  </a:txBody>
                  <a:tcPr marL="68580" marR="68580" marT="0" marB="0" anchor="ctr">
                    <a:solidFill>
                      <a:schemeClr val="accent2"/>
                    </a:solidFill>
                  </a:tcPr>
                </a:tc>
                <a:extLst>
                  <a:ext uri="{0D108BD9-81ED-4DB2-BD59-A6C34878D82A}">
                    <a16:rowId xmlns:a16="http://schemas.microsoft.com/office/drawing/2014/main" val="10000"/>
                  </a:ext>
                </a:extLst>
              </a:tr>
              <a:tr h="370840">
                <a:tc>
                  <a:txBody>
                    <a:bodyPr/>
                    <a:lstStyle/>
                    <a:p>
                      <a:pPr algn="ctr">
                        <a:spcAft>
                          <a:spcPts val="0"/>
                        </a:spcAft>
                      </a:pPr>
                      <a:r>
                        <a:rPr lang="en-US" sz="2000" b="0" i="0" kern="100" dirty="0">
                          <a:latin typeface="Times New Roman" panose="02020603050405020304"/>
                          <a:ea typeface="宋体" panose="02010600030101010101" pitchFamily="2" charset="-122"/>
                          <a:cs typeface="Times New Roman" panose="02020603050405020304"/>
                        </a:rPr>
                        <a:t>OUT</a:t>
                      </a:r>
                      <a:endParaRPr lang="zh-CN" sz="2000" b="0" i="0" kern="100" dirty="0">
                        <a:latin typeface="Times New Roman" panose="02020603050405020304"/>
                        <a:ea typeface="宋体" panose="02010600030101010101" pitchFamily="2" charset="-122"/>
                        <a:cs typeface="Times New Roman" panose="02020603050405020304"/>
                      </a:endParaRPr>
                    </a:p>
                  </a:txBody>
                  <a:tcPr marL="68580" marR="68580" marT="0" marB="0" anchor="ctr">
                    <a:solidFill>
                      <a:schemeClr val="accent2"/>
                    </a:solidFill>
                  </a:tcPr>
                </a:tc>
                <a:tc>
                  <a:txBody>
                    <a:bodyPr/>
                    <a:lstStyle/>
                    <a:p>
                      <a:pPr algn="ctr">
                        <a:spcAft>
                          <a:spcPts val="0"/>
                        </a:spcAft>
                      </a:pPr>
                      <a:r>
                        <a:rPr lang="en-US" sz="2000" b="0" i="0" kern="100" dirty="0">
                          <a:latin typeface="Times New Roman" panose="02020603050405020304"/>
                          <a:ea typeface="宋体" panose="02010600030101010101" pitchFamily="2" charset="-122"/>
                          <a:cs typeface="Times New Roman" panose="02020603050405020304"/>
                        </a:rPr>
                        <a:t>07H</a:t>
                      </a:r>
                      <a:r>
                        <a:rPr lang="zh-CN" sz="2000" b="0" i="0" kern="100" dirty="0">
                          <a:latin typeface="Times New Roman" panose="02020603050405020304"/>
                          <a:ea typeface="宋体" panose="02010600030101010101" pitchFamily="2" charset="-122"/>
                          <a:cs typeface="Times New Roman" panose="02020603050405020304"/>
                        </a:rPr>
                        <a:t>，</a:t>
                      </a:r>
                      <a:r>
                        <a:rPr lang="en-US" sz="2000" b="0" i="0" kern="100" dirty="0">
                          <a:latin typeface="Times New Roman" panose="02020603050405020304"/>
                          <a:ea typeface="宋体" panose="02010600030101010101" pitchFamily="2" charset="-122"/>
                          <a:cs typeface="Times New Roman" panose="02020603050405020304"/>
                        </a:rPr>
                        <a:t>AL</a:t>
                      </a:r>
                      <a:endParaRPr lang="zh-CN" sz="2000" b="0" i="0" kern="100" dirty="0">
                        <a:latin typeface="Times New Roman" panose="02020603050405020304"/>
                        <a:ea typeface="宋体" panose="02010600030101010101" pitchFamily="2" charset="-122"/>
                        <a:cs typeface="Times New Roman" panose="02020603050405020304"/>
                      </a:endParaRPr>
                    </a:p>
                  </a:txBody>
                  <a:tcPr marL="68580" marR="68580" marT="0" marB="0" anchor="ctr">
                    <a:solidFill>
                      <a:schemeClr val="accent2"/>
                    </a:solidFill>
                  </a:tcPr>
                </a:tc>
                <a:extLst>
                  <a:ext uri="{0D108BD9-81ED-4DB2-BD59-A6C34878D82A}">
                    <a16:rowId xmlns:a16="http://schemas.microsoft.com/office/drawing/2014/main" val="10001"/>
                  </a:ext>
                </a:extLst>
              </a:tr>
              <a:tr h="370840">
                <a:tc>
                  <a:txBody>
                    <a:bodyPr/>
                    <a:lstStyle/>
                    <a:p>
                      <a:pPr algn="ctr">
                        <a:spcAft>
                          <a:spcPts val="0"/>
                        </a:spcAft>
                      </a:pPr>
                      <a:r>
                        <a:rPr lang="en-US" sz="2000" b="0" i="0" kern="100" dirty="0">
                          <a:latin typeface="Times New Roman" panose="02020603050405020304"/>
                          <a:ea typeface="宋体" panose="02010600030101010101" pitchFamily="2" charset="-122"/>
                          <a:cs typeface="Times New Roman" panose="02020603050405020304"/>
                        </a:rPr>
                        <a:t>MOV</a:t>
                      </a:r>
                      <a:endParaRPr lang="zh-CN" sz="2000" b="0" i="0" kern="100" dirty="0">
                        <a:latin typeface="Times New Roman" panose="02020603050405020304"/>
                        <a:ea typeface="宋体" panose="02010600030101010101" pitchFamily="2" charset="-122"/>
                        <a:cs typeface="Times New Roman" panose="02020603050405020304"/>
                      </a:endParaRPr>
                    </a:p>
                  </a:txBody>
                  <a:tcPr marL="68580" marR="68580" marT="0" marB="0" anchor="ctr">
                    <a:solidFill>
                      <a:schemeClr val="accent2"/>
                    </a:solidFill>
                  </a:tcPr>
                </a:tc>
                <a:tc>
                  <a:txBody>
                    <a:bodyPr/>
                    <a:lstStyle/>
                    <a:p>
                      <a:pPr algn="ctr">
                        <a:spcAft>
                          <a:spcPts val="0"/>
                        </a:spcAft>
                      </a:pPr>
                      <a:r>
                        <a:rPr lang="en-US" sz="2000" b="0" i="0" kern="100" dirty="0">
                          <a:latin typeface="Times New Roman" panose="02020603050405020304"/>
                          <a:ea typeface="宋体" panose="02010600030101010101" pitchFamily="2" charset="-122"/>
                          <a:cs typeface="Times New Roman" panose="02020603050405020304"/>
                        </a:rPr>
                        <a:t>AL</a:t>
                      </a:r>
                      <a:r>
                        <a:rPr lang="zh-CN" sz="2000" b="0" i="0" kern="100" dirty="0">
                          <a:latin typeface="Times New Roman" panose="02020603050405020304"/>
                          <a:ea typeface="宋体" panose="02010600030101010101" pitchFamily="2" charset="-122"/>
                          <a:cs typeface="Times New Roman" panose="02020603050405020304"/>
                        </a:rPr>
                        <a:t>，</a:t>
                      </a:r>
                      <a:r>
                        <a:rPr lang="en-US" sz="2000" b="0" i="0" kern="100" dirty="0">
                          <a:latin typeface="Times New Roman" panose="02020603050405020304"/>
                          <a:ea typeface="宋体" panose="02010600030101010101" pitchFamily="2" charset="-122"/>
                          <a:cs typeface="Times New Roman" panose="02020603050405020304"/>
                        </a:rPr>
                        <a:t>80H</a:t>
                      </a:r>
                      <a:endParaRPr lang="zh-CN" sz="2000" b="0" i="0" kern="100" dirty="0">
                        <a:latin typeface="Times New Roman" panose="02020603050405020304"/>
                        <a:ea typeface="宋体" panose="02010600030101010101" pitchFamily="2" charset="-122"/>
                        <a:cs typeface="Times New Roman" panose="02020603050405020304"/>
                      </a:endParaRPr>
                    </a:p>
                  </a:txBody>
                  <a:tcPr marL="68580" marR="68580" marT="0" marB="0" anchor="ctr">
                    <a:solidFill>
                      <a:schemeClr val="accent2"/>
                    </a:solidFill>
                  </a:tcPr>
                </a:tc>
                <a:extLst>
                  <a:ext uri="{0D108BD9-81ED-4DB2-BD59-A6C34878D82A}">
                    <a16:rowId xmlns:a16="http://schemas.microsoft.com/office/drawing/2014/main" val="10002"/>
                  </a:ext>
                </a:extLst>
              </a:tr>
              <a:tr h="370840">
                <a:tc>
                  <a:txBody>
                    <a:bodyPr/>
                    <a:lstStyle/>
                    <a:p>
                      <a:pPr algn="ctr">
                        <a:spcAft>
                          <a:spcPts val="0"/>
                        </a:spcAft>
                      </a:pPr>
                      <a:r>
                        <a:rPr lang="en-US" sz="2000" b="0" i="0" kern="100" dirty="0">
                          <a:latin typeface="Times New Roman" panose="02020603050405020304"/>
                          <a:ea typeface="宋体" panose="02010600030101010101" pitchFamily="2" charset="-122"/>
                          <a:cs typeface="Times New Roman" panose="02020603050405020304"/>
                        </a:rPr>
                        <a:t>OUT</a:t>
                      </a:r>
                      <a:endParaRPr lang="zh-CN" sz="2000" b="0" i="0" kern="100" dirty="0">
                        <a:latin typeface="Times New Roman" panose="02020603050405020304"/>
                        <a:ea typeface="宋体" panose="02010600030101010101" pitchFamily="2" charset="-122"/>
                        <a:cs typeface="Times New Roman" panose="02020603050405020304"/>
                      </a:endParaRPr>
                    </a:p>
                  </a:txBody>
                  <a:tcPr marL="68580" marR="68580" marT="0" marB="0" anchor="ctr">
                    <a:solidFill>
                      <a:schemeClr val="accent2"/>
                    </a:solidFill>
                  </a:tcPr>
                </a:tc>
                <a:tc>
                  <a:txBody>
                    <a:bodyPr/>
                    <a:lstStyle/>
                    <a:p>
                      <a:pPr algn="ctr">
                        <a:spcAft>
                          <a:spcPts val="0"/>
                        </a:spcAft>
                      </a:pPr>
                      <a:r>
                        <a:rPr lang="en-US" sz="2000" b="0" i="0" kern="100" dirty="0">
                          <a:latin typeface="Times New Roman" panose="02020603050405020304"/>
                          <a:ea typeface="宋体" panose="02010600030101010101" pitchFamily="2" charset="-122"/>
                          <a:cs typeface="Times New Roman" panose="02020603050405020304"/>
                        </a:rPr>
                        <a:t>05H</a:t>
                      </a:r>
                      <a:r>
                        <a:rPr lang="zh-CN" sz="2000" b="0" i="0" kern="100" dirty="0">
                          <a:latin typeface="Times New Roman" panose="02020603050405020304"/>
                          <a:ea typeface="宋体" panose="02010600030101010101" pitchFamily="2" charset="-122"/>
                          <a:cs typeface="Times New Roman" panose="02020603050405020304"/>
                        </a:rPr>
                        <a:t>，</a:t>
                      </a:r>
                      <a:r>
                        <a:rPr lang="en-US" sz="2000" b="0" i="0" kern="100" dirty="0">
                          <a:latin typeface="Times New Roman" panose="02020603050405020304"/>
                          <a:ea typeface="宋体" panose="02010600030101010101" pitchFamily="2" charset="-122"/>
                          <a:cs typeface="Times New Roman" panose="02020603050405020304"/>
                        </a:rPr>
                        <a:t>AL</a:t>
                      </a:r>
                      <a:endParaRPr lang="zh-CN" sz="2000" b="0" i="0" kern="100" dirty="0">
                        <a:latin typeface="Times New Roman" panose="02020603050405020304"/>
                        <a:ea typeface="宋体" panose="02010600030101010101" pitchFamily="2" charset="-122"/>
                        <a:cs typeface="Times New Roman" panose="02020603050405020304"/>
                      </a:endParaRPr>
                    </a:p>
                  </a:txBody>
                  <a:tcPr marL="68580" marR="68580" marT="0" marB="0" anchor="ctr">
                    <a:solidFill>
                      <a:schemeClr val="accent2"/>
                    </a:solidFill>
                  </a:tcPr>
                </a:tc>
                <a:extLst>
                  <a:ext uri="{0D108BD9-81ED-4DB2-BD59-A6C34878D82A}">
                    <a16:rowId xmlns:a16="http://schemas.microsoft.com/office/drawing/2014/main" val="10003"/>
                  </a:ext>
                </a:extLst>
              </a:tr>
            </a:tbl>
          </a:graphicData>
        </a:graphic>
      </p:graphicFrame>
    </p:spTree>
  </p:cSld>
  <p:clrMapOvr>
    <a:masterClrMapping/>
  </p:clrMapOvr>
  <p:transition spd="med">
    <p:random/>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br>
              <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br>
            <a:endPar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29698" name="内容占位符 2"/>
          <p:cNvSpPr>
            <a:spLocks noGrp="1"/>
          </p:cNvSpPr>
          <p:nvPr>
            <p:ph sz="half" idx="1"/>
          </p:nvPr>
        </p:nvSpPr>
        <p:spPr>
          <a:xfrm>
            <a:off x="354013" y="1387475"/>
            <a:ext cx="8267700" cy="2600325"/>
          </a:xfrm>
          <a:ln/>
        </p:spPr>
        <p:txBody>
          <a:bodyPr wrap="square" lIns="92075" tIns="46038" rIns="92075" bIns="46038" anchor="t" anchorCtr="0"/>
          <a:lstStyle/>
          <a:p>
            <a:pPr algn="just">
              <a:buSzPct val="70000"/>
              <a:buFont typeface="Wingdings" panose="05000000000000000000" pitchFamily="2" charset="2"/>
              <a:buNone/>
            </a:pPr>
            <a:r>
              <a:rPr kumimoji="1" lang="zh-CN" altLang="en-US" sz="2400" dirty="0">
                <a:latin typeface="+mn-lt"/>
                <a:ea typeface="+mn-ea"/>
                <a:cs typeface="+mn-cs"/>
              </a:rPr>
              <a:t>            在这种方式下，在</a:t>
            </a:r>
            <a:r>
              <a:rPr kumimoji="1" lang="en-US" altLang="zh-CN" sz="2400" dirty="0">
                <a:latin typeface="+mn-lt"/>
                <a:ea typeface="+mn-ea"/>
                <a:cs typeface="+mn-cs"/>
              </a:rPr>
              <a:t>CPU</a:t>
            </a:r>
            <a:r>
              <a:rPr kumimoji="1" lang="zh-CN" altLang="en-US" sz="2400" dirty="0">
                <a:latin typeface="+mn-lt"/>
                <a:ea typeface="+mn-ea"/>
                <a:cs typeface="+mn-cs"/>
              </a:rPr>
              <a:t>向</a:t>
            </a:r>
            <a:r>
              <a:rPr kumimoji="1" lang="en-US" altLang="zh-CN" sz="2400" dirty="0">
                <a:latin typeface="+mn-lt"/>
                <a:ea typeface="+mn-ea"/>
                <a:cs typeface="+mn-cs"/>
              </a:rPr>
              <a:t>8253</a:t>
            </a:r>
            <a:r>
              <a:rPr kumimoji="1" lang="zh-CN" altLang="en-US" sz="2400" dirty="0">
                <a:latin typeface="+mn-lt"/>
                <a:ea typeface="+mn-ea"/>
                <a:cs typeface="+mn-cs"/>
              </a:rPr>
              <a:t>写入控制字后</a:t>
            </a:r>
            <a:r>
              <a:rPr kumimoji="1" lang="en-US" altLang="zh-CN" sz="2400" dirty="0">
                <a:latin typeface="+mn-lt"/>
                <a:ea typeface="+mn-ea"/>
                <a:cs typeface="+mn-cs"/>
              </a:rPr>
              <a:t>OUT</a:t>
            </a:r>
            <a:r>
              <a:rPr kumimoji="1" lang="zh-CN" altLang="en-US" sz="2400" dirty="0">
                <a:latin typeface="+mn-lt"/>
                <a:ea typeface="+mn-ea"/>
                <a:cs typeface="+mn-cs"/>
              </a:rPr>
              <a:t>变高，并保持，写入计数值后并不立即计数，只有当外界</a:t>
            </a:r>
            <a:r>
              <a:rPr kumimoji="1" lang="en-US" altLang="zh-CN" sz="2400" dirty="0">
                <a:latin typeface="+mn-lt"/>
                <a:ea typeface="+mn-ea"/>
                <a:cs typeface="+mn-cs"/>
              </a:rPr>
              <a:t>GATE</a:t>
            </a:r>
            <a:r>
              <a:rPr kumimoji="1" lang="zh-CN" altLang="en-US" sz="2400" dirty="0">
                <a:latin typeface="+mn-lt"/>
                <a:ea typeface="+mn-ea"/>
                <a:cs typeface="+mn-cs"/>
              </a:rPr>
              <a:t>信号启动后（一个正脉冲）的下一个脉冲才开始计数，</a:t>
            </a:r>
            <a:r>
              <a:rPr kumimoji="1" lang="en-US" altLang="zh-CN" sz="2400" dirty="0">
                <a:latin typeface="+mn-lt"/>
                <a:ea typeface="+mn-ea"/>
                <a:cs typeface="+mn-cs"/>
              </a:rPr>
              <a:t>OUT</a:t>
            </a:r>
            <a:r>
              <a:rPr kumimoji="1" lang="zh-CN" altLang="en-US" sz="2400" dirty="0">
                <a:latin typeface="+mn-lt"/>
                <a:ea typeface="+mn-ea"/>
                <a:cs typeface="+mn-cs"/>
              </a:rPr>
              <a:t>变低，计数到</a:t>
            </a:r>
            <a:r>
              <a:rPr kumimoji="1" lang="en-US" altLang="zh-CN" sz="2400" dirty="0">
                <a:latin typeface="+mn-lt"/>
                <a:ea typeface="+mn-ea"/>
                <a:cs typeface="+mn-cs"/>
              </a:rPr>
              <a:t>0</a:t>
            </a:r>
            <a:r>
              <a:rPr kumimoji="1" lang="zh-CN" altLang="en-US" sz="2400" dirty="0">
                <a:latin typeface="+mn-lt"/>
                <a:ea typeface="+mn-ea"/>
                <a:cs typeface="+mn-cs"/>
              </a:rPr>
              <a:t>后，</a:t>
            </a:r>
            <a:r>
              <a:rPr kumimoji="1" lang="en-US" altLang="zh-CN" sz="2400" dirty="0">
                <a:latin typeface="+mn-lt"/>
                <a:ea typeface="+mn-ea"/>
                <a:cs typeface="+mn-cs"/>
              </a:rPr>
              <a:t>OUT</a:t>
            </a:r>
            <a:r>
              <a:rPr kumimoji="1" lang="zh-CN" altLang="en-US" sz="2400" dirty="0">
                <a:latin typeface="+mn-lt"/>
                <a:ea typeface="+mn-ea"/>
                <a:cs typeface="+mn-cs"/>
              </a:rPr>
              <a:t>才变高，此时再来一个</a:t>
            </a:r>
            <a:r>
              <a:rPr kumimoji="1" lang="en-US" altLang="zh-CN" sz="2400" dirty="0">
                <a:latin typeface="+mn-lt"/>
                <a:ea typeface="+mn-ea"/>
                <a:cs typeface="+mn-cs"/>
              </a:rPr>
              <a:t>GATE</a:t>
            </a:r>
            <a:r>
              <a:rPr kumimoji="1" lang="zh-CN" altLang="en-US" sz="2400" dirty="0">
                <a:latin typeface="+mn-lt"/>
                <a:ea typeface="+mn-ea"/>
                <a:cs typeface="+mn-cs"/>
              </a:rPr>
              <a:t>正脉冲，计数器又开始重新计数，输出</a:t>
            </a:r>
            <a:r>
              <a:rPr kumimoji="1" lang="en-US" altLang="zh-CN" sz="2400" dirty="0">
                <a:latin typeface="+mn-lt"/>
                <a:ea typeface="+mn-ea"/>
                <a:cs typeface="+mn-cs"/>
              </a:rPr>
              <a:t>OUT</a:t>
            </a:r>
            <a:r>
              <a:rPr kumimoji="1" lang="zh-CN" altLang="en-US" sz="2400" dirty="0">
                <a:latin typeface="+mn-lt"/>
                <a:ea typeface="+mn-ea"/>
                <a:cs typeface="+mn-cs"/>
              </a:rPr>
              <a:t>再次变低，</a:t>
            </a:r>
            <a:r>
              <a:rPr kumimoji="1" lang="en-US" altLang="zh-CN" sz="2400" dirty="0">
                <a:latin typeface="+mn-lt"/>
                <a:ea typeface="+mn-ea"/>
                <a:cs typeface="+mn-cs"/>
              </a:rPr>
              <a:t>…</a:t>
            </a:r>
            <a:r>
              <a:rPr kumimoji="1" lang="zh-CN" altLang="en-US" sz="2400" dirty="0">
                <a:latin typeface="+mn-lt"/>
                <a:ea typeface="+mn-ea"/>
                <a:cs typeface="+mn-cs"/>
              </a:rPr>
              <a:t>，因此输出为一单拍负脉冲。</a:t>
            </a:r>
            <a:r>
              <a:rPr kumimoji="1" lang="zh-CN" altLang="en-US" sz="2400" dirty="0">
                <a:latin typeface="+mn-lt"/>
                <a:ea typeface="+mn-ea"/>
                <a:cs typeface="+mn-cs"/>
                <a:sym typeface="Arial" panose="020B0604020202020204" pitchFamily="34" charset="0"/>
              </a:rPr>
              <a:t>方式</a:t>
            </a:r>
            <a:r>
              <a:rPr kumimoji="1" lang="en-US" altLang="zh-CN" sz="2400" dirty="0">
                <a:latin typeface="+mn-lt"/>
                <a:ea typeface="+mn-ea"/>
                <a:cs typeface="+mn-cs"/>
                <a:sym typeface="Arial" panose="020B0604020202020204" pitchFamily="34" charset="0"/>
              </a:rPr>
              <a:t>1</a:t>
            </a:r>
            <a:r>
              <a:rPr kumimoji="1" lang="zh-CN" altLang="en-US" sz="2400" dirty="0">
                <a:latin typeface="+mn-lt"/>
                <a:ea typeface="+mn-ea"/>
                <a:cs typeface="+mn-cs"/>
                <a:sym typeface="Arial" panose="020B0604020202020204" pitchFamily="34" charset="0"/>
              </a:rPr>
              <a:t>的波形见图所示：</a:t>
            </a:r>
            <a:endParaRPr kumimoji="1" lang="zh-CN" altLang="en-US" sz="2400" dirty="0">
              <a:latin typeface="+mn-lt"/>
              <a:ea typeface="+mn-ea"/>
              <a:cs typeface="+mn-cs"/>
            </a:endParaRPr>
          </a:p>
          <a:p>
            <a:pPr algn="just">
              <a:buSzPct val="70000"/>
              <a:buFont typeface="Wingdings" panose="05000000000000000000" pitchFamily="2" charset="2"/>
              <a:buNone/>
            </a:pPr>
            <a:endParaRPr kumimoji="1" lang="zh-CN" altLang="en-US" sz="2400" dirty="0">
              <a:latin typeface="+mn-lt"/>
              <a:ea typeface="+mn-ea"/>
              <a:cs typeface="+mn-cs"/>
            </a:endParaRPr>
          </a:p>
        </p:txBody>
      </p:sp>
      <p:sp>
        <p:nvSpPr>
          <p:cNvPr id="4" name="矩形 3"/>
          <p:cNvSpPr/>
          <p:nvPr/>
        </p:nvSpPr>
        <p:spPr>
          <a:xfrm>
            <a:off x="906458" y="518055"/>
            <a:ext cx="7294884" cy="537210"/>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marL="0" marR="0" lvl="0" indent="0" algn="ctr" defTabSz="914400" rtl="0" eaLnBrk="1" fontAlgn="base" latinLnBrk="0" hangingPunct="1">
              <a:lnSpc>
                <a:spcPct val="90000"/>
              </a:lnSpc>
              <a:spcBef>
                <a:spcPct val="20000"/>
              </a:spcBef>
              <a:spcAft>
                <a:spcPct val="0"/>
              </a:spcAft>
              <a:buClrTx/>
              <a:buSzTx/>
              <a:buFontTx/>
              <a:buNone/>
              <a:defRPr/>
            </a:pPr>
            <a:r>
              <a:rPr kumimoji="1" lang="en-US" sz="3200" b="1" i="0"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2.</a:t>
            </a:r>
            <a:r>
              <a:rPr kumimoji="1" lang="zh-CN" altLang="en-US" sz="3200" b="1" i="0"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方式</a:t>
            </a:r>
            <a:r>
              <a:rPr kumimoji="1" lang="en-US" sz="3200" b="1" i="0"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1 (</a:t>
            </a:r>
            <a:r>
              <a:rPr kumimoji="1" lang="zh-CN" altLang="en-US" sz="3200" b="1" i="0"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可编程的硬件触发单拍脉冲）</a:t>
            </a:r>
          </a:p>
        </p:txBody>
      </p:sp>
      <p:pic>
        <p:nvPicPr>
          <p:cNvPr id="29700" name="Picture 26" descr="8"/>
          <p:cNvPicPr>
            <a:picLocks noChangeAspect="1"/>
          </p:cNvPicPr>
          <p:nvPr/>
        </p:nvPicPr>
        <p:blipFill>
          <a:blip r:embed="rId2"/>
          <a:stretch>
            <a:fillRect/>
          </a:stretch>
        </p:blipFill>
        <p:spPr>
          <a:xfrm>
            <a:off x="1900238" y="3733800"/>
            <a:ext cx="5208587" cy="3078163"/>
          </a:xfrm>
          <a:prstGeom prst="rect">
            <a:avLst/>
          </a:prstGeom>
          <a:noFill/>
          <a:ln w="9525">
            <a:noFill/>
          </a:ln>
        </p:spPr>
      </p:pic>
    </p:spTree>
  </p:cSld>
  <p:clrMapOvr>
    <a:masterClrMapping/>
  </p:clrMapOvr>
  <p:transition spd="med">
    <p:random/>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bwMode="auto">
          <a:xfrm>
            <a:off x="427351" y="645794"/>
            <a:ext cx="8331200" cy="745490"/>
          </a:xfrm>
          <a:scene3d>
            <a:camera prst="orthographicFront"/>
            <a:lightRig rig="balanced" dir="t"/>
          </a:scene3d>
          <a:sp3d prstMaterial="plastic"/>
        </p:spPr>
        <p:txBody>
          <a:bodyPr wrap="square" lIns="92075" tIns="46038" rIns="92075" bIns="46038" numCol="1" anchor="ctr" anchorCtr="0" compatLnSpc="1"/>
          <a:lstStyle/>
          <a:p>
            <a:pPr marL="0" marR="0" lvl="0" indent="0" algn="l" defTabSz="914400" rtl="0" eaLnBrk="0" fontAlgn="base" latinLnBrk="0" hangingPunct="0">
              <a:spcBef>
                <a:spcPct val="0"/>
              </a:spcBef>
              <a:spcAft>
                <a:spcPct val="0"/>
              </a:spcAft>
              <a:buClrTx/>
              <a:buSzTx/>
              <a:buFontTx/>
              <a:buNone/>
              <a:defRPr/>
            </a:pPr>
            <a:r>
              <a:rPr kumimoji="1" lang="en-US" b="1" i="0" u="none" strike="noStrike" kern="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mj-lt"/>
                <a:ea typeface="+mj-ea"/>
                <a:cs typeface="+mj-cs"/>
              </a:rPr>
              <a:t>2 . </a:t>
            </a:r>
            <a:r>
              <a:rPr kumimoji="1" lang="zh-CN" altLang="en-US" b="1" i="0" u="none" strike="noStrike" kern="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mj-lt"/>
                <a:ea typeface="+mj-ea"/>
                <a:cs typeface="+mj-cs"/>
              </a:rPr>
              <a:t>方式</a:t>
            </a:r>
            <a:r>
              <a:rPr kumimoji="1" lang="en-US" b="1" i="0" u="none" strike="noStrike" kern="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mj-lt"/>
                <a:ea typeface="+mj-ea"/>
                <a:cs typeface="+mj-cs"/>
              </a:rPr>
              <a:t>1 (</a:t>
            </a:r>
            <a:r>
              <a:rPr kumimoji="1" lang="zh-CN" altLang="en-US" b="1" i="0" u="none" strike="noStrike" kern="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mj-lt"/>
                <a:ea typeface="+mj-ea"/>
                <a:cs typeface="+mj-cs"/>
              </a:rPr>
              <a:t>可编程的硬件触发单拍脉冲）</a:t>
            </a:r>
            <a:br>
              <a:rPr kumimoji="1" lang="zh-CN" altLang="en-US" b="1" i="0" u="none" strike="noStrike" kern="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mj-lt"/>
                <a:ea typeface="+mj-ea"/>
                <a:cs typeface="+mj-cs"/>
              </a:rPr>
            </a:br>
            <a:endParaRPr kumimoji="1" lang="zh-CN" altLang="en-US"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30722" name="内容占位符 2"/>
          <p:cNvSpPr>
            <a:spLocks noGrp="1"/>
          </p:cNvSpPr>
          <p:nvPr>
            <p:ph idx="1"/>
          </p:nvPr>
        </p:nvSpPr>
        <p:spPr>
          <a:xfrm>
            <a:off x="577850" y="1387475"/>
            <a:ext cx="8197850" cy="5351463"/>
          </a:xfrm>
          <a:ln/>
        </p:spPr>
        <p:txBody>
          <a:bodyPr wrap="square" lIns="92075" tIns="46038" rIns="92075" bIns="46038" anchor="t" anchorCtr="0"/>
          <a:lstStyle/>
          <a:p>
            <a:pPr algn="just">
              <a:buNone/>
            </a:pPr>
            <a:r>
              <a:rPr lang="zh-CN" altLang="en-US" sz="2400" dirty="0"/>
              <a:t>从波形图中不难看出，工作方式</a:t>
            </a:r>
            <a:r>
              <a:rPr lang="en-US" altLang="zh-CN" sz="2400" dirty="0"/>
              <a:t>1</a:t>
            </a:r>
            <a:r>
              <a:rPr lang="zh-CN" altLang="en-US" sz="2400" dirty="0"/>
              <a:t>有如下特点：</a:t>
            </a:r>
          </a:p>
          <a:p>
            <a:pPr algn="just">
              <a:buNone/>
            </a:pPr>
            <a:r>
              <a:rPr lang="zh-CN" altLang="en-US" sz="2400" dirty="0"/>
              <a:t>       ① 输出</a:t>
            </a:r>
            <a:r>
              <a:rPr lang="en-US" altLang="zh-CN" sz="2400" dirty="0"/>
              <a:t>OUT</a:t>
            </a:r>
            <a:r>
              <a:rPr lang="zh-CN" altLang="en-US" sz="2400" dirty="0"/>
              <a:t>为宽度为计数初值的单脉冲；</a:t>
            </a:r>
          </a:p>
          <a:p>
            <a:pPr algn="just">
              <a:buNone/>
            </a:pPr>
            <a:r>
              <a:rPr lang="zh-CN" altLang="en-US" sz="2400" dirty="0"/>
              <a:t>       ② 输出受门控信号</a:t>
            </a:r>
            <a:r>
              <a:rPr lang="en-US" altLang="zh-CN" sz="2400" dirty="0"/>
              <a:t>GATE</a:t>
            </a:r>
            <a:r>
              <a:rPr lang="zh-CN" altLang="en-US" sz="2400" dirty="0"/>
              <a:t>的控制，分三种情况：</a:t>
            </a:r>
          </a:p>
          <a:p>
            <a:pPr algn="just">
              <a:buNone/>
            </a:pPr>
            <a:r>
              <a:rPr lang="zh-CN" altLang="en-US" sz="2400" dirty="0"/>
              <a:t>            计数到</a:t>
            </a:r>
            <a:r>
              <a:rPr lang="en-US" altLang="zh-CN" sz="2400" dirty="0"/>
              <a:t>0</a:t>
            </a:r>
            <a:r>
              <a:rPr lang="zh-CN" altLang="en-US" sz="2400" dirty="0"/>
              <a:t>后，再来</a:t>
            </a:r>
            <a:r>
              <a:rPr lang="en-US" altLang="zh-CN" sz="2400" dirty="0"/>
              <a:t>GATE</a:t>
            </a:r>
            <a:r>
              <a:rPr lang="zh-CN" altLang="en-US" sz="2400" dirty="0"/>
              <a:t>脉冲，则重新开始计数</a:t>
            </a:r>
            <a:r>
              <a:rPr lang="en-US" altLang="zh-CN" sz="2400" dirty="0"/>
              <a:t>OUT</a:t>
            </a:r>
            <a:r>
              <a:rPr lang="zh-CN" altLang="en-US" sz="2400" dirty="0"/>
              <a:t>变低；</a:t>
            </a:r>
          </a:p>
          <a:p>
            <a:pPr algn="just">
              <a:buNone/>
            </a:pPr>
            <a:r>
              <a:rPr lang="zh-CN" altLang="en-US" sz="2400" dirty="0"/>
              <a:t>             在计数过程中来</a:t>
            </a:r>
            <a:r>
              <a:rPr lang="en-US" altLang="zh-CN" sz="2400" dirty="0"/>
              <a:t>GATE</a:t>
            </a:r>
            <a:r>
              <a:rPr lang="zh-CN" altLang="en-US" sz="2400" dirty="0"/>
              <a:t>脉冲，则从下一</a:t>
            </a:r>
            <a:r>
              <a:rPr lang="en-US" altLang="zh-CN" sz="2400" dirty="0"/>
              <a:t>CLK</a:t>
            </a:r>
            <a:r>
              <a:rPr lang="zh-CN" altLang="en-US" sz="2400" dirty="0"/>
              <a:t>脉冲开始重新计 数，</a:t>
            </a:r>
            <a:r>
              <a:rPr lang="en-US" altLang="zh-CN" sz="2400" dirty="0"/>
              <a:t>OUT</a:t>
            </a:r>
            <a:r>
              <a:rPr lang="zh-CN" altLang="en-US" sz="2400" dirty="0"/>
              <a:t>保持为低；</a:t>
            </a:r>
          </a:p>
          <a:p>
            <a:pPr algn="just">
              <a:buNone/>
            </a:pPr>
            <a:r>
              <a:rPr lang="zh-CN" altLang="en-US" sz="2400" dirty="0"/>
              <a:t>              改变计数值后，只有当</a:t>
            </a:r>
            <a:r>
              <a:rPr lang="en-US" altLang="zh-CN" sz="2400" dirty="0"/>
              <a:t>GATE</a:t>
            </a:r>
            <a:r>
              <a:rPr lang="zh-CN" altLang="en-US" sz="2400" dirty="0"/>
              <a:t>脉冲启动后，才按新值计数，否则原计数过程不受影响，仍继续进行，即新值的改变是从下一个</a:t>
            </a:r>
            <a:r>
              <a:rPr lang="en-US" altLang="zh-CN" sz="2400" dirty="0"/>
              <a:t>GATE</a:t>
            </a:r>
            <a:r>
              <a:rPr lang="zh-CN" altLang="en-US" sz="2400" dirty="0"/>
              <a:t>开始的。</a:t>
            </a:r>
          </a:p>
          <a:p>
            <a:pPr algn="just">
              <a:buNone/>
            </a:pPr>
            <a:r>
              <a:rPr lang="zh-CN" altLang="en-US" sz="2400" dirty="0"/>
              <a:t>         ③   计数值是多次有效的，每来一个</a:t>
            </a:r>
            <a:r>
              <a:rPr lang="en-US" altLang="zh-CN" sz="2400" dirty="0"/>
              <a:t>GATE</a:t>
            </a:r>
            <a:r>
              <a:rPr lang="zh-CN" altLang="en-US" sz="2400" dirty="0"/>
              <a:t>脉冲，就自动装入计数值开始从头计数，因此在初始化时，计数值写入一次即可。</a:t>
            </a:r>
          </a:p>
          <a:p>
            <a:pPr algn="just">
              <a:buNone/>
            </a:pPr>
            <a:endParaRPr lang="zh-CN" altLang="en-US" sz="2400" dirty="0"/>
          </a:p>
        </p:txBody>
      </p:sp>
    </p:spTree>
  </p:cSld>
  <p:clrMapOvr>
    <a:masterClrMapping/>
  </p:clrMapOvr>
  <p:transition spd="med">
    <p:random/>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600" b="1" i="0" u="none" strike="noStrike" kern="0" cap="none" spc="0" normalizeH="0" baseline="0" noProof="0" dirty="0">
                <a:ln>
                  <a:noFill/>
                </a:ln>
                <a:solidFill>
                  <a:schemeClr val="accent2"/>
                </a:solidFill>
                <a:effectLst>
                  <a:outerShdw blurRad="38100" dist="38100" dir="2700000" algn="tl">
                    <a:srgbClr val="000000"/>
                  </a:outerShdw>
                </a:effectLst>
                <a:uLnTx/>
                <a:uFillTx/>
                <a:latin typeface="+mj-lt"/>
                <a:ea typeface="+mj-ea"/>
                <a:cs typeface="+mj-cs"/>
              </a:rPr>
              <a:t>例 题 赏 析 </a:t>
            </a:r>
          </a:p>
        </p:txBody>
      </p:sp>
      <p:sp>
        <p:nvSpPr>
          <p:cNvPr id="31746" name="内容占位符 2"/>
          <p:cNvSpPr>
            <a:spLocks noGrp="1"/>
          </p:cNvSpPr>
          <p:nvPr>
            <p:ph idx="1"/>
          </p:nvPr>
        </p:nvSpPr>
        <p:spPr>
          <a:xfrm>
            <a:off x="577850" y="1387475"/>
            <a:ext cx="8566150" cy="5470525"/>
          </a:xfrm>
          <a:ln/>
        </p:spPr>
        <p:txBody>
          <a:bodyPr wrap="square" lIns="92075" tIns="46038" rIns="92075" bIns="46038" anchor="t" anchorCtr="0"/>
          <a:lstStyle/>
          <a:p>
            <a:pPr>
              <a:buNone/>
            </a:pPr>
            <a:endParaRPr lang="en-US" altLang="zh-CN" dirty="0"/>
          </a:p>
          <a:p>
            <a:pPr>
              <a:buNone/>
            </a:pPr>
            <a:r>
              <a:rPr lang="en-US" altLang="zh-CN" dirty="0"/>
              <a:t>          </a:t>
            </a:r>
            <a:r>
              <a:rPr lang="zh-CN" altLang="en-US" dirty="0"/>
              <a:t>若要使计数器</a:t>
            </a:r>
            <a:r>
              <a:rPr lang="en-US" altLang="zh-CN" dirty="0"/>
              <a:t>0</a:t>
            </a:r>
            <a:r>
              <a:rPr lang="zh-CN" altLang="en-US" dirty="0"/>
              <a:t>工作在方式</a:t>
            </a:r>
            <a:r>
              <a:rPr lang="en-US" altLang="zh-CN" dirty="0"/>
              <a:t>1</a:t>
            </a:r>
            <a:r>
              <a:rPr lang="zh-CN" altLang="en-US" dirty="0"/>
              <a:t>，按</a:t>
            </a:r>
            <a:r>
              <a:rPr lang="en-US" altLang="zh-CN" dirty="0"/>
              <a:t>BCD</a:t>
            </a:r>
            <a:r>
              <a:rPr lang="zh-CN" altLang="en-US" dirty="0"/>
              <a:t>计数，计数值为</a:t>
            </a:r>
            <a:r>
              <a:rPr lang="en-US" altLang="zh-CN" dirty="0"/>
              <a:t>3000</a:t>
            </a:r>
            <a:r>
              <a:rPr lang="zh-CN" altLang="en-US" dirty="0"/>
              <a:t>。则初始化程序段为：</a:t>
            </a:r>
          </a:p>
        </p:txBody>
      </p:sp>
      <p:graphicFrame>
        <p:nvGraphicFramePr>
          <p:cNvPr id="4" name="表格 3"/>
          <p:cNvGraphicFramePr>
            <a:graphicFrameLocks noGrp="1"/>
          </p:cNvGraphicFramePr>
          <p:nvPr/>
        </p:nvGraphicFramePr>
        <p:xfrm>
          <a:off x="974725" y="3627438"/>
          <a:ext cx="5194852" cy="2953646"/>
        </p:xfrm>
        <a:graphic>
          <a:graphicData uri="http://schemas.openxmlformats.org/drawingml/2006/table">
            <a:tbl>
              <a:tblPr firstRow="1" bandRow="1">
                <a:tableStyleId>{5C22544A-7EE6-4342-B048-85BDC9FD1C3A}</a:tableStyleId>
              </a:tblPr>
              <a:tblGrid>
                <a:gridCol w="2597426">
                  <a:extLst>
                    <a:ext uri="{9D8B030D-6E8A-4147-A177-3AD203B41FA5}">
                      <a16:colId xmlns:a16="http://schemas.microsoft.com/office/drawing/2014/main" val="20000"/>
                    </a:ext>
                  </a:extLst>
                </a:gridCol>
                <a:gridCol w="2597426">
                  <a:extLst>
                    <a:ext uri="{9D8B030D-6E8A-4147-A177-3AD203B41FA5}">
                      <a16:colId xmlns:a16="http://schemas.microsoft.com/office/drawing/2014/main" val="20001"/>
                    </a:ext>
                  </a:extLst>
                </a:gridCol>
              </a:tblGrid>
              <a:tr h="546694">
                <a:tc>
                  <a:txBody>
                    <a:bodyPr/>
                    <a:lstStyle/>
                    <a:p>
                      <a:pPr algn="ctr">
                        <a:spcAft>
                          <a:spcPts val="0"/>
                        </a:spcAft>
                      </a:pPr>
                      <a:r>
                        <a:rPr lang="en-US" sz="2000" kern="100" dirty="0">
                          <a:solidFill>
                            <a:schemeClr val="accent2"/>
                          </a:solidFill>
                          <a:latin typeface="Times New Roman" panose="02020603050405020304"/>
                          <a:ea typeface="宋体" panose="02010600030101010101" pitchFamily="2" charset="-122"/>
                          <a:cs typeface="Times New Roman" panose="02020603050405020304"/>
                        </a:rPr>
                        <a:t>MOV</a:t>
                      </a:r>
                      <a:endParaRPr lang="zh-CN" sz="2000" kern="100" dirty="0">
                        <a:solidFill>
                          <a:schemeClr val="accent2"/>
                        </a:solidFill>
                        <a:latin typeface="Times New Roman" panose="02020603050405020304"/>
                        <a:ea typeface="宋体" panose="02010600030101010101" pitchFamily="2" charset="-122"/>
                        <a:cs typeface="Times New Roman" panose="02020603050405020304"/>
                      </a:endParaRPr>
                    </a:p>
                  </a:txBody>
                  <a:tcPr marL="68580" marR="68580" marT="0" marB="0" anchor="ctr"/>
                </a:tc>
                <a:tc>
                  <a:txBody>
                    <a:bodyPr/>
                    <a:lstStyle/>
                    <a:p>
                      <a:pPr algn="ctr">
                        <a:spcAft>
                          <a:spcPts val="0"/>
                        </a:spcAft>
                      </a:pPr>
                      <a:r>
                        <a:rPr lang="en-US" sz="2000" kern="100" dirty="0">
                          <a:solidFill>
                            <a:schemeClr val="accent2"/>
                          </a:solidFill>
                          <a:latin typeface="Times New Roman" panose="02020603050405020304"/>
                          <a:ea typeface="宋体" panose="02010600030101010101" pitchFamily="2" charset="-122"/>
                          <a:cs typeface="Times New Roman" panose="02020603050405020304"/>
                        </a:rPr>
                        <a:t>AL</a:t>
                      </a:r>
                      <a:r>
                        <a:rPr lang="zh-CN" sz="2000" kern="100" dirty="0">
                          <a:solidFill>
                            <a:schemeClr val="accent2"/>
                          </a:solidFill>
                          <a:latin typeface="Times New Roman" panose="02020603050405020304"/>
                          <a:ea typeface="宋体" panose="02010600030101010101" pitchFamily="2" charset="-122"/>
                          <a:cs typeface="Times New Roman" panose="02020603050405020304"/>
                        </a:rPr>
                        <a:t>，</a:t>
                      </a:r>
                      <a:r>
                        <a:rPr lang="en-US" sz="2000" kern="100" dirty="0">
                          <a:solidFill>
                            <a:schemeClr val="accent2"/>
                          </a:solidFill>
                          <a:latin typeface="Times New Roman" panose="02020603050405020304"/>
                          <a:ea typeface="宋体" panose="02010600030101010101" pitchFamily="2" charset="-122"/>
                          <a:cs typeface="Times New Roman" panose="02020603050405020304"/>
                        </a:rPr>
                        <a:t>23H</a:t>
                      </a:r>
                      <a:r>
                        <a:rPr lang="zh-CN" sz="2000" kern="100" dirty="0">
                          <a:solidFill>
                            <a:schemeClr val="accent2"/>
                          </a:solidFill>
                          <a:latin typeface="Times New Roman" panose="02020603050405020304"/>
                          <a:ea typeface="宋体" panose="02010600030101010101" pitchFamily="2" charset="-122"/>
                          <a:cs typeface="Times New Roman" panose="02020603050405020304"/>
                        </a:rPr>
                        <a:t>；</a:t>
                      </a:r>
                      <a:endParaRPr lang="en-US" altLang="zh-CN" sz="2000" kern="100" dirty="0">
                        <a:solidFill>
                          <a:schemeClr val="accent2"/>
                        </a:solidFill>
                        <a:latin typeface="Times New Roman" panose="02020603050405020304"/>
                        <a:ea typeface="宋体" panose="02010600030101010101" pitchFamily="2" charset="-122"/>
                        <a:cs typeface="Times New Roman" panose="02020603050405020304"/>
                      </a:endParaRPr>
                    </a:p>
                    <a:p>
                      <a:pPr algn="ctr">
                        <a:spcAft>
                          <a:spcPts val="0"/>
                        </a:spcAft>
                      </a:pPr>
                      <a:r>
                        <a:rPr lang="zh-CN" sz="2000" kern="100" dirty="0">
                          <a:solidFill>
                            <a:schemeClr val="accent2"/>
                          </a:solidFill>
                          <a:latin typeface="Times New Roman" panose="02020603050405020304"/>
                          <a:ea typeface="宋体" panose="02010600030101010101" pitchFamily="2" charset="-122"/>
                          <a:cs typeface="Times New Roman" panose="02020603050405020304"/>
                        </a:rPr>
                        <a:t>设方式控制字</a:t>
                      </a:r>
                    </a:p>
                  </a:txBody>
                  <a:tcPr marL="68580" marR="68580" marT="0" marB="0" anchor="ctr"/>
                </a:tc>
                <a:extLst>
                  <a:ext uri="{0D108BD9-81ED-4DB2-BD59-A6C34878D82A}">
                    <a16:rowId xmlns:a16="http://schemas.microsoft.com/office/drawing/2014/main" val="10000"/>
                  </a:ext>
                </a:extLst>
              </a:tr>
              <a:tr h="898676">
                <a:tc>
                  <a:txBody>
                    <a:bodyPr/>
                    <a:lstStyle/>
                    <a:p>
                      <a:pPr algn="ctr">
                        <a:spcAft>
                          <a:spcPts val="0"/>
                        </a:spcAft>
                      </a:pPr>
                      <a:r>
                        <a:rPr lang="en-US" sz="2000" kern="100" dirty="0">
                          <a:solidFill>
                            <a:schemeClr val="bg2"/>
                          </a:solidFill>
                          <a:latin typeface="Times New Roman" panose="02020603050405020304"/>
                          <a:ea typeface="宋体" panose="02010600030101010101" pitchFamily="2" charset="-122"/>
                          <a:cs typeface="Times New Roman" panose="02020603050405020304"/>
                        </a:rPr>
                        <a:t>OUT</a:t>
                      </a:r>
                      <a:endParaRPr lang="zh-CN" sz="2000" kern="100" dirty="0">
                        <a:solidFill>
                          <a:schemeClr val="bg2"/>
                        </a:solidFill>
                        <a:latin typeface="Times New Roman" panose="02020603050405020304"/>
                        <a:ea typeface="宋体" panose="02010600030101010101" pitchFamily="2" charset="-122"/>
                        <a:cs typeface="Times New Roman" panose="02020603050405020304"/>
                      </a:endParaRPr>
                    </a:p>
                  </a:txBody>
                  <a:tcPr marL="68580" marR="68580" marT="0" marB="0" anchor="ctr"/>
                </a:tc>
                <a:tc>
                  <a:txBody>
                    <a:bodyPr/>
                    <a:lstStyle/>
                    <a:p>
                      <a:pPr algn="ctr">
                        <a:spcAft>
                          <a:spcPts val="0"/>
                        </a:spcAft>
                      </a:pPr>
                      <a:r>
                        <a:rPr lang="en-US" sz="2000" kern="100" dirty="0">
                          <a:solidFill>
                            <a:schemeClr val="bg2"/>
                          </a:solidFill>
                          <a:latin typeface="Times New Roman" panose="02020603050405020304"/>
                          <a:ea typeface="宋体" panose="02010600030101010101" pitchFamily="2" charset="-122"/>
                          <a:cs typeface="Times New Roman" panose="02020603050405020304"/>
                        </a:rPr>
                        <a:t>07H</a:t>
                      </a:r>
                      <a:r>
                        <a:rPr lang="zh-CN" sz="2000" kern="100" dirty="0">
                          <a:solidFill>
                            <a:schemeClr val="bg2"/>
                          </a:solidFill>
                          <a:latin typeface="Times New Roman" panose="02020603050405020304"/>
                          <a:ea typeface="宋体" panose="02010600030101010101" pitchFamily="2" charset="-122"/>
                          <a:cs typeface="Times New Roman" panose="02020603050405020304"/>
                        </a:rPr>
                        <a:t>，</a:t>
                      </a:r>
                      <a:r>
                        <a:rPr lang="en-US" sz="2000" kern="100" dirty="0">
                          <a:solidFill>
                            <a:schemeClr val="bg2"/>
                          </a:solidFill>
                          <a:latin typeface="Times New Roman" panose="02020603050405020304"/>
                          <a:ea typeface="宋体" panose="02010600030101010101" pitchFamily="2" charset="-122"/>
                          <a:cs typeface="Times New Roman" panose="02020603050405020304"/>
                        </a:rPr>
                        <a:t>AL</a:t>
                      </a:r>
                      <a:r>
                        <a:rPr lang="zh-CN" sz="2000" kern="100" dirty="0">
                          <a:solidFill>
                            <a:schemeClr val="bg2"/>
                          </a:solidFill>
                          <a:latin typeface="Times New Roman" panose="02020603050405020304"/>
                          <a:ea typeface="宋体" panose="02010600030101010101" pitchFamily="2" charset="-122"/>
                          <a:cs typeface="Times New Roman" panose="02020603050405020304"/>
                        </a:rPr>
                        <a:t>；输至控制字寄存器</a:t>
                      </a:r>
                    </a:p>
                  </a:txBody>
                  <a:tcPr marL="68580" marR="68580" marT="0" marB="0" anchor="ctr"/>
                </a:tc>
                <a:extLst>
                  <a:ext uri="{0D108BD9-81ED-4DB2-BD59-A6C34878D82A}">
                    <a16:rowId xmlns:a16="http://schemas.microsoft.com/office/drawing/2014/main" val="10001"/>
                  </a:ext>
                </a:extLst>
              </a:tr>
              <a:tr h="546694">
                <a:tc>
                  <a:txBody>
                    <a:bodyPr/>
                    <a:lstStyle/>
                    <a:p>
                      <a:pPr algn="ctr">
                        <a:spcAft>
                          <a:spcPts val="0"/>
                        </a:spcAft>
                      </a:pPr>
                      <a:r>
                        <a:rPr lang="en-US" sz="2000" kern="100" dirty="0">
                          <a:solidFill>
                            <a:schemeClr val="bg2"/>
                          </a:solidFill>
                          <a:latin typeface="Times New Roman" panose="02020603050405020304"/>
                          <a:ea typeface="宋体" panose="02010600030101010101" pitchFamily="2" charset="-122"/>
                          <a:cs typeface="Times New Roman" panose="02020603050405020304"/>
                        </a:rPr>
                        <a:t>MOV</a:t>
                      </a:r>
                      <a:endParaRPr lang="zh-CN" sz="2000" kern="100" dirty="0">
                        <a:solidFill>
                          <a:schemeClr val="bg2"/>
                        </a:solidFill>
                        <a:latin typeface="Times New Roman" panose="02020603050405020304"/>
                        <a:ea typeface="宋体" panose="02010600030101010101" pitchFamily="2" charset="-122"/>
                        <a:cs typeface="Times New Roman" panose="02020603050405020304"/>
                      </a:endParaRPr>
                    </a:p>
                  </a:txBody>
                  <a:tcPr marL="68580" marR="68580" marT="0" marB="0" anchor="ctr"/>
                </a:tc>
                <a:tc>
                  <a:txBody>
                    <a:bodyPr/>
                    <a:lstStyle/>
                    <a:p>
                      <a:pPr algn="ctr">
                        <a:spcAft>
                          <a:spcPts val="0"/>
                        </a:spcAft>
                      </a:pPr>
                      <a:r>
                        <a:rPr lang="en-US" sz="2000" kern="100" dirty="0">
                          <a:solidFill>
                            <a:schemeClr val="bg2"/>
                          </a:solidFill>
                          <a:latin typeface="Times New Roman" panose="02020603050405020304"/>
                          <a:ea typeface="宋体" panose="02010600030101010101" pitchFamily="2" charset="-122"/>
                          <a:cs typeface="Times New Roman" panose="02020603050405020304"/>
                        </a:rPr>
                        <a:t>AL</a:t>
                      </a:r>
                      <a:r>
                        <a:rPr lang="zh-CN" sz="2000" kern="100" dirty="0">
                          <a:solidFill>
                            <a:schemeClr val="bg2"/>
                          </a:solidFill>
                          <a:latin typeface="Times New Roman" panose="02020603050405020304"/>
                          <a:ea typeface="宋体" panose="02010600030101010101" pitchFamily="2" charset="-122"/>
                          <a:cs typeface="Times New Roman" panose="02020603050405020304"/>
                        </a:rPr>
                        <a:t>，</a:t>
                      </a:r>
                      <a:r>
                        <a:rPr lang="en-US" sz="2000" kern="100" dirty="0">
                          <a:solidFill>
                            <a:schemeClr val="bg2"/>
                          </a:solidFill>
                          <a:latin typeface="Times New Roman" panose="02020603050405020304"/>
                          <a:ea typeface="宋体" panose="02010600030101010101" pitchFamily="2" charset="-122"/>
                          <a:cs typeface="Times New Roman" panose="02020603050405020304"/>
                        </a:rPr>
                        <a:t>30H</a:t>
                      </a:r>
                      <a:r>
                        <a:rPr lang="zh-CN" sz="2000" kern="100" dirty="0">
                          <a:solidFill>
                            <a:schemeClr val="bg2"/>
                          </a:solidFill>
                          <a:latin typeface="Times New Roman" panose="02020603050405020304"/>
                          <a:ea typeface="宋体" panose="02010600030101010101" pitchFamily="2" charset="-122"/>
                          <a:cs typeface="Times New Roman" panose="02020603050405020304"/>
                        </a:rPr>
                        <a:t>；设计数值</a:t>
                      </a:r>
                    </a:p>
                  </a:txBody>
                  <a:tcPr marL="68580" marR="68580" marT="0" marB="0" anchor="ctr"/>
                </a:tc>
                <a:extLst>
                  <a:ext uri="{0D108BD9-81ED-4DB2-BD59-A6C34878D82A}">
                    <a16:rowId xmlns:a16="http://schemas.microsoft.com/office/drawing/2014/main" val="10002"/>
                  </a:ext>
                </a:extLst>
              </a:tr>
              <a:tr h="898676">
                <a:tc>
                  <a:txBody>
                    <a:bodyPr/>
                    <a:lstStyle/>
                    <a:p>
                      <a:pPr algn="ctr">
                        <a:spcAft>
                          <a:spcPts val="0"/>
                        </a:spcAft>
                      </a:pPr>
                      <a:r>
                        <a:rPr lang="en-US" sz="2000" kern="100" dirty="0">
                          <a:solidFill>
                            <a:schemeClr val="bg2"/>
                          </a:solidFill>
                          <a:latin typeface="Times New Roman" panose="02020603050405020304"/>
                          <a:ea typeface="宋体" panose="02010600030101010101" pitchFamily="2" charset="-122"/>
                          <a:cs typeface="Times New Roman" panose="02020603050405020304"/>
                        </a:rPr>
                        <a:t>OUT</a:t>
                      </a:r>
                      <a:endParaRPr lang="zh-CN" sz="2000" kern="100">
                        <a:solidFill>
                          <a:schemeClr val="bg2"/>
                        </a:solidFill>
                        <a:latin typeface="Times New Roman" panose="02020603050405020304"/>
                        <a:ea typeface="宋体" panose="02010600030101010101" pitchFamily="2" charset="-122"/>
                        <a:cs typeface="Times New Roman" panose="02020603050405020304"/>
                      </a:endParaRPr>
                    </a:p>
                  </a:txBody>
                  <a:tcPr marL="68580" marR="68580" marT="0" marB="0" anchor="ctr"/>
                </a:tc>
                <a:tc>
                  <a:txBody>
                    <a:bodyPr/>
                    <a:lstStyle/>
                    <a:p>
                      <a:pPr algn="ctr">
                        <a:spcAft>
                          <a:spcPts val="0"/>
                        </a:spcAft>
                      </a:pPr>
                      <a:r>
                        <a:rPr lang="en-US" sz="2000" kern="100" dirty="0">
                          <a:solidFill>
                            <a:schemeClr val="bg2"/>
                          </a:solidFill>
                          <a:latin typeface="Times New Roman" panose="02020603050405020304"/>
                          <a:ea typeface="宋体" panose="02010600030101010101" pitchFamily="2" charset="-122"/>
                          <a:cs typeface="Times New Roman" panose="02020603050405020304"/>
                        </a:rPr>
                        <a:t>04H</a:t>
                      </a:r>
                      <a:r>
                        <a:rPr lang="zh-CN" sz="2000" kern="100" dirty="0">
                          <a:solidFill>
                            <a:schemeClr val="bg2"/>
                          </a:solidFill>
                          <a:latin typeface="Times New Roman" panose="02020603050405020304"/>
                          <a:ea typeface="宋体" panose="02010600030101010101" pitchFamily="2" charset="-122"/>
                          <a:cs typeface="Times New Roman" panose="02020603050405020304"/>
                        </a:rPr>
                        <a:t>，</a:t>
                      </a:r>
                      <a:r>
                        <a:rPr lang="en-US" sz="2000" kern="100" dirty="0">
                          <a:solidFill>
                            <a:schemeClr val="bg2"/>
                          </a:solidFill>
                          <a:latin typeface="Times New Roman" panose="02020603050405020304"/>
                          <a:ea typeface="宋体" panose="02010600030101010101" pitchFamily="2" charset="-122"/>
                          <a:cs typeface="Times New Roman" panose="02020603050405020304"/>
                        </a:rPr>
                        <a:t>AL</a:t>
                      </a:r>
                      <a:r>
                        <a:rPr lang="zh-CN" sz="2000" kern="100" dirty="0">
                          <a:solidFill>
                            <a:schemeClr val="bg2"/>
                          </a:solidFill>
                          <a:latin typeface="Times New Roman" panose="02020603050405020304"/>
                          <a:ea typeface="宋体" panose="02010600030101010101" pitchFamily="2" charset="-122"/>
                          <a:cs typeface="Times New Roman" panose="02020603050405020304"/>
                        </a:rPr>
                        <a:t>；输至计数器</a:t>
                      </a:r>
                      <a:r>
                        <a:rPr lang="en-US" sz="2000" kern="100" dirty="0">
                          <a:solidFill>
                            <a:schemeClr val="bg2"/>
                          </a:solidFill>
                          <a:latin typeface="Times New Roman" panose="02020603050405020304"/>
                          <a:ea typeface="宋体" panose="02010600030101010101" pitchFamily="2" charset="-122"/>
                          <a:cs typeface="Times New Roman" panose="02020603050405020304"/>
                        </a:rPr>
                        <a:t>0</a:t>
                      </a:r>
                      <a:r>
                        <a:rPr lang="zh-CN" sz="2000" kern="100" dirty="0">
                          <a:solidFill>
                            <a:schemeClr val="bg2"/>
                          </a:solidFill>
                          <a:latin typeface="Times New Roman" panose="02020603050405020304"/>
                          <a:ea typeface="宋体" panose="02010600030101010101" pitchFamily="2" charset="-122"/>
                          <a:cs typeface="Times New Roman" panose="02020603050405020304"/>
                        </a:rPr>
                        <a:t>的高</a:t>
                      </a:r>
                      <a:r>
                        <a:rPr lang="en-US" sz="2000" kern="100" dirty="0">
                          <a:solidFill>
                            <a:schemeClr val="bg2"/>
                          </a:solidFill>
                          <a:latin typeface="Times New Roman" panose="02020603050405020304"/>
                          <a:ea typeface="宋体" panose="02010600030101010101" pitchFamily="2" charset="-122"/>
                          <a:cs typeface="Times New Roman" panose="02020603050405020304"/>
                        </a:rPr>
                        <a:t>8</a:t>
                      </a:r>
                      <a:r>
                        <a:rPr lang="zh-CN" sz="2000" kern="100" dirty="0">
                          <a:solidFill>
                            <a:schemeClr val="bg2"/>
                          </a:solidFill>
                          <a:latin typeface="Times New Roman" panose="02020603050405020304"/>
                          <a:ea typeface="宋体" panose="02010600030101010101" pitchFamily="2" charset="-122"/>
                          <a:cs typeface="Times New Roman" panose="02020603050405020304"/>
                        </a:rPr>
                        <a:t>位</a:t>
                      </a:r>
                    </a:p>
                  </a:txBody>
                  <a:tcPr marL="68580" marR="68580" marT="0" marB="0" anchor="ctr"/>
                </a:tc>
                <a:extLst>
                  <a:ext uri="{0D108BD9-81ED-4DB2-BD59-A6C34878D82A}">
                    <a16:rowId xmlns:a16="http://schemas.microsoft.com/office/drawing/2014/main" val="10003"/>
                  </a:ext>
                </a:extLst>
              </a:tr>
            </a:tbl>
          </a:graphicData>
        </a:graphic>
      </p:graphicFrame>
      <p:sp>
        <p:nvSpPr>
          <p:cNvPr id="5" name="矩形 4"/>
          <p:cNvSpPr/>
          <p:nvPr/>
        </p:nvSpPr>
        <p:spPr>
          <a:xfrm>
            <a:off x="1083167" y="1398741"/>
            <a:ext cx="2531462" cy="480131"/>
          </a:xfrm>
          <a:prstGeom prst="rect">
            <a:avLst/>
          </a:prstGeom>
          <a:noFill/>
        </p:spPr>
        <p:txBody>
          <a:bodyPr wrap="none">
            <a:spAutoFit/>
          </a:bodyPr>
          <a:lstStyle/>
          <a:p>
            <a:pPr marL="0" marR="0" lvl="0" indent="0" algn="ctr" defTabSz="914400" rtl="0" eaLnBrk="1" fontAlgn="base" latinLnBrk="0" hangingPunct="1">
              <a:lnSpc>
                <a:spcPct val="90000"/>
              </a:lnSpc>
              <a:spcBef>
                <a:spcPct val="20000"/>
              </a:spcBef>
              <a:spcAft>
                <a:spcPct val="0"/>
              </a:spcAft>
              <a:buClrTx/>
              <a:buSzTx/>
              <a:buFontTx/>
              <a:buNone/>
              <a:defRPr/>
            </a:pPr>
            <a:r>
              <a:rPr kumimoji="1" lang="en-US" altLang="zh-CN" sz="2800" b="1" i="0" u="none" strike="noStrike" kern="1200" cap="none" spc="0" normalizeH="0" baseline="0" noProof="0" dirty="0">
                <a:ln w="31550" cmpd="sng">
                  <a:gradFill>
                    <a:gsLst>
                      <a:gs pos="70000">
                        <a:schemeClr val="accent6">
                          <a:shade val="50000"/>
                          <a:satMod val="190000"/>
                        </a:schemeClr>
                      </a:gs>
                      <a:gs pos="0">
                        <a:schemeClr val="accent6">
                          <a:tint val="77000"/>
                          <a:satMod val="180000"/>
                        </a:schemeClr>
                      </a:gs>
                    </a:gsLst>
                    <a:lin ang="5400000"/>
                  </a:gradFill>
                  <a:prstDash val="solid"/>
                </a:ln>
                <a:solidFill>
                  <a:srgbClr val="FFFF00"/>
                </a:solidFill>
                <a:effectLst>
                  <a:outerShdw blurRad="50800" dist="40000" dir="5400000" algn="tl" rotWithShape="0">
                    <a:srgbClr val="000000">
                      <a:shade val="5000"/>
                      <a:satMod val="120000"/>
                      <a:alpha val="33000"/>
                    </a:srgbClr>
                  </a:outerShdw>
                </a:effectLst>
                <a:uLnTx/>
                <a:uFillTx/>
                <a:latin typeface="宋体" panose="02010600030101010101" pitchFamily="2" charset="-122"/>
                <a:ea typeface="宋体" panose="02010600030101010101" pitchFamily="2" charset="-122"/>
                <a:cs typeface="+mn-cs"/>
              </a:rPr>
              <a:t>【</a:t>
            </a:r>
            <a:r>
              <a:rPr kumimoji="1" lang="zh-CN" altLang="en-US" sz="2800" b="1" i="0" u="none" strike="noStrike" kern="1200" cap="none" spc="0" normalizeH="0" baseline="0" noProof="0" dirty="0">
                <a:ln w="31550" cmpd="sng">
                  <a:gradFill>
                    <a:gsLst>
                      <a:gs pos="70000">
                        <a:schemeClr val="accent6">
                          <a:shade val="50000"/>
                          <a:satMod val="190000"/>
                        </a:schemeClr>
                      </a:gs>
                      <a:gs pos="0">
                        <a:schemeClr val="accent6">
                          <a:tint val="77000"/>
                          <a:satMod val="180000"/>
                        </a:schemeClr>
                      </a:gs>
                    </a:gsLst>
                    <a:lin ang="5400000"/>
                  </a:gradFill>
                  <a:prstDash val="solid"/>
                </a:ln>
                <a:solidFill>
                  <a:srgbClr val="FFFF00"/>
                </a:solidFill>
                <a:effectLst>
                  <a:outerShdw blurRad="50800" dist="40000" dir="5400000" algn="tl" rotWithShape="0">
                    <a:srgbClr val="000000">
                      <a:shade val="5000"/>
                      <a:satMod val="120000"/>
                      <a:alpha val="33000"/>
                    </a:srgbClr>
                  </a:outerShdw>
                </a:effectLst>
                <a:uLnTx/>
                <a:uFillTx/>
                <a:latin typeface="宋体" panose="02010600030101010101" pitchFamily="2" charset="-122"/>
                <a:ea typeface="宋体" panose="02010600030101010101" pitchFamily="2" charset="-122"/>
                <a:cs typeface="+mn-cs"/>
              </a:rPr>
              <a:t>例题</a:t>
            </a:r>
            <a:r>
              <a:rPr kumimoji="1" lang="en-US" sz="2800" b="1" i="0" u="none" strike="noStrike" kern="1200" cap="none" spc="0" normalizeH="0" baseline="0" noProof="0" dirty="0">
                <a:ln w="31550" cmpd="sng">
                  <a:gradFill>
                    <a:gsLst>
                      <a:gs pos="70000">
                        <a:schemeClr val="accent6">
                          <a:shade val="50000"/>
                          <a:satMod val="190000"/>
                        </a:schemeClr>
                      </a:gs>
                      <a:gs pos="0">
                        <a:schemeClr val="accent6">
                          <a:tint val="77000"/>
                          <a:satMod val="180000"/>
                        </a:schemeClr>
                      </a:gs>
                    </a:gsLst>
                    <a:lin ang="5400000"/>
                  </a:gradFill>
                  <a:prstDash val="solid"/>
                </a:ln>
                <a:solidFill>
                  <a:srgbClr val="FFFF00"/>
                </a:solidFill>
                <a:effectLst>
                  <a:outerShdw blurRad="50800" dist="40000" dir="5400000" algn="tl" rotWithShape="0">
                    <a:srgbClr val="000000">
                      <a:shade val="5000"/>
                      <a:satMod val="120000"/>
                      <a:alpha val="33000"/>
                    </a:srgbClr>
                  </a:outerShdw>
                </a:effectLst>
                <a:uLnTx/>
                <a:uFillTx/>
                <a:latin typeface="宋体" panose="02010600030101010101" pitchFamily="2" charset="-122"/>
                <a:ea typeface="宋体" panose="02010600030101010101" pitchFamily="2" charset="-122"/>
                <a:cs typeface="+mn-cs"/>
              </a:rPr>
              <a:t>8.5</a:t>
            </a:r>
            <a:r>
              <a:rPr kumimoji="1" lang="en-US" altLang="zh-CN" sz="2800" b="1" i="0" u="none" strike="noStrike" kern="1200" cap="none" spc="0" normalizeH="0" baseline="0" noProof="0" dirty="0">
                <a:ln w="31550" cmpd="sng">
                  <a:gradFill>
                    <a:gsLst>
                      <a:gs pos="70000">
                        <a:schemeClr val="accent6">
                          <a:shade val="50000"/>
                          <a:satMod val="190000"/>
                        </a:schemeClr>
                      </a:gs>
                      <a:gs pos="0">
                        <a:schemeClr val="accent6">
                          <a:tint val="77000"/>
                          <a:satMod val="180000"/>
                        </a:schemeClr>
                      </a:gs>
                    </a:gsLst>
                    <a:lin ang="5400000"/>
                  </a:gradFill>
                  <a:prstDash val="solid"/>
                </a:ln>
                <a:solidFill>
                  <a:srgbClr val="FFFF00"/>
                </a:solidFill>
                <a:effectLst>
                  <a:outerShdw blurRad="50800" dist="40000" dir="5400000" algn="tl" rotWithShape="0">
                    <a:srgbClr val="000000">
                      <a:shade val="5000"/>
                      <a:satMod val="120000"/>
                      <a:alpha val="33000"/>
                    </a:srgbClr>
                  </a:outerShdw>
                </a:effectLst>
                <a:uLnTx/>
                <a:uFillTx/>
                <a:latin typeface="宋体" panose="02010600030101010101" pitchFamily="2" charset="-122"/>
                <a:ea typeface="宋体" panose="02010600030101010101" pitchFamily="2" charset="-122"/>
                <a:cs typeface="+mn-cs"/>
              </a:rPr>
              <a:t>】</a:t>
            </a:r>
            <a:r>
              <a:rPr kumimoji="1" lang="zh-CN" altLang="en-US" sz="2800" b="1" i="0" u="none" strike="noStrike" kern="1200" cap="none" spc="0" normalizeH="0" baseline="0" noProof="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tx1"/>
                </a:solidFill>
                <a:effectLst>
                  <a:outerShdw blurRad="50800" dist="40000" dir="5400000" algn="tl" rotWithShape="0">
                    <a:srgbClr val="000000">
                      <a:shade val="5000"/>
                      <a:satMod val="120000"/>
                      <a:alpha val="33000"/>
                    </a:srgbClr>
                  </a:outerShdw>
                </a:effectLst>
                <a:uLnTx/>
                <a:uFillTx/>
                <a:latin typeface="宋体" panose="02010600030101010101" pitchFamily="2" charset="-122"/>
                <a:ea typeface="宋体" panose="02010600030101010101" pitchFamily="2" charset="-122"/>
                <a:cs typeface="+mn-cs"/>
              </a:rPr>
              <a:t>：</a:t>
            </a:r>
          </a:p>
        </p:txBody>
      </p:sp>
    </p:spTree>
  </p:cSld>
  <p:clrMapOvr>
    <a:masterClrMapping/>
  </p:clrMapOvr>
  <p:transition spd="med">
    <p:random/>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417513" y="628650"/>
            <a:ext cx="8331200" cy="744538"/>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sz="3200" b="1" i="0" u="none" strike="noStrike" kern="0" cap="none" spc="0" normalizeH="0" baseline="0" noProof="0" dirty="0">
                <a:ln>
                  <a:noFill/>
                </a:ln>
                <a:solidFill>
                  <a:schemeClr val="accent2"/>
                </a:solidFill>
                <a:effectLst>
                  <a:outerShdw blurRad="38100" dist="38100" dir="2700000" algn="tl">
                    <a:srgbClr val="000000"/>
                  </a:outerShdw>
                </a:effectLst>
                <a:uLnTx/>
                <a:uFillTx/>
                <a:latin typeface="+mj-lt"/>
                <a:ea typeface="+mj-ea"/>
                <a:cs typeface="+mj-cs"/>
              </a:rPr>
              <a:t>3 . </a:t>
            </a:r>
            <a:r>
              <a:rPr kumimoji="1" lang="zh-CN" altLang="en-US" sz="3200" b="1" i="0" u="none" strike="noStrike" kern="0" cap="none" spc="0" normalizeH="0" baseline="0" noProof="0" dirty="0">
                <a:ln>
                  <a:noFill/>
                </a:ln>
                <a:solidFill>
                  <a:schemeClr val="accent2"/>
                </a:solidFill>
                <a:effectLst>
                  <a:outerShdw blurRad="38100" dist="38100" dir="2700000" algn="tl">
                    <a:srgbClr val="000000"/>
                  </a:outerShdw>
                </a:effectLst>
                <a:uLnTx/>
                <a:uFillTx/>
                <a:latin typeface="+mj-lt"/>
                <a:ea typeface="+mj-ea"/>
                <a:cs typeface="+mj-cs"/>
              </a:rPr>
              <a:t>方式</a:t>
            </a:r>
            <a:r>
              <a:rPr kumimoji="1" lang="en-US" sz="3200" b="1" i="0" u="none" strike="noStrike" kern="0" cap="none" spc="0" normalizeH="0" baseline="0" noProof="0" dirty="0">
                <a:ln>
                  <a:noFill/>
                </a:ln>
                <a:solidFill>
                  <a:schemeClr val="accent2"/>
                </a:solidFill>
                <a:effectLst>
                  <a:outerShdw blurRad="38100" dist="38100" dir="2700000" algn="tl">
                    <a:srgbClr val="000000"/>
                  </a:outerShdw>
                </a:effectLst>
                <a:uLnTx/>
                <a:uFillTx/>
                <a:latin typeface="+mj-lt"/>
                <a:ea typeface="+mj-ea"/>
                <a:cs typeface="+mj-cs"/>
              </a:rPr>
              <a:t>2 (</a:t>
            </a:r>
            <a:r>
              <a:rPr kumimoji="1" lang="zh-CN" altLang="en-US" sz="3200" b="1" i="0" u="none" strike="noStrike" kern="0" cap="none" spc="0" normalizeH="0" baseline="0" noProof="0" dirty="0">
                <a:ln>
                  <a:noFill/>
                </a:ln>
                <a:solidFill>
                  <a:schemeClr val="accent2"/>
                </a:solidFill>
                <a:effectLst>
                  <a:outerShdw blurRad="38100" dist="38100" dir="2700000" algn="tl">
                    <a:srgbClr val="000000"/>
                  </a:outerShdw>
                </a:effectLst>
                <a:uLnTx/>
                <a:uFillTx/>
                <a:latin typeface="+mj-lt"/>
                <a:ea typeface="+mj-ea"/>
                <a:cs typeface="+mj-cs"/>
              </a:rPr>
              <a:t>速率发生器，分频器</a:t>
            </a:r>
            <a:r>
              <a:rPr kumimoji="1" lang="en-US" sz="3200" b="1" i="0" u="none" strike="noStrike" kern="0" cap="none" spc="0" normalizeH="0" baseline="0" noProof="0" dirty="0">
                <a:ln>
                  <a:noFill/>
                </a:ln>
                <a:solidFill>
                  <a:schemeClr val="accent2"/>
                </a:solidFill>
                <a:effectLst>
                  <a:outerShdw blurRad="38100" dist="38100" dir="2700000" algn="tl">
                    <a:srgbClr val="000000"/>
                  </a:outerShdw>
                </a:effectLst>
                <a:uLnTx/>
                <a:uFillTx/>
                <a:latin typeface="+mj-lt"/>
                <a:ea typeface="+mj-ea"/>
                <a:cs typeface="+mj-cs"/>
              </a:rPr>
              <a:t>)</a:t>
            </a:r>
            <a:br>
              <a:rPr kumimoji="1" lang="zh-CN" altLang="en-US"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br>
            <a:endPar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32770" name="内容占位符 2"/>
          <p:cNvSpPr>
            <a:spLocks noGrp="1"/>
          </p:cNvSpPr>
          <p:nvPr>
            <p:ph sz="half" idx="1"/>
          </p:nvPr>
        </p:nvSpPr>
        <p:spPr>
          <a:xfrm>
            <a:off x="611188" y="1400175"/>
            <a:ext cx="7993062" cy="2755900"/>
          </a:xfrm>
          <a:ln/>
        </p:spPr>
        <p:txBody>
          <a:bodyPr wrap="square" lIns="92075" tIns="46038" rIns="92075" bIns="46038" anchor="t" anchorCtr="0"/>
          <a:lstStyle/>
          <a:p>
            <a:pPr algn="just">
              <a:lnSpc>
                <a:spcPts val="3000"/>
              </a:lnSpc>
              <a:buSzPct val="70000"/>
              <a:buFont typeface="Wingdings" panose="05000000000000000000" pitchFamily="2" charset="2"/>
              <a:buNone/>
            </a:pPr>
            <a:r>
              <a:rPr kumimoji="1" lang="zh-CN" altLang="en-US" sz="2000" dirty="0">
                <a:latin typeface="+mn-lt"/>
                <a:ea typeface="+mn-ea"/>
                <a:cs typeface="+mn-cs"/>
              </a:rPr>
              <a:t>          </a:t>
            </a:r>
            <a:r>
              <a:rPr kumimoji="1" lang="en-US" altLang="zh-CN" sz="2000" dirty="0">
                <a:latin typeface="+mn-lt"/>
                <a:ea typeface="+mn-ea"/>
                <a:cs typeface="+mn-cs"/>
              </a:rPr>
              <a:t> </a:t>
            </a:r>
            <a:r>
              <a:rPr kumimoji="1" lang="zh-CN" altLang="en-US" sz="2000" dirty="0">
                <a:latin typeface="+mn-lt"/>
                <a:ea typeface="+mn-ea"/>
                <a:cs typeface="+mn-cs"/>
              </a:rPr>
              <a:t>在这种方式下，</a:t>
            </a:r>
            <a:r>
              <a:rPr kumimoji="1" lang="en-US" altLang="zh-CN" sz="2000" dirty="0">
                <a:latin typeface="+mn-lt"/>
                <a:ea typeface="+mn-ea"/>
                <a:cs typeface="+mn-cs"/>
              </a:rPr>
              <a:t>CPU</a:t>
            </a:r>
            <a:r>
              <a:rPr kumimoji="1" lang="zh-CN" altLang="en-US" sz="2000" dirty="0">
                <a:latin typeface="+mn-lt"/>
                <a:ea typeface="+mn-ea"/>
                <a:cs typeface="+mn-cs"/>
              </a:rPr>
              <a:t>输出控制字后，输出</a:t>
            </a:r>
            <a:r>
              <a:rPr kumimoji="1" lang="en-US" altLang="zh-CN" sz="2000" dirty="0">
                <a:latin typeface="+mn-lt"/>
                <a:ea typeface="+mn-ea"/>
                <a:cs typeface="+mn-cs"/>
              </a:rPr>
              <a:t>OUT</a:t>
            </a:r>
            <a:r>
              <a:rPr kumimoji="1" lang="zh-CN" altLang="en-US" sz="2000" dirty="0">
                <a:latin typeface="+mn-lt"/>
                <a:ea typeface="+mn-ea"/>
                <a:cs typeface="+mn-cs"/>
              </a:rPr>
              <a:t>就变高，写入计数值后的下一个</a:t>
            </a:r>
            <a:r>
              <a:rPr kumimoji="1" lang="en-US" altLang="zh-CN" sz="2000" dirty="0">
                <a:latin typeface="+mn-lt"/>
                <a:ea typeface="+mn-ea"/>
                <a:cs typeface="+mn-cs"/>
              </a:rPr>
              <a:t>CLK</a:t>
            </a:r>
            <a:r>
              <a:rPr kumimoji="1" lang="zh-CN" altLang="en-US" sz="2000" dirty="0">
                <a:latin typeface="+mn-lt"/>
                <a:ea typeface="+mn-ea"/>
                <a:cs typeface="+mn-cs"/>
              </a:rPr>
              <a:t>脉冲开始计数，计数到</a:t>
            </a:r>
            <a:r>
              <a:rPr kumimoji="1" lang="en-US" altLang="zh-CN" sz="2000" dirty="0">
                <a:latin typeface="+mn-lt"/>
                <a:ea typeface="+mn-ea"/>
                <a:cs typeface="+mn-cs"/>
              </a:rPr>
              <a:t>1</a:t>
            </a:r>
            <a:r>
              <a:rPr kumimoji="1" lang="zh-CN" altLang="en-US" sz="2000" dirty="0">
                <a:latin typeface="+mn-lt"/>
                <a:ea typeface="+mn-ea"/>
                <a:cs typeface="+mn-cs"/>
              </a:rPr>
              <a:t>后，输出</a:t>
            </a:r>
            <a:r>
              <a:rPr kumimoji="1" lang="en-US" altLang="zh-CN" sz="2000" dirty="0">
                <a:latin typeface="+mn-lt"/>
                <a:ea typeface="+mn-ea"/>
                <a:cs typeface="+mn-cs"/>
              </a:rPr>
              <a:t>OUT</a:t>
            </a:r>
            <a:r>
              <a:rPr kumimoji="1" lang="zh-CN" altLang="en-US" sz="2000" dirty="0">
                <a:latin typeface="+mn-lt"/>
                <a:ea typeface="+mn-ea"/>
                <a:cs typeface="+mn-cs"/>
              </a:rPr>
              <a:t>变低，经过一个</a:t>
            </a:r>
            <a:r>
              <a:rPr kumimoji="1" lang="en-US" altLang="zh-CN" sz="2000" dirty="0">
                <a:latin typeface="+mn-lt"/>
                <a:ea typeface="+mn-ea"/>
                <a:cs typeface="+mn-cs"/>
              </a:rPr>
              <a:t>CLK</a:t>
            </a:r>
            <a:r>
              <a:rPr kumimoji="1" lang="zh-CN" altLang="en-US" sz="2000" dirty="0">
                <a:latin typeface="+mn-lt"/>
                <a:ea typeface="+mn-ea"/>
                <a:cs typeface="+mn-cs"/>
              </a:rPr>
              <a:t>以后，</a:t>
            </a:r>
            <a:r>
              <a:rPr kumimoji="1" lang="en-US" altLang="zh-CN" sz="2000" dirty="0">
                <a:latin typeface="+mn-lt"/>
                <a:ea typeface="+mn-ea"/>
                <a:cs typeface="+mn-cs"/>
              </a:rPr>
              <a:t>OUT</a:t>
            </a:r>
            <a:r>
              <a:rPr kumimoji="1" lang="zh-CN" altLang="en-US" sz="2000" dirty="0">
                <a:latin typeface="+mn-lt"/>
                <a:ea typeface="+mn-ea"/>
                <a:cs typeface="+mn-cs"/>
              </a:rPr>
              <a:t>恢复为高，计数器重新开始计数，</a:t>
            </a:r>
            <a:r>
              <a:rPr kumimoji="1" lang="en-US" altLang="zh-CN" sz="2000" dirty="0">
                <a:latin typeface="+mn-lt"/>
                <a:ea typeface="+mn-ea"/>
                <a:cs typeface="+mn-cs"/>
              </a:rPr>
              <a:t>…</a:t>
            </a:r>
            <a:r>
              <a:rPr kumimoji="1" lang="zh-CN" altLang="en-US" sz="2000" dirty="0">
                <a:latin typeface="+mn-lt"/>
                <a:ea typeface="+mn-ea"/>
                <a:cs typeface="+mn-cs"/>
              </a:rPr>
              <a:t>，</a:t>
            </a:r>
            <a:r>
              <a:rPr kumimoji="1" lang="zh-CN" altLang="en-US" sz="2000" i="1" dirty="0">
                <a:solidFill>
                  <a:srgbClr val="FFFF00"/>
                </a:solidFill>
                <a:latin typeface="+mn-lt"/>
                <a:ea typeface="+mn-ea"/>
                <a:cs typeface="+mn-cs"/>
              </a:rPr>
              <a:t>因此在这种方式下，只需写入一次计数值，就能连续工作，输出连续相同间隔的负脉冲（前提：</a:t>
            </a:r>
            <a:r>
              <a:rPr kumimoji="1" lang="en-US" altLang="zh-CN" sz="2000" i="1" dirty="0">
                <a:solidFill>
                  <a:srgbClr val="FFFF00"/>
                </a:solidFill>
                <a:latin typeface="+mn-lt"/>
                <a:ea typeface="+mn-ea"/>
                <a:cs typeface="+mn-cs"/>
              </a:rPr>
              <a:t>GATE</a:t>
            </a:r>
            <a:r>
              <a:rPr kumimoji="1" lang="zh-CN" altLang="en-US" sz="2000" i="1" dirty="0">
                <a:solidFill>
                  <a:srgbClr val="FFFF00"/>
                </a:solidFill>
                <a:latin typeface="+mn-lt"/>
                <a:ea typeface="+mn-ea"/>
                <a:cs typeface="+mn-cs"/>
              </a:rPr>
              <a:t>保持为高），即周期性地输出</a:t>
            </a:r>
            <a:r>
              <a:rPr kumimoji="1" lang="zh-CN" altLang="en-US" sz="2000" dirty="0">
                <a:latin typeface="+mn-lt"/>
                <a:ea typeface="+mn-ea"/>
                <a:cs typeface="+mn-cs"/>
              </a:rPr>
              <a:t>，</a:t>
            </a:r>
            <a:r>
              <a:rPr kumimoji="1" lang="zh-CN" altLang="en-US" sz="2000" dirty="0">
                <a:solidFill>
                  <a:srgbClr val="00CC00"/>
                </a:solidFill>
                <a:latin typeface="+mn-lt"/>
                <a:ea typeface="+mn-ea"/>
                <a:cs typeface="+mn-cs"/>
              </a:rPr>
              <a:t>设</a:t>
            </a:r>
            <a:r>
              <a:rPr kumimoji="1" lang="en-US" altLang="zh-CN" sz="2000" dirty="0">
                <a:solidFill>
                  <a:srgbClr val="00CC00"/>
                </a:solidFill>
                <a:latin typeface="+mn-lt"/>
                <a:ea typeface="+mn-ea"/>
                <a:cs typeface="+mn-cs"/>
              </a:rPr>
              <a:t>LSB</a:t>
            </a:r>
            <a:r>
              <a:rPr kumimoji="1" lang="zh-CN" altLang="en-US" sz="2000" dirty="0">
                <a:solidFill>
                  <a:srgbClr val="00CC00"/>
                </a:solidFill>
                <a:latin typeface="+mn-lt"/>
                <a:ea typeface="+mn-ea"/>
                <a:cs typeface="+mn-cs"/>
              </a:rPr>
              <a:t>＝</a:t>
            </a:r>
            <a:r>
              <a:rPr kumimoji="1" lang="en-US" altLang="zh-CN" sz="2000" dirty="0">
                <a:solidFill>
                  <a:srgbClr val="00CC00"/>
                </a:solidFill>
                <a:latin typeface="+mn-lt"/>
                <a:ea typeface="+mn-ea"/>
                <a:cs typeface="+mn-cs"/>
              </a:rPr>
              <a:t>N</a:t>
            </a:r>
            <a:r>
              <a:rPr kumimoji="1" lang="zh-CN" altLang="en-US" sz="2000" dirty="0">
                <a:solidFill>
                  <a:srgbClr val="00CC00"/>
                </a:solidFill>
                <a:latin typeface="+mn-lt"/>
                <a:ea typeface="+mn-ea"/>
                <a:cs typeface="+mn-cs"/>
              </a:rPr>
              <a:t>，则每隔</a:t>
            </a:r>
            <a:r>
              <a:rPr kumimoji="1" lang="en-US" altLang="zh-CN" sz="2000" dirty="0">
                <a:solidFill>
                  <a:srgbClr val="00CC00"/>
                </a:solidFill>
                <a:latin typeface="+mn-lt"/>
                <a:ea typeface="+mn-ea"/>
                <a:cs typeface="+mn-cs"/>
              </a:rPr>
              <a:t>N</a:t>
            </a:r>
            <a:r>
              <a:rPr kumimoji="1" lang="zh-CN" altLang="en-US" sz="2000" dirty="0">
                <a:solidFill>
                  <a:srgbClr val="00CC00"/>
                </a:solidFill>
                <a:latin typeface="+mn-lt"/>
                <a:ea typeface="+mn-ea"/>
                <a:cs typeface="+mn-cs"/>
              </a:rPr>
              <a:t>个</a:t>
            </a:r>
            <a:r>
              <a:rPr kumimoji="1" lang="en-US" altLang="zh-CN" sz="2000" dirty="0">
                <a:solidFill>
                  <a:srgbClr val="00CC00"/>
                </a:solidFill>
                <a:latin typeface="+mn-lt"/>
                <a:ea typeface="+mn-ea"/>
                <a:cs typeface="+mn-cs"/>
              </a:rPr>
              <a:t>CLK</a:t>
            </a:r>
            <a:r>
              <a:rPr kumimoji="1" lang="zh-CN" altLang="en-US" sz="2000" dirty="0">
                <a:solidFill>
                  <a:srgbClr val="00CC00"/>
                </a:solidFill>
                <a:latin typeface="+mn-lt"/>
                <a:ea typeface="+mn-ea"/>
                <a:cs typeface="+mn-cs"/>
              </a:rPr>
              <a:t>输出一个负脉冲（周期为</a:t>
            </a:r>
            <a:r>
              <a:rPr kumimoji="1" lang="en-US" altLang="zh-CN" sz="2000" dirty="0">
                <a:solidFill>
                  <a:srgbClr val="00CC00"/>
                </a:solidFill>
                <a:latin typeface="+mn-lt"/>
                <a:ea typeface="+mn-ea"/>
                <a:cs typeface="+mn-cs"/>
              </a:rPr>
              <a:t>N</a:t>
            </a:r>
            <a:r>
              <a:rPr kumimoji="1" lang="zh-CN" altLang="en-US" sz="2000" dirty="0">
                <a:solidFill>
                  <a:srgbClr val="00CC00"/>
                </a:solidFill>
                <a:latin typeface="+mn-lt"/>
                <a:ea typeface="+mn-ea"/>
                <a:cs typeface="+mn-cs"/>
              </a:rPr>
              <a:t>）</a:t>
            </a:r>
            <a:r>
              <a:rPr kumimoji="1" lang="zh-CN" altLang="en-US" sz="2000" dirty="0">
                <a:latin typeface="+mn-lt"/>
                <a:ea typeface="+mn-ea"/>
                <a:cs typeface="+mn-cs"/>
              </a:rPr>
              <a:t>。</a:t>
            </a:r>
            <a:r>
              <a:rPr kumimoji="1" lang="zh-CN" altLang="en-US" sz="2000" dirty="0">
                <a:solidFill>
                  <a:srgbClr val="FF0000"/>
                </a:solidFill>
                <a:latin typeface="+mn-lt"/>
                <a:ea typeface="+mn-ea"/>
                <a:cs typeface="+mn-cs"/>
                <a:sym typeface="Arial" panose="020B0604020202020204" pitchFamily="34" charset="0"/>
              </a:rPr>
              <a:t>方式</a:t>
            </a:r>
            <a:r>
              <a:rPr kumimoji="1" lang="en-US" altLang="zh-CN" sz="2000" dirty="0">
                <a:solidFill>
                  <a:srgbClr val="FF0000"/>
                </a:solidFill>
                <a:latin typeface="+mn-lt"/>
                <a:ea typeface="+mn-ea"/>
                <a:cs typeface="+mn-cs"/>
                <a:sym typeface="Arial" panose="020B0604020202020204" pitchFamily="34" charset="0"/>
              </a:rPr>
              <a:t>2</a:t>
            </a:r>
            <a:r>
              <a:rPr kumimoji="1" lang="zh-CN" altLang="en-US" sz="2000" dirty="0">
                <a:solidFill>
                  <a:srgbClr val="FF0000"/>
                </a:solidFill>
                <a:latin typeface="+mn-lt"/>
                <a:ea typeface="+mn-ea"/>
                <a:cs typeface="+mn-cs"/>
                <a:sym typeface="Arial" panose="020B0604020202020204" pitchFamily="34" charset="0"/>
              </a:rPr>
              <a:t>的波形见图所示：</a:t>
            </a:r>
            <a:endParaRPr kumimoji="1" lang="zh-CN" altLang="en-US" sz="2000" dirty="0">
              <a:latin typeface="+mn-lt"/>
              <a:ea typeface="+mn-ea"/>
              <a:cs typeface="+mn-cs"/>
            </a:endParaRPr>
          </a:p>
          <a:p>
            <a:pPr algn="just">
              <a:lnSpc>
                <a:spcPts val="3000"/>
              </a:lnSpc>
              <a:buSzPct val="70000"/>
              <a:buFont typeface="Wingdings" panose="05000000000000000000" pitchFamily="2" charset="2"/>
              <a:buNone/>
            </a:pPr>
            <a:endParaRPr kumimoji="1" lang="zh-CN" altLang="en-US" sz="2000" dirty="0">
              <a:latin typeface="+mn-lt"/>
              <a:ea typeface="+mn-ea"/>
              <a:cs typeface="+mn-cs"/>
            </a:endParaRPr>
          </a:p>
        </p:txBody>
      </p:sp>
      <p:sp>
        <p:nvSpPr>
          <p:cNvPr id="32771" name="内容占位符 3"/>
          <p:cNvSpPr>
            <a:spLocks noGrp="1"/>
          </p:cNvSpPr>
          <p:nvPr>
            <p:ph sz="half" idx="2"/>
          </p:nvPr>
        </p:nvSpPr>
        <p:spPr>
          <a:xfrm>
            <a:off x="5248275" y="1387475"/>
            <a:ext cx="3527425" cy="5291138"/>
          </a:xfrm>
          <a:ln/>
        </p:spPr>
        <p:txBody>
          <a:bodyPr wrap="square" lIns="92075" tIns="46038" rIns="92075" bIns="46038" anchor="t" anchorCtr="0"/>
          <a:lstStyle/>
          <a:p>
            <a:pPr>
              <a:buSzPct val="70000"/>
              <a:buFont typeface="Wingdings" panose="05000000000000000000" pitchFamily="2" charset="2"/>
              <a:buNone/>
            </a:pPr>
            <a:endParaRPr kumimoji="1" lang="zh-CN" altLang="en-US" sz="2400" dirty="0">
              <a:solidFill>
                <a:srgbClr val="FF0000"/>
              </a:solidFill>
              <a:latin typeface="+mn-lt"/>
              <a:ea typeface="+mn-ea"/>
              <a:cs typeface="+mn-cs"/>
            </a:endParaRPr>
          </a:p>
          <a:p>
            <a:pPr>
              <a:buSzPct val="70000"/>
              <a:buFont typeface="Wingdings" panose="05000000000000000000" pitchFamily="2" charset="2"/>
              <a:buNone/>
            </a:pPr>
            <a:endParaRPr kumimoji="1" lang="zh-CN" altLang="en-US" dirty="0">
              <a:latin typeface="+mn-lt"/>
              <a:ea typeface="+mn-ea"/>
              <a:cs typeface="+mn-cs"/>
            </a:endParaRPr>
          </a:p>
        </p:txBody>
      </p:sp>
      <p:pic>
        <p:nvPicPr>
          <p:cNvPr id="32772" name="Picture 27" descr="8"/>
          <p:cNvPicPr>
            <a:picLocks noChangeAspect="1"/>
          </p:cNvPicPr>
          <p:nvPr/>
        </p:nvPicPr>
        <p:blipFill>
          <a:blip r:embed="rId2"/>
          <a:stretch>
            <a:fillRect/>
          </a:stretch>
        </p:blipFill>
        <p:spPr>
          <a:xfrm>
            <a:off x="3354388" y="3930650"/>
            <a:ext cx="4370387" cy="2851150"/>
          </a:xfrm>
          <a:prstGeom prst="rect">
            <a:avLst/>
          </a:prstGeom>
          <a:noFill/>
          <a:ln w="9525">
            <a:noFill/>
          </a:ln>
        </p:spPr>
      </p:pic>
    </p:spTree>
  </p:cSld>
  <p:clrMapOvr>
    <a:masterClrMapping/>
  </p:clrMapOvr>
  <p:transition spd="med">
    <p:random/>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标题 4"/>
          <p:cNvSpPr>
            <a:spLocks noGrp="1"/>
          </p:cNvSpPr>
          <p:nvPr>
            <p:ph type="title" idx="4294967295"/>
          </p:nvPr>
        </p:nvSpPr>
        <p:spPr>
          <a:xfrm>
            <a:off x="347663" y="407988"/>
            <a:ext cx="8331200" cy="1143000"/>
          </a:xfrm>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sz="3200" b="1" i="0" u="none" strike="noStrike" kern="0" cap="none" spc="0" normalizeH="0" baseline="0" noProof="0" dirty="0">
                <a:ln>
                  <a:noFill/>
                </a:ln>
                <a:solidFill>
                  <a:schemeClr val="accent2"/>
                </a:solidFill>
                <a:effectLst>
                  <a:outerShdw blurRad="38100" dist="38100" dir="2700000" algn="tl">
                    <a:srgbClr val="000000"/>
                  </a:outerShdw>
                </a:effectLst>
                <a:uLnTx/>
                <a:uFillTx/>
                <a:latin typeface="+mj-lt"/>
                <a:ea typeface="+mj-ea"/>
                <a:cs typeface="+mj-cs"/>
              </a:rPr>
              <a:t>3 . </a:t>
            </a:r>
            <a:r>
              <a:rPr kumimoji="1" lang="zh-CN" altLang="en-US" sz="3200" b="1" i="0" u="none" strike="noStrike" kern="0" cap="none" spc="0" normalizeH="0" baseline="0" noProof="0" dirty="0">
                <a:ln>
                  <a:noFill/>
                </a:ln>
                <a:solidFill>
                  <a:schemeClr val="accent2"/>
                </a:solidFill>
                <a:effectLst>
                  <a:outerShdw blurRad="38100" dist="38100" dir="2700000" algn="tl">
                    <a:srgbClr val="000000"/>
                  </a:outerShdw>
                </a:effectLst>
                <a:uLnTx/>
                <a:uFillTx/>
                <a:latin typeface="+mj-lt"/>
                <a:ea typeface="+mj-ea"/>
                <a:cs typeface="+mj-cs"/>
              </a:rPr>
              <a:t>方式</a:t>
            </a:r>
            <a:r>
              <a:rPr kumimoji="1" lang="en-US" sz="3200" b="1" i="0" u="none" strike="noStrike" kern="0" cap="none" spc="0" normalizeH="0" baseline="0" noProof="0" dirty="0">
                <a:ln>
                  <a:noFill/>
                </a:ln>
                <a:solidFill>
                  <a:schemeClr val="accent2"/>
                </a:solidFill>
                <a:effectLst>
                  <a:outerShdw blurRad="38100" dist="38100" dir="2700000" algn="tl">
                    <a:srgbClr val="000000"/>
                  </a:outerShdw>
                </a:effectLst>
                <a:uLnTx/>
                <a:uFillTx/>
                <a:latin typeface="+mj-lt"/>
                <a:ea typeface="+mj-ea"/>
                <a:cs typeface="+mj-cs"/>
              </a:rPr>
              <a:t>2 (</a:t>
            </a:r>
            <a:r>
              <a:rPr kumimoji="1" lang="zh-CN" altLang="en-US" sz="3200" b="1" i="0" u="none" strike="noStrike" kern="0" cap="none" spc="0" normalizeH="0" baseline="0" noProof="0" dirty="0">
                <a:ln>
                  <a:noFill/>
                </a:ln>
                <a:solidFill>
                  <a:schemeClr val="accent2"/>
                </a:solidFill>
                <a:effectLst>
                  <a:outerShdw blurRad="38100" dist="38100" dir="2700000" algn="tl">
                    <a:srgbClr val="000000"/>
                  </a:outerShdw>
                </a:effectLst>
                <a:uLnTx/>
                <a:uFillTx/>
                <a:latin typeface="+mj-lt"/>
                <a:ea typeface="+mj-ea"/>
                <a:cs typeface="+mj-cs"/>
              </a:rPr>
              <a:t>速率发生器，分频器</a:t>
            </a:r>
            <a:r>
              <a:rPr kumimoji="1" lang="en-US" sz="3200" b="1" i="0" u="none" strike="noStrike" kern="0" cap="none" spc="0" normalizeH="0" baseline="0" noProof="0" dirty="0">
                <a:ln>
                  <a:noFill/>
                </a:ln>
                <a:solidFill>
                  <a:schemeClr val="accent2"/>
                </a:solidFill>
                <a:effectLst>
                  <a:outerShdw blurRad="38100" dist="38100" dir="2700000" algn="tl">
                    <a:srgbClr val="000000"/>
                  </a:outerShdw>
                </a:effectLst>
                <a:uLnTx/>
                <a:uFillTx/>
                <a:latin typeface="+mj-lt"/>
                <a:ea typeface="+mj-ea"/>
                <a:cs typeface="+mj-cs"/>
              </a:rPr>
              <a:t>)</a:t>
            </a:r>
            <a:br>
              <a:rPr kumimoji="1" lang="zh-CN" altLang="en-US"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br>
            <a:endPar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6" name="内容占位符 5"/>
          <p:cNvSpPr>
            <a:spLocks noGrp="1"/>
          </p:cNvSpPr>
          <p:nvPr>
            <p:ph idx="1"/>
          </p:nvPr>
        </p:nvSpPr>
        <p:spPr>
          <a:xfrm>
            <a:off x="498475" y="1704975"/>
            <a:ext cx="8197850" cy="4814888"/>
          </a:xfrm>
          <a:ln>
            <a:miter/>
          </a:ln>
        </p:spPr>
        <p:txBody>
          <a:bodyPr vert="horz" wrap="square" lIns="92075" tIns="46038" rIns="92075" bIns="46038" numCol="1" anchor="t" anchorCtr="0" compatLnSpc="1"/>
          <a:lstStyle/>
          <a:p>
            <a:pPr marL="342900" marR="0" lvl="0" indent="-342900" algn="l" defTabSz="914400" rtl="0" eaLnBrk="0" fontAlgn="base" latinLnBrk="0" hangingPunct="0">
              <a:lnSpc>
                <a:spcPts val="4000"/>
              </a:lnSpc>
              <a:spcBef>
                <a:spcPct val="20000"/>
              </a:spcBef>
              <a:spcAft>
                <a:spcPct val="0"/>
              </a:spcAft>
              <a:buClr>
                <a:schemeClr val="accent2"/>
              </a:buClr>
              <a:buSzPct val="70000"/>
              <a:buFont typeface="Wingdings" panose="05000000000000000000" pitchFamily="2" charset="2"/>
              <a:buNone/>
              <a:defRPr/>
            </a:pPr>
            <a:r>
              <a:rPr kumimoji="1" lang="zh-CN" altLang="en-US" sz="2800" b="1" i="0" u="none" strike="noStrike" kern="0" cap="none" spc="0" normalizeH="0" baseline="0" noProof="0" dirty="0">
                <a:ln>
                  <a:noFill/>
                </a:ln>
                <a:solidFill>
                  <a:schemeClr val="tx1"/>
                </a:solidFill>
                <a:effectLst/>
                <a:uLnTx/>
                <a:uFillTx/>
                <a:latin typeface="+mn-lt"/>
                <a:ea typeface="+mn-ea"/>
                <a:cs typeface="+mn-cs"/>
              </a:rPr>
              <a:t>   </a:t>
            </a:r>
            <a:endParaRPr kumimoji="1"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ts val="4000"/>
              </a:lnSpc>
              <a:spcBef>
                <a:spcPct val="20000"/>
              </a:spcBef>
              <a:spcAft>
                <a:spcPct val="0"/>
              </a:spcAft>
              <a:buClr>
                <a:schemeClr val="accent2"/>
              </a:buClr>
              <a:buSzPct val="70000"/>
              <a:buFont typeface="Wingdings" panose="05000000000000000000" pitchFamily="2" charset="2"/>
              <a:buNone/>
              <a:defRPr/>
            </a:pPr>
            <a:r>
              <a:rPr kumimoji="1" lang="en-US" altLang="zh-CN" sz="2800" b="1" i="0" u="none" strike="noStrike" kern="0" cap="none" spc="0" normalizeH="0" baseline="0" noProof="0" dirty="0">
                <a:ln>
                  <a:noFill/>
                </a:ln>
                <a:solidFill>
                  <a:schemeClr val="tx1"/>
                </a:solidFill>
                <a:effectLst/>
                <a:uLnTx/>
                <a:uFillTx/>
                <a:latin typeface="+mn-lt"/>
                <a:ea typeface="+mn-ea"/>
                <a:cs typeface="+mn-cs"/>
              </a:rPr>
              <a:t>   </a:t>
            </a:r>
            <a:r>
              <a:rPr kumimoji="1" lang="zh-CN" altLang="en-US" sz="2800" b="1" i="0" u="none" strike="noStrike" kern="0" cap="none" spc="0" normalizeH="0" baseline="0" noProof="0" dirty="0">
                <a:ln>
                  <a:noFill/>
                </a:ln>
                <a:solidFill>
                  <a:schemeClr val="tx1"/>
                </a:solidFill>
                <a:effectLst/>
                <a:uLnTx/>
                <a:uFillTx/>
                <a:latin typeface="+mn-lt"/>
                <a:ea typeface="+mn-ea"/>
                <a:cs typeface="+mn-cs"/>
              </a:rPr>
              <a:t> </a:t>
            </a:r>
            <a:r>
              <a:rPr kumimoji="1" lang="zh-CN" altLang="en-US" sz="2800" b="1" i="0" u="none" strike="noStrike" kern="0" cap="none" spc="0" normalizeH="0" baseline="0" noProof="0" dirty="0">
                <a:ln>
                  <a:noFill/>
                </a:ln>
                <a:solidFill>
                  <a:schemeClr val="accent6"/>
                </a:solidFill>
                <a:effectLst/>
                <a:uLnTx/>
                <a:uFillTx/>
                <a:latin typeface="+mn-lt"/>
                <a:ea typeface="+mn-ea"/>
                <a:cs typeface="+mn-cs"/>
              </a:rPr>
              <a:t>①  通道可以连续工作；</a:t>
            </a:r>
          </a:p>
          <a:p>
            <a:pPr marL="342900" marR="0" lvl="0" indent="-342900" algn="l" defTabSz="914400" rtl="0" eaLnBrk="0" fontAlgn="base" latinLnBrk="0" hangingPunct="0">
              <a:lnSpc>
                <a:spcPts val="4000"/>
              </a:lnSpc>
              <a:spcBef>
                <a:spcPct val="20000"/>
              </a:spcBef>
              <a:spcAft>
                <a:spcPct val="0"/>
              </a:spcAft>
              <a:buClr>
                <a:schemeClr val="accent2"/>
              </a:buClr>
              <a:buSzPct val="70000"/>
              <a:buFont typeface="Wingdings" panose="05000000000000000000" pitchFamily="2" charset="2"/>
              <a:buNone/>
              <a:defRPr/>
            </a:pPr>
            <a:r>
              <a:rPr kumimoji="1" lang="zh-CN" altLang="en-US" sz="2800" b="1" i="0" u="none" strike="noStrike" kern="0" cap="none" spc="0" normalizeH="0" baseline="0" noProof="0" dirty="0">
                <a:ln>
                  <a:noFill/>
                </a:ln>
                <a:solidFill>
                  <a:schemeClr val="accent6"/>
                </a:solidFill>
                <a:effectLst/>
                <a:uLnTx/>
                <a:uFillTx/>
                <a:latin typeface="+mn-lt"/>
                <a:ea typeface="+mn-ea"/>
                <a:cs typeface="+mn-cs"/>
              </a:rPr>
              <a:t>    ②   </a:t>
            </a:r>
            <a:r>
              <a:rPr kumimoji="1" lang="en-US" sz="2800" b="1" i="0" u="none" strike="noStrike" kern="0" cap="none" spc="0" normalizeH="0" baseline="0" noProof="0" dirty="0">
                <a:ln>
                  <a:noFill/>
                </a:ln>
                <a:solidFill>
                  <a:schemeClr val="accent6"/>
                </a:solidFill>
                <a:effectLst/>
                <a:uLnTx/>
                <a:uFillTx/>
                <a:latin typeface="+mn-lt"/>
                <a:ea typeface="+mn-ea"/>
                <a:cs typeface="+mn-cs"/>
              </a:rPr>
              <a:t>GATE</a:t>
            </a:r>
            <a:r>
              <a:rPr kumimoji="1" lang="zh-CN" altLang="en-US" sz="2800" b="1" i="0" u="none" strike="noStrike" kern="0" cap="none" spc="0" normalizeH="0" baseline="0" noProof="0" dirty="0">
                <a:ln>
                  <a:noFill/>
                </a:ln>
                <a:solidFill>
                  <a:schemeClr val="accent6"/>
                </a:solidFill>
                <a:effectLst/>
                <a:uLnTx/>
                <a:uFillTx/>
                <a:latin typeface="+mn-lt"/>
                <a:ea typeface="+mn-ea"/>
                <a:cs typeface="+mn-cs"/>
              </a:rPr>
              <a:t>可以控制计数过程，当</a:t>
            </a:r>
            <a:r>
              <a:rPr kumimoji="1" lang="en-US" sz="2800" b="1" i="0" u="none" strike="noStrike" kern="0" cap="none" spc="0" normalizeH="0" baseline="0" noProof="0" dirty="0">
                <a:ln>
                  <a:noFill/>
                </a:ln>
                <a:solidFill>
                  <a:schemeClr val="accent6"/>
                </a:solidFill>
                <a:effectLst/>
                <a:uLnTx/>
                <a:uFillTx/>
                <a:latin typeface="+mn-lt"/>
                <a:ea typeface="+mn-ea"/>
                <a:cs typeface="+mn-cs"/>
              </a:rPr>
              <a:t>GATE</a:t>
            </a:r>
            <a:r>
              <a:rPr kumimoji="1" lang="zh-CN" altLang="en-US" sz="2800" b="1" i="0" u="none" strike="noStrike" kern="0" cap="none" spc="0" normalizeH="0" baseline="0" noProof="0" dirty="0">
                <a:ln>
                  <a:noFill/>
                </a:ln>
                <a:solidFill>
                  <a:schemeClr val="accent6"/>
                </a:solidFill>
                <a:effectLst/>
                <a:uLnTx/>
                <a:uFillTx/>
                <a:latin typeface="+mn-lt"/>
                <a:ea typeface="+mn-ea"/>
                <a:cs typeface="+mn-cs"/>
              </a:rPr>
              <a:t>为低时暂停计数，恢复为高后重新从初值；（注意：该方式与方式</a:t>
            </a:r>
            <a:r>
              <a:rPr kumimoji="1" lang="en-US" sz="2800" b="1" i="0" u="none" strike="noStrike" kern="0" cap="none" spc="0" normalizeH="0" baseline="0" noProof="0" dirty="0">
                <a:ln>
                  <a:noFill/>
                </a:ln>
                <a:solidFill>
                  <a:schemeClr val="accent6"/>
                </a:solidFill>
                <a:effectLst/>
                <a:uLnTx/>
                <a:uFillTx/>
                <a:latin typeface="+mn-lt"/>
                <a:ea typeface="+mn-ea"/>
                <a:cs typeface="+mn-cs"/>
              </a:rPr>
              <a:t>0</a:t>
            </a:r>
            <a:r>
              <a:rPr kumimoji="1" lang="zh-CN" altLang="en-US" sz="2800" b="1" i="0" u="none" strike="noStrike" kern="0" cap="none" spc="0" normalizeH="0" baseline="0" noProof="0" dirty="0">
                <a:ln>
                  <a:noFill/>
                </a:ln>
                <a:solidFill>
                  <a:schemeClr val="accent6"/>
                </a:solidFill>
                <a:effectLst/>
                <a:uLnTx/>
                <a:uFillTx/>
                <a:latin typeface="+mn-lt"/>
                <a:ea typeface="+mn-ea"/>
                <a:cs typeface="+mn-cs"/>
              </a:rPr>
              <a:t>不同，方式</a:t>
            </a:r>
            <a:r>
              <a:rPr kumimoji="1" lang="en-US" sz="2800" b="1" i="0" u="none" strike="noStrike" kern="0" cap="none" spc="0" normalizeH="0" baseline="0" noProof="0" dirty="0">
                <a:ln>
                  <a:noFill/>
                </a:ln>
                <a:solidFill>
                  <a:schemeClr val="accent6"/>
                </a:solidFill>
                <a:effectLst/>
                <a:uLnTx/>
                <a:uFillTx/>
                <a:latin typeface="+mn-lt"/>
                <a:ea typeface="+mn-ea"/>
                <a:cs typeface="+mn-cs"/>
              </a:rPr>
              <a:t>0</a:t>
            </a:r>
            <a:r>
              <a:rPr kumimoji="1" lang="zh-CN" altLang="en-US" sz="2800" b="1" i="0" u="none" strike="noStrike" kern="0" cap="none" spc="0" normalizeH="0" baseline="0" noProof="0" dirty="0">
                <a:ln>
                  <a:noFill/>
                </a:ln>
                <a:solidFill>
                  <a:schemeClr val="accent6"/>
                </a:solidFill>
                <a:effectLst/>
                <a:uLnTx/>
                <a:uFillTx/>
                <a:latin typeface="+mn-lt"/>
                <a:ea typeface="+mn-ea"/>
                <a:cs typeface="+mn-cs"/>
              </a:rPr>
              <a:t>是继续计数）</a:t>
            </a:r>
          </a:p>
          <a:p>
            <a:pPr marL="342900" marR="0" lvl="0" indent="-342900" algn="l" defTabSz="914400" rtl="0" eaLnBrk="0" fontAlgn="base" latinLnBrk="0" hangingPunct="0">
              <a:lnSpc>
                <a:spcPts val="4000"/>
              </a:lnSpc>
              <a:spcBef>
                <a:spcPct val="20000"/>
              </a:spcBef>
              <a:spcAft>
                <a:spcPct val="0"/>
              </a:spcAft>
              <a:buClr>
                <a:schemeClr val="accent2"/>
              </a:buClr>
              <a:buSzPct val="70000"/>
              <a:buFont typeface="Wingdings" panose="05000000000000000000" pitchFamily="2" charset="2"/>
              <a:buNone/>
              <a:defRPr/>
            </a:pPr>
            <a:r>
              <a:rPr kumimoji="1" lang="zh-CN" altLang="en-US" sz="2800" b="1" i="0" u="none" strike="noStrike" kern="0" cap="none" spc="0" normalizeH="0" baseline="0" noProof="0" dirty="0">
                <a:ln>
                  <a:noFill/>
                </a:ln>
                <a:solidFill>
                  <a:schemeClr val="accent6"/>
                </a:solidFill>
                <a:effectLst/>
                <a:uLnTx/>
                <a:uFillTx/>
                <a:latin typeface="+mn-lt"/>
                <a:ea typeface="+mn-ea"/>
                <a:cs typeface="+mn-cs"/>
              </a:rPr>
              <a:t>    ③  重新设置新的计数值即在计数过程中改变计数值，则新的计数值是下次有效的，同方式</a:t>
            </a:r>
            <a:r>
              <a:rPr kumimoji="1" lang="en-US" sz="2800" b="1" i="0" u="none" strike="noStrike" kern="0" cap="none" spc="0" normalizeH="0" baseline="0" noProof="0" dirty="0">
                <a:ln>
                  <a:noFill/>
                </a:ln>
                <a:solidFill>
                  <a:schemeClr val="accent6"/>
                </a:solidFill>
                <a:effectLst/>
                <a:uLnTx/>
                <a:uFillTx/>
                <a:latin typeface="+mn-lt"/>
                <a:ea typeface="+mn-ea"/>
                <a:cs typeface="+mn-cs"/>
              </a:rPr>
              <a:t>1</a:t>
            </a:r>
            <a:r>
              <a:rPr kumimoji="1" lang="zh-CN" altLang="en-US" sz="2800" b="1" i="0" u="none" strike="noStrike" kern="0" cap="none" spc="0" normalizeH="0" baseline="0" noProof="0" dirty="0">
                <a:ln>
                  <a:noFill/>
                </a:ln>
                <a:solidFill>
                  <a:schemeClr val="accent6"/>
                </a:solidFill>
                <a:effectLst/>
                <a:uLnTx/>
                <a:uFillTx/>
                <a:latin typeface="+mn-lt"/>
                <a:ea typeface="+mn-ea"/>
                <a:cs typeface="+mn-cs"/>
              </a:rPr>
              <a:t>。</a:t>
            </a:r>
          </a:p>
          <a:p>
            <a:pPr marL="342900" marR="0" lvl="0" indent="-34290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endParaRPr kumimoji="1" lang="zh-CN" altLang="en-US" sz="2800" b="1" i="0" u="none" strike="noStrike" kern="0" cap="none" spc="0" normalizeH="0" baseline="0" noProof="0" dirty="0">
              <a:ln>
                <a:noFill/>
              </a:ln>
              <a:solidFill>
                <a:srgbClr val="00B050"/>
              </a:solidFill>
              <a:effectLst/>
              <a:uLnTx/>
              <a:uFillTx/>
              <a:latin typeface="+mn-lt"/>
              <a:ea typeface="+mn-ea"/>
              <a:cs typeface="+mn-cs"/>
            </a:endParaRPr>
          </a:p>
        </p:txBody>
      </p:sp>
      <p:sp>
        <p:nvSpPr>
          <p:cNvPr id="7" name="矩形 6"/>
          <p:cNvSpPr/>
          <p:nvPr/>
        </p:nvSpPr>
        <p:spPr>
          <a:xfrm>
            <a:off x="516832" y="1595873"/>
            <a:ext cx="7579319" cy="1011624"/>
          </a:xfrm>
          <a:prstGeom prst="rect">
            <a:avLst/>
          </a:prstGeom>
          <a:noFill/>
        </p:spPr>
        <p:txBody>
          <a:bodyPr wrap="none">
            <a:spAutoFit/>
          </a:bodyPr>
          <a:lstStyle/>
          <a:p>
            <a:pPr marL="0" marR="0" lvl="0" indent="0" algn="ctr" defTabSz="914400" rtl="0" eaLnBrk="1" fontAlgn="base" latinLnBrk="0" hangingPunct="1">
              <a:lnSpc>
                <a:spcPct val="90000"/>
              </a:lnSpc>
              <a:spcBef>
                <a:spcPct val="20000"/>
              </a:spcBef>
              <a:spcAft>
                <a:spcPct val="0"/>
              </a:spcAft>
              <a:buClrTx/>
              <a:buSzTx/>
              <a:buFontTx/>
              <a:buNone/>
              <a:defRPr/>
            </a:pPr>
            <a:r>
              <a:rPr kumimoji="1" lang="zh-CN" altLang="en-US" sz="2800" b="1" i="0" u="none" strike="noStrike" kern="1200" cap="none" spc="0" normalizeH="0" baseline="0" noProof="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uLnTx/>
                <a:uFillTx/>
                <a:latin typeface="宋体" panose="02010600030101010101" pitchFamily="2" charset="-122"/>
                <a:ea typeface="宋体" panose="02010600030101010101" pitchFamily="2" charset="-122"/>
                <a:cs typeface="+mn-cs"/>
              </a:rPr>
              <a:t>从波形图中不难看出，工作方式</a:t>
            </a:r>
            <a:r>
              <a:rPr kumimoji="1" lang="en-US" sz="2800" b="1" i="0" u="none" strike="noStrike" kern="1200" cap="none" spc="0" normalizeH="0" baseline="0" noProof="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uLnTx/>
                <a:uFillTx/>
                <a:latin typeface="宋体" panose="02010600030101010101" pitchFamily="2" charset="-122"/>
                <a:ea typeface="宋体" panose="02010600030101010101" pitchFamily="2" charset="-122"/>
                <a:cs typeface="+mn-cs"/>
              </a:rPr>
              <a:t>2</a:t>
            </a:r>
            <a:r>
              <a:rPr kumimoji="1" lang="zh-CN" altLang="en-US" sz="2800" b="1" i="0" u="none" strike="noStrike" kern="1200" cap="none" spc="0" normalizeH="0" baseline="0" noProof="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uLnTx/>
                <a:uFillTx/>
                <a:latin typeface="宋体" panose="02010600030101010101" pitchFamily="2" charset="-122"/>
                <a:ea typeface="宋体" panose="02010600030101010101" pitchFamily="2" charset="-122"/>
                <a:cs typeface="+mn-cs"/>
              </a:rPr>
              <a:t>有如下特点：</a:t>
            </a:r>
          </a:p>
          <a:p>
            <a:pPr marL="0" marR="0" lvl="0" indent="0" algn="ctr" defTabSz="914400" rtl="0" eaLnBrk="1" fontAlgn="base" latinLnBrk="0" hangingPunct="1">
              <a:lnSpc>
                <a:spcPts val="4000"/>
              </a:lnSpc>
              <a:spcBef>
                <a:spcPct val="20000"/>
              </a:spcBef>
              <a:spcAft>
                <a:spcPct val="0"/>
              </a:spcAft>
              <a:buClrTx/>
              <a:buSzTx/>
              <a:buFontTx/>
              <a:buNone/>
              <a:defRPr/>
            </a:pPr>
            <a:r>
              <a:rPr kumimoji="1" lang="zh-CN" altLang="en-US" sz="2800" b="1" i="0" u="none" strike="noStrike" kern="1200" cap="none" spc="0" normalizeH="0" baseline="0" noProof="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uLnTx/>
                <a:uFillTx/>
                <a:latin typeface="宋体" panose="02010600030101010101" pitchFamily="2" charset="-122"/>
                <a:ea typeface="宋体" panose="02010600030101010101" pitchFamily="2" charset="-122"/>
                <a:cs typeface="+mn-cs"/>
              </a:rPr>
              <a:t>   </a:t>
            </a:r>
          </a:p>
        </p:txBody>
      </p:sp>
    </p:spTree>
  </p:cSld>
  <p:clrMapOvr>
    <a:masterClrMapping/>
  </p:clrMapOvr>
  <p:transition spd="med">
    <p:random/>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07988" y="436563"/>
            <a:ext cx="8331200" cy="1143000"/>
          </a:xfrm>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 4 .</a:t>
            </a:r>
            <a:r>
              <a:rPr kumimoji="1" lang="zh-CN" alt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方式</a:t>
            </a:r>
            <a:r>
              <a:rPr kumimoji="1" 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3 (</a:t>
            </a:r>
            <a:r>
              <a:rPr kumimoji="1" lang="zh-CN" alt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方波速率发生器</a:t>
            </a:r>
            <a:r>
              <a:rPr kumimoji="1" 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a:t>
            </a:r>
            <a:br>
              <a:rPr kumimoji="1" lang="zh-CN" altLang="en-US"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br>
            <a:endPar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34818" name="内容占位符 2"/>
          <p:cNvSpPr>
            <a:spLocks noGrp="1"/>
          </p:cNvSpPr>
          <p:nvPr>
            <p:ph idx="1"/>
          </p:nvPr>
        </p:nvSpPr>
        <p:spPr>
          <a:xfrm>
            <a:off x="290513" y="1631950"/>
            <a:ext cx="8197850" cy="4814888"/>
          </a:xfrm>
          <a:ln/>
        </p:spPr>
        <p:txBody>
          <a:bodyPr wrap="square" lIns="92075" tIns="46038" rIns="92075" bIns="46038" anchor="t" anchorCtr="0"/>
          <a:lstStyle/>
          <a:p>
            <a:pPr algn="just">
              <a:lnSpc>
                <a:spcPts val="5700"/>
              </a:lnSpc>
              <a:buNone/>
            </a:pPr>
            <a:r>
              <a:rPr lang="zh-CN" altLang="en-US" dirty="0"/>
              <a:t>            这种方式下的输出与方式</a:t>
            </a:r>
            <a:r>
              <a:rPr lang="en-US" altLang="zh-CN" dirty="0"/>
              <a:t>2</a:t>
            </a:r>
            <a:r>
              <a:rPr lang="zh-CN" altLang="en-US" dirty="0"/>
              <a:t>都是周期性的，不同的是周期不同，</a:t>
            </a:r>
            <a:r>
              <a:rPr lang="en-US" altLang="zh-CN" dirty="0"/>
              <a:t>CPU</a:t>
            </a:r>
            <a:r>
              <a:rPr lang="zh-CN" altLang="en-US" dirty="0"/>
              <a:t>写入控制字后，输出</a:t>
            </a:r>
            <a:r>
              <a:rPr lang="en-US" altLang="zh-CN" dirty="0"/>
              <a:t>OUT</a:t>
            </a:r>
            <a:r>
              <a:rPr lang="zh-CN" altLang="en-US" dirty="0"/>
              <a:t>变高，写入计数值后开始计数，不同的是减</a:t>
            </a:r>
            <a:r>
              <a:rPr lang="en-US" altLang="zh-CN" dirty="0"/>
              <a:t>2</a:t>
            </a:r>
            <a:r>
              <a:rPr lang="zh-CN" altLang="en-US" dirty="0"/>
              <a:t>计数，当计数到一半计数值时，输出变低，重新装入计数值进行减</a:t>
            </a:r>
            <a:r>
              <a:rPr lang="en-US" altLang="zh-CN" dirty="0"/>
              <a:t>2</a:t>
            </a:r>
            <a:r>
              <a:rPr lang="zh-CN" altLang="en-US" dirty="0"/>
              <a:t>计数，当计数到</a:t>
            </a:r>
            <a:r>
              <a:rPr lang="en-US" altLang="zh-CN" dirty="0"/>
              <a:t>0</a:t>
            </a:r>
            <a:r>
              <a:rPr lang="zh-CN" altLang="en-US" dirty="0"/>
              <a:t>时，输出变高，装入计数值进行减</a:t>
            </a:r>
            <a:r>
              <a:rPr lang="en-US" altLang="zh-CN" dirty="0"/>
              <a:t>2</a:t>
            </a:r>
            <a:r>
              <a:rPr lang="zh-CN" altLang="en-US" dirty="0"/>
              <a:t>计数，循环不止。</a:t>
            </a:r>
          </a:p>
          <a:p>
            <a:pPr algn="just">
              <a:lnSpc>
                <a:spcPts val="5700"/>
              </a:lnSpc>
              <a:buNone/>
            </a:pPr>
            <a:endParaRPr lang="zh-CN" altLang="en-US" dirty="0"/>
          </a:p>
        </p:txBody>
      </p:sp>
    </p:spTree>
  </p:cSld>
  <p:clrMapOvr>
    <a:masterClrMapping/>
  </p:clrMapOvr>
  <p:transition spd="med">
    <p:random/>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417513" y="574675"/>
            <a:ext cx="8331200" cy="796925"/>
          </a:xfrm>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 4 .</a:t>
            </a:r>
            <a:r>
              <a:rPr kumimoji="1" lang="zh-CN" alt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方式</a:t>
            </a:r>
            <a:r>
              <a:rPr kumimoji="1" 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3 (</a:t>
            </a:r>
            <a:r>
              <a:rPr kumimoji="1" lang="zh-CN" alt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方波速率发生器</a:t>
            </a:r>
            <a:r>
              <a:rPr kumimoji="1" 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a:t>
            </a:r>
            <a:r>
              <a:rPr kumimoji="1" lang="zh-CN" alt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的工作方式</a:t>
            </a:r>
            <a:br>
              <a:rPr kumimoji="1" lang="zh-CN" altLang="en-US"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br>
            <a:endPar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35842" name="内容占位符 3"/>
          <p:cNvSpPr>
            <a:spLocks noGrp="1"/>
          </p:cNvSpPr>
          <p:nvPr>
            <p:ph sz="half" idx="1"/>
          </p:nvPr>
        </p:nvSpPr>
        <p:spPr>
          <a:xfrm>
            <a:off x="47625" y="1876425"/>
            <a:ext cx="4022725" cy="542925"/>
          </a:xfrm>
          <a:ln/>
        </p:spPr>
        <p:txBody>
          <a:bodyPr wrap="square" lIns="92075" tIns="46038" rIns="92075" bIns="46038" anchor="t" anchorCtr="0"/>
          <a:lstStyle/>
          <a:p>
            <a:pPr algn="ctr">
              <a:buSzPct val="70000"/>
              <a:buFont typeface="Wingdings" panose="05000000000000000000" pitchFamily="2" charset="2"/>
              <a:buNone/>
            </a:pPr>
            <a:r>
              <a:rPr kumimoji="1" lang="zh-CN" altLang="en-US" i="1" dirty="0">
                <a:solidFill>
                  <a:srgbClr val="FFFF00"/>
                </a:solidFill>
                <a:latin typeface="+mn-lt"/>
                <a:ea typeface="+mn-ea"/>
                <a:cs typeface="+mn-cs"/>
              </a:rPr>
              <a:t>计数值为偶数：</a:t>
            </a:r>
            <a:endParaRPr kumimoji="1" lang="zh-CN" altLang="en-US" i="1" dirty="0">
              <a:latin typeface="+mn-lt"/>
              <a:ea typeface="+mn-ea"/>
              <a:cs typeface="+mn-cs"/>
            </a:endParaRPr>
          </a:p>
        </p:txBody>
      </p:sp>
      <p:sp>
        <p:nvSpPr>
          <p:cNvPr id="35843" name="内容占位符 6"/>
          <p:cNvSpPr>
            <a:spLocks noGrp="1"/>
          </p:cNvSpPr>
          <p:nvPr>
            <p:ph sz="half" idx="2"/>
          </p:nvPr>
        </p:nvSpPr>
        <p:spPr>
          <a:xfrm>
            <a:off x="165100" y="4486275"/>
            <a:ext cx="3756025" cy="552450"/>
          </a:xfrm>
          <a:ln/>
        </p:spPr>
        <p:txBody>
          <a:bodyPr wrap="square" lIns="92075" tIns="46038" rIns="92075" bIns="46038" anchor="t" anchorCtr="0"/>
          <a:lstStyle/>
          <a:p>
            <a:pPr algn="ctr">
              <a:buSzPct val="70000"/>
              <a:buFont typeface="Wingdings" panose="05000000000000000000" pitchFamily="2" charset="2"/>
              <a:buNone/>
            </a:pPr>
            <a:r>
              <a:rPr kumimoji="1" lang="zh-CN" altLang="en-US" i="1" dirty="0">
                <a:solidFill>
                  <a:srgbClr val="FFFF00"/>
                </a:solidFill>
                <a:latin typeface="+mn-lt"/>
                <a:ea typeface="+mn-ea"/>
                <a:cs typeface="+mn-cs"/>
              </a:rPr>
              <a:t>计数值为奇数：</a:t>
            </a:r>
            <a:endParaRPr kumimoji="1" lang="zh-CN" altLang="en-US" dirty="0">
              <a:latin typeface="+mn-lt"/>
              <a:ea typeface="+mn-ea"/>
              <a:cs typeface="+mn-cs"/>
            </a:endParaRPr>
          </a:p>
        </p:txBody>
      </p:sp>
      <p:pic>
        <p:nvPicPr>
          <p:cNvPr id="35844" name="图片 -2147482561" descr="图片1"/>
          <p:cNvPicPr>
            <a:picLocks noChangeAspect="1"/>
          </p:cNvPicPr>
          <p:nvPr/>
        </p:nvPicPr>
        <p:blipFill>
          <a:blip r:embed="rId2"/>
          <a:stretch>
            <a:fillRect/>
          </a:stretch>
        </p:blipFill>
        <p:spPr>
          <a:xfrm>
            <a:off x="4040188" y="1409700"/>
            <a:ext cx="4414837" cy="5256213"/>
          </a:xfrm>
          <a:prstGeom prst="rect">
            <a:avLst/>
          </a:prstGeom>
          <a:noFill/>
          <a:ln w="9525">
            <a:noFill/>
          </a:ln>
        </p:spPr>
      </p:pic>
    </p:spTree>
  </p:cSld>
  <p:clrMapOvr>
    <a:masterClrMapping/>
  </p:clrMapOvr>
  <p:transition spd="med">
    <p:random/>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 4  . </a:t>
            </a:r>
            <a:r>
              <a:rPr kumimoji="1" lang="zh-CN" alt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方式</a:t>
            </a:r>
            <a:r>
              <a:rPr kumimoji="1" 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3 (</a:t>
            </a:r>
            <a:r>
              <a:rPr kumimoji="1" lang="zh-CN" alt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方波速率发生器</a:t>
            </a:r>
            <a:r>
              <a:rPr kumimoji="1" 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a:t>
            </a:r>
            <a:endPar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36866" name="内容占位符 2"/>
          <p:cNvSpPr>
            <a:spLocks noGrp="1"/>
          </p:cNvSpPr>
          <p:nvPr>
            <p:ph idx="1"/>
          </p:nvPr>
        </p:nvSpPr>
        <p:spPr>
          <a:xfrm>
            <a:off x="309563" y="1436688"/>
            <a:ext cx="8197850" cy="5192712"/>
          </a:xfrm>
          <a:ln/>
        </p:spPr>
        <p:txBody>
          <a:bodyPr wrap="square" lIns="92075" tIns="46038" rIns="92075" bIns="46038" anchor="t" anchorCtr="0"/>
          <a:lstStyle/>
          <a:p>
            <a:pPr algn="just">
              <a:buNone/>
            </a:pPr>
            <a:endParaRPr lang="en-US" altLang="zh-CN" sz="2000" dirty="0"/>
          </a:p>
          <a:p>
            <a:pPr algn="just">
              <a:buNone/>
            </a:pPr>
            <a:endParaRPr lang="zh-CN" altLang="en-US" sz="2000" dirty="0"/>
          </a:p>
          <a:p>
            <a:pPr algn="just">
              <a:lnSpc>
                <a:spcPts val="2800"/>
              </a:lnSpc>
              <a:buNone/>
            </a:pPr>
            <a:r>
              <a:rPr lang="zh-CN" altLang="en-US" sz="2000" dirty="0"/>
              <a:t>             ①</a:t>
            </a:r>
            <a:r>
              <a:rPr lang="zh-CN" altLang="en-US" sz="2000" i="1" dirty="0">
                <a:solidFill>
                  <a:srgbClr val="FFFF00"/>
                </a:solidFill>
              </a:rPr>
              <a:t>通道可以连续工作</a:t>
            </a:r>
            <a:r>
              <a:rPr lang="zh-CN" altLang="en-US" sz="2000" dirty="0"/>
              <a:t>；</a:t>
            </a:r>
          </a:p>
          <a:p>
            <a:pPr algn="just">
              <a:lnSpc>
                <a:spcPts val="2800"/>
              </a:lnSpc>
              <a:buNone/>
            </a:pPr>
            <a:r>
              <a:rPr lang="en-US" altLang="zh-CN" sz="2000" dirty="0"/>
              <a:t>             </a:t>
            </a:r>
            <a:r>
              <a:rPr lang="zh-CN" altLang="en-US" sz="2000" dirty="0"/>
              <a:t>②</a:t>
            </a:r>
            <a:r>
              <a:rPr lang="zh-CN" altLang="en-US" sz="2000" i="1" dirty="0">
                <a:solidFill>
                  <a:srgbClr val="FFFF00"/>
                </a:solidFill>
              </a:rPr>
              <a:t>关于计数值的奇偶</a:t>
            </a:r>
            <a:r>
              <a:rPr lang="zh-CN" altLang="en-US" sz="2000" dirty="0"/>
              <a:t>，若为偶数，则输出标准方波，高低电平各为</a:t>
            </a:r>
            <a:r>
              <a:rPr lang="en-US" altLang="zh-CN" sz="2000" dirty="0"/>
              <a:t>N/2</a:t>
            </a:r>
            <a:r>
              <a:rPr lang="zh-CN" altLang="en-US" sz="2000" dirty="0"/>
              <a:t>个；若为奇数，则在装入计数值后的下一个</a:t>
            </a:r>
            <a:r>
              <a:rPr lang="en-US" altLang="zh-CN" sz="2000" dirty="0"/>
              <a:t>CLK</a:t>
            </a:r>
            <a:r>
              <a:rPr lang="zh-CN" altLang="en-US" sz="2000" dirty="0"/>
              <a:t>使其装入，然后减</a:t>
            </a:r>
            <a:r>
              <a:rPr lang="en-US" altLang="zh-CN" sz="2000" dirty="0"/>
              <a:t>1</a:t>
            </a:r>
            <a:r>
              <a:rPr lang="zh-CN" altLang="en-US" sz="2000" dirty="0"/>
              <a:t>计数，（</a:t>
            </a:r>
            <a:r>
              <a:rPr lang="en-US" altLang="zh-CN" sz="2000" dirty="0"/>
              <a:t>N</a:t>
            </a:r>
            <a:r>
              <a:rPr lang="zh-CN" altLang="en-US" sz="2000" dirty="0"/>
              <a:t>＋</a:t>
            </a:r>
            <a:r>
              <a:rPr lang="en-US" altLang="zh-CN" sz="2000" dirty="0"/>
              <a:t>1</a:t>
            </a:r>
            <a:r>
              <a:rPr lang="zh-CN" altLang="en-US" sz="2000" dirty="0"/>
              <a:t>）</a:t>
            </a:r>
            <a:r>
              <a:rPr lang="en-US" altLang="zh-CN" sz="2000" dirty="0"/>
              <a:t>/2</a:t>
            </a:r>
            <a:r>
              <a:rPr lang="zh-CN" altLang="en-US" sz="2000" dirty="0"/>
              <a:t>，</a:t>
            </a:r>
            <a:r>
              <a:rPr lang="en-US" altLang="zh-CN" sz="2000" dirty="0"/>
              <a:t>OUT</a:t>
            </a:r>
            <a:r>
              <a:rPr lang="zh-CN" altLang="en-US" sz="2000" dirty="0"/>
              <a:t>改变状态，再减至</a:t>
            </a:r>
            <a:r>
              <a:rPr lang="en-US" altLang="zh-CN" sz="2000" dirty="0"/>
              <a:t>0</a:t>
            </a:r>
            <a:r>
              <a:rPr lang="zh-CN" altLang="en-US" sz="2000" dirty="0"/>
              <a:t>，</a:t>
            </a:r>
            <a:r>
              <a:rPr lang="en-US" altLang="zh-CN" sz="2000" dirty="0"/>
              <a:t>OUT</a:t>
            </a:r>
            <a:r>
              <a:rPr lang="zh-CN" altLang="en-US" sz="2000" dirty="0"/>
              <a:t>又改变状态，重新装入计数值循环此过程，因此，在这种情况下，输出有（</a:t>
            </a:r>
            <a:r>
              <a:rPr lang="en-US" altLang="zh-CN" sz="2000" dirty="0"/>
              <a:t>N</a:t>
            </a:r>
            <a:r>
              <a:rPr lang="zh-CN" altLang="en-US" sz="2000" dirty="0"/>
              <a:t>＋</a:t>
            </a:r>
            <a:r>
              <a:rPr lang="en-US" altLang="zh-CN" sz="2000" dirty="0"/>
              <a:t>1</a:t>
            </a:r>
            <a:r>
              <a:rPr lang="zh-CN" altLang="en-US" sz="2000" dirty="0"/>
              <a:t>）</a:t>
            </a:r>
            <a:r>
              <a:rPr lang="en-US" altLang="zh-CN" sz="2000" dirty="0"/>
              <a:t>/2</a:t>
            </a:r>
            <a:r>
              <a:rPr lang="zh-CN" altLang="en-US" sz="2000" dirty="0"/>
              <a:t>个</a:t>
            </a:r>
            <a:r>
              <a:rPr lang="en-US" altLang="zh-CN" sz="2000" dirty="0"/>
              <a:t>CLK</a:t>
            </a:r>
            <a:r>
              <a:rPr lang="zh-CN" altLang="en-US" sz="2000" dirty="0"/>
              <a:t>个高电平，（</a:t>
            </a:r>
            <a:r>
              <a:rPr lang="en-US" altLang="zh-CN" sz="2000" dirty="0"/>
              <a:t>N</a:t>
            </a:r>
            <a:r>
              <a:rPr lang="zh-CN" altLang="en-US" sz="2000" dirty="0"/>
              <a:t>－</a:t>
            </a:r>
            <a:r>
              <a:rPr lang="en-US" altLang="zh-CN" sz="2000" dirty="0"/>
              <a:t>1</a:t>
            </a:r>
            <a:r>
              <a:rPr lang="zh-CN" altLang="en-US" sz="2000" dirty="0"/>
              <a:t>）</a:t>
            </a:r>
            <a:r>
              <a:rPr lang="en-US" altLang="zh-CN" sz="2000" dirty="0"/>
              <a:t>/2</a:t>
            </a:r>
            <a:r>
              <a:rPr lang="zh-CN" altLang="en-US" sz="2000" dirty="0"/>
              <a:t>个</a:t>
            </a:r>
            <a:r>
              <a:rPr lang="en-US" altLang="zh-CN" sz="2000" dirty="0"/>
              <a:t>CLK</a:t>
            </a:r>
            <a:r>
              <a:rPr lang="zh-CN" altLang="en-US" sz="2000" dirty="0"/>
              <a:t>个低电平；</a:t>
            </a:r>
          </a:p>
          <a:p>
            <a:pPr algn="just">
              <a:lnSpc>
                <a:spcPts val="2800"/>
              </a:lnSpc>
              <a:buNone/>
            </a:pPr>
            <a:r>
              <a:rPr lang="en-US" altLang="zh-CN" sz="2000" dirty="0"/>
              <a:t>              </a:t>
            </a:r>
            <a:r>
              <a:rPr lang="zh-CN" altLang="en-US" sz="2000" dirty="0"/>
              <a:t>③</a:t>
            </a:r>
            <a:r>
              <a:rPr lang="en-US" altLang="zh-CN" sz="2000" i="1" dirty="0">
                <a:solidFill>
                  <a:srgbClr val="FFFF00"/>
                </a:solidFill>
              </a:rPr>
              <a:t>GATE</a:t>
            </a:r>
            <a:r>
              <a:rPr lang="zh-CN" altLang="en-US" sz="2000" i="1" dirty="0">
                <a:solidFill>
                  <a:srgbClr val="FFFF00"/>
                </a:solidFill>
              </a:rPr>
              <a:t>信号能使计数过程重新开始</a:t>
            </a:r>
            <a:r>
              <a:rPr lang="zh-CN" altLang="en-US" sz="2000" dirty="0"/>
              <a:t>，当</a:t>
            </a:r>
            <a:r>
              <a:rPr lang="en-US" altLang="zh-CN" sz="2000" dirty="0"/>
              <a:t>GATE</a:t>
            </a:r>
            <a:r>
              <a:rPr lang="zh-CN" altLang="en-US" sz="2000" dirty="0"/>
              <a:t>＝</a:t>
            </a:r>
            <a:r>
              <a:rPr lang="en-US" altLang="zh-CN" sz="2000" dirty="0"/>
              <a:t>0</a:t>
            </a:r>
            <a:r>
              <a:rPr lang="zh-CN" altLang="en-US" sz="2000" dirty="0"/>
              <a:t>时，停止计数，当</a:t>
            </a:r>
            <a:r>
              <a:rPr lang="en-US" altLang="zh-CN" sz="2000" dirty="0"/>
              <a:t>GATE</a:t>
            </a:r>
            <a:r>
              <a:rPr lang="zh-CN" altLang="en-US" sz="2000" dirty="0"/>
              <a:t>变高后，计数器重新装入初值开始计数，尤其是当</a:t>
            </a:r>
            <a:r>
              <a:rPr lang="en-US" altLang="zh-CN" sz="2000" dirty="0"/>
              <a:t>GATE</a:t>
            </a:r>
            <a:r>
              <a:rPr lang="zh-CN" altLang="en-US" sz="2000" dirty="0"/>
              <a:t>＝</a:t>
            </a:r>
            <a:r>
              <a:rPr lang="en-US" altLang="zh-CN" sz="2000" dirty="0"/>
              <a:t>0</a:t>
            </a:r>
            <a:r>
              <a:rPr lang="zh-CN" altLang="en-US" sz="2000" dirty="0"/>
              <a:t>时，若</a:t>
            </a:r>
            <a:r>
              <a:rPr lang="en-US" altLang="zh-CN" sz="2000" dirty="0"/>
              <a:t>OUT</a:t>
            </a:r>
            <a:r>
              <a:rPr lang="zh-CN" altLang="en-US" sz="2000" dirty="0"/>
              <a:t>此时为低，则立即变高，其它动作同上；</a:t>
            </a:r>
          </a:p>
          <a:p>
            <a:pPr algn="just">
              <a:lnSpc>
                <a:spcPts val="2800"/>
              </a:lnSpc>
              <a:buNone/>
            </a:pPr>
            <a:r>
              <a:rPr lang="en-US" altLang="zh-CN" sz="2000" dirty="0"/>
              <a:t>              </a:t>
            </a:r>
            <a:r>
              <a:rPr lang="zh-CN" altLang="en-US" sz="2000" dirty="0"/>
              <a:t>④</a:t>
            </a:r>
            <a:r>
              <a:rPr lang="zh-CN" altLang="en-US" sz="2000" i="1" dirty="0">
                <a:solidFill>
                  <a:srgbClr val="FFFF00"/>
                </a:solidFill>
              </a:rPr>
              <a:t>在计数期间改变计数值不影响现行的计数过程</a:t>
            </a:r>
            <a:r>
              <a:rPr lang="zh-CN" altLang="en-US" sz="2000" dirty="0"/>
              <a:t>，一般情况下，新的计数值是在现行半周结束后才装入计数器。但若中间遇到有</a:t>
            </a:r>
            <a:r>
              <a:rPr lang="en-US" altLang="zh-CN" sz="2000" dirty="0"/>
              <a:t>GATE</a:t>
            </a:r>
            <a:r>
              <a:rPr lang="zh-CN" altLang="en-US" sz="2000" dirty="0"/>
              <a:t>脉冲，则在此脉冲后即装入新值开始计数。</a:t>
            </a:r>
            <a:endParaRPr lang="zh-CN" altLang="en-US" dirty="0"/>
          </a:p>
        </p:txBody>
      </p:sp>
      <p:sp>
        <p:nvSpPr>
          <p:cNvPr id="4" name="矩形 3"/>
          <p:cNvSpPr/>
          <p:nvPr/>
        </p:nvSpPr>
        <p:spPr>
          <a:xfrm>
            <a:off x="289891" y="1547829"/>
            <a:ext cx="7579319" cy="480131"/>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marL="0" marR="0" lvl="0" indent="0" algn="ctr" defTabSz="914400" rtl="0" eaLnBrk="1" fontAlgn="base" latinLnBrk="0" hangingPunct="1">
              <a:lnSpc>
                <a:spcPct val="90000"/>
              </a:lnSpc>
              <a:spcBef>
                <a:spcPct val="20000"/>
              </a:spcBef>
              <a:spcAft>
                <a:spcPct val="0"/>
              </a:spcAft>
              <a:buClrTx/>
              <a:buSzTx/>
              <a:buFontTx/>
              <a:buNone/>
              <a:defRPr/>
            </a:pPr>
            <a:r>
              <a:rPr kumimoji="1" lang="zh-CN" altLang="en-US" sz="2800" b="1" i="0"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从波形图中不难看出，工作方式</a:t>
            </a:r>
            <a:r>
              <a:rPr kumimoji="1" lang="en-US" sz="2800" b="1" i="0"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3</a:t>
            </a:r>
            <a:r>
              <a:rPr kumimoji="1" lang="zh-CN" altLang="en-US" sz="2800" b="1" i="0"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有如下特点：</a:t>
            </a:r>
          </a:p>
        </p:txBody>
      </p:sp>
    </p:spTree>
  </p:cSld>
  <p:clrMapOvr>
    <a:masterClrMapping/>
  </p:clrMapOvr>
  <p:transition spd="med">
    <p:random/>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417513" y="669925"/>
            <a:ext cx="8331200" cy="701675"/>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5. </a:t>
            </a:r>
            <a:r>
              <a:rPr kumimoji="1" lang="zh-CN" alt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方式</a:t>
            </a:r>
            <a:r>
              <a:rPr kumimoji="1" 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4 (</a:t>
            </a:r>
            <a:r>
              <a:rPr kumimoji="1" lang="zh-CN" alt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软件触发的选通信号发生器</a:t>
            </a:r>
            <a:r>
              <a:rPr kumimoji="1" 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a:t>
            </a:r>
            <a:br>
              <a:rPr kumimoji="1" lang="zh-CN" altLang="en-US"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br>
            <a:endParaRPr kumimoji="1" lang="zh-CN" alt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endParaRPr>
          </a:p>
        </p:txBody>
      </p:sp>
      <p:sp>
        <p:nvSpPr>
          <p:cNvPr id="29700" name="内容占位符 4"/>
          <p:cNvSpPr>
            <a:spLocks noGrp="1"/>
          </p:cNvSpPr>
          <p:nvPr>
            <p:ph sz="half" idx="2"/>
          </p:nvPr>
        </p:nvSpPr>
        <p:spPr>
          <a:xfrm>
            <a:off x="438150" y="1285875"/>
            <a:ext cx="8016875" cy="2411413"/>
          </a:xfrm>
          <a:ln>
            <a:miter/>
          </a:ln>
        </p:spPr>
        <p:txBody>
          <a:bodyPr vert="horz" wrap="square" lIns="92075" tIns="46038" rIns="92075" bIns="46038" anchor="t"/>
          <a:lstStyle/>
          <a:p>
            <a:pPr marL="342900" marR="0" indent="-342900" algn="just" defTabSz="914400" rtl="0" eaLnBrk="0" fontAlgn="base" latinLnBrk="0" hangingPunct="0">
              <a:lnSpc>
                <a:spcPts val="3600"/>
              </a:lnSpc>
              <a:spcBef>
                <a:spcPct val="20000"/>
              </a:spcBef>
              <a:spcAft>
                <a:spcPct val="0"/>
              </a:spcAft>
              <a:buClr>
                <a:schemeClr val="accent2"/>
              </a:buClr>
              <a:buSzPct val="70000"/>
              <a:buFont typeface="Wingdings" panose="05000000000000000000" pitchFamily="2" charset="2"/>
              <a:buNone/>
            </a:pPr>
            <a:r>
              <a:rPr kumimoji="1" lang="zh-CN" altLang="en-US" sz="2400" b="1" i="0" u="none" strike="noStrike" kern="1200" cap="none" spc="0" normalizeH="0" baseline="0" noProof="1">
                <a:solidFill>
                  <a:schemeClr val="tx1"/>
                </a:solidFill>
                <a:latin typeface="+mn-lt"/>
                <a:ea typeface="+mn-ea"/>
                <a:cs typeface="+mn-cs"/>
              </a:rPr>
              <a:t>               在这种方式下，也是当</a:t>
            </a:r>
            <a:r>
              <a:rPr kumimoji="1" lang="en-US" altLang="zh-CN" sz="2400" b="1" i="0" u="none" strike="noStrike" kern="1200" cap="none" spc="0" normalizeH="0" baseline="0" noProof="1">
                <a:solidFill>
                  <a:schemeClr val="tx1"/>
                </a:solidFill>
                <a:latin typeface="+mn-lt"/>
                <a:ea typeface="+mn-ea"/>
                <a:cs typeface="+mn-cs"/>
              </a:rPr>
              <a:t>CPU</a:t>
            </a:r>
            <a:r>
              <a:rPr kumimoji="1" lang="zh-CN" altLang="en-US" sz="2400" b="1" i="0" u="none" strike="noStrike" kern="1200" cap="none" spc="0" normalizeH="0" baseline="0" noProof="1">
                <a:solidFill>
                  <a:schemeClr val="tx1"/>
                </a:solidFill>
                <a:latin typeface="+mn-lt"/>
                <a:ea typeface="+mn-ea"/>
                <a:cs typeface="+mn-cs"/>
              </a:rPr>
              <a:t>写入控制字后，</a:t>
            </a:r>
            <a:r>
              <a:rPr kumimoji="1" lang="en-US" altLang="zh-CN" sz="2400" b="1" i="0" u="none" strike="noStrike" kern="1200" cap="none" spc="0" normalizeH="0" baseline="0" noProof="1">
                <a:solidFill>
                  <a:schemeClr val="tx1"/>
                </a:solidFill>
                <a:latin typeface="+mn-lt"/>
                <a:ea typeface="+mn-ea"/>
                <a:cs typeface="+mn-cs"/>
              </a:rPr>
              <a:t>OUT</a:t>
            </a:r>
            <a:r>
              <a:rPr kumimoji="1" lang="zh-CN" altLang="en-US" sz="2400" b="1" i="0" u="none" strike="noStrike" kern="1200" cap="none" spc="0" normalizeH="0" baseline="0" noProof="1">
                <a:solidFill>
                  <a:schemeClr val="tx1"/>
                </a:solidFill>
                <a:latin typeface="+mn-lt"/>
                <a:ea typeface="+mn-ea"/>
                <a:cs typeface="+mn-cs"/>
              </a:rPr>
              <a:t>立即变高，写入计数值开始计数，当计数到</a:t>
            </a:r>
            <a:r>
              <a:rPr kumimoji="1" lang="en-US" altLang="zh-CN" sz="2400" b="1" i="0" u="none" strike="noStrike" kern="1200" cap="none" spc="0" normalizeH="0" baseline="0" noProof="1">
                <a:solidFill>
                  <a:schemeClr val="tx1"/>
                </a:solidFill>
                <a:latin typeface="+mn-lt"/>
                <a:ea typeface="+mn-ea"/>
                <a:cs typeface="+mn-cs"/>
              </a:rPr>
              <a:t>0</a:t>
            </a:r>
            <a:r>
              <a:rPr kumimoji="1" lang="zh-CN" altLang="en-US" sz="2400" b="1" i="0" u="none" strike="noStrike" kern="1200" cap="none" spc="0" normalizeH="0" baseline="0" noProof="1">
                <a:solidFill>
                  <a:schemeClr val="tx1"/>
                </a:solidFill>
                <a:latin typeface="+mn-lt"/>
                <a:ea typeface="+mn-ea"/>
                <a:cs typeface="+mn-cs"/>
              </a:rPr>
              <a:t>后，</a:t>
            </a:r>
            <a:r>
              <a:rPr kumimoji="1" lang="en-US" altLang="zh-CN" sz="2400" b="1" i="0" u="none" strike="noStrike" kern="1200" cap="none" spc="0" normalizeH="0" baseline="0" noProof="1">
                <a:solidFill>
                  <a:schemeClr val="tx1"/>
                </a:solidFill>
                <a:latin typeface="+mn-lt"/>
                <a:ea typeface="+mn-ea"/>
                <a:cs typeface="+mn-cs"/>
              </a:rPr>
              <a:t>OUT</a:t>
            </a:r>
            <a:r>
              <a:rPr kumimoji="1" lang="zh-CN" altLang="en-US" sz="2400" b="1" i="0" u="none" strike="noStrike" kern="1200" cap="none" spc="0" normalizeH="0" baseline="0" noProof="1">
                <a:solidFill>
                  <a:schemeClr val="tx1"/>
                </a:solidFill>
                <a:latin typeface="+mn-lt"/>
                <a:ea typeface="+mn-ea"/>
                <a:cs typeface="+mn-cs"/>
              </a:rPr>
              <a:t>变低，经过一个</a:t>
            </a:r>
            <a:r>
              <a:rPr kumimoji="1" lang="en-US" altLang="zh-CN" sz="2400" b="1" i="0" u="none" strike="noStrike" kern="1200" cap="none" spc="0" normalizeH="0" baseline="0" noProof="1">
                <a:solidFill>
                  <a:schemeClr val="tx1"/>
                </a:solidFill>
                <a:latin typeface="+mn-lt"/>
                <a:ea typeface="+mn-ea"/>
                <a:cs typeface="+mn-cs"/>
              </a:rPr>
              <a:t>CLK</a:t>
            </a:r>
            <a:r>
              <a:rPr kumimoji="1" lang="zh-CN" altLang="en-US" sz="2400" b="1" i="0" u="none" strike="noStrike" kern="1200" cap="none" spc="0" normalizeH="0" baseline="0" noProof="1">
                <a:solidFill>
                  <a:schemeClr val="tx1"/>
                </a:solidFill>
                <a:latin typeface="+mn-lt"/>
                <a:ea typeface="+mn-ea"/>
                <a:cs typeface="+mn-cs"/>
              </a:rPr>
              <a:t>脉冲后，</a:t>
            </a:r>
            <a:r>
              <a:rPr kumimoji="1" lang="en-US" altLang="zh-CN" sz="2400" b="1" i="0" u="none" strike="noStrike" kern="1200" cap="none" spc="0" normalizeH="0" baseline="0" noProof="1">
                <a:solidFill>
                  <a:schemeClr val="tx1"/>
                </a:solidFill>
                <a:latin typeface="+mn-lt"/>
                <a:ea typeface="+mn-ea"/>
                <a:cs typeface="+mn-cs"/>
              </a:rPr>
              <a:t>OUT</a:t>
            </a:r>
            <a:r>
              <a:rPr kumimoji="1" lang="zh-CN" altLang="en-US" sz="2400" b="1" i="0" u="none" strike="noStrike" kern="1200" cap="none" spc="0" normalizeH="0" baseline="0" noProof="1">
                <a:solidFill>
                  <a:schemeClr val="tx1"/>
                </a:solidFill>
                <a:latin typeface="+mn-lt"/>
                <a:ea typeface="+mn-ea"/>
                <a:cs typeface="+mn-cs"/>
              </a:rPr>
              <a:t>变高，这种计数是一次性的（与方式</a:t>
            </a:r>
            <a:r>
              <a:rPr kumimoji="1" lang="en-US" altLang="zh-CN" sz="2400" b="1" i="0" u="none" strike="noStrike" kern="1200" cap="none" spc="0" normalizeH="0" baseline="0" noProof="1">
                <a:solidFill>
                  <a:schemeClr val="tx1"/>
                </a:solidFill>
                <a:latin typeface="+mn-lt"/>
                <a:ea typeface="+mn-ea"/>
                <a:cs typeface="+mn-cs"/>
              </a:rPr>
              <a:t>0</a:t>
            </a:r>
            <a:r>
              <a:rPr kumimoji="1" lang="zh-CN" altLang="en-US" sz="2400" b="1" i="0" u="none" strike="noStrike" kern="1200" cap="none" spc="0" normalizeH="0" baseline="0" noProof="1">
                <a:solidFill>
                  <a:schemeClr val="tx1"/>
                </a:solidFill>
                <a:latin typeface="+mn-lt"/>
                <a:ea typeface="+mn-ea"/>
                <a:cs typeface="+mn-cs"/>
              </a:rPr>
              <a:t>有相似之处），</a:t>
            </a:r>
            <a:r>
              <a:rPr kumimoji="1" lang="zh-CN" altLang="en-US" sz="2400" b="1" i="1" u="none" strike="noStrike" kern="1200" cap="none" spc="0" normalizeH="0" baseline="0" noProof="1">
                <a:solidFill>
                  <a:srgbClr val="FFFF00"/>
                </a:solidFill>
                <a:latin typeface="+mn-lt"/>
                <a:ea typeface="+mn-ea"/>
                <a:cs typeface="+mn-cs"/>
              </a:rPr>
              <a:t>只有当写入新的计数值后才开始下一次计数</a:t>
            </a:r>
            <a:r>
              <a:rPr kumimoji="1" lang="zh-CN" altLang="en-US" sz="2400" b="1" i="0" u="none" strike="noStrike" kern="1200" cap="none" spc="0" normalizeH="0" baseline="0" noProof="1">
                <a:solidFill>
                  <a:schemeClr val="tx1"/>
                </a:solidFill>
                <a:latin typeface="+mn-lt"/>
                <a:ea typeface="+mn-ea"/>
                <a:cs typeface="+mn-cs"/>
              </a:rPr>
              <a:t>。</a:t>
            </a:r>
            <a:r>
              <a:rPr kumimoji="1" lang="zh-CN" altLang="en-US" sz="2400" b="1" i="0" u="none" strike="noStrike" kern="0" cap="none" spc="0" normalizeH="0" baseline="0" noProof="0" dirty="0">
                <a:ln>
                  <a:noFill/>
                </a:ln>
                <a:solidFill>
                  <a:schemeClr val="bg1">
                    <a:lumMod val="60000"/>
                    <a:lumOff val="40000"/>
                  </a:schemeClr>
                </a:solidFill>
                <a:uLnTx/>
                <a:uFillTx/>
                <a:latin typeface="+mn-lt"/>
                <a:ea typeface="+mn-ea"/>
                <a:cs typeface="+mn-cs"/>
                <a:sym typeface="+mn-ea"/>
              </a:rPr>
              <a:t>方式</a:t>
            </a:r>
            <a:r>
              <a:rPr kumimoji="1" lang="en-US" sz="2400" b="1" i="0" u="none" strike="noStrike" kern="0" cap="none" spc="0" normalizeH="0" baseline="0" noProof="0" dirty="0">
                <a:ln>
                  <a:noFill/>
                </a:ln>
                <a:solidFill>
                  <a:schemeClr val="bg1">
                    <a:lumMod val="60000"/>
                    <a:lumOff val="40000"/>
                  </a:schemeClr>
                </a:solidFill>
                <a:uLnTx/>
                <a:uFillTx/>
                <a:latin typeface="+mn-lt"/>
                <a:ea typeface="+mn-ea"/>
                <a:cs typeface="+mn-cs"/>
                <a:sym typeface="+mn-ea"/>
              </a:rPr>
              <a:t>4</a:t>
            </a:r>
            <a:r>
              <a:rPr kumimoji="1" lang="zh-CN" altLang="en-US" sz="2400" b="1" i="0" u="none" strike="noStrike" kern="0" cap="none" spc="0" normalizeH="0" baseline="0" noProof="0" dirty="0">
                <a:ln>
                  <a:noFill/>
                </a:ln>
                <a:solidFill>
                  <a:schemeClr val="bg1">
                    <a:lumMod val="60000"/>
                    <a:lumOff val="40000"/>
                  </a:schemeClr>
                </a:solidFill>
                <a:uLnTx/>
                <a:uFillTx/>
                <a:latin typeface="+mn-lt"/>
                <a:ea typeface="+mn-ea"/>
                <a:cs typeface="+mn-cs"/>
                <a:sym typeface="+mn-ea"/>
              </a:rPr>
              <a:t>工作波形</a:t>
            </a:r>
            <a:r>
              <a:rPr kumimoji="1" lang="en-US" altLang="zh-CN" sz="2400" b="1" i="0" u="none" strike="noStrike" kern="0" cap="none" spc="0" normalizeH="0" baseline="0" noProof="0" dirty="0">
                <a:ln>
                  <a:noFill/>
                </a:ln>
                <a:solidFill>
                  <a:schemeClr val="bg1">
                    <a:lumMod val="60000"/>
                    <a:lumOff val="40000"/>
                  </a:schemeClr>
                </a:solidFill>
                <a:uLnTx/>
                <a:uFillTx/>
                <a:latin typeface="+mn-lt"/>
                <a:ea typeface="+mn-ea"/>
                <a:cs typeface="+mn-cs"/>
                <a:sym typeface="+mn-ea"/>
              </a:rPr>
              <a:t>:</a:t>
            </a:r>
            <a:endParaRPr kumimoji="1" lang="zh-CN" altLang="en-US" sz="2400" b="1" i="0" u="none" strike="noStrike" kern="0" cap="none" spc="0" normalizeH="0" baseline="0" noProof="0" dirty="0">
              <a:ln>
                <a:noFill/>
              </a:ln>
              <a:solidFill>
                <a:schemeClr val="bg1">
                  <a:lumMod val="60000"/>
                  <a:lumOff val="40000"/>
                </a:schemeClr>
              </a:solidFill>
              <a:effectLst/>
              <a:uLnTx/>
              <a:uFillTx/>
              <a:latin typeface="+mn-lt"/>
              <a:ea typeface="+mn-ea"/>
              <a:cs typeface="+mn-cs"/>
            </a:endParaRPr>
          </a:p>
          <a:p>
            <a:pPr marL="342900" marR="0" indent="-342900" algn="just" defTabSz="914400" rtl="0" eaLnBrk="0" fontAlgn="base" latinLnBrk="0" hangingPunct="0">
              <a:lnSpc>
                <a:spcPts val="3600"/>
              </a:lnSpc>
              <a:spcBef>
                <a:spcPct val="20000"/>
              </a:spcBef>
              <a:spcAft>
                <a:spcPct val="0"/>
              </a:spcAft>
              <a:buClr>
                <a:schemeClr val="accent2"/>
              </a:buClr>
              <a:buSzPct val="70000"/>
              <a:buFont typeface="Wingdings" panose="05000000000000000000" pitchFamily="2" charset="2"/>
              <a:buNone/>
            </a:pPr>
            <a:endParaRPr kumimoji="1" lang="zh-CN" altLang="en-US" sz="2400" b="1" i="0" u="none" strike="noStrike" kern="1200" cap="none" spc="0" normalizeH="0" baseline="0" noProof="1">
              <a:solidFill>
                <a:schemeClr val="tx1"/>
              </a:solidFill>
              <a:latin typeface="+mn-lt"/>
              <a:ea typeface="+mn-ea"/>
              <a:cs typeface="+mn-cs"/>
            </a:endParaRPr>
          </a:p>
          <a:p>
            <a:pPr marL="342900" marR="0" indent="-342900" algn="just" defTabSz="914400" rtl="0" eaLnBrk="0" fontAlgn="base" latinLnBrk="0" hangingPunct="0">
              <a:lnSpc>
                <a:spcPts val="3600"/>
              </a:lnSpc>
              <a:spcBef>
                <a:spcPct val="20000"/>
              </a:spcBef>
              <a:spcAft>
                <a:spcPct val="0"/>
              </a:spcAft>
              <a:buClr>
                <a:schemeClr val="accent2"/>
              </a:buClr>
              <a:buSzPct val="70000"/>
              <a:buFont typeface="Wingdings" panose="05000000000000000000" pitchFamily="2" charset="2"/>
              <a:buNone/>
            </a:pPr>
            <a:endParaRPr kumimoji="1" lang="zh-CN" altLang="en-US" sz="2800" b="1" i="0" u="none" strike="noStrike" kern="1200" cap="none" spc="0" normalizeH="0" baseline="0" noProof="1">
              <a:solidFill>
                <a:schemeClr val="tx1"/>
              </a:solidFill>
              <a:latin typeface="+mn-lt"/>
              <a:ea typeface="+mn-ea"/>
              <a:cs typeface="+mn-cs"/>
            </a:endParaRPr>
          </a:p>
        </p:txBody>
      </p:sp>
      <p:pic>
        <p:nvPicPr>
          <p:cNvPr id="37891" name="Picture 29" descr="8"/>
          <p:cNvPicPr>
            <a:picLocks noChangeAspect="1"/>
          </p:cNvPicPr>
          <p:nvPr/>
        </p:nvPicPr>
        <p:blipFill>
          <a:blip r:embed="rId2"/>
          <a:stretch>
            <a:fillRect/>
          </a:stretch>
        </p:blipFill>
        <p:spPr>
          <a:xfrm>
            <a:off x="1814513" y="3681413"/>
            <a:ext cx="4767262" cy="3065462"/>
          </a:xfrm>
          <a:prstGeom prst="rect">
            <a:avLst/>
          </a:prstGeom>
          <a:noFill/>
          <a:ln w="9525">
            <a:noFill/>
          </a:ln>
        </p:spPr>
      </p:pic>
    </p:spTree>
  </p:cSld>
  <p:clrMapOvr>
    <a:masterClrMapping/>
  </p:clrMapOvr>
  <p:transition spd="med">
    <p:random/>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466725"/>
            <a:ext cx="8331200" cy="904875"/>
          </a:xfrm>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5. </a:t>
            </a:r>
            <a:r>
              <a:rPr kumimoji="1" lang="zh-CN" alt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方式</a:t>
            </a:r>
            <a:r>
              <a:rPr kumimoji="1" 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4 (</a:t>
            </a:r>
            <a:r>
              <a:rPr kumimoji="1" lang="zh-CN" alt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软件触发的选通信号发生器</a:t>
            </a:r>
            <a:r>
              <a:rPr kumimoji="1" 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a:t>
            </a:r>
            <a:br>
              <a:rPr kumimoji="1" lang="zh-CN" alt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br>
            <a:endPar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38914" name="内容占位符 2"/>
          <p:cNvSpPr>
            <a:spLocks noGrp="1"/>
          </p:cNvSpPr>
          <p:nvPr>
            <p:ph idx="1"/>
          </p:nvPr>
        </p:nvSpPr>
        <p:spPr>
          <a:xfrm>
            <a:off x="577850" y="1387475"/>
            <a:ext cx="8197850" cy="5172075"/>
          </a:xfrm>
          <a:ln/>
        </p:spPr>
        <p:txBody>
          <a:bodyPr wrap="square" lIns="92075" tIns="46038" rIns="92075" bIns="46038" anchor="t" anchorCtr="0"/>
          <a:lstStyle/>
          <a:p>
            <a:pPr>
              <a:lnSpc>
                <a:spcPts val="4000"/>
              </a:lnSpc>
              <a:buNone/>
            </a:pPr>
            <a:r>
              <a:rPr lang="zh-CN" altLang="en-US" dirty="0"/>
              <a:t>从波形图中不难看出，工作方式</a:t>
            </a:r>
            <a:r>
              <a:rPr lang="en-US" altLang="zh-CN" dirty="0"/>
              <a:t>4</a:t>
            </a:r>
            <a:r>
              <a:rPr lang="zh-CN" altLang="en-US" dirty="0"/>
              <a:t>有如下特点：</a:t>
            </a:r>
          </a:p>
          <a:p>
            <a:pPr>
              <a:lnSpc>
                <a:spcPts val="4000"/>
              </a:lnSpc>
              <a:buNone/>
            </a:pPr>
            <a:r>
              <a:rPr lang="en-US" altLang="zh-CN" i="1" dirty="0">
                <a:solidFill>
                  <a:srgbClr val="FFFF00"/>
                </a:solidFill>
              </a:rPr>
              <a:t>      </a:t>
            </a:r>
            <a:r>
              <a:rPr lang="zh-CN" altLang="en-US" i="1" dirty="0">
                <a:solidFill>
                  <a:srgbClr val="FFFF00"/>
                </a:solidFill>
              </a:rPr>
              <a:t>①   当计数值为</a:t>
            </a:r>
            <a:r>
              <a:rPr lang="en-US" altLang="zh-CN" i="1" dirty="0">
                <a:solidFill>
                  <a:srgbClr val="FFFF00"/>
                </a:solidFill>
              </a:rPr>
              <a:t>N</a:t>
            </a:r>
            <a:r>
              <a:rPr lang="zh-CN" altLang="en-US" i="1" dirty="0">
                <a:solidFill>
                  <a:srgbClr val="FFFF00"/>
                </a:solidFill>
              </a:rPr>
              <a:t>时，则间隔</a:t>
            </a:r>
            <a:r>
              <a:rPr lang="en-US" altLang="zh-CN" i="1" dirty="0">
                <a:solidFill>
                  <a:srgbClr val="FFFF00"/>
                </a:solidFill>
              </a:rPr>
              <a:t>N</a:t>
            </a:r>
            <a:r>
              <a:rPr lang="zh-CN" altLang="en-US" i="1" dirty="0">
                <a:solidFill>
                  <a:srgbClr val="FFFF00"/>
                </a:solidFill>
              </a:rPr>
              <a:t>＋</a:t>
            </a:r>
            <a:r>
              <a:rPr lang="en-US" altLang="zh-CN" i="1" dirty="0">
                <a:solidFill>
                  <a:srgbClr val="FFFF00"/>
                </a:solidFill>
              </a:rPr>
              <a:t>1</a:t>
            </a:r>
            <a:r>
              <a:rPr lang="zh-CN" altLang="en-US" i="1" dirty="0">
                <a:solidFill>
                  <a:srgbClr val="FFFF00"/>
                </a:solidFill>
              </a:rPr>
              <a:t>个</a:t>
            </a:r>
            <a:r>
              <a:rPr lang="en-US" altLang="zh-CN" i="1" dirty="0">
                <a:solidFill>
                  <a:srgbClr val="FFFF00"/>
                </a:solidFill>
              </a:rPr>
              <a:t>CLK</a:t>
            </a:r>
            <a:r>
              <a:rPr lang="zh-CN" altLang="en-US" i="1" dirty="0">
                <a:solidFill>
                  <a:srgbClr val="FFFF00"/>
                </a:solidFill>
              </a:rPr>
              <a:t>脉冲输出一个负脉冲（计数一次有效）</a:t>
            </a:r>
            <a:r>
              <a:rPr lang="zh-CN" altLang="en-US" dirty="0"/>
              <a:t>；</a:t>
            </a:r>
          </a:p>
          <a:p>
            <a:pPr>
              <a:lnSpc>
                <a:spcPts val="4000"/>
              </a:lnSpc>
              <a:buNone/>
            </a:pPr>
            <a:r>
              <a:rPr lang="zh-CN" altLang="en-US" dirty="0"/>
              <a:t>      </a:t>
            </a:r>
            <a:r>
              <a:rPr lang="zh-CN" altLang="en-US" dirty="0">
                <a:solidFill>
                  <a:srgbClr val="00B050"/>
                </a:solidFill>
              </a:rPr>
              <a:t>②   </a:t>
            </a:r>
            <a:r>
              <a:rPr lang="en-US" altLang="zh-CN" i="1" dirty="0">
                <a:solidFill>
                  <a:srgbClr val="00B050"/>
                </a:solidFill>
              </a:rPr>
              <a:t>GATE</a:t>
            </a:r>
            <a:r>
              <a:rPr lang="zh-CN" altLang="en-US" i="1" dirty="0">
                <a:solidFill>
                  <a:srgbClr val="00B050"/>
                </a:solidFill>
              </a:rPr>
              <a:t>＝</a:t>
            </a:r>
            <a:r>
              <a:rPr lang="en-US" altLang="zh-CN" i="1" dirty="0">
                <a:solidFill>
                  <a:srgbClr val="00B050"/>
                </a:solidFill>
              </a:rPr>
              <a:t>0</a:t>
            </a:r>
            <a:r>
              <a:rPr lang="zh-CN" altLang="en-US" i="1" dirty="0">
                <a:solidFill>
                  <a:srgbClr val="00B050"/>
                </a:solidFill>
              </a:rPr>
              <a:t>时，禁止计数，</a:t>
            </a:r>
            <a:r>
              <a:rPr lang="en-US" altLang="zh-CN" i="1" dirty="0">
                <a:solidFill>
                  <a:srgbClr val="00B050"/>
                </a:solidFill>
              </a:rPr>
              <a:t>GATE</a:t>
            </a:r>
            <a:r>
              <a:rPr lang="zh-CN" altLang="en-US" i="1" dirty="0">
                <a:solidFill>
                  <a:srgbClr val="00B050"/>
                </a:solidFill>
              </a:rPr>
              <a:t>＝</a:t>
            </a:r>
            <a:r>
              <a:rPr lang="en-US" altLang="zh-CN" i="1" dirty="0">
                <a:solidFill>
                  <a:srgbClr val="00B050"/>
                </a:solidFill>
              </a:rPr>
              <a:t>1</a:t>
            </a:r>
            <a:r>
              <a:rPr lang="zh-CN" altLang="en-US" i="1" dirty="0">
                <a:solidFill>
                  <a:srgbClr val="00B050"/>
                </a:solidFill>
              </a:rPr>
              <a:t>时，恢复继续计数</a:t>
            </a:r>
            <a:r>
              <a:rPr lang="zh-CN" altLang="en-US" dirty="0"/>
              <a:t>；</a:t>
            </a:r>
          </a:p>
          <a:p>
            <a:pPr>
              <a:lnSpc>
                <a:spcPts val="4000"/>
              </a:lnSpc>
              <a:buNone/>
            </a:pPr>
            <a:r>
              <a:rPr lang="zh-CN" altLang="en-US" dirty="0">
                <a:solidFill>
                  <a:srgbClr val="FF0000"/>
                </a:solidFill>
              </a:rPr>
              <a:t>      ③    </a:t>
            </a:r>
            <a:r>
              <a:rPr lang="zh-CN" altLang="en-US" i="1" dirty="0">
                <a:solidFill>
                  <a:srgbClr val="FF0000"/>
                </a:solidFill>
              </a:rPr>
              <a:t>在计数过程中重新装入新的计数值，则该值是立即有效的（若为</a:t>
            </a:r>
            <a:r>
              <a:rPr lang="en-US" altLang="zh-CN" i="1" dirty="0">
                <a:solidFill>
                  <a:srgbClr val="FF0000"/>
                </a:solidFill>
              </a:rPr>
              <a:t>16</a:t>
            </a:r>
            <a:r>
              <a:rPr lang="zh-CN" altLang="en-US" i="1" dirty="0">
                <a:solidFill>
                  <a:srgbClr val="FF0000"/>
                </a:solidFill>
              </a:rPr>
              <a:t>位计数值，则装入第一个字节时停止计数，装入第二个字节后开始按新值计数）</a:t>
            </a:r>
            <a:r>
              <a:rPr lang="zh-CN" altLang="en-US" dirty="0"/>
              <a:t>。</a:t>
            </a:r>
          </a:p>
        </p:txBody>
      </p:sp>
    </p:spTree>
  </p:cSld>
  <p:clrMapOvr>
    <a:masterClrMapping/>
  </p:clrMapOvr>
  <p:transition spd="med">
    <p:random/>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347663" y="447675"/>
            <a:ext cx="8331200" cy="1143000"/>
          </a:xfrm>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6 . </a:t>
            </a:r>
            <a:r>
              <a:rPr kumimoji="1" lang="zh-CN" alt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方式</a:t>
            </a:r>
            <a:r>
              <a:rPr kumimoji="1" 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5 (</a:t>
            </a:r>
            <a:r>
              <a:rPr kumimoji="1" lang="zh-CN" alt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硬件触发的选通信号发生器</a:t>
            </a:r>
            <a:r>
              <a:rPr kumimoji="1" 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a:t>
            </a:r>
            <a:br>
              <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br>
            <a:endPar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39938" name="内容占位符 4"/>
          <p:cNvSpPr>
            <a:spLocks noGrp="1"/>
          </p:cNvSpPr>
          <p:nvPr>
            <p:ph sz="half" idx="2"/>
          </p:nvPr>
        </p:nvSpPr>
        <p:spPr>
          <a:xfrm>
            <a:off x="590550" y="1365250"/>
            <a:ext cx="7797800" cy="2717800"/>
          </a:xfrm>
          <a:ln/>
        </p:spPr>
        <p:txBody>
          <a:bodyPr wrap="square" lIns="92075" tIns="46038" rIns="92075" bIns="46038" anchor="t" anchorCtr="0"/>
          <a:lstStyle/>
          <a:p>
            <a:pPr algn="just">
              <a:lnSpc>
                <a:spcPts val="3400"/>
              </a:lnSpc>
              <a:buSzPct val="70000"/>
              <a:buFont typeface="Wingdings" panose="05000000000000000000" pitchFamily="2" charset="2"/>
              <a:buNone/>
            </a:pPr>
            <a:r>
              <a:rPr kumimoji="1" lang="zh-CN" altLang="en-US" sz="2400" dirty="0">
                <a:latin typeface="+mn-lt"/>
                <a:ea typeface="+mn-ea"/>
                <a:cs typeface="+mn-cs"/>
              </a:rPr>
              <a:t>             在这种方式下，当控制字写入后，</a:t>
            </a:r>
            <a:r>
              <a:rPr kumimoji="1" lang="en-US" altLang="zh-CN" sz="2400" dirty="0">
                <a:latin typeface="+mn-lt"/>
                <a:ea typeface="+mn-ea"/>
                <a:cs typeface="+mn-cs"/>
              </a:rPr>
              <a:t>OUT</a:t>
            </a:r>
            <a:r>
              <a:rPr kumimoji="1" lang="zh-CN" altLang="en-US" sz="2400" dirty="0">
                <a:latin typeface="+mn-lt"/>
                <a:ea typeface="+mn-ea"/>
                <a:cs typeface="+mn-cs"/>
              </a:rPr>
              <a:t>立刻变高，</a:t>
            </a:r>
            <a:r>
              <a:rPr kumimoji="1" lang="zh-CN" altLang="en-US" sz="2400" i="1" dirty="0">
                <a:solidFill>
                  <a:srgbClr val="FFFF00"/>
                </a:solidFill>
                <a:latin typeface="+mn-lt"/>
                <a:ea typeface="+mn-ea"/>
                <a:cs typeface="+mn-cs"/>
              </a:rPr>
              <a:t>写入计数值后并不立即开始计数，而是由</a:t>
            </a:r>
            <a:r>
              <a:rPr kumimoji="1" lang="en-US" altLang="zh-CN" sz="2400" i="1" dirty="0">
                <a:solidFill>
                  <a:srgbClr val="FFFF00"/>
                </a:solidFill>
                <a:latin typeface="+mn-lt"/>
                <a:ea typeface="+mn-ea"/>
                <a:cs typeface="+mn-cs"/>
              </a:rPr>
              <a:t>GATE</a:t>
            </a:r>
            <a:r>
              <a:rPr kumimoji="1" lang="zh-CN" altLang="en-US" sz="2400" i="1" dirty="0">
                <a:solidFill>
                  <a:srgbClr val="FFFF00"/>
                </a:solidFill>
                <a:latin typeface="+mn-lt"/>
                <a:ea typeface="+mn-ea"/>
                <a:cs typeface="+mn-cs"/>
              </a:rPr>
              <a:t>的上升沿触发启动计数的</a:t>
            </a:r>
            <a:r>
              <a:rPr kumimoji="1" lang="zh-CN" altLang="en-US" sz="2400" dirty="0">
                <a:latin typeface="+mn-lt"/>
                <a:ea typeface="+mn-ea"/>
                <a:cs typeface="+mn-cs"/>
              </a:rPr>
              <a:t>，当计数到</a:t>
            </a:r>
            <a:r>
              <a:rPr kumimoji="1" lang="en-US" altLang="zh-CN" sz="2400" dirty="0">
                <a:latin typeface="+mn-lt"/>
                <a:ea typeface="+mn-ea"/>
                <a:cs typeface="+mn-cs"/>
              </a:rPr>
              <a:t>0</a:t>
            </a:r>
            <a:r>
              <a:rPr kumimoji="1" lang="zh-CN" altLang="en-US" sz="2400" dirty="0">
                <a:latin typeface="+mn-lt"/>
                <a:ea typeface="+mn-ea"/>
                <a:cs typeface="+mn-cs"/>
              </a:rPr>
              <a:t>时，输出变低，经过一个</a:t>
            </a:r>
            <a:r>
              <a:rPr kumimoji="1" lang="en-US" altLang="zh-CN" sz="2400" dirty="0">
                <a:latin typeface="+mn-lt"/>
                <a:ea typeface="+mn-ea"/>
                <a:cs typeface="+mn-cs"/>
              </a:rPr>
              <a:t>CLK</a:t>
            </a:r>
            <a:r>
              <a:rPr kumimoji="1" lang="zh-CN" altLang="en-US" sz="2400" dirty="0">
                <a:latin typeface="+mn-lt"/>
                <a:ea typeface="+mn-ea"/>
                <a:cs typeface="+mn-cs"/>
              </a:rPr>
              <a:t>之后，输出恢复为高，计数停止，若再有</a:t>
            </a:r>
            <a:r>
              <a:rPr kumimoji="1" lang="en-US" altLang="zh-CN" sz="2400" dirty="0">
                <a:latin typeface="+mn-lt"/>
                <a:ea typeface="+mn-ea"/>
                <a:cs typeface="+mn-cs"/>
              </a:rPr>
              <a:t>GATE</a:t>
            </a:r>
            <a:r>
              <a:rPr kumimoji="1" lang="zh-CN" altLang="en-US" sz="2400" dirty="0">
                <a:latin typeface="+mn-lt"/>
                <a:ea typeface="+mn-ea"/>
                <a:cs typeface="+mn-cs"/>
              </a:rPr>
              <a:t>脉冲来，则重新装入计数值开始计数，上述过程重复。</a:t>
            </a:r>
            <a:r>
              <a:rPr kumimoji="1" lang="zh-CN" altLang="en-US" sz="2400" dirty="0">
                <a:latin typeface="+mn-lt"/>
                <a:ea typeface="+mn-ea"/>
                <a:cs typeface="+mn-cs"/>
                <a:sym typeface="Arial" panose="020B0604020202020204" pitchFamily="34" charset="0"/>
              </a:rPr>
              <a:t>方式</a:t>
            </a:r>
            <a:r>
              <a:rPr kumimoji="1" lang="en-US" altLang="zh-CN" sz="2400" dirty="0">
                <a:latin typeface="+mn-lt"/>
                <a:ea typeface="+mn-ea"/>
                <a:cs typeface="+mn-cs"/>
                <a:sym typeface="Arial" panose="020B0604020202020204" pitchFamily="34" charset="0"/>
              </a:rPr>
              <a:t>5</a:t>
            </a:r>
            <a:r>
              <a:rPr kumimoji="1" lang="zh-CN" altLang="en-US" sz="2400" dirty="0">
                <a:latin typeface="+mn-lt"/>
                <a:ea typeface="+mn-ea"/>
                <a:cs typeface="+mn-cs"/>
                <a:sym typeface="Arial" panose="020B0604020202020204" pitchFamily="34" charset="0"/>
              </a:rPr>
              <a:t>的波形见图所示。与方式</a:t>
            </a:r>
            <a:r>
              <a:rPr kumimoji="1" lang="en-US" altLang="zh-CN" sz="2400" dirty="0">
                <a:latin typeface="+mn-lt"/>
                <a:ea typeface="+mn-ea"/>
                <a:cs typeface="+mn-cs"/>
                <a:sym typeface="Arial" panose="020B0604020202020204" pitchFamily="34" charset="0"/>
              </a:rPr>
              <a:t>1</a:t>
            </a:r>
            <a:r>
              <a:rPr kumimoji="1" lang="zh-CN" altLang="en-US" sz="2400" dirty="0">
                <a:latin typeface="+mn-lt"/>
                <a:ea typeface="+mn-ea"/>
                <a:cs typeface="+mn-cs"/>
                <a:sym typeface="Arial" panose="020B0604020202020204" pitchFamily="34" charset="0"/>
              </a:rPr>
              <a:t>有相似之处。</a:t>
            </a:r>
            <a:endParaRPr kumimoji="1" lang="zh-CN" altLang="en-US" sz="2400" dirty="0">
              <a:latin typeface="+mn-lt"/>
              <a:ea typeface="+mn-ea"/>
              <a:cs typeface="+mn-cs"/>
            </a:endParaRPr>
          </a:p>
          <a:p>
            <a:pPr algn="just">
              <a:lnSpc>
                <a:spcPts val="3400"/>
              </a:lnSpc>
              <a:buSzPct val="70000"/>
              <a:buFont typeface="Wingdings" panose="05000000000000000000" pitchFamily="2" charset="2"/>
              <a:buNone/>
            </a:pPr>
            <a:endParaRPr kumimoji="1" lang="zh-CN" altLang="en-US" dirty="0">
              <a:latin typeface="+mn-lt"/>
              <a:ea typeface="+mn-ea"/>
              <a:cs typeface="+mn-cs"/>
            </a:endParaRPr>
          </a:p>
        </p:txBody>
      </p:sp>
      <p:pic>
        <p:nvPicPr>
          <p:cNvPr id="39939" name="Picture 30" descr="8"/>
          <p:cNvPicPr>
            <a:picLocks noChangeAspect="1"/>
          </p:cNvPicPr>
          <p:nvPr/>
        </p:nvPicPr>
        <p:blipFill>
          <a:blip r:embed="rId2"/>
          <a:stretch>
            <a:fillRect/>
          </a:stretch>
        </p:blipFill>
        <p:spPr>
          <a:xfrm>
            <a:off x="1998663" y="3990975"/>
            <a:ext cx="4213225" cy="2733675"/>
          </a:xfrm>
          <a:prstGeom prst="rect">
            <a:avLst/>
          </a:prstGeom>
          <a:noFill/>
          <a:ln w="9525">
            <a:noFill/>
          </a:ln>
        </p:spPr>
      </p:pic>
    </p:spTree>
  </p:cSld>
  <p:clrMapOvr>
    <a:masterClrMapping/>
  </p:clrMapOvr>
  <p:transition spd="med">
    <p:random/>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25475" y="557213"/>
            <a:ext cx="8331200" cy="1143000"/>
          </a:xfrm>
        </p:spPr>
        <p:txBody>
          <a:bodyPr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6 . </a:t>
            </a:r>
            <a:r>
              <a:rPr kumimoji="1" lang="zh-CN" alt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方式</a:t>
            </a:r>
            <a:r>
              <a:rPr kumimoji="1" 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5 (</a:t>
            </a:r>
            <a:r>
              <a:rPr kumimoji="1" lang="zh-CN" alt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硬件触发的选通信号发生器</a:t>
            </a:r>
            <a:r>
              <a:rPr kumimoji="1" lang="en-US" sz="3200" b="1" i="0"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a:t>
            </a:r>
            <a:br>
              <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br>
            <a:endPar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40962" name="内容占位符 2"/>
          <p:cNvSpPr>
            <a:spLocks noGrp="1"/>
          </p:cNvSpPr>
          <p:nvPr>
            <p:ph idx="1"/>
          </p:nvPr>
        </p:nvSpPr>
        <p:spPr>
          <a:xfrm>
            <a:off x="0" y="1387475"/>
            <a:ext cx="8775700" cy="5241925"/>
          </a:xfrm>
          <a:ln/>
        </p:spPr>
        <p:txBody>
          <a:bodyPr wrap="square" lIns="92075" tIns="46038" rIns="92075" bIns="46038" anchor="t" anchorCtr="0"/>
          <a:lstStyle/>
          <a:p>
            <a:pPr algn="just">
              <a:buNone/>
            </a:pPr>
            <a:endParaRPr lang="en-US" altLang="zh-CN" sz="2400" dirty="0"/>
          </a:p>
          <a:p>
            <a:pPr algn="just">
              <a:buNone/>
            </a:pPr>
            <a:endParaRPr lang="en-US" altLang="zh-CN" sz="2400" dirty="0"/>
          </a:p>
          <a:p>
            <a:pPr algn="just">
              <a:buNone/>
            </a:pPr>
            <a:r>
              <a:rPr lang="en-US" altLang="zh-CN" sz="2400" dirty="0"/>
              <a:t>      </a:t>
            </a:r>
          </a:p>
          <a:p>
            <a:pPr algn="just">
              <a:buNone/>
            </a:pPr>
            <a:r>
              <a:rPr lang="en-US" altLang="zh-CN" sz="2400" dirty="0"/>
              <a:t>        </a:t>
            </a:r>
            <a:r>
              <a:rPr lang="zh-CN" altLang="en-US" sz="2400" dirty="0"/>
              <a:t>①   </a:t>
            </a:r>
            <a:r>
              <a:rPr lang="en-US" altLang="zh-CN" sz="2400" dirty="0"/>
              <a:t> </a:t>
            </a:r>
            <a:r>
              <a:rPr lang="zh-CN" altLang="en-US" sz="2400" dirty="0"/>
              <a:t>在这种方式下，若设置的计数值是</a:t>
            </a:r>
            <a:r>
              <a:rPr lang="en-US" altLang="zh-CN" sz="2400" dirty="0"/>
              <a:t>N</a:t>
            </a:r>
            <a:r>
              <a:rPr lang="zh-CN" altLang="en-US" sz="2400" dirty="0"/>
              <a:t>，则在</a:t>
            </a:r>
            <a:r>
              <a:rPr lang="en-US" altLang="zh-CN" sz="2400" dirty="0"/>
              <a:t>GATE</a:t>
            </a:r>
            <a:r>
              <a:rPr lang="zh-CN" altLang="en-US" sz="2400" dirty="0"/>
              <a:t>脉冲后，经过（</a:t>
            </a:r>
            <a:r>
              <a:rPr lang="en-US" altLang="zh-CN" sz="2400" dirty="0"/>
              <a:t>N</a:t>
            </a:r>
            <a:r>
              <a:rPr lang="zh-CN" altLang="en-US" sz="2400" dirty="0"/>
              <a:t>＋</a:t>
            </a:r>
            <a:r>
              <a:rPr lang="en-US" altLang="zh-CN" sz="2400" dirty="0"/>
              <a:t>1</a:t>
            </a:r>
            <a:r>
              <a:rPr lang="zh-CN" altLang="en-US" sz="2400" dirty="0"/>
              <a:t>）个</a:t>
            </a:r>
            <a:r>
              <a:rPr lang="en-US" altLang="zh-CN" sz="2400" dirty="0"/>
              <a:t>CLK</a:t>
            </a:r>
            <a:r>
              <a:rPr lang="zh-CN" altLang="en-US" sz="2400" dirty="0"/>
              <a:t>才一个负脉冲；</a:t>
            </a:r>
          </a:p>
          <a:p>
            <a:pPr algn="just">
              <a:lnSpc>
                <a:spcPts val="4500"/>
              </a:lnSpc>
              <a:buNone/>
            </a:pPr>
            <a:r>
              <a:rPr lang="zh-CN" altLang="en-US" sz="2400" dirty="0"/>
              <a:t>        ②    若在计数过程中又来一个</a:t>
            </a:r>
            <a:r>
              <a:rPr lang="en-US" altLang="zh-CN" sz="2400" dirty="0"/>
              <a:t>GATE</a:t>
            </a:r>
            <a:r>
              <a:rPr lang="zh-CN" altLang="en-US" sz="2400" dirty="0"/>
              <a:t>脉冲，则重新装入初值开始计数，输出不变，即计数值多次有效；</a:t>
            </a:r>
          </a:p>
          <a:p>
            <a:pPr algn="just">
              <a:lnSpc>
                <a:spcPts val="4500"/>
              </a:lnSpc>
              <a:buNone/>
            </a:pPr>
            <a:r>
              <a:rPr lang="zh-CN" altLang="en-US" sz="2400" dirty="0"/>
              <a:t>         ③   若在计数过程中修改计数值，则该计数值在</a:t>
            </a:r>
            <a:r>
              <a:rPr lang="zh-CN" altLang="en-US" sz="2400" i="1" dirty="0">
                <a:solidFill>
                  <a:srgbClr val="FF0000"/>
                </a:solidFill>
              </a:rPr>
              <a:t>下一个</a:t>
            </a:r>
            <a:r>
              <a:rPr lang="en-US" altLang="zh-CN" sz="2400" i="1" dirty="0">
                <a:solidFill>
                  <a:srgbClr val="FF0000"/>
                </a:solidFill>
              </a:rPr>
              <a:t>GATE</a:t>
            </a:r>
            <a:r>
              <a:rPr lang="zh-CN" altLang="en-US" sz="2400" i="1" dirty="0">
                <a:solidFill>
                  <a:srgbClr val="FF0000"/>
                </a:solidFill>
              </a:rPr>
              <a:t>脉冲后装入开始</a:t>
            </a:r>
            <a:r>
              <a:rPr lang="zh-CN" altLang="en-US" sz="2400" dirty="0"/>
              <a:t>按此值计数。</a:t>
            </a:r>
          </a:p>
          <a:p>
            <a:pPr algn="just">
              <a:buNone/>
            </a:pPr>
            <a:endParaRPr lang="zh-CN" altLang="en-US" sz="2400" dirty="0"/>
          </a:p>
        </p:txBody>
      </p:sp>
      <p:sp>
        <p:nvSpPr>
          <p:cNvPr id="5" name="矩形 4"/>
          <p:cNvSpPr/>
          <p:nvPr/>
        </p:nvSpPr>
        <p:spPr>
          <a:xfrm>
            <a:off x="433968" y="1627346"/>
            <a:ext cx="7523480" cy="537210"/>
          </a:xfrm>
          <a:prstGeom prst="rect">
            <a:avLst/>
          </a:prstGeom>
          <a:noFill/>
        </p:spPr>
        <p:txBody>
          <a:bodyPr wrap="none">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marL="0" marR="0" lvl="0" indent="0" algn="ctr" defTabSz="914400" rtl="0" eaLnBrk="1" fontAlgn="base" latinLnBrk="0" hangingPunct="1">
              <a:lnSpc>
                <a:spcPct val="90000"/>
              </a:lnSpc>
              <a:spcBef>
                <a:spcPct val="20000"/>
              </a:spcBef>
              <a:spcAft>
                <a:spcPct val="0"/>
              </a:spcAft>
              <a:buClrTx/>
              <a:buSzTx/>
              <a:buFontTx/>
              <a:buNone/>
              <a:defRPr/>
            </a:pPr>
            <a:r>
              <a:rPr kumimoji="1" lang="zh-CN" altLang="en-US" sz="3200" b="1" i="0" u="none" strike="noStrike" kern="1200" cap="all" spc="0" normalizeH="0" baseline="0" noProof="0" dirty="0">
                <a:solidFill>
                  <a:srgbClr val="FFFF00"/>
                </a:solidFill>
                <a:effectLst>
                  <a:outerShdw blurRad="19685" dist="12700" dir="5400000" algn="tl" rotWithShape="0">
                    <a:schemeClr val="accent1">
                      <a:satMod val="130000"/>
                      <a:alpha val="60000"/>
                    </a:schemeClr>
                  </a:outerShdw>
                  <a:reflection blurRad="10000" stA="55000" endPos="48000" dist="500" dir="5400000" sy="-100000" algn="bl" rotWithShape="0"/>
                </a:effectLst>
                <a:uLnTx/>
                <a:uFillTx/>
                <a:latin typeface="宋体" panose="02010600030101010101" pitchFamily="2" charset="-122"/>
                <a:ea typeface="宋体" panose="02010600030101010101" pitchFamily="2" charset="-122"/>
                <a:cs typeface="+mn-cs"/>
              </a:rPr>
              <a:t>从</a:t>
            </a:r>
            <a:r>
              <a:rPr kumimoji="1" lang="zh-CN" altLang="en-US" sz="2800" b="1" i="0" u="none" strike="noStrike" kern="1200" cap="all" spc="0" normalizeH="0" baseline="0" noProof="0" dirty="0">
                <a:solidFill>
                  <a:srgbClr val="FFFF00"/>
                </a:solidFill>
                <a:effectLst>
                  <a:outerShdw blurRad="19685" dist="12700" dir="5400000" algn="tl" rotWithShape="0">
                    <a:schemeClr val="accent1">
                      <a:satMod val="130000"/>
                      <a:alpha val="60000"/>
                    </a:schemeClr>
                  </a:outerShdw>
                  <a:reflection blurRad="10000" stA="55000" endPos="48000" dist="500" dir="5400000" sy="-100000" algn="bl" rotWithShape="0"/>
                </a:effectLst>
                <a:uLnTx/>
                <a:uFillTx/>
                <a:latin typeface="宋体" panose="02010600030101010101" pitchFamily="2" charset="-122"/>
                <a:ea typeface="宋体" panose="02010600030101010101" pitchFamily="2" charset="-122"/>
                <a:cs typeface="+mn-cs"/>
              </a:rPr>
              <a:t>波形图中不难看出，工作方式</a:t>
            </a:r>
            <a:r>
              <a:rPr kumimoji="1" lang="en-US" sz="2800" b="1" i="0" u="none" strike="noStrike" kern="1200" cap="all" spc="0" normalizeH="0" baseline="0" noProof="0" dirty="0">
                <a:solidFill>
                  <a:srgbClr val="FFFF00"/>
                </a:solidFill>
                <a:effectLst>
                  <a:outerShdw blurRad="19685" dist="12700" dir="5400000" algn="tl" rotWithShape="0">
                    <a:schemeClr val="accent1">
                      <a:satMod val="130000"/>
                      <a:alpha val="60000"/>
                    </a:schemeClr>
                  </a:outerShdw>
                  <a:reflection blurRad="10000" stA="55000" endPos="48000" dist="500" dir="5400000" sy="-100000" algn="bl" rotWithShape="0"/>
                </a:effectLst>
                <a:uLnTx/>
                <a:uFillTx/>
                <a:latin typeface="宋体" panose="02010600030101010101" pitchFamily="2" charset="-122"/>
                <a:ea typeface="宋体" panose="02010600030101010101" pitchFamily="2" charset="-122"/>
                <a:cs typeface="+mn-cs"/>
              </a:rPr>
              <a:t>5</a:t>
            </a:r>
            <a:r>
              <a:rPr kumimoji="1" lang="zh-CN" altLang="en-US" sz="2800" b="1" i="0" u="none" strike="noStrike" kern="1200" cap="all" spc="0" normalizeH="0" baseline="0" noProof="0" dirty="0">
                <a:solidFill>
                  <a:srgbClr val="FFFF00"/>
                </a:solidFill>
                <a:effectLst>
                  <a:outerShdw blurRad="19685" dist="12700" dir="5400000" algn="tl" rotWithShape="0">
                    <a:schemeClr val="accent1">
                      <a:satMod val="130000"/>
                      <a:alpha val="60000"/>
                    </a:schemeClr>
                  </a:outerShdw>
                  <a:reflection blurRad="10000" stA="55000" endPos="48000" dist="500" dir="5400000" sy="-100000" algn="bl" rotWithShape="0"/>
                </a:effectLst>
                <a:uLnTx/>
                <a:uFillTx/>
                <a:latin typeface="宋体" panose="02010600030101010101" pitchFamily="2" charset="-122"/>
                <a:ea typeface="宋体" panose="02010600030101010101" pitchFamily="2" charset="-122"/>
                <a:cs typeface="+mn-cs"/>
              </a:rPr>
              <a:t>有如下特点：</a:t>
            </a:r>
          </a:p>
        </p:txBody>
      </p:sp>
    </p:spTree>
  </p:cSld>
  <p:clrMapOvr>
    <a:masterClrMapping/>
  </p:clrMapOvr>
  <p:transition spd="med">
    <p:random/>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四、</a:t>
            </a:r>
            <a:r>
              <a:rPr kumimoji="1" 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  </a:t>
            </a:r>
            <a:r>
              <a:rPr kumimoji="1" lang="en-US" altLang="zh-CN"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8253</a:t>
            </a:r>
            <a:r>
              <a:rPr kumimoji="1" lang="zh-CN" alt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的初始化编程及应用</a:t>
            </a:r>
            <a:endPar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41986" name="内容占位符 2"/>
          <p:cNvSpPr>
            <a:spLocks noGrp="1"/>
          </p:cNvSpPr>
          <p:nvPr>
            <p:ph idx="1"/>
          </p:nvPr>
        </p:nvSpPr>
        <p:spPr>
          <a:xfrm>
            <a:off x="577850" y="1387475"/>
            <a:ext cx="8197850" cy="5470525"/>
          </a:xfrm>
          <a:ln/>
        </p:spPr>
        <p:txBody>
          <a:bodyPr wrap="square" lIns="92075" tIns="46038" rIns="92075" bIns="46038" anchor="t" anchorCtr="0"/>
          <a:lstStyle/>
          <a:p>
            <a:pPr>
              <a:buNone/>
            </a:pPr>
            <a:endParaRPr lang="en-US" altLang="zh-CN" sz="2400" dirty="0"/>
          </a:p>
          <a:p>
            <a:pPr>
              <a:buNone/>
            </a:pPr>
            <a:r>
              <a:rPr lang="zh-CN" altLang="en-US" sz="2400" dirty="0"/>
              <a:t>             以便选择计数器和规定计数器的工作方式，任一计数通道的控制字都要从</a:t>
            </a:r>
            <a:r>
              <a:rPr lang="en-US" altLang="zh-CN" sz="2400" dirty="0"/>
              <a:t>8253</a:t>
            </a:r>
            <a:r>
              <a:rPr lang="zh-CN" altLang="en-US" sz="2400" dirty="0"/>
              <a:t>的控制端口写入。</a:t>
            </a:r>
          </a:p>
          <a:p>
            <a:pPr>
              <a:buNone/>
            </a:pPr>
            <a:endParaRPr lang="en-US" altLang="zh-CN" sz="2400" dirty="0"/>
          </a:p>
          <a:p>
            <a:pPr>
              <a:buNone/>
            </a:pPr>
            <a:r>
              <a:rPr lang="zh-CN" altLang="en-US" sz="2400" dirty="0"/>
              <a:t>            某个计数器写入控制字后，任何时候都可以按控制字中的</a:t>
            </a:r>
            <a:r>
              <a:rPr lang="en-US" altLang="zh-CN" sz="2400" dirty="0"/>
              <a:t>RW1</a:t>
            </a:r>
            <a:r>
              <a:rPr lang="zh-CN" altLang="en-US" sz="2400" dirty="0"/>
              <a:t>、</a:t>
            </a:r>
            <a:r>
              <a:rPr lang="en-US" altLang="zh-CN" sz="2400" dirty="0"/>
              <a:t>RW2</a:t>
            </a:r>
            <a:r>
              <a:rPr lang="zh-CN" altLang="en-US" sz="2400" dirty="0"/>
              <a:t>规定写入计数初值。写入计数初值时，还必须注意：如果在方式控制字中的</a:t>
            </a:r>
            <a:r>
              <a:rPr lang="en-US" altLang="zh-CN" sz="2400" dirty="0"/>
              <a:t>BCD</a:t>
            </a:r>
            <a:r>
              <a:rPr lang="zh-CN" altLang="en-US" sz="2400" dirty="0"/>
              <a:t>位为</a:t>
            </a:r>
            <a:r>
              <a:rPr lang="en-US" altLang="zh-CN" sz="2400" dirty="0"/>
              <a:t>1</a:t>
            </a:r>
            <a:r>
              <a:rPr lang="zh-CN" altLang="en-US" sz="2400" dirty="0"/>
              <a:t>，则写入的计数初值应为十六进制数。</a:t>
            </a:r>
          </a:p>
          <a:p>
            <a:pPr>
              <a:buNone/>
            </a:pPr>
            <a:endParaRPr lang="en-US" altLang="zh-CN" sz="2400" dirty="0"/>
          </a:p>
          <a:p>
            <a:pPr>
              <a:buNone/>
            </a:pPr>
            <a:r>
              <a:rPr lang="zh-CN" altLang="en-US" sz="2400" dirty="0"/>
              <a:t>             在计数过程中，若要读取当前的计数值，则需要采用以下方法。先写入一个方式控制字，该方式控制字</a:t>
            </a:r>
            <a:r>
              <a:rPr lang="en-US" altLang="zh-CN" sz="2400" dirty="0"/>
              <a:t>SC1</a:t>
            </a:r>
            <a:r>
              <a:rPr lang="zh-CN" altLang="en-US" sz="2400" dirty="0"/>
              <a:t>、</a:t>
            </a:r>
            <a:r>
              <a:rPr lang="en-US" altLang="zh-CN" sz="2400" dirty="0"/>
              <a:t>SC2</a:t>
            </a:r>
            <a:r>
              <a:rPr lang="zh-CN" altLang="en-US" sz="2400" dirty="0"/>
              <a:t>指明要读取的计数通道，</a:t>
            </a:r>
            <a:r>
              <a:rPr lang="en-US" altLang="zh-CN" sz="2400" dirty="0"/>
              <a:t>RW1</a:t>
            </a:r>
            <a:r>
              <a:rPr lang="zh-CN" altLang="en-US" sz="2400" dirty="0"/>
              <a:t>、</a:t>
            </a:r>
            <a:r>
              <a:rPr lang="en-US" altLang="zh-CN" sz="2400" dirty="0"/>
              <a:t>RW2</a:t>
            </a:r>
            <a:r>
              <a:rPr lang="zh-CN" altLang="en-US" sz="2400" dirty="0"/>
              <a:t>设为</a:t>
            </a:r>
            <a:r>
              <a:rPr lang="en-US" altLang="zh-CN" sz="2400" dirty="0"/>
              <a:t>00</a:t>
            </a:r>
            <a:r>
              <a:rPr lang="zh-CN" altLang="en-US" sz="2400" dirty="0"/>
              <a:t>；然后再按照初始化该计数器时的读</a:t>
            </a:r>
            <a:r>
              <a:rPr lang="en-US" altLang="zh-CN" sz="2400" dirty="0"/>
              <a:t>/</a:t>
            </a:r>
            <a:r>
              <a:rPr lang="zh-CN" altLang="en-US" sz="2400" dirty="0"/>
              <a:t>写方法读取计数值。</a:t>
            </a:r>
          </a:p>
          <a:p>
            <a:pPr>
              <a:buNone/>
            </a:pPr>
            <a:endParaRPr lang="zh-CN" altLang="en-US" dirty="0"/>
          </a:p>
        </p:txBody>
      </p:sp>
      <p:sp>
        <p:nvSpPr>
          <p:cNvPr id="4" name="矩形 3"/>
          <p:cNvSpPr/>
          <p:nvPr/>
        </p:nvSpPr>
        <p:spPr>
          <a:xfrm>
            <a:off x="546454" y="1388801"/>
            <a:ext cx="2531462" cy="480131"/>
          </a:xfrm>
          <a:prstGeom prst="rect">
            <a:avLst/>
          </a:prstGeom>
          <a:noFill/>
        </p:spPr>
        <p:txBody>
          <a:bodyPr wrap="none">
            <a:spAutoFit/>
          </a:bodyPr>
          <a:lstStyle/>
          <a:p>
            <a:pPr marL="0" marR="0" lvl="0" indent="0" algn="ctr" defTabSz="914400" rtl="0" eaLnBrk="1" fontAlgn="base" latinLnBrk="0" hangingPunct="1">
              <a:lnSpc>
                <a:spcPct val="90000"/>
              </a:lnSpc>
              <a:spcBef>
                <a:spcPct val="20000"/>
              </a:spcBef>
              <a:spcAft>
                <a:spcPct val="0"/>
              </a:spcAft>
              <a:buClrTx/>
              <a:buSzTx/>
              <a:buFontTx/>
              <a:buNone/>
              <a:defRPr/>
            </a:pPr>
            <a:r>
              <a:rPr kumimoji="1" lang="en-US" sz="2800" b="1" i="0" u="none" strike="noStrike" kern="1200" cap="none" spc="0" normalizeH="0" baseline="0" noProof="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uLnTx/>
                <a:uFillTx/>
                <a:latin typeface="宋体" panose="02010600030101010101" pitchFamily="2" charset="-122"/>
                <a:ea typeface="宋体" panose="02010600030101010101" pitchFamily="2" charset="-122"/>
                <a:cs typeface="+mn-cs"/>
              </a:rPr>
              <a:t>1. </a:t>
            </a:r>
            <a:r>
              <a:rPr kumimoji="1" lang="zh-CN" altLang="en-US" sz="2800" b="1" i="0" u="none" strike="noStrike" kern="1200" cap="none" spc="0" normalizeH="0" baseline="0" noProof="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uLnTx/>
                <a:uFillTx/>
                <a:latin typeface="宋体" panose="02010600030101010101" pitchFamily="2" charset="-122"/>
                <a:ea typeface="宋体" panose="02010600030101010101" pitchFamily="2" charset="-122"/>
                <a:cs typeface="+mn-cs"/>
              </a:rPr>
              <a:t>写入控制字</a:t>
            </a:r>
          </a:p>
        </p:txBody>
      </p:sp>
      <p:sp>
        <p:nvSpPr>
          <p:cNvPr id="5" name="矩形 4"/>
          <p:cNvSpPr/>
          <p:nvPr/>
        </p:nvSpPr>
        <p:spPr>
          <a:xfrm>
            <a:off x="576285" y="2641138"/>
            <a:ext cx="2892138" cy="480131"/>
          </a:xfrm>
          <a:prstGeom prst="rect">
            <a:avLst/>
          </a:prstGeom>
          <a:noFill/>
        </p:spPr>
        <p:txBody>
          <a:bodyPr wrap="none">
            <a:spAutoFit/>
          </a:bodyPr>
          <a:lstStyle/>
          <a:p>
            <a:pPr marL="0" marR="0" lvl="0" indent="0" algn="ctr" defTabSz="914400" rtl="0" eaLnBrk="1" fontAlgn="base" latinLnBrk="0" hangingPunct="1">
              <a:lnSpc>
                <a:spcPct val="90000"/>
              </a:lnSpc>
              <a:spcBef>
                <a:spcPct val="20000"/>
              </a:spcBef>
              <a:spcAft>
                <a:spcPct val="0"/>
              </a:spcAft>
              <a:buClrTx/>
              <a:buSzTx/>
              <a:buFontTx/>
              <a:buNone/>
              <a:defRPr/>
            </a:pPr>
            <a:r>
              <a:rPr kumimoji="1" lang="en-US" sz="2800" b="1" i="0" u="none" strike="noStrike" kern="1200" cap="none" spc="0" normalizeH="0" baseline="0" noProof="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uLnTx/>
                <a:uFillTx/>
                <a:latin typeface="宋体" panose="02010600030101010101" pitchFamily="2" charset="-122"/>
                <a:ea typeface="宋体" panose="02010600030101010101" pitchFamily="2" charset="-122"/>
                <a:cs typeface="+mn-cs"/>
              </a:rPr>
              <a:t>2. </a:t>
            </a:r>
            <a:r>
              <a:rPr kumimoji="1" lang="zh-CN" altLang="en-US" sz="2800" b="1" i="0" u="none" strike="noStrike" kern="1200" cap="none" spc="0" normalizeH="0" baseline="0" noProof="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uLnTx/>
                <a:uFillTx/>
                <a:latin typeface="宋体" panose="02010600030101010101" pitchFamily="2" charset="-122"/>
                <a:ea typeface="宋体" panose="02010600030101010101" pitchFamily="2" charset="-122"/>
                <a:cs typeface="+mn-cs"/>
              </a:rPr>
              <a:t>写入计数初值</a:t>
            </a:r>
          </a:p>
        </p:txBody>
      </p:sp>
      <p:sp>
        <p:nvSpPr>
          <p:cNvPr id="7" name="矩形 6"/>
          <p:cNvSpPr/>
          <p:nvPr/>
        </p:nvSpPr>
        <p:spPr>
          <a:xfrm>
            <a:off x="556373" y="4569328"/>
            <a:ext cx="2170786" cy="480131"/>
          </a:xfrm>
          <a:prstGeom prst="rect">
            <a:avLst/>
          </a:prstGeom>
          <a:noFill/>
        </p:spPr>
        <p:txBody>
          <a:bodyPr wrap="none">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marL="0" marR="0" lvl="0" indent="0" algn="ctr" defTabSz="914400" rtl="0" eaLnBrk="1" fontAlgn="base" latinLnBrk="0" hangingPunct="1">
              <a:lnSpc>
                <a:spcPct val="90000"/>
              </a:lnSpc>
              <a:spcBef>
                <a:spcPct val="20000"/>
              </a:spcBef>
              <a:spcAft>
                <a:spcPct val="0"/>
              </a:spcAft>
              <a:buClrTx/>
              <a:buSzTx/>
              <a:buFontTx/>
              <a:buNone/>
              <a:defRPr/>
            </a:pPr>
            <a:r>
              <a:rPr kumimoji="1" lang="en-US" sz="2800" b="1" i="0" u="none" strike="noStrike" kern="1200" cap="all" spc="0" normalizeH="0" baseline="0" noProof="0" dirty="0">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uLnTx/>
                <a:uFillTx/>
                <a:latin typeface="宋体" panose="02010600030101010101" pitchFamily="2" charset="-122"/>
                <a:ea typeface="宋体" panose="02010600030101010101" pitchFamily="2" charset="-122"/>
                <a:cs typeface="+mn-cs"/>
              </a:rPr>
              <a:t>3. </a:t>
            </a:r>
            <a:r>
              <a:rPr kumimoji="1" lang="zh-CN" altLang="en-US" sz="2800" b="1" i="0" u="none" strike="noStrike" kern="1200" cap="all" spc="0" normalizeH="0" baseline="0" noProof="0" dirty="0">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uLnTx/>
                <a:uFillTx/>
                <a:latin typeface="宋体" panose="02010600030101010101" pitchFamily="2" charset="-122"/>
                <a:ea typeface="宋体" panose="02010600030101010101" pitchFamily="2" charset="-122"/>
                <a:cs typeface="+mn-cs"/>
              </a:rPr>
              <a:t>读计数值</a:t>
            </a:r>
          </a:p>
        </p:txBody>
      </p:sp>
    </p:spTree>
  </p:cSld>
  <p:clrMapOvr>
    <a:masterClrMapping/>
  </p:clrMapOvr>
  <p:transition spd="med">
    <p:random/>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09" name="内容占位符 2"/>
          <p:cNvSpPr>
            <a:spLocks noGrp="1"/>
          </p:cNvSpPr>
          <p:nvPr>
            <p:ph idx="1"/>
          </p:nvPr>
        </p:nvSpPr>
        <p:spPr>
          <a:xfrm>
            <a:off x="393700" y="906463"/>
            <a:ext cx="8197850" cy="5470525"/>
          </a:xfrm>
          <a:ln/>
        </p:spPr>
        <p:txBody>
          <a:bodyPr wrap="square" lIns="92075" tIns="46038" rIns="92075" bIns="46038" anchor="t" anchorCtr="0"/>
          <a:lstStyle/>
          <a:p>
            <a:pPr algn="just">
              <a:buNone/>
            </a:pPr>
            <a:endParaRPr lang="en-US" altLang="zh-CN" sz="2400" dirty="0"/>
          </a:p>
          <a:p>
            <a:pPr algn="just">
              <a:lnSpc>
                <a:spcPts val="3000"/>
              </a:lnSpc>
              <a:buNone/>
            </a:pPr>
            <a:r>
              <a:rPr lang="en-US" altLang="zh-CN" sz="2000" dirty="0"/>
              <a:t>              8253</a:t>
            </a:r>
            <a:r>
              <a:rPr lang="zh-CN" altLang="en-US" sz="2000" dirty="0"/>
              <a:t>是一个可编程的芯片，有</a:t>
            </a:r>
            <a:r>
              <a:rPr lang="zh-CN" altLang="en-US" sz="2000" i="1" dirty="0">
                <a:solidFill>
                  <a:srgbClr val="FF0000"/>
                </a:solidFill>
              </a:rPr>
              <a:t>一个</a:t>
            </a:r>
            <a:r>
              <a:rPr lang="en-US" altLang="zh-CN" sz="2000" i="1" dirty="0">
                <a:solidFill>
                  <a:srgbClr val="FF0000"/>
                </a:solidFill>
              </a:rPr>
              <a:t>8</a:t>
            </a:r>
            <a:r>
              <a:rPr lang="zh-CN" altLang="en-US" sz="2000" i="1" dirty="0">
                <a:solidFill>
                  <a:srgbClr val="FF0000"/>
                </a:solidFill>
              </a:rPr>
              <a:t>位的控制字寄存器</a:t>
            </a:r>
            <a:r>
              <a:rPr lang="zh-CN" altLang="en-US" sz="2000" dirty="0"/>
              <a:t>，在初始化编程时，由</a:t>
            </a:r>
            <a:r>
              <a:rPr lang="en-US" altLang="zh-CN" sz="2000" i="1" dirty="0">
                <a:solidFill>
                  <a:srgbClr val="FF0000"/>
                </a:solidFill>
              </a:rPr>
              <a:t>CPU</a:t>
            </a:r>
            <a:r>
              <a:rPr lang="zh-CN" altLang="en-US" sz="2000" dirty="0"/>
              <a:t>向</a:t>
            </a:r>
            <a:r>
              <a:rPr lang="en-US" altLang="zh-CN" sz="2000" dirty="0"/>
              <a:t>8253</a:t>
            </a:r>
            <a:r>
              <a:rPr lang="zh-CN" altLang="en-US" sz="2000" dirty="0"/>
              <a:t>的控制字寄存器写入一个控制字，用来</a:t>
            </a:r>
            <a:r>
              <a:rPr lang="zh-CN" altLang="en-US" sz="2000" i="1" dirty="0">
                <a:solidFill>
                  <a:srgbClr val="FF0000"/>
                </a:solidFill>
              </a:rPr>
              <a:t>选择计数器</a:t>
            </a:r>
            <a:r>
              <a:rPr lang="zh-CN" altLang="en-US" sz="2000" dirty="0"/>
              <a:t>，</a:t>
            </a:r>
            <a:r>
              <a:rPr lang="zh-CN" altLang="en-US" sz="2000" i="1" dirty="0">
                <a:solidFill>
                  <a:srgbClr val="FF0000"/>
                </a:solidFill>
              </a:rPr>
              <a:t>设置工作方式、计算方法</a:t>
            </a:r>
            <a:r>
              <a:rPr lang="zh-CN" altLang="en-US" sz="2000" dirty="0"/>
              <a:t>以及</a:t>
            </a:r>
            <a:r>
              <a:rPr lang="en-US" altLang="zh-CN" sz="2000" i="1" dirty="0">
                <a:solidFill>
                  <a:srgbClr val="FF0000"/>
                </a:solidFill>
              </a:rPr>
              <a:t>CPU</a:t>
            </a:r>
            <a:r>
              <a:rPr lang="zh-CN" altLang="en-US" sz="2000" i="1" dirty="0">
                <a:solidFill>
                  <a:srgbClr val="FF0000"/>
                </a:solidFill>
              </a:rPr>
              <a:t>访问计算器的读</a:t>
            </a:r>
            <a:r>
              <a:rPr lang="en-US" altLang="zh-CN" sz="2000" i="1" dirty="0">
                <a:solidFill>
                  <a:srgbClr val="FF0000"/>
                </a:solidFill>
              </a:rPr>
              <a:t>/</a:t>
            </a:r>
            <a:r>
              <a:rPr lang="zh-CN" altLang="en-US" sz="2000" i="1" dirty="0">
                <a:solidFill>
                  <a:srgbClr val="FF0000"/>
                </a:solidFill>
              </a:rPr>
              <a:t>写方法</a:t>
            </a:r>
            <a:r>
              <a:rPr lang="zh-CN" altLang="en-US" sz="2000" dirty="0"/>
              <a:t>等。</a:t>
            </a:r>
            <a:r>
              <a:rPr lang="en-US" altLang="zh-CN" sz="2000" dirty="0"/>
              <a:t>8253</a:t>
            </a:r>
            <a:r>
              <a:rPr lang="zh-CN" altLang="en-US" sz="2000" dirty="0"/>
              <a:t>控制字的格式如图所示。</a:t>
            </a:r>
            <a:endParaRPr lang="en-US" altLang="zh-CN" sz="2000" dirty="0"/>
          </a:p>
          <a:p>
            <a:pPr algn="just">
              <a:lnSpc>
                <a:spcPts val="3000"/>
              </a:lnSpc>
              <a:buNone/>
            </a:pPr>
            <a:endParaRPr lang="en-US" altLang="zh-CN" sz="2000" dirty="0"/>
          </a:p>
          <a:p>
            <a:pPr algn="just">
              <a:lnSpc>
                <a:spcPts val="3000"/>
              </a:lnSpc>
              <a:buNone/>
            </a:pPr>
            <a:endParaRPr lang="en-US" altLang="zh-CN" sz="2000" dirty="0"/>
          </a:p>
          <a:p>
            <a:pPr algn="just">
              <a:lnSpc>
                <a:spcPts val="3000"/>
              </a:lnSpc>
              <a:buNone/>
            </a:pPr>
            <a:endParaRPr lang="en-US" altLang="zh-CN" sz="2000" dirty="0"/>
          </a:p>
          <a:p>
            <a:pPr algn="just">
              <a:lnSpc>
                <a:spcPts val="3000"/>
              </a:lnSpc>
              <a:buNone/>
            </a:pPr>
            <a:endParaRPr lang="en-US" altLang="zh-CN" sz="2000" dirty="0"/>
          </a:p>
          <a:p>
            <a:pPr algn="just">
              <a:lnSpc>
                <a:spcPts val="3000"/>
              </a:lnSpc>
              <a:buNone/>
            </a:pPr>
            <a:endParaRPr lang="en-US" altLang="zh-CN" sz="2000" dirty="0"/>
          </a:p>
          <a:p>
            <a:pPr algn="just">
              <a:lnSpc>
                <a:spcPts val="3000"/>
              </a:lnSpc>
              <a:buNone/>
            </a:pPr>
            <a:r>
              <a:rPr lang="en-US" altLang="zh-CN" sz="2000" dirty="0"/>
              <a:t>         </a:t>
            </a:r>
          </a:p>
          <a:p>
            <a:pPr algn="just">
              <a:lnSpc>
                <a:spcPts val="3000"/>
              </a:lnSpc>
              <a:buNone/>
            </a:pPr>
            <a:r>
              <a:rPr lang="en-US" altLang="zh-CN" sz="2000" dirty="0"/>
              <a:t>          </a:t>
            </a:r>
            <a:r>
              <a:rPr lang="zh-CN" altLang="en-US" sz="2000" dirty="0"/>
              <a:t>  其中：</a:t>
            </a:r>
            <a:r>
              <a:rPr lang="en-US" altLang="zh-CN" sz="2000" dirty="0"/>
              <a:t>D</a:t>
            </a:r>
            <a:r>
              <a:rPr lang="en-US" altLang="zh-CN" sz="2000" baseline="-25000" dirty="0"/>
              <a:t>7</a:t>
            </a:r>
            <a:r>
              <a:rPr lang="zh-CN" altLang="en-US" sz="2000" baseline="-25000" dirty="0"/>
              <a:t>、</a:t>
            </a:r>
            <a:r>
              <a:rPr lang="en-US" altLang="zh-CN" sz="2000" dirty="0"/>
              <a:t>D</a:t>
            </a:r>
            <a:r>
              <a:rPr lang="en-US" altLang="zh-CN" sz="2000" baseline="-25000" dirty="0"/>
              <a:t>6</a:t>
            </a:r>
            <a:r>
              <a:rPr lang="zh-CN" altLang="en-US" sz="2000" dirty="0"/>
              <a:t>用于选择定时器；</a:t>
            </a:r>
            <a:r>
              <a:rPr lang="en-US" altLang="zh-CN" sz="2000" dirty="0"/>
              <a:t>D</a:t>
            </a:r>
            <a:r>
              <a:rPr lang="en-US" altLang="zh-CN" sz="2000" baseline="-25000" dirty="0"/>
              <a:t>5</a:t>
            </a:r>
            <a:r>
              <a:rPr lang="zh-CN" altLang="en-US" sz="2000" baseline="-25000" dirty="0"/>
              <a:t>、</a:t>
            </a:r>
            <a:r>
              <a:rPr lang="en-US" altLang="zh-CN" sz="2000" dirty="0"/>
              <a:t>D</a:t>
            </a:r>
            <a:r>
              <a:rPr lang="en-US" altLang="zh-CN" sz="2000" baseline="-25000" dirty="0"/>
              <a:t>4</a:t>
            </a:r>
            <a:r>
              <a:rPr lang="zh-CN" altLang="en-US" sz="2000" dirty="0"/>
              <a:t>用于确定时间常数的读</a:t>
            </a:r>
            <a:r>
              <a:rPr lang="en-US" altLang="zh-CN" sz="2000" dirty="0"/>
              <a:t>/</a:t>
            </a:r>
            <a:r>
              <a:rPr lang="zh-CN" altLang="en-US" sz="2000" dirty="0"/>
              <a:t>写格式；</a:t>
            </a:r>
            <a:r>
              <a:rPr lang="en-US" altLang="zh-CN" sz="2000" dirty="0"/>
              <a:t>D</a:t>
            </a:r>
            <a:r>
              <a:rPr lang="en-US" altLang="zh-CN" sz="2000" baseline="-25000" dirty="0"/>
              <a:t>3</a:t>
            </a:r>
            <a:r>
              <a:rPr lang="zh-CN" altLang="en-US" sz="2000" baseline="-25000" dirty="0"/>
              <a:t>、</a:t>
            </a:r>
            <a:r>
              <a:rPr lang="en-US" altLang="zh-CN" sz="2000" dirty="0"/>
              <a:t>D</a:t>
            </a:r>
            <a:r>
              <a:rPr lang="en-US" altLang="zh-CN" sz="2000" baseline="-25000" dirty="0"/>
              <a:t>2</a:t>
            </a:r>
            <a:r>
              <a:rPr lang="zh-CN" altLang="en-US" sz="2000" baseline="-25000" dirty="0"/>
              <a:t>、</a:t>
            </a:r>
            <a:r>
              <a:rPr lang="en-US" altLang="zh-CN" sz="2000" dirty="0"/>
              <a:t>D</a:t>
            </a:r>
            <a:r>
              <a:rPr lang="en-US" altLang="zh-CN" sz="2000" baseline="-25000" dirty="0"/>
              <a:t>1</a:t>
            </a:r>
            <a:r>
              <a:rPr lang="zh-CN" altLang="en-US" sz="2000" dirty="0"/>
              <a:t>用来设定计数器的工作方式；</a:t>
            </a:r>
            <a:r>
              <a:rPr lang="en-US" altLang="zh-CN" sz="2000" dirty="0"/>
              <a:t>D</a:t>
            </a:r>
            <a:r>
              <a:rPr lang="en-US" altLang="zh-CN" sz="2000" baseline="-25000" dirty="0"/>
              <a:t>0</a:t>
            </a:r>
            <a:r>
              <a:rPr lang="zh-CN" altLang="en-US" sz="2000" dirty="0"/>
              <a:t>用来设定计数方式</a:t>
            </a:r>
            <a:r>
              <a:rPr lang="en-US" altLang="zh-CN" sz="2000" dirty="0"/>
              <a:t>.</a:t>
            </a:r>
          </a:p>
        </p:txBody>
      </p:sp>
      <p:sp>
        <p:nvSpPr>
          <p:cNvPr id="5" name="矩形 4"/>
          <p:cNvSpPr/>
          <p:nvPr/>
        </p:nvSpPr>
        <p:spPr>
          <a:xfrm>
            <a:off x="669527" y="633377"/>
            <a:ext cx="3281679" cy="481331"/>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base" latinLnBrk="0" hangingPunct="1">
              <a:lnSpc>
                <a:spcPct val="90000"/>
              </a:lnSpc>
              <a:spcBef>
                <a:spcPct val="20000"/>
              </a:spcBef>
              <a:spcAft>
                <a:spcPct val="0"/>
              </a:spcAft>
              <a:buClrTx/>
              <a:buSzTx/>
              <a:buFontTx/>
              <a:buNone/>
              <a:defRPr/>
            </a:pPr>
            <a:r>
              <a:rPr kumimoji="1" lang="en-US" sz="2800" b="1" i="0" u="none" strike="noStrike" kern="1200" cap="none" spc="50" normalizeH="0" baseline="0" noProof="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宋体" panose="02010600030101010101" pitchFamily="2" charset="-122"/>
                <a:ea typeface="宋体" panose="02010600030101010101" pitchFamily="2" charset="-122"/>
                <a:cs typeface="+mn-cs"/>
              </a:rPr>
              <a:t>1.8253</a:t>
            </a:r>
            <a:r>
              <a:rPr kumimoji="1" lang="zh-CN" altLang="en-US" sz="2800" b="1" i="0" u="none" strike="noStrike" kern="1200" cap="none" spc="50" normalizeH="0" baseline="0" noProof="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宋体" panose="02010600030101010101" pitchFamily="2" charset="-122"/>
                <a:ea typeface="宋体" panose="02010600030101010101" pitchFamily="2" charset="-122"/>
                <a:cs typeface="+mn-cs"/>
              </a:rPr>
              <a:t>控制字格式</a:t>
            </a:r>
            <a:r>
              <a:rPr kumimoji="1" lang="en-US" altLang="zh-CN" sz="2800" b="1" i="0" u="none" strike="noStrike" kern="1200" cap="none" spc="50" normalizeH="0" baseline="0" noProof="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宋体" panose="02010600030101010101" pitchFamily="2" charset="-122"/>
                <a:ea typeface="宋体" panose="02010600030101010101" pitchFamily="2" charset="-122"/>
                <a:cs typeface="+mn-cs"/>
              </a:rPr>
              <a:t>:</a:t>
            </a:r>
            <a:endParaRPr kumimoji="1" lang="zh-CN" altLang="en-US" sz="2800" b="1" i="0" u="none" strike="noStrike" kern="1200" cap="none" spc="50" normalizeH="0" baseline="0" noProof="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uLnTx/>
              <a:uFillTx/>
              <a:latin typeface="宋体" panose="02010600030101010101" pitchFamily="2" charset="-122"/>
              <a:ea typeface="宋体" panose="02010600030101010101" pitchFamily="2" charset="-122"/>
              <a:cs typeface="+mn-cs"/>
            </a:endParaRPr>
          </a:p>
        </p:txBody>
      </p:sp>
      <p:pic>
        <p:nvPicPr>
          <p:cNvPr id="43011" name="Picture 22" descr="8"/>
          <p:cNvPicPr>
            <a:picLocks noChangeAspect="1"/>
          </p:cNvPicPr>
          <p:nvPr/>
        </p:nvPicPr>
        <p:blipFill>
          <a:blip r:embed="rId2"/>
          <a:stretch>
            <a:fillRect/>
          </a:stretch>
        </p:blipFill>
        <p:spPr>
          <a:xfrm>
            <a:off x="1671638" y="2949575"/>
            <a:ext cx="4960937" cy="2695575"/>
          </a:xfrm>
          <a:prstGeom prst="rect">
            <a:avLst/>
          </a:prstGeom>
          <a:noFill/>
          <a:ln w="9525">
            <a:noFill/>
          </a:ln>
        </p:spPr>
      </p:pic>
    </p:spTree>
  </p:cSld>
  <p:clrMapOvr>
    <a:masterClrMapping/>
  </p:clrMapOvr>
  <p:transition spd="med">
    <p:random/>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四、</a:t>
            </a:r>
            <a:r>
              <a:rPr kumimoji="1" 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  </a:t>
            </a:r>
            <a:r>
              <a:rPr kumimoji="1" lang="en-US" altLang="zh-CN"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8253</a:t>
            </a:r>
            <a:r>
              <a:rPr kumimoji="1" lang="zh-CN" alt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的初始化编程及应用</a:t>
            </a:r>
            <a:endPar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44034" name="内容占位符 2"/>
          <p:cNvSpPr>
            <a:spLocks noGrp="1"/>
          </p:cNvSpPr>
          <p:nvPr>
            <p:ph idx="1"/>
          </p:nvPr>
        </p:nvSpPr>
        <p:spPr>
          <a:xfrm>
            <a:off x="328613" y="1346200"/>
            <a:ext cx="8197850" cy="5330825"/>
          </a:xfrm>
          <a:ln/>
        </p:spPr>
        <p:txBody>
          <a:bodyPr wrap="square" lIns="92075" tIns="46038" rIns="92075" bIns="46038" anchor="t" anchorCtr="0"/>
          <a:lstStyle/>
          <a:p>
            <a:pPr algn="just">
              <a:buNone/>
            </a:pPr>
            <a:r>
              <a:rPr lang="en-US" altLang="zh-CN" sz="2400" dirty="0"/>
              <a:t>                         </a:t>
            </a:r>
          </a:p>
          <a:p>
            <a:pPr algn="just">
              <a:buNone/>
            </a:pPr>
            <a:r>
              <a:rPr lang="en-US" altLang="zh-CN" sz="2400" dirty="0"/>
              <a:t>              </a:t>
            </a:r>
          </a:p>
          <a:p>
            <a:pPr algn="just">
              <a:lnSpc>
                <a:spcPts val="3600"/>
              </a:lnSpc>
              <a:buNone/>
            </a:pPr>
            <a:r>
              <a:rPr lang="en-US" altLang="zh-CN" sz="2400" dirty="0"/>
              <a:t>             </a:t>
            </a:r>
            <a:r>
              <a:rPr lang="zh-CN" altLang="en-US" sz="2400" dirty="0"/>
              <a:t>输入数字键</a:t>
            </a:r>
            <a:r>
              <a:rPr lang="en-US" altLang="zh-CN" sz="2400" dirty="0"/>
              <a:t>1~8</a:t>
            </a:r>
            <a:r>
              <a:rPr lang="zh-CN" altLang="en-US" sz="2400" dirty="0"/>
              <a:t>发出不同频率的声音，模拟电子琴的功能。调整程序中分频系数和延时时间参数，可以获得不同的声音效果。</a:t>
            </a:r>
          </a:p>
          <a:p>
            <a:pPr algn="just">
              <a:lnSpc>
                <a:spcPts val="3600"/>
              </a:lnSpc>
              <a:buNone/>
            </a:pPr>
            <a:r>
              <a:rPr lang="en-US" altLang="zh-CN" sz="2400" dirty="0"/>
              <a:t>             </a:t>
            </a:r>
            <a:r>
              <a:rPr lang="en-US" altLang="zh-CN" sz="2400" i="1" dirty="0">
                <a:solidFill>
                  <a:srgbClr val="FFFF00"/>
                </a:solidFill>
              </a:rPr>
              <a:t>PC</a:t>
            </a:r>
            <a:r>
              <a:rPr lang="zh-CN" altLang="en-US" sz="2400" i="1" dirty="0">
                <a:solidFill>
                  <a:srgbClr val="FFFF00"/>
                </a:solidFill>
              </a:rPr>
              <a:t>系统分配给主板上的</a:t>
            </a:r>
            <a:r>
              <a:rPr lang="en-US" altLang="zh-CN" sz="2400" i="1" dirty="0">
                <a:solidFill>
                  <a:srgbClr val="FFFF00"/>
                </a:solidFill>
              </a:rPr>
              <a:t>8253</a:t>
            </a:r>
            <a:r>
              <a:rPr lang="zh-CN" altLang="en-US" sz="2400" i="1" dirty="0">
                <a:solidFill>
                  <a:srgbClr val="FFFF00"/>
                </a:solidFill>
              </a:rPr>
              <a:t>的</a:t>
            </a:r>
            <a:r>
              <a:rPr lang="en-US" altLang="zh-CN" sz="2400" i="1" dirty="0">
                <a:solidFill>
                  <a:srgbClr val="FFFF00"/>
                </a:solidFill>
              </a:rPr>
              <a:t>I/O</a:t>
            </a:r>
            <a:r>
              <a:rPr lang="zh-CN" altLang="en-US" sz="2400" i="1" dirty="0">
                <a:solidFill>
                  <a:srgbClr val="FFFF00"/>
                </a:solidFill>
              </a:rPr>
              <a:t>端口地址是</a:t>
            </a:r>
            <a:r>
              <a:rPr lang="en-US" altLang="zh-CN" sz="2400" i="1" dirty="0">
                <a:solidFill>
                  <a:srgbClr val="FFFF00"/>
                </a:solidFill>
              </a:rPr>
              <a:t>40H~43H</a:t>
            </a:r>
            <a:r>
              <a:rPr lang="zh-CN" altLang="en-US" sz="2400" dirty="0"/>
              <a:t>，图</a:t>
            </a:r>
            <a:r>
              <a:rPr lang="en-US" altLang="zh-CN" sz="2400" dirty="0"/>
              <a:t>8-10</a:t>
            </a:r>
            <a:r>
              <a:rPr lang="zh-CN" altLang="en-US" sz="2400" dirty="0"/>
              <a:t>描绘了这一部分接口电路的原理框图。系统输入时钟频率为</a:t>
            </a:r>
            <a:r>
              <a:rPr lang="en-US" altLang="zh-CN" sz="2400" i="1" dirty="0">
                <a:solidFill>
                  <a:srgbClr val="FF0000"/>
                </a:solidFill>
              </a:rPr>
              <a:t>1193.18 kHz</a:t>
            </a:r>
            <a:r>
              <a:rPr lang="zh-CN" altLang="en-US" sz="2400" dirty="0"/>
              <a:t>，它的</a:t>
            </a:r>
            <a:r>
              <a:rPr lang="en-US" altLang="zh-CN" sz="2400" dirty="0"/>
              <a:t>3</a:t>
            </a:r>
            <a:r>
              <a:rPr lang="zh-CN" altLang="en-US" sz="2400" dirty="0"/>
              <a:t>个计数器分别用于：</a:t>
            </a:r>
          </a:p>
          <a:p>
            <a:pPr algn="just">
              <a:lnSpc>
                <a:spcPts val="3600"/>
              </a:lnSpc>
              <a:buNone/>
            </a:pPr>
            <a:r>
              <a:rPr lang="zh-CN" altLang="en-US" sz="2400" dirty="0"/>
              <a:t>              ① 地址为</a:t>
            </a:r>
            <a:r>
              <a:rPr lang="en-US" altLang="zh-CN" sz="2400" i="1" dirty="0">
                <a:solidFill>
                  <a:srgbClr val="FF0000"/>
                </a:solidFill>
              </a:rPr>
              <a:t>40H</a:t>
            </a:r>
            <a:r>
              <a:rPr lang="zh-CN" altLang="en-US" sz="2400" dirty="0"/>
              <a:t>的</a:t>
            </a:r>
            <a:r>
              <a:rPr lang="zh-CN" altLang="en-US" sz="2400" i="1" dirty="0">
                <a:solidFill>
                  <a:srgbClr val="FFFF00"/>
                </a:solidFill>
              </a:rPr>
              <a:t>计数通道</a:t>
            </a:r>
            <a:r>
              <a:rPr lang="en-US" altLang="zh-CN" sz="2400" i="1" dirty="0">
                <a:solidFill>
                  <a:srgbClr val="FFFF00"/>
                </a:solidFill>
              </a:rPr>
              <a:t>0</a:t>
            </a:r>
            <a:r>
              <a:rPr lang="zh-CN" altLang="en-US" sz="2400" dirty="0"/>
              <a:t>用于</a:t>
            </a:r>
            <a:r>
              <a:rPr lang="zh-CN" altLang="en-US" sz="2400" i="1" dirty="0">
                <a:solidFill>
                  <a:srgbClr val="FFFF00"/>
                </a:solidFill>
              </a:rPr>
              <a:t>产生系统时钟的基本定时中断</a:t>
            </a:r>
            <a:r>
              <a:rPr lang="zh-CN" altLang="en-US" sz="2400" dirty="0"/>
              <a:t>，输出方波序列的频率为</a:t>
            </a:r>
            <a:r>
              <a:rPr lang="en-US" altLang="zh-CN" sz="2400" i="1" dirty="0">
                <a:solidFill>
                  <a:srgbClr val="FF0000"/>
                </a:solidFill>
              </a:rPr>
              <a:t>18.2Hz</a:t>
            </a:r>
            <a:r>
              <a:rPr lang="zh-CN" altLang="en-US" sz="2400" dirty="0"/>
              <a:t>；</a:t>
            </a:r>
          </a:p>
          <a:p>
            <a:pPr algn="just">
              <a:lnSpc>
                <a:spcPts val="3600"/>
              </a:lnSpc>
              <a:buNone/>
            </a:pPr>
            <a:endParaRPr lang="zh-CN" altLang="en-US" dirty="0"/>
          </a:p>
        </p:txBody>
      </p:sp>
      <p:sp>
        <p:nvSpPr>
          <p:cNvPr id="6" name="矩形 5"/>
          <p:cNvSpPr/>
          <p:nvPr/>
        </p:nvSpPr>
        <p:spPr>
          <a:xfrm>
            <a:off x="798478" y="1531788"/>
            <a:ext cx="2659704" cy="535535"/>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marL="0" marR="0" lvl="0" indent="0" algn="ctr" defTabSz="914400" rtl="0" eaLnBrk="1" fontAlgn="base" latinLnBrk="0" hangingPunct="1">
              <a:lnSpc>
                <a:spcPct val="90000"/>
              </a:lnSpc>
              <a:spcBef>
                <a:spcPct val="20000"/>
              </a:spcBef>
              <a:spcAft>
                <a:spcPct val="0"/>
              </a:spcAft>
              <a:buClrTx/>
              <a:buSzTx/>
              <a:buFontTx/>
              <a:buNone/>
              <a:defRPr/>
            </a:pPr>
            <a:r>
              <a:rPr kumimoji="1" lang="en-US" altLang="zh-CN" sz="3200" b="1" i="0"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a:t>
            </a:r>
            <a:r>
              <a:rPr kumimoji="1" lang="zh-CN" altLang="en-US" sz="3200" b="1" i="0"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例题</a:t>
            </a:r>
            <a:r>
              <a:rPr kumimoji="1" lang="en-US" altLang="zh-CN" sz="3200" b="1" i="0"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8.6】:</a:t>
            </a:r>
            <a:endParaRPr kumimoji="1" lang="zh-CN" altLang="en-US" sz="3200" b="1" i="0"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random/>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四、</a:t>
            </a:r>
            <a:r>
              <a:rPr kumimoji="1" 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  </a:t>
            </a:r>
            <a:r>
              <a:rPr kumimoji="1" lang="en-US" altLang="zh-CN"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8253</a:t>
            </a:r>
            <a:r>
              <a:rPr kumimoji="1" lang="zh-CN" alt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的初始化编程及应用</a:t>
            </a:r>
            <a:endPar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45058" name="内容占位符 2"/>
          <p:cNvSpPr>
            <a:spLocks noGrp="1"/>
          </p:cNvSpPr>
          <p:nvPr>
            <p:ph idx="1"/>
          </p:nvPr>
        </p:nvSpPr>
        <p:spPr>
          <a:xfrm>
            <a:off x="577850" y="1387475"/>
            <a:ext cx="8197850" cy="5272088"/>
          </a:xfrm>
          <a:ln/>
        </p:spPr>
        <p:txBody>
          <a:bodyPr wrap="square" lIns="92075" tIns="46038" rIns="92075" bIns="46038" anchor="t" anchorCtr="0"/>
          <a:lstStyle/>
          <a:p>
            <a:pPr>
              <a:buNone/>
            </a:pPr>
            <a:r>
              <a:rPr lang="zh-CN" altLang="en-US" dirty="0"/>
              <a:t>　</a:t>
            </a:r>
            <a:endParaRPr lang="zh-CN" altLang="en-US" dirty="0">
              <a:solidFill>
                <a:schemeClr val="accent2"/>
              </a:solidFill>
            </a:endParaRPr>
          </a:p>
        </p:txBody>
      </p:sp>
      <p:pic>
        <p:nvPicPr>
          <p:cNvPr id="4" name="图片 3" descr="网2.gif"/>
          <p:cNvPicPr>
            <a:picLocks noChangeAspect="1"/>
          </p:cNvPicPr>
          <p:nvPr/>
        </p:nvPicPr>
        <p:blipFill>
          <a:blip r:embed="rId2">
            <a:duotone>
              <a:prstClr val="black"/>
              <a:schemeClr val="accent1">
                <a:tint val="45000"/>
                <a:satMod val="400000"/>
              </a:schemeClr>
            </a:duotone>
            <a:lum bright="-12000" contrast="40000"/>
          </a:blip>
          <a:stretch>
            <a:fillRect/>
          </a:stretch>
        </p:blipFill>
        <p:spPr>
          <a:xfrm>
            <a:off x="1545948" y="2602810"/>
            <a:ext cx="5276850" cy="360045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5" name="矩形 4"/>
          <p:cNvSpPr/>
          <p:nvPr/>
        </p:nvSpPr>
        <p:spPr>
          <a:xfrm>
            <a:off x="1391202" y="1595204"/>
            <a:ext cx="4069079" cy="593095"/>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marL="0" marR="0" lvl="0" indent="0" algn="ctr" defTabSz="914400" rtl="0" eaLnBrk="1" fontAlgn="base" latinLnBrk="0" hangingPunct="1">
              <a:lnSpc>
                <a:spcPct val="90000"/>
              </a:lnSpc>
              <a:spcBef>
                <a:spcPct val="20000"/>
              </a:spcBef>
              <a:spcAft>
                <a:spcPct val="0"/>
              </a:spcAft>
              <a:buClrTx/>
              <a:buSzTx/>
              <a:buFontTx/>
              <a:buNone/>
              <a:defRPr/>
            </a:pPr>
            <a:r>
              <a:rPr kumimoji="1" lang="en-US" sz="3600" b="1" i="1" u="none" strike="noStrike" kern="1200" cap="none" spc="0" normalizeH="0" baseline="0" noProof="0" dirty="0">
                <a:ln w="11430"/>
                <a:solidFill>
                  <a:srgbClr val="FFFF00"/>
                </a:soli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PC</a:t>
            </a:r>
            <a:r>
              <a:rPr kumimoji="1" lang="zh-CN" altLang="en-US" sz="3600" b="1" i="1" u="none" strike="noStrike" kern="1200" cap="none" spc="0" normalizeH="0" baseline="0" noProof="0" dirty="0">
                <a:ln w="11430"/>
                <a:solidFill>
                  <a:srgbClr val="FFFF00"/>
                </a:soli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扬声器电路框图</a:t>
            </a:r>
            <a:r>
              <a:rPr kumimoji="1" lang="en-US" altLang="zh-CN" sz="3600" b="1" i="1" u="none" strike="noStrike" kern="1200" cap="none" spc="0" normalizeH="0" baseline="0" noProof="0" dirty="0">
                <a:ln w="11430"/>
                <a:solidFill>
                  <a:srgbClr val="FFFF00"/>
                </a:soli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a:t>
            </a:r>
            <a:endParaRPr kumimoji="1" lang="zh-CN" altLang="en-US" sz="3600" b="1" i="1" u="none" strike="noStrike" kern="1200" cap="none" spc="0" normalizeH="0" baseline="0" noProof="0" dirty="0">
              <a:ln w="11430"/>
              <a:solidFill>
                <a:srgbClr val="FFFF00"/>
              </a:soli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random/>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p:txBody>
          <a:bodyPr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四、</a:t>
            </a:r>
            <a:r>
              <a:rPr kumimoji="1" 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  </a:t>
            </a:r>
            <a:r>
              <a:rPr kumimoji="1" lang="en-US" altLang="zh-CN"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8253</a:t>
            </a:r>
            <a:r>
              <a:rPr kumimoji="1" lang="zh-CN" alt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的初始化编程及应用</a:t>
            </a:r>
            <a:endPar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46082" name="内容占位符 2"/>
          <p:cNvSpPr>
            <a:spLocks noGrp="1"/>
          </p:cNvSpPr>
          <p:nvPr>
            <p:ph idx="1"/>
          </p:nvPr>
        </p:nvSpPr>
        <p:spPr>
          <a:xfrm>
            <a:off x="406400" y="1209675"/>
            <a:ext cx="8197850" cy="5470525"/>
          </a:xfrm>
          <a:ln/>
        </p:spPr>
        <p:txBody>
          <a:bodyPr wrap="square" lIns="92075" tIns="46038" rIns="92075" bIns="46038" anchor="t" anchorCtr="0"/>
          <a:lstStyle/>
          <a:p>
            <a:pPr>
              <a:buNone/>
            </a:pPr>
            <a:r>
              <a:rPr lang="zh-CN" altLang="en-US" sz="2400" dirty="0"/>
              <a:t>              </a:t>
            </a:r>
            <a:endParaRPr lang="en-US" altLang="zh-CN" sz="2400" dirty="0"/>
          </a:p>
          <a:p>
            <a:pPr>
              <a:lnSpc>
                <a:spcPts val="3200"/>
              </a:lnSpc>
              <a:buNone/>
            </a:pPr>
            <a:r>
              <a:rPr lang="en-US" altLang="zh-CN" sz="2400" dirty="0"/>
              <a:t>              </a:t>
            </a:r>
            <a:r>
              <a:rPr lang="zh-CN" altLang="en-US" sz="2400" dirty="0"/>
              <a:t>② 地址为</a:t>
            </a:r>
            <a:r>
              <a:rPr lang="en-US" altLang="zh-CN" sz="2400" i="1" dirty="0">
                <a:solidFill>
                  <a:srgbClr val="FF0000"/>
                </a:solidFill>
              </a:rPr>
              <a:t>41H</a:t>
            </a:r>
            <a:r>
              <a:rPr lang="zh-CN" altLang="en-US" sz="2400" dirty="0"/>
              <a:t>的</a:t>
            </a:r>
            <a:r>
              <a:rPr lang="zh-CN" altLang="en-US" sz="2400" i="1" dirty="0">
                <a:solidFill>
                  <a:srgbClr val="FF0000"/>
                </a:solidFill>
              </a:rPr>
              <a:t>计数通道</a:t>
            </a:r>
            <a:r>
              <a:rPr lang="en-US" altLang="zh-CN" sz="2400" i="1" dirty="0">
                <a:solidFill>
                  <a:srgbClr val="FF0000"/>
                </a:solidFill>
              </a:rPr>
              <a:t>1</a:t>
            </a:r>
            <a:r>
              <a:rPr lang="zh-CN" altLang="en-US" sz="2400" dirty="0"/>
              <a:t>用于</a:t>
            </a:r>
            <a:r>
              <a:rPr lang="zh-CN" altLang="en-US" sz="2400" i="1" dirty="0">
                <a:solidFill>
                  <a:srgbClr val="FFFF00"/>
                </a:solidFill>
              </a:rPr>
              <a:t>产生</a:t>
            </a:r>
            <a:r>
              <a:rPr lang="en-US" altLang="zh-CN" sz="2400" i="1" dirty="0">
                <a:solidFill>
                  <a:srgbClr val="FFFF00"/>
                </a:solidFill>
              </a:rPr>
              <a:t>DRAM</a:t>
            </a:r>
            <a:r>
              <a:rPr lang="zh-CN" altLang="en-US" sz="2400" i="1" dirty="0">
                <a:solidFill>
                  <a:srgbClr val="FFFF00"/>
                </a:solidFill>
              </a:rPr>
              <a:t>存储器系统刷新信号</a:t>
            </a:r>
            <a:r>
              <a:rPr lang="zh-CN" altLang="en-US" sz="2400" dirty="0"/>
              <a:t>，输出负脉冲序列的频率为</a:t>
            </a:r>
            <a:r>
              <a:rPr lang="en-US" altLang="zh-CN" sz="2400" i="1" dirty="0">
                <a:solidFill>
                  <a:srgbClr val="FF0000"/>
                </a:solidFill>
              </a:rPr>
              <a:t>68.2878 kHz</a:t>
            </a:r>
            <a:r>
              <a:rPr lang="zh-CN" altLang="en-US" sz="2400" dirty="0"/>
              <a:t>；</a:t>
            </a:r>
          </a:p>
          <a:p>
            <a:pPr>
              <a:lnSpc>
                <a:spcPts val="3200"/>
              </a:lnSpc>
              <a:buNone/>
            </a:pPr>
            <a:r>
              <a:rPr lang="zh-CN" altLang="en-US" sz="2400" dirty="0"/>
              <a:t>              ③ 地址为</a:t>
            </a:r>
            <a:r>
              <a:rPr lang="en-US" altLang="zh-CN" sz="2400" i="1" dirty="0">
                <a:solidFill>
                  <a:srgbClr val="FF0000"/>
                </a:solidFill>
              </a:rPr>
              <a:t>42H</a:t>
            </a:r>
            <a:r>
              <a:rPr lang="zh-CN" altLang="en-US" sz="2400" dirty="0"/>
              <a:t>的</a:t>
            </a:r>
            <a:r>
              <a:rPr lang="zh-CN" altLang="en-US" sz="2400" i="1" dirty="0">
                <a:solidFill>
                  <a:srgbClr val="FF0000"/>
                </a:solidFill>
              </a:rPr>
              <a:t>计数通道</a:t>
            </a:r>
            <a:r>
              <a:rPr lang="en-US" altLang="zh-CN" sz="2400" i="1" dirty="0">
                <a:solidFill>
                  <a:srgbClr val="FF0000"/>
                </a:solidFill>
              </a:rPr>
              <a:t>2</a:t>
            </a:r>
            <a:r>
              <a:rPr lang="zh-CN" altLang="en-US" sz="2400" dirty="0"/>
              <a:t>用于</a:t>
            </a:r>
            <a:r>
              <a:rPr lang="zh-CN" altLang="en-US" sz="2400" i="1" dirty="0">
                <a:solidFill>
                  <a:srgbClr val="FFFF00"/>
                </a:solidFill>
              </a:rPr>
              <a:t>为机内扬声器提供发声音调</a:t>
            </a:r>
            <a:r>
              <a:rPr lang="zh-CN" altLang="en-US" sz="2400" dirty="0"/>
              <a:t>，输出方波序列的频率约为</a:t>
            </a:r>
            <a:r>
              <a:rPr lang="en-US" altLang="zh-CN" sz="2400" i="1" dirty="0">
                <a:solidFill>
                  <a:srgbClr val="FF0000"/>
                </a:solidFill>
              </a:rPr>
              <a:t>100 Hz</a:t>
            </a:r>
            <a:r>
              <a:rPr lang="zh-CN" altLang="en-US" sz="2400" dirty="0"/>
              <a:t>。</a:t>
            </a:r>
            <a:endParaRPr lang="en-US" altLang="zh-CN" sz="2400" dirty="0"/>
          </a:p>
          <a:p>
            <a:pPr algn="just">
              <a:lnSpc>
                <a:spcPts val="3200"/>
              </a:lnSpc>
              <a:buNone/>
            </a:pPr>
            <a:r>
              <a:rPr lang="en-US" altLang="zh-CN" sz="2400" dirty="0"/>
              <a:t>              </a:t>
            </a:r>
            <a:r>
              <a:rPr lang="zh-CN" altLang="en-US" sz="2400" dirty="0"/>
              <a:t>任何一台</a:t>
            </a:r>
            <a:r>
              <a:rPr lang="en-US" altLang="zh-CN" sz="2400" dirty="0"/>
              <a:t>PC</a:t>
            </a:r>
            <a:r>
              <a:rPr lang="zh-CN" altLang="en-US" sz="2400" dirty="0"/>
              <a:t>都内含一只小型扬声器，用于发出各种信号音或报警声。</a:t>
            </a:r>
            <a:r>
              <a:rPr lang="zh-CN" altLang="en-US" sz="2400" dirty="0">
                <a:solidFill>
                  <a:schemeClr val="accent2"/>
                </a:solidFill>
              </a:rPr>
              <a:t>逻辑与门电路用于控制扬声器声音的通断，编程这一逻辑门就可以调整扬声器通断时间产生不同的声音效果</a:t>
            </a:r>
            <a:r>
              <a:rPr lang="zh-CN" altLang="en-US" sz="2400" dirty="0"/>
              <a:t>。逻辑与门由</a:t>
            </a:r>
            <a:r>
              <a:rPr lang="en-US" altLang="zh-CN" sz="2400" dirty="0"/>
              <a:t>8255A</a:t>
            </a:r>
            <a:r>
              <a:rPr lang="zh-CN" altLang="en-US" sz="2400" dirty="0"/>
              <a:t>端口</a:t>
            </a:r>
            <a:r>
              <a:rPr lang="en-US" altLang="zh-CN" sz="2400" dirty="0"/>
              <a:t>B</a:t>
            </a:r>
            <a:r>
              <a:rPr lang="zh-CN" altLang="en-US" sz="2400" dirty="0"/>
              <a:t>的</a:t>
            </a:r>
            <a:r>
              <a:rPr lang="en-US" altLang="zh-CN" sz="2400" dirty="0"/>
              <a:t>PB0</a:t>
            </a:r>
            <a:r>
              <a:rPr lang="zh-CN" altLang="en-US" sz="2400" dirty="0"/>
              <a:t>和</a:t>
            </a:r>
            <a:r>
              <a:rPr lang="en-US" altLang="zh-CN" sz="2400" dirty="0"/>
              <a:t>PB1</a:t>
            </a:r>
            <a:r>
              <a:rPr lang="zh-CN" altLang="en-US" sz="2400" dirty="0"/>
              <a:t>两位来控制，“</a:t>
            </a:r>
            <a:r>
              <a:rPr lang="en-US" altLang="zh-CN" sz="2400" dirty="0"/>
              <a:t>1</a:t>
            </a:r>
            <a:r>
              <a:rPr lang="zh-CN" altLang="en-US" sz="2400" dirty="0"/>
              <a:t>”接通、“</a:t>
            </a:r>
            <a:r>
              <a:rPr lang="en-US" altLang="zh-CN" sz="2400" dirty="0"/>
              <a:t>0</a:t>
            </a:r>
            <a:r>
              <a:rPr lang="zh-CN" altLang="en-US" sz="2400" dirty="0"/>
              <a:t>”关闭，该端口的地址为</a:t>
            </a:r>
            <a:r>
              <a:rPr lang="en-US" altLang="zh-CN" sz="2400" dirty="0"/>
              <a:t>61H</a:t>
            </a:r>
            <a:r>
              <a:rPr lang="zh-CN" altLang="en-US" sz="2400" dirty="0"/>
              <a:t>。由于端口</a:t>
            </a:r>
            <a:r>
              <a:rPr lang="en-US" altLang="zh-CN" sz="2400" dirty="0"/>
              <a:t>B</a:t>
            </a:r>
            <a:r>
              <a:rPr lang="zh-CN" altLang="en-US" sz="2400" dirty="0"/>
              <a:t>余下的</a:t>
            </a:r>
            <a:r>
              <a:rPr lang="en-US" altLang="zh-CN" sz="2400" dirty="0"/>
              <a:t>6</a:t>
            </a:r>
            <a:r>
              <a:rPr lang="zh-CN" altLang="en-US" sz="2400" dirty="0"/>
              <a:t>位还用作系统其他的控制，因此在编程中应注意保护这</a:t>
            </a:r>
            <a:r>
              <a:rPr lang="en-US" altLang="zh-CN" sz="2400" dirty="0"/>
              <a:t>6</a:t>
            </a:r>
            <a:r>
              <a:rPr lang="zh-CN" altLang="en-US" sz="2400" dirty="0"/>
              <a:t>位的状态不受任何影响。</a:t>
            </a:r>
          </a:p>
          <a:p>
            <a:pPr>
              <a:buNone/>
            </a:pPr>
            <a:endParaRPr lang="zh-CN" altLang="en-US" dirty="0"/>
          </a:p>
          <a:p>
            <a:pPr>
              <a:buNone/>
            </a:pPr>
            <a:endParaRPr lang="zh-CN" altLang="en-US" dirty="0"/>
          </a:p>
        </p:txBody>
      </p:sp>
    </p:spTree>
  </p:cSld>
  <p:clrMapOvr>
    <a:masterClrMapping/>
  </p:clrMapOvr>
  <p:transition spd="med">
    <p:random/>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四、</a:t>
            </a:r>
            <a:r>
              <a:rPr kumimoji="1" 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  </a:t>
            </a:r>
            <a:r>
              <a:rPr kumimoji="1" lang="en-US" altLang="zh-CN"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8253</a:t>
            </a:r>
            <a:r>
              <a:rPr kumimoji="1" lang="zh-CN" alt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的初始化编程及应用</a:t>
            </a:r>
            <a:endPar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47106" name="内容占位符 2"/>
          <p:cNvSpPr>
            <a:spLocks noGrp="1"/>
          </p:cNvSpPr>
          <p:nvPr>
            <p:ph idx="1"/>
          </p:nvPr>
        </p:nvSpPr>
        <p:spPr>
          <a:xfrm>
            <a:off x="577850" y="1387475"/>
            <a:ext cx="8197850" cy="5311775"/>
          </a:xfrm>
          <a:ln/>
        </p:spPr>
        <p:txBody>
          <a:bodyPr wrap="square" lIns="92075" tIns="46038" rIns="92075" bIns="46038" anchor="t" anchorCtr="0"/>
          <a:lstStyle/>
          <a:p>
            <a:pPr>
              <a:buNone/>
            </a:pPr>
            <a:r>
              <a:rPr lang="en-US" altLang="zh-CN" sz="2400" dirty="0"/>
              <a:t> </a:t>
            </a:r>
          </a:p>
          <a:p>
            <a:pPr>
              <a:buNone/>
            </a:pPr>
            <a:r>
              <a:rPr lang="en-US" altLang="zh-CN" sz="2400" dirty="0"/>
              <a:t>DATA  SEGMENT</a:t>
            </a:r>
            <a:endParaRPr lang="zh-CN" altLang="en-US" sz="2400" dirty="0"/>
          </a:p>
          <a:p>
            <a:pPr>
              <a:buNone/>
            </a:pPr>
            <a:r>
              <a:rPr lang="en-US" altLang="zh-CN" sz="2400" dirty="0"/>
              <a:t>    MESSAGE  DB   'Use 1 ... 8 to play the music!','$'</a:t>
            </a:r>
            <a:endParaRPr lang="zh-CN" altLang="en-US" sz="2400" dirty="0"/>
          </a:p>
          <a:p>
            <a:pPr>
              <a:buNone/>
            </a:pPr>
            <a:r>
              <a:rPr lang="en-US" altLang="zh-CN" sz="2400" dirty="0"/>
              <a:t>        FREQU  DW    262, 294, 330, 347, 392, 440, 494, 524 ; </a:t>
            </a:r>
          </a:p>
          <a:p>
            <a:pPr>
              <a:buNone/>
            </a:pPr>
            <a:r>
              <a:rPr lang="en-US" altLang="zh-CN" sz="2400" i="1" dirty="0">
                <a:solidFill>
                  <a:srgbClr val="FFFF00"/>
                </a:solidFill>
              </a:rPr>
              <a:t>                </a:t>
            </a:r>
            <a:r>
              <a:rPr lang="zh-CN" altLang="en-US" sz="2400" i="1" dirty="0">
                <a:solidFill>
                  <a:srgbClr val="FFFF00"/>
                </a:solidFill>
              </a:rPr>
              <a:t>不同频率对应的分频系数</a:t>
            </a:r>
          </a:p>
          <a:p>
            <a:pPr>
              <a:buNone/>
            </a:pPr>
            <a:r>
              <a:rPr lang="en-US" altLang="zh-CN" sz="2400" dirty="0"/>
              <a:t>DATA  ENDS</a:t>
            </a:r>
            <a:endParaRPr lang="zh-CN" altLang="en-US" sz="2400" dirty="0"/>
          </a:p>
          <a:p>
            <a:pPr>
              <a:buNone/>
            </a:pPr>
            <a:r>
              <a:rPr lang="en-US" altLang="zh-CN" sz="2400" dirty="0"/>
              <a:t>       CODE  SEGMENT</a:t>
            </a:r>
            <a:endParaRPr lang="zh-CN" altLang="en-US" sz="2400" dirty="0"/>
          </a:p>
          <a:p>
            <a:pPr>
              <a:buNone/>
            </a:pPr>
            <a:r>
              <a:rPr lang="en-US" altLang="zh-CN" sz="2400" dirty="0"/>
              <a:t>       ASSUME    CS:CODE, DS:DATA</a:t>
            </a:r>
            <a:endParaRPr lang="zh-CN" altLang="en-US" sz="2400" dirty="0"/>
          </a:p>
          <a:p>
            <a:pPr>
              <a:buNone/>
            </a:pPr>
            <a:r>
              <a:rPr lang="en-US" altLang="zh-CN" sz="2400" dirty="0"/>
              <a:t>START: MOV      AX, DATA</a:t>
            </a:r>
            <a:endParaRPr lang="zh-CN" altLang="en-US" sz="2400" dirty="0"/>
          </a:p>
          <a:p>
            <a:pPr>
              <a:buNone/>
            </a:pPr>
            <a:r>
              <a:rPr lang="en-US" altLang="zh-CN" sz="2400" dirty="0"/>
              <a:t>                MOV      DS, AX</a:t>
            </a:r>
            <a:endParaRPr lang="zh-CN" altLang="en-US" sz="2400" dirty="0"/>
          </a:p>
          <a:p>
            <a:pPr>
              <a:buNone/>
            </a:pPr>
            <a:r>
              <a:rPr lang="en-US" altLang="zh-CN" sz="2400" dirty="0"/>
              <a:t>                LEA       DX, MESSAGE</a:t>
            </a:r>
            <a:endParaRPr lang="zh-CN" altLang="en-US" sz="2400" dirty="0"/>
          </a:p>
          <a:p>
            <a:pPr>
              <a:buNone/>
            </a:pPr>
            <a:r>
              <a:rPr lang="en-US" altLang="zh-CN" sz="2400" dirty="0"/>
              <a:t>        </a:t>
            </a:r>
            <a:endParaRPr lang="zh-CN" altLang="en-US" dirty="0"/>
          </a:p>
        </p:txBody>
      </p:sp>
      <p:sp>
        <p:nvSpPr>
          <p:cNvPr id="5" name="矩形 4"/>
          <p:cNvSpPr/>
          <p:nvPr/>
        </p:nvSpPr>
        <p:spPr>
          <a:xfrm>
            <a:off x="262374" y="1398742"/>
            <a:ext cx="2659702" cy="535533"/>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marL="0" marR="0" lvl="0" indent="0" algn="ctr" defTabSz="914400" rtl="0" eaLnBrk="1" fontAlgn="base" latinLnBrk="0" hangingPunct="1">
              <a:lnSpc>
                <a:spcPct val="90000"/>
              </a:lnSpc>
              <a:spcBef>
                <a:spcPct val="20000"/>
              </a:spcBef>
              <a:spcAft>
                <a:spcPct val="0"/>
              </a:spcAft>
              <a:buClrTx/>
              <a:buSzTx/>
              <a:buFontTx/>
              <a:buNone/>
              <a:defRPr/>
            </a:pPr>
            <a:r>
              <a:rPr kumimoji="1" lang="en-US" altLang="zh-CN" sz="3200" b="1" i="0" u="none" strike="noStrike" kern="1200" cap="none" spc="0" normalizeH="0" baseline="0" noProof="0" dirty="0">
                <a:ln w="11430"/>
                <a:solidFill>
                  <a:srgbClr val="FF0000"/>
                </a:soli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a:t>
            </a:r>
            <a:r>
              <a:rPr kumimoji="1" lang="zh-CN" altLang="en-US" sz="3200" b="1" i="0" u="none" strike="noStrike" kern="1200" cap="none" spc="0" normalizeH="0" baseline="0" noProof="0" dirty="0">
                <a:ln w="11430"/>
                <a:solidFill>
                  <a:srgbClr val="FF0000"/>
                </a:soli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例题</a:t>
            </a:r>
            <a:r>
              <a:rPr kumimoji="1" lang="en-US" altLang="zh-CN" sz="3200" b="1" i="0" u="none" strike="noStrike" kern="1200" cap="none" spc="0" normalizeH="0" baseline="0" noProof="0" dirty="0">
                <a:ln w="11430"/>
                <a:solidFill>
                  <a:srgbClr val="FF0000"/>
                </a:soli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8.6】:</a:t>
            </a:r>
            <a:endParaRPr kumimoji="1" lang="zh-CN" altLang="en-US" sz="3200" b="1" i="0" u="none" strike="noStrike" kern="1200" cap="none" spc="0" normalizeH="0" baseline="0" noProof="0" dirty="0">
              <a:ln w="11430"/>
              <a:solidFill>
                <a:srgbClr val="FF0000"/>
              </a:soli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random/>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p:txBody>
          <a:bodyPr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四、</a:t>
            </a:r>
            <a:r>
              <a:rPr kumimoji="1" 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  </a:t>
            </a:r>
            <a:r>
              <a:rPr kumimoji="1" lang="en-US" altLang="zh-CN"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8253</a:t>
            </a:r>
            <a:r>
              <a:rPr kumimoji="1" lang="zh-CN" alt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的初始化编程及应用</a:t>
            </a:r>
            <a:endPar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48130" name="内容占位符 2"/>
          <p:cNvSpPr>
            <a:spLocks noGrp="1"/>
          </p:cNvSpPr>
          <p:nvPr>
            <p:ph idx="1"/>
          </p:nvPr>
        </p:nvSpPr>
        <p:spPr>
          <a:xfrm>
            <a:off x="577850" y="1387475"/>
            <a:ext cx="8197850" cy="5272088"/>
          </a:xfrm>
          <a:ln/>
        </p:spPr>
        <p:txBody>
          <a:bodyPr wrap="square" lIns="92075" tIns="46038" rIns="92075" bIns="46038" anchor="t" anchorCtr="0"/>
          <a:lstStyle/>
          <a:p>
            <a:pPr>
              <a:lnSpc>
                <a:spcPts val="3000"/>
              </a:lnSpc>
              <a:buNone/>
            </a:pPr>
            <a:r>
              <a:rPr lang="en-US" altLang="zh-CN" sz="2000" dirty="0"/>
              <a:t>                MOV      AH, 09H</a:t>
            </a:r>
            <a:endParaRPr lang="zh-CN" altLang="en-US" sz="2000" dirty="0"/>
          </a:p>
          <a:p>
            <a:pPr>
              <a:lnSpc>
                <a:spcPts val="3000"/>
              </a:lnSpc>
              <a:buNone/>
            </a:pPr>
            <a:r>
              <a:rPr lang="en-US" altLang="zh-CN" sz="2000" dirty="0"/>
              <a:t>                INT       21H              ; </a:t>
            </a:r>
            <a:r>
              <a:rPr lang="zh-CN" altLang="en-US" sz="2000" i="1" dirty="0">
                <a:solidFill>
                  <a:srgbClr val="FFFF00"/>
                </a:solidFill>
              </a:rPr>
              <a:t>显示</a:t>
            </a:r>
            <a:r>
              <a:rPr lang="en-US" altLang="zh-CN" sz="2000" i="1" dirty="0">
                <a:solidFill>
                  <a:srgbClr val="FFFF00"/>
                </a:solidFill>
              </a:rPr>
              <a:t>MESSAGE</a:t>
            </a:r>
            <a:r>
              <a:rPr lang="zh-CN" altLang="en-US" sz="2000" i="1" dirty="0">
                <a:solidFill>
                  <a:srgbClr val="FFFF00"/>
                </a:solidFill>
              </a:rPr>
              <a:t>缓冲器中的字符串</a:t>
            </a:r>
            <a:r>
              <a:rPr lang="en-US" altLang="zh-CN" sz="2000" i="1" dirty="0">
                <a:solidFill>
                  <a:srgbClr val="FFFF00"/>
                </a:solidFill>
              </a:rPr>
              <a:t> </a:t>
            </a:r>
            <a:endParaRPr lang="zh-CN" altLang="en-US" sz="2000" i="1" dirty="0">
              <a:solidFill>
                <a:srgbClr val="FFFF00"/>
              </a:solidFill>
            </a:endParaRPr>
          </a:p>
          <a:p>
            <a:pPr>
              <a:lnSpc>
                <a:spcPts val="3000"/>
              </a:lnSpc>
              <a:buNone/>
            </a:pPr>
            <a:r>
              <a:rPr lang="en-US" altLang="zh-CN" sz="2000" dirty="0"/>
              <a:t>               MOV      AL, 10110110B    ; </a:t>
            </a:r>
            <a:r>
              <a:rPr lang="zh-CN" altLang="en-US" sz="2000" i="1" dirty="0">
                <a:solidFill>
                  <a:srgbClr val="FFFF00"/>
                </a:solidFill>
              </a:rPr>
              <a:t>选择工作方式</a:t>
            </a:r>
            <a:r>
              <a:rPr lang="en-US" altLang="zh-CN" sz="2000" i="1" dirty="0">
                <a:solidFill>
                  <a:srgbClr val="FFFF00"/>
                </a:solidFill>
              </a:rPr>
              <a:t>3</a:t>
            </a:r>
            <a:r>
              <a:rPr lang="zh-CN" altLang="en-US" sz="2000" i="1" dirty="0">
                <a:solidFill>
                  <a:srgbClr val="FFFF00"/>
                </a:solidFill>
              </a:rPr>
              <a:t>，使用计数器</a:t>
            </a:r>
            <a:r>
              <a:rPr lang="en-US" altLang="zh-CN" sz="2000" i="1" dirty="0">
                <a:solidFill>
                  <a:srgbClr val="FFFF00"/>
                </a:solidFill>
              </a:rPr>
              <a:t>2</a:t>
            </a:r>
            <a:endParaRPr lang="zh-CN" altLang="en-US" sz="2000" i="1" dirty="0">
              <a:solidFill>
                <a:srgbClr val="FFFF00"/>
              </a:solidFill>
            </a:endParaRPr>
          </a:p>
          <a:p>
            <a:pPr>
              <a:lnSpc>
                <a:spcPts val="3000"/>
              </a:lnSpc>
              <a:buNone/>
            </a:pPr>
            <a:r>
              <a:rPr lang="en-US" altLang="zh-CN" sz="2000" dirty="0"/>
              <a:t>               OUT      43H, AL        ; </a:t>
            </a:r>
            <a:r>
              <a:rPr lang="zh-CN" altLang="en-US" sz="2000" i="1" dirty="0">
                <a:solidFill>
                  <a:srgbClr val="FFFF00"/>
                </a:solidFill>
              </a:rPr>
              <a:t>通过</a:t>
            </a:r>
            <a:r>
              <a:rPr lang="en-US" altLang="zh-CN" sz="2000" i="1" dirty="0">
                <a:solidFill>
                  <a:srgbClr val="FFFF00"/>
                </a:solidFill>
              </a:rPr>
              <a:t>AL</a:t>
            </a:r>
            <a:r>
              <a:rPr lang="zh-CN" altLang="en-US" sz="2000" i="1" dirty="0">
                <a:solidFill>
                  <a:srgbClr val="FFFF00"/>
                </a:solidFill>
              </a:rPr>
              <a:t>将控制字写入</a:t>
            </a:r>
            <a:r>
              <a:rPr lang="en-US" altLang="zh-CN" sz="2000" i="1" dirty="0">
                <a:solidFill>
                  <a:srgbClr val="FFFF00"/>
                </a:solidFill>
              </a:rPr>
              <a:t>43H</a:t>
            </a:r>
            <a:r>
              <a:rPr lang="zh-CN" altLang="en-US" sz="2000" i="1" dirty="0">
                <a:solidFill>
                  <a:srgbClr val="FFFF00"/>
                </a:solidFill>
              </a:rPr>
              <a:t>端口</a:t>
            </a:r>
            <a:r>
              <a:rPr lang="en-US" altLang="zh-CN" sz="2000" i="1" dirty="0">
                <a:solidFill>
                  <a:srgbClr val="FFFF00"/>
                </a:solidFill>
              </a:rPr>
              <a:t> </a:t>
            </a:r>
            <a:endParaRPr lang="zh-CN" altLang="en-US" sz="2000" i="1" dirty="0">
              <a:solidFill>
                <a:srgbClr val="FFFF00"/>
              </a:solidFill>
            </a:endParaRPr>
          </a:p>
          <a:p>
            <a:pPr>
              <a:lnSpc>
                <a:spcPts val="3000"/>
              </a:lnSpc>
              <a:buNone/>
            </a:pPr>
            <a:r>
              <a:rPr lang="en-US" altLang="zh-CN" sz="2000" i="1" dirty="0">
                <a:solidFill>
                  <a:srgbClr val="FF0000"/>
                </a:solidFill>
              </a:rPr>
              <a:t> NEXT: </a:t>
            </a:r>
            <a:r>
              <a:rPr lang="en-US" altLang="zh-CN" sz="2000" dirty="0"/>
              <a:t>MOV     AH, 7             </a:t>
            </a:r>
            <a:endParaRPr lang="zh-CN" altLang="en-US" sz="2000" dirty="0"/>
          </a:p>
          <a:p>
            <a:pPr>
              <a:lnSpc>
                <a:spcPts val="3000"/>
              </a:lnSpc>
              <a:buNone/>
            </a:pPr>
            <a:r>
              <a:rPr lang="en-US" altLang="zh-CN" sz="2000" dirty="0"/>
              <a:t>                INT       21H               ; </a:t>
            </a:r>
            <a:r>
              <a:rPr lang="zh-CN" altLang="en-US" sz="2000" i="1" dirty="0">
                <a:solidFill>
                  <a:srgbClr val="FFFF00"/>
                </a:solidFill>
              </a:rPr>
              <a:t>键盘输入无回显</a:t>
            </a:r>
          </a:p>
          <a:p>
            <a:pPr>
              <a:lnSpc>
                <a:spcPts val="3000"/>
              </a:lnSpc>
              <a:buNone/>
            </a:pPr>
            <a:r>
              <a:rPr lang="zh-CN" altLang="en-US" sz="2000" dirty="0"/>
              <a:t>             </a:t>
            </a:r>
            <a:r>
              <a:rPr lang="it-IT" altLang="zh-CN" sz="2000" dirty="0"/>
              <a:t>   CMP       AL, '1'</a:t>
            </a:r>
            <a:endParaRPr lang="zh-CN" altLang="en-US" sz="2000" dirty="0"/>
          </a:p>
          <a:p>
            <a:pPr>
              <a:lnSpc>
                <a:spcPts val="3000"/>
              </a:lnSpc>
              <a:buNone/>
            </a:pPr>
            <a:r>
              <a:rPr lang="it-IT" altLang="zh-CN" sz="2000" dirty="0"/>
              <a:t>                </a:t>
            </a:r>
            <a:r>
              <a:rPr lang="pt-BR" altLang="zh-CN" sz="2000" dirty="0"/>
              <a:t>JB        EXIT                     </a:t>
            </a:r>
          </a:p>
          <a:p>
            <a:pPr>
              <a:lnSpc>
                <a:spcPts val="3000"/>
              </a:lnSpc>
              <a:buNone/>
            </a:pPr>
            <a:r>
              <a:rPr lang="pt-BR" altLang="zh-CN" sz="2000" dirty="0"/>
              <a:t>                CMP       AL, '8'</a:t>
            </a:r>
            <a:endParaRPr lang="zh-CN" altLang="en-US" sz="2000" dirty="0"/>
          </a:p>
          <a:p>
            <a:pPr>
              <a:lnSpc>
                <a:spcPts val="3000"/>
              </a:lnSpc>
              <a:buNone/>
            </a:pPr>
            <a:r>
              <a:rPr lang="pt-BR" altLang="zh-CN" sz="2000" dirty="0"/>
              <a:t>                JA        EXIT               ;</a:t>
            </a:r>
            <a:r>
              <a:rPr lang="zh-CN" altLang="en-US" sz="2000" i="1" dirty="0">
                <a:solidFill>
                  <a:srgbClr val="FFFF00"/>
                </a:solidFill>
              </a:rPr>
              <a:t>输入字符非</a:t>
            </a:r>
            <a:r>
              <a:rPr lang="en-US" altLang="zh-CN" sz="2000" i="1" dirty="0">
                <a:solidFill>
                  <a:srgbClr val="FFFF00"/>
                </a:solidFill>
              </a:rPr>
              <a:t>1~8</a:t>
            </a:r>
            <a:r>
              <a:rPr lang="zh-CN" altLang="en-US" sz="2000" i="1" dirty="0">
                <a:solidFill>
                  <a:srgbClr val="FFFF00"/>
                </a:solidFill>
              </a:rPr>
              <a:t>的数字键则退出程序</a:t>
            </a:r>
          </a:p>
          <a:p>
            <a:pPr>
              <a:buNone/>
            </a:pPr>
            <a:endParaRPr lang="zh-CN" altLang="en-US" sz="2000" dirty="0"/>
          </a:p>
        </p:txBody>
      </p:sp>
      <p:sp>
        <p:nvSpPr>
          <p:cNvPr id="4" name="矩形 3"/>
          <p:cNvSpPr/>
          <p:nvPr/>
        </p:nvSpPr>
        <p:spPr>
          <a:xfrm>
            <a:off x="581961" y="1368928"/>
            <a:ext cx="1197143" cy="537210"/>
          </a:xfrm>
          <a:prstGeom prst="rect">
            <a:avLst/>
          </a:prstGeom>
          <a:noFill/>
        </p:spPr>
        <p:txBody>
          <a:bodyPr>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marL="0" marR="0" lvl="0" indent="0" algn="ctr" defTabSz="914400" rtl="0" eaLnBrk="1" fontAlgn="base" latinLnBrk="0" hangingPunct="1">
              <a:lnSpc>
                <a:spcPct val="90000"/>
              </a:lnSpc>
              <a:spcBef>
                <a:spcPct val="20000"/>
              </a:spcBef>
              <a:spcAft>
                <a:spcPct val="0"/>
              </a:spcAft>
              <a:buClrTx/>
              <a:buSzTx/>
              <a:buFontTx/>
              <a:buNone/>
              <a:defRPr/>
            </a:pPr>
            <a:r>
              <a:rPr kumimoji="1" lang="zh-CN" altLang="en-US" sz="3200" b="1" i="0" u="none" strike="noStrike" kern="1200" cap="all" spc="0" normalizeH="0" baseline="0" noProof="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uLnTx/>
                <a:uFillTx/>
                <a:latin typeface="宋体" panose="02010600030101010101" pitchFamily="2" charset="-122"/>
                <a:ea typeface="宋体" panose="02010600030101010101" pitchFamily="2" charset="-122"/>
                <a:cs typeface="+mn-cs"/>
              </a:rPr>
              <a:t>续：</a:t>
            </a:r>
            <a:r>
              <a:rPr kumimoji="1" lang="en-US" altLang="zh-CN" sz="3200" b="1" i="0" u="none" strike="noStrike" kern="1200" cap="all" spc="0" normalizeH="0" baseline="0" noProof="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uLnTx/>
                <a:uFillTx/>
                <a:latin typeface="宋体" panose="02010600030101010101" pitchFamily="2" charset="-122"/>
                <a:ea typeface="宋体" panose="02010600030101010101" pitchFamily="2" charset="-122"/>
                <a:cs typeface="+mn-cs"/>
              </a:rPr>
              <a:t>  </a:t>
            </a:r>
            <a:endParaRPr kumimoji="1" lang="zh-CN" altLang="en-US" sz="3200" b="1" i="0" u="none" strike="noStrike" kern="1200" cap="all" spc="0" normalizeH="0" baseline="0" noProof="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random/>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p:txBody>
          <a:bodyPr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四、</a:t>
            </a:r>
            <a:r>
              <a:rPr kumimoji="1" 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  </a:t>
            </a:r>
            <a:r>
              <a:rPr kumimoji="1" lang="en-US" altLang="zh-CN"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8253</a:t>
            </a:r>
            <a:r>
              <a:rPr kumimoji="1" lang="zh-CN" alt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的初始化编程及应用</a:t>
            </a:r>
            <a:endPar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49154" name="内容占位符 2"/>
          <p:cNvSpPr>
            <a:spLocks noGrp="1"/>
          </p:cNvSpPr>
          <p:nvPr>
            <p:ph idx="1"/>
          </p:nvPr>
        </p:nvSpPr>
        <p:spPr>
          <a:ln/>
        </p:spPr>
        <p:txBody>
          <a:bodyPr wrap="square" lIns="92075" tIns="46038" rIns="92075" bIns="46038" anchor="t" anchorCtr="0"/>
          <a:lstStyle/>
          <a:p>
            <a:pPr>
              <a:buNone/>
            </a:pPr>
            <a:r>
              <a:rPr lang="en-US" altLang="zh-CN" sz="2000" dirty="0"/>
              <a:t>      </a:t>
            </a:r>
          </a:p>
          <a:p>
            <a:pPr>
              <a:buNone/>
            </a:pPr>
            <a:r>
              <a:rPr lang="en-US" altLang="zh-CN" sz="2000" dirty="0"/>
              <a:t>         </a:t>
            </a:r>
            <a:r>
              <a:rPr lang="en-US" altLang="zh-CN" sz="2400" dirty="0"/>
              <a:t>SUB       AL, 30H           ; </a:t>
            </a:r>
            <a:r>
              <a:rPr lang="zh-CN" altLang="en-US" sz="2400" i="1" dirty="0">
                <a:solidFill>
                  <a:srgbClr val="FFFF00"/>
                </a:solidFill>
              </a:rPr>
              <a:t>数字</a:t>
            </a:r>
            <a:r>
              <a:rPr lang="en-US" altLang="zh-CN" sz="2400" i="1" dirty="0">
                <a:solidFill>
                  <a:srgbClr val="FFFF00"/>
                </a:solidFill>
              </a:rPr>
              <a:t>1~8</a:t>
            </a:r>
            <a:r>
              <a:rPr lang="zh-CN" altLang="en-US" sz="2400" i="1" dirty="0">
                <a:solidFill>
                  <a:srgbClr val="FFFF00"/>
                </a:solidFill>
              </a:rPr>
              <a:t>的</a:t>
            </a:r>
            <a:r>
              <a:rPr lang="en-US" altLang="zh-CN" sz="2400" i="1" dirty="0">
                <a:solidFill>
                  <a:srgbClr val="FFFF00"/>
                </a:solidFill>
              </a:rPr>
              <a:t>ASCII</a:t>
            </a:r>
            <a:r>
              <a:rPr lang="zh-CN" altLang="en-US" sz="2400" i="1" dirty="0">
                <a:solidFill>
                  <a:srgbClr val="FFFF00"/>
                </a:solidFill>
              </a:rPr>
              <a:t>减去</a:t>
            </a:r>
            <a:r>
              <a:rPr lang="en-US" altLang="zh-CN" sz="2400" i="1" dirty="0">
                <a:solidFill>
                  <a:srgbClr val="FFFF00"/>
                </a:solidFill>
              </a:rPr>
              <a:t>30H          </a:t>
            </a:r>
            <a:endParaRPr lang="zh-CN" altLang="en-US" sz="2400" i="1" dirty="0">
              <a:solidFill>
                <a:srgbClr val="FFFF00"/>
              </a:solidFill>
            </a:endParaRPr>
          </a:p>
          <a:p>
            <a:pPr>
              <a:buNone/>
            </a:pPr>
            <a:r>
              <a:rPr lang="en-US" altLang="zh-CN" sz="2400" dirty="0"/>
              <a:t>        MOV      AH, 0</a:t>
            </a:r>
            <a:endParaRPr lang="zh-CN" altLang="en-US" sz="2400" dirty="0"/>
          </a:p>
          <a:p>
            <a:pPr>
              <a:buNone/>
            </a:pPr>
            <a:r>
              <a:rPr lang="en-US" altLang="zh-CN" sz="2400" dirty="0"/>
              <a:t>        MOV      BX, AX</a:t>
            </a:r>
            <a:endParaRPr lang="zh-CN" altLang="en-US" sz="2400" dirty="0"/>
          </a:p>
          <a:p>
            <a:pPr>
              <a:buNone/>
            </a:pPr>
            <a:r>
              <a:rPr lang="en-US" altLang="zh-CN" sz="2400" dirty="0"/>
              <a:t>        SUB       BX, 1</a:t>
            </a:r>
            <a:endParaRPr lang="zh-CN" altLang="en-US" sz="2400" dirty="0"/>
          </a:p>
          <a:p>
            <a:pPr>
              <a:buNone/>
            </a:pPr>
            <a:r>
              <a:rPr lang="en-US" altLang="zh-CN" sz="2400" dirty="0"/>
              <a:t>         SHL       BX, 1               ; </a:t>
            </a:r>
            <a:r>
              <a:rPr lang="zh-CN" altLang="en-US" sz="2400" i="1" dirty="0">
                <a:solidFill>
                  <a:srgbClr val="FFFF00"/>
                </a:solidFill>
              </a:rPr>
              <a:t>计算分频系数的偏移地址</a:t>
            </a:r>
            <a:r>
              <a:rPr lang="en-US" altLang="zh-CN" sz="2400" i="1" dirty="0">
                <a:solidFill>
                  <a:srgbClr val="FFFF00"/>
                </a:solidFill>
              </a:rPr>
              <a:t>             </a:t>
            </a:r>
            <a:endParaRPr lang="zh-CN" altLang="en-US" sz="2400" i="1" dirty="0">
              <a:solidFill>
                <a:srgbClr val="FFFF00"/>
              </a:solidFill>
            </a:endParaRPr>
          </a:p>
          <a:p>
            <a:pPr>
              <a:buNone/>
            </a:pPr>
            <a:r>
              <a:rPr lang="en-US" altLang="zh-CN" sz="2400" dirty="0"/>
              <a:t>         MOV       CX, FREQU[BX]   ; </a:t>
            </a:r>
            <a:r>
              <a:rPr lang="zh-CN" altLang="en-US" sz="2400" i="1" dirty="0">
                <a:solidFill>
                  <a:srgbClr val="FFFF00"/>
                </a:solidFill>
              </a:rPr>
              <a:t>取出频率值</a:t>
            </a:r>
          </a:p>
          <a:p>
            <a:pPr>
              <a:buNone/>
            </a:pPr>
            <a:r>
              <a:rPr lang="en-US" altLang="zh-CN" sz="2400" dirty="0"/>
              <a:t>         MOV       AX, 34DCH</a:t>
            </a:r>
            <a:endParaRPr lang="zh-CN" altLang="en-US" sz="2400" dirty="0"/>
          </a:p>
          <a:p>
            <a:pPr>
              <a:buNone/>
            </a:pPr>
            <a:r>
              <a:rPr lang="en-US" altLang="zh-CN" sz="2400" dirty="0"/>
              <a:t>         </a:t>
            </a:r>
            <a:r>
              <a:rPr lang="pt-BR" altLang="zh-CN" sz="2400" dirty="0"/>
              <a:t>MOV       DX, 12H  ;</a:t>
            </a:r>
            <a:r>
              <a:rPr lang="pt-BR" altLang="zh-CN" sz="2400" i="1" dirty="0">
                <a:solidFill>
                  <a:srgbClr val="FFFF00"/>
                </a:solidFill>
              </a:rPr>
              <a:t>DX:AX=1234DCH=1193180 Hz</a:t>
            </a:r>
            <a:r>
              <a:rPr lang="zh-CN" altLang="en-US" sz="2400" i="1" dirty="0">
                <a:solidFill>
                  <a:srgbClr val="FFFF00"/>
                </a:solidFill>
              </a:rPr>
              <a:t>时钟</a:t>
            </a:r>
          </a:p>
          <a:p>
            <a:pPr>
              <a:buNone/>
            </a:pPr>
            <a:r>
              <a:rPr lang="pt-BR" altLang="zh-CN" sz="2400" dirty="0"/>
              <a:t>     </a:t>
            </a:r>
            <a:endParaRPr lang="zh-CN" altLang="en-US" sz="2400" dirty="0"/>
          </a:p>
          <a:p>
            <a:pPr>
              <a:buNone/>
            </a:pPr>
            <a:endParaRPr lang="zh-CN" altLang="en-US" sz="2400" dirty="0"/>
          </a:p>
        </p:txBody>
      </p:sp>
    </p:spTree>
  </p:cSld>
  <p:clrMapOvr>
    <a:masterClrMapping/>
  </p:clrMapOvr>
  <p:transition spd="med">
    <p:random/>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p:txBody>
          <a:bodyPr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四、</a:t>
            </a:r>
            <a:r>
              <a:rPr kumimoji="1" 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  </a:t>
            </a:r>
            <a:r>
              <a:rPr kumimoji="1" lang="en-US" altLang="zh-CN"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8253</a:t>
            </a:r>
            <a:r>
              <a:rPr kumimoji="1" lang="zh-CN" alt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的初始化编程及应用</a:t>
            </a:r>
            <a:endPar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50178" name="内容占位符 2"/>
          <p:cNvSpPr>
            <a:spLocks noGrp="1"/>
          </p:cNvSpPr>
          <p:nvPr>
            <p:ph idx="1"/>
          </p:nvPr>
        </p:nvSpPr>
        <p:spPr>
          <a:ln/>
        </p:spPr>
        <p:txBody>
          <a:bodyPr wrap="square" lIns="92075" tIns="46038" rIns="92075" bIns="46038" anchor="t" anchorCtr="0"/>
          <a:lstStyle/>
          <a:p>
            <a:pPr>
              <a:buNone/>
            </a:pPr>
            <a:r>
              <a:rPr lang="pt-BR" altLang="zh-CN" dirty="0"/>
              <a:t>     </a:t>
            </a:r>
            <a:r>
              <a:rPr lang="en-US" altLang="zh-CN" sz="2400" dirty="0"/>
              <a:t>DIV       CX                    </a:t>
            </a:r>
            <a:r>
              <a:rPr lang="en-US" altLang="zh-CN" sz="2400" dirty="0">
                <a:solidFill>
                  <a:srgbClr val="FFFF00"/>
                </a:solidFill>
              </a:rPr>
              <a:t>  ; </a:t>
            </a:r>
            <a:r>
              <a:rPr lang="en-US" altLang="zh-CN" sz="2400" i="1" dirty="0">
                <a:solidFill>
                  <a:srgbClr val="FFFF00"/>
                </a:solidFill>
              </a:rPr>
              <a:t>(DXAX)/CX的商→AX</a:t>
            </a:r>
          </a:p>
          <a:p>
            <a:pPr>
              <a:buNone/>
            </a:pPr>
            <a:r>
              <a:rPr lang="en-US" altLang="zh-CN" sz="2400" dirty="0"/>
              <a:t>      MOV       BX, AX     </a:t>
            </a:r>
            <a:endParaRPr lang="zh-CN" altLang="en-US" sz="2400" dirty="0"/>
          </a:p>
          <a:p>
            <a:pPr>
              <a:buNone/>
            </a:pPr>
            <a:r>
              <a:rPr lang="en-US" altLang="zh-CN" sz="2400" dirty="0"/>
              <a:t>      OUT       42H, AL         </a:t>
            </a:r>
            <a:r>
              <a:rPr lang="en-US" altLang="zh-CN" sz="2400" dirty="0">
                <a:solidFill>
                  <a:srgbClr val="FFFF00"/>
                </a:solidFill>
              </a:rPr>
              <a:t>   ; </a:t>
            </a:r>
            <a:r>
              <a:rPr lang="en-US" altLang="zh-CN" sz="2400" i="1" dirty="0">
                <a:solidFill>
                  <a:srgbClr val="FFFF00"/>
                </a:solidFill>
              </a:rPr>
              <a:t>商的低8位送入计数通道2</a:t>
            </a:r>
          </a:p>
          <a:p>
            <a:pPr>
              <a:buNone/>
            </a:pPr>
            <a:r>
              <a:rPr lang="en-US" altLang="zh-CN" sz="2400" dirty="0"/>
              <a:t>      MOV       AL, AH</a:t>
            </a:r>
            <a:endParaRPr lang="zh-CN" altLang="en-US" sz="2400" dirty="0"/>
          </a:p>
          <a:p>
            <a:pPr>
              <a:buNone/>
            </a:pPr>
            <a:r>
              <a:rPr lang="en-US" altLang="zh-CN" sz="2400" dirty="0"/>
              <a:t>      OUT       42H, AL           </a:t>
            </a:r>
            <a:r>
              <a:rPr lang="en-US" altLang="zh-CN" sz="2400" dirty="0">
                <a:solidFill>
                  <a:srgbClr val="FFFF00"/>
                </a:solidFill>
              </a:rPr>
              <a:t> ; </a:t>
            </a:r>
            <a:r>
              <a:rPr lang="en-US" altLang="zh-CN" sz="2400" i="1" dirty="0">
                <a:solidFill>
                  <a:srgbClr val="FFFF00"/>
                </a:solidFill>
              </a:rPr>
              <a:t>商的高8位送入计数通道2</a:t>
            </a:r>
            <a:r>
              <a:rPr lang="en-US" altLang="zh-CN" sz="2400" dirty="0">
                <a:solidFill>
                  <a:srgbClr val="FFFF00"/>
                </a:solidFill>
              </a:rPr>
              <a:t> </a:t>
            </a:r>
            <a:endParaRPr lang="zh-CN" altLang="en-US" sz="2400" dirty="0">
              <a:solidFill>
                <a:srgbClr val="FFFF00"/>
              </a:solidFill>
            </a:endParaRPr>
          </a:p>
          <a:p>
            <a:pPr>
              <a:buNone/>
            </a:pPr>
            <a:r>
              <a:rPr lang="en-US" altLang="zh-CN" sz="2400" dirty="0"/>
              <a:t>      IN        AL, 61H       </a:t>
            </a:r>
            <a:r>
              <a:rPr lang="en-US" altLang="zh-CN" sz="2400" dirty="0">
                <a:solidFill>
                  <a:srgbClr val="FFFF00"/>
                </a:solidFill>
              </a:rPr>
              <a:t>; </a:t>
            </a:r>
            <a:r>
              <a:rPr lang="en-US" altLang="zh-CN" sz="2400" i="1" dirty="0">
                <a:solidFill>
                  <a:srgbClr val="FFFF00"/>
                </a:solidFill>
              </a:rPr>
              <a:t>读取8255的状态，以控制PB0和PB1</a:t>
            </a:r>
          </a:p>
          <a:p>
            <a:pPr>
              <a:buNone/>
            </a:pPr>
            <a:r>
              <a:rPr lang="en-US" altLang="zh-CN" sz="2400" dirty="0"/>
              <a:t>      OR        AL, 03H           </a:t>
            </a:r>
            <a:r>
              <a:rPr lang="en-US" altLang="zh-CN" sz="2400" dirty="0">
                <a:solidFill>
                  <a:srgbClr val="FFFF00"/>
                </a:solidFill>
              </a:rPr>
              <a:t>   ; </a:t>
            </a:r>
            <a:r>
              <a:rPr lang="en-US" altLang="zh-CN" sz="2400" i="1" dirty="0">
                <a:solidFill>
                  <a:srgbClr val="FFFF00"/>
                </a:solidFill>
              </a:rPr>
              <a:t>把PB0和PB1置1    </a:t>
            </a:r>
            <a:r>
              <a:rPr lang="en-US" altLang="zh-CN" sz="2400" dirty="0">
                <a:solidFill>
                  <a:srgbClr val="FFFF00"/>
                </a:solidFill>
              </a:rPr>
              <a:t>      </a:t>
            </a:r>
            <a:r>
              <a:rPr lang="en-US" altLang="zh-CN" sz="2400" dirty="0"/>
              <a:t> </a:t>
            </a:r>
            <a:endParaRPr lang="zh-CN" altLang="en-US" sz="2400" dirty="0"/>
          </a:p>
          <a:p>
            <a:pPr>
              <a:buNone/>
            </a:pPr>
            <a:r>
              <a:rPr lang="en-US" altLang="zh-CN" sz="2400" dirty="0"/>
              <a:t>       OUT       61H, AL         </a:t>
            </a:r>
            <a:r>
              <a:rPr lang="en-US" altLang="zh-CN" sz="2400" dirty="0">
                <a:solidFill>
                  <a:srgbClr val="FFFF00"/>
                </a:solidFill>
              </a:rPr>
              <a:t>  ; </a:t>
            </a:r>
            <a:r>
              <a:rPr lang="en-US" altLang="zh-CN" sz="2400" i="1" dirty="0">
                <a:solidFill>
                  <a:srgbClr val="FFFF00"/>
                </a:solidFill>
              </a:rPr>
              <a:t>使扬声器发声</a:t>
            </a:r>
          </a:p>
        </p:txBody>
      </p:sp>
    </p:spTree>
  </p:cSld>
  <p:clrMapOvr>
    <a:masterClrMapping/>
  </p:clrMapOvr>
  <p:transition spd="med">
    <p:random/>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四、</a:t>
            </a:r>
            <a:r>
              <a:rPr kumimoji="1" 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  </a:t>
            </a:r>
            <a:r>
              <a:rPr kumimoji="1" lang="en-US" altLang="zh-CN"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8253</a:t>
            </a:r>
            <a:r>
              <a:rPr kumimoji="1" lang="zh-CN" altLang="en-US" sz="3200" b="1" i="1" u="none" strike="noStrike" kern="0" cap="none" spc="0" normalizeH="0" baseline="0" noProof="0" dirty="0">
                <a:ln>
                  <a:noFill/>
                </a:ln>
                <a:solidFill>
                  <a:schemeClr val="accent6"/>
                </a:solidFill>
                <a:effectLst>
                  <a:outerShdw blurRad="38100" dist="38100" dir="2700000" algn="tl">
                    <a:srgbClr val="000000"/>
                  </a:outerShdw>
                </a:effectLst>
                <a:uLnTx/>
                <a:uFillTx/>
                <a:latin typeface="+mj-lt"/>
                <a:ea typeface="+mj-ea"/>
                <a:cs typeface="+mj-cs"/>
              </a:rPr>
              <a:t>的初始化编程及应用</a:t>
            </a:r>
            <a:endPar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51202" name="内容占位符 2"/>
          <p:cNvSpPr>
            <a:spLocks noGrp="1"/>
          </p:cNvSpPr>
          <p:nvPr>
            <p:ph idx="1"/>
          </p:nvPr>
        </p:nvSpPr>
        <p:spPr>
          <a:ln/>
        </p:spPr>
        <p:txBody>
          <a:bodyPr wrap="square" lIns="92075" tIns="46038" rIns="92075" bIns="46038" anchor="t" anchorCtr="0"/>
          <a:lstStyle/>
          <a:p>
            <a:pPr algn="just">
              <a:buNone/>
            </a:pPr>
            <a:r>
              <a:rPr lang="en-US" altLang="zh-CN" sz="2000" dirty="0"/>
              <a:t>    MOV       CX, 0FFFFH</a:t>
            </a:r>
            <a:endParaRPr lang="zh-CN" altLang="en-US" sz="2000" dirty="0"/>
          </a:p>
          <a:p>
            <a:pPr algn="just">
              <a:buNone/>
            </a:pPr>
            <a:r>
              <a:rPr lang="en-US" altLang="zh-CN" sz="2000" dirty="0"/>
              <a:t>      DELAY: MOV      DX, 1000H          ;</a:t>
            </a:r>
            <a:r>
              <a:rPr lang="zh-CN" altLang="en-US" sz="2000" i="1" dirty="0">
                <a:solidFill>
                  <a:srgbClr val="FFFF00"/>
                </a:solidFill>
              </a:rPr>
              <a:t>延时时间参数</a:t>
            </a:r>
          </a:p>
          <a:p>
            <a:pPr algn="just">
              <a:buNone/>
            </a:pPr>
            <a:r>
              <a:rPr lang="fr-FR" altLang="zh-CN" sz="2000" dirty="0"/>
              <a:t>      DEC_DX: DEC      DX</a:t>
            </a:r>
            <a:endParaRPr lang="zh-CN" altLang="en-US" sz="2000" dirty="0"/>
          </a:p>
          <a:p>
            <a:pPr algn="just">
              <a:buNone/>
            </a:pPr>
            <a:r>
              <a:rPr lang="fr-FR" altLang="zh-CN" sz="2000" dirty="0"/>
              <a:t>          JNZ       DEC_DX</a:t>
            </a:r>
            <a:endParaRPr lang="zh-CN" altLang="en-US" sz="2000" dirty="0"/>
          </a:p>
          <a:p>
            <a:pPr algn="just">
              <a:buNone/>
            </a:pPr>
            <a:r>
              <a:rPr lang="fr-FR" altLang="zh-CN" sz="2000" dirty="0"/>
              <a:t>         LOOP      DELAY                           ; </a:t>
            </a:r>
            <a:r>
              <a:rPr lang="zh-CN" altLang="en-US" sz="2000" i="1" dirty="0">
                <a:solidFill>
                  <a:srgbClr val="FFFF00"/>
                </a:solidFill>
              </a:rPr>
              <a:t>延时</a:t>
            </a:r>
            <a:r>
              <a:rPr lang="fr-FR" altLang="zh-CN" sz="2000" dirty="0"/>
              <a:t>       </a:t>
            </a:r>
            <a:endParaRPr lang="zh-CN" altLang="en-US" sz="2000" dirty="0"/>
          </a:p>
          <a:p>
            <a:pPr algn="just">
              <a:buNone/>
            </a:pPr>
            <a:r>
              <a:rPr lang="fr-FR" altLang="zh-CN" sz="2000" dirty="0"/>
              <a:t>         IN        AL, 61H                               ; </a:t>
            </a:r>
            <a:r>
              <a:rPr lang="zh-CN" altLang="en-US" sz="2000" i="1" dirty="0">
                <a:solidFill>
                  <a:srgbClr val="FFFF00"/>
                </a:solidFill>
              </a:rPr>
              <a:t>重新读取</a:t>
            </a:r>
            <a:r>
              <a:rPr lang="fr-FR" altLang="zh-CN" sz="2000" i="1" dirty="0">
                <a:solidFill>
                  <a:srgbClr val="FFFF00"/>
                </a:solidFill>
              </a:rPr>
              <a:t>61H</a:t>
            </a:r>
            <a:r>
              <a:rPr lang="zh-CN" altLang="en-US" sz="2000" i="1" dirty="0">
                <a:solidFill>
                  <a:srgbClr val="FFFF00"/>
                </a:solidFill>
              </a:rPr>
              <a:t>端口的状态</a:t>
            </a:r>
          </a:p>
          <a:p>
            <a:pPr algn="just">
              <a:buNone/>
            </a:pPr>
            <a:r>
              <a:rPr lang="fr-FR" altLang="zh-CN" sz="2000" dirty="0"/>
              <a:t>        AND       AL, 11111100B                 ; </a:t>
            </a:r>
            <a:r>
              <a:rPr lang="zh-CN" altLang="en-US" sz="2000" i="1" dirty="0">
                <a:solidFill>
                  <a:srgbClr val="FFFF00"/>
                </a:solidFill>
              </a:rPr>
              <a:t>把</a:t>
            </a:r>
            <a:r>
              <a:rPr lang="fr-FR" altLang="zh-CN" sz="2000" i="1" dirty="0">
                <a:solidFill>
                  <a:srgbClr val="FFFF00"/>
                </a:solidFill>
              </a:rPr>
              <a:t>PB0</a:t>
            </a:r>
            <a:r>
              <a:rPr lang="zh-CN" altLang="en-US" sz="2000" i="1" dirty="0">
                <a:solidFill>
                  <a:srgbClr val="FFFF00"/>
                </a:solidFill>
              </a:rPr>
              <a:t>和</a:t>
            </a:r>
            <a:r>
              <a:rPr lang="fr-FR" altLang="zh-CN" sz="2000" i="1" dirty="0">
                <a:solidFill>
                  <a:srgbClr val="FFFF00"/>
                </a:solidFill>
              </a:rPr>
              <a:t>PB1</a:t>
            </a:r>
            <a:r>
              <a:rPr lang="zh-CN" altLang="en-US" sz="2000" i="1" dirty="0">
                <a:solidFill>
                  <a:srgbClr val="FFFF00"/>
                </a:solidFill>
              </a:rPr>
              <a:t>置</a:t>
            </a:r>
            <a:r>
              <a:rPr lang="fr-FR" altLang="zh-CN" sz="2000" i="1" dirty="0">
                <a:solidFill>
                  <a:srgbClr val="FFFF00"/>
                </a:solidFill>
              </a:rPr>
              <a:t>0</a:t>
            </a:r>
            <a:endParaRPr lang="zh-CN" altLang="en-US" sz="2000" i="1" dirty="0">
              <a:solidFill>
                <a:srgbClr val="FFFF00"/>
              </a:solidFill>
            </a:endParaRPr>
          </a:p>
          <a:p>
            <a:pPr algn="just">
              <a:buNone/>
            </a:pPr>
            <a:r>
              <a:rPr lang="fr-FR" altLang="zh-CN" sz="2000" dirty="0"/>
              <a:t>         OUT       61H, AL                            ;</a:t>
            </a:r>
            <a:r>
              <a:rPr lang="zh-CN" altLang="en-US" sz="2000" i="1" dirty="0">
                <a:solidFill>
                  <a:srgbClr val="FFFF00"/>
                </a:solidFill>
              </a:rPr>
              <a:t>关闭扬声器</a:t>
            </a:r>
          </a:p>
          <a:p>
            <a:pPr algn="just">
              <a:buNone/>
            </a:pPr>
            <a:r>
              <a:rPr lang="fr-FR" altLang="zh-CN" sz="2000" dirty="0"/>
              <a:t>       JMP       NEXT</a:t>
            </a:r>
            <a:endParaRPr lang="zh-CN" altLang="en-US" sz="2000" dirty="0"/>
          </a:p>
          <a:p>
            <a:pPr algn="just">
              <a:buNone/>
            </a:pPr>
            <a:r>
              <a:rPr lang="fr-FR" altLang="zh-CN" sz="2000" dirty="0"/>
              <a:t>       EX IT: MOV       AH, 4CH               ; </a:t>
            </a:r>
            <a:r>
              <a:rPr lang="zh-CN" altLang="en-US" sz="2000" i="1" dirty="0">
                <a:solidFill>
                  <a:srgbClr val="FFFF00"/>
                </a:solidFill>
              </a:rPr>
              <a:t>返回</a:t>
            </a:r>
            <a:r>
              <a:rPr lang="fr-FR" altLang="zh-CN" sz="2000" i="1" dirty="0">
                <a:solidFill>
                  <a:srgbClr val="FFFF00"/>
                </a:solidFill>
              </a:rPr>
              <a:t>DOS</a:t>
            </a:r>
            <a:endParaRPr lang="zh-CN" altLang="en-US" sz="2000" i="1" dirty="0">
              <a:solidFill>
                <a:srgbClr val="FFFF00"/>
              </a:solidFill>
            </a:endParaRPr>
          </a:p>
          <a:p>
            <a:pPr algn="just">
              <a:buNone/>
            </a:pPr>
            <a:r>
              <a:rPr lang="fr-FR" altLang="zh-CN" sz="2000" dirty="0"/>
              <a:t>       </a:t>
            </a:r>
            <a:r>
              <a:rPr lang="en-US" altLang="zh-CN" sz="2000" dirty="0"/>
              <a:t>INT       21H</a:t>
            </a:r>
            <a:endParaRPr lang="zh-CN" altLang="en-US" sz="2000" dirty="0"/>
          </a:p>
          <a:p>
            <a:pPr algn="just">
              <a:buNone/>
            </a:pPr>
            <a:r>
              <a:rPr lang="en-US" altLang="zh-CN" sz="2000" dirty="0"/>
              <a:t>  CODE  ENDS</a:t>
            </a:r>
            <a:endParaRPr lang="zh-CN" altLang="en-US" sz="2000" dirty="0"/>
          </a:p>
          <a:p>
            <a:pPr algn="just">
              <a:buNone/>
            </a:pPr>
            <a:r>
              <a:rPr lang="en-US" altLang="zh-CN" sz="2000" dirty="0"/>
              <a:t>          END       START</a:t>
            </a:r>
            <a:endParaRPr lang="zh-CN" altLang="en-US" sz="2000" dirty="0"/>
          </a:p>
        </p:txBody>
      </p:sp>
    </p:spTree>
  </p:cSld>
  <p:clrMapOvr>
    <a:masterClrMapping/>
  </p:clrMapOvr>
  <p:transition spd="med">
    <p:random/>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5170" name="Rectangle 2"/>
          <p:cNvSpPr>
            <a:spLocks noGrp="1" noChangeArrowheads="1"/>
          </p:cNvSpPr>
          <p:nvPr>
            <p:ph type="title" idx="4294967295"/>
          </p:nvPr>
        </p:nvSpPr>
        <p:spPr>
          <a:xfrm>
            <a:off x="1101725" y="268288"/>
            <a:ext cx="6983413"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8.2     DMA</a:t>
            </a:r>
            <a:r>
              <a:rPr kumimoji="0" lang="zh-CN" alt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控制器</a:t>
            </a:r>
            <a:r>
              <a:rPr kumimoji="0" 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8237A</a:t>
            </a:r>
            <a:endParaRPr kumimoji="0" lang="zh-CN" alt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宋体" panose="02010600030101010101" pitchFamily="2" charset="-122"/>
              <a:ea typeface="+mj-ea"/>
              <a:cs typeface="+mj-cs"/>
            </a:endParaRPr>
          </a:p>
        </p:txBody>
      </p:sp>
      <p:sp>
        <p:nvSpPr>
          <p:cNvPr id="5222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52227" name="Rectangle 11"/>
          <p:cNvSpPr>
            <a:spLocks noGrp="1"/>
          </p:cNvSpPr>
          <p:nvPr>
            <p:ph type="body" idx="4294967295"/>
          </p:nvPr>
        </p:nvSpPr>
        <p:spPr>
          <a:xfrm>
            <a:off x="1412875" y="2159000"/>
            <a:ext cx="6097588" cy="4699000"/>
          </a:xfrm>
          <a:ln/>
        </p:spPr>
        <p:txBody>
          <a:bodyPr wrap="square" lIns="92075" tIns="46038" rIns="92075" bIns="46038" anchor="t" anchorCtr="0"/>
          <a:lstStyle/>
          <a:p>
            <a:pPr eaLnBrk="1" hangingPunct="1">
              <a:buNone/>
            </a:pPr>
            <a:r>
              <a:rPr lang="en-US" altLang="zh-CN" dirty="0"/>
              <a:t>1</a:t>
            </a:r>
            <a:r>
              <a:rPr lang="zh-CN" altLang="en-US" dirty="0"/>
              <a:t>、</a:t>
            </a:r>
            <a:r>
              <a:rPr lang="en-US" altLang="zh-CN" dirty="0"/>
              <a:t>DMA</a:t>
            </a:r>
            <a:r>
              <a:rPr lang="zh-CN" altLang="en-US" dirty="0"/>
              <a:t>的基本原理</a:t>
            </a:r>
            <a:endParaRPr lang="en-US" altLang="zh-CN" dirty="0"/>
          </a:p>
          <a:p>
            <a:pPr eaLnBrk="1" hangingPunct="1">
              <a:buNone/>
            </a:pPr>
            <a:endParaRPr lang="zh-CN" altLang="en-US" dirty="0"/>
          </a:p>
          <a:p>
            <a:pPr eaLnBrk="1" hangingPunct="1">
              <a:buNone/>
            </a:pPr>
            <a:r>
              <a:rPr lang="en-US" altLang="zh-CN" dirty="0"/>
              <a:t>2</a:t>
            </a:r>
            <a:r>
              <a:rPr lang="zh-CN" altLang="en-US" dirty="0"/>
              <a:t>、</a:t>
            </a:r>
            <a:r>
              <a:rPr lang="en-US" altLang="zh-CN" dirty="0"/>
              <a:t>8237A</a:t>
            </a:r>
            <a:r>
              <a:rPr lang="zh-CN" altLang="en-US" dirty="0"/>
              <a:t>的内部结构和引脚</a:t>
            </a:r>
            <a:endParaRPr lang="en-US" altLang="zh-CN" dirty="0"/>
          </a:p>
          <a:p>
            <a:pPr eaLnBrk="1" hangingPunct="1"/>
            <a:endParaRPr lang="zh-CN" altLang="en-US" dirty="0"/>
          </a:p>
          <a:p>
            <a:pPr eaLnBrk="1" hangingPunct="1">
              <a:buNone/>
            </a:pPr>
            <a:r>
              <a:rPr lang="en-US" altLang="zh-CN" dirty="0"/>
              <a:t>3</a:t>
            </a:r>
            <a:r>
              <a:rPr lang="zh-CN" altLang="en-US" dirty="0"/>
              <a:t>、</a:t>
            </a:r>
            <a:r>
              <a:rPr lang="en-US" altLang="zh-CN" dirty="0"/>
              <a:t>8237A</a:t>
            </a:r>
            <a:r>
              <a:rPr lang="zh-CN" altLang="en-US" dirty="0"/>
              <a:t>的工作方式和传输类型</a:t>
            </a:r>
            <a:endParaRPr lang="en-US" altLang="zh-CN" dirty="0"/>
          </a:p>
          <a:p>
            <a:pPr eaLnBrk="1" hangingPunct="1"/>
            <a:endParaRPr lang="zh-CN" altLang="en-US" dirty="0"/>
          </a:p>
          <a:p>
            <a:pPr eaLnBrk="1" hangingPunct="1">
              <a:buNone/>
            </a:pPr>
            <a:r>
              <a:rPr lang="en-US" altLang="zh-CN" dirty="0"/>
              <a:t>4</a:t>
            </a:r>
            <a:r>
              <a:rPr lang="zh-CN" altLang="en-US" dirty="0"/>
              <a:t>、</a:t>
            </a:r>
            <a:r>
              <a:rPr lang="en-US" altLang="zh-CN" dirty="0"/>
              <a:t>8237A</a:t>
            </a:r>
            <a:r>
              <a:rPr lang="zh-CN" altLang="en-US" dirty="0"/>
              <a:t>的初始化编程及应用）</a:t>
            </a:r>
          </a:p>
        </p:txBody>
      </p:sp>
    </p:spTree>
  </p:cSld>
  <p:clrMapOvr>
    <a:masterClrMapping/>
  </p:clrMapOvr>
  <p:transition spd="med">
    <p:random/>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6194" name="标题 1"/>
          <p:cNvSpPr>
            <a:spLocks noGrp="1"/>
          </p:cNvSpPr>
          <p:nvPr>
            <p:ph type="title" idx="4294967295"/>
          </p:nvPr>
        </p:nvSpPr>
        <p:spPr>
          <a:xfrm>
            <a:off x="919163" y="1314450"/>
            <a:ext cx="7772400" cy="5267325"/>
          </a:xfrm>
        </p:spPr>
        <p:txBody>
          <a:bodyPr wrap="square" lIns="92075" tIns="46038" rIns="92075" bIns="46038" numCol="1" anchor="t" anchorCtr="0" compatLnSpc="1"/>
          <a:lstStyle/>
          <a:p>
            <a:pPr marL="0" marR="0" lvl="0" indent="0" algn="just" defTabSz="914400" rtl="0" eaLnBrk="0" fontAlgn="base" latinLnBrk="0" hangingPunct="0">
              <a:lnSpc>
                <a:spcPct val="100000"/>
              </a:lnSpc>
              <a:spcBef>
                <a:spcPct val="0"/>
              </a:spcBef>
              <a:spcAft>
                <a:spcPct val="0"/>
              </a:spcAft>
              <a:buClrTx/>
              <a:buSzTx/>
              <a:buFontTx/>
              <a:buNone/>
              <a:defRPr/>
            </a:pPr>
            <a:br>
              <a:rPr kumimoji="0" lang="zh-CN" altLang="en-US" sz="24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br>
            <a:r>
              <a:rPr kumimoji="0" lang="en-US" sz="24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        </a:t>
            </a:r>
            <a:r>
              <a:rPr kumimoji="0" lang="zh-CN" altLang="en-US" sz="24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前面介绍的微机系统中各种常用的数据输入输出方法，包括方式，前三种方式适用于</a:t>
            </a:r>
            <a:r>
              <a:rPr kumimoji="0" lang="en-US" sz="24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CPU</a:t>
            </a:r>
            <a:r>
              <a:rPr kumimoji="0" lang="zh-CN" altLang="en-US" sz="24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与慢速及中速外设之间的数据交换。但当高速外设要与系统内存或者要在系统内存的不同区域之间，进行大量数据的快速传送时，前三种方式就不能满足于数据传输的要求。</a:t>
            </a:r>
            <a:br>
              <a:rPr kumimoji="0" lang="zh-CN" altLang="en-US" sz="24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br>
            <a:r>
              <a:rPr kumimoji="0" lang="zh-CN" altLang="en-US" sz="24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为了提高数据传送的速率，人们提出了</a:t>
            </a:r>
            <a:r>
              <a:rPr kumimoji="0" lang="zh-CN" altLang="en-US" sz="2400" b="1" i="1" u="none" strike="noStrike" kern="0" cap="none" spc="0" normalizeH="0" baseline="0" noProof="0">
                <a:ln>
                  <a:noFill/>
                </a:ln>
                <a:solidFill>
                  <a:schemeClr val="accent2"/>
                </a:solidFill>
                <a:effectLst>
                  <a:outerShdw blurRad="38100" dist="38100" dir="2700000" algn="tl">
                    <a:srgbClr val="000000"/>
                  </a:outerShdw>
                </a:effectLst>
                <a:uLnTx/>
                <a:uFillTx/>
                <a:latin typeface="+mj-lt"/>
                <a:ea typeface="+mj-ea"/>
                <a:cs typeface="+mj-cs"/>
              </a:rPr>
              <a:t>直接存储器存取</a:t>
            </a:r>
            <a:r>
              <a:rPr kumimoji="0" lang="en-US" sz="2400" b="1" i="1" u="none" strike="noStrike" kern="0" cap="none" spc="0" normalizeH="0" baseline="0" noProof="0">
                <a:ln>
                  <a:noFill/>
                </a:ln>
                <a:solidFill>
                  <a:schemeClr val="accent2"/>
                </a:solidFill>
                <a:effectLst>
                  <a:outerShdw blurRad="38100" dist="38100" dir="2700000" algn="tl">
                    <a:srgbClr val="000000"/>
                  </a:outerShdw>
                </a:effectLst>
                <a:uLnTx/>
                <a:uFillTx/>
                <a:latin typeface="+mj-lt"/>
                <a:ea typeface="+mj-ea"/>
                <a:cs typeface="+mj-cs"/>
              </a:rPr>
              <a:t>(DMA)</a:t>
            </a:r>
            <a:r>
              <a:rPr kumimoji="0" lang="zh-CN" altLang="en-US" sz="2400" b="1" i="1" u="none" strike="noStrike" kern="0" cap="none" spc="0" normalizeH="0" baseline="0" noProof="0">
                <a:ln>
                  <a:noFill/>
                </a:ln>
                <a:solidFill>
                  <a:schemeClr val="accent2"/>
                </a:solidFill>
                <a:effectLst>
                  <a:outerShdw blurRad="38100" dist="38100" dir="2700000" algn="tl">
                    <a:srgbClr val="000000"/>
                  </a:outerShdw>
                </a:effectLst>
                <a:uLnTx/>
                <a:uFillTx/>
                <a:latin typeface="+mj-lt"/>
                <a:ea typeface="+mj-ea"/>
                <a:cs typeface="+mj-cs"/>
              </a:rPr>
              <a:t>的数据传送控制方式，即在一定时间段内，由</a:t>
            </a:r>
            <a:r>
              <a:rPr kumimoji="0" lang="en-US" sz="2400" b="1" i="1" u="none" strike="noStrike" kern="0" cap="none" spc="0" normalizeH="0" baseline="0" noProof="0">
                <a:ln>
                  <a:noFill/>
                </a:ln>
                <a:solidFill>
                  <a:schemeClr val="accent2"/>
                </a:solidFill>
                <a:effectLst>
                  <a:outerShdw blurRad="38100" dist="38100" dir="2700000" algn="tl">
                    <a:srgbClr val="000000"/>
                  </a:outerShdw>
                </a:effectLst>
                <a:uLnTx/>
                <a:uFillTx/>
                <a:latin typeface="+mj-lt"/>
                <a:ea typeface="+mj-ea"/>
                <a:cs typeface="+mj-cs"/>
              </a:rPr>
              <a:t>DMA</a:t>
            </a:r>
            <a:r>
              <a:rPr kumimoji="0" lang="zh-CN" altLang="en-US" sz="2400" b="1" i="1" u="none" strike="noStrike" kern="0" cap="none" spc="0" normalizeH="0" baseline="0" noProof="0">
                <a:ln>
                  <a:noFill/>
                </a:ln>
                <a:solidFill>
                  <a:schemeClr val="accent2"/>
                </a:solidFill>
                <a:effectLst>
                  <a:outerShdw blurRad="38100" dist="38100" dir="2700000" algn="tl">
                    <a:srgbClr val="000000"/>
                  </a:outerShdw>
                </a:effectLst>
                <a:uLnTx/>
                <a:uFillTx/>
                <a:latin typeface="+mj-lt"/>
                <a:ea typeface="+mj-ea"/>
                <a:cs typeface="+mj-cs"/>
              </a:rPr>
              <a:t>控制器（</a:t>
            </a:r>
            <a:r>
              <a:rPr kumimoji="0" lang="en-US" sz="2400" b="1" i="1" u="none" strike="noStrike" kern="0" cap="none" spc="0" normalizeH="0" baseline="0" noProof="0">
                <a:ln>
                  <a:noFill/>
                </a:ln>
                <a:solidFill>
                  <a:schemeClr val="accent2"/>
                </a:solidFill>
                <a:effectLst>
                  <a:outerShdw blurRad="38100" dist="38100" dir="2700000" algn="tl">
                    <a:srgbClr val="000000"/>
                  </a:outerShdw>
                </a:effectLst>
                <a:uLnTx/>
                <a:uFillTx/>
                <a:latin typeface="+mj-lt"/>
                <a:ea typeface="+mj-ea"/>
                <a:cs typeface="+mj-cs"/>
              </a:rPr>
              <a:t>DMAC</a:t>
            </a:r>
            <a:r>
              <a:rPr kumimoji="0" lang="zh-CN" altLang="en-US" sz="2400" b="1" i="1" u="none" strike="noStrike" kern="0" cap="none" spc="0" normalizeH="0" baseline="0" noProof="0">
                <a:ln>
                  <a:noFill/>
                </a:ln>
                <a:solidFill>
                  <a:schemeClr val="accent2"/>
                </a:solidFill>
                <a:effectLst>
                  <a:outerShdw blurRad="38100" dist="38100" dir="2700000" algn="tl">
                    <a:srgbClr val="000000"/>
                  </a:outerShdw>
                </a:effectLst>
                <a:uLnTx/>
                <a:uFillTx/>
                <a:latin typeface="+mj-lt"/>
                <a:ea typeface="+mj-ea"/>
                <a:cs typeface="+mj-cs"/>
              </a:rPr>
              <a:t>）取代</a:t>
            </a:r>
            <a:r>
              <a:rPr kumimoji="0" lang="en-US" sz="2400" b="1" i="1" u="none" strike="noStrike" kern="0" cap="none" spc="0" normalizeH="0" baseline="0" noProof="0">
                <a:ln>
                  <a:noFill/>
                </a:ln>
                <a:solidFill>
                  <a:schemeClr val="accent2"/>
                </a:solidFill>
                <a:effectLst>
                  <a:outerShdw blurRad="38100" dist="38100" dir="2700000" algn="tl">
                    <a:srgbClr val="000000"/>
                  </a:outerShdw>
                </a:effectLst>
                <a:uLnTx/>
                <a:uFillTx/>
                <a:latin typeface="+mj-lt"/>
                <a:ea typeface="+mj-ea"/>
                <a:cs typeface="+mj-cs"/>
              </a:rPr>
              <a:t>CPU</a:t>
            </a:r>
            <a:r>
              <a:rPr kumimoji="0" lang="zh-CN" altLang="en-US" sz="2400" b="1" i="1" u="none" strike="noStrike" kern="0" cap="none" spc="0" normalizeH="0" baseline="0" noProof="0">
                <a:ln>
                  <a:noFill/>
                </a:ln>
                <a:solidFill>
                  <a:schemeClr val="accent2"/>
                </a:solidFill>
                <a:effectLst>
                  <a:outerShdw blurRad="38100" dist="38100" dir="2700000" algn="tl">
                    <a:srgbClr val="000000"/>
                  </a:outerShdw>
                </a:effectLst>
                <a:uLnTx/>
                <a:uFillTx/>
                <a:latin typeface="+mj-lt"/>
                <a:ea typeface="+mj-ea"/>
                <a:cs typeface="+mj-cs"/>
              </a:rPr>
              <a:t>，获得总线控制权，来实现内存与外设或者内存的不同区域之间大量数据快速传送的一种数据传送方式</a:t>
            </a:r>
            <a:r>
              <a:rPr kumimoji="0" lang="zh-CN" altLang="en-US" sz="24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。典型的</a:t>
            </a:r>
            <a:r>
              <a:rPr kumimoji="0" lang="en-US" sz="24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DMA</a:t>
            </a:r>
            <a:r>
              <a:rPr kumimoji="0" lang="zh-CN" altLang="en-US" sz="24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控制器（</a:t>
            </a:r>
            <a:r>
              <a:rPr kumimoji="0" lang="en-US" sz="24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DMAC</a:t>
            </a:r>
            <a:r>
              <a:rPr kumimoji="0" lang="zh-CN" altLang="en-US" sz="24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）的工作原理如图</a:t>
            </a:r>
            <a:r>
              <a:rPr kumimoji="0" lang="en-US" sz="24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6.6</a:t>
            </a:r>
            <a:r>
              <a:rPr kumimoji="0" lang="zh-CN" altLang="en-US" sz="24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所示。在</a:t>
            </a:r>
            <a:r>
              <a:rPr kumimoji="0" lang="en-US" sz="24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DMA</a:t>
            </a:r>
            <a:r>
              <a:rPr kumimoji="0" lang="zh-CN" altLang="en-US" sz="24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方式下，数据传送的工作过程大致如下：</a:t>
            </a:r>
          </a:p>
        </p:txBody>
      </p:sp>
      <p:sp>
        <p:nvSpPr>
          <p:cNvPr id="53250" name="文本占位符 2"/>
          <p:cNvSpPr>
            <a:spLocks noGrp="1"/>
          </p:cNvSpPr>
          <p:nvPr>
            <p:ph type="body" idx="4294967295"/>
          </p:nvPr>
        </p:nvSpPr>
        <p:spPr>
          <a:xfrm>
            <a:off x="265113" y="457200"/>
            <a:ext cx="7772400" cy="636588"/>
          </a:xfrm>
          <a:ln/>
        </p:spPr>
        <p:txBody>
          <a:bodyPr wrap="square" lIns="92075" tIns="46038" rIns="92075" bIns="46038" anchor="b" anchorCtr="0"/>
          <a:lstStyle/>
          <a:p>
            <a:pPr marL="0" indent="0" algn="ctr">
              <a:buNone/>
            </a:pPr>
            <a:r>
              <a:rPr lang="en-US" altLang="zh-CN" sz="3200" dirty="0"/>
              <a:t>8.2.1  DMA</a:t>
            </a:r>
            <a:r>
              <a:rPr lang="zh-CN" altLang="en-US" sz="3200" dirty="0"/>
              <a:t>的基本原理</a:t>
            </a:r>
          </a:p>
        </p:txBody>
      </p:sp>
    </p:spTree>
  </p:cSld>
  <p:clrMapOvr>
    <a:masterClrMapping/>
  </p:clrMapOvr>
  <p:transition spd="med">
    <p:random/>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8242" name="标题 1"/>
          <p:cNvSpPr>
            <a:spLocks noGrp="1"/>
          </p:cNvSpPr>
          <p:nvPr>
            <p:ph type="title" idx="4294967295"/>
          </p:nvPr>
        </p:nvSpPr>
        <p:spPr>
          <a:xfrm>
            <a:off x="563563" y="1609725"/>
            <a:ext cx="7999413" cy="4789488"/>
          </a:xfrm>
        </p:spPr>
        <p:txBody>
          <a:bodyPr wrap="square" lIns="92075" tIns="46038" rIns="92075" bIns="46038"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1</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  首先，外设向</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DMAC</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发出</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DMA</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传送请求。 </a:t>
            </a:r>
            <a:b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b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2</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    </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DMAC</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通过连接到</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CPU</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的</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HOLD</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信号向</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CPU</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提出</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DMA</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请求。</a:t>
            </a:r>
            <a:b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b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3</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   </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CPU</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在完成当前总线操作后，立即响应</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DMAC</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占用总线的请求。</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CPU</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的响应包括两个方面：一方面，</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CPU</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将立即放弃总线控制权（</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CPU</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将将控制总线、数据总线和地址总线浮空）；另一方面，</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CPU</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将有效的</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HLDA</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信号加到</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DMAC</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上，通知</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DMAC</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自己已经让出了总线的控制权。</a:t>
            </a:r>
            <a:b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b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4</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  </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CPU</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放弃总线控制权后（即</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CPU</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将总线浮空后），</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DMAC</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接管系统总线的控制权，并向外设送出</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DMA</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的应答信号。</a:t>
            </a:r>
            <a:b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b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5</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  </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DMAC</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送出地址信号和控制信号，实现外设与内存或内存不同区域之间大量数据的快速传送。</a:t>
            </a:r>
            <a:b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b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6</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   </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DMAC</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将规定的数据字节传送完之后，通过向</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CPU</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发出</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HOLD</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信号，撤消对</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CPU</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的</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DMA</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请求。</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CPU</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收到此信号，一方面使</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HLDA</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无效，另一方面又重新开始控制总线，实现正常</a:t>
            </a:r>
            <a:r>
              <a:rPr kumimoji="0" lang="zh-CN" altLang="en-US" sz="1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取指令、分析指令、执行指令的操作。</a:t>
            </a:r>
          </a:p>
        </p:txBody>
      </p:sp>
      <p:sp>
        <p:nvSpPr>
          <p:cNvPr id="54274" name="文本占位符 2"/>
          <p:cNvSpPr>
            <a:spLocks noGrp="1"/>
          </p:cNvSpPr>
          <p:nvPr>
            <p:ph type="body" idx="4294967295"/>
          </p:nvPr>
        </p:nvSpPr>
        <p:spPr>
          <a:xfrm>
            <a:off x="552450" y="352425"/>
            <a:ext cx="7772400" cy="627063"/>
          </a:xfrm>
          <a:ln/>
        </p:spPr>
        <p:txBody>
          <a:bodyPr wrap="square" lIns="92075" tIns="46038" rIns="92075" bIns="46038" anchor="b" anchorCtr="0"/>
          <a:lstStyle/>
          <a:p>
            <a:pPr marL="0" indent="0" algn="ctr">
              <a:buNone/>
            </a:pPr>
            <a:r>
              <a:rPr lang="en-US" altLang="zh-CN" sz="3200" dirty="0"/>
              <a:t>8.2.1  DMA</a:t>
            </a:r>
            <a:r>
              <a:rPr lang="zh-CN" altLang="en-US" sz="3200" dirty="0"/>
              <a:t>的基本原理</a:t>
            </a:r>
          </a:p>
        </p:txBody>
      </p:sp>
    </p:spTree>
  </p:cSld>
  <p:clrMapOvr>
    <a:masterClrMapping/>
  </p:clrMapOvr>
  <p:transition spd="med">
    <p:random/>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7" name="文本占位符 2"/>
          <p:cNvSpPr>
            <a:spLocks noGrp="1"/>
          </p:cNvSpPr>
          <p:nvPr>
            <p:ph type="body" idx="4294967295"/>
          </p:nvPr>
        </p:nvSpPr>
        <p:spPr>
          <a:xfrm>
            <a:off x="733425" y="517525"/>
            <a:ext cx="7772400" cy="677863"/>
          </a:xfrm>
          <a:ln/>
        </p:spPr>
        <p:txBody>
          <a:bodyPr wrap="square" lIns="92075" tIns="46038" rIns="92075" bIns="46038" anchor="b" anchorCtr="0"/>
          <a:lstStyle/>
          <a:p>
            <a:pPr marL="0" indent="0" algn="ctr">
              <a:buNone/>
            </a:pPr>
            <a:r>
              <a:rPr lang="en-US" altLang="zh-CN" sz="3200" dirty="0"/>
              <a:t>DMAC</a:t>
            </a:r>
            <a:r>
              <a:rPr lang="zh-CN" altLang="en-US" sz="3200" dirty="0"/>
              <a:t>的工作原理框图</a:t>
            </a:r>
          </a:p>
        </p:txBody>
      </p:sp>
      <p:pic>
        <p:nvPicPr>
          <p:cNvPr id="55298" name="Picture 17" descr="6"/>
          <p:cNvPicPr>
            <a:picLocks noChangeAspect="1"/>
          </p:cNvPicPr>
          <p:nvPr/>
        </p:nvPicPr>
        <p:blipFill>
          <a:blip r:embed="rId2"/>
          <a:stretch>
            <a:fillRect/>
          </a:stretch>
        </p:blipFill>
        <p:spPr>
          <a:xfrm>
            <a:off x="1331913" y="1381125"/>
            <a:ext cx="6286500" cy="5364163"/>
          </a:xfrm>
          <a:prstGeom prst="rect">
            <a:avLst/>
          </a:prstGeom>
          <a:noFill/>
          <a:ln w="9525">
            <a:noFill/>
          </a:ln>
        </p:spPr>
      </p:pic>
    </p:spTree>
  </p:cSld>
  <p:clrMapOvr>
    <a:masterClrMapping/>
  </p:clrMapOvr>
  <p:transition spd="med">
    <p:random/>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9266" name="标题 1"/>
          <p:cNvSpPr>
            <a:spLocks noGrp="1"/>
          </p:cNvSpPr>
          <p:nvPr>
            <p:ph type="title" idx="4294967295"/>
          </p:nvPr>
        </p:nvSpPr>
        <p:spPr>
          <a:xfrm>
            <a:off x="839788" y="1277938"/>
            <a:ext cx="7772400" cy="4992688"/>
          </a:xfrm>
        </p:spPr>
        <p:txBody>
          <a:bodyPr wrap="square" lIns="92075" tIns="46038" rIns="92075" bIns="46038"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br>
              <a:rPr kumimoji="0" lang="zh-CN" altLang="en-US" sz="28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br>
            <a:r>
              <a:rPr kumimoji="0" lang="en-US" sz="28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     8237A</a:t>
            </a:r>
            <a:r>
              <a:rPr kumimoji="0" lang="zh-CN" altLang="en-US" sz="28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的内部结构 </a:t>
            </a:r>
            <a:r>
              <a:rPr kumimoji="0" lang="en-US" sz="28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8237A</a:t>
            </a:r>
            <a:r>
              <a:rPr kumimoji="0" lang="zh-CN" altLang="en-US" sz="28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的内部结构如图</a:t>
            </a:r>
            <a:r>
              <a:rPr kumimoji="0" lang="en-US" sz="28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8-12</a:t>
            </a:r>
            <a:r>
              <a:rPr kumimoji="0" lang="zh-CN" altLang="en-US" sz="28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所示，主要由</a:t>
            </a:r>
            <a:r>
              <a:rPr kumimoji="0" lang="en-US" sz="28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4</a:t>
            </a:r>
            <a:r>
              <a:rPr kumimoji="0" lang="zh-CN" altLang="en-US" sz="28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个独立的</a:t>
            </a:r>
            <a:r>
              <a:rPr kumimoji="0" lang="en-US" sz="28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DMA</a:t>
            </a:r>
            <a:r>
              <a:rPr kumimoji="0" lang="zh-CN" altLang="en-US" sz="28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通道组成。每个通道有方式寄存器、请求寄存器、屏蔽寄存器、基地址寄存器、现行地址寄存器、基字节数寄存器和现行字节数寄存器组成。</a:t>
            </a:r>
            <a:r>
              <a:rPr kumimoji="0" lang="en-US" sz="28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8237A</a:t>
            </a:r>
            <a:r>
              <a:rPr kumimoji="0" lang="zh-CN" altLang="en-US" sz="28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内部还包括</a:t>
            </a:r>
            <a:r>
              <a:rPr kumimoji="0" lang="en-US" sz="28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4</a:t>
            </a:r>
            <a:r>
              <a:rPr kumimoji="0" lang="zh-CN" altLang="en-US" sz="28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个通道公用的命令寄存器和状态寄存器等。此外，还有</a:t>
            </a:r>
            <a:r>
              <a:rPr kumimoji="0" lang="zh-CN" altLang="en-US" sz="2800" b="1" i="1" u="none" strike="noStrike" kern="0" cap="none" spc="0" normalizeH="0" baseline="0" noProof="0">
                <a:ln>
                  <a:noFill/>
                </a:ln>
                <a:solidFill>
                  <a:srgbClr val="00CC00"/>
                </a:solidFill>
                <a:effectLst>
                  <a:outerShdw blurRad="38100" dist="38100" dir="2700000" algn="tl">
                    <a:srgbClr val="000000"/>
                  </a:outerShdw>
                </a:effectLst>
                <a:uLnTx/>
                <a:uFillTx/>
                <a:latin typeface="+mj-lt"/>
                <a:ea typeface="+mj-ea"/>
                <a:cs typeface="+mj-cs"/>
              </a:rPr>
              <a:t>读</a:t>
            </a:r>
            <a:r>
              <a:rPr kumimoji="0" lang="en-US" sz="2800" b="1" i="1" u="none" strike="noStrike" kern="0" cap="none" spc="0" normalizeH="0" baseline="0" noProof="0">
                <a:ln>
                  <a:noFill/>
                </a:ln>
                <a:solidFill>
                  <a:srgbClr val="00CC00"/>
                </a:solidFill>
                <a:effectLst>
                  <a:outerShdw blurRad="38100" dist="38100" dir="2700000" algn="tl">
                    <a:srgbClr val="000000"/>
                  </a:outerShdw>
                </a:effectLst>
                <a:uLnTx/>
                <a:uFillTx/>
                <a:latin typeface="+mj-lt"/>
                <a:ea typeface="+mj-ea"/>
                <a:cs typeface="+mj-cs"/>
              </a:rPr>
              <a:t>/</a:t>
            </a:r>
            <a:r>
              <a:rPr kumimoji="0" lang="zh-CN" altLang="en-US" sz="2800" b="1" i="1" u="none" strike="noStrike" kern="0" cap="none" spc="0" normalizeH="0" baseline="0" noProof="0">
                <a:ln>
                  <a:noFill/>
                </a:ln>
                <a:solidFill>
                  <a:srgbClr val="00CC00"/>
                </a:solidFill>
                <a:effectLst>
                  <a:outerShdw blurRad="38100" dist="38100" dir="2700000" algn="tl">
                    <a:srgbClr val="000000"/>
                  </a:outerShdw>
                </a:effectLst>
                <a:uLnTx/>
                <a:uFillTx/>
                <a:latin typeface="+mj-lt"/>
                <a:ea typeface="+mj-ea"/>
                <a:cs typeface="+mj-cs"/>
              </a:rPr>
              <a:t>写逻辑</a:t>
            </a:r>
            <a:r>
              <a:rPr kumimoji="0" lang="zh-CN" altLang="en-US" sz="28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a:t>
            </a:r>
            <a:r>
              <a:rPr kumimoji="0" lang="zh-CN" altLang="en-US" sz="2800" b="1" i="1" u="none" strike="noStrike" kern="0" cap="none" spc="0" normalizeH="0" baseline="0" noProof="0">
                <a:ln>
                  <a:noFill/>
                </a:ln>
                <a:solidFill>
                  <a:srgbClr val="00CC00"/>
                </a:solidFill>
                <a:effectLst>
                  <a:outerShdw blurRad="38100" dist="38100" dir="2700000" algn="tl">
                    <a:srgbClr val="000000"/>
                  </a:outerShdw>
                </a:effectLst>
                <a:uLnTx/>
                <a:uFillTx/>
                <a:latin typeface="+mj-lt"/>
                <a:ea typeface="+mj-ea"/>
                <a:cs typeface="+mj-cs"/>
              </a:rPr>
              <a:t>时序和控制逻辑</a:t>
            </a:r>
            <a:r>
              <a:rPr kumimoji="0" lang="zh-CN" altLang="en-US" sz="28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a:t>
            </a:r>
            <a:r>
              <a:rPr kumimoji="0" lang="zh-CN" altLang="en-US" sz="2800" b="1" i="1" u="none" strike="noStrike" kern="0" cap="none" spc="0" normalizeH="0" baseline="0" noProof="0">
                <a:ln>
                  <a:noFill/>
                </a:ln>
                <a:solidFill>
                  <a:srgbClr val="00CC00"/>
                </a:solidFill>
                <a:effectLst>
                  <a:outerShdw blurRad="38100" dist="38100" dir="2700000" algn="tl">
                    <a:srgbClr val="000000"/>
                  </a:outerShdw>
                </a:effectLst>
                <a:uLnTx/>
                <a:uFillTx/>
                <a:latin typeface="+mj-lt"/>
                <a:ea typeface="+mj-ea"/>
                <a:cs typeface="+mj-cs"/>
              </a:rPr>
              <a:t>优先权编码逻辑等。</a:t>
            </a:r>
          </a:p>
        </p:txBody>
      </p:sp>
      <p:sp>
        <p:nvSpPr>
          <p:cNvPr id="56322" name="文本占位符 2"/>
          <p:cNvSpPr>
            <a:spLocks noGrp="1"/>
          </p:cNvSpPr>
          <p:nvPr>
            <p:ph type="body" idx="4294967295"/>
          </p:nvPr>
        </p:nvSpPr>
        <p:spPr>
          <a:xfrm>
            <a:off x="511175" y="358775"/>
            <a:ext cx="7772400" cy="823913"/>
          </a:xfrm>
          <a:ln/>
        </p:spPr>
        <p:txBody>
          <a:bodyPr wrap="square" lIns="92075" tIns="46038" rIns="92075" bIns="46038" anchor="b" anchorCtr="0"/>
          <a:lstStyle/>
          <a:p>
            <a:pPr marL="0" indent="0" algn="ctr">
              <a:buNone/>
            </a:pPr>
            <a:r>
              <a:rPr lang="en-US" altLang="zh-CN" sz="3200" dirty="0"/>
              <a:t>8.2.2  8237A</a:t>
            </a:r>
            <a:r>
              <a:rPr lang="zh-CN" altLang="en-US" sz="3200" dirty="0"/>
              <a:t>的内部结构和引脚</a:t>
            </a:r>
          </a:p>
        </p:txBody>
      </p:sp>
    </p:spTree>
  </p:cSld>
  <p:clrMapOvr>
    <a:masterClrMapping/>
  </p:clrMapOvr>
  <p:transition spd="med">
    <p:random/>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5" name="文本占位符 2"/>
          <p:cNvSpPr>
            <a:spLocks noGrp="1"/>
          </p:cNvSpPr>
          <p:nvPr>
            <p:ph type="body" idx="4294967295"/>
          </p:nvPr>
        </p:nvSpPr>
        <p:spPr>
          <a:xfrm>
            <a:off x="511175" y="358775"/>
            <a:ext cx="7772400" cy="823913"/>
          </a:xfrm>
          <a:ln/>
        </p:spPr>
        <p:txBody>
          <a:bodyPr wrap="square" lIns="92075" tIns="46038" rIns="92075" bIns="46038" anchor="b" anchorCtr="0"/>
          <a:lstStyle/>
          <a:p>
            <a:pPr marL="0" indent="0" algn="ctr">
              <a:buNone/>
            </a:pPr>
            <a:r>
              <a:rPr lang="en-US" altLang="zh-CN" sz="3200" dirty="0"/>
              <a:t>8.2.2  8237A</a:t>
            </a:r>
            <a:r>
              <a:rPr lang="zh-CN" altLang="en-US" sz="3200" dirty="0"/>
              <a:t>的内部结构和引脚</a:t>
            </a:r>
          </a:p>
        </p:txBody>
      </p:sp>
      <p:pic>
        <p:nvPicPr>
          <p:cNvPr id="57346" name="图片 68" descr="图片2"/>
          <p:cNvPicPr>
            <a:picLocks noChangeAspect="1"/>
          </p:cNvPicPr>
          <p:nvPr/>
        </p:nvPicPr>
        <p:blipFill>
          <a:blip r:embed="rId2"/>
          <a:stretch>
            <a:fillRect/>
          </a:stretch>
        </p:blipFill>
        <p:spPr>
          <a:xfrm>
            <a:off x="666750" y="1487488"/>
            <a:ext cx="7620000" cy="4154487"/>
          </a:xfrm>
          <a:prstGeom prst="rect">
            <a:avLst/>
          </a:prstGeom>
          <a:noFill/>
          <a:ln w="9525">
            <a:noFill/>
          </a:ln>
        </p:spPr>
      </p:pic>
      <p:sp>
        <p:nvSpPr>
          <p:cNvPr id="57347" name="文本框 99"/>
          <p:cNvSpPr txBox="1"/>
          <p:nvPr/>
        </p:nvSpPr>
        <p:spPr>
          <a:xfrm>
            <a:off x="1981200" y="5888038"/>
            <a:ext cx="5080000" cy="381000"/>
          </a:xfrm>
          <a:prstGeom prst="rect">
            <a:avLst/>
          </a:prstGeom>
          <a:noFill/>
          <a:ln w="9525">
            <a:noFill/>
          </a:ln>
        </p:spPr>
        <p:txBody>
          <a:bodyPr anchor="t" anchorCtr="0">
            <a:spAutoFit/>
          </a:bodyPr>
          <a:lstStyle/>
          <a:p>
            <a:pPr algn="ctr"/>
            <a:r>
              <a:rPr lang="zh-CN" altLang="en-US" sz="2000" b="0">
                <a:latin typeface="宋体" panose="02010600030101010101" pitchFamily="2" charset="-122"/>
                <a:ea typeface="宋体" panose="02010600030101010101" pitchFamily="2" charset="-122"/>
              </a:rPr>
              <a:t>图</a:t>
            </a:r>
            <a:r>
              <a:rPr lang="en-US" altLang="zh-CN" sz="2000" b="0">
                <a:latin typeface="宋体" panose="02010600030101010101" pitchFamily="2" charset="-122"/>
                <a:ea typeface="宋体" panose="02010600030101010101" pitchFamily="2" charset="-122"/>
              </a:rPr>
              <a:t>8-12</a:t>
            </a:r>
            <a:r>
              <a:rPr lang="en-US" altLang="zh-CN" sz="2000" b="0">
                <a:latin typeface="Times New Roman" panose="02020603050405020304" pitchFamily="18" charset="0"/>
                <a:ea typeface="宋体" panose="02010600030101010101" pitchFamily="2" charset="-122"/>
              </a:rPr>
              <a:t> </a:t>
            </a:r>
            <a:r>
              <a:rPr lang="en-US" altLang="zh-CN" sz="2000" b="0">
                <a:latin typeface="宋体" panose="02010600030101010101" pitchFamily="2" charset="-122"/>
                <a:ea typeface="宋体" panose="02010600030101010101" pitchFamily="2" charset="-122"/>
              </a:rPr>
              <a:t> 8237A</a:t>
            </a:r>
            <a:r>
              <a:rPr lang="zh-CN" altLang="en-US" sz="2000" b="0">
                <a:latin typeface="宋体" panose="02010600030101010101" pitchFamily="2" charset="-122"/>
                <a:ea typeface="宋体" panose="02010600030101010101" pitchFamily="2" charset="-122"/>
              </a:rPr>
              <a:t>的内部结构框图</a:t>
            </a:r>
            <a:endParaRPr lang="zh-CN" altLang="en-US" sz="200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0290" name="标题 1"/>
          <p:cNvSpPr>
            <a:spLocks noGrp="1"/>
          </p:cNvSpPr>
          <p:nvPr>
            <p:ph type="title" idx="4294967295"/>
          </p:nvPr>
        </p:nvSpPr>
        <p:spPr>
          <a:xfrm>
            <a:off x="390525" y="1462088"/>
            <a:ext cx="3854450" cy="4808538"/>
          </a:xfrm>
        </p:spPr>
        <p:txBody>
          <a:bodyPr wrap="square" lIns="92075" tIns="46038" rIns="92075" bIns="46038" numCol="1" anchor="t" anchorCtr="0" compatLnSpc="1"/>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en-US" sz="20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         </a:t>
            </a:r>
            <a:r>
              <a:rPr kumimoji="0" sz="20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8237A的数据线、地址线都有三态缓冲器，可以接管或释放总线。内部的优先权编码器单元可以对同时有DMA请求的通道进行优先权编码，确定优先权级别。各通道公用一个控制寄存器和状态寄存器。其中暂存器在8237A完成存储器到存储器的传送时用于保存数据。完成传送后，暂存器总是保存前一次存储器传送的最后一个字节的内容。8237A是具有40个引脚的双列直插式集成电路芯片，其引脚如图8-13所示。</a:t>
            </a:r>
          </a:p>
        </p:txBody>
      </p:sp>
      <p:sp>
        <p:nvSpPr>
          <p:cNvPr id="58370" name="文本占位符 2"/>
          <p:cNvSpPr>
            <a:spLocks noGrp="1"/>
          </p:cNvSpPr>
          <p:nvPr>
            <p:ph type="body" idx="4294967295"/>
          </p:nvPr>
        </p:nvSpPr>
        <p:spPr>
          <a:xfrm>
            <a:off x="4895850" y="6302375"/>
            <a:ext cx="3406775" cy="425450"/>
          </a:xfrm>
          <a:ln/>
        </p:spPr>
        <p:txBody>
          <a:bodyPr wrap="square" lIns="92075" tIns="46038" rIns="92075" bIns="46038" anchor="b" anchorCtr="0"/>
          <a:lstStyle/>
          <a:p>
            <a:pPr marL="0" indent="0" algn="ctr">
              <a:buNone/>
            </a:pPr>
            <a:r>
              <a:rPr lang="zh-CN" altLang="en-US" sz="2000" dirty="0"/>
              <a:t>图</a:t>
            </a:r>
            <a:r>
              <a:rPr lang="en-US" altLang="zh-CN" sz="2000" dirty="0"/>
              <a:t>8-13 8237A</a:t>
            </a:r>
            <a:r>
              <a:rPr lang="zh-CN" altLang="en-US" sz="2000" dirty="0"/>
              <a:t>的引脚</a:t>
            </a:r>
          </a:p>
        </p:txBody>
      </p:sp>
      <p:pic>
        <p:nvPicPr>
          <p:cNvPr id="58371" name="Picture 26" descr="6"/>
          <p:cNvPicPr>
            <a:picLocks noChangeAspect="1"/>
          </p:cNvPicPr>
          <p:nvPr/>
        </p:nvPicPr>
        <p:blipFill>
          <a:blip r:embed="rId2"/>
          <a:stretch>
            <a:fillRect/>
          </a:stretch>
        </p:blipFill>
        <p:spPr>
          <a:xfrm>
            <a:off x="4967288" y="1046163"/>
            <a:ext cx="3160712" cy="5108575"/>
          </a:xfrm>
          <a:prstGeom prst="rect">
            <a:avLst/>
          </a:prstGeom>
          <a:noFill/>
          <a:ln w="9525">
            <a:noFill/>
          </a:ln>
        </p:spPr>
      </p:pic>
    </p:spTree>
  </p:cSld>
  <p:clrMapOvr>
    <a:masterClrMapping/>
  </p:clrMapOvr>
  <p:transition spd="med">
    <p:random/>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4386" name="标题 1"/>
          <p:cNvSpPr>
            <a:spLocks noGrp="1"/>
          </p:cNvSpPr>
          <p:nvPr>
            <p:ph type="title" idx="4294967295"/>
          </p:nvPr>
        </p:nvSpPr>
        <p:spPr>
          <a:xfrm>
            <a:off x="414338" y="466725"/>
            <a:ext cx="7739063" cy="547688"/>
          </a:xfrm>
        </p:spPr>
        <p:txBody>
          <a:bodyPr wrap="square" lIns="92075" tIns="46038" rIns="92075" bIns="46038"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2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3.  8237A</a:t>
            </a:r>
            <a:r>
              <a:rPr kumimoji="0" lang="zh-CN" altLang="en-US" sz="32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的寄存器</a:t>
            </a:r>
            <a:br>
              <a:rPr kumimoji="0" lang="zh-CN" altLang="en-US"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br>
            <a:endParaRPr kumimoji="0" lang="zh-CN" altLang="en-US" sz="32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59394" name="文本占位符 2"/>
          <p:cNvSpPr>
            <a:spLocks noGrp="1"/>
          </p:cNvSpPr>
          <p:nvPr>
            <p:ph type="body" idx="4294967295"/>
          </p:nvPr>
        </p:nvSpPr>
        <p:spPr>
          <a:xfrm>
            <a:off x="546100" y="1339850"/>
            <a:ext cx="7772400" cy="863600"/>
          </a:xfrm>
          <a:ln/>
        </p:spPr>
        <p:txBody>
          <a:bodyPr wrap="square" lIns="92075" tIns="46038" rIns="92075" bIns="46038" anchor="b" anchorCtr="0"/>
          <a:lstStyle/>
          <a:p>
            <a:pPr marL="0" indent="0">
              <a:buNone/>
            </a:pPr>
            <a:r>
              <a:rPr lang="en-US" altLang="zh-CN" sz="2000" dirty="0"/>
              <a:t>        8237A</a:t>
            </a:r>
            <a:r>
              <a:rPr lang="zh-CN" altLang="en-US" sz="2000" dirty="0"/>
              <a:t>有</a:t>
            </a:r>
            <a:r>
              <a:rPr lang="en-US" altLang="zh-CN" sz="2000" dirty="0"/>
              <a:t>4</a:t>
            </a:r>
            <a:r>
              <a:rPr lang="zh-CN" altLang="en-US" sz="2000" dirty="0"/>
              <a:t>根地址输入线</a:t>
            </a:r>
            <a:r>
              <a:rPr lang="en-US" altLang="zh-CN" sz="2000" dirty="0"/>
              <a:t>A</a:t>
            </a:r>
            <a:r>
              <a:rPr lang="en-US" altLang="zh-CN" sz="2000" baseline="-25000" dirty="0"/>
              <a:t>0</a:t>
            </a:r>
            <a:r>
              <a:rPr lang="en-US" altLang="zh-CN" sz="2000" dirty="0"/>
              <a:t>~A</a:t>
            </a:r>
            <a:r>
              <a:rPr lang="en-US" altLang="zh-CN" sz="2000" baseline="-25000" dirty="0"/>
              <a:t>3</a:t>
            </a:r>
            <a:r>
              <a:rPr lang="zh-CN" altLang="en-US" sz="2000" dirty="0"/>
              <a:t>，其片内有</a:t>
            </a:r>
            <a:r>
              <a:rPr lang="en-US" altLang="zh-CN" sz="2000" dirty="0"/>
              <a:t>16</a:t>
            </a:r>
            <a:r>
              <a:rPr lang="zh-CN" altLang="en-US" sz="2000" dirty="0"/>
              <a:t>个端口可供</a:t>
            </a:r>
            <a:r>
              <a:rPr lang="en-US" altLang="zh-CN" sz="2000" dirty="0"/>
              <a:t>CPU</a:t>
            </a:r>
            <a:r>
              <a:rPr lang="zh-CN" altLang="en-US" sz="2000" dirty="0"/>
              <a:t>访问。各寄存器的端口地址和软件命令寻址如表</a:t>
            </a:r>
            <a:r>
              <a:rPr lang="en-US" altLang="zh-CN" sz="2000" dirty="0"/>
              <a:t>6-1</a:t>
            </a:r>
            <a:r>
              <a:rPr lang="zh-CN" altLang="en-US" sz="2000" dirty="0"/>
              <a:t>所示。</a:t>
            </a:r>
          </a:p>
        </p:txBody>
      </p:sp>
      <p:graphicFrame>
        <p:nvGraphicFramePr>
          <p:cNvPr id="144388" name="Group 4"/>
          <p:cNvGraphicFramePr>
            <a:graphicFrameLocks noGrp="1"/>
          </p:cNvGraphicFramePr>
          <p:nvPr/>
        </p:nvGraphicFramePr>
        <p:xfrm>
          <a:off x="620713" y="2251075"/>
          <a:ext cx="7438708" cy="4379279"/>
        </p:xfrm>
        <a:graphic>
          <a:graphicData uri="http://schemas.openxmlformats.org/drawingml/2006/table">
            <a:tbl>
              <a:tblPr/>
              <a:tblGrid>
                <a:gridCol w="1630045">
                  <a:extLst>
                    <a:ext uri="{9D8B030D-6E8A-4147-A177-3AD203B41FA5}">
                      <a16:colId xmlns:a16="http://schemas.microsoft.com/office/drawing/2014/main" val="20000"/>
                    </a:ext>
                  </a:extLst>
                </a:gridCol>
                <a:gridCol w="2825750">
                  <a:extLst>
                    <a:ext uri="{9D8B030D-6E8A-4147-A177-3AD203B41FA5}">
                      <a16:colId xmlns:a16="http://schemas.microsoft.com/office/drawing/2014/main" val="20001"/>
                    </a:ext>
                  </a:extLst>
                </a:gridCol>
                <a:gridCol w="2982913">
                  <a:extLst>
                    <a:ext uri="{9D8B030D-6E8A-4147-A177-3AD203B41FA5}">
                      <a16:colId xmlns:a16="http://schemas.microsoft.com/office/drawing/2014/main" val="20002"/>
                    </a:ext>
                  </a:extLst>
                </a:gridCol>
              </a:tblGrid>
              <a:tr h="269240">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sz="12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0</a:t>
                      </a:r>
                      <a:endParaRPr kumimoji="0" lang="en-US"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写操作（</a:t>
                      </a: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为</a:t>
                      </a: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时）</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读操作（</a:t>
                      </a: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为</a:t>
                      </a: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时）</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57175">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0   0   0   0</a:t>
                      </a:r>
                      <a:endPar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通道</a:t>
                      </a: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地址寄存器</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通道</a:t>
                      </a: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现行地址寄存器</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57175">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0   0   0   1</a:t>
                      </a:r>
                      <a:endParaRPr kumimoji="0" lang="en-US"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通道</a:t>
                      </a:r>
                      <a:r>
                        <a:rPr kumimoji="0" 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字节数寄存器</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通道</a:t>
                      </a: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现行字节数寄存器</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57175">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0   0   1   0</a:t>
                      </a:r>
                      <a:endParaRPr kumimoji="0" lang="en-US"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通道</a:t>
                      </a: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地址寄存器</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通道</a:t>
                      </a: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现行地址寄存器</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55588">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0   0   1   1</a:t>
                      </a:r>
                      <a:endPar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通道</a:t>
                      </a:r>
                      <a:r>
                        <a:rPr kumimoji="0" 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字节数寄存器</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通道</a:t>
                      </a: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现行字节数寄存器</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257175">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0   1   0   0</a:t>
                      </a:r>
                      <a:endPar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通道</a:t>
                      </a: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地址寄存器</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通道</a:t>
                      </a: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现行地址寄存器</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257175">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0   1   0   1</a:t>
                      </a:r>
                      <a:endPar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通道</a:t>
                      </a: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字节数寄存器</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通道</a:t>
                      </a: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现行字节数寄存器</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257175">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0   1   1   0</a:t>
                      </a:r>
                      <a:endPar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通道</a:t>
                      </a: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地址寄存器</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通道</a:t>
                      </a: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现行地址寄存器</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257175">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0   1   1   1</a:t>
                      </a:r>
                      <a:endPar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通道</a:t>
                      </a: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字节数寄存器</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通道</a:t>
                      </a: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现行字节数寄存器</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255588">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1   0   0   0</a:t>
                      </a:r>
                      <a:endPar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命令寄存器</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状态寄存器</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r h="257175">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1   0   0   1</a:t>
                      </a:r>
                      <a:endPar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请求寄存器</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0"/>
                  </a:ext>
                </a:extLst>
              </a:tr>
              <a:tr h="257175">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1   0   1   0</a:t>
                      </a:r>
                      <a:endPar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单通道屏蔽字</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1"/>
                  </a:ext>
                </a:extLst>
              </a:tr>
              <a:tr h="257175">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1   0   1   1</a:t>
                      </a:r>
                      <a:endPar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方式寄存器</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2"/>
                  </a:ext>
                </a:extLst>
              </a:tr>
              <a:tr h="255588">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1   1   0   0</a:t>
                      </a:r>
                      <a:endPar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清先</a:t>
                      </a: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后触发器命令</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3"/>
                  </a:ext>
                </a:extLst>
              </a:tr>
              <a:tr h="257175">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1   1   0   1</a:t>
                      </a:r>
                      <a:endPar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复位命令</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暂存器</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4"/>
                  </a:ext>
                </a:extLst>
              </a:tr>
              <a:tr h="257175">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1   1   1   0</a:t>
                      </a:r>
                      <a:endPar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清屏蔽寄存器命令</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5"/>
                  </a:ext>
                </a:extLst>
              </a:tr>
              <a:tr h="257175">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1   1   1   1</a:t>
                      </a:r>
                      <a:endPar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综合屏蔽字</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200"/>
                        </a:lnSpc>
                        <a:spcBef>
                          <a:spcPct val="0"/>
                        </a:spcBef>
                        <a:spcAft>
                          <a:spcPct val="0"/>
                        </a:spcAft>
                        <a:buClr>
                          <a:schemeClr val="accent2"/>
                        </a:buClr>
                        <a:buSzPct val="70000"/>
                        <a:buFont typeface="Arial" panose="020B0604020202020204" pitchFamily="34" charset="0"/>
                        <a:buNone/>
                      </a:pP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6"/>
                  </a:ext>
                </a:extLst>
              </a:tr>
            </a:tbl>
          </a:graphicData>
        </a:graphic>
      </p:graphicFrame>
    </p:spTree>
  </p:cSld>
  <p:clrMapOvr>
    <a:masterClrMapping/>
  </p:clrMapOvr>
  <p:transition spd="med">
    <p:random/>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5410" name="标题 1"/>
          <p:cNvSpPr>
            <a:spLocks noGrp="1"/>
          </p:cNvSpPr>
          <p:nvPr>
            <p:ph type="title" idx="4294967295"/>
          </p:nvPr>
        </p:nvSpPr>
        <p:spPr>
          <a:xfrm>
            <a:off x="376238" y="503238"/>
            <a:ext cx="7772400" cy="627063"/>
          </a:xfrm>
        </p:spPr>
        <p:txBody>
          <a:bodyPr wrap="square" lIns="92075" tIns="46038" rIns="92075" bIns="46038" numCol="1" anchor="t"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各寄存器功能如下：</a:t>
            </a:r>
          </a:p>
        </p:txBody>
      </p:sp>
      <p:sp>
        <p:nvSpPr>
          <p:cNvPr id="60418" name="文本占位符 2"/>
          <p:cNvSpPr>
            <a:spLocks noGrp="1"/>
          </p:cNvSpPr>
          <p:nvPr>
            <p:ph type="body" idx="4294967295"/>
          </p:nvPr>
        </p:nvSpPr>
        <p:spPr>
          <a:xfrm>
            <a:off x="415925" y="1535113"/>
            <a:ext cx="7772400" cy="5241925"/>
          </a:xfrm>
          <a:ln/>
        </p:spPr>
        <p:txBody>
          <a:bodyPr wrap="square" lIns="92075" tIns="46038" rIns="92075" bIns="46038" anchor="b" anchorCtr="0"/>
          <a:lstStyle/>
          <a:p>
            <a:pPr marL="0" indent="0">
              <a:buNone/>
            </a:pPr>
            <a:br>
              <a:rPr lang="zh-CN" altLang="en-US" sz="1400" dirty="0"/>
            </a:br>
            <a:br>
              <a:rPr lang="zh-CN" altLang="en-US" sz="1400" dirty="0"/>
            </a:br>
            <a:endParaRPr lang="en-US" altLang="zh-CN" sz="2400" dirty="0"/>
          </a:p>
          <a:p>
            <a:pPr marL="0" indent="0">
              <a:lnSpc>
                <a:spcPts val="2600"/>
              </a:lnSpc>
              <a:buNone/>
            </a:pPr>
            <a:r>
              <a:rPr lang="zh-CN" altLang="en-US" sz="2000" dirty="0"/>
              <a:t>        用来保存</a:t>
            </a:r>
            <a:r>
              <a:rPr lang="en-US" altLang="zh-CN" sz="2000" dirty="0"/>
              <a:t>DMA</a:t>
            </a:r>
            <a:r>
              <a:rPr lang="zh-CN" altLang="en-US" sz="2000" dirty="0"/>
              <a:t>传送时本通道所用到的数据段地址初值，该初值是由</a:t>
            </a:r>
            <a:r>
              <a:rPr lang="en-US" altLang="zh-CN" sz="2000" dirty="0"/>
              <a:t>CPU</a:t>
            </a:r>
            <a:r>
              <a:rPr lang="zh-CN" altLang="en-US" sz="2000" dirty="0"/>
              <a:t>对</a:t>
            </a:r>
            <a:r>
              <a:rPr lang="en-US" altLang="zh-CN" sz="2000" dirty="0"/>
              <a:t>8237A</a:t>
            </a:r>
            <a:r>
              <a:rPr lang="zh-CN" altLang="en-US" sz="2000" dirty="0"/>
              <a:t>进行初始化编程时写入，但</a:t>
            </a:r>
            <a:r>
              <a:rPr lang="en-US" altLang="zh-CN" sz="2000" dirty="0"/>
              <a:t>CPU</a:t>
            </a:r>
            <a:r>
              <a:rPr lang="zh-CN" altLang="en-US" sz="2000" dirty="0"/>
              <a:t>不能通过输入指令读出基地址寄存器的值。</a:t>
            </a:r>
            <a:br>
              <a:rPr lang="zh-CN" altLang="en-US" sz="2000" dirty="0"/>
            </a:br>
            <a:endParaRPr lang="en-US" altLang="zh-CN" sz="2000" dirty="0"/>
          </a:p>
          <a:p>
            <a:pPr marL="0" indent="0">
              <a:buNone/>
            </a:pPr>
            <a:endParaRPr lang="en-US" altLang="zh-CN" sz="2000" dirty="0"/>
          </a:p>
          <a:p>
            <a:pPr marL="0" indent="0">
              <a:buNone/>
            </a:pPr>
            <a:r>
              <a:rPr lang="zh-CN" altLang="en-US" sz="2000" dirty="0"/>
              <a:t>         用来保存</a:t>
            </a:r>
            <a:r>
              <a:rPr lang="en-US" altLang="zh-CN" sz="2000" dirty="0"/>
              <a:t>DMA</a:t>
            </a:r>
            <a:r>
              <a:rPr lang="zh-CN" altLang="en-US" sz="2000" dirty="0"/>
              <a:t>传送过程中当前地址值。初始时该寄存器的值与基地址寄存器相同，每次</a:t>
            </a:r>
            <a:r>
              <a:rPr lang="en-US" altLang="zh-CN" sz="2000" dirty="0"/>
              <a:t>DMA</a:t>
            </a:r>
            <a:r>
              <a:rPr lang="zh-CN" altLang="en-US" sz="2000" dirty="0"/>
              <a:t>传送后其内容自动增</a:t>
            </a:r>
            <a:r>
              <a:rPr lang="en-US" altLang="zh-CN" sz="2000" dirty="0"/>
              <a:t>1</a:t>
            </a:r>
            <a:r>
              <a:rPr lang="zh-CN" altLang="en-US" sz="2000" dirty="0"/>
              <a:t>或减</a:t>
            </a:r>
            <a:r>
              <a:rPr lang="en-US" altLang="zh-CN" sz="2000" dirty="0"/>
              <a:t>1</a:t>
            </a:r>
            <a:r>
              <a:rPr lang="zh-CN" altLang="en-US" sz="2000" dirty="0"/>
              <a:t>。现行地址寄存器的值可由</a:t>
            </a:r>
            <a:r>
              <a:rPr lang="en-US" altLang="zh-CN" sz="2000" dirty="0"/>
              <a:t>CPU</a:t>
            </a:r>
            <a:r>
              <a:rPr lang="zh-CN" altLang="en-US" sz="2000" dirty="0"/>
              <a:t>通过两条输入指令连续读出，每次</a:t>
            </a:r>
            <a:r>
              <a:rPr lang="en-US" altLang="zh-CN" sz="2000" dirty="0"/>
              <a:t>8</a:t>
            </a:r>
            <a:r>
              <a:rPr lang="zh-CN" altLang="en-US" sz="2000" dirty="0"/>
              <a:t>位。若</a:t>
            </a:r>
            <a:r>
              <a:rPr lang="en-US" altLang="zh-CN" sz="2000" dirty="0"/>
              <a:t>8237A</a:t>
            </a:r>
            <a:r>
              <a:rPr lang="zh-CN" altLang="en-US" sz="2000" dirty="0"/>
              <a:t>编程设定为自动预置，则在每次</a:t>
            </a:r>
            <a:r>
              <a:rPr lang="en-US" altLang="zh-CN" sz="2000" dirty="0"/>
              <a:t>DMA</a:t>
            </a:r>
            <a:r>
              <a:rPr lang="zh-CN" altLang="en-US" sz="2000" dirty="0"/>
              <a:t>操作结束发出</a:t>
            </a:r>
            <a:r>
              <a:rPr lang="en-US" altLang="zh-CN" sz="2000" dirty="0"/>
              <a:t>EOP</a:t>
            </a:r>
            <a:r>
              <a:rPr lang="zh-CN" altLang="en-US" sz="2000" dirty="0"/>
              <a:t>信号后，现行地址寄存器将根据基地址寄存器的内容自动恢复初始值。</a:t>
            </a:r>
          </a:p>
          <a:p>
            <a:pPr marL="0" indent="0">
              <a:buNone/>
            </a:pPr>
            <a:br>
              <a:rPr lang="zh-CN" altLang="en-US" sz="2000" dirty="0"/>
            </a:br>
            <a:endParaRPr lang="en-US" altLang="zh-CN" sz="2000" dirty="0"/>
          </a:p>
          <a:p>
            <a:pPr marL="0" indent="0">
              <a:buNone/>
            </a:pPr>
            <a:r>
              <a:rPr lang="zh-CN" altLang="en-US" sz="2000" dirty="0"/>
              <a:t>       用来保存整个</a:t>
            </a:r>
            <a:r>
              <a:rPr lang="en-US" altLang="zh-CN" sz="2000" dirty="0"/>
              <a:t>DMA</a:t>
            </a:r>
            <a:r>
              <a:rPr lang="zh-CN" altLang="en-US" sz="2000" dirty="0"/>
              <a:t>操作过程中要传送数据的字节数，这个寄存器的初值由</a:t>
            </a:r>
            <a:r>
              <a:rPr lang="en-US" altLang="zh-CN" sz="2000" dirty="0"/>
              <a:t>CPU</a:t>
            </a:r>
            <a:r>
              <a:rPr lang="zh-CN" altLang="en-US" sz="2000" dirty="0"/>
              <a:t>在编程时写入，并且该寄存器的内容也不能被</a:t>
            </a:r>
            <a:r>
              <a:rPr lang="en-US" altLang="zh-CN" sz="2000" dirty="0"/>
              <a:t>CPU</a:t>
            </a:r>
            <a:r>
              <a:rPr lang="zh-CN" altLang="en-US" sz="2000" dirty="0"/>
              <a:t>读出。</a:t>
            </a:r>
            <a:endParaRPr lang="zh-CN" altLang="en-US" sz="1400" dirty="0"/>
          </a:p>
        </p:txBody>
      </p:sp>
      <p:sp>
        <p:nvSpPr>
          <p:cNvPr id="4" name="矩形 3"/>
          <p:cNvSpPr/>
          <p:nvPr/>
        </p:nvSpPr>
        <p:spPr>
          <a:xfrm>
            <a:off x="371245" y="1346454"/>
            <a:ext cx="2926080" cy="426085"/>
          </a:xfrm>
          <a:prstGeom prst="rect">
            <a:avLst/>
          </a:prstGeom>
          <a:noFill/>
        </p:spPr>
        <p:txBody>
          <a:bodyPr wrap="none" lIns="91440" tIns="45720" rIns="91440" bIns="45720">
            <a:spAutoFit/>
          </a:bodyPr>
          <a:lstStyle/>
          <a:p>
            <a:pPr marL="0" marR="0" lvl="0" indent="0" algn="ctr" defTabSz="914400" rtl="0" eaLnBrk="1" fontAlgn="base" latinLnBrk="0" hangingPunct="1">
              <a:lnSpc>
                <a:spcPct val="90000"/>
              </a:lnSpc>
              <a:spcBef>
                <a:spcPct val="20000"/>
              </a:spcBef>
              <a:spcAft>
                <a:spcPct val="0"/>
              </a:spcAft>
              <a:buClrTx/>
              <a:buSzTx/>
              <a:buFont typeface="Arial" panose="020B0604020202020204" pitchFamily="34" charset="0"/>
              <a:buNone/>
              <a:defRPr/>
            </a:pPr>
            <a:r>
              <a:rPr kumimoji="0" lang="zh-CN" altLang="en-US" b="1" i="0" u="none" strike="noStrike" kern="1200" cap="none" spc="0" normalizeH="0" baseline="0" noProof="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uLnTx/>
                <a:uFillTx/>
                <a:latin typeface="宋体" panose="02010600030101010101" pitchFamily="2" charset="-122"/>
                <a:ea typeface="宋体" panose="02010600030101010101" pitchFamily="2" charset="-122"/>
                <a:cs typeface="+mn-cs"/>
              </a:rPr>
              <a:t> </a:t>
            </a:r>
            <a:r>
              <a:rPr kumimoji="0" lang="zh-CN" altLang="en-US" b="1" i="0"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（1）基地址寄存器</a:t>
            </a:r>
            <a:endParaRPr kumimoji="0" lang="zh-CN" altLang="en-US" b="1" i="0" u="none" strike="noStrike" kern="1200" cap="none" spc="0" normalizeH="0" baseline="0" noProof="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uLnTx/>
              <a:uFillTx/>
              <a:latin typeface="宋体" panose="02010600030101010101" pitchFamily="2" charset="-122"/>
              <a:ea typeface="宋体" panose="02010600030101010101" pitchFamily="2" charset="-122"/>
              <a:cs typeface="+mn-cs"/>
            </a:endParaRPr>
          </a:p>
        </p:txBody>
      </p:sp>
      <p:sp>
        <p:nvSpPr>
          <p:cNvPr id="5" name="矩形 4"/>
          <p:cNvSpPr/>
          <p:nvPr/>
        </p:nvSpPr>
        <p:spPr>
          <a:xfrm>
            <a:off x="555655" y="2983485"/>
            <a:ext cx="3078479" cy="426085"/>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marL="0" marR="0" lvl="0" indent="0" algn="ctr" defTabSz="914400" rtl="0" eaLnBrk="1" fontAlgn="base" latinLnBrk="0" hangingPunct="1">
              <a:lnSpc>
                <a:spcPct val="90000"/>
              </a:lnSpc>
              <a:spcBef>
                <a:spcPct val="20000"/>
              </a:spcBef>
              <a:spcAft>
                <a:spcPct val="0"/>
              </a:spcAft>
              <a:buClrTx/>
              <a:buSzTx/>
              <a:buFont typeface="Arial" panose="020B0604020202020204" pitchFamily="34" charset="0"/>
              <a:buNone/>
              <a:defRPr/>
            </a:pPr>
            <a:r>
              <a:rPr kumimoji="0" lang="zh-CN" altLang="en-US" b="1" i="0"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a:t>
            </a:r>
            <a:r>
              <a:rPr kumimoji="0" lang="en-US" altLang="zh-CN" b="1" i="0"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2</a:t>
            </a:r>
            <a:r>
              <a:rPr kumimoji="0" lang="zh-CN" altLang="en-US" b="1" i="0"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）现行地址寄存器</a:t>
            </a:r>
          </a:p>
        </p:txBody>
      </p:sp>
      <p:sp>
        <p:nvSpPr>
          <p:cNvPr id="6" name="矩形 5"/>
          <p:cNvSpPr/>
          <p:nvPr/>
        </p:nvSpPr>
        <p:spPr>
          <a:xfrm>
            <a:off x="586930" y="5279795"/>
            <a:ext cx="3078480" cy="426085"/>
          </a:xfrm>
          <a:prstGeom prst="rect">
            <a:avLst/>
          </a:prstGeom>
          <a:noFill/>
        </p:spPr>
        <p:txBody>
          <a:bodyPr wrap="none" lIns="91440" tIns="45720" rIns="91440" bIns="45720">
            <a:spAutoFit/>
          </a:bodyPr>
          <a:lstStyle/>
          <a:p>
            <a:pPr marL="0" marR="0" lvl="0" indent="0" algn="ctr" defTabSz="914400" rtl="0" eaLnBrk="1" fontAlgn="base" latinLnBrk="0" hangingPunct="1">
              <a:lnSpc>
                <a:spcPct val="90000"/>
              </a:lnSpc>
              <a:spcBef>
                <a:spcPct val="20000"/>
              </a:spcBef>
              <a:spcAft>
                <a:spcPct val="0"/>
              </a:spcAft>
              <a:buClrTx/>
              <a:buSzTx/>
              <a:buFont typeface="Arial" panose="020B0604020202020204" pitchFamily="34" charset="0"/>
              <a:buNone/>
              <a:defRPr/>
            </a:pPr>
            <a:r>
              <a:rPr kumimoji="0" lang="zh-CN" altLang="en-US" b="1" i="0" u="none" strike="noStrike" kern="1200" cap="none" spc="0" normalizeH="0" baseline="0" noProof="0"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uLnTx/>
                <a:uFillTx/>
                <a:latin typeface="宋体" panose="02010600030101010101" pitchFamily="2" charset="-122"/>
                <a:ea typeface="宋体" panose="02010600030101010101" pitchFamily="2" charset="-122"/>
                <a:cs typeface="+mn-cs"/>
              </a:rPr>
              <a:t>（</a:t>
            </a:r>
            <a:r>
              <a:rPr kumimoji="0" lang="en-US" altLang="zh-CN" b="1" i="0" u="none" strike="noStrike" kern="1200" cap="none" spc="0" normalizeH="0" baseline="0" noProof="0"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uLnTx/>
                <a:uFillTx/>
                <a:latin typeface="宋体" panose="02010600030101010101" pitchFamily="2" charset="-122"/>
                <a:ea typeface="宋体" panose="02010600030101010101" pitchFamily="2" charset="-122"/>
                <a:cs typeface="+mn-cs"/>
              </a:rPr>
              <a:t>3</a:t>
            </a:r>
            <a:r>
              <a:rPr kumimoji="0" lang="zh-CN" altLang="en-US" b="1" i="0" u="none" strike="noStrike" kern="1200" cap="none" spc="0" normalizeH="0" baseline="0" noProof="0"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uLnTx/>
                <a:uFillTx/>
                <a:latin typeface="宋体" panose="02010600030101010101" pitchFamily="2" charset="-122"/>
                <a:ea typeface="宋体" panose="02010600030101010101" pitchFamily="2" charset="-122"/>
                <a:cs typeface="+mn-cs"/>
              </a:rPr>
              <a:t>）基字节数寄存器</a:t>
            </a:r>
          </a:p>
        </p:txBody>
      </p:sp>
    </p:spTree>
  </p:cSld>
  <p:clrMapOvr>
    <a:masterClrMapping/>
  </p:clrMapOvr>
  <p:transition spd="med">
    <p:random/>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6434" name="标题 3"/>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各寄存器功能如下：</a:t>
            </a:r>
          </a:p>
        </p:txBody>
      </p:sp>
      <p:sp>
        <p:nvSpPr>
          <p:cNvPr id="61442" name="内容占位符 4"/>
          <p:cNvSpPr>
            <a:spLocks noGrp="1"/>
          </p:cNvSpPr>
          <p:nvPr>
            <p:ph idx="4294967295"/>
          </p:nvPr>
        </p:nvSpPr>
        <p:spPr>
          <a:xfrm>
            <a:off x="247650" y="1370013"/>
            <a:ext cx="8197850" cy="5470525"/>
          </a:xfrm>
          <a:ln/>
        </p:spPr>
        <p:txBody>
          <a:bodyPr wrap="square" lIns="92075" tIns="46038" rIns="92075" bIns="46038" anchor="t" anchorCtr="0"/>
          <a:lstStyle/>
          <a:p>
            <a:pPr>
              <a:lnSpc>
                <a:spcPts val="3200"/>
              </a:lnSpc>
              <a:buNone/>
            </a:pPr>
            <a:r>
              <a:rPr lang="zh-CN" altLang="en-US" sz="2400" dirty="0"/>
              <a:t>    </a:t>
            </a:r>
            <a:r>
              <a:rPr lang="zh-CN" altLang="en-US" sz="2000" dirty="0">
                <a:solidFill>
                  <a:srgbClr val="FFFF00"/>
                </a:solidFill>
              </a:rPr>
              <a:t>（</a:t>
            </a:r>
            <a:r>
              <a:rPr lang="en-US" altLang="zh-CN" sz="2000" dirty="0">
                <a:solidFill>
                  <a:srgbClr val="FFFF00"/>
                </a:solidFill>
              </a:rPr>
              <a:t>4</a:t>
            </a:r>
            <a:r>
              <a:rPr lang="zh-CN" altLang="en-US" sz="2000" dirty="0">
                <a:solidFill>
                  <a:srgbClr val="FFFF00"/>
                </a:solidFill>
              </a:rPr>
              <a:t>）现行字节数寄存器</a:t>
            </a:r>
            <a:r>
              <a:rPr lang="en-US" altLang="zh-CN" sz="2000" dirty="0"/>
              <a:t>:</a:t>
            </a:r>
            <a:r>
              <a:rPr lang="zh-CN" altLang="en-US" sz="2000" dirty="0"/>
              <a:t>用来保存当前要传送的字节数，初始时该寄存器的值与基字节数寄存器相同，每次</a:t>
            </a:r>
            <a:r>
              <a:rPr lang="en-US" altLang="zh-CN" sz="2000" dirty="0"/>
              <a:t>DMA</a:t>
            </a:r>
            <a:r>
              <a:rPr lang="zh-CN" altLang="en-US" sz="2000" dirty="0"/>
              <a:t>传送后，此寄存器内容减</a:t>
            </a:r>
            <a:r>
              <a:rPr lang="en-US" altLang="zh-CN" sz="2000" dirty="0"/>
              <a:t>1</a:t>
            </a:r>
            <a:r>
              <a:rPr lang="zh-CN" altLang="en-US" sz="2000" dirty="0"/>
              <a:t>，当它的值减为零时，将发出</a:t>
            </a:r>
            <a:r>
              <a:rPr lang="en-US" altLang="zh-CN" sz="2000" dirty="0"/>
              <a:t>EOP</a:t>
            </a:r>
            <a:r>
              <a:rPr lang="zh-CN" altLang="en-US" sz="2000" dirty="0"/>
              <a:t>信号，表明</a:t>
            </a:r>
            <a:r>
              <a:rPr lang="en-US" altLang="zh-CN" sz="2000" dirty="0"/>
              <a:t>DMA</a:t>
            </a:r>
            <a:r>
              <a:rPr lang="zh-CN" altLang="en-US" sz="2000" dirty="0"/>
              <a:t>操作结束。这个寄存器的值可由</a:t>
            </a:r>
            <a:r>
              <a:rPr lang="en-US" altLang="zh-CN" sz="2000" dirty="0"/>
              <a:t>CPU</a:t>
            </a:r>
            <a:r>
              <a:rPr lang="zh-CN" altLang="en-US" sz="2000" dirty="0"/>
              <a:t>读出。在自动预置状态下，</a:t>
            </a:r>
            <a:r>
              <a:rPr lang="en-US" altLang="zh-CN" sz="2000" dirty="0"/>
              <a:t>EOP</a:t>
            </a:r>
            <a:r>
              <a:rPr lang="zh-CN" altLang="en-US" sz="2000" dirty="0"/>
              <a:t>有效时现行字节数寄存器的值可根据基字节数寄存器的内容自动恢复为起始状态。</a:t>
            </a:r>
            <a:br>
              <a:rPr lang="zh-CN" altLang="en-US" sz="2000" dirty="0"/>
            </a:br>
            <a:r>
              <a:rPr lang="zh-CN" altLang="en-US" sz="2000" dirty="0">
                <a:solidFill>
                  <a:srgbClr val="FFFF00"/>
                </a:solidFill>
              </a:rPr>
              <a:t>（</a:t>
            </a:r>
            <a:r>
              <a:rPr lang="en-US" altLang="zh-CN" sz="2000" dirty="0">
                <a:solidFill>
                  <a:srgbClr val="FFFF00"/>
                </a:solidFill>
              </a:rPr>
              <a:t>5</a:t>
            </a:r>
            <a:r>
              <a:rPr lang="zh-CN" altLang="en-US" sz="2000" dirty="0">
                <a:solidFill>
                  <a:srgbClr val="FFFF00"/>
                </a:solidFill>
              </a:rPr>
              <a:t>）暂存器</a:t>
            </a:r>
            <a:r>
              <a:rPr lang="en-US" altLang="zh-CN" sz="2000" dirty="0"/>
              <a:t>:</a:t>
            </a:r>
            <a:r>
              <a:rPr lang="zh-CN" altLang="en-US" sz="2000" dirty="0"/>
              <a:t>在存储器到存储器的传送方式下，暂存器用于保存从源存储单元读出的数据。</a:t>
            </a:r>
            <a:endParaRPr lang="en-US" altLang="zh-CN" sz="2000" dirty="0"/>
          </a:p>
          <a:p>
            <a:pPr>
              <a:lnSpc>
                <a:spcPts val="3200"/>
              </a:lnSpc>
              <a:buNone/>
            </a:pPr>
            <a:r>
              <a:rPr lang="zh-CN" altLang="en-US" sz="2000" dirty="0"/>
              <a:t>     </a:t>
            </a:r>
            <a:r>
              <a:rPr lang="zh-CN" altLang="en-US" sz="2000" dirty="0">
                <a:solidFill>
                  <a:srgbClr val="FFFF00"/>
                </a:solidFill>
              </a:rPr>
              <a:t>（</a:t>
            </a:r>
            <a:r>
              <a:rPr lang="en-US" altLang="zh-CN" sz="2000" dirty="0">
                <a:solidFill>
                  <a:srgbClr val="FFFF00"/>
                </a:solidFill>
              </a:rPr>
              <a:t>6</a:t>
            </a:r>
            <a:r>
              <a:rPr lang="zh-CN" altLang="en-US" sz="2000" dirty="0">
                <a:solidFill>
                  <a:srgbClr val="FFFF00"/>
                </a:solidFill>
              </a:rPr>
              <a:t>）方式寄存器</a:t>
            </a:r>
            <a:r>
              <a:rPr lang="en-US" altLang="zh-CN" sz="2000" dirty="0"/>
              <a:t>:</a:t>
            </a:r>
            <a:r>
              <a:rPr lang="zh-CN" altLang="en-US" sz="2000" dirty="0"/>
              <a:t>用于在</a:t>
            </a:r>
            <a:r>
              <a:rPr lang="en-US" altLang="zh-CN" sz="2000" dirty="0"/>
              <a:t>CPU</a:t>
            </a:r>
            <a:r>
              <a:rPr lang="zh-CN" altLang="en-US" sz="2000" dirty="0"/>
              <a:t>对</a:t>
            </a:r>
            <a:r>
              <a:rPr lang="en-US" altLang="zh-CN" sz="2000" dirty="0"/>
              <a:t>8237A</a:t>
            </a:r>
            <a:r>
              <a:rPr lang="zh-CN" altLang="en-US" sz="2000" dirty="0"/>
              <a:t>初始化编程时设定    </a:t>
            </a:r>
            <a:r>
              <a:rPr lang="en-US" altLang="zh-CN" sz="2000" dirty="0"/>
              <a:t>8237A</a:t>
            </a:r>
            <a:r>
              <a:rPr lang="zh-CN" altLang="en-US" sz="2000" dirty="0"/>
              <a:t>的工作方式、地址增减、是否自动预置、传输类型及通道选择。每个通道有一个</a:t>
            </a:r>
            <a:r>
              <a:rPr lang="en-US" altLang="zh-CN" sz="2000" dirty="0"/>
              <a:t>8</a:t>
            </a:r>
            <a:r>
              <a:rPr lang="zh-CN" altLang="en-US" sz="2000" dirty="0"/>
              <a:t>位的方式寄存器，但是它们占用同一个端口地址，用来存放方式字，依靠方式控制字本身的特征位来区分写入不同的通道，用来规定通道的工作方式。</a:t>
            </a:r>
          </a:p>
        </p:txBody>
      </p:sp>
    </p:spTree>
  </p:cSld>
  <p:clrMapOvr>
    <a:masterClrMapping/>
  </p:clrMapOvr>
  <p:transition spd="med">
    <p:random/>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2465" name="Picture 19" descr="6"/>
          <p:cNvPicPr>
            <a:picLocks noChangeAspect="1"/>
          </p:cNvPicPr>
          <p:nvPr/>
        </p:nvPicPr>
        <p:blipFill>
          <a:blip r:embed="rId2"/>
          <a:stretch>
            <a:fillRect/>
          </a:stretch>
        </p:blipFill>
        <p:spPr>
          <a:xfrm>
            <a:off x="1196975" y="415925"/>
            <a:ext cx="6130925" cy="2524125"/>
          </a:xfrm>
          <a:prstGeom prst="rect">
            <a:avLst/>
          </a:prstGeom>
          <a:noFill/>
          <a:ln w="9525">
            <a:noFill/>
          </a:ln>
        </p:spPr>
      </p:pic>
      <p:sp>
        <p:nvSpPr>
          <p:cNvPr id="62466" name="文本框 99"/>
          <p:cNvSpPr txBox="1"/>
          <p:nvPr/>
        </p:nvSpPr>
        <p:spPr>
          <a:xfrm>
            <a:off x="1706563" y="3124200"/>
            <a:ext cx="5080000" cy="369888"/>
          </a:xfrm>
          <a:prstGeom prst="rect">
            <a:avLst/>
          </a:prstGeom>
          <a:noFill/>
          <a:ln w="9525">
            <a:noFill/>
          </a:ln>
        </p:spPr>
        <p:txBody>
          <a:bodyPr anchor="t" anchorCtr="0">
            <a:spAutoFit/>
          </a:bodyPr>
          <a:lstStyle/>
          <a:p>
            <a:pPr algn="ctr"/>
            <a:r>
              <a:rPr lang="zh-CN" altLang="en-US" sz="2000" b="0">
                <a:latin typeface="宋体" panose="02010600030101010101" pitchFamily="2" charset="-122"/>
                <a:ea typeface="宋体" panose="02010600030101010101" pitchFamily="2" charset="-122"/>
              </a:rPr>
              <a:t>图</a:t>
            </a:r>
            <a:r>
              <a:rPr lang="en-US" altLang="zh-CN" sz="2000" b="0">
                <a:latin typeface="宋体" panose="02010600030101010101" pitchFamily="2" charset="-122"/>
                <a:ea typeface="宋体" panose="02010600030101010101" pitchFamily="2" charset="-122"/>
              </a:rPr>
              <a:t>8-14  </a:t>
            </a:r>
            <a:r>
              <a:rPr lang="zh-CN" altLang="en-US" sz="2000" b="0">
                <a:latin typeface="宋体" panose="02010600030101010101" pitchFamily="2" charset="-122"/>
                <a:ea typeface="宋体" panose="02010600030101010101" pitchFamily="2" charset="-122"/>
              </a:rPr>
              <a:t>方式寄存器格式</a:t>
            </a:r>
            <a:endParaRPr lang="zh-CN" altLang="en-US" sz="2000">
              <a:latin typeface="宋体" panose="02010600030101010101" pitchFamily="2" charset="-122"/>
              <a:ea typeface="宋体" panose="02010600030101010101" pitchFamily="2" charset="-122"/>
            </a:endParaRPr>
          </a:p>
        </p:txBody>
      </p:sp>
      <p:pic>
        <p:nvPicPr>
          <p:cNvPr id="62467" name="Picture 20" descr="6"/>
          <p:cNvPicPr>
            <a:picLocks noChangeAspect="1"/>
          </p:cNvPicPr>
          <p:nvPr/>
        </p:nvPicPr>
        <p:blipFill>
          <a:blip r:embed="rId3"/>
          <a:stretch>
            <a:fillRect/>
          </a:stretch>
        </p:blipFill>
        <p:spPr>
          <a:xfrm>
            <a:off x="1038225" y="3548063"/>
            <a:ext cx="6808788" cy="2595562"/>
          </a:xfrm>
          <a:prstGeom prst="rect">
            <a:avLst/>
          </a:prstGeom>
          <a:noFill/>
          <a:ln w="9525">
            <a:noFill/>
          </a:ln>
        </p:spPr>
      </p:pic>
      <p:sp>
        <p:nvSpPr>
          <p:cNvPr id="62468" name="文本框 1"/>
          <p:cNvSpPr txBox="1"/>
          <p:nvPr/>
        </p:nvSpPr>
        <p:spPr>
          <a:xfrm>
            <a:off x="1771650" y="6284913"/>
            <a:ext cx="5080000" cy="369887"/>
          </a:xfrm>
          <a:prstGeom prst="rect">
            <a:avLst/>
          </a:prstGeom>
          <a:noFill/>
          <a:ln w="9525">
            <a:noFill/>
          </a:ln>
        </p:spPr>
        <p:txBody>
          <a:bodyPr anchor="t" anchorCtr="0">
            <a:spAutoFit/>
          </a:bodyPr>
          <a:lstStyle/>
          <a:p>
            <a:pPr algn="ctr"/>
            <a:r>
              <a:rPr lang="zh-CN" altLang="en-US" sz="2000" b="0">
                <a:latin typeface="宋体" panose="02010600030101010101" pitchFamily="2" charset="-122"/>
                <a:ea typeface="宋体" panose="02010600030101010101" pitchFamily="2" charset="-122"/>
              </a:rPr>
              <a:t>图</a:t>
            </a:r>
            <a:r>
              <a:rPr lang="en-US" altLang="zh-CN" sz="2000" b="0">
                <a:latin typeface="宋体" panose="02010600030101010101" pitchFamily="2" charset="-122"/>
                <a:ea typeface="宋体" panose="02010600030101010101" pitchFamily="2" charset="-122"/>
              </a:rPr>
              <a:t>8-15  </a:t>
            </a:r>
            <a:r>
              <a:rPr lang="zh-CN" altLang="en-US" sz="2000" b="0">
                <a:latin typeface="宋体" panose="02010600030101010101" pitchFamily="2" charset="-122"/>
                <a:ea typeface="宋体" panose="02010600030101010101" pitchFamily="2" charset="-122"/>
              </a:rPr>
              <a:t>命令寄存器格式</a:t>
            </a:r>
            <a:endParaRPr lang="zh-CN" altLang="en-US" sz="200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0530" name="标题 1"/>
          <p:cNvSpPr>
            <a:spLocks noGrp="1"/>
          </p:cNvSpPr>
          <p:nvPr>
            <p:ph type="title" idx="4294967295"/>
          </p:nvPr>
        </p:nvSpPr>
        <p:spPr>
          <a:xfrm>
            <a:off x="566738" y="447675"/>
            <a:ext cx="7772400" cy="898525"/>
          </a:xfrm>
        </p:spPr>
        <p:txBody>
          <a:bodyPr wrap="square" lIns="92075" tIns="46038" rIns="92075" bIns="46038" numCol="1" anchor="t"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各寄存器功能如下：</a:t>
            </a:r>
          </a:p>
        </p:txBody>
      </p:sp>
      <p:sp>
        <p:nvSpPr>
          <p:cNvPr id="63490" name="文本占位符 2"/>
          <p:cNvSpPr>
            <a:spLocks noGrp="1"/>
          </p:cNvSpPr>
          <p:nvPr>
            <p:ph type="body" idx="4294967295"/>
          </p:nvPr>
        </p:nvSpPr>
        <p:spPr>
          <a:xfrm>
            <a:off x="576263" y="1751013"/>
            <a:ext cx="7772400" cy="5106987"/>
          </a:xfrm>
          <a:ln/>
        </p:spPr>
        <p:txBody>
          <a:bodyPr wrap="square" lIns="92075" tIns="46038" rIns="92075" bIns="46038" anchor="b" anchorCtr="0"/>
          <a:lstStyle/>
          <a:p>
            <a:pPr marL="0" indent="0">
              <a:buNone/>
            </a:pPr>
            <a:endParaRPr lang="en-US" altLang="zh-CN" sz="2000" dirty="0"/>
          </a:p>
          <a:p>
            <a:pPr marL="0" indent="0">
              <a:buNone/>
            </a:pPr>
            <a:r>
              <a:rPr lang="zh-CN" altLang="en-US" sz="2000" dirty="0"/>
              <a:t>          请求寄存器用于在软件控制下产生一个</a:t>
            </a:r>
            <a:r>
              <a:rPr lang="en-US" altLang="zh-CN" sz="2000" dirty="0"/>
              <a:t>DMA</a:t>
            </a:r>
            <a:r>
              <a:rPr lang="zh-CN" altLang="en-US" sz="2000" dirty="0"/>
              <a:t>请求，就如同外部</a:t>
            </a:r>
            <a:r>
              <a:rPr lang="en-US" altLang="zh-CN" sz="2000" dirty="0"/>
              <a:t>DREQ</a:t>
            </a:r>
            <a:r>
              <a:rPr lang="zh-CN" altLang="en-US" sz="2000" dirty="0"/>
              <a:t>请求一样，格式如图</a:t>
            </a:r>
            <a:r>
              <a:rPr lang="en-US" altLang="zh-CN" sz="2000" dirty="0"/>
              <a:t>6.11</a:t>
            </a:r>
            <a:r>
              <a:rPr lang="zh-CN" altLang="en-US" sz="2000" dirty="0"/>
              <a:t>所示</a:t>
            </a:r>
            <a:r>
              <a:rPr lang="en-US" altLang="zh-CN" sz="2000" dirty="0"/>
              <a:t>.</a:t>
            </a:r>
            <a:r>
              <a:rPr lang="zh-CN" altLang="en-US" sz="2000" dirty="0"/>
              <a:t>为请求字的格式，</a:t>
            </a:r>
            <a:r>
              <a:rPr lang="en-US" altLang="zh-CN" sz="2000" dirty="0"/>
              <a:t>D</a:t>
            </a:r>
            <a:r>
              <a:rPr lang="en-US" altLang="zh-CN" sz="2000" baseline="-25000" dirty="0"/>
              <a:t>0</a:t>
            </a:r>
            <a:r>
              <a:rPr lang="en-US" altLang="zh-CN" sz="2000" dirty="0"/>
              <a:t>D</a:t>
            </a:r>
            <a:r>
              <a:rPr lang="en-US" altLang="zh-CN" sz="2000" baseline="-25000" dirty="0"/>
              <a:t>1</a:t>
            </a:r>
            <a:r>
              <a:rPr lang="zh-CN" altLang="en-US" sz="2000" dirty="0"/>
              <a:t>的不同编码用来表示向不同通道发出</a:t>
            </a:r>
            <a:r>
              <a:rPr lang="en-US" altLang="zh-CN" sz="2000" dirty="0"/>
              <a:t>DMA</a:t>
            </a:r>
            <a:r>
              <a:rPr lang="zh-CN" altLang="en-US" sz="2000" dirty="0"/>
              <a:t>请求。在软件编程时，这些请求是不可屏蔽的，利用命令字即可实现使</a:t>
            </a:r>
            <a:r>
              <a:rPr lang="en-US" altLang="zh-CN" sz="2000" dirty="0"/>
              <a:t>8237</a:t>
            </a:r>
            <a:r>
              <a:rPr lang="zh-CN" altLang="en-US" sz="2000" dirty="0"/>
              <a:t>按照命令字的</a:t>
            </a:r>
            <a:r>
              <a:rPr lang="en-US" altLang="zh-CN" sz="2000" dirty="0"/>
              <a:t>D</a:t>
            </a:r>
            <a:r>
              <a:rPr lang="en-US" altLang="zh-CN" sz="2000" baseline="-25000" dirty="0"/>
              <a:t>0</a:t>
            </a:r>
            <a:r>
              <a:rPr lang="en-US" altLang="zh-CN" sz="2000" dirty="0"/>
              <a:t>D</a:t>
            </a:r>
            <a:r>
              <a:rPr lang="en-US" altLang="zh-CN" sz="2000" baseline="-25000" dirty="0"/>
              <a:t>1</a:t>
            </a:r>
            <a:r>
              <a:rPr lang="zh-CN" altLang="en-US" sz="2000" dirty="0"/>
              <a:t>所指的通道，完成</a:t>
            </a:r>
            <a:r>
              <a:rPr lang="en-US" altLang="zh-CN" sz="2000" dirty="0"/>
              <a:t>D</a:t>
            </a:r>
            <a:r>
              <a:rPr lang="en-US" altLang="zh-CN" sz="2000" baseline="-25000" dirty="0"/>
              <a:t>2</a:t>
            </a:r>
            <a:r>
              <a:rPr lang="zh-CN" altLang="en-US" sz="2000" dirty="0"/>
              <a:t>所规定的操作，这种软件请求只用于通道工作在数据块传送方式之下。</a:t>
            </a:r>
            <a:endParaRPr lang="en-US" altLang="zh-CN" sz="2000" dirty="0"/>
          </a:p>
          <a:p>
            <a:pPr marL="0" indent="0">
              <a:buNone/>
            </a:pPr>
            <a:endParaRPr lang="en-US" altLang="zh-CN" sz="2000" dirty="0"/>
          </a:p>
          <a:p>
            <a:pPr marL="0" indent="0">
              <a:buNone/>
            </a:pPr>
            <a:r>
              <a:rPr lang="en-US" altLang="zh-CN" sz="2000" dirty="0"/>
              <a:t>           8237</a:t>
            </a:r>
            <a:r>
              <a:rPr lang="zh-CN" altLang="en-US" sz="2000" dirty="0"/>
              <a:t>的屏蔽字有两种形式：</a:t>
            </a:r>
            <a:r>
              <a:rPr lang="zh-CN" altLang="en-US" sz="2000" dirty="0">
                <a:solidFill>
                  <a:srgbClr val="FFFF00"/>
                </a:solidFill>
              </a:rPr>
              <a:t>单个通道屏蔽字</a:t>
            </a:r>
            <a:r>
              <a:rPr lang="zh-CN" altLang="en-US" sz="2000" dirty="0"/>
              <a:t>和</a:t>
            </a:r>
            <a:r>
              <a:rPr lang="zh-CN" altLang="en-US" sz="2000" dirty="0">
                <a:solidFill>
                  <a:srgbClr val="FFFF00"/>
                </a:solidFill>
              </a:rPr>
              <a:t>四通道屏蔽字</a:t>
            </a:r>
            <a:r>
              <a:rPr lang="zh-CN" altLang="en-US" sz="2000" dirty="0"/>
              <a:t>。单通道屏蔽字的格式如图</a:t>
            </a:r>
            <a:r>
              <a:rPr lang="en-US" altLang="zh-CN" sz="2000" dirty="0"/>
              <a:t>6-12</a:t>
            </a:r>
            <a:r>
              <a:rPr lang="zh-CN" altLang="en-US" sz="2000" dirty="0"/>
              <a:t>所示，利用这个屏蔽字，每次只能选择一个通道。其中</a:t>
            </a:r>
            <a:r>
              <a:rPr lang="en-US" altLang="zh-CN" sz="2000" dirty="0"/>
              <a:t>D</a:t>
            </a:r>
            <a:r>
              <a:rPr lang="en-US" altLang="zh-CN" sz="2000" baseline="-25000" dirty="0"/>
              <a:t>0</a:t>
            </a:r>
            <a:r>
              <a:rPr lang="en-US" altLang="zh-CN" sz="2000" dirty="0"/>
              <a:t>D</a:t>
            </a:r>
            <a:r>
              <a:rPr lang="en-US" altLang="zh-CN" sz="2000" baseline="-25000" dirty="0"/>
              <a:t>1</a:t>
            </a:r>
            <a:r>
              <a:rPr lang="zh-CN" altLang="en-US" sz="2000" dirty="0"/>
              <a:t>的编码指示所选的通道，</a:t>
            </a:r>
            <a:r>
              <a:rPr lang="en-US" altLang="zh-CN" sz="2000" dirty="0"/>
              <a:t>D</a:t>
            </a:r>
            <a:r>
              <a:rPr lang="en-US" altLang="zh-CN" sz="2000" baseline="-25000" dirty="0"/>
              <a:t>2</a:t>
            </a:r>
            <a:r>
              <a:rPr lang="zh-CN" altLang="en-US" sz="2000" dirty="0"/>
              <a:t>＝</a:t>
            </a:r>
            <a:r>
              <a:rPr lang="en-US" altLang="zh-CN" sz="2000" dirty="0"/>
              <a:t>l</a:t>
            </a:r>
            <a:r>
              <a:rPr lang="zh-CN" altLang="en-US" sz="2000" dirty="0"/>
              <a:t>表示禁止该通道接收</a:t>
            </a:r>
            <a:r>
              <a:rPr lang="en-US" altLang="zh-CN" sz="2000" dirty="0"/>
              <a:t>DREQ</a:t>
            </a:r>
            <a:r>
              <a:rPr lang="zh-CN" altLang="en-US" sz="2000" dirty="0"/>
              <a:t>请求，当</a:t>
            </a:r>
            <a:r>
              <a:rPr lang="en-US" altLang="zh-CN" sz="2000" dirty="0"/>
              <a:t>D</a:t>
            </a:r>
            <a:r>
              <a:rPr lang="en-US" altLang="zh-CN" sz="2000" baseline="-25000" dirty="0"/>
              <a:t>2</a:t>
            </a:r>
            <a:r>
              <a:rPr lang="zh-CN" altLang="en-US" sz="2000" dirty="0"/>
              <a:t>＝</a:t>
            </a:r>
            <a:r>
              <a:rPr lang="en-US" altLang="zh-CN" sz="2000" dirty="0"/>
              <a:t>0</a:t>
            </a:r>
            <a:r>
              <a:rPr lang="zh-CN" altLang="en-US" sz="2000" dirty="0"/>
              <a:t>时允许</a:t>
            </a:r>
            <a:r>
              <a:rPr lang="en-US" altLang="zh-CN" sz="2000" dirty="0"/>
              <a:t>DREQ</a:t>
            </a:r>
            <a:r>
              <a:rPr lang="zh-CN" altLang="en-US" sz="2000" dirty="0"/>
              <a:t>请求。四通道屏蔽字的格式如图</a:t>
            </a:r>
            <a:r>
              <a:rPr lang="en-US" altLang="zh-CN" sz="2000" dirty="0"/>
              <a:t>6.13</a:t>
            </a:r>
            <a:r>
              <a:rPr lang="zh-CN" altLang="en-US" sz="2000" dirty="0"/>
              <a:t>所示，可以利用这个屏蔽字同时对</a:t>
            </a:r>
            <a:r>
              <a:rPr lang="en-US" altLang="zh-CN" sz="2000" dirty="0"/>
              <a:t>8237</a:t>
            </a:r>
            <a:r>
              <a:rPr lang="zh-CN" altLang="en-US" sz="2000" dirty="0"/>
              <a:t>的</a:t>
            </a:r>
            <a:r>
              <a:rPr lang="en-US" altLang="zh-CN" sz="2000" dirty="0"/>
              <a:t>4</a:t>
            </a:r>
            <a:r>
              <a:rPr lang="zh-CN" altLang="en-US" sz="2000" dirty="0"/>
              <a:t>个通道的屏蔽字进行操作，故又称为主屏蔽字。它与单通道屏蔽字占用不同的</a:t>
            </a:r>
            <a:r>
              <a:rPr lang="en-US" altLang="zh-CN" sz="2000" dirty="0"/>
              <a:t>I/O</a:t>
            </a:r>
            <a:r>
              <a:rPr lang="zh-CN" altLang="en-US" sz="2000" dirty="0"/>
              <a:t>接口地址，以此加以区分。</a:t>
            </a:r>
            <a:br>
              <a:rPr lang="zh-CN" altLang="en-US" sz="1600" dirty="0"/>
            </a:br>
            <a:br>
              <a:rPr lang="zh-CN" altLang="en-US" sz="1600" dirty="0"/>
            </a:br>
            <a:r>
              <a:rPr lang="en-US" altLang="zh-CN" sz="1600" dirty="0"/>
              <a:t> </a:t>
            </a:r>
            <a:r>
              <a:rPr lang="zh-CN" altLang="en-US" sz="1600" dirty="0"/>
              <a:t> </a:t>
            </a:r>
            <a:r>
              <a:rPr lang="en-US" altLang="zh-CN" sz="1600" dirty="0"/>
              <a:t> </a:t>
            </a:r>
            <a:endParaRPr lang="zh-CN" altLang="en-US" sz="1600" dirty="0"/>
          </a:p>
        </p:txBody>
      </p:sp>
      <p:sp>
        <p:nvSpPr>
          <p:cNvPr id="4" name="矩形 3"/>
          <p:cNvSpPr/>
          <p:nvPr/>
        </p:nvSpPr>
        <p:spPr>
          <a:xfrm>
            <a:off x="635674" y="1513572"/>
            <a:ext cx="2468879" cy="426085"/>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marL="0" marR="0" lvl="0" indent="0" algn="ctr" defTabSz="914400" rtl="0" eaLnBrk="1" fontAlgn="base" latinLnBrk="0" hangingPunct="1">
              <a:lnSpc>
                <a:spcPct val="90000"/>
              </a:lnSpc>
              <a:spcBef>
                <a:spcPct val="20000"/>
              </a:spcBef>
              <a:spcAft>
                <a:spcPct val="0"/>
              </a:spcAft>
              <a:buClrTx/>
              <a:buSzTx/>
              <a:buFont typeface="Arial" panose="020B0604020202020204" pitchFamily="34" charset="0"/>
              <a:buNone/>
              <a:defRPr/>
            </a:pPr>
            <a:r>
              <a:rPr kumimoji="0" lang="zh-CN" altLang="en-US" b="1" i="0"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a:t>
            </a:r>
            <a:r>
              <a:rPr kumimoji="0" lang="en-US" altLang="zh-CN" b="1" i="0"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8</a:t>
            </a:r>
            <a:r>
              <a:rPr kumimoji="0" lang="zh-CN" altLang="en-US" b="1" i="0" u="none" strike="noStrike" kern="1200" cap="none" spc="0" normalizeH="0" baseline="0" noProof="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uLnTx/>
                <a:uFillTx/>
                <a:latin typeface="宋体" panose="02010600030101010101" pitchFamily="2" charset="-122"/>
                <a:ea typeface="宋体" panose="02010600030101010101" pitchFamily="2" charset="-122"/>
                <a:cs typeface="+mn-cs"/>
              </a:rPr>
              <a:t>）请求寄存器</a:t>
            </a:r>
          </a:p>
        </p:txBody>
      </p:sp>
      <p:sp>
        <p:nvSpPr>
          <p:cNvPr id="5" name="矩形 4"/>
          <p:cNvSpPr/>
          <p:nvPr/>
        </p:nvSpPr>
        <p:spPr>
          <a:xfrm>
            <a:off x="596247" y="3740405"/>
            <a:ext cx="2468880" cy="426085"/>
          </a:xfrm>
          <a:prstGeom prst="rect">
            <a:avLst/>
          </a:prstGeom>
          <a:noFill/>
        </p:spPr>
        <p:txBody>
          <a:bodyPr wrap="none" lIns="91440" tIns="45720" rIns="91440" bIns="45720">
            <a:spAutoFit/>
          </a:bodyPr>
          <a:lstStyle/>
          <a:p>
            <a:pPr marL="0" marR="0" lvl="0" indent="0" algn="ctr" defTabSz="914400" rtl="0" eaLnBrk="1" fontAlgn="base" latinLnBrk="0" hangingPunct="1">
              <a:lnSpc>
                <a:spcPct val="90000"/>
              </a:lnSpc>
              <a:spcBef>
                <a:spcPct val="20000"/>
              </a:spcBef>
              <a:spcAft>
                <a:spcPct val="0"/>
              </a:spcAft>
              <a:buClrTx/>
              <a:buSzTx/>
              <a:buFont typeface="Arial" panose="020B0604020202020204" pitchFamily="34" charset="0"/>
              <a:buNone/>
              <a:defRPr/>
            </a:pPr>
            <a:r>
              <a:rPr kumimoji="0" lang="zh-CN" altLang="en-US" b="1" i="0" u="none" strike="noStrike" kern="1200" cap="none" spc="0" normalizeH="0" baseline="0" noProof="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宋体" panose="02010600030101010101" pitchFamily="2" charset="-122"/>
                <a:ea typeface="宋体" panose="02010600030101010101" pitchFamily="2" charset="-122"/>
                <a:cs typeface="+mn-cs"/>
              </a:rPr>
              <a:t>（</a:t>
            </a:r>
            <a:r>
              <a:rPr kumimoji="0" lang="en-US" altLang="zh-CN" b="1" i="0" u="none" strike="noStrike" kern="1200" cap="none" spc="0" normalizeH="0" baseline="0" noProof="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宋体" panose="02010600030101010101" pitchFamily="2" charset="-122"/>
                <a:ea typeface="宋体" panose="02010600030101010101" pitchFamily="2" charset="-122"/>
                <a:cs typeface="+mn-cs"/>
              </a:rPr>
              <a:t>9</a:t>
            </a:r>
            <a:r>
              <a:rPr kumimoji="0" lang="zh-CN" altLang="en-US" b="1" i="0" u="none" strike="noStrike" kern="1200" cap="none" spc="0" normalizeH="0" baseline="0" noProof="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宋体" panose="02010600030101010101" pitchFamily="2" charset="-122"/>
                <a:ea typeface="宋体" panose="02010600030101010101" pitchFamily="2" charset="-122"/>
                <a:cs typeface="+mn-cs"/>
              </a:rPr>
              <a:t>）屏蔽寄存器</a:t>
            </a:r>
          </a:p>
        </p:txBody>
      </p:sp>
    </p:spTree>
  </p:cSld>
  <p:clrMapOvr>
    <a:masterClrMapping/>
  </p:clrMapOvr>
  <p:transition spd="med">
    <p:random/>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4513" name="Picture 21" descr="6"/>
          <p:cNvPicPr>
            <a:picLocks noChangeAspect="1"/>
          </p:cNvPicPr>
          <p:nvPr/>
        </p:nvPicPr>
        <p:blipFill>
          <a:blip r:embed="rId2"/>
          <a:stretch>
            <a:fillRect/>
          </a:stretch>
        </p:blipFill>
        <p:spPr>
          <a:xfrm>
            <a:off x="1301750" y="436563"/>
            <a:ext cx="6332538" cy="2168525"/>
          </a:xfrm>
          <a:prstGeom prst="rect">
            <a:avLst/>
          </a:prstGeom>
          <a:noFill/>
          <a:ln w="9525">
            <a:noFill/>
          </a:ln>
        </p:spPr>
      </p:pic>
      <p:sp>
        <p:nvSpPr>
          <p:cNvPr id="64514" name="文本框 99"/>
          <p:cNvSpPr txBox="1"/>
          <p:nvPr/>
        </p:nvSpPr>
        <p:spPr>
          <a:xfrm>
            <a:off x="1771650" y="2865438"/>
            <a:ext cx="5080000" cy="369887"/>
          </a:xfrm>
          <a:prstGeom prst="rect">
            <a:avLst/>
          </a:prstGeom>
          <a:noFill/>
          <a:ln w="9525">
            <a:noFill/>
          </a:ln>
        </p:spPr>
        <p:txBody>
          <a:bodyPr anchor="t" anchorCtr="0">
            <a:spAutoFit/>
          </a:bodyPr>
          <a:lstStyle/>
          <a:p>
            <a:pPr algn="ctr"/>
            <a:r>
              <a:rPr lang="zh-CN" altLang="en-US" sz="2000" b="0">
                <a:latin typeface="宋体" panose="02010600030101010101" pitchFamily="2" charset="-122"/>
                <a:ea typeface="宋体" panose="02010600030101010101" pitchFamily="2" charset="-122"/>
              </a:rPr>
              <a:t>图</a:t>
            </a:r>
            <a:r>
              <a:rPr lang="en-US" altLang="zh-CN" sz="2000" b="0">
                <a:latin typeface="宋体" panose="02010600030101010101" pitchFamily="2" charset="-122"/>
                <a:ea typeface="宋体" panose="02010600030101010101" pitchFamily="2" charset="-122"/>
              </a:rPr>
              <a:t>8-16  </a:t>
            </a:r>
            <a:r>
              <a:rPr lang="zh-CN" altLang="en-US" sz="2000" b="0">
                <a:latin typeface="宋体" panose="02010600030101010101" pitchFamily="2" charset="-122"/>
                <a:ea typeface="宋体" panose="02010600030101010101" pitchFamily="2" charset="-122"/>
              </a:rPr>
              <a:t>请求寄存器格式</a:t>
            </a:r>
            <a:endParaRPr lang="zh-CN" altLang="en-US" sz="2000">
              <a:latin typeface="宋体" panose="02010600030101010101" pitchFamily="2" charset="-122"/>
              <a:ea typeface="宋体" panose="02010600030101010101" pitchFamily="2" charset="-122"/>
            </a:endParaRPr>
          </a:p>
        </p:txBody>
      </p:sp>
      <p:pic>
        <p:nvPicPr>
          <p:cNvPr id="64515" name="Picture 22" descr="6"/>
          <p:cNvPicPr>
            <a:picLocks noChangeAspect="1"/>
          </p:cNvPicPr>
          <p:nvPr/>
        </p:nvPicPr>
        <p:blipFill>
          <a:blip r:embed="rId3"/>
          <a:stretch>
            <a:fillRect/>
          </a:stretch>
        </p:blipFill>
        <p:spPr>
          <a:xfrm>
            <a:off x="1377950" y="3698875"/>
            <a:ext cx="6256338" cy="2206625"/>
          </a:xfrm>
          <a:prstGeom prst="rect">
            <a:avLst/>
          </a:prstGeom>
          <a:noFill/>
          <a:ln w="9525">
            <a:noFill/>
          </a:ln>
        </p:spPr>
      </p:pic>
      <p:sp>
        <p:nvSpPr>
          <p:cNvPr id="64516" name="文本框 1"/>
          <p:cNvSpPr txBox="1"/>
          <p:nvPr/>
        </p:nvSpPr>
        <p:spPr>
          <a:xfrm>
            <a:off x="2730500" y="6022975"/>
            <a:ext cx="3340100" cy="377825"/>
          </a:xfrm>
          <a:prstGeom prst="rect">
            <a:avLst/>
          </a:prstGeom>
          <a:noFill/>
          <a:ln w="9525">
            <a:noFill/>
          </a:ln>
        </p:spPr>
        <p:txBody>
          <a:bodyPr wrap="square" anchor="t" anchorCtr="0">
            <a:spAutoFit/>
          </a:bodyPr>
          <a:lstStyle/>
          <a:p>
            <a:r>
              <a:rPr lang="zh-CN" altLang="en-US" sz="2000" b="0">
                <a:latin typeface="宋体" panose="02010600030101010101" pitchFamily="2" charset="-122"/>
                <a:ea typeface="宋体" panose="02010600030101010101" pitchFamily="2" charset="-122"/>
              </a:rPr>
              <a:t>图</a:t>
            </a:r>
            <a:r>
              <a:rPr lang="en-US" altLang="zh-CN" sz="2000" b="0">
                <a:latin typeface="宋体" panose="02010600030101010101" pitchFamily="2" charset="-122"/>
                <a:ea typeface="宋体" panose="02010600030101010101" pitchFamily="2" charset="-122"/>
              </a:rPr>
              <a:t>8-</a:t>
            </a:r>
            <a:r>
              <a:rPr lang="en-US" altLang="zh-CN" sz="2000" b="0">
                <a:latin typeface="Times New Roman" panose="02020603050405020304" pitchFamily="18" charset="0"/>
                <a:ea typeface="宋体" panose="02010600030101010101" pitchFamily="2" charset="-122"/>
              </a:rPr>
              <a:t>1</a:t>
            </a:r>
            <a:r>
              <a:rPr lang="en-US" altLang="zh-CN" sz="2000" b="0">
                <a:latin typeface="宋体" panose="02010600030101010101" pitchFamily="2" charset="-122"/>
                <a:ea typeface="宋体" panose="02010600030101010101" pitchFamily="2" charset="-122"/>
              </a:rPr>
              <a:t>7</a:t>
            </a:r>
            <a:r>
              <a:rPr lang="zh-CN" altLang="en-US" sz="2000" b="0">
                <a:latin typeface="宋体" panose="02010600030101010101" pitchFamily="2" charset="-122"/>
                <a:ea typeface="宋体" panose="02010600030101010101" pitchFamily="2" charset="-122"/>
              </a:rPr>
              <a:t>　单通道屏蔽字格式</a:t>
            </a:r>
            <a:endParaRPr lang="zh-CN" altLang="en-US" sz="200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5537" name="Picture 23" descr="6"/>
          <p:cNvPicPr>
            <a:picLocks noChangeAspect="1"/>
          </p:cNvPicPr>
          <p:nvPr/>
        </p:nvPicPr>
        <p:blipFill>
          <a:blip r:embed="rId2"/>
          <a:stretch>
            <a:fillRect/>
          </a:stretch>
        </p:blipFill>
        <p:spPr>
          <a:xfrm>
            <a:off x="1831975" y="473075"/>
            <a:ext cx="5083175" cy="2573338"/>
          </a:xfrm>
          <a:prstGeom prst="rect">
            <a:avLst/>
          </a:prstGeom>
          <a:noFill/>
          <a:ln w="9525">
            <a:noFill/>
          </a:ln>
        </p:spPr>
      </p:pic>
      <p:sp>
        <p:nvSpPr>
          <p:cNvPr id="65538" name="文本框 99"/>
          <p:cNvSpPr txBox="1"/>
          <p:nvPr/>
        </p:nvSpPr>
        <p:spPr>
          <a:xfrm>
            <a:off x="1820863" y="3213100"/>
            <a:ext cx="5080000" cy="379413"/>
          </a:xfrm>
          <a:prstGeom prst="rect">
            <a:avLst/>
          </a:prstGeom>
          <a:noFill/>
          <a:ln w="9525">
            <a:noFill/>
          </a:ln>
        </p:spPr>
        <p:txBody>
          <a:bodyPr anchor="t" anchorCtr="0">
            <a:spAutoFit/>
          </a:bodyPr>
          <a:lstStyle/>
          <a:p>
            <a:pPr algn="ctr"/>
            <a:r>
              <a:rPr lang="zh-CN" altLang="en-US" sz="2000" b="0">
                <a:latin typeface="宋体" panose="02010600030101010101" pitchFamily="2" charset="-122"/>
                <a:ea typeface="宋体" panose="02010600030101010101" pitchFamily="2" charset="-122"/>
              </a:rPr>
              <a:t>图</a:t>
            </a:r>
            <a:r>
              <a:rPr lang="en-US" altLang="zh-CN" sz="2000" b="0">
                <a:latin typeface="宋体" panose="02010600030101010101" pitchFamily="2" charset="-122"/>
                <a:ea typeface="宋体" panose="02010600030101010101" pitchFamily="2" charset="-122"/>
              </a:rPr>
              <a:t>8-</a:t>
            </a:r>
            <a:r>
              <a:rPr lang="en-US" altLang="zh-CN" sz="2000" b="0">
                <a:latin typeface="Times New Roman" panose="02020603050405020304" pitchFamily="18" charset="0"/>
                <a:ea typeface="宋体" panose="02010600030101010101" pitchFamily="2" charset="-122"/>
              </a:rPr>
              <a:t>1</a:t>
            </a:r>
            <a:r>
              <a:rPr lang="en-US" altLang="zh-CN" sz="2000" b="0">
                <a:latin typeface="宋体" panose="02010600030101010101" pitchFamily="2" charset="-122"/>
                <a:ea typeface="宋体" panose="02010600030101010101" pitchFamily="2" charset="-122"/>
              </a:rPr>
              <a:t>8  </a:t>
            </a:r>
            <a:r>
              <a:rPr lang="zh-CN" altLang="en-US" sz="2000" b="0">
                <a:latin typeface="宋体" panose="02010600030101010101" pitchFamily="2" charset="-122"/>
                <a:ea typeface="宋体" panose="02010600030101010101" pitchFamily="2" charset="-122"/>
              </a:rPr>
              <a:t>四通道屏蔽字格式</a:t>
            </a:r>
            <a:endParaRPr lang="zh-CN" altLang="en-US" sz="2000">
              <a:latin typeface="宋体" panose="02010600030101010101" pitchFamily="2" charset="-122"/>
              <a:ea typeface="宋体" panose="02010600030101010101" pitchFamily="2" charset="-122"/>
            </a:endParaRPr>
          </a:p>
        </p:txBody>
      </p:sp>
      <p:pic>
        <p:nvPicPr>
          <p:cNvPr id="65539" name="Picture 24" descr="6"/>
          <p:cNvPicPr>
            <a:picLocks noChangeAspect="1"/>
          </p:cNvPicPr>
          <p:nvPr/>
        </p:nvPicPr>
        <p:blipFill>
          <a:blip r:embed="rId3"/>
          <a:stretch>
            <a:fillRect/>
          </a:stretch>
        </p:blipFill>
        <p:spPr>
          <a:xfrm>
            <a:off x="885825" y="4092575"/>
            <a:ext cx="7275513" cy="2114550"/>
          </a:xfrm>
          <a:prstGeom prst="rect">
            <a:avLst/>
          </a:prstGeom>
          <a:noFill/>
          <a:ln w="9525">
            <a:noFill/>
          </a:ln>
        </p:spPr>
      </p:pic>
      <p:sp>
        <p:nvSpPr>
          <p:cNvPr id="65540" name="文本框 2"/>
          <p:cNvSpPr txBox="1"/>
          <p:nvPr/>
        </p:nvSpPr>
        <p:spPr>
          <a:xfrm>
            <a:off x="1828800" y="6338888"/>
            <a:ext cx="5080000" cy="369887"/>
          </a:xfrm>
          <a:prstGeom prst="rect">
            <a:avLst/>
          </a:prstGeom>
          <a:noFill/>
          <a:ln w="9525">
            <a:noFill/>
          </a:ln>
        </p:spPr>
        <p:txBody>
          <a:bodyPr anchor="t" anchorCtr="0">
            <a:spAutoFit/>
          </a:bodyPr>
          <a:lstStyle/>
          <a:p>
            <a:pPr algn="ctr"/>
            <a:r>
              <a:rPr lang="zh-CN" altLang="en-US" sz="2000" b="0">
                <a:latin typeface="宋体" panose="02010600030101010101" pitchFamily="2" charset="-122"/>
                <a:ea typeface="宋体" panose="02010600030101010101" pitchFamily="2" charset="-122"/>
              </a:rPr>
              <a:t>图</a:t>
            </a:r>
            <a:r>
              <a:rPr lang="en-US" altLang="zh-CN" sz="2000" b="0">
                <a:latin typeface="宋体" panose="02010600030101010101" pitchFamily="2" charset="-122"/>
                <a:ea typeface="宋体" panose="02010600030101010101" pitchFamily="2" charset="-122"/>
              </a:rPr>
              <a:t>8-19  </a:t>
            </a:r>
            <a:r>
              <a:rPr lang="zh-CN" altLang="en-US" sz="2000" b="0">
                <a:latin typeface="宋体" panose="02010600030101010101" pitchFamily="2" charset="-122"/>
                <a:ea typeface="宋体" panose="02010600030101010101" pitchFamily="2" charset="-122"/>
              </a:rPr>
              <a:t>状态寄存器的格式</a:t>
            </a:r>
            <a:endParaRPr lang="zh-CN" altLang="en-US" sz="200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4626" name="标题 1"/>
          <p:cNvSpPr>
            <a:spLocks noGrp="1"/>
          </p:cNvSpPr>
          <p:nvPr>
            <p:ph type="title" idx="4294967295"/>
          </p:nvPr>
        </p:nvSpPr>
        <p:spPr>
          <a:xfrm>
            <a:off x="420688" y="520700"/>
            <a:ext cx="7772400" cy="882650"/>
          </a:xfrm>
        </p:spPr>
        <p:txBody>
          <a:bodyPr wrap="square" lIns="92075" tIns="46038" rIns="92075" bIns="46038" numCol="1" anchor="t"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sz="32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8.2.3  8237A的工作方式和传输类型</a:t>
            </a:r>
          </a:p>
        </p:txBody>
      </p:sp>
      <p:sp>
        <p:nvSpPr>
          <p:cNvPr id="66562" name="文本占位符 2"/>
          <p:cNvSpPr>
            <a:spLocks noGrp="1"/>
          </p:cNvSpPr>
          <p:nvPr>
            <p:ph type="body" idx="4294967295"/>
          </p:nvPr>
        </p:nvSpPr>
        <p:spPr>
          <a:xfrm>
            <a:off x="693738" y="1460500"/>
            <a:ext cx="7772400" cy="4059238"/>
          </a:xfrm>
          <a:ln/>
        </p:spPr>
        <p:txBody>
          <a:bodyPr wrap="square" lIns="92075" tIns="46038" rIns="92075" bIns="46038" anchor="b" anchorCtr="0"/>
          <a:lstStyle/>
          <a:p>
            <a:pPr marL="0" indent="0">
              <a:lnSpc>
                <a:spcPts val="6500"/>
              </a:lnSpc>
              <a:buNone/>
            </a:pPr>
            <a:r>
              <a:rPr lang="en-US" altLang="zh-CN" sz="3200" i="1" dirty="0">
                <a:solidFill>
                  <a:srgbClr val="00CC00"/>
                </a:solidFill>
              </a:rPr>
              <a:t>        1</a:t>
            </a:r>
            <a:r>
              <a:rPr lang="zh-CN" altLang="en-US" sz="3200" i="1" dirty="0">
                <a:solidFill>
                  <a:srgbClr val="00CC00"/>
                </a:solidFill>
              </a:rPr>
              <a:t>．</a:t>
            </a:r>
            <a:r>
              <a:rPr lang="en-US" altLang="zh-CN" sz="3200" i="1" dirty="0">
                <a:solidFill>
                  <a:srgbClr val="00CC00"/>
                </a:solidFill>
              </a:rPr>
              <a:t>8237A</a:t>
            </a:r>
            <a:r>
              <a:rPr lang="zh-CN" altLang="en-US" sz="3200" i="1" dirty="0">
                <a:solidFill>
                  <a:srgbClr val="00CC00"/>
                </a:solidFill>
              </a:rPr>
              <a:t>的工作方式</a:t>
            </a:r>
            <a:endParaRPr lang="en-US" altLang="zh-CN" sz="3200" i="1" dirty="0">
              <a:solidFill>
                <a:srgbClr val="00CC00"/>
              </a:solidFill>
            </a:endParaRPr>
          </a:p>
          <a:p>
            <a:pPr marL="0" indent="0">
              <a:lnSpc>
                <a:spcPts val="6500"/>
              </a:lnSpc>
              <a:buNone/>
            </a:pPr>
            <a:r>
              <a:rPr lang="en-US" altLang="zh-CN" sz="3200" i="1" dirty="0">
                <a:solidFill>
                  <a:srgbClr val="00CC00"/>
                </a:solidFill>
              </a:rPr>
              <a:t>        2</a:t>
            </a:r>
            <a:r>
              <a:rPr lang="zh-CN" altLang="en-US" sz="3200" i="1" dirty="0">
                <a:solidFill>
                  <a:srgbClr val="00CC00"/>
                </a:solidFill>
              </a:rPr>
              <a:t>．</a:t>
            </a:r>
            <a:r>
              <a:rPr lang="en-US" altLang="zh-CN" sz="3200" i="1" dirty="0">
                <a:solidFill>
                  <a:srgbClr val="00CC00"/>
                </a:solidFill>
              </a:rPr>
              <a:t>8237A</a:t>
            </a:r>
            <a:r>
              <a:rPr lang="zh-CN" altLang="en-US" sz="3200" i="1" dirty="0">
                <a:solidFill>
                  <a:srgbClr val="00CC00"/>
                </a:solidFill>
              </a:rPr>
              <a:t>的</a:t>
            </a:r>
            <a:r>
              <a:rPr lang="en-US" altLang="zh-CN" sz="3200" i="1" dirty="0">
                <a:solidFill>
                  <a:srgbClr val="00CC00"/>
                </a:solidFill>
              </a:rPr>
              <a:t>DMA</a:t>
            </a:r>
            <a:r>
              <a:rPr lang="zh-CN" altLang="en-US" sz="3200" i="1" dirty="0">
                <a:solidFill>
                  <a:srgbClr val="00CC00"/>
                </a:solidFill>
              </a:rPr>
              <a:t>传输类型</a:t>
            </a:r>
            <a:endParaRPr lang="en-US" altLang="zh-CN" sz="3200" i="1" dirty="0">
              <a:solidFill>
                <a:srgbClr val="00CC00"/>
              </a:solidFill>
            </a:endParaRPr>
          </a:p>
          <a:p>
            <a:pPr marL="0" indent="0">
              <a:lnSpc>
                <a:spcPts val="5500"/>
              </a:lnSpc>
              <a:buNone/>
            </a:pPr>
            <a:endParaRPr lang="en-US" altLang="zh-CN" sz="3200" dirty="0"/>
          </a:p>
        </p:txBody>
      </p:sp>
      <p:pic>
        <p:nvPicPr>
          <p:cNvPr id="66563" name="矩形 3"/>
          <p:cNvPicPr/>
          <p:nvPr/>
        </p:nvPicPr>
        <p:blipFill>
          <a:blip r:embed="rId2"/>
          <a:stretch>
            <a:fillRect/>
          </a:stretch>
        </p:blipFill>
        <p:spPr>
          <a:xfrm>
            <a:off x="1258888" y="2114550"/>
            <a:ext cx="2876550" cy="550863"/>
          </a:xfrm>
          <a:prstGeom prst="rect">
            <a:avLst/>
          </a:prstGeom>
          <a:noFill/>
          <a:ln w="9525">
            <a:noFill/>
          </a:ln>
        </p:spPr>
      </p:pic>
    </p:spTree>
  </p:cSld>
  <p:clrMapOvr>
    <a:masterClrMapping/>
  </p:clrMapOvr>
  <p:transition spd="med">
    <p:random/>
  </p:transition>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5650" name="标题 3"/>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32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1</a:t>
            </a:r>
            <a:r>
              <a:rPr kumimoji="0" lang="zh-CN" altLang="en-US" sz="32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a:t>
            </a:r>
            <a:r>
              <a:rPr kumimoji="0" lang="en-US" sz="32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8237A</a:t>
            </a:r>
            <a:r>
              <a:rPr kumimoji="0" lang="zh-CN" altLang="en-US" sz="32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的工作方式</a:t>
            </a:r>
          </a:p>
        </p:txBody>
      </p:sp>
      <p:sp>
        <p:nvSpPr>
          <p:cNvPr id="67586" name="内容占位符 4"/>
          <p:cNvSpPr>
            <a:spLocks noGrp="1"/>
          </p:cNvSpPr>
          <p:nvPr>
            <p:ph idx="4294967295"/>
          </p:nvPr>
        </p:nvSpPr>
        <p:spPr>
          <a:xfrm>
            <a:off x="63500" y="1379538"/>
            <a:ext cx="8510588" cy="5175250"/>
          </a:xfrm>
          <a:ln/>
        </p:spPr>
        <p:txBody>
          <a:bodyPr wrap="square" lIns="92075" tIns="46038" rIns="92075" bIns="46038" anchor="t" anchorCtr="0"/>
          <a:lstStyle/>
          <a:p>
            <a:pPr algn="just">
              <a:buNone/>
            </a:pPr>
            <a:r>
              <a:rPr lang="en-US" altLang="zh-CN" sz="1800" i="1" dirty="0">
                <a:solidFill>
                  <a:srgbClr val="FFFF00"/>
                </a:solidFill>
              </a:rPr>
              <a:t>    </a:t>
            </a:r>
            <a:r>
              <a:rPr lang="zh-CN" altLang="en-US" sz="1800" i="1" dirty="0">
                <a:solidFill>
                  <a:srgbClr val="FFFF00"/>
                </a:solidFill>
              </a:rPr>
              <a:t>（</a:t>
            </a:r>
            <a:r>
              <a:rPr lang="en-US" altLang="zh-CN" sz="1800" i="1" dirty="0">
                <a:solidFill>
                  <a:srgbClr val="FFFF00"/>
                </a:solidFill>
              </a:rPr>
              <a:t>1</a:t>
            </a:r>
            <a:r>
              <a:rPr lang="zh-CN" altLang="en-US" sz="1800" i="1" dirty="0">
                <a:solidFill>
                  <a:srgbClr val="FFFF00"/>
                </a:solidFill>
              </a:rPr>
              <a:t>）单字节传送方式 </a:t>
            </a:r>
            <a:r>
              <a:rPr lang="en-US" altLang="zh-CN" sz="1800" i="1" dirty="0">
                <a:solidFill>
                  <a:srgbClr val="FFFF00"/>
                </a:solidFill>
              </a:rPr>
              <a:t>: </a:t>
            </a:r>
            <a:r>
              <a:rPr lang="zh-CN" altLang="en-US" sz="1800" dirty="0"/>
              <a:t>每次</a:t>
            </a:r>
            <a:r>
              <a:rPr lang="en-US" altLang="zh-CN" sz="1800" dirty="0"/>
              <a:t>DMA</a:t>
            </a:r>
            <a:r>
              <a:rPr lang="zh-CN" altLang="en-US" sz="1800" dirty="0"/>
              <a:t>操作仅传送一个字节的数据，完成一个字节的数据传送后，</a:t>
            </a:r>
            <a:r>
              <a:rPr lang="en-US" altLang="zh-CN" sz="1800" dirty="0"/>
              <a:t>8237A</a:t>
            </a:r>
            <a:r>
              <a:rPr lang="zh-CN" altLang="en-US" sz="1800" dirty="0"/>
              <a:t>将当前地址寄存器的内容加</a:t>
            </a:r>
            <a:r>
              <a:rPr lang="en-US" altLang="zh-CN" sz="1800" dirty="0"/>
              <a:t>1</a:t>
            </a:r>
            <a:r>
              <a:rPr lang="zh-CN" altLang="en-US" sz="1800" dirty="0"/>
              <a:t>或减</a:t>
            </a:r>
            <a:r>
              <a:rPr lang="en-US" altLang="zh-CN" sz="1800" dirty="0"/>
              <a:t>1</a:t>
            </a:r>
            <a:r>
              <a:rPr lang="zh-CN" altLang="en-US" sz="1800" dirty="0"/>
              <a:t>，并将当前字节数寄存器的内容减</a:t>
            </a:r>
            <a:r>
              <a:rPr lang="en-US" altLang="zh-CN" sz="1800" dirty="0"/>
              <a:t>1</a:t>
            </a:r>
            <a:r>
              <a:rPr lang="zh-CN" altLang="en-US" sz="1800" dirty="0"/>
              <a:t>，每传送完这一个字节，</a:t>
            </a:r>
            <a:r>
              <a:rPr lang="en-US" altLang="zh-CN" sz="1800" dirty="0"/>
              <a:t>DMAC</a:t>
            </a:r>
            <a:r>
              <a:rPr lang="zh-CN" altLang="en-US" sz="1800" dirty="0"/>
              <a:t>就将总线控制权交回</a:t>
            </a:r>
            <a:r>
              <a:rPr lang="en-US" altLang="zh-CN" sz="1800" dirty="0"/>
              <a:t>CPU</a:t>
            </a:r>
            <a:r>
              <a:rPr lang="zh-CN" altLang="en-US" sz="1800" dirty="0"/>
              <a:t>。</a:t>
            </a:r>
            <a:endParaRPr lang="en-US" altLang="zh-CN" sz="1800" dirty="0"/>
          </a:p>
          <a:p>
            <a:pPr algn="just">
              <a:buNone/>
            </a:pPr>
            <a:r>
              <a:rPr lang="zh-CN" altLang="en-US" sz="1800" i="1" dirty="0">
                <a:solidFill>
                  <a:srgbClr val="FFFF00"/>
                </a:solidFill>
              </a:rPr>
              <a:t>    （</a:t>
            </a:r>
            <a:r>
              <a:rPr lang="en-US" altLang="zh-CN" sz="1800" i="1" dirty="0">
                <a:solidFill>
                  <a:srgbClr val="FFFF00"/>
                </a:solidFill>
              </a:rPr>
              <a:t>2</a:t>
            </a:r>
            <a:r>
              <a:rPr lang="zh-CN" altLang="en-US" sz="1800" i="1" dirty="0">
                <a:solidFill>
                  <a:srgbClr val="FFFF00"/>
                </a:solidFill>
              </a:rPr>
              <a:t>）数据块传送方式 </a:t>
            </a:r>
            <a:r>
              <a:rPr lang="en-US" altLang="zh-CN" sz="1800" i="1" dirty="0">
                <a:solidFill>
                  <a:srgbClr val="FFFF00"/>
                </a:solidFill>
              </a:rPr>
              <a:t>: </a:t>
            </a:r>
            <a:r>
              <a:rPr lang="zh-CN" altLang="en-US" sz="1800" dirty="0"/>
              <a:t>在这种传送方式下，</a:t>
            </a:r>
            <a:r>
              <a:rPr lang="en-US" altLang="zh-CN" sz="1800" dirty="0"/>
              <a:t>DMAC</a:t>
            </a:r>
            <a:r>
              <a:rPr lang="zh-CN" altLang="en-US" sz="1800" dirty="0"/>
              <a:t>一旦获得总线控制权，便开始连续传送数据。每传送一个字节，自动修改当前地址及当前字节数寄存器的内容，直到将所有规定的字节全部传送完，或收到外部</a:t>
            </a:r>
            <a:r>
              <a:rPr lang="en-US" altLang="zh-CN" sz="1800" dirty="0"/>
              <a:t> </a:t>
            </a:r>
            <a:r>
              <a:rPr lang="zh-CN" altLang="en-US" sz="1800" dirty="0"/>
              <a:t>信号，</a:t>
            </a:r>
            <a:r>
              <a:rPr lang="en-US" altLang="zh-CN" sz="1800" dirty="0"/>
              <a:t>DMAC</a:t>
            </a:r>
            <a:r>
              <a:rPr lang="zh-CN" altLang="en-US" sz="1800" dirty="0"/>
              <a:t>才结束传送，将总线控制权交给</a:t>
            </a:r>
            <a:r>
              <a:rPr lang="en-US" altLang="zh-CN" sz="1800" dirty="0"/>
              <a:t>CPU</a:t>
            </a:r>
            <a:r>
              <a:rPr lang="zh-CN" altLang="en-US" sz="1800" dirty="0"/>
              <a:t>，一次所传送数据块的最大长度可达</a:t>
            </a:r>
            <a:r>
              <a:rPr lang="en-US" altLang="zh-CN" sz="1800" dirty="0"/>
              <a:t>64KB</a:t>
            </a:r>
            <a:r>
              <a:rPr lang="zh-CN" altLang="en-US" sz="1800" dirty="0"/>
              <a:t>，数据块传送结束后可自动初始化。</a:t>
            </a:r>
            <a:endParaRPr lang="en-US" altLang="zh-CN" sz="1800" dirty="0"/>
          </a:p>
          <a:p>
            <a:pPr algn="just">
              <a:buNone/>
            </a:pPr>
            <a:r>
              <a:rPr lang="zh-CN" altLang="en-US" sz="1800" i="1" dirty="0">
                <a:solidFill>
                  <a:srgbClr val="FFFF00"/>
                </a:solidFill>
              </a:rPr>
              <a:t>    （</a:t>
            </a:r>
            <a:r>
              <a:rPr lang="en-US" altLang="zh-CN" sz="1800" i="1" dirty="0">
                <a:solidFill>
                  <a:srgbClr val="FFFF00"/>
                </a:solidFill>
              </a:rPr>
              <a:t>3</a:t>
            </a:r>
            <a:r>
              <a:rPr lang="zh-CN" altLang="en-US" sz="1800" i="1" dirty="0">
                <a:solidFill>
                  <a:srgbClr val="FFFF00"/>
                </a:solidFill>
              </a:rPr>
              <a:t>）请求传送方式 </a:t>
            </a:r>
            <a:r>
              <a:rPr lang="en-US" altLang="zh-CN" sz="1800" i="1" dirty="0">
                <a:solidFill>
                  <a:srgbClr val="FFFF00"/>
                </a:solidFill>
              </a:rPr>
              <a:t>: </a:t>
            </a:r>
            <a:r>
              <a:rPr lang="zh-CN" altLang="en-US" sz="1800" dirty="0"/>
              <a:t>只要</a:t>
            </a:r>
            <a:r>
              <a:rPr lang="en-US" altLang="zh-CN" sz="1800" dirty="0"/>
              <a:t>DREQ</a:t>
            </a:r>
            <a:r>
              <a:rPr lang="zh-CN" altLang="en-US" sz="1800" dirty="0"/>
              <a:t>有效，</a:t>
            </a:r>
            <a:r>
              <a:rPr lang="en-US" altLang="zh-CN" sz="1800" dirty="0"/>
              <a:t>DMA</a:t>
            </a:r>
            <a:r>
              <a:rPr lang="zh-CN" altLang="en-US" sz="1800" dirty="0"/>
              <a:t>传送就一直进行，直到连续传送到字节计数器为</a:t>
            </a:r>
            <a:r>
              <a:rPr lang="en-US" altLang="zh-CN" sz="1800" dirty="0"/>
              <a:t>0</a:t>
            </a:r>
            <a:r>
              <a:rPr lang="zh-CN" altLang="en-US" sz="1800" dirty="0"/>
              <a:t>或外部输入使</a:t>
            </a:r>
            <a:r>
              <a:rPr lang="en-US" altLang="zh-CN" sz="1800" dirty="0"/>
              <a:t> </a:t>
            </a:r>
            <a:r>
              <a:rPr lang="zh-CN" altLang="en-US" sz="1800" dirty="0"/>
              <a:t>变低或</a:t>
            </a:r>
            <a:r>
              <a:rPr lang="en-US" altLang="zh-CN" sz="1800" dirty="0"/>
              <a:t>DREQ</a:t>
            </a:r>
            <a:r>
              <a:rPr lang="zh-CN" altLang="en-US" sz="1800" dirty="0"/>
              <a:t>变为无效时为止。</a:t>
            </a:r>
            <a:endParaRPr lang="en-US" altLang="zh-CN" sz="1800" dirty="0"/>
          </a:p>
          <a:p>
            <a:pPr algn="just">
              <a:buNone/>
            </a:pPr>
            <a:r>
              <a:rPr lang="zh-CN" altLang="en-US" sz="1800" i="1" dirty="0">
                <a:solidFill>
                  <a:srgbClr val="FFFF00"/>
                </a:solidFill>
              </a:rPr>
              <a:t>    （</a:t>
            </a:r>
            <a:r>
              <a:rPr lang="en-US" altLang="zh-CN" sz="1800" i="1" dirty="0">
                <a:solidFill>
                  <a:srgbClr val="FFFF00"/>
                </a:solidFill>
              </a:rPr>
              <a:t>4</a:t>
            </a:r>
            <a:r>
              <a:rPr lang="zh-CN" altLang="en-US" sz="1800" i="1" dirty="0">
                <a:solidFill>
                  <a:srgbClr val="FFFF00"/>
                </a:solidFill>
              </a:rPr>
              <a:t>）级联传送方式 </a:t>
            </a:r>
            <a:r>
              <a:rPr lang="en-US" altLang="zh-CN" sz="1800" i="1" dirty="0">
                <a:solidFill>
                  <a:srgbClr val="FFFF00"/>
                </a:solidFill>
              </a:rPr>
              <a:t>: </a:t>
            </a:r>
            <a:r>
              <a:rPr lang="zh-CN" altLang="en-US" sz="1800" dirty="0"/>
              <a:t>利用这种方式可以把多个</a:t>
            </a:r>
            <a:r>
              <a:rPr lang="en-US" altLang="zh-CN" sz="1800" dirty="0"/>
              <a:t>8237</a:t>
            </a:r>
            <a:r>
              <a:rPr lang="zh-CN" altLang="en-US" sz="1800" dirty="0"/>
              <a:t>连接在一起，以便扩充系统的</a:t>
            </a:r>
            <a:r>
              <a:rPr lang="en-US" altLang="zh-CN" sz="1800" dirty="0"/>
              <a:t>DMA</a:t>
            </a:r>
            <a:r>
              <a:rPr lang="zh-CN" altLang="en-US" sz="1800" dirty="0"/>
              <a:t>通道数。下一级的</a:t>
            </a:r>
            <a:r>
              <a:rPr lang="en-US" altLang="zh-CN" sz="1800" dirty="0"/>
              <a:t>HRQ</a:t>
            </a:r>
            <a:r>
              <a:rPr lang="zh-CN" altLang="en-US" sz="1800" dirty="0"/>
              <a:t>接到上一级的某一通道的</a:t>
            </a:r>
            <a:r>
              <a:rPr lang="en-US" altLang="zh-CN" sz="1800" dirty="0"/>
              <a:t>DREQ</a:t>
            </a:r>
            <a:r>
              <a:rPr lang="zh-CN" altLang="en-US" sz="1800" dirty="0"/>
              <a:t>上，而上一级的响应信号</a:t>
            </a:r>
            <a:r>
              <a:rPr lang="en-US" altLang="zh-CN" sz="1800" dirty="0"/>
              <a:t>DACK</a:t>
            </a:r>
            <a:r>
              <a:rPr lang="zh-CN" altLang="en-US" sz="1800" dirty="0"/>
              <a:t>可接下一级的</a:t>
            </a:r>
            <a:r>
              <a:rPr lang="en-US" altLang="zh-CN" sz="1800" dirty="0"/>
              <a:t>HLDA</a:t>
            </a:r>
            <a:r>
              <a:rPr lang="zh-CN" altLang="en-US" sz="1800" dirty="0"/>
              <a:t>上。在级联方式下，当第二级</a:t>
            </a:r>
            <a:r>
              <a:rPr lang="en-US" altLang="zh-CN" sz="1800" dirty="0"/>
              <a:t>8237</a:t>
            </a:r>
            <a:r>
              <a:rPr lang="zh-CN" altLang="en-US" sz="1800" dirty="0"/>
              <a:t>的请求得到响应时，第一级</a:t>
            </a:r>
            <a:r>
              <a:rPr lang="en-US" altLang="zh-CN" sz="1800" dirty="0"/>
              <a:t>8237</a:t>
            </a:r>
            <a:r>
              <a:rPr lang="zh-CN" altLang="en-US" sz="1800" dirty="0"/>
              <a:t>仅应输出</a:t>
            </a:r>
            <a:r>
              <a:rPr lang="en-US" altLang="zh-CN" sz="1800" dirty="0"/>
              <a:t>HRQ</a:t>
            </a:r>
            <a:r>
              <a:rPr lang="zh-CN" altLang="en-US" sz="1800" dirty="0"/>
              <a:t>信号而不能输出地址及控制信号，因为，第二级的</a:t>
            </a:r>
            <a:r>
              <a:rPr lang="en-US" altLang="zh-CN" sz="1800" dirty="0"/>
              <a:t>8237</a:t>
            </a:r>
            <a:r>
              <a:rPr lang="zh-CN" altLang="en-US" sz="1800" dirty="0"/>
              <a:t>才是真正的主控制器，而第一级的</a:t>
            </a:r>
            <a:r>
              <a:rPr lang="en-US" altLang="zh-CN" sz="1800" dirty="0"/>
              <a:t>8237</a:t>
            </a:r>
            <a:r>
              <a:rPr lang="zh-CN" altLang="en-US" sz="1800" dirty="0"/>
              <a:t>仅应起到传递</a:t>
            </a:r>
            <a:r>
              <a:rPr lang="en-US" altLang="zh-CN" sz="1800" dirty="0"/>
              <a:t>DREQ</a:t>
            </a:r>
            <a:r>
              <a:rPr lang="zh-CN" altLang="en-US" sz="1800" dirty="0"/>
              <a:t>请求信号及</a:t>
            </a:r>
            <a:r>
              <a:rPr lang="en-US" altLang="zh-CN" sz="1800" dirty="0"/>
              <a:t>DACK</a:t>
            </a:r>
            <a:r>
              <a:rPr lang="zh-CN" altLang="en-US" sz="1800" dirty="0"/>
              <a:t>应答信号的作用。</a:t>
            </a:r>
            <a:endParaRPr lang="zh-CN" altLang="en-US" dirty="0"/>
          </a:p>
        </p:txBody>
      </p:sp>
    </p:spTree>
  </p:cSld>
  <p:clrMapOvr>
    <a:masterClrMapping/>
  </p:clrMapOvr>
  <p:transition spd="med">
    <p:random/>
  </p:transition>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667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32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2</a:t>
            </a:r>
            <a:r>
              <a:rPr kumimoji="0" lang="zh-CN" altLang="en-US" sz="32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a:t>
            </a:r>
            <a:r>
              <a:rPr kumimoji="0" lang="en-US" sz="32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8237A</a:t>
            </a:r>
            <a:r>
              <a:rPr kumimoji="0" lang="zh-CN" altLang="en-US" sz="32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的</a:t>
            </a:r>
            <a:r>
              <a:rPr kumimoji="0" lang="en-US" sz="32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DMA</a:t>
            </a:r>
            <a:r>
              <a:rPr kumimoji="0" lang="zh-CN" altLang="en-US" sz="32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传输类型</a:t>
            </a:r>
          </a:p>
        </p:txBody>
      </p:sp>
      <p:sp>
        <p:nvSpPr>
          <p:cNvPr id="68610" name="内容占位符 2"/>
          <p:cNvSpPr>
            <a:spLocks noGrp="1"/>
          </p:cNvSpPr>
          <p:nvPr>
            <p:ph idx="4294967295"/>
          </p:nvPr>
        </p:nvSpPr>
        <p:spPr>
          <a:xfrm>
            <a:off x="577850" y="1624013"/>
            <a:ext cx="8197850" cy="4579937"/>
          </a:xfrm>
          <a:ln/>
        </p:spPr>
        <p:txBody>
          <a:bodyPr wrap="square" lIns="92075" tIns="46038" rIns="92075" bIns="46038" anchor="t" anchorCtr="0"/>
          <a:lstStyle/>
          <a:p>
            <a:pPr>
              <a:buNone/>
            </a:pPr>
            <a:endParaRPr lang="en-US" altLang="zh-CN" i="1" dirty="0">
              <a:solidFill>
                <a:srgbClr val="00CC00"/>
              </a:solidFill>
            </a:endParaRPr>
          </a:p>
          <a:p>
            <a:pPr>
              <a:buNone/>
            </a:pPr>
            <a:r>
              <a:rPr lang="en-US" altLang="zh-CN" i="1" dirty="0">
                <a:solidFill>
                  <a:srgbClr val="00CC00"/>
                </a:solidFill>
              </a:rPr>
              <a:t>    </a:t>
            </a:r>
            <a:r>
              <a:rPr lang="zh-CN" altLang="en-US" i="1" dirty="0">
                <a:solidFill>
                  <a:srgbClr val="00CC00"/>
                </a:solidFill>
              </a:rPr>
              <a:t>（</a:t>
            </a:r>
            <a:r>
              <a:rPr lang="en-US" altLang="zh-CN" i="1" dirty="0">
                <a:solidFill>
                  <a:srgbClr val="00CC00"/>
                </a:solidFill>
              </a:rPr>
              <a:t>1</a:t>
            </a:r>
            <a:r>
              <a:rPr lang="zh-CN" altLang="en-US" i="1" dirty="0">
                <a:solidFill>
                  <a:srgbClr val="00CC00"/>
                </a:solidFill>
              </a:rPr>
              <a:t>）</a:t>
            </a:r>
            <a:r>
              <a:rPr lang="en-US" altLang="zh-CN" i="1" dirty="0">
                <a:solidFill>
                  <a:srgbClr val="00CC00"/>
                </a:solidFill>
              </a:rPr>
              <a:t>I/O</a:t>
            </a:r>
            <a:r>
              <a:rPr lang="zh-CN" altLang="en-US" i="1" dirty="0">
                <a:solidFill>
                  <a:srgbClr val="00CC00"/>
                </a:solidFill>
              </a:rPr>
              <a:t>接口到存储器的传送。</a:t>
            </a:r>
          </a:p>
          <a:p>
            <a:pPr>
              <a:buNone/>
            </a:pPr>
            <a:br>
              <a:rPr lang="zh-CN" altLang="en-US" i="1" dirty="0">
                <a:solidFill>
                  <a:srgbClr val="00CC00"/>
                </a:solidFill>
              </a:rPr>
            </a:br>
            <a:r>
              <a:rPr lang="zh-CN" altLang="en-US" i="1" dirty="0">
                <a:solidFill>
                  <a:srgbClr val="00CC00"/>
                </a:solidFill>
              </a:rPr>
              <a:t>（</a:t>
            </a:r>
            <a:r>
              <a:rPr lang="en-US" altLang="zh-CN" i="1" dirty="0">
                <a:solidFill>
                  <a:srgbClr val="00CC00"/>
                </a:solidFill>
              </a:rPr>
              <a:t>2</a:t>
            </a:r>
            <a:r>
              <a:rPr lang="zh-CN" altLang="en-US" i="1" dirty="0">
                <a:solidFill>
                  <a:srgbClr val="00CC00"/>
                </a:solidFill>
              </a:rPr>
              <a:t>）存储器到</a:t>
            </a:r>
            <a:r>
              <a:rPr lang="en-US" altLang="zh-CN" i="1" dirty="0">
                <a:solidFill>
                  <a:srgbClr val="00CC00"/>
                </a:solidFill>
              </a:rPr>
              <a:t>I/O</a:t>
            </a:r>
            <a:r>
              <a:rPr lang="zh-CN" altLang="en-US" i="1" dirty="0">
                <a:solidFill>
                  <a:srgbClr val="00CC00"/>
                </a:solidFill>
              </a:rPr>
              <a:t>接口。</a:t>
            </a:r>
          </a:p>
          <a:p>
            <a:pPr>
              <a:buNone/>
            </a:pPr>
            <a:br>
              <a:rPr lang="zh-CN" altLang="en-US" i="1" dirty="0">
                <a:solidFill>
                  <a:srgbClr val="00CC00"/>
                </a:solidFill>
              </a:rPr>
            </a:br>
            <a:r>
              <a:rPr lang="zh-CN" altLang="en-US" i="1" dirty="0">
                <a:solidFill>
                  <a:srgbClr val="00CC00"/>
                </a:solidFill>
              </a:rPr>
              <a:t>（</a:t>
            </a:r>
            <a:r>
              <a:rPr lang="en-US" altLang="zh-CN" i="1" dirty="0">
                <a:solidFill>
                  <a:srgbClr val="00CC00"/>
                </a:solidFill>
              </a:rPr>
              <a:t>3</a:t>
            </a:r>
            <a:r>
              <a:rPr lang="zh-CN" altLang="en-US" i="1" dirty="0">
                <a:solidFill>
                  <a:srgbClr val="00CC00"/>
                </a:solidFill>
              </a:rPr>
              <a:t>）存储器到存储器</a:t>
            </a:r>
            <a:r>
              <a:rPr lang="zh-CN" altLang="en-US" dirty="0"/>
              <a:t>。</a:t>
            </a:r>
          </a:p>
          <a:p>
            <a:endParaRPr lang="zh-CN" altLang="en-US" dirty="0"/>
          </a:p>
        </p:txBody>
      </p:sp>
    </p:spTree>
  </p:cSld>
  <p:clrMapOvr>
    <a:masterClrMapping/>
  </p:clrMapOvr>
  <p:transition spd="med">
    <p:random/>
  </p:transition>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7698" name="标题 1"/>
          <p:cNvSpPr>
            <a:spLocks noGrp="1"/>
          </p:cNvSpPr>
          <p:nvPr>
            <p:ph type="title" idx="4294967295"/>
          </p:nvPr>
        </p:nvSpPr>
        <p:spPr>
          <a:xfrm>
            <a:off x="469900" y="1619250"/>
            <a:ext cx="8247063" cy="4676775"/>
          </a:xfrm>
        </p:spPr>
        <p:txBody>
          <a:bodyPr wrap="square" lIns="92075" tIns="46038" rIns="92075" bIns="46038" numCol="1" anchor="t" anchorCtr="0" compatLnSpc="1"/>
          <a:lstStyle/>
          <a:p>
            <a:pPr marL="0" marR="0" lvl="0" indent="0" algn="l" defTabSz="914400" rtl="0" eaLnBrk="0" fontAlgn="base" latinLnBrk="0" hangingPunct="0">
              <a:lnSpc>
                <a:spcPts val="3200"/>
              </a:lnSpc>
              <a:spcBef>
                <a:spcPct val="0"/>
              </a:spcBef>
              <a:spcAft>
                <a:spcPct val="0"/>
              </a:spcAft>
              <a:buClrTx/>
              <a:buSzTx/>
              <a:buFontTx/>
              <a:buNone/>
              <a:defRPr/>
            </a:pP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          8237A</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工作前应先由</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CPU</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对其进行初始化编程，设定工作方式及内部各寄存器的值。初始化编程包括：</a:t>
            </a:r>
            <a:r>
              <a:rPr kumimoji="0" lang="zh-CN" altLang="en-US" sz="2000" b="1" i="0" u="none" strike="noStrike" kern="0" cap="none" spc="0" normalizeH="0" baseline="0" noProof="0" dirty="0">
                <a:ln>
                  <a:noFill/>
                </a:ln>
                <a:solidFill>
                  <a:srgbClr val="FFFF00"/>
                </a:solidFill>
                <a:effectLst>
                  <a:outerShdw blurRad="38100" dist="38100" dir="2700000" algn="tl">
                    <a:srgbClr val="000000"/>
                  </a:outerShdw>
                </a:effectLst>
                <a:uLnTx/>
                <a:uFillTx/>
                <a:latin typeface="+mj-lt"/>
                <a:ea typeface="+mj-ea"/>
                <a:cs typeface="+mj-cs"/>
              </a:rPr>
              <a:t>输出总清除命令、设置基地址与现行地址寄存器、设置基字节数寄存器与现行字节数寄存器、写入方式寄存器、写入屏蔽寄存器、写入命令寄存器</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。若不使用软件请求，在完成上述编程后，由各通道的</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DMA</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请求信号</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DREQ</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启动</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DMA</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传送过程；若使用软件请求，需将请求寄存器的内容写入指定通道后，开始</a:t>
            </a:r>
            <a:r>
              <a:rPr kumimoji="0" 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DMA</a:t>
            </a:r>
            <a: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传送过程。</a:t>
            </a:r>
            <a:r>
              <a:rPr kumimoji="0" lang="zh-CN" altLang="en-US" sz="2000" b="1" i="0" u="none" strike="noStrike" kern="0" cap="none" spc="0" normalizeH="0" baseline="0" noProof="0" dirty="0">
                <a:ln>
                  <a:noFill/>
                </a:ln>
                <a:solidFill>
                  <a:srgbClr val="E8E8E8"/>
                </a:solidFill>
                <a:effectLst/>
                <a:uLnTx/>
                <a:uFillTx/>
                <a:latin typeface="+mj-lt"/>
                <a:ea typeface="+mj-ea"/>
                <a:cs typeface="+mj-cs"/>
              </a:rPr>
              <a:t> 在对</a:t>
            </a:r>
            <a:r>
              <a:rPr kumimoji="0" lang="en-US" sz="2000" b="1" i="0" u="none" strike="noStrike" kern="0" cap="none" spc="0" normalizeH="0" baseline="0" noProof="0" dirty="0">
                <a:ln>
                  <a:noFill/>
                </a:ln>
                <a:solidFill>
                  <a:srgbClr val="E8E8E8"/>
                </a:solidFill>
                <a:effectLst/>
                <a:uLnTx/>
                <a:uFillTx/>
                <a:latin typeface="+mj-lt"/>
                <a:ea typeface="+mj-ea"/>
                <a:cs typeface="+mj-cs"/>
              </a:rPr>
              <a:t>8237A</a:t>
            </a:r>
            <a:r>
              <a:rPr kumimoji="0" lang="zh-CN" altLang="en-US" sz="2000" b="1" i="0" u="none" strike="noStrike" kern="0" cap="none" spc="0" normalizeH="0" baseline="0" noProof="0" dirty="0">
                <a:ln>
                  <a:noFill/>
                </a:ln>
                <a:solidFill>
                  <a:srgbClr val="E8E8E8"/>
                </a:solidFill>
                <a:effectLst/>
                <a:uLnTx/>
                <a:uFillTx/>
                <a:latin typeface="+mj-lt"/>
                <a:ea typeface="+mj-ea"/>
                <a:cs typeface="+mj-cs"/>
              </a:rPr>
              <a:t>初始化之前，通常必须对</a:t>
            </a:r>
            <a:r>
              <a:rPr kumimoji="0" lang="en-US" sz="2000" b="1" i="0" u="none" strike="noStrike" kern="0" cap="none" spc="0" normalizeH="0" baseline="0" noProof="0" dirty="0">
                <a:ln>
                  <a:noFill/>
                </a:ln>
                <a:solidFill>
                  <a:srgbClr val="E8E8E8"/>
                </a:solidFill>
                <a:effectLst/>
                <a:uLnTx/>
                <a:uFillTx/>
                <a:latin typeface="+mj-lt"/>
                <a:ea typeface="+mj-ea"/>
                <a:cs typeface="+mj-cs"/>
              </a:rPr>
              <a:t>8237A</a:t>
            </a:r>
            <a:r>
              <a:rPr kumimoji="0" lang="zh-CN" altLang="en-US" sz="2000" b="1" i="0" u="none" strike="noStrike" kern="0" cap="none" spc="0" normalizeH="0" baseline="0" noProof="0" dirty="0">
                <a:ln>
                  <a:noFill/>
                </a:ln>
                <a:solidFill>
                  <a:srgbClr val="E8E8E8"/>
                </a:solidFill>
                <a:effectLst/>
                <a:uLnTx/>
                <a:uFillTx/>
                <a:latin typeface="+mj-lt"/>
                <a:ea typeface="+mj-ea"/>
                <a:cs typeface="+mj-cs"/>
              </a:rPr>
              <a:t>进行</a:t>
            </a:r>
            <a:r>
              <a:rPr kumimoji="0" lang="zh-CN" altLang="en-US" sz="2000" b="1" i="1" u="none" strike="noStrike" kern="0" cap="none" spc="0" normalizeH="0" baseline="0" noProof="0" dirty="0">
                <a:ln>
                  <a:noFill/>
                </a:ln>
                <a:solidFill>
                  <a:schemeClr val="accent2"/>
                </a:solidFill>
                <a:effectLst/>
                <a:uLnTx/>
                <a:uFillTx/>
                <a:latin typeface="+mj-lt"/>
                <a:ea typeface="+mj-ea"/>
                <a:cs typeface="+mj-cs"/>
              </a:rPr>
              <a:t>复位操作</a:t>
            </a:r>
            <a:r>
              <a:rPr kumimoji="0" lang="zh-CN" altLang="en-US" sz="2000" b="1" i="0" u="none" strike="noStrike" kern="0" cap="none" spc="0" normalizeH="0" baseline="0" noProof="0" dirty="0">
                <a:ln>
                  <a:noFill/>
                </a:ln>
                <a:solidFill>
                  <a:srgbClr val="E8E8E8"/>
                </a:solidFill>
                <a:effectLst/>
                <a:uLnTx/>
                <a:uFillTx/>
                <a:latin typeface="+mj-lt"/>
                <a:ea typeface="+mj-ea"/>
                <a:cs typeface="+mj-cs"/>
              </a:rPr>
              <a:t>，利用系统总线上的</a:t>
            </a:r>
            <a:r>
              <a:rPr kumimoji="0" lang="en-US" sz="2000" b="1" i="1" u="none" strike="noStrike" kern="0" cap="none" spc="0" normalizeH="0" baseline="0" noProof="0" dirty="0">
                <a:ln>
                  <a:noFill/>
                </a:ln>
                <a:solidFill>
                  <a:schemeClr val="accent2"/>
                </a:solidFill>
                <a:effectLst/>
                <a:uLnTx/>
                <a:uFillTx/>
                <a:latin typeface="+mj-lt"/>
                <a:ea typeface="+mj-ea"/>
                <a:cs typeface="+mj-cs"/>
              </a:rPr>
              <a:t>RESET</a:t>
            </a:r>
            <a:r>
              <a:rPr kumimoji="0" lang="zh-CN" altLang="en-US" sz="2000" b="1" i="1" u="none" strike="noStrike" kern="0" cap="none" spc="0" normalizeH="0" baseline="0" noProof="0" dirty="0">
                <a:ln>
                  <a:noFill/>
                </a:ln>
                <a:solidFill>
                  <a:schemeClr val="accent2"/>
                </a:solidFill>
                <a:effectLst/>
                <a:uLnTx/>
                <a:uFillTx/>
                <a:latin typeface="+mj-lt"/>
                <a:ea typeface="+mj-ea"/>
                <a:cs typeface="+mj-cs"/>
              </a:rPr>
              <a:t>信号或软件命令</a:t>
            </a:r>
            <a:r>
              <a:rPr kumimoji="0" lang="zh-CN" altLang="en-US" sz="2000" b="1" i="0" u="none" strike="noStrike" kern="0" cap="none" spc="0" normalizeH="0" baseline="0" noProof="0" dirty="0">
                <a:ln>
                  <a:noFill/>
                </a:ln>
                <a:solidFill>
                  <a:srgbClr val="E8E8E8"/>
                </a:solidFill>
                <a:effectLst/>
                <a:uLnTx/>
                <a:uFillTx/>
                <a:latin typeface="+mj-lt"/>
                <a:ea typeface="+mj-ea"/>
                <a:cs typeface="+mj-cs"/>
              </a:rPr>
              <a:t>对</a:t>
            </a:r>
            <a:r>
              <a:rPr kumimoji="0" lang="en-US" sz="2000" b="1" i="0" u="none" strike="noStrike" kern="0" cap="none" spc="0" normalizeH="0" baseline="0" noProof="0" dirty="0">
                <a:ln>
                  <a:noFill/>
                </a:ln>
                <a:solidFill>
                  <a:srgbClr val="E8E8E8"/>
                </a:solidFill>
                <a:effectLst/>
                <a:uLnTx/>
                <a:uFillTx/>
                <a:latin typeface="+mj-lt"/>
                <a:ea typeface="+mj-ea"/>
                <a:cs typeface="+mj-cs"/>
              </a:rPr>
              <a:t>A</a:t>
            </a:r>
            <a:r>
              <a:rPr kumimoji="0" lang="en-US" sz="2000" b="1" i="0" u="none" strike="noStrike" kern="0" cap="none" spc="0" normalizeH="0" baseline="-25000" noProof="0" dirty="0">
                <a:ln>
                  <a:noFill/>
                </a:ln>
                <a:solidFill>
                  <a:srgbClr val="E8E8E8"/>
                </a:solidFill>
                <a:effectLst/>
                <a:uLnTx/>
                <a:uFillTx/>
                <a:latin typeface="+mj-lt"/>
                <a:ea typeface="+mj-ea"/>
                <a:cs typeface="+mj-cs"/>
              </a:rPr>
              <a:t>3</a:t>
            </a:r>
            <a:r>
              <a:rPr kumimoji="0" lang="en-US" sz="2000" b="1" i="0" u="none" strike="noStrike" kern="0" cap="none" spc="0" normalizeH="0" baseline="0" noProof="0" dirty="0">
                <a:ln>
                  <a:noFill/>
                </a:ln>
                <a:solidFill>
                  <a:srgbClr val="E8E8E8"/>
                </a:solidFill>
                <a:effectLst/>
                <a:uLnTx/>
                <a:uFillTx/>
                <a:latin typeface="+mj-lt"/>
                <a:ea typeface="+mj-ea"/>
                <a:cs typeface="+mj-cs"/>
              </a:rPr>
              <a:t>A</a:t>
            </a:r>
            <a:r>
              <a:rPr kumimoji="0" lang="en-US" sz="2000" b="1" i="0" u="none" strike="noStrike" kern="0" cap="none" spc="0" normalizeH="0" baseline="-25000" noProof="0" dirty="0">
                <a:ln>
                  <a:noFill/>
                </a:ln>
                <a:solidFill>
                  <a:srgbClr val="E8E8E8"/>
                </a:solidFill>
                <a:effectLst/>
                <a:uLnTx/>
                <a:uFillTx/>
                <a:latin typeface="+mj-lt"/>
                <a:ea typeface="+mj-ea"/>
                <a:cs typeface="+mj-cs"/>
              </a:rPr>
              <a:t>2</a:t>
            </a:r>
            <a:r>
              <a:rPr kumimoji="0" lang="en-US" sz="2000" b="1" i="0" u="none" strike="noStrike" kern="0" cap="none" spc="0" normalizeH="0" baseline="0" noProof="0" dirty="0">
                <a:ln>
                  <a:noFill/>
                </a:ln>
                <a:solidFill>
                  <a:srgbClr val="E8E8E8"/>
                </a:solidFill>
                <a:effectLst/>
                <a:uLnTx/>
                <a:uFillTx/>
                <a:latin typeface="+mj-lt"/>
                <a:ea typeface="+mj-ea"/>
                <a:cs typeface="+mj-cs"/>
              </a:rPr>
              <a:t>A</a:t>
            </a:r>
            <a:r>
              <a:rPr kumimoji="0" lang="en-US" sz="2000" b="1" i="0" u="none" strike="noStrike" kern="0" cap="none" spc="0" normalizeH="0" baseline="-25000" noProof="0" dirty="0">
                <a:ln>
                  <a:noFill/>
                </a:ln>
                <a:solidFill>
                  <a:srgbClr val="E8E8E8"/>
                </a:solidFill>
                <a:effectLst/>
                <a:uLnTx/>
                <a:uFillTx/>
                <a:latin typeface="+mj-lt"/>
                <a:ea typeface="+mj-ea"/>
                <a:cs typeface="+mj-cs"/>
              </a:rPr>
              <a:t>l</a:t>
            </a:r>
            <a:r>
              <a:rPr kumimoji="0" lang="en-US" sz="2000" b="1" i="0" u="none" strike="noStrike" kern="0" cap="none" spc="0" normalizeH="0" baseline="0" noProof="0" dirty="0">
                <a:ln>
                  <a:noFill/>
                </a:ln>
                <a:solidFill>
                  <a:srgbClr val="E8E8E8"/>
                </a:solidFill>
                <a:effectLst/>
                <a:uLnTx/>
                <a:uFillTx/>
                <a:latin typeface="+mj-lt"/>
                <a:ea typeface="+mj-ea"/>
                <a:cs typeface="+mj-cs"/>
              </a:rPr>
              <a:t>A</a:t>
            </a:r>
            <a:r>
              <a:rPr kumimoji="0" lang="en-US" sz="2000" b="1" i="0" u="none" strike="noStrike" kern="0" cap="none" spc="0" normalizeH="0" baseline="-25000" noProof="0" dirty="0">
                <a:ln>
                  <a:noFill/>
                </a:ln>
                <a:solidFill>
                  <a:srgbClr val="E8E8E8"/>
                </a:solidFill>
                <a:effectLst/>
                <a:uLnTx/>
                <a:uFillTx/>
                <a:latin typeface="+mj-lt"/>
                <a:ea typeface="+mj-ea"/>
                <a:cs typeface="+mj-cs"/>
              </a:rPr>
              <a:t>0</a:t>
            </a:r>
            <a:r>
              <a:rPr kumimoji="0" lang="zh-CN" altLang="en-US" sz="2000" b="1" i="0" u="none" strike="noStrike" kern="0" cap="none" spc="0" normalizeH="0" baseline="0" noProof="0" dirty="0">
                <a:ln>
                  <a:noFill/>
                </a:ln>
                <a:solidFill>
                  <a:srgbClr val="E8E8E8"/>
                </a:solidFill>
                <a:effectLst/>
                <a:uLnTx/>
                <a:uFillTx/>
                <a:latin typeface="+mj-lt"/>
                <a:ea typeface="+mj-ea"/>
                <a:cs typeface="+mj-cs"/>
              </a:rPr>
              <a:t>为</a:t>
            </a:r>
            <a:r>
              <a:rPr kumimoji="0" lang="en-US" sz="2000" b="1" i="0" u="none" strike="noStrike" kern="0" cap="none" spc="0" normalizeH="0" baseline="0" noProof="0" dirty="0">
                <a:ln>
                  <a:noFill/>
                </a:ln>
                <a:solidFill>
                  <a:srgbClr val="E8E8E8"/>
                </a:solidFill>
                <a:effectLst/>
                <a:uLnTx/>
                <a:uFillTx/>
                <a:latin typeface="+mj-lt"/>
                <a:ea typeface="+mj-ea"/>
                <a:cs typeface="+mj-cs"/>
              </a:rPr>
              <a:t>1101</a:t>
            </a:r>
            <a:r>
              <a:rPr kumimoji="0" lang="zh-CN" altLang="en-US" sz="2000" b="1" i="0" u="none" strike="noStrike" kern="0" cap="none" spc="0" normalizeH="0" baseline="0" noProof="0" dirty="0">
                <a:ln>
                  <a:noFill/>
                </a:ln>
                <a:solidFill>
                  <a:srgbClr val="E8E8E8"/>
                </a:solidFill>
                <a:effectLst/>
                <a:uLnTx/>
                <a:uFillTx/>
                <a:latin typeface="+mj-lt"/>
                <a:ea typeface="+mj-ea"/>
                <a:cs typeface="+mj-cs"/>
              </a:rPr>
              <a:t>的地址进行写操作，均可使</a:t>
            </a:r>
            <a:r>
              <a:rPr kumimoji="0" lang="en-US" sz="2000" b="1" i="0" u="none" strike="noStrike" kern="0" cap="none" spc="0" normalizeH="0" baseline="0" noProof="0" dirty="0">
                <a:ln>
                  <a:noFill/>
                </a:ln>
                <a:solidFill>
                  <a:srgbClr val="E8E8E8"/>
                </a:solidFill>
                <a:effectLst/>
                <a:uLnTx/>
                <a:uFillTx/>
                <a:latin typeface="+mj-lt"/>
                <a:ea typeface="+mj-ea"/>
                <a:cs typeface="+mj-cs"/>
              </a:rPr>
              <a:t>8237</a:t>
            </a:r>
            <a:r>
              <a:rPr kumimoji="0" lang="zh-CN" altLang="en-US" sz="2000" b="1" i="0" u="none" strike="noStrike" kern="0" cap="none" spc="0" normalizeH="0" baseline="0" noProof="0" dirty="0">
                <a:ln>
                  <a:noFill/>
                </a:ln>
                <a:solidFill>
                  <a:srgbClr val="E8E8E8"/>
                </a:solidFill>
                <a:effectLst/>
                <a:uLnTx/>
                <a:uFillTx/>
                <a:latin typeface="+mj-lt"/>
                <a:ea typeface="+mj-ea"/>
                <a:cs typeface="+mj-cs"/>
              </a:rPr>
              <a:t>复位。复位后，</a:t>
            </a:r>
            <a:r>
              <a:rPr kumimoji="0" lang="en-US" sz="2000" b="1" i="0" u="none" strike="noStrike" kern="0" cap="none" spc="0" normalizeH="0" baseline="0" noProof="0" dirty="0">
                <a:ln>
                  <a:noFill/>
                </a:ln>
                <a:solidFill>
                  <a:srgbClr val="E8E8E8"/>
                </a:solidFill>
                <a:effectLst/>
                <a:uLnTx/>
                <a:uFillTx/>
                <a:latin typeface="+mj-lt"/>
                <a:ea typeface="+mj-ea"/>
                <a:cs typeface="+mj-cs"/>
              </a:rPr>
              <a:t>8237</a:t>
            </a:r>
            <a:r>
              <a:rPr kumimoji="0" lang="zh-CN" altLang="en-US" sz="2000" b="1" i="0" u="none" strike="noStrike" kern="0" cap="none" spc="0" normalizeH="0" baseline="0" noProof="0" dirty="0">
                <a:ln>
                  <a:noFill/>
                </a:ln>
                <a:solidFill>
                  <a:srgbClr val="E8E8E8"/>
                </a:solidFill>
                <a:effectLst/>
                <a:uLnTx/>
                <a:uFillTx/>
                <a:latin typeface="+mj-lt"/>
                <a:ea typeface="+mj-ea"/>
                <a:cs typeface="+mj-cs"/>
              </a:rPr>
              <a:t>内部的屏蔽寄存器被置位而其它所有寄存器被清</a:t>
            </a:r>
            <a:r>
              <a:rPr kumimoji="0" lang="en-US" sz="2000" b="1" i="0" u="none" strike="noStrike" kern="0" cap="none" spc="0" normalizeH="0" baseline="0" noProof="0" dirty="0">
                <a:ln>
                  <a:noFill/>
                </a:ln>
                <a:solidFill>
                  <a:srgbClr val="E8E8E8"/>
                </a:solidFill>
                <a:effectLst/>
                <a:uLnTx/>
                <a:uFillTx/>
                <a:latin typeface="+mj-lt"/>
                <a:ea typeface="+mj-ea"/>
                <a:cs typeface="+mj-cs"/>
              </a:rPr>
              <a:t>0</a:t>
            </a:r>
            <a:r>
              <a:rPr kumimoji="0" lang="zh-CN" altLang="en-US" sz="2000" b="1" i="0" u="none" strike="noStrike" kern="0" cap="none" spc="0" normalizeH="0" baseline="0" noProof="0" dirty="0">
                <a:ln>
                  <a:noFill/>
                </a:ln>
                <a:solidFill>
                  <a:srgbClr val="E8E8E8"/>
                </a:solidFill>
                <a:effectLst/>
                <a:uLnTx/>
                <a:uFillTx/>
                <a:latin typeface="+mj-lt"/>
                <a:ea typeface="+mj-ea"/>
                <a:cs typeface="+mj-cs"/>
              </a:rPr>
              <a:t>，复位操作使</a:t>
            </a:r>
            <a:r>
              <a:rPr kumimoji="0" lang="en-US" sz="2000" b="1" i="0" u="none" strike="noStrike" kern="0" cap="none" spc="0" normalizeH="0" baseline="0" noProof="0" dirty="0">
                <a:ln>
                  <a:noFill/>
                </a:ln>
                <a:solidFill>
                  <a:srgbClr val="E8E8E8"/>
                </a:solidFill>
                <a:effectLst/>
                <a:uLnTx/>
                <a:uFillTx/>
                <a:latin typeface="+mj-lt"/>
                <a:ea typeface="+mj-ea"/>
                <a:cs typeface="+mj-cs"/>
              </a:rPr>
              <a:t>8237</a:t>
            </a:r>
            <a:r>
              <a:rPr kumimoji="0" lang="zh-CN" altLang="en-US" sz="2000" b="1" i="0" u="none" strike="noStrike" kern="0" cap="none" spc="0" normalizeH="0" baseline="0" noProof="0" dirty="0">
                <a:ln>
                  <a:noFill/>
                </a:ln>
                <a:solidFill>
                  <a:srgbClr val="E8E8E8"/>
                </a:solidFill>
                <a:effectLst/>
                <a:uLnTx/>
                <a:uFillTx/>
                <a:latin typeface="+mj-lt"/>
                <a:ea typeface="+mj-ea"/>
                <a:cs typeface="+mj-cs"/>
              </a:rPr>
              <a:t>进入空闲状态，这时才可以对</a:t>
            </a:r>
            <a:r>
              <a:rPr kumimoji="0" lang="en-US" sz="2000" b="1" i="0" u="none" strike="noStrike" kern="0" cap="none" spc="0" normalizeH="0" baseline="0" noProof="0" dirty="0">
                <a:ln>
                  <a:noFill/>
                </a:ln>
                <a:solidFill>
                  <a:srgbClr val="E8E8E8"/>
                </a:solidFill>
                <a:effectLst/>
                <a:uLnTx/>
                <a:uFillTx/>
                <a:latin typeface="+mj-lt"/>
                <a:ea typeface="+mj-ea"/>
                <a:cs typeface="+mj-cs"/>
              </a:rPr>
              <a:t>8237</a:t>
            </a:r>
            <a:r>
              <a:rPr kumimoji="0" lang="zh-CN" altLang="en-US" sz="2000" b="1" i="0" u="none" strike="noStrike" kern="0" cap="none" spc="0" normalizeH="0" baseline="0" noProof="0" dirty="0">
                <a:ln>
                  <a:noFill/>
                </a:ln>
                <a:solidFill>
                  <a:srgbClr val="E8E8E8"/>
                </a:solidFill>
                <a:effectLst/>
                <a:uLnTx/>
                <a:uFillTx/>
                <a:latin typeface="+mj-lt"/>
                <a:ea typeface="+mj-ea"/>
                <a:cs typeface="+mj-cs"/>
              </a:rPr>
              <a:t>进行初始化操作。</a:t>
            </a:r>
            <a:br>
              <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br>
            <a:endParaRPr kumimoji="0" lang="zh-CN" altLang="en-US" sz="20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69634" name="文本占位符 2"/>
          <p:cNvSpPr>
            <a:spLocks noGrp="1"/>
          </p:cNvSpPr>
          <p:nvPr>
            <p:ph type="body" idx="4294967295"/>
          </p:nvPr>
        </p:nvSpPr>
        <p:spPr>
          <a:xfrm>
            <a:off x="493713" y="236538"/>
            <a:ext cx="7772400" cy="958850"/>
          </a:xfrm>
          <a:ln/>
        </p:spPr>
        <p:txBody>
          <a:bodyPr wrap="square" lIns="92075" tIns="46038" rIns="92075" bIns="46038" anchor="b" anchorCtr="0"/>
          <a:lstStyle/>
          <a:p>
            <a:pPr marL="0" indent="0" algn="ctr">
              <a:buNone/>
            </a:pPr>
            <a:r>
              <a:rPr lang="en-US" altLang="zh-CN" sz="3200" dirty="0"/>
              <a:t>8.2.4  8237A</a:t>
            </a:r>
            <a:r>
              <a:rPr lang="zh-CN" altLang="en-US" sz="3200" dirty="0"/>
              <a:t>的初始化编程及应用</a:t>
            </a:r>
          </a:p>
        </p:txBody>
      </p:sp>
    </p:spTree>
  </p:cSld>
  <p:clrMapOvr>
    <a:masterClrMapping/>
  </p:clrMapOvr>
  <p:transition spd="med">
    <p:random/>
  </p:transition>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1555" name="文本占位符 2"/>
          <p:cNvSpPr>
            <a:spLocks noGrp="1"/>
          </p:cNvSpPr>
          <p:nvPr>
            <p:ph type="body" idx="1"/>
          </p:nvPr>
        </p:nvSpPr>
        <p:spPr>
          <a:xfrm>
            <a:off x="430213" y="1273175"/>
            <a:ext cx="8210550" cy="5486400"/>
          </a:xfrm>
          <a:ln>
            <a:miter/>
          </a:ln>
        </p:spPr>
        <p:txBody>
          <a:bodyPr vert="horz" wrap="square" lIns="92075" tIns="46038" rIns="92075" bIns="46038" numCol="1" anchor="b" anchorCtr="0" compatLnSpc="1"/>
          <a:lstStyle/>
          <a:p>
            <a:pPr marL="0" marR="0" lvl="0" indent="0" algn="l" defTabSz="914400" rtl="0" eaLnBrk="0" fontAlgn="base" latinLnBrk="0" hangingPunct="0">
              <a:lnSpc>
                <a:spcPts val="2100"/>
              </a:lnSpc>
              <a:spcBef>
                <a:spcPct val="20000"/>
              </a:spcBef>
              <a:spcAft>
                <a:spcPct val="0"/>
              </a:spcAft>
              <a:buClr>
                <a:schemeClr val="accent2"/>
              </a:buClr>
              <a:buSzPct val="70000"/>
              <a:buFont typeface="Wingdings" panose="05000000000000000000" pitchFamily="2" charset="2"/>
              <a:buNone/>
              <a:defRPr/>
            </a:pPr>
            <a:r>
              <a:rPr kumimoji="0" lang="zh-CN" altLang="en-US" sz="1600" b="1" i="0" u="none" strike="noStrike" kern="0" cap="none" spc="0" normalizeH="0" baseline="0" noProof="0" dirty="0">
                <a:ln>
                  <a:noFill/>
                </a:ln>
                <a:solidFill>
                  <a:schemeClr val="tx1"/>
                </a:solidFill>
                <a:effectLst/>
                <a:uLnTx/>
                <a:uFillTx/>
                <a:latin typeface="+mn-lt"/>
                <a:ea typeface="+mn-ea"/>
                <a:cs typeface="+mn-cs"/>
              </a:rPr>
              <a:t>【例</a:t>
            </a:r>
            <a:r>
              <a:rPr kumimoji="0" lang="en-US" altLang="zh-CN" sz="1600" b="1" i="0" u="none" strike="noStrike" kern="0" cap="none" spc="0" normalizeH="0" baseline="0" noProof="0" dirty="0">
                <a:ln>
                  <a:noFill/>
                </a:ln>
                <a:solidFill>
                  <a:schemeClr val="tx1"/>
                </a:solidFill>
                <a:effectLst/>
                <a:uLnTx/>
                <a:uFillTx/>
                <a:latin typeface="+mn-lt"/>
                <a:ea typeface="+mn-ea"/>
                <a:cs typeface="+mn-cs"/>
              </a:rPr>
              <a:t>8.7</a:t>
            </a:r>
            <a:r>
              <a:rPr kumimoji="0" lang="zh-CN" altLang="en-US" sz="1600" b="1" i="0" u="none" strike="noStrike" kern="0" cap="none" spc="0" normalizeH="0" baseline="0" noProof="0" dirty="0">
                <a:ln>
                  <a:noFill/>
                </a:ln>
                <a:solidFill>
                  <a:schemeClr val="tx1"/>
                </a:solidFill>
                <a:effectLst/>
                <a:uLnTx/>
                <a:uFillTx/>
                <a:latin typeface="+mn-lt"/>
                <a:ea typeface="+mn-ea"/>
                <a:cs typeface="+mn-cs"/>
              </a:rPr>
              <a:t>】 在</a:t>
            </a:r>
            <a:r>
              <a:rPr kumimoji="0" lang="en-US" altLang="zh-CN" sz="1600" b="1" i="0" u="none" strike="noStrike" kern="0" cap="none" spc="0" normalizeH="0" baseline="0" noProof="0" dirty="0">
                <a:ln>
                  <a:noFill/>
                </a:ln>
                <a:solidFill>
                  <a:schemeClr val="tx1"/>
                </a:solidFill>
                <a:effectLst/>
                <a:uLnTx/>
                <a:uFillTx/>
                <a:latin typeface="+mn-lt"/>
                <a:ea typeface="+mn-ea"/>
                <a:cs typeface="+mn-cs"/>
              </a:rPr>
              <a:t>IBM PC/XT</a:t>
            </a:r>
            <a:r>
              <a:rPr kumimoji="0" lang="zh-CN" altLang="en-US" sz="1600" b="1" i="0" u="none" strike="noStrike" kern="0" cap="none" spc="0" normalizeH="0" baseline="0" noProof="0" dirty="0">
                <a:ln>
                  <a:noFill/>
                </a:ln>
                <a:solidFill>
                  <a:schemeClr val="tx1"/>
                </a:solidFill>
                <a:effectLst/>
                <a:uLnTx/>
                <a:uFillTx/>
                <a:latin typeface="+mn-lt"/>
                <a:ea typeface="+mn-ea"/>
                <a:cs typeface="+mn-cs"/>
              </a:rPr>
              <a:t>中，利用</a:t>
            </a:r>
            <a:r>
              <a:rPr kumimoji="0" lang="en-US" altLang="zh-CN" sz="1600" b="1" i="0" u="none" strike="noStrike" kern="0" cap="none" spc="0" normalizeH="0" baseline="0" noProof="0" dirty="0">
                <a:ln>
                  <a:noFill/>
                </a:ln>
                <a:solidFill>
                  <a:schemeClr val="tx1"/>
                </a:solidFill>
                <a:effectLst/>
                <a:uLnTx/>
                <a:uFillTx/>
                <a:latin typeface="+mn-lt"/>
                <a:ea typeface="+mn-ea"/>
                <a:cs typeface="+mn-cs"/>
              </a:rPr>
              <a:t>8237A</a:t>
            </a:r>
            <a:r>
              <a:rPr kumimoji="0" lang="zh-CN" altLang="en-US" sz="1600" b="1" i="0" u="none" strike="noStrike" kern="0" cap="none" spc="0" normalizeH="0" baseline="0" noProof="0" dirty="0">
                <a:ln>
                  <a:noFill/>
                </a:ln>
                <a:solidFill>
                  <a:schemeClr val="tx1"/>
                </a:solidFill>
                <a:effectLst/>
                <a:uLnTx/>
                <a:uFillTx/>
                <a:latin typeface="+mn-lt"/>
                <a:ea typeface="+mn-ea"/>
                <a:cs typeface="+mn-cs"/>
              </a:rPr>
              <a:t>通道</a:t>
            </a:r>
            <a:r>
              <a:rPr kumimoji="0" lang="en-US" altLang="zh-CN" sz="1600" b="1" i="0" u="none" strike="noStrike" kern="0" cap="none" spc="0" normalizeH="0" baseline="0" noProof="0" dirty="0">
                <a:ln>
                  <a:noFill/>
                </a:ln>
                <a:solidFill>
                  <a:schemeClr val="tx1"/>
                </a:solidFill>
                <a:effectLst/>
                <a:uLnTx/>
                <a:uFillTx/>
                <a:latin typeface="+mn-lt"/>
                <a:ea typeface="+mn-ea"/>
                <a:cs typeface="+mn-cs"/>
              </a:rPr>
              <a:t>0</a:t>
            </a:r>
            <a:r>
              <a:rPr kumimoji="0" lang="zh-CN" altLang="en-US" sz="1600" b="1" i="0" u="none" strike="noStrike" kern="0" cap="none" spc="0" normalizeH="0" baseline="0" noProof="0" dirty="0">
                <a:ln>
                  <a:noFill/>
                </a:ln>
                <a:solidFill>
                  <a:schemeClr val="tx1"/>
                </a:solidFill>
                <a:effectLst/>
                <a:uLnTx/>
                <a:uFillTx/>
                <a:latin typeface="+mn-lt"/>
                <a:ea typeface="+mn-ea"/>
                <a:cs typeface="+mn-cs"/>
              </a:rPr>
              <a:t>输出存储器地址进行</a:t>
            </a:r>
            <a:r>
              <a:rPr kumimoji="0" lang="en-US" altLang="zh-CN" sz="1600" b="1" i="0" u="none" strike="noStrike" kern="0" cap="none" spc="0" normalizeH="0" baseline="0" noProof="0" dirty="0">
                <a:ln>
                  <a:noFill/>
                </a:ln>
                <a:solidFill>
                  <a:schemeClr val="tx1"/>
                </a:solidFill>
                <a:effectLst/>
                <a:uLnTx/>
                <a:uFillTx/>
                <a:latin typeface="+mn-lt"/>
                <a:ea typeface="+mn-ea"/>
                <a:cs typeface="+mn-cs"/>
              </a:rPr>
              <a:t>DRAM</a:t>
            </a:r>
            <a:r>
              <a:rPr kumimoji="0" lang="zh-CN" altLang="en-US" sz="1600" b="1" i="0" u="none" strike="noStrike" kern="0" cap="none" spc="0" normalizeH="0" baseline="0" noProof="0" dirty="0">
                <a:ln>
                  <a:noFill/>
                </a:ln>
                <a:solidFill>
                  <a:schemeClr val="tx1"/>
                </a:solidFill>
                <a:effectLst/>
                <a:uLnTx/>
                <a:uFillTx/>
                <a:latin typeface="+mn-lt"/>
                <a:ea typeface="+mn-ea"/>
                <a:cs typeface="+mn-cs"/>
              </a:rPr>
              <a:t>的刷新操作，其</a:t>
            </a:r>
            <a:r>
              <a:rPr kumimoji="0" lang="en-US" altLang="zh-CN" sz="1600" b="1" i="0" u="none" strike="noStrike" kern="0" cap="none" spc="0" normalizeH="0" baseline="0" noProof="0" dirty="0">
                <a:ln>
                  <a:noFill/>
                </a:ln>
                <a:solidFill>
                  <a:schemeClr val="tx1"/>
                </a:solidFill>
                <a:effectLst/>
                <a:uLnTx/>
                <a:uFillTx/>
                <a:latin typeface="+mn-lt"/>
                <a:ea typeface="+mn-ea"/>
                <a:cs typeface="+mn-cs"/>
              </a:rPr>
              <a:t>DMA</a:t>
            </a:r>
            <a:r>
              <a:rPr kumimoji="0" lang="zh-CN" altLang="en-US" sz="1600" b="1" i="0" u="none" strike="noStrike" kern="0" cap="none" spc="0" normalizeH="0" baseline="0" noProof="0" dirty="0">
                <a:ln>
                  <a:noFill/>
                </a:ln>
                <a:solidFill>
                  <a:schemeClr val="tx1"/>
                </a:solidFill>
                <a:effectLst/>
                <a:uLnTx/>
                <a:uFillTx/>
                <a:latin typeface="+mn-lt"/>
                <a:ea typeface="+mn-ea"/>
                <a:cs typeface="+mn-cs"/>
              </a:rPr>
              <a:t>传送程序如下：</a:t>
            </a:r>
            <a:br>
              <a:rPr kumimoji="0" lang="zh-CN" altLang="en-US" sz="1400" b="1" i="0" u="none" strike="noStrike" kern="0" cap="none" spc="0" normalizeH="0" baseline="0" noProof="0" dirty="0">
                <a:ln>
                  <a:noFill/>
                </a:ln>
                <a:solidFill>
                  <a:schemeClr val="tx1"/>
                </a:solidFill>
                <a:effectLst/>
                <a:uLnTx/>
                <a:uFillTx/>
                <a:latin typeface="+mn-lt"/>
                <a:ea typeface="+mn-ea"/>
                <a:cs typeface="+mn-cs"/>
              </a:rPr>
            </a:br>
            <a:r>
              <a:rPr kumimoji="0" lang="en-US" altLang="zh-CN" sz="1400" b="1" i="0" u="none" strike="noStrike" kern="0" cap="none" spc="0" normalizeH="0" baseline="0" noProof="0" dirty="0">
                <a:ln>
                  <a:noFill/>
                </a:ln>
                <a:solidFill>
                  <a:srgbClr val="FFFF00"/>
                </a:solidFill>
                <a:effectLst/>
                <a:uLnTx/>
                <a:uFillTx/>
                <a:latin typeface="+mn-lt"/>
                <a:ea typeface="+mn-ea"/>
                <a:cs typeface="+mn-cs"/>
              </a:rPr>
              <a:t>MOV  AL</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en-US" altLang="zh-CN" sz="1400" b="1" i="0" u="none" strike="noStrike" kern="0" cap="none" spc="0" normalizeH="0" baseline="0" noProof="0" dirty="0">
                <a:ln>
                  <a:noFill/>
                </a:ln>
                <a:solidFill>
                  <a:srgbClr val="FFFF00"/>
                </a:solidFill>
                <a:effectLst/>
                <a:uLnTx/>
                <a:uFillTx/>
                <a:latin typeface="+mn-lt"/>
                <a:ea typeface="+mn-ea"/>
                <a:cs typeface="+mn-cs"/>
              </a:rPr>
              <a:t>00H</a:t>
            </a:r>
            <a:br>
              <a:rPr kumimoji="0" lang="zh-CN" altLang="en-US" sz="1400" b="1" i="0" u="none" strike="noStrike" kern="0" cap="none" spc="0" normalizeH="0" baseline="0" noProof="0" dirty="0">
                <a:ln>
                  <a:noFill/>
                </a:ln>
                <a:solidFill>
                  <a:srgbClr val="FFFF00"/>
                </a:solidFill>
                <a:effectLst/>
                <a:uLnTx/>
                <a:uFillTx/>
                <a:latin typeface="+mn-lt"/>
                <a:ea typeface="+mn-ea"/>
                <a:cs typeface="+mn-cs"/>
              </a:rPr>
            </a:br>
            <a:r>
              <a:rPr kumimoji="0" lang="en-US" altLang="zh-CN" sz="1400" b="1" i="0" u="none" strike="noStrike" kern="0" cap="none" spc="0" normalizeH="0" baseline="0" noProof="0" dirty="0">
                <a:ln>
                  <a:noFill/>
                </a:ln>
                <a:solidFill>
                  <a:srgbClr val="FFFF00"/>
                </a:solidFill>
                <a:effectLst/>
                <a:uLnTx/>
                <a:uFillTx/>
                <a:latin typeface="+mn-lt"/>
                <a:ea typeface="+mn-ea"/>
                <a:cs typeface="+mn-cs"/>
              </a:rPr>
              <a:t>OUT  DMA+0DH</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en-US" altLang="zh-CN" sz="1400" b="1" i="0" u="none" strike="noStrike" kern="0" cap="none" spc="0" normalizeH="0" baseline="0" noProof="0" dirty="0">
                <a:ln>
                  <a:noFill/>
                </a:ln>
                <a:solidFill>
                  <a:srgbClr val="FFFF00"/>
                </a:solidFill>
                <a:effectLst/>
                <a:uLnTx/>
                <a:uFillTx/>
                <a:latin typeface="+mn-lt"/>
                <a:ea typeface="+mn-ea"/>
                <a:cs typeface="+mn-cs"/>
              </a:rPr>
              <a:t>AL     </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DMAC</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复位命令</a:t>
            </a:r>
            <a:r>
              <a:rPr kumimoji="0" lang="en-US" sz="1400" b="1" i="0" u="none" strike="noStrike" kern="0" cap="none" spc="0" normalizeH="0" baseline="0" noProof="0" dirty="0">
                <a:ln>
                  <a:noFill/>
                </a:ln>
                <a:solidFill>
                  <a:schemeClr val="tx1"/>
                </a:solidFill>
                <a:effectLst/>
                <a:uLnTx/>
                <a:uFillTx/>
                <a:latin typeface="+mn-lt"/>
                <a:ea typeface="+mn-ea"/>
                <a:cs typeface="+mn-cs"/>
              </a:rPr>
              <a:t>                                                                </a:t>
            </a:r>
            <a:br>
              <a:rPr kumimoji="0" lang="zh-CN" altLang="en-US" sz="1400" b="1" i="0" u="none" strike="noStrike" kern="0" cap="none" spc="0" normalizeH="0" baseline="0" noProof="0" dirty="0">
                <a:ln>
                  <a:noFill/>
                </a:ln>
                <a:solidFill>
                  <a:srgbClr val="FFFF00"/>
                </a:solidFill>
                <a:effectLst/>
                <a:uLnTx/>
                <a:uFillTx/>
                <a:latin typeface="+mn-lt"/>
                <a:ea typeface="+mn-ea"/>
                <a:cs typeface="+mn-cs"/>
              </a:rPr>
            </a:br>
            <a:r>
              <a:rPr kumimoji="0" lang="en-US" altLang="zh-CN" sz="1400" b="1" i="0" u="none" strike="noStrike" kern="0" cap="none" spc="0" normalizeH="0" baseline="0" noProof="0" dirty="0">
                <a:ln>
                  <a:noFill/>
                </a:ln>
                <a:solidFill>
                  <a:srgbClr val="FFFF00"/>
                </a:solidFill>
                <a:effectLst/>
                <a:uLnTx/>
                <a:uFillTx/>
                <a:latin typeface="+mn-lt"/>
                <a:ea typeface="+mn-ea"/>
                <a:cs typeface="+mn-cs"/>
              </a:rPr>
              <a:t>MOV  AL</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en-US" altLang="zh-CN" sz="1400" b="1" i="0" u="none" strike="noStrike" kern="0" cap="none" spc="0" normalizeH="0" baseline="0" noProof="0" dirty="0">
                <a:ln>
                  <a:noFill/>
                </a:ln>
                <a:solidFill>
                  <a:srgbClr val="FFFF00"/>
                </a:solidFill>
                <a:effectLst/>
                <a:uLnTx/>
                <a:uFillTx/>
                <a:latin typeface="+mn-lt"/>
                <a:ea typeface="+mn-ea"/>
                <a:cs typeface="+mn-cs"/>
              </a:rPr>
              <a:t>00H                </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固定优先权，</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DREQ</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高有效、</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DACK</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低有效、滞后写、正常时序</a:t>
            </a:r>
            <a:br>
              <a:rPr kumimoji="0" lang="zh-CN" altLang="en-US" sz="1400" b="1" i="0" u="none" strike="noStrike" kern="0" cap="none" spc="0" normalizeH="0" baseline="0" noProof="0" dirty="0">
                <a:ln>
                  <a:noFill/>
                </a:ln>
                <a:solidFill>
                  <a:srgbClr val="FFFF00"/>
                </a:solidFill>
                <a:effectLst/>
                <a:uLnTx/>
                <a:uFillTx/>
                <a:latin typeface="+mn-lt"/>
                <a:ea typeface="+mn-ea"/>
                <a:cs typeface="+mn-cs"/>
              </a:rPr>
            </a:br>
            <a:r>
              <a:rPr kumimoji="0" lang="en-US" altLang="zh-CN" sz="1400" b="1" i="0" u="none" strike="noStrike" kern="0" cap="none" spc="0" normalizeH="0" baseline="0" noProof="0" dirty="0">
                <a:ln>
                  <a:noFill/>
                </a:ln>
                <a:solidFill>
                  <a:srgbClr val="FFFF00"/>
                </a:solidFill>
                <a:effectLst/>
                <a:uLnTx/>
                <a:uFillTx/>
                <a:latin typeface="+mn-lt"/>
                <a:ea typeface="+mn-ea"/>
                <a:cs typeface="+mn-cs"/>
              </a:rPr>
              <a:t>OUT  DMA+08H</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en-US" altLang="zh-CN" sz="1400" b="1" i="0" u="none" strike="noStrike" kern="0" cap="none" spc="0" normalizeH="0" baseline="0" noProof="0" dirty="0">
                <a:ln>
                  <a:noFill/>
                </a:ln>
                <a:solidFill>
                  <a:srgbClr val="FFFF00"/>
                </a:solidFill>
                <a:effectLst/>
                <a:uLnTx/>
                <a:uFillTx/>
                <a:latin typeface="+mn-lt"/>
                <a:ea typeface="+mn-ea"/>
                <a:cs typeface="+mn-cs"/>
              </a:rPr>
              <a:t>AL     </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DMAC</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命令字写入命令寄存器</a:t>
            </a:r>
            <a:br>
              <a:rPr kumimoji="0" lang="zh-CN" altLang="en-US" sz="1400" b="1" i="0" u="none" strike="noStrike" kern="0" cap="none" spc="0" normalizeH="0" baseline="0" noProof="0" dirty="0">
                <a:ln>
                  <a:noFill/>
                </a:ln>
                <a:solidFill>
                  <a:srgbClr val="FFFF00"/>
                </a:solidFill>
                <a:effectLst/>
                <a:uLnTx/>
                <a:uFillTx/>
                <a:latin typeface="+mn-lt"/>
                <a:ea typeface="+mn-ea"/>
                <a:cs typeface="+mn-cs"/>
              </a:rPr>
            </a:br>
            <a:r>
              <a:rPr kumimoji="0" lang="en-US" altLang="zh-CN" sz="1400" b="1" i="0" u="none" strike="noStrike" kern="0" cap="none" spc="0" normalizeH="0" baseline="0" noProof="0" dirty="0">
                <a:ln>
                  <a:noFill/>
                </a:ln>
                <a:solidFill>
                  <a:srgbClr val="FFFF00"/>
                </a:solidFill>
                <a:effectLst/>
                <a:uLnTx/>
                <a:uFillTx/>
                <a:latin typeface="+mn-lt"/>
                <a:ea typeface="+mn-ea"/>
                <a:cs typeface="+mn-cs"/>
              </a:rPr>
              <a:t>MOV  AL</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en-US" altLang="zh-CN" sz="1400" b="1" i="0" u="none" strike="noStrike" kern="0" cap="none" spc="0" normalizeH="0" baseline="0" noProof="0" dirty="0">
                <a:ln>
                  <a:noFill/>
                </a:ln>
                <a:solidFill>
                  <a:srgbClr val="FFFF00"/>
                </a:solidFill>
                <a:effectLst/>
                <a:uLnTx/>
                <a:uFillTx/>
                <a:latin typeface="+mn-lt"/>
                <a:ea typeface="+mn-ea"/>
                <a:cs typeface="+mn-cs"/>
              </a:rPr>
              <a:t>00H        </a:t>
            </a:r>
            <a:br>
              <a:rPr kumimoji="0" lang="zh-CN" altLang="en-US" sz="1400" b="1" i="0" u="none" strike="noStrike" kern="0" cap="none" spc="0" normalizeH="0" baseline="0" noProof="0" dirty="0">
                <a:ln>
                  <a:noFill/>
                </a:ln>
                <a:solidFill>
                  <a:srgbClr val="FFFF00"/>
                </a:solidFill>
                <a:effectLst/>
                <a:uLnTx/>
                <a:uFillTx/>
                <a:latin typeface="+mn-lt"/>
                <a:ea typeface="+mn-ea"/>
                <a:cs typeface="+mn-cs"/>
              </a:rPr>
            </a:br>
            <a:r>
              <a:rPr kumimoji="0" lang="en-US" altLang="zh-CN" sz="1400" b="1" i="0" u="none" strike="noStrike" kern="0" cap="none" spc="0" normalizeH="0" baseline="0" noProof="0" dirty="0">
                <a:ln>
                  <a:noFill/>
                </a:ln>
                <a:solidFill>
                  <a:srgbClr val="FFFF00"/>
                </a:solidFill>
                <a:effectLst/>
                <a:uLnTx/>
                <a:uFillTx/>
                <a:latin typeface="+mn-lt"/>
                <a:ea typeface="+mn-ea"/>
                <a:cs typeface="+mn-cs"/>
              </a:rPr>
              <a:t>OUT  DMA+00H</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en-US" altLang="zh-CN" sz="1400" b="1" i="0" u="none" strike="noStrike" kern="0" cap="none" spc="0" normalizeH="0" baseline="0" noProof="0" dirty="0">
                <a:ln>
                  <a:noFill/>
                </a:ln>
                <a:solidFill>
                  <a:srgbClr val="FFFF00"/>
                </a:solidFill>
                <a:effectLst/>
                <a:uLnTx/>
                <a:uFillTx/>
                <a:latin typeface="+mn-lt"/>
                <a:ea typeface="+mn-ea"/>
                <a:cs typeface="+mn-cs"/>
              </a:rPr>
              <a:t>AL     </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写入通道</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0</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的地址寄存器低字节</a:t>
            </a:r>
            <a:br>
              <a:rPr kumimoji="0" lang="zh-CN" altLang="en-US" sz="1400" b="1" i="0" u="none" strike="noStrike" kern="0" cap="none" spc="0" normalizeH="0" baseline="0" noProof="0" dirty="0">
                <a:ln>
                  <a:noFill/>
                </a:ln>
                <a:solidFill>
                  <a:srgbClr val="FFFF00"/>
                </a:solidFill>
                <a:effectLst/>
                <a:uLnTx/>
                <a:uFillTx/>
                <a:latin typeface="+mn-lt"/>
                <a:ea typeface="+mn-ea"/>
                <a:cs typeface="+mn-cs"/>
              </a:rPr>
            </a:br>
            <a:r>
              <a:rPr kumimoji="0" lang="en-US" altLang="zh-CN" sz="1400" b="1" i="0" u="none" strike="noStrike" kern="0" cap="none" spc="0" normalizeH="0" baseline="0" noProof="0" dirty="0">
                <a:ln>
                  <a:noFill/>
                </a:ln>
                <a:solidFill>
                  <a:srgbClr val="FFFF00"/>
                </a:solidFill>
                <a:effectLst/>
                <a:uLnTx/>
                <a:uFillTx/>
                <a:latin typeface="+mn-lt"/>
                <a:ea typeface="+mn-ea"/>
                <a:cs typeface="+mn-cs"/>
              </a:rPr>
              <a:t>OUT  DMA+00H</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en-US" altLang="zh-CN" sz="1400" b="1" i="0" u="none" strike="noStrike" kern="0" cap="none" spc="0" normalizeH="0" baseline="0" noProof="0" dirty="0">
                <a:ln>
                  <a:noFill/>
                </a:ln>
                <a:solidFill>
                  <a:srgbClr val="FFFF00"/>
                </a:solidFill>
                <a:effectLst/>
                <a:uLnTx/>
                <a:uFillTx/>
                <a:latin typeface="+mn-lt"/>
                <a:ea typeface="+mn-ea"/>
                <a:cs typeface="+mn-cs"/>
              </a:rPr>
              <a:t>AL     </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写入通道</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0</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的地址寄存器高字节</a:t>
            </a:r>
            <a:br>
              <a:rPr kumimoji="0" lang="zh-CN" altLang="en-US" sz="1400" b="1" i="0" u="none" strike="noStrike" kern="0" cap="none" spc="0" normalizeH="0" baseline="0" noProof="0" dirty="0">
                <a:ln>
                  <a:noFill/>
                </a:ln>
                <a:solidFill>
                  <a:srgbClr val="FFFF00"/>
                </a:solidFill>
                <a:effectLst/>
                <a:uLnTx/>
                <a:uFillTx/>
                <a:latin typeface="+mn-lt"/>
                <a:ea typeface="+mn-ea"/>
                <a:cs typeface="+mn-cs"/>
              </a:rPr>
            </a:br>
            <a:r>
              <a:rPr kumimoji="0" lang="en-US" altLang="zh-CN" sz="1400" b="1" i="0" u="none" strike="noStrike" kern="0" cap="none" spc="0" normalizeH="0" baseline="0" noProof="0" dirty="0">
                <a:ln>
                  <a:noFill/>
                </a:ln>
                <a:solidFill>
                  <a:srgbClr val="FFFF00"/>
                </a:solidFill>
                <a:effectLst/>
                <a:uLnTx/>
                <a:uFillTx/>
                <a:latin typeface="+mn-lt"/>
                <a:ea typeface="+mn-ea"/>
                <a:cs typeface="+mn-cs"/>
              </a:rPr>
              <a:t>MOV  AL</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en-US" altLang="zh-CN" sz="1400" b="1" i="0" u="none" strike="noStrike" kern="0" cap="none" spc="0" normalizeH="0" baseline="0" noProof="0" dirty="0">
                <a:ln>
                  <a:noFill/>
                </a:ln>
                <a:solidFill>
                  <a:srgbClr val="FFFF00"/>
                </a:solidFill>
                <a:effectLst/>
                <a:uLnTx/>
                <a:uFillTx/>
                <a:latin typeface="+mn-lt"/>
                <a:ea typeface="+mn-ea"/>
                <a:cs typeface="+mn-cs"/>
              </a:rPr>
              <a:t>0FFH            </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zh-CN" altLang="en-US" sz="1400" b="1" i="1" u="none" strike="noStrike" kern="0" cap="none" spc="0" normalizeH="0" baseline="0" noProof="0" dirty="0">
                <a:ln>
                  <a:noFill/>
                </a:ln>
                <a:solidFill>
                  <a:schemeClr val="tx1"/>
                </a:solidFill>
                <a:effectLst/>
                <a:uLnTx/>
                <a:uFillTx/>
                <a:latin typeface="+mn-lt"/>
                <a:ea typeface="+mn-ea"/>
                <a:cs typeface="+mn-cs"/>
              </a:rPr>
              <a:t>通道</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0</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的传送字节数为</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64K</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字节，先写低位，后写高位</a:t>
            </a:r>
            <a:br>
              <a:rPr kumimoji="0" lang="zh-CN" altLang="en-US" sz="1400" b="1" i="0" u="none" strike="noStrike" kern="0" cap="none" spc="0" normalizeH="0" baseline="0" noProof="0" dirty="0">
                <a:ln>
                  <a:noFill/>
                </a:ln>
                <a:solidFill>
                  <a:srgbClr val="FFFF00"/>
                </a:solidFill>
                <a:effectLst/>
                <a:uLnTx/>
                <a:uFillTx/>
                <a:latin typeface="+mn-lt"/>
                <a:ea typeface="+mn-ea"/>
                <a:cs typeface="+mn-cs"/>
              </a:rPr>
            </a:br>
            <a:r>
              <a:rPr kumimoji="0" lang="en-US" altLang="zh-CN" sz="1400" b="1" i="0" u="none" strike="noStrike" kern="0" cap="none" spc="0" normalizeH="0" baseline="0" noProof="0" dirty="0">
                <a:ln>
                  <a:noFill/>
                </a:ln>
                <a:solidFill>
                  <a:srgbClr val="FFFF00"/>
                </a:solidFill>
                <a:effectLst/>
                <a:uLnTx/>
                <a:uFillTx/>
                <a:latin typeface="+mn-lt"/>
                <a:ea typeface="+mn-ea"/>
                <a:cs typeface="+mn-cs"/>
              </a:rPr>
              <a:t>OUT  DMA+01H</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en-US" altLang="zh-CN" sz="1400" b="1" i="0" u="none" strike="noStrike" kern="0" cap="none" spc="0" normalizeH="0" baseline="0" noProof="0" dirty="0">
                <a:ln>
                  <a:noFill/>
                </a:ln>
                <a:solidFill>
                  <a:srgbClr val="FFFF00"/>
                </a:solidFill>
                <a:effectLst/>
                <a:uLnTx/>
                <a:uFillTx/>
                <a:latin typeface="+mn-lt"/>
                <a:ea typeface="+mn-ea"/>
                <a:cs typeface="+mn-cs"/>
              </a:rPr>
              <a:t>AL     </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写入通道</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0</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的字节数寄存器低字节</a:t>
            </a:r>
            <a:br>
              <a:rPr kumimoji="0" lang="zh-CN" altLang="en-US" sz="1400" b="1" i="0" u="none" strike="noStrike" kern="0" cap="none" spc="0" normalizeH="0" baseline="0" noProof="0" dirty="0">
                <a:ln>
                  <a:noFill/>
                </a:ln>
                <a:solidFill>
                  <a:srgbClr val="FFFF00"/>
                </a:solidFill>
                <a:effectLst/>
                <a:uLnTx/>
                <a:uFillTx/>
                <a:latin typeface="+mn-lt"/>
                <a:ea typeface="+mn-ea"/>
                <a:cs typeface="+mn-cs"/>
              </a:rPr>
            </a:br>
            <a:r>
              <a:rPr kumimoji="0" lang="en-US" altLang="zh-CN" sz="1400" b="1" i="0" u="none" strike="noStrike" kern="0" cap="none" spc="0" normalizeH="0" baseline="0" noProof="0" dirty="0">
                <a:ln>
                  <a:noFill/>
                </a:ln>
                <a:solidFill>
                  <a:srgbClr val="FFFF00"/>
                </a:solidFill>
                <a:effectLst/>
                <a:uLnTx/>
                <a:uFillTx/>
                <a:latin typeface="+mn-lt"/>
                <a:ea typeface="+mn-ea"/>
                <a:cs typeface="+mn-cs"/>
              </a:rPr>
              <a:t>OUT  DMA+01H</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en-US" altLang="zh-CN" sz="1400" b="1" i="0" u="none" strike="noStrike" kern="0" cap="none" spc="0" normalizeH="0" baseline="0" noProof="0" dirty="0">
                <a:ln>
                  <a:noFill/>
                </a:ln>
                <a:solidFill>
                  <a:srgbClr val="FFFF00"/>
                </a:solidFill>
                <a:effectLst/>
                <a:uLnTx/>
                <a:uFillTx/>
                <a:latin typeface="+mn-lt"/>
                <a:ea typeface="+mn-ea"/>
                <a:cs typeface="+mn-cs"/>
              </a:rPr>
              <a:t>AL     </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写入通道</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0</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的字节数寄存器高字节</a:t>
            </a:r>
            <a:br>
              <a:rPr kumimoji="0" lang="zh-CN" altLang="en-US" sz="1400" b="1" i="0" u="none" strike="noStrike" kern="0" cap="none" spc="0" normalizeH="0" baseline="0" noProof="0" dirty="0">
                <a:ln>
                  <a:noFill/>
                </a:ln>
                <a:solidFill>
                  <a:srgbClr val="FFFF00"/>
                </a:solidFill>
                <a:effectLst/>
                <a:uLnTx/>
                <a:uFillTx/>
                <a:latin typeface="+mn-lt"/>
                <a:ea typeface="+mn-ea"/>
                <a:cs typeface="+mn-cs"/>
              </a:rPr>
            </a:br>
            <a:r>
              <a:rPr kumimoji="0" lang="en-US" altLang="zh-CN" sz="1400" b="1" i="0" u="none" strike="noStrike" kern="0" cap="none" spc="0" normalizeH="0" baseline="0" noProof="0" dirty="0">
                <a:ln>
                  <a:noFill/>
                </a:ln>
                <a:solidFill>
                  <a:srgbClr val="FFFF00"/>
                </a:solidFill>
                <a:effectLst/>
                <a:uLnTx/>
                <a:uFillTx/>
                <a:latin typeface="+mn-lt"/>
                <a:ea typeface="+mn-ea"/>
                <a:cs typeface="+mn-cs"/>
              </a:rPr>
              <a:t>MOV  AL</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en-US" altLang="zh-CN" sz="1400" b="1" i="0" u="none" strike="noStrike" kern="0" cap="none" spc="0" normalizeH="0" baseline="0" noProof="0" dirty="0">
                <a:ln>
                  <a:noFill/>
                </a:ln>
                <a:solidFill>
                  <a:srgbClr val="FFFF00"/>
                </a:solidFill>
                <a:effectLst/>
                <a:uLnTx/>
                <a:uFillTx/>
                <a:latin typeface="+mn-lt"/>
                <a:ea typeface="+mn-ea"/>
                <a:cs typeface="+mn-cs"/>
              </a:rPr>
              <a:t>58H                </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通道</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0</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方式字：单字节传送、</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DMA</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读、地址增量、自动初始化</a:t>
            </a:r>
            <a:br>
              <a:rPr kumimoji="0" lang="zh-CN" altLang="en-US" sz="1400" b="1" i="0" u="none" strike="noStrike" kern="0" cap="none" spc="0" normalizeH="0" baseline="0" noProof="0" dirty="0">
                <a:ln>
                  <a:noFill/>
                </a:ln>
                <a:solidFill>
                  <a:srgbClr val="FFFF00"/>
                </a:solidFill>
                <a:effectLst/>
                <a:uLnTx/>
                <a:uFillTx/>
                <a:latin typeface="+mn-lt"/>
                <a:ea typeface="+mn-ea"/>
                <a:cs typeface="+mn-cs"/>
              </a:rPr>
            </a:br>
            <a:r>
              <a:rPr kumimoji="0" lang="en-US" altLang="zh-CN" sz="1400" b="1" i="0" u="none" strike="noStrike" kern="0" cap="none" spc="0" normalizeH="0" baseline="0" noProof="0" dirty="0">
                <a:ln>
                  <a:noFill/>
                </a:ln>
                <a:solidFill>
                  <a:srgbClr val="FFFF00"/>
                </a:solidFill>
                <a:effectLst/>
                <a:uLnTx/>
                <a:uFillTx/>
                <a:latin typeface="+mn-lt"/>
                <a:ea typeface="+mn-ea"/>
                <a:cs typeface="+mn-cs"/>
              </a:rPr>
              <a:t>OUT  DMA+0BH</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en-US" altLang="zh-CN" sz="1400" b="1" i="0" u="none" strike="noStrike" kern="0" cap="none" spc="0" normalizeH="0" baseline="0" noProof="0" dirty="0">
                <a:ln>
                  <a:noFill/>
                </a:ln>
                <a:solidFill>
                  <a:srgbClr val="FFFF00"/>
                </a:solidFill>
                <a:effectLst/>
                <a:uLnTx/>
                <a:uFillTx/>
                <a:latin typeface="+mn-lt"/>
                <a:ea typeface="+mn-ea"/>
                <a:cs typeface="+mn-cs"/>
              </a:rPr>
              <a:t>AL           </a:t>
            </a:r>
            <a:br>
              <a:rPr kumimoji="0" lang="zh-CN" altLang="en-US" sz="1400" b="1" i="0" u="none" strike="noStrike" kern="0" cap="none" spc="0" normalizeH="0" baseline="0" noProof="0" dirty="0">
                <a:ln>
                  <a:noFill/>
                </a:ln>
                <a:solidFill>
                  <a:srgbClr val="FFFF00"/>
                </a:solidFill>
                <a:effectLst/>
                <a:uLnTx/>
                <a:uFillTx/>
                <a:latin typeface="+mn-lt"/>
                <a:ea typeface="+mn-ea"/>
                <a:cs typeface="+mn-cs"/>
              </a:rPr>
            </a:br>
            <a:r>
              <a:rPr kumimoji="0" lang="en-US" altLang="zh-CN" sz="1400" b="1" i="0" u="none" strike="noStrike" kern="0" cap="none" spc="0" normalizeH="0" baseline="0" noProof="0" dirty="0">
                <a:ln>
                  <a:noFill/>
                </a:ln>
                <a:solidFill>
                  <a:srgbClr val="FFFF00"/>
                </a:solidFill>
                <a:effectLst/>
                <a:uLnTx/>
                <a:uFillTx/>
                <a:latin typeface="+mn-lt"/>
                <a:ea typeface="+mn-ea"/>
                <a:cs typeface="+mn-cs"/>
              </a:rPr>
              <a:t>MOV  AL</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en-US" altLang="zh-CN" sz="1400" b="1" i="0" u="none" strike="noStrike" kern="0" cap="none" spc="0" normalizeH="0" baseline="0" noProof="0" dirty="0">
                <a:ln>
                  <a:noFill/>
                </a:ln>
                <a:solidFill>
                  <a:srgbClr val="FFFF00"/>
                </a:solidFill>
                <a:effectLst/>
                <a:uLnTx/>
                <a:uFillTx/>
                <a:latin typeface="+mn-lt"/>
                <a:ea typeface="+mn-ea"/>
                <a:cs typeface="+mn-cs"/>
              </a:rPr>
              <a:t>00H                </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通道</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0</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屏蔽字：允许</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DREQ</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提出申请</a:t>
            </a:r>
            <a:br>
              <a:rPr kumimoji="0" lang="zh-CN" altLang="en-US" sz="1400" b="1" i="0" u="none" strike="noStrike" kern="0" cap="none" spc="0" normalizeH="0" baseline="0" noProof="0" dirty="0">
                <a:ln>
                  <a:noFill/>
                </a:ln>
                <a:solidFill>
                  <a:srgbClr val="FFFF00"/>
                </a:solidFill>
                <a:effectLst/>
                <a:uLnTx/>
                <a:uFillTx/>
                <a:latin typeface="+mn-lt"/>
                <a:ea typeface="+mn-ea"/>
                <a:cs typeface="+mn-cs"/>
              </a:rPr>
            </a:br>
            <a:r>
              <a:rPr kumimoji="0" lang="en-US" altLang="zh-CN" sz="1400" b="1" i="0" u="none" strike="noStrike" kern="0" cap="none" spc="0" normalizeH="0" baseline="0" noProof="0" dirty="0">
                <a:ln>
                  <a:noFill/>
                </a:ln>
                <a:solidFill>
                  <a:srgbClr val="FFFF00"/>
                </a:solidFill>
                <a:effectLst/>
                <a:uLnTx/>
                <a:uFillTx/>
                <a:latin typeface="+mn-lt"/>
                <a:ea typeface="+mn-ea"/>
                <a:cs typeface="+mn-cs"/>
              </a:rPr>
              <a:t>OUT  DMA+0AH</a:t>
            </a:r>
            <a:r>
              <a:rPr kumimoji="0" lang="zh-CN" altLang="en-US" sz="1400" b="1" i="0" u="none" strike="noStrike" kern="0" cap="none" spc="0" normalizeH="0" baseline="0" noProof="0" dirty="0">
                <a:ln>
                  <a:noFill/>
                </a:ln>
                <a:solidFill>
                  <a:srgbClr val="FFFF00"/>
                </a:solidFill>
                <a:effectLst/>
                <a:uLnTx/>
                <a:uFillTx/>
                <a:latin typeface="+mn-lt"/>
                <a:ea typeface="+mn-ea"/>
                <a:cs typeface="+mn-cs"/>
              </a:rPr>
              <a:t>，</a:t>
            </a:r>
            <a:r>
              <a:rPr kumimoji="0" lang="en-US" altLang="zh-CN" sz="1400" b="1" i="0" u="none" strike="noStrike" kern="0" cap="none" spc="0" normalizeH="0" baseline="0" noProof="0" dirty="0">
                <a:ln>
                  <a:noFill/>
                </a:ln>
                <a:solidFill>
                  <a:srgbClr val="FFFF00"/>
                </a:solidFill>
                <a:effectLst/>
                <a:uLnTx/>
                <a:uFillTx/>
                <a:latin typeface="+mn-lt"/>
                <a:ea typeface="+mn-ea"/>
                <a:cs typeface="+mn-cs"/>
              </a:rPr>
              <a:t>AL</a:t>
            </a:r>
            <a:r>
              <a:rPr kumimoji="0" lang="en-US" altLang="zh-CN" sz="1400" b="1" i="0" u="none" strike="noStrike" kern="0" cap="none" spc="0" normalizeH="0" baseline="0" noProof="0" dirty="0">
                <a:ln>
                  <a:noFill/>
                </a:ln>
                <a:solidFill>
                  <a:schemeClr val="tx1"/>
                </a:solidFill>
                <a:effectLst/>
                <a:uLnTx/>
                <a:uFillTx/>
                <a:latin typeface="+mn-lt"/>
                <a:ea typeface="+mn-ea"/>
                <a:cs typeface="+mn-cs"/>
              </a:rPr>
              <a:t>         </a:t>
            </a:r>
            <a:br>
              <a:rPr kumimoji="0" lang="zh-CN" altLang="en-US" sz="1400" b="1" i="0" u="none" strike="noStrike" kern="0" cap="none" spc="0" normalizeH="0" baseline="0" noProof="0" dirty="0">
                <a:ln>
                  <a:noFill/>
                </a:ln>
                <a:solidFill>
                  <a:schemeClr val="tx1"/>
                </a:solidFill>
                <a:effectLst/>
                <a:uLnTx/>
                <a:uFillTx/>
                <a:latin typeface="+mn-lt"/>
                <a:ea typeface="+mn-ea"/>
                <a:cs typeface="+mn-cs"/>
              </a:rPr>
            </a:br>
            <a:r>
              <a:rPr kumimoji="0" lang="en-US" altLang="zh-CN" sz="1400" b="1" i="0" u="none" strike="noStrike" kern="0" cap="none" spc="0" normalizeH="0" baseline="0" noProof="0" dirty="0">
                <a:ln>
                  <a:noFill/>
                </a:ln>
                <a:solidFill>
                  <a:schemeClr val="tx1"/>
                </a:solidFill>
                <a:effectLst/>
                <a:uLnTx/>
                <a:uFillTx/>
                <a:latin typeface="+mn-lt"/>
                <a:ea typeface="+mn-ea"/>
                <a:cs typeface="+mn-cs"/>
              </a:rPr>
              <a:t>         </a:t>
            </a:r>
            <a:r>
              <a:rPr kumimoji="0" lang="zh-CN" altLang="en-US" sz="1400" b="1" i="0" u="none" strike="noStrike" kern="0" cap="none" spc="0" normalizeH="0" baseline="0" noProof="0" dirty="0">
                <a:ln>
                  <a:noFill/>
                </a:ln>
                <a:solidFill>
                  <a:schemeClr val="tx1"/>
                </a:solidFill>
                <a:effectLst/>
                <a:uLnTx/>
                <a:uFillTx/>
                <a:latin typeface="+mn-lt"/>
                <a:ea typeface="+mn-ea"/>
                <a:cs typeface="+mn-cs"/>
              </a:rPr>
              <a:t>值得注意的是，</a:t>
            </a:r>
            <a:r>
              <a:rPr kumimoji="0" lang="zh-CN" altLang="en-US" sz="1600" b="1" i="0" u="none" strike="noStrike" kern="0" cap="none" spc="0" normalizeH="0" baseline="0" noProof="0" dirty="0">
                <a:ln>
                  <a:noFill/>
                </a:ln>
                <a:solidFill>
                  <a:schemeClr val="accent6"/>
                </a:solidFill>
                <a:effectLst/>
                <a:uLnTx/>
                <a:uFillTx/>
                <a:latin typeface="+mn-lt"/>
                <a:ea typeface="+mn-ea"/>
                <a:cs typeface="+mn-cs"/>
              </a:rPr>
              <a:t>在初始化通道</a:t>
            </a:r>
            <a:r>
              <a:rPr kumimoji="0" lang="en-US" altLang="zh-CN" sz="1600" b="1" i="0" u="none" strike="noStrike" kern="0" cap="none" spc="0" normalizeH="0" baseline="0" noProof="0" dirty="0">
                <a:ln>
                  <a:noFill/>
                </a:ln>
                <a:solidFill>
                  <a:schemeClr val="accent6"/>
                </a:solidFill>
                <a:effectLst/>
                <a:uLnTx/>
                <a:uFillTx/>
                <a:latin typeface="+mn-lt"/>
                <a:ea typeface="+mn-ea"/>
                <a:cs typeface="+mn-cs"/>
              </a:rPr>
              <a:t>0</a:t>
            </a:r>
            <a:r>
              <a:rPr kumimoji="0" lang="zh-CN" altLang="en-US" sz="1600" b="1" i="0" u="none" strike="noStrike" kern="0" cap="none" spc="0" normalizeH="0" baseline="0" noProof="0" dirty="0">
                <a:ln>
                  <a:noFill/>
                </a:ln>
                <a:solidFill>
                  <a:schemeClr val="accent6"/>
                </a:solidFill>
                <a:effectLst/>
                <a:uLnTx/>
                <a:uFillTx/>
                <a:latin typeface="+mn-lt"/>
                <a:ea typeface="+mn-ea"/>
                <a:cs typeface="+mn-cs"/>
              </a:rPr>
              <a:t>时，未初始化地址。因为地址寄存器仅用于送出</a:t>
            </a:r>
            <a:r>
              <a:rPr kumimoji="0" lang="en-US" altLang="zh-CN" sz="1600" b="1" i="0" u="none" strike="noStrike" kern="0" cap="none" spc="0" normalizeH="0" baseline="0" noProof="0" dirty="0">
                <a:ln>
                  <a:noFill/>
                </a:ln>
                <a:solidFill>
                  <a:schemeClr val="accent6"/>
                </a:solidFill>
                <a:effectLst/>
                <a:uLnTx/>
                <a:uFillTx/>
                <a:latin typeface="+mn-lt"/>
                <a:ea typeface="+mn-ea"/>
                <a:cs typeface="+mn-cs"/>
              </a:rPr>
              <a:t>DRAM</a:t>
            </a:r>
            <a:r>
              <a:rPr kumimoji="0" lang="zh-CN" altLang="en-US" sz="1600" b="1" i="0" u="none" strike="noStrike" kern="0" cap="none" spc="0" normalizeH="0" baseline="0" noProof="0" dirty="0">
                <a:ln>
                  <a:noFill/>
                </a:ln>
                <a:solidFill>
                  <a:schemeClr val="accent6"/>
                </a:solidFill>
                <a:effectLst/>
                <a:uLnTx/>
                <a:uFillTx/>
                <a:latin typeface="+mn-lt"/>
                <a:ea typeface="+mn-ea"/>
                <a:cs typeface="+mn-cs"/>
              </a:rPr>
              <a:t>的行地址，总清后它们初始值为</a:t>
            </a:r>
            <a:r>
              <a:rPr kumimoji="0" lang="en-US" altLang="zh-CN" sz="1600" b="1" i="0" u="none" strike="noStrike" kern="0" cap="none" spc="0" normalizeH="0" baseline="0" noProof="0" dirty="0">
                <a:ln>
                  <a:noFill/>
                </a:ln>
                <a:solidFill>
                  <a:schemeClr val="accent6"/>
                </a:solidFill>
                <a:effectLst/>
                <a:uLnTx/>
                <a:uFillTx/>
                <a:latin typeface="+mn-lt"/>
                <a:ea typeface="+mn-ea"/>
                <a:cs typeface="+mn-cs"/>
              </a:rPr>
              <a:t>0</a:t>
            </a:r>
            <a:r>
              <a:rPr kumimoji="0" lang="zh-CN" altLang="en-US" sz="1600" b="1" i="0" u="none" strike="noStrike" kern="0" cap="none" spc="0" normalizeH="0" baseline="0" noProof="0" dirty="0">
                <a:ln>
                  <a:noFill/>
                </a:ln>
                <a:solidFill>
                  <a:schemeClr val="accent6"/>
                </a:solidFill>
                <a:effectLst/>
                <a:uLnTx/>
                <a:uFillTx/>
                <a:latin typeface="+mn-lt"/>
                <a:ea typeface="+mn-ea"/>
                <a:cs typeface="+mn-cs"/>
              </a:rPr>
              <a:t>，而后根据方式字地址递增，实现每次刷新一行。再就是</a:t>
            </a:r>
            <a:r>
              <a:rPr kumimoji="0" lang="en-US" altLang="zh-CN" sz="1600" b="1" i="0" u="none" strike="noStrike" kern="0" cap="none" spc="0" normalizeH="0" baseline="0" noProof="0" dirty="0">
                <a:ln>
                  <a:noFill/>
                </a:ln>
                <a:solidFill>
                  <a:schemeClr val="accent6"/>
                </a:solidFill>
                <a:effectLst/>
                <a:uLnTx/>
                <a:uFillTx/>
                <a:latin typeface="+mn-lt"/>
                <a:ea typeface="+mn-ea"/>
                <a:cs typeface="+mn-cs"/>
              </a:rPr>
              <a:t>PC</a:t>
            </a:r>
            <a:r>
              <a:rPr kumimoji="0" lang="zh-CN" altLang="en-US" sz="1600" b="1" i="0" u="none" strike="noStrike" kern="0" cap="none" spc="0" normalizeH="0" baseline="0" noProof="0" dirty="0">
                <a:ln>
                  <a:noFill/>
                </a:ln>
                <a:solidFill>
                  <a:schemeClr val="accent6"/>
                </a:solidFill>
                <a:effectLst/>
                <a:uLnTx/>
                <a:uFillTx/>
                <a:latin typeface="+mn-lt"/>
                <a:ea typeface="+mn-ea"/>
                <a:cs typeface="+mn-cs"/>
              </a:rPr>
              <a:t>机中</a:t>
            </a:r>
            <a:r>
              <a:rPr kumimoji="0" lang="en-US" altLang="zh-CN" sz="1600" b="1" i="0" u="none" strike="noStrike" kern="0" cap="none" spc="0" normalizeH="0" baseline="0" noProof="0" dirty="0">
                <a:ln>
                  <a:noFill/>
                </a:ln>
                <a:solidFill>
                  <a:schemeClr val="accent6"/>
                </a:solidFill>
                <a:effectLst/>
                <a:uLnTx/>
                <a:uFillTx/>
                <a:latin typeface="+mn-lt"/>
                <a:ea typeface="+mn-ea"/>
                <a:cs typeface="+mn-cs"/>
              </a:rPr>
              <a:t>DMA</a:t>
            </a:r>
            <a:r>
              <a:rPr kumimoji="0" lang="zh-CN" altLang="en-US" sz="1600" b="1" i="0" u="none" strike="noStrike" kern="0" cap="none" spc="0" normalizeH="0" baseline="0" noProof="0" dirty="0">
                <a:ln>
                  <a:noFill/>
                </a:ln>
                <a:solidFill>
                  <a:schemeClr val="accent6"/>
                </a:solidFill>
                <a:effectLst/>
                <a:uLnTx/>
                <a:uFillTx/>
                <a:latin typeface="+mn-lt"/>
                <a:ea typeface="+mn-ea"/>
                <a:cs typeface="+mn-cs"/>
              </a:rPr>
              <a:t>方式不是通过</a:t>
            </a:r>
            <a:r>
              <a:rPr kumimoji="0" lang="en-US" altLang="zh-CN" sz="1600" b="1" i="0" u="none" strike="noStrike" kern="0" cap="none" spc="0" normalizeH="0" baseline="0" noProof="0" dirty="0">
                <a:ln>
                  <a:noFill/>
                </a:ln>
                <a:solidFill>
                  <a:schemeClr val="accent6"/>
                </a:solidFill>
                <a:effectLst/>
                <a:uLnTx/>
                <a:uFillTx/>
                <a:latin typeface="+mn-lt"/>
                <a:ea typeface="+mn-ea"/>
                <a:cs typeface="+mn-cs"/>
              </a:rPr>
              <a:t>8088 CPU</a:t>
            </a:r>
            <a:r>
              <a:rPr kumimoji="0" lang="zh-CN" altLang="en-US" sz="1600" b="1" i="0" u="none" strike="noStrike" kern="0" cap="none" spc="0" normalizeH="0" baseline="0" noProof="0" dirty="0">
                <a:ln>
                  <a:noFill/>
                </a:ln>
                <a:solidFill>
                  <a:schemeClr val="accent6"/>
                </a:solidFill>
                <a:effectLst/>
                <a:uLnTx/>
                <a:uFillTx/>
                <a:latin typeface="+mn-lt"/>
                <a:ea typeface="+mn-ea"/>
                <a:cs typeface="+mn-cs"/>
              </a:rPr>
              <a:t>的</a:t>
            </a:r>
            <a:r>
              <a:rPr kumimoji="0" lang="en-US" altLang="zh-CN" sz="1600" b="1" i="0" u="none" strike="noStrike" kern="0" cap="none" spc="0" normalizeH="0" baseline="0" noProof="0" dirty="0">
                <a:ln>
                  <a:noFill/>
                </a:ln>
                <a:solidFill>
                  <a:schemeClr val="accent6"/>
                </a:solidFill>
                <a:effectLst/>
                <a:uLnTx/>
                <a:uFillTx/>
                <a:latin typeface="+mn-lt"/>
                <a:ea typeface="+mn-ea"/>
                <a:cs typeface="+mn-cs"/>
              </a:rPr>
              <a:t>HOLD</a:t>
            </a:r>
            <a:r>
              <a:rPr kumimoji="0" lang="zh-CN" altLang="en-US" sz="1600" b="1" i="0" u="none" strike="noStrike" kern="0" cap="none" spc="0" normalizeH="0" baseline="0" noProof="0" dirty="0">
                <a:ln>
                  <a:noFill/>
                </a:ln>
                <a:solidFill>
                  <a:schemeClr val="accent6"/>
                </a:solidFill>
                <a:effectLst/>
                <a:uLnTx/>
                <a:uFillTx/>
                <a:latin typeface="+mn-lt"/>
                <a:ea typeface="+mn-ea"/>
                <a:cs typeface="+mn-cs"/>
              </a:rPr>
              <a:t>实现的，而是利用等待方式来实现的。这时</a:t>
            </a:r>
            <a:r>
              <a:rPr kumimoji="0" lang="en-US" altLang="zh-CN" sz="1600" b="1" i="0" u="none" strike="noStrike" kern="0" cap="none" spc="0" normalizeH="0" baseline="0" noProof="0" dirty="0">
                <a:ln>
                  <a:noFill/>
                </a:ln>
                <a:solidFill>
                  <a:schemeClr val="accent6"/>
                </a:solidFill>
                <a:effectLst/>
                <a:uLnTx/>
                <a:uFillTx/>
                <a:latin typeface="+mn-lt"/>
                <a:ea typeface="+mn-ea"/>
                <a:cs typeface="+mn-cs"/>
              </a:rPr>
              <a:t>CPU</a:t>
            </a:r>
            <a:r>
              <a:rPr kumimoji="0" lang="zh-CN" altLang="en-US" sz="1600" b="1" i="0" u="none" strike="noStrike" kern="0" cap="none" spc="0" normalizeH="0" baseline="0" noProof="0" dirty="0">
                <a:ln>
                  <a:noFill/>
                </a:ln>
                <a:solidFill>
                  <a:schemeClr val="accent6"/>
                </a:solidFill>
                <a:effectLst/>
                <a:uLnTx/>
                <a:uFillTx/>
                <a:latin typeface="+mn-lt"/>
                <a:ea typeface="+mn-ea"/>
                <a:cs typeface="+mn-cs"/>
              </a:rPr>
              <a:t>处于等待操作状态，把系统总线交给</a:t>
            </a:r>
            <a:r>
              <a:rPr kumimoji="0" lang="en-US" altLang="zh-CN" sz="1600" b="1" i="0" u="none" strike="noStrike" kern="0" cap="none" spc="0" normalizeH="0" baseline="0" noProof="0" dirty="0">
                <a:ln>
                  <a:noFill/>
                </a:ln>
                <a:solidFill>
                  <a:schemeClr val="accent6"/>
                </a:solidFill>
                <a:effectLst/>
                <a:uLnTx/>
                <a:uFillTx/>
                <a:latin typeface="+mn-lt"/>
                <a:ea typeface="+mn-ea"/>
                <a:cs typeface="+mn-cs"/>
              </a:rPr>
              <a:t>DMAC</a:t>
            </a:r>
            <a:r>
              <a:rPr kumimoji="0" lang="zh-CN" altLang="en-US" sz="1600" b="1" i="0" u="none" strike="noStrike" kern="0" cap="none" spc="0" normalizeH="0" baseline="0" noProof="0" dirty="0">
                <a:ln>
                  <a:noFill/>
                </a:ln>
                <a:solidFill>
                  <a:schemeClr val="accent6"/>
                </a:solidFill>
                <a:effectLst/>
                <a:uLnTx/>
                <a:uFillTx/>
                <a:latin typeface="+mn-lt"/>
                <a:ea typeface="+mn-ea"/>
                <a:cs typeface="+mn-cs"/>
              </a:rPr>
              <a:t>来控制</a:t>
            </a:r>
            <a:r>
              <a:rPr kumimoji="0" lang="zh-CN" altLang="en-US" sz="1600" b="1" i="0" u="none" strike="noStrike" kern="0" cap="none" spc="0" normalizeH="0" baseline="0" noProof="0" dirty="0">
                <a:ln>
                  <a:noFill/>
                </a:ln>
                <a:solidFill>
                  <a:schemeClr val="tx1"/>
                </a:solidFill>
                <a:effectLst/>
                <a:uLnTx/>
                <a:uFillTx/>
                <a:latin typeface="+mn-lt"/>
                <a:ea typeface="+mn-ea"/>
                <a:cs typeface="+mn-cs"/>
              </a:rPr>
              <a:t>。</a:t>
            </a:r>
          </a:p>
        </p:txBody>
      </p:sp>
      <p:sp>
        <p:nvSpPr>
          <p:cNvPr id="70658" name="文本占位符 2"/>
          <p:cNvSpPr>
            <a:spLocks noGrp="1"/>
          </p:cNvSpPr>
          <p:nvPr/>
        </p:nvSpPr>
        <p:spPr>
          <a:xfrm>
            <a:off x="493713" y="236538"/>
            <a:ext cx="7772400" cy="958850"/>
          </a:xfrm>
          <a:prstGeom prst="rect">
            <a:avLst/>
          </a:prstGeom>
          <a:noFill/>
          <a:ln w="9525">
            <a:noFill/>
          </a:ln>
        </p:spPr>
        <p:txBody>
          <a:bodyPr wrap="square" lIns="92075" tIns="46038" rIns="92075" bIns="46038" anchor="b" anchorCtr="0"/>
          <a:lstStyle/>
          <a:p>
            <a:pPr algn="ctr" eaLnBrk="0" hangingPunct="0">
              <a:buClr>
                <a:schemeClr val="accent2"/>
              </a:buClr>
              <a:buSzPct val="70000"/>
            </a:pPr>
            <a:r>
              <a:rPr lang="en-US" altLang="zh-CN" sz="3200" dirty="0">
                <a:latin typeface="Times New Roman" panose="02020603050405020304" pitchFamily="18" charset="0"/>
                <a:ea typeface="宋体" panose="02010600030101010101" pitchFamily="2" charset="-122"/>
              </a:rPr>
              <a:t>8.2.4  8237A</a:t>
            </a:r>
            <a:r>
              <a:rPr lang="zh-CN" altLang="en-US" sz="3200" dirty="0">
                <a:latin typeface="Times New Roman" panose="02020603050405020304" pitchFamily="18" charset="0"/>
                <a:ea typeface="宋体" panose="02010600030101010101" pitchFamily="2" charset="-122"/>
              </a:rPr>
              <a:t>的初始化编程及应用</a:t>
            </a:r>
          </a:p>
        </p:txBody>
      </p:sp>
    </p:spTree>
  </p:cSld>
  <p:clrMapOvr>
    <a:masterClrMapping/>
  </p:clrMapOvr>
  <p:transition spd="med">
    <p:random/>
  </p:transition>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1" name="内容占位符 4"/>
          <p:cNvSpPr>
            <a:spLocks noGrp="1"/>
          </p:cNvSpPr>
          <p:nvPr>
            <p:ph idx="4294967295"/>
          </p:nvPr>
        </p:nvSpPr>
        <p:spPr>
          <a:xfrm>
            <a:off x="577850" y="1387475"/>
            <a:ext cx="8197850" cy="5470525"/>
          </a:xfrm>
          <a:ln/>
        </p:spPr>
        <p:txBody>
          <a:bodyPr wrap="square" lIns="92075" tIns="46038" rIns="92075" bIns="46038" anchor="t" anchorCtr="0"/>
          <a:lstStyle/>
          <a:p>
            <a:pPr>
              <a:lnSpc>
                <a:spcPts val="1900"/>
              </a:lnSpc>
              <a:buNone/>
            </a:pPr>
            <a:r>
              <a:rPr lang="en-US" altLang="zh-CN" sz="1600" dirty="0"/>
              <a:t>     </a:t>
            </a:r>
            <a:r>
              <a:rPr lang="zh-CN" altLang="en-US" sz="1600" dirty="0"/>
              <a:t>【例</a:t>
            </a:r>
            <a:r>
              <a:rPr lang="en-US" altLang="zh-CN" sz="1600" dirty="0"/>
              <a:t>8.8</a:t>
            </a:r>
            <a:r>
              <a:rPr lang="zh-CN" altLang="en-US" sz="1600" dirty="0"/>
              <a:t>】 假设采用</a:t>
            </a:r>
            <a:r>
              <a:rPr lang="en-US" altLang="zh-CN" sz="1600" dirty="0"/>
              <a:t>IBM PC/XT</a:t>
            </a:r>
            <a:r>
              <a:rPr lang="zh-CN" altLang="en-US" sz="1600" dirty="0"/>
              <a:t>中</a:t>
            </a:r>
            <a:r>
              <a:rPr lang="en-US" altLang="zh-CN" sz="1600" dirty="0"/>
              <a:t>DMA</a:t>
            </a:r>
            <a:r>
              <a:rPr lang="zh-CN" altLang="en-US" sz="1600" dirty="0"/>
              <a:t>通道</a:t>
            </a:r>
            <a:r>
              <a:rPr lang="en-US" altLang="zh-CN" sz="1600" dirty="0"/>
              <a:t>1</a:t>
            </a:r>
            <a:r>
              <a:rPr lang="zh-CN" altLang="en-US" sz="1600" dirty="0"/>
              <a:t>，传送</a:t>
            </a:r>
            <a:r>
              <a:rPr lang="en-US" altLang="zh-CN" sz="1600" dirty="0"/>
              <a:t>1KB</a:t>
            </a:r>
            <a:r>
              <a:rPr lang="zh-CN" altLang="en-US" sz="1600" dirty="0"/>
              <a:t>外设数据，内存起始地址为</a:t>
            </a:r>
            <a:r>
              <a:rPr lang="en-US" altLang="zh-CN" sz="1600" dirty="0"/>
              <a:t>36000H</a:t>
            </a:r>
            <a:r>
              <a:rPr lang="zh-CN" altLang="en-US" sz="1600" dirty="0"/>
              <a:t>，其</a:t>
            </a:r>
            <a:r>
              <a:rPr lang="en-US" altLang="zh-CN" sz="1600" dirty="0"/>
              <a:t>DMA</a:t>
            </a:r>
            <a:r>
              <a:rPr lang="zh-CN" altLang="en-US" sz="1600" dirty="0"/>
              <a:t>传送程序如下：</a:t>
            </a:r>
            <a:br>
              <a:rPr lang="zh-CN" altLang="en-US" sz="1400" dirty="0"/>
            </a:br>
            <a:r>
              <a:rPr lang="en-US" altLang="zh-CN" sz="1400" dirty="0"/>
              <a:t>MOV  AL</a:t>
            </a:r>
            <a:r>
              <a:rPr lang="zh-CN" altLang="en-US" sz="1400" dirty="0"/>
              <a:t>，</a:t>
            </a:r>
            <a:r>
              <a:rPr lang="en-US" altLang="zh-CN" sz="1400" dirty="0"/>
              <a:t>45H                    </a:t>
            </a:r>
            <a:r>
              <a:rPr lang="zh-CN" altLang="en-US" sz="1400" dirty="0"/>
              <a:t>；</a:t>
            </a:r>
            <a:r>
              <a:rPr lang="zh-CN" altLang="en-US" sz="1400" dirty="0">
                <a:solidFill>
                  <a:srgbClr val="FFFF00"/>
                </a:solidFill>
              </a:rPr>
              <a:t>通道</a:t>
            </a:r>
            <a:r>
              <a:rPr lang="en-US" altLang="zh-CN" sz="1400" dirty="0">
                <a:solidFill>
                  <a:srgbClr val="FFFF00"/>
                </a:solidFill>
              </a:rPr>
              <a:t>1</a:t>
            </a:r>
            <a:r>
              <a:rPr lang="zh-CN" altLang="en-US" sz="1400" dirty="0">
                <a:solidFill>
                  <a:srgbClr val="FFFF00"/>
                </a:solidFill>
              </a:rPr>
              <a:t>方式字：单字节</a:t>
            </a:r>
            <a:r>
              <a:rPr lang="en-US" altLang="zh-CN" sz="1400" dirty="0">
                <a:solidFill>
                  <a:srgbClr val="FFFF00"/>
                </a:solidFill>
              </a:rPr>
              <a:t>DMA</a:t>
            </a:r>
            <a:r>
              <a:rPr lang="zh-CN" altLang="en-US" sz="1400" dirty="0">
                <a:solidFill>
                  <a:srgbClr val="FFFF00"/>
                </a:solidFill>
              </a:rPr>
              <a:t>写传送，地址增量、非自动初始化</a:t>
            </a:r>
            <a:br>
              <a:rPr lang="zh-CN" altLang="en-US" sz="1400" dirty="0"/>
            </a:br>
            <a:r>
              <a:rPr lang="en-US" altLang="zh-CN" sz="1400" dirty="0"/>
              <a:t>	OUT  DMA+0BH</a:t>
            </a:r>
            <a:r>
              <a:rPr lang="zh-CN" altLang="en-US" sz="1400" dirty="0"/>
              <a:t>，</a:t>
            </a:r>
            <a:r>
              <a:rPr lang="en-US" altLang="zh-CN" sz="1400" dirty="0"/>
              <a:t>AL </a:t>
            </a:r>
            <a:br>
              <a:rPr lang="zh-CN" altLang="en-US" sz="1400" dirty="0"/>
            </a:br>
            <a:r>
              <a:rPr lang="en-US" altLang="zh-CN" sz="1400" dirty="0"/>
              <a:t>    OUT  DMA+0CH</a:t>
            </a:r>
            <a:r>
              <a:rPr lang="zh-CN" altLang="en-US" sz="1400" dirty="0"/>
              <a:t>，</a:t>
            </a:r>
            <a:r>
              <a:rPr lang="en-US" altLang="zh-CN" sz="1400" dirty="0"/>
              <a:t>AL     </a:t>
            </a:r>
            <a:r>
              <a:rPr lang="zh-CN" altLang="en-US" sz="1400" dirty="0"/>
              <a:t>；</a:t>
            </a:r>
            <a:r>
              <a:rPr lang="zh-CN" altLang="en-US" sz="1400" dirty="0">
                <a:solidFill>
                  <a:srgbClr val="FFFF00"/>
                </a:solidFill>
              </a:rPr>
              <a:t>清先</a:t>
            </a:r>
            <a:r>
              <a:rPr lang="en-US" altLang="zh-CN" sz="1400" dirty="0">
                <a:solidFill>
                  <a:srgbClr val="FFFF00"/>
                </a:solidFill>
              </a:rPr>
              <a:t>/</a:t>
            </a:r>
            <a:r>
              <a:rPr lang="zh-CN" altLang="en-US" sz="1400" dirty="0">
                <a:solidFill>
                  <a:srgbClr val="FFFF00"/>
                </a:solidFill>
              </a:rPr>
              <a:t>后触发器  </a:t>
            </a:r>
            <a:r>
              <a:rPr lang="en-US" altLang="zh-CN" sz="1400" dirty="0">
                <a:solidFill>
                  <a:srgbClr val="FFFF00"/>
                </a:solidFill>
              </a:rPr>
              <a:t>                                                               </a:t>
            </a:r>
            <a:br>
              <a:rPr lang="zh-CN" altLang="en-US" sz="1400" dirty="0"/>
            </a:br>
            <a:r>
              <a:rPr lang="en-US" altLang="zh-CN" sz="1400" dirty="0"/>
              <a:t>	MOV  AL</a:t>
            </a:r>
            <a:r>
              <a:rPr lang="zh-CN" altLang="en-US" sz="1400" dirty="0"/>
              <a:t>，</a:t>
            </a:r>
            <a:r>
              <a:rPr lang="en-US" altLang="zh-CN" sz="1400" dirty="0"/>
              <a:t>00H          </a:t>
            </a:r>
            <a:br>
              <a:rPr lang="zh-CN" altLang="en-US" sz="1400" dirty="0"/>
            </a:br>
            <a:r>
              <a:rPr lang="en-US" altLang="zh-CN" sz="1400" dirty="0"/>
              <a:t>    OUT  DMA+02H</a:t>
            </a:r>
            <a:r>
              <a:rPr lang="zh-CN" altLang="en-US" sz="1400" dirty="0"/>
              <a:t>，</a:t>
            </a:r>
            <a:r>
              <a:rPr lang="en-US" altLang="zh-CN" sz="1400" dirty="0"/>
              <a:t>AL     </a:t>
            </a:r>
            <a:r>
              <a:rPr lang="zh-CN" altLang="en-US" sz="1400" dirty="0"/>
              <a:t>；</a:t>
            </a:r>
            <a:r>
              <a:rPr lang="zh-CN" altLang="en-US" sz="1400" dirty="0">
                <a:solidFill>
                  <a:srgbClr val="FFFF00"/>
                </a:solidFill>
              </a:rPr>
              <a:t>写入低</a:t>
            </a:r>
            <a:r>
              <a:rPr lang="en-US" altLang="zh-CN" sz="1400" dirty="0">
                <a:solidFill>
                  <a:srgbClr val="FFFF00"/>
                </a:solidFill>
              </a:rPr>
              <a:t>8</a:t>
            </a:r>
            <a:r>
              <a:rPr lang="zh-CN" altLang="en-US" sz="1400" dirty="0">
                <a:solidFill>
                  <a:srgbClr val="FFFF00"/>
                </a:solidFill>
              </a:rPr>
              <a:t>位地址到地址寄存器</a:t>
            </a:r>
            <a:br>
              <a:rPr lang="zh-CN" altLang="en-US" sz="1400" dirty="0"/>
            </a:br>
            <a:r>
              <a:rPr lang="en-US" altLang="zh-CN" sz="1400" dirty="0"/>
              <a:t>	MOV  AL</a:t>
            </a:r>
            <a:r>
              <a:rPr lang="zh-CN" altLang="en-US" sz="1400" dirty="0"/>
              <a:t>，</a:t>
            </a:r>
            <a:r>
              <a:rPr lang="en-US" altLang="zh-CN" sz="1400" dirty="0"/>
              <a:t>60H        </a:t>
            </a:r>
            <a:br>
              <a:rPr lang="zh-CN" altLang="en-US" sz="1400" dirty="0"/>
            </a:br>
            <a:r>
              <a:rPr lang="en-US" altLang="zh-CN" sz="1400" dirty="0"/>
              <a:t>OUT  DMA+02H</a:t>
            </a:r>
            <a:r>
              <a:rPr lang="zh-CN" altLang="en-US" sz="1400" dirty="0"/>
              <a:t>，</a:t>
            </a:r>
            <a:r>
              <a:rPr lang="en-US" altLang="zh-CN" sz="1400" dirty="0"/>
              <a:t>AL         </a:t>
            </a:r>
            <a:r>
              <a:rPr lang="zh-CN" altLang="en-US" sz="1400" dirty="0"/>
              <a:t>；</a:t>
            </a:r>
            <a:r>
              <a:rPr lang="zh-CN" altLang="en-US" sz="1400" dirty="0">
                <a:solidFill>
                  <a:srgbClr val="FFFF00"/>
                </a:solidFill>
              </a:rPr>
              <a:t>写入中</a:t>
            </a:r>
            <a:r>
              <a:rPr lang="en-US" altLang="zh-CN" sz="1400" dirty="0">
                <a:solidFill>
                  <a:srgbClr val="FFFF00"/>
                </a:solidFill>
              </a:rPr>
              <a:t>8</a:t>
            </a:r>
            <a:r>
              <a:rPr lang="zh-CN" altLang="en-US" sz="1400" dirty="0">
                <a:solidFill>
                  <a:srgbClr val="FFFF00"/>
                </a:solidFill>
              </a:rPr>
              <a:t>位地址到地址寄存器</a:t>
            </a:r>
            <a:br>
              <a:rPr lang="zh-CN" altLang="en-US" sz="1400" dirty="0"/>
            </a:br>
            <a:r>
              <a:rPr lang="en-US" altLang="zh-CN" sz="1400" dirty="0"/>
              <a:t>MOV  AL</a:t>
            </a:r>
            <a:r>
              <a:rPr lang="zh-CN" altLang="en-US" sz="1400" dirty="0"/>
              <a:t>，</a:t>
            </a:r>
            <a:r>
              <a:rPr lang="en-US" altLang="zh-CN" sz="1400" dirty="0"/>
              <a:t>03H        </a:t>
            </a:r>
            <a:br>
              <a:rPr lang="zh-CN" altLang="en-US" sz="1400" dirty="0"/>
            </a:br>
            <a:r>
              <a:rPr lang="en-US" altLang="zh-CN" sz="1400" dirty="0"/>
              <a:t>OUT  81H</a:t>
            </a:r>
            <a:r>
              <a:rPr lang="zh-CN" altLang="en-US" sz="1400" dirty="0"/>
              <a:t>，</a:t>
            </a:r>
            <a:r>
              <a:rPr lang="en-US" altLang="zh-CN" sz="1400" dirty="0"/>
              <a:t>AL                     </a:t>
            </a:r>
            <a:r>
              <a:rPr lang="zh-CN" altLang="en-US" sz="1400" dirty="0"/>
              <a:t>；</a:t>
            </a:r>
            <a:r>
              <a:rPr lang="zh-CN" altLang="en-US" sz="1400" dirty="0">
                <a:solidFill>
                  <a:srgbClr val="FFFF00"/>
                </a:solidFill>
              </a:rPr>
              <a:t>写入高</a:t>
            </a:r>
            <a:r>
              <a:rPr lang="en-US" altLang="zh-CN" sz="1400" dirty="0">
                <a:solidFill>
                  <a:srgbClr val="FFFF00"/>
                </a:solidFill>
              </a:rPr>
              <a:t>4</a:t>
            </a:r>
            <a:r>
              <a:rPr lang="zh-CN" altLang="en-US" sz="1400" dirty="0">
                <a:solidFill>
                  <a:srgbClr val="FFFF00"/>
                </a:solidFill>
              </a:rPr>
              <a:t>位地址到页面寄存器寄存器，地址</a:t>
            </a:r>
            <a:r>
              <a:rPr lang="en-US" altLang="zh-CN" sz="1400" dirty="0">
                <a:solidFill>
                  <a:srgbClr val="FFFF00"/>
                </a:solidFill>
              </a:rPr>
              <a:t>81H</a:t>
            </a:r>
            <a:r>
              <a:rPr lang="zh-CN" altLang="en-US" sz="1400" dirty="0">
                <a:solidFill>
                  <a:srgbClr val="FFFF00"/>
                </a:solidFill>
              </a:rPr>
              <a:t>为已知</a:t>
            </a:r>
            <a:br>
              <a:rPr lang="zh-CN" altLang="en-US" sz="1400" dirty="0"/>
            </a:br>
            <a:r>
              <a:rPr lang="en-US" altLang="zh-CN" sz="1400" dirty="0"/>
              <a:t>MOV  AX</a:t>
            </a:r>
            <a:r>
              <a:rPr lang="zh-CN" altLang="en-US" sz="1400" dirty="0"/>
              <a:t>，</a:t>
            </a:r>
            <a:r>
              <a:rPr lang="en-US" altLang="zh-CN" sz="1400" dirty="0"/>
              <a:t>1023                   </a:t>
            </a:r>
            <a:r>
              <a:rPr lang="zh-CN" altLang="en-US" sz="1400" dirty="0"/>
              <a:t>；</a:t>
            </a:r>
            <a:r>
              <a:rPr lang="zh-CN" altLang="en-US" sz="1400" dirty="0">
                <a:solidFill>
                  <a:srgbClr val="FFFF00"/>
                </a:solidFill>
              </a:rPr>
              <a:t>传送字节数减</a:t>
            </a:r>
            <a:r>
              <a:rPr lang="en-US" altLang="zh-CN" sz="1400" dirty="0">
                <a:solidFill>
                  <a:srgbClr val="FFFF00"/>
                </a:solidFill>
              </a:rPr>
              <a:t>1</a:t>
            </a:r>
            <a:r>
              <a:rPr lang="zh-CN" altLang="en-US" sz="1400" dirty="0">
                <a:solidFill>
                  <a:srgbClr val="FFFF00"/>
                </a:solidFill>
              </a:rPr>
              <a:t>后送入</a:t>
            </a:r>
            <a:r>
              <a:rPr lang="en-US" altLang="zh-CN" sz="1400" dirty="0">
                <a:solidFill>
                  <a:srgbClr val="FFFF00"/>
                </a:solidFill>
              </a:rPr>
              <a:t>AX</a:t>
            </a:r>
            <a:br>
              <a:rPr lang="zh-CN" altLang="en-US" sz="1400" dirty="0"/>
            </a:br>
            <a:r>
              <a:rPr lang="en-US" altLang="zh-CN" sz="1400" dirty="0"/>
              <a:t>OUT  DMA+03H</a:t>
            </a:r>
            <a:r>
              <a:rPr lang="zh-CN" altLang="en-US" sz="1400" dirty="0"/>
              <a:t>，</a:t>
            </a:r>
            <a:r>
              <a:rPr lang="en-US" altLang="zh-CN" sz="1400" dirty="0"/>
              <a:t>AL         </a:t>
            </a:r>
            <a:r>
              <a:rPr lang="zh-CN" altLang="en-US" sz="1400" dirty="0"/>
              <a:t>；</a:t>
            </a:r>
            <a:r>
              <a:rPr lang="zh-CN" altLang="en-US" sz="1400" dirty="0">
                <a:solidFill>
                  <a:srgbClr val="FFFF00"/>
                </a:solidFill>
              </a:rPr>
              <a:t>送字节数低</a:t>
            </a:r>
            <a:r>
              <a:rPr lang="en-US" altLang="zh-CN" sz="1400" dirty="0">
                <a:solidFill>
                  <a:srgbClr val="FFFF00"/>
                </a:solidFill>
              </a:rPr>
              <a:t>8</a:t>
            </a:r>
            <a:r>
              <a:rPr lang="zh-CN" altLang="en-US" sz="1400" dirty="0">
                <a:solidFill>
                  <a:srgbClr val="FFFF00"/>
                </a:solidFill>
              </a:rPr>
              <a:t>位到字节数寄存器</a:t>
            </a:r>
            <a:br>
              <a:rPr lang="zh-CN" altLang="en-US" sz="1400" dirty="0"/>
            </a:br>
            <a:r>
              <a:rPr lang="en-US" altLang="zh-CN" sz="1400" dirty="0"/>
              <a:t>MOV  AL</a:t>
            </a:r>
            <a:r>
              <a:rPr lang="zh-CN" altLang="en-US" sz="1400" dirty="0"/>
              <a:t>，</a:t>
            </a:r>
            <a:r>
              <a:rPr lang="en-US" altLang="zh-CN" sz="1400" dirty="0"/>
              <a:t>AH</a:t>
            </a:r>
            <a:br>
              <a:rPr lang="zh-CN" altLang="en-US" sz="1400" dirty="0"/>
            </a:br>
            <a:r>
              <a:rPr lang="en-US" altLang="zh-CN" sz="1400" dirty="0"/>
              <a:t>OUT  DMA+03H</a:t>
            </a:r>
            <a:r>
              <a:rPr lang="zh-CN" altLang="en-US" sz="1400" dirty="0"/>
              <a:t>，</a:t>
            </a:r>
            <a:r>
              <a:rPr lang="en-US" altLang="zh-CN" sz="1400" dirty="0"/>
              <a:t>AL         </a:t>
            </a:r>
            <a:r>
              <a:rPr lang="zh-CN" altLang="en-US" sz="1400" dirty="0"/>
              <a:t>；</a:t>
            </a:r>
            <a:r>
              <a:rPr lang="zh-CN" altLang="en-US" sz="1400" dirty="0">
                <a:solidFill>
                  <a:srgbClr val="FFFF00"/>
                </a:solidFill>
              </a:rPr>
              <a:t>送字节数高</a:t>
            </a:r>
            <a:r>
              <a:rPr lang="en-US" altLang="zh-CN" sz="1400" dirty="0">
                <a:solidFill>
                  <a:srgbClr val="FFFF00"/>
                </a:solidFill>
              </a:rPr>
              <a:t>8</a:t>
            </a:r>
            <a:r>
              <a:rPr lang="zh-CN" altLang="en-US" sz="1400" dirty="0">
                <a:solidFill>
                  <a:srgbClr val="FFFF00"/>
                </a:solidFill>
              </a:rPr>
              <a:t>位到字节数寄存器</a:t>
            </a:r>
            <a:br>
              <a:rPr lang="zh-CN" altLang="en-US" sz="1400" dirty="0"/>
            </a:br>
            <a:r>
              <a:rPr lang="en-US" altLang="zh-CN" sz="1400" dirty="0"/>
              <a:t>MOV  AL</a:t>
            </a:r>
            <a:r>
              <a:rPr lang="zh-CN" altLang="en-US" sz="1400" dirty="0"/>
              <a:t>，</a:t>
            </a:r>
            <a:r>
              <a:rPr lang="en-US" altLang="zh-CN" sz="1400" dirty="0"/>
              <a:t>01H                    </a:t>
            </a:r>
            <a:r>
              <a:rPr lang="zh-CN" altLang="en-US" sz="1400" dirty="0"/>
              <a:t>；</a:t>
            </a:r>
            <a:r>
              <a:rPr lang="zh-CN" altLang="en-US" sz="1400" dirty="0">
                <a:solidFill>
                  <a:srgbClr val="FFFF00"/>
                </a:solidFill>
              </a:rPr>
              <a:t>传送字节数减</a:t>
            </a:r>
            <a:r>
              <a:rPr lang="en-US" altLang="zh-CN" sz="1400" dirty="0">
                <a:solidFill>
                  <a:srgbClr val="FFFF00"/>
                </a:solidFill>
              </a:rPr>
              <a:t>1</a:t>
            </a:r>
            <a:r>
              <a:rPr lang="zh-CN" altLang="en-US" sz="1400" dirty="0">
                <a:solidFill>
                  <a:srgbClr val="FFFF00"/>
                </a:solidFill>
              </a:rPr>
              <a:t>后送入</a:t>
            </a:r>
            <a:r>
              <a:rPr lang="en-US" altLang="zh-CN" sz="1400" dirty="0">
                <a:solidFill>
                  <a:srgbClr val="FFFF00"/>
                </a:solidFill>
              </a:rPr>
              <a:t>AX</a:t>
            </a:r>
            <a:br>
              <a:rPr lang="zh-CN" altLang="en-US" sz="1400" dirty="0"/>
            </a:br>
            <a:r>
              <a:rPr lang="en-US" altLang="zh-CN" sz="1400" dirty="0"/>
              <a:t>OUT  DMA+0AH</a:t>
            </a:r>
            <a:r>
              <a:rPr lang="zh-CN" altLang="en-US" sz="1400" dirty="0"/>
              <a:t>，</a:t>
            </a:r>
            <a:r>
              <a:rPr lang="en-US" altLang="zh-CN" sz="1400" dirty="0"/>
              <a:t>AL        </a:t>
            </a:r>
            <a:r>
              <a:rPr lang="zh-CN" altLang="en-US" sz="1400" dirty="0"/>
              <a:t>；</a:t>
            </a:r>
            <a:r>
              <a:rPr lang="zh-CN" altLang="en-US" sz="1400" dirty="0">
                <a:solidFill>
                  <a:srgbClr val="FFFF00"/>
                </a:solidFill>
              </a:rPr>
              <a:t>单通道屏蔽字：允许通道</a:t>
            </a:r>
            <a:r>
              <a:rPr lang="en-US" altLang="zh-CN" sz="1400" dirty="0">
                <a:solidFill>
                  <a:srgbClr val="FFFF00"/>
                </a:solidFill>
              </a:rPr>
              <a:t>1</a:t>
            </a:r>
            <a:r>
              <a:rPr lang="zh-CN" altLang="en-US" sz="1400" dirty="0">
                <a:solidFill>
                  <a:srgbClr val="FFFF00"/>
                </a:solidFill>
              </a:rPr>
              <a:t>的</a:t>
            </a:r>
            <a:r>
              <a:rPr lang="en-US" altLang="zh-CN" sz="1400" dirty="0">
                <a:solidFill>
                  <a:srgbClr val="FFFF00"/>
                </a:solidFill>
              </a:rPr>
              <a:t>DMA</a:t>
            </a:r>
            <a:r>
              <a:rPr lang="zh-CN" altLang="en-US" sz="1400" dirty="0">
                <a:solidFill>
                  <a:srgbClr val="FFFF00"/>
                </a:solidFill>
              </a:rPr>
              <a:t>请求</a:t>
            </a:r>
            <a:br>
              <a:rPr lang="zh-CN" altLang="en-US" sz="1400" dirty="0"/>
            </a:br>
            <a:r>
              <a:rPr lang="en-US" altLang="zh-CN" sz="1400" dirty="0"/>
              <a:t>…                                            </a:t>
            </a:r>
            <a:r>
              <a:rPr lang="zh-CN" altLang="en-US" sz="1400" dirty="0"/>
              <a:t>；其它操作</a:t>
            </a:r>
            <a:br>
              <a:rPr lang="zh-CN" altLang="en-US" sz="1400" dirty="0"/>
            </a:br>
            <a:r>
              <a:rPr lang="en-US" altLang="zh-CN" sz="1400" dirty="0"/>
              <a:t>DMALOOP</a:t>
            </a:r>
            <a:r>
              <a:rPr lang="zh-CN" altLang="en-US" sz="1400" dirty="0"/>
              <a:t>：</a:t>
            </a:r>
            <a:br>
              <a:rPr lang="zh-CN" altLang="en-US" sz="1400" dirty="0"/>
            </a:br>
            <a:r>
              <a:rPr lang="en-US" altLang="zh-CN" sz="1400" dirty="0"/>
              <a:t>IN   AL</a:t>
            </a:r>
            <a:r>
              <a:rPr lang="zh-CN" altLang="en-US" sz="1400" dirty="0"/>
              <a:t>，</a:t>
            </a:r>
            <a:r>
              <a:rPr lang="en-US" altLang="zh-CN" sz="1400" dirty="0"/>
              <a:t>DMA+08H            </a:t>
            </a:r>
            <a:r>
              <a:rPr lang="zh-CN" altLang="en-US" sz="1400" dirty="0"/>
              <a:t>；</a:t>
            </a:r>
            <a:r>
              <a:rPr lang="zh-CN" altLang="en-US" sz="1400" dirty="0">
                <a:solidFill>
                  <a:srgbClr val="FFFF00"/>
                </a:solidFill>
              </a:rPr>
              <a:t>读状态寄存器</a:t>
            </a:r>
            <a:br>
              <a:rPr lang="zh-CN" altLang="en-US" sz="1400" dirty="0"/>
            </a:br>
            <a:r>
              <a:rPr lang="en-US" altLang="zh-CN" sz="1400" dirty="0"/>
              <a:t>AND  AL</a:t>
            </a:r>
            <a:r>
              <a:rPr lang="zh-CN" altLang="en-US" sz="1400" dirty="0"/>
              <a:t>，</a:t>
            </a:r>
            <a:r>
              <a:rPr lang="en-US" altLang="zh-CN" sz="1400" dirty="0"/>
              <a:t>02H                     </a:t>
            </a:r>
            <a:r>
              <a:rPr lang="zh-CN" altLang="en-US" sz="1400" dirty="0"/>
              <a:t>；</a:t>
            </a:r>
            <a:r>
              <a:rPr lang="zh-CN" altLang="en-US" sz="1400" dirty="0">
                <a:solidFill>
                  <a:srgbClr val="FFFF00"/>
                </a:solidFill>
              </a:rPr>
              <a:t>判断通道</a:t>
            </a:r>
            <a:r>
              <a:rPr lang="en-US" altLang="zh-CN" sz="1400" dirty="0">
                <a:solidFill>
                  <a:srgbClr val="FFFF00"/>
                </a:solidFill>
              </a:rPr>
              <a:t>1</a:t>
            </a:r>
            <a:r>
              <a:rPr lang="zh-CN" altLang="en-US" sz="1400" dirty="0">
                <a:solidFill>
                  <a:srgbClr val="FFFF00"/>
                </a:solidFill>
              </a:rPr>
              <a:t>是否传送结束</a:t>
            </a:r>
            <a:br>
              <a:rPr lang="zh-CN" altLang="en-US" sz="1400" dirty="0"/>
            </a:br>
            <a:r>
              <a:rPr lang="en-US" altLang="zh-CN" sz="1400" dirty="0"/>
              <a:t>JZ   DMALOOP                    </a:t>
            </a:r>
            <a:r>
              <a:rPr lang="zh-CN" altLang="en-US" sz="1400" dirty="0"/>
              <a:t>；</a:t>
            </a:r>
            <a:r>
              <a:rPr lang="zh-CN" altLang="en-US" sz="1400" dirty="0">
                <a:solidFill>
                  <a:srgbClr val="FFFF00"/>
                </a:solidFill>
              </a:rPr>
              <a:t>没有结束，则循环等待</a:t>
            </a:r>
          </a:p>
        </p:txBody>
      </p:sp>
      <p:sp>
        <p:nvSpPr>
          <p:cNvPr id="71682" name="文本占位符 2"/>
          <p:cNvSpPr>
            <a:spLocks noGrp="1"/>
          </p:cNvSpPr>
          <p:nvPr/>
        </p:nvSpPr>
        <p:spPr>
          <a:xfrm>
            <a:off x="493713" y="236538"/>
            <a:ext cx="7772400" cy="958850"/>
          </a:xfrm>
          <a:prstGeom prst="rect">
            <a:avLst/>
          </a:prstGeom>
          <a:noFill/>
          <a:ln w="9525">
            <a:noFill/>
          </a:ln>
        </p:spPr>
        <p:txBody>
          <a:bodyPr wrap="square" lIns="92075" tIns="46038" rIns="92075" bIns="46038" anchor="b" anchorCtr="0"/>
          <a:lstStyle/>
          <a:p>
            <a:pPr algn="ctr" eaLnBrk="0" hangingPunct="0">
              <a:buClr>
                <a:schemeClr val="accent2"/>
              </a:buClr>
              <a:buSzPct val="70000"/>
            </a:pPr>
            <a:r>
              <a:rPr lang="en-US" altLang="zh-CN" sz="3200" dirty="0">
                <a:latin typeface="Times New Roman" panose="02020603050405020304" pitchFamily="18" charset="0"/>
                <a:ea typeface="宋体" panose="02010600030101010101" pitchFamily="2" charset="-122"/>
              </a:rPr>
              <a:t>8.2.4  8237A</a:t>
            </a:r>
            <a:r>
              <a:rPr lang="zh-CN" altLang="en-US" sz="3200" dirty="0">
                <a:latin typeface="Times New Roman" panose="02020603050405020304" pitchFamily="18" charset="0"/>
                <a:ea typeface="宋体" panose="02010600030101010101" pitchFamily="2" charset="-122"/>
              </a:rPr>
              <a:t>的初始化编程及应用</a:t>
            </a:r>
          </a:p>
        </p:txBody>
      </p:sp>
    </p:spTree>
  </p:cSld>
  <p:clrMapOvr>
    <a:masterClrMapping/>
  </p:clrMapOvr>
  <p:transition spd="med">
    <p:random/>
  </p:transition>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6710363" cy="1143000"/>
          </a:xfrm>
        </p:spPr>
        <p:txBody>
          <a:bodyPr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zh-CN" sz="32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思考与练习</a:t>
            </a:r>
          </a:p>
        </p:txBody>
      </p:sp>
      <p:sp>
        <p:nvSpPr>
          <p:cNvPr id="72706" name="AutoShape 8">
            <a:hlinkClick r:id="" action="ppaction://noaction"/>
          </p:cNvPr>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72707" name="内容占位符 4"/>
          <p:cNvSpPr>
            <a:spLocks noGrp="1"/>
          </p:cNvSpPr>
          <p:nvPr>
            <p:ph idx="1"/>
          </p:nvPr>
        </p:nvSpPr>
        <p:spPr>
          <a:xfrm>
            <a:off x="854075" y="1544638"/>
            <a:ext cx="7821613" cy="4892675"/>
          </a:xfrm>
          <a:ln/>
        </p:spPr>
        <p:txBody>
          <a:bodyPr wrap="square" lIns="92075" tIns="46038" rIns="92075" bIns="46038" anchor="t" anchorCtr="0"/>
          <a:lstStyle/>
          <a:p>
            <a:pPr algn="just">
              <a:buNone/>
            </a:pPr>
            <a:r>
              <a:rPr lang="en-US" altLang="zh-CN" sz="2400" dirty="0"/>
              <a:t>8-1  8253计数器/定时器有哪些特点？</a:t>
            </a:r>
          </a:p>
          <a:p>
            <a:pPr algn="just">
              <a:buNone/>
            </a:pPr>
            <a:r>
              <a:rPr lang="en-US" altLang="zh-CN" sz="2400" dirty="0"/>
              <a:t>8-2  8253有几个计数通道，每条计数通道有哪些信号线，</a:t>
            </a:r>
          </a:p>
          <a:p>
            <a:pPr algn="just">
              <a:buNone/>
            </a:pPr>
            <a:r>
              <a:rPr lang="en-US" altLang="zh-CN" sz="2400" dirty="0"/>
              <a:t>其作用是什么？</a:t>
            </a:r>
          </a:p>
          <a:p>
            <a:pPr algn="just">
              <a:buNone/>
            </a:pPr>
            <a:r>
              <a:rPr lang="en-US" altLang="zh-CN" sz="2400" dirty="0"/>
              <a:t>8-3  8253的内部寄存器及各位的意义是什么？</a:t>
            </a:r>
          </a:p>
          <a:p>
            <a:pPr algn="just">
              <a:buNone/>
            </a:pPr>
            <a:r>
              <a:rPr lang="en-US" altLang="zh-CN" sz="2400" dirty="0"/>
              <a:t>8-4  对8253进行初始化编程分哪几步进行？</a:t>
            </a:r>
          </a:p>
          <a:p>
            <a:pPr algn="just">
              <a:buNone/>
            </a:pPr>
            <a:r>
              <a:rPr lang="en-US" altLang="zh-CN" sz="2400" dirty="0"/>
              <a:t>8-7  什么是DMA传送方式？为什么DMA方式能够实现</a:t>
            </a:r>
          </a:p>
          <a:p>
            <a:pPr algn="just">
              <a:buNone/>
            </a:pPr>
            <a:r>
              <a:rPr lang="en-US" altLang="zh-CN" sz="2400" dirty="0"/>
              <a:t>数据高速传送？</a:t>
            </a:r>
          </a:p>
          <a:p>
            <a:pPr algn="just">
              <a:buNone/>
            </a:pPr>
            <a:r>
              <a:rPr lang="en-US" altLang="zh-CN" sz="2400" dirty="0"/>
              <a:t>8-8  DMA方式下，数据传送的工作过程是什么？</a:t>
            </a:r>
          </a:p>
          <a:p>
            <a:pPr algn="just">
              <a:buNone/>
            </a:pPr>
            <a:r>
              <a:rPr lang="en-US" altLang="zh-CN" sz="2400" dirty="0"/>
              <a:t>8-9  DMA控制器8237A包含哪些寄存器？简述各寄存器</a:t>
            </a:r>
          </a:p>
          <a:p>
            <a:pPr algn="just">
              <a:buNone/>
            </a:pPr>
            <a:r>
              <a:rPr lang="en-US" altLang="zh-CN" sz="2400" dirty="0"/>
              <a:t>的作用。</a:t>
            </a:r>
          </a:p>
          <a:p>
            <a:pPr algn="just">
              <a:buNone/>
            </a:pPr>
            <a:r>
              <a:rPr lang="en-US" altLang="zh-CN" sz="2400" dirty="0"/>
              <a:t>8-10  简要说明8237A的初始化步骤。</a:t>
            </a:r>
          </a:p>
        </p:txBody>
      </p:sp>
    </p:spTree>
  </p:cSld>
  <p:clrMapOvr>
    <a:masterClrMapping/>
  </p:clrMapOvr>
  <p:transition spd="med">
    <p:random/>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TAwNWQ1MGFjZWY2ZGU4NzY5ZmZjNDc2ZWQwNjNjYzUifQ=="/>
</p:tagLst>
</file>

<file path=ppt/theme/theme1.xml><?xml version="1.0" encoding="utf-8"?>
<a:theme xmlns:a="http://schemas.openxmlformats.org/drawingml/2006/main" name="项目总览">
  <a:themeElements>
    <a:clrScheme name="">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FF00"/>
      </a:hlink>
      <a:folHlink>
        <a:srgbClr val="FF7C80"/>
      </a:folHlink>
    </a:clrScheme>
    <a:fontScheme name="项目总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Tx/>
          <a:buNone/>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Tx/>
          <a:buNone/>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项目总览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
      <a:clrScheme name="项目总览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项目总览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项目总览">
  <a:themeElements>
    <a:clrScheme name="">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FF00"/>
      </a:hlink>
      <a:folHlink>
        <a:srgbClr val="FF7C80"/>
      </a:folHlink>
    </a:clrScheme>
    <a:fontScheme name="项目总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Tx/>
          <a:buNone/>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Tx/>
          <a:buNone/>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项目总览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
      <a:clrScheme name="项目总览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项目总览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Office\Templates\2052\项目总览.pot</Template>
  <TotalTime>235</TotalTime>
  <Words>7078</Words>
  <Application>Microsoft Office PowerPoint</Application>
  <PresentationFormat>全屏显示(4:3)</PresentationFormat>
  <Paragraphs>515</Paragraphs>
  <Slides>61</Slides>
  <Notes>3</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61</vt:i4>
      </vt:variant>
    </vt:vector>
  </HeadingPairs>
  <TitlesOfParts>
    <vt:vector size="68" baseType="lpstr">
      <vt:lpstr>隶书</vt:lpstr>
      <vt:lpstr>宋体</vt:lpstr>
      <vt:lpstr>Arial</vt:lpstr>
      <vt:lpstr>Times New Roman</vt:lpstr>
      <vt:lpstr>Wingdings</vt:lpstr>
      <vt:lpstr>项目总览</vt:lpstr>
      <vt:lpstr>1_项目总览</vt:lpstr>
      <vt:lpstr>PowerPoint 演示文稿</vt:lpstr>
      <vt:lpstr> 第8章  计数器/定时器与DMA控制器</vt:lpstr>
      <vt:lpstr>8.1  可编程定时器/计数器8253</vt:lpstr>
      <vt:lpstr> 一、8253的功能与结构</vt:lpstr>
      <vt:lpstr> </vt:lpstr>
      <vt:lpstr>2  .  8253的内部结构</vt:lpstr>
      <vt:lpstr>2  .  8253的内部结构</vt:lpstr>
      <vt:lpstr> </vt:lpstr>
      <vt:lpstr>3 .8253的引脚 </vt:lpstr>
      <vt:lpstr> 二、  8253的控制字</vt:lpstr>
      <vt:lpstr>2 .  8253初始化编程原则 </vt:lpstr>
      <vt:lpstr>例 题 赏 析</vt:lpstr>
      <vt:lpstr> 例 题 赏 析</vt:lpstr>
      <vt:lpstr>例 题 赏 析</vt:lpstr>
      <vt:lpstr>三、8253工作方式与工作时序</vt:lpstr>
      <vt:lpstr>三、8253工作方式与工作时序</vt:lpstr>
      <vt:lpstr>1 .方式0(计数结束产生中断)</vt:lpstr>
      <vt:lpstr>例 题 赏 析</vt:lpstr>
      <vt:lpstr> </vt:lpstr>
      <vt:lpstr>2 . 方式1 (可编程的硬件触发单拍脉冲） </vt:lpstr>
      <vt:lpstr>例 题 赏 析 </vt:lpstr>
      <vt:lpstr>3 . 方式2 (速率发生器，分频器) </vt:lpstr>
      <vt:lpstr>3 . 方式2 (速率发生器，分频器) </vt:lpstr>
      <vt:lpstr> 4 .方式3 (方波速率发生器) </vt:lpstr>
      <vt:lpstr> 4 .方式3 (方波速率发生器)的工作方式 </vt:lpstr>
      <vt:lpstr> 4  . 方式3 (方波速率发生器)</vt:lpstr>
      <vt:lpstr>5. 方式4 (软件触发的选通信号发生器) </vt:lpstr>
      <vt:lpstr>5. 方式4 (软件触发的选通信号发生器) </vt:lpstr>
      <vt:lpstr>6 . 方式5 (硬件触发的选通信号发生器) </vt:lpstr>
      <vt:lpstr>6 . 方式5 (硬件触发的选通信号发生器) </vt:lpstr>
      <vt:lpstr>四、  8253的初始化编程及应用</vt:lpstr>
      <vt:lpstr>PowerPoint 演示文稿</vt:lpstr>
      <vt:lpstr>四、  8253的初始化编程及应用</vt:lpstr>
      <vt:lpstr>四、  8253的初始化编程及应用</vt:lpstr>
      <vt:lpstr>四、  8253的初始化编程及应用</vt:lpstr>
      <vt:lpstr>四、  8253的初始化编程及应用</vt:lpstr>
      <vt:lpstr>四、  8253的初始化编程及应用</vt:lpstr>
      <vt:lpstr>四、  8253的初始化编程及应用</vt:lpstr>
      <vt:lpstr>四、  8253的初始化编程及应用</vt:lpstr>
      <vt:lpstr>四、  8253的初始化编程及应用</vt:lpstr>
      <vt:lpstr>8.2     DMA控制器8237A</vt:lpstr>
      <vt:lpstr>         前面介绍的微机系统中各种常用的数据输入输出方法，包括方式，前三种方式适用于CPU与慢速及中速外设之间的数据交换。但当高速外设要与系统内存或者要在系统内存的不同区域之间，进行大量数据的快速传送时，前三种方式就不能满足于数据传输的要求。 为了提高数据传送的速率，人们提出了直接存储器存取(DMA)的数据传送控制方式，即在一定时间段内，由DMA控制器（DMAC）取代CPU，获得总线控制权，来实现内存与外设或者内存的不同区域之间大量数据快速传送的一种数据传送方式。典型的DMA控制器（DMAC）的工作原理如图6.6所示。在DMA方式下，数据传送的工作过程大致如下：</vt:lpstr>
      <vt:lpstr>（1）  首先，外设向DMAC发出DMA传送请求。  （2）    DMAC通过连接到CPU的HOLD信号向CPU提出DMA请求。 （3）   CPU在完成当前总线操作后，立即响应DMAC占用总线的请求。CPU的响应包括两个方面：一方面，CPU将立即放弃总线控制权（CPU将将控制总线、数据总线和地址总线浮空）；另一方面，CPU将有效的HLDA信号加到DMAC上，通知DMAC自己已经让出了总线的控制权。 （4）  CPU放弃总线控制权后（即CPU将总线浮空后），DMAC接管系统总线的控制权，并向外设送出DMA的应答信号。 （5）  DMAC送出地址信号和控制信号，实现外设与内存或内存不同区域之间大量数据的快速传送。 （6）   DMAC将规定的数据字节传送完之后，通过向CPU发出HOLD信号，撤消对CPU的DMA请求。CPU收到此信号，一方面使HLDA无效，另一方面又重新开始控制总线，实现正常取指令、分析指令、执行指令的操作。</vt:lpstr>
      <vt:lpstr>PowerPoint 演示文稿</vt:lpstr>
      <vt:lpstr>      8237A的内部结构 8237A的内部结构如图8-12所示，主要由4个独立的DMA通道组成。每个通道有方式寄存器、请求寄存器、屏蔽寄存器、基地址寄存器、现行地址寄存器、基字节数寄存器和现行字节数寄存器组成。8237A内部还包括4个通道公用的命令寄存器和状态寄存器等。此外，还有读/写逻辑、时序和控制逻辑、优先权编码逻辑等。</vt:lpstr>
      <vt:lpstr>PowerPoint 演示文稿</vt:lpstr>
      <vt:lpstr>         8237A的数据线、地址线都有三态缓冲器，可以接管或释放总线。内部的优先权编码器单元可以对同时有DMA请求的通道进行优先权编码，确定优先权级别。各通道公用一个控制寄存器和状态寄存器。其中暂存器在8237A完成存储器到存储器的传送时用于保存数据。完成传送后，暂存器总是保存前一次存储器传送的最后一个字节的内容。8237A是具有40个引脚的双列直插式集成电路芯片，其引脚如图8-13所示。</vt:lpstr>
      <vt:lpstr>3.  8237A的寄存器 </vt:lpstr>
      <vt:lpstr>各寄存器功能如下：</vt:lpstr>
      <vt:lpstr>各寄存器功能如下：</vt:lpstr>
      <vt:lpstr>PowerPoint 演示文稿</vt:lpstr>
      <vt:lpstr>各寄存器功能如下：</vt:lpstr>
      <vt:lpstr>PowerPoint 演示文稿</vt:lpstr>
      <vt:lpstr>PowerPoint 演示文稿</vt:lpstr>
      <vt:lpstr>8.2.3  8237A的工作方式和传输类型</vt:lpstr>
      <vt:lpstr>1．8237A的工作方式</vt:lpstr>
      <vt:lpstr>2．8237A的DMA传输类型</vt:lpstr>
      <vt:lpstr>          8237A工作前应先由CPU对其进行初始化编程，设定工作方式及内部各寄存器的值。初始化编程包括：输出总清除命令、设置基地址与现行地址寄存器、设置基字节数寄存器与现行字节数寄存器、写入方式寄存器、写入屏蔽寄存器、写入命令寄存器。若不使用软件请求，在完成上述编程后，由各通道的DMA请求信号DREQ启动DMA传送过程；若使用软件请求，需将请求寄存器的内容写入指定通道后，开始DMA传送过程。 在对8237A初始化之前，通常必须对8237A进行复位操作，利用系统总线上的RESET信号或软件命令对A3A2AlA0为1101的地址进行写操作，均可使8237复位。复位后，8237内部的屏蔽寄存器被置位而其它所有寄存器被清0，复位操作使8237进入空闲状态，这时才可以对8237进行初始化操作。 </vt:lpstr>
      <vt:lpstr>PowerPoint 演示文稿</vt:lpstr>
      <vt:lpstr>PowerPoint 演示文稿</vt:lpstr>
      <vt:lpstr>思考与练习</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Dongming Guo</cp:lastModifiedBy>
  <cp:revision>742</cp:revision>
  <dcterms:created xsi:type="dcterms:W3CDTF">2016-01-27T01:18:21Z</dcterms:created>
  <dcterms:modified xsi:type="dcterms:W3CDTF">2025-11-25T03:29:47Z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2052-12.1.0.17133</vt:lpwstr>
  </property>
  <property fmtid="{D5CDD505-2E9C-101B-9397-08002B2CF9AE}" pid="3" name="ICV">
    <vt:lpwstr>7ECC09247F9944CFB88F14D7EA0F6698_12</vt:lpwstr>
  </property>
</Properties>
</file>