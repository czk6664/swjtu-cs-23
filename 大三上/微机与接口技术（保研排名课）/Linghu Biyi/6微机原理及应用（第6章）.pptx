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740" r:id="rId2"/>
    <p:sldId id="316" r:id="rId3"/>
    <p:sldId id="389" r:id="rId4"/>
    <p:sldId id="425" r:id="rId5"/>
    <p:sldId id="677" r:id="rId6"/>
    <p:sldId id="650" r:id="rId7"/>
    <p:sldId id="678" r:id="rId8"/>
    <p:sldId id="653" r:id="rId9"/>
    <p:sldId id="679" r:id="rId10"/>
    <p:sldId id="680" r:id="rId11"/>
    <p:sldId id="656" r:id="rId12"/>
    <p:sldId id="657" r:id="rId13"/>
    <p:sldId id="681" r:id="rId14"/>
    <p:sldId id="682" r:id="rId15"/>
    <p:sldId id="683" r:id="rId16"/>
    <p:sldId id="666" r:id="rId17"/>
    <p:sldId id="667" r:id="rId18"/>
    <p:sldId id="684" r:id="rId19"/>
    <p:sldId id="685" r:id="rId20"/>
    <p:sldId id="686" r:id="rId21"/>
    <p:sldId id="687" r:id="rId22"/>
    <p:sldId id="688" r:id="rId23"/>
    <p:sldId id="714" r:id="rId24"/>
    <p:sldId id="715" r:id="rId25"/>
    <p:sldId id="716" r:id="rId26"/>
    <p:sldId id="717" r:id="rId27"/>
    <p:sldId id="718" r:id="rId28"/>
    <p:sldId id="719" r:id="rId29"/>
    <p:sldId id="720" r:id="rId30"/>
    <p:sldId id="689" r:id="rId31"/>
    <p:sldId id="690" r:id="rId32"/>
    <p:sldId id="691" r:id="rId33"/>
    <p:sldId id="692" r:id="rId34"/>
    <p:sldId id="693" r:id="rId35"/>
    <p:sldId id="694" r:id="rId36"/>
    <p:sldId id="695" r:id="rId37"/>
    <p:sldId id="696" r:id="rId38"/>
    <p:sldId id="697" r:id="rId39"/>
    <p:sldId id="698" r:id="rId40"/>
    <p:sldId id="699" r:id="rId41"/>
    <p:sldId id="700" r:id="rId42"/>
    <p:sldId id="701" r:id="rId43"/>
    <p:sldId id="702" r:id="rId44"/>
    <p:sldId id="703" r:id="rId45"/>
    <p:sldId id="704" r:id="rId46"/>
    <p:sldId id="705" r:id="rId47"/>
    <p:sldId id="707" r:id="rId48"/>
    <p:sldId id="649" r:id="rId49"/>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FF66"/>
    <a:srgbClr val="003399"/>
    <a:srgbClr val="2314EC"/>
    <a:srgbClr val="3258FC"/>
    <a:srgbClr val="544CFA"/>
    <a:srgbClr val="0000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984" y="102"/>
      </p:cViewPr>
      <p:guideLst>
        <p:guide orient="horz" pos="2160"/>
        <p:guide pos="694"/>
      </p:guideLst>
    </p:cSldViewPr>
  </p:slideViewPr>
  <p:notesTextViewPr>
    <p:cViewPr>
      <p:scale>
        <a:sx n="100" d="100"/>
        <a:sy n="100" d="100"/>
      </p:scale>
      <p:origin x="0" y="0"/>
    </p:cViewPr>
  </p:notesTextViewPr>
  <p:sorterViewPr showFormatting="0">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宋体" panose="02010600030101010101" pitchFamily="2" charset="-122"/>
                <a:ea typeface="宋体" panose="02010600030101010101" pitchFamily="2" charset="-122"/>
                <a:cs typeface="+mn-ea"/>
              </a:rPr>
              <a:t>2024/10/28</a:t>
            </a:fld>
            <a:endParaRPr lang="zh-CN" altLang="en-US" strike="noStrike" noProof="1">
              <a:latin typeface="宋体" panose="02010600030101010101" pitchFamily="2" charset="-122"/>
              <a:ea typeface="宋体" panose="02010600030101010101" pitchFamily="2"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宋体" panose="02010600030101010101" pitchFamily="2" charset="-122"/>
                <a:ea typeface="宋体" panose="02010600030101010101" pitchFamily="2" charset="-122"/>
                <a:cs typeface="+mn-ea"/>
              </a:rPr>
              <a:t>‹#›</a:t>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p:cNvSpPr>
          <p:nvPr>
            <p:ph type="sldImg"/>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23</a:t>
            </a:fld>
            <a:endParaRPr lang="en-US" altLang="zh-CN" sz="1200" b="0" dirty="0"/>
          </a:p>
        </p:txBody>
      </p:sp>
      <p:sp>
        <p:nvSpPr>
          <p:cNvPr id="27650" name="Rectangle 2"/>
          <p:cNvSpPr>
            <a:spLocks noGrp="1" noRot="1" noChangeAspect="1" noTextEdit="1"/>
          </p:cNvSpPr>
          <p:nvPr>
            <p:ph type="sldImg"/>
          </p:nvPr>
        </p:nvSpPr>
        <p:spPr>
          <a:ln/>
        </p:spPr>
      </p:sp>
      <p:sp>
        <p:nvSpPr>
          <p:cNvPr id="276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24</a:t>
            </a:fld>
            <a:endParaRPr lang="en-US" altLang="zh-CN" sz="1200" b="0" dirty="0"/>
          </a:p>
        </p:txBody>
      </p:sp>
      <p:sp>
        <p:nvSpPr>
          <p:cNvPr id="29698" name="Rectangle 2"/>
          <p:cNvSpPr>
            <a:spLocks noGrp="1" noRot="1" noChangeAspect="1" noTextEdit="1"/>
          </p:cNvSpPr>
          <p:nvPr>
            <p:ph type="sldImg"/>
          </p:nvPr>
        </p:nvSpPr>
        <p:spPr>
          <a:ln/>
        </p:spPr>
      </p:sp>
      <p:sp>
        <p:nvSpPr>
          <p:cNvPr id="296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25</a:t>
            </a:fld>
            <a:endParaRPr lang="en-US" altLang="zh-CN" sz="1200" b="0" dirty="0"/>
          </a:p>
        </p:txBody>
      </p:sp>
      <p:sp>
        <p:nvSpPr>
          <p:cNvPr id="31746" name="Rectangle 2"/>
          <p:cNvSpPr>
            <a:spLocks noGrp="1" noRot="1" noChangeAspect="1" noTextEdit="1"/>
          </p:cNvSpPr>
          <p:nvPr>
            <p:ph type="sldImg"/>
          </p:nvPr>
        </p:nvSpPr>
        <p:spPr>
          <a:ln/>
        </p:spPr>
      </p:sp>
      <p:sp>
        <p:nvSpPr>
          <p:cNvPr id="3174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26</a:t>
            </a:fld>
            <a:endParaRPr lang="en-US" altLang="zh-CN" sz="1200" b="0" dirty="0"/>
          </a:p>
        </p:txBody>
      </p:sp>
      <p:sp>
        <p:nvSpPr>
          <p:cNvPr id="33794" name="Rectangle 2"/>
          <p:cNvSpPr>
            <a:spLocks noGrp="1" noRot="1" noChangeAspect="1" noTextEdit="1"/>
          </p:cNvSpPr>
          <p:nvPr>
            <p:ph type="sldImg"/>
          </p:nvPr>
        </p:nvSpPr>
        <p:spPr>
          <a:ln/>
        </p:spPr>
      </p:sp>
      <p:sp>
        <p:nvSpPr>
          <p:cNvPr id="337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27</a:t>
            </a:fld>
            <a:endParaRPr lang="en-US" altLang="zh-CN" sz="1200" b="0" dirty="0"/>
          </a:p>
        </p:txBody>
      </p:sp>
      <p:sp>
        <p:nvSpPr>
          <p:cNvPr id="35842" name="Rectangle 2"/>
          <p:cNvSpPr>
            <a:spLocks noGrp="1" noRot="1" noChangeAspect="1" noTextEdit="1"/>
          </p:cNvSpPr>
          <p:nvPr>
            <p:ph type="sldImg"/>
          </p:nvPr>
        </p:nvSpPr>
        <p:spPr>
          <a:ln/>
        </p:spPr>
      </p:sp>
      <p:sp>
        <p:nvSpPr>
          <p:cNvPr id="358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28</a:t>
            </a:fld>
            <a:endParaRPr lang="en-US" altLang="zh-CN" sz="1200" b="0" dirty="0"/>
          </a:p>
        </p:txBody>
      </p:sp>
      <p:sp>
        <p:nvSpPr>
          <p:cNvPr id="37890" name="Rectangle 2"/>
          <p:cNvSpPr>
            <a:spLocks noGrp="1" noRot="1" noChangeAspect="1" noTextEdit="1"/>
          </p:cNvSpPr>
          <p:nvPr>
            <p:ph type="sldImg"/>
          </p:nvPr>
        </p:nvSpPr>
        <p:spPr>
          <a:ln/>
        </p:spPr>
      </p:sp>
      <p:sp>
        <p:nvSpPr>
          <p:cNvPr id="378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29</a:t>
            </a:fld>
            <a:endParaRPr lang="en-US" altLang="zh-CN" sz="1200" b="0" dirty="0"/>
          </a:p>
        </p:txBody>
      </p:sp>
      <p:sp>
        <p:nvSpPr>
          <p:cNvPr id="39938" name="Rectangle 2"/>
          <p:cNvSpPr>
            <a:spLocks noGrp="1" noRot="1" noChangeAspect="1" noTextEdit="1"/>
          </p:cNvSpPr>
          <p:nvPr>
            <p:ph type="sldImg"/>
          </p:nvPr>
        </p:nvSpPr>
        <p:spPr>
          <a:ln/>
        </p:spPr>
      </p:sp>
      <p:sp>
        <p:nvSpPr>
          <p:cNvPr id="399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48</a:t>
            </a:fld>
            <a:endParaRPr lang="en-US" altLang="zh-CN" sz="1200" b="0" dirty="0"/>
          </a:p>
        </p:txBody>
      </p:sp>
      <p:sp>
        <p:nvSpPr>
          <p:cNvPr id="60418" name="Rectangle 2"/>
          <p:cNvSpPr>
            <a:spLocks noGrp="1" noRot="1" noChangeAspect="1" noTextEdit="1"/>
          </p:cNvSpPr>
          <p:nvPr>
            <p:ph type="sldImg"/>
          </p:nvPr>
        </p:nvSpPr>
        <p:spPr>
          <a:ln/>
        </p:spPr>
      </p:sp>
      <p:sp>
        <p:nvSpPr>
          <p:cNvPr id="604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75000"/>
          </a:schemeClr>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rgbClr val="003F7E"/>
              </a:gs>
            </a:gsLst>
            <a:lin ang="540000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ChangeArrowheads="1"/>
          </p:cNvSpPr>
          <p:nvPr/>
        </p:nvSpPr>
        <p:spPr bwMode="auto">
          <a:xfrm>
            <a:off x="763588" y="457200"/>
            <a:ext cx="8380413" cy="762000"/>
          </a:xfrm>
          <a:prstGeom prst="rect">
            <a:avLst/>
          </a:prstGeom>
          <a:gradFill rotWithShape="0">
            <a:gsLst>
              <a:gs pos="0">
                <a:schemeClr val="bg1"/>
              </a:gs>
              <a:gs pos="100000">
                <a:srgbClr val="00101F"/>
              </a:gs>
            </a:gsLst>
            <a:lin ang="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6"/>
          <p:cNvSpPr>
            <a:spLocks noGrp="1"/>
          </p:cNvSpPr>
          <p:nvPr>
            <p:ph type="title"/>
          </p:nvPr>
        </p:nvSpPr>
        <p:spPr>
          <a:xfrm>
            <a:off x="417513" y="228600"/>
            <a:ext cx="8331200" cy="1143000"/>
          </a:xfrm>
          <a:prstGeom prst="rect">
            <a:avLst/>
          </a:prstGeom>
          <a:noFill/>
          <a:ln w="9525">
            <a:noFill/>
          </a:ln>
        </p:spPr>
        <p:txBody>
          <a:bodyPr lIns="92075" tIns="46038" rIns="92075" bIns="46038" anchor="ctr" anchorCtr="0"/>
          <a:lstStyle/>
          <a:p>
            <a:pPr lvl="0"/>
            <a:r>
              <a:rPr lang="zh-CN" altLang="en-US" dirty="0"/>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1031" name="Rectangle 8"/>
          <p:cNvSpPr>
            <a:spLocks noGrp="1" noChangeArrowheads="1"/>
          </p:cNvSpPr>
          <p:nvPr>
            <p:ph type="dt" sz="half" idx="2"/>
          </p:nvPr>
        </p:nvSpPr>
        <p:spPr bwMode="auto">
          <a:xfrm>
            <a:off x="685800" y="6172200"/>
            <a:ext cx="1905000" cy="457200"/>
          </a:xfrm>
          <a:prstGeom prst="rect">
            <a:avLst/>
          </a:prstGeom>
          <a:noFill/>
          <a:ln w="9525">
            <a:noFill/>
            <a:miter lim="800000"/>
          </a:ln>
        </p:spPr>
        <p:txBody>
          <a:bodyPr vert="horz" wrap="square" lIns="92075" tIns="46038" rIns="92075" bIns="46038" numCol="1" anchor="ctr" anchorCtr="0" compatLnSpc="1"/>
          <a:lstStyle>
            <a:lvl1pPr>
              <a:spcBef>
                <a:spcPct val="0"/>
              </a:spcBef>
              <a:buFont typeface="Arial" panose="020B0604020202020204" pitchFamily="34" charset="0"/>
              <a:buNone/>
              <a:defRPr sz="1400" b="0">
                <a:latin typeface="+mn-lt"/>
              </a:defRPr>
            </a:lvl1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2" name="Rectangle 9"/>
          <p:cNvSpPr>
            <a:spLocks noGrp="1" noChangeArrowheads="1"/>
          </p:cNvSpPr>
          <p:nvPr>
            <p:ph type="ftr" sz="quarter" idx="3"/>
          </p:nvPr>
        </p:nvSpPr>
        <p:spPr bwMode="auto">
          <a:xfrm>
            <a:off x="3124200" y="6172200"/>
            <a:ext cx="2895600" cy="457200"/>
          </a:xfrm>
          <a:prstGeom prst="rect">
            <a:avLst/>
          </a:prstGeom>
          <a:noFill/>
          <a:ln w="9525">
            <a:noFill/>
            <a:miter lim="800000"/>
          </a:ln>
        </p:spPr>
        <p:txBody>
          <a:bodyPr vert="horz" wrap="square" lIns="92075" tIns="46038" rIns="92075" bIns="46038" numCol="1" anchor="ctr" anchorCtr="0" compatLnSpc="1"/>
          <a:lstStyle>
            <a:lvl1pPr algn="ctr">
              <a:spcBef>
                <a:spcPct val="0"/>
              </a:spcBef>
              <a:buFont typeface="Arial" panose="020B0604020202020204" pitchFamily="34" charset="0"/>
              <a:buNone/>
              <a:defRPr sz="1400" b="0">
                <a:latin typeface="+mn-lt"/>
              </a:defRPr>
            </a:lvl1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3"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Ø"/>
        <a:defRPr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0000"/>
        <a:buFont typeface="Wingdings" panose="05000000000000000000" pitchFamily="2" charset="2"/>
        <a:buChar char="v"/>
        <a:defRPr sz="20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146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29718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290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8862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025525" y="268288"/>
            <a:ext cx="70707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0" 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6</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输入输出接口与总线</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p>
        </p:txBody>
      </p:sp>
      <p:sp>
        <p:nvSpPr>
          <p:cNvPr id="2" name="Rectangle 3"/>
          <p:cNvSpPr>
            <a:spLocks noGrp="1"/>
          </p:cNvSpPr>
          <p:nvPr>
            <p:ph type="body" idx="4294967295"/>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a:solidFill>
                <a:srgbClr val="FFCC00"/>
              </a:solidFill>
            </a:endParaRPr>
          </a:p>
          <a:p>
            <a:pPr algn="just" eaLnBrk="1" hangingPunct="1">
              <a:lnSpc>
                <a:spcPct val="150000"/>
              </a:lnSpc>
            </a:pPr>
            <a:r>
              <a:rPr lang="zh-CN" altLang="zh-CN"/>
              <a:t> 理解</a:t>
            </a:r>
            <a:r>
              <a:rPr lang="zh-CN" altLang="en-US"/>
              <a:t>微机接口技术的基本概念</a:t>
            </a:r>
            <a:r>
              <a:rPr lang="zh-CN" altLang="en-US" dirty="0"/>
              <a:t> </a:t>
            </a:r>
          </a:p>
          <a:p>
            <a:pPr algn="just" eaLnBrk="1" hangingPunct="1">
              <a:lnSpc>
                <a:spcPct val="150000"/>
              </a:lnSpc>
            </a:pPr>
            <a:r>
              <a:rPr lang="zh-CN" altLang="en-US" dirty="0"/>
              <a:t> 掌握I/O端口及其编址方式</a:t>
            </a:r>
          </a:p>
          <a:p>
            <a:pPr algn="just" eaLnBrk="1" hangingPunct="1">
              <a:lnSpc>
                <a:spcPct val="150000"/>
              </a:lnSpc>
            </a:pPr>
            <a:r>
              <a:rPr lang="zh-CN" altLang="en-US" dirty="0"/>
              <a:t> </a:t>
            </a:r>
            <a:r>
              <a:rPr lang="zh-CN" altLang="en-US" dirty="0">
                <a:sym typeface="Arial" panose="020B0604020202020204" pitchFamily="34" charset="0"/>
              </a:rPr>
              <a:t>掌握</a:t>
            </a:r>
            <a:r>
              <a:rPr lang="zh-CN" altLang="en-US" dirty="0"/>
              <a:t>CPU与外设之间的数据传送方式</a:t>
            </a:r>
          </a:p>
        </p:txBody>
      </p:sp>
      <p:sp>
        <p:nvSpPr>
          <p:cNvPr id="5123"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buFont typeface="Wingdings" panose="05000000000000000000" pitchFamily="2" charset="2"/>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6.1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接口概述</a:t>
            </a:r>
          </a:p>
        </p:txBody>
      </p:sp>
      <p:sp>
        <p:nvSpPr>
          <p:cNvPr id="2"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147" name="Rectangle 11"/>
          <p:cNvSpPr>
            <a:spLocks noGrp="1"/>
          </p:cNvSpPr>
          <p:nvPr>
            <p:ph type="body" idx="4294967295"/>
          </p:nvPr>
        </p:nvSpPr>
        <p:spPr>
          <a:xfrm>
            <a:off x="1404938" y="1882775"/>
            <a:ext cx="5297487" cy="4113213"/>
          </a:xfrm>
          <a:ln/>
        </p:spPr>
        <p:txBody>
          <a:bodyPr wrap="square" lIns="92075" tIns="46038" rIns="92075" bIns="46038" anchor="t" anchorCtr="0"/>
          <a:lstStyle/>
          <a:p>
            <a:pPr eaLnBrk="1" hangingPunct="1">
              <a:buNone/>
            </a:pPr>
            <a:r>
              <a:rPr lang="en-US" altLang="zh-CN" dirty="0">
                <a:solidFill>
                  <a:srgbClr val="66FFCC"/>
                </a:solidFill>
              </a:rPr>
              <a:t>6</a:t>
            </a:r>
            <a:r>
              <a:rPr lang="zh-CN" altLang="en-US" dirty="0">
                <a:solidFill>
                  <a:srgbClr val="66FFCC"/>
                </a:solidFill>
              </a:rPr>
              <a:t>.1.1  I/O接口中的信息</a:t>
            </a:r>
          </a:p>
          <a:p>
            <a:pPr eaLnBrk="1" hangingPunct="1"/>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.1.2  I/O接口的结构</a:t>
            </a:r>
          </a:p>
          <a:p>
            <a:pPr eaLnBrk="1" hangingPunct="1">
              <a:buNone/>
            </a:pPr>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.1.3  I/O接口的功能</a:t>
            </a:r>
          </a:p>
          <a:p>
            <a:pPr eaLnBrk="1" hangingPunct="1">
              <a:buNone/>
            </a:pPr>
            <a:endParaRPr lang="zh-CN" altLang="en-US" dirty="0">
              <a:solidFill>
                <a:srgbClr val="66FFCC"/>
              </a:solidFill>
            </a:endParaRPr>
          </a:p>
          <a:p>
            <a:pPr eaLnBrk="1" hangingPunct="1">
              <a:buNone/>
            </a:pPr>
            <a:r>
              <a:rPr lang="zh-CN" altLang="en-US" dirty="0">
                <a:solidFill>
                  <a:srgbClr val="66FFCC"/>
                </a:solidFill>
              </a:rPr>
              <a:t>6.1.4  I/O端口的编址方式</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I/O接口中的信息</a:t>
            </a:r>
          </a:p>
        </p:txBody>
      </p:sp>
      <p:sp>
        <p:nvSpPr>
          <p:cNvPr id="7170" name="内容占位符 2"/>
          <p:cNvSpPr>
            <a:spLocks noGrp="1"/>
          </p:cNvSpPr>
          <p:nvPr>
            <p:ph idx="4294967295"/>
          </p:nvPr>
        </p:nvSpPr>
        <p:spPr>
          <a:xfrm>
            <a:off x="396875" y="2038350"/>
            <a:ext cx="8147050" cy="3378200"/>
          </a:xfrm>
          <a:ln/>
        </p:spPr>
        <p:txBody>
          <a:bodyPr wrap="square" lIns="92075" tIns="46038" rIns="92075" bIns="46038" anchor="t" anchorCtr="0"/>
          <a:lstStyle/>
          <a:p>
            <a:pPr algn="just">
              <a:lnSpc>
                <a:spcPts val="3200"/>
              </a:lnSpc>
              <a:buNone/>
            </a:pPr>
            <a:r>
              <a:rPr lang="en-US" altLang="zh-CN"/>
              <a:t>              CPU</a:t>
            </a:r>
            <a:r>
              <a:rPr lang="zh-CN" altLang="en-US"/>
              <a:t>与外设之间可以通过</a:t>
            </a:r>
            <a:r>
              <a:rPr lang="en-US" altLang="zh-CN"/>
              <a:t>I/O</a:t>
            </a:r>
            <a:r>
              <a:rPr lang="zh-CN" altLang="en-US"/>
              <a:t>接口传递三种信息：数据信息、状态信息和控制信息。</a:t>
            </a:r>
          </a:p>
          <a:p>
            <a:pPr algn="just">
              <a:lnSpc>
                <a:spcPts val="3200"/>
              </a:lnSpc>
              <a:buNone/>
            </a:pPr>
            <a:r>
              <a:rPr lang="zh-CN" altLang="en-US"/>
              <a:t>              </a:t>
            </a:r>
            <a:r>
              <a:rPr lang="en-US" altLang="zh-CN"/>
              <a:t>1</a:t>
            </a:r>
            <a:r>
              <a:rPr lang="zh-CN" altLang="en-US"/>
              <a:t>．数据信息</a:t>
            </a:r>
          </a:p>
          <a:p>
            <a:pPr algn="just">
              <a:lnSpc>
                <a:spcPts val="3200"/>
              </a:lnSpc>
              <a:buNone/>
            </a:pPr>
            <a:r>
              <a:rPr lang="en-US" altLang="zh-CN"/>
              <a:t>              数据信息是I/O接口传递的主要内容，如键盘、鼠标、扫描仪等输入设备传送到计算机内部的信息，及由计算机内部传送到打印机、显示器等输出设备的信息。  </a:t>
            </a: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I/O接口中的信息</a:t>
            </a:r>
          </a:p>
        </p:txBody>
      </p:sp>
      <p:sp>
        <p:nvSpPr>
          <p:cNvPr id="2" name="内容占位符 2"/>
          <p:cNvSpPr>
            <a:spLocks noGrp="1"/>
          </p:cNvSpPr>
          <p:nvPr>
            <p:ph idx="4294967295"/>
          </p:nvPr>
        </p:nvSpPr>
        <p:spPr>
          <a:xfrm>
            <a:off x="323850" y="1468438"/>
            <a:ext cx="8147050" cy="4841875"/>
          </a:xfrm>
          <a:ln/>
        </p:spPr>
        <p:txBody>
          <a:bodyPr wrap="square" lIns="92075" tIns="46038" rIns="92075" bIns="46038" anchor="t" anchorCtr="0"/>
          <a:lstStyle/>
          <a:p>
            <a:pPr algn="just">
              <a:lnSpc>
                <a:spcPts val="3200"/>
              </a:lnSpc>
              <a:buNone/>
            </a:pPr>
            <a:r>
              <a:rPr lang="en-US" altLang="zh-CN" sz="2400"/>
              <a:t>              2</a:t>
            </a:r>
            <a:r>
              <a:rPr lang="zh-CN" altLang="en-US" sz="2400"/>
              <a:t>．状态信息</a:t>
            </a:r>
          </a:p>
          <a:p>
            <a:pPr algn="just">
              <a:lnSpc>
                <a:spcPts val="3200"/>
              </a:lnSpc>
              <a:buNone/>
            </a:pPr>
            <a:r>
              <a:rPr lang="zh-CN" altLang="en-US" sz="2400"/>
              <a:t>             状态信息反映了外设当前所处的工作状态，是外设发送给</a:t>
            </a:r>
            <a:r>
              <a:rPr lang="en-US" altLang="zh-CN" sz="2400"/>
              <a:t>CPU</a:t>
            </a:r>
            <a:r>
              <a:rPr lang="zh-CN" altLang="en-US" sz="2400"/>
              <a:t>的，用来协调</a:t>
            </a:r>
            <a:r>
              <a:rPr lang="en-US" altLang="zh-CN" sz="2400"/>
              <a:t>CPU</a:t>
            </a:r>
            <a:r>
              <a:rPr lang="zh-CN" altLang="en-US" sz="2400"/>
              <a:t>与外设之间的操作。对于输入设备来说，通常用准备好（</a:t>
            </a:r>
            <a:r>
              <a:rPr lang="en-US" altLang="zh-CN" sz="2400"/>
              <a:t>READY</a:t>
            </a:r>
            <a:r>
              <a:rPr lang="zh-CN" altLang="en-US" sz="2400"/>
              <a:t>）信号来表示输入数据是否准备就绪；对于输出设备来说，通常用忙（</a:t>
            </a:r>
            <a:r>
              <a:rPr lang="en-US" altLang="zh-CN" sz="2400"/>
              <a:t>BUSY</a:t>
            </a:r>
            <a:r>
              <a:rPr lang="zh-CN" altLang="en-US" sz="2400"/>
              <a:t>）信号表示输出设备是否处于空闲状态，若为空闲，则可接收</a:t>
            </a:r>
            <a:r>
              <a:rPr lang="en-US" altLang="zh-CN" sz="2400"/>
              <a:t>CPU</a:t>
            </a:r>
            <a:r>
              <a:rPr lang="zh-CN" altLang="en-US" sz="2400"/>
              <a:t>送来的信息，否则</a:t>
            </a:r>
            <a:r>
              <a:rPr lang="en-US" altLang="zh-CN" sz="2400"/>
              <a:t>CPU</a:t>
            </a:r>
            <a:r>
              <a:rPr lang="zh-CN" altLang="en-US" sz="2400"/>
              <a:t>等待。</a:t>
            </a:r>
          </a:p>
          <a:p>
            <a:pPr algn="just">
              <a:lnSpc>
                <a:spcPts val="3200"/>
              </a:lnSpc>
              <a:buNone/>
            </a:pPr>
            <a:r>
              <a:rPr lang="zh-CN" altLang="en-US" sz="2400"/>
              <a:t>             </a:t>
            </a:r>
            <a:r>
              <a:rPr lang="en-US" altLang="zh-CN" sz="2400"/>
              <a:t>3</a:t>
            </a:r>
            <a:r>
              <a:rPr lang="zh-CN" altLang="en-US" sz="2400"/>
              <a:t>．控制信息</a:t>
            </a:r>
          </a:p>
          <a:p>
            <a:pPr algn="just">
              <a:lnSpc>
                <a:spcPts val="3200"/>
              </a:lnSpc>
              <a:buNone/>
            </a:pPr>
            <a:r>
              <a:rPr lang="zh-CN" altLang="en-US" sz="2400"/>
              <a:t>            控制信息是</a:t>
            </a:r>
            <a:r>
              <a:rPr lang="en-US" altLang="zh-CN" sz="2400"/>
              <a:t>CPU</a:t>
            </a:r>
            <a:r>
              <a:rPr lang="zh-CN" altLang="en-US" sz="2400"/>
              <a:t>发送给外设的，以控制外设的工作。如对外设的初始化，外设的启动和停止等控制信息。</a:t>
            </a:r>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I/O接口的结构</a:t>
            </a:r>
          </a:p>
        </p:txBody>
      </p:sp>
      <p:sp>
        <p:nvSpPr>
          <p:cNvPr id="9218" name="内容占位符 2"/>
          <p:cNvSpPr>
            <a:spLocks noGrp="1"/>
          </p:cNvSpPr>
          <p:nvPr>
            <p:ph idx="4294967295"/>
          </p:nvPr>
        </p:nvSpPr>
        <p:spPr>
          <a:xfrm>
            <a:off x="319088" y="1647825"/>
            <a:ext cx="8145462" cy="4386263"/>
          </a:xfrm>
          <a:ln/>
        </p:spPr>
        <p:txBody>
          <a:bodyPr wrap="square" lIns="92075" tIns="46038" rIns="92075" bIns="46038" anchor="t" anchorCtr="0"/>
          <a:lstStyle/>
          <a:p>
            <a:pPr algn="just">
              <a:lnSpc>
                <a:spcPts val="3200"/>
              </a:lnSpc>
              <a:buNone/>
            </a:pPr>
            <a:r>
              <a:rPr lang="en-US" altLang="zh-CN" sz="2400"/>
              <a:t>              每个I/O接口内部一般由3类寄存器组成，CPU与外设进行数据传输时，各类信息在接口中进入不同的寄存器，一般称这些寄存器为I/O端口。每一个端口均有各自的编号，即端口地址。有时为了节省I/O端口地址的使用或简化译码电路的设计，可以使一个输入端口与一个输出端口共用一个端口地址。</a:t>
            </a:r>
          </a:p>
          <a:p>
            <a:pPr algn="just">
              <a:lnSpc>
                <a:spcPts val="3200"/>
              </a:lnSpc>
              <a:buNone/>
            </a:pPr>
            <a:r>
              <a:rPr lang="en-US" altLang="zh-CN" sz="2400"/>
              <a:t>             一个外设或接口电路往往有多个端口地址，CPU寻址的是端口，而不是笼统的外设。一个I/O接口一般都由数据端口、状态端口及控制端口组成。I/O接口的结构如图6-1所示。</a:t>
            </a: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60000"/>
            <a:lumOff val="40000"/>
          </a:schemeClr>
        </a:solidFill>
        <a:effectLst/>
      </p:bgPr>
    </p:bg>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I/O接口的结构</a:t>
            </a:r>
          </a:p>
        </p:txBody>
      </p:sp>
      <p:sp>
        <p:nvSpPr>
          <p:cNvPr id="10242" name="内容占位符 2"/>
          <p:cNvSpPr>
            <a:spLocks noGrp="1"/>
          </p:cNvSpPr>
          <p:nvPr>
            <p:ph idx="4294967295"/>
          </p:nvPr>
        </p:nvSpPr>
        <p:spPr>
          <a:xfrm>
            <a:off x="441325" y="3194050"/>
            <a:ext cx="8145463" cy="3524250"/>
          </a:xfrm>
          <a:ln/>
        </p:spPr>
        <p:txBody>
          <a:bodyPr wrap="square" lIns="92075" tIns="46038" rIns="92075" bIns="46038" anchor="t" anchorCtr="0"/>
          <a:lstStyle/>
          <a:p>
            <a:pPr algn="just">
              <a:lnSpc>
                <a:spcPts val="3200"/>
              </a:lnSpc>
              <a:buNone/>
            </a:pPr>
            <a:r>
              <a:rPr lang="en-US" altLang="zh-CN" sz="2400"/>
              <a:t>   （1）数据端口。数据端口是数据信息输入/输出的端口。该端口的数据传送方向是双向的，CPU通过端口将外部数据信息取进来，将CPU处理过的数据再通过数据端口送出去。</a:t>
            </a:r>
          </a:p>
          <a:p>
            <a:pPr algn="just">
              <a:lnSpc>
                <a:spcPts val="3200"/>
              </a:lnSpc>
              <a:buNone/>
            </a:pPr>
            <a:r>
              <a:rPr lang="en-US" altLang="zh-CN" sz="2400"/>
              <a:t>   （2）状态端口。CPU通过状态端口将外设的状态信息读入CPU。状态端口的数据传送方向是单向的。</a:t>
            </a:r>
          </a:p>
          <a:p>
            <a:pPr algn="just">
              <a:lnSpc>
                <a:spcPts val="3200"/>
              </a:lnSpc>
              <a:buNone/>
            </a:pPr>
            <a:r>
              <a:rPr lang="en-US" altLang="zh-CN" sz="2400"/>
              <a:t>   （3）控制端口。CPU通过控制端口发出控制命令以控制外设的动作。控制端口信息的传送方向是单向的。</a:t>
            </a:r>
          </a:p>
        </p:txBody>
      </p:sp>
      <p:graphicFrame>
        <p:nvGraphicFramePr>
          <p:cNvPr id="10243" name="图片 44"/>
          <p:cNvGraphicFramePr>
            <a:graphicFrameLocks noChangeAspect="1"/>
          </p:cNvGraphicFramePr>
          <p:nvPr/>
        </p:nvGraphicFramePr>
        <p:xfrm>
          <a:off x="1270000" y="1250950"/>
          <a:ext cx="6288088" cy="1989138"/>
        </p:xfrm>
        <a:graphic>
          <a:graphicData uri="http://schemas.openxmlformats.org/presentationml/2006/ole">
            <mc:AlternateContent xmlns:mc="http://schemas.openxmlformats.org/markup-compatibility/2006">
              <mc:Choice xmlns:v="urn:schemas-microsoft-com:vml" Requires="v">
                <p:oleObj spid="_x0000_s3081" r:id="rId3" imgW="4470400" imgH="1422400" progId="Visio.Drawing.11">
                  <p:embed/>
                </p:oleObj>
              </mc:Choice>
              <mc:Fallback>
                <p:oleObj r:id="rId3" imgW="4470400" imgH="1422400" progId="Visio.Drawing.11">
                  <p:embed/>
                  <p:pic>
                    <p:nvPicPr>
                      <p:cNvPr id="0" name="图片 3075"/>
                      <p:cNvPicPr/>
                      <p:nvPr/>
                    </p:nvPicPr>
                    <p:blipFill>
                      <a:blip r:embed="rId4"/>
                      <a:stretch>
                        <a:fillRect/>
                      </a:stretch>
                    </p:blipFill>
                    <p:spPr>
                      <a:xfrm>
                        <a:off x="1270000" y="1250950"/>
                        <a:ext cx="6288088" cy="1989138"/>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I/O接口的功能</a:t>
            </a:r>
          </a:p>
        </p:txBody>
      </p:sp>
      <p:sp>
        <p:nvSpPr>
          <p:cNvPr id="11266" name="内容占位符 2"/>
          <p:cNvSpPr>
            <a:spLocks noGrp="1"/>
          </p:cNvSpPr>
          <p:nvPr>
            <p:ph idx="4294967295"/>
          </p:nvPr>
        </p:nvSpPr>
        <p:spPr>
          <a:xfrm>
            <a:off x="320675" y="2009775"/>
            <a:ext cx="8385175" cy="4068763"/>
          </a:xfrm>
          <a:ln/>
        </p:spPr>
        <p:txBody>
          <a:bodyPr wrap="square" lIns="92075" tIns="46038" rIns="92075" bIns="46038" anchor="t" anchorCtr="0"/>
          <a:lstStyle/>
          <a:p>
            <a:pPr algn="just">
              <a:lnSpc>
                <a:spcPts val="3200"/>
              </a:lnSpc>
              <a:buNone/>
            </a:pPr>
            <a:r>
              <a:rPr lang="en-US" altLang="zh-CN" sz="2400"/>
              <a:t>              </a:t>
            </a:r>
            <a:r>
              <a:rPr lang="zh-CN" altLang="en-US" sz="2400"/>
              <a:t>由于外部设备的多样性、复杂性，</a:t>
            </a:r>
            <a:r>
              <a:rPr lang="en-US" altLang="zh-CN" sz="2400"/>
              <a:t>I/O</a:t>
            </a:r>
            <a:r>
              <a:rPr lang="zh-CN" altLang="en-US" sz="2400"/>
              <a:t>接口电路的基本功能可包括以下几个方面。</a:t>
            </a:r>
          </a:p>
          <a:p>
            <a:pPr lvl="2" algn="just">
              <a:lnSpc>
                <a:spcPts val="3200"/>
              </a:lnSpc>
              <a:buNone/>
            </a:pPr>
            <a:r>
              <a:rPr lang="zh-CN" altLang="en-US" sz="2400"/>
              <a:t>（</a:t>
            </a:r>
            <a:r>
              <a:rPr lang="en-US" altLang="zh-CN" sz="2400"/>
              <a:t>1</a:t>
            </a:r>
            <a:r>
              <a:rPr lang="zh-CN" altLang="en-US" sz="2400"/>
              <a:t>）数据缓冲与锁存功能。</a:t>
            </a:r>
          </a:p>
          <a:p>
            <a:pPr lvl="2" algn="just">
              <a:lnSpc>
                <a:spcPts val="3200"/>
              </a:lnSpc>
              <a:buNone/>
            </a:pPr>
            <a:r>
              <a:rPr lang="zh-CN" altLang="en-US" sz="2400"/>
              <a:t>（</a:t>
            </a:r>
            <a:r>
              <a:rPr lang="en-US" altLang="zh-CN" sz="2400"/>
              <a:t>2</a:t>
            </a:r>
            <a:r>
              <a:rPr lang="zh-CN" altLang="en-US" sz="2400"/>
              <a:t>）端口选择功能。</a:t>
            </a:r>
          </a:p>
          <a:p>
            <a:pPr lvl="2" algn="just">
              <a:lnSpc>
                <a:spcPts val="3200"/>
              </a:lnSpc>
              <a:buNone/>
            </a:pPr>
            <a:r>
              <a:rPr lang="zh-CN" altLang="en-US" sz="2400"/>
              <a:t>（</a:t>
            </a:r>
            <a:r>
              <a:rPr lang="en-US" altLang="zh-CN" sz="2400"/>
              <a:t>3</a:t>
            </a:r>
            <a:r>
              <a:rPr lang="zh-CN" altLang="en-US" sz="2400"/>
              <a:t>）接收和执行</a:t>
            </a:r>
            <a:r>
              <a:rPr lang="en-US" altLang="zh-CN" sz="2400"/>
              <a:t>CPU</a:t>
            </a:r>
            <a:r>
              <a:rPr lang="zh-CN" altLang="en-US" sz="2400"/>
              <a:t>命令的功能。</a:t>
            </a:r>
          </a:p>
          <a:p>
            <a:pPr lvl="2" algn="just">
              <a:lnSpc>
                <a:spcPts val="3200"/>
              </a:lnSpc>
              <a:buNone/>
            </a:pPr>
            <a:r>
              <a:rPr lang="zh-CN" altLang="en-US" sz="2400"/>
              <a:t>（</a:t>
            </a:r>
            <a:r>
              <a:rPr lang="en-US" altLang="zh-CN" sz="2400"/>
              <a:t>4</a:t>
            </a:r>
            <a:r>
              <a:rPr lang="zh-CN" altLang="en-US" sz="2400"/>
              <a:t>）信号转换功能。</a:t>
            </a:r>
          </a:p>
          <a:p>
            <a:pPr lvl="2" algn="just">
              <a:lnSpc>
                <a:spcPts val="3200"/>
              </a:lnSpc>
              <a:buNone/>
            </a:pPr>
            <a:r>
              <a:rPr lang="zh-CN" altLang="en-US" sz="2400"/>
              <a:t>（</a:t>
            </a:r>
            <a:r>
              <a:rPr lang="en-US" altLang="zh-CN" sz="2400"/>
              <a:t>5</a:t>
            </a:r>
            <a:r>
              <a:rPr lang="zh-CN" altLang="en-US" sz="2400"/>
              <a:t>）数据宽度变换功能。</a:t>
            </a:r>
          </a:p>
          <a:p>
            <a:pPr lvl="2" algn="just">
              <a:lnSpc>
                <a:spcPts val="3200"/>
              </a:lnSpc>
              <a:buNone/>
            </a:pPr>
            <a:r>
              <a:rPr lang="zh-CN" altLang="en-US" sz="2400"/>
              <a:t>（</a:t>
            </a:r>
            <a:r>
              <a:rPr lang="en-US" altLang="zh-CN" sz="2400"/>
              <a:t>6</a:t>
            </a:r>
            <a:r>
              <a:rPr lang="zh-CN" altLang="en-US" sz="2400"/>
              <a:t>）中断管理功能。</a:t>
            </a: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I/O端口的编址方式</a:t>
            </a:r>
          </a:p>
        </p:txBody>
      </p:sp>
      <p:sp>
        <p:nvSpPr>
          <p:cNvPr id="12290" name="内容占位符 2"/>
          <p:cNvSpPr>
            <a:spLocks noGrp="1"/>
          </p:cNvSpPr>
          <p:nvPr>
            <p:ph idx="4294967295"/>
          </p:nvPr>
        </p:nvSpPr>
        <p:spPr>
          <a:xfrm>
            <a:off x="282575" y="1831975"/>
            <a:ext cx="8385175" cy="4411663"/>
          </a:xfrm>
          <a:ln/>
        </p:spPr>
        <p:txBody>
          <a:bodyPr wrap="square" lIns="92075" tIns="46038" rIns="92075" bIns="46038" anchor="t" anchorCtr="0"/>
          <a:lstStyle/>
          <a:p>
            <a:pPr algn="just">
              <a:lnSpc>
                <a:spcPts val="3200"/>
              </a:lnSpc>
              <a:buNone/>
            </a:pPr>
            <a:r>
              <a:rPr lang="en-US" altLang="zh-CN" sz="2400"/>
              <a:t>             CPU</a:t>
            </a:r>
            <a:r>
              <a:rPr lang="zh-CN" altLang="en-US" sz="2400"/>
              <a:t>与内部存储器或</a:t>
            </a:r>
            <a:r>
              <a:rPr lang="en-US" altLang="zh-CN" sz="2400"/>
              <a:t>I/O</a:t>
            </a:r>
            <a:r>
              <a:rPr lang="zh-CN" altLang="en-US" sz="2400"/>
              <a:t>端口交换信息时，是通过地址总线访问内存单元或</a:t>
            </a:r>
            <a:r>
              <a:rPr lang="en-US" altLang="zh-CN" sz="2400"/>
              <a:t>I/O</a:t>
            </a:r>
            <a:r>
              <a:rPr lang="zh-CN" altLang="en-US" sz="2400"/>
              <a:t>端口来实现的，如何实现对内存单元或</a:t>
            </a:r>
            <a:r>
              <a:rPr lang="en-US" altLang="zh-CN" sz="2400"/>
              <a:t>I/O</a:t>
            </a:r>
            <a:r>
              <a:rPr lang="zh-CN" altLang="en-US" sz="2400"/>
              <a:t>端口的访问取决于这些内存单元或</a:t>
            </a:r>
            <a:r>
              <a:rPr lang="en-US" altLang="zh-CN" sz="2400"/>
              <a:t>I/O</a:t>
            </a:r>
            <a:r>
              <a:rPr lang="zh-CN" altLang="en-US" sz="2400"/>
              <a:t>端口的编址方式。微型计算机常用两种</a:t>
            </a:r>
            <a:r>
              <a:rPr lang="en-US" altLang="zh-CN" sz="2400"/>
              <a:t>I/O</a:t>
            </a:r>
            <a:r>
              <a:rPr lang="zh-CN" altLang="en-US" sz="2400"/>
              <a:t>端口的寻址方式：</a:t>
            </a:r>
            <a:r>
              <a:rPr lang="en-US" altLang="zh-CN" sz="2400"/>
              <a:t>I/O</a:t>
            </a:r>
            <a:r>
              <a:rPr lang="zh-CN" altLang="en-US" sz="2400"/>
              <a:t>端口与内存统一编址和</a:t>
            </a:r>
            <a:r>
              <a:rPr lang="en-US" altLang="zh-CN" sz="2400"/>
              <a:t>I/O</a:t>
            </a:r>
            <a:r>
              <a:rPr lang="zh-CN" altLang="en-US" sz="2400"/>
              <a:t>端口独立编址方式。</a:t>
            </a:r>
          </a:p>
          <a:p>
            <a:pPr algn="just">
              <a:lnSpc>
                <a:spcPts val="3200"/>
              </a:lnSpc>
              <a:buNone/>
            </a:pPr>
            <a:r>
              <a:rPr lang="zh-CN" altLang="en-US" sz="2400"/>
              <a:t>             </a:t>
            </a:r>
            <a:r>
              <a:rPr lang="en-US" altLang="zh-CN" sz="2400"/>
              <a:t>1</a:t>
            </a:r>
            <a:r>
              <a:rPr lang="zh-CN" altLang="en-US" sz="2400"/>
              <a:t>．统一编址方式</a:t>
            </a:r>
          </a:p>
          <a:p>
            <a:pPr algn="just">
              <a:lnSpc>
                <a:spcPts val="3200"/>
              </a:lnSpc>
              <a:buNone/>
            </a:pPr>
            <a:r>
              <a:rPr lang="zh-CN" altLang="en-US" sz="2400"/>
              <a:t>             </a:t>
            </a:r>
            <a:r>
              <a:rPr lang="en-US" altLang="zh-CN" sz="2400"/>
              <a:t>I/O</a:t>
            </a:r>
            <a:r>
              <a:rPr lang="zh-CN" altLang="en-US" sz="2400"/>
              <a:t>端口与内存统一编址，即</a:t>
            </a:r>
            <a:r>
              <a:rPr lang="en-US" altLang="zh-CN" sz="2400"/>
              <a:t>I/O</a:t>
            </a:r>
            <a:r>
              <a:rPr lang="zh-CN" altLang="en-US" sz="2400"/>
              <a:t>端口的地址和内存地址在同一个地址空间内。每个</a:t>
            </a:r>
            <a:r>
              <a:rPr lang="en-US" altLang="zh-CN" sz="2400"/>
              <a:t>I/O</a:t>
            </a:r>
            <a:r>
              <a:rPr lang="zh-CN" altLang="en-US" sz="2400"/>
              <a:t>端口被看作一个内存单元，纳入统一的存储器地址空间，可用访问存储器的方法来访问</a:t>
            </a:r>
            <a:r>
              <a:rPr lang="en-US" altLang="zh-CN" sz="2400"/>
              <a:t>I/O</a:t>
            </a:r>
            <a:r>
              <a:rPr lang="zh-CN" altLang="en-US" sz="2400"/>
              <a:t>端口。</a:t>
            </a:r>
          </a:p>
          <a:p>
            <a:pPr algn="just">
              <a:lnSpc>
                <a:spcPts val="3200"/>
              </a:lnSpc>
              <a:buNone/>
            </a:pPr>
            <a:endParaRPr lang="zh-CN" altLang="en-US" sz="2400"/>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I/O端口的编址方式</a:t>
            </a:r>
          </a:p>
        </p:txBody>
      </p:sp>
      <p:sp>
        <p:nvSpPr>
          <p:cNvPr id="13314" name="内容占位符 2"/>
          <p:cNvSpPr>
            <a:spLocks noGrp="1"/>
          </p:cNvSpPr>
          <p:nvPr>
            <p:ph idx="4294967295"/>
          </p:nvPr>
        </p:nvSpPr>
        <p:spPr>
          <a:xfrm>
            <a:off x="290513" y="1571625"/>
            <a:ext cx="8385175" cy="4721225"/>
          </a:xfrm>
          <a:ln/>
        </p:spPr>
        <p:txBody>
          <a:bodyPr wrap="square" lIns="92075" tIns="46038" rIns="92075" bIns="46038" anchor="t" anchorCtr="0"/>
          <a:lstStyle/>
          <a:p>
            <a:pPr algn="just">
              <a:lnSpc>
                <a:spcPts val="3200"/>
              </a:lnSpc>
              <a:buNone/>
            </a:pPr>
            <a:r>
              <a:rPr lang="en-US" altLang="zh-CN" sz="2400"/>
              <a:t>            2</a:t>
            </a:r>
            <a:r>
              <a:rPr lang="zh-CN" altLang="en-US" sz="2400"/>
              <a:t>．独立编址方式</a:t>
            </a:r>
          </a:p>
          <a:p>
            <a:pPr algn="just">
              <a:lnSpc>
                <a:spcPts val="3200"/>
              </a:lnSpc>
              <a:buNone/>
            </a:pPr>
            <a:r>
              <a:rPr lang="zh-CN" altLang="en-US" sz="2400"/>
              <a:t>            </a:t>
            </a:r>
            <a:r>
              <a:rPr lang="en-US" altLang="zh-CN" sz="2400"/>
              <a:t>I/O</a:t>
            </a:r>
            <a:r>
              <a:rPr lang="zh-CN" altLang="en-US" sz="2400"/>
              <a:t>端口有独立的地址空间，即</a:t>
            </a:r>
            <a:r>
              <a:rPr lang="en-US" altLang="zh-CN" sz="2400"/>
              <a:t>I/O</a:t>
            </a:r>
            <a:r>
              <a:rPr lang="zh-CN" altLang="en-US" sz="2400"/>
              <a:t>端口的地址和内存地址不在同一个地址空间内。</a:t>
            </a:r>
            <a:r>
              <a:rPr lang="en-US" altLang="zh-CN" sz="2400"/>
              <a:t>CPU</a:t>
            </a:r>
            <a:r>
              <a:rPr lang="zh-CN" altLang="en-US" sz="2400"/>
              <a:t>使用专门的</a:t>
            </a:r>
            <a:r>
              <a:rPr lang="en-US" altLang="zh-CN" sz="2400"/>
              <a:t>I/O</a:t>
            </a:r>
            <a:r>
              <a:rPr lang="zh-CN" altLang="en-US" sz="2400"/>
              <a:t>指令及</a:t>
            </a:r>
            <a:r>
              <a:rPr lang="en-US" altLang="zh-CN" sz="2400"/>
              <a:t>I/O</a:t>
            </a:r>
            <a:r>
              <a:rPr lang="zh-CN" altLang="en-US" sz="2400"/>
              <a:t>控制信号来访问</a:t>
            </a:r>
            <a:r>
              <a:rPr lang="en-US" altLang="zh-CN" sz="2400"/>
              <a:t>I/O</a:t>
            </a:r>
            <a:r>
              <a:rPr lang="zh-CN" altLang="en-US" sz="2400"/>
              <a:t>端口。其特点是</a:t>
            </a:r>
            <a:r>
              <a:rPr lang="en-US" altLang="zh-CN" sz="2400"/>
              <a:t>I/O</a:t>
            </a:r>
            <a:r>
              <a:rPr lang="zh-CN" altLang="en-US" sz="2400"/>
              <a:t>端口和存储器分别编址，各自都有完整的地址空间，而且由于有专用的</a:t>
            </a:r>
            <a:r>
              <a:rPr lang="en-US" altLang="zh-CN" sz="2400"/>
              <a:t>I/O</a:t>
            </a:r>
            <a:r>
              <a:rPr lang="zh-CN" altLang="en-US" sz="2400"/>
              <a:t>指令，在程序清单中对</a:t>
            </a:r>
            <a:r>
              <a:rPr lang="en-US" altLang="zh-CN" sz="2400"/>
              <a:t>I/O</a:t>
            </a:r>
            <a:r>
              <a:rPr lang="zh-CN" altLang="en-US" sz="2400"/>
              <a:t>端口的访问和对存储器的访问一目了然。</a:t>
            </a:r>
          </a:p>
          <a:p>
            <a:pPr algn="just">
              <a:lnSpc>
                <a:spcPts val="3200"/>
              </a:lnSpc>
              <a:buNone/>
            </a:pPr>
            <a:r>
              <a:rPr lang="zh-CN" altLang="en-US" sz="2400"/>
              <a:t>             以上两种</a:t>
            </a:r>
            <a:r>
              <a:rPr lang="en-US" altLang="zh-CN" sz="2400"/>
              <a:t>I/O</a:t>
            </a:r>
            <a:r>
              <a:rPr lang="zh-CN" altLang="en-US" sz="2400"/>
              <a:t>端口的寻址方式，其优缺点正好互补，微型计算机中都有所使用。如</a:t>
            </a:r>
            <a:r>
              <a:rPr lang="en-US" altLang="zh-CN" sz="2400"/>
              <a:t>Intel</a:t>
            </a:r>
            <a:r>
              <a:rPr lang="zh-CN" altLang="en-US" sz="2400"/>
              <a:t>公司</a:t>
            </a:r>
            <a:r>
              <a:rPr lang="en-US" altLang="zh-CN" sz="2400"/>
              <a:t>80x86</a:t>
            </a:r>
            <a:r>
              <a:rPr lang="zh-CN" altLang="en-US" sz="2400"/>
              <a:t>系列微处理器使用的是</a:t>
            </a:r>
            <a:r>
              <a:rPr lang="en-US" altLang="zh-CN" sz="2400"/>
              <a:t>I/O</a:t>
            </a:r>
            <a:r>
              <a:rPr lang="zh-CN" altLang="en-US" sz="2400"/>
              <a:t>端口独立编址方式，而</a:t>
            </a:r>
            <a:r>
              <a:rPr lang="en-US" altLang="zh-CN" sz="2400"/>
              <a:t>80C51</a:t>
            </a:r>
            <a:r>
              <a:rPr lang="zh-CN" altLang="en-US" sz="2400"/>
              <a:t>系列单片机使用的则是</a:t>
            </a:r>
            <a:r>
              <a:rPr lang="en-US" altLang="zh-CN" sz="2400"/>
              <a:t>I/O</a:t>
            </a:r>
            <a:r>
              <a:rPr lang="zh-CN" altLang="en-US" sz="2400"/>
              <a:t>端口统一编址方式。</a:t>
            </a:r>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7751763"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6.2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CPU与外设之间的数据传输方式</a:t>
            </a:r>
          </a:p>
        </p:txBody>
      </p:sp>
      <p:sp>
        <p:nvSpPr>
          <p:cNvPr id="14338"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4339" name="Rectangle 11"/>
          <p:cNvSpPr>
            <a:spLocks noGrp="1"/>
          </p:cNvSpPr>
          <p:nvPr>
            <p:ph type="body" idx="4294967295"/>
          </p:nvPr>
        </p:nvSpPr>
        <p:spPr>
          <a:xfrm>
            <a:off x="1412875" y="2159000"/>
            <a:ext cx="5297488" cy="3162300"/>
          </a:xfrm>
          <a:ln/>
        </p:spPr>
        <p:txBody>
          <a:bodyPr wrap="square" lIns="92075" tIns="46038" rIns="92075" bIns="46038" anchor="t" anchorCtr="0"/>
          <a:lstStyle/>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2</a:t>
            </a:r>
            <a:r>
              <a:rPr lang="zh-CN" altLang="en-US" dirty="0">
                <a:solidFill>
                  <a:srgbClr val="66FFCC"/>
                </a:solidFill>
              </a:rPr>
              <a:t>.1  程序控制方式</a:t>
            </a:r>
          </a:p>
          <a:p>
            <a:pPr eaLnBrk="1" hangingPunct="1"/>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2</a:t>
            </a:r>
            <a:r>
              <a:rPr lang="zh-CN" altLang="en-US" dirty="0">
                <a:solidFill>
                  <a:srgbClr val="66FFCC"/>
                </a:solidFill>
              </a:rPr>
              <a:t>.2  中断方式</a:t>
            </a:r>
          </a:p>
          <a:p>
            <a:pPr eaLnBrk="1" hangingPunct="1">
              <a:buNone/>
            </a:pPr>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2</a:t>
            </a:r>
            <a:r>
              <a:rPr lang="zh-CN" altLang="en-US" dirty="0">
                <a:solidFill>
                  <a:srgbClr val="66FFCC"/>
                </a:solidFill>
              </a:rPr>
              <a:t>.3  DMA方式</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程序控制方式</a:t>
            </a:r>
          </a:p>
        </p:txBody>
      </p:sp>
      <p:sp>
        <p:nvSpPr>
          <p:cNvPr id="15362" name="内容占位符 2"/>
          <p:cNvSpPr>
            <a:spLocks noGrp="1"/>
          </p:cNvSpPr>
          <p:nvPr>
            <p:ph idx="4294967295"/>
          </p:nvPr>
        </p:nvSpPr>
        <p:spPr>
          <a:xfrm>
            <a:off x="187325" y="1438275"/>
            <a:ext cx="8512175" cy="4981575"/>
          </a:xfrm>
          <a:ln/>
        </p:spPr>
        <p:txBody>
          <a:bodyPr wrap="square" lIns="92075" tIns="46038" rIns="92075" bIns="46038" anchor="t" anchorCtr="0"/>
          <a:lstStyle/>
          <a:p>
            <a:pPr algn="just">
              <a:lnSpc>
                <a:spcPts val="3200"/>
              </a:lnSpc>
              <a:buNone/>
            </a:pPr>
            <a:r>
              <a:rPr lang="en-US" altLang="zh-CN" sz="2000"/>
              <a:t>             </a:t>
            </a:r>
            <a:r>
              <a:rPr lang="zh-CN" altLang="en-US" sz="2000"/>
              <a:t>程序控制方式是指</a:t>
            </a:r>
            <a:r>
              <a:rPr lang="en-US" altLang="zh-CN" sz="2000"/>
              <a:t>CPU</a:t>
            </a:r>
            <a:r>
              <a:rPr lang="zh-CN" altLang="en-US" sz="2000"/>
              <a:t>与外设之间的数据传输过程是在程序的控制下完成的，它又可以分成无条件传输方式和查询传输方式。</a:t>
            </a:r>
          </a:p>
          <a:p>
            <a:pPr algn="just">
              <a:lnSpc>
                <a:spcPts val="3200"/>
              </a:lnSpc>
              <a:buNone/>
            </a:pPr>
            <a:r>
              <a:rPr lang="zh-CN" altLang="en-US" sz="2000"/>
              <a:t>             </a:t>
            </a:r>
            <a:r>
              <a:rPr lang="en-US" altLang="zh-CN" sz="2000"/>
              <a:t>1</a:t>
            </a:r>
            <a:r>
              <a:rPr lang="zh-CN" altLang="en-US" sz="2000"/>
              <a:t>．无条件传输方式</a:t>
            </a:r>
          </a:p>
          <a:p>
            <a:pPr algn="just">
              <a:lnSpc>
                <a:spcPts val="3200"/>
              </a:lnSpc>
              <a:buNone/>
            </a:pPr>
            <a:r>
              <a:rPr lang="zh-CN" altLang="en-US" sz="2000"/>
              <a:t>             无条件传输方式是指传输数据过程中，发送</a:t>
            </a:r>
            <a:r>
              <a:rPr lang="en-US" altLang="zh-CN" sz="2000"/>
              <a:t>/</a:t>
            </a:r>
            <a:r>
              <a:rPr lang="zh-CN" altLang="en-US" sz="2000"/>
              <a:t>接收数据一方不查询判断对方的状态，进行无条件的数据传输。这种传输方式程序设计简单，一般用于能够确信外设已经准备就绪的场合。如读取开关的状态，</a:t>
            </a:r>
            <a:r>
              <a:rPr lang="en-US" altLang="zh-CN" sz="2000"/>
              <a:t>LED</a:t>
            </a:r>
            <a:r>
              <a:rPr lang="zh-CN" altLang="en-US" sz="2000"/>
              <a:t>的显示等。</a:t>
            </a:r>
          </a:p>
          <a:p>
            <a:pPr algn="just">
              <a:lnSpc>
                <a:spcPts val="3200"/>
              </a:lnSpc>
              <a:buNone/>
            </a:pPr>
            <a:r>
              <a:rPr lang="zh-CN" altLang="en-US" sz="2000"/>
              <a:t>             </a:t>
            </a:r>
            <a:r>
              <a:rPr lang="en-US" altLang="zh-CN" sz="2000"/>
              <a:t>2</a:t>
            </a:r>
            <a:r>
              <a:rPr lang="zh-CN" altLang="en-US" sz="2000"/>
              <a:t>．查询传输方式</a:t>
            </a:r>
          </a:p>
          <a:p>
            <a:pPr algn="just">
              <a:lnSpc>
                <a:spcPts val="3200"/>
              </a:lnSpc>
              <a:buNone/>
            </a:pPr>
            <a:r>
              <a:rPr lang="zh-CN" altLang="en-US" sz="2000"/>
              <a:t>             查询传输方式，也称条件传输方式，使用这种方式，</a:t>
            </a:r>
            <a:r>
              <a:rPr lang="en-US" altLang="zh-CN" sz="2000"/>
              <a:t>CPU</a:t>
            </a:r>
            <a:r>
              <a:rPr lang="zh-CN" altLang="en-US" sz="2000"/>
              <a:t>不断读取并测试外设的状态，如果外设处于“准备好”状态（输入设备）或“空闲”状态（输出设备），则</a:t>
            </a:r>
            <a:r>
              <a:rPr lang="en-US" altLang="zh-CN" sz="2000"/>
              <a:t>CPU</a:t>
            </a:r>
            <a:r>
              <a:rPr lang="zh-CN" altLang="en-US" sz="2000"/>
              <a:t>执行输入指令或输出指令与外设交换信息。</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中断方式</a:t>
            </a:r>
          </a:p>
        </p:txBody>
      </p:sp>
      <p:sp>
        <p:nvSpPr>
          <p:cNvPr id="16386" name="内容占位符 2"/>
          <p:cNvSpPr>
            <a:spLocks noGrp="1"/>
          </p:cNvSpPr>
          <p:nvPr>
            <p:ph idx="4294967295"/>
          </p:nvPr>
        </p:nvSpPr>
        <p:spPr>
          <a:xfrm>
            <a:off x="228600" y="1974850"/>
            <a:ext cx="8512175" cy="3770313"/>
          </a:xfrm>
          <a:ln/>
        </p:spPr>
        <p:txBody>
          <a:bodyPr wrap="square" lIns="92075" tIns="46038" rIns="92075" bIns="46038" anchor="t" anchorCtr="0"/>
          <a:lstStyle/>
          <a:p>
            <a:pPr algn="just">
              <a:lnSpc>
                <a:spcPts val="3200"/>
              </a:lnSpc>
              <a:buNone/>
            </a:pPr>
            <a:r>
              <a:rPr lang="en-US" altLang="zh-CN" sz="2400"/>
              <a:t>             </a:t>
            </a:r>
            <a:r>
              <a:rPr lang="zh-CN" altLang="en-US" sz="2400"/>
              <a:t>为了提高</a:t>
            </a:r>
            <a:r>
              <a:rPr lang="en-US" altLang="zh-CN" sz="2400"/>
              <a:t>CPU</a:t>
            </a:r>
            <a:r>
              <a:rPr lang="zh-CN" altLang="en-US" sz="2400"/>
              <a:t>的效率使系统具有实时输入</a:t>
            </a:r>
            <a:r>
              <a:rPr lang="en-US" altLang="zh-CN" sz="2400"/>
              <a:t>/</a:t>
            </a:r>
            <a:r>
              <a:rPr lang="zh-CN" altLang="en-US" sz="2400"/>
              <a:t>输出性能可采用中断方式。在中断传输方式下，外设具有向</a:t>
            </a:r>
            <a:r>
              <a:rPr lang="en-US" altLang="zh-CN" sz="2400"/>
              <a:t>CPU</a:t>
            </a:r>
            <a:r>
              <a:rPr lang="zh-CN" altLang="en-US" sz="2400"/>
              <a:t>申请服务的能力。当输入设备已将数据准备好，或输出设备可以接收数据时，便可以向</a:t>
            </a:r>
            <a:r>
              <a:rPr lang="en-US" altLang="zh-CN" sz="2400"/>
              <a:t>CPU</a:t>
            </a:r>
            <a:r>
              <a:rPr lang="zh-CN" altLang="en-US" sz="2400"/>
              <a:t>发出中断请求，</a:t>
            </a:r>
            <a:r>
              <a:rPr lang="en-US" altLang="zh-CN" sz="2400"/>
              <a:t>CPU</a:t>
            </a:r>
            <a:r>
              <a:rPr lang="zh-CN" altLang="en-US" sz="2400"/>
              <a:t>可以中断正在执行的程序而和外设进行一次数据传送。待输入操作或输出操作完成后，</a:t>
            </a:r>
            <a:r>
              <a:rPr lang="en-US" altLang="zh-CN" sz="2400"/>
              <a:t>CPU</a:t>
            </a:r>
            <a:r>
              <a:rPr lang="zh-CN" altLang="en-US" sz="2400"/>
              <a:t>再恢复执行原来的程序。与查询工作方式不同的是，这时的</a:t>
            </a:r>
            <a:r>
              <a:rPr lang="en-US" altLang="zh-CN" sz="2400"/>
              <a:t>CPU</a:t>
            </a:r>
            <a:r>
              <a:rPr lang="zh-CN" altLang="en-US" sz="2400"/>
              <a:t>不用去不断地查询等待，而可以去处理其他工作。因此，采用中断方式时，</a:t>
            </a:r>
            <a:r>
              <a:rPr lang="en-US" altLang="zh-CN" sz="2400"/>
              <a:t>CPU</a:t>
            </a:r>
            <a:r>
              <a:rPr lang="zh-CN" altLang="en-US" sz="2400"/>
              <a:t>和外设处于并行工作的状况下，从而大大提高了</a:t>
            </a:r>
            <a:r>
              <a:rPr lang="en-US" altLang="zh-CN" sz="2400"/>
              <a:t>CPU</a:t>
            </a:r>
            <a:r>
              <a:rPr lang="zh-CN" altLang="en-US" sz="2400"/>
              <a:t>的效率。</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DMA方式</a:t>
            </a:r>
          </a:p>
        </p:txBody>
      </p:sp>
      <p:sp>
        <p:nvSpPr>
          <p:cNvPr id="17410" name="内容占位符 2"/>
          <p:cNvSpPr>
            <a:spLocks noGrp="1"/>
          </p:cNvSpPr>
          <p:nvPr>
            <p:ph idx="4294967295"/>
          </p:nvPr>
        </p:nvSpPr>
        <p:spPr>
          <a:xfrm>
            <a:off x="238125" y="1660525"/>
            <a:ext cx="8512175" cy="4721225"/>
          </a:xfrm>
          <a:ln/>
        </p:spPr>
        <p:txBody>
          <a:bodyPr wrap="square" lIns="92075" tIns="46038" rIns="92075" bIns="46038" anchor="t" anchorCtr="0"/>
          <a:lstStyle/>
          <a:p>
            <a:pPr algn="just">
              <a:lnSpc>
                <a:spcPts val="3200"/>
              </a:lnSpc>
              <a:buNone/>
            </a:pPr>
            <a:r>
              <a:rPr lang="en-US" altLang="zh-CN" sz="2400"/>
              <a:t>             </a:t>
            </a:r>
            <a:r>
              <a:rPr lang="zh-CN" altLang="en-US" sz="2400"/>
              <a:t>所谓</a:t>
            </a:r>
            <a:r>
              <a:rPr lang="en-US" altLang="zh-CN" sz="2400"/>
              <a:t>DMA</a:t>
            </a:r>
            <a:r>
              <a:rPr lang="zh-CN" altLang="en-US" sz="2400"/>
              <a:t>方式就是直接存储器存取（</a:t>
            </a:r>
            <a:r>
              <a:rPr lang="en-US" altLang="zh-CN" sz="2400"/>
              <a:t>Direct Memory Access</a:t>
            </a:r>
            <a:r>
              <a:rPr lang="zh-CN" altLang="en-US" sz="2400"/>
              <a:t>）方式。在</a:t>
            </a:r>
            <a:r>
              <a:rPr lang="en-US" altLang="zh-CN" sz="2400"/>
              <a:t>DMA</a:t>
            </a:r>
            <a:r>
              <a:rPr lang="zh-CN" altLang="en-US" sz="2400"/>
              <a:t>方式下，外设通过</a:t>
            </a:r>
            <a:r>
              <a:rPr lang="en-US" altLang="zh-CN" sz="2400"/>
              <a:t>DMA</a:t>
            </a:r>
            <a:r>
              <a:rPr lang="zh-CN" altLang="en-US" sz="2400"/>
              <a:t>的一种专门接口电路</a:t>
            </a:r>
            <a:r>
              <a:rPr lang="en-US" altLang="zh-CN" sz="2400"/>
              <a:t>——DMA</a:t>
            </a:r>
            <a:r>
              <a:rPr lang="zh-CN" altLang="en-US" sz="2400"/>
              <a:t>控制器（</a:t>
            </a:r>
            <a:r>
              <a:rPr lang="en-US" altLang="zh-CN" sz="2400"/>
              <a:t>DMAC</a:t>
            </a:r>
            <a:r>
              <a:rPr lang="zh-CN" altLang="en-US" sz="2400"/>
              <a:t>），向</a:t>
            </a:r>
            <a:r>
              <a:rPr lang="en-US" altLang="zh-CN" sz="2400"/>
              <a:t>CPU</a:t>
            </a:r>
            <a:r>
              <a:rPr lang="zh-CN" altLang="en-US" sz="2400"/>
              <a:t>提出接管总线控制权的总线请求，</a:t>
            </a:r>
            <a:r>
              <a:rPr lang="en-US" altLang="zh-CN" sz="2400"/>
              <a:t>CPU</a:t>
            </a:r>
            <a:r>
              <a:rPr lang="zh-CN" altLang="en-US" sz="2400"/>
              <a:t>在当前的总线周期结束后响应</a:t>
            </a:r>
            <a:r>
              <a:rPr lang="en-US" altLang="zh-CN" sz="2400"/>
              <a:t>DMA</a:t>
            </a:r>
            <a:r>
              <a:rPr lang="zh-CN" altLang="en-US" sz="2400"/>
              <a:t>请求。把总线的控制权交给</a:t>
            </a:r>
            <a:r>
              <a:rPr lang="en-US" altLang="zh-CN" sz="2400"/>
              <a:t>DMAC</a:t>
            </a:r>
            <a:r>
              <a:rPr lang="zh-CN" altLang="en-US" sz="2400"/>
              <a:t>。于是在</a:t>
            </a:r>
            <a:r>
              <a:rPr lang="en-US" altLang="zh-CN" sz="2400"/>
              <a:t>DMAC</a:t>
            </a:r>
            <a:r>
              <a:rPr lang="zh-CN" altLang="en-US" sz="2400"/>
              <a:t>的管理下，外设和存储器之间直接进行数据变换，而不需要</a:t>
            </a:r>
            <a:r>
              <a:rPr lang="en-US" altLang="zh-CN" sz="2400"/>
              <a:t>CPU</a:t>
            </a:r>
            <a:r>
              <a:rPr lang="zh-CN" altLang="en-US" sz="2400"/>
              <a:t>的干预，这样可以大大提高数据的传输速度。</a:t>
            </a:r>
          </a:p>
          <a:p>
            <a:pPr algn="just">
              <a:lnSpc>
                <a:spcPts val="3200"/>
              </a:lnSpc>
              <a:buNone/>
            </a:pPr>
            <a:r>
              <a:rPr lang="zh-CN" altLang="en-US" sz="2400"/>
              <a:t>             </a:t>
            </a:r>
            <a:r>
              <a:rPr lang="en-US" altLang="zh-CN" sz="2400"/>
              <a:t>DMA</a:t>
            </a:r>
            <a:r>
              <a:rPr lang="zh-CN" altLang="en-US" sz="2400"/>
              <a:t>之所以适用于大批量数据块的传输是因为：一方面传输数据内存地址的修改、计数等均由</a:t>
            </a:r>
            <a:r>
              <a:rPr lang="en-US" altLang="zh-CN" sz="2400"/>
              <a:t>DMA</a:t>
            </a:r>
            <a:r>
              <a:rPr lang="zh-CN" altLang="en-US" sz="2400"/>
              <a:t>控制器的硬件完成（而不是</a:t>
            </a:r>
            <a:r>
              <a:rPr lang="en-US" altLang="zh-CN" sz="2400"/>
              <a:t>CPU</a:t>
            </a:r>
            <a:r>
              <a:rPr lang="zh-CN" altLang="en-US" sz="2400"/>
              <a:t>指令）；另一方面，</a:t>
            </a:r>
            <a:r>
              <a:rPr lang="en-US" altLang="zh-CN" sz="2400"/>
              <a:t>CPU</a:t>
            </a:r>
            <a:r>
              <a:rPr lang="zh-CN" altLang="en-US" sz="2400"/>
              <a:t>交出总线的控制权，其现场不受影响，无须进行保存和恢复。</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DMA方式</a:t>
            </a:r>
          </a:p>
        </p:txBody>
      </p:sp>
      <p:sp>
        <p:nvSpPr>
          <p:cNvPr id="18434" name="内容占位符 2"/>
          <p:cNvSpPr>
            <a:spLocks noGrp="1"/>
          </p:cNvSpPr>
          <p:nvPr>
            <p:ph idx="4294967295"/>
          </p:nvPr>
        </p:nvSpPr>
        <p:spPr>
          <a:xfrm>
            <a:off x="238125" y="1368425"/>
            <a:ext cx="8512175" cy="3036888"/>
          </a:xfrm>
          <a:ln/>
        </p:spPr>
        <p:txBody>
          <a:bodyPr wrap="square" lIns="92075" tIns="46038" rIns="92075" bIns="46038" anchor="t" anchorCtr="0"/>
          <a:lstStyle/>
          <a:p>
            <a:pPr algn="just">
              <a:lnSpc>
                <a:spcPts val="3200"/>
              </a:lnSpc>
              <a:buNone/>
            </a:pPr>
            <a:r>
              <a:rPr lang="en-US" altLang="zh-CN" sz="2400"/>
              <a:t>             </a:t>
            </a:r>
            <a:r>
              <a:rPr lang="zh-CN" altLang="en-US" sz="2400"/>
              <a:t>采用</a:t>
            </a:r>
            <a:r>
              <a:rPr lang="en-US" altLang="zh-CN" sz="2400"/>
              <a:t>DMA</a:t>
            </a:r>
            <a:r>
              <a:rPr lang="zh-CN" altLang="en-US" sz="2400"/>
              <a:t>方式进行数据传输时，使用系统的数据总线、地址总线和控制总线。在用</a:t>
            </a:r>
            <a:r>
              <a:rPr lang="en-US" altLang="zh-CN" sz="2400"/>
              <a:t>DMA</a:t>
            </a:r>
            <a:r>
              <a:rPr lang="zh-CN" altLang="en-US" sz="2400"/>
              <a:t>方式进行数据传输前，</a:t>
            </a:r>
            <a:r>
              <a:rPr lang="en-US" altLang="zh-CN" sz="2400"/>
              <a:t>DMAC</a:t>
            </a:r>
            <a:r>
              <a:rPr lang="zh-CN" altLang="en-US" sz="2400"/>
              <a:t>向</a:t>
            </a:r>
            <a:r>
              <a:rPr lang="en-US" altLang="zh-CN" sz="2400"/>
              <a:t>CPU</a:t>
            </a:r>
            <a:r>
              <a:rPr lang="zh-CN" altLang="en-US" sz="2400"/>
              <a:t>发出申请使用系统总线的请求。当</a:t>
            </a:r>
            <a:r>
              <a:rPr lang="en-US" altLang="zh-CN" sz="2400"/>
              <a:t>CPU</a:t>
            </a:r>
            <a:r>
              <a:rPr lang="zh-CN" altLang="en-US" sz="2400"/>
              <a:t>同意并让出系统总线控制权后，</a:t>
            </a:r>
            <a:r>
              <a:rPr lang="en-US" altLang="zh-CN" sz="2400"/>
              <a:t>DMAC</a:t>
            </a:r>
            <a:r>
              <a:rPr lang="zh-CN" altLang="en-US" sz="2400"/>
              <a:t>接管系统总线，实现外设与内存之间的数据传输。传输完毕，将总线控制权交还给</a:t>
            </a:r>
            <a:r>
              <a:rPr lang="en-US" altLang="zh-CN" sz="2400"/>
              <a:t>CPU</a:t>
            </a:r>
            <a:r>
              <a:rPr lang="zh-CN" altLang="en-US" sz="2400"/>
              <a:t>。</a:t>
            </a:r>
            <a:r>
              <a:rPr lang="en-US" altLang="zh-CN" sz="2400"/>
              <a:t>DMAC</a:t>
            </a:r>
            <a:r>
              <a:rPr lang="zh-CN" altLang="en-US" sz="2400"/>
              <a:t>是一个专用接口电路，在系统中的连接如图</a:t>
            </a:r>
            <a:r>
              <a:rPr lang="en-US" altLang="zh-CN" sz="2400"/>
              <a:t>6-3</a:t>
            </a:r>
            <a:r>
              <a:rPr lang="zh-CN" altLang="en-US" sz="2400"/>
              <a:t>所示。</a:t>
            </a:r>
          </a:p>
        </p:txBody>
      </p:sp>
      <p:graphicFrame>
        <p:nvGraphicFramePr>
          <p:cNvPr id="18435" name="图片 43"/>
          <p:cNvGraphicFramePr>
            <a:graphicFrameLocks noChangeAspect="1"/>
          </p:cNvGraphicFramePr>
          <p:nvPr/>
        </p:nvGraphicFramePr>
        <p:xfrm>
          <a:off x="1636713" y="4049713"/>
          <a:ext cx="6832600" cy="2657475"/>
        </p:xfrm>
        <a:graphic>
          <a:graphicData uri="http://schemas.openxmlformats.org/presentationml/2006/ole">
            <mc:AlternateContent xmlns:mc="http://schemas.openxmlformats.org/markup-compatibility/2006">
              <mc:Choice xmlns:v="urn:schemas-microsoft-com:vml" Requires="v">
                <p:oleObj spid="_x0000_s4100" r:id="rId3" imgW="6781800" imgH="2641600" progId="Visio.Drawing.11">
                  <p:embed/>
                </p:oleObj>
              </mc:Choice>
              <mc:Fallback>
                <p:oleObj r:id="rId3" imgW="6781800" imgH="2641600" progId="Visio.Drawing.11">
                  <p:embed/>
                  <p:pic>
                    <p:nvPicPr>
                      <p:cNvPr id="0" name="图片 3075"/>
                      <p:cNvPicPr/>
                      <p:nvPr/>
                    </p:nvPicPr>
                    <p:blipFill>
                      <a:blip r:embed="rId4"/>
                      <a:stretch>
                        <a:fillRect/>
                      </a:stretch>
                    </p:blipFill>
                    <p:spPr>
                      <a:xfrm>
                        <a:off x="1636713" y="4049713"/>
                        <a:ext cx="6832600" cy="2657475"/>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6.3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微型计算机中的总线</a:t>
            </a:r>
          </a:p>
        </p:txBody>
      </p:sp>
      <p:sp>
        <p:nvSpPr>
          <p:cNvPr id="19458"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9459" name="Rectangle 11"/>
          <p:cNvSpPr>
            <a:spLocks noGrp="1"/>
          </p:cNvSpPr>
          <p:nvPr>
            <p:ph type="body" idx="4294967295"/>
          </p:nvPr>
        </p:nvSpPr>
        <p:spPr>
          <a:xfrm>
            <a:off x="1373188" y="1452563"/>
            <a:ext cx="6421437" cy="5103812"/>
          </a:xfrm>
          <a:ln/>
        </p:spPr>
        <p:txBody>
          <a:bodyPr wrap="square" lIns="92075" tIns="46038" rIns="92075" bIns="46038" anchor="t" anchorCtr="0"/>
          <a:lstStyle/>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3</a:t>
            </a:r>
            <a:r>
              <a:rPr lang="zh-CN" altLang="en-US" dirty="0">
                <a:solidFill>
                  <a:srgbClr val="66FFCC"/>
                </a:solidFill>
              </a:rPr>
              <a:t>.1  总线定义</a:t>
            </a:r>
          </a:p>
          <a:p>
            <a:pPr eaLnBrk="1" hangingPunct="1"/>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3</a:t>
            </a:r>
            <a:r>
              <a:rPr lang="zh-CN" altLang="en-US" dirty="0">
                <a:solidFill>
                  <a:srgbClr val="66FFCC"/>
                </a:solidFill>
              </a:rPr>
              <a:t>.2  总线分类</a:t>
            </a:r>
          </a:p>
          <a:p>
            <a:pPr eaLnBrk="1" hangingPunct="1">
              <a:buNone/>
            </a:pPr>
            <a:endParaRPr lang="zh-CN" altLang="en-US" dirty="0">
              <a:solidFill>
                <a:srgbClr val="66FFCC"/>
              </a:solidFill>
            </a:endParaRPr>
          </a:p>
          <a:p>
            <a:pPr eaLnBrk="1" hangingPunct="1">
              <a:buNone/>
            </a:pPr>
            <a:r>
              <a:rPr lang="en-US" altLang="zh-CN" dirty="0">
                <a:solidFill>
                  <a:srgbClr val="66FFCC"/>
                </a:solidFill>
              </a:rPr>
              <a:t>6</a:t>
            </a:r>
            <a:r>
              <a:rPr lang="zh-CN" altLang="en-US" dirty="0">
                <a:solidFill>
                  <a:srgbClr val="66FFCC"/>
                </a:solidFill>
              </a:rPr>
              <a:t>.</a:t>
            </a:r>
            <a:r>
              <a:rPr lang="en-US" altLang="zh-CN" dirty="0">
                <a:solidFill>
                  <a:srgbClr val="66FFCC"/>
                </a:solidFill>
              </a:rPr>
              <a:t>3</a:t>
            </a:r>
            <a:r>
              <a:rPr lang="zh-CN" altLang="en-US" dirty="0">
                <a:solidFill>
                  <a:srgbClr val="66FFCC"/>
                </a:solidFill>
              </a:rPr>
              <a:t>.3  总线周期</a:t>
            </a:r>
          </a:p>
          <a:p>
            <a:pPr eaLnBrk="1" hangingPunct="1">
              <a:buNone/>
            </a:pPr>
            <a:endParaRPr lang="zh-CN" altLang="en-US" dirty="0">
              <a:solidFill>
                <a:srgbClr val="66FFCC"/>
              </a:solidFill>
            </a:endParaRPr>
          </a:p>
          <a:p>
            <a:pPr eaLnBrk="1" hangingPunct="1">
              <a:buNone/>
            </a:pPr>
            <a:r>
              <a:rPr lang="en-US" altLang="zh-CN" dirty="0">
                <a:solidFill>
                  <a:srgbClr val="66FFCC"/>
                </a:solidFill>
                <a:sym typeface="Arial" panose="020B0604020202020204" pitchFamily="34" charset="0"/>
              </a:rPr>
              <a:t>6</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3</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4</a:t>
            </a:r>
            <a:r>
              <a:rPr lang="zh-CN" altLang="en-US" dirty="0">
                <a:solidFill>
                  <a:srgbClr val="66FFCC"/>
                </a:solidFill>
                <a:sym typeface="Arial" panose="020B0604020202020204" pitchFamily="34" charset="0"/>
              </a:rPr>
              <a:t>  总线的操作过程</a:t>
            </a:r>
          </a:p>
          <a:p>
            <a:pPr eaLnBrk="1" hangingPunct="1">
              <a:buNone/>
            </a:pPr>
            <a:endParaRPr lang="zh-CN" altLang="en-US" dirty="0">
              <a:solidFill>
                <a:srgbClr val="66FFCC"/>
              </a:solidFill>
              <a:sym typeface="Arial" panose="020B0604020202020204" pitchFamily="34" charset="0"/>
            </a:endParaRPr>
          </a:p>
          <a:p>
            <a:pPr eaLnBrk="1" hangingPunct="1">
              <a:buNone/>
            </a:pPr>
            <a:r>
              <a:rPr lang="en-US" altLang="zh-CN" dirty="0">
                <a:solidFill>
                  <a:srgbClr val="66FFCC"/>
                </a:solidFill>
                <a:sym typeface="Arial" panose="020B0604020202020204" pitchFamily="34" charset="0"/>
              </a:rPr>
              <a:t>6</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3</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5</a:t>
            </a:r>
            <a:r>
              <a:rPr lang="zh-CN" altLang="en-US" dirty="0">
                <a:solidFill>
                  <a:srgbClr val="66FFCC"/>
                </a:solidFill>
                <a:sym typeface="Arial" panose="020B0604020202020204" pitchFamily="34" charset="0"/>
              </a:rPr>
              <a:t>  常用系统总线和外设总线标准</a:t>
            </a:r>
          </a:p>
          <a:p>
            <a:pPr eaLnBrk="1" hangingPunct="1">
              <a:buNone/>
            </a:pPr>
            <a:endParaRPr lang="zh-CN" altLang="en-US" dirty="0">
              <a:solidFill>
                <a:srgbClr val="66FFCC"/>
              </a:solidFill>
              <a:sym typeface="Arial" panose="020B0604020202020204" pitchFamily="34" charset="0"/>
            </a:endParaRP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总线定义</a:t>
            </a:r>
          </a:p>
        </p:txBody>
      </p:sp>
      <p:sp>
        <p:nvSpPr>
          <p:cNvPr id="20482" name="内容占位符 2"/>
          <p:cNvSpPr>
            <a:spLocks noGrp="1"/>
          </p:cNvSpPr>
          <p:nvPr>
            <p:ph idx="4294967295"/>
          </p:nvPr>
        </p:nvSpPr>
        <p:spPr>
          <a:xfrm>
            <a:off x="307975" y="1989138"/>
            <a:ext cx="8147050" cy="3794125"/>
          </a:xfrm>
          <a:ln/>
        </p:spPr>
        <p:txBody>
          <a:bodyPr wrap="square" lIns="92075" tIns="46038" rIns="92075" bIns="46038" anchor="t" anchorCtr="0"/>
          <a:lstStyle/>
          <a:p>
            <a:pPr algn="just">
              <a:lnSpc>
                <a:spcPts val="3200"/>
              </a:lnSpc>
              <a:buNone/>
            </a:pPr>
            <a:r>
              <a:rPr lang="en-US" altLang="zh-CN" sz="2400"/>
              <a:t>             </a:t>
            </a:r>
            <a:r>
              <a:rPr lang="zh-CN" altLang="en-US" sz="2400"/>
              <a:t>总线是微机中用来连接各部件的一组通信线，是一种在各模块间传送信息的公共通路。在微机系统中，利用总线实现芯片内部、印制电路板各部件之间、机箱内各插件板之间、主机与外部设备之间或系统与系统之间的连接与通信。总线是构成微型计算机应用系统的重要技术，总线设计的好坏会直接影响整个微机系统的性能、可靠性、可扩展性和可升级性。</a:t>
            </a:r>
          </a:p>
          <a:p>
            <a:pPr algn="just">
              <a:lnSpc>
                <a:spcPts val="3200"/>
              </a:lnSpc>
              <a:buNone/>
            </a:pPr>
            <a:r>
              <a:rPr lang="en-US" altLang="zh-CN" sz="2400"/>
              <a:t>             采用标准总线可以简化系统的设计、系统的结构，提高系统可靠性，易于系统的扩充和更新等。          </a:t>
            </a:r>
          </a:p>
          <a:p>
            <a:pPr algn="just">
              <a:lnSpc>
                <a:spcPts val="3200"/>
              </a:lnSpc>
              <a:buNone/>
            </a:pPr>
            <a:endParaRPr lang="en-US" altLang="zh-CN" sz="2400"/>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总线分类</a:t>
            </a:r>
          </a:p>
        </p:txBody>
      </p:sp>
      <p:sp>
        <p:nvSpPr>
          <p:cNvPr id="21506" name="内容占位符 2"/>
          <p:cNvSpPr>
            <a:spLocks noGrp="1"/>
          </p:cNvSpPr>
          <p:nvPr>
            <p:ph idx="4294967295"/>
          </p:nvPr>
        </p:nvSpPr>
        <p:spPr>
          <a:xfrm>
            <a:off x="315913" y="1801813"/>
            <a:ext cx="8147050" cy="4338637"/>
          </a:xfrm>
          <a:ln/>
        </p:spPr>
        <p:txBody>
          <a:bodyPr wrap="square" lIns="92075" tIns="46038" rIns="92075" bIns="46038" anchor="t" anchorCtr="0"/>
          <a:lstStyle/>
          <a:p>
            <a:pPr algn="just">
              <a:lnSpc>
                <a:spcPts val="3200"/>
              </a:lnSpc>
              <a:buNone/>
            </a:pPr>
            <a:r>
              <a:rPr lang="en-US" altLang="zh-CN" sz="2400"/>
              <a:t>             </a:t>
            </a:r>
            <a:r>
              <a:rPr lang="zh-CN" altLang="en-US" sz="2400"/>
              <a:t>根据总线中信息传送的类型可分为地址总线、数据总线和控制总线，此外还有电源线和地线。若按总线的规模、用途和应用场合，则可以分成以下几类。</a:t>
            </a:r>
          </a:p>
          <a:p>
            <a:pPr algn="just">
              <a:lnSpc>
                <a:spcPts val="3200"/>
              </a:lnSpc>
              <a:buNone/>
            </a:pPr>
            <a:r>
              <a:rPr lang="zh-CN" altLang="en-US" sz="2400"/>
              <a:t>             </a:t>
            </a:r>
            <a:r>
              <a:rPr lang="en-US" altLang="zh-CN" sz="2400"/>
              <a:t>1</a:t>
            </a:r>
            <a:r>
              <a:rPr lang="zh-CN" altLang="en-US" sz="2400"/>
              <a:t>．片内总线</a:t>
            </a:r>
          </a:p>
          <a:p>
            <a:pPr algn="just">
              <a:lnSpc>
                <a:spcPts val="3200"/>
              </a:lnSpc>
              <a:buNone/>
            </a:pPr>
            <a:r>
              <a:rPr lang="zh-CN" altLang="en-US" sz="2400"/>
              <a:t>             它位于芯片内部，用来连接各功能单元的信息通路，如</a:t>
            </a:r>
            <a:r>
              <a:rPr lang="en-US" altLang="zh-CN" sz="2400"/>
              <a:t>CPU</a:t>
            </a:r>
            <a:r>
              <a:rPr lang="zh-CN" altLang="en-US" sz="2400"/>
              <a:t>内部、</a:t>
            </a:r>
            <a:r>
              <a:rPr lang="en-US" altLang="zh-CN" sz="2400"/>
              <a:t>ALU</a:t>
            </a:r>
            <a:r>
              <a:rPr lang="zh-CN" altLang="en-US" sz="2400"/>
              <a:t>单元和寄存器之间的信息通路。</a:t>
            </a:r>
          </a:p>
          <a:p>
            <a:pPr algn="just">
              <a:lnSpc>
                <a:spcPts val="3200"/>
              </a:lnSpc>
              <a:buNone/>
            </a:pPr>
            <a:r>
              <a:rPr lang="zh-CN" altLang="en-US" sz="2400"/>
              <a:t>             </a:t>
            </a:r>
            <a:r>
              <a:rPr lang="en-US" altLang="zh-CN" sz="2400"/>
              <a:t>2</a:t>
            </a:r>
            <a:r>
              <a:rPr lang="zh-CN" altLang="en-US" sz="2400"/>
              <a:t>．片总线</a:t>
            </a:r>
          </a:p>
          <a:p>
            <a:pPr algn="just">
              <a:lnSpc>
                <a:spcPts val="3200"/>
              </a:lnSpc>
              <a:buNone/>
            </a:pPr>
            <a:r>
              <a:rPr lang="en-US" altLang="zh-CN" sz="2400"/>
              <a:t>             片总线用在印制电路板上连接各芯片之间的公共通路，如CPU及其支持芯片与其局部资源之间的通路。     </a:t>
            </a:r>
          </a:p>
          <a:p>
            <a:pPr algn="just">
              <a:lnSpc>
                <a:spcPts val="3200"/>
              </a:lnSpc>
              <a:buNone/>
            </a:pPr>
            <a:endParaRPr lang="en-US" altLang="zh-CN" sz="2400"/>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总线分类</a:t>
            </a:r>
          </a:p>
        </p:txBody>
      </p:sp>
      <p:sp>
        <p:nvSpPr>
          <p:cNvPr id="22530" name="内容占位符 2"/>
          <p:cNvSpPr>
            <a:spLocks noGrp="1"/>
          </p:cNvSpPr>
          <p:nvPr>
            <p:ph idx="4294967295"/>
          </p:nvPr>
        </p:nvSpPr>
        <p:spPr>
          <a:xfrm>
            <a:off x="331788" y="1574800"/>
            <a:ext cx="8147050" cy="4697413"/>
          </a:xfrm>
          <a:ln/>
        </p:spPr>
        <p:txBody>
          <a:bodyPr wrap="square" lIns="92075" tIns="46038" rIns="92075" bIns="46038" anchor="t" anchorCtr="0"/>
          <a:lstStyle/>
          <a:p>
            <a:pPr algn="just">
              <a:lnSpc>
                <a:spcPts val="3200"/>
              </a:lnSpc>
              <a:buNone/>
            </a:pPr>
            <a:r>
              <a:rPr lang="en-US" altLang="zh-CN" sz="2400"/>
              <a:t>             3</a:t>
            </a:r>
            <a:r>
              <a:rPr lang="zh-CN" altLang="en-US" sz="2400"/>
              <a:t>．内总线</a:t>
            </a:r>
          </a:p>
          <a:p>
            <a:pPr algn="just">
              <a:lnSpc>
                <a:spcPts val="3200"/>
              </a:lnSpc>
              <a:buNone/>
            </a:pPr>
            <a:r>
              <a:rPr lang="zh-CN" altLang="en-US" sz="2400"/>
              <a:t>            内总线又称系统总线，用来连接微机系统各插件板卡，是微机系统最重要的一种总线，如</a:t>
            </a:r>
            <a:r>
              <a:rPr lang="en-US" altLang="zh-CN" sz="2400"/>
              <a:t>PC</a:t>
            </a:r>
            <a:r>
              <a:rPr lang="zh-CN" altLang="en-US" sz="2400"/>
              <a:t>系列机中的</a:t>
            </a:r>
            <a:r>
              <a:rPr lang="en-US" altLang="zh-CN" sz="2400"/>
              <a:t>ISA</a:t>
            </a:r>
            <a:r>
              <a:rPr lang="zh-CN" altLang="en-US" sz="2400"/>
              <a:t>总线、</a:t>
            </a:r>
            <a:r>
              <a:rPr lang="en-US" altLang="zh-CN" sz="2400"/>
              <a:t>EISA</a:t>
            </a:r>
            <a:r>
              <a:rPr lang="zh-CN" altLang="en-US" sz="2400"/>
              <a:t>总线、</a:t>
            </a:r>
            <a:r>
              <a:rPr lang="en-US" altLang="zh-CN" sz="2400"/>
              <a:t>PCI</a:t>
            </a:r>
            <a:r>
              <a:rPr lang="zh-CN" altLang="en-US" sz="2400"/>
              <a:t>总线。</a:t>
            </a:r>
          </a:p>
          <a:p>
            <a:pPr algn="just">
              <a:lnSpc>
                <a:spcPts val="3200"/>
              </a:lnSpc>
              <a:buNone/>
            </a:pPr>
            <a:r>
              <a:rPr lang="zh-CN" altLang="en-US" sz="2400"/>
              <a:t>             </a:t>
            </a:r>
            <a:r>
              <a:rPr lang="en-US" altLang="zh-CN" sz="2400"/>
              <a:t>4</a:t>
            </a:r>
            <a:r>
              <a:rPr lang="zh-CN" altLang="en-US" sz="2400"/>
              <a:t>．外总线</a:t>
            </a:r>
          </a:p>
          <a:p>
            <a:pPr algn="just">
              <a:lnSpc>
                <a:spcPts val="3200"/>
              </a:lnSpc>
              <a:buNone/>
            </a:pPr>
            <a:r>
              <a:rPr lang="zh-CN" altLang="en-US" sz="2400"/>
              <a:t>            外总线又称通信总线，是微机系统与系统之间、微机系统与外部设备之间的连接通道。这种总线数据传输方式可以是并行的，也可以是串行的。数据传输速率比内总线低。不同的应用场合有不同的总线标准。例如，串行通信的</a:t>
            </a:r>
            <a:r>
              <a:rPr lang="en-US" altLang="zh-CN" sz="2400"/>
              <a:t>EIA—RS-232C</a:t>
            </a:r>
            <a:r>
              <a:rPr lang="zh-CN" altLang="en-US" sz="2400"/>
              <a:t>总线、</a:t>
            </a:r>
            <a:r>
              <a:rPr lang="en-US" altLang="zh-CN" sz="2400"/>
              <a:t>USB</a:t>
            </a:r>
            <a:r>
              <a:rPr lang="zh-CN" altLang="en-US" sz="2400"/>
              <a:t>（</a:t>
            </a:r>
            <a:r>
              <a:rPr lang="en-US" altLang="zh-CN" sz="2400"/>
              <a:t>Universal Serial Bus</a:t>
            </a:r>
            <a:r>
              <a:rPr lang="zh-CN" altLang="en-US" sz="2400"/>
              <a:t>，通用串行总线）等。</a:t>
            </a: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总线周期</a:t>
            </a:r>
          </a:p>
        </p:txBody>
      </p:sp>
      <p:sp>
        <p:nvSpPr>
          <p:cNvPr id="23554" name="内容占位符 2"/>
          <p:cNvSpPr>
            <a:spLocks noGrp="1"/>
          </p:cNvSpPr>
          <p:nvPr>
            <p:ph idx="4294967295"/>
          </p:nvPr>
        </p:nvSpPr>
        <p:spPr>
          <a:xfrm>
            <a:off x="331788" y="1576388"/>
            <a:ext cx="8147050" cy="3027362"/>
          </a:xfrm>
          <a:ln/>
        </p:spPr>
        <p:txBody>
          <a:bodyPr wrap="square" lIns="92075" tIns="46038" rIns="92075" bIns="46038" anchor="t" anchorCtr="0"/>
          <a:lstStyle/>
          <a:p>
            <a:pPr algn="just">
              <a:lnSpc>
                <a:spcPts val="3200"/>
              </a:lnSpc>
              <a:buNone/>
            </a:pPr>
            <a:r>
              <a:rPr lang="en-US" altLang="zh-CN" sz="2400"/>
              <a:t>             1</a:t>
            </a:r>
            <a:r>
              <a:rPr lang="zh-CN" altLang="en-US" sz="2400"/>
              <a:t>．时钟周期</a:t>
            </a:r>
          </a:p>
          <a:p>
            <a:pPr algn="just">
              <a:lnSpc>
                <a:spcPts val="3200"/>
              </a:lnSpc>
              <a:buNone/>
            </a:pPr>
            <a:r>
              <a:rPr lang="zh-CN" altLang="en-US" sz="2400"/>
              <a:t>             </a:t>
            </a:r>
            <a:r>
              <a:rPr lang="en-US" altLang="zh-CN" sz="2400"/>
              <a:t>CPU</a:t>
            </a:r>
            <a:r>
              <a:rPr lang="zh-CN" altLang="en-US" sz="2400"/>
              <a:t>的任何操作都是在时钟脉冲信号</a:t>
            </a:r>
            <a:r>
              <a:rPr lang="en-US" altLang="zh-CN" sz="2400"/>
              <a:t>CLK</a:t>
            </a:r>
            <a:r>
              <a:rPr lang="zh-CN" altLang="en-US" sz="2400"/>
              <a:t>的统一控制下，一个节拍一个节拍地工作的。两个时钟脉冲信号间的间隔时间称为时钟周期。通常表示为</a:t>
            </a:r>
            <a:r>
              <a:rPr lang="en-US" altLang="zh-CN" sz="2400"/>
              <a:t>T</a:t>
            </a:r>
            <a:r>
              <a:rPr lang="zh-CN" altLang="en-US" sz="2400"/>
              <a:t>周期。时钟周期可通过微处理器的时钟主频计算得到，即</a:t>
            </a:r>
            <a:r>
              <a:rPr lang="en-US" altLang="zh-CN" sz="2400"/>
              <a:t>T=1/</a:t>
            </a:r>
            <a:r>
              <a:rPr lang="zh-CN" altLang="en-US" sz="2400"/>
              <a:t>主频。例如，</a:t>
            </a:r>
            <a:r>
              <a:rPr lang="en-US" altLang="zh-CN" sz="2400"/>
              <a:t>8086</a:t>
            </a:r>
            <a:r>
              <a:rPr lang="zh-CN" altLang="en-US" sz="2400"/>
              <a:t>的时钟信号如图</a:t>
            </a:r>
            <a:r>
              <a:rPr lang="en-US" altLang="zh-CN" sz="2400"/>
              <a:t>6-4</a:t>
            </a:r>
            <a:r>
              <a:rPr lang="zh-CN" altLang="en-US" sz="2400"/>
              <a:t>所示，主频为</a:t>
            </a:r>
            <a:r>
              <a:rPr lang="en-US" altLang="zh-CN" sz="2400"/>
              <a:t>5MHz</a:t>
            </a:r>
            <a:r>
              <a:rPr lang="zh-CN" altLang="en-US" sz="2400"/>
              <a:t>，其时钟周期</a:t>
            </a:r>
            <a:r>
              <a:rPr lang="en-US" altLang="zh-CN" sz="2400"/>
              <a:t>T=200ns</a:t>
            </a:r>
            <a:r>
              <a:rPr lang="zh-CN" altLang="en-US" sz="2400"/>
              <a:t>。</a:t>
            </a:r>
          </a:p>
        </p:txBody>
      </p:sp>
      <p:pic>
        <p:nvPicPr>
          <p:cNvPr id="23555" name="Picture 16" descr="6"/>
          <p:cNvPicPr>
            <a:picLocks noChangeAspect="1"/>
          </p:cNvPicPr>
          <p:nvPr/>
        </p:nvPicPr>
        <p:blipFill>
          <a:blip r:embed="rId2"/>
          <a:stretch>
            <a:fillRect/>
          </a:stretch>
        </p:blipFill>
        <p:spPr>
          <a:xfrm>
            <a:off x="1317625" y="4811713"/>
            <a:ext cx="7010400" cy="1595437"/>
          </a:xfrm>
          <a:prstGeom prst="rect">
            <a:avLst/>
          </a:prstGeom>
          <a:noFill/>
          <a:ln w="9525">
            <a:noFill/>
          </a:ln>
        </p:spPr>
      </p:pic>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总线周期</a:t>
            </a:r>
          </a:p>
        </p:txBody>
      </p:sp>
      <p:sp>
        <p:nvSpPr>
          <p:cNvPr id="24578" name="内容占位符 2"/>
          <p:cNvSpPr>
            <a:spLocks noGrp="1"/>
          </p:cNvSpPr>
          <p:nvPr>
            <p:ph idx="4294967295"/>
          </p:nvPr>
        </p:nvSpPr>
        <p:spPr>
          <a:xfrm>
            <a:off x="331788" y="1576388"/>
            <a:ext cx="8147050" cy="4751387"/>
          </a:xfrm>
          <a:ln/>
        </p:spPr>
        <p:txBody>
          <a:bodyPr wrap="square" lIns="92075" tIns="46038" rIns="92075" bIns="46038" anchor="t" anchorCtr="0"/>
          <a:lstStyle/>
          <a:p>
            <a:pPr algn="just">
              <a:lnSpc>
                <a:spcPts val="3200"/>
              </a:lnSpc>
              <a:buNone/>
            </a:pPr>
            <a:r>
              <a:rPr lang="en-US" altLang="zh-CN" sz="2400"/>
              <a:t>             2</a:t>
            </a:r>
            <a:r>
              <a:rPr lang="zh-CN" altLang="en-US" sz="2400"/>
              <a:t>．总线周期</a:t>
            </a:r>
          </a:p>
          <a:p>
            <a:pPr algn="just">
              <a:lnSpc>
                <a:spcPts val="3200"/>
              </a:lnSpc>
              <a:buNone/>
            </a:pPr>
            <a:r>
              <a:rPr lang="zh-CN" altLang="en-US" sz="2400"/>
              <a:t>             </a:t>
            </a:r>
            <a:r>
              <a:rPr lang="en-US" altLang="zh-CN" sz="2400"/>
              <a:t>CPU</a:t>
            </a:r>
            <a:r>
              <a:rPr lang="zh-CN" altLang="en-US" sz="2400"/>
              <a:t>与外设系统的信息交换都是通过总线来进行的，完成一次总线操作所需的时间称为总线周期。</a:t>
            </a:r>
            <a:r>
              <a:rPr lang="en-US" altLang="zh-CN" sz="2400"/>
              <a:t>CPU</a:t>
            </a:r>
            <a:r>
              <a:rPr lang="zh-CN" altLang="en-US" sz="2400"/>
              <a:t>要从存储器或</a:t>
            </a:r>
            <a:r>
              <a:rPr lang="en-US" altLang="zh-CN" sz="2400"/>
              <a:t>I/O</a:t>
            </a:r>
            <a:r>
              <a:rPr lang="zh-CN" altLang="en-US" sz="2400"/>
              <a:t>端口存取一个单元（字或字节）均需要一个总线周期。根据总线操作的不同有多种不同的总线周期，如存储器读总线周期、存储器写总线周期、</a:t>
            </a:r>
            <a:r>
              <a:rPr lang="en-US" altLang="zh-CN" sz="2400"/>
              <a:t>I/O</a:t>
            </a:r>
            <a:r>
              <a:rPr lang="zh-CN" altLang="en-US" sz="2400"/>
              <a:t>读总线周期和</a:t>
            </a:r>
            <a:r>
              <a:rPr lang="en-US" altLang="zh-CN" sz="2400"/>
              <a:t>I/O</a:t>
            </a:r>
            <a:r>
              <a:rPr lang="zh-CN" altLang="en-US" sz="2400"/>
              <a:t>写总线周期等。</a:t>
            </a:r>
          </a:p>
          <a:p>
            <a:pPr algn="just">
              <a:lnSpc>
                <a:spcPts val="3200"/>
              </a:lnSpc>
              <a:buNone/>
            </a:pPr>
            <a:r>
              <a:rPr lang="zh-CN" altLang="en-US" sz="2400"/>
              <a:t>            </a:t>
            </a:r>
            <a:r>
              <a:rPr lang="en-US" altLang="zh-CN" sz="2400"/>
              <a:t>8086</a:t>
            </a:r>
            <a:r>
              <a:rPr lang="zh-CN" altLang="en-US" sz="2400"/>
              <a:t>总线周期一般由</a:t>
            </a:r>
            <a:r>
              <a:rPr lang="en-US" altLang="zh-CN" sz="2400"/>
              <a:t>4</a:t>
            </a:r>
            <a:r>
              <a:rPr lang="zh-CN" altLang="en-US" sz="2400"/>
              <a:t>个时钟周期组成，也称为</a:t>
            </a:r>
            <a:r>
              <a:rPr lang="en-US" altLang="zh-CN" sz="2400"/>
              <a:t>4</a:t>
            </a:r>
            <a:r>
              <a:rPr lang="zh-CN" altLang="en-US" sz="2400"/>
              <a:t>个</a:t>
            </a:r>
            <a:r>
              <a:rPr lang="en-US" altLang="zh-CN" sz="2400"/>
              <a:t>T</a:t>
            </a:r>
            <a:r>
              <a:rPr lang="zh-CN" altLang="en-US" sz="2400"/>
              <a:t>状态，习惯上分别称为</a:t>
            </a:r>
            <a:r>
              <a:rPr lang="en-US" altLang="zh-CN" sz="2400"/>
              <a:t>T1</a:t>
            </a:r>
            <a:r>
              <a:rPr lang="zh-CN" altLang="en-US" sz="2400"/>
              <a:t>状态、</a:t>
            </a:r>
            <a:r>
              <a:rPr lang="en-US" altLang="zh-CN" sz="2400"/>
              <a:t>T2</a:t>
            </a:r>
            <a:r>
              <a:rPr lang="zh-CN" altLang="en-US" sz="2400"/>
              <a:t>状态、</a:t>
            </a:r>
            <a:r>
              <a:rPr lang="en-US" altLang="zh-CN" sz="2400"/>
              <a:t>T3</a:t>
            </a:r>
            <a:r>
              <a:rPr lang="zh-CN" altLang="en-US" sz="2400"/>
              <a:t>状态和</a:t>
            </a:r>
            <a:r>
              <a:rPr lang="en-US" altLang="zh-CN" sz="2400"/>
              <a:t>T4</a:t>
            </a:r>
            <a:r>
              <a:rPr lang="zh-CN" altLang="en-US" sz="2400"/>
              <a:t>状态。</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总线周期</a:t>
            </a:r>
          </a:p>
        </p:txBody>
      </p:sp>
      <p:sp>
        <p:nvSpPr>
          <p:cNvPr id="25602" name="内容占位符 2"/>
          <p:cNvSpPr>
            <a:spLocks noGrp="1"/>
          </p:cNvSpPr>
          <p:nvPr>
            <p:ph idx="4294967295"/>
          </p:nvPr>
        </p:nvSpPr>
        <p:spPr>
          <a:xfrm>
            <a:off x="282575" y="1482725"/>
            <a:ext cx="8350250" cy="4945063"/>
          </a:xfrm>
          <a:ln/>
        </p:spPr>
        <p:txBody>
          <a:bodyPr wrap="square" lIns="92075" tIns="46038" rIns="92075" bIns="46038" anchor="t" anchorCtr="0"/>
          <a:lstStyle/>
          <a:p>
            <a:pPr algn="just">
              <a:lnSpc>
                <a:spcPts val="3200"/>
              </a:lnSpc>
              <a:buNone/>
            </a:pPr>
            <a:r>
              <a:rPr lang="en-US" altLang="zh-CN" sz="2400"/>
              <a:t>   </a:t>
            </a:r>
            <a:r>
              <a:rPr lang="zh-CN" altLang="en-US" sz="2400"/>
              <a:t>（</a:t>
            </a:r>
            <a:r>
              <a:rPr lang="en-US" altLang="zh-CN" sz="2400"/>
              <a:t>1</a:t>
            </a:r>
            <a:r>
              <a:rPr lang="zh-CN" altLang="en-US" sz="2400"/>
              <a:t>）</a:t>
            </a:r>
            <a:r>
              <a:rPr lang="en-US" altLang="zh-CN" sz="2400"/>
              <a:t>T</a:t>
            </a:r>
            <a:r>
              <a:rPr lang="en-US" altLang="zh-CN" sz="2400" baseline="-25000"/>
              <a:t>1</a:t>
            </a:r>
            <a:r>
              <a:rPr lang="zh-CN" altLang="en-US" sz="2400"/>
              <a:t>状态。</a:t>
            </a:r>
            <a:r>
              <a:rPr lang="en-US" altLang="zh-CN" sz="2400"/>
              <a:t>CPU</a:t>
            </a:r>
            <a:r>
              <a:rPr lang="zh-CN" altLang="en-US" sz="2400"/>
              <a:t>向数据</a:t>
            </a:r>
            <a:r>
              <a:rPr lang="en-US" altLang="zh-CN" sz="2400"/>
              <a:t>/</a:t>
            </a:r>
            <a:r>
              <a:rPr lang="zh-CN" altLang="en-US" sz="2400"/>
              <a:t>地址复用总线上发出地址信息，以指出将要访问的内存单元地址或者外设端口地址。</a:t>
            </a:r>
          </a:p>
          <a:p>
            <a:pPr algn="just">
              <a:lnSpc>
                <a:spcPts val="3200"/>
              </a:lnSpc>
              <a:buNone/>
            </a:pPr>
            <a:r>
              <a:rPr lang="zh-CN" altLang="en-US" sz="2400"/>
              <a:t>   （</a:t>
            </a:r>
            <a:r>
              <a:rPr lang="en-US" altLang="zh-CN" sz="2400"/>
              <a:t>2</a:t>
            </a:r>
            <a:r>
              <a:rPr lang="zh-CN" altLang="en-US" sz="2400"/>
              <a:t>）</a:t>
            </a:r>
            <a:r>
              <a:rPr lang="en-US" altLang="zh-CN" sz="2400"/>
              <a:t>T</a:t>
            </a:r>
            <a:r>
              <a:rPr lang="en-US" altLang="zh-CN" sz="2400" baseline="-25000"/>
              <a:t>2</a:t>
            </a:r>
            <a:r>
              <a:rPr lang="zh-CN" altLang="en-US" sz="2400"/>
              <a:t>状态。</a:t>
            </a:r>
            <a:r>
              <a:rPr lang="en-US" altLang="zh-CN" sz="2400"/>
              <a:t>CPU</a:t>
            </a:r>
            <a:r>
              <a:rPr lang="zh-CN" altLang="en-US" sz="2400"/>
              <a:t>从复用总线上撤销地址信息，使总线的低</a:t>
            </a:r>
            <a:r>
              <a:rPr lang="en-US" altLang="zh-CN" sz="2400"/>
              <a:t>16</a:t>
            </a:r>
            <a:r>
              <a:rPr lang="zh-CN" altLang="en-US" sz="2400"/>
              <a:t>位悬空，置成高阻状态，为传输数据做准备。</a:t>
            </a:r>
          </a:p>
          <a:p>
            <a:pPr algn="just">
              <a:lnSpc>
                <a:spcPts val="3200"/>
              </a:lnSpc>
              <a:buNone/>
            </a:pPr>
            <a:r>
              <a:rPr lang="zh-CN" altLang="en-US" sz="2400"/>
              <a:t>   （</a:t>
            </a:r>
            <a:r>
              <a:rPr lang="en-US" altLang="zh-CN" sz="2400"/>
              <a:t>3</a:t>
            </a:r>
            <a:r>
              <a:rPr lang="zh-CN" altLang="en-US" sz="2400"/>
              <a:t>）</a:t>
            </a:r>
            <a:r>
              <a:rPr lang="en-US" altLang="zh-CN" sz="2400"/>
              <a:t>T</a:t>
            </a:r>
            <a:r>
              <a:rPr lang="en-US" altLang="zh-CN" sz="2400" baseline="-25000"/>
              <a:t>3</a:t>
            </a:r>
            <a:r>
              <a:rPr lang="zh-CN" altLang="en-US" sz="2400"/>
              <a:t>状态。</a:t>
            </a:r>
            <a:r>
              <a:rPr lang="en-US" altLang="zh-CN" sz="2400"/>
              <a:t>16</a:t>
            </a:r>
            <a:r>
              <a:rPr lang="zh-CN" altLang="en-US" sz="2400"/>
              <a:t>位的地址</a:t>
            </a:r>
            <a:r>
              <a:rPr lang="en-US" altLang="zh-CN" sz="2400"/>
              <a:t>/</a:t>
            </a:r>
            <a:r>
              <a:rPr lang="zh-CN" altLang="en-US" sz="2400"/>
              <a:t>数据总线上出现</a:t>
            </a:r>
            <a:r>
              <a:rPr lang="en-US" altLang="zh-CN" sz="2400"/>
              <a:t>CPU</a:t>
            </a:r>
            <a:r>
              <a:rPr lang="zh-CN" altLang="en-US" sz="2400"/>
              <a:t>要送出的数据信息或者</a:t>
            </a:r>
            <a:r>
              <a:rPr lang="en-US" altLang="zh-CN" sz="2400"/>
              <a:t>CPU</a:t>
            </a:r>
            <a:r>
              <a:rPr lang="zh-CN" altLang="en-US" sz="2400"/>
              <a:t>从外设中读入的数据信息。</a:t>
            </a:r>
          </a:p>
          <a:p>
            <a:pPr algn="just">
              <a:lnSpc>
                <a:spcPts val="3200"/>
              </a:lnSpc>
              <a:buNone/>
            </a:pPr>
            <a:r>
              <a:rPr lang="zh-CN" altLang="en-US" sz="2400"/>
              <a:t>   （</a:t>
            </a:r>
            <a:r>
              <a:rPr lang="en-US" altLang="zh-CN" sz="2400"/>
              <a:t>4</a:t>
            </a:r>
            <a:r>
              <a:rPr lang="zh-CN" altLang="en-US" sz="2400"/>
              <a:t>）</a:t>
            </a:r>
            <a:r>
              <a:rPr lang="en-US" altLang="zh-CN" sz="2400"/>
              <a:t>T</a:t>
            </a:r>
            <a:r>
              <a:rPr lang="en-US" altLang="zh-CN" sz="2400" baseline="-25000"/>
              <a:t>4</a:t>
            </a:r>
            <a:r>
              <a:rPr lang="zh-CN" altLang="en-US" sz="2400"/>
              <a:t>状态。</a:t>
            </a:r>
            <a:r>
              <a:rPr lang="en-US" altLang="zh-CN" sz="2400"/>
              <a:t>CPU</a:t>
            </a:r>
            <a:r>
              <a:rPr lang="zh-CN" altLang="en-US" sz="2400"/>
              <a:t>和存储器或</a:t>
            </a:r>
            <a:r>
              <a:rPr lang="en-US" altLang="zh-CN" sz="2400"/>
              <a:t>I/O</a:t>
            </a:r>
            <a:r>
              <a:rPr lang="zh-CN" altLang="en-US" sz="2400"/>
              <a:t>端口进行数据传送，直至完成为止，并为下一个总线周期做准备。</a:t>
            </a:r>
          </a:p>
          <a:p>
            <a:pPr algn="just">
              <a:lnSpc>
                <a:spcPts val="3200"/>
              </a:lnSpc>
              <a:buNone/>
            </a:pPr>
            <a:r>
              <a:rPr lang="zh-CN" altLang="en-US" sz="2400"/>
              <a:t>   （</a:t>
            </a:r>
            <a:r>
              <a:rPr lang="en-US" altLang="zh-CN" sz="2400"/>
              <a:t>5</a:t>
            </a:r>
            <a:r>
              <a:rPr lang="zh-CN" altLang="en-US" sz="2400"/>
              <a:t>）</a:t>
            </a:r>
            <a:r>
              <a:rPr lang="en-US" altLang="zh-CN" sz="2400"/>
              <a:t>T</a:t>
            </a:r>
            <a:r>
              <a:rPr lang="en-US" altLang="zh-CN" sz="2400" baseline="-25000"/>
              <a:t>W</a:t>
            </a:r>
            <a:r>
              <a:rPr lang="zh-CN" altLang="en-US" sz="2400"/>
              <a:t>状态。在某些情况下，外设或存储器速度较慢，不能及时配合</a:t>
            </a:r>
            <a:r>
              <a:rPr lang="en-US" altLang="zh-CN" sz="2400"/>
              <a:t>CPU</a:t>
            </a:r>
            <a:r>
              <a:rPr lang="zh-CN" altLang="en-US" sz="2400"/>
              <a:t>传送数据。为了防止数据丢失，在总线周期的</a:t>
            </a:r>
            <a:r>
              <a:rPr lang="en-US" altLang="zh-CN" sz="2400"/>
              <a:t>T3</a:t>
            </a:r>
            <a:r>
              <a:rPr lang="zh-CN" altLang="en-US" sz="2400"/>
              <a:t>和</a:t>
            </a:r>
            <a:r>
              <a:rPr lang="en-US" altLang="zh-CN" sz="2400"/>
              <a:t>T4</a:t>
            </a:r>
            <a:r>
              <a:rPr lang="zh-CN" altLang="en-US" sz="2400"/>
              <a:t>状态之间插入一些必要的等待状态</a:t>
            </a:r>
            <a:r>
              <a:rPr lang="en-US" altLang="zh-CN" sz="2400"/>
              <a:t>TW</a:t>
            </a:r>
            <a:r>
              <a:rPr lang="zh-CN" altLang="en-US" sz="2400"/>
              <a:t>。</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的引脚信号</a:t>
            </a:r>
          </a:p>
        </p:txBody>
      </p:sp>
      <p:sp>
        <p:nvSpPr>
          <p:cNvPr id="2662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26627" name="内容占位符 4"/>
          <p:cNvSpPr>
            <a:spLocks noGrp="1"/>
          </p:cNvSpPr>
          <p:nvPr>
            <p:ph idx="1"/>
          </p:nvPr>
        </p:nvSpPr>
        <p:spPr>
          <a:xfrm>
            <a:off x="150813" y="1304925"/>
            <a:ext cx="8513762" cy="2078038"/>
          </a:xfrm>
          <a:ln/>
        </p:spPr>
        <p:txBody>
          <a:bodyPr wrap="square" lIns="92075" tIns="46038" rIns="92075" bIns="46038" anchor="t" anchorCtr="0"/>
          <a:lstStyle/>
          <a:p>
            <a:pPr algn="just" eaLnBrk="1" hangingPunct="1">
              <a:buNone/>
            </a:pPr>
            <a:r>
              <a:rPr lang="en-US" altLang="zh-CN" sz="2400" dirty="0"/>
              <a:t>             8086/8088 CPU</a:t>
            </a:r>
            <a:r>
              <a:rPr lang="zh-CN" altLang="zh-CN" sz="2400" dirty="0"/>
              <a:t>具有</a:t>
            </a:r>
            <a:r>
              <a:rPr lang="en-US" altLang="zh-CN" sz="2400" dirty="0"/>
              <a:t>40</a:t>
            </a:r>
            <a:r>
              <a:rPr lang="zh-CN" altLang="zh-CN" sz="2400" dirty="0"/>
              <a:t>个引脚，采用双列直插式封装形式。为了减少芯片引脚的数目，</a:t>
            </a:r>
            <a:r>
              <a:rPr lang="en-US" altLang="zh-CN" sz="2400" dirty="0"/>
              <a:t>8086/8088 CPU</a:t>
            </a:r>
            <a:r>
              <a:rPr lang="zh-CN" altLang="zh-CN" sz="2400" dirty="0"/>
              <a:t>采用了分时复用的地址</a:t>
            </a:r>
            <a:r>
              <a:rPr lang="en-US" altLang="zh-CN" sz="2400" dirty="0"/>
              <a:t>/</a:t>
            </a:r>
            <a:r>
              <a:rPr lang="zh-CN" altLang="zh-CN" sz="2400" dirty="0"/>
              <a:t>数据总线。正是由于使用这种分时复用的方法才使得</a:t>
            </a:r>
            <a:r>
              <a:rPr lang="en-US" altLang="zh-CN" sz="2400" dirty="0"/>
              <a:t>8086/8088 CPU</a:t>
            </a:r>
            <a:r>
              <a:rPr lang="zh-CN" altLang="zh-CN" sz="2400" dirty="0"/>
              <a:t>可用</a:t>
            </a:r>
            <a:r>
              <a:rPr lang="en-US" altLang="zh-CN" sz="2400" dirty="0"/>
              <a:t>40</a:t>
            </a:r>
            <a:r>
              <a:rPr lang="zh-CN" altLang="zh-CN" sz="2400" dirty="0"/>
              <a:t>个引脚实现</a:t>
            </a:r>
            <a:r>
              <a:rPr lang="en-US" altLang="zh-CN" sz="2400" dirty="0"/>
              <a:t>20</a:t>
            </a:r>
            <a:r>
              <a:rPr lang="zh-CN" altLang="zh-CN" sz="2400" dirty="0"/>
              <a:t>位地址、</a:t>
            </a:r>
            <a:r>
              <a:rPr lang="en-US" altLang="zh-CN" sz="2400" dirty="0"/>
              <a:t>16</a:t>
            </a:r>
            <a:r>
              <a:rPr lang="zh-CN" altLang="zh-CN" sz="2400" dirty="0"/>
              <a:t>位数据及许多控制信号和状态信号的传输。</a:t>
            </a:r>
          </a:p>
        </p:txBody>
      </p:sp>
      <p:pic>
        <p:nvPicPr>
          <p:cNvPr id="26628" name="图片 6" descr="8088.JPG"/>
          <p:cNvPicPr>
            <a:picLocks noChangeAspect="1"/>
          </p:cNvPicPr>
          <p:nvPr/>
        </p:nvPicPr>
        <p:blipFill>
          <a:blip r:embed="rId4"/>
          <a:stretch>
            <a:fillRect/>
          </a:stretch>
        </p:blipFill>
        <p:spPr>
          <a:xfrm>
            <a:off x="754063" y="3232150"/>
            <a:ext cx="7620000" cy="3563938"/>
          </a:xfrm>
          <a:prstGeom prst="rect">
            <a:avLst/>
          </a:prstGeom>
          <a:noFill/>
          <a:ln w="9525">
            <a:noFill/>
          </a:ln>
        </p:spPr>
      </p:pic>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983288"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8086/8088</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的工作方式</a:t>
            </a:r>
          </a:p>
        </p:txBody>
      </p:sp>
      <p:sp>
        <p:nvSpPr>
          <p:cNvPr id="286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28675" name="内容占位符 4"/>
          <p:cNvSpPr>
            <a:spLocks noGrp="1"/>
          </p:cNvSpPr>
          <p:nvPr>
            <p:ph idx="1"/>
          </p:nvPr>
        </p:nvSpPr>
        <p:spPr>
          <a:xfrm>
            <a:off x="257175" y="1633538"/>
            <a:ext cx="8513763" cy="4935537"/>
          </a:xfrm>
          <a:ln/>
        </p:spPr>
        <p:txBody>
          <a:bodyPr wrap="square" lIns="92075" tIns="46038" rIns="92075" bIns="46038" anchor="t" anchorCtr="0"/>
          <a:lstStyle/>
          <a:p>
            <a:pPr algn="just" eaLnBrk="1" hangingPunct="1">
              <a:buNone/>
            </a:pPr>
            <a:r>
              <a:rPr lang="en-US" altLang="zh-CN" sz="2400" dirty="0"/>
              <a:t>     8086/8088 CPU</a:t>
            </a:r>
            <a:r>
              <a:rPr lang="zh-CN" altLang="zh-CN" sz="2400" dirty="0"/>
              <a:t>有两种工作方式：</a:t>
            </a:r>
          </a:p>
          <a:p>
            <a:pPr algn="just" eaLnBrk="1" hangingPunct="1">
              <a:buNone/>
            </a:pPr>
            <a:r>
              <a:rPr lang="en-US" altLang="zh-CN" sz="2400" dirty="0"/>
              <a:t>             </a:t>
            </a:r>
            <a:r>
              <a:rPr lang="zh-CN" altLang="zh-CN" sz="2400" dirty="0"/>
              <a:t>最小方式指系统中只有</a:t>
            </a:r>
            <a:r>
              <a:rPr lang="en-US" altLang="zh-CN" sz="2400" dirty="0"/>
              <a:t>8086/8088</a:t>
            </a:r>
            <a:r>
              <a:rPr lang="zh-CN" altLang="zh-CN" sz="2400" dirty="0"/>
              <a:t>一个微处理器。在这种系统中，</a:t>
            </a:r>
            <a:r>
              <a:rPr lang="en-US" altLang="zh-CN" sz="2400" dirty="0"/>
              <a:t>8086/8088 CPU</a:t>
            </a:r>
            <a:r>
              <a:rPr lang="zh-CN" altLang="zh-CN" sz="2400" dirty="0"/>
              <a:t>直接产生所有的总线控制信号，系统所需的外加总线控制逻辑部件最少。</a:t>
            </a:r>
          </a:p>
          <a:p>
            <a:pPr algn="just" eaLnBrk="1" hangingPunct="1">
              <a:buNone/>
            </a:pPr>
            <a:r>
              <a:rPr lang="en-US" altLang="zh-CN" sz="2400" dirty="0"/>
              <a:t>             </a:t>
            </a:r>
            <a:r>
              <a:rPr lang="zh-CN" altLang="zh-CN" sz="2400" dirty="0"/>
              <a:t>最大方式指系统中含有两个或多个微处理器，其中一个为主处理器</a:t>
            </a:r>
            <a:r>
              <a:rPr lang="en-US" altLang="zh-CN" sz="2400" dirty="0"/>
              <a:t>8086/8088 CPU</a:t>
            </a:r>
            <a:r>
              <a:rPr lang="zh-CN" altLang="zh-CN" sz="2400" dirty="0"/>
              <a:t>，其他的称为协处理器，它们是协同主处理器来工作的。和</a:t>
            </a:r>
            <a:r>
              <a:rPr lang="en-US" altLang="zh-CN" sz="2400" dirty="0"/>
              <a:t>8086/8088</a:t>
            </a:r>
            <a:r>
              <a:rPr lang="zh-CN" altLang="zh-CN" sz="2400" dirty="0"/>
              <a:t>相配的协处理器有两个：一个是专用数值运算的协处理器</a:t>
            </a:r>
            <a:r>
              <a:rPr lang="en-US" altLang="zh-CN" sz="2400" dirty="0"/>
              <a:t>8087</a:t>
            </a:r>
            <a:r>
              <a:rPr lang="zh-CN" altLang="zh-CN" sz="2400" dirty="0"/>
              <a:t>，系统中有了此协处理器后会大幅度提高系统数值的运算速度。另一个是专用于输入</a:t>
            </a:r>
            <a:r>
              <a:rPr lang="en-US" altLang="zh-CN" sz="2400" dirty="0"/>
              <a:t>/</a:t>
            </a:r>
            <a:r>
              <a:rPr lang="zh-CN" altLang="zh-CN" sz="2400" dirty="0"/>
              <a:t>输出操作的协处理器</a:t>
            </a:r>
            <a:r>
              <a:rPr lang="en-US" altLang="zh-CN" sz="2400" dirty="0"/>
              <a:t>8089</a:t>
            </a:r>
            <a:r>
              <a:rPr lang="zh-CN" altLang="zh-CN" sz="2400" dirty="0"/>
              <a:t>，系统中加入</a:t>
            </a:r>
            <a:r>
              <a:rPr lang="en-US" altLang="zh-CN" sz="2400" dirty="0"/>
              <a:t>8089</a:t>
            </a:r>
            <a:r>
              <a:rPr lang="zh-CN" altLang="zh-CN" sz="2400" dirty="0"/>
              <a:t>后会提高主处理器的效率，大大减少输入</a:t>
            </a:r>
            <a:r>
              <a:rPr lang="en-US" altLang="zh-CN" sz="2400" dirty="0"/>
              <a:t>/</a:t>
            </a:r>
            <a:r>
              <a:rPr lang="zh-CN" altLang="zh-CN" sz="2400" dirty="0"/>
              <a:t>输出操作占用主处理器的时间。在最大模式下工作时，控制信号是通过</a:t>
            </a:r>
            <a:r>
              <a:rPr lang="en-US" altLang="zh-CN" sz="2400" dirty="0"/>
              <a:t>8288</a:t>
            </a:r>
            <a:r>
              <a:rPr lang="zh-CN" altLang="zh-CN" sz="2400" dirty="0"/>
              <a:t>总线控制器提供的。</a:t>
            </a: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文本占位符 193537"/>
          <p:cNvSpPr>
            <a:spLocks noGrp="1"/>
          </p:cNvSpPr>
          <p:nvPr>
            <p:ph idx="1"/>
          </p:nvPr>
        </p:nvSpPr>
        <p:spPr>
          <a:xfrm>
            <a:off x="304800" y="571500"/>
            <a:ext cx="5562600" cy="685800"/>
          </a:xfrm>
          <a:ln/>
        </p:spPr>
        <p:txBody>
          <a:bodyPr wrap="square" lIns="91440" tIns="45720" rIns="91440" bIns="45720" anchor="t" anchorCtr="0"/>
          <a:lstStyle/>
          <a:p>
            <a:pPr>
              <a:spcBef>
                <a:spcPct val="0"/>
              </a:spcBef>
              <a:buNone/>
            </a:pPr>
            <a:r>
              <a:rPr lang="en-US" altLang="zh-CN">
                <a:ea typeface="楷体_GB2312" pitchFamily="49" charset="-122"/>
                <a:sym typeface="宋体" panose="02010600030101010101" pitchFamily="2" charset="-122"/>
              </a:rPr>
              <a:t>1.</a:t>
            </a:r>
            <a:r>
              <a:rPr lang="zh-CN" altLang="en-US" dirty="0">
                <a:ea typeface="楷体_GB2312" pitchFamily="49" charset="-122"/>
                <a:sym typeface="宋体" panose="02010600030101010101" pitchFamily="2" charset="-122"/>
              </a:rPr>
              <a:t>最小模式系统组成</a:t>
            </a:r>
            <a:endParaRPr lang="zh-CN" altLang="en-US" dirty="0">
              <a:solidFill>
                <a:srgbClr val="FFFF00"/>
              </a:solidFill>
              <a:ea typeface="楷体_GB2312" pitchFamily="49" charset="-122"/>
            </a:endParaRPr>
          </a:p>
        </p:txBody>
      </p:sp>
      <p:pic>
        <p:nvPicPr>
          <p:cNvPr id="30722" name="图片 134" descr="1"/>
          <p:cNvPicPr>
            <a:picLocks noChangeAspect="1"/>
          </p:cNvPicPr>
          <p:nvPr/>
        </p:nvPicPr>
        <p:blipFill>
          <a:blip r:embed="rId3"/>
          <a:stretch>
            <a:fillRect/>
          </a:stretch>
        </p:blipFill>
        <p:spPr>
          <a:xfrm>
            <a:off x="304800" y="1352550"/>
            <a:ext cx="8529638" cy="5362575"/>
          </a:xfrm>
          <a:prstGeom prst="rect">
            <a:avLst/>
          </a:prstGeom>
          <a:noFill/>
          <a:ln w="9525">
            <a:noFill/>
          </a:ln>
        </p:spPr>
      </p:pic>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60000"/>
            <a:lumOff val="40000"/>
          </a:schemeClr>
        </a:solidFill>
        <a:effectLst/>
      </p:bgPr>
    </p:bg>
    <p:spTree>
      <p:nvGrpSpPr>
        <p:cNvPr id="1" name=""/>
        <p:cNvGrpSpPr/>
        <p:nvPr/>
      </p:nvGrpSpPr>
      <p:grpSpPr>
        <a:xfrm>
          <a:off x="0" y="0"/>
          <a:ext cx="0" cy="0"/>
          <a:chOff x="0" y="0"/>
          <a:chExt cx="0" cy="0"/>
        </a:xfrm>
      </p:grpSpPr>
      <p:sp>
        <p:nvSpPr>
          <p:cNvPr id="32769"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2770" name="标题 133"/>
          <p:cNvSpPr>
            <a:spLocks noGrp="1"/>
          </p:cNvSpPr>
          <p:nvPr>
            <p:ph type="title"/>
          </p:nvPr>
        </p:nvSpPr>
        <p:spPr>
          <a:ln/>
        </p:spPr>
        <p:txBody>
          <a:bodyPr wrap="square" lIns="92075" tIns="46038" rIns="92075" bIns="46038" anchor="ctr" anchorCtr="0"/>
          <a:lstStyle/>
          <a:p>
            <a:r>
              <a:rPr lang="en-US" altLang="zh-CN" sz="2800">
                <a:solidFill>
                  <a:schemeClr val="tx1"/>
                </a:solidFill>
                <a:ea typeface="楷体_GB2312" pitchFamily="49" charset="-122"/>
              </a:rPr>
              <a:t>2.</a:t>
            </a:r>
            <a:r>
              <a:rPr lang="zh-CN" altLang="en-US" sz="2800" dirty="0">
                <a:solidFill>
                  <a:schemeClr val="tx1"/>
                </a:solidFill>
                <a:ea typeface="楷体_GB2312" pitchFamily="49" charset="-122"/>
              </a:rPr>
              <a:t>最大模式系统组成</a:t>
            </a:r>
          </a:p>
        </p:txBody>
      </p:sp>
      <p:grpSp>
        <p:nvGrpSpPr>
          <p:cNvPr id="32771" name="组合 224259"/>
          <p:cNvGrpSpPr/>
          <p:nvPr/>
        </p:nvGrpSpPr>
        <p:grpSpPr>
          <a:xfrm>
            <a:off x="900113" y="1165225"/>
            <a:ext cx="6696075" cy="5645150"/>
            <a:chOff x="864" y="288"/>
            <a:chExt cx="4407" cy="3715"/>
          </a:xfrm>
        </p:grpSpPr>
        <p:sp>
          <p:nvSpPr>
            <p:cNvPr id="32772" name="文本框 224260"/>
            <p:cNvSpPr txBox="1"/>
            <p:nvPr/>
          </p:nvSpPr>
          <p:spPr>
            <a:xfrm>
              <a:off x="4696" y="2033"/>
              <a:ext cx="575"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BHE</a:t>
              </a:r>
            </a:p>
          </p:txBody>
        </p:sp>
        <p:sp>
          <p:nvSpPr>
            <p:cNvPr id="32773" name="直接连接符 224261"/>
            <p:cNvSpPr/>
            <p:nvPr/>
          </p:nvSpPr>
          <p:spPr>
            <a:xfrm>
              <a:off x="3808" y="2836"/>
              <a:ext cx="17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74" name="直接连接符 224262"/>
            <p:cNvSpPr/>
            <p:nvPr/>
          </p:nvSpPr>
          <p:spPr>
            <a:xfrm>
              <a:off x="3808" y="2836"/>
              <a:ext cx="0" cy="9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75" name="直接连接符 224263"/>
            <p:cNvSpPr/>
            <p:nvPr/>
          </p:nvSpPr>
          <p:spPr>
            <a:xfrm>
              <a:off x="3750" y="2935"/>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76" name="矩形 224264"/>
            <p:cNvSpPr/>
            <p:nvPr/>
          </p:nvSpPr>
          <p:spPr>
            <a:xfrm>
              <a:off x="1493" y="1301"/>
              <a:ext cx="460" cy="38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77" name="矩形 224265"/>
            <p:cNvSpPr/>
            <p:nvPr/>
          </p:nvSpPr>
          <p:spPr>
            <a:xfrm>
              <a:off x="3885" y="599"/>
              <a:ext cx="736" cy="109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78" name="直接连接符 224266"/>
            <p:cNvSpPr/>
            <p:nvPr/>
          </p:nvSpPr>
          <p:spPr>
            <a:xfrm>
              <a:off x="4621" y="687"/>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79" name="直接连接符 224267"/>
            <p:cNvSpPr/>
            <p:nvPr/>
          </p:nvSpPr>
          <p:spPr>
            <a:xfrm>
              <a:off x="4621" y="843"/>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0" name="直接连接符 224268"/>
            <p:cNvSpPr/>
            <p:nvPr/>
          </p:nvSpPr>
          <p:spPr>
            <a:xfrm>
              <a:off x="4621" y="999"/>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1" name="直接连接符 224269"/>
            <p:cNvSpPr/>
            <p:nvPr/>
          </p:nvSpPr>
          <p:spPr>
            <a:xfrm>
              <a:off x="4621" y="1145"/>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2" name="直接连接符 224270"/>
            <p:cNvSpPr/>
            <p:nvPr/>
          </p:nvSpPr>
          <p:spPr>
            <a:xfrm>
              <a:off x="4621" y="1301"/>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3" name="直接连接符 224271"/>
            <p:cNvSpPr/>
            <p:nvPr/>
          </p:nvSpPr>
          <p:spPr>
            <a:xfrm>
              <a:off x="4621" y="1456"/>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4" name="直接连接符 224272"/>
            <p:cNvSpPr/>
            <p:nvPr/>
          </p:nvSpPr>
          <p:spPr>
            <a:xfrm>
              <a:off x="4621" y="1612"/>
              <a:ext cx="460" cy="0"/>
            </a:xfrm>
            <a:prstGeom prst="line">
              <a:avLst/>
            </a:prstGeom>
            <a:ln w="9525" cap="flat" cmpd="sng">
              <a:solidFill>
                <a:schemeClr val="tx1"/>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85" name="矩形 224273"/>
            <p:cNvSpPr/>
            <p:nvPr/>
          </p:nvSpPr>
          <p:spPr>
            <a:xfrm>
              <a:off x="2229" y="521"/>
              <a:ext cx="1196" cy="34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86" name="矩形 224274"/>
            <p:cNvSpPr/>
            <p:nvPr/>
          </p:nvSpPr>
          <p:spPr>
            <a:xfrm>
              <a:off x="1493" y="599"/>
              <a:ext cx="4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87" name="矩形 224275"/>
            <p:cNvSpPr/>
            <p:nvPr/>
          </p:nvSpPr>
          <p:spPr>
            <a:xfrm>
              <a:off x="4161" y="2001"/>
              <a:ext cx="552" cy="77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788" name="矩形 224276"/>
            <p:cNvSpPr/>
            <p:nvPr/>
          </p:nvSpPr>
          <p:spPr>
            <a:xfrm>
              <a:off x="4069" y="2079"/>
              <a:ext cx="552" cy="77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789" name="矩形 224277"/>
            <p:cNvSpPr/>
            <p:nvPr/>
          </p:nvSpPr>
          <p:spPr>
            <a:xfrm>
              <a:off x="3989" y="2157"/>
              <a:ext cx="552" cy="77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90" name="矩形 224278"/>
            <p:cNvSpPr/>
            <p:nvPr/>
          </p:nvSpPr>
          <p:spPr>
            <a:xfrm>
              <a:off x="3977" y="3013"/>
              <a:ext cx="4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791" name="矩形 224279"/>
            <p:cNvSpPr/>
            <p:nvPr/>
          </p:nvSpPr>
          <p:spPr>
            <a:xfrm>
              <a:off x="3885" y="3092"/>
              <a:ext cx="460"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sz="1400" dirty="0">
                <a:solidFill>
                  <a:schemeClr val="bg2"/>
                </a:solidFill>
                <a:latin typeface="Times New Roman" panose="02020603050405020304" pitchFamily="18" charset="0"/>
                <a:ea typeface="宋体" panose="02010600030101010101" pitchFamily="2" charset="-122"/>
              </a:endParaRPr>
            </a:p>
          </p:txBody>
        </p:sp>
        <p:sp>
          <p:nvSpPr>
            <p:cNvPr id="32792" name="直接连接符 224280"/>
            <p:cNvSpPr/>
            <p:nvPr/>
          </p:nvSpPr>
          <p:spPr>
            <a:xfrm>
              <a:off x="4721" y="2235"/>
              <a:ext cx="368"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3" name="直接连接符 224281"/>
            <p:cNvSpPr/>
            <p:nvPr/>
          </p:nvSpPr>
          <p:spPr>
            <a:xfrm>
              <a:off x="3425" y="2379"/>
              <a:ext cx="552"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4" name="直接连接符 224282"/>
            <p:cNvSpPr/>
            <p:nvPr/>
          </p:nvSpPr>
          <p:spPr>
            <a:xfrm>
              <a:off x="3425" y="755"/>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5" name="直接连接符 224283"/>
            <p:cNvSpPr/>
            <p:nvPr/>
          </p:nvSpPr>
          <p:spPr>
            <a:xfrm>
              <a:off x="3425" y="911"/>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6" name="直接连接符 224284"/>
            <p:cNvSpPr/>
            <p:nvPr/>
          </p:nvSpPr>
          <p:spPr>
            <a:xfrm>
              <a:off x="3425" y="1067"/>
              <a:ext cx="460"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7" name="直接连接符 224285"/>
            <p:cNvSpPr/>
            <p:nvPr/>
          </p:nvSpPr>
          <p:spPr>
            <a:xfrm>
              <a:off x="1953" y="677"/>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8" name="直接连接符 224286"/>
            <p:cNvSpPr/>
            <p:nvPr/>
          </p:nvSpPr>
          <p:spPr>
            <a:xfrm>
              <a:off x="1953" y="793"/>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799" name="直接连接符 224287"/>
            <p:cNvSpPr/>
            <p:nvPr/>
          </p:nvSpPr>
          <p:spPr>
            <a:xfrm>
              <a:off x="1953" y="911"/>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0" name="直接连接符 224288"/>
            <p:cNvSpPr/>
            <p:nvPr/>
          </p:nvSpPr>
          <p:spPr>
            <a:xfrm flipV="1">
              <a:off x="2045" y="444"/>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1" name="直接连接符 224289"/>
            <p:cNvSpPr/>
            <p:nvPr/>
          </p:nvSpPr>
          <p:spPr>
            <a:xfrm>
              <a:off x="2045" y="444"/>
              <a:ext cx="220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2" name="直接连接符 224290"/>
            <p:cNvSpPr/>
            <p:nvPr/>
          </p:nvSpPr>
          <p:spPr>
            <a:xfrm>
              <a:off x="4255" y="444"/>
              <a:ext cx="0" cy="155"/>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3" name="直接连接符 224291"/>
            <p:cNvSpPr/>
            <p:nvPr/>
          </p:nvSpPr>
          <p:spPr>
            <a:xfrm flipH="1">
              <a:off x="3517" y="1301"/>
              <a:ext cx="36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4" name="直接连接符 224292"/>
            <p:cNvSpPr/>
            <p:nvPr/>
          </p:nvSpPr>
          <p:spPr>
            <a:xfrm flipH="1">
              <a:off x="3609" y="1416"/>
              <a:ext cx="276"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5" name="直接连接符 224293"/>
            <p:cNvSpPr/>
            <p:nvPr/>
          </p:nvSpPr>
          <p:spPr>
            <a:xfrm flipH="1">
              <a:off x="3719" y="1534"/>
              <a:ext cx="16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6" name="直接连接符 224294"/>
            <p:cNvSpPr/>
            <p:nvPr/>
          </p:nvSpPr>
          <p:spPr>
            <a:xfrm>
              <a:off x="3709" y="1534"/>
              <a:ext cx="0" cy="71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7" name="直接连接符 224295"/>
            <p:cNvSpPr/>
            <p:nvPr/>
          </p:nvSpPr>
          <p:spPr>
            <a:xfrm>
              <a:off x="3517" y="1310"/>
              <a:ext cx="0" cy="233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8" name="直接连接符 224296"/>
            <p:cNvSpPr/>
            <p:nvPr/>
          </p:nvSpPr>
          <p:spPr>
            <a:xfrm>
              <a:off x="3609" y="1416"/>
              <a:ext cx="0" cy="2049"/>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09" name="直接连接符 224297"/>
            <p:cNvSpPr/>
            <p:nvPr/>
          </p:nvSpPr>
          <p:spPr>
            <a:xfrm>
              <a:off x="3609" y="3481"/>
              <a:ext cx="27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0" name="直接连接符 224298"/>
            <p:cNvSpPr/>
            <p:nvPr/>
          </p:nvSpPr>
          <p:spPr>
            <a:xfrm flipH="1">
              <a:off x="1861" y="2469"/>
              <a:ext cx="368"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1" name="直接连接符 224299"/>
            <p:cNvSpPr/>
            <p:nvPr/>
          </p:nvSpPr>
          <p:spPr>
            <a:xfrm>
              <a:off x="1861" y="2469"/>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2" name="直接连接符 224300"/>
            <p:cNvSpPr/>
            <p:nvPr/>
          </p:nvSpPr>
          <p:spPr>
            <a:xfrm>
              <a:off x="1769" y="2702"/>
              <a:ext cx="184"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3" name="直接连接符 224301"/>
            <p:cNvSpPr/>
            <p:nvPr/>
          </p:nvSpPr>
          <p:spPr>
            <a:xfrm flipV="1">
              <a:off x="1731" y="1067"/>
              <a:ext cx="0" cy="234"/>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4" name="直接连接符 224302"/>
            <p:cNvSpPr/>
            <p:nvPr/>
          </p:nvSpPr>
          <p:spPr>
            <a:xfrm flipV="1">
              <a:off x="1585" y="366"/>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5" name="直接连接符 224303"/>
            <p:cNvSpPr/>
            <p:nvPr/>
          </p:nvSpPr>
          <p:spPr>
            <a:xfrm flipV="1">
              <a:off x="1861" y="366"/>
              <a:ext cx="0" cy="233"/>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6" name="直接连接符 224304"/>
            <p:cNvSpPr/>
            <p:nvPr/>
          </p:nvSpPr>
          <p:spPr>
            <a:xfrm>
              <a:off x="1585" y="366"/>
              <a:ext cx="9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7" name="直接连接符 224305"/>
            <p:cNvSpPr/>
            <p:nvPr/>
          </p:nvSpPr>
          <p:spPr>
            <a:xfrm flipH="1">
              <a:off x="1769" y="366"/>
              <a:ext cx="9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8" name="直接连接符 224306"/>
            <p:cNvSpPr/>
            <p:nvPr/>
          </p:nvSpPr>
          <p:spPr>
            <a:xfrm>
              <a:off x="1677" y="288"/>
              <a:ext cx="0" cy="15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19" name="直接连接符 224307"/>
            <p:cNvSpPr/>
            <p:nvPr/>
          </p:nvSpPr>
          <p:spPr>
            <a:xfrm>
              <a:off x="1769" y="288"/>
              <a:ext cx="0" cy="156"/>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20" name="矩形 224308"/>
            <p:cNvSpPr/>
            <p:nvPr/>
          </p:nvSpPr>
          <p:spPr>
            <a:xfrm>
              <a:off x="3644" y="3552"/>
              <a:ext cx="115" cy="19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1" name="直接连接符 224309"/>
            <p:cNvSpPr/>
            <p:nvPr/>
          </p:nvSpPr>
          <p:spPr>
            <a:xfrm>
              <a:off x="3759" y="3651"/>
              <a:ext cx="123"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22" name="椭圆 224310"/>
            <p:cNvSpPr/>
            <p:nvPr/>
          </p:nvSpPr>
          <p:spPr>
            <a:xfrm>
              <a:off x="3605" y="3632"/>
              <a:ext cx="33" cy="4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3" name="直接连接符 224311"/>
            <p:cNvSpPr/>
            <p:nvPr/>
          </p:nvSpPr>
          <p:spPr>
            <a:xfrm>
              <a:off x="3519" y="3661"/>
              <a:ext cx="80"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24" name="直接连接符 224312"/>
            <p:cNvSpPr/>
            <p:nvPr/>
          </p:nvSpPr>
          <p:spPr>
            <a:xfrm>
              <a:off x="3713" y="2247"/>
              <a:ext cx="271"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25" name="左右箭头 224313"/>
            <p:cNvSpPr/>
            <p:nvPr/>
          </p:nvSpPr>
          <p:spPr>
            <a:xfrm>
              <a:off x="3414" y="2464"/>
              <a:ext cx="561" cy="234"/>
            </a:xfrm>
            <a:prstGeom prst="leftRightArrow">
              <a:avLst>
                <a:gd name="adj1" fmla="val 50000"/>
                <a:gd name="adj2" fmla="val 47871"/>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6" name="矩形 224314"/>
            <p:cNvSpPr/>
            <p:nvPr/>
          </p:nvSpPr>
          <p:spPr>
            <a:xfrm>
              <a:off x="3644" y="2643"/>
              <a:ext cx="115" cy="593"/>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7" name="右箭头 224315"/>
            <p:cNvSpPr/>
            <p:nvPr/>
          </p:nvSpPr>
          <p:spPr>
            <a:xfrm>
              <a:off x="3644" y="3147"/>
              <a:ext cx="230" cy="198"/>
            </a:xfrm>
            <a:prstGeom prst="rightArrow">
              <a:avLst>
                <a:gd name="adj1" fmla="val 50000"/>
                <a:gd name="adj2" fmla="val 29002"/>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8" name="左右箭头 224316"/>
            <p:cNvSpPr/>
            <p:nvPr/>
          </p:nvSpPr>
          <p:spPr>
            <a:xfrm>
              <a:off x="3423" y="3769"/>
              <a:ext cx="1496" cy="234"/>
            </a:xfrm>
            <a:prstGeom prst="leftRightArrow">
              <a:avLst>
                <a:gd name="adj1" fmla="val 50000"/>
                <a:gd name="adj2" fmla="val 127656"/>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29" name="左右箭头 224317"/>
            <p:cNvSpPr/>
            <p:nvPr/>
          </p:nvSpPr>
          <p:spPr>
            <a:xfrm>
              <a:off x="4439" y="3191"/>
              <a:ext cx="562" cy="234"/>
            </a:xfrm>
            <a:prstGeom prst="leftRightArrow">
              <a:avLst>
                <a:gd name="adj1" fmla="val 50000"/>
                <a:gd name="adj2" fmla="val 47956"/>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30" name="右箭头 224318"/>
            <p:cNvSpPr/>
            <p:nvPr/>
          </p:nvSpPr>
          <p:spPr>
            <a:xfrm>
              <a:off x="4719" y="2464"/>
              <a:ext cx="388" cy="263"/>
            </a:xfrm>
            <a:prstGeom prst="rightArrow">
              <a:avLst>
                <a:gd name="adj1" fmla="val 50000"/>
                <a:gd name="adj2" fmla="val 58348"/>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grpSp>
          <p:nvGrpSpPr>
            <p:cNvPr id="32831" name="组合 224319"/>
            <p:cNvGrpSpPr/>
            <p:nvPr/>
          </p:nvGrpSpPr>
          <p:grpSpPr>
            <a:xfrm>
              <a:off x="1230" y="734"/>
              <a:ext cx="169" cy="648"/>
              <a:chOff x="2647" y="3378"/>
              <a:chExt cx="309" cy="1297"/>
            </a:xfrm>
          </p:grpSpPr>
          <p:sp>
            <p:nvSpPr>
              <p:cNvPr id="32832" name="直接连接符 224320"/>
              <p:cNvSpPr/>
              <p:nvPr/>
            </p:nvSpPr>
            <p:spPr>
              <a:xfrm>
                <a:off x="2647" y="3844"/>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33" name="直接连接符 224321"/>
              <p:cNvSpPr/>
              <p:nvPr/>
            </p:nvSpPr>
            <p:spPr>
              <a:xfrm>
                <a:off x="2647" y="4010"/>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34" name="直接连接符 224322"/>
              <p:cNvSpPr/>
              <p:nvPr/>
            </p:nvSpPr>
            <p:spPr>
              <a:xfrm>
                <a:off x="2802" y="4010"/>
                <a:ext cx="0" cy="665"/>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35" name="直接连接符 224323"/>
              <p:cNvSpPr/>
              <p:nvPr/>
            </p:nvSpPr>
            <p:spPr>
              <a:xfrm>
                <a:off x="2647" y="4675"/>
                <a:ext cx="30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36" name="直接连接符 224324"/>
              <p:cNvSpPr/>
              <p:nvPr/>
            </p:nvSpPr>
            <p:spPr>
              <a:xfrm>
                <a:off x="2805" y="3378"/>
                <a:ext cx="0" cy="468"/>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32837" name="组合 224325"/>
            <p:cNvGrpSpPr/>
            <p:nvPr/>
          </p:nvGrpSpPr>
          <p:grpSpPr>
            <a:xfrm>
              <a:off x="1282" y="387"/>
              <a:ext cx="55" cy="412"/>
              <a:chOff x="2759" y="2682"/>
              <a:chExt cx="102" cy="825"/>
            </a:xfrm>
          </p:grpSpPr>
          <p:grpSp>
            <p:nvGrpSpPr>
              <p:cNvPr id="32838" name="组合 224326"/>
              <p:cNvGrpSpPr/>
              <p:nvPr/>
            </p:nvGrpSpPr>
            <p:grpSpPr>
              <a:xfrm>
                <a:off x="2759" y="2748"/>
                <a:ext cx="102" cy="759"/>
                <a:chOff x="2774" y="3078"/>
                <a:chExt cx="102" cy="759"/>
              </a:xfrm>
            </p:grpSpPr>
            <p:sp>
              <p:nvSpPr>
                <p:cNvPr id="32839" name="直接连接符 224327"/>
                <p:cNvSpPr/>
                <p:nvPr/>
              </p:nvSpPr>
              <p:spPr>
                <a:xfrm rot="5400000">
                  <a:off x="2695" y="3195"/>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40" name="矩形 224328"/>
                <p:cNvSpPr/>
                <p:nvPr/>
              </p:nvSpPr>
              <p:spPr>
                <a:xfrm rot="5400000">
                  <a:off x="2693" y="3400"/>
                  <a:ext cx="249" cy="10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41" name="直接连接符 224329"/>
                <p:cNvSpPr/>
                <p:nvPr/>
              </p:nvSpPr>
              <p:spPr>
                <a:xfrm rot="5400000">
                  <a:off x="2695" y="3705"/>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32842" name="椭圆 224330"/>
              <p:cNvSpPr/>
              <p:nvPr/>
            </p:nvSpPr>
            <p:spPr>
              <a:xfrm>
                <a:off x="2782" y="2682"/>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grpSp>
        <p:grpSp>
          <p:nvGrpSpPr>
            <p:cNvPr id="32843" name="组合 224331"/>
            <p:cNvGrpSpPr/>
            <p:nvPr/>
          </p:nvGrpSpPr>
          <p:grpSpPr>
            <a:xfrm>
              <a:off x="864" y="772"/>
              <a:ext cx="619" cy="427"/>
              <a:chOff x="1980" y="3453"/>
              <a:chExt cx="1129" cy="855"/>
            </a:xfrm>
          </p:grpSpPr>
          <p:grpSp>
            <p:nvGrpSpPr>
              <p:cNvPr id="32844" name="组合 224332"/>
              <p:cNvGrpSpPr/>
              <p:nvPr/>
            </p:nvGrpSpPr>
            <p:grpSpPr>
              <a:xfrm>
                <a:off x="2010" y="3453"/>
                <a:ext cx="1099" cy="855"/>
                <a:chOff x="2010" y="3453"/>
                <a:chExt cx="1099" cy="855"/>
              </a:xfrm>
            </p:grpSpPr>
            <p:sp>
              <p:nvSpPr>
                <p:cNvPr id="32845" name="直接连接符 224333"/>
                <p:cNvSpPr/>
                <p:nvPr/>
              </p:nvSpPr>
              <p:spPr>
                <a:xfrm>
                  <a:off x="2493" y="3512"/>
                  <a:ext cx="616" cy="0"/>
                </a:xfrm>
                <a:prstGeom prst="line">
                  <a:avLst/>
                </a:prstGeom>
                <a:ln w="9525" cap="flat" cmpd="sng">
                  <a:solidFill>
                    <a:srgbClr val="000000"/>
                  </a:solidFill>
                  <a:prstDash val="solid"/>
                  <a:round/>
                  <a:headEnd type="none" w="med" len="med"/>
                  <a:tailEnd type="stealth"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nvGrpSpPr>
                <p:cNvPr id="32846" name="组合 224334"/>
                <p:cNvGrpSpPr/>
                <p:nvPr/>
              </p:nvGrpSpPr>
              <p:grpSpPr>
                <a:xfrm>
                  <a:off x="2137" y="3453"/>
                  <a:ext cx="782" cy="357"/>
                  <a:chOff x="2137" y="3453"/>
                  <a:chExt cx="782" cy="357"/>
                </a:xfrm>
              </p:grpSpPr>
              <p:grpSp>
                <p:nvGrpSpPr>
                  <p:cNvPr id="32847" name="组合 224335"/>
                  <p:cNvGrpSpPr/>
                  <p:nvPr/>
                </p:nvGrpSpPr>
                <p:grpSpPr>
                  <a:xfrm>
                    <a:off x="2160" y="3453"/>
                    <a:ext cx="759" cy="102"/>
                    <a:chOff x="1005" y="8100"/>
                    <a:chExt cx="759" cy="102"/>
                  </a:xfrm>
                </p:grpSpPr>
                <p:sp>
                  <p:nvSpPr>
                    <p:cNvPr id="32848" name="直接连接符 224336"/>
                    <p:cNvSpPr/>
                    <p:nvPr/>
                  </p:nvSpPr>
                  <p:spPr>
                    <a:xfrm>
                      <a:off x="1005" y="8148"/>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49" name="矩形 224337"/>
                    <p:cNvSpPr/>
                    <p:nvPr/>
                  </p:nvSpPr>
                  <p:spPr>
                    <a:xfrm>
                      <a:off x="1260" y="8100"/>
                      <a:ext cx="249" cy="10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50" name="直接连接符 224338"/>
                    <p:cNvSpPr/>
                    <p:nvPr/>
                  </p:nvSpPr>
                  <p:spPr>
                    <a:xfrm>
                      <a:off x="1515" y="8163"/>
                      <a:ext cx="249"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32851" name="椭圆 224339"/>
                  <p:cNvSpPr/>
                  <p:nvPr/>
                </p:nvSpPr>
                <p:spPr>
                  <a:xfrm>
                    <a:off x="2137" y="3742"/>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52" name="直接连接符 224340"/>
                  <p:cNvSpPr/>
                  <p:nvPr/>
                </p:nvSpPr>
                <p:spPr>
                  <a:xfrm>
                    <a:off x="2157" y="3498"/>
                    <a:ext cx="0" cy="255"/>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nvGrpSpPr>
                <p:cNvPr id="32853" name="组合 224341"/>
                <p:cNvGrpSpPr/>
                <p:nvPr/>
              </p:nvGrpSpPr>
              <p:grpSpPr>
                <a:xfrm>
                  <a:off x="2010" y="3979"/>
                  <a:ext cx="307" cy="329"/>
                  <a:chOff x="2010" y="3979"/>
                  <a:chExt cx="307" cy="329"/>
                </a:xfrm>
              </p:grpSpPr>
              <p:sp>
                <p:nvSpPr>
                  <p:cNvPr id="32854" name="直接连接符 224342"/>
                  <p:cNvSpPr/>
                  <p:nvPr/>
                </p:nvSpPr>
                <p:spPr>
                  <a:xfrm>
                    <a:off x="2010" y="4308"/>
                    <a:ext cx="307"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55" name="椭圆 224343"/>
                  <p:cNvSpPr/>
                  <p:nvPr/>
                </p:nvSpPr>
                <p:spPr>
                  <a:xfrm>
                    <a:off x="2137" y="3979"/>
                    <a:ext cx="68" cy="6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56" name="直接连接符 224344"/>
                  <p:cNvSpPr/>
                  <p:nvPr/>
                </p:nvSpPr>
                <p:spPr>
                  <a:xfrm flipV="1">
                    <a:off x="2157" y="4032"/>
                    <a:ext cx="0" cy="272"/>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grpSp>
            <p:nvGrpSpPr>
              <p:cNvPr id="32857" name="组合 224345"/>
              <p:cNvGrpSpPr/>
              <p:nvPr/>
            </p:nvGrpSpPr>
            <p:grpSpPr>
              <a:xfrm>
                <a:off x="1980" y="3762"/>
                <a:ext cx="125" cy="255"/>
                <a:chOff x="1080" y="6744"/>
                <a:chExt cx="360" cy="468"/>
              </a:xfrm>
            </p:grpSpPr>
            <p:sp>
              <p:nvSpPr>
                <p:cNvPr id="32858" name="直接连接符 224346"/>
                <p:cNvSpPr/>
                <p:nvPr/>
              </p:nvSpPr>
              <p:spPr>
                <a:xfrm>
                  <a:off x="1440" y="6744"/>
                  <a:ext cx="0" cy="468"/>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59" name="直接连接符 224347"/>
                <p:cNvSpPr/>
                <p:nvPr/>
              </p:nvSpPr>
              <p:spPr>
                <a:xfrm flipH="1">
                  <a:off x="1080" y="6975"/>
                  <a:ext cx="360"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grpSp>
        <p:sp>
          <p:nvSpPr>
            <p:cNvPr id="32860" name="矩形 224348"/>
            <p:cNvSpPr/>
            <p:nvPr/>
          </p:nvSpPr>
          <p:spPr>
            <a:xfrm>
              <a:off x="1698" y="301"/>
              <a:ext cx="43" cy="14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endParaRPr lang="zh-CN" altLang="en-US">
                <a:solidFill>
                  <a:schemeClr val="bg2"/>
                </a:solidFill>
                <a:latin typeface="宋体" panose="02010600030101010101" pitchFamily="2" charset="-122"/>
                <a:ea typeface="宋体" panose="02010600030101010101" pitchFamily="2" charset="-122"/>
              </a:endParaRPr>
            </a:p>
          </p:txBody>
        </p:sp>
        <p:sp>
          <p:nvSpPr>
            <p:cNvPr id="32861" name="直接连接符 224349"/>
            <p:cNvSpPr/>
            <p:nvPr/>
          </p:nvSpPr>
          <p:spPr>
            <a:xfrm>
              <a:off x="3644" y="2643"/>
              <a:ext cx="115" cy="0"/>
            </a:xfrm>
            <a:prstGeom prst="line">
              <a:avLst/>
            </a:prstGeom>
            <a:ln w="9525" cap="flat" cmpd="sng">
              <a:solidFill>
                <a:srgbClr val="FFFFFF"/>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62" name="直接连接符 224350"/>
            <p:cNvSpPr/>
            <p:nvPr/>
          </p:nvSpPr>
          <p:spPr>
            <a:xfrm>
              <a:off x="3652" y="3200"/>
              <a:ext cx="115" cy="0"/>
            </a:xfrm>
            <a:prstGeom prst="line">
              <a:avLst/>
            </a:prstGeom>
            <a:ln w="9525" cap="flat" cmpd="sng">
              <a:solidFill>
                <a:srgbClr val="FFFFFF"/>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63" name="文本框 224351"/>
            <p:cNvSpPr txBox="1"/>
            <p:nvPr/>
          </p:nvSpPr>
          <p:spPr>
            <a:xfrm>
              <a:off x="2203" y="585"/>
              <a:ext cx="575" cy="494"/>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CLK</a:t>
              </a:r>
            </a:p>
            <a:p>
              <a:pPr algn="just"/>
              <a:r>
                <a:rPr lang="en-US" altLang="zh-CN" sz="1400">
                  <a:solidFill>
                    <a:schemeClr val="bg2"/>
                  </a:solidFill>
                  <a:latin typeface="Times New Roman" panose="02020603050405020304" pitchFamily="18" charset="0"/>
                  <a:ea typeface="宋体" panose="02010600030101010101" pitchFamily="2" charset="-122"/>
                </a:rPr>
                <a:t>READY</a:t>
              </a:r>
            </a:p>
            <a:p>
              <a:pPr algn="just"/>
              <a:r>
                <a:rPr lang="en-US" altLang="zh-CN" sz="1400">
                  <a:solidFill>
                    <a:schemeClr val="bg2"/>
                  </a:solidFill>
                  <a:latin typeface="Times New Roman" panose="02020603050405020304" pitchFamily="18" charset="0"/>
                  <a:ea typeface="宋体" panose="02010600030101010101" pitchFamily="2" charset="-122"/>
                </a:rPr>
                <a:t>RESET</a:t>
              </a:r>
            </a:p>
          </p:txBody>
        </p:sp>
        <p:sp>
          <p:nvSpPr>
            <p:cNvPr id="32864" name="文本框 224352"/>
            <p:cNvSpPr txBox="1"/>
            <p:nvPr/>
          </p:nvSpPr>
          <p:spPr>
            <a:xfrm>
              <a:off x="1489" y="1299"/>
              <a:ext cx="633" cy="479"/>
            </a:xfrm>
            <a:prstGeom prst="rect">
              <a:avLst/>
            </a:prstGeom>
            <a:noFill/>
            <a:ln w="9525">
              <a:noFill/>
            </a:ln>
          </p:spPr>
          <p:txBody>
            <a:bodyPr anchor="t" anchorCtr="0"/>
            <a:lstStyle/>
            <a:p>
              <a:pPr algn="just"/>
              <a:r>
                <a:rPr lang="zh-CN" altLang="en-US" sz="1400" dirty="0">
                  <a:solidFill>
                    <a:schemeClr val="bg2"/>
                  </a:solidFill>
                  <a:latin typeface="Times New Roman" panose="02020603050405020304" pitchFamily="18" charset="0"/>
                  <a:ea typeface="宋体" panose="02010600030101010101" pitchFamily="2" charset="-122"/>
                </a:rPr>
                <a:t>等待状</a:t>
              </a:r>
            </a:p>
            <a:p>
              <a:pPr algn="just"/>
              <a:r>
                <a:rPr lang="zh-CN" altLang="en-US" sz="1400" dirty="0">
                  <a:solidFill>
                    <a:schemeClr val="bg2"/>
                  </a:solidFill>
                  <a:latin typeface="Times New Roman" panose="02020603050405020304" pitchFamily="18" charset="0"/>
                  <a:ea typeface="宋体" panose="02010600030101010101" pitchFamily="2" charset="-122"/>
                </a:rPr>
                <a:t>态发生</a:t>
              </a:r>
            </a:p>
          </p:txBody>
        </p:sp>
        <p:sp>
          <p:nvSpPr>
            <p:cNvPr id="32865" name="文本框 224353"/>
            <p:cNvSpPr txBox="1"/>
            <p:nvPr/>
          </p:nvSpPr>
          <p:spPr>
            <a:xfrm>
              <a:off x="2831" y="2473"/>
              <a:ext cx="80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   A</a:t>
              </a:r>
              <a:r>
                <a:rPr lang="en-US" altLang="zh-CN" sz="1400" baseline="-25000">
                  <a:solidFill>
                    <a:schemeClr val="bg2"/>
                  </a:solidFill>
                  <a:latin typeface="Times New Roman" panose="02020603050405020304" pitchFamily="18" charset="0"/>
                  <a:ea typeface="宋体" panose="02010600030101010101" pitchFamily="2" charset="-122"/>
                </a:rPr>
                <a:t>19</a:t>
              </a:r>
              <a:r>
                <a:rPr lang="en-US" altLang="zh-CN" sz="1400">
                  <a:solidFill>
                    <a:schemeClr val="bg2"/>
                  </a:solidFill>
                  <a:latin typeface="Times New Roman" panose="02020603050405020304" pitchFamily="18" charset="0"/>
                  <a:ea typeface="宋体" panose="02010600030101010101" pitchFamily="2" charset="-122"/>
                </a:rPr>
                <a:t>~A</a:t>
              </a:r>
              <a:r>
                <a:rPr lang="en-US" altLang="zh-CN" sz="1400" baseline="-25000">
                  <a:solidFill>
                    <a:schemeClr val="bg2"/>
                  </a:solidFill>
                  <a:latin typeface="Times New Roman" panose="02020603050405020304" pitchFamily="18" charset="0"/>
                  <a:ea typeface="宋体" panose="02010600030101010101" pitchFamily="2" charset="-122"/>
                </a:rPr>
                <a:t>16</a:t>
              </a:r>
            </a:p>
            <a:p>
              <a:pPr algn="just"/>
              <a:r>
                <a:rPr lang="en-US" altLang="zh-CN" sz="1400">
                  <a:solidFill>
                    <a:schemeClr val="bg2"/>
                  </a:solidFill>
                  <a:latin typeface="Times New Roman" panose="02020603050405020304" pitchFamily="18" charset="0"/>
                  <a:ea typeface="宋体" panose="02010600030101010101" pitchFamily="2" charset="-122"/>
                </a:rPr>
                <a:t>AD</a:t>
              </a:r>
              <a:r>
                <a:rPr lang="en-US" altLang="zh-CN" sz="1400" baseline="-25000">
                  <a:solidFill>
                    <a:schemeClr val="bg2"/>
                  </a:solidFill>
                  <a:latin typeface="Times New Roman" panose="02020603050405020304" pitchFamily="18" charset="0"/>
                  <a:ea typeface="宋体" panose="02010600030101010101" pitchFamily="2" charset="-122"/>
                </a:rPr>
                <a:t>15</a:t>
              </a:r>
              <a:r>
                <a:rPr lang="en-US" altLang="zh-CN" sz="1400">
                  <a:solidFill>
                    <a:schemeClr val="bg2"/>
                  </a:solidFill>
                  <a:latin typeface="Times New Roman" panose="02020603050405020304" pitchFamily="18" charset="0"/>
                  <a:ea typeface="宋体" panose="02010600030101010101" pitchFamily="2" charset="-122"/>
                </a:rPr>
                <a:t>~AD</a:t>
              </a:r>
              <a:r>
                <a:rPr lang="en-US" altLang="zh-CN" sz="1400" baseline="-25000">
                  <a:solidFill>
                    <a:schemeClr val="bg2"/>
                  </a:solidFill>
                  <a:latin typeface="Times New Roman" panose="02020603050405020304" pitchFamily="18" charset="0"/>
                  <a:ea typeface="宋体" panose="02010600030101010101" pitchFamily="2" charset="-122"/>
                </a:rPr>
                <a:t>0</a:t>
              </a:r>
            </a:p>
          </p:txBody>
        </p:sp>
        <p:sp>
          <p:nvSpPr>
            <p:cNvPr id="32866" name="文本框 224354"/>
            <p:cNvSpPr txBox="1"/>
            <p:nvPr/>
          </p:nvSpPr>
          <p:spPr>
            <a:xfrm>
              <a:off x="3448" y="2510"/>
              <a:ext cx="691" cy="297"/>
            </a:xfrm>
            <a:prstGeom prst="rect">
              <a:avLst/>
            </a:prstGeom>
            <a:noFill/>
            <a:ln w="9525">
              <a:noFill/>
            </a:ln>
          </p:spPr>
          <p:txBody>
            <a:bodyPr anchor="t" anchorCtr="0"/>
            <a:lstStyle/>
            <a:p>
              <a:pPr algn="just"/>
              <a:r>
                <a:rPr lang="zh-CN" altLang="en-US" sz="1000" dirty="0">
                  <a:solidFill>
                    <a:schemeClr val="bg2"/>
                  </a:solidFill>
                  <a:latin typeface="Times New Roman" panose="02020603050405020304" pitchFamily="18" charset="0"/>
                  <a:ea typeface="宋体" panose="02010600030101010101" pitchFamily="2" charset="-122"/>
                </a:rPr>
                <a:t>地址</a:t>
              </a:r>
              <a:r>
                <a:rPr lang="en-US" altLang="zh-CN" sz="1000">
                  <a:solidFill>
                    <a:schemeClr val="bg2"/>
                  </a:solidFill>
                  <a:latin typeface="Times New Roman" panose="02020603050405020304" pitchFamily="18" charset="0"/>
                  <a:ea typeface="宋体" panose="02010600030101010101" pitchFamily="2" charset="-122"/>
                </a:rPr>
                <a:t>/</a:t>
              </a:r>
              <a:r>
                <a:rPr lang="zh-CN" altLang="en-US" sz="1000" dirty="0">
                  <a:solidFill>
                    <a:schemeClr val="bg2"/>
                  </a:solidFill>
                  <a:latin typeface="Times New Roman" panose="02020603050405020304" pitchFamily="18" charset="0"/>
                  <a:ea typeface="宋体" panose="02010600030101010101" pitchFamily="2" charset="-122"/>
                </a:rPr>
                <a:t>数据</a:t>
              </a:r>
            </a:p>
          </p:txBody>
        </p:sp>
        <p:sp>
          <p:nvSpPr>
            <p:cNvPr id="32867" name="文本框 224355"/>
            <p:cNvSpPr txBox="1"/>
            <p:nvPr/>
          </p:nvSpPr>
          <p:spPr>
            <a:xfrm>
              <a:off x="3923" y="3157"/>
              <a:ext cx="688" cy="395"/>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8286</a:t>
              </a:r>
            </a:p>
            <a:p>
              <a:pPr algn="just"/>
              <a:r>
                <a:rPr lang="zh-CN" altLang="en-US" sz="1400" dirty="0">
                  <a:solidFill>
                    <a:schemeClr val="bg2"/>
                  </a:solidFill>
                  <a:latin typeface="Times New Roman" panose="02020603050405020304" pitchFamily="18" charset="0"/>
                  <a:ea typeface="宋体" panose="02010600030101010101" pitchFamily="2" charset="-122"/>
                </a:rPr>
                <a:t>收发器</a:t>
              </a:r>
            </a:p>
          </p:txBody>
        </p:sp>
        <p:sp>
          <p:nvSpPr>
            <p:cNvPr id="32868" name="文本框 224356"/>
            <p:cNvSpPr txBox="1"/>
            <p:nvPr/>
          </p:nvSpPr>
          <p:spPr>
            <a:xfrm>
              <a:off x="3845" y="3408"/>
              <a:ext cx="57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T</a:t>
              </a:r>
            </a:p>
            <a:p>
              <a:pPr algn="just"/>
              <a:r>
                <a:rPr lang="en-US" altLang="zh-CN" sz="1400">
                  <a:solidFill>
                    <a:schemeClr val="bg2"/>
                  </a:solidFill>
                  <a:latin typeface="Times New Roman" panose="02020603050405020304" pitchFamily="18" charset="0"/>
                  <a:ea typeface="宋体" panose="02010600030101010101" pitchFamily="2" charset="-122"/>
                </a:rPr>
                <a:t>OE</a:t>
              </a:r>
            </a:p>
          </p:txBody>
        </p:sp>
        <p:sp>
          <p:nvSpPr>
            <p:cNvPr id="32869" name="文本框 224357"/>
            <p:cNvSpPr txBox="1"/>
            <p:nvPr/>
          </p:nvSpPr>
          <p:spPr>
            <a:xfrm>
              <a:off x="4133" y="2365"/>
              <a:ext cx="80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8282</a:t>
              </a:r>
            </a:p>
            <a:p>
              <a:pPr algn="just"/>
              <a:r>
                <a:rPr lang="zh-CN" altLang="en-US" sz="1400" dirty="0">
                  <a:solidFill>
                    <a:schemeClr val="bg2"/>
                  </a:solidFill>
                  <a:latin typeface="Times New Roman" panose="02020603050405020304" pitchFamily="18" charset="0"/>
                  <a:ea typeface="宋体" panose="02010600030101010101" pitchFamily="2" charset="-122"/>
                </a:rPr>
                <a:t>锁存器</a:t>
              </a:r>
            </a:p>
          </p:txBody>
        </p:sp>
        <p:sp>
          <p:nvSpPr>
            <p:cNvPr id="32870" name="文本框 224358"/>
            <p:cNvSpPr txBox="1"/>
            <p:nvPr/>
          </p:nvSpPr>
          <p:spPr>
            <a:xfrm>
              <a:off x="3965" y="2149"/>
              <a:ext cx="461"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STB</a:t>
              </a:r>
            </a:p>
          </p:txBody>
        </p:sp>
        <p:sp>
          <p:nvSpPr>
            <p:cNvPr id="32871" name="文本框 224359"/>
            <p:cNvSpPr txBox="1"/>
            <p:nvPr/>
          </p:nvSpPr>
          <p:spPr>
            <a:xfrm>
              <a:off x="4505" y="3206"/>
              <a:ext cx="69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D</a:t>
              </a:r>
              <a:r>
                <a:rPr lang="en-US" altLang="zh-CN" sz="1400" baseline="-25000">
                  <a:solidFill>
                    <a:schemeClr val="bg2"/>
                  </a:solidFill>
                  <a:latin typeface="Times New Roman" panose="02020603050405020304" pitchFamily="18" charset="0"/>
                  <a:ea typeface="宋体" panose="02010600030101010101" pitchFamily="2" charset="-122"/>
                </a:rPr>
                <a:t>15</a:t>
              </a:r>
              <a:r>
                <a:rPr lang="en-US" altLang="zh-CN" sz="1400">
                  <a:solidFill>
                    <a:schemeClr val="bg2"/>
                  </a:solidFill>
                  <a:latin typeface="Times New Roman" panose="02020603050405020304" pitchFamily="18" charset="0"/>
                  <a:ea typeface="宋体" panose="02010600030101010101" pitchFamily="2" charset="-122"/>
                </a:rPr>
                <a:t>~D</a:t>
              </a:r>
              <a:r>
                <a:rPr lang="en-US" altLang="zh-CN" sz="1400" baseline="-25000">
                  <a:solidFill>
                    <a:schemeClr val="bg2"/>
                  </a:solidFill>
                  <a:latin typeface="Times New Roman" panose="02020603050405020304" pitchFamily="18" charset="0"/>
                  <a:ea typeface="宋体" panose="02010600030101010101" pitchFamily="2" charset="-122"/>
                </a:rPr>
                <a:t>0</a:t>
              </a:r>
            </a:p>
          </p:txBody>
        </p:sp>
        <p:sp>
          <p:nvSpPr>
            <p:cNvPr id="32872" name="文本框 224360"/>
            <p:cNvSpPr txBox="1"/>
            <p:nvPr/>
          </p:nvSpPr>
          <p:spPr>
            <a:xfrm>
              <a:off x="1474" y="561"/>
              <a:ext cx="690" cy="495"/>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8284A</a:t>
              </a:r>
            </a:p>
            <a:p>
              <a:pPr algn="just"/>
              <a:r>
                <a:rPr lang="en-US" altLang="zh-CN" sz="1400">
                  <a:solidFill>
                    <a:schemeClr val="bg2"/>
                  </a:solidFill>
                  <a:latin typeface="Times New Roman" panose="02020603050405020304" pitchFamily="18" charset="0"/>
                  <a:ea typeface="宋体" panose="02010600030101010101" pitchFamily="2" charset="-122"/>
                </a:rPr>
                <a:t>RES</a:t>
              </a:r>
            </a:p>
          </p:txBody>
        </p:sp>
        <p:sp>
          <p:nvSpPr>
            <p:cNvPr id="32873" name="文本框 224361"/>
            <p:cNvSpPr txBox="1"/>
            <p:nvPr/>
          </p:nvSpPr>
          <p:spPr>
            <a:xfrm>
              <a:off x="4145" y="846"/>
              <a:ext cx="1035" cy="594"/>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8288</a:t>
              </a:r>
            </a:p>
            <a:p>
              <a:pPr algn="just"/>
              <a:r>
                <a:rPr lang="zh-CN" altLang="en-US" sz="1400" dirty="0">
                  <a:solidFill>
                    <a:schemeClr val="bg2"/>
                  </a:solidFill>
                  <a:latin typeface="Times New Roman" panose="02020603050405020304" pitchFamily="18" charset="0"/>
                  <a:ea typeface="宋体" panose="02010600030101010101" pitchFamily="2" charset="-122"/>
                </a:rPr>
                <a:t>总线</a:t>
              </a:r>
            </a:p>
            <a:p>
              <a:pPr algn="just"/>
              <a:r>
                <a:rPr lang="zh-CN" altLang="en-US" sz="1400" dirty="0">
                  <a:solidFill>
                    <a:schemeClr val="bg2"/>
                  </a:solidFill>
                  <a:latin typeface="Times New Roman" panose="02020603050405020304" pitchFamily="18" charset="0"/>
                  <a:ea typeface="宋体" panose="02010600030101010101" pitchFamily="2" charset="-122"/>
                </a:rPr>
                <a:t>控制器</a:t>
              </a:r>
            </a:p>
          </p:txBody>
        </p:sp>
        <p:sp>
          <p:nvSpPr>
            <p:cNvPr id="32874" name="文本框 224362"/>
            <p:cNvSpPr txBox="1"/>
            <p:nvPr/>
          </p:nvSpPr>
          <p:spPr>
            <a:xfrm>
              <a:off x="4070" y="569"/>
              <a:ext cx="69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CLK</a:t>
              </a:r>
            </a:p>
          </p:txBody>
        </p:sp>
        <p:sp>
          <p:nvSpPr>
            <p:cNvPr id="32875" name="文本框 224363"/>
            <p:cNvSpPr txBox="1"/>
            <p:nvPr/>
          </p:nvSpPr>
          <p:spPr>
            <a:xfrm>
              <a:off x="2182" y="2368"/>
              <a:ext cx="691"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MN/MX</a:t>
              </a:r>
            </a:p>
          </p:txBody>
        </p:sp>
        <p:sp>
          <p:nvSpPr>
            <p:cNvPr id="32876" name="文本框 224364"/>
            <p:cNvSpPr txBox="1"/>
            <p:nvPr/>
          </p:nvSpPr>
          <p:spPr>
            <a:xfrm>
              <a:off x="2570" y="1831"/>
              <a:ext cx="575" cy="296"/>
            </a:xfrm>
            <a:prstGeom prst="rect">
              <a:avLst/>
            </a:prstGeom>
            <a:noFill/>
            <a:ln w="9525">
              <a:noFill/>
            </a:ln>
          </p:spPr>
          <p:txBody>
            <a:bodyPr anchor="t" anchorCtr="0"/>
            <a:lstStyle/>
            <a:p>
              <a:pPr algn="just"/>
              <a:r>
                <a:rPr lang="en-US" altLang="zh-CN" sz="2000">
                  <a:solidFill>
                    <a:schemeClr val="bg2"/>
                  </a:solidFill>
                  <a:latin typeface="Times New Roman" panose="02020603050405020304" pitchFamily="18" charset="0"/>
                  <a:ea typeface="宋体" panose="02010600030101010101" pitchFamily="2" charset="-122"/>
                </a:rPr>
                <a:t>8086</a:t>
              </a:r>
            </a:p>
          </p:txBody>
        </p:sp>
        <p:sp>
          <p:nvSpPr>
            <p:cNvPr id="32877" name="文本框 224365"/>
            <p:cNvSpPr txBox="1"/>
            <p:nvPr/>
          </p:nvSpPr>
          <p:spPr>
            <a:xfrm>
              <a:off x="3616" y="3545"/>
              <a:ext cx="230"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1</a:t>
              </a:r>
            </a:p>
          </p:txBody>
        </p:sp>
        <p:sp>
          <p:nvSpPr>
            <p:cNvPr id="32878" name="文本框 224366"/>
            <p:cNvSpPr txBox="1"/>
            <p:nvPr/>
          </p:nvSpPr>
          <p:spPr>
            <a:xfrm>
              <a:off x="3211" y="678"/>
              <a:ext cx="460" cy="789"/>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0</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1</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2</a:t>
              </a:r>
            </a:p>
          </p:txBody>
        </p:sp>
        <p:sp>
          <p:nvSpPr>
            <p:cNvPr id="32879" name="文本框 224367"/>
            <p:cNvSpPr txBox="1"/>
            <p:nvPr/>
          </p:nvSpPr>
          <p:spPr>
            <a:xfrm>
              <a:off x="3868" y="690"/>
              <a:ext cx="460" cy="789"/>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0</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1</a:t>
              </a:r>
            </a:p>
            <a:p>
              <a:pPr algn="just"/>
              <a:r>
                <a:rPr lang="en-US" altLang="zh-CN" sz="1400">
                  <a:solidFill>
                    <a:schemeClr val="bg2"/>
                  </a:solidFill>
                  <a:latin typeface="Times New Roman" panose="02020603050405020304" pitchFamily="18" charset="0"/>
                  <a:ea typeface="宋体" panose="02010600030101010101" pitchFamily="2" charset="-122"/>
                </a:rPr>
                <a:t>S</a:t>
              </a:r>
              <a:r>
                <a:rPr lang="en-US" altLang="zh-CN" sz="1400" baseline="-25000">
                  <a:solidFill>
                    <a:schemeClr val="bg2"/>
                  </a:solidFill>
                  <a:latin typeface="Times New Roman" panose="02020603050405020304" pitchFamily="18" charset="0"/>
                  <a:ea typeface="宋体" panose="02010600030101010101" pitchFamily="2" charset="-122"/>
                </a:rPr>
                <a:t>2</a:t>
              </a:r>
            </a:p>
            <a:p>
              <a:endParaRPr lang="en-US" altLang="zh-CN" sz="1400" baseline="-25000">
                <a:solidFill>
                  <a:schemeClr val="bg2"/>
                </a:solidFill>
                <a:latin typeface="Times New Roman" panose="02020603050405020304" pitchFamily="18" charset="0"/>
                <a:ea typeface="宋体" panose="02010600030101010101" pitchFamily="2" charset="-122"/>
              </a:endParaRPr>
            </a:p>
          </p:txBody>
        </p:sp>
        <p:sp>
          <p:nvSpPr>
            <p:cNvPr id="32880" name="文本框 224368"/>
            <p:cNvSpPr txBox="1"/>
            <p:nvPr/>
          </p:nvSpPr>
          <p:spPr>
            <a:xfrm>
              <a:off x="1543" y="858"/>
              <a:ext cx="575" cy="297"/>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RDY</a:t>
              </a:r>
            </a:p>
          </p:txBody>
        </p:sp>
        <p:sp>
          <p:nvSpPr>
            <p:cNvPr id="32881" name="文本框 224369"/>
            <p:cNvSpPr txBox="1"/>
            <p:nvPr/>
          </p:nvSpPr>
          <p:spPr>
            <a:xfrm>
              <a:off x="3938" y="2750"/>
              <a:ext cx="345" cy="396"/>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OE</a:t>
              </a:r>
            </a:p>
          </p:txBody>
        </p:sp>
        <p:sp>
          <p:nvSpPr>
            <p:cNvPr id="32882" name="直接连接符 224377"/>
            <p:cNvSpPr/>
            <p:nvPr/>
          </p:nvSpPr>
          <p:spPr>
            <a:xfrm>
              <a:off x="4753" y="2058"/>
              <a:ext cx="23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3" name="直接连接符 224378"/>
            <p:cNvSpPr/>
            <p:nvPr/>
          </p:nvSpPr>
          <p:spPr>
            <a:xfrm>
              <a:off x="3235" y="701"/>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4" name="直接连接符 224379"/>
            <p:cNvSpPr/>
            <p:nvPr/>
          </p:nvSpPr>
          <p:spPr>
            <a:xfrm>
              <a:off x="3236" y="837"/>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5" name="直接连接符 224380"/>
            <p:cNvSpPr/>
            <p:nvPr/>
          </p:nvSpPr>
          <p:spPr>
            <a:xfrm>
              <a:off x="3235" y="980"/>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6" name="直接连接符 224381"/>
            <p:cNvSpPr/>
            <p:nvPr/>
          </p:nvSpPr>
          <p:spPr>
            <a:xfrm>
              <a:off x="3890" y="719"/>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7" name="直接连接符 224382"/>
            <p:cNvSpPr/>
            <p:nvPr/>
          </p:nvSpPr>
          <p:spPr>
            <a:xfrm>
              <a:off x="3890" y="855"/>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8" name="直接连接符 224383"/>
            <p:cNvSpPr/>
            <p:nvPr/>
          </p:nvSpPr>
          <p:spPr>
            <a:xfrm>
              <a:off x="3890" y="998"/>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89" name="直接连接符 224384"/>
            <p:cNvSpPr/>
            <p:nvPr/>
          </p:nvSpPr>
          <p:spPr>
            <a:xfrm>
              <a:off x="2483" y="2401"/>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90" name="直接连接符 224385"/>
            <p:cNvSpPr/>
            <p:nvPr/>
          </p:nvSpPr>
          <p:spPr>
            <a:xfrm>
              <a:off x="4032" y="2779"/>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91" name="直接连接符 224386"/>
            <p:cNvSpPr/>
            <p:nvPr/>
          </p:nvSpPr>
          <p:spPr>
            <a:xfrm>
              <a:off x="3934" y="3570"/>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92" name="直接连接符 224387"/>
            <p:cNvSpPr/>
            <p:nvPr/>
          </p:nvSpPr>
          <p:spPr>
            <a:xfrm>
              <a:off x="1545" y="728"/>
              <a:ext cx="15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2893" name="矩形 224388"/>
            <p:cNvSpPr/>
            <p:nvPr/>
          </p:nvSpPr>
          <p:spPr>
            <a:xfrm>
              <a:off x="3840" y="1211"/>
              <a:ext cx="805" cy="891"/>
            </a:xfrm>
            <a:prstGeom prst="rect">
              <a:avLst/>
            </a:prstGeom>
            <a:noFill/>
            <a:ln w="9525">
              <a:noFill/>
            </a:ln>
          </p:spPr>
          <p:txBody>
            <a:bodyPr anchor="t" anchorCtr="0"/>
            <a:lstStyle/>
            <a:p>
              <a:pPr algn="just"/>
              <a:r>
                <a:rPr lang="en-US" altLang="zh-CN" sz="1400">
                  <a:solidFill>
                    <a:schemeClr val="bg2"/>
                  </a:solidFill>
                  <a:latin typeface="Times New Roman" panose="02020603050405020304" pitchFamily="18" charset="0"/>
                  <a:ea typeface="宋体" panose="02010600030101010101" pitchFamily="2" charset="-122"/>
                </a:rPr>
                <a:t>DEN</a:t>
              </a:r>
            </a:p>
            <a:p>
              <a:pPr algn="just"/>
              <a:r>
                <a:rPr lang="en-US" altLang="zh-CN" sz="1400">
                  <a:solidFill>
                    <a:schemeClr val="bg2"/>
                  </a:solidFill>
                  <a:latin typeface="Times New Roman" panose="02020603050405020304" pitchFamily="18" charset="0"/>
                  <a:ea typeface="宋体" panose="02010600030101010101" pitchFamily="2" charset="-122"/>
                </a:rPr>
                <a:t>DT/R</a:t>
              </a:r>
            </a:p>
            <a:p>
              <a:pPr algn="just"/>
              <a:r>
                <a:rPr lang="en-US" altLang="zh-CN" sz="1400">
                  <a:solidFill>
                    <a:schemeClr val="bg2"/>
                  </a:solidFill>
                  <a:latin typeface="Times New Roman" panose="02020603050405020304" pitchFamily="18" charset="0"/>
                  <a:ea typeface="宋体" panose="02010600030101010101" pitchFamily="2" charset="-122"/>
                </a:rPr>
                <a:t>ALE</a:t>
              </a:r>
            </a:p>
          </p:txBody>
        </p:sp>
        <p:sp>
          <p:nvSpPr>
            <p:cNvPr id="32894" name="直接连接符 224389"/>
            <p:cNvSpPr/>
            <p:nvPr/>
          </p:nvSpPr>
          <p:spPr>
            <a:xfrm>
              <a:off x="4046" y="1376"/>
              <a:ext cx="115"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idx="1"/>
          </p:nvPr>
        </p:nvSpPr>
        <p:spPr>
          <a:xfrm>
            <a:off x="503238" y="1462088"/>
            <a:ext cx="8116888" cy="4303713"/>
          </a:xfrm>
          <a:solidFill>
            <a:schemeClr val="accent4">
              <a:lumMod val="10000"/>
            </a:schemeClr>
          </a:solidFill>
          <a:ln>
            <a:miter/>
          </a:ln>
        </p:spPr>
        <p:txBody>
          <a:bodyPr lIns="92075" tIns="46038" rIns="92075" bIns="46038" anchor="t"/>
          <a:lstStyle/>
          <a:p>
            <a:pPr marL="342900" marR="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endParaRPr kumimoji="0" lang="zh-CN" altLang="en-US" sz="2400" b="1" i="0" u="none" strike="noStrike" kern="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endParaRPr kumimoji="0" lang="zh-CN" altLang="en-US" sz="2800" b="1" i="0" u="none" strike="noStrike" kern="0" cap="none" spc="0" normalizeH="0" baseline="0" noProof="1">
              <a:solidFill>
                <a:schemeClr val="tx1"/>
              </a:solidFill>
              <a:latin typeface="+mn-lt"/>
              <a:ea typeface="+mn-ea"/>
              <a:cs typeface="+mn-cs"/>
            </a:endParaRPr>
          </a:p>
        </p:txBody>
      </p:sp>
      <p:sp>
        <p:nvSpPr>
          <p:cNvPr id="34818" name="文本框 2"/>
          <p:cNvSpPr txBox="1"/>
          <p:nvPr/>
        </p:nvSpPr>
        <p:spPr>
          <a:xfrm>
            <a:off x="2992438" y="1538288"/>
            <a:ext cx="4229100" cy="366712"/>
          </a:xfrm>
          <a:prstGeom prst="rect">
            <a:avLst/>
          </a:prstGeom>
          <a:noFill/>
          <a:ln w="9525">
            <a:noFill/>
          </a:ln>
        </p:spPr>
        <p:txBody>
          <a:bodyPr anchor="t" anchorCtr="0">
            <a:spAutoFit/>
          </a:bodyPr>
          <a:lstStyle/>
          <a:p>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1</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2</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3</a:t>
            </a:r>
            <a:r>
              <a:rPr lang="en-US" altLang="zh-CN" sz="1800" b="0">
                <a:solidFill>
                  <a:srgbClr val="66FF33"/>
                </a:solidFill>
                <a:latin typeface="Tahoma" panose="020B0604030504040204" pitchFamily="34" charset="0"/>
                <a:ea typeface="宋体" panose="02010600030101010101" pitchFamily="2" charset="-122"/>
              </a:rPr>
              <a:t>         </a:t>
            </a:r>
            <a:r>
              <a:rPr lang="en-US" altLang="zh-CN" sz="1800" b="0" err="1">
                <a:solidFill>
                  <a:srgbClr val="66FF33"/>
                </a:solidFill>
                <a:latin typeface="Tahoma" panose="020B0604030504040204" pitchFamily="34" charset="0"/>
                <a:ea typeface="宋体" panose="02010600030101010101" pitchFamily="2" charset="-122"/>
              </a:rPr>
              <a:t>T</a:t>
            </a:r>
            <a:r>
              <a:rPr lang="en-US" altLang="zh-CN" sz="1800" b="0" baseline="-25000" err="1">
                <a:solidFill>
                  <a:srgbClr val="66FF33"/>
                </a:solidFill>
                <a:latin typeface="Tahoma" panose="020B0604030504040204" pitchFamily="34" charset="0"/>
                <a:ea typeface="宋体" panose="02010600030101010101" pitchFamily="2" charset="-122"/>
              </a:rPr>
              <a:t>w</a:t>
            </a:r>
            <a:r>
              <a:rPr lang="en-US" altLang="zh-CN" sz="1800" b="0">
                <a:solidFill>
                  <a:srgbClr val="66FF33"/>
                </a:solidFill>
                <a:latin typeface="Tahoma" panose="020B0604030504040204" pitchFamily="34" charset="0"/>
                <a:ea typeface="宋体" panose="02010600030101010101" pitchFamily="2" charset="-122"/>
              </a:rPr>
              <a:t>       T</a:t>
            </a:r>
            <a:r>
              <a:rPr lang="en-US" altLang="zh-CN" sz="1800" b="0" baseline="-25000">
                <a:solidFill>
                  <a:srgbClr val="66FF33"/>
                </a:solidFill>
                <a:latin typeface="Tahoma" panose="020B0604030504040204" pitchFamily="34" charset="0"/>
                <a:ea typeface="宋体" panose="02010600030101010101" pitchFamily="2" charset="-122"/>
              </a:rPr>
              <a:t>4</a:t>
            </a:r>
          </a:p>
        </p:txBody>
      </p:sp>
      <p:sp>
        <p:nvSpPr>
          <p:cNvPr id="34819" name="直接连接符 3"/>
          <p:cNvSpPr/>
          <p:nvPr/>
        </p:nvSpPr>
        <p:spPr>
          <a:xfrm flipV="1">
            <a:off x="1885950" y="4086225"/>
            <a:ext cx="100647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0" name="直接连接符 4"/>
          <p:cNvSpPr/>
          <p:nvPr/>
        </p:nvSpPr>
        <p:spPr>
          <a:xfrm>
            <a:off x="1785938" y="4498975"/>
            <a:ext cx="221456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1" name="直接连接符 5"/>
          <p:cNvSpPr/>
          <p:nvPr/>
        </p:nvSpPr>
        <p:spPr>
          <a:xfrm>
            <a:off x="1885950" y="4224338"/>
            <a:ext cx="2214563"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2" name="直接连接符 6"/>
          <p:cNvSpPr/>
          <p:nvPr/>
        </p:nvSpPr>
        <p:spPr>
          <a:xfrm>
            <a:off x="4100513" y="4224338"/>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3" name="直接连接符 7"/>
          <p:cNvSpPr/>
          <p:nvPr/>
        </p:nvSpPr>
        <p:spPr>
          <a:xfrm>
            <a:off x="1885950" y="2295525"/>
            <a:ext cx="56038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4" name="直接连接符 8"/>
          <p:cNvSpPr/>
          <p:nvPr/>
        </p:nvSpPr>
        <p:spPr>
          <a:xfrm>
            <a:off x="2986088"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5" name="直接连接符 9"/>
          <p:cNvSpPr/>
          <p:nvPr/>
        </p:nvSpPr>
        <p:spPr>
          <a:xfrm flipV="1">
            <a:off x="3309938"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6" name="直接连接符 10"/>
          <p:cNvSpPr/>
          <p:nvPr/>
        </p:nvSpPr>
        <p:spPr>
          <a:xfrm>
            <a:off x="3416300" y="1882775"/>
            <a:ext cx="3238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7" name="直接连接符 11"/>
          <p:cNvSpPr/>
          <p:nvPr/>
        </p:nvSpPr>
        <p:spPr>
          <a:xfrm>
            <a:off x="37401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8" name="直接连接符 12"/>
          <p:cNvSpPr/>
          <p:nvPr/>
        </p:nvSpPr>
        <p:spPr>
          <a:xfrm>
            <a:off x="3848100"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29" name="直接连接符 13"/>
          <p:cNvSpPr/>
          <p:nvPr/>
        </p:nvSpPr>
        <p:spPr>
          <a:xfrm flipV="1">
            <a:off x="41719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0" name="直接连接符 14"/>
          <p:cNvSpPr/>
          <p:nvPr/>
        </p:nvSpPr>
        <p:spPr>
          <a:xfrm>
            <a:off x="4279900" y="1882775"/>
            <a:ext cx="3238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1" name="直接连接符 15"/>
          <p:cNvSpPr/>
          <p:nvPr/>
        </p:nvSpPr>
        <p:spPr>
          <a:xfrm>
            <a:off x="46037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2" name="直接连接符 16"/>
          <p:cNvSpPr/>
          <p:nvPr/>
        </p:nvSpPr>
        <p:spPr>
          <a:xfrm>
            <a:off x="4711700" y="2295525"/>
            <a:ext cx="3238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3" name="直接连接符 17"/>
          <p:cNvSpPr/>
          <p:nvPr/>
        </p:nvSpPr>
        <p:spPr>
          <a:xfrm flipV="1">
            <a:off x="5035550"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4" name="直接连接符 18"/>
          <p:cNvSpPr/>
          <p:nvPr/>
        </p:nvSpPr>
        <p:spPr>
          <a:xfrm>
            <a:off x="5143500"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5" name="直接连接符 19"/>
          <p:cNvSpPr/>
          <p:nvPr/>
        </p:nvSpPr>
        <p:spPr>
          <a:xfrm>
            <a:off x="5465763"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6" name="直接连接符 20"/>
          <p:cNvSpPr/>
          <p:nvPr/>
        </p:nvSpPr>
        <p:spPr>
          <a:xfrm>
            <a:off x="5575300" y="2295525"/>
            <a:ext cx="322263"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7" name="直接连接符 21"/>
          <p:cNvSpPr/>
          <p:nvPr/>
        </p:nvSpPr>
        <p:spPr>
          <a:xfrm flipV="1">
            <a:off x="5897563"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8" name="直接连接符 22"/>
          <p:cNvSpPr/>
          <p:nvPr/>
        </p:nvSpPr>
        <p:spPr>
          <a:xfrm>
            <a:off x="6007100"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39" name="直接连接符 23"/>
          <p:cNvSpPr/>
          <p:nvPr/>
        </p:nvSpPr>
        <p:spPr>
          <a:xfrm>
            <a:off x="6329363"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0" name="直接连接符 24"/>
          <p:cNvSpPr/>
          <p:nvPr/>
        </p:nvSpPr>
        <p:spPr>
          <a:xfrm>
            <a:off x="6435725" y="2295525"/>
            <a:ext cx="32702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1" name="直接连接符 25"/>
          <p:cNvSpPr/>
          <p:nvPr/>
        </p:nvSpPr>
        <p:spPr>
          <a:xfrm flipV="1">
            <a:off x="6762750" y="1882775"/>
            <a:ext cx="104775"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2" name="直接连接符 26"/>
          <p:cNvSpPr/>
          <p:nvPr/>
        </p:nvSpPr>
        <p:spPr>
          <a:xfrm>
            <a:off x="6867525" y="1882775"/>
            <a:ext cx="325438"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3" name="直接连接符 27"/>
          <p:cNvSpPr/>
          <p:nvPr/>
        </p:nvSpPr>
        <p:spPr>
          <a:xfrm>
            <a:off x="7192963" y="1882775"/>
            <a:ext cx="106362"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4" name="直接连接符 28"/>
          <p:cNvSpPr/>
          <p:nvPr/>
        </p:nvSpPr>
        <p:spPr>
          <a:xfrm>
            <a:off x="7299325" y="2295525"/>
            <a:ext cx="544513" cy="31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5" name="直接连接符 29"/>
          <p:cNvSpPr/>
          <p:nvPr/>
        </p:nvSpPr>
        <p:spPr>
          <a:xfrm flipV="1">
            <a:off x="2446338" y="1882775"/>
            <a:ext cx="109537"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6" name="直接连接符 30"/>
          <p:cNvSpPr/>
          <p:nvPr/>
        </p:nvSpPr>
        <p:spPr>
          <a:xfrm>
            <a:off x="2555875" y="1882775"/>
            <a:ext cx="322263"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7" name="直接连接符 31"/>
          <p:cNvSpPr/>
          <p:nvPr/>
        </p:nvSpPr>
        <p:spPr>
          <a:xfrm>
            <a:off x="2878138" y="1882775"/>
            <a:ext cx="107950" cy="41275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48" name="文本框 32"/>
          <p:cNvSpPr txBox="1"/>
          <p:nvPr/>
        </p:nvSpPr>
        <p:spPr>
          <a:xfrm>
            <a:off x="931863" y="2293938"/>
            <a:ext cx="1055687"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M/IO</a:t>
            </a:r>
          </a:p>
        </p:txBody>
      </p:sp>
      <p:sp>
        <p:nvSpPr>
          <p:cNvPr id="34849" name="文本框 33"/>
          <p:cNvSpPr txBox="1"/>
          <p:nvPr/>
        </p:nvSpPr>
        <p:spPr>
          <a:xfrm>
            <a:off x="914400" y="4030663"/>
            <a:ext cx="1125538"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READY</a:t>
            </a:r>
          </a:p>
        </p:txBody>
      </p:sp>
      <p:sp>
        <p:nvSpPr>
          <p:cNvPr id="34850" name="直接连接符 34"/>
          <p:cNvSpPr/>
          <p:nvPr/>
        </p:nvSpPr>
        <p:spPr>
          <a:xfrm>
            <a:off x="1885950" y="2363788"/>
            <a:ext cx="5032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1" name="直接连接符 35"/>
          <p:cNvSpPr/>
          <p:nvPr/>
        </p:nvSpPr>
        <p:spPr>
          <a:xfrm>
            <a:off x="1885950" y="2570163"/>
            <a:ext cx="5032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2" name="直接连接符 36"/>
          <p:cNvSpPr/>
          <p:nvPr/>
        </p:nvSpPr>
        <p:spPr>
          <a:xfrm>
            <a:off x="2389188" y="2363788"/>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3" name="直接连接符 37"/>
          <p:cNvSpPr/>
          <p:nvPr/>
        </p:nvSpPr>
        <p:spPr>
          <a:xfrm flipV="1">
            <a:off x="2392363" y="2366963"/>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4" name="直接连接符 38"/>
          <p:cNvSpPr/>
          <p:nvPr/>
        </p:nvSpPr>
        <p:spPr>
          <a:xfrm>
            <a:off x="2590800" y="2363788"/>
            <a:ext cx="39258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5" name="直接连接符 39"/>
          <p:cNvSpPr/>
          <p:nvPr/>
        </p:nvSpPr>
        <p:spPr>
          <a:xfrm>
            <a:off x="2590800" y="2570163"/>
            <a:ext cx="39258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6" name="直接连接符 40"/>
          <p:cNvSpPr/>
          <p:nvPr/>
        </p:nvSpPr>
        <p:spPr>
          <a:xfrm>
            <a:off x="6516688" y="2363788"/>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7" name="直接连接符 41"/>
          <p:cNvSpPr/>
          <p:nvPr/>
        </p:nvSpPr>
        <p:spPr>
          <a:xfrm flipV="1">
            <a:off x="6519863" y="2366963"/>
            <a:ext cx="201612" cy="20637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8" name="直接连接符 42"/>
          <p:cNvSpPr/>
          <p:nvPr/>
        </p:nvSpPr>
        <p:spPr>
          <a:xfrm>
            <a:off x="6718300" y="2363788"/>
            <a:ext cx="1128713"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59" name="直接连接符 43"/>
          <p:cNvSpPr/>
          <p:nvPr/>
        </p:nvSpPr>
        <p:spPr>
          <a:xfrm>
            <a:off x="6718300" y="2570163"/>
            <a:ext cx="1120775"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0" name="文本框 44"/>
          <p:cNvSpPr txBox="1"/>
          <p:nvPr/>
        </p:nvSpPr>
        <p:spPr>
          <a:xfrm>
            <a:off x="981075" y="1963738"/>
            <a:ext cx="752475" cy="366712"/>
          </a:xfrm>
          <a:prstGeom prst="rect">
            <a:avLst/>
          </a:prstGeom>
          <a:noFill/>
          <a:ln w="9525">
            <a:noFill/>
          </a:ln>
        </p:spPr>
        <p:txBody>
          <a:bodyPr anchor="t" anchorCtr="0">
            <a:spAutoFit/>
          </a:bodyPr>
          <a:lstStyle/>
          <a:p>
            <a:pPr algn="ctr"/>
            <a:r>
              <a:rPr lang="en-US" altLang="zh-CN" sz="1800" b="0">
                <a:solidFill>
                  <a:srgbClr val="66FF33"/>
                </a:solidFill>
                <a:latin typeface="Tahoma" panose="020B0604030504040204" pitchFamily="34" charset="0"/>
                <a:ea typeface="宋体" panose="02010600030101010101" pitchFamily="2" charset="-122"/>
              </a:rPr>
              <a:t>CLK</a:t>
            </a:r>
          </a:p>
        </p:txBody>
      </p:sp>
      <p:sp>
        <p:nvSpPr>
          <p:cNvPr id="34861" name="直接连接符 45"/>
          <p:cNvSpPr/>
          <p:nvPr/>
        </p:nvSpPr>
        <p:spPr>
          <a:xfrm>
            <a:off x="1885950" y="2708275"/>
            <a:ext cx="50323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2" name="直接连接符 46"/>
          <p:cNvSpPr/>
          <p:nvPr/>
        </p:nvSpPr>
        <p:spPr>
          <a:xfrm>
            <a:off x="1885950" y="2984500"/>
            <a:ext cx="50323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3" name="直接连接符 47"/>
          <p:cNvSpPr/>
          <p:nvPr/>
        </p:nvSpPr>
        <p:spPr>
          <a:xfrm>
            <a:off x="2389188" y="270827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4" name="直接连接符 48"/>
          <p:cNvSpPr/>
          <p:nvPr/>
        </p:nvSpPr>
        <p:spPr>
          <a:xfrm flipV="1">
            <a:off x="2389188" y="2846388"/>
            <a:ext cx="201612"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5" name="直接连接符 49"/>
          <p:cNvSpPr/>
          <p:nvPr/>
        </p:nvSpPr>
        <p:spPr>
          <a:xfrm>
            <a:off x="2590800" y="2846388"/>
            <a:ext cx="40163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6" name="直接连接符 50"/>
          <p:cNvSpPr/>
          <p:nvPr/>
        </p:nvSpPr>
        <p:spPr>
          <a:xfrm flipV="1">
            <a:off x="2992438" y="270827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7" name="直接连接符 51"/>
          <p:cNvSpPr/>
          <p:nvPr/>
        </p:nvSpPr>
        <p:spPr>
          <a:xfrm>
            <a:off x="2992438" y="2846388"/>
            <a:ext cx="201612"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8" name="直接连接符 52"/>
          <p:cNvSpPr/>
          <p:nvPr/>
        </p:nvSpPr>
        <p:spPr>
          <a:xfrm>
            <a:off x="3194050" y="2708275"/>
            <a:ext cx="8064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69" name="直接连接符 53"/>
          <p:cNvSpPr/>
          <p:nvPr/>
        </p:nvSpPr>
        <p:spPr>
          <a:xfrm>
            <a:off x="3194050" y="2984500"/>
            <a:ext cx="80645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0" name="直接连接符 54"/>
          <p:cNvSpPr/>
          <p:nvPr/>
        </p:nvSpPr>
        <p:spPr>
          <a:xfrm>
            <a:off x="4000500" y="2717800"/>
            <a:ext cx="403225"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1" name="直接连接符 55"/>
          <p:cNvSpPr/>
          <p:nvPr/>
        </p:nvSpPr>
        <p:spPr>
          <a:xfrm flipV="1">
            <a:off x="4003675" y="2711450"/>
            <a:ext cx="403225"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2" name="直接连接符 56"/>
          <p:cNvSpPr/>
          <p:nvPr/>
        </p:nvSpPr>
        <p:spPr>
          <a:xfrm>
            <a:off x="4403725" y="2708275"/>
            <a:ext cx="25146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3" name="直接连接符 57"/>
          <p:cNvSpPr/>
          <p:nvPr/>
        </p:nvSpPr>
        <p:spPr>
          <a:xfrm>
            <a:off x="4403725" y="2984500"/>
            <a:ext cx="25146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4" name="直接连接符 58"/>
          <p:cNvSpPr/>
          <p:nvPr/>
        </p:nvSpPr>
        <p:spPr>
          <a:xfrm>
            <a:off x="6918325" y="270827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5" name="直接连接符 59"/>
          <p:cNvSpPr/>
          <p:nvPr/>
        </p:nvSpPr>
        <p:spPr>
          <a:xfrm flipV="1">
            <a:off x="6918325" y="2846388"/>
            <a:ext cx="201613" cy="138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6" name="直接连接符 60"/>
          <p:cNvSpPr/>
          <p:nvPr/>
        </p:nvSpPr>
        <p:spPr>
          <a:xfrm>
            <a:off x="7119938" y="2846388"/>
            <a:ext cx="736600"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7" name="直接连接符 61"/>
          <p:cNvSpPr/>
          <p:nvPr/>
        </p:nvSpPr>
        <p:spPr>
          <a:xfrm>
            <a:off x="3697288" y="4086225"/>
            <a:ext cx="422751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8" name="直接连接符 62"/>
          <p:cNvSpPr/>
          <p:nvPr/>
        </p:nvSpPr>
        <p:spPr>
          <a:xfrm flipH="1">
            <a:off x="2892425" y="3811588"/>
            <a:ext cx="100013" cy="3143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79" name="直接连接符 63"/>
          <p:cNvSpPr/>
          <p:nvPr/>
        </p:nvSpPr>
        <p:spPr>
          <a:xfrm>
            <a:off x="2992438" y="3811588"/>
            <a:ext cx="6032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0" name="直接连接符 64"/>
          <p:cNvSpPr/>
          <p:nvPr/>
        </p:nvSpPr>
        <p:spPr>
          <a:xfrm>
            <a:off x="3595688" y="3811588"/>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1" name="直接连接符 65"/>
          <p:cNvSpPr/>
          <p:nvPr/>
        </p:nvSpPr>
        <p:spPr>
          <a:xfrm>
            <a:off x="4000500" y="4498975"/>
            <a:ext cx="201613"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2" name="直接连接符 66"/>
          <p:cNvSpPr/>
          <p:nvPr/>
        </p:nvSpPr>
        <p:spPr>
          <a:xfrm>
            <a:off x="4202113" y="4775200"/>
            <a:ext cx="221297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3" name="直接连接符 67"/>
          <p:cNvSpPr/>
          <p:nvPr/>
        </p:nvSpPr>
        <p:spPr>
          <a:xfrm flipV="1">
            <a:off x="6415088" y="4498975"/>
            <a:ext cx="201612" cy="2762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4" name="直接连接符 68"/>
          <p:cNvSpPr/>
          <p:nvPr/>
        </p:nvSpPr>
        <p:spPr>
          <a:xfrm>
            <a:off x="6616700" y="4498975"/>
            <a:ext cx="1308100"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5" name="直接连接符 69"/>
          <p:cNvSpPr/>
          <p:nvPr/>
        </p:nvSpPr>
        <p:spPr>
          <a:xfrm flipV="1">
            <a:off x="1885950" y="3122613"/>
            <a:ext cx="1106488"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6" name="直接连接符 70"/>
          <p:cNvSpPr/>
          <p:nvPr/>
        </p:nvSpPr>
        <p:spPr>
          <a:xfrm flipH="1">
            <a:off x="3797300" y="3122613"/>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7" name="直接连接符 71"/>
          <p:cNvSpPr/>
          <p:nvPr/>
        </p:nvSpPr>
        <p:spPr>
          <a:xfrm>
            <a:off x="3094038" y="3397250"/>
            <a:ext cx="703262"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8" name="直接连接符 72"/>
          <p:cNvSpPr/>
          <p:nvPr/>
        </p:nvSpPr>
        <p:spPr>
          <a:xfrm>
            <a:off x="2992438" y="3122613"/>
            <a:ext cx="101600" cy="27463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89" name="直接连接符 73"/>
          <p:cNvSpPr/>
          <p:nvPr/>
        </p:nvSpPr>
        <p:spPr>
          <a:xfrm flipV="1">
            <a:off x="3898900" y="3114675"/>
            <a:ext cx="3959225" cy="9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0" name="直接连接符 74"/>
          <p:cNvSpPr/>
          <p:nvPr/>
        </p:nvSpPr>
        <p:spPr>
          <a:xfrm>
            <a:off x="1885950" y="3603625"/>
            <a:ext cx="1106488"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1" name="直接连接符 75"/>
          <p:cNvSpPr/>
          <p:nvPr/>
        </p:nvSpPr>
        <p:spPr>
          <a:xfrm flipV="1">
            <a:off x="2992438" y="3467100"/>
            <a:ext cx="201612"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2" name="直接连接符 76"/>
          <p:cNvSpPr/>
          <p:nvPr/>
        </p:nvSpPr>
        <p:spPr>
          <a:xfrm>
            <a:off x="2992438" y="3603625"/>
            <a:ext cx="201612"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3" name="直接连接符 77"/>
          <p:cNvSpPr/>
          <p:nvPr/>
        </p:nvSpPr>
        <p:spPr>
          <a:xfrm>
            <a:off x="3194050" y="3467100"/>
            <a:ext cx="80645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4" name="直接连接符 78"/>
          <p:cNvSpPr/>
          <p:nvPr/>
        </p:nvSpPr>
        <p:spPr>
          <a:xfrm>
            <a:off x="3194050" y="3741738"/>
            <a:ext cx="806450"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5" name="直接连接符 79"/>
          <p:cNvSpPr/>
          <p:nvPr/>
        </p:nvSpPr>
        <p:spPr>
          <a:xfrm>
            <a:off x="4000500" y="3467100"/>
            <a:ext cx="201613"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6" name="直接连接符 80"/>
          <p:cNvSpPr/>
          <p:nvPr/>
        </p:nvSpPr>
        <p:spPr>
          <a:xfrm flipV="1">
            <a:off x="4000500" y="360362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7" name="直接连接符 81"/>
          <p:cNvSpPr/>
          <p:nvPr/>
        </p:nvSpPr>
        <p:spPr>
          <a:xfrm>
            <a:off x="4202113" y="3603625"/>
            <a:ext cx="1711325" cy="1588"/>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8" name="直接连接符 82"/>
          <p:cNvSpPr/>
          <p:nvPr/>
        </p:nvSpPr>
        <p:spPr>
          <a:xfrm>
            <a:off x="6113463" y="3467100"/>
            <a:ext cx="13096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899" name="直接连接符 83"/>
          <p:cNvSpPr/>
          <p:nvPr/>
        </p:nvSpPr>
        <p:spPr>
          <a:xfrm>
            <a:off x="6113463" y="3741738"/>
            <a:ext cx="1309687" cy="1587"/>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0" name="直接连接符 84"/>
          <p:cNvSpPr/>
          <p:nvPr/>
        </p:nvSpPr>
        <p:spPr>
          <a:xfrm>
            <a:off x="7423150" y="3467100"/>
            <a:ext cx="201613"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1" name="直接连接符 85"/>
          <p:cNvSpPr/>
          <p:nvPr/>
        </p:nvSpPr>
        <p:spPr>
          <a:xfrm flipV="1">
            <a:off x="7423150" y="3603625"/>
            <a:ext cx="201613"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2" name="直接连接符 86"/>
          <p:cNvSpPr/>
          <p:nvPr/>
        </p:nvSpPr>
        <p:spPr>
          <a:xfrm flipH="1">
            <a:off x="5913438" y="3467100"/>
            <a:ext cx="200025" cy="136525"/>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3" name="直接连接符 87"/>
          <p:cNvSpPr/>
          <p:nvPr/>
        </p:nvSpPr>
        <p:spPr>
          <a:xfrm flipH="1" flipV="1">
            <a:off x="5913438" y="3603625"/>
            <a:ext cx="200025" cy="138113"/>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4" name="直接连接符 88"/>
          <p:cNvSpPr/>
          <p:nvPr/>
        </p:nvSpPr>
        <p:spPr>
          <a:xfrm>
            <a:off x="1852613" y="4891088"/>
            <a:ext cx="561975"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5" name="直接连接符 89"/>
          <p:cNvSpPr/>
          <p:nvPr/>
        </p:nvSpPr>
        <p:spPr>
          <a:xfrm>
            <a:off x="1852613" y="5119688"/>
            <a:ext cx="655637"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6" name="直接连接符 90"/>
          <p:cNvSpPr/>
          <p:nvPr/>
        </p:nvSpPr>
        <p:spPr>
          <a:xfrm>
            <a:off x="2414588" y="4891088"/>
            <a:ext cx="93662"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7" name="直接连接符 91"/>
          <p:cNvSpPr/>
          <p:nvPr/>
        </p:nvSpPr>
        <p:spPr>
          <a:xfrm>
            <a:off x="2508250" y="5119688"/>
            <a:ext cx="44069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8" name="直接连接符 92"/>
          <p:cNvSpPr/>
          <p:nvPr/>
        </p:nvSpPr>
        <p:spPr>
          <a:xfrm>
            <a:off x="6915150" y="5119688"/>
            <a:ext cx="842963"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09" name="直接连接符 93"/>
          <p:cNvSpPr/>
          <p:nvPr/>
        </p:nvSpPr>
        <p:spPr>
          <a:xfrm flipV="1">
            <a:off x="6915150" y="4891088"/>
            <a:ext cx="93663"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0" name="直接连接符 94"/>
          <p:cNvSpPr/>
          <p:nvPr/>
        </p:nvSpPr>
        <p:spPr>
          <a:xfrm>
            <a:off x="7008813" y="4891088"/>
            <a:ext cx="749300"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1" name="直接连接符 95"/>
          <p:cNvSpPr/>
          <p:nvPr/>
        </p:nvSpPr>
        <p:spPr>
          <a:xfrm>
            <a:off x="7618413" y="3595688"/>
            <a:ext cx="2809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2" name="直接连接符 96"/>
          <p:cNvSpPr/>
          <p:nvPr/>
        </p:nvSpPr>
        <p:spPr>
          <a:xfrm>
            <a:off x="1946275" y="5348288"/>
            <a:ext cx="655638"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3" name="直接连接符 97"/>
          <p:cNvSpPr/>
          <p:nvPr/>
        </p:nvSpPr>
        <p:spPr>
          <a:xfrm>
            <a:off x="1946275" y="5576888"/>
            <a:ext cx="561975"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4" name="直接连接符 98"/>
          <p:cNvSpPr/>
          <p:nvPr/>
        </p:nvSpPr>
        <p:spPr>
          <a:xfrm flipH="1">
            <a:off x="2508250" y="5348288"/>
            <a:ext cx="93663" cy="2286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5" name="直接连接符 99"/>
          <p:cNvSpPr/>
          <p:nvPr/>
        </p:nvSpPr>
        <p:spPr>
          <a:xfrm>
            <a:off x="1852613" y="5348288"/>
            <a:ext cx="2249487"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6" name="直接连接符 100"/>
          <p:cNvSpPr/>
          <p:nvPr/>
        </p:nvSpPr>
        <p:spPr>
          <a:xfrm>
            <a:off x="4102100" y="5348288"/>
            <a:ext cx="187325"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7" name="直接连接符 101"/>
          <p:cNvSpPr/>
          <p:nvPr/>
        </p:nvSpPr>
        <p:spPr>
          <a:xfrm>
            <a:off x="4289425" y="5653088"/>
            <a:ext cx="2251075"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8" name="直接连接符 102"/>
          <p:cNvSpPr/>
          <p:nvPr/>
        </p:nvSpPr>
        <p:spPr>
          <a:xfrm flipV="1">
            <a:off x="6540500" y="5348288"/>
            <a:ext cx="93663"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19" name="直接连接符 103"/>
          <p:cNvSpPr/>
          <p:nvPr/>
        </p:nvSpPr>
        <p:spPr>
          <a:xfrm>
            <a:off x="6634163" y="5348288"/>
            <a:ext cx="468312"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20" name="直接连接符 104"/>
          <p:cNvSpPr/>
          <p:nvPr/>
        </p:nvSpPr>
        <p:spPr>
          <a:xfrm>
            <a:off x="7102475" y="5348288"/>
            <a:ext cx="749300"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21" name="直接连接符 105"/>
          <p:cNvSpPr/>
          <p:nvPr/>
        </p:nvSpPr>
        <p:spPr>
          <a:xfrm flipH="1" flipV="1">
            <a:off x="7196138" y="5348288"/>
            <a:ext cx="93662" cy="30480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22" name="直接连接符 106"/>
          <p:cNvSpPr/>
          <p:nvPr/>
        </p:nvSpPr>
        <p:spPr>
          <a:xfrm>
            <a:off x="7289800" y="5653088"/>
            <a:ext cx="468313" cy="0"/>
          </a:xfrm>
          <a:prstGeom prst="line">
            <a:avLst/>
          </a:prstGeom>
          <a:ln w="9525" cap="flat" cmpd="sng">
            <a:solidFill>
              <a:srgbClr val="FF9900"/>
            </a:solidFill>
            <a:prstDash val="dash"/>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23" name="文本框 107"/>
          <p:cNvSpPr txBox="1"/>
          <p:nvPr/>
        </p:nvSpPr>
        <p:spPr>
          <a:xfrm>
            <a:off x="3259138" y="2681288"/>
            <a:ext cx="749300" cy="304800"/>
          </a:xfrm>
          <a:prstGeom prst="rect">
            <a:avLst/>
          </a:prstGeom>
          <a:noFill/>
          <a:ln w="9525">
            <a:noFill/>
          </a:ln>
        </p:spPr>
        <p:txBody>
          <a:bodyPr anchor="t" anchorCtr="0">
            <a:spAutoFit/>
          </a:bodyPr>
          <a:lstStyle/>
          <a:p>
            <a:pPr algn="ctr">
              <a:spcBef>
                <a:spcPct val="50000"/>
              </a:spcBef>
            </a:pPr>
            <a:r>
              <a:rPr lang="zh-CN" altLang="en-US" sz="1400" b="0" dirty="0">
                <a:solidFill>
                  <a:srgbClr val="66FF33"/>
                </a:solidFill>
                <a:latin typeface="Tahoma" panose="020B0604030504040204" pitchFamily="34" charset="0"/>
                <a:ea typeface="宋体" panose="02010600030101010101" pitchFamily="2" charset="-122"/>
              </a:rPr>
              <a:t>地址</a:t>
            </a:r>
          </a:p>
        </p:txBody>
      </p:sp>
      <p:sp>
        <p:nvSpPr>
          <p:cNvPr id="34924" name="文本框 108"/>
          <p:cNvSpPr txBox="1"/>
          <p:nvPr/>
        </p:nvSpPr>
        <p:spPr>
          <a:xfrm>
            <a:off x="4852988" y="2681288"/>
            <a:ext cx="1781175" cy="304800"/>
          </a:xfrm>
          <a:prstGeom prst="rect">
            <a:avLst/>
          </a:prstGeom>
          <a:noFill/>
          <a:ln w="9525">
            <a:noFill/>
          </a:ln>
        </p:spPr>
        <p:txBody>
          <a:bodyPr anchor="t" anchorCtr="0">
            <a:spAutoFit/>
          </a:bodyPr>
          <a:lstStyle/>
          <a:p>
            <a:pPr algn="dist">
              <a:spcBef>
                <a:spcPct val="50000"/>
              </a:spcBef>
            </a:pPr>
            <a:r>
              <a:rPr lang="zh-CN" altLang="en-US" sz="1400" b="0" dirty="0">
                <a:solidFill>
                  <a:srgbClr val="66FF33"/>
                </a:solidFill>
                <a:latin typeface="Tahoma" panose="020B0604030504040204" pitchFamily="34" charset="0"/>
                <a:ea typeface="宋体" panose="02010600030101010101" pitchFamily="2" charset="-122"/>
              </a:rPr>
              <a:t>状态输出</a:t>
            </a:r>
          </a:p>
        </p:txBody>
      </p:sp>
      <p:sp>
        <p:nvSpPr>
          <p:cNvPr id="34925" name="文本框 109"/>
          <p:cNvSpPr txBox="1"/>
          <p:nvPr/>
        </p:nvSpPr>
        <p:spPr>
          <a:xfrm>
            <a:off x="3259138" y="3443288"/>
            <a:ext cx="749300" cy="304800"/>
          </a:xfrm>
          <a:prstGeom prst="rect">
            <a:avLst/>
          </a:prstGeom>
          <a:noFill/>
          <a:ln w="9525">
            <a:noFill/>
          </a:ln>
        </p:spPr>
        <p:txBody>
          <a:bodyPr anchor="t" anchorCtr="0">
            <a:spAutoFit/>
          </a:bodyPr>
          <a:lstStyle/>
          <a:p>
            <a:pPr algn="ctr">
              <a:spcBef>
                <a:spcPct val="50000"/>
              </a:spcBef>
            </a:pPr>
            <a:r>
              <a:rPr lang="zh-CN" altLang="en-US" sz="1400" b="0" dirty="0">
                <a:solidFill>
                  <a:srgbClr val="66FF33"/>
                </a:solidFill>
                <a:latin typeface="Tahoma" panose="020B0604030504040204" pitchFamily="34" charset="0"/>
                <a:ea typeface="宋体" panose="02010600030101010101" pitchFamily="2" charset="-122"/>
              </a:rPr>
              <a:t>地址</a:t>
            </a:r>
          </a:p>
        </p:txBody>
      </p:sp>
      <p:sp>
        <p:nvSpPr>
          <p:cNvPr id="34926" name="文本框 110"/>
          <p:cNvSpPr txBox="1"/>
          <p:nvPr/>
        </p:nvSpPr>
        <p:spPr>
          <a:xfrm>
            <a:off x="6164263" y="3443288"/>
            <a:ext cx="1219200" cy="304800"/>
          </a:xfrm>
          <a:prstGeom prst="rect">
            <a:avLst/>
          </a:prstGeom>
          <a:noFill/>
          <a:ln w="9525">
            <a:noFill/>
          </a:ln>
        </p:spPr>
        <p:txBody>
          <a:bodyPr anchor="t" anchorCtr="0">
            <a:spAutoFit/>
          </a:bodyPr>
          <a:lstStyle/>
          <a:p>
            <a:pPr algn="dist">
              <a:spcBef>
                <a:spcPct val="50000"/>
              </a:spcBef>
            </a:pPr>
            <a:r>
              <a:rPr lang="zh-CN" altLang="en-US" sz="1400" b="0" dirty="0">
                <a:solidFill>
                  <a:srgbClr val="66FF33"/>
                </a:solidFill>
                <a:latin typeface="Tahoma" panose="020B0604030504040204" pitchFamily="34" charset="0"/>
                <a:ea typeface="宋体" panose="02010600030101010101" pitchFamily="2" charset="-122"/>
              </a:rPr>
              <a:t>数据输入</a:t>
            </a:r>
          </a:p>
        </p:txBody>
      </p:sp>
      <p:sp>
        <p:nvSpPr>
          <p:cNvPr id="34927" name="文本框 111"/>
          <p:cNvSpPr txBox="1"/>
          <p:nvPr/>
        </p:nvSpPr>
        <p:spPr>
          <a:xfrm>
            <a:off x="381000" y="2619375"/>
            <a:ext cx="1905000" cy="366713"/>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a:t>
            </a:r>
            <a:r>
              <a:rPr lang="en-US" altLang="zh-CN" sz="1800" b="0" baseline="-25000">
                <a:solidFill>
                  <a:srgbClr val="66FF33"/>
                </a:solidFill>
                <a:latin typeface="Tahoma" panose="020B0604030504040204" pitchFamily="34" charset="0"/>
                <a:ea typeface="宋体" panose="02010600030101010101" pitchFamily="2" charset="-122"/>
              </a:rPr>
              <a:t>19</a:t>
            </a:r>
            <a:r>
              <a:rPr lang="en-US" altLang="zh-CN" sz="1800" b="0">
                <a:solidFill>
                  <a:srgbClr val="66FF33"/>
                </a:solidFill>
                <a:latin typeface="Tahoma" panose="020B0604030504040204" pitchFamily="34" charset="0"/>
                <a:ea typeface="宋体" panose="02010600030101010101" pitchFamily="2" charset="-122"/>
              </a:rPr>
              <a:t>/S</a:t>
            </a:r>
            <a:r>
              <a:rPr lang="en-US" altLang="zh-CN" sz="1800" b="0" baseline="-25000">
                <a:solidFill>
                  <a:srgbClr val="66FF33"/>
                </a:solidFill>
                <a:latin typeface="Tahoma" panose="020B0604030504040204" pitchFamily="34" charset="0"/>
                <a:ea typeface="宋体" panose="02010600030101010101" pitchFamily="2" charset="-122"/>
              </a:rPr>
              <a:t>6</a:t>
            </a:r>
            <a:r>
              <a:rPr lang="en-US" altLang="zh-CN" sz="1800" b="0">
                <a:solidFill>
                  <a:srgbClr val="66FF33"/>
                </a:solidFill>
                <a:latin typeface="Tahoma" panose="020B0604030504040204" pitchFamily="34" charset="0"/>
                <a:ea typeface="宋体" panose="02010600030101010101" pitchFamily="2" charset="-122"/>
              </a:rPr>
              <a:t>-A</a:t>
            </a:r>
            <a:r>
              <a:rPr lang="en-US" altLang="zh-CN" sz="1800" b="0" baseline="-25000">
                <a:solidFill>
                  <a:srgbClr val="66FF33"/>
                </a:solidFill>
                <a:latin typeface="Tahoma" panose="020B0604030504040204" pitchFamily="34" charset="0"/>
                <a:ea typeface="宋体" panose="02010600030101010101" pitchFamily="2" charset="-122"/>
              </a:rPr>
              <a:t>16</a:t>
            </a:r>
            <a:r>
              <a:rPr lang="en-US" altLang="zh-CN" sz="1800" b="0">
                <a:solidFill>
                  <a:srgbClr val="66FF33"/>
                </a:solidFill>
                <a:latin typeface="Tahoma" panose="020B0604030504040204" pitchFamily="34" charset="0"/>
                <a:ea typeface="宋体" panose="02010600030101010101" pitchFamily="2" charset="-122"/>
              </a:rPr>
              <a:t>/S</a:t>
            </a:r>
            <a:r>
              <a:rPr lang="en-US" altLang="zh-CN" sz="1800" b="0" baseline="-25000">
                <a:solidFill>
                  <a:srgbClr val="66FF33"/>
                </a:solidFill>
                <a:latin typeface="Tahoma" panose="020B0604030504040204" pitchFamily="34" charset="0"/>
                <a:ea typeface="宋体" panose="02010600030101010101" pitchFamily="2" charset="-122"/>
              </a:rPr>
              <a:t>3</a:t>
            </a:r>
          </a:p>
        </p:txBody>
      </p:sp>
      <p:sp>
        <p:nvSpPr>
          <p:cNvPr id="34928" name="文本框 112"/>
          <p:cNvSpPr txBox="1"/>
          <p:nvPr/>
        </p:nvSpPr>
        <p:spPr>
          <a:xfrm>
            <a:off x="990600" y="2986088"/>
            <a:ext cx="9144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BHE/S</a:t>
            </a:r>
            <a:r>
              <a:rPr lang="en-US" altLang="zh-CN" sz="1800" b="0" baseline="-25000">
                <a:solidFill>
                  <a:srgbClr val="66FF33"/>
                </a:solidFill>
                <a:latin typeface="Tahoma" panose="020B0604030504040204" pitchFamily="34" charset="0"/>
                <a:ea typeface="宋体" panose="02010600030101010101" pitchFamily="2" charset="-122"/>
              </a:rPr>
              <a:t>7</a:t>
            </a:r>
          </a:p>
        </p:txBody>
      </p:sp>
      <p:sp>
        <p:nvSpPr>
          <p:cNvPr id="34929" name="文本框 113"/>
          <p:cNvSpPr txBox="1"/>
          <p:nvPr/>
        </p:nvSpPr>
        <p:spPr>
          <a:xfrm>
            <a:off x="838200" y="3457575"/>
            <a:ext cx="1295400" cy="366713"/>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AD</a:t>
            </a:r>
            <a:r>
              <a:rPr lang="en-US" altLang="zh-CN" sz="1800" b="0" baseline="-25000">
                <a:solidFill>
                  <a:srgbClr val="66FF33"/>
                </a:solidFill>
                <a:latin typeface="Tahoma" panose="020B0604030504040204" pitchFamily="34" charset="0"/>
                <a:ea typeface="宋体" panose="02010600030101010101" pitchFamily="2" charset="-122"/>
              </a:rPr>
              <a:t>15</a:t>
            </a:r>
            <a:r>
              <a:rPr lang="en-US" altLang="zh-CN" sz="1800" b="0">
                <a:solidFill>
                  <a:srgbClr val="66FF33"/>
                </a:solidFill>
                <a:latin typeface="Tahoma" panose="020B0604030504040204" pitchFamily="34" charset="0"/>
                <a:ea typeface="宋体" panose="02010600030101010101" pitchFamily="2" charset="-122"/>
              </a:rPr>
              <a:t>-AD</a:t>
            </a:r>
            <a:r>
              <a:rPr lang="en-US" altLang="zh-CN" sz="1800" b="0" baseline="-25000">
                <a:solidFill>
                  <a:srgbClr val="66FF33"/>
                </a:solidFill>
                <a:latin typeface="Tahoma" panose="020B0604030504040204" pitchFamily="34" charset="0"/>
                <a:ea typeface="宋体" panose="02010600030101010101" pitchFamily="2" charset="-122"/>
              </a:rPr>
              <a:t>0</a:t>
            </a:r>
          </a:p>
        </p:txBody>
      </p:sp>
      <p:sp>
        <p:nvSpPr>
          <p:cNvPr id="34930" name="文本框 114"/>
          <p:cNvSpPr txBox="1"/>
          <p:nvPr/>
        </p:nvSpPr>
        <p:spPr>
          <a:xfrm>
            <a:off x="1143000" y="3824288"/>
            <a:ext cx="6858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ALE</a:t>
            </a:r>
          </a:p>
        </p:txBody>
      </p:sp>
      <p:sp>
        <p:nvSpPr>
          <p:cNvPr id="34931" name="文本框 115"/>
          <p:cNvSpPr txBox="1"/>
          <p:nvPr/>
        </p:nvSpPr>
        <p:spPr>
          <a:xfrm>
            <a:off x="1219200" y="4281488"/>
            <a:ext cx="6096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RD</a:t>
            </a:r>
          </a:p>
        </p:txBody>
      </p:sp>
      <p:sp>
        <p:nvSpPr>
          <p:cNvPr id="34932" name="文本框 116"/>
          <p:cNvSpPr txBox="1"/>
          <p:nvPr/>
        </p:nvSpPr>
        <p:spPr>
          <a:xfrm>
            <a:off x="1143000" y="4891088"/>
            <a:ext cx="8382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DT/R</a:t>
            </a:r>
          </a:p>
        </p:txBody>
      </p:sp>
      <p:sp>
        <p:nvSpPr>
          <p:cNvPr id="34933" name="文本框 117"/>
          <p:cNvSpPr txBox="1"/>
          <p:nvPr/>
        </p:nvSpPr>
        <p:spPr>
          <a:xfrm>
            <a:off x="1066800" y="5348288"/>
            <a:ext cx="762000" cy="366712"/>
          </a:xfrm>
          <a:prstGeom prst="rect">
            <a:avLst/>
          </a:prstGeom>
          <a:noFill/>
          <a:ln w="9525">
            <a:noFill/>
          </a:ln>
        </p:spPr>
        <p:txBody>
          <a:bodyPr anchor="t" anchorCtr="0">
            <a:spAutoFit/>
          </a:bodyPr>
          <a:lstStyle/>
          <a:p>
            <a:pPr algn="ctr">
              <a:spcBef>
                <a:spcPct val="50000"/>
              </a:spcBef>
            </a:pPr>
            <a:r>
              <a:rPr lang="en-US" altLang="zh-CN" sz="1800" b="0">
                <a:solidFill>
                  <a:srgbClr val="66FF33"/>
                </a:solidFill>
                <a:latin typeface="Tahoma" panose="020B0604030504040204" pitchFamily="34" charset="0"/>
                <a:ea typeface="宋体" panose="02010600030101010101" pitchFamily="2" charset="-122"/>
              </a:rPr>
              <a:t>DEN</a:t>
            </a:r>
          </a:p>
        </p:txBody>
      </p:sp>
      <p:sp>
        <p:nvSpPr>
          <p:cNvPr id="34934" name="直接连接符 118"/>
          <p:cNvSpPr/>
          <p:nvPr/>
        </p:nvSpPr>
        <p:spPr>
          <a:xfrm>
            <a:off x="1219200" y="5395913"/>
            <a:ext cx="4572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35" name="直接连接符 119"/>
          <p:cNvSpPr/>
          <p:nvPr/>
        </p:nvSpPr>
        <p:spPr>
          <a:xfrm>
            <a:off x="1676400" y="4938713"/>
            <a:ext cx="1524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36" name="直接连接符 120"/>
          <p:cNvSpPr/>
          <p:nvPr/>
        </p:nvSpPr>
        <p:spPr>
          <a:xfrm>
            <a:off x="1371600" y="4329113"/>
            <a:ext cx="228600" cy="0"/>
          </a:xfrm>
          <a:prstGeom prst="line">
            <a:avLst/>
          </a:prstGeom>
          <a:ln w="2857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37" name="矩形 121"/>
          <p:cNvSpPr/>
          <p:nvPr/>
        </p:nvSpPr>
        <p:spPr>
          <a:xfrm>
            <a:off x="2895600" y="6110288"/>
            <a:ext cx="3657600" cy="366712"/>
          </a:xfrm>
          <a:prstGeom prst="rect">
            <a:avLst/>
          </a:prstGeom>
          <a:noFill/>
          <a:ln w="9525">
            <a:noFill/>
          </a:ln>
        </p:spPr>
        <p:txBody>
          <a:bodyPr wrap="none" anchor="t" anchorCtr="0">
            <a:spAutoFit/>
          </a:bodyPr>
          <a:lstStyle/>
          <a:p>
            <a:pPr algn="ctr"/>
            <a:r>
              <a:rPr lang="zh-CN" altLang="en-US" sz="1800" b="0" dirty="0">
                <a:solidFill>
                  <a:srgbClr val="66FF33"/>
                </a:solidFill>
                <a:latin typeface="Tahoma" panose="020B0604030504040204" pitchFamily="34" charset="0"/>
                <a:ea typeface="宋体" panose="02010600030101010101" pitchFamily="2" charset="-122"/>
              </a:rPr>
              <a:t>最小模式下8086读总线操作时序图</a:t>
            </a:r>
            <a:endParaRPr lang="en-US" altLang="zh-CN" sz="1800" b="0">
              <a:solidFill>
                <a:srgbClr val="66FF33"/>
              </a:solidFill>
              <a:latin typeface="Tahoma" panose="020B0604030504040204" pitchFamily="34" charset="0"/>
              <a:ea typeface="宋体" panose="02010600030101010101" pitchFamily="2" charset="-122"/>
            </a:endParaRPr>
          </a:p>
        </p:txBody>
      </p:sp>
      <p:sp>
        <p:nvSpPr>
          <p:cNvPr id="34938" name="直接连接符 122"/>
          <p:cNvSpPr/>
          <p:nvPr/>
        </p:nvSpPr>
        <p:spPr>
          <a:xfrm>
            <a:off x="1524000" y="2347913"/>
            <a:ext cx="1524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39" name="直接连接符 123"/>
          <p:cNvSpPr/>
          <p:nvPr/>
        </p:nvSpPr>
        <p:spPr>
          <a:xfrm>
            <a:off x="1066800" y="3033713"/>
            <a:ext cx="3810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0" name="直接连接符 124"/>
          <p:cNvSpPr/>
          <p:nvPr/>
        </p:nvSpPr>
        <p:spPr>
          <a:xfrm flipV="1">
            <a:off x="5791200" y="4205288"/>
            <a:ext cx="152400" cy="30480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1" name="直接连接符 125"/>
          <p:cNvSpPr/>
          <p:nvPr/>
        </p:nvSpPr>
        <p:spPr>
          <a:xfrm>
            <a:off x="4191000" y="4510088"/>
            <a:ext cx="1600200" cy="0"/>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2" name="直接连接符 126"/>
          <p:cNvSpPr/>
          <p:nvPr/>
        </p:nvSpPr>
        <p:spPr>
          <a:xfrm>
            <a:off x="5943600" y="4205288"/>
            <a:ext cx="1952625" cy="11112"/>
          </a:xfrm>
          <a:prstGeom prst="line">
            <a:avLst/>
          </a:prstGeom>
          <a:ln w="9525" cap="flat" cmpd="sng">
            <a:solidFill>
              <a:srgbClr val="FF9900"/>
            </a:solidFill>
            <a:prstDash val="solid"/>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3" name="直接连接符 127"/>
          <p:cNvSpPr/>
          <p:nvPr/>
        </p:nvSpPr>
        <p:spPr>
          <a:xfrm>
            <a:off x="28956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4" name="直接连接符 128"/>
          <p:cNvSpPr/>
          <p:nvPr/>
        </p:nvSpPr>
        <p:spPr>
          <a:xfrm>
            <a:off x="46101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5" name="直接连接符 129"/>
          <p:cNvSpPr/>
          <p:nvPr/>
        </p:nvSpPr>
        <p:spPr>
          <a:xfrm>
            <a:off x="54610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6" name="直接连接符 130"/>
          <p:cNvSpPr/>
          <p:nvPr/>
        </p:nvSpPr>
        <p:spPr>
          <a:xfrm>
            <a:off x="63246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7" name="直接连接符 131"/>
          <p:cNvSpPr/>
          <p:nvPr/>
        </p:nvSpPr>
        <p:spPr>
          <a:xfrm>
            <a:off x="7188200" y="17668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8" name="直接连接符 132"/>
          <p:cNvSpPr/>
          <p:nvPr/>
        </p:nvSpPr>
        <p:spPr>
          <a:xfrm>
            <a:off x="3746500" y="1779588"/>
            <a:ext cx="0" cy="4191000"/>
          </a:xfrm>
          <a:prstGeom prst="line">
            <a:avLst/>
          </a:prstGeom>
          <a:ln w="9525" cap="flat" cmpd="sng">
            <a:solidFill>
              <a:srgbClr val="66FF33"/>
            </a:solidFill>
            <a:prstDash val="dashDot"/>
            <a:round/>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34949" name="矩形 133"/>
          <p:cNvSpPr/>
          <p:nvPr/>
        </p:nvSpPr>
        <p:spPr>
          <a:xfrm>
            <a:off x="381000" y="571500"/>
            <a:ext cx="6637338" cy="552450"/>
          </a:xfrm>
          <a:prstGeom prst="rect">
            <a:avLst/>
          </a:prstGeom>
          <a:noFill/>
          <a:ln w="9525">
            <a:noFill/>
          </a:ln>
        </p:spPr>
        <p:txBody>
          <a:bodyPr anchor="t" anchorCtr="0">
            <a:spAutoFit/>
          </a:bodyPr>
          <a:lstStyle/>
          <a:p>
            <a:pPr algn="ctr"/>
            <a:r>
              <a:rPr lang="zh-CN" altLang="en-US" sz="3200" dirty="0">
                <a:solidFill>
                  <a:srgbClr val="FFFF00"/>
                </a:solidFill>
                <a:latin typeface="Times New Roman" panose="02020603050405020304" pitchFamily="18" charset="0"/>
                <a:ea typeface="宋体" panose="02010600030101010101" pitchFamily="2" charset="-122"/>
              </a:rPr>
              <a:t>3</a:t>
            </a:r>
            <a:r>
              <a:rPr lang="en-US" altLang="zh-CN" sz="3200" dirty="0">
                <a:solidFill>
                  <a:srgbClr val="FFFF00"/>
                </a:solidFill>
                <a:latin typeface="Times New Roman" panose="02020603050405020304" pitchFamily="18" charset="0"/>
                <a:ea typeface="宋体" panose="02010600030101010101" pitchFamily="2" charset="-122"/>
              </a:rPr>
              <a:t>. </a:t>
            </a:r>
            <a:r>
              <a:rPr lang="zh-CN" altLang="en-US" sz="3200" dirty="0">
                <a:solidFill>
                  <a:srgbClr val="FFFF00"/>
                </a:solidFill>
                <a:latin typeface="Times New Roman" panose="02020603050405020304" pitchFamily="18" charset="0"/>
                <a:ea typeface="宋体" panose="02010600030101010101" pitchFamily="2" charset="-122"/>
              </a:rPr>
              <a:t>最小模式下的8086时序分析</a:t>
            </a:r>
            <a:endParaRPr lang="en-US" altLang="zh-CN" sz="3200">
              <a:solidFill>
                <a:srgbClr val="FFFF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65" name="图片 238757"/>
          <p:cNvPicPr>
            <a:picLocks noChangeAspect="1"/>
          </p:cNvPicPr>
          <p:nvPr/>
        </p:nvPicPr>
        <p:blipFill>
          <a:blip r:embed="rId3"/>
          <a:stretch>
            <a:fillRect/>
          </a:stretch>
        </p:blipFill>
        <p:spPr>
          <a:xfrm>
            <a:off x="4516438" y="3317875"/>
            <a:ext cx="4618037" cy="3529013"/>
          </a:xfrm>
          <a:prstGeom prst="rect">
            <a:avLst/>
          </a:prstGeom>
          <a:noFill/>
          <a:ln w="9525">
            <a:noFill/>
          </a:ln>
        </p:spPr>
      </p:pic>
      <p:pic>
        <p:nvPicPr>
          <p:cNvPr id="36866" name="图片 237725"/>
          <p:cNvPicPr>
            <a:picLocks noChangeAspect="1"/>
          </p:cNvPicPr>
          <p:nvPr/>
        </p:nvPicPr>
        <p:blipFill>
          <a:blip r:embed="rId4"/>
          <a:stretch>
            <a:fillRect/>
          </a:stretch>
        </p:blipFill>
        <p:spPr>
          <a:xfrm>
            <a:off x="12700" y="3175"/>
            <a:ext cx="4972050" cy="3810000"/>
          </a:xfrm>
          <a:prstGeom prst="rect">
            <a:avLst/>
          </a:prstGeom>
          <a:noFill/>
          <a:ln w="9525">
            <a:noFill/>
          </a:ln>
        </p:spPr>
      </p:pic>
      <p:sp>
        <p:nvSpPr>
          <p:cNvPr id="36867" name="文本框 1"/>
          <p:cNvSpPr txBox="1"/>
          <p:nvPr/>
        </p:nvSpPr>
        <p:spPr>
          <a:xfrm>
            <a:off x="1309688" y="3490913"/>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
        <p:nvSpPr>
          <p:cNvPr id="36868" name="文本框 2"/>
          <p:cNvSpPr txBox="1"/>
          <p:nvPr/>
        </p:nvSpPr>
        <p:spPr>
          <a:xfrm>
            <a:off x="5865813" y="6561138"/>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3" name="文本占位符 240641"/>
          <p:cNvSpPr>
            <a:spLocks noGrp="1"/>
          </p:cNvSpPr>
          <p:nvPr>
            <p:ph type="body" idx="4294967295"/>
          </p:nvPr>
        </p:nvSpPr>
        <p:spPr>
          <a:xfrm>
            <a:off x="0" y="1828800"/>
            <a:ext cx="8229600" cy="4495800"/>
          </a:xfrm>
          <a:ln/>
        </p:spPr>
        <p:txBody>
          <a:bodyPr lIns="92075" tIns="46038" rIns="92075" bIns="46038" anchor="t" anchorCtr="0"/>
          <a:lstStyle/>
          <a:p>
            <a:pPr lvl="1">
              <a:buNone/>
            </a:pPr>
            <a:endParaRPr lang="zh-CN" altLang="en-US" sz="3200" dirty="0">
              <a:solidFill>
                <a:schemeClr val="bg1"/>
              </a:solidFill>
              <a:latin typeface="楷体_GB2312" pitchFamily="49" charset="-122"/>
              <a:ea typeface="楷体_GB2312" pitchFamily="49" charset="-122"/>
            </a:endParaRPr>
          </a:p>
          <a:p>
            <a:pPr lvl="1"/>
            <a:endParaRPr lang="zh-CN" altLang="en-US" dirty="0">
              <a:solidFill>
                <a:schemeClr val="bg1"/>
              </a:solidFill>
              <a:latin typeface="楷体_GB2312" pitchFamily="49" charset="-122"/>
              <a:ea typeface="楷体_GB2312" pitchFamily="49" charset="-122"/>
            </a:endParaRPr>
          </a:p>
        </p:txBody>
      </p:sp>
      <p:pic>
        <p:nvPicPr>
          <p:cNvPr id="38914" name="图片 240771"/>
          <p:cNvPicPr>
            <a:picLocks noChangeAspect="1"/>
          </p:cNvPicPr>
          <p:nvPr/>
        </p:nvPicPr>
        <p:blipFill>
          <a:blip r:embed="rId3"/>
          <a:stretch>
            <a:fillRect/>
          </a:stretch>
        </p:blipFill>
        <p:spPr>
          <a:xfrm>
            <a:off x="42863" y="33338"/>
            <a:ext cx="5300662" cy="3529012"/>
          </a:xfrm>
          <a:prstGeom prst="rect">
            <a:avLst/>
          </a:prstGeom>
          <a:noFill/>
          <a:ln w="9525">
            <a:noFill/>
          </a:ln>
        </p:spPr>
      </p:pic>
      <p:pic>
        <p:nvPicPr>
          <p:cNvPr id="38915" name="图片 241796"/>
          <p:cNvPicPr>
            <a:picLocks noChangeAspect="1"/>
          </p:cNvPicPr>
          <p:nvPr/>
        </p:nvPicPr>
        <p:blipFill>
          <a:blip r:embed="rId4"/>
          <a:stretch>
            <a:fillRect/>
          </a:stretch>
        </p:blipFill>
        <p:spPr>
          <a:xfrm>
            <a:off x="4127500" y="3448050"/>
            <a:ext cx="5003800" cy="3397250"/>
          </a:xfrm>
          <a:prstGeom prst="rect">
            <a:avLst/>
          </a:prstGeom>
          <a:noFill/>
          <a:ln w="9525">
            <a:noFill/>
          </a:ln>
        </p:spPr>
      </p:pic>
      <p:sp>
        <p:nvSpPr>
          <p:cNvPr id="38916" name="文本框 1"/>
          <p:cNvSpPr txBox="1"/>
          <p:nvPr/>
        </p:nvSpPr>
        <p:spPr>
          <a:xfrm>
            <a:off x="1233488" y="3271838"/>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
        <p:nvSpPr>
          <p:cNvPr id="38917" name="文本框 2"/>
          <p:cNvSpPr txBox="1"/>
          <p:nvPr/>
        </p:nvSpPr>
        <p:spPr>
          <a:xfrm>
            <a:off x="5224463" y="6596063"/>
            <a:ext cx="790575" cy="258762"/>
          </a:xfrm>
          <a:prstGeom prst="rect">
            <a:avLst/>
          </a:prstGeom>
          <a:solidFill>
            <a:schemeClr val="tx1"/>
          </a:solidFill>
          <a:ln w="9525">
            <a:noFill/>
          </a:ln>
        </p:spPr>
        <p:txBody>
          <a:bodyPr wrap="square" anchor="t" anchorCtr="0">
            <a:spAutoFit/>
          </a:bodyPr>
          <a:lstStyle/>
          <a:p>
            <a:endParaRPr lang="zh-CN" altLang="en-US" sz="12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总线周期</a:t>
            </a:r>
          </a:p>
        </p:txBody>
      </p:sp>
      <p:sp>
        <p:nvSpPr>
          <p:cNvPr id="40962" name="内容占位符 2"/>
          <p:cNvSpPr>
            <a:spLocks noGrp="1"/>
          </p:cNvSpPr>
          <p:nvPr>
            <p:ph idx="4294967295"/>
          </p:nvPr>
        </p:nvSpPr>
        <p:spPr>
          <a:xfrm>
            <a:off x="355600" y="2047875"/>
            <a:ext cx="8147050" cy="3273425"/>
          </a:xfrm>
          <a:ln/>
        </p:spPr>
        <p:txBody>
          <a:bodyPr wrap="square" lIns="92075" tIns="46038" rIns="92075" bIns="46038" anchor="t" anchorCtr="0"/>
          <a:lstStyle/>
          <a:p>
            <a:pPr algn="just">
              <a:lnSpc>
                <a:spcPts val="3200"/>
              </a:lnSpc>
              <a:buNone/>
            </a:pPr>
            <a:r>
              <a:rPr lang="en-US" altLang="zh-CN" sz="2400"/>
              <a:t>             3</a:t>
            </a:r>
            <a:r>
              <a:rPr lang="zh-CN" altLang="en-US" sz="2400"/>
              <a:t>．指令周期</a:t>
            </a:r>
          </a:p>
          <a:p>
            <a:pPr algn="just">
              <a:lnSpc>
                <a:spcPts val="3200"/>
              </a:lnSpc>
              <a:buNone/>
            </a:pPr>
            <a:r>
              <a:rPr lang="zh-CN" altLang="en-US" sz="2400"/>
              <a:t>            任何指令的执行过程都由取指令、指令译码和指令执行等操作组成。完成指令所有操作需要的时间称为指令周期。指令周期的长度以时钟</a:t>
            </a:r>
            <a:r>
              <a:rPr lang="en-US" altLang="zh-CN" sz="2400"/>
              <a:t>T</a:t>
            </a:r>
            <a:r>
              <a:rPr lang="zh-CN" altLang="en-US" sz="2400"/>
              <a:t>为单位计量，不同的指令执行时间不等。例如，</a:t>
            </a:r>
            <a:r>
              <a:rPr lang="en-US" altLang="zh-CN" sz="2400"/>
              <a:t>8086/8088</a:t>
            </a:r>
            <a:r>
              <a:rPr lang="zh-CN" altLang="en-US" sz="2400"/>
              <a:t>的最短指令周期为</a:t>
            </a:r>
            <a:r>
              <a:rPr lang="en-US" altLang="zh-CN" sz="2400"/>
              <a:t>2T</a:t>
            </a:r>
            <a:r>
              <a:rPr lang="zh-CN" altLang="en-US" sz="2400"/>
              <a:t>，最长的指令周期达</a:t>
            </a:r>
            <a:r>
              <a:rPr lang="en-US" altLang="zh-CN" sz="2400"/>
              <a:t>200T</a:t>
            </a:r>
            <a:r>
              <a:rPr lang="zh-CN" altLang="en-US" sz="2400"/>
              <a:t>左右。</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总线的操作过程</a:t>
            </a:r>
          </a:p>
        </p:txBody>
      </p:sp>
      <p:sp>
        <p:nvSpPr>
          <p:cNvPr id="41986" name="内容占位符 2"/>
          <p:cNvSpPr>
            <a:spLocks noGrp="1"/>
          </p:cNvSpPr>
          <p:nvPr>
            <p:ph idx="4294967295"/>
          </p:nvPr>
        </p:nvSpPr>
        <p:spPr>
          <a:xfrm>
            <a:off x="357188" y="1438275"/>
            <a:ext cx="8058150" cy="4851400"/>
          </a:xfrm>
          <a:ln/>
        </p:spPr>
        <p:txBody>
          <a:bodyPr wrap="square" lIns="92075" tIns="46038" rIns="92075" bIns="46038" anchor="t" anchorCtr="0"/>
          <a:lstStyle/>
          <a:p>
            <a:pPr algn="just">
              <a:lnSpc>
                <a:spcPts val="3200"/>
              </a:lnSpc>
              <a:buNone/>
            </a:pPr>
            <a:r>
              <a:rPr lang="en-US" altLang="zh-CN" sz="2000"/>
              <a:t>              </a:t>
            </a:r>
            <a:r>
              <a:rPr lang="zh-CN" altLang="en-US" sz="2000"/>
              <a:t>系统总线上的数据传输是在主控模块控制下进行的，主控模块是指有控制总线能力的模块，如</a:t>
            </a:r>
            <a:r>
              <a:rPr lang="en-US" altLang="zh-CN" sz="2000"/>
              <a:t>CPU</a:t>
            </a:r>
            <a:r>
              <a:rPr lang="zh-CN" altLang="en-US" sz="2000"/>
              <a:t>及</a:t>
            </a:r>
            <a:r>
              <a:rPr lang="en-US" altLang="zh-CN" sz="2000"/>
              <a:t>DMA</a:t>
            </a:r>
            <a:r>
              <a:rPr lang="zh-CN" altLang="en-US" sz="2000"/>
              <a:t>模块。一般来说，总线上完成一次数据传输要经历以下</a:t>
            </a:r>
            <a:r>
              <a:rPr lang="en-US" altLang="zh-CN" sz="2000"/>
              <a:t>4</a:t>
            </a:r>
            <a:r>
              <a:rPr lang="zh-CN" altLang="en-US" sz="2000"/>
              <a:t>个阶段。</a:t>
            </a:r>
          </a:p>
          <a:p>
            <a:pPr algn="just">
              <a:lnSpc>
                <a:spcPts val="3200"/>
              </a:lnSpc>
              <a:buNone/>
            </a:pPr>
            <a:r>
              <a:rPr lang="zh-CN" altLang="en-US" sz="2000"/>
              <a:t>               </a:t>
            </a:r>
            <a:r>
              <a:rPr lang="en-US" altLang="zh-CN" sz="2000"/>
              <a:t>1</a:t>
            </a:r>
            <a:r>
              <a:rPr lang="zh-CN" altLang="en-US" sz="2000"/>
              <a:t>．申请阶段</a:t>
            </a:r>
          </a:p>
          <a:p>
            <a:pPr algn="just">
              <a:lnSpc>
                <a:spcPts val="3200"/>
              </a:lnSpc>
              <a:buNone/>
            </a:pPr>
            <a:r>
              <a:rPr lang="zh-CN" altLang="en-US" sz="2000"/>
              <a:t>              当系统总线上有多个主控模块时，需要使用总线的主控模块向总线仲裁机构提出占有总线控制权的申请。由总线仲裁机构判别确定，把下一个总线传输周期的总线控制权授给申请者。</a:t>
            </a:r>
          </a:p>
          <a:p>
            <a:pPr algn="just">
              <a:lnSpc>
                <a:spcPts val="3200"/>
              </a:lnSpc>
              <a:buNone/>
            </a:pPr>
            <a:r>
              <a:rPr lang="zh-CN" altLang="en-US" sz="2000"/>
              <a:t>               </a:t>
            </a:r>
            <a:r>
              <a:rPr lang="en-US" altLang="zh-CN" sz="2000"/>
              <a:t>2</a:t>
            </a:r>
            <a:r>
              <a:rPr lang="zh-CN" altLang="en-US" sz="2000"/>
              <a:t>．寻址阶段</a:t>
            </a:r>
          </a:p>
          <a:p>
            <a:pPr algn="just">
              <a:lnSpc>
                <a:spcPts val="3200"/>
              </a:lnSpc>
              <a:buNone/>
            </a:pPr>
            <a:r>
              <a:rPr lang="zh-CN" altLang="en-US" sz="2000"/>
              <a:t>              获得总线控制权的主控模块通过地址总线发出本次打算访问的从属模块的地址（如存储器或</a:t>
            </a:r>
            <a:r>
              <a:rPr lang="en-US" altLang="zh-CN" sz="2000"/>
              <a:t>I/O</a:t>
            </a:r>
            <a:r>
              <a:rPr lang="zh-CN" altLang="en-US" sz="2000"/>
              <a:t>接口的地址）及有关命令，开始启动被访问的从属模块。</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总线的操作过程</a:t>
            </a:r>
          </a:p>
        </p:txBody>
      </p:sp>
      <p:sp>
        <p:nvSpPr>
          <p:cNvPr id="43010" name="内容占位符 2"/>
          <p:cNvSpPr>
            <a:spLocks noGrp="1"/>
          </p:cNvSpPr>
          <p:nvPr>
            <p:ph idx="4294967295"/>
          </p:nvPr>
        </p:nvSpPr>
        <p:spPr>
          <a:xfrm>
            <a:off x="357188" y="1917700"/>
            <a:ext cx="8059737" cy="3786188"/>
          </a:xfrm>
          <a:ln/>
        </p:spPr>
        <p:txBody>
          <a:bodyPr wrap="square" lIns="92075" tIns="46038" rIns="92075" bIns="46038" anchor="t" anchorCtr="0"/>
          <a:lstStyle/>
          <a:p>
            <a:pPr algn="just">
              <a:lnSpc>
                <a:spcPts val="3200"/>
              </a:lnSpc>
              <a:buNone/>
            </a:pPr>
            <a:r>
              <a:rPr lang="en-US" altLang="zh-CN" sz="2000"/>
              <a:t>              3</a:t>
            </a:r>
            <a:r>
              <a:rPr lang="zh-CN" altLang="en-US" sz="2000"/>
              <a:t>．传输阶段</a:t>
            </a:r>
          </a:p>
          <a:p>
            <a:pPr algn="just">
              <a:lnSpc>
                <a:spcPts val="3200"/>
              </a:lnSpc>
              <a:buNone/>
            </a:pPr>
            <a:r>
              <a:rPr lang="zh-CN" altLang="en-US" sz="2000"/>
              <a:t>             在本阶段，主模块和从属模块进行数据交换。数据由源模块出发经数据总线流入目的模块。对于读传送，源模块是存储器或</a:t>
            </a:r>
            <a:r>
              <a:rPr lang="en-US" altLang="zh-CN" sz="2000"/>
              <a:t>I/O</a:t>
            </a:r>
            <a:r>
              <a:rPr lang="zh-CN" altLang="en-US" sz="2000"/>
              <a:t>接口，而目的模块是总线主控者，如</a:t>
            </a:r>
            <a:r>
              <a:rPr lang="en-US" altLang="zh-CN" sz="2000"/>
              <a:t>CPU</a:t>
            </a:r>
            <a:r>
              <a:rPr lang="zh-CN" altLang="en-US" sz="2000"/>
              <a:t>；对于写传送，则源模块是总线主控者，如</a:t>
            </a:r>
            <a:r>
              <a:rPr lang="en-US" altLang="zh-CN" sz="2000"/>
              <a:t>CPU</a:t>
            </a:r>
            <a:r>
              <a:rPr lang="zh-CN" altLang="en-US" sz="2000"/>
              <a:t>，而目的模块是存储器或</a:t>
            </a:r>
            <a:r>
              <a:rPr lang="en-US" altLang="zh-CN" sz="2000"/>
              <a:t>I/O</a:t>
            </a:r>
            <a:r>
              <a:rPr lang="zh-CN" altLang="en-US" sz="2000"/>
              <a:t>接口。</a:t>
            </a:r>
          </a:p>
          <a:p>
            <a:pPr algn="just">
              <a:lnSpc>
                <a:spcPts val="3200"/>
              </a:lnSpc>
              <a:buNone/>
            </a:pPr>
            <a:r>
              <a:rPr lang="zh-CN" altLang="en-US" sz="2000"/>
              <a:t>              </a:t>
            </a:r>
            <a:r>
              <a:rPr lang="en-US" altLang="zh-CN" sz="2000"/>
              <a:t>4</a:t>
            </a:r>
            <a:r>
              <a:rPr lang="zh-CN" altLang="en-US" sz="2000"/>
              <a:t>．结束阶段</a:t>
            </a:r>
          </a:p>
          <a:p>
            <a:pPr algn="just">
              <a:lnSpc>
                <a:spcPts val="3200"/>
              </a:lnSpc>
              <a:buNone/>
            </a:pPr>
            <a:r>
              <a:rPr lang="zh-CN" altLang="en-US" sz="2000"/>
              <a:t>             本阶段，主、从模块的有关信息均从总线上撤除，让出总线，以便其他模块能继续使用。</a:t>
            </a: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4034" name="内容占位符 2"/>
          <p:cNvSpPr>
            <a:spLocks noGrp="1"/>
          </p:cNvSpPr>
          <p:nvPr>
            <p:ph idx="4294967295"/>
          </p:nvPr>
        </p:nvSpPr>
        <p:spPr>
          <a:xfrm>
            <a:off x="358775" y="1820863"/>
            <a:ext cx="8058150" cy="4176712"/>
          </a:xfrm>
          <a:ln/>
        </p:spPr>
        <p:txBody>
          <a:bodyPr wrap="square" lIns="92075" tIns="46038" rIns="92075" bIns="46038" anchor="t" anchorCtr="0"/>
          <a:lstStyle/>
          <a:p>
            <a:pPr algn="just">
              <a:lnSpc>
                <a:spcPts val="3200"/>
              </a:lnSpc>
              <a:buNone/>
            </a:pPr>
            <a:r>
              <a:rPr lang="en-US" altLang="zh-CN" sz="2000"/>
              <a:t>             1.</a:t>
            </a:r>
            <a:r>
              <a:rPr lang="zh-CN" altLang="en-US" sz="2000"/>
              <a:t>系统总线</a:t>
            </a:r>
          </a:p>
          <a:p>
            <a:pPr algn="just">
              <a:lnSpc>
                <a:spcPts val="3200"/>
              </a:lnSpc>
              <a:buNone/>
            </a:pPr>
            <a:r>
              <a:rPr lang="zh-CN" altLang="en-US" sz="2000"/>
              <a:t>             </a:t>
            </a:r>
            <a:r>
              <a:rPr lang="en-US" altLang="zh-CN" sz="2000"/>
              <a:t>1</a:t>
            </a:r>
            <a:r>
              <a:rPr lang="zh-CN" altLang="en-US" sz="2000"/>
              <a:t>）系统总线标准</a:t>
            </a:r>
          </a:p>
          <a:p>
            <a:pPr algn="just">
              <a:lnSpc>
                <a:spcPts val="3200"/>
              </a:lnSpc>
              <a:buNone/>
            </a:pPr>
            <a:r>
              <a:rPr lang="zh-CN" altLang="en-US" sz="2000"/>
              <a:t>             在国际化生产非常流行的今天，一台计算机往往不再是由单一的企业按大而全的方式生产出来，而是将计算机中的各部件交给不同的专业化生产厂家分别生产，然后由组装厂组装成整机。这样做主要是为了降低成本、提高生产率和产品的质量。为了将不同厂家生产的各种部件组装在一起，形成一台完整的计算机，需要各厂家按照一定的标准进行生产，特别是系统总线，由于外设接口卡都要通过它接入系统，所以总线标准的制订更显重要。系统总线制订的标准有很多，例如</a:t>
            </a:r>
            <a:r>
              <a:rPr lang="en-US" altLang="zh-CN" sz="2000"/>
              <a:t>ISA</a:t>
            </a:r>
            <a:r>
              <a:rPr lang="zh-CN" altLang="en-US" sz="2000"/>
              <a:t>、</a:t>
            </a:r>
            <a:r>
              <a:rPr lang="en-US" altLang="zh-CN" sz="2000"/>
              <a:t>EISA</a:t>
            </a:r>
            <a:r>
              <a:rPr lang="zh-CN" altLang="en-US" sz="2000"/>
              <a:t>、</a:t>
            </a:r>
            <a:r>
              <a:rPr lang="en-US" altLang="zh-CN" sz="2000"/>
              <a:t>MCA</a:t>
            </a:r>
            <a:r>
              <a:rPr lang="zh-CN" altLang="en-US" sz="2000"/>
              <a:t>、</a:t>
            </a:r>
            <a:r>
              <a:rPr lang="en-US" altLang="zh-CN" sz="2000"/>
              <a:t>PCI-E</a:t>
            </a:r>
            <a:r>
              <a:rPr lang="zh-CN" altLang="en-US" sz="2000"/>
              <a:t>、</a:t>
            </a:r>
            <a:r>
              <a:rPr lang="en-US" altLang="zh-CN" sz="2000"/>
              <a:t>PCI</a:t>
            </a:r>
            <a:r>
              <a:rPr lang="zh-CN" altLang="en-US" sz="2000"/>
              <a:t>、</a:t>
            </a:r>
            <a:r>
              <a:rPr lang="en-US" altLang="zh-CN" sz="2000"/>
              <a:t>AGP</a:t>
            </a:r>
            <a:r>
              <a:rPr lang="zh-CN" altLang="en-US" sz="2000"/>
              <a:t>等。</a:t>
            </a: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5058" name="内容占位符 2"/>
          <p:cNvSpPr>
            <a:spLocks noGrp="1"/>
          </p:cNvSpPr>
          <p:nvPr>
            <p:ph idx="4294967295"/>
          </p:nvPr>
        </p:nvSpPr>
        <p:spPr>
          <a:xfrm>
            <a:off x="358775" y="1820863"/>
            <a:ext cx="8058150" cy="4176712"/>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1</a:t>
            </a:r>
            <a:r>
              <a:rPr lang="zh-CN" altLang="en-US" sz="2000"/>
              <a:t>）</a:t>
            </a:r>
            <a:r>
              <a:rPr lang="en-US" altLang="zh-CN" sz="2000"/>
              <a:t>ISA</a:t>
            </a:r>
            <a:r>
              <a:rPr lang="zh-CN" altLang="en-US" sz="2000"/>
              <a:t>（</a:t>
            </a:r>
            <a:r>
              <a:rPr lang="en-US" altLang="zh-CN" sz="2000"/>
              <a:t>Industry Standard Architecture</a:t>
            </a:r>
            <a:r>
              <a:rPr lang="zh-CN" altLang="en-US" sz="2000"/>
              <a:t>）工业标准总线是</a:t>
            </a:r>
            <a:r>
              <a:rPr lang="en-US" altLang="zh-CN" sz="2000"/>
              <a:t>IBM</a:t>
            </a:r>
            <a:r>
              <a:rPr lang="zh-CN" altLang="en-US" sz="2000"/>
              <a:t>公司为</a:t>
            </a:r>
            <a:r>
              <a:rPr lang="en-US" altLang="zh-CN" sz="2000"/>
              <a:t>286/AT</a:t>
            </a:r>
            <a:r>
              <a:rPr lang="zh-CN" altLang="en-US" sz="2000"/>
              <a:t>微型计算机制定的一种总线标准，也称为</a:t>
            </a:r>
            <a:r>
              <a:rPr lang="en-US" altLang="zh-CN" sz="2000"/>
              <a:t>AT</a:t>
            </a:r>
            <a:r>
              <a:rPr lang="zh-CN" altLang="en-US" sz="2000"/>
              <a:t>总线标准。随着技术的发展，作为</a:t>
            </a:r>
            <a:r>
              <a:rPr lang="en-US" altLang="zh-CN" sz="2000"/>
              <a:t>8/16</a:t>
            </a:r>
            <a:r>
              <a:rPr lang="zh-CN" altLang="en-US" sz="2000"/>
              <a:t>位的总线标准，</a:t>
            </a:r>
            <a:r>
              <a:rPr lang="en-US" altLang="zh-CN" sz="2000"/>
              <a:t>ISA</a:t>
            </a:r>
            <a:r>
              <a:rPr lang="zh-CN" altLang="en-US" sz="2000"/>
              <a:t>总线已基本被淘汰。</a:t>
            </a:r>
          </a:p>
          <a:p>
            <a:pPr algn="just">
              <a:lnSpc>
                <a:spcPts val="3200"/>
              </a:lnSpc>
              <a:buNone/>
            </a:pPr>
            <a:r>
              <a:rPr lang="zh-CN" altLang="en-US" sz="2000"/>
              <a:t>   （</a:t>
            </a:r>
            <a:r>
              <a:rPr lang="en-US" altLang="zh-CN" sz="2000"/>
              <a:t>2</a:t>
            </a:r>
            <a:r>
              <a:rPr lang="zh-CN" altLang="en-US" sz="2000"/>
              <a:t>）</a:t>
            </a:r>
            <a:r>
              <a:rPr lang="en-US" altLang="zh-CN" sz="2000"/>
              <a:t>MCA(Micro Channel Architecture)</a:t>
            </a:r>
            <a:r>
              <a:rPr lang="zh-CN" altLang="en-US" sz="2000"/>
              <a:t>微通道总线结构是</a:t>
            </a:r>
            <a:r>
              <a:rPr lang="en-US" altLang="zh-CN" sz="2000"/>
              <a:t>IBM</a:t>
            </a:r>
            <a:r>
              <a:rPr lang="zh-CN" altLang="en-US" sz="2000"/>
              <a:t>公司专为其</a:t>
            </a:r>
            <a:r>
              <a:rPr lang="en-US" altLang="zh-CN" sz="2000"/>
              <a:t>PS/2</a:t>
            </a:r>
            <a:r>
              <a:rPr lang="zh-CN" altLang="en-US" sz="2000"/>
              <a:t>系统开发的总线标准。由于执行的是使用许可证制度，因此未能得到有效的推广。</a:t>
            </a:r>
          </a:p>
          <a:p>
            <a:pPr algn="just">
              <a:lnSpc>
                <a:spcPts val="3200"/>
              </a:lnSpc>
              <a:buNone/>
            </a:pPr>
            <a:r>
              <a:rPr lang="zh-CN" altLang="en-US" sz="2000"/>
              <a:t>   （</a:t>
            </a:r>
            <a:r>
              <a:rPr lang="en-US" altLang="zh-CN" sz="2000"/>
              <a:t>3</a:t>
            </a:r>
            <a:r>
              <a:rPr lang="zh-CN" altLang="en-US" sz="2000"/>
              <a:t>）</a:t>
            </a:r>
            <a:r>
              <a:rPr lang="en-US" altLang="zh-CN" sz="2000"/>
              <a:t>EISA(Extended Industry Standard Architecture)</a:t>
            </a:r>
            <a:r>
              <a:rPr lang="zh-CN" altLang="en-US" sz="2000"/>
              <a:t>是在</a:t>
            </a:r>
            <a:r>
              <a:rPr lang="en-US" altLang="zh-CN" sz="2000"/>
              <a:t>ISA</a:t>
            </a:r>
            <a:r>
              <a:rPr lang="zh-CN" altLang="en-US" sz="2000"/>
              <a:t>总线基础上为</a:t>
            </a:r>
            <a:r>
              <a:rPr lang="en-US" altLang="zh-CN" sz="2000"/>
              <a:t>32</a:t>
            </a:r>
            <a:r>
              <a:rPr lang="zh-CN" altLang="en-US" sz="2000"/>
              <a:t>位</a:t>
            </a:r>
            <a:r>
              <a:rPr lang="en-US" altLang="zh-CN" sz="2000"/>
              <a:t>CPU</a:t>
            </a:r>
            <a:r>
              <a:rPr lang="zh-CN" altLang="en-US" sz="2000"/>
              <a:t>设计的扩展工业标准总线。</a:t>
            </a:r>
          </a:p>
          <a:p>
            <a:pPr algn="just">
              <a:lnSpc>
                <a:spcPts val="3200"/>
              </a:lnSpc>
              <a:buNone/>
            </a:pPr>
            <a:r>
              <a:rPr lang="zh-CN" altLang="en-US" sz="2000"/>
              <a:t>   </a:t>
            </a: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6082" name="内容占位符 2"/>
          <p:cNvSpPr>
            <a:spLocks noGrp="1"/>
          </p:cNvSpPr>
          <p:nvPr>
            <p:ph idx="4294967295"/>
          </p:nvPr>
        </p:nvSpPr>
        <p:spPr>
          <a:xfrm>
            <a:off x="358775" y="1714500"/>
            <a:ext cx="8058150" cy="4175125"/>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4</a:t>
            </a:r>
            <a:r>
              <a:rPr lang="zh-CN" altLang="en-US" sz="2000"/>
              <a:t>）</a:t>
            </a:r>
            <a:r>
              <a:rPr lang="en-US" altLang="zh-CN" sz="2000"/>
              <a:t>PCI</a:t>
            </a:r>
            <a:r>
              <a:rPr lang="zh-CN" altLang="en-US" sz="2000"/>
              <a:t>（</a:t>
            </a:r>
            <a:r>
              <a:rPr lang="en-US" altLang="zh-CN" sz="2000"/>
              <a:t>Peripheral Component Interconnect</a:t>
            </a:r>
            <a:r>
              <a:rPr lang="zh-CN" altLang="en-US" sz="2000"/>
              <a:t>）外部设备互连总线是</a:t>
            </a:r>
            <a:r>
              <a:rPr lang="en-US" altLang="zh-CN" sz="2000"/>
              <a:t>SIG(Special Interest Group)</a:t>
            </a:r>
            <a:r>
              <a:rPr lang="zh-CN" altLang="en-US" sz="2000"/>
              <a:t>集团推出的高性能的总线结构。</a:t>
            </a:r>
            <a:r>
              <a:rPr lang="en-US" altLang="zh-CN" sz="2000"/>
              <a:t>1992</a:t>
            </a:r>
            <a:r>
              <a:rPr lang="zh-CN" altLang="en-US" sz="2000"/>
              <a:t>年起，先后有</a:t>
            </a:r>
            <a:r>
              <a:rPr lang="en-US" altLang="zh-CN" sz="2000"/>
              <a:t>Intel</a:t>
            </a:r>
            <a:r>
              <a:rPr lang="zh-CN" altLang="en-US" sz="2000"/>
              <a:t>、</a:t>
            </a:r>
            <a:r>
              <a:rPr lang="en-US" altLang="zh-CN" sz="2000"/>
              <a:t>HP</a:t>
            </a:r>
            <a:r>
              <a:rPr lang="zh-CN" altLang="en-US" sz="2000"/>
              <a:t>、</a:t>
            </a:r>
            <a:r>
              <a:rPr lang="en-US" altLang="zh-CN" sz="2000"/>
              <a:t>IBM</a:t>
            </a:r>
            <a:r>
              <a:rPr lang="zh-CN" altLang="en-US" sz="2000"/>
              <a:t>、</a:t>
            </a:r>
            <a:r>
              <a:rPr lang="en-US" altLang="zh-CN" sz="2000"/>
              <a:t>Apple</a:t>
            </a:r>
            <a:r>
              <a:rPr lang="zh-CN" altLang="en-US" sz="2000"/>
              <a:t>、</a:t>
            </a:r>
            <a:r>
              <a:rPr lang="en-US" altLang="zh-CN" sz="2000"/>
              <a:t>DEC</a:t>
            </a:r>
            <a:r>
              <a:rPr lang="zh-CN" altLang="en-US" sz="2000"/>
              <a:t>、</a:t>
            </a:r>
            <a:r>
              <a:rPr lang="en-US" altLang="zh-CN" sz="2000"/>
              <a:t>Compaq</a:t>
            </a:r>
            <a:r>
              <a:rPr lang="zh-CN" altLang="en-US" sz="2000"/>
              <a:t>、</a:t>
            </a:r>
            <a:r>
              <a:rPr lang="en-US" altLang="zh-CN" sz="2000"/>
              <a:t>NEC</a:t>
            </a:r>
            <a:r>
              <a:rPr lang="zh-CN" altLang="en-US" sz="2000"/>
              <a:t>等著名的厂商加盟重新组建。</a:t>
            </a:r>
          </a:p>
          <a:p>
            <a:pPr algn="just">
              <a:lnSpc>
                <a:spcPts val="3200"/>
              </a:lnSpc>
              <a:buNone/>
            </a:pPr>
            <a:r>
              <a:rPr lang="zh-CN" altLang="en-US" sz="2000"/>
              <a:t>   （</a:t>
            </a:r>
            <a:r>
              <a:rPr lang="en-US" altLang="zh-CN" sz="2000"/>
              <a:t>5</a:t>
            </a:r>
            <a:r>
              <a:rPr lang="zh-CN" altLang="en-US" sz="2000"/>
              <a:t>）</a:t>
            </a:r>
            <a:r>
              <a:rPr lang="en-US" altLang="zh-CN" sz="2000"/>
              <a:t>AGP(Accelerated Graphicxs Port)</a:t>
            </a:r>
            <a:r>
              <a:rPr lang="zh-CN" altLang="en-US" sz="2000"/>
              <a:t>加速图形接口总线是一种专为提高视频带宽而设计的总线规范。</a:t>
            </a:r>
          </a:p>
          <a:p>
            <a:pPr algn="just">
              <a:lnSpc>
                <a:spcPts val="3200"/>
              </a:lnSpc>
              <a:buNone/>
            </a:pPr>
            <a:r>
              <a:rPr lang="zh-CN" altLang="en-US" sz="2000"/>
              <a:t>   （</a:t>
            </a:r>
            <a:r>
              <a:rPr lang="en-US" altLang="zh-CN" sz="2000"/>
              <a:t>6</a:t>
            </a:r>
            <a:r>
              <a:rPr lang="zh-CN" altLang="en-US" sz="2000"/>
              <a:t>）</a:t>
            </a:r>
            <a:r>
              <a:rPr lang="en-US" altLang="zh-CN" sz="2000"/>
              <a:t>PCI-E(PCI Express)</a:t>
            </a:r>
            <a:r>
              <a:rPr lang="zh-CN" altLang="en-US" sz="2000"/>
              <a:t>总线是目前最新的系统总线标准。虽然是在</a:t>
            </a:r>
            <a:r>
              <a:rPr lang="en-US" altLang="zh-CN" sz="2000"/>
              <a:t>PCI</a:t>
            </a:r>
            <a:r>
              <a:rPr lang="zh-CN" altLang="en-US" sz="2000"/>
              <a:t>总线的基础上发展起来的，但它与并行体系的</a:t>
            </a:r>
            <a:r>
              <a:rPr lang="en-US" altLang="zh-CN" sz="2000"/>
              <a:t>PCI</a:t>
            </a:r>
            <a:r>
              <a:rPr lang="zh-CN" altLang="en-US" sz="2000"/>
              <a:t>没有任何相似之处。它采用串行方式传输数据，依靠高频率来获得高性能，因此</a:t>
            </a:r>
            <a:r>
              <a:rPr lang="en-US" altLang="zh-CN" sz="2000"/>
              <a:t>PCI Express</a:t>
            </a:r>
            <a:r>
              <a:rPr lang="zh-CN" altLang="en-US" sz="2000"/>
              <a:t>也一度被人们称为“串行</a:t>
            </a:r>
            <a:r>
              <a:rPr lang="en-US" altLang="zh-CN" sz="2000"/>
              <a:t>PCI”</a:t>
            </a:r>
            <a:r>
              <a:rPr lang="zh-CN" altLang="en-US" sz="2000"/>
              <a:t>。   </a:t>
            </a: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7106" name="内容占位符 2"/>
          <p:cNvSpPr>
            <a:spLocks noGrp="1"/>
          </p:cNvSpPr>
          <p:nvPr>
            <p:ph idx="4294967295"/>
          </p:nvPr>
        </p:nvSpPr>
        <p:spPr>
          <a:xfrm>
            <a:off x="360363" y="1549400"/>
            <a:ext cx="8058150" cy="4932363"/>
          </a:xfrm>
          <a:ln/>
        </p:spPr>
        <p:txBody>
          <a:bodyPr wrap="square" lIns="92075" tIns="46038" rIns="92075" bIns="46038" anchor="t" anchorCtr="0"/>
          <a:lstStyle/>
          <a:p>
            <a:pPr algn="just">
              <a:lnSpc>
                <a:spcPts val="3200"/>
              </a:lnSpc>
              <a:buNone/>
            </a:pPr>
            <a:r>
              <a:rPr lang="en-US" altLang="zh-CN" sz="2000"/>
              <a:t>             </a:t>
            </a:r>
            <a:r>
              <a:rPr lang="zh-CN" altLang="en-US" sz="2000"/>
              <a:t>系统总线与I/O接口卡的连接是用总线插座来实现的，即各I/O接口插件板连入系统时需要插入与系统总线连接的插槽。为使不同厂家生产的I/O接口板都可以连入系统后正常工作，就需要制定相应的总线标准。系统总线通常为</a:t>
            </a:r>
            <a:r>
              <a:rPr lang="en-US" altLang="zh-CN" sz="2000"/>
              <a:t>50~100</a:t>
            </a:r>
            <a:r>
              <a:rPr lang="zh-CN" altLang="en-US" sz="2000"/>
              <a:t>根信号线，这些信号线可分为以下</a:t>
            </a:r>
            <a:r>
              <a:rPr lang="en-US" altLang="zh-CN" sz="2000"/>
              <a:t>5</a:t>
            </a:r>
            <a:r>
              <a:rPr lang="zh-CN" altLang="en-US" sz="2000"/>
              <a:t>个主要类型。</a:t>
            </a:r>
          </a:p>
          <a:p>
            <a:pPr algn="just">
              <a:lnSpc>
                <a:spcPts val="3200"/>
              </a:lnSpc>
              <a:buNone/>
            </a:pPr>
            <a:r>
              <a:rPr lang="zh-CN" altLang="en-US" sz="2000"/>
              <a:t>   （</a:t>
            </a:r>
            <a:r>
              <a:rPr lang="en-US" altLang="zh-CN" sz="2000"/>
              <a:t>1</a:t>
            </a:r>
            <a:r>
              <a:rPr lang="zh-CN" altLang="en-US" sz="2000"/>
              <a:t>）数据线：决定数据宽度。</a:t>
            </a:r>
          </a:p>
          <a:p>
            <a:pPr algn="just">
              <a:lnSpc>
                <a:spcPts val="3200"/>
              </a:lnSpc>
              <a:buNone/>
            </a:pPr>
            <a:r>
              <a:rPr lang="zh-CN" altLang="en-US" sz="2000"/>
              <a:t>   （</a:t>
            </a:r>
            <a:r>
              <a:rPr lang="en-US" altLang="zh-CN" sz="2000"/>
              <a:t>2</a:t>
            </a:r>
            <a:r>
              <a:rPr lang="zh-CN" altLang="en-US" sz="2000"/>
              <a:t>）地址线：决定直接选址范围。</a:t>
            </a:r>
          </a:p>
          <a:p>
            <a:pPr algn="just">
              <a:lnSpc>
                <a:spcPts val="3200"/>
              </a:lnSpc>
              <a:buNone/>
            </a:pPr>
            <a:r>
              <a:rPr lang="zh-CN" altLang="en-US" sz="2000"/>
              <a:t>   （</a:t>
            </a:r>
            <a:r>
              <a:rPr lang="en-US" altLang="zh-CN" sz="2000"/>
              <a:t>3</a:t>
            </a:r>
            <a:r>
              <a:rPr lang="zh-CN" altLang="en-US" sz="2000"/>
              <a:t>）控制线：包括控制、时序和中断线，决定总线功能和适应性的好坏。</a:t>
            </a:r>
          </a:p>
          <a:p>
            <a:pPr algn="just">
              <a:lnSpc>
                <a:spcPts val="3200"/>
              </a:lnSpc>
              <a:buNone/>
            </a:pPr>
            <a:r>
              <a:rPr lang="zh-CN" altLang="en-US" sz="2000"/>
              <a:t>   （</a:t>
            </a:r>
            <a:r>
              <a:rPr lang="en-US" altLang="zh-CN" sz="2000"/>
              <a:t>4</a:t>
            </a:r>
            <a:r>
              <a:rPr lang="zh-CN" altLang="en-US" sz="2000"/>
              <a:t>）电源线和地线：决定电源的种类及地线的分布和用法。</a:t>
            </a:r>
          </a:p>
          <a:p>
            <a:pPr algn="just">
              <a:lnSpc>
                <a:spcPts val="3200"/>
              </a:lnSpc>
              <a:buNone/>
            </a:pPr>
            <a:r>
              <a:rPr lang="zh-CN" altLang="en-US" sz="2000"/>
              <a:t>   （</a:t>
            </a:r>
            <a:r>
              <a:rPr lang="en-US" altLang="zh-CN" sz="2000"/>
              <a:t>5</a:t>
            </a:r>
            <a:r>
              <a:rPr lang="zh-CN" altLang="en-US" sz="2000"/>
              <a:t>）备用线：留给厂家或用户自己定义。</a:t>
            </a:r>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8130" name="内容占位符 2"/>
          <p:cNvSpPr>
            <a:spLocks noGrp="1"/>
          </p:cNvSpPr>
          <p:nvPr>
            <p:ph idx="4294967295"/>
          </p:nvPr>
        </p:nvSpPr>
        <p:spPr>
          <a:xfrm>
            <a:off x="360363" y="1549400"/>
            <a:ext cx="8058150" cy="4932363"/>
          </a:xfrm>
          <a:ln/>
        </p:spPr>
        <p:txBody>
          <a:bodyPr wrap="square" lIns="92075" tIns="46038" rIns="92075" bIns="46038" anchor="t" anchorCtr="0"/>
          <a:lstStyle/>
          <a:p>
            <a:pPr algn="just">
              <a:lnSpc>
                <a:spcPts val="3200"/>
              </a:lnSpc>
              <a:buNone/>
            </a:pPr>
            <a:r>
              <a:rPr lang="en-US" altLang="zh-CN" sz="2000"/>
              <a:t>             2</a:t>
            </a:r>
            <a:r>
              <a:rPr lang="zh-CN" altLang="en-US" sz="2000"/>
              <a:t>）</a:t>
            </a:r>
            <a:r>
              <a:rPr lang="en-US" altLang="zh-CN" sz="2000"/>
              <a:t>ISA</a:t>
            </a:r>
            <a:r>
              <a:rPr lang="zh-CN" altLang="en-US" sz="2000"/>
              <a:t>总线</a:t>
            </a:r>
          </a:p>
          <a:p>
            <a:pPr algn="just">
              <a:lnSpc>
                <a:spcPts val="3200"/>
              </a:lnSpc>
              <a:buNone/>
            </a:pPr>
            <a:r>
              <a:rPr lang="zh-CN" altLang="en-US" sz="2000"/>
              <a:t>             </a:t>
            </a:r>
            <a:r>
              <a:rPr lang="en-US" altLang="zh-CN" sz="2000"/>
              <a:t>ISA</a:t>
            </a:r>
            <a:r>
              <a:rPr lang="zh-CN" altLang="en-US" sz="2000"/>
              <a:t>（</a:t>
            </a:r>
            <a:r>
              <a:rPr lang="en-US" altLang="zh-CN" sz="2000"/>
              <a:t>Industry Standard Architecture</a:t>
            </a:r>
            <a:r>
              <a:rPr lang="zh-CN" altLang="en-US" sz="2000"/>
              <a:t>）是工业标准体系结构总线的简称，是由美国</a:t>
            </a:r>
            <a:r>
              <a:rPr lang="en-US" altLang="zh-CN" sz="2000"/>
              <a:t>IBM</a:t>
            </a:r>
            <a:r>
              <a:rPr lang="zh-CN" altLang="en-US" sz="2000"/>
              <a:t>公司推出的</a:t>
            </a:r>
            <a:r>
              <a:rPr lang="en-US" altLang="zh-CN" sz="2000"/>
              <a:t>16</a:t>
            </a:r>
            <a:r>
              <a:rPr lang="zh-CN" altLang="en-US" sz="2000"/>
              <a:t>位标准总线，数据传输率为</a:t>
            </a:r>
            <a:r>
              <a:rPr lang="en-US" altLang="zh-CN" sz="2000"/>
              <a:t>16MB/s</a:t>
            </a:r>
            <a:r>
              <a:rPr lang="zh-CN" altLang="en-US" sz="2000"/>
              <a:t>，主要用于</a:t>
            </a:r>
            <a:r>
              <a:rPr lang="en-US" altLang="zh-CN" sz="2000"/>
              <a:t>IBM-PC/XT</a:t>
            </a:r>
            <a:r>
              <a:rPr lang="zh-CN" altLang="en-US" sz="2000"/>
              <a:t>、</a:t>
            </a:r>
            <a:r>
              <a:rPr lang="en-US" altLang="zh-CN" sz="2000"/>
              <a:t>AT</a:t>
            </a:r>
            <a:r>
              <a:rPr lang="zh-CN" altLang="en-US" sz="2000"/>
              <a:t>及其兼容机上。</a:t>
            </a:r>
          </a:p>
          <a:p>
            <a:pPr algn="just">
              <a:lnSpc>
                <a:spcPts val="3200"/>
              </a:lnSpc>
              <a:buNone/>
            </a:pPr>
            <a:r>
              <a:rPr lang="zh-CN" altLang="en-US" sz="2000"/>
              <a:t>   （</a:t>
            </a:r>
            <a:r>
              <a:rPr lang="en-US" altLang="zh-CN" sz="2000"/>
              <a:t>1</a:t>
            </a:r>
            <a:r>
              <a:rPr lang="zh-CN" altLang="en-US" sz="2000"/>
              <a:t>）</a:t>
            </a:r>
            <a:r>
              <a:rPr lang="en-US" altLang="zh-CN" sz="2000"/>
              <a:t>ISA</a:t>
            </a:r>
            <a:r>
              <a:rPr lang="zh-CN" altLang="en-US" sz="2000"/>
              <a:t>总线的起源。最早的</a:t>
            </a:r>
            <a:r>
              <a:rPr lang="en-US" altLang="zh-CN" sz="2000"/>
              <a:t>PC</a:t>
            </a:r>
            <a:r>
              <a:rPr lang="zh-CN" altLang="en-US" sz="2000"/>
              <a:t>总线是</a:t>
            </a:r>
            <a:r>
              <a:rPr lang="en-US" altLang="zh-CN" sz="2000"/>
              <a:t>IBM</a:t>
            </a:r>
            <a:r>
              <a:rPr lang="zh-CN" altLang="en-US" sz="2000"/>
              <a:t>公司于</a:t>
            </a:r>
            <a:r>
              <a:rPr lang="en-US" altLang="zh-CN" sz="2000"/>
              <a:t>1981</a:t>
            </a:r>
            <a:r>
              <a:rPr lang="zh-CN" altLang="en-US" sz="2000"/>
              <a:t>年推出的基于</a:t>
            </a:r>
            <a:r>
              <a:rPr lang="en-US" altLang="zh-CN" sz="2000"/>
              <a:t>8</a:t>
            </a:r>
            <a:r>
              <a:rPr lang="zh-CN" altLang="en-US" sz="2000"/>
              <a:t>位机</a:t>
            </a:r>
            <a:r>
              <a:rPr lang="en-US" altLang="zh-CN" sz="2000"/>
              <a:t>PC/XT</a:t>
            </a:r>
            <a:r>
              <a:rPr lang="zh-CN" altLang="en-US" sz="2000"/>
              <a:t>的总线，称为</a:t>
            </a:r>
            <a:r>
              <a:rPr lang="en-US" altLang="zh-CN" sz="2000"/>
              <a:t>PC</a:t>
            </a:r>
            <a:r>
              <a:rPr lang="zh-CN" altLang="en-US" sz="2000"/>
              <a:t>总线。</a:t>
            </a:r>
            <a:r>
              <a:rPr lang="en-US" altLang="zh-CN" sz="2000"/>
              <a:t>1984</a:t>
            </a:r>
            <a:r>
              <a:rPr lang="zh-CN" altLang="en-US" sz="2000"/>
              <a:t>年</a:t>
            </a:r>
            <a:r>
              <a:rPr lang="en-US" altLang="zh-CN" sz="2000"/>
              <a:t>IBM</a:t>
            </a:r>
            <a:r>
              <a:rPr lang="zh-CN" altLang="en-US" sz="2000"/>
              <a:t>公司推出了</a:t>
            </a:r>
            <a:r>
              <a:rPr lang="en-US" altLang="zh-CN" sz="2000"/>
              <a:t>16</a:t>
            </a:r>
            <a:r>
              <a:rPr lang="zh-CN" altLang="en-US" sz="2000"/>
              <a:t>位微型计算机</a:t>
            </a:r>
            <a:r>
              <a:rPr lang="en-US" altLang="zh-CN" sz="2000"/>
              <a:t>PC/AT</a:t>
            </a:r>
            <a:r>
              <a:rPr lang="zh-CN" altLang="en-US" sz="2000"/>
              <a:t>，其总线称为</a:t>
            </a:r>
            <a:r>
              <a:rPr lang="en-US" altLang="zh-CN" sz="2000"/>
              <a:t>AT</a:t>
            </a:r>
            <a:r>
              <a:rPr lang="zh-CN" altLang="en-US" sz="2000"/>
              <a:t>总线。然而</a:t>
            </a:r>
            <a:r>
              <a:rPr lang="en-US" altLang="zh-CN" sz="2000"/>
              <a:t>IBM</a:t>
            </a:r>
            <a:r>
              <a:rPr lang="zh-CN" altLang="en-US" sz="2000"/>
              <a:t>公司从未将</a:t>
            </a:r>
            <a:r>
              <a:rPr lang="en-US" altLang="zh-CN" sz="2000"/>
              <a:t>AT</a:t>
            </a:r>
            <a:r>
              <a:rPr lang="zh-CN" altLang="en-US" sz="2000"/>
              <a:t>总线规格公布于众，这就给兼容设备生产商开发外设接口卡造成了很大的困难。为解决这个问题，</a:t>
            </a:r>
            <a:r>
              <a:rPr lang="en-US" altLang="zh-CN" sz="2000"/>
              <a:t>Intel</a:t>
            </a:r>
            <a:r>
              <a:rPr lang="zh-CN" altLang="en-US" sz="2000"/>
              <a:t>公司、</a:t>
            </a:r>
            <a:r>
              <a:rPr lang="en-US" altLang="zh-CN" sz="2000"/>
              <a:t>IEEE</a:t>
            </a:r>
            <a:r>
              <a:rPr lang="zh-CN" altLang="en-US" sz="2000"/>
              <a:t>和</a:t>
            </a:r>
            <a:r>
              <a:rPr lang="en-US" altLang="zh-CN" sz="2000"/>
              <a:t>EISA</a:t>
            </a:r>
            <a:r>
              <a:rPr lang="zh-CN" altLang="en-US" sz="2000"/>
              <a:t>集团联合开发了以</a:t>
            </a:r>
            <a:r>
              <a:rPr lang="en-US" altLang="zh-CN" sz="2000"/>
              <a:t>IBM/AT</a:t>
            </a:r>
            <a:r>
              <a:rPr lang="zh-CN" altLang="en-US" sz="2000"/>
              <a:t>原装机总线意义相近的</a:t>
            </a:r>
            <a:r>
              <a:rPr lang="en-US" altLang="zh-CN" sz="2000"/>
              <a:t>ISA</a:t>
            </a:r>
            <a:r>
              <a:rPr lang="zh-CN" altLang="en-US" sz="2000"/>
              <a:t>总线，即</a:t>
            </a:r>
            <a:r>
              <a:rPr lang="en-US" altLang="zh-CN" sz="2000"/>
              <a:t>8/16</a:t>
            </a:r>
            <a:r>
              <a:rPr lang="zh-CN" altLang="en-US" sz="2000"/>
              <a:t>位的工业标准体系结构（</a:t>
            </a:r>
            <a:r>
              <a:rPr lang="en-US" altLang="zh-CN" sz="2000"/>
              <a:t>ISA, Industry Standard Architecture</a:t>
            </a:r>
            <a:r>
              <a:rPr lang="zh-CN" altLang="en-US" sz="2000"/>
              <a:t>）总线。</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49154" name="内容占位符 2"/>
          <p:cNvSpPr>
            <a:spLocks noGrp="1"/>
          </p:cNvSpPr>
          <p:nvPr>
            <p:ph idx="4294967295"/>
          </p:nvPr>
        </p:nvSpPr>
        <p:spPr>
          <a:xfrm>
            <a:off x="393700" y="1574800"/>
            <a:ext cx="8196263" cy="4930775"/>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2</a:t>
            </a:r>
            <a:r>
              <a:rPr lang="zh-CN" altLang="en-US" sz="2000"/>
              <a:t>）</a:t>
            </a:r>
            <a:r>
              <a:rPr lang="en-US" altLang="zh-CN" sz="2000"/>
              <a:t>ISA</a:t>
            </a:r>
            <a:r>
              <a:rPr lang="zh-CN" altLang="en-US" sz="2000"/>
              <a:t>总线的主要特点和性能指标。</a:t>
            </a:r>
            <a:r>
              <a:rPr lang="en-US" altLang="zh-CN" sz="2000"/>
              <a:t>8</a:t>
            </a:r>
            <a:r>
              <a:rPr lang="zh-CN" altLang="en-US" sz="2000"/>
              <a:t>位</a:t>
            </a:r>
            <a:r>
              <a:rPr lang="en-US" altLang="zh-CN" sz="2000"/>
              <a:t>ISA</a:t>
            </a:r>
            <a:r>
              <a:rPr lang="zh-CN" altLang="en-US" sz="2000"/>
              <a:t>扩展总线插槽由</a:t>
            </a:r>
            <a:r>
              <a:rPr lang="en-US" altLang="zh-CN" sz="2000"/>
              <a:t>62</a:t>
            </a:r>
            <a:r>
              <a:rPr lang="zh-CN" altLang="en-US" sz="2000"/>
              <a:t>个引脚组成，用于</a:t>
            </a:r>
            <a:r>
              <a:rPr lang="en-US" altLang="zh-CN" sz="2000"/>
              <a:t>8</a:t>
            </a:r>
            <a:r>
              <a:rPr lang="zh-CN" altLang="en-US" sz="2000"/>
              <a:t>位的插卡。</a:t>
            </a:r>
            <a:r>
              <a:rPr lang="en-US" altLang="zh-CN" sz="2000"/>
              <a:t>8/16</a:t>
            </a:r>
            <a:r>
              <a:rPr lang="zh-CN" altLang="en-US" sz="2000"/>
              <a:t>位的扩展插槽除了具有一个</a:t>
            </a:r>
            <a:r>
              <a:rPr lang="en-US" altLang="zh-CN" sz="2000"/>
              <a:t>8</a:t>
            </a:r>
            <a:r>
              <a:rPr lang="zh-CN" altLang="en-US" sz="2000"/>
              <a:t>位</a:t>
            </a:r>
            <a:r>
              <a:rPr lang="en-US" altLang="zh-CN" sz="2000"/>
              <a:t>62</a:t>
            </a:r>
            <a:r>
              <a:rPr lang="zh-CN" altLang="en-US" sz="2000"/>
              <a:t>线的连接器外，还有一个附加的</a:t>
            </a:r>
            <a:r>
              <a:rPr lang="en-US" altLang="zh-CN" sz="2000"/>
              <a:t>36</a:t>
            </a:r>
            <a:r>
              <a:rPr lang="zh-CN" altLang="en-US" sz="2000"/>
              <a:t>线连接器，这种扩展总线插槽既可支持</a:t>
            </a:r>
            <a:r>
              <a:rPr lang="en-US" altLang="zh-CN" sz="2000"/>
              <a:t>8</a:t>
            </a:r>
            <a:r>
              <a:rPr lang="zh-CN" altLang="en-US" sz="2000"/>
              <a:t>位的插卡，也可支持</a:t>
            </a:r>
            <a:r>
              <a:rPr lang="en-US" altLang="zh-CN" sz="2000"/>
              <a:t>16</a:t>
            </a:r>
            <a:r>
              <a:rPr lang="zh-CN" altLang="en-US" sz="2000"/>
              <a:t>位插卡。</a:t>
            </a:r>
            <a:r>
              <a:rPr lang="en-US" altLang="zh-CN" sz="2000"/>
              <a:t>ISA</a:t>
            </a:r>
            <a:r>
              <a:rPr lang="zh-CN" altLang="en-US" sz="2000"/>
              <a:t>总线的主要性能指标如下。</a:t>
            </a:r>
          </a:p>
          <a:p>
            <a:pPr algn="just">
              <a:lnSpc>
                <a:spcPts val="3200"/>
              </a:lnSpc>
              <a:buNone/>
            </a:pPr>
            <a:r>
              <a:rPr lang="zh-CN" altLang="en-US" sz="2000"/>
              <a:t>     </a:t>
            </a:r>
            <a:r>
              <a:rPr lang="en-US" altLang="zh-CN" sz="2000"/>
              <a:t>① I/O</a:t>
            </a:r>
            <a:r>
              <a:rPr lang="zh-CN" altLang="en-US" sz="2000"/>
              <a:t>地址空间为</a:t>
            </a:r>
            <a:r>
              <a:rPr lang="en-US" altLang="zh-CN" sz="2000"/>
              <a:t>0100H~03FFH</a:t>
            </a:r>
            <a:r>
              <a:rPr lang="zh-CN" altLang="en-US" sz="2000"/>
              <a:t>。</a:t>
            </a:r>
          </a:p>
          <a:p>
            <a:pPr algn="just">
              <a:lnSpc>
                <a:spcPts val="3200"/>
              </a:lnSpc>
              <a:buNone/>
            </a:pPr>
            <a:r>
              <a:rPr lang="zh-CN" altLang="en-US" sz="2000"/>
              <a:t>     </a:t>
            </a:r>
            <a:r>
              <a:rPr lang="en-US" altLang="zh-CN" sz="2000"/>
              <a:t>② 24</a:t>
            </a:r>
            <a:r>
              <a:rPr lang="zh-CN" altLang="en-US" sz="2000"/>
              <a:t>位地址线可直接寻址的内存容量为</a:t>
            </a:r>
            <a:r>
              <a:rPr lang="en-US" altLang="zh-CN" sz="2000"/>
              <a:t>16MB</a:t>
            </a:r>
            <a:r>
              <a:rPr lang="zh-CN" altLang="en-US" sz="2000"/>
              <a:t>。</a:t>
            </a:r>
          </a:p>
          <a:p>
            <a:pPr algn="just">
              <a:lnSpc>
                <a:spcPts val="3200"/>
              </a:lnSpc>
              <a:buNone/>
            </a:pPr>
            <a:r>
              <a:rPr lang="zh-CN" altLang="en-US" sz="2000"/>
              <a:t>     </a:t>
            </a:r>
            <a:r>
              <a:rPr lang="en-US" altLang="zh-CN" sz="2000"/>
              <a:t>③ </a:t>
            </a:r>
            <a:r>
              <a:rPr lang="zh-CN" altLang="en-US" sz="2000"/>
              <a:t>总线宽度</a:t>
            </a:r>
            <a:r>
              <a:rPr lang="en-US" altLang="zh-CN" sz="2000"/>
              <a:t>8/16</a:t>
            </a:r>
            <a:r>
              <a:rPr lang="zh-CN" altLang="en-US" sz="2000"/>
              <a:t>位，最高时钟频率为</a:t>
            </a:r>
            <a:r>
              <a:rPr lang="en-US" altLang="zh-CN" sz="2000"/>
              <a:t>8MHz</a:t>
            </a:r>
            <a:r>
              <a:rPr lang="zh-CN" altLang="en-US" sz="2000"/>
              <a:t>，最大传输率为</a:t>
            </a:r>
            <a:r>
              <a:rPr lang="en-US" altLang="zh-CN" sz="2000"/>
              <a:t>16MB/s</a:t>
            </a:r>
            <a:r>
              <a:rPr lang="zh-CN" altLang="en-US" sz="2000"/>
              <a:t>。</a:t>
            </a:r>
          </a:p>
          <a:p>
            <a:pPr algn="just">
              <a:lnSpc>
                <a:spcPts val="3200"/>
              </a:lnSpc>
              <a:buNone/>
            </a:pPr>
            <a:r>
              <a:rPr lang="zh-CN" altLang="en-US" sz="2000"/>
              <a:t>     </a:t>
            </a:r>
            <a:r>
              <a:rPr lang="en-US" altLang="zh-CN" sz="2000"/>
              <a:t>④ </a:t>
            </a:r>
            <a:r>
              <a:rPr lang="zh-CN" altLang="en-US" sz="2000"/>
              <a:t>支持</a:t>
            </a:r>
            <a:r>
              <a:rPr lang="en-US" altLang="zh-CN" sz="2000"/>
              <a:t>15</a:t>
            </a:r>
            <a:r>
              <a:rPr lang="zh-CN" altLang="en-US" sz="2000"/>
              <a:t>级中断。</a:t>
            </a:r>
          </a:p>
          <a:p>
            <a:pPr algn="just">
              <a:lnSpc>
                <a:spcPts val="3200"/>
              </a:lnSpc>
              <a:buNone/>
            </a:pPr>
            <a:r>
              <a:rPr lang="zh-CN" altLang="en-US" sz="2000"/>
              <a:t>     </a:t>
            </a:r>
            <a:r>
              <a:rPr lang="en-US" altLang="zh-CN" sz="2000"/>
              <a:t>⑤ 7</a:t>
            </a:r>
            <a:r>
              <a:rPr lang="zh-CN" altLang="en-US" sz="2000"/>
              <a:t>个</a:t>
            </a:r>
            <a:r>
              <a:rPr lang="en-US" altLang="zh-CN" sz="2000"/>
              <a:t>DMA</a:t>
            </a:r>
            <a:r>
              <a:rPr lang="zh-CN" altLang="en-US" sz="2000"/>
              <a:t>通道。</a:t>
            </a:r>
          </a:p>
          <a:p>
            <a:pPr algn="just">
              <a:lnSpc>
                <a:spcPts val="3200"/>
              </a:lnSpc>
              <a:buNone/>
            </a:pPr>
            <a:r>
              <a:rPr lang="zh-CN" altLang="en-US" sz="2000"/>
              <a:t>     </a:t>
            </a:r>
            <a:r>
              <a:rPr lang="en-US" altLang="zh-CN" sz="2000"/>
              <a:t>⑥ </a:t>
            </a:r>
            <a:r>
              <a:rPr lang="zh-CN" altLang="en-US" sz="2000"/>
              <a:t>开放式总线结构，允许多个</a:t>
            </a:r>
            <a:r>
              <a:rPr lang="en-US" altLang="zh-CN" sz="2000"/>
              <a:t>CPU</a:t>
            </a:r>
            <a:r>
              <a:rPr lang="zh-CN" altLang="en-US" sz="2000"/>
              <a:t>共享系统资源。</a:t>
            </a:r>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0178" name="内容占位符 2"/>
          <p:cNvSpPr>
            <a:spLocks noGrp="1"/>
          </p:cNvSpPr>
          <p:nvPr>
            <p:ph idx="4294967295"/>
          </p:nvPr>
        </p:nvSpPr>
        <p:spPr>
          <a:xfrm>
            <a:off x="360363" y="1273175"/>
            <a:ext cx="8197850" cy="5492750"/>
          </a:xfrm>
          <a:ln/>
        </p:spPr>
        <p:txBody>
          <a:bodyPr wrap="square" lIns="92075" tIns="46038" rIns="92075" bIns="46038" anchor="t" anchorCtr="0"/>
          <a:lstStyle/>
          <a:p>
            <a:pPr algn="just">
              <a:lnSpc>
                <a:spcPts val="3200"/>
              </a:lnSpc>
              <a:buNone/>
            </a:pPr>
            <a:r>
              <a:rPr lang="en-US" altLang="zh-CN" sz="2000"/>
              <a:t>            3</a:t>
            </a:r>
            <a:r>
              <a:rPr lang="zh-CN" altLang="en-US" sz="2000"/>
              <a:t>）</a:t>
            </a:r>
            <a:r>
              <a:rPr lang="en-US" altLang="zh-CN" sz="2000"/>
              <a:t>PCI</a:t>
            </a:r>
            <a:r>
              <a:rPr lang="zh-CN" altLang="en-US" sz="2000"/>
              <a:t>总线</a:t>
            </a:r>
          </a:p>
          <a:p>
            <a:pPr algn="just">
              <a:lnSpc>
                <a:spcPts val="3200"/>
              </a:lnSpc>
              <a:buNone/>
            </a:pPr>
            <a:r>
              <a:rPr lang="zh-CN" altLang="en-US" sz="2000"/>
              <a:t>            </a:t>
            </a:r>
            <a:r>
              <a:rPr lang="en-US" altLang="zh-CN" sz="2000"/>
              <a:t>PCI</a:t>
            </a:r>
            <a:r>
              <a:rPr lang="zh-CN" altLang="en-US" sz="2000"/>
              <a:t>（外设互连，</a:t>
            </a:r>
            <a:r>
              <a:rPr lang="en-US" altLang="zh-CN" sz="2000"/>
              <a:t>Peripheral Component Interconnect</a:t>
            </a:r>
            <a:r>
              <a:rPr lang="zh-CN" altLang="en-US" sz="2000"/>
              <a:t>）总线是</a:t>
            </a:r>
            <a:r>
              <a:rPr lang="en-US" altLang="zh-CN" sz="2000"/>
              <a:t>1991</a:t>
            </a:r>
            <a:r>
              <a:rPr lang="zh-CN" altLang="en-US" sz="2000"/>
              <a:t>年由</a:t>
            </a:r>
            <a:r>
              <a:rPr lang="en-US" altLang="zh-CN" sz="2000"/>
              <a:t>Intel</a:t>
            </a:r>
            <a:r>
              <a:rPr lang="zh-CN" altLang="en-US" sz="2000"/>
              <a:t>公司提出，并联合其他多家公司共同推出的</a:t>
            </a:r>
            <a:r>
              <a:rPr lang="en-US" altLang="zh-CN" sz="2000"/>
              <a:t>32/64</a:t>
            </a:r>
            <a:r>
              <a:rPr lang="zh-CN" altLang="en-US" sz="2000"/>
              <a:t>位标准总线，是一种与</a:t>
            </a:r>
            <a:r>
              <a:rPr lang="en-US" altLang="zh-CN" sz="2000"/>
              <a:t>CPU</a:t>
            </a:r>
            <a:r>
              <a:rPr lang="zh-CN" altLang="en-US" sz="2000"/>
              <a:t>隔离的总线结构，能与</a:t>
            </a:r>
            <a:r>
              <a:rPr lang="en-US" altLang="zh-CN" sz="2000"/>
              <a:t>CPU</a:t>
            </a:r>
            <a:r>
              <a:rPr lang="zh-CN" altLang="en-US" sz="2000"/>
              <a:t>同时工作。这种总线适应性强、速度快，数据传输率为</a:t>
            </a:r>
            <a:r>
              <a:rPr lang="en-US" altLang="zh-CN" sz="2000"/>
              <a:t>133MB/s</a:t>
            </a:r>
            <a:r>
              <a:rPr lang="zh-CN" altLang="en-US" sz="2000"/>
              <a:t>，适用于</a:t>
            </a:r>
            <a:r>
              <a:rPr lang="en-US" altLang="zh-CN" sz="2000"/>
              <a:t>Pentium</a:t>
            </a:r>
            <a:r>
              <a:rPr lang="zh-CN" altLang="en-US" sz="2000"/>
              <a:t>以上的微型计算机。</a:t>
            </a:r>
          </a:p>
          <a:p>
            <a:pPr algn="just">
              <a:lnSpc>
                <a:spcPts val="3200"/>
              </a:lnSpc>
              <a:buNone/>
            </a:pPr>
            <a:r>
              <a:rPr lang="zh-CN" altLang="en-US" sz="2000"/>
              <a:t>   （</a:t>
            </a:r>
            <a:r>
              <a:rPr lang="en-US" altLang="zh-CN" sz="2000"/>
              <a:t>1</a:t>
            </a:r>
            <a:r>
              <a:rPr lang="zh-CN" altLang="en-US" sz="2000"/>
              <a:t>）</a:t>
            </a:r>
            <a:r>
              <a:rPr lang="en-US" altLang="zh-CN" sz="2000"/>
              <a:t>PCI</a:t>
            </a:r>
            <a:r>
              <a:rPr lang="zh-CN" altLang="en-US" sz="2000"/>
              <a:t>总线的主要性能和特点。</a:t>
            </a:r>
            <a:r>
              <a:rPr lang="en-US" altLang="zh-CN" sz="2000"/>
              <a:t>PCI</a:t>
            </a:r>
            <a:r>
              <a:rPr lang="zh-CN" altLang="en-US" sz="2000"/>
              <a:t>总线是一种不依附于某个处理器的局部总线。从结构上看，</a:t>
            </a:r>
            <a:r>
              <a:rPr lang="en-US" altLang="zh-CN" sz="2000"/>
              <a:t>PCI</a:t>
            </a:r>
            <a:r>
              <a:rPr lang="zh-CN" altLang="en-US" sz="2000"/>
              <a:t>是在</a:t>
            </a:r>
            <a:r>
              <a:rPr lang="en-US" altLang="zh-CN" sz="2000"/>
              <a:t>CPU</a:t>
            </a:r>
            <a:r>
              <a:rPr lang="zh-CN" altLang="en-US" sz="2000"/>
              <a:t>和原来的系统总线之间插入的另一级总线，具体由一个桥接电路（习惯上称为北桥芯片）实现对这一层的管理，并实现上下之间的接口以协调数据的传送。管理器提供了信号缓冲，使之能支持</a:t>
            </a:r>
            <a:r>
              <a:rPr lang="en-US" altLang="zh-CN" sz="2000"/>
              <a:t>10</a:t>
            </a:r>
            <a:r>
              <a:rPr lang="zh-CN" altLang="en-US" sz="2000"/>
              <a:t>种外设，并能在高时钟频率下保持高性能。</a:t>
            </a:r>
            <a:r>
              <a:rPr lang="en-US" altLang="zh-CN" sz="2000"/>
              <a:t>PCI</a:t>
            </a:r>
            <a:r>
              <a:rPr lang="zh-CN" altLang="en-US" sz="2000"/>
              <a:t>总线也支持总线主控技术，允许智能设备在需要时取得总线控制权，以加速数据传送。</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1202" name="内容占位符 2"/>
          <p:cNvSpPr>
            <a:spLocks noGrp="1"/>
          </p:cNvSpPr>
          <p:nvPr>
            <p:ph idx="4294967295"/>
          </p:nvPr>
        </p:nvSpPr>
        <p:spPr>
          <a:xfrm>
            <a:off x="361950" y="1793875"/>
            <a:ext cx="8196263" cy="3776663"/>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2</a:t>
            </a:r>
            <a:r>
              <a:rPr lang="zh-CN" altLang="en-US" sz="2000"/>
              <a:t>）</a:t>
            </a:r>
            <a:r>
              <a:rPr lang="en-US" altLang="zh-CN" sz="2000"/>
              <a:t>PCI</a:t>
            </a:r>
            <a:r>
              <a:rPr lang="zh-CN" altLang="en-US" sz="2000"/>
              <a:t>总线体系结构。</a:t>
            </a:r>
            <a:r>
              <a:rPr lang="en-US" altLang="zh-CN" sz="2000"/>
              <a:t>CPU</a:t>
            </a:r>
            <a:r>
              <a:rPr lang="zh-CN" altLang="en-US" sz="2000"/>
              <a:t>总线和</a:t>
            </a:r>
            <a:r>
              <a:rPr lang="en-US" altLang="zh-CN" sz="2000"/>
              <a:t>PCI</a:t>
            </a:r>
            <a:r>
              <a:rPr lang="zh-CN" altLang="en-US" sz="2000"/>
              <a:t>总线由桥接电路（</a:t>
            </a:r>
            <a:r>
              <a:rPr lang="en-US" altLang="zh-CN" sz="2000"/>
              <a:t>PCMC</a:t>
            </a:r>
            <a:r>
              <a:rPr lang="zh-CN" altLang="en-US" sz="2000"/>
              <a:t>）相连。芯片中除了含有桥接电路外，还有</a:t>
            </a:r>
            <a:r>
              <a:rPr lang="en-US" altLang="zh-CN" sz="2000"/>
              <a:t>Cache</a:t>
            </a:r>
            <a:r>
              <a:rPr lang="zh-CN" altLang="en-US" sz="2000"/>
              <a:t>控制器和</a:t>
            </a:r>
            <a:r>
              <a:rPr lang="en-US" altLang="zh-CN" sz="2000"/>
              <a:t>DRAM</a:t>
            </a:r>
            <a:r>
              <a:rPr lang="zh-CN" altLang="en-US" sz="2000"/>
              <a:t>控制器等其他控制电路。</a:t>
            </a:r>
            <a:r>
              <a:rPr lang="en-US" altLang="zh-CN" sz="2000"/>
              <a:t>PCI</a:t>
            </a:r>
            <a:r>
              <a:rPr lang="zh-CN" altLang="en-US" sz="2000"/>
              <a:t>总线上可挂接高速设备，如图形控制器、</a:t>
            </a:r>
            <a:r>
              <a:rPr lang="en-US" altLang="zh-CN" sz="2000"/>
              <a:t>IDE</a:t>
            </a:r>
            <a:r>
              <a:rPr lang="zh-CN" altLang="en-US" sz="2000"/>
              <a:t>设备或者</a:t>
            </a:r>
            <a:r>
              <a:rPr lang="en-US" altLang="zh-CN" sz="2000"/>
              <a:t>SCSI</a:t>
            </a:r>
            <a:r>
              <a:rPr lang="zh-CN" altLang="en-US" sz="2000"/>
              <a:t>设备、网络控制器等。</a:t>
            </a:r>
            <a:r>
              <a:rPr lang="en-US" altLang="zh-CN" sz="2000"/>
              <a:t>PCI</a:t>
            </a:r>
            <a:r>
              <a:rPr lang="zh-CN" altLang="en-US" sz="2000"/>
              <a:t>总线和</a:t>
            </a:r>
            <a:r>
              <a:rPr lang="en-US" altLang="zh-CN" sz="2000"/>
              <a:t>ISA/EISA</a:t>
            </a:r>
            <a:r>
              <a:rPr lang="zh-CN" altLang="en-US" sz="2000"/>
              <a:t>总线之间也通过桥接电路（习惯上称为南桥芯片）相连，</a:t>
            </a:r>
            <a:r>
              <a:rPr lang="en-US" altLang="zh-CN" sz="2000"/>
              <a:t>ISA/EISA</a:t>
            </a:r>
            <a:r>
              <a:rPr lang="zh-CN" altLang="en-US" sz="2000"/>
              <a:t>上挂接系统的慢速设备，继承原有的资源。</a:t>
            </a:r>
            <a:r>
              <a:rPr lang="en-US" altLang="zh-CN" sz="2000"/>
              <a:t>PCI</a:t>
            </a:r>
            <a:r>
              <a:rPr lang="zh-CN" altLang="en-US" sz="2000"/>
              <a:t>总线把</a:t>
            </a:r>
            <a:r>
              <a:rPr lang="en-US" altLang="zh-CN" sz="2000"/>
              <a:t>ISA/EISA</a:t>
            </a:r>
            <a:r>
              <a:rPr lang="zh-CN" altLang="en-US" sz="2000"/>
              <a:t>总线作为一种外部设备与之进行数据交换。</a:t>
            </a:r>
          </a:p>
          <a:p>
            <a:pPr algn="just">
              <a:lnSpc>
                <a:spcPts val="3200"/>
              </a:lnSpc>
              <a:buNone/>
            </a:pPr>
            <a:r>
              <a:rPr lang="zh-CN" altLang="en-US" sz="2000"/>
              <a:t>    此外，</a:t>
            </a:r>
            <a:r>
              <a:rPr lang="en-US" altLang="zh-CN" sz="2000"/>
              <a:t>PCI</a:t>
            </a:r>
            <a:r>
              <a:rPr lang="zh-CN" altLang="en-US" sz="2000"/>
              <a:t>总线还支持其他一些连接方式，如双</a:t>
            </a:r>
            <a:r>
              <a:rPr lang="en-US" altLang="zh-CN" sz="2000"/>
              <a:t>PCI</a:t>
            </a:r>
            <a:r>
              <a:rPr lang="zh-CN" altLang="en-US" sz="2000"/>
              <a:t>总线方式、</a:t>
            </a:r>
            <a:r>
              <a:rPr lang="en-US" altLang="zh-CN" sz="2000"/>
              <a:t>PCI to PCI</a:t>
            </a:r>
            <a:r>
              <a:rPr lang="zh-CN" altLang="en-US" sz="2000"/>
              <a:t>方式、多处理器服务方式等。</a:t>
            </a: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2226" name="内容占位符 2"/>
          <p:cNvSpPr>
            <a:spLocks noGrp="1"/>
          </p:cNvSpPr>
          <p:nvPr>
            <p:ph idx="4294967295"/>
          </p:nvPr>
        </p:nvSpPr>
        <p:spPr>
          <a:xfrm>
            <a:off x="361950" y="1793875"/>
            <a:ext cx="8196263" cy="3776663"/>
          </a:xfrm>
          <a:ln/>
        </p:spPr>
        <p:txBody>
          <a:bodyPr wrap="square" lIns="92075" tIns="46038" rIns="92075" bIns="46038" anchor="t" anchorCtr="0"/>
          <a:lstStyle/>
          <a:p>
            <a:pPr algn="just">
              <a:lnSpc>
                <a:spcPts val="3200"/>
              </a:lnSpc>
              <a:buNone/>
            </a:pPr>
            <a:r>
              <a:rPr lang="en-US" altLang="zh-CN" sz="2000"/>
              <a:t>               4</a:t>
            </a:r>
            <a:r>
              <a:rPr lang="zh-CN" altLang="en-US" sz="2000"/>
              <a:t>）</a:t>
            </a:r>
            <a:r>
              <a:rPr lang="en-US" altLang="zh-CN" sz="2000"/>
              <a:t>AGP</a:t>
            </a:r>
            <a:r>
              <a:rPr lang="zh-CN" altLang="en-US" sz="2000"/>
              <a:t>总线</a:t>
            </a:r>
          </a:p>
          <a:p>
            <a:pPr algn="just">
              <a:lnSpc>
                <a:spcPts val="3200"/>
              </a:lnSpc>
              <a:buNone/>
            </a:pPr>
            <a:r>
              <a:rPr lang="zh-CN" altLang="en-US" sz="2000"/>
              <a:t>            （</a:t>
            </a:r>
            <a:r>
              <a:rPr lang="en-US" altLang="zh-CN" sz="2000"/>
              <a:t>1</a:t>
            </a:r>
            <a:r>
              <a:rPr lang="zh-CN" altLang="en-US" sz="2000"/>
              <a:t>）设计</a:t>
            </a:r>
            <a:r>
              <a:rPr lang="en-US" altLang="zh-CN" sz="2000"/>
              <a:t>AGP</a:t>
            </a:r>
            <a:r>
              <a:rPr lang="zh-CN" altLang="en-US" sz="2000"/>
              <a:t>总线的目的。</a:t>
            </a:r>
            <a:r>
              <a:rPr lang="en-US" altLang="zh-CN" sz="2000"/>
              <a:t>AGP</a:t>
            </a:r>
            <a:r>
              <a:rPr lang="zh-CN" altLang="en-US" sz="2000"/>
              <a:t>（加速图形接口，</a:t>
            </a:r>
            <a:r>
              <a:rPr lang="en-US" altLang="zh-CN" sz="2000"/>
              <a:t>Accelerated Graphicxs Port</a:t>
            </a:r>
            <a:r>
              <a:rPr lang="zh-CN" altLang="en-US" sz="2000"/>
              <a:t>）总线是一种专为提高视频带宽而设计的总线规范。</a:t>
            </a:r>
            <a:r>
              <a:rPr lang="en-US" altLang="zh-CN" sz="2000"/>
              <a:t>AGP</a:t>
            </a:r>
            <a:r>
              <a:rPr lang="zh-CN" altLang="en-US" sz="2000"/>
              <a:t>插槽可以插入符合该规范的</a:t>
            </a:r>
            <a:r>
              <a:rPr lang="en-US" altLang="zh-CN" sz="2000"/>
              <a:t>AGP</a:t>
            </a:r>
            <a:r>
              <a:rPr lang="zh-CN" altLang="en-US" sz="2000"/>
              <a:t>显卡。其视频信号的传输速率可以从</a:t>
            </a:r>
            <a:r>
              <a:rPr lang="en-US" altLang="zh-CN" sz="2000"/>
              <a:t>PCI</a:t>
            </a:r>
            <a:r>
              <a:rPr lang="zh-CN" altLang="en-US" sz="2000"/>
              <a:t>的</a:t>
            </a:r>
            <a:r>
              <a:rPr lang="en-US" altLang="zh-CN" sz="2000"/>
              <a:t>133MB/s</a:t>
            </a:r>
            <a:r>
              <a:rPr lang="zh-CN" altLang="en-US" sz="2000"/>
              <a:t>提高到</a:t>
            </a:r>
            <a:r>
              <a:rPr lang="en-US" altLang="zh-CN" sz="2000"/>
              <a:t>266MB/s</a:t>
            </a:r>
            <a:r>
              <a:rPr lang="zh-CN" altLang="en-US" sz="2000"/>
              <a:t>、</a:t>
            </a:r>
            <a:r>
              <a:rPr lang="en-US" altLang="zh-CN" sz="2000"/>
              <a:t>533MB/s</a:t>
            </a:r>
            <a:r>
              <a:rPr lang="zh-CN" altLang="en-US" sz="2000"/>
              <a:t>、</a:t>
            </a:r>
            <a:r>
              <a:rPr lang="en-US" altLang="zh-CN" sz="2000"/>
              <a:t>1066MB/s</a:t>
            </a:r>
            <a:r>
              <a:rPr lang="zh-CN" altLang="en-US" sz="2000"/>
              <a:t>或</a:t>
            </a:r>
            <a:r>
              <a:rPr lang="en-US" altLang="zh-CN" sz="2000"/>
              <a:t>2133MB/s</a:t>
            </a:r>
            <a:r>
              <a:rPr lang="zh-CN" altLang="en-US" sz="2000"/>
              <a:t>（选择不同模式）。严格来说，</a:t>
            </a:r>
            <a:r>
              <a:rPr lang="en-US" altLang="zh-CN" sz="2000"/>
              <a:t>AGP</a:t>
            </a:r>
            <a:r>
              <a:rPr lang="zh-CN" altLang="en-US" sz="2000"/>
              <a:t>不能称为总线，因为它仅在</a:t>
            </a:r>
            <a:r>
              <a:rPr lang="en-US" altLang="zh-CN" sz="2000"/>
              <a:t>AGP</a:t>
            </a:r>
            <a:r>
              <a:rPr lang="zh-CN" altLang="en-US" sz="2000"/>
              <a:t>控制芯片和</a:t>
            </a:r>
            <a:r>
              <a:rPr lang="en-US" altLang="zh-CN" sz="2000"/>
              <a:t>AGP</a:t>
            </a:r>
            <a:r>
              <a:rPr lang="zh-CN" altLang="en-US" sz="2000"/>
              <a:t>显卡之间提供了点到点的连接。</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3250" name="内容占位符 2"/>
          <p:cNvSpPr>
            <a:spLocks noGrp="1"/>
          </p:cNvSpPr>
          <p:nvPr>
            <p:ph idx="4294967295"/>
          </p:nvPr>
        </p:nvSpPr>
        <p:spPr>
          <a:xfrm>
            <a:off x="361950" y="1793875"/>
            <a:ext cx="8196263" cy="3776663"/>
          </a:xfrm>
          <a:ln/>
        </p:spPr>
        <p:txBody>
          <a:bodyPr wrap="square" lIns="92075" tIns="46038" rIns="92075" bIns="46038" anchor="t" anchorCtr="0"/>
          <a:lstStyle/>
          <a:p>
            <a:pPr algn="just">
              <a:lnSpc>
                <a:spcPts val="3200"/>
              </a:lnSpc>
              <a:buNone/>
            </a:pPr>
            <a:r>
              <a:rPr lang="en-US" altLang="zh-CN" sz="2000"/>
              <a:t>              5</a:t>
            </a:r>
            <a:r>
              <a:rPr lang="zh-CN" altLang="en-US" sz="2000"/>
              <a:t>）</a:t>
            </a:r>
            <a:r>
              <a:rPr lang="en-US" altLang="zh-CN" sz="2000"/>
              <a:t>PCI Express</a:t>
            </a:r>
            <a:r>
              <a:rPr lang="zh-CN" altLang="en-US" sz="2000"/>
              <a:t>总线</a:t>
            </a:r>
          </a:p>
          <a:p>
            <a:pPr algn="just">
              <a:lnSpc>
                <a:spcPts val="3200"/>
              </a:lnSpc>
              <a:buNone/>
            </a:pPr>
            <a:r>
              <a:rPr lang="zh-CN" altLang="en-US" sz="2000"/>
              <a:t>              </a:t>
            </a:r>
            <a:r>
              <a:rPr lang="en-US" altLang="zh-CN" sz="2000"/>
              <a:t>PCI Express</a:t>
            </a:r>
            <a:r>
              <a:rPr lang="zh-CN" altLang="en-US" sz="2000"/>
              <a:t>是新一代的总线接口，</a:t>
            </a:r>
            <a:r>
              <a:rPr lang="en-US" altLang="zh-CN" sz="2000"/>
              <a:t>2002</a:t>
            </a:r>
            <a:r>
              <a:rPr lang="zh-CN" altLang="en-US" sz="2000"/>
              <a:t>年由</a:t>
            </a:r>
            <a:r>
              <a:rPr lang="en-US" altLang="zh-CN" sz="2000"/>
              <a:t>Intel</a:t>
            </a:r>
            <a:r>
              <a:rPr lang="zh-CN" altLang="en-US" sz="2000"/>
              <a:t>公司联合</a:t>
            </a:r>
            <a:r>
              <a:rPr lang="en-US" altLang="zh-CN" sz="2000"/>
              <a:t>AMD</a:t>
            </a:r>
            <a:r>
              <a:rPr lang="zh-CN" altLang="en-US" sz="2000"/>
              <a:t>、</a:t>
            </a:r>
            <a:r>
              <a:rPr lang="en-US" altLang="zh-CN" sz="2000"/>
              <a:t>DELL</a:t>
            </a:r>
            <a:r>
              <a:rPr lang="zh-CN" altLang="en-US" sz="2000"/>
              <a:t>、</a:t>
            </a:r>
            <a:r>
              <a:rPr lang="en-US" altLang="zh-CN" sz="2000"/>
              <a:t>IBM</a:t>
            </a:r>
            <a:r>
              <a:rPr lang="zh-CN" altLang="en-US" sz="2000"/>
              <a:t>等多家业界主导公司提出并完成。它采用点对点串行连接，比起</a:t>
            </a:r>
            <a:r>
              <a:rPr lang="en-US" altLang="zh-CN" sz="2000"/>
              <a:t>PCI</a:t>
            </a:r>
            <a:r>
              <a:rPr lang="zh-CN" altLang="en-US" sz="2000"/>
              <a:t>总线的共享并行架构，每个设备都有自己的专用链接，不需要向整个总线请求带宽，而且可以把数据传输率提高到一个很高的频率，达到</a:t>
            </a:r>
            <a:r>
              <a:rPr lang="en-US" altLang="zh-CN" sz="2000"/>
              <a:t>PCI</a:t>
            </a:r>
            <a:r>
              <a:rPr lang="zh-CN" altLang="en-US" sz="2000"/>
              <a:t>所不能提供的高带宽。</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4274" name="内容占位符 2"/>
          <p:cNvSpPr>
            <a:spLocks noGrp="1"/>
          </p:cNvSpPr>
          <p:nvPr>
            <p:ph idx="4294967295"/>
          </p:nvPr>
        </p:nvSpPr>
        <p:spPr>
          <a:xfrm>
            <a:off x="361950" y="1793875"/>
            <a:ext cx="8196263" cy="3776663"/>
          </a:xfrm>
          <a:ln/>
        </p:spPr>
        <p:txBody>
          <a:bodyPr wrap="square" lIns="92075" tIns="46038" rIns="92075" bIns="46038" anchor="t" anchorCtr="0"/>
          <a:lstStyle/>
          <a:p>
            <a:pPr algn="just">
              <a:lnSpc>
                <a:spcPts val="3200"/>
              </a:lnSpc>
              <a:buNone/>
            </a:pPr>
            <a:r>
              <a:rPr lang="en-US" altLang="zh-CN" sz="2000"/>
              <a:t>             2.</a:t>
            </a:r>
            <a:r>
              <a:rPr lang="zh-CN" altLang="en-US" sz="2000"/>
              <a:t>外设总线</a:t>
            </a:r>
          </a:p>
          <a:p>
            <a:pPr algn="just">
              <a:lnSpc>
                <a:spcPts val="3200"/>
              </a:lnSpc>
              <a:buNone/>
            </a:pPr>
            <a:r>
              <a:rPr lang="zh-CN" altLang="en-US" sz="2000"/>
              <a:t>             外部设备总线用于实现计算机主机和外部设备之间的连接，它与传统外设接口有很大的区别。传统外设接口是专用的，通常只能连接某一特定类型的设备，而且大多数情况下只能连接一个设备；外部设备总线是通用的，可连接不同的外部设备，并且允许在一个总线上连接很多设备。</a:t>
            </a:r>
          </a:p>
          <a:p>
            <a:pPr algn="just">
              <a:lnSpc>
                <a:spcPts val="3200"/>
              </a:lnSpc>
              <a:buNone/>
            </a:pPr>
            <a:r>
              <a:rPr lang="zh-CN" altLang="en-US" sz="2000"/>
              <a:t>              常见的外部设备总线有</a:t>
            </a:r>
            <a:r>
              <a:rPr lang="en-US" altLang="zh-CN" sz="2000"/>
              <a:t>USB</a:t>
            </a:r>
            <a:r>
              <a:rPr lang="zh-CN" altLang="en-US" sz="2000"/>
              <a:t>（</a:t>
            </a:r>
            <a:r>
              <a:rPr lang="en-US" altLang="zh-CN" sz="2000"/>
              <a:t>Universal Serial Bus</a:t>
            </a:r>
            <a:r>
              <a:rPr lang="zh-CN" altLang="en-US" sz="2000"/>
              <a:t>）和</a:t>
            </a:r>
            <a:r>
              <a:rPr lang="en-US" altLang="zh-CN" sz="2000"/>
              <a:t>IEEE1394</a:t>
            </a:r>
            <a:r>
              <a:rPr lang="zh-CN" altLang="en-US" sz="2000"/>
              <a:t>（又称</a:t>
            </a:r>
            <a:r>
              <a:rPr lang="en-US" altLang="zh-CN" sz="2000"/>
              <a:t>Fire Wire</a:t>
            </a:r>
            <a:r>
              <a:rPr lang="zh-CN" altLang="en-US" sz="2000"/>
              <a:t>）。限于篇幅，下面仅介绍</a:t>
            </a:r>
            <a:r>
              <a:rPr lang="en-US" altLang="zh-CN" sz="2000"/>
              <a:t>USB</a:t>
            </a:r>
            <a:r>
              <a:rPr lang="zh-CN" altLang="en-US" sz="2000"/>
              <a:t>总线的特点及主要技术指标。</a:t>
            </a: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5298" name="内容占位符 2"/>
          <p:cNvSpPr>
            <a:spLocks noGrp="1"/>
          </p:cNvSpPr>
          <p:nvPr>
            <p:ph idx="4294967295"/>
          </p:nvPr>
        </p:nvSpPr>
        <p:spPr>
          <a:xfrm>
            <a:off x="344488" y="1657350"/>
            <a:ext cx="8408987" cy="4289425"/>
          </a:xfrm>
          <a:ln/>
        </p:spPr>
        <p:txBody>
          <a:bodyPr wrap="square" lIns="92075" tIns="46038" rIns="92075" bIns="46038" anchor="t" anchorCtr="0"/>
          <a:lstStyle/>
          <a:p>
            <a:pPr algn="just">
              <a:lnSpc>
                <a:spcPts val="3200"/>
              </a:lnSpc>
              <a:buNone/>
            </a:pPr>
            <a:r>
              <a:rPr lang="en-US" altLang="zh-CN" sz="2000"/>
              <a:t>              1</a:t>
            </a:r>
            <a:r>
              <a:rPr lang="zh-CN" altLang="en-US" sz="2000"/>
              <a:t>）</a:t>
            </a:r>
            <a:r>
              <a:rPr lang="en-US" altLang="zh-CN" sz="2000"/>
              <a:t>USB</a:t>
            </a:r>
            <a:r>
              <a:rPr lang="zh-CN" altLang="en-US" sz="2000"/>
              <a:t>总线的特点</a:t>
            </a:r>
          </a:p>
          <a:p>
            <a:pPr algn="just">
              <a:lnSpc>
                <a:spcPts val="3200"/>
              </a:lnSpc>
              <a:buNone/>
            </a:pPr>
            <a:r>
              <a:rPr lang="zh-CN" altLang="en-US" sz="2000"/>
              <a:t>              </a:t>
            </a:r>
            <a:r>
              <a:rPr lang="en-US" altLang="zh-CN" sz="2000"/>
              <a:t>USB</a:t>
            </a:r>
            <a:r>
              <a:rPr lang="zh-CN" altLang="en-US" sz="2000"/>
              <a:t>是由</a:t>
            </a:r>
            <a:r>
              <a:rPr lang="en-US" altLang="zh-CN" sz="2000"/>
              <a:t>Compaq</a:t>
            </a:r>
            <a:r>
              <a:rPr lang="zh-CN" altLang="en-US" sz="2000"/>
              <a:t>、</a:t>
            </a:r>
            <a:r>
              <a:rPr lang="en-US" altLang="zh-CN" sz="2000"/>
              <a:t>DEC</a:t>
            </a:r>
            <a:r>
              <a:rPr lang="zh-CN" altLang="en-US" sz="2000"/>
              <a:t>、</a:t>
            </a:r>
            <a:r>
              <a:rPr lang="en-US" altLang="zh-CN" sz="2000"/>
              <a:t>IBM</a:t>
            </a:r>
            <a:r>
              <a:rPr lang="zh-CN" altLang="en-US" sz="2000"/>
              <a:t>、</a:t>
            </a:r>
            <a:r>
              <a:rPr lang="en-US" altLang="zh-CN" sz="2000"/>
              <a:t>Intel</a:t>
            </a:r>
            <a:r>
              <a:rPr lang="zh-CN" altLang="en-US" sz="2000"/>
              <a:t>、</a:t>
            </a:r>
            <a:r>
              <a:rPr lang="en-US" altLang="zh-CN" sz="2000"/>
              <a:t>Microsoft</a:t>
            </a:r>
            <a:r>
              <a:rPr lang="zh-CN" altLang="en-US" sz="2000"/>
              <a:t>和</a:t>
            </a:r>
            <a:r>
              <a:rPr lang="en-US" altLang="zh-CN" sz="2000"/>
              <a:t>NEC</a:t>
            </a:r>
            <a:r>
              <a:rPr lang="zh-CN" altLang="en-US" sz="2000"/>
              <a:t>等多家美国和日本公司共同开发的一种新的外设连接技术，其目的是为用户提供一种独立的主机系统，并在整个计算机系统结构中保持一致，具有可共享、可扩充、使用方便等特性的串行总线。</a:t>
            </a:r>
            <a:r>
              <a:rPr lang="en-US" altLang="zh-CN" sz="2000"/>
              <a:t>USB</a:t>
            </a:r>
            <a:r>
              <a:rPr lang="zh-CN" altLang="en-US" sz="2000"/>
              <a:t>具有以下一些特点。</a:t>
            </a:r>
          </a:p>
          <a:p>
            <a:pPr algn="just">
              <a:lnSpc>
                <a:spcPts val="3200"/>
              </a:lnSpc>
              <a:buNone/>
            </a:pPr>
            <a:r>
              <a:rPr lang="zh-CN" altLang="en-US" sz="2000"/>
              <a:t>   （</a:t>
            </a:r>
            <a:r>
              <a:rPr lang="en-US" altLang="zh-CN" sz="2000"/>
              <a:t>1</a:t>
            </a:r>
            <a:r>
              <a:rPr lang="zh-CN" altLang="en-US" sz="2000"/>
              <a:t>）易使用，主要表现在以下方面。</a:t>
            </a:r>
          </a:p>
          <a:p>
            <a:pPr algn="just">
              <a:lnSpc>
                <a:spcPts val="3200"/>
              </a:lnSpc>
              <a:buNone/>
            </a:pPr>
            <a:r>
              <a:rPr lang="zh-CN" altLang="en-US" sz="2000"/>
              <a:t>    </a:t>
            </a:r>
            <a:r>
              <a:rPr lang="en-US" altLang="zh-CN" sz="2000"/>
              <a:t>① </a:t>
            </a:r>
            <a:r>
              <a:rPr lang="zh-CN" altLang="en-US" sz="2000"/>
              <a:t>适合多种设备。 </a:t>
            </a:r>
            <a:r>
              <a:rPr lang="en-US" altLang="zh-CN" sz="2000"/>
              <a:t>② </a:t>
            </a:r>
            <a:r>
              <a:rPr lang="zh-CN" altLang="en-US" sz="2000"/>
              <a:t>自动配置，即插即用（</a:t>
            </a:r>
            <a:r>
              <a:rPr lang="en-US" altLang="zh-CN" sz="2000"/>
              <a:t>PnP</a:t>
            </a:r>
            <a:r>
              <a:rPr lang="zh-CN" altLang="en-US" sz="2000"/>
              <a:t>）。</a:t>
            </a:r>
          </a:p>
          <a:p>
            <a:pPr algn="just">
              <a:lnSpc>
                <a:spcPts val="3200"/>
              </a:lnSpc>
              <a:buNone/>
            </a:pPr>
            <a:r>
              <a:rPr lang="zh-CN" altLang="en-US" sz="2000"/>
              <a:t>    </a:t>
            </a:r>
            <a:r>
              <a:rPr lang="en-US" altLang="zh-CN" sz="2000"/>
              <a:t>③ </a:t>
            </a:r>
            <a:r>
              <a:rPr lang="zh-CN" altLang="en-US" sz="2000"/>
              <a:t>无须用户设定。  </a:t>
            </a:r>
            <a:r>
              <a:rPr lang="en-US" altLang="zh-CN" sz="2000"/>
              <a:t>④ </a:t>
            </a:r>
            <a:r>
              <a:rPr lang="zh-CN" altLang="en-US" sz="2000"/>
              <a:t>节省硬件资源。</a:t>
            </a:r>
          </a:p>
          <a:p>
            <a:pPr algn="just">
              <a:lnSpc>
                <a:spcPts val="3200"/>
              </a:lnSpc>
              <a:buNone/>
            </a:pPr>
            <a:r>
              <a:rPr lang="zh-CN" altLang="en-US" sz="2000"/>
              <a:t>    </a:t>
            </a:r>
            <a:r>
              <a:rPr lang="en-US" altLang="zh-CN" sz="2000"/>
              <a:t>⑤ </a:t>
            </a:r>
            <a:r>
              <a:rPr lang="zh-CN" altLang="en-US" sz="2000"/>
              <a:t>易于连接。</a:t>
            </a:r>
            <a:r>
              <a:rPr lang="en-US" altLang="zh-CN" sz="2000"/>
              <a:t>⑥ </a:t>
            </a:r>
            <a:r>
              <a:rPr lang="zh-CN" altLang="en-US" sz="2000"/>
              <a:t>可热插拔。</a:t>
            </a:r>
            <a:r>
              <a:rPr lang="en-US" altLang="zh-CN" sz="2000"/>
              <a:t>⑦ </a:t>
            </a:r>
            <a:r>
              <a:rPr lang="zh-CN" altLang="en-US" sz="2000"/>
              <a:t>不需另备电源。</a:t>
            </a: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6322" name="内容占位符 2"/>
          <p:cNvSpPr>
            <a:spLocks noGrp="1"/>
          </p:cNvSpPr>
          <p:nvPr>
            <p:ph idx="4294967295"/>
          </p:nvPr>
        </p:nvSpPr>
        <p:spPr>
          <a:xfrm>
            <a:off x="287338" y="1466850"/>
            <a:ext cx="8408987" cy="5273675"/>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2</a:t>
            </a:r>
            <a:r>
              <a:rPr lang="zh-CN" altLang="en-US" sz="2000"/>
              <a:t>）速度较快。一个全速</a:t>
            </a:r>
            <a:r>
              <a:rPr lang="en-US" altLang="zh-CN" sz="2000"/>
              <a:t>USB1.1</a:t>
            </a:r>
            <a:r>
              <a:rPr lang="zh-CN" altLang="en-US" sz="2000"/>
              <a:t>接口可以</a:t>
            </a:r>
            <a:r>
              <a:rPr lang="en-US" altLang="zh-CN" sz="2000"/>
              <a:t>12Mb/s</a:t>
            </a:r>
            <a:r>
              <a:rPr lang="zh-CN" altLang="en-US" sz="2000"/>
              <a:t>（即</a:t>
            </a:r>
            <a:r>
              <a:rPr lang="en-US" altLang="zh-CN" sz="2000"/>
              <a:t>1.5MB/s</a:t>
            </a:r>
            <a:r>
              <a:rPr lang="zh-CN" altLang="en-US" sz="2000"/>
              <a:t>）的速度进行通信。实际数据传输速率比这个数值要低一些，这是因为所有外设都公用总线，导致总线除传输数据外，还必须携带状态、控制和错误检测信号。如果这还不够快，</a:t>
            </a:r>
            <a:r>
              <a:rPr lang="en-US" altLang="zh-CN" sz="2000"/>
              <a:t>USB2.0</a:t>
            </a:r>
            <a:r>
              <a:rPr lang="zh-CN" altLang="en-US" sz="2000"/>
              <a:t>规范将允许以</a:t>
            </a:r>
            <a:r>
              <a:rPr lang="en-US" altLang="zh-CN" sz="2000"/>
              <a:t>480Mb/s</a:t>
            </a:r>
            <a:r>
              <a:rPr lang="zh-CN" altLang="en-US" sz="2000"/>
              <a:t>传输数据。这使得</a:t>
            </a:r>
            <a:r>
              <a:rPr lang="en-US" altLang="zh-CN" sz="2000"/>
              <a:t>USB</a:t>
            </a:r>
            <a:r>
              <a:rPr lang="zh-CN" altLang="en-US" sz="2000"/>
              <a:t>对打印机和其他需要快速传递大容量数据的外设更具吸引力。</a:t>
            </a:r>
            <a:r>
              <a:rPr lang="en-US" altLang="zh-CN" sz="2000"/>
              <a:t>USB</a:t>
            </a:r>
            <a:r>
              <a:rPr lang="zh-CN" altLang="en-US" sz="2000"/>
              <a:t>也支持</a:t>
            </a:r>
            <a:r>
              <a:rPr lang="en-US" altLang="zh-CN" sz="2000"/>
              <a:t>1.5Mb/s</a:t>
            </a:r>
            <a:r>
              <a:rPr lang="zh-CN" altLang="en-US" sz="2000"/>
              <a:t>的低速传输。低速外设通常很便宜，而且它们的电缆可以更灵活（如鼠标），因为电缆不需要屏蔽。</a:t>
            </a:r>
          </a:p>
          <a:p>
            <a:pPr algn="just">
              <a:lnSpc>
                <a:spcPts val="3200"/>
              </a:lnSpc>
              <a:buNone/>
            </a:pPr>
            <a:r>
              <a:rPr lang="zh-CN" altLang="en-US" sz="2000"/>
              <a:t>   （</a:t>
            </a:r>
            <a:r>
              <a:rPr lang="en-US" altLang="zh-CN" sz="2000"/>
              <a:t>3</a:t>
            </a:r>
            <a:r>
              <a:rPr lang="zh-CN" altLang="en-US" sz="2000"/>
              <a:t>）可靠性高。</a:t>
            </a:r>
            <a:r>
              <a:rPr lang="en-US" altLang="zh-CN" sz="2000"/>
              <a:t>USB</a:t>
            </a:r>
            <a:r>
              <a:rPr lang="zh-CN" altLang="en-US" sz="2000"/>
              <a:t>的可靠性来自于硬件设计和数据传输协议两方面。</a:t>
            </a:r>
            <a:r>
              <a:rPr lang="en-US" altLang="zh-CN" sz="2000"/>
              <a:t>USB</a:t>
            </a:r>
            <a:r>
              <a:rPr lang="zh-CN" altLang="en-US" sz="2000"/>
              <a:t>驱动器、接收器和电缆的硬件规范消除了大多数可能引起数据错误的噪声。此外，</a:t>
            </a:r>
            <a:r>
              <a:rPr lang="en-US" altLang="zh-CN" sz="2000"/>
              <a:t>USB</a:t>
            </a:r>
            <a:r>
              <a:rPr lang="zh-CN" altLang="en-US" sz="2000"/>
              <a:t>协议采用了差错控制</a:t>
            </a:r>
            <a:r>
              <a:rPr lang="en-US" altLang="zh-CN" sz="2000"/>
              <a:t>/</a:t>
            </a:r>
            <a:r>
              <a:rPr lang="zh-CN" altLang="en-US" sz="2000"/>
              <a:t>缺陷发现机制，当检测到错误时能通知发送方重新发送前面的数据。检测、通知和重发都由硬件完成，不需要任何软件的介入。</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7346" name="内容占位符 2"/>
          <p:cNvSpPr>
            <a:spLocks noGrp="1"/>
          </p:cNvSpPr>
          <p:nvPr>
            <p:ph idx="4294967295"/>
          </p:nvPr>
        </p:nvSpPr>
        <p:spPr>
          <a:xfrm>
            <a:off x="238125" y="2076450"/>
            <a:ext cx="8408988" cy="3419475"/>
          </a:xfrm>
          <a:ln/>
        </p:spPr>
        <p:txBody>
          <a:bodyPr wrap="square" lIns="92075" tIns="46038" rIns="92075" bIns="46038" anchor="t" anchorCtr="0"/>
          <a:lstStyle/>
          <a:p>
            <a:pPr algn="just">
              <a:lnSpc>
                <a:spcPts val="3200"/>
              </a:lnSpc>
              <a:buNone/>
            </a:pPr>
            <a:r>
              <a:rPr lang="en-US" altLang="zh-CN" sz="2000"/>
              <a:t>    </a:t>
            </a:r>
            <a:r>
              <a:rPr lang="zh-CN" altLang="en-US" sz="2000"/>
              <a:t>（</a:t>
            </a:r>
            <a:r>
              <a:rPr lang="en-US" altLang="zh-CN" sz="2000"/>
              <a:t>4</a:t>
            </a:r>
            <a:r>
              <a:rPr lang="zh-CN" altLang="en-US" sz="2000"/>
              <a:t>）低成本。虽然</a:t>
            </a:r>
            <a:r>
              <a:rPr lang="en-US" altLang="zh-CN" sz="2000"/>
              <a:t>USB</a:t>
            </a:r>
            <a:r>
              <a:rPr lang="zh-CN" altLang="en-US" sz="2000"/>
              <a:t>比以前的接口更复杂，但它的组件和电缆并不昂贵。带有</a:t>
            </a:r>
            <a:r>
              <a:rPr lang="en-US" altLang="zh-CN" sz="2000"/>
              <a:t>USB</a:t>
            </a:r>
            <a:r>
              <a:rPr lang="zh-CN" altLang="en-US" sz="2000"/>
              <a:t>接口的设备与带有相同功能的老式接口的设备所需的费用几乎是相同的，甚至更低。对成本非常低的外设来说，可以选择低速传输以降低对硬件的要求，使成本控制在合理的范围内。</a:t>
            </a:r>
          </a:p>
          <a:p>
            <a:pPr algn="just">
              <a:lnSpc>
                <a:spcPts val="3200"/>
              </a:lnSpc>
              <a:buNone/>
            </a:pPr>
            <a:r>
              <a:rPr lang="zh-CN" altLang="en-US" sz="2000"/>
              <a:t>   （</a:t>
            </a:r>
            <a:r>
              <a:rPr lang="en-US" altLang="zh-CN" sz="2000"/>
              <a:t>5</a:t>
            </a:r>
            <a:r>
              <a:rPr lang="zh-CN" altLang="en-US" sz="2000"/>
              <a:t>）低功耗。当</a:t>
            </a:r>
            <a:r>
              <a:rPr lang="en-US" altLang="zh-CN" sz="2000"/>
              <a:t>USB</a:t>
            </a:r>
            <a:r>
              <a:rPr lang="zh-CN" altLang="en-US" sz="2000"/>
              <a:t>外设不被使用时，省电电路和代码会自动关闭它的电源，但仍然能够在需要的时候做出反应。降低电源消耗除了可带来保护环境的好处之外，这个特征对于电源供应非常敏感的笔记本电脑尤其有用。</a:t>
            </a: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常用系统总线和外设总线标准</a:t>
            </a:r>
          </a:p>
        </p:txBody>
      </p:sp>
      <p:sp>
        <p:nvSpPr>
          <p:cNvPr id="58370" name="内容占位符 2"/>
          <p:cNvSpPr>
            <a:spLocks noGrp="1"/>
          </p:cNvSpPr>
          <p:nvPr>
            <p:ph idx="4294967295"/>
          </p:nvPr>
        </p:nvSpPr>
        <p:spPr>
          <a:xfrm>
            <a:off x="238125" y="1409700"/>
            <a:ext cx="8408988" cy="2557463"/>
          </a:xfrm>
          <a:ln/>
        </p:spPr>
        <p:txBody>
          <a:bodyPr wrap="square" lIns="92075" tIns="46038" rIns="92075" bIns="46038" anchor="t" anchorCtr="0"/>
          <a:lstStyle/>
          <a:p>
            <a:pPr algn="just">
              <a:lnSpc>
                <a:spcPts val="3200"/>
              </a:lnSpc>
              <a:buNone/>
            </a:pPr>
            <a:r>
              <a:rPr lang="en-US" altLang="zh-CN" sz="2000"/>
              <a:t>              2</a:t>
            </a:r>
            <a:r>
              <a:rPr lang="zh-CN" altLang="en-US" sz="2000"/>
              <a:t>）主要技术指标</a:t>
            </a:r>
          </a:p>
          <a:p>
            <a:pPr algn="just">
              <a:lnSpc>
                <a:spcPts val="3200"/>
              </a:lnSpc>
              <a:buNone/>
            </a:pPr>
            <a:r>
              <a:rPr lang="zh-CN" altLang="en-US" sz="2000"/>
              <a:t>              </a:t>
            </a:r>
            <a:r>
              <a:rPr lang="en-US" altLang="zh-CN" sz="2000"/>
              <a:t>USB</a:t>
            </a:r>
            <a:r>
              <a:rPr lang="zh-CN" altLang="en-US" sz="2000"/>
              <a:t>已有</a:t>
            </a:r>
            <a:r>
              <a:rPr lang="en-US" altLang="zh-CN" sz="2000"/>
              <a:t>3</a:t>
            </a:r>
            <a:r>
              <a:rPr lang="zh-CN" altLang="en-US" sz="2000"/>
              <a:t>种版本：</a:t>
            </a:r>
            <a:r>
              <a:rPr lang="en-US" altLang="zh-CN" sz="2000"/>
              <a:t>USB1.1</a:t>
            </a:r>
            <a:r>
              <a:rPr lang="zh-CN" altLang="en-US" sz="2000"/>
              <a:t>、</a:t>
            </a:r>
            <a:r>
              <a:rPr lang="en-US" altLang="zh-CN" sz="2000"/>
              <a:t>USB2.0</a:t>
            </a:r>
            <a:r>
              <a:rPr lang="zh-CN" altLang="en-US" sz="2000"/>
              <a:t>和</a:t>
            </a:r>
            <a:r>
              <a:rPr lang="en-US" altLang="zh-CN" sz="2000"/>
              <a:t>USB3.0</a:t>
            </a:r>
            <a:r>
              <a:rPr lang="zh-CN" altLang="en-US" sz="2000"/>
              <a:t>，前两个版本的</a:t>
            </a:r>
            <a:r>
              <a:rPr lang="en-US" altLang="zh-CN" sz="2000"/>
              <a:t>USB</a:t>
            </a:r>
            <a:r>
              <a:rPr lang="zh-CN" altLang="en-US" sz="2000"/>
              <a:t>均采用一条</a:t>
            </a:r>
            <a:r>
              <a:rPr lang="en-US" altLang="zh-CN" sz="2000"/>
              <a:t>4</a:t>
            </a:r>
            <a:r>
              <a:rPr lang="zh-CN" altLang="en-US" sz="2000"/>
              <a:t>芯的电缆连接主机和</a:t>
            </a:r>
            <a:r>
              <a:rPr lang="en-US" altLang="zh-CN" sz="2000"/>
              <a:t>USB</a:t>
            </a:r>
            <a:r>
              <a:rPr lang="zh-CN" altLang="en-US" sz="2000"/>
              <a:t>设备，</a:t>
            </a:r>
            <a:r>
              <a:rPr lang="en-US" altLang="zh-CN" sz="2000"/>
              <a:t>USB3.0</a:t>
            </a:r>
            <a:r>
              <a:rPr lang="zh-CN" altLang="en-US" sz="2000"/>
              <a:t>采用</a:t>
            </a:r>
            <a:r>
              <a:rPr lang="en-US" altLang="zh-CN" sz="2000"/>
              <a:t>9</a:t>
            </a:r>
            <a:r>
              <a:rPr lang="zh-CN" altLang="en-US" sz="2000"/>
              <a:t>芯电缆连接主机和</a:t>
            </a:r>
            <a:r>
              <a:rPr lang="en-US" altLang="zh-CN" sz="2000"/>
              <a:t>USB</a:t>
            </a:r>
            <a:r>
              <a:rPr lang="zh-CN" altLang="en-US" sz="2000"/>
              <a:t>设备。目前最新的版本为</a:t>
            </a:r>
            <a:r>
              <a:rPr lang="en-US" altLang="zh-CN" sz="2000"/>
              <a:t>USB 3.1</a:t>
            </a:r>
            <a:r>
              <a:rPr lang="zh-CN" altLang="en-US" sz="2000"/>
              <a:t>，其规范于</a:t>
            </a:r>
            <a:r>
              <a:rPr lang="en-US" altLang="zh-CN" sz="2000"/>
              <a:t>2013</a:t>
            </a:r>
            <a:r>
              <a:rPr lang="zh-CN" altLang="en-US" sz="2000"/>
              <a:t>年发布。连接电缆除提供信号线外，还向</a:t>
            </a:r>
            <a:r>
              <a:rPr lang="en-US" altLang="zh-CN" sz="2000"/>
              <a:t>USB</a:t>
            </a:r>
            <a:r>
              <a:rPr lang="zh-CN" altLang="en-US" sz="2000"/>
              <a:t>设备提供了电源。</a:t>
            </a:r>
            <a:r>
              <a:rPr lang="en-US" altLang="zh-CN" sz="2000"/>
              <a:t>USB</a:t>
            </a:r>
            <a:r>
              <a:rPr lang="zh-CN" altLang="en-US" sz="2000"/>
              <a:t>的主要技术指标（参考值）如表</a:t>
            </a:r>
            <a:r>
              <a:rPr lang="en-US" altLang="zh-CN" sz="2000"/>
              <a:t>6-1</a:t>
            </a:r>
            <a:r>
              <a:rPr lang="zh-CN" altLang="en-US" sz="2000"/>
              <a:t>所示。</a:t>
            </a:r>
          </a:p>
        </p:txBody>
      </p:sp>
      <p:graphicFrame>
        <p:nvGraphicFramePr>
          <p:cNvPr id="2" name="表格 -1"/>
          <p:cNvGraphicFramePr/>
          <p:nvPr/>
        </p:nvGraphicFramePr>
        <p:xfrm>
          <a:off x="708025" y="4075113"/>
          <a:ext cx="7564438" cy="2627313"/>
        </p:xfrm>
        <a:graphic>
          <a:graphicData uri="http://schemas.openxmlformats.org/drawingml/2006/table">
            <a:tbl>
              <a:tblPr firstRow="1" bandRow="1">
                <a:tableStyleId>{5940675A-B579-460E-94D1-54222C63F5DA}</a:tableStyleId>
              </a:tblPr>
              <a:tblGrid>
                <a:gridCol w="174879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1892935">
                  <a:extLst>
                    <a:ext uri="{9D8B030D-6E8A-4147-A177-3AD203B41FA5}">
                      <a16:colId xmlns:a16="http://schemas.microsoft.com/office/drawing/2014/main" val="20002"/>
                    </a:ext>
                  </a:extLst>
                </a:gridCol>
                <a:gridCol w="1890395">
                  <a:extLst>
                    <a:ext uri="{9D8B030D-6E8A-4147-A177-3AD203B41FA5}">
                      <a16:colId xmlns:a16="http://schemas.microsoft.com/office/drawing/2014/main" val="20003"/>
                    </a:ext>
                  </a:extLst>
                </a:gridCol>
              </a:tblGrid>
              <a:tr h="384810">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指标项</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USB1.1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USB2.0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USB3.0</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0"/>
                  </a:ext>
                </a:extLst>
              </a:tr>
              <a:tr h="294640">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连接的设备数</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127</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1"/>
                  </a:ext>
                </a:extLst>
              </a:tr>
              <a:tr h="294005">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传输模式</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半双工</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半双工</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全双工</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2"/>
                  </a:ext>
                </a:extLst>
              </a:tr>
              <a:tr h="385445">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最高传输速度</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12 Mb/s</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480 Mb/s</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5 Gb/s</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3"/>
                  </a:ext>
                </a:extLst>
              </a:tr>
              <a:tr h="294640">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最长电缆长度</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5</a:t>
                      </a:r>
                      <a:r>
                        <a:rPr lang="zh-CN" altLang="en-US" sz="1600" b="0" u="none">
                          <a:latin typeface="宋体" panose="02010600030101010101" pitchFamily="2" charset="-122"/>
                          <a:ea typeface="宋体" panose="02010600030101010101" pitchFamily="2" charset="-122"/>
                          <a:cs typeface="宋体" panose="02010600030101010101" pitchFamily="2" charset="-122"/>
                        </a:rPr>
                        <a:t>米米</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5</a:t>
                      </a:r>
                      <a:r>
                        <a:rPr lang="zh-CN" altLang="en-US" sz="1600" b="0" u="none">
                          <a:latin typeface="宋体" panose="02010600030101010101" pitchFamily="2" charset="-122"/>
                          <a:ea typeface="宋体" panose="02010600030101010101" pitchFamily="2" charset="-122"/>
                          <a:cs typeface="宋体" panose="02010600030101010101" pitchFamily="2" charset="-122"/>
                        </a:rPr>
                        <a:t>米米</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3</a:t>
                      </a:r>
                      <a:r>
                        <a:rPr lang="zh-CN" altLang="en-US" sz="1600" b="0" u="none">
                          <a:latin typeface="宋体" panose="02010600030101010101" pitchFamily="2" charset="-122"/>
                          <a:ea typeface="宋体" panose="02010600030101010101" pitchFamily="2" charset="-122"/>
                          <a:cs typeface="宋体" panose="02010600030101010101" pitchFamily="2" charset="-122"/>
                        </a:rPr>
                        <a:t>米米</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4"/>
                  </a:ext>
                </a:extLst>
              </a:tr>
              <a:tr h="294005">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接头触点数</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4</a:t>
                      </a:r>
                      <a:r>
                        <a:rPr lang="zh-CN" altLang="en-US" sz="1600" b="0" u="none">
                          <a:latin typeface="宋体" panose="02010600030101010101" pitchFamily="2" charset="-122"/>
                          <a:ea typeface="宋体" panose="02010600030101010101" pitchFamily="2" charset="-122"/>
                          <a:cs typeface="宋体" panose="02010600030101010101" pitchFamily="2" charset="-122"/>
                        </a:rPr>
                        <a:t>个个</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4</a:t>
                      </a:r>
                      <a:r>
                        <a:rPr lang="zh-CN" altLang="en-US" sz="1600" b="0" u="none">
                          <a:latin typeface="宋体" panose="02010600030101010101" pitchFamily="2" charset="-122"/>
                          <a:ea typeface="宋体" panose="02010600030101010101" pitchFamily="2" charset="-122"/>
                          <a:cs typeface="宋体" panose="02010600030101010101" pitchFamily="2" charset="-122"/>
                        </a:rPr>
                        <a:t>个个</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9</a:t>
                      </a:r>
                      <a:r>
                        <a:rPr lang="zh-CN" altLang="en-US" sz="1600" b="0" u="none">
                          <a:latin typeface="宋体" panose="02010600030101010101" pitchFamily="2" charset="-122"/>
                          <a:ea typeface="宋体" panose="02010600030101010101" pitchFamily="2" charset="-122"/>
                          <a:cs typeface="宋体" panose="02010600030101010101" pitchFamily="2" charset="-122"/>
                        </a:rPr>
                        <a:t>个个</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5"/>
                  </a:ext>
                </a:extLst>
              </a:tr>
              <a:tr h="679450">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电源供应</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电压：</a:t>
                      </a:r>
                      <a:r>
                        <a:rPr lang="en-US" altLang="zh-CN" sz="1600" b="0" u="none">
                          <a:latin typeface="宋体" panose="02010600030101010101" pitchFamily="2" charset="-122"/>
                          <a:ea typeface="宋体" panose="02010600030101010101" pitchFamily="2" charset="-122"/>
                          <a:cs typeface="宋体" panose="02010600030101010101" pitchFamily="2" charset="-122"/>
                        </a:rPr>
                        <a:t>5V5V</a:t>
                      </a:r>
                      <a:r>
                        <a:rPr lang="zh-CN" altLang="en-US" sz="1600" b="0" u="none">
                          <a:latin typeface="宋体" panose="02010600030101010101" pitchFamily="2" charset="-122"/>
                          <a:ea typeface="宋体" panose="02010600030101010101" pitchFamily="2" charset="-122"/>
                          <a:cs typeface="宋体" panose="02010600030101010101" pitchFamily="2" charset="-122"/>
                        </a:rPr>
                        <a:t>最大电流：</a:t>
                      </a:r>
                      <a:r>
                        <a:rPr lang="en-US" altLang="zh-CN" sz="1600" b="0" u="none">
                          <a:latin typeface="宋体" panose="02010600030101010101" pitchFamily="2" charset="-122"/>
                          <a:ea typeface="宋体" panose="02010600030101010101" pitchFamily="2" charset="-122"/>
                          <a:cs typeface="宋体" panose="02010600030101010101" pitchFamily="2" charset="-122"/>
                        </a:rPr>
                        <a:t>500500</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 mA</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电压：</a:t>
                      </a:r>
                      <a:r>
                        <a:rPr lang="en-US" altLang="zh-CN" sz="1600" b="0" u="none">
                          <a:latin typeface="宋体" panose="02010600030101010101" pitchFamily="2" charset="-122"/>
                          <a:ea typeface="宋体" panose="02010600030101010101" pitchFamily="2" charset="-122"/>
                          <a:cs typeface="宋体" panose="02010600030101010101" pitchFamily="2" charset="-122"/>
                        </a:rPr>
                        <a:t>5V5V</a:t>
                      </a:r>
                      <a:r>
                        <a:rPr lang="zh-CN" altLang="en-US" sz="1600" b="0" u="none">
                          <a:latin typeface="宋体" panose="02010600030101010101" pitchFamily="2" charset="-122"/>
                          <a:ea typeface="宋体" panose="02010600030101010101" pitchFamily="2" charset="-122"/>
                          <a:cs typeface="宋体" panose="02010600030101010101" pitchFamily="2" charset="-122"/>
                        </a:rPr>
                        <a:t>最大电流：</a:t>
                      </a:r>
                      <a:r>
                        <a:rPr lang="en-US" altLang="zh-CN" sz="1600" b="0" u="none">
                          <a:latin typeface="宋体" panose="02010600030101010101" pitchFamily="2" charset="-122"/>
                          <a:ea typeface="宋体" panose="02010600030101010101" pitchFamily="2" charset="-122"/>
                          <a:cs typeface="宋体" panose="02010600030101010101" pitchFamily="2" charset="-122"/>
                        </a:rPr>
                        <a:t>500500</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 mA</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电压：</a:t>
                      </a:r>
                      <a:r>
                        <a:rPr lang="en-US" altLang="zh-CN" sz="1600" b="0" u="none">
                          <a:latin typeface="宋体" panose="02010600030101010101" pitchFamily="2" charset="-122"/>
                          <a:ea typeface="宋体" panose="02010600030101010101" pitchFamily="2" charset="-122"/>
                          <a:cs typeface="宋体" panose="02010600030101010101" pitchFamily="2" charset="-122"/>
                        </a:rPr>
                        <a:t>5V5V</a:t>
                      </a:r>
                      <a:r>
                        <a:rPr lang="zh-CN" altLang="en-US" sz="1600" b="0" u="none">
                          <a:latin typeface="宋体" panose="02010600030101010101" pitchFamily="2" charset="-122"/>
                          <a:ea typeface="宋体" panose="02010600030101010101" pitchFamily="2" charset="-122"/>
                          <a:cs typeface="宋体" panose="02010600030101010101" pitchFamily="2" charset="-122"/>
                        </a:rPr>
                        <a:t>最大电流：</a:t>
                      </a:r>
                      <a:r>
                        <a:rPr lang="en-US" altLang="zh-CN" sz="1600" b="0" u="none">
                          <a:latin typeface="宋体" panose="02010600030101010101" pitchFamily="2" charset="-122"/>
                          <a:ea typeface="宋体" panose="02010600030101010101" pitchFamily="2" charset="-122"/>
                          <a:cs typeface="宋体" panose="02010600030101010101" pitchFamily="2" charset="-122"/>
                        </a:rPr>
                        <a:t>900</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 mA</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6"/>
                  </a:ext>
                </a:extLst>
              </a:tr>
            </a:tbl>
          </a:graphicData>
        </a:graphic>
      </p:graphicFrame>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59394" name="AutoShape 8">
            <a:hlinkClick r:id="" action="ppaction://noaction"/>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59395" name="内容占位符 4"/>
          <p:cNvSpPr>
            <a:spLocks noGrp="1"/>
          </p:cNvSpPr>
          <p:nvPr>
            <p:ph idx="1"/>
          </p:nvPr>
        </p:nvSpPr>
        <p:spPr>
          <a:xfrm>
            <a:off x="887413" y="1946275"/>
            <a:ext cx="7273925" cy="3829050"/>
          </a:xfrm>
          <a:ln/>
        </p:spPr>
        <p:txBody>
          <a:bodyPr wrap="square" lIns="92075" tIns="46038" rIns="92075" bIns="46038" anchor="t" anchorCtr="0"/>
          <a:lstStyle/>
          <a:p>
            <a:pPr algn="just">
              <a:buNone/>
            </a:pPr>
            <a:r>
              <a:rPr lang="en-US" altLang="zh-CN" sz="2000" dirty="0"/>
              <a:t>6-1  什么叫I/O端口？典型的I/O接口电路包括哪几类I/O端口？</a:t>
            </a:r>
          </a:p>
          <a:p>
            <a:pPr algn="just">
              <a:buNone/>
            </a:pPr>
            <a:r>
              <a:rPr lang="en-US" altLang="zh-CN" sz="2000" dirty="0"/>
              <a:t>6-2  I/O接口的主要功能是什么？</a:t>
            </a:r>
          </a:p>
          <a:p>
            <a:pPr algn="just">
              <a:buNone/>
            </a:pPr>
            <a:r>
              <a:rPr lang="en-US" altLang="zh-CN" sz="2000" dirty="0"/>
              <a:t>6-3  计算机I/O端口编址有几种不同方式？简述各自的主要优/缺点。</a:t>
            </a:r>
          </a:p>
          <a:p>
            <a:pPr algn="just">
              <a:buNone/>
            </a:pPr>
            <a:r>
              <a:rPr lang="en-US" altLang="zh-CN" sz="2000" dirty="0"/>
              <a:t>6-4  CPU与外设之间的数据传输方式有几种，各有何特点？</a:t>
            </a:r>
          </a:p>
          <a:p>
            <a:pPr algn="just">
              <a:buNone/>
            </a:pPr>
            <a:r>
              <a:rPr lang="en-US" altLang="zh-CN" sz="2000" dirty="0"/>
              <a:t>6-5  什么是总线？总线分哪几类？在微型计算机中采用总线结构有什么好处？</a:t>
            </a:r>
          </a:p>
          <a:p>
            <a:pPr algn="just">
              <a:buNone/>
            </a:pPr>
            <a:r>
              <a:rPr lang="en-US" altLang="zh-CN" sz="2000" dirty="0"/>
              <a:t>6-6  理解时钟周期、总线周期、指令周期的含义。</a:t>
            </a:r>
          </a:p>
          <a:p>
            <a:pPr algn="just">
              <a:buNone/>
            </a:pPr>
            <a:r>
              <a:rPr lang="en-US" altLang="zh-CN" sz="2000" dirty="0"/>
              <a:t>6-7  简述总线操作的过程。</a:t>
            </a:r>
          </a:p>
          <a:p>
            <a:pPr algn="just">
              <a:buNone/>
            </a:pPr>
            <a:r>
              <a:rPr lang="en-US" altLang="zh-CN" sz="2000" dirty="0"/>
              <a:t>6-8  常用的系统总线和外设总线标准有哪些？</a:t>
            </a:r>
          </a:p>
          <a:p>
            <a:pPr algn="just">
              <a:buNone/>
            </a:pPr>
            <a:r>
              <a:rPr lang="en-US" altLang="zh-CN" sz="2000" dirty="0"/>
              <a:t>6-9  简述USB接口的用途和特点。</a:t>
            </a:r>
          </a:p>
        </p:txBody>
      </p:sp>
    </p:spTree>
  </p:cSld>
  <p:clrMapOvr>
    <a:masterClrMapping/>
  </p:clrMapOvr>
  <p:transition spd="med">
    <p:random/>
  </p:transition>
</p:sld>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5</TotalTime>
  <Words>5425</Words>
  <Application>Microsoft Office PowerPoint</Application>
  <PresentationFormat>On-screen Show (4:3)</PresentationFormat>
  <Paragraphs>297</Paragraphs>
  <Slides>48</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宋体</vt:lpstr>
      <vt:lpstr>楷体_GB2312</vt:lpstr>
      <vt:lpstr>隶书</vt:lpstr>
      <vt:lpstr>Arial</vt:lpstr>
      <vt:lpstr>Tahoma</vt:lpstr>
      <vt:lpstr>Times New Roman</vt:lpstr>
      <vt:lpstr>Wingdings</vt:lpstr>
      <vt:lpstr>项目总览</vt:lpstr>
      <vt:lpstr>Visio.Drawing.11</vt:lpstr>
      <vt:lpstr>PowerPoint Presentation</vt:lpstr>
      <vt:lpstr>第6章  输入输出接口与总线 </vt:lpstr>
      <vt:lpstr>6.1  接口概述</vt:lpstr>
      <vt:lpstr>6.1.1  I/O接口中的信息</vt:lpstr>
      <vt:lpstr>6.1.1  I/O接口中的信息</vt:lpstr>
      <vt:lpstr>6.1.2  I/O接口的结构</vt:lpstr>
      <vt:lpstr>6.1.2  I/O接口的结构</vt:lpstr>
      <vt:lpstr>6.1.3  I/O接口的功能</vt:lpstr>
      <vt:lpstr>6.1.4  I/O端口的编址方式</vt:lpstr>
      <vt:lpstr>6.1.4  I/O端口的编址方式</vt:lpstr>
      <vt:lpstr>6.2  CPU与外设之间的数据传输方式</vt:lpstr>
      <vt:lpstr>6.2.1  程序控制方式</vt:lpstr>
      <vt:lpstr>6.2.2  中断方式</vt:lpstr>
      <vt:lpstr>6.2.3  DMA方式</vt:lpstr>
      <vt:lpstr>6.2.3  DMA方式</vt:lpstr>
      <vt:lpstr>6.3  微型计算机中的总线</vt:lpstr>
      <vt:lpstr>6.3.1  总线定义</vt:lpstr>
      <vt:lpstr>6.3.2  总线分类</vt:lpstr>
      <vt:lpstr>6.3.2  总线分类</vt:lpstr>
      <vt:lpstr>6.3.3  总线周期</vt:lpstr>
      <vt:lpstr>6.3.3  总线周期</vt:lpstr>
      <vt:lpstr>6.3.3  总线周期</vt:lpstr>
      <vt:lpstr>8086/8088的引脚信号</vt:lpstr>
      <vt:lpstr>8086/8088的工作方式</vt:lpstr>
      <vt:lpstr>PowerPoint Presentation</vt:lpstr>
      <vt:lpstr>2.最大模式系统组成</vt:lpstr>
      <vt:lpstr>PowerPoint Presentation</vt:lpstr>
      <vt:lpstr>PowerPoint Presentation</vt:lpstr>
      <vt:lpstr>PowerPoint Presentation</vt:lpstr>
      <vt:lpstr>6.3.3  总线周期</vt:lpstr>
      <vt:lpstr>6.3.4  总线的操作过程</vt:lpstr>
      <vt:lpstr>6.3.4  总线的操作过程</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6.3.5  常用系统总线和外设总线标准</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811</cp:revision>
  <dcterms:created xsi:type="dcterms:W3CDTF">2013-12-06T13:55:24Z</dcterms:created>
  <dcterms:modified xsi:type="dcterms:W3CDTF">2024-10-28T12:58:44Z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BBCB9382C2E24833B33FA0F13B24D797_13</vt:lpwstr>
  </property>
</Properties>
</file>