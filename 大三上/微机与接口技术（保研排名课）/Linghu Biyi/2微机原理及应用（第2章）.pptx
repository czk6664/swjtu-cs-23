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66"/>
  </p:notesMasterIdLst>
  <p:handoutMasterIdLst>
    <p:handoutMasterId r:id="rId67"/>
  </p:handoutMasterIdLst>
  <p:sldIdLst>
    <p:sldId id="656" r:id="rId3"/>
    <p:sldId id="316" r:id="rId4"/>
    <p:sldId id="389" r:id="rId5"/>
    <p:sldId id="598" r:id="rId6"/>
    <p:sldId id="411" r:id="rId7"/>
    <p:sldId id="414" r:id="rId8"/>
    <p:sldId id="718" r:id="rId9"/>
    <p:sldId id="413" r:id="rId10"/>
    <p:sldId id="415" r:id="rId11"/>
    <p:sldId id="416" r:id="rId12"/>
    <p:sldId id="719" r:id="rId13"/>
    <p:sldId id="417" r:id="rId14"/>
    <p:sldId id="418" r:id="rId15"/>
    <p:sldId id="419" r:id="rId16"/>
    <p:sldId id="420" r:id="rId17"/>
    <p:sldId id="421" r:id="rId18"/>
    <p:sldId id="551" r:id="rId19"/>
    <p:sldId id="422" r:id="rId20"/>
    <p:sldId id="514" r:id="rId21"/>
    <p:sldId id="423" r:id="rId22"/>
    <p:sldId id="424" r:id="rId23"/>
    <p:sldId id="425" r:id="rId24"/>
    <p:sldId id="552" r:id="rId25"/>
    <p:sldId id="553" r:id="rId26"/>
    <p:sldId id="554" r:id="rId27"/>
    <p:sldId id="426" r:id="rId28"/>
    <p:sldId id="427" r:id="rId29"/>
    <p:sldId id="555" r:id="rId30"/>
    <p:sldId id="560" r:id="rId31"/>
    <p:sldId id="559" r:id="rId32"/>
    <p:sldId id="561" r:id="rId33"/>
    <p:sldId id="557" r:id="rId34"/>
    <p:sldId id="428" r:id="rId35"/>
    <p:sldId id="429" r:id="rId36"/>
    <p:sldId id="430" r:id="rId37"/>
    <p:sldId id="431" r:id="rId38"/>
    <p:sldId id="432" r:id="rId39"/>
    <p:sldId id="433" r:id="rId40"/>
    <p:sldId id="434" r:id="rId41"/>
    <p:sldId id="435" r:id="rId42"/>
    <p:sldId id="436" r:id="rId43"/>
    <p:sldId id="437" r:id="rId44"/>
    <p:sldId id="438" r:id="rId45"/>
    <p:sldId id="439" r:id="rId46"/>
    <p:sldId id="440" r:id="rId47"/>
    <p:sldId id="489" r:id="rId48"/>
    <p:sldId id="441" r:id="rId49"/>
    <p:sldId id="442" r:id="rId50"/>
    <p:sldId id="443" r:id="rId51"/>
    <p:sldId id="447" r:id="rId52"/>
    <p:sldId id="448" r:id="rId53"/>
    <p:sldId id="501" r:id="rId54"/>
    <p:sldId id="502" r:id="rId55"/>
    <p:sldId id="504" r:id="rId56"/>
    <p:sldId id="505" r:id="rId57"/>
    <p:sldId id="506" r:id="rId58"/>
    <p:sldId id="449" r:id="rId59"/>
    <p:sldId id="503" r:id="rId60"/>
    <p:sldId id="450" r:id="rId61"/>
    <p:sldId id="451" r:id="rId62"/>
    <p:sldId id="452" r:id="rId63"/>
    <p:sldId id="453" r:id="rId64"/>
    <p:sldId id="444" r:id="rId65"/>
  </p:sldIdLst>
  <p:sldSz cx="9144000" cy="6858000" type="screen4x3"/>
  <p:notesSz cx="6858000" cy="9144000"/>
  <p:custDataLst>
    <p:tags r:id="rId68"/>
  </p:custDataLst>
  <p:defaultTextStyle>
    <a:defPPr>
      <a:defRPr lang="zh-CN"/>
    </a:defPPr>
    <a:lvl1pPr marL="0" lvl="0" indent="0" algn="l" defTabSz="914400" rtl="0" eaLnBrk="1" fontAlgn="base" latinLnBrk="0" hangingPunct="1">
      <a:lnSpc>
        <a:spcPct val="90000"/>
      </a:lnSpc>
      <a:spcBef>
        <a:spcPct val="2000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12" userDrawn="1">
          <p15:clr>
            <a:srgbClr val="A4A3A4"/>
          </p15:clr>
        </p15:guide>
        <p15:guide id="2" pos="6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FF7C80"/>
    <a:srgbClr val="66FFCC"/>
    <a:srgbClr val="99FFCC"/>
    <a:srgbClr val="FF3300"/>
    <a:srgbClr val="FFCC00"/>
    <a:srgbClr val="FF9933"/>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71"/>
    <p:restoredTop sz="94614"/>
  </p:normalViewPr>
  <p:slideViewPr>
    <p:cSldViewPr snapToGrid="0" showGuides="1">
      <p:cViewPr varScale="1">
        <p:scale>
          <a:sx n="127" d="100"/>
          <a:sy n="127" d="100"/>
        </p:scale>
        <p:origin x="1680" y="120"/>
      </p:cViewPr>
      <p:guideLst>
        <p:guide orient="horz" pos="2112"/>
        <p:guide pos="6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ags" Target="tags/tag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smtClean="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smtClean="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smtClean="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smtClean="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smtClean="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58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2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smtClean="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a:t>
            </a:fld>
            <a:endParaRPr lang="en-US" altLang="zh-CN" sz="1200" b="0" dirty="0">
              <a:latin typeface="Times New Roman" panose="02020603050405020304" pitchFamily="18" charset="0"/>
              <a:ea typeface="宋体" panose="02010600030101010101" pitchFamily="2" charset="-122"/>
            </a:endParaRPr>
          </a:p>
        </p:txBody>
      </p:sp>
      <p:sp>
        <p:nvSpPr>
          <p:cNvPr id="27650" name="Rectangle 2"/>
          <p:cNvSpPr>
            <a:spLocks noGrp="1" noRot="1" noChangeAspect="1" noTextEdit="1"/>
          </p:cNvSpPr>
          <p:nvPr>
            <p:ph type="sldImg"/>
          </p:nvPr>
        </p:nvSpPr>
        <p:spPr>
          <a:ln/>
        </p:spPr>
      </p:sp>
      <p:sp>
        <p:nvSpPr>
          <p:cNvPr id="2765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a:t>
            </a:fld>
            <a:endParaRPr lang="en-US" altLang="zh-CN" sz="1200" b="0" dirty="0">
              <a:latin typeface="Times New Roman" panose="02020603050405020304" pitchFamily="18" charset="0"/>
              <a:ea typeface="宋体" panose="02010600030101010101" pitchFamily="2" charset="-122"/>
            </a:endParaRPr>
          </a:p>
        </p:txBody>
      </p:sp>
      <p:sp>
        <p:nvSpPr>
          <p:cNvPr id="29698" name="Rectangle 2"/>
          <p:cNvSpPr>
            <a:spLocks noGrp="1" noRot="1" noChangeAspect="1" noTextEdit="1"/>
          </p:cNvSpPr>
          <p:nvPr>
            <p:ph type="sldImg"/>
          </p:nvPr>
        </p:nvSpPr>
        <p:spPr>
          <a:ln/>
        </p:spPr>
      </p:sp>
      <p:sp>
        <p:nvSpPr>
          <p:cNvPr id="2969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a:t>
            </a:fld>
            <a:endParaRPr lang="en-US" altLang="zh-CN" sz="1200" b="0" dirty="0">
              <a:latin typeface="Times New Roman" panose="02020603050405020304" pitchFamily="18" charset="0"/>
              <a:ea typeface="宋体" panose="02010600030101010101" pitchFamily="2" charset="-122"/>
            </a:endParaRPr>
          </a:p>
        </p:txBody>
      </p:sp>
      <p:sp>
        <p:nvSpPr>
          <p:cNvPr id="32770" name="Rectangle 2"/>
          <p:cNvSpPr>
            <a:spLocks noGrp="1" noRot="1" noChangeAspect="1" noTextEdit="1"/>
          </p:cNvSpPr>
          <p:nvPr>
            <p:ph type="sldImg"/>
          </p:nvPr>
        </p:nvSpPr>
        <p:spPr>
          <a:ln/>
        </p:spPr>
      </p:sp>
      <p:sp>
        <p:nvSpPr>
          <p:cNvPr id="3277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6</a:t>
            </a:fld>
            <a:endParaRPr lang="en-US" altLang="zh-CN" sz="1200" b="0" dirty="0">
              <a:latin typeface="Times New Roman" panose="02020603050405020304" pitchFamily="18" charset="0"/>
              <a:ea typeface="宋体" panose="02010600030101010101" pitchFamily="2" charset="-122"/>
            </a:endParaRPr>
          </a:p>
        </p:txBody>
      </p:sp>
      <p:sp>
        <p:nvSpPr>
          <p:cNvPr id="34818" name="Rectangle 2"/>
          <p:cNvSpPr>
            <a:spLocks noGrp="1" noRot="1" noChangeAspect="1" noTextEdit="1"/>
          </p:cNvSpPr>
          <p:nvPr>
            <p:ph type="sldImg"/>
          </p:nvPr>
        </p:nvSpPr>
        <p:spPr>
          <a:ln/>
        </p:spPr>
      </p:sp>
      <p:sp>
        <p:nvSpPr>
          <p:cNvPr id="3481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7</a:t>
            </a:fld>
            <a:endParaRPr lang="en-US" altLang="zh-CN" sz="1200" b="0" dirty="0">
              <a:latin typeface="Times New Roman" panose="02020603050405020304" pitchFamily="18" charset="0"/>
              <a:ea typeface="宋体" panose="02010600030101010101" pitchFamily="2" charset="-122"/>
            </a:endParaRPr>
          </a:p>
        </p:txBody>
      </p:sp>
      <p:sp>
        <p:nvSpPr>
          <p:cNvPr id="36866" name="Rectangle 2"/>
          <p:cNvSpPr>
            <a:spLocks noGrp="1" noRot="1" noChangeAspect="1" noTextEdit="1"/>
          </p:cNvSpPr>
          <p:nvPr>
            <p:ph type="sldImg"/>
          </p:nvPr>
        </p:nvSpPr>
        <p:spPr>
          <a:ln/>
        </p:spPr>
      </p:sp>
      <p:sp>
        <p:nvSpPr>
          <p:cNvPr id="3686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8</a:t>
            </a:fld>
            <a:endParaRPr lang="en-US" altLang="zh-CN" sz="1200" b="0" dirty="0">
              <a:latin typeface="Times New Roman" panose="02020603050405020304" pitchFamily="18" charset="0"/>
              <a:ea typeface="宋体" panose="02010600030101010101" pitchFamily="2" charset="-122"/>
            </a:endParaRPr>
          </a:p>
        </p:txBody>
      </p:sp>
      <p:sp>
        <p:nvSpPr>
          <p:cNvPr id="38914" name="Rectangle 2"/>
          <p:cNvSpPr>
            <a:spLocks noGrp="1" noRot="1" noChangeAspect="1" noTextEdit="1"/>
          </p:cNvSpPr>
          <p:nvPr>
            <p:ph type="sldImg"/>
          </p:nvPr>
        </p:nvSpPr>
        <p:spPr>
          <a:ln/>
        </p:spPr>
      </p:sp>
      <p:sp>
        <p:nvSpPr>
          <p:cNvPr id="3891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9</a:t>
            </a:fld>
            <a:endParaRPr lang="en-US" altLang="zh-CN" sz="1200" b="0" dirty="0">
              <a:latin typeface="Times New Roman" panose="02020603050405020304" pitchFamily="18" charset="0"/>
              <a:ea typeface="宋体" panose="02010600030101010101" pitchFamily="2" charset="-122"/>
            </a:endParaRPr>
          </a:p>
        </p:txBody>
      </p:sp>
      <p:sp>
        <p:nvSpPr>
          <p:cNvPr id="40962" name="Rectangle 2"/>
          <p:cNvSpPr>
            <a:spLocks noGrp="1" noRot="1" noChangeAspect="1" noTextEdit="1"/>
          </p:cNvSpPr>
          <p:nvPr>
            <p:ph type="sldImg"/>
          </p:nvPr>
        </p:nvSpPr>
        <p:spPr>
          <a:ln/>
        </p:spPr>
      </p:sp>
      <p:sp>
        <p:nvSpPr>
          <p:cNvPr id="4096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10</a:t>
            </a:fld>
            <a:endParaRPr lang="en-US" altLang="zh-CN" sz="1200" b="0" dirty="0">
              <a:latin typeface="Times New Roman" panose="02020603050405020304" pitchFamily="18" charset="0"/>
              <a:ea typeface="宋体" panose="02010600030101010101" pitchFamily="2" charset="-122"/>
            </a:endParaRPr>
          </a:p>
        </p:txBody>
      </p:sp>
      <p:sp>
        <p:nvSpPr>
          <p:cNvPr id="43010" name="Rectangle 2"/>
          <p:cNvSpPr>
            <a:spLocks noGrp="1" noRot="1" noChangeAspect="1" noTextEdit="1"/>
          </p:cNvSpPr>
          <p:nvPr>
            <p:ph type="sldImg"/>
          </p:nvPr>
        </p:nvSpPr>
        <p:spPr>
          <a:ln/>
        </p:spPr>
      </p:sp>
      <p:sp>
        <p:nvSpPr>
          <p:cNvPr id="4301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11</a:t>
            </a:fld>
            <a:endParaRPr lang="en-US" altLang="zh-CN" sz="1200" b="0" dirty="0">
              <a:latin typeface="Times New Roman" panose="02020603050405020304" pitchFamily="18" charset="0"/>
              <a:ea typeface="宋体" panose="02010600030101010101" pitchFamily="2" charset="-122"/>
            </a:endParaRPr>
          </a:p>
        </p:txBody>
      </p:sp>
      <p:sp>
        <p:nvSpPr>
          <p:cNvPr id="45058" name="Rectangle 2"/>
          <p:cNvSpPr>
            <a:spLocks noGrp="1" noRot="1" noChangeAspect="1" noTextEdit="1"/>
          </p:cNvSpPr>
          <p:nvPr>
            <p:ph type="sldImg"/>
          </p:nvPr>
        </p:nvSpPr>
        <p:spPr>
          <a:ln/>
        </p:spPr>
      </p:sp>
      <p:sp>
        <p:nvSpPr>
          <p:cNvPr id="4505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12</a:t>
            </a:fld>
            <a:endParaRPr lang="en-US" altLang="zh-CN" sz="1200" b="0" dirty="0">
              <a:latin typeface="Times New Roman" panose="02020603050405020304" pitchFamily="18" charset="0"/>
              <a:ea typeface="宋体" panose="02010600030101010101" pitchFamily="2" charset="-122"/>
            </a:endParaRPr>
          </a:p>
        </p:txBody>
      </p:sp>
      <p:sp>
        <p:nvSpPr>
          <p:cNvPr id="47106" name="Rectangle 2"/>
          <p:cNvSpPr>
            <a:spLocks noGrp="1" noRot="1" noChangeAspect="1" noTextEdit="1"/>
          </p:cNvSpPr>
          <p:nvPr>
            <p:ph type="sldImg"/>
          </p:nvPr>
        </p:nvSpPr>
        <p:spPr>
          <a:ln/>
        </p:spPr>
      </p:sp>
      <p:sp>
        <p:nvSpPr>
          <p:cNvPr id="4710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13</a:t>
            </a:fld>
            <a:endParaRPr lang="en-US" altLang="zh-CN" sz="1200" b="0" dirty="0">
              <a:latin typeface="Times New Roman" panose="02020603050405020304" pitchFamily="18" charset="0"/>
              <a:ea typeface="宋体" panose="02010600030101010101" pitchFamily="2" charset="-122"/>
            </a:endParaRPr>
          </a:p>
        </p:txBody>
      </p:sp>
      <p:sp>
        <p:nvSpPr>
          <p:cNvPr id="49154" name="Rectangle 2"/>
          <p:cNvSpPr>
            <a:spLocks noGrp="1" noRot="1" noChangeAspect="1" noTextEdit="1"/>
          </p:cNvSpPr>
          <p:nvPr>
            <p:ph type="sldImg"/>
          </p:nvPr>
        </p:nvSpPr>
        <p:spPr>
          <a:ln/>
        </p:spPr>
      </p:sp>
      <p:sp>
        <p:nvSpPr>
          <p:cNvPr id="4915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14</a:t>
            </a:fld>
            <a:endParaRPr lang="en-US" altLang="zh-CN" sz="1200" b="0" dirty="0">
              <a:latin typeface="Times New Roman" panose="02020603050405020304" pitchFamily="18" charset="0"/>
              <a:ea typeface="宋体" panose="02010600030101010101" pitchFamily="2" charset="-122"/>
            </a:endParaRPr>
          </a:p>
        </p:txBody>
      </p:sp>
      <p:sp>
        <p:nvSpPr>
          <p:cNvPr id="51202" name="Rectangle 2"/>
          <p:cNvSpPr>
            <a:spLocks noGrp="1" noRot="1" noChangeAspect="1" noTextEdit="1"/>
          </p:cNvSpPr>
          <p:nvPr>
            <p:ph type="sldImg"/>
          </p:nvPr>
        </p:nvSpPr>
        <p:spPr>
          <a:ln/>
        </p:spPr>
      </p:sp>
      <p:sp>
        <p:nvSpPr>
          <p:cNvPr id="5120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15</a:t>
            </a:fld>
            <a:endParaRPr lang="en-US" altLang="zh-CN" sz="1200" b="0" dirty="0">
              <a:latin typeface="Times New Roman" panose="02020603050405020304" pitchFamily="18" charset="0"/>
              <a:ea typeface="宋体" panose="02010600030101010101" pitchFamily="2" charset="-122"/>
            </a:endParaRPr>
          </a:p>
        </p:txBody>
      </p:sp>
      <p:sp>
        <p:nvSpPr>
          <p:cNvPr id="53250" name="Rectangle 2"/>
          <p:cNvSpPr>
            <a:spLocks noGrp="1" noRot="1" noChangeAspect="1" noTextEdit="1"/>
          </p:cNvSpPr>
          <p:nvPr>
            <p:ph type="sldImg"/>
          </p:nvPr>
        </p:nvSpPr>
        <p:spPr>
          <a:ln/>
        </p:spPr>
      </p:sp>
      <p:sp>
        <p:nvSpPr>
          <p:cNvPr id="5325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16</a:t>
            </a:fld>
            <a:endParaRPr lang="en-US" altLang="zh-CN" sz="1200" b="0" dirty="0">
              <a:latin typeface="Times New Roman" panose="02020603050405020304" pitchFamily="18" charset="0"/>
              <a:ea typeface="宋体" panose="02010600030101010101" pitchFamily="2" charset="-122"/>
            </a:endParaRPr>
          </a:p>
        </p:txBody>
      </p:sp>
      <p:sp>
        <p:nvSpPr>
          <p:cNvPr id="55298" name="Rectangle 2"/>
          <p:cNvSpPr>
            <a:spLocks noGrp="1" noRot="1" noChangeAspect="1" noTextEdit="1"/>
          </p:cNvSpPr>
          <p:nvPr>
            <p:ph type="sldImg"/>
          </p:nvPr>
        </p:nvSpPr>
        <p:spPr>
          <a:ln/>
        </p:spPr>
      </p:sp>
      <p:sp>
        <p:nvSpPr>
          <p:cNvPr id="5529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17</a:t>
            </a:fld>
            <a:endParaRPr lang="en-US" altLang="zh-CN" sz="1200" b="0" dirty="0">
              <a:latin typeface="Times New Roman" panose="02020603050405020304" pitchFamily="18" charset="0"/>
              <a:ea typeface="宋体" panose="02010600030101010101" pitchFamily="2" charset="-122"/>
            </a:endParaRPr>
          </a:p>
        </p:txBody>
      </p:sp>
      <p:sp>
        <p:nvSpPr>
          <p:cNvPr id="57346" name="Rectangle 2"/>
          <p:cNvSpPr>
            <a:spLocks noGrp="1" noRot="1" noChangeAspect="1" noTextEdit="1"/>
          </p:cNvSpPr>
          <p:nvPr>
            <p:ph type="sldImg"/>
          </p:nvPr>
        </p:nvSpPr>
        <p:spPr>
          <a:ln/>
        </p:spPr>
      </p:sp>
      <p:sp>
        <p:nvSpPr>
          <p:cNvPr id="5734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18</a:t>
            </a:fld>
            <a:endParaRPr lang="en-US" altLang="zh-CN" sz="1200" b="0" dirty="0">
              <a:latin typeface="Times New Roman" panose="02020603050405020304" pitchFamily="18" charset="0"/>
              <a:ea typeface="宋体" panose="02010600030101010101" pitchFamily="2" charset="-122"/>
            </a:endParaRPr>
          </a:p>
        </p:txBody>
      </p:sp>
      <p:sp>
        <p:nvSpPr>
          <p:cNvPr id="59394" name="Rectangle 2"/>
          <p:cNvSpPr>
            <a:spLocks noGrp="1" noRot="1" noChangeAspect="1" noTextEdit="1"/>
          </p:cNvSpPr>
          <p:nvPr>
            <p:ph type="sldImg"/>
          </p:nvPr>
        </p:nvSpPr>
        <p:spPr>
          <a:ln/>
        </p:spPr>
      </p:sp>
      <p:sp>
        <p:nvSpPr>
          <p:cNvPr id="5939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19</a:t>
            </a:fld>
            <a:endParaRPr lang="en-US" altLang="zh-CN" sz="1200" b="0" dirty="0">
              <a:latin typeface="Times New Roman" panose="02020603050405020304" pitchFamily="18" charset="0"/>
              <a:ea typeface="宋体" panose="02010600030101010101" pitchFamily="2" charset="-122"/>
            </a:endParaRPr>
          </a:p>
        </p:txBody>
      </p:sp>
      <p:sp>
        <p:nvSpPr>
          <p:cNvPr id="61442" name="Rectangle 2"/>
          <p:cNvSpPr>
            <a:spLocks noGrp="1" noRot="1" noChangeAspect="1" noTextEdit="1"/>
          </p:cNvSpPr>
          <p:nvPr>
            <p:ph type="sldImg"/>
          </p:nvPr>
        </p:nvSpPr>
        <p:spPr>
          <a:ln/>
        </p:spPr>
      </p:sp>
      <p:sp>
        <p:nvSpPr>
          <p:cNvPr id="6144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20</a:t>
            </a:fld>
            <a:endParaRPr lang="en-US" altLang="zh-CN" sz="1200" b="0" dirty="0">
              <a:latin typeface="Times New Roman" panose="02020603050405020304" pitchFamily="18" charset="0"/>
              <a:ea typeface="宋体" panose="02010600030101010101" pitchFamily="2" charset="-122"/>
            </a:endParaRPr>
          </a:p>
        </p:txBody>
      </p:sp>
      <p:sp>
        <p:nvSpPr>
          <p:cNvPr id="63490" name="Rectangle 2"/>
          <p:cNvSpPr>
            <a:spLocks noGrp="1" noRot="1" noChangeAspect="1" noTextEdit="1"/>
          </p:cNvSpPr>
          <p:nvPr>
            <p:ph type="sldImg"/>
          </p:nvPr>
        </p:nvSpPr>
        <p:spPr>
          <a:ln/>
        </p:spPr>
      </p:sp>
      <p:sp>
        <p:nvSpPr>
          <p:cNvPr id="6349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21</a:t>
            </a:fld>
            <a:endParaRPr lang="en-US" altLang="zh-CN" sz="1200" b="0" dirty="0">
              <a:latin typeface="Times New Roman" panose="02020603050405020304" pitchFamily="18" charset="0"/>
              <a:ea typeface="宋体" panose="02010600030101010101" pitchFamily="2" charset="-122"/>
            </a:endParaRPr>
          </a:p>
        </p:txBody>
      </p:sp>
      <p:sp>
        <p:nvSpPr>
          <p:cNvPr id="65538" name="Rectangle 2"/>
          <p:cNvSpPr>
            <a:spLocks noGrp="1" noRot="1" noChangeAspect="1" noTextEdit="1"/>
          </p:cNvSpPr>
          <p:nvPr>
            <p:ph type="sldImg"/>
          </p:nvPr>
        </p:nvSpPr>
        <p:spPr>
          <a:ln/>
        </p:spPr>
      </p:sp>
      <p:sp>
        <p:nvSpPr>
          <p:cNvPr id="6553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22</a:t>
            </a:fld>
            <a:endParaRPr lang="en-US" altLang="zh-CN" sz="1200" b="0" dirty="0">
              <a:latin typeface="Times New Roman" panose="02020603050405020304" pitchFamily="18" charset="0"/>
              <a:ea typeface="宋体" panose="02010600030101010101" pitchFamily="2" charset="-122"/>
            </a:endParaRPr>
          </a:p>
        </p:txBody>
      </p:sp>
      <p:sp>
        <p:nvSpPr>
          <p:cNvPr id="67586" name="Rectangle 2"/>
          <p:cNvSpPr>
            <a:spLocks noGrp="1" noRot="1" noChangeAspect="1" noTextEdit="1"/>
          </p:cNvSpPr>
          <p:nvPr>
            <p:ph type="sldImg"/>
          </p:nvPr>
        </p:nvSpPr>
        <p:spPr>
          <a:ln/>
        </p:spPr>
      </p:sp>
      <p:sp>
        <p:nvSpPr>
          <p:cNvPr id="6758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23</a:t>
            </a:fld>
            <a:endParaRPr lang="en-US" altLang="zh-CN" sz="1200" b="0" dirty="0">
              <a:latin typeface="Times New Roman" panose="02020603050405020304" pitchFamily="18" charset="0"/>
              <a:ea typeface="宋体" panose="02010600030101010101" pitchFamily="2" charset="-122"/>
            </a:endParaRPr>
          </a:p>
        </p:txBody>
      </p:sp>
      <p:sp>
        <p:nvSpPr>
          <p:cNvPr id="69634" name="Rectangle 2"/>
          <p:cNvSpPr>
            <a:spLocks noGrp="1" noRot="1" noChangeAspect="1" noTextEdit="1"/>
          </p:cNvSpPr>
          <p:nvPr>
            <p:ph type="sldImg"/>
          </p:nvPr>
        </p:nvSpPr>
        <p:spPr>
          <a:ln/>
        </p:spPr>
      </p:sp>
      <p:sp>
        <p:nvSpPr>
          <p:cNvPr id="6963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24</a:t>
            </a:fld>
            <a:endParaRPr lang="en-US" altLang="zh-CN" sz="1200" b="0" dirty="0">
              <a:latin typeface="Times New Roman" panose="02020603050405020304" pitchFamily="18" charset="0"/>
              <a:ea typeface="宋体" panose="02010600030101010101" pitchFamily="2" charset="-122"/>
            </a:endParaRPr>
          </a:p>
        </p:txBody>
      </p:sp>
      <p:sp>
        <p:nvSpPr>
          <p:cNvPr id="71682" name="Rectangle 2"/>
          <p:cNvSpPr>
            <a:spLocks noGrp="1" noRot="1" noChangeAspect="1" noTextEdit="1"/>
          </p:cNvSpPr>
          <p:nvPr>
            <p:ph type="sldImg"/>
          </p:nvPr>
        </p:nvSpPr>
        <p:spPr>
          <a:ln/>
        </p:spPr>
      </p:sp>
      <p:sp>
        <p:nvSpPr>
          <p:cNvPr id="7168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25</a:t>
            </a:fld>
            <a:endParaRPr lang="en-US" altLang="zh-CN" sz="1200" b="0" dirty="0">
              <a:latin typeface="Times New Roman" panose="02020603050405020304" pitchFamily="18" charset="0"/>
              <a:ea typeface="宋体" panose="02010600030101010101" pitchFamily="2" charset="-122"/>
            </a:endParaRPr>
          </a:p>
        </p:txBody>
      </p:sp>
      <p:sp>
        <p:nvSpPr>
          <p:cNvPr id="73730" name="Rectangle 2"/>
          <p:cNvSpPr>
            <a:spLocks noGrp="1" noRot="1" noChangeAspect="1" noTextEdit="1"/>
          </p:cNvSpPr>
          <p:nvPr>
            <p:ph type="sldImg"/>
          </p:nvPr>
        </p:nvSpPr>
        <p:spPr>
          <a:ln/>
        </p:spPr>
      </p:sp>
      <p:sp>
        <p:nvSpPr>
          <p:cNvPr id="7373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26</a:t>
            </a:fld>
            <a:endParaRPr lang="en-US" altLang="zh-CN" sz="1200" b="0" dirty="0">
              <a:latin typeface="Times New Roman" panose="02020603050405020304" pitchFamily="18" charset="0"/>
              <a:ea typeface="宋体" panose="02010600030101010101" pitchFamily="2" charset="-122"/>
            </a:endParaRPr>
          </a:p>
        </p:txBody>
      </p:sp>
      <p:sp>
        <p:nvSpPr>
          <p:cNvPr id="75778" name="Rectangle 2"/>
          <p:cNvSpPr>
            <a:spLocks noGrp="1" noRot="1" noChangeAspect="1" noTextEdit="1"/>
          </p:cNvSpPr>
          <p:nvPr>
            <p:ph type="sldImg"/>
          </p:nvPr>
        </p:nvSpPr>
        <p:spPr>
          <a:ln/>
        </p:spPr>
      </p:sp>
      <p:sp>
        <p:nvSpPr>
          <p:cNvPr id="7577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27</a:t>
            </a:fld>
            <a:endParaRPr lang="en-US" altLang="zh-CN" sz="1200" b="0" dirty="0">
              <a:latin typeface="Times New Roman" panose="02020603050405020304" pitchFamily="18" charset="0"/>
              <a:ea typeface="宋体" panose="02010600030101010101" pitchFamily="2" charset="-122"/>
            </a:endParaRPr>
          </a:p>
        </p:txBody>
      </p:sp>
      <p:sp>
        <p:nvSpPr>
          <p:cNvPr id="77826" name="Rectangle 2"/>
          <p:cNvSpPr>
            <a:spLocks noGrp="1" noRot="1" noChangeAspect="1" noTextEdit="1"/>
          </p:cNvSpPr>
          <p:nvPr>
            <p:ph type="sldImg"/>
          </p:nvPr>
        </p:nvSpPr>
        <p:spPr>
          <a:ln/>
        </p:spPr>
      </p:sp>
      <p:sp>
        <p:nvSpPr>
          <p:cNvPr id="7782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28</a:t>
            </a:fld>
            <a:endParaRPr lang="en-US" altLang="zh-CN" sz="1200" b="0" dirty="0">
              <a:latin typeface="Times New Roman" panose="02020603050405020304" pitchFamily="18" charset="0"/>
              <a:ea typeface="宋体" panose="02010600030101010101" pitchFamily="2" charset="-122"/>
            </a:endParaRPr>
          </a:p>
        </p:txBody>
      </p:sp>
      <p:sp>
        <p:nvSpPr>
          <p:cNvPr id="79874" name="Rectangle 2"/>
          <p:cNvSpPr>
            <a:spLocks noGrp="1" noRot="1" noChangeAspect="1" noTextEdit="1"/>
          </p:cNvSpPr>
          <p:nvPr>
            <p:ph type="sldImg"/>
          </p:nvPr>
        </p:nvSpPr>
        <p:spPr>
          <a:ln/>
        </p:spPr>
      </p:sp>
      <p:sp>
        <p:nvSpPr>
          <p:cNvPr id="7987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29</a:t>
            </a:fld>
            <a:endParaRPr lang="en-US" altLang="zh-CN" sz="1200" b="0" dirty="0">
              <a:latin typeface="Times New Roman" panose="02020603050405020304" pitchFamily="18" charset="0"/>
              <a:ea typeface="宋体" panose="02010600030101010101" pitchFamily="2" charset="-122"/>
            </a:endParaRPr>
          </a:p>
        </p:txBody>
      </p:sp>
      <p:sp>
        <p:nvSpPr>
          <p:cNvPr id="81922" name="Rectangle 2"/>
          <p:cNvSpPr>
            <a:spLocks noGrp="1" noRot="1" noChangeAspect="1" noTextEdit="1"/>
          </p:cNvSpPr>
          <p:nvPr>
            <p:ph type="sldImg"/>
          </p:nvPr>
        </p:nvSpPr>
        <p:spPr>
          <a:ln/>
        </p:spPr>
      </p:sp>
      <p:sp>
        <p:nvSpPr>
          <p:cNvPr id="8192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30</a:t>
            </a:fld>
            <a:endParaRPr lang="en-US" altLang="zh-CN" sz="1200" b="0" dirty="0">
              <a:latin typeface="Times New Roman" panose="02020603050405020304" pitchFamily="18" charset="0"/>
              <a:ea typeface="宋体" panose="02010600030101010101" pitchFamily="2" charset="-122"/>
            </a:endParaRPr>
          </a:p>
        </p:txBody>
      </p:sp>
      <p:sp>
        <p:nvSpPr>
          <p:cNvPr id="83970" name="Rectangle 2"/>
          <p:cNvSpPr>
            <a:spLocks noGrp="1" noRot="1" noChangeAspect="1" noTextEdit="1"/>
          </p:cNvSpPr>
          <p:nvPr>
            <p:ph type="sldImg"/>
          </p:nvPr>
        </p:nvSpPr>
        <p:spPr>
          <a:ln/>
        </p:spPr>
      </p:sp>
      <p:sp>
        <p:nvSpPr>
          <p:cNvPr id="8397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31</a:t>
            </a:fld>
            <a:endParaRPr lang="en-US" altLang="zh-CN" sz="1200" b="0" dirty="0">
              <a:latin typeface="Times New Roman" panose="02020603050405020304" pitchFamily="18" charset="0"/>
              <a:ea typeface="宋体" panose="02010600030101010101" pitchFamily="2" charset="-122"/>
            </a:endParaRPr>
          </a:p>
        </p:txBody>
      </p:sp>
      <p:sp>
        <p:nvSpPr>
          <p:cNvPr id="86018" name="Rectangle 2"/>
          <p:cNvSpPr>
            <a:spLocks noGrp="1" noRot="1" noChangeAspect="1" noTextEdit="1"/>
          </p:cNvSpPr>
          <p:nvPr>
            <p:ph type="sldImg"/>
          </p:nvPr>
        </p:nvSpPr>
        <p:spPr>
          <a:ln/>
        </p:spPr>
      </p:sp>
      <p:sp>
        <p:nvSpPr>
          <p:cNvPr id="8601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32</a:t>
            </a:fld>
            <a:endParaRPr lang="en-US" altLang="zh-CN" sz="1200" b="0" dirty="0">
              <a:latin typeface="Times New Roman" panose="02020603050405020304" pitchFamily="18" charset="0"/>
              <a:ea typeface="宋体" panose="02010600030101010101" pitchFamily="2" charset="-122"/>
            </a:endParaRPr>
          </a:p>
        </p:txBody>
      </p:sp>
      <p:sp>
        <p:nvSpPr>
          <p:cNvPr id="88066" name="Rectangle 2"/>
          <p:cNvSpPr>
            <a:spLocks noGrp="1" noRot="1" noChangeAspect="1" noTextEdit="1"/>
          </p:cNvSpPr>
          <p:nvPr>
            <p:ph type="sldImg"/>
          </p:nvPr>
        </p:nvSpPr>
        <p:spPr>
          <a:ln/>
        </p:spPr>
      </p:sp>
      <p:sp>
        <p:nvSpPr>
          <p:cNvPr id="8806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33</a:t>
            </a:fld>
            <a:endParaRPr lang="en-US" altLang="zh-CN" sz="1200" b="0" dirty="0">
              <a:latin typeface="Times New Roman" panose="02020603050405020304" pitchFamily="18" charset="0"/>
              <a:ea typeface="宋体" panose="02010600030101010101" pitchFamily="2" charset="-122"/>
            </a:endParaRPr>
          </a:p>
        </p:txBody>
      </p:sp>
      <p:sp>
        <p:nvSpPr>
          <p:cNvPr id="90114" name="Rectangle 2"/>
          <p:cNvSpPr>
            <a:spLocks noGrp="1" noRot="1" noChangeAspect="1" noTextEdit="1"/>
          </p:cNvSpPr>
          <p:nvPr>
            <p:ph type="sldImg"/>
          </p:nvPr>
        </p:nvSpPr>
        <p:spPr>
          <a:ln/>
        </p:spPr>
      </p:sp>
      <p:sp>
        <p:nvSpPr>
          <p:cNvPr id="9011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34</a:t>
            </a:fld>
            <a:endParaRPr lang="en-US" altLang="zh-CN" sz="1200" b="0" dirty="0">
              <a:latin typeface="Times New Roman" panose="02020603050405020304" pitchFamily="18" charset="0"/>
              <a:ea typeface="宋体" panose="02010600030101010101" pitchFamily="2" charset="-122"/>
            </a:endParaRPr>
          </a:p>
        </p:txBody>
      </p:sp>
      <p:sp>
        <p:nvSpPr>
          <p:cNvPr id="92162" name="Rectangle 2"/>
          <p:cNvSpPr>
            <a:spLocks noGrp="1" noRot="1" noChangeAspect="1" noTextEdit="1"/>
          </p:cNvSpPr>
          <p:nvPr>
            <p:ph type="sldImg"/>
          </p:nvPr>
        </p:nvSpPr>
        <p:spPr>
          <a:ln/>
        </p:spPr>
      </p:sp>
      <p:sp>
        <p:nvSpPr>
          <p:cNvPr id="9216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35</a:t>
            </a:fld>
            <a:endParaRPr lang="en-US" altLang="zh-CN" sz="1200" b="0" dirty="0">
              <a:latin typeface="Times New Roman" panose="02020603050405020304" pitchFamily="18" charset="0"/>
              <a:ea typeface="宋体" panose="02010600030101010101" pitchFamily="2" charset="-122"/>
            </a:endParaRPr>
          </a:p>
        </p:txBody>
      </p:sp>
      <p:sp>
        <p:nvSpPr>
          <p:cNvPr id="94210" name="Rectangle 2"/>
          <p:cNvSpPr>
            <a:spLocks noGrp="1" noRot="1" noChangeAspect="1" noTextEdit="1"/>
          </p:cNvSpPr>
          <p:nvPr>
            <p:ph type="sldImg"/>
          </p:nvPr>
        </p:nvSpPr>
        <p:spPr>
          <a:ln/>
        </p:spPr>
      </p:sp>
      <p:sp>
        <p:nvSpPr>
          <p:cNvPr id="9421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36</a:t>
            </a:fld>
            <a:endParaRPr lang="en-US" altLang="zh-CN" sz="1200" b="0" dirty="0">
              <a:latin typeface="Times New Roman" panose="02020603050405020304" pitchFamily="18" charset="0"/>
              <a:ea typeface="宋体" panose="02010600030101010101" pitchFamily="2" charset="-122"/>
            </a:endParaRPr>
          </a:p>
        </p:txBody>
      </p:sp>
      <p:sp>
        <p:nvSpPr>
          <p:cNvPr id="96258" name="Rectangle 2"/>
          <p:cNvSpPr>
            <a:spLocks noGrp="1" noRot="1" noChangeAspect="1" noTextEdit="1"/>
          </p:cNvSpPr>
          <p:nvPr>
            <p:ph type="sldImg"/>
          </p:nvPr>
        </p:nvSpPr>
        <p:spPr>
          <a:ln/>
        </p:spPr>
      </p:sp>
      <p:sp>
        <p:nvSpPr>
          <p:cNvPr id="9625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37</a:t>
            </a:fld>
            <a:endParaRPr lang="en-US" altLang="zh-CN" sz="1200" b="0" dirty="0">
              <a:latin typeface="Times New Roman" panose="02020603050405020304" pitchFamily="18" charset="0"/>
              <a:ea typeface="宋体" panose="02010600030101010101" pitchFamily="2" charset="-122"/>
            </a:endParaRPr>
          </a:p>
        </p:txBody>
      </p:sp>
      <p:sp>
        <p:nvSpPr>
          <p:cNvPr id="98306" name="Rectangle 2"/>
          <p:cNvSpPr>
            <a:spLocks noGrp="1" noRot="1" noChangeAspect="1" noTextEdit="1"/>
          </p:cNvSpPr>
          <p:nvPr>
            <p:ph type="sldImg"/>
          </p:nvPr>
        </p:nvSpPr>
        <p:spPr>
          <a:ln/>
        </p:spPr>
      </p:sp>
      <p:sp>
        <p:nvSpPr>
          <p:cNvPr id="9830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38</a:t>
            </a:fld>
            <a:endParaRPr lang="en-US" altLang="zh-CN" sz="1200" b="0" dirty="0">
              <a:latin typeface="Times New Roman" panose="02020603050405020304" pitchFamily="18" charset="0"/>
              <a:ea typeface="宋体" panose="02010600030101010101" pitchFamily="2" charset="-122"/>
            </a:endParaRPr>
          </a:p>
        </p:txBody>
      </p:sp>
      <p:sp>
        <p:nvSpPr>
          <p:cNvPr id="100354" name="Rectangle 2"/>
          <p:cNvSpPr>
            <a:spLocks noGrp="1" noRot="1" noChangeAspect="1" noTextEdit="1"/>
          </p:cNvSpPr>
          <p:nvPr>
            <p:ph type="sldImg"/>
          </p:nvPr>
        </p:nvSpPr>
        <p:spPr>
          <a:ln/>
        </p:spPr>
      </p:sp>
      <p:sp>
        <p:nvSpPr>
          <p:cNvPr id="10035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39</a:t>
            </a:fld>
            <a:endParaRPr lang="en-US" altLang="zh-CN" sz="1200" b="0" dirty="0">
              <a:latin typeface="Times New Roman" panose="02020603050405020304" pitchFamily="18" charset="0"/>
              <a:ea typeface="宋体" panose="02010600030101010101" pitchFamily="2" charset="-122"/>
            </a:endParaRPr>
          </a:p>
        </p:txBody>
      </p:sp>
      <p:sp>
        <p:nvSpPr>
          <p:cNvPr id="102402" name="Rectangle 2"/>
          <p:cNvSpPr>
            <a:spLocks noGrp="1" noRot="1" noChangeAspect="1" noTextEdit="1"/>
          </p:cNvSpPr>
          <p:nvPr>
            <p:ph type="sldImg"/>
          </p:nvPr>
        </p:nvSpPr>
        <p:spPr>
          <a:ln/>
        </p:spPr>
      </p:sp>
      <p:sp>
        <p:nvSpPr>
          <p:cNvPr id="10240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40</a:t>
            </a:fld>
            <a:endParaRPr lang="en-US" altLang="zh-CN" sz="1200" b="0" dirty="0">
              <a:latin typeface="Times New Roman" panose="02020603050405020304" pitchFamily="18" charset="0"/>
              <a:ea typeface="宋体" panose="02010600030101010101" pitchFamily="2" charset="-122"/>
            </a:endParaRPr>
          </a:p>
        </p:txBody>
      </p:sp>
      <p:sp>
        <p:nvSpPr>
          <p:cNvPr id="104450" name="Rectangle 2"/>
          <p:cNvSpPr>
            <a:spLocks noGrp="1" noRot="1" noChangeAspect="1" noTextEdit="1"/>
          </p:cNvSpPr>
          <p:nvPr>
            <p:ph type="sldImg"/>
          </p:nvPr>
        </p:nvSpPr>
        <p:spPr>
          <a:ln/>
        </p:spPr>
      </p:sp>
      <p:sp>
        <p:nvSpPr>
          <p:cNvPr id="10445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41</a:t>
            </a:fld>
            <a:endParaRPr lang="en-US" altLang="zh-CN" sz="1200" b="0" dirty="0">
              <a:latin typeface="Times New Roman" panose="02020603050405020304" pitchFamily="18" charset="0"/>
              <a:ea typeface="宋体" panose="02010600030101010101" pitchFamily="2" charset="-122"/>
            </a:endParaRPr>
          </a:p>
        </p:txBody>
      </p:sp>
      <p:sp>
        <p:nvSpPr>
          <p:cNvPr id="106498" name="Rectangle 2"/>
          <p:cNvSpPr>
            <a:spLocks noGrp="1" noRot="1" noChangeAspect="1" noTextEdit="1"/>
          </p:cNvSpPr>
          <p:nvPr>
            <p:ph type="sldImg"/>
          </p:nvPr>
        </p:nvSpPr>
        <p:spPr>
          <a:ln/>
        </p:spPr>
      </p:sp>
      <p:sp>
        <p:nvSpPr>
          <p:cNvPr id="10649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42</a:t>
            </a:fld>
            <a:endParaRPr lang="en-US" altLang="zh-CN" sz="1200" b="0" dirty="0">
              <a:latin typeface="Times New Roman" panose="02020603050405020304" pitchFamily="18" charset="0"/>
              <a:ea typeface="宋体" panose="02010600030101010101" pitchFamily="2" charset="-122"/>
            </a:endParaRPr>
          </a:p>
        </p:txBody>
      </p:sp>
      <p:sp>
        <p:nvSpPr>
          <p:cNvPr id="108546" name="Rectangle 2"/>
          <p:cNvSpPr>
            <a:spLocks noGrp="1" noRot="1" noChangeAspect="1" noTextEdit="1"/>
          </p:cNvSpPr>
          <p:nvPr>
            <p:ph type="sldImg"/>
          </p:nvPr>
        </p:nvSpPr>
        <p:spPr>
          <a:ln/>
        </p:spPr>
      </p:sp>
      <p:sp>
        <p:nvSpPr>
          <p:cNvPr id="10854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43</a:t>
            </a:fld>
            <a:endParaRPr lang="en-US" altLang="zh-CN" sz="1200" b="0" dirty="0">
              <a:latin typeface="Times New Roman" panose="02020603050405020304" pitchFamily="18" charset="0"/>
              <a:ea typeface="宋体" panose="02010600030101010101" pitchFamily="2" charset="-122"/>
            </a:endParaRPr>
          </a:p>
        </p:txBody>
      </p:sp>
      <p:sp>
        <p:nvSpPr>
          <p:cNvPr id="110594" name="Rectangle 2"/>
          <p:cNvSpPr>
            <a:spLocks noGrp="1" noRot="1" noChangeAspect="1" noTextEdit="1"/>
          </p:cNvSpPr>
          <p:nvPr>
            <p:ph type="sldImg"/>
          </p:nvPr>
        </p:nvSpPr>
        <p:spPr>
          <a:ln/>
        </p:spPr>
      </p:sp>
      <p:sp>
        <p:nvSpPr>
          <p:cNvPr id="11059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44</a:t>
            </a:fld>
            <a:endParaRPr lang="en-US" altLang="zh-CN" sz="1200" b="0" dirty="0">
              <a:latin typeface="Times New Roman" panose="02020603050405020304" pitchFamily="18" charset="0"/>
              <a:ea typeface="宋体" panose="02010600030101010101" pitchFamily="2" charset="-122"/>
            </a:endParaRPr>
          </a:p>
        </p:txBody>
      </p:sp>
      <p:sp>
        <p:nvSpPr>
          <p:cNvPr id="112642" name="Rectangle 2"/>
          <p:cNvSpPr>
            <a:spLocks noGrp="1" noRot="1" noChangeAspect="1" noTextEdit="1"/>
          </p:cNvSpPr>
          <p:nvPr>
            <p:ph type="sldImg"/>
          </p:nvPr>
        </p:nvSpPr>
        <p:spPr>
          <a:ln/>
        </p:spPr>
      </p:sp>
      <p:sp>
        <p:nvSpPr>
          <p:cNvPr id="11264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45</a:t>
            </a:fld>
            <a:endParaRPr lang="en-US" altLang="zh-CN" sz="1200" b="0" dirty="0">
              <a:latin typeface="Times New Roman" panose="02020603050405020304" pitchFamily="18" charset="0"/>
              <a:ea typeface="宋体" panose="02010600030101010101" pitchFamily="2" charset="-122"/>
            </a:endParaRPr>
          </a:p>
        </p:txBody>
      </p:sp>
      <p:sp>
        <p:nvSpPr>
          <p:cNvPr id="114690" name="Rectangle 2"/>
          <p:cNvSpPr>
            <a:spLocks noGrp="1" noRot="1" noChangeAspect="1" noTextEdit="1"/>
          </p:cNvSpPr>
          <p:nvPr>
            <p:ph type="sldImg"/>
          </p:nvPr>
        </p:nvSpPr>
        <p:spPr>
          <a:ln/>
        </p:spPr>
      </p:sp>
      <p:sp>
        <p:nvSpPr>
          <p:cNvPr id="11469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46</a:t>
            </a:fld>
            <a:endParaRPr lang="en-US" altLang="zh-CN" sz="1200" b="0" dirty="0">
              <a:latin typeface="Times New Roman" panose="02020603050405020304" pitchFamily="18" charset="0"/>
              <a:ea typeface="宋体" panose="02010600030101010101" pitchFamily="2" charset="-122"/>
            </a:endParaRPr>
          </a:p>
        </p:txBody>
      </p:sp>
      <p:sp>
        <p:nvSpPr>
          <p:cNvPr id="116738" name="Rectangle 2"/>
          <p:cNvSpPr>
            <a:spLocks noGrp="1" noRot="1" noChangeAspect="1" noTextEdit="1"/>
          </p:cNvSpPr>
          <p:nvPr>
            <p:ph type="sldImg"/>
          </p:nvPr>
        </p:nvSpPr>
        <p:spPr>
          <a:ln/>
        </p:spPr>
      </p:sp>
      <p:sp>
        <p:nvSpPr>
          <p:cNvPr id="11673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47</a:t>
            </a:fld>
            <a:endParaRPr lang="en-US" altLang="zh-CN" sz="1200" b="0" dirty="0">
              <a:latin typeface="Times New Roman" panose="02020603050405020304" pitchFamily="18" charset="0"/>
              <a:ea typeface="宋体" panose="02010600030101010101" pitchFamily="2" charset="-122"/>
            </a:endParaRPr>
          </a:p>
        </p:txBody>
      </p:sp>
      <p:sp>
        <p:nvSpPr>
          <p:cNvPr id="118786" name="Rectangle 2"/>
          <p:cNvSpPr>
            <a:spLocks noGrp="1" noRot="1" noChangeAspect="1" noTextEdit="1"/>
          </p:cNvSpPr>
          <p:nvPr>
            <p:ph type="sldImg"/>
          </p:nvPr>
        </p:nvSpPr>
        <p:spPr>
          <a:ln/>
        </p:spPr>
      </p:sp>
      <p:sp>
        <p:nvSpPr>
          <p:cNvPr id="11878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48</a:t>
            </a:fld>
            <a:endParaRPr lang="en-US" altLang="zh-CN" sz="1200" b="0" dirty="0">
              <a:latin typeface="Times New Roman" panose="02020603050405020304" pitchFamily="18" charset="0"/>
              <a:ea typeface="宋体" panose="02010600030101010101" pitchFamily="2" charset="-122"/>
            </a:endParaRPr>
          </a:p>
        </p:txBody>
      </p:sp>
      <p:sp>
        <p:nvSpPr>
          <p:cNvPr id="120834" name="Rectangle 2"/>
          <p:cNvSpPr>
            <a:spLocks noGrp="1" noRot="1" noChangeAspect="1" noTextEdit="1"/>
          </p:cNvSpPr>
          <p:nvPr>
            <p:ph type="sldImg"/>
          </p:nvPr>
        </p:nvSpPr>
        <p:spPr>
          <a:ln/>
        </p:spPr>
      </p:sp>
      <p:sp>
        <p:nvSpPr>
          <p:cNvPr id="12083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49</a:t>
            </a:fld>
            <a:endParaRPr lang="en-US" altLang="zh-CN" sz="1200" b="0" dirty="0">
              <a:latin typeface="Times New Roman" panose="02020603050405020304" pitchFamily="18" charset="0"/>
              <a:ea typeface="宋体" panose="02010600030101010101" pitchFamily="2" charset="-122"/>
            </a:endParaRPr>
          </a:p>
        </p:txBody>
      </p:sp>
      <p:sp>
        <p:nvSpPr>
          <p:cNvPr id="122882" name="Rectangle 2"/>
          <p:cNvSpPr>
            <a:spLocks noGrp="1" noRot="1" noChangeAspect="1" noTextEdit="1"/>
          </p:cNvSpPr>
          <p:nvPr>
            <p:ph type="sldImg"/>
          </p:nvPr>
        </p:nvSpPr>
        <p:spPr>
          <a:ln/>
        </p:spPr>
      </p:sp>
      <p:sp>
        <p:nvSpPr>
          <p:cNvPr id="12288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50</a:t>
            </a:fld>
            <a:endParaRPr lang="en-US" altLang="zh-CN" sz="1200" b="0" dirty="0">
              <a:latin typeface="Times New Roman" panose="02020603050405020304" pitchFamily="18" charset="0"/>
              <a:ea typeface="宋体" panose="02010600030101010101" pitchFamily="2" charset="-122"/>
            </a:endParaRPr>
          </a:p>
        </p:txBody>
      </p:sp>
      <p:sp>
        <p:nvSpPr>
          <p:cNvPr id="124930" name="Rectangle 2"/>
          <p:cNvSpPr>
            <a:spLocks noGrp="1" noRot="1" noChangeAspect="1" noTextEdit="1"/>
          </p:cNvSpPr>
          <p:nvPr>
            <p:ph type="sldImg"/>
          </p:nvPr>
        </p:nvSpPr>
        <p:spPr>
          <a:ln/>
        </p:spPr>
      </p:sp>
      <p:sp>
        <p:nvSpPr>
          <p:cNvPr id="12493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51</a:t>
            </a:fld>
            <a:endParaRPr lang="en-US" altLang="zh-CN" sz="1200" b="0" dirty="0">
              <a:latin typeface="Times New Roman" panose="02020603050405020304" pitchFamily="18" charset="0"/>
              <a:ea typeface="宋体" panose="02010600030101010101" pitchFamily="2" charset="-122"/>
            </a:endParaRPr>
          </a:p>
        </p:txBody>
      </p:sp>
      <p:sp>
        <p:nvSpPr>
          <p:cNvPr id="126978" name="Rectangle 2"/>
          <p:cNvSpPr>
            <a:spLocks noGrp="1" noRot="1" noChangeAspect="1" noTextEdit="1"/>
          </p:cNvSpPr>
          <p:nvPr>
            <p:ph type="sldImg"/>
          </p:nvPr>
        </p:nvSpPr>
        <p:spPr>
          <a:ln/>
        </p:spPr>
      </p:sp>
      <p:sp>
        <p:nvSpPr>
          <p:cNvPr id="12697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52</a:t>
            </a:fld>
            <a:endParaRPr lang="en-US" altLang="zh-CN" sz="1200" b="0" dirty="0">
              <a:latin typeface="Times New Roman" panose="02020603050405020304" pitchFamily="18" charset="0"/>
              <a:ea typeface="宋体" panose="02010600030101010101" pitchFamily="2" charset="-122"/>
            </a:endParaRPr>
          </a:p>
        </p:txBody>
      </p:sp>
      <p:sp>
        <p:nvSpPr>
          <p:cNvPr id="129026" name="Rectangle 2"/>
          <p:cNvSpPr>
            <a:spLocks noGrp="1" noRot="1" noChangeAspect="1" noTextEdit="1"/>
          </p:cNvSpPr>
          <p:nvPr>
            <p:ph type="sldImg"/>
          </p:nvPr>
        </p:nvSpPr>
        <p:spPr>
          <a:ln/>
        </p:spPr>
      </p:sp>
      <p:sp>
        <p:nvSpPr>
          <p:cNvPr id="12902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53</a:t>
            </a:fld>
            <a:endParaRPr lang="en-US" altLang="zh-CN" sz="1200" b="0" dirty="0">
              <a:latin typeface="Times New Roman" panose="02020603050405020304" pitchFamily="18" charset="0"/>
              <a:ea typeface="宋体" panose="02010600030101010101" pitchFamily="2" charset="-122"/>
            </a:endParaRPr>
          </a:p>
        </p:txBody>
      </p:sp>
      <p:sp>
        <p:nvSpPr>
          <p:cNvPr id="131074" name="Rectangle 2"/>
          <p:cNvSpPr>
            <a:spLocks noGrp="1" noRot="1" noChangeAspect="1" noTextEdit="1"/>
          </p:cNvSpPr>
          <p:nvPr>
            <p:ph type="sldImg"/>
          </p:nvPr>
        </p:nvSpPr>
        <p:spPr>
          <a:ln/>
        </p:spPr>
      </p:sp>
      <p:sp>
        <p:nvSpPr>
          <p:cNvPr id="13107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54</a:t>
            </a:fld>
            <a:endParaRPr lang="en-US" altLang="zh-CN" sz="1200" b="0" dirty="0">
              <a:latin typeface="Times New Roman" panose="02020603050405020304" pitchFamily="18" charset="0"/>
              <a:ea typeface="宋体" panose="02010600030101010101" pitchFamily="2" charset="-122"/>
            </a:endParaRPr>
          </a:p>
        </p:txBody>
      </p:sp>
      <p:sp>
        <p:nvSpPr>
          <p:cNvPr id="133122" name="Rectangle 2"/>
          <p:cNvSpPr>
            <a:spLocks noGrp="1" noRot="1" noChangeAspect="1" noTextEdit="1"/>
          </p:cNvSpPr>
          <p:nvPr>
            <p:ph type="sldImg"/>
          </p:nvPr>
        </p:nvSpPr>
        <p:spPr>
          <a:ln/>
        </p:spPr>
      </p:sp>
      <p:sp>
        <p:nvSpPr>
          <p:cNvPr id="13312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55</a:t>
            </a:fld>
            <a:endParaRPr lang="en-US" altLang="zh-CN" sz="1200" b="0" dirty="0">
              <a:latin typeface="Times New Roman" panose="02020603050405020304" pitchFamily="18" charset="0"/>
              <a:ea typeface="宋体" panose="02010600030101010101" pitchFamily="2" charset="-122"/>
            </a:endParaRPr>
          </a:p>
        </p:txBody>
      </p:sp>
      <p:sp>
        <p:nvSpPr>
          <p:cNvPr id="135170" name="Rectangle 2"/>
          <p:cNvSpPr>
            <a:spLocks noGrp="1" noRot="1" noChangeAspect="1" noTextEdit="1"/>
          </p:cNvSpPr>
          <p:nvPr>
            <p:ph type="sldImg"/>
          </p:nvPr>
        </p:nvSpPr>
        <p:spPr>
          <a:ln/>
        </p:spPr>
      </p:sp>
      <p:sp>
        <p:nvSpPr>
          <p:cNvPr id="13517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56</a:t>
            </a:fld>
            <a:endParaRPr lang="en-US" altLang="zh-CN" sz="1200" b="0" dirty="0">
              <a:latin typeface="Times New Roman" panose="02020603050405020304" pitchFamily="18" charset="0"/>
              <a:ea typeface="宋体" panose="02010600030101010101" pitchFamily="2" charset="-122"/>
            </a:endParaRPr>
          </a:p>
        </p:txBody>
      </p:sp>
      <p:sp>
        <p:nvSpPr>
          <p:cNvPr id="137218" name="Rectangle 2"/>
          <p:cNvSpPr>
            <a:spLocks noGrp="1" noRot="1" noChangeAspect="1" noTextEdit="1"/>
          </p:cNvSpPr>
          <p:nvPr>
            <p:ph type="sldImg"/>
          </p:nvPr>
        </p:nvSpPr>
        <p:spPr>
          <a:ln/>
        </p:spPr>
      </p:sp>
      <p:sp>
        <p:nvSpPr>
          <p:cNvPr id="13721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57</a:t>
            </a:fld>
            <a:endParaRPr lang="en-US" altLang="zh-CN" sz="1200" b="0" dirty="0">
              <a:latin typeface="Times New Roman" panose="02020603050405020304" pitchFamily="18" charset="0"/>
              <a:ea typeface="宋体" panose="02010600030101010101" pitchFamily="2" charset="-122"/>
            </a:endParaRPr>
          </a:p>
        </p:txBody>
      </p:sp>
      <p:sp>
        <p:nvSpPr>
          <p:cNvPr id="139266" name="Rectangle 2"/>
          <p:cNvSpPr>
            <a:spLocks noGrp="1" noRot="1" noChangeAspect="1" noTextEdit="1"/>
          </p:cNvSpPr>
          <p:nvPr>
            <p:ph type="sldImg"/>
          </p:nvPr>
        </p:nvSpPr>
        <p:spPr>
          <a:ln/>
        </p:spPr>
      </p:sp>
      <p:sp>
        <p:nvSpPr>
          <p:cNvPr id="13926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58</a:t>
            </a:fld>
            <a:endParaRPr lang="en-US" altLang="zh-CN" sz="1200" b="0" dirty="0">
              <a:latin typeface="Times New Roman" panose="02020603050405020304" pitchFamily="18" charset="0"/>
              <a:ea typeface="宋体" panose="02010600030101010101" pitchFamily="2" charset="-122"/>
            </a:endParaRPr>
          </a:p>
        </p:txBody>
      </p:sp>
      <p:sp>
        <p:nvSpPr>
          <p:cNvPr id="141314" name="Rectangle 2"/>
          <p:cNvSpPr>
            <a:spLocks noGrp="1" noRot="1" noChangeAspect="1" noTextEdit="1"/>
          </p:cNvSpPr>
          <p:nvPr>
            <p:ph type="sldImg"/>
          </p:nvPr>
        </p:nvSpPr>
        <p:spPr>
          <a:ln/>
        </p:spPr>
      </p:sp>
      <p:sp>
        <p:nvSpPr>
          <p:cNvPr id="14131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59</a:t>
            </a:fld>
            <a:endParaRPr lang="en-US" altLang="zh-CN" sz="1200" b="0" dirty="0">
              <a:latin typeface="Times New Roman" panose="02020603050405020304" pitchFamily="18" charset="0"/>
              <a:ea typeface="宋体" panose="02010600030101010101" pitchFamily="2" charset="-122"/>
            </a:endParaRPr>
          </a:p>
        </p:txBody>
      </p:sp>
      <p:sp>
        <p:nvSpPr>
          <p:cNvPr id="143362" name="Rectangle 2"/>
          <p:cNvSpPr>
            <a:spLocks noGrp="1" noRot="1" noChangeAspect="1" noTextEdit="1"/>
          </p:cNvSpPr>
          <p:nvPr>
            <p:ph type="sldImg"/>
          </p:nvPr>
        </p:nvSpPr>
        <p:spPr>
          <a:ln/>
        </p:spPr>
      </p:sp>
      <p:sp>
        <p:nvSpPr>
          <p:cNvPr id="14336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60</a:t>
            </a:fld>
            <a:endParaRPr lang="en-US" altLang="zh-CN" sz="1200" b="0" dirty="0">
              <a:latin typeface="Times New Roman" panose="02020603050405020304" pitchFamily="18" charset="0"/>
              <a:ea typeface="宋体" panose="02010600030101010101" pitchFamily="2" charset="-122"/>
            </a:endParaRPr>
          </a:p>
        </p:txBody>
      </p:sp>
      <p:sp>
        <p:nvSpPr>
          <p:cNvPr id="145410" name="Rectangle 2"/>
          <p:cNvSpPr>
            <a:spLocks noGrp="1" noRot="1" noChangeAspect="1" noTextEdit="1"/>
          </p:cNvSpPr>
          <p:nvPr>
            <p:ph type="sldImg"/>
          </p:nvPr>
        </p:nvSpPr>
        <p:spPr>
          <a:ln/>
        </p:spPr>
      </p:sp>
      <p:sp>
        <p:nvSpPr>
          <p:cNvPr id="14541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61</a:t>
            </a:fld>
            <a:endParaRPr lang="en-US" altLang="zh-CN" sz="1200" b="0" dirty="0">
              <a:latin typeface="Times New Roman" panose="02020603050405020304" pitchFamily="18" charset="0"/>
              <a:ea typeface="宋体" panose="02010600030101010101" pitchFamily="2" charset="-122"/>
            </a:endParaRPr>
          </a:p>
        </p:txBody>
      </p:sp>
      <p:sp>
        <p:nvSpPr>
          <p:cNvPr id="147458" name="Rectangle 2"/>
          <p:cNvSpPr>
            <a:spLocks noGrp="1" noRot="1" noChangeAspect="1" noTextEdit="1"/>
          </p:cNvSpPr>
          <p:nvPr>
            <p:ph type="sldImg"/>
          </p:nvPr>
        </p:nvSpPr>
        <p:spPr>
          <a:ln/>
        </p:spPr>
      </p:sp>
      <p:sp>
        <p:nvSpPr>
          <p:cNvPr id="14745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62</a:t>
            </a:fld>
            <a:endParaRPr lang="en-US" altLang="zh-CN" sz="1200" b="0" dirty="0">
              <a:latin typeface="Times New Roman" panose="02020603050405020304" pitchFamily="18" charset="0"/>
              <a:ea typeface="宋体" panose="02010600030101010101" pitchFamily="2" charset="-122"/>
            </a:endParaRPr>
          </a:p>
        </p:txBody>
      </p:sp>
      <p:sp>
        <p:nvSpPr>
          <p:cNvPr id="149506" name="Rectangle 2"/>
          <p:cNvSpPr>
            <a:spLocks noGrp="1" noRot="1" noChangeAspect="1" noTextEdit="1"/>
          </p:cNvSpPr>
          <p:nvPr>
            <p:ph type="sldImg"/>
          </p:nvPr>
        </p:nvSpPr>
        <p:spPr>
          <a:ln/>
        </p:spPr>
      </p:sp>
      <p:sp>
        <p:nvSpPr>
          <p:cNvPr id="14950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ea typeface="宋体" panose="02010600030101010101" pitchFamily="2" charset="-122"/>
              </a:rPr>
              <a:t>63</a:t>
            </a:fld>
            <a:endParaRPr lang="en-US" altLang="zh-CN" sz="1200" b="0" dirty="0">
              <a:latin typeface="Times New Roman" panose="02020603050405020304" pitchFamily="18" charset="0"/>
              <a:ea typeface="宋体" panose="02010600030101010101" pitchFamily="2" charset="-122"/>
            </a:endParaRPr>
          </a:p>
        </p:txBody>
      </p:sp>
      <p:sp>
        <p:nvSpPr>
          <p:cNvPr id="151554" name="Rectangle 2"/>
          <p:cNvSpPr>
            <a:spLocks noGrp="1" noRot="1" noChangeAspect="1" noTextEdit="1"/>
          </p:cNvSpPr>
          <p:nvPr>
            <p:ph type="sldImg"/>
          </p:nvPr>
        </p:nvSpPr>
        <p:spPr>
          <a:ln/>
        </p:spPr>
      </p:sp>
      <p:sp>
        <p:nvSpPr>
          <p:cNvPr id="15155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1"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Rectangle 3"/>
          <p:cNvSpPr>
            <a:spLocks noChangeArrowheads="1"/>
          </p:cNvSpPr>
          <p:nvPr/>
        </p:nvSpPr>
        <p:spPr bwMode="auto">
          <a:xfrm>
            <a:off x="685800" y="1733550"/>
            <a:ext cx="8456613" cy="146685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9"/>
          <p:cNvSpPr>
            <a:spLocks noChangeArrowheads="1"/>
          </p:cNvSpPr>
          <p:nvPr/>
        </p:nvSpPr>
        <p:spPr bwMode="auto">
          <a:xfrm>
            <a:off x="0" y="33528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ChangeArrowheads="1"/>
          </p:cNvSpPr>
          <p:nvPr>
            <p:ph type="ctrTitle" sz="quarter"/>
          </p:nvPr>
        </p:nvSpPr>
        <p:spPr>
          <a:xfrm>
            <a:off x="685800" y="1717675"/>
            <a:ext cx="7772400" cy="1711325"/>
          </a:xfrm>
        </p:spPr>
        <p:txBody>
          <a:bodyPr/>
          <a:lstStyle>
            <a:lvl1pPr>
              <a:defRPr sz="4000"/>
            </a:lvl1pPr>
          </a:lstStyle>
          <a:p>
            <a:pPr fontAlgn="base"/>
            <a:r>
              <a:rPr lang="zh-CN" altLang="en-US" strike="noStrike" noProof="1"/>
              <a:t>单击此处编辑母版标题样式</a:t>
            </a:r>
          </a:p>
        </p:txBody>
      </p:sp>
      <p:sp>
        <p:nvSpPr>
          <p:cNvPr id="4101" name="Rectangle 5"/>
          <p:cNvSpPr>
            <a:spLocks noGrp="1" noChangeArrowheads="1"/>
          </p:cNvSpPr>
          <p:nvPr>
            <p:ph type="subTitle" sz="quarter" idx="1"/>
          </p:nvPr>
        </p:nvSpPr>
        <p:spPr>
          <a:xfrm>
            <a:off x="1828800" y="3810000"/>
            <a:ext cx="6400800" cy="1752600"/>
          </a:xfrm>
        </p:spPr>
        <p:txBody>
          <a:bodyPr/>
          <a:lstStyle>
            <a:lvl1pPr marL="0" indent="0" algn="ctr">
              <a:buFont typeface="Wingdings" panose="05000000000000000000" pitchFamily="2" charset="2"/>
              <a:buNone/>
              <a:defRPr b="0"/>
            </a:lvl1pPr>
          </a:lstStyle>
          <a:p>
            <a:pPr fontAlgn="base"/>
            <a:r>
              <a:rPr lang="zh-CN" altLang="en-US" strike="noStrike" noProof="1"/>
              <a:t>单击此处编辑母版副标题样式</a:t>
            </a:r>
          </a:p>
        </p:txBody>
      </p:sp>
      <p:sp>
        <p:nvSpPr>
          <p:cNvPr id="14" name="Rectangle 6"/>
          <p:cNvSpPr>
            <a:spLocks noGrp="1" noChangeArrowheads="1"/>
          </p:cNvSpPr>
          <p:nvPr>
            <p:ph type="dt" sz="quarter"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defRPr smtClean="0"/>
            </a:lvl1pPr>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5" name="Rectangle 7"/>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defRPr smtClean="0"/>
            </a:lvl1pPr>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6" name="Rectangle 8"/>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77850"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52975"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页脚占位符 5"/>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7" name="灯片编号占位符 6"/>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8" name="页脚占位符 7"/>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9" name="灯片编号占位符 8"/>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4" name="页脚占位符 3"/>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5" name="灯片编号占位符 4"/>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3" name="页脚占位符 2"/>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4" name="灯片编号占位符 3"/>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页脚占位符 5"/>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7" name="灯片编号占位符 6"/>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spcBef>
                <a:spcPct val="20000"/>
              </a:spcBef>
              <a:spcAft>
                <a:spcPct val="0"/>
              </a:spcAft>
              <a:buClr>
                <a:schemeClr val="accent2"/>
              </a:buClr>
              <a:buSzPct val="70000"/>
              <a:buFont typeface="Wingdings" panose="05000000000000000000" pitchFamily="2" charset="2"/>
              <a:buNone/>
              <a:defRPr/>
            </a:pPr>
            <a:endParaRPr kumimoji="1"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页脚占位符 5"/>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7" name="灯片编号占位符 6"/>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228600"/>
            <a:ext cx="2089150" cy="59737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17513" y="228600"/>
            <a:ext cx="6116637" cy="59737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1"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Rectangle 3"/>
          <p:cNvSpPr>
            <a:spLocks noChangeArrowheads="1"/>
          </p:cNvSpPr>
          <p:nvPr/>
        </p:nvSpPr>
        <p:spPr bwMode="auto">
          <a:xfrm>
            <a:off x="685800" y="1733550"/>
            <a:ext cx="8456613" cy="146685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9"/>
          <p:cNvSpPr>
            <a:spLocks noChangeArrowheads="1"/>
          </p:cNvSpPr>
          <p:nvPr/>
        </p:nvSpPr>
        <p:spPr bwMode="auto">
          <a:xfrm>
            <a:off x="0" y="33528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ChangeArrowheads="1"/>
          </p:cNvSpPr>
          <p:nvPr>
            <p:ph type="ctrTitle" sz="quarter"/>
          </p:nvPr>
        </p:nvSpPr>
        <p:spPr>
          <a:xfrm>
            <a:off x="685800" y="1717675"/>
            <a:ext cx="7772400" cy="1711325"/>
          </a:xfrm>
        </p:spPr>
        <p:txBody>
          <a:bodyPr/>
          <a:lstStyle>
            <a:lvl1pPr>
              <a:defRPr sz="4000"/>
            </a:lvl1pPr>
          </a:lstStyle>
          <a:p>
            <a:pPr fontAlgn="base"/>
            <a:r>
              <a:rPr lang="zh-CN" altLang="en-US" strike="noStrike" noProof="1"/>
              <a:t>单击此处编辑母版标题样式</a:t>
            </a:r>
          </a:p>
        </p:txBody>
      </p:sp>
      <p:sp>
        <p:nvSpPr>
          <p:cNvPr id="4101" name="Rectangle 5"/>
          <p:cNvSpPr>
            <a:spLocks noGrp="1" noChangeArrowheads="1"/>
          </p:cNvSpPr>
          <p:nvPr>
            <p:ph type="subTitle" sz="quarter" idx="1"/>
          </p:nvPr>
        </p:nvSpPr>
        <p:spPr>
          <a:xfrm>
            <a:off x="1828800" y="3810000"/>
            <a:ext cx="6400800" cy="1752600"/>
          </a:xfrm>
        </p:spPr>
        <p:txBody>
          <a:bodyPr/>
          <a:lstStyle>
            <a:lvl1pPr marL="0" indent="0" algn="ctr">
              <a:buFont typeface="Wingdings" panose="05000000000000000000" pitchFamily="2" charset="2"/>
              <a:buNone/>
              <a:defRPr b="0"/>
            </a:lvl1pPr>
          </a:lstStyle>
          <a:p>
            <a:pPr fontAlgn="base"/>
            <a:r>
              <a:rPr lang="zh-CN" altLang="en-US" strike="noStrike" noProof="1"/>
              <a:t>单击此处编辑母版副标题样式</a:t>
            </a:r>
          </a:p>
        </p:txBody>
      </p:sp>
      <p:sp>
        <p:nvSpPr>
          <p:cNvPr id="14" name="Rectangle 6"/>
          <p:cNvSpPr>
            <a:spLocks noGrp="1" noChangeArrowheads="1"/>
          </p:cNvSpPr>
          <p:nvPr>
            <p:ph type="dt" sz="quarter"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defRPr smtClean="0"/>
            </a:lvl1pPr>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5" name="Rectangle 7"/>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defRPr smtClean="0"/>
            </a:lvl1pPr>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6" name="Rectangle 8"/>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77850"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52975"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页脚占位符 5"/>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7" name="灯片编号占位符 6"/>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8" name="页脚占位符 7"/>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9" name="灯片编号占位符 8"/>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4" name="页脚占位符 3"/>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5" name="灯片编号占位符 4"/>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3" name="页脚占位符 2"/>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4" name="灯片编号占位符 3"/>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页脚占位符 5"/>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7" name="灯片编号占位符 6"/>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spcBef>
                <a:spcPct val="20000"/>
              </a:spcBef>
              <a:spcAft>
                <a:spcPct val="0"/>
              </a:spcAft>
              <a:buClr>
                <a:schemeClr val="accent2"/>
              </a:buClr>
              <a:buSzPct val="70000"/>
              <a:buFont typeface="Wingdings" panose="05000000000000000000" pitchFamily="2" charset="2"/>
              <a:buNone/>
              <a:defRPr/>
            </a:pPr>
            <a:endParaRPr kumimoji="1"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页脚占位符 5"/>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7" name="灯片编号占位符 6"/>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228600"/>
            <a:ext cx="2089150" cy="59737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17513" y="228600"/>
            <a:ext cx="6116637" cy="59737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1">
              <a:lumMod val="75000"/>
            </a:schemeClr>
          </a:fgClr>
          <a:bgClr>
            <a:schemeClr val="bg1">
              <a:lumMod val="75000"/>
            </a:schemeClr>
          </a:bgClr>
        </a:patt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ChangeArrowheads="1"/>
          </p:cNvSpPr>
          <p:nvPr/>
        </p:nvSpPr>
        <p:spPr bwMode="auto">
          <a:xfrm>
            <a:off x="763588" y="4572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title"/>
          </p:nvPr>
        </p:nvSpPr>
        <p:spPr bwMode="auto">
          <a:xfrm>
            <a:off x="417513" y="228600"/>
            <a:ext cx="8331200" cy="1143000"/>
          </a:xfrm>
          <a:prstGeom prst="rect">
            <a:avLst/>
          </a:prstGeom>
          <a:noFill/>
          <a:ln w="9525">
            <a:noFill/>
            <a:miter lim="800000"/>
          </a:ln>
          <a:effectLst/>
        </p:spPr>
        <p:txBody>
          <a:bodyPr vert="horz" wrap="square" lIns="92075" tIns="46038" rIns="92075" bIns="46038" numCol="1" anchor="ctr" anchorCtr="0" compatLnSpc="1"/>
          <a:lstStyle/>
          <a:p>
            <a:pPr lvl="0" fontAlgn="base"/>
            <a:r>
              <a:rPr lang="zh-CN" altLang="en-US" strike="noStrike" noProof="1"/>
              <a:t>单击此处编辑母版标题样式</a:t>
            </a:r>
          </a:p>
        </p:txBody>
      </p:sp>
      <p:sp>
        <p:nvSpPr>
          <p:cNvPr id="1030"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3080" name="Rectangle 8"/>
          <p:cNvSpPr>
            <a:spLocks noGrp="1" noChangeArrowheads="1"/>
          </p:cNvSpPr>
          <p:nvPr>
            <p:ph type="dt" sz="half"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sz="1400" b="0" smtClean="0">
                <a:latin typeface="+mn-lt"/>
              </a:defRPr>
            </a:lvl1p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defRPr sz="1400" b="0" smtClean="0">
                <a:latin typeface="+mn-lt"/>
              </a:defRPr>
            </a:lvl1p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random/>
  </p:transition>
  <p:hf sldNum="0" hdr="0" ftr="0" dt="0"/>
  <p:txStyles>
    <p:title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Ø"/>
        <a:defRPr kumimoji="1"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0000"/>
        <a:buFont typeface="Wingdings" panose="05000000000000000000" pitchFamily="2" charset="2"/>
        <a:buChar char="v"/>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pct5">
          <a:fgClr>
            <a:schemeClr val="bg1">
              <a:lumMod val="75000"/>
            </a:schemeClr>
          </a:fgClr>
          <a:bgClr>
            <a:schemeClr val="bg1">
              <a:lumMod val="75000"/>
            </a:schemeClr>
          </a:bgClr>
        </a:patt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ChangeArrowheads="1"/>
          </p:cNvSpPr>
          <p:nvPr/>
        </p:nvSpPr>
        <p:spPr bwMode="auto">
          <a:xfrm>
            <a:off x="763588" y="4572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title"/>
          </p:nvPr>
        </p:nvSpPr>
        <p:spPr bwMode="auto">
          <a:xfrm>
            <a:off x="417513" y="228600"/>
            <a:ext cx="8331200" cy="1143000"/>
          </a:xfrm>
          <a:prstGeom prst="rect">
            <a:avLst/>
          </a:prstGeom>
          <a:noFill/>
          <a:ln w="9525">
            <a:noFill/>
            <a:miter lim="800000"/>
          </a:ln>
          <a:effectLst/>
        </p:spPr>
        <p:txBody>
          <a:bodyPr vert="horz" wrap="square" lIns="92075" tIns="46038" rIns="92075" bIns="46038" numCol="1" anchor="ctr" anchorCtr="0" compatLnSpc="1"/>
          <a:lstStyle/>
          <a:p>
            <a:pPr lvl="0" fontAlgn="base"/>
            <a:r>
              <a:rPr lang="zh-CN" altLang="en-US" strike="noStrike" noProof="1"/>
              <a:t>单击此处编辑母版标题样式</a:t>
            </a:r>
          </a:p>
        </p:txBody>
      </p:sp>
      <p:sp>
        <p:nvSpPr>
          <p:cNvPr id="2054"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3080" name="Rectangle 8"/>
          <p:cNvSpPr>
            <a:spLocks noGrp="1" noChangeArrowheads="1"/>
          </p:cNvSpPr>
          <p:nvPr>
            <p:ph type="dt" sz="half"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sz="1400" b="0" smtClean="0">
                <a:latin typeface="+mn-lt"/>
              </a:defRPr>
            </a:lvl1p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defRPr sz="1400" b="0" smtClean="0">
                <a:latin typeface="+mn-lt"/>
              </a:defRPr>
            </a:lvl1p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random/>
  </p:transition>
  <p:hf sldNum="0" hdr="0" ftr="0" dt="0"/>
  <p:txStyles>
    <p:title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Ø"/>
        <a:defRPr kumimoji="1"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0000"/>
        <a:buFont typeface="Wingdings" panose="05000000000000000000" pitchFamily="2" charset="2"/>
        <a:buChar char="v"/>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5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image" Target="../media/image18.jpeg"/></Relationships>
</file>

<file path=ppt/slides/_rels/slide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20.jpeg"/></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7.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6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a:ln>
                  <a:noFill/>
                </a:ln>
                <a:solidFill>
                  <a:srgbClr val="FF0000"/>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微机原理及应用</a:t>
            </a: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idx="4294967295"/>
          </p:nvPr>
        </p:nvSpPr>
        <p:spPr>
          <a:xfrm>
            <a:off x="1025525" y="268288"/>
            <a:ext cx="7070725"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第</a:t>
            </a:r>
            <a:r>
              <a:rPr kumimoji="1" lang="en-US" altLang="zh-CN" sz="36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2</a:t>
            </a:r>
            <a:r>
              <a:rPr kumimoji="1"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章  </a:t>
            </a:r>
            <a:r>
              <a:rPr kumimoji="1" lang="en-US" altLang="zh-CN"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80x86</a:t>
            </a:r>
            <a:r>
              <a:rPr kumimoji="1"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微处理器及其系统</a:t>
            </a:r>
            <a:r>
              <a:rPr kumimoji="1"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 </a:t>
            </a:r>
          </a:p>
        </p:txBody>
      </p:sp>
      <p:sp>
        <p:nvSpPr>
          <p:cNvPr id="26626" name="Rectangle 3"/>
          <p:cNvSpPr>
            <a:spLocks noGrp="1"/>
          </p:cNvSpPr>
          <p:nvPr>
            <p:ph idx="1"/>
          </p:nvPr>
        </p:nvSpPr>
        <p:spPr>
          <a:xfrm>
            <a:off x="1411288" y="1995488"/>
            <a:ext cx="6870700" cy="3543300"/>
          </a:xfrm>
          <a:ln/>
        </p:spPr>
        <p:txBody>
          <a:bodyPr wrap="square" lIns="92075" tIns="46038" rIns="92075" bIns="46038" anchor="t" anchorCtr="0"/>
          <a:lstStyle/>
          <a:p>
            <a:pPr eaLnBrk="1" hangingPunct="1">
              <a:lnSpc>
                <a:spcPct val="130000"/>
              </a:lnSpc>
              <a:buNone/>
            </a:pPr>
            <a:endParaRPr lang="en-US" altLang="zh-CN" sz="3200" dirty="0">
              <a:solidFill>
                <a:srgbClr val="FFCC00"/>
              </a:solidFill>
            </a:endParaRPr>
          </a:p>
          <a:p>
            <a:pPr algn="just" eaLnBrk="1" hangingPunct="1">
              <a:lnSpc>
                <a:spcPct val="150000"/>
              </a:lnSpc>
            </a:pPr>
            <a:r>
              <a:rPr lang="en-US" altLang="zh-CN" dirty="0">
                <a:latin typeface="宋体" panose="02010600030101010101" pitchFamily="2" charset="-122"/>
              </a:rPr>
              <a:t> </a:t>
            </a:r>
            <a:r>
              <a:rPr lang="zh-CN" altLang="en-US" dirty="0">
                <a:latin typeface="宋体" panose="02010600030101010101" pitchFamily="2" charset="-122"/>
              </a:rPr>
              <a:t>掌握</a:t>
            </a:r>
            <a:r>
              <a:rPr lang="en-US" altLang="zh-CN" dirty="0">
                <a:latin typeface="宋体" panose="02010600030101010101" pitchFamily="2" charset="-122"/>
              </a:rPr>
              <a:t>8086</a:t>
            </a:r>
            <a:r>
              <a:rPr lang="zh-CN" altLang="en-US" dirty="0">
                <a:latin typeface="宋体" panose="02010600030101010101" pitchFamily="2" charset="-122"/>
              </a:rPr>
              <a:t>微处理器的编程结构</a:t>
            </a:r>
            <a:r>
              <a:rPr lang="zh-CN" altLang="en-US" dirty="0"/>
              <a:t> </a:t>
            </a:r>
            <a:endParaRPr lang="zh-CN" altLang="en-US" dirty="0">
              <a:latin typeface="宋体" panose="02010600030101010101" pitchFamily="2" charset="-122"/>
            </a:endParaRPr>
          </a:p>
          <a:p>
            <a:pPr algn="just" eaLnBrk="1" hangingPunct="1">
              <a:lnSpc>
                <a:spcPct val="150000"/>
              </a:lnSpc>
            </a:pPr>
            <a:r>
              <a:rPr lang="zh-CN" altLang="en-US" dirty="0">
                <a:latin typeface="宋体" panose="02010600030101010101" pitchFamily="2" charset="-122"/>
              </a:rPr>
              <a:t> 了解</a:t>
            </a:r>
            <a:r>
              <a:rPr lang="zh-CN" altLang="en-US" dirty="0"/>
              <a:t>高性能微处理器</a:t>
            </a:r>
            <a:r>
              <a:rPr lang="en-US" altLang="zh-CN" dirty="0"/>
              <a:t>80386</a:t>
            </a:r>
            <a:r>
              <a:rPr lang="zh-CN" altLang="en-US" dirty="0"/>
              <a:t>工作原理 </a:t>
            </a:r>
            <a:endParaRPr lang="zh-CN" altLang="en-US" dirty="0">
              <a:latin typeface="宋体" panose="02010600030101010101" pitchFamily="2" charset="-122"/>
            </a:endParaRPr>
          </a:p>
          <a:p>
            <a:pPr algn="just" eaLnBrk="1" hangingPunct="1">
              <a:lnSpc>
                <a:spcPct val="150000"/>
              </a:lnSpc>
            </a:pPr>
            <a:r>
              <a:rPr lang="zh-CN" altLang="en-US" dirty="0">
                <a:latin typeface="宋体" panose="02010600030101010101" pitchFamily="2" charset="-122"/>
              </a:rPr>
              <a:t> 理解</a:t>
            </a:r>
            <a:r>
              <a:rPr lang="en-US" altLang="zh-CN" dirty="0"/>
              <a:t>8086</a:t>
            </a:r>
            <a:r>
              <a:rPr lang="zh-CN" altLang="en-US" dirty="0"/>
              <a:t>微处理器存储器分段技术 </a:t>
            </a:r>
          </a:p>
        </p:txBody>
      </p:sp>
      <p:sp>
        <p:nvSpPr>
          <p:cNvPr id="26627" name="Rectangle 12"/>
          <p:cNvSpPr/>
          <p:nvPr/>
        </p:nvSpPr>
        <p:spPr>
          <a:xfrm>
            <a:off x="947738" y="1798638"/>
            <a:ext cx="3106737" cy="825500"/>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pPr>
            <a:r>
              <a:rPr lang="zh-CN" altLang="en-US" sz="3200" dirty="0">
                <a:solidFill>
                  <a:srgbClr val="FFCC00"/>
                </a:solidFill>
                <a:latin typeface="Times New Roman" panose="02020603050405020304" pitchFamily="18" charset="0"/>
                <a:ea typeface="宋体" panose="02010600030101010101" pitchFamily="2" charset="-122"/>
              </a:rPr>
              <a:t>学习目标：</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75000"/>
            </a:schemeClr>
          </a:fgClr>
          <a:bgClr>
            <a:schemeClr val="bg1">
              <a:lumMod val="75000"/>
            </a:schemeClr>
          </a:bgClr>
        </a:pattFill>
        <a:effectLst/>
      </p:bgPr>
    </p:bg>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368925"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2.1  8086</a:t>
            </a:r>
            <a:r>
              <a:rPr kumimoji="1" lang="zh-CN" altLang="en-US"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微处理器</a:t>
            </a:r>
          </a:p>
        </p:txBody>
      </p:sp>
      <p:sp>
        <p:nvSpPr>
          <p:cNvPr id="2867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5124" name="Rectangle 11"/>
          <p:cNvSpPr>
            <a:spLocks noGrp="1"/>
          </p:cNvSpPr>
          <p:nvPr>
            <p:ph idx="1"/>
          </p:nvPr>
        </p:nvSpPr>
        <p:spPr>
          <a:xfrm>
            <a:off x="1412875" y="2159000"/>
            <a:ext cx="6364288" cy="4170363"/>
          </a:xfrm>
          <a:ln>
            <a:miter/>
          </a:ln>
        </p:spPr>
        <p:txBody>
          <a:bodyPr vert="horz" wrap="square" lIns="92075" tIns="46038" rIns="92075" bIns="46038" anchor="t"/>
          <a:lstStyle/>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1" lang="en-US" altLang="zh-CN" sz="2800" b="1" i="0" u="none" strike="noStrike" kern="0" cap="none" spc="0" normalizeH="0" baseline="0" noProof="1">
                <a:solidFill>
                  <a:srgbClr val="66FFCC"/>
                </a:solidFill>
                <a:latin typeface="+mn-lt"/>
                <a:ea typeface="+mn-ea"/>
                <a:cs typeface="+mn-cs"/>
                <a:sym typeface="+mn-ea"/>
              </a:rPr>
              <a:t>2</a:t>
            </a:r>
            <a:r>
              <a:rPr kumimoji="1" lang="zh-CN" altLang="en-US" sz="2800" b="1" i="0" u="none" strike="noStrike" kern="0" cap="none" spc="0" normalizeH="0" baseline="0" noProof="1">
                <a:solidFill>
                  <a:srgbClr val="66FFCC"/>
                </a:solidFill>
                <a:latin typeface="+mn-lt"/>
                <a:ea typeface="+mn-ea"/>
                <a:cs typeface="+mn-cs"/>
                <a:sym typeface="+mn-ea"/>
              </a:rPr>
              <a:t>.1.1  </a:t>
            </a:r>
            <a:r>
              <a:rPr kumimoji="0" lang="zh-CN" altLang="en-US" sz="2800" b="1" i="0" u="none" strike="noStrike" kern="0" cap="none" spc="0" normalizeH="0" baseline="0" noProof="1">
                <a:solidFill>
                  <a:srgbClr val="66FFCC"/>
                </a:solidFill>
                <a:latin typeface="+mn-lt"/>
                <a:ea typeface="+mn-ea"/>
                <a:cs typeface="+mn-cs"/>
              </a:rPr>
              <a:t>8086微处理器的逻辑结构</a:t>
            </a:r>
          </a:p>
          <a:p>
            <a:pPr marL="342900" marR="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u"/>
            </a:pPr>
            <a:endParaRPr kumimoji="0" lang="zh-CN" altLang="en-US" sz="2800" b="1" i="0" u="none" strike="noStrike" kern="0" cap="none" spc="0" normalizeH="0" baseline="0" noProof="1">
              <a:solidFill>
                <a:srgbClr val="66FFCC"/>
              </a:solidFill>
              <a:latin typeface="+mn-lt"/>
              <a:ea typeface="+mn-ea"/>
              <a:cs typeface="+mn-cs"/>
            </a:endParaRP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2.1.2  </a:t>
            </a:r>
            <a:r>
              <a:rPr kumimoji="0" lang="zh-CN" altLang="en-US" sz="2800" b="1" i="0" u="none" strike="noStrike" kern="0" cap="none" spc="0" normalizeH="0" baseline="0" noProof="1">
                <a:solidFill>
                  <a:srgbClr val="66FFCC"/>
                </a:solidFill>
                <a:latin typeface="+mn-lt"/>
                <a:ea typeface="+mn-ea"/>
                <a:cs typeface="+mn-cs"/>
              </a:rPr>
              <a:t>8086/8088的内部寄存器</a:t>
            </a:r>
          </a:p>
          <a:p>
            <a:pPr marL="342900" marR="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u"/>
            </a:pPr>
            <a:endParaRPr kumimoji="0" lang="zh-CN" altLang="en-US" sz="2800" b="1" i="0" u="none" strike="noStrike" kern="0" cap="none" spc="0" normalizeH="0" baseline="0" noProof="1">
              <a:solidFill>
                <a:srgbClr val="66FFCC"/>
              </a:solidFill>
              <a:latin typeface="+mn-lt"/>
              <a:ea typeface="+mn-ea"/>
              <a:cs typeface="+mn-cs"/>
            </a:endParaRP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2.1.3  </a:t>
            </a:r>
            <a:r>
              <a:rPr kumimoji="0" lang="zh-CN" altLang="en-US" sz="2800" b="1" i="0" u="none" strike="noStrike" kern="0" cap="none" spc="0" normalizeH="0" baseline="0" noProof="1">
                <a:solidFill>
                  <a:srgbClr val="66FFCC"/>
                </a:solidFill>
                <a:latin typeface="+mn-lt"/>
                <a:ea typeface="+mn-ea"/>
                <a:cs typeface="+mn-cs"/>
              </a:rPr>
              <a:t>8086/8088的引脚信号</a:t>
            </a:r>
          </a:p>
          <a:p>
            <a:pPr marL="342900" marR="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u"/>
            </a:pPr>
            <a:endParaRPr kumimoji="0" lang="zh-CN" altLang="en-US" sz="2800" b="1" i="0" u="none" strike="noStrike" kern="0" cap="none" spc="0" normalizeH="0" baseline="0" noProof="1">
              <a:solidFill>
                <a:srgbClr val="66FFCC"/>
              </a:solidFill>
              <a:latin typeface="+mn-lt"/>
              <a:ea typeface="+mn-ea"/>
              <a:cs typeface="+mn-cs"/>
            </a:endParaRP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2.1.4  </a:t>
            </a:r>
            <a:r>
              <a:rPr kumimoji="0" lang="zh-CN" altLang="en-US" sz="2800" b="1" i="0" u="none" strike="noStrike" kern="0" cap="none" spc="0" normalizeH="0" baseline="0" noProof="1">
                <a:solidFill>
                  <a:srgbClr val="66FFCC"/>
                </a:solidFill>
                <a:latin typeface="+mn-lt"/>
                <a:ea typeface="+mn-ea"/>
                <a:cs typeface="+mn-cs"/>
              </a:rPr>
              <a:t>8086/8088的工作方式</a:t>
            </a: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1" name="对象 -2147482624"/>
          <p:cNvGraphicFramePr/>
          <p:nvPr/>
        </p:nvGraphicFramePr>
        <p:xfrm>
          <a:off x="0" y="850900"/>
          <a:ext cx="9144000" cy="5303838"/>
        </p:xfrm>
        <a:graphic>
          <a:graphicData uri="http://schemas.openxmlformats.org/presentationml/2006/ole">
            <mc:AlternateContent xmlns:mc="http://schemas.openxmlformats.org/markup-compatibility/2006">
              <mc:Choice xmlns:v="urn:schemas-microsoft-com:vml" Requires="v">
                <p:oleObj spid="_x0000_s3081" r:id="rId3" imgW="3739515" imgH="1812290" progId="Visio.Drawing.11">
                  <p:embed/>
                </p:oleObj>
              </mc:Choice>
              <mc:Fallback>
                <p:oleObj r:id="rId3" imgW="3739515" imgH="1812290" progId="Visio.Drawing.11">
                  <p:embed/>
                  <p:pic>
                    <p:nvPicPr>
                      <p:cNvPr id="0" name="图片 3075"/>
                      <p:cNvPicPr/>
                      <p:nvPr/>
                    </p:nvPicPr>
                    <p:blipFill>
                      <a:blip r:embed="rId4"/>
                      <a:stretch>
                        <a:fillRect/>
                      </a:stretch>
                    </p:blipFill>
                    <p:spPr>
                      <a:xfrm>
                        <a:off x="0" y="850900"/>
                        <a:ext cx="9144000" cy="5303838"/>
                      </a:xfrm>
                      <a:prstGeom prst="rect">
                        <a:avLst/>
                      </a:prstGeom>
                      <a:solidFill>
                        <a:schemeClr val="tx1"/>
                      </a:solidFill>
                      <a:ln w="38100">
                        <a:noFill/>
                        <a:miter/>
                      </a:ln>
                    </p:spPr>
                  </p:pic>
                </p:oleObj>
              </mc:Fallback>
            </mc:AlternateContent>
          </a:graphicData>
        </a:graphic>
      </p:graphicFrame>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2.1.1  8086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微处理器的逻辑结构</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3174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1747" name="Rectangle 11"/>
          <p:cNvSpPr>
            <a:spLocks noGrp="1"/>
          </p:cNvSpPr>
          <p:nvPr>
            <p:ph idx="1"/>
          </p:nvPr>
        </p:nvSpPr>
        <p:spPr>
          <a:xfrm>
            <a:off x="541338" y="1774825"/>
            <a:ext cx="7732712" cy="4332288"/>
          </a:xfrm>
          <a:ln/>
        </p:spPr>
        <p:txBody>
          <a:bodyPr wrap="square" lIns="92075" tIns="46038" rIns="92075" bIns="46038" anchor="t" anchorCtr="0"/>
          <a:lstStyle/>
          <a:p>
            <a:pPr algn="just" eaLnBrk="1" hangingPunct="1">
              <a:buNone/>
            </a:pPr>
            <a:r>
              <a:rPr lang="en-US" altLang="zh-CN" sz="2400" dirty="0"/>
              <a:t>            8086/8088CPU</a:t>
            </a:r>
            <a:r>
              <a:rPr lang="zh-CN" altLang="zh-CN" sz="2400" dirty="0"/>
              <a:t>属于高性能</a:t>
            </a:r>
            <a:r>
              <a:rPr lang="en-US" altLang="zh-CN" sz="2400" dirty="0"/>
              <a:t>16</a:t>
            </a:r>
            <a:r>
              <a:rPr lang="zh-CN" altLang="zh-CN" sz="2400" dirty="0"/>
              <a:t>位微处理器，它们是</a:t>
            </a:r>
            <a:r>
              <a:rPr lang="en-US" altLang="zh-CN" sz="2400" dirty="0"/>
              <a:t>Intel</a:t>
            </a:r>
            <a:r>
              <a:rPr lang="zh-CN" altLang="zh-CN" sz="2400" dirty="0"/>
              <a:t>公司继</a:t>
            </a:r>
            <a:r>
              <a:rPr lang="en-US" altLang="zh-CN" sz="2400" dirty="0"/>
              <a:t>8080</a:t>
            </a:r>
            <a:r>
              <a:rPr lang="zh-CN" altLang="zh-CN" sz="2400" dirty="0"/>
              <a:t>之后于</a:t>
            </a:r>
            <a:r>
              <a:rPr lang="en-US" altLang="zh-CN" sz="2400" dirty="0"/>
              <a:t>1978</a:t>
            </a:r>
            <a:r>
              <a:rPr lang="zh-CN" altLang="zh-CN" sz="2400" dirty="0"/>
              <a:t>年推出的一款</a:t>
            </a:r>
            <a:r>
              <a:rPr lang="en-US" altLang="zh-CN" sz="2400" dirty="0"/>
              <a:t>CPU</a:t>
            </a:r>
            <a:r>
              <a:rPr lang="zh-CN" altLang="zh-CN" sz="2400" dirty="0"/>
              <a:t>，其采用了</a:t>
            </a:r>
            <a:r>
              <a:rPr lang="en-US" altLang="zh-CN" sz="2400" dirty="0"/>
              <a:t>HMOS</a:t>
            </a:r>
            <a:r>
              <a:rPr lang="zh-CN" altLang="zh-CN" sz="2400" dirty="0"/>
              <a:t>工艺制造，芯片上集成了</a:t>
            </a:r>
            <a:r>
              <a:rPr lang="en-US" altLang="zh-CN" sz="2400" dirty="0"/>
              <a:t>2.9</a:t>
            </a:r>
            <a:r>
              <a:rPr lang="zh-CN" altLang="zh-CN" sz="2400" dirty="0"/>
              <a:t>万只晶体管，该处理器地址引脚为</a:t>
            </a:r>
            <a:r>
              <a:rPr lang="en-US" altLang="zh-CN" sz="2400" dirty="0"/>
              <a:t>20</a:t>
            </a:r>
            <a:r>
              <a:rPr lang="zh-CN" altLang="zh-CN" sz="2400" dirty="0"/>
              <a:t>位，寻址空间为</a:t>
            </a:r>
            <a:r>
              <a:rPr lang="en-US" altLang="zh-CN" sz="2400" dirty="0"/>
              <a:t>1MB</a:t>
            </a:r>
            <a:r>
              <a:rPr lang="zh-CN" altLang="zh-CN" sz="2400" dirty="0"/>
              <a:t>。</a:t>
            </a:r>
            <a:r>
              <a:rPr lang="en-US" altLang="zh-CN" sz="2400" dirty="0"/>
              <a:t>8086</a:t>
            </a:r>
            <a:r>
              <a:rPr lang="zh-CN" altLang="zh-CN" sz="2400" dirty="0"/>
              <a:t>数据线引脚为</a:t>
            </a:r>
            <a:r>
              <a:rPr lang="en-US" altLang="zh-CN" sz="2400" dirty="0"/>
              <a:t>16</a:t>
            </a:r>
            <a:r>
              <a:rPr lang="zh-CN" altLang="zh-CN" sz="2400" dirty="0"/>
              <a:t>位，而</a:t>
            </a:r>
            <a:r>
              <a:rPr lang="en-US" altLang="zh-CN" sz="2400" dirty="0"/>
              <a:t>8088</a:t>
            </a:r>
            <a:r>
              <a:rPr lang="zh-CN" altLang="zh-CN" sz="2400" dirty="0"/>
              <a:t>为</a:t>
            </a:r>
            <a:r>
              <a:rPr lang="en-US" altLang="zh-CN" sz="2400" dirty="0"/>
              <a:t>8</a:t>
            </a:r>
            <a:r>
              <a:rPr lang="zh-CN" altLang="zh-CN" sz="2400" dirty="0"/>
              <a:t>位。</a:t>
            </a:r>
            <a:endParaRPr lang="en-US" altLang="zh-CN" sz="2400" dirty="0"/>
          </a:p>
          <a:p>
            <a:pPr algn="just" eaLnBrk="1" hangingPunct="1">
              <a:buNone/>
            </a:pPr>
            <a:r>
              <a:rPr lang="en-US" altLang="zh-CN" sz="2400" dirty="0"/>
              <a:t>            </a:t>
            </a:r>
            <a:r>
              <a:rPr lang="zh-CN" altLang="zh-CN" sz="2400" dirty="0"/>
              <a:t>要掌握一个</a:t>
            </a:r>
            <a:r>
              <a:rPr lang="en-US" altLang="zh-CN" sz="2400" dirty="0"/>
              <a:t>CPU</a:t>
            </a:r>
            <a:r>
              <a:rPr lang="zh-CN" altLang="zh-CN" sz="2400" dirty="0"/>
              <a:t>的工作性能和使用方法，首先应该了解它的逻辑结构。所谓逻辑结构就是指从程序员和使用者的角度看到的内部结构，这种结构与</a:t>
            </a:r>
            <a:r>
              <a:rPr lang="en-US" altLang="zh-CN" sz="2400" dirty="0"/>
              <a:t>CPU</a:t>
            </a:r>
            <a:r>
              <a:rPr lang="zh-CN" altLang="zh-CN" sz="2400" dirty="0"/>
              <a:t>内部的物理结构和实际布局是有区别的。按功能划分，</a:t>
            </a:r>
            <a:r>
              <a:rPr lang="en-US" altLang="zh-CN" sz="2400" dirty="0"/>
              <a:t>8086CPU</a:t>
            </a:r>
            <a:r>
              <a:rPr lang="zh-CN" altLang="zh-CN" sz="2400" dirty="0"/>
              <a:t>由总线接口部件（</a:t>
            </a:r>
            <a:r>
              <a:rPr lang="en-US" altLang="zh-CN" sz="2400" dirty="0"/>
              <a:t>BIU</a:t>
            </a:r>
            <a:r>
              <a:rPr lang="zh-CN" altLang="zh-CN" sz="2400" dirty="0"/>
              <a:t>，</a:t>
            </a:r>
            <a:r>
              <a:rPr lang="en-US" altLang="zh-CN" sz="2400" dirty="0"/>
              <a:t>Bus Interface Unit</a:t>
            </a:r>
            <a:r>
              <a:rPr lang="zh-CN" altLang="zh-CN" sz="2400" dirty="0"/>
              <a:t>）和执行部件（</a:t>
            </a:r>
            <a:r>
              <a:rPr lang="en-US" altLang="zh-CN" sz="2400" dirty="0"/>
              <a:t>EU</a:t>
            </a:r>
            <a:r>
              <a:rPr lang="zh-CN" altLang="zh-CN" sz="2400" dirty="0"/>
              <a:t>，</a:t>
            </a:r>
            <a:r>
              <a:rPr lang="en-US" altLang="zh-CN" sz="2400" dirty="0"/>
              <a:t>Execution Unit</a:t>
            </a:r>
            <a:r>
              <a:rPr lang="zh-CN" altLang="zh-CN" sz="2400" dirty="0"/>
              <a:t>）两部分组成。</a:t>
            </a:r>
          </a:p>
          <a:p>
            <a:pPr eaLnBrk="1" hangingPunct="1">
              <a:buNone/>
            </a:pPr>
            <a:endParaRPr lang="zh-CN" altLang="en-US" dirty="0"/>
          </a:p>
        </p:txBody>
      </p:sp>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2.1.1  8086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微处理器的逻辑结构</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3379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59435" name="Rectangle 11"/>
          <p:cNvSpPr>
            <a:spLocks noGrp="1" noChangeArrowheads="1"/>
          </p:cNvSpPr>
          <p:nvPr>
            <p:ph idx="1"/>
          </p:nvPr>
        </p:nvSpPr>
        <p:spPr>
          <a:xfrm>
            <a:off x="2228850" y="6383338"/>
            <a:ext cx="4411663" cy="355600"/>
          </a:xfrm>
          <a:ln>
            <a:miter/>
          </a:ln>
        </p:spPr>
        <p:txBody>
          <a:bodyPr vert="horz" wrap="square" lIns="92075" tIns="46038" rIns="92075" bIns="46038" numCol="1" anchor="t" anchorCtr="0" compatLnSpc="1"/>
          <a:lstStyle/>
          <a:p>
            <a:pPr marL="342900" marR="0" lvl="0" indent="-342900" algn="ctr" defTabSz="914400" rtl="0" eaLnBrk="1" fontAlgn="base" latinLnBrk="0" hangingPunct="1">
              <a:lnSpc>
                <a:spcPts val="1560"/>
              </a:lnSpc>
              <a:spcBef>
                <a:spcPts val="600"/>
              </a:spcBef>
              <a:spcAft>
                <a:spcPts val="600"/>
              </a:spcAft>
              <a:buClr>
                <a:schemeClr val="accent2"/>
              </a:buClr>
              <a:buSzPct val="70000"/>
              <a:buFont typeface="Wingdings" panose="05000000000000000000" pitchFamily="2" charset="2"/>
              <a:buNone/>
              <a:defRPr/>
            </a:pPr>
            <a:r>
              <a:rPr kumimoji="1" lang="zh-CN" altLang="zh-CN" sz="2000" b="1" i="0" u="none" strike="noStrike" kern="900" cap="none" spc="0" normalizeH="0" baseline="0" noProof="0" dirty="0">
                <a:ln>
                  <a:noFill/>
                </a:ln>
                <a:solidFill>
                  <a:schemeClr val="tx1"/>
                </a:solidFill>
                <a:effectLst/>
                <a:uLnTx/>
                <a:uFillTx/>
                <a:latin typeface="+mn-lt"/>
                <a:ea typeface="+mn-ea"/>
                <a:cs typeface="Arial" panose="020B0604020202020204"/>
              </a:rPr>
              <a:t>图</a:t>
            </a:r>
            <a:r>
              <a:rPr kumimoji="1" lang="en-US" altLang="zh-CN" sz="2000" b="1" i="0" u="none" strike="noStrike" kern="900" cap="none" spc="0" normalizeH="0" baseline="0" noProof="0" dirty="0">
                <a:ln>
                  <a:noFill/>
                </a:ln>
                <a:solidFill>
                  <a:schemeClr val="tx1"/>
                </a:solidFill>
                <a:effectLst/>
                <a:uLnTx/>
                <a:uFillTx/>
                <a:latin typeface="+mn-lt"/>
                <a:ea typeface="+mn-ea"/>
                <a:cs typeface="Arial" panose="020B0604020202020204"/>
              </a:rPr>
              <a:t>2-1  8086</a:t>
            </a:r>
            <a:r>
              <a:rPr kumimoji="1" lang="zh-CN" altLang="zh-CN" sz="2000" b="1" i="0" u="none" strike="noStrike" kern="900" cap="none" spc="0" normalizeH="0" baseline="0" noProof="0" dirty="0">
                <a:ln>
                  <a:noFill/>
                </a:ln>
                <a:solidFill>
                  <a:schemeClr val="tx1"/>
                </a:solidFill>
                <a:effectLst/>
                <a:uLnTx/>
                <a:uFillTx/>
                <a:latin typeface="+mn-lt"/>
                <a:ea typeface="+mn-ea"/>
                <a:cs typeface="Arial" panose="020B0604020202020204"/>
              </a:rPr>
              <a:t>的逻辑结构</a:t>
            </a:r>
          </a:p>
          <a:p>
            <a:pPr marL="342900" marR="0" lvl="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endParaRPr kumimoji="1" lang="zh-CN" altLang="en-US" sz="2800" b="1" i="0" u="none" strike="noStrike" kern="0" cap="none" spc="0" normalizeH="0" baseline="0" noProof="0" dirty="0">
              <a:ln>
                <a:noFill/>
              </a:ln>
              <a:solidFill>
                <a:schemeClr val="tx1"/>
              </a:solidFill>
              <a:effectLst/>
              <a:uLnTx/>
              <a:uFillTx/>
              <a:latin typeface="+mn-lt"/>
              <a:ea typeface="+mn-ea"/>
              <a:cs typeface="+mn-cs"/>
            </a:endParaRPr>
          </a:p>
        </p:txBody>
      </p:sp>
      <p:pic>
        <p:nvPicPr>
          <p:cNvPr id="33796" name="Picture 2" descr="2"/>
          <p:cNvPicPr>
            <a:picLocks noChangeAspect="1"/>
          </p:cNvPicPr>
          <p:nvPr/>
        </p:nvPicPr>
        <p:blipFill>
          <a:blip r:embed="rId4"/>
          <a:stretch>
            <a:fillRect/>
          </a:stretch>
        </p:blipFill>
        <p:spPr>
          <a:xfrm>
            <a:off x="1030288" y="1216025"/>
            <a:ext cx="7058025" cy="5021263"/>
          </a:xfrm>
          <a:prstGeom prst="rect">
            <a:avLst/>
          </a:prstGeom>
          <a:noFill/>
          <a:ln w="9525">
            <a:noFill/>
          </a:ln>
        </p:spPr>
      </p:pic>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的内部结构</a:t>
            </a:r>
          </a:p>
        </p:txBody>
      </p:sp>
      <p:sp>
        <p:nvSpPr>
          <p:cNvPr id="35842" name="内容占位符 4"/>
          <p:cNvSpPr>
            <a:spLocks noGrp="1"/>
          </p:cNvSpPr>
          <p:nvPr>
            <p:ph idx="1"/>
          </p:nvPr>
        </p:nvSpPr>
        <p:spPr>
          <a:xfrm>
            <a:off x="2849563" y="6351588"/>
            <a:ext cx="3932237" cy="373062"/>
          </a:xfrm>
          <a:ln/>
        </p:spPr>
        <p:txBody>
          <a:bodyPr wrap="square" lIns="92075" tIns="46038" rIns="92075" bIns="46038" anchor="t" anchorCtr="0"/>
          <a:lstStyle/>
          <a:p>
            <a:pPr algn="just" eaLnBrk="1" hangingPunct="1">
              <a:buNone/>
            </a:pPr>
            <a:r>
              <a:rPr lang="zh-CN" altLang="zh-CN" sz="2000" dirty="0"/>
              <a:t>图</a:t>
            </a:r>
            <a:r>
              <a:rPr lang="en-US" altLang="zh-CN" sz="2000" dirty="0"/>
              <a:t>2-8  80386</a:t>
            </a:r>
            <a:r>
              <a:rPr lang="zh-CN" altLang="zh-CN" sz="2000" dirty="0"/>
              <a:t>的逻辑结构</a:t>
            </a:r>
          </a:p>
        </p:txBody>
      </p:sp>
      <p:pic>
        <p:nvPicPr>
          <p:cNvPr id="35843" name="Picture 2" descr="2"/>
          <p:cNvPicPr>
            <a:picLocks noChangeAspect="1"/>
          </p:cNvPicPr>
          <p:nvPr/>
        </p:nvPicPr>
        <p:blipFill>
          <a:blip r:embed="rId3"/>
          <a:stretch>
            <a:fillRect/>
          </a:stretch>
        </p:blipFill>
        <p:spPr>
          <a:xfrm>
            <a:off x="15875" y="1222375"/>
            <a:ext cx="9109075" cy="5035550"/>
          </a:xfrm>
          <a:prstGeom prst="rect">
            <a:avLst/>
          </a:prstGeom>
          <a:noFill/>
          <a:ln w="9525">
            <a:noFill/>
          </a:ln>
        </p:spPr>
      </p:pic>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2.1.1  8086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微处理器的逻辑结构</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3789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7891" name="内容占位符 4"/>
          <p:cNvSpPr>
            <a:spLocks noGrp="1"/>
          </p:cNvSpPr>
          <p:nvPr>
            <p:ph idx="1"/>
          </p:nvPr>
        </p:nvSpPr>
        <p:spPr>
          <a:xfrm>
            <a:off x="338138" y="1911350"/>
            <a:ext cx="8197850" cy="4125913"/>
          </a:xfrm>
          <a:ln/>
        </p:spPr>
        <p:txBody>
          <a:bodyPr wrap="square" lIns="92075" tIns="46038" rIns="92075" bIns="46038" anchor="t" anchorCtr="0"/>
          <a:lstStyle/>
          <a:p>
            <a:pPr lvl="1" algn="just" eaLnBrk="1" hangingPunct="1">
              <a:buNone/>
            </a:pPr>
            <a:r>
              <a:rPr lang="zh-CN" altLang="zh-CN" dirty="0"/>
              <a:t>1．总线接口部件</a:t>
            </a:r>
          </a:p>
          <a:p>
            <a:pPr algn="just" eaLnBrk="1" hangingPunct="1">
              <a:buNone/>
            </a:pPr>
            <a:r>
              <a:rPr lang="en-US" altLang="zh-CN" sz="2400" dirty="0"/>
              <a:t>           </a:t>
            </a:r>
            <a:r>
              <a:rPr lang="zh-CN" altLang="zh-CN" sz="2400" dirty="0"/>
              <a:t>总线接口部件的功能是根据执行部件的请求，负责完成</a:t>
            </a:r>
            <a:r>
              <a:rPr lang="en-US" altLang="zh-CN" sz="2400" dirty="0"/>
              <a:t>CPU</a:t>
            </a:r>
            <a:r>
              <a:rPr lang="zh-CN" altLang="zh-CN" sz="2400" dirty="0"/>
              <a:t>与存储器、</a:t>
            </a:r>
            <a:r>
              <a:rPr lang="en-US" altLang="zh-CN" sz="2400" dirty="0"/>
              <a:t>I/O</a:t>
            </a:r>
            <a:r>
              <a:rPr lang="zh-CN" altLang="zh-CN" sz="2400" dirty="0"/>
              <a:t>设备之间的数据传送。具体任务如下。</a:t>
            </a:r>
          </a:p>
          <a:p>
            <a:pPr algn="just" eaLnBrk="1" hangingPunct="1">
              <a:buNone/>
            </a:pPr>
            <a:r>
              <a:rPr lang="en-US" altLang="zh-CN" sz="2400" dirty="0"/>
              <a:t>    ① BIU</a:t>
            </a:r>
            <a:r>
              <a:rPr lang="zh-CN" altLang="zh-CN" sz="2400" dirty="0"/>
              <a:t>负责从存储器的指定单元取出指令送至指令队列中排队，或直接送至</a:t>
            </a:r>
            <a:r>
              <a:rPr lang="en-US" altLang="zh-CN" sz="2400" dirty="0"/>
              <a:t>EU</a:t>
            </a:r>
            <a:r>
              <a:rPr lang="zh-CN" altLang="zh-CN" sz="2400" dirty="0"/>
              <a:t>执行。</a:t>
            </a:r>
          </a:p>
          <a:p>
            <a:pPr algn="just" eaLnBrk="1" hangingPunct="1">
              <a:buNone/>
            </a:pPr>
            <a:r>
              <a:rPr lang="en-US" altLang="zh-CN" sz="2400" dirty="0"/>
              <a:t>    ② </a:t>
            </a:r>
            <a:r>
              <a:rPr lang="zh-CN" altLang="zh-CN" sz="2400" dirty="0"/>
              <a:t>负责从存储器指定单元或外设端口中取出指令规定的操作数传送给执行单元或者将执行单元的操作结果传送到指定的存储单元或外设端口中。</a:t>
            </a:r>
          </a:p>
          <a:p>
            <a:pPr algn="just" eaLnBrk="1" hangingPunct="1">
              <a:buNone/>
            </a:pPr>
            <a:r>
              <a:rPr lang="en-US" altLang="zh-CN" sz="2400" dirty="0"/>
              <a:t>    ③ </a:t>
            </a:r>
            <a:r>
              <a:rPr lang="zh-CN" altLang="zh-CN" sz="2400" dirty="0"/>
              <a:t>计算并形成访问存储器的</a:t>
            </a:r>
            <a:r>
              <a:rPr lang="en-US" altLang="zh-CN" sz="2400" dirty="0"/>
              <a:t>20</a:t>
            </a:r>
            <a:r>
              <a:rPr lang="zh-CN" altLang="zh-CN" sz="2400" dirty="0"/>
              <a:t>位物理地址。</a:t>
            </a:r>
          </a:p>
          <a:p>
            <a:pPr algn="just" eaLnBrk="1" hangingPunct="1">
              <a:buNone/>
            </a:pPr>
            <a:endParaRPr lang="zh-CN" altLang="en-US" sz="2400" dirty="0"/>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2.1.1  8086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微处理器的逻辑结构</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3993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9939" name="内容占位符 4"/>
          <p:cNvSpPr>
            <a:spLocks noGrp="1"/>
          </p:cNvSpPr>
          <p:nvPr>
            <p:ph idx="1"/>
          </p:nvPr>
        </p:nvSpPr>
        <p:spPr>
          <a:xfrm>
            <a:off x="249238" y="1911350"/>
            <a:ext cx="8197850" cy="4125913"/>
          </a:xfrm>
          <a:ln/>
        </p:spPr>
        <p:txBody>
          <a:bodyPr wrap="square" lIns="92075" tIns="46038" rIns="92075" bIns="46038" anchor="t" anchorCtr="0"/>
          <a:lstStyle/>
          <a:p>
            <a:pPr algn="just" eaLnBrk="1" hangingPunct="1">
              <a:buNone/>
            </a:pPr>
            <a:r>
              <a:rPr lang="en-US" altLang="zh-CN" sz="2400" dirty="0"/>
              <a:t>             </a:t>
            </a:r>
            <a:r>
              <a:rPr lang="zh-CN" altLang="zh-CN" sz="2400" dirty="0"/>
              <a:t>总线接口部件（</a:t>
            </a:r>
            <a:r>
              <a:rPr lang="en-US" altLang="zh-CN" sz="2400" dirty="0"/>
              <a:t>BIU</a:t>
            </a:r>
            <a:r>
              <a:rPr lang="zh-CN" altLang="zh-CN" sz="2400" dirty="0"/>
              <a:t>）内部设有四个段寄存器（代码段寄存器</a:t>
            </a:r>
            <a:r>
              <a:rPr lang="en-US" altLang="zh-CN" sz="2400" dirty="0"/>
              <a:t>CS</a:t>
            </a:r>
            <a:r>
              <a:rPr lang="zh-CN" altLang="zh-CN" sz="2400" dirty="0"/>
              <a:t>、数据段寄存器</a:t>
            </a:r>
            <a:r>
              <a:rPr lang="en-US" altLang="zh-CN" sz="2400" dirty="0"/>
              <a:t>DS</a:t>
            </a:r>
            <a:r>
              <a:rPr lang="zh-CN" altLang="zh-CN" sz="2400" dirty="0"/>
              <a:t>、堆栈段寄存器</a:t>
            </a:r>
            <a:r>
              <a:rPr lang="en-US" altLang="zh-CN" sz="2400" dirty="0"/>
              <a:t>SS</a:t>
            </a:r>
            <a:r>
              <a:rPr lang="zh-CN" altLang="zh-CN" sz="2400" dirty="0"/>
              <a:t>和附加段寄存器</a:t>
            </a:r>
            <a:r>
              <a:rPr lang="en-US" altLang="zh-CN" sz="2400" dirty="0"/>
              <a:t>ES</a:t>
            </a:r>
            <a:r>
              <a:rPr lang="zh-CN" altLang="zh-CN" sz="2400" dirty="0"/>
              <a:t>）、</a:t>
            </a:r>
            <a:r>
              <a:rPr lang="en-US" altLang="zh-CN" sz="2400" dirty="0"/>
              <a:t>20</a:t>
            </a:r>
            <a:r>
              <a:rPr lang="zh-CN" altLang="zh-CN" sz="2400" dirty="0"/>
              <a:t>位地址加法器、一个指令队列缓冲器、一个</a:t>
            </a:r>
            <a:r>
              <a:rPr lang="en-US" altLang="zh-CN" sz="2400" dirty="0"/>
              <a:t>16</a:t>
            </a:r>
            <a:r>
              <a:rPr lang="zh-CN" altLang="zh-CN" sz="2400" dirty="0"/>
              <a:t>位的指令指针寄存器</a:t>
            </a:r>
            <a:r>
              <a:rPr lang="en-US" altLang="zh-CN" sz="2400" dirty="0"/>
              <a:t>IP</a:t>
            </a:r>
            <a:r>
              <a:rPr lang="zh-CN" altLang="zh-CN" sz="2400" dirty="0"/>
              <a:t>和总线控制电路。</a:t>
            </a:r>
          </a:p>
          <a:p>
            <a:pPr algn="just" eaLnBrk="1" hangingPunct="1">
              <a:buNone/>
            </a:pPr>
            <a:r>
              <a:rPr lang="en-US" altLang="zh-CN" sz="2400" dirty="0"/>
              <a:t>   </a:t>
            </a:r>
            <a:r>
              <a:rPr lang="zh-CN" altLang="zh-CN" sz="2400" dirty="0"/>
              <a:t>（</a:t>
            </a:r>
            <a:r>
              <a:rPr lang="en-US" altLang="zh-CN" sz="2400" dirty="0"/>
              <a:t>1</a:t>
            </a:r>
            <a:r>
              <a:rPr lang="zh-CN" altLang="zh-CN" sz="2400" dirty="0"/>
              <a:t>）段寄存器和地址加法器。</a:t>
            </a:r>
          </a:p>
          <a:p>
            <a:pPr algn="just" eaLnBrk="1" hangingPunct="1">
              <a:buNone/>
            </a:pPr>
            <a:r>
              <a:rPr lang="en-US" altLang="zh-CN" sz="2400" dirty="0"/>
              <a:t>             </a:t>
            </a:r>
            <a:r>
              <a:rPr lang="zh-CN" altLang="zh-CN" sz="2400" dirty="0"/>
              <a:t>地址加法器和段寄存器实现存储器逻辑地址到</a:t>
            </a:r>
            <a:r>
              <a:rPr lang="en-US" altLang="zh-CN" sz="2400" dirty="0"/>
              <a:t>20</a:t>
            </a:r>
            <a:r>
              <a:rPr lang="zh-CN" altLang="zh-CN" sz="2400" dirty="0"/>
              <a:t>位物理地址的转换。逻辑地址由</a:t>
            </a:r>
            <a:r>
              <a:rPr lang="en-US" altLang="zh-CN" sz="2400" dirty="0"/>
              <a:t>16</a:t>
            </a:r>
            <a:r>
              <a:rPr lang="zh-CN" altLang="zh-CN" sz="2400" dirty="0"/>
              <a:t>位段基址（段寄存器给出）与</a:t>
            </a:r>
            <a:r>
              <a:rPr lang="en-US" altLang="zh-CN" sz="2400" dirty="0"/>
              <a:t>16</a:t>
            </a:r>
            <a:r>
              <a:rPr lang="zh-CN" altLang="zh-CN" sz="2400" dirty="0"/>
              <a:t>位段内偏移地址（指令给出）两部分组成。转换方法为段基址左移</a:t>
            </a:r>
            <a:r>
              <a:rPr lang="en-US" altLang="zh-CN" sz="2400" dirty="0"/>
              <a:t>4</a:t>
            </a:r>
            <a:r>
              <a:rPr lang="zh-CN" altLang="zh-CN" sz="2400" dirty="0"/>
              <a:t>位加上偏移地址，形成</a:t>
            </a:r>
            <a:r>
              <a:rPr lang="en-US" altLang="zh-CN" sz="2400" dirty="0"/>
              <a:t>20</a:t>
            </a:r>
            <a:r>
              <a:rPr lang="zh-CN" altLang="zh-CN" sz="2400" dirty="0"/>
              <a:t>位物理地址。</a:t>
            </a:r>
          </a:p>
          <a:p>
            <a:pPr algn="just" eaLnBrk="1" hangingPunct="1">
              <a:buNone/>
            </a:pPr>
            <a:endParaRPr lang="zh-CN" altLang="en-US" sz="2400" dirty="0"/>
          </a:p>
        </p:txBody>
      </p:sp>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2.1.1  8086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微处理器的逻辑结构</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4198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41987" name="内容占位符 4"/>
          <p:cNvSpPr>
            <a:spLocks noGrp="1"/>
          </p:cNvSpPr>
          <p:nvPr>
            <p:ph idx="1"/>
          </p:nvPr>
        </p:nvSpPr>
        <p:spPr>
          <a:xfrm>
            <a:off x="249238" y="1911350"/>
            <a:ext cx="8494712" cy="4667250"/>
          </a:xfrm>
          <a:ln/>
        </p:spPr>
        <p:txBody>
          <a:bodyPr wrap="square" lIns="92075" tIns="46038" rIns="92075" bIns="46038" anchor="t" anchorCtr="0"/>
          <a:lstStyle/>
          <a:p>
            <a:pPr algn="just" eaLnBrk="1" hangingPunct="1">
              <a:buNone/>
            </a:pPr>
            <a:r>
              <a:rPr lang="en-US" altLang="zh-CN" sz="2400" dirty="0"/>
              <a:t>   </a:t>
            </a:r>
            <a:r>
              <a:rPr lang="zh-CN" altLang="zh-CN" sz="2400" dirty="0"/>
              <a:t>（</a:t>
            </a:r>
            <a:r>
              <a:rPr lang="en-US" altLang="zh-CN" sz="2400" dirty="0"/>
              <a:t>2</a:t>
            </a:r>
            <a:r>
              <a:rPr lang="zh-CN" altLang="zh-CN" sz="2400" dirty="0"/>
              <a:t>）指令队列缓冲器。</a:t>
            </a:r>
          </a:p>
          <a:p>
            <a:pPr algn="just" eaLnBrk="1" hangingPunct="1">
              <a:buNone/>
            </a:pPr>
            <a:r>
              <a:rPr lang="en-US" altLang="zh-CN" sz="2400" dirty="0"/>
              <a:t>             8086</a:t>
            </a:r>
            <a:r>
              <a:rPr lang="zh-CN" altLang="zh-CN" sz="2400" dirty="0"/>
              <a:t>的指令队列为</a:t>
            </a:r>
            <a:r>
              <a:rPr lang="en-US" altLang="zh-CN" sz="2400" dirty="0"/>
              <a:t>6</a:t>
            </a:r>
            <a:r>
              <a:rPr lang="zh-CN" altLang="zh-CN" sz="2400" dirty="0"/>
              <a:t>字节（</a:t>
            </a:r>
            <a:r>
              <a:rPr lang="en-US" altLang="zh-CN" sz="2400" dirty="0"/>
              <a:t>8088</a:t>
            </a:r>
            <a:r>
              <a:rPr lang="zh-CN" altLang="zh-CN" sz="2400" dirty="0"/>
              <a:t>为</a:t>
            </a:r>
            <a:r>
              <a:rPr lang="en-US" altLang="zh-CN" sz="2400" dirty="0"/>
              <a:t>4</a:t>
            </a:r>
            <a:r>
              <a:rPr lang="zh-CN" altLang="zh-CN" sz="2400" dirty="0"/>
              <a:t>字节），当执行部件（</a:t>
            </a:r>
            <a:r>
              <a:rPr lang="en-US" altLang="zh-CN" sz="2400" dirty="0"/>
              <a:t>EU</a:t>
            </a:r>
            <a:r>
              <a:rPr lang="zh-CN" altLang="zh-CN" sz="2400" dirty="0"/>
              <a:t>）正在执行指令且不需要占用总线时，总线接口部件（</a:t>
            </a:r>
            <a:r>
              <a:rPr lang="en-US" altLang="zh-CN" sz="2400" dirty="0"/>
              <a:t>BIU</a:t>
            </a:r>
            <a:r>
              <a:rPr lang="zh-CN" altLang="zh-CN" sz="2400" dirty="0"/>
              <a:t>）会自动预取下一条或几条指令操作，将所取得的指令按先后顺序存入指令队列缓冲器中排队，然后再由执行部件（</a:t>
            </a:r>
            <a:r>
              <a:rPr lang="en-US" altLang="zh-CN" sz="2400" dirty="0"/>
              <a:t>EU</a:t>
            </a:r>
            <a:r>
              <a:rPr lang="zh-CN" altLang="zh-CN" sz="2400" dirty="0"/>
              <a:t>）按顺序执行。</a:t>
            </a:r>
            <a:endParaRPr lang="en-US" altLang="zh-CN" sz="2400" dirty="0"/>
          </a:p>
          <a:p>
            <a:pPr eaLnBrk="1" hangingPunct="1">
              <a:buNone/>
            </a:pPr>
            <a:r>
              <a:rPr lang="en-US" altLang="zh-CN" sz="2400" dirty="0"/>
              <a:t>   </a:t>
            </a:r>
            <a:r>
              <a:rPr lang="zh-CN" altLang="zh-CN" sz="2400" dirty="0"/>
              <a:t>（</a:t>
            </a:r>
            <a:r>
              <a:rPr lang="en-US" altLang="zh-CN" sz="2400" dirty="0"/>
              <a:t>3</a:t>
            </a:r>
            <a:r>
              <a:rPr lang="zh-CN" altLang="zh-CN" sz="2400" dirty="0"/>
              <a:t>）指令指针寄存器</a:t>
            </a:r>
            <a:r>
              <a:rPr lang="en-US" altLang="zh-CN" sz="2400" dirty="0"/>
              <a:t>IP</a:t>
            </a:r>
            <a:r>
              <a:rPr lang="zh-CN" altLang="zh-CN" sz="2400" dirty="0"/>
              <a:t>。</a:t>
            </a:r>
          </a:p>
          <a:p>
            <a:pPr eaLnBrk="1" hangingPunct="1">
              <a:buNone/>
            </a:pPr>
            <a:r>
              <a:rPr lang="en-US" altLang="zh-CN" sz="2400" dirty="0"/>
              <a:t>             </a:t>
            </a:r>
            <a:r>
              <a:rPr lang="zh-CN" altLang="zh-CN" sz="2400" dirty="0"/>
              <a:t>指令指针寄存器</a:t>
            </a:r>
            <a:r>
              <a:rPr lang="en-US" altLang="zh-CN" sz="2400" dirty="0"/>
              <a:t>IP</a:t>
            </a:r>
            <a:r>
              <a:rPr lang="zh-CN" altLang="zh-CN" sz="2400" dirty="0"/>
              <a:t>（</a:t>
            </a:r>
            <a:r>
              <a:rPr lang="en-US" altLang="zh-CN" sz="2400" dirty="0"/>
              <a:t>Instruction Point</a:t>
            </a:r>
            <a:r>
              <a:rPr lang="zh-CN" altLang="zh-CN" sz="2400" dirty="0"/>
              <a:t>）总是存放</a:t>
            </a:r>
            <a:r>
              <a:rPr lang="en-US" altLang="zh-CN" sz="2400" dirty="0"/>
              <a:t>EU</a:t>
            </a:r>
            <a:r>
              <a:rPr lang="zh-CN" altLang="zh-CN" sz="2400" dirty="0"/>
              <a:t>要执行的下一条指令的偏移地址。该寄存器不提供给用户使用。</a:t>
            </a:r>
          </a:p>
          <a:p>
            <a:pPr eaLnBrk="1" hangingPunct="1">
              <a:buNone/>
            </a:pPr>
            <a:r>
              <a:rPr lang="en-US" altLang="zh-CN" sz="2400" dirty="0"/>
              <a:t>   </a:t>
            </a:r>
            <a:r>
              <a:rPr lang="zh-CN" altLang="zh-CN" sz="2400" dirty="0"/>
              <a:t>（</a:t>
            </a:r>
            <a:r>
              <a:rPr lang="en-US" altLang="zh-CN" sz="2400" dirty="0"/>
              <a:t>4</a:t>
            </a:r>
            <a:r>
              <a:rPr lang="zh-CN" altLang="zh-CN" sz="2400" dirty="0"/>
              <a:t>）总线控制电路与内部暂存寄存器。</a:t>
            </a:r>
            <a:endParaRPr lang="zh-CN" altLang="en-US" sz="2400" dirty="0"/>
          </a:p>
        </p:txBody>
      </p:sp>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59435" name="Rectangle 11"/>
          <p:cNvSpPr>
            <a:spLocks noGrp="1" noChangeArrowheads="1"/>
          </p:cNvSpPr>
          <p:nvPr>
            <p:ph idx="1"/>
          </p:nvPr>
        </p:nvSpPr>
        <p:spPr>
          <a:xfrm>
            <a:off x="2228850" y="6491288"/>
            <a:ext cx="4411663" cy="355600"/>
          </a:xfrm>
          <a:ln>
            <a:miter/>
          </a:ln>
        </p:spPr>
        <p:txBody>
          <a:bodyPr vert="horz" wrap="square" lIns="92075" tIns="46038" rIns="92075" bIns="46038" numCol="1" anchor="t" anchorCtr="0" compatLnSpc="1"/>
          <a:lstStyle/>
          <a:p>
            <a:pPr marL="342900" marR="0" lvl="0" indent="-342900" algn="ctr" defTabSz="914400" rtl="0" eaLnBrk="1" fontAlgn="base" latinLnBrk="0" hangingPunct="1">
              <a:lnSpc>
                <a:spcPts val="1560"/>
              </a:lnSpc>
              <a:spcBef>
                <a:spcPts val="600"/>
              </a:spcBef>
              <a:spcAft>
                <a:spcPts val="600"/>
              </a:spcAft>
              <a:buClr>
                <a:schemeClr val="accent2"/>
              </a:buClr>
              <a:buSzPct val="70000"/>
              <a:buFont typeface="Wingdings" panose="05000000000000000000" pitchFamily="2" charset="2"/>
              <a:buNone/>
              <a:defRPr/>
            </a:pPr>
            <a:r>
              <a:rPr kumimoji="1" lang="zh-CN" altLang="zh-CN" sz="2000" b="1" i="0" u="none" strike="noStrike" kern="900" cap="none" spc="0" normalizeH="0" baseline="0" noProof="0" dirty="0">
                <a:ln>
                  <a:noFill/>
                </a:ln>
                <a:solidFill>
                  <a:schemeClr val="tx1"/>
                </a:solidFill>
                <a:effectLst/>
                <a:uLnTx/>
                <a:uFillTx/>
                <a:latin typeface="+mn-lt"/>
                <a:ea typeface="+mn-ea"/>
                <a:cs typeface="Arial" panose="020B0604020202020204"/>
              </a:rPr>
              <a:t>图</a:t>
            </a:r>
            <a:r>
              <a:rPr kumimoji="1" lang="en-US" altLang="zh-CN" sz="2000" b="1" i="0" u="none" strike="noStrike" kern="900" cap="none" spc="0" normalizeH="0" baseline="0" noProof="0" dirty="0">
                <a:ln>
                  <a:noFill/>
                </a:ln>
                <a:solidFill>
                  <a:schemeClr val="tx1"/>
                </a:solidFill>
                <a:effectLst/>
                <a:uLnTx/>
                <a:uFillTx/>
                <a:latin typeface="+mn-lt"/>
                <a:ea typeface="+mn-ea"/>
                <a:cs typeface="Arial" panose="020B0604020202020204"/>
              </a:rPr>
              <a:t>2-1  8086</a:t>
            </a:r>
            <a:r>
              <a:rPr kumimoji="1" lang="zh-CN" altLang="zh-CN" sz="2000" b="1" i="0" u="none" strike="noStrike" kern="900" cap="none" spc="0" normalizeH="0" baseline="0" noProof="0" dirty="0">
                <a:ln>
                  <a:noFill/>
                </a:ln>
                <a:solidFill>
                  <a:schemeClr val="tx1"/>
                </a:solidFill>
                <a:effectLst/>
                <a:uLnTx/>
                <a:uFillTx/>
                <a:latin typeface="+mn-lt"/>
                <a:ea typeface="+mn-ea"/>
                <a:cs typeface="Arial" panose="020B0604020202020204"/>
              </a:rPr>
              <a:t>的逻辑结构</a:t>
            </a:r>
            <a:endParaRPr kumimoji="1" lang="zh-CN" altLang="en-US" sz="2800" b="1" i="0" u="none" strike="noStrike" kern="0" cap="none" spc="0" normalizeH="0" baseline="0" noProof="0" dirty="0">
              <a:ln>
                <a:noFill/>
              </a:ln>
              <a:solidFill>
                <a:schemeClr val="tx1"/>
              </a:solidFill>
              <a:effectLst/>
              <a:uLnTx/>
              <a:uFillTx/>
              <a:latin typeface="+mn-lt"/>
              <a:ea typeface="+mn-ea"/>
              <a:cs typeface="+mn-cs"/>
            </a:endParaRPr>
          </a:p>
        </p:txBody>
      </p:sp>
      <p:pic>
        <p:nvPicPr>
          <p:cNvPr id="44035" name="Picture 2" descr="2"/>
          <p:cNvPicPr>
            <a:picLocks noChangeAspect="1"/>
          </p:cNvPicPr>
          <p:nvPr/>
        </p:nvPicPr>
        <p:blipFill>
          <a:blip r:embed="rId4"/>
          <a:stretch>
            <a:fillRect/>
          </a:stretch>
        </p:blipFill>
        <p:spPr>
          <a:xfrm>
            <a:off x="287338" y="201613"/>
            <a:ext cx="8569325" cy="6097587"/>
          </a:xfrm>
          <a:prstGeom prst="rect">
            <a:avLst/>
          </a:prstGeom>
          <a:noFill/>
          <a:ln w="9525">
            <a:noFill/>
          </a:ln>
        </p:spPr>
      </p:pic>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2.1.1  8086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微处理器的逻辑结构</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4608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46083" name="内容占位符 4"/>
          <p:cNvSpPr>
            <a:spLocks noGrp="1"/>
          </p:cNvSpPr>
          <p:nvPr>
            <p:ph idx="1"/>
          </p:nvPr>
        </p:nvSpPr>
        <p:spPr>
          <a:xfrm>
            <a:off x="249238" y="1866900"/>
            <a:ext cx="8494712" cy="4667250"/>
          </a:xfrm>
          <a:ln/>
        </p:spPr>
        <p:txBody>
          <a:bodyPr wrap="square" lIns="92075" tIns="46038" rIns="92075" bIns="46038" anchor="t" anchorCtr="0"/>
          <a:lstStyle/>
          <a:p>
            <a:pPr algn="just" eaLnBrk="1" hangingPunct="1">
              <a:buNone/>
            </a:pPr>
            <a:r>
              <a:rPr lang="en-US" altLang="zh-CN" sz="2400" dirty="0"/>
              <a:t>     2</a:t>
            </a:r>
            <a:r>
              <a:rPr lang="zh-CN" altLang="zh-CN" sz="2400" dirty="0"/>
              <a:t>．执行部件</a:t>
            </a:r>
          </a:p>
          <a:p>
            <a:pPr algn="just" eaLnBrk="1" hangingPunct="1">
              <a:buNone/>
            </a:pPr>
            <a:r>
              <a:rPr lang="en-US" altLang="zh-CN" sz="2400" dirty="0"/>
              <a:t>             </a:t>
            </a:r>
            <a:r>
              <a:rPr lang="zh-CN" altLang="zh-CN" sz="2400" dirty="0"/>
              <a:t>执行部件的功能是从总线接口单元的指令队列中取出指令代码并执行。具体过程如下</a:t>
            </a:r>
            <a:r>
              <a:rPr lang="en-US" altLang="zh-CN" sz="2400" dirty="0"/>
              <a:t>:</a:t>
            </a:r>
            <a:endParaRPr lang="zh-CN" altLang="zh-CN" sz="2400" dirty="0"/>
          </a:p>
          <a:p>
            <a:pPr algn="just" eaLnBrk="1" hangingPunct="1">
              <a:buNone/>
            </a:pPr>
            <a:r>
              <a:rPr lang="en-US" altLang="zh-CN" sz="2400" dirty="0"/>
              <a:t>   </a:t>
            </a:r>
            <a:r>
              <a:rPr lang="zh-CN" altLang="zh-CN" sz="2400" dirty="0"/>
              <a:t>（</a:t>
            </a:r>
            <a:r>
              <a:rPr lang="en-US" altLang="zh-CN" sz="2400" dirty="0"/>
              <a:t>1</a:t>
            </a:r>
            <a:r>
              <a:rPr lang="zh-CN" altLang="zh-CN" sz="2400" dirty="0"/>
              <a:t>）从</a:t>
            </a:r>
            <a:r>
              <a:rPr lang="en-US" altLang="zh-CN" sz="2400" dirty="0"/>
              <a:t>BIU</a:t>
            </a:r>
            <a:r>
              <a:rPr lang="zh-CN" altLang="zh-CN" sz="2400" dirty="0"/>
              <a:t>的指令队列中取出指令，由控制器单元内部的指令译码器进行译码，同时将译码信息发给各部件并发出相应的控制信号。</a:t>
            </a:r>
          </a:p>
          <a:p>
            <a:pPr algn="just" eaLnBrk="1" hangingPunct="1">
              <a:buNone/>
            </a:pPr>
            <a:r>
              <a:rPr lang="en-US" altLang="zh-CN" sz="2400" dirty="0"/>
              <a:t>   </a:t>
            </a:r>
            <a:r>
              <a:rPr lang="zh-CN" altLang="zh-CN" sz="2400" dirty="0"/>
              <a:t>（</a:t>
            </a:r>
            <a:r>
              <a:rPr lang="en-US" altLang="zh-CN" sz="2400" dirty="0"/>
              <a:t>2</a:t>
            </a:r>
            <a:r>
              <a:rPr lang="zh-CN" altLang="zh-CN" sz="2400" dirty="0"/>
              <a:t>）对操作数进行算术或逻辑运算，并将运算结果的特征状态保存到标志寄存器中。</a:t>
            </a:r>
          </a:p>
          <a:p>
            <a:pPr algn="just" eaLnBrk="1" hangingPunct="1">
              <a:buNone/>
            </a:pPr>
            <a:r>
              <a:rPr lang="en-US" altLang="zh-CN" sz="2400" dirty="0"/>
              <a:t>   </a:t>
            </a:r>
            <a:r>
              <a:rPr lang="zh-CN" altLang="zh-CN" sz="2400" dirty="0"/>
              <a:t>（</a:t>
            </a:r>
            <a:r>
              <a:rPr lang="en-US" altLang="zh-CN" sz="2400" dirty="0"/>
              <a:t>3</a:t>
            </a:r>
            <a:r>
              <a:rPr lang="zh-CN" altLang="zh-CN" sz="2400" dirty="0"/>
              <a:t>）控制</a:t>
            </a:r>
            <a:r>
              <a:rPr lang="en-US" altLang="zh-CN" sz="2400" dirty="0"/>
              <a:t>BIU</a:t>
            </a:r>
            <a:r>
              <a:rPr lang="zh-CN" altLang="zh-CN" sz="2400" dirty="0"/>
              <a:t>与存储器或</a:t>
            </a:r>
            <a:r>
              <a:rPr lang="en-US" altLang="zh-CN" sz="2400" dirty="0"/>
              <a:t>I/O</a:t>
            </a:r>
            <a:r>
              <a:rPr lang="zh-CN" altLang="zh-CN" sz="2400" dirty="0"/>
              <a:t>端口进行数据变换，并提供访问存储器和</a:t>
            </a:r>
            <a:r>
              <a:rPr lang="en-US" altLang="zh-CN" sz="2400" dirty="0"/>
              <a:t>I/O</a:t>
            </a:r>
            <a:r>
              <a:rPr lang="zh-CN" altLang="zh-CN" sz="2400" dirty="0"/>
              <a:t>端口的有效地址。</a:t>
            </a: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2.1.1  8086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微处理器的逻辑结构</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4813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48131" name="内容占位符 4"/>
          <p:cNvSpPr>
            <a:spLocks noGrp="1"/>
          </p:cNvSpPr>
          <p:nvPr>
            <p:ph idx="1"/>
          </p:nvPr>
        </p:nvSpPr>
        <p:spPr>
          <a:xfrm>
            <a:off x="169863" y="1370013"/>
            <a:ext cx="8494712" cy="5216525"/>
          </a:xfrm>
          <a:ln/>
        </p:spPr>
        <p:txBody>
          <a:bodyPr wrap="square" lIns="92075" tIns="46038" rIns="92075" bIns="46038" anchor="t" anchorCtr="0"/>
          <a:lstStyle/>
          <a:p>
            <a:pPr algn="just" eaLnBrk="1" hangingPunct="1">
              <a:buNone/>
            </a:pPr>
            <a:r>
              <a:rPr lang="en-US" altLang="zh-CN" sz="2400" dirty="0"/>
              <a:t>      EU</a:t>
            </a:r>
            <a:r>
              <a:rPr lang="zh-CN" altLang="zh-CN" sz="2400" dirty="0"/>
              <a:t>各组成部分的功能如下</a:t>
            </a:r>
            <a:r>
              <a:rPr lang="en-US" altLang="zh-CN" sz="2400" dirty="0"/>
              <a:t>:</a:t>
            </a:r>
            <a:endParaRPr lang="zh-CN" altLang="zh-CN" sz="2400" dirty="0"/>
          </a:p>
          <a:p>
            <a:pPr algn="just" eaLnBrk="1" hangingPunct="1">
              <a:buNone/>
            </a:pPr>
            <a:r>
              <a:rPr lang="en-US" altLang="zh-CN" sz="2400" dirty="0"/>
              <a:t>   </a:t>
            </a:r>
            <a:r>
              <a:rPr lang="zh-CN" altLang="zh-CN" sz="2400" dirty="0"/>
              <a:t>（</a:t>
            </a:r>
            <a:r>
              <a:rPr lang="en-US" altLang="zh-CN" sz="2400" dirty="0"/>
              <a:t>1</a:t>
            </a:r>
            <a:r>
              <a:rPr lang="zh-CN" altLang="zh-CN" sz="2400" dirty="0"/>
              <a:t>）算术逻辑单元</a:t>
            </a:r>
            <a:r>
              <a:rPr lang="en-US" altLang="zh-CN" sz="2400" dirty="0"/>
              <a:t>ALU</a:t>
            </a:r>
            <a:r>
              <a:rPr lang="zh-CN" altLang="zh-CN" sz="2400" dirty="0"/>
              <a:t>。</a:t>
            </a:r>
            <a:r>
              <a:rPr lang="en-US" altLang="zh-CN" sz="2400" dirty="0"/>
              <a:t>ALU</a:t>
            </a:r>
            <a:r>
              <a:rPr lang="zh-CN" altLang="zh-CN" sz="2400" dirty="0"/>
              <a:t>可用于进行算术逻辑运算，也可按照指令的寻址方式算出寻址单元</a:t>
            </a:r>
            <a:r>
              <a:rPr lang="en-US" altLang="zh-CN" sz="2400" dirty="0"/>
              <a:t>16</a:t>
            </a:r>
            <a:r>
              <a:rPr lang="zh-CN" altLang="zh-CN" sz="2400" dirty="0"/>
              <a:t>位偏移量。</a:t>
            </a:r>
          </a:p>
          <a:p>
            <a:pPr algn="just" eaLnBrk="1" hangingPunct="1">
              <a:buNone/>
            </a:pPr>
            <a:r>
              <a:rPr lang="en-US" altLang="zh-CN" sz="2400" dirty="0"/>
              <a:t>   </a:t>
            </a:r>
            <a:r>
              <a:rPr lang="zh-CN" altLang="zh-CN" sz="2400" dirty="0"/>
              <a:t>（</a:t>
            </a:r>
            <a:r>
              <a:rPr lang="en-US" altLang="zh-CN" sz="2400" dirty="0"/>
              <a:t>2</a:t>
            </a:r>
            <a:r>
              <a:rPr lang="zh-CN" altLang="zh-CN" sz="2400" dirty="0"/>
              <a:t>）标志寄存器</a:t>
            </a:r>
            <a:r>
              <a:rPr lang="en-US" altLang="zh-CN" sz="2400" dirty="0"/>
              <a:t>FLAGS</a:t>
            </a:r>
            <a:r>
              <a:rPr lang="zh-CN" altLang="zh-CN" sz="2400" dirty="0"/>
              <a:t>。它用来反映</a:t>
            </a:r>
            <a:r>
              <a:rPr lang="en-US" altLang="zh-CN" sz="2400" dirty="0"/>
              <a:t>CPU</a:t>
            </a:r>
            <a:r>
              <a:rPr lang="zh-CN" altLang="zh-CN" sz="2400" dirty="0"/>
              <a:t>最后一次运算结果的状态特征或存放控制标志。</a:t>
            </a:r>
          </a:p>
          <a:p>
            <a:pPr algn="just" eaLnBrk="1" hangingPunct="1">
              <a:buNone/>
            </a:pPr>
            <a:r>
              <a:rPr lang="en-US" altLang="zh-CN" sz="2400" dirty="0"/>
              <a:t>   </a:t>
            </a:r>
            <a:r>
              <a:rPr lang="zh-CN" altLang="zh-CN" sz="2400" dirty="0"/>
              <a:t>（</a:t>
            </a:r>
            <a:r>
              <a:rPr lang="en-US" altLang="zh-CN" sz="2400" dirty="0"/>
              <a:t>3</a:t>
            </a:r>
            <a:r>
              <a:rPr lang="zh-CN" altLang="zh-CN" sz="2400" dirty="0"/>
              <a:t>）数据暂存寄存器。它协助</a:t>
            </a:r>
            <a:r>
              <a:rPr lang="en-US" altLang="zh-CN" sz="2400" dirty="0"/>
              <a:t>ALU</a:t>
            </a:r>
            <a:r>
              <a:rPr lang="zh-CN" altLang="zh-CN" sz="2400" dirty="0"/>
              <a:t>完成运算，暂时存放参加运算的数据。</a:t>
            </a:r>
          </a:p>
          <a:p>
            <a:pPr algn="just" eaLnBrk="1" hangingPunct="1">
              <a:buNone/>
            </a:pPr>
            <a:r>
              <a:rPr lang="en-US" altLang="zh-CN" sz="2400" dirty="0"/>
              <a:t>   </a:t>
            </a:r>
            <a:r>
              <a:rPr lang="zh-CN" altLang="zh-CN" sz="2400" dirty="0"/>
              <a:t>（</a:t>
            </a:r>
            <a:r>
              <a:rPr lang="en-US" altLang="zh-CN" sz="2400" dirty="0"/>
              <a:t>4</a:t>
            </a:r>
            <a:r>
              <a:rPr lang="zh-CN" altLang="zh-CN" sz="2400" dirty="0"/>
              <a:t>）通用寄存器组。它包括</a:t>
            </a:r>
            <a:r>
              <a:rPr lang="en-US" altLang="zh-CN" sz="2400" dirty="0"/>
              <a:t>4</a:t>
            </a:r>
            <a:r>
              <a:rPr lang="zh-CN" altLang="zh-CN" sz="2400" dirty="0"/>
              <a:t>个</a:t>
            </a:r>
            <a:r>
              <a:rPr lang="en-US" altLang="zh-CN" sz="2400" dirty="0"/>
              <a:t>16</a:t>
            </a:r>
            <a:r>
              <a:rPr lang="zh-CN" altLang="zh-CN" sz="2400" dirty="0"/>
              <a:t>位寄存器（</a:t>
            </a:r>
            <a:r>
              <a:rPr lang="en-US" altLang="zh-CN" sz="2400" dirty="0"/>
              <a:t>AX</a:t>
            </a:r>
            <a:r>
              <a:rPr lang="zh-CN" altLang="zh-CN" sz="2400" dirty="0"/>
              <a:t>、</a:t>
            </a:r>
            <a:r>
              <a:rPr lang="en-US" altLang="zh-CN" sz="2400" dirty="0"/>
              <a:t>BX</a:t>
            </a:r>
            <a:r>
              <a:rPr lang="zh-CN" altLang="zh-CN" sz="2400" dirty="0"/>
              <a:t>、</a:t>
            </a:r>
            <a:r>
              <a:rPr lang="en-US" altLang="zh-CN" sz="2400" dirty="0"/>
              <a:t>CX</a:t>
            </a:r>
            <a:r>
              <a:rPr lang="zh-CN" altLang="zh-CN" sz="2400" dirty="0"/>
              <a:t>、</a:t>
            </a:r>
            <a:r>
              <a:rPr lang="en-US" altLang="zh-CN" sz="2400" dirty="0"/>
              <a:t>DX</a:t>
            </a:r>
            <a:r>
              <a:rPr lang="zh-CN" altLang="zh-CN" sz="2400" dirty="0"/>
              <a:t>）、两个</a:t>
            </a:r>
            <a:r>
              <a:rPr lang="en-US" altLang="zh-CN" sz="2400" dirty="0"/>
              <a:t>16</a:t>
            </a:r>
            <a:r>
              <a:rPr lang="zh-CN" altLang="zh-CN" sz="2400" dirty="0"/>
              <a:t>位地址指针（</a:t>
            </a:r>
            <a:r>
              <a:rPr lang="en-US" altLang="zh-CN" sz="2400" dirty="0"/>
              <a:t>SP</a:t>
            </a:r>
            <a:r>
              <a:rPr lang="zh-CN" altLang="zh-CN" sz="2400" dirty="0"/>
              <a:t>、</a:t>
            </a:r>
            <a:r>
              <a:rPr lang="en-US" altLang="zh-CN" sz="2400" dirty="0"/>
              <a:t>BP</a:t>
            </a:r>
            <a:r>
              <a:rPr lang="zh-CN" altLang="zh-CN" sz="2400" dirty="0"/>
              <a:t>）、两个变址寄存器（</a:t>
            </a:r>
            <a:r>
              <a:rPr lang="en-US" altLang="zh-CN" sz="2400" dirty="0"/>
              <a:t>SI</a:t>
            </a:r>
            <a:r>
              <a:rPr lang="zh-CN" altLang="zh-CN" sz="2400" dirty="0"/>
              <a:t>、</a:t>
            </a:r>
            <a:r>
              <a:rPr lang="en-US" altLang="zh-CN" sz="2400" dirty="0"/>
              <a:t>DI</a:t>
            </a:r>
            <a:r>
              <a:rPr lang="zh-CN" altLang="zh-CN" sz="2400" dirty="0"/>
              <a:t>）。</a:t>
            </a:r>
          </a:p>
          <a:p>
            <a:pPr algn="just" eaLnBrk="1" hangingPunct="1">
              <a:buNone/>
            </a:pPr>
            <a:r>
              <a:rPr lang="en-US" altLang="zh-CN" sz="2400" dirty="0"/>
              <a:t>   </a:t>
            </a:r>
            <a:r>
              <a:rPr lang="zh-CN" altLang="zh-CN" sz="2400" dirty="0"/>
              <a:t>（</a:t>
            </a:r>
            <a:r>
              <a:rPr lang="en-US" altLang="zh-CN" sz="2400" dirty="0"/>
              <a:t>5</a:t>
            </a:r>
            <a:r>
              <a:rPr lang="zh-CN" altLang="zh-CN" sz="2400" dirty="0"/>
              <a:t>）</a:t>
            </a:r>
            <a:r>
              <a:rPr lang="en-US" altLang="zh-CN" sz="2400" dirty="0"/>
              <a:t>EU</a:t>
            </a:r>
            <a:r>
              <a:rPr lang="zh-CN" altLang="zh-CN" sz="2400" dirty="0"/>
              <a:t>控制电路。它是控制定时与状态的逻辑电路，接收从</a:t>
            </a:r>
            <a:r>
              <a:rPr lang="en-US" altLang="zh-CN" sz="2400" dirty="0"/>
              <a:t>BIU</a:t>
            </a:r>
            <a:r>
              <a:rPr lang="zh-CN" altLang="zh-CN" sz="2400" dirty="0"/>
              <a:t>中的指令队列取来的指令，经过指令译码形成各种定时控制信号，对</a:t>
            </a:r>
            <a:r>
              <a:rPr lang="en-US" altLang="zh-CN" sz="2400" dirty="0"/>
              <a:t>EU</a:t>
            </a:r>
            <a:r>
              <a:rPr lang="zh-CN" altLang="zh-CN" sz="2400" dirty="0"/>
              <a:t>各部件实现特定的定时操作。</a:t>
            </a: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2.1.1  8086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微处理器的逻辑结构</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5017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50179" name="内容占位符 4"/>
          <p:cNvSpPr>
            <a:spLocks noGrp="1"/>
          </p:cNvSpPr>
          <p:nvPr>
            <p:ph idx="1"/>
          </p:nvPr>
        </p:nvSpPr>
        <p:spPr>
          <a:xfrm>
            <a:off x="169863" y="1370013"/>
            <a:ext cx="8494712" cy="5216525"/>
          </a:xfrm>
          <a:ln/>
        </p:spPr>
        <p:txBody>
          <a:bodyPr wrap="square" lIns="92075" tIns="46038" rIns="92075" bIns="46038" anchor="t" anchorCtr="0"/>
          <a:lstStyle/>
          <a:p>
            <a:pPr algn="just" eaLnBrk="1" hangingPunct="1">
              <a:buNone/>
            </a:pPr>
            <a:r>
              <a:rPr lang="en-US" altLang="zh-CN" sz="2400" dirty="0"/>
              <a:t>     CPU</a:t>
            </a:r>
            <a:r>
              <a:rPr lang="zh-CN" altLang="zh-CN" sz="2400" dirty="0"/>
              <a:t>（</a:t>
            </a:r>
            <a:r>
              <a:rPr lang="en-US" altLang="zh-CN" sz="2400" dirty="0"/>
              <a:t>BIU</a:t>
            </a:r>
            <a:r>
              <a:rPr lang="zh-CN" altLang="zh-CN" sz="2400" dirty="0"/>
              <a:t>与</a:t>
            </a:r>
            <a:r>
              <a:rPr lang="en-US" altLang="zh-CN" sz="2400" dirty="0"/>
              <a:t>EU</a:t>
            </a:r>
            <a:r>
              <a:rPr lang="zh-CN" altLang="zh-CN" sz="2400" dirty="0"/>
              <a:t>）的工作过程如下</a:t>
            </a:r>
            <a:r>
              <a:rPr lang="en-US" altLang="zh-CN" sz="2400" dirty="0"/>
              <a:t>:</a:t>
            </a:r>
            <a:endParaRPr lang="zh-CN" altLang="zh-CN" sz="2400" dirty="0"/>
          </a:p>
          <a:p>
            <a:pPr algn="just" eaLnBrk="1" hangingPunct="1">
              <a:buNone/>
            </a:pPr>
            <a:r>
              <a:rPr lang="en-US" altLang="zh-CN" sz="2400" dirty="0"/>
              <a:t>             </a:t>
            </a:r>
            <a:r>
              <a:rPr lang="zh-CN" altLang="zh-CN" sz="2400" dirty="0"/>
              <a:t>首先，</a:t>
            </a:r>
            <a:r>
              <a:rPr lang="en-US" altLang="zh-CN" sz="2400" dirty="0"/>
              <a:t>EU</a:t>
            </a:r>
            <a:r>
              <a:rPr lang="zh-CN" altLang="zh-CN" sz="2400" dirty="0"/>
              <a:t>向</a:t>
            </a:r>
            <a:r>
              <a:rPr lang="en-US" altLang="zh-CN" sz="2400" dirty="0"/>
              <a:t>BIU</a:t>
            </a:r>
            <a:r>
              <a:rPr lang="zh-CN" altLang="zh-CN" sz="2400" dirty="0"/>
              <a:t>提出总线申请，</a:t>
            </a:r>
            <a:r>
              <a:rPr lang="en-US" altLang="zh-CN" sz="2400" dirty="0"/>
              <a:t>BIU</a:t>
            </a:r>
            <a:r>
              <a:rPr lang="zh-CN" altLang="zh-CN" sz="2400" dirty="0"/>
              <a:t>响应请求，将第一条指令经指令队列缓冲器后直接送至</a:t>
            </a:r>
            <a:r>
              <a:rPr lang="en-US" altLang="zh-CN" sz="2400" dirty="0"/>
              <a:t>EU</a:t>
            </a:r>
            <a:r>
              <a:rPr lang="zh-CN" altLang="zh-CN" sz="2400" dirty="0"/>
              <a:t>执行，</a:t>
            </a:r>
            <a:r>
              <a:rPr lang="en-US" altLang="zh-CN" sz="2400" dirty="0"/>
              <a:t>EU</a:t>
            </a:r>
            <a:r>
              <a:rPr lang="zh-CN" altLang="zh-CN" sz="2400" dirty="0"/>
              <a:t>将该指令译码，发出相应的控制信息。数据在</a:t>
            </a:r>
            <a:r>
              <a:rPr lang="en-US" altLang="zh-CN" sz="2400" dirty="0"/>
              <a:t>ALU</a:t>
            </a:r>
            <a:r>
              <a:rPr lang="zh-CN" altLang="zh-CN" sz="2400" dirty="0"/>
              <a:t>中进行运算，运算结果保留在标志寄存器</a:t>
            </a:r>
            <a:r>
              <a:rPr lang="en-US" altLang="zh-CN" sz="2400" dirty="0"/>
              <a:t>FLAGS</a:t>
            </a:r>
            <a:r>
              <a:rPr lang="zh-CN" altLang="zh-CN" sz="2400" dirty="0"/>
              <a:t>中，当</a:t>
            </a:r>
            <a:r>
              <a:rPr lang="en-US" altLang="zh-CN" sz="2400" dirty="0"/>
              <a:t>EU</a:t>
            </a:r>
            <a:r>
              <a:rPr lang="zh-CN" altLang="zh-CN" sz="2400" dirty="0"/>
              <a:t>从指令队列中取走指令，指令队列中出现空字节时，</a:t>
            </a:r>
            <a:r>
              <a:rPr lang="en-US" altLang="zh-CN" sz="2400" dirty="0"/>
              <a:t>BIU</a:t>
            </a:r>
            <a:r>
              <a:rPr lang="zh-CN" altLang="zh-CN" sz="2400" dirty="0"/>
              <a:t>即从内存中取出后续的指令代码放入队列中；当</a:t>
            </a:r>
            <a:r>
              <a:rPr lang="en-US" altLang="zh-CN" sz="2400" dirty="0"/>
              <a:t>EU</a:t>
            </a:r>
            <a:r>
              <a:rPr lang="zh-CN" altLang="zh-CN" sz="2400" dirty="0"/>
              <a:t>需要数据时，</a:t>
            </a:r>
            <a:r>
              <a:rPr lang="en-US" altLang="zh-CN" sz="2400" dirty="0"/>
              <a:t>BIU</a:t>
            </a:r>
            <a:r>
              <a:rPr lang="zh-CN" altLang="zh-CN" sz="2400" dirty="0"/>
              <a:t>根据</a:t>
            </a:r>
            <a:r>
              <a:rPr lang="en-US" altLang="zh-CN" sz="2400" dirty="0"/>
              <a:t>EU</a:t>
            </a:r>
            <a:r>
              <a:rPr lang="zh-CN" altLang="zh-CN" sz="2400" dirty="0"/>
              <a:t>给出的地址，从指定的内存单元或外设中取数据供</a:t>
            </a:r>
            <a:r>
              <a:rPr lang="en-US" altLang="zh-CN" sz="2400" dirty="0"/>
              <a:t>EU</a:t>
            </a:r>
            <a:r>
              <a:rPr lang="zh-CN" altLang="zh-CN" sz="2400" dirty="0"/>
              <a:t>使用；当运算结束时，</a:t>
            </a:r>
            <a:r>
              <a:rPr lang="en-US" altLang="zh-CN" sz="2400" dirty="0"/>
              <a:t>BIU</a:t>
            </a:r>
            <a:r>
              <a:rPr lang="zh-CN" altLang="zh-CN" sz="2400" dirty="0"/>
              <a:t>将运算结果送入指定的内存单元或外设。当队列空时，</a:t>
            </a:r>
            <a:r>
              <a:rPr lang="en-US" altLang="zh-CN" sz="2400" dirty="0"/>
              <a:t>EU</a:t>
            </a:r>
            <a:r>
              <a:rPr lang="zh-CN" altLang="zh-CN" sz="2400" dirty="0"/>
              <a:t>就等待，直到有指令为止。若</a:t>
            </a:r>
            <a:r>
              <a:rPr lang="en-US" altLang="zh-CN" sz="2400" dirty="0"/>
              <a:t>BIU</a:t>
            </a:r>
            <a:r>
              <a:rPr lang="zh-CN" altLang="zh-CN" sz="2400" dirty="0"/>
              <a:t>正在取指令，</a:t>
            </a:r>
            <a:r>
              <a:rPr lang="en-US" altLang="zh-CN" sz="2400" dirty="0"/>
              <a:t>EU</a:t>
            </a:r>
            <a:r>
              <a:rPr lang="zh-CN" altLang="zh-CN" sz="2400" dirty="0"/>
              <a:t>发出访问总线请求时，则必须等</a:t>
            </a:r>
            <a:r>
              <a:rPr lang="en-US" altLang="zh-CN" sz="2400" dirty="0"/>
              <a:t>BIU</a:t>
            </a:r>
            <a:r>
              <a:rPr lang="zh-CN" altLang="zh-CN" sz="2400" dirty="0"/>
              <a:t>取指令完毕后请求才能得到响应，一般情况下，程序顺序进行，当遇到跳转指令时，</a:t>
            </a:r>
            <a:r>
              <a:rPr lang="en-US" altLang="zh-CN" sz="2400" dirty="0"/>
              <a:t>BIU</a:t>
            </a:r>
            <a:r>
              <a:rPr lang="zh-CN" altLang="zh-CN" sz="2400" dirty="0"/>
              <a:t>使指令队列复位，从新地址取出指令，并立即传给</a:t>
            </a:r>
            <a:r>
              <a:rPr lang="en-US" altLang="zh-CN" sz="2400" dirty="0"/>
              <a:t>EU</a:t>
            </a:r>
            <a:r>
              <a:rPr lang="zh-CN" altLang="zh-CN" sz="2400" dirty="0"/>
              <a:t>去执行。</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2.1.2  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的内部寄存器</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5222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52227" name="内容占位符 4"/>
          <p:cNvSpPr>
            <a:spLocks noGrp="1"/>
          </p:cNvSpPr>
          <p:nvPr>
            <p:ph idx="1"/>
          </p:nvPr>
        </p:nvSpPr>
        <p:spPr>
          <a:xfrm>
            <a:off x="195263" y="1584325"/>
            <a:ext cx="8494712" cy="4941888"/>
          </a:xfrm>
          <a:ln/>
        </p:spPr>
        <p:txBody>
          <a:bodyPr wrap="square" lIns="92075" tIns="46038" rIns="92075" bIns="46038" anchor="t" anchorCtr="0"/>
          <a:lstStyle/>
          <a:p>
            <a:pPr algn="just" eaLnBrk="1" hangingPunct="1">
              <a:buNone/>
            </a:pPr>
            <a:r>
              <a:rPr lang="en-US" altLang="zh-CN" sz="2400" dirty="0"/>
              <a:t>             8086/8088</a:t>
            </a:r>
            <a:r>
              <a:rPr lang="zh-CN" altLang="zh-CN" sz="2400" dirty="0"/>
              <a:t>内部有</a:t>
            </a:r>
            <a:r>
              <a:rPr lang="en-US" altLang="zh-CN" sz="2400" dirty="0"/>
              <a:t>14</a:t>
            </a:r>
            <a:r>
              <a:rPr lang="zh-CN" altLang="zh-CN" sz="2400" dirty="0"/>
              <a:t>个</a:t>
            </a:r>
            <a:r>
              <a:rPr lang="en-US" altLang="zh-CN" sz="2400" dirty="0"/>
              <a:t>16</a:t>
            </a:r>
            <a:r>
              <a:rPr lang="zh-CN" altLang="zh-CN" sz="2400" dirty="0"/>
              <a:t>位寄存器。按功能可分为三类：第一类是通用寄存器（</a:t>
            </a:r>
            <a:r>
              <a:rPr lang="en-US" altLang="zh-CN" sz="2400" dirty="0"/>
              <a:t>8</a:t>
            </a:r>
            <a:r>
              <a:rPr lang="zh-CN" altLang="zh-CN" sz="2400" dirty="0"/>
              <a:t>个），第二类是段寄存器（</a:t>
            </a:r>
            <a:r>
              <a:rPr lang="en-US" altLang="zh-CN" sz="2400" dirty="0"/>
              <a:t>4</a:t>
            </a:r>
            <a:r>
              <a:rPr lang="zh-CN" altLang="zh-CN" sz="2400" dirty="0"/>
              <a:t>个），第三类是控制寄存器（</a:t>
            </a:r>
            <a:r>
              <a:rPr lang="en-US" altLang="zh-CN" sz="2400" dirty="0"/>
              <a:t>2</a:t>
            </a:r>
            <a:r>
              <a:rPr lang="zh-CN" altLang="zh-CN" sz="2400" dirty="0"/>
              <a:t>个）。</a:t>
            </a:r>
            <a:r>
              <a:rPr lang="en-US" altLang="zh-CN" sz="2400" dirty="0"/>
              <a:t> </a:t>
            </a:r>
          </a:p>
          <a:p>
            <a:pPr algn="just" eaLnBrk="1" hangingPunct="1">
              <a:buNone/>
            </a:pPr>
            <a:r>
              <a:rPr lang="en-US" altLang="zh-CN" sz="2400" dirty="0">
                <a:sym typeface="宋体" panose="02010600030101010101" pitchFamily="2" charset="-122"/>
              </a:rPr>
              <a:t>     1.  </a:t>
            </a:r>
            <a:r>
              <a:rPr lang="zh-CN" altLang="zh-CN" sz="2400" dirty="0">
                <a:sym typeface="宋体" panose="02010600030101010101" pitchFamily="2" charset="-122"/>
              </a:rPr>
              <a:t>通用寄存器</a:t>
            </a:r>
            <a:r>
              <a:rPr lang="en-US" altLang="zh-CN" sz="2400" dirty="0"/>
              <a:t>   </a:t>
            </a:r>
            <a:endParaRPr lang="zh-CN" altLang="zh-CN" sz="2400" dirty="0"/>
          </a:p>
          <a:p>
            <a:pPr algn="just" eaLnBrk="1" hangingPunct="1">
              <a:buNone/>
            </a:pPr>
            <a:r>
              <a:rPr lang="en-US" altLang="zh-CN" sz="2400" dirty="0"/>
              <a:t>     1</a:t>
            </a:r>
            <a:r>
              <a:rPr lang="zh-CN" altLang="zh-CN" sz="2400" dirty="0"/>
              <a:t>）数据寄存器</a:t>
            </a:r>
          </a:p>
          <a:p>
            <a:pPr algn="just" eaLnBrk="1" hangingPunct="1">
              <a:buNone/>
            </a:pPr>
            <a:r>
              <a:rPr lang="en-US" altLang="zh-CN" sz="2400" dirty="0"/>
              <a:t>             </a:t>
            </a:r>
            <a:r>
              <a:rPr lang="zh-CN" altLang="zh-CN" sz="2400" dirty="0"/>
              <a:t>数据寄存器包括</a:t>
            </a:r>
            <a:r>
              <a:rPr lang="en-US" altLang="zh-CN" sz="2400" dirty="0"/>
              <a:t>AX</a:t>
            </a:r>
            <a:r>
              <a:rPr lang="zh-CN" altLang="zh-CN" sz="2400" dirty="0"/>
              <a:t>、</a:t>
            </a:r>
            <a:r>
              <a:rPr lang="en-US" altLang="zh-CN" sz="2400" dirty="0"/>
              <a:t>BX</a:t>
            </a:r>
            <a:r>
              <a:rPr lang="zh-CN" altLang="zh-CN" sz="2400" dirty="0"/>
              <a:t>、</a:t>
            </a:r>
            <a:r>
              <a:rPr lang="en-US" altLang="zh-CN" sz="2400" dirty="0"/>
              <a:t>CX</a:t>
            </a:r>
            <a:r>
              <a:rPr lang="zh-CN" altLang="zh-CN" sz="2400" dirty="0"/>
              <a:t>和</a:t>
            </a:r>
            <a:r>
              <a:rPr lang="en-US" altLang="zh-CN" sz="2400" dirty="0"/>
              <a:t>DX 4</a:t>
            </a:r>
            <a:r>
              <a:rPr lang="zh-CN" altLang="zh-CN" sz="2400" dirty="0"/>
              <a:t>个</a:t>
            </a:r>
            <a:r>
              <a:rPr lang="en-US" altLang="zh-CN" sz="2400" dirty="0"/>
              <a:t>16</a:t>
            </a:r>
            <a:r>
              <a:rPr lang="zh-CN" altLang="zh-CN" sz="2400" dirty="0"/>
              <a:t>位的寄存器，它们中的每一个又可根据需要将高</a:t>
            </a:r>
            <a:r>
              <a:rPr lang="en-US" altLang="zh-CN" sz="2400" dirty="0"/>
              <a:t>8</a:t>
            </a:r>
            <a:r>
              <a:rPr lang="zh-CN" altLang="zh-CN" sz="2400" dirty="0"/>
              <a:t>位和低</a:t>
            </a:r>
            <a:r>
              <a:rPr lang="en-US" altLang="zh-CN" sz="2400" dirty="0"/>
              <a:t>8</a:t>
            </a:r>
            <a:r>
              <a:rPr lang="zh-CN" altLang="zh-CN" sz="2400" dirty="0"/>
              <a:t>位当作两个独立的</a:t>
            </a:r>
            <a:r>
              <a:rPr lang="en-US" altLang="zh-CN" sz="2400" dirty="0"/>
              <a:t>8</a:t>
            </a:r>
            <a:r>
              <a:rPr lang="zh-CN" altLang="zh-CN" sz="2400" dirty="0"/>
              <a:t>位寄存器使用。</a:t>
            </a:r>
            <a:r>
              <a:rPr lang="en-US" altLang="zh-CN" sz="2400" dirty="0"/>
              <a:t>16</a:t>
            </a:r>
            <a:r>
              <a:rPr lang="zh-CN" altLang="zh-CN" sz="2400" dirty="0"/>
              <a:t>位寄存器主要用于存放</a:t>
            </a:r>
            <a:r>
              <a:rPr lang="en-US" altLang="zh-CN" sz="2400" dirty="0"/>
              <a:t>CPU</a:t>
            </a:r>
            <a:r>
              <a:rPr lang="zh-CN" altLang="zh-CN" sz="2400" dirty="0"/>
              <a:t>的常用数据，也可用来存放地址。</a:t>
            </a:r>
            <a:endParaRPr lang="en-US" altLang="zh-CN" sz="2400" dirty="0"/>
          </a:p>
          <a:p>
            <a:pPr algn="just" eaLnBrk="1" hangingPunct="1">
              <a:buNone/>
            </a:pPr>
            <a:r>
              <a:rPr lang="en-US" altLang="zh-CN" sz="2400" dirty="0"/>
              <a:t>     2</a:t>
            </a:r>
            <a:r>
              <a:rPr lang="zh-CN" altLang="zh-CN" sz="2400" dirty="0"/>
              <a:t>）地址指针和变址寄存器</a:t>
            </a:r>
          </a:p>
          <a:p>
            <a:pPr algn="just" eaLnBrk="1" hangingPunct="1">
              <a:buNone/>
            </a:pPr>
            <a:r>
              <a:rPr lang="en-US" altLang="zh-CN" sz="2400" dirty="0"/>
              <a:t>             </a:t>
            </a:r>
            <a:r>
              <a:rPr lang="zh-CN" altLang="zh-CN" sz="2400" dirty="0"/>
              <a:t>地址指针和变址寄存器包括</a:t>
            </a:r>
            <a:r>
              <a:rPr lang="en-US" altLang="zh-CN" sz="2400" dirty="0"/>
              <a:t>SP</a:t>
            </a:r>
            <a:r>
              <a:rPr lang="zh-CN" altLang="zh-CN" sz="2400" dirty="0"/>
              <a:t>、</a:t>
            </a:r>
            <a:r>
              <a:rPr lang="en-US" altLang="zh-CN" sz="2400" dirty="0"/>
              <a:t>BP</a:t>
            </a:r>
            <a:r>
              <a:rPr lang="zh-CN" altLang="zh-CN" sz="2400" dirty="0"/>
              <a:t>、</a:t>
            </a:r>
            <a:r>
              <a:rPr lang="en-US" altLang="zh-CN" sz="2400" dirty="0"/>
              <a:t>SI</a:t>
            </a:r>
            <a:r>
              <a:rPr lang="zh-CN" altLang="zh-CN" sz="2400" dirty="0"/>
              <a:t>和</a:t>
            </a:r>
            <a:r>
              <a:rPr lang="en-US" altLang="zh-CN" sz="2400" dirty="0"/>
              <a:t>DI</a:t>
            </a:r>
            <a:r>
              <a:rPr lang="zh-CN" altLang="zh-CN" sz="2400" dirty="0"/>
              <a:t>。设置地址指针和变址寄存器的目的。地址指针和变址寄存器功能。</a:t>
            </a: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2.1.2  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的内部寄存器</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5427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54275" name="内容占位符 4"/>
          <p:cNvSpPr>
            <a:spLocks noGrp="1"/>
          </p:cNvSpPr>
          <p:nvPr>
            <p:ph idx="1"/>
          </p:nvPr>
        </p:nvSpPr>
        <p:spPr>
          <a:xfrm>
            <a:off x="169863" y="1698625"/>
            <a:ext cx="8494712" cy="4764088"/>
          </a:xfrm>
          <a:ln/>
        </p:spPr>
        <p:txBody>
          <a:bodyPr wrap="square" lIns="92075" tIns="46038" rIns="92075" bIns="46038" anchor="t" anchorCtr="0"/>
          <a:lstStyle/>
          <a:p>
            <a:pPr algn="just" eaLnBrk="1" hangingPunct="1">
              <a:buNone/>
            </a:pPr>
            <a:r>
              <a:rPr lang="en-US" altLang="zh-CN" sz="2400" dirty="0"/>
              <a:t>     2</a:t>
            </a:r>
            <a:r>
              <a:rPr lang="zh-CN" altLang="zh-CN" sz="2400" dirty="0"/>
              <a:t>．段寄存器</a:t>
            </a:r>
          </a:p>
          <a:p>
            <a:pPr algn="just" eaLnBrk="1" hangingPunct="1">
              <a:buNone/>
            </a:pPr>
            <a:r>
              <a:rPr lang="en-US" altLang="zh-CN" sz="2400" dirty="0"/>
              <a:t>              CS</a:t>
            </a:r>
            <a:r>
              <a:rPr lang="zh-CN" altLang="zh-CN" sz="2400" dirty="0"/>
              <a:t>（</a:t>
            </a:r>
            <a:r>
              <a:rPr lang="en-US" altLang="zh-CN" sz="2400" dirty="0"/>
              <a:t>Code Segment</a:t>
            </a:r>
            <a:r>
              <a:rPr lang="zh-CN" altLang="zh-CN" sz="2400" dirty="0"/>
              <a:t>）称为代码段寄存器，</a:t>
            </a:r>
            <a:r>
              <a:rPr lang="en-US" altLang="zh-CN" sz="2400" dirty="0"/>
              <a:t>SS</a:t>
            </a:r>
            <a:r>
              <a:rPr lang="zh-CN" altLang="zh-CN" sz="2400" dirty="0"/>
              <a:t>（</a:t>
            </a:r>
            <a:r>
              <a:rPr lang="en-US" altLang="zh-CN" sz="2400" dirty="0"/>
              <a:t>Stack Segment</a:t>
            </a:r>
            <a:r>
              <a:rPr lang="zh-CN" altLang="zh-CN" sz="2400" dirty="0"/>
              <a:t>）称为堆栈段寄存器，</a:t>
            </a:r>
            <a:r>
              <a:rPr lang="en-US" altLang="zh-CN" sz="2400" dirty="0"/>
              <a:t>DS</a:t>
            </a:r>
            <a:r>
              <a:rPr lang="zh-CN" altLang="zh-CN" sz="2400" dirty="0"/>
              <a:t>（</a:t>
            </a:r>
            <a:r>
              <a:rPr lang="en-US" altLang="zh-CN" sz="2400" dirty="0"/>
              <a:t>Data Segment</a:t>
            </a:r>
            <a:r>
              <a:rPr lang="zh-CN" altLang="zh-CN" sz="2400" dirty="0"/>
              <a:t>）称为数据段寄存器，</a:t>
            </a:r>
            <a:r>
              <a:rPr lang="en-US" altLang="zh-CN" sz="2400" dirty="0"/>
              <a:t>ES</a:t>
            </a:r>
            <a:r>
              <a:rPr lang="zh-CN" altLang="zh-CN" sz="2400" dirty="0"/>
              <a:t>（</a:t>
            </a:r>
            <a:r>
              <a:rPr lang="en-US" altLang="zh-CN" sz="2400" dirty="0"/>
              <a:t>Extra Segment</a:t>
            </a:r>
            <a:r>
              <a:rPr lang="zh-CN" altLang="zh-CN" sz="2400" dirty="0"/>
              <a:t>）称为附加段寄存器，段寄存器用于存放段基值。</a:t>
            </a:r>
            <a:endParaRPr lang="en-US" altLang="zh-CN" sz="2400" dirty="0"/>
          </a:p>
          <a:p>
            <a:pPr algn="just" eaLnBrk="1" hangingPunct="1">
              <a:buNone/>
            </a:pPr>
            <a:r>
              <a:rPr lang="en-US" altLang="zh-CN" sz="2400" dirty="0"/>
              <a:t>             </a:t>
            </a:r>
            <a:r>
              <a:rPr lang="zh-CN" altLang="zh-CN" sz="2400" dirty="0"/>
              <a:t>存储器分段就是将</a:t>
            </a:r>
            <a:r>
              <a:rPr lang="en-US" altLang="zh-CN" sz="2400" dirty="0"/>
              <a:t>1MB</a:t>
            </a:r>
            <a:r>
              <a:rPr lang="zh-CN" altLang="zh-CN" sz="2400" dirty="0"/>
              <a:t>存储空间划分成若干独立的逻辑段，每个逻辑段最多由</a:t>
            </a:r>
            <a:r>
              <a:rPr lang="en-US" altLang="zh-CN" sz="2400" dirty="0"/>
              <a:t>64KB</a:t>
            </a:r>
            <a:r>
              <a:rPr lang="zh-CN" altLang="zh-CN" sz="2400" dirty="0"/>
              <a:t>连续单元组成。这里要求每个逻辑段的起始地址必须是被</a:t>
            </a:r>
            <a:r>
              <a:rPr lang="en-US" altLang="zh-CN" sz="2400" dirty="0"/>
              <a:t>16</a:t>
            </a:r>
            <a:r>
              <a:rPr lang="zh-CN" altLang="zh-CN" sz="2400" dirty="0"/>
              <a:t>整除的地址，即</a:t>
            </a:r>
            <a:r>
              <a:rPr lang="en-US" altLang="zh-CN" sz="2400" dirty="0"/>
              <a:t>20</a:t>
            </a:r>
            <a:r>
              <a:rPr lang="zh-CN" altLang="zh-CN" sz="2400" dirty="0"/>
              <a:t>位段起始地址的低</a:t>
            </a:r>
            <a:r>
              <a:rPr lang="en-US" altLang="zh-CN" sz="2400" dirty="0"/>
              <a:t>4</a:t>
            </a:r>
            <a:r>
              <a:rPr lang="zh-CN" altLang="zh-CN" sz="2400" dirty="0"/>
              <a:t>位二进制代码必须是</a:t>
            </a:r>
            <a:r>
              <a:rPr lang="en-US" altLang="zh-CN" sz="2400" dirty="0"/>
              <a:t>0</a:t>
            </a:r>
            <a:r>
              <a:rPr lang="zh-CN" altLang="zh-CN" sz="2400" dirty="0"/>
              <a:t>，而把一个段起始地址剩下的高</a:t>
            </a:r>
            <a:r>
              <a:rPr lang="en-US" altLang="zh-CN" sz="2400" dirty="0"/>
              <a:t>16</a:t>
            </a:r>
            <a:r>
              <a:rPr lang="zh-CN" altLang="zh-CN" sz="2400" dirty="0"/>
              <a:t>位称为该段的段基值，并存放在段寄存器中。存储器地址空间被划分成若干个逻辑段后，每个存储单元的逻辑地址由两部分组成：段基值和偏移量（偏移地址或有效地址）。</a:t>
            </a: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grpSp>
        <p:nvGrpSpPr>
          <p:cNvPr id="56322" name="组合 20482"/>
          <p:cNvGrpSpPr/>
          <p:nvPr/>
        </p:nvGrpSpPr>
        <p:grpSpPr>
          <a:xfrm>
            <a:off x="1073150" y="1122363"/>
            <a:ext cx="6003925" cy="4752975"/>
            <a:chOff x="0" y="0"/>
            <a:chExt cx="3782" cy="2994"/>
          </a:xfrm>
        </p:grpSpPr>
        <p:sp>
          <p:nvSpPr>
            <p:cNvPr id="56323" name="矩形 20483"/>
            <p:cNvSpPr/>
            <p:nvPr/>
          </p:nvSpPr>
          <p:spPr>
            <a:xfrm>
              <a:off x="0" y="0"/>
              <a:ext cx="1006" cy="2496"/>
            </a:xfrm>
            <a:prstGeom prst="rect">
              <a:avLst/>
            </a:prstGeom>
            <a:noFill/>
            <a:ln w="28575" cap="flat" cmpd="sng">
              <a:solidFill>
                <a:srgbClr val="FF9933"/>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24" name="文本框 20484"/>
            <p:cNvSpPr txBox="1"/>
            <p:nvPr/>
          </p:nvSpPr>
          <p:spPr>
            <a:xfrm>
              <a:off x="147" y="20"/>
              <a:ext cx="817" cy="309"/>
            </a:xfrm>
            <a:prstGeom prst="rect">
              <a:avLst/>
            </a:prstGeom>
            <a:noFill/>
            <a:ln w="9525">
              <a:noFill/>
            </a:ln>
          </p:spPr>
          <p:txBody>
            <a:bodyPr lIns="18000" tIns="10800" rIns="18000" bIns="10800" anchor="t" anchorCtr="0"/>
            <a:lstStyle/>
            <a:p>
              <a:pPr algn="just" eaLnBrk="0" hangingPunct="0"/>
              <a:r>
                <a:rPr lang="zh-CN" altLang="en-US" sz="2000">
                  <a:latin typeface="黑体" panose="02010609060101010101" pitchFamily="2" charset="-122"/>
                  <a:ea typeface="黑体" panose="02010609060101010101" pitchFamily="2" charset="-122"/>
                </a:rPr>
                <a:t>段寄存器</a:t>
              </a:r>
            </a:p>
          </p:txBody>
        </p:sp>
        <p:sp>
          <p:nvSpPr>
            <p:cNvPr id="56325" name="文本框 20485"/>
            <p:cNvSpPr txBox="1"/>
            <p:nvPr/>
          </p:nvSpPr>
          <p:spPr>
            <a:xfrm>
              <a:off x="135" y="339"/>
              <a:ext cx="730" cy="309"/>
            </a:xfrm>
            <a:prstGeom prst="rect">
              <a:avLst/>
            </a:prstGeom>
            <a:noFill/>
            <a:ln w="9525" cap="flat" cmpd="sng">
              <a:solidFill>
                <a:srgbClr val="000000"/>
              </a:solidFill>
              <a:prstDash val="solid"/>
              <a:miter/>
              <a:headEnd type="none" w="med" len="med"/>
              <a:tailEnd type="none" w="med" len="med"/>
            </a:ln>
          </p:spPr>
          <p:txBody>
            <a:bodyPr lIns="18000" tIns="54000" rIns="18000" bIns="10800" anchor="t" anchorCtr="0"/>
            <a:lstStyle/>
            <a:p>
              <a:pPr algn="ctr" eaLnBrk="0" hangingPunct="0"/>
              <a:r>
                <a:rPr lang="en-US" altLang="zh-CN" sz="2000">
                  <a:latin typeface="黑体" panose="02010609060101010101" pitchFamily="2" charset="-122"/>
                  <a:ea typeface="黑体" panose="02010609060101010101" pitchFamily="2" charset="-122"/>
                </a:rPr>
                <a:t>CS</a:t>
              </a:r>
            </a:p>
          </p:txBody>
        </p:sp>
        <p:sp>
          <p:nvSpPr>
            <p:cNvPr id="56326" name="文本框 20486"/>
            <p:cNvSpPr txBox="1"/>
            <p:nvPr/>
          </p:nvSpPr>
          <p:spPr>
            <a:xfrm>
              <a:off x="135" y="889"/>
              <a:ext cx="730" cy="309"/>
            </a:xfrm>
            <a:prstGeom prst="rect">
              <a:avLst/>
            </a:prstGeom>
            <a:noFill/>
            <a:ln w="9525" cap="flat" cmpd="sng">
              <a:solidFill>
                <a:srgbClr val="000000"/>
              </a:solidFill>
              <a:prstDash val="solid"/>
              <a:miter/>
              <a:headEnd type="none" w="med" len="med"/>
              <a:tailEnd type="none" w="med" len="med"/>
            </a:ln>
          </p:spPr>
          <p:txBody>
            <a:bodyPr lIns="18000" tIns="54000" rIns="18000" bIns="10800" anchor="t" anchorCtr="0"/>
            <a:lstStyle/>
            <a:p>
              <a:pPr algn="ctr" eaLnBrk="0" hangingPunct="0"/>
              <a:r>
                <a:rPr lang="en-US" altLang="zh-CN" sz="2000">
                  <a:latin typeface="黑体" panose="02010609060101010101" pitchFamily="2" charset="-122"/>
                  <a:ea typeface="黑体" panose="02010609060101010101" pitchFamily="2" charset="-122"/>
                </a:rPr>
                <a:t>SS</a:t>
              </a:r>
            </a:p>
          </p:txBody>
        </p:sp>
        <p:sp>
          <p:nvSpPr>
            <p:cNvPr id="56327" name="文本框 20487"/>
            <p:cNvSpPr txBox="1"/>
            <p:nvPr/>
          </p:nvSpPr>
          <p:spPr>
            <a:xfrm>
              <a:off x="135" y="1508"/>
              <a:ext cx="730" cy="309"/>
            </a:xfrm>
            <a:prstGeom prst="rect">
              <a:avLst/>
            </a:prstGeom>
            <a:noFill/>
            <a:ln w="9525" cap="flat" cmpd="sng">
              <a:solidFill>
                <a:srgbClr val="000000"/>
              </a:solidFill>
              <a:prstDash val="solid"/>
              <a:miter/>
              <a:headEnd type="none" w="med" len="med"/>
              <a:tailEnd type="none" w="med" len="med"/>
            </a:ln>
          </p:spPr>
          <p:txBody>
            <a:bodyPr lIns="18000" tIns="54000" rIns="18000" bIns="10800" anchor="t" anchorCtr="0"/>
            <a:lstStyle/>
            <a:p>
              <a:pPr algn="ctr" eaLnBrk="0" hangingPunct="0"/>
              <a:r>
                <a:rPr lang="en-US" altLang="zh-CN" sz="2000">
                  <a:latin typeface="黑体" panose="02010609060101010101" pitchFamily="2" charset="-122"/>
                  <a:ea typeface="黑体" panose="02010609060101010101" pitchFamily="2" charset="-122"/>
                </a:rPr>
                <a:t>DS</a:t>
              </a:r>
            </a:p>
          </p:txBody>
        </p:sp>
        <p:sp>
          <p:nvSpPr>
            <p:cNvPr id="56328" name="文本框 20488"/>
            <p:cNvSpPr txBox="1"/>
            <p:nvPr/>
          </p:nvSpPr>
          <p:spPr>
            <a:xfrm>
              <a:off x="135" y="2097"/>
              <a:ext cx="730" cy="310"/>
            </a:xfrm>
            <a:prstGeom prst="rect">
              <a:avLst/>
            </a:prstGeom>
            <a:noFill/>
            <a:ln w="9525" cap="flat" cmpd="sng">
              <a:solidFill>
                <a:srgbClr val="000000"/>
              </a:solidFill>
              <a:prstDash val="solid"/>
              <a:miter/>
              <a:headEnd type="none" w="med" len="med"/>
              <a:tailEnd type="none" w="med" len="med"/>
            </a:ln>
          </p:spPr>
          <p:txBody>
            <a:bodyPr lIns="18000" tIns="54000" rIns="18000" bIns="10800" anchor="t" anchorCtr="0"/>
            <a:lstStyle/>
            <a:p>
              <a:pPr algn="ctr" eaLnBrk="0" hangingPunct="0"/>
              <a:r>
                <a:rPr lang="en-US" altLang="zh-CN" sz="2000">
                  <a:latin typeface="黑体" panose="02010609060101010101" pitchFamily="2" charset="-122"/>
                  <a:ea typeface="黑体" panose="02010609060101010101" pitchFamily="2" charset="-122"/>
                </a:rPr>
                <a:t>ES</a:t>
              </a:r>
            </a:p>
          </p:txBody>
        </p:sp>
        <p:sp>
          <p:nvSpPr>
            <p:cNvPr id="56329" name="矩形 20489"/>
            <p:cNvSpPr/>
            <p:nvPr/>
          </p:nvSpPr>
          <p:spPr>
            <a:xfrm>
              <a:off x="2161" y="3"/>
              <a:ext cx="1621" cy="2498"/>
            </a:xfrm>
            <a:prstGeom prst="rect">
              <a:avLst/>
            </a:prstGeom>
            <a:noFill/>
            <a:ln w="28575" cap="flat" cmpd="sng">
              <a:solidFill>
                <a:srgbClr val="FF9933"/>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30" name="文本框 20490"/>
            <p:cNvSpPr txBox="1"/>
            <p:nvPr/>
          </p:nvSpPr>
          <p:spPr>
            <a:xfrm>
              <a:off x="2248" y="26"/>
              <a:ext cx="1507" cy="312"/>
            </a:xfrm>
            <a:prstGeom prst="rect">
              <a:avLst/>
            </a:prstGeom>
            <a:noFill/>
            <a:ln w="9525">
              <a:noFill/>
            </a:ln>
          </p:spPr>
          <p:txBody>
            <a:bodyPr lIns="0" tIns="10800" rIns="0" bIns="10800" anchor="t" anchorCtr="0"/>
            <a:lstStyle/>
            <a:p>
              <a:pPr algn="just" eaLnBrk="0" hangingPunct="0"/>
              <a:r>
                <a:rPr lang="zh-CN" altLang="en-US" sz="2000">
                  <a:latin typeface="黑体" panose="02010609060101010101" pitchFamily="2" charset="-122"/>
                  <a:ea typeface="黑体" panose="02010609060101010101" pitchFamily="2" charset="-122"/>
                </a:rPr>
                <a:t>基址及指针寄存器</a:t>
              </a:r>
            </a:p>
          </p:txBody>
        </p:sp>
        <p:sp>
          <p:nvSpPr>
            <p:cNvPr id="56331" name="文本框 20491"/>
            <p:cNvSpPr txBox="1"/>
            <p:nvPr/>
          </p:nvSpPr>
          <p:spPr>
            <a:xfrm>
              <a:off x="2491" y="345"/>
              <a:ext cx="901" cy="255"/>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lnSpc>
                  <a:spcPct val="96000"/>
                </a:lnSpc>
              </a:pPr>
              <a:r>
                <a:rPr lang="en-US" altLang="zh-CN" sz="2000">
                  <a:latin typeface="黑体" panose="02010609060101010101" pitchFamily="2" charset="-122"/>
                  <a:ea typeface="黑体" panose="02010609060101010101" pitchFamily="2" charset="-122"/>
                </a:rPr>
                <a:t>IP</a:t>
              </a:r>
            </a:p>
          </p:txBody>
        </p:sp>
        <p:sp>
          <p:nvSpPr>
            <p:cNvPr id="56332" name="文本框 20492"/>
            <p:cNvSpPr txBox="1"/>
            <p:nvPr/>
          </p:nvSpPr>
          <p:spPr>
            <a:xfrm>
              <a:off x="2491" y="684"/>
              <a:ext cx="901" cy="256"/>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lnSpc>
                  <a:spcPct val="96000"/>
                </a:lnSpc>
              </a:pPr>
              <a:r>
                <a:rPr lang="en-US" altLang="zh-CN" sz="2000">
                  <a:latin typeface="黑体" panose="02010609060101010101" pitchFamily="2" charset="-122"/>
                  <a:ea typeface="黑体" panose="02010609060101010101" pitchFamily="2" charset="-122"/>
                </a:rPr>
                <a:t>BP</a:t>
              </a:r>
            </a:p>
          </p:txBody>
        </p:sp>
        <p:sp>
          <p:nvSpPr>
            <p:cNvPr id="56333" name="文本框 20493"/>
            <p:cNvSpPr txBox="1"/>
            <p:nvPr/>
          </p:nvSpPr>
          <p:spPr>
            <a:xfrm>
              <a:off x="2491" y="1020"/>
              <a:ext cx="901" cy="255"/>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lnSpc>
                  <a:spcPct val="96000"/>
                </a:lnSpc>
              </a:pPr>
              <a:r>
                <a:rPr lang="en-US" altLang="zh-CN" sz="2000">
                  <a:latin typeface="黑体" panose="02010609060101010101" pitchFamily="2" charset="-122"/>
                  <a:ea typeface="黑体" panose="02010609060101010101" pitchFamily="2" charset="-122"/>
                </a:rPr>
                <a:t>SP</a:t>
              </a:r>
            </a:p>
          </p:txBody>
        </p:sp>
        <p:sp>
          <p:nvSpPr>
            <p:cNvPr id="56334" name="文本框 20494"/>
            <p:cNvSpPr txBox="1"/>
            <p:nvPr/>
          </p:nvSpPr>
          <p:spPr>
            <a:xfrm>
              <a:off x="2491" y="1509"/>
              <a:ext cx="901" cy="255"/>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lnSpc>
                  <a:spcPct val="96000"/>
                </a:lnSpc>
              </a:pPr>
              <a:r>
                <a:rPr lang="en-US" altLang="zh-CN" sz="2000">
                  <a:latin typeface="黑体" panose="02010609060101010101" pitchFamily="2" charset="-122"/>
                  <a:ea typeface="黑体" panose="02010609060101010101" pitchFamily="2" charset="-122"/>
                </a:rPr>
                <a:t>SI</a:t>
              </a:r>
            </a:p>
          </p:txBody>
        </p:sp>
        <p:sp>
          <p:nvSpPr>
            <p:cNvPr id="56335" name="文本框 20495"/>
            <p:cNvSpPr txBox="1"/>
            <p:nvPr/>
          </p:nvSpPr>
          <p:spPr>
            <a:xfrm>
              <a:off x="2491" y="1850"/>
              <a:ext cx="901" cy="255"/>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lnSpc>
                  <a:spcPct val="96000"/>
                </a:lnSpc>
              </a:pPr>
              <a:r>
                <a:rPr lang="en-US" altLang="zh-CN" sz="2000">
                  <a:latin typeface="黑体" panose="02010609060101010101" pitchFamily="2" charset="-122"/>
                  <a:ea typeface="黑体" panose="02010609060101010101" pitchFamily="2" charset="-122"/>
                </a:rPr>
                <a:t>BX</a:t>
              </a:r>
            </a:p>
          </p:txBody>
        </p:sp>
        <p:sp>
          <p:nvSpPr>
            <p:cNvPr id="56336" name="文本框 20496"/>
            <p:cNvSpPr txBox="1"/>
            <p:nvPr/>
          </p:nvSpPr>
          <p:spPr>
            <a:xfrm>
              <a:off x="2491" y="2189"/>
              <a:ext cx="901" cy="256"/>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lnSpc>
                  <a:spcPct val="96000"/>
                </a:lnSpc>
              </a:pPr>
              <a:r>
                <a:rPr lang="en-US" altLang="zh-CN" sz="2000">
                  <a:latin typeface="黑体" panose="02010609060101010101" pitchFamily="2" charset="-122"/>
                  <a:ea typeface="黑体" panose="02010609060101010101" pitchFamily="2" charset="-122"/>
                </a:rPr>
                <a:t>DI</a:t>
              </a:r>
            </a:p>
          </p:txBody>
        </p:sp>
        <p:sp>
          <p:nvSpPr>
            <p:cNvPr id="56337" name="直接连接符 20497"/>
            <p:cNvSpPr/>
            <p:nvPr/>
          </p:nvSpPr>
          <p:spPr>
            <a:xfrm>
              <a:off x="870" y="1564"/>
              <a:ext cx="1621" cy="0"/>
            </a:xfrm>
            <a:prstGeom prst="line">
              <a:avLst/>
            </a:prstGeom>
            <a:ln w="9525" cap="flat" cmpd="sng">
              <a:solidFill>
                <a:srgbClr val="FF3300"/>
              </a:solidFill>
              <a:prstDash val="solid"/>
              <a:round/>
              <a:headEnd type="none" w="med" len="med"/>
              <a:tailEnd type="stealth" w="sm" len="sm"/>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38" name="直接连接符 20498"/>
            <p:cNvSpPr/>
            <p:nvPr/>
          </p:nvSpPr>
          <p:spPr>
            <a:xfrm>
              <a:off x="1771" y="1720"/>
              <a:ext cx="720" cy="0"/>
            </a:xfrm>
            <a:prstGeom prst="line">
              <a:avLst/>
            </a:prstGeom>
            <a:ln w="9525" cap="flat" cmpd="sng">
              <a:solidFill>
                <a:srgbClr val="FF3300"/>
              </a:solidFill>
              <a:prstDash val="dash"/>
              <a:round/>
              <a:headEnd type="none" w="med" len="med"/>
              <a:tailEnd type="stealth" w="sm" len="sm"/>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39" name="直接连接符 20499"/>
            <p:cNvSpPr/>
            <p:nvPr/>
          </p:nvSpPr>
          <p:spPr>
            <a:xfrm>
              <a:off x="1771" y="2032"/>
              <a:ext cx="720" cy="0"/>
            </a:xfrm>
            <a:prstGeom prst="line">
              <a:avLst/>
            </a:prstGeom>
            <a:ln w="9525" cap="flat" cmpd="sng">
              <a:solidFill>
                <a:srgbClr val="FF3300"/>
              </a:solidFill>
              <a:prstDash val="dash"/>
              <a:round/>
              <a:headEnd type="none" w="med" len="med"/>
              <a:tailEnd type="stealth" w="sm" len="sm"/>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0" name="直接连接符 20500"/>
            <p:cNvSpPr/>
            <p:nvPr/>
          </p:nvSpPr>
          <p:spPr>
            <a:xfrm>
              <a:off x="870" y="2345"/>
              <a:ext cx="1621" cy="0"/>
            </a:xfrm>
            <a:prstGeom prst="line">
              <a:avLst/>
            </a:prstGeom>
            <a:ln w="9525" cap="flat" cmpd="sng">
              <a:solidFill>
                <a:srgbClr val="FF3300"/>
              </a:solidFill>
              <a:prstDash val="solid"/>
              <a:round/>
              <a:headEnd type="none" w="med" len="med"/>
              <a:tailEnd type="stealth" w="sm" len="sm"/>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1" name="直接连接符 20501"/>
            <p:cNvSpPr/>
            <p:nvPr/>
          </p:nvSpPr>
          <p:spPr>
            <a:xfrm>
              <a:off x="1771" y="1723"/>
              <a:ext cx="0" cy="625"/>
            </a:xfrm>
            <a:prstGeom prst="line">
              <a:avLst/>
            </a:prstGeom>
            <a:ln w="9525" cap="flat" cmpd="sng">
              <a:solidFill>
                <a:srgbClr val="FF33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2" name="直接连接符 20502"/>
            <p:cNvSpPr/>
            <p:nvPr/>
          </p:nvSpPr>
          <p:spPr>
            <a:xfrm>
              <a:off x="1951" y="1564"/>
              <a:ext cx="0" cy="658"/>
            </a:xfrm>
            <a:prstGeom prst="line">
              <a:avLst/>
            </a:prstGeom>
            <a:ln w="9525" cap="flat" cmpd="sng">
              <a:solidFill>
                <a:srgbClr val="FF33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3" name="直接连接符 20503"/>
            <p:cNvSpPr/>
            <p:nvPr/>
          </p:nvSpPr>
          <p:spPr>
            <a:xfrm>
              <a:off x="1951" y="2218"/>
              <a:ext cx="540" cy="0"/>
            </a:xfrm>
            <a:prstGeom prst="line">
              <a:avLst/>
            </a:prstGeom>
            <a:ln w="9525" cap="flat" cmpd="sng">
              <a:solidFill>
                <a:srgbClr val="FF3300"/>
              </a:solidFill>
              <a:prstDash val="dash"/>
              <a:round/>
              <a:headEnd type="none" w="med" len="med"/>
              <a:tailEnd type="stealth" w="sm" len="sm"/>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4" name="直接连接符 20504"/>
            <p:cNvSpPr/>
            <p:nvPr/>
          </p:nvSpPr>
          <p:spPr>
            <a:xfrm>
              <a:off x="1951" y="1906"/>
              <a:ext cx="540" cy="0"/>
            </a:xfrm>
            <a:prstGeom prst="line">
              <a:avLst/>
            </a:prstGeom>
            <a:ln w="9525" cap="flat" cmpd="sng">
              <a:solidFill>
                <a:srgbClr val="FF3300"/>
              </a:solidFill>
              <a:prstDash val="dash"/>
              <a:round/>
              <a:headEnd type="none" w="med" len="med"/>
              <a:tailEnd type="stealth" w="sm" len="sm"/>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5" name="直接连接符 20505"/>
            <p:cNvSpPr/>
            <p:nvPr/>
          </p:nvSpPr>
          <p:spPr>
            <a:xfrm>
              <a:off x="870" y="471"/>
              <a:ext cx="1621" cy="0"/>
            </a:xfrm>
            <a:prstGeom prst="line">
              <a:avLst/>
            </a:prstGeom>
            <a:ln w="9525" cap="flat" cmpd="sng">
              <a:solidFill>
                <a:srgbClr val="FF3300"/>
              </a:solidFill>
              <a:prstDash val="solid"/>
              <a:round/>
              <a:headEnd type="none" w="med" len="med"/>
              <a:tailEnd type="stealth" w="sm" len="sm"/>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6" name="直接连接符 20506"/>
            <p:cNvSpPr/>
            <p:nvPr/>
          </p:nvSpPr>
          <p:spPr>
            <a:xfrm>
              <a:off x="1951" y="814"/>
              <a:ext cx="540" cy="0"/>
            </a:xfrm>
            <a:prstGeom prst="line">
              <a:avLst/>
            </a:prstGeom>
            <a:ln w="9525" cap="flat" cmpd="sng">
              <a:solidFill>
                <a:srgbClr val="FF3300"/>
              </a:solidFill>
              <a:prstDash val="solid"/>
              <a:round/>
              <a:headEnd type="none" w="med" len="med"/>
              <a:tailEnd type="stealth" w="sm" len="sm"/>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7" name="直接连接符 20507"/>
            <p:cNvSpPr/>
            <p:nvPr/>
          </p:nvSpPr>
          <p:spPr>
            <a:xfrm>
              <a:off x="1951" y="1156"/>
              <a:ext cx="540" cy="0"/>
            </a:xfrm>
            <a:prstGeom prst="line">
              <a:avLst/>
            </a:prstGeom>
            <a:ln w="9525" cap="flat" cmpd="sng">
              <a:solidFill>
                <a:srgbClr val="FF3300"/>
              </a:solidFill>
              <a:prstDash val="solid"/>
              <a:round/>
              <a:headEnd type="none" w="med" len="med"/>
              <a:tailEnd type="stealth" w="sm" len="sm"/>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8" name="直接连接符 20508"/>
            <p:cNvSpPr/>
            <p:nvPr/>
          </p:nvSpPr>
          <p:spPr>
            <a:xfrm>
              <a:off x="1951" y="817"/>
              <a:ext cx="0" cy="334"/>
            </a:xfrm>
            <a:prstGeom prst="line">
              <a:avLst/>
            </a:prstGeom>
            <a:ln w="9525" cap="flat" cmpd="sng">
              <a:solidFill>
                <a:srgbClr val="FF33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49" name="直接连接符 20509"/>
            <p:cNvSpPr/>
            <p:nvPr/>
          </p:nvSpPr>
          <p:spPr>
            <a:xfrm>
              <a:off x="870" y="1021"/>
              <a:ext cx="1081" cy="0"/>
            </a:xfrm>
            <a:prstGeom prst="line">
              <a:avLst/>
            </a:prstGeom>
            <a:ln w="9525" cap="flat" cmpd="sng">
              <a:solidFill>
                <a:srgbClr val="FF33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56350" name="文本框 20510"/>
            <p:cNvSpPr txBox="1"/>
            <p:nvPr/>
          </p:nvSpPr>
          <p:spPr>
            <a:xfrm>
              <a:off x="316" y="2682"/>
              <a:ext cx="3272" cy="312"/>
            </a:xfrm>
            <a:prstGeom prst="rect">
              <a:avLst/>
            </a:prstGeom>
            <a:noFill/>
            <a:ln w="9525">
              <a:noFill/>
            </a:ln>
          </p:spPr>
          <p:txBody>
            <a:bodyPr lIns="18000" tIns="10800" rIns="18000" bIns="10800" anchor="t" anchorCtr="0"/>
            <a:lstStyle/>
            <a:p>
              <a:pPr algn="ctr" eaLnBrk="0" hangingPunct="0"/>
              <a:r>
                <a:rPr lang="zh-CN" altLang="en-US">
                  <a:solidFill>
                    <a:srgbClr val="FFFF00"/>
                  </a:solidFill>
                  <a:latin typeface="黑体" panose="02010609060101010101" pitchFamily="2" charset="-122"/>
                  <a:ea typeface="黑体" panose="02010609060101010101" pitchFamily="2" charset="-122"/>
                </a:rPr>
                <a:t>段寄存器与其它寄存器的组合</a:t>
              </a:r>
            </a:p>
          </p:txBody>
        </p:sp>
        <p:sp>
          <p:nvSpPr>
            <p:cNvPr id="56351" name="文本框 2"/>
            <p:cNvSpPr txBox="1"/>
            <p:nvPr/>
          </p:nvSpPr>
          <p:spPr>
            <a:xfrm>
              <a:off x="135" y="334"/>
              <a:ext cx="730" cy="309"/>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r>
                <a:rPr lang="en-US" altLang="zh-CN" sz="2000">
                  <a:latin typeface="黑体" panose="02010609060101010101" pitchFamily="2" charset="-122"/>
                  <a:ea typeface="黑体" panose="02010609060101010101" pitchFamily="2" charset="-122"/>
                </a:rPr>
                <a:t>CS</a:t>
              </a:r>
            </a:p>
          </p:txBody>
        </p:sp>
        <p:sp>
          <p:nvSpPr>
            <p:cNvPr id="56352" name="文本框 3"/>
            <p:cNvSpPr txBox="1"/>
            <p:nvPr/>
          </p:nvSpPr>
          <p:spPr>
            <a:xfrm>
              <a:off x="135" y="884"/>
              <a:ext cx="730" cy="309"/>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r>
                <a:rPr lang="en-US" altLang="zh-CN" sz="2000">
                  <a:latin typeface="黑体" panose="02010609060101010101" pitchFamily="2" charset="-122"/>
                  <a:ea typeface="黑体" panose="02010609060101010101" pitchFamily="2" charset="-122"/>
                </a:rPr>
                <a:t>SS</a:t>
              </a:r>
            </a:p>
          </p:txBody>
        </p:sp>
        <p:sp>
          <p:nvSpPr>
            <p:cNvPr id="56353" name="文本框 4"/>
            <p:cNvSpPr txBox="1"/>
            <p:nvPr/>
          </p:nvSpPr>
          <p:spPr>
            <a:xfrm>
              <a:off x="135" y="1503"/>
              <a:ext cx="730" cy="309"/>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r>
                <a:rPr lang="en-US" altLang="zh-CN" sz="2000">
                  <a:latin typeface="黑体" panose="02010609060101010101" pitchFamily="2" charset="-122"/>
                  <a:ea typeface="黑体" panose="02010609060101010101" pitchFamily="2" charset="-122"/>
                </a:rPr>
                <a:t>DS</a:t>
              </a:r>
            </a:p>
          </p:txBody>
        </p:sp>
        <p:sp>
          <p:nvSpPr>
            <p:cNvPr id="56354" name="文本框 5"/>
            <p:cNvSpPr txBox="1"/>
            <p:nvPr/>
          </p:nvSpPr>
          <p:spPr>
            <a:xfrm>
              <a:off x="135" y="2092"/>
              <a:ext cx="730" cy="310"/>
            </a:xfrm>
            <a:prstGeom prst="rect">
              <a:avLst/>
            </a:prstGeom>
            <a:noFill/>
            <a:ln w="9525" cap="flat" cmpd="sng">
              <a:solidFill>
                <a:srgbClr val="00CC00"/>
              </a:solidFill>
              <a:prstDash val="solid"/>
              <a:miter/>
              <a:headEnd type="none" w="med" len="med"/>
              <a:tailEnd type="none" w="med" len="med"/>
            </a:ln>
          </p:spPr>
          <p:txBody>
            <a:bodyPr lIns="18000" tIns="54000" rIns="18000" bIns="10800" anchor="t" anchorCtr="0"/>
            <a:lstStyle/>
            <a:p>
              <a:pPr algn="ctr" eaLnBrk="0" hangingPunct="0"/>
              <a:r>
                <a:rPr lang="en-US" altLang="zh-CN" sz="2000">
                  <a:latin typeface="黑体" panose="02010609060101010101" pitchFamily="2" charset="-122"/>
                  <a:ea typeface="黑体" panose="02010609060101010101" pitchFamily="2" charset="-122"/>
                </a:rPr>
                <a:t>ES</a:t>
              </a:r>
            </a:p>
          </p:txBody>
        </p:sp>
      </p:grpSp>
      <p:sp>
        <p:nvSpPr>
          <p:cNvPr id="56355" name="文本框 20511"/>
          <p:cNvSpPr txBox="1"/>
          <p:nvPr/>
        </p:nvSpPr>
        <p:spPr>
          <a:xfrm>
            <a:off x="6559550" y="2862263"/>
            <a:ext cx="2014538" cy="282575"/>
          </a:xfrm>
          <a:prstGeom prst="rect">
            <a:avLst/>
          </a:prstGeom>
          <a:noFill/>
          <a:ln w="9525">
            <a:noFill/>
          </a:ln>
        </p:spPr>
        <p:txBody>
          <a:bodyPr anchor="t" anchorCtr="0">
            <a:spAutoFit/>
          </a:bodyPr>
          <a:lstStyle/>
          <a:p>
            <a:r>
              <a:rPr lang="zh-CN" altLang="en-US" sz="1200" dirty="0">
                <a:latin typeface="Times New Roman" panose="02020603050405020304" pitchFamily="18" charset="0"/>
                <a:ea typeface="宋体" panose="02010600030101010101" pitchFamily="2" charset="-122"/>
              </a:rPr>
              <a:t>受</a:t>
            </a:r>
            <a:r>
              <a:rPr lang="en-US" altLang="zh-CN" sz="1200" dirty="0">
                <a:latin typeface="Times New Roman" panose="02020603050405020304" pitchFamily="18" charset="0"/>
                <a:ea typeface="宋体" panose="02010600030101010101" pitchFamily="2" charset="-122"/>
              </a:rPr>
              <a:t>PUSH</a:t>
            </a:r>
            <a:r>
              <a:rPr lang="zh-CN" altLang="en-US" sz="1200" dirty="0">
                <a:latin typeface="Times New Roman" panose="02020603050405020304" pitchFamily="18" charset="0"/>
                <a:ea typeface="宋体" panose="02010600030101010101" pitchFamily="2" charset="-122"/>
              </a:rPr>
              <a:t>，</a:t>
            </a:r>
            <a:r>
              <a:rPr lang="en-US" altLang="zh-CN" sz="1200" dirty="0">
                <a:latin typeface="Times New Roman" panose="02020603050405020304" pitchFamily="18" charset="0"/>
                <a:ea typeface="宋体" panose="02010600030101010101" pitchFamily="2" charset="-122"/>
              </a:rPr>
              <a:t>POP</a:t>
            </a:r>
            <a:r>
              <a:rPr lang="zh-CN" altLang="en-US" sz="1200" dirty="0">
                <a:latin typeface="Times New Roman" panose="02020603050405020304" pitchFamily="18" charset="0"/>
                <a:ea typeface="宋体" panose="02010600030101010101" pitchFamily="2" charset="-122"/>
              </a:rPr>
              <a:t>指令影响</a:t>
            </a:r>
          </a:p>
        </p:txBody>
      </p:sp>
      <p:sp>
        <p:nvSpPr>
          <p:cNvPr id="56356" name="文本框 20512"/>
          <p:cNvSpPr txBox="1"/>
          <p:nvPr/>
        </p:nvSpPr>
        <p:spPr>
          <a:xfrm>
            <a:off x="6557963" y="2284413"/>
            <a:ext cx="2016125" cy="282575"/>
          </a:xfrm>
          <a:prstGeom prst="rect">
            <a:avLst/>
          </a:prstGeom>
          <a:noFill/>
          <a:ln w="9525">
            <a:noFill/>
          </a:ln>
        </p:spPr>
        <p:txBody>
          <a:bodyPr anchor="t" anchorCtr="0">
            <a:spAutoFit/>
          </a:bodyPr>
          <a:lstStyle/>
          <a:p>
            <a:r>
              <a:rPr lang="zh-CN" altLang="en-US" sz="1200" dirty="0">
                <a:latin typeface="Times New Roman" panose="02020603050405020304" pitchFamily="18" charset="0"/>
                <a:ea typeface="宋体" panose="02010600030101010101" pitchFamily="2" charset="-122"/>
              </a:rPr>
              <a:t>不受</a:t>
            </a:r>
            <a:r>
              <a:rPr lang="en-US" altLang="zh-CN" sz="1200" dirty="0">
                <a:latin typeface="Times New Roman" panose="02020603050405020304" pitchFamily="18" charset="0"/>
                <a:ea typeface="宋体" panose="02010600030101010101" pitchFamily="2" charset="-122"/>
              </a:rPr>
              <a:t>PUSH</a:t>
            </a:r>
            <a:r>
              <a:rPr lang="zh-CN" altLang="en-US" sz="1200" dirty="0">
                <a:latin typeface="Times New Roman" panose="02020603050405020304" pitchFamily="18" charset="0"/>
                <a:ea typeface="宋体" panose="02010600030101010101" pitchFamily="2" charset="-122"/>
              </a:rPr>
              <a:t>，</a:t>
            </a:r>
            <a:r>
              <a:rPr lang="en-US" altLang="zh-CN" sz="1200" dirty="0">
                <a:latin typeface="Times New Roman" panose="02020603050405020304" pitchFamily="18" charset="0"/>
                <a:ea typeface="宋体" panose="02010600030101010101" pitchFamily="2" charset="-122"/>
              </a:rPr>
              <a:t>POP</a:t>
            </a:r>
            <a:r>
              <a:rPr lang="zh-CN" altLang="en-US" sz="1200" dirty="0">
                <a:latin typeface="Times New Roman" panose="02020603050405020304" pitchFamily="18" charset="0"/>
                <a:ea typeface="宋体" panose="02010600030101010101" pitchFamily="2" charset="-122"/>
              </a:rPr>
              <a:t>指令影响</a:t>
            </a:r>
            <a:endParaRPr lang="zh-CN" altLang="en-US" dirty="0">
              <a:latin typeface="Times New Roman" panose="02020603050405020304" pitchFamily="18" charset="0"/>
              <a:ea typeface="宋体" panose="02010600030101010101" pitchFamily="2" charset="-122"/>
            </a:endParaRPr>
          </a:p>
        </p:txBody>
      </p:sp>
      <p:sp>
        <p:nvSpPr>
          <p:cNvPr id="56357" name="文本框 20513"/>
          <p:cNvSpPr txBox="1"/>
          <p:nvPr/>
        </p:nvSpPr>
        <p:spPr>
          <a:xfrm>
            <a:off x="6562725" y="1709738"/>
            <a:ext cx="2232025" cy="282575"/>
          </a:xfrm>
          <a:prstGeom prst="rect">
            <a:avLst/>
          </a:prstGeom>
          <a:noFill/>
          <a:ln w="9525">
            <a:noFill/>
          </a:ln>
        </p:spPr>
        <p:txBody>
          <a:bodyPr anchor="t" anchorCtr="0">
            <a:spAutoFit/>
          </a:bodyPr>
          <a:lstStyle/>
          <a:p>
            <a:r>
              <a:rPr lang="zh-CN" altLang="en-US" sz="1200" dirty="0">
                <a:latin typeface="Times New Roman" panose="02020603050405020304" pitchFamily="18" charset="0"/>
                <a:ea typeface="宋体" panose="02010600030101010101" pitchFamily="2" charset="-122"/>
              </a:rPr>
              <a:t>受跳转、调用、返回指令影响</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2.1.2  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的内部寄存器</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5837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58371" name="内容占位符 4"/>
          <p:cNvSpPr>
            <a:spLocks noGrp="1"/>
          </p:cNvSpPr>
          <p:nvPr>
            <p:ph idx="1"/>
          </p:nvPr>
        </p:nvSpPr>
        <p:spPr>
          <a:xfrm>
            <a:off x="169863" y="1698625"/>
            <a:ext cx="8494712" cy="4764088"/>
          </a:xfrm>
          <a:ln/>
        </p:spPr>
        <p:txBody>
          <a:bodyPr wrap="square" lIns="92075" tIns="46038" rIns="92075" bIns="46038" anchor="t" anchorCtr="0"/>
          <a:lstStyle/>
          <a:p>
            <a:pPr algn="just" eaLnBrk="1" hangingPunct="1">
              <a:buNone/>
            </a:pPr>
            <a:r>
              <a:rPr lang="en-US" altLang="zh-CN" sz="2400" dirty="0"/>
              <a:t>             </a:t>
            </a:r>
            <a:r>
              <a:rPr lang="zh-CN" altLang="zh-CN" sz="2400" dirty="0"/>
              <a:t>在</a:t>
            </a:r>
            <a:r>
              <a:rPr lang="en-US" altLang="zh-CN" sz="2400" dirty="0"/>
              <a:t>8086/8088</a:t>
            </a:r>
            <a:r>
              <a:rPr lang="zh-CN" altLang="zh-CN" sz="2400" dirty="0"/>
              <a:t>系列微机中，每个存储单元都有两种地址，物理地址（</a:t>
            </a:r>
            <a:r>
              <a:rPr lang="en-US" altLang="zh-CN" sz="2400" dirty="0"/>
              <a:t>Physical Address</a:t>
            </a:r>
            <a:r>
              <a:rPr lang="zh-CN" altLang="zh-CN" sz="2400" dirty="0"/>
              <a:t>）和逻辑地址（</a:t>
            </a:r>
            <a:r>
              <a:rPr lang="en-US" altLang="zh-CN" sz="2400" dirty="0"/>
              <a:t>Logical Address</a:t>
            </a:r>
            <a:r>
              <a:rPr lang="zh-CN" altLang="zh-CN" sz="2400" dirty="0"/>
              <a:t>），在</a:t>
            </a:r>
            <a:r>
              <a:rPr lang="en-US" altLang="zh-CN" sz="2400" dirty="0"/>
              <a:t>1MB</a:t>
            </a:r>
            <a:r>
              <a:rPr lang="zh-CN" altLang="zh-CN" sz="2400" dirty="0"/>
              <a:t>存储空间中，每个存储单元都有唯一的</a:t>
            </a:r>
            <a:r>
              <a:rPr lang="en-US" altLang="zh-CN" sz="2400" dirty="0"/>
              <a:t>20</a:t>
            </a:r>
            <a:r>
              <a:rPr lang="zh-CN" altLang="zh-CN" sz="2400" dirty="0"/>
              <a:t>位物理地址，把程序设计中使用的地址称为逻辑地址。</a:t>
            </a:r>
          </a:p>
          <a:p>
            <a:pPr algn="just" eaLnBrk="1" hangingPunct="1">
              <a:buNone/>
            </a:pPr>
            <a:r>
              <a:rPr lang="en-US" altLang="zh-CN" sz="2400" dirty="0"/>
              <a:t>             </a:t>
            </a:r>
            <a:r>
              <a:rPr lang="zh-CN" altLang="zh-CN" sz="2400" dirty="0"/>
              <a:t>在程序设计中，使用逻辑地址不是物理地址，这样做不仅有利于程序的开始，而且对存储器的动态管理非常有利。由逻辑地址计算物理地址的方法为：把段基值乘以</a:t>
            </a:r>
            <a:r>
              <a:rPr lang="en-US" altLang="zh-CN" sz="2400" dirty="0"/>
              <a:t>16</a:t>
            </a:r>
            <a:r>
              <a:rPr lang="zh-CN" altLang="zh-CN" sz="2400" dirty="0"/>
              <a:t>（左移</a:t>
            </a:r>
            <a:r>
              <a:rPr lang="en-US" altLang="zh-CN" sz="2400" dirty="0"/>
              <a:t>4</a:t>
            </a:r>
            <a:r>
              <a:rPr lang="zh-CN" altLang="zh-CN" sz="2400" dirty="0"/>
              <a:t>位，低位补</a:t>
            </a:r>
            <a:r>
              <a:rPr lang="en-US" altLang="zh-CN" sz="2400" dirty="0"/>
              <a:t>0</a:t>
            </a:r>
            <a:r>
              <a:rPr lang="zh-CN" altLang="zh-CN" sz="2400" dirty="0"/>
              <a:t>），再加上偏移地址，就形成了物理地址。公式如下</a:t>
            </a:r>
            <a:r>
              <a:rPr lang="en-US" altLang="zh-CN" sz="2400" dirty="0"/>
              <a:t>:</a:t>
            </a:r>
            <a:endParaRPr lang="zh-CN" altLang="zh-CN" sz="2400" dirty="0"/>
          </a:p>
          <a:p>
            <a:pPr algn="just" eaLnBrk="1" hangingPunct="1">
              <a:buNone/>
            </a:pPr>
            <a:r>
              <a:rPr lang="en-US" altLang="zh-CN" sz="2400" dirty="0"/>
              <a:t>                       </a:t>
            </a:r>
            <a:r>
              <a:rPr lang="zh-CN" altLang="zh-CN" sz="2400" dirty="0"/>
              <a:t>物理地址</a:t>
            </a:r>
            <a:r>
              <a:rPr lang="en-US" altLang="zh-CN" sz="2400" dirty="0"/>
              <a:t>=</a:t>
            </a:r>
            <a:r>
              <a:rPr lang="zh-CN" altLang="zh-CN" sz="2400" dirty="0"/>
              <a:t>段基值</a:t>
            </a:r>
            <a:r>
              <a:rPr lang="en-US" altLang="zh-CN" sz="2400" dirty="0"/>
              <a:t>×10H+</a:t>
            </a:r>
            <a:r>
              <a:rPr lang="zh-CN" altLang="zh-CN" sz="2400" dirty="0"/>
              <a:t>偏移量</a:t>
            </a:r>
            <a:r>
              <a:rPr lang="en-US" altLang="zh-CN" sz="2400" dirty="0"/>
              <a:t>        </a:t>
            </a:r>
            <a:endParaRPr lang="zh-CN" altLang="zh-CN" sz="2400" dirty="0"/>
          </a:p>
          <a:p>
            <a:pPr algn="just" eaLnBrk="1" hangingPunct="1">
              <a:buNone/>
            </a:pPr>
            <a:r>
              <a:rPr lang="en-US" altLang="zh-CN" sz="2400" dirty="0"/>
              <a:t>             8086/8088 CPU</a:t>
            </a:r>
            <a:r>
              <a:rPr lang="zh-CN" altLang="zh-CN" sz="2400" dirty="0"/>
              <a:t>访问存储器时对物理地址的计算是在总线接口单元（</a:t>
            </a:r>
            <a:r>
              <a:rPr lang="en-US" altLang="zh-CN" sz="2400" dirty="0"/>
              <a:t>BIU</a:t>
            </a:r>
            <a:r>
              <a:rPr lang="zh-CN" altLang="zh-CN" sz="2400" dirty="0"/>
              <a:t>）中由地址加法器来完成的。</a:t>
            </a: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AutoShape 8"/>
          <p:cNvSpPr/>
          <p:nvPr/>
        </p:nvSpPr>
        <p:spPr>
          <a:xfrm>
            <a:off x="8548688" y="646588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 name="矩形 2"/>
          <p:cNvSpPr/>
          <p:nvPr/>
        </p:nvSpPr>
        <p:spPr>
          <a:xfrm>
            <a:off x="228600" y="2238375"/>
            <a:ext cx="1752600" cy="384175"/>
          </a:xfrm>
          <a:prstGeom prst="rect">
            <a:avLst/>
          </a:prstGeom>
          <a:noFill/>
          <a:ln w="9525">
            <a:noFill/>
          </a:ln>
        </p:spPr>
        <p:txBody>
          <a:bodyPr lIns="0" tIns="0" rIns="0" bIns="0" anchor="t" anchorCtr="0">
            <a:spAutoFit/>
          </a:bodyPr>
          <a:lstStyle/>
          <a:p>
            <a:pPr>
              <a:spcBef>
                <a:spcPct val="30000"/>
              </a:spcBef>
              <a:buClr>
                <a:srgbClr val="B4B9BE"/>
              </a:buClr>
            </a:pPr>
            <a:r>
              <a:rPr lang="en-US" altLang="zh-CN" sz="2800" b="0" dirty="0">
                <a:latin typeface="Times New Roman" panose="02020603050405020304" pitchFamily="18" charset="0"/>
                <a:ea typeface="楷体_GB2312" pitchFamily="49" charset="-122"/>
              </a:rPr>
              <a:t>CS</a:t>
            </a:r>
            <a:r>
              <a:rPr lang="zh-CN" altLang="en-US" sz="2800" b="0" dirty="0">
                <a:latin typeface="Times New Roman" panose="02020603050405020304" pitchFamily="18" charset="0"/>
                <a:ea typeface="楷体_GB2312" pitchFamily="49" charset="-122"/>
              </a:rPr>
              <a:t>左移</a:t>
            </a:r>
            <a:r>
              <a:rPr lang="en-US" altLang="zh-CN" sz="2800" b="0" dirty="0">
                <a:latin typeface="Times New Roman" panose="02020603050405020304" pitchFamily="18" charset="0"/>
                <a:ea typeface="楷体_GB2312" pitchFamily="49" charset="-122"/>
              </a:rPr>
              <a:t>4</a:t>
            </a:r>
            <a:r>
              <a:rPr lang="zh-CN" altLang="en-US" sz="2800" b="0" dirty="0">
                <a:latin typeface="Times New Roman" panose="02020603050405020304" pitchFamily="18" charset="0"/>
                <a:ea typeface="楷体_GB2312" pitchFamily="49" charset="-122"/>
              </a:rPr>
              <a:t>位</a:t>
            </a:r>
          </a:p>
        </p:txBody>
      </p:sp>
      <p:grpSp>
        <p:nvGrpSpPr>
          <p:cNvPr id="4" name="组合 3"/>
          <p:cNvGrpSpPr/>
          <p:nvPr/>
        </p:nvGrpSpPr>
        <p:grpSpPr>
          <a:xfrm>
            <a:off x="1973263" y="2230438"/>
            <a:ext cx="5127625" cy="901700"/>
            <a:chOff x="1243" y="1435"/>
            <a:chExt cx="3230" cy="568"/>
          </a:xfrm>
        </p:grpSpPr>
        <p:sp>
          <p:nvSpPr>
            <p:cNvPr id="60420" name="矩形 4"/>
            <p:cNvSpPr/>
            <p:nvPr/>
          </p:nvSpPr>
          <p:spPr>
            <a:xfrm>
              <a:off x="1251" y="1458"/>
              <a:ext cx="158"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21" name="矩形 5"/>
            <p:cNvSpPr/>
            <p:nvPr/>
          </p:nvSpPr>
          <p:spPr>
            <a:xfrm>
              <a:off x="1409" y="1458"/>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22" name="矩形 6"/>
            <p:cNvSpPr/>
            <p:nvPr/>
          </p:nvSpPr>
          <p:spPr>
            <a:xfrm>
              <a:off x="1570" y="1458"/>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23" name="矩形 7"/>
            <p:cNvSpPr/>
            <p:nvPr/>
          </p:nvSpPr>
          <p:spPr>
            <a:xfrm>
              <a:off x="1732" y="1458"/>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24" name="矩形 8"/>
            <p:cNvSpPr/>
            <p:nvPr/>
          </p:nvSpPr>
          <p:spPr>
            <a:xfrm>
              <a:off x="1894" y="1458"/>
              <a:ext cx="163"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25" name="矩形 9"/>
            <p:cNvSpPr/>
            <p:nvPr/>
          </p:nvSpPr>
          <p:spPr>
            <a:xfrm>
              <a:off x="2057" y="1458"/>
              <a:ext cx="160"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26" name="矩形 10"/>
            <p:cNvSpPr/>
            <p:nvPr/>
          </p:nvSpPr>
          <p:spPr>
            <a:xfrm>
              <a:off x="2217" y="1458"/>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27" name="矩形 11"/>
            <p:cNvSpPr/>
            <p:nvPr/>
          </p:nvSpPr>
          <p:spPr>
            <a:xfrm>
              <a:off x="2378" y="1458"/>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28" name="矩形 12"/>
            <p:cNvSpPr/>
            <p:nvPr/>
          </p:nvSpPr>
          <p:spPr>
            <a:xfrm>
              <a:off x="2540" y="1458"/>
              <a:ext cx="164"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29" name="矩形 13"/>
            <p:cNvSpPr/>
            <p:nvPr/>
          </p:nvSpPr>
          <p:spPr>
            <a:xfrm>
              <a:off x="2704" y="1458"/>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0" name="矩形 14"/>
            <p:cNvSpPr/>
            <p:nvPr/>
          </p:nvSpPr>
          <p:spPr>
            <a:xfrm>
              <a:off x="2865" y="1458"/>
              <a:ext cx="158"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1" name="矩形 15"/>
            <p:cNvSpPr/>
            <p:nvPr/>
          </p:nvSpPr>
          <p:spPr>
            <a:xfrm>
              <a:off x="3023" y="1458"/>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2" name="矩形 16"/>
            <p:cNvSpPr/>
            <p:nvPr/>
          </p:nvSpPr>
          <p:spPr>
            <a:xfrm>
              <a:off x="3185" y="1458"/>
              <a:ext cx="164"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3" name="矩形 17"/>
            <p:cNvSpPr/>
            <p:nvPr/>
          </p:nvSpPr>
          <p:spPr>
            <a:xfrm>
              <a:off x="3349" y="1458"/>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4" name="矩形 18"/>
            <p:cNvSpPr/>
            <p:nvPr/>
          </p:nvSpPr>
          <p:spPr>
            <a:xfrm>
              <a:off x="3510" y="1458"/>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5" name="矩形 19"/>
            <p:cNvSpPr/>
            <p:nvPr/>
          </p:nvSpPr>
          <p:spPr>
            <a:xfrm>
              <a:off x="3671" y="1458"/>
              <a:ext cx="15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6" name="直接连接符 20"/>
            <p:cNvSpPr/>
            <p:nvPr/>
          </p:nvSpPr>
          <p:spPr>
            <a:xfrm>
              <a:off x="1396" y="1458"/>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7" name="直接连接符 21"/>
            <p:cNvSpPr/>
            <p:nvPr/>
          </p:nvSpPr>
          <p:spPr>
            <a:xfrm>
              <a:off x="1558" y="1458"/>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8" name="直接连接符 22"/>
            <p:cNvSpPr/>
            <p:nvPr/>
          </p:nvSpPr>
          <p:spPr>
            <a:xfrm>
              <a:off x="1720" y="1458"/>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39" name="直接连接符 23"/>
            <p:cNvSpPr/>
            <p:nvPr/>
          </p:nvSpPr>
          <p:spPr>
            <a:xfrm>
              <a:off x="1881" y="1458"/>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0" name="直接连接符 24"/>
            <p:cNvSpPr/>
            <p:nvPr/>
          </p:nvSpPr>
          <p:spPr>
            <a:xfrm>
              <a:off x="2044" y="1458"/>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1" name="直接连接符 25"/>
            <p:cNvSpPr/>
            <p:nvPr/>
          </p:nvSpPr>
          <p:spPr>
            <a:xfrm>
              <a:off x="2204" y="1458"/>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2" name="直接连接符 26"/>
            <p:cNvSpPr/>
            <p:nvPr/>
          </p:nvSpPr>
          <p:spPr>
            <a:xfrm>
              <a:off x="2365" y="1458"/>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3" name="直接连接符 27"/>
            <p:cNvSpPr/>
            <p:nvPr/>
          </p:nvSpPr>
          <p:spPr>
            <a:xfrm>
              <a:off x="2526" y="1458"/>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4" name="直接连接符 28"/>
            <p:cNvSpPr/>
            <p:nvPr/>
          </p:nvSpPr>
          <p:spPr>
            <a:xfrm>
              <a:off x="2690" y="1458"/>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5" name="直接连接符 29"/>
            <p:cNvSpPr/>
            <p:nvPr/>
          </p:nvSpPr>
          <p:spPr>
            <a:xfrm>
              <a:off x="2852" y="1458"/>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6" name="直接连接符 30"/>
            <p:cNvSpPr/>
            <p:nvPr/>
          </p:nvSpPr>
          <p:spPr>
            <a:xfrm>
              <a:off x="3010" y="1458"/>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7" name="直接连接符 31"/>
            <p:cNvSpPr/>
            <p:nvPr/>
          </p:nvSpPr>
          <p:spPr>
            <a:xfrm>
              <a:off x="3171" y="1458"/>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8" name="直接连接符 32"/>
            <p:cNvSpPr/>
            <p:nvPr/>
          </p:nvSpPr>
          <p:spPr>
            <a:xfrm>
              <a:off x="3335" y="1458"/>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49" name="直接连接符 33"/>
            <p:cNvSpPr/>
            <p:nvPr/>
          </p:nvSpPr>
          <p:spPr>
            <a:xfrm>
              <a:off x="3497" y="1458"/>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50" name="直接连接符 34"/>
            <p:cNvSpPr/>
            <p:nvPr/>
          </p:nvSpPr>
          <p:spPr>
            <a:xfrm>
              <a:off x="3658" y="1458"/>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51" name="矩形 35"/>
            <p:cNvSpPr/>
            <p:nvPr/>
          </p:nvSpPr>
          <p:spPr>
            <a:xfrm>
              <a:off x="1243" y="1454"/>
              <a:ext cx="2587" cy="197"/>
            </a:xfrm>
            <a:prstGeom prst="rect">
              <a:avLst/>
            </a:prstGeom>
            <a:noFill/>
            <a:ln w="14288"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52" name="直接连接符 36"/>
            <p:cNvSpPr/>
            <p:nvPr/>
          </p:nvSpPr>
          <p:spPr>
            <a:xfrm>
              <a:off x="1247" y="1786"/>
              <a:ext cx="1" cy="217"/>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53" name="直接连接符 37"/>
            <p:cNvSpPr/>
            <p:nvPr/>
          </p:nvSpPr>
          <p:spPr>
            <a:xfrm>
              <a:off x="4472" y="1435"/>
              <a:ext cx="1" cy="568"/>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54" name="直接连接符 38"/>
            <p:cNvSpPr/>
            <p:nvPr/>
          </p:nvSpPr>
          <p:spPr>
            <a:xfrm>
              <a:off x="1248" y="1920"/>
              <a:ext cx="3216" cy="0"/>
            </a:xfrm>
            <a:prstGeom prst="line">
              <a:avLst/>
            </a:prstGeom>
            <a:ln w="25400" cap="flat" cmpd="sng">
              <a:solidFill>
                <a:schemeClr val="tx1"/>
              </a:solidFill>
              <a:prstDash val="solid"/>
              <a:round/>
              <a:headEnd type="stealth" w="lg" len="lg"/>
              <a:tailEnd type="stealth" w="lg" len="lg"/>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55" name="矩形 39"/>
            <p:cNvSpPr/>
            <p:nvPr/>
          </p:nvSpPr>
          <p:spPr>
            <a:xfrm>
              <a:off x="2614" y="1728"/>
              <a:ext cx="384" cy="207"/>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b="0" dirty="0">
                  <a:latin typeface="Times New Roman" panose="02020603050405020304" pitchFamily="18" charset="0"/>
                  <a:ea typeface="楷体_GB2312" pitchFamily="49" charset="-122"/>
                </a:rPr>
                <a:t>20</a:t>
              </a:r>
              <a:r>
                <a:rPr lang="zh-CN" altLang="en-US" b="0" dirty="0">
                  <a:latin typeface="Times New Roman" panose="02020603050405020304" pitchFamily="18" charset="0"/>
                  <a:ea typeface="楷体_GB2312" pitchFamily="49" charset="-122"/>
                </a:rPr>
                <a:t>位</a:t>
              </a:r>
            </a:p>
          </p:txBody>
        </p:sp>
        <p:sp>
          <p:nvSpPr>
            <p:cNvPr id="60456" name="直接连接符 40"/>
            <p:cNvSpPr/>
            <p:nvPr/>
          </p:nvSpPr>
          <p:spPr>
            <a:xfrm>
              <a:off x="3836" y="1449"/>
              <a:ext cx="636" cy="1"/>
            </a:xfrm>
            <a:prstGeom prst="line">
              <a:avLst/>
            </a:prstGeom>
            <a:ln w="25400" cap="flat" cmpd="sng">
              <a:solidFill>
                <a:schemeClr val="tx1"/>
              </a:solidFill>
              <a:prstDash val="sys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57" name="直接连接符 41"/>
            <p:cNvSpPr/>
            <p:nvPr/>
          </p:nvSpPr>
          <p:spPr>
            <a:xfrm>
              <a:off x="3836" y="1656"/>
              <a:ext cx="636" cy="1"/>
            </a:xfrm>
            <a:prstGeom prst="line">
              <a:avLst/>
            </a:prstGeom>
            <a:ln w="25400" cap="flat" cmpd="sng">
              <a:solidFill>
                <a:schemeClr val="tx1"/>
              </a:solidFill>
              <a:prstDash val="sys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58" name="直接连接符 42"/>
            <p:cNvSpPr/>
            <p:nvPr/>
          </p:nvSpPr>
          <p:spPr>
            <a:xfrm>
              <a:off x="4154" y="1449"/>
              <a:ext cx="1" cy="207"/>
            </a:xfrm>
            <a:prstGeom prst="line">
              <a:avLst/>
            </a:prstGeom>
            <a:ln w="25400" cap="flat" cmpd="sng">
              <a:solidFill>
                <a:schemeClr val="tx1"/>
              </a:solidFill>
              <a:prstDash val="sys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59" name="直接连接符 43"/>
            <p:cNvSpPr/>
            <p:nvPr/>
          </p:nvSpPr>
          <p:spPr>
            <a:xfrm>
              <a:off x="4300" y="1454"/>
              <a:ext cx="2" cy="206"/>
            </a:xfrm>
            <a:prstGeom prst="line">
              <a:avLst/>
            </a:prstGeom>
            <a:ln w="25400" cap="flat" cmpd="sng">
              <a:solidFill>
                <a:schemeClr val="tx1"/>
              </a:solidFill>
              <a:prstDash val="sys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60" name="直接连接符 44"/>
            <p:cNvSpPr/>
            <p:nvPr/>
          </p:nvSpPr>
          <p:spPr>
            <a:xfrm>
              <a:off x="3981" y="1463"/>
              <a:ext cx="1" cy="206"/>
            </a:xfrm>
            <a:prstGeom prst="line">
              <a:avLst/>
            </a:prstGeom>
            <a:ln w="25400" cap="flat" cmpd="sng">
              <a:solidFill>
                <a:schemeClr val="tx1"/>
              </a:solidFill>
              <a:prstDash val="sys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grpSp>
        <p:nvGrpSpPr>
          <p:cNvPr id="46" name="组合 45"/>
          <p:cNvGrpSpPr/>
          <p:nvPr/>
        </p:nvGrpSpPr>
        <p:grpSpPr>
          <a:xfrm>
            <a:off x="2438400" y="2617788"/>
            <a:ext cx="2438400" cy="1601787"/>
            <a:chOff x="1536" y="1679"/>
            <a:chExt cx="1536" cy="1009"/>
          </a:xfrm>
        </p:grpSpPr>
        <p:sp>
          <p:nvSpPr>
            <p:cNvPr id="60462" name="直接连接符 46"/>
            <p:cNvSpPr/>
            <p:nvPr/>
          </p:nvSpPr>
          <p:spPr>
            <a:xfrm flipH="1">
              <a:off x="1536" y="1679"/>
              <a:ext cx="4" cy="1009"/>
            </a:xfrm>
            <a:prstGeom prst="line">
              <a:avLst/>
            </a:prstGeom>
            <a:ln w="69850" cap="flat" cmpd="sng">
              <a:solidFill>
                <a:srgbClr val="C0C0C0"/>
              </a:solidFill>
              <a:prstDash val="solid"/>
              <a:round/>
              <a:headEnd type="none" w="med" len="med"/>
              <a:tailEnd type="stealth" w="lg" len="lg"/>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63" name="直接连接符 47"/>
            <p:cNvSpPr/>
            <p:nvPr/>
          </p:nvSpPr>
          <p:spPr>
            <a:xfrm flipH="1">
              <a:off x="3072" y="2400"/>
              <a:ext cx="0" cy="288"/>
            </a:xfrm>
            <a:prstGeom prst="line">
              <a:avLst/>
            </a:prstGeom>
            <a:ln w="69850" cap="flat" cmpd="sng">
              <a:solidFill>
                <a:srgbClr val="C0C0C0"/>
              </a:solidFill>
              <a:prstDash val="solid"/>
              <a:round/>
              <a:headEnd type="none" w="med" len="med"/>
              <a:tailEnd type="stealth" w="lg" len="lg"/>
            </a:ln>
          </p:spPr>
          <p:txBody>
            <a:bodyPr anchor="t" anchorCtr="0"/>
            <a:lstStyle/>
            <a:p>
              <a:endParaRPr lang="zh-CN" altLang="en-US">
                <a:latin typeface="宋体" panose="02010600030101010101" pitchFamily="2" charset="-122"/>
                <a:ea typeface="宋体" panose="02010600030101010101" pitchFamily="2" charset="-122"/>
              </a:endParaRPr>
            </a:p>
          </p:txBody>
        </p:sp>
      </p:grpSp>
      <p:grpSp>
        <p:nvGrpSpPr>
          <p:cNvPr id="49" name="组合 48"/>
          <p:cNvGrpSpPr/>
          <p:nvPr/>
        </p:nvGrpSpPr>
        <p:grpSpPr>
          <a:xfrm>
            <a:off x="2276475" y="4291013"/>
            <a:ext cx="6696075" cy="873125"/>
            <a:chOff x="1434" y="2733"/>
            <a:chExt cx="4218" cy="550"/>
          </a:xfrm>
        </p:grpSpPr>
        <p:sp>
          <p:nvSpPr>
            <p:cNvPr id="60465" name="直接连接符 49"/>
            <p:cNvSpPr/>
            <p:nvPr/>
          </p:nvSpPr>
          <p:spPr>
            <a:xfrm>
              <a:off x="1434" y="2742"/>
              <a:ext cx="623" cy="1"/>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66" name="直接连接符 50"/>
            <p:cNvSpPr/>
            <p:nvPr/>
          </p:nvSpPr>
          <p:spPr>
            <a:xfrm>
              <a:off x="2814" y="2733"/>
              <a:ext cx="623" cy="1"/>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67" name="直接连接符 51"/>
            <p:cNvSpPr/>
            <p:nvPr/>
          </p:nvSpPr>
          <p:spPr>
            <a:xfrm>
              <a:off x="2057" y="2742"/>
              <a:ext cx="424" cy="179"/>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68" name="直接连接符 52"/>
            <p:cNvSpPr/>
            <p:nvPr/>
          </p:nvSpPr>
          <p:spPr>
            <a:xfrm flipV="1">
              <a:off x="2481" y="2733"/>
              <a:ext cx="333" cy="188"/>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69" name="直接连接符 53"/>
            <p:cNvSpPr/>
            <p:nvPr/>
          </p:nvSpPr>
          <p:spPr>
            <a:xfrm>
              <a:off x="1434" y="2742"/>
              <a:ext cx="531" cy="540"/>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70" name="直接连接符 54"/>
            <p:cNvSpPr/>
            <p:nvPr/>
          </p:nvSpPr>
          <p:spPr>
            <a:xfrm flipV="1">
              <a:off x="2999" y="2733"/>
              <a:ext cx="423" cy="549"/>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71" name="直接连接符 55"/>
            <p:cNvSpPr/>
            <p:nvPr/>
          </p:nvSpPr>
          <p:spPr>
            <a:xfrm>
              <a:off x="1965" y="3282"/>
              <a:ext cx="1034" cy="1"/>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72" name="矩形 56"/>
            <p:cNvSpPr/>
            <p:nvPr/>
          </p:nvSpPr>
          <p:spPr>
            <a:xfrm>
              <a:off x="2396" y="2970"/>
              <a:ext cx="175" cy="228"/>
            </a:xfrm>
            <a:prstGeom prst="rect">
              <a:avLst/>
            </a:prstGeom>
            <a:no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73" name="矩形 57"/>
            <p:cNvSpPr/>
            <p:nvPr/>
          </p:nvSpPr>
          <p:spPr>
            <a:xfrm>
              <a:off x="2396" y="2973"/>
              <a:ext cx="150" cy="27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3200" b="0">
                  <a:latin typeface="Arial" panose="020B0604020202020204" pitchFamily="34" charset="0"/>
                  <a:ea typeface="楷体_GB2312" pitchFamily="49" charset="-122"/>
                </a:rPr>
                <a:t>+</a:t>
              </a:r>
            </a:p>
          </p:txBody>
        </p:sp>
        <p:sp>
          <p:nvSpPr>
            <p:cNvPr id="60474" name="矩形 58"/>
            <p:cNvSpPr/>
            <p:nvPr/>
          </p:nvSpPr>
          <p:spPr>
            <a:xfrm>
              <a:off x="3584" y="2983"/>
              <a:ext cx="2068" cy="246"/>
            </a:xfrm>
            <a:prstGeom prst="rect">
              <a:avLst/>
            </a:prstGeom>
            <a:noFill/>
            <a:ln w="9525">
              <a:noFill/>
            </a:ln>
          </p:spPr>
          <p:txBody>
            <a:bodyPr wrap="square" lIns="0" tIns="0" rIns="0" bIns="0" anchor="t" anchorCtr="0">
              <a:spAutoFit/>
            </a:bodyPr>
            <a:lstStyle/>
            <a:p>
              <a:pPr>
                <a:spcBef>
                  <a:spcPct val="30000"/>
                </a:spcBef>
                <a:buClr>
                  <a:srgbClr val="B4B9BE"/>
                </a:buClr>
              </a:pPr>
              <a:r>
                <a:rPr lang="zh-CN" altLang="en-US" sz="2800" b="0" dirty="0">
                  <a:latin typeface="Times New Roman" panose="02020603050405020304" pitchFamily="18" charset="0"/>
                  <a:ea typeface="楷体_GB2312" pitchFamily="49" charset="-122"/>
                </a:rPr>
                <a:t>地址加法器</a:t>
              </a:r>
            </a:p>
          </p:txBody>
        </p:sp>
      </p:grpSp>
      <p:sp>
        <p:nvSpPr>
          <p:cNvPr id="60" name="直接连接符 59"/>
          <p:cNvSpPr/>
          <p:nvPr/>
        </p:nvSpPr>
        <p:spPr>
          <a:xfrm flipH="1">
            <a:off x="3886200" y="5210175"/>
            <a:ext cx="0" cy="457200"/>
          </a:xfrm>
          <a:prstGeom prst="line">
            <a:avLst/>
          </a:prstGeom>
          <a:ln w="69850" cap="flat" cmpd="sng">
            <a:solidFill>
              <a:srgbClr val="C0C0C0"/>
            </a:solidFill>
            <a:prstDash val="solid"/>
            <a:round/>
            <a:headEnd type="none" w="med" len="med"/>
            <a:tailEnd type="stealth" w="lg" len="lg"/>
          </a:ln>
        </p:spPr>
        <p:txBody>
          <a:bodyPr anchor="t" anchorCtr="0"/>
          <a:lstStyle/>
          <a:p>
            <a:endParaRPr lang="zh-CN" altLang="en-US">
              <a:latin typeface="宋体" panose="02010600030101010101" pitchFamily="2" charset="-122"/>
              <a:ea typeface="宋体" panose="02010600030101010101" pitchFamily="2" charset="-122"/>
            </a:endParaRPr>
          </a:p>
        </p:txBody>
      </p:sp>
      <p:grpSp>
        <p:nvGrpSpPr>
          <p:cNvPr id="61" name="组合 60"/>
          <p:cNvGrpSpPr/>
          <p:nvPr/>
        </p:nvGrpSpPr>
        <p:grpSpPr>
          <a:xfrm>
            <a:off x="2971800" y="1095375"/>
            <a:ext cx="5583238" cy="884238"/>
            <a:chOff x="1872" y="720"/>
            <a:chExt cx="3517" cy="557"/>
          </a:xfrm>
        </p:grpSpPr>
        <p:sp>
          <p:nvSpPr>
            <p:cNvPr id="60477" name="矩形 61"/>
            <p:cNvSpPr/>
            <p:nvPr/>
          </p:nvSpPr>
          <p:spPr>
            <a:xfrm>
              <a:off x="1887" y="1084"/>
              <a:ext cx="160"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78" name="矩形 62"/>
            <p:cNvSpPr/>
            <p:nvPr/>
          </p:nvSpPr>
          <p:spPr>
            <a:xfrm>
              <a:off x="2047" y="1084"/>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79" name="矩形 63"/>
            <p:cNvSpPr/>
            <p:nvPr/>
          </p:nvSpPr>
          <p:spPr>
            <a:xfrm>
              <a:off x="2208" y="1084"/>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0" name="矩形 64"/>
            <p:cNvSpPr/>
            <p:nvPr/>
          </p:nvSpPr>
          <p:spPr>
            <a:xfrm>
              <a:off x="2369" y="1084"/>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1" name="矩形 65"/>
            <p:cNvSpPr/>
            <p:nvPr/>
          </p:nvSpPr>
          <p:spPr>
            <a:xfrm>
              <a:off x="2531" y="1084"/>
              <a:ext cx="164"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2" name="矩形 66"/>
            <p:cNvSpPr/>
            <p:nvPr/>
          </p:nvSpPr>
          <p:spPr>
            <a:xfrm>
              <a:off x="2695" y="1084"/>
              <a:ext cx="158"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3" name="矩形 67"/>
            <p:cNvSpPr/>
            <p:nvPr/>
          </p:nvSpPr>
          <p:spPr>
            <a:xfrm>
              <a:off x="2853" y="1084"/>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4" name="矩形 68"/>
            <p:cNvSpPr/>
            <p:nvPr/>
          </p:nvSpPr>
          <p:spPr>
            <a:xfrm>
              <a:off x="3014" y="1084"/>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5" name="矩形 69"/>
            <p:cNvSpPr/>
            <p:nvPr/>
          </p:nvSpPr>
          <p:spPr>
            <a:xfrm>
              <a:off x="3176" y="1084"/>
              <a:ext cx="164"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6" name="矩形 70"/>
            <p:cNvSpPr/>
            <p:nvPr/>
          </p:nvSpPr>
          <p:spPr>
            <a:xfrm>
              <a:off x="3340" y="1084"/>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7" name="矩形 71"/>
            <p:cNvSpPr/>
            <p:nvPr/>
          </p:nvSpPr>
          <p:spPr>
            <a:xfrm>
              <a:off x="3501" y="1084"/>
              <a:ext cx="160"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8" name="矩形 72"/>
            <p:cNvSpPr/>
            <p:nvPr/>
          </p:nvSpPr>
          <p:spPr>
            <a:xfrm>
              <a:off x="3661" y="1084"/>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89" name="矩形 73"/>
            <p:cNvSpPr/>
            <p:nvPr/>
          </p:nvSpPr>
          <p:spPr>
            <a:xfrm>
              <a:off x="3822" y="1084"/>
              <a:ext cx="163"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0" name="矩形 74"/>
            <p:cNvSpPr/>
            <p:nvPr/>
          </p:nvSpPr>
          <p:spPr>
            <a:xfrm>
              <a:off x="3985" y="1084"/>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1" name="矩形 75"/>
            <p:cNvSpPr/>
            <p:nvPr/>
          </p:nvSpPr>
          <p:spPr>
            <a:xfrm>
              <a:off x="4146" y="1084"/>
              <a:ext cx="163"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2" name="矩形 76"/>
            <p:cNvSpPr/>
            <p:nvPr/>
          </p:nvSpPr>
          <p:spPr>
            <a:xfrm>
              <a:off x="4309" y="1084"/>
              <a:ext cx="149"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3" name="直接连接符 77"/>
            <p:cNvSpPr/>
            <p:nvPr/>
          </p:nvSpPr>
          <p:spPr>
            <a:xfrm>
              <a:off x="2033" y="1084"/>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4" name="直接连接符 78"/>
            <p:cNvSpPr/>
            <p:nvPr/>
          </p:nvSpPr>
          <p:spPr>
            <a:xfrm>
              <a:off x="2195"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5" name="直接连接符 79"/>
            <p:cNvSpPr/>
            <p:nvPr/>
          </p:nvSpPr>
          <p:spPr>
            <a:xfrm>
              <a:off x="2356"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6" name="直接连接符 80"/>
            <p:cNvSpPr/>
            <p:nvPr/>
          </p:nvSpPr>
          <p:spPr>
            <a:xfrm>
              <a:off x="2517" y="1084"/>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7" name="直接连接符 81"/>
            <p:cNvSpPr/>
            <p:nvPr/>
          </p:nvSpPr>
          <p:spPr>
            <a:xfrm>
              <a:off x="2681" y="1084"/>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8" name="直接连接符 82"/>
            <p:cNvSpPr/>
            <p:nvPr/>
          </p:nvSpPr>
          <p:spPr>
            <a:xfrm>
              <a:off x="2840"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499" name="直接连接符 83"/>
            <p:cNvSpPr/>
            <p:nvPr/>
          </p:nvSpPr>
          <p:spPr>
            <a:xfrm>
              <a:off x="3001"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0" name="直接连接符 84"/>
            <p:cNvSpPr/>
            <p:nvPr/>
          </p:nvSpPr>
          <p:spPr>
            <a:xfrm>
              <a:off x="3164"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1" name="直接连接符 85"/>
            <p:cNvSpPr/>
            <p:nvPr/>
          </p:nvSpPr>
          <p:spPr>
            <a:xfrm>
              <a:off x="3327"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2" name="直接连接符 86"/>
            <p:cNvSpPr/>
            <p:nvPr/>
          </p:nvSpPr>
          <p:spPr>
            <a:xfrm>
              <a:off x="3488"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3" name="直接连接符 87"/>
            <p:cNvSpPr/>
            <p:nvPr/>
          </p:nvSpPr>
          <p:spPr>
            <a:xfrm>
              <a:off x="3648"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4" name="直接连接符 88"/>
            <p:cNvSpPr/>
            <p:nvPr/>
          </p:nvSpPr>
          <p:spPr>
            <a:xfrm>
              <a:off x="3809"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5" name="直接连接符 89"/>
            <p:cNvSpPr/>
            <p:nvPr/>
          </p:nvSpPr>
          <p:spPr>
            <a:xfrm>
              <a:off x="3973" y="1084"/>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6" name="直接连接符 90"/>
            <p:cNvSpPr/>
            <p:nvPr/>
          </p:nvSpPr>
          <p:spPr>
            <a:xfrm>
              <a:off x="4134" y="1084"/>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7" name="直接连接符 91"/>
            <p:cNvSpPr/>
            <p:nvPr/>
          </p:nvSpPr>
          <p:spPr>
            <a:xfrm>
              <a:off x="4296" y="1084"/>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8" name="矩形 92"/>
            <p:cNvSpPr/>
            <p:nvPr/>
          </p:nvSpPr>
          <p:spPr>
            <a:xfrm>
              <a:off x="1879" y="1079"/>
              <a:ext cx="2587" cy="198"/>
            </a:xfrm>
            <a:prstGeom prst="rect">
              <a:avLst/>
            </a:prstGeom>
            <a:noFill/>
            <a:ln w="14288"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09" name="矩形 93"/>
            <p:cNvSpPr/>
            <p:nvPr/>
          </p:nvSpPr>
          <p:spPr>
            <a:xfrm>
              <a:off x="4752" y="1056"/>
              <a:ext cx="637" cy="218"/>
            </a:xfrm>
            <a:prstGeom prst="rect">
              <a:avLst/>
            </a:prstGeom>
            <a:noFill/>
            <a:ln w="9525">
              <a:noFill/>
            </a:ln>
          </p:spPr>
          <p:txBody>
            <a:bodyPr wrap="square" lIns="0" tIns="0" rIns="0" bIns="0" anchor="t" anchorCtr="0">
              <a:spAutoFit/>
            </a:bodyPr>
            <a:lstStyle/>
            <a:p>
              <a:pPr>
                <a:spcBef>
                  <a:spcPct val="30000"/>
                </a:spcBef>
                <a:buClr>
                  <a:srgbClr val="B4B9BE"/>
                </a:buClr>
              </a:pPr>
              <a:r>
                <a:rPr lang="en-US" altLang="zh-CN" b="0">
                  <a:latin typeface="Times New Roman" panose="02020603050405020304" pitchFamily="18" charset="0"/>
                  <a:ea typeface="楷体_GB2312" pitchFamily="49" charset="-122"/>
                </a:rPr>
                <a:t>CS</a:t>
              </a:r>
            </a:p>
          </p:txBody>
        </p:sp>
        <p:sp>
          <p:nvSpPr>
            <p:cNvPr id="60510" name="直接连接符 94"/>
            <p:cNvSpPr/>
            <p:nvPr/>
          </p:nvSpPr>
          <p:spPr>
            <a:xfrm>
              <a:off x="1872" y="859"/>
              <a:ext cx="1" cy="143"/>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11" name="直接连接符 95"/>
            <p:cNvSpPr/>
            <p:nvPr/>
          </p:nvSpPr>
          <p:spPr>
            <a:xfrm>
              <a:off x="4472" y="859"/>
              <a:ext cx="1" cy="143"/>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12" name="直接连接符 96"/>
            <p:cNvSpPr/>
            <p:nvPr/>
          </p:nvSpPr>
          <p:spPr>
            <a:xfrm>
              <a:off x="1872" y="912"/>
              <a:ext cx="2592" cy="0"/>
            </a:xfrm>
            <a:prstGeom prst="line">
              <a:avLst/>
            </a:prstGeom>
            <a:ln w="25400" cap="flat" cmpd="sng">
              <a:solidFill>
                <a:schemeClr val="tx1"/>
              </a:solidFill>
              <a:prstDash val="solid"/>
              <a:round/>
              <a:headEnd type="stealth" w="lg" len="lg"/>
              <a:tailEnd type="stealth" w="lg" len="lg"/>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13" name="矩形 97"/>
            <p:cNvSpPr/>
            <p:nvPr/>
          </p:nvSpPr>
          <p:spPr>
            <a:xfrm>
              <a:off x="2880" y="720"/>
              <a:ext cx="384" cy="207"/>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b="0" dirty="0">
                  <a:latin typeface="Times New Roman" panose="02020603050405020304" pitchFamily="18" charset="0"/>
                  <a:ea typeface="楷体_GB2312" pitchFamily="49" charset="-122"/>
                </a:rPr>
                <a:t>16</a:t>
              </a:r>
              <a:r>
                <a:rPr lang="zh-CN" altLang="en-US" b="0" dirty="0">
                  <a:latin typeface="Times New Roman" panose="02020603050405020304" pitchFamily="18" charset="0"/>
                  <a:ea typeface="楷体_GB2312" pitchFamily="49" charset="-122"/>
                </a:rPr>
                <a:t>位</a:t>
              </a:r>
            </a:p>
          </p:txBody>
        </p:sp>
      </p:grpSp>
      <p:grpSp>
        <p:nvGrpSpPr>
          <p:cNvPr id="99" name="组合 98"/>
          <p:cNvGrpSpPr/>
          <p:nvPr/>
        </p:nvGrpSpPr>
        <p:grpSpPr>
          <a:xfrm>
            <a:off x="1981200" y="5678488"/>
            <a:ext cx="6775450" cy="827087"/>
            <a:chOff x="1248" y="3607"/>
            <a:chExt cx="4268" cy="521"/>
          </a:xfrm>
        </p:grpSpPr>
        <p:sp>
          <p:nvSpPr>
            <p:cNvPr id="60515" name="矩形 99"/>
            <p:cNvSpPr/>
            <p:nvPr/>
          </p:nvSpPr>
          <p:spPr>
            <a:xfrm>
              <a:off x="1264" y="3611"/>
              <a:ext cx="159"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16" name="矩形 100"/>
            <p:cNvSpPr/>
            <p:nvPr/>
          </p:nvSpPr>
          <p:spPr>
            <a:xfrm>
              <a:off x="1423" y="3611"/>
              <a:ext cx="161"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17" name="矩形 101"/>
            <p:cNvSpPr/>
            <p:nvPr/>
          </p:nvSpPr>
          <p:spPr>
            <a:xfrm>
              <a:off x="1584" y="3611"/>
              <a:ext cx="161"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18" name="矩形 102"/>
            <p:cNvSpPr/>
            <p:nvPr/>
          </p:nvSpPr>
          <p:spPr>
            <a:xfrm>
              <a:off x="1745" y="3611"/>
              <a:ext cx="161"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19" name="矩形 103"/>
            <p:cNvSpPr/>
            <p:nvPr/>
          </p:nvSpPr>
          <p:spPr>
            <a:xfrm>
              <a:off x="1906" y="3611"/>
              <a:ext cx="165"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0" name="矩形 104"/>
            <p:cNvSpPr/>
            <p:nvPr/>
          </p:nvSpPr>
          <p:spPr>
            <a:xfrm>
              <a:off x="2071" y="3611"/>
              <a:ext cx="159"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1" name="矩形 105"/>
            <p:cNvSpPr/>
            <p:nvPr/>
          </p:nvSpPr>
          <p:spPr>
            <a:xfrm>
              <a:off x="2230" y="3611"/>
              <a:ext cx="162"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2" name="矩形 106"/>
            <p:cNvSpPr/>
            <p:nvPr/>
          </p:nvSpPr>
          <p:spPr>
            <a:xfrm>
              <a:off x="2392" y="3611"/>
              <a:ext cx="161"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3" name="矩形 107"/>
            <p:cNvSpPr/>
            <p:nvPr/>
          </p:nvSpPr>
          <p:spPr>
            <a:xfrm>
              <a:off x="2553" y="3611"/>
              <a:ext cx="163"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4" name="矩形 108"/>
            <p:cNvSpPr/>
            <p:nvPr/>
          </p:nvSpPr>
          <p:spPr>
            <a:xfrm>
              <a:off x="2716" y="3611"/>
              <a:ext cx="163"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5" name="矩形 109"/>
            <p:cNvSpPr/>
            <p:nvPr/>
          </p:nvSpPr>
          <p:spPr>
            <a:xfrm>
              <a:off x="2879" y="3611"/>
              <a:ext cx="158"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6" name="矩形 110"/>
            <p:cNvSpPr/>
            <p:nvPr/>
          </p:nvSpPr>
          <p:spPr>
            <a:xfrm>
              <a:off x="3037" y="3611"/>
              <a:ext cx="161"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7" name="矩形 111"/>
            <p:cNvSpPr/>
            <p:nvPr/>
          </p:nvSpPr>
          <p:spPr>
            <a:xfrm>
              <a:off x="3198" y="3611"/>
              <a:ext cx="164"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8" name="矩形 112"/>
            <p:cNvSpPr/>
            <p:nvPr/>
          </p:nvSpPr>
          <p:spPr>
            <a:xfrm>
              <a:off x="3362" y="3611"/>
              <a:ext cx="162"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29" name="矩形 113"/>
            <p:cNvSpPr/>
            <p:nvPr/>
          </p:nvSpPr>
          <p:spPr>
            <a:xfrm>
              <a:off x="3524" y="3611"/>
              <a:ext cx="161"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0" name="矩形 114"/>
            <p:cNvSpPr/>
            <p:nvPr/>
          </p:nvSpPr>
          <p:spPr>
            <a:xfrm>
              <a:off x="3685" y="3611"/>
              <a:ext cx="151"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1" name="矩形 115"/>
            <p:cNvSpPr/>
            <p:nvPr/>
          </p:nvSpPr>
          <p:spPr>
            <a:xfrm>
              <a:off x="3836" y="3611"/>
              <a:ext cx="149"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2" name="矩形 116"/>
            <p:cNvSpPr/>
            <p:nvPr/>
          </p:nvSpPr>
          <p:spPr>
            <a:xfrm>
              <a:off x="3985" y="3611"/>
              <a:ext cx="151"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3" name="矩形 117"/>
            <p:cNvSpPr/>
            <p:nvPr/>
          </p:nvSpPr>
          <p:spPr>
            <a:xfrm>
              <a:off x="4136" y="3611"/>
              <a:ext cx="151"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4" name="矩形 118"/>
            <p:cNvSpPr/>
            <p:nvPr/>
          </p:nvSpPr>
          <p:spPr>
            <a:xfrm>
              <a:off x="4287" y="3611"/>
              <a:ext cx="149" cy="188"/>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5" name="直接连接符 119"/>
            <p:cNvSpPr/>
            <p:nvPr/>
          </p:nvSpPr>
          <p:spPr>
            <a:xfrm>
              <a:off x="1409"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6" name="直接连接符 120"/>
            <p:cNvSpPr/>
            <p:nvPr/>
          </p:nvSpPr>
          <p:spPr>
            <a:xfrm>
              <a:off x="1570"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7" name="直接连接符 121"/>
            <p:cNvSpPr/>
            <p:nvPr/>
          </p:nvSpPr>
          <p:spPr>
            <a:xfrm>
              <a:off x="1732" y="3611"/>
              <a:ext cx="1"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8" name="直接连接符 122"/>
            <p:cNvSpPr/>
            <p:nvPr/>
          </p:nvSpPr>
          <p:spPr>
            <a:xfrm>
              <a:off x="1894"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39" name="直接连接符 123"/>
            <p:cNvSpPr/>
            <p:nvPr/>
          </p:nvSpPr>
          <p:spPr>
            <a:xfrm>
              <a:off x="2057"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0" name="直接连接符 124"/>
            <p:cNvSpPr/>
            <p:nvPr/>
          </p:nvSpPr>
          <p:spPr>
            <a:xfrm>
              <a:off x="2217" y="3611"/>
              <a:ext cx="1"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1" name="直接连接符 125"/>
            <p:cNvSpPr/>
            <p:nvPr/>
          </p:nvSpPr>
          <p:spPr>
            <a:xfrm>
              <a:off x="2378"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2" name="直接连接符 126"/>
            <p:cNvSpPr/>
            <p:nvPr/>
          </p:nvSpPr>
          <p:spPr>
            <a:xfrm>
              <a:off x="2540" y="3611"/>
              <a:ext cx="1"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3" name="直接连接符 127"/>
            <p:cNvSpPr/>
            <p:nvPr/>
          </p:nvSpPr>
          <p:spPr>
            <a:xfrm>
              <a:off x="2704" y="3611"/>
              <a:ext cx="1"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4" name="直接连接符 128"/>
            <p:cNvSpPr/>
            <p:nvPr/>
          </p:nvSpPr>
          <p:spPr>
            <a:xfrm>
              <a:off x="2865"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5" name="直接连接符 129"/>
            <p:cNvSpPr/>
            <p:nvPr/>
          </p:nvSpPr>
          <p:spPr>
            <a:xfrm>
              <a:off x="3023"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6" name="直接连接符 130"/>
            <p:cNvSpPr/>
            <p:nvPr/>
          </p:nvSpPr>
          <p:spPr>
            <a:xfrm>
              <a:off x="3185" y="3611"/>
              <a:ext cx="1"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7" name="直接连接符 131"/>
            <p:cNvSpPr/>
            <p:nvPr/>
          </p:nvSpPr>
          <p:spPr>
            <a:xfrm>
              <a:off x="3349" y="3611"/>
              <a:ext cx="1"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8" name="直接连接符 132"/>
            <p:cNvSpPr/>
            <p:nvPr/>
          </p:nvSpPr>
          <p:spPr>
            <a:xfrm>
              <a:off x="3510"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49" name="直接连接符 133"/>
            <p:cNvSpPr/>
            <p:nvPr/>
          </p:nvSpPr>
          <p:spPr>
            <a:xfrm>
              <a:off x="3671"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50" name="直接连接符 134"/>
            <p:cNvSpPr/>
            <p:nvPr/>
          </p:nvSpPr>
          <p:spPr>
            <a:xfrm>
              <a:off x="3822"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51" name="直接连接符 135"/>
            <p:cNvSpPr/>
            <p:nvPr/>
          </p:nvSpPr>
          <p:spPr>
            <a:xfrm>
              <a:off x="3973"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52" name="直接连接符 136"/>
            <p:cNvSpPr/>
            <p:nvPr/>
          </p:nvSpPr>
          <p:spPr>
            <a:xfrm>
              <a:off x="4122"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53" name="直接连接符 137"/>
            <p:cNvSpPr/>
            <p:nvPr/>
          </p:nvSpPr>
          <p:spPr>
            <a:xfrm>
              <a:off x="4273" y="3611"/>
              <a:ext cx="2" cy="188"/>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54" name="矩形 138"/>
            <p:cNvSpPr/>
            <p:nvPr/>
          </p:nvSpPr>
          <p:spPr>
            <a:xfrm>
              <a:off x="1257" y="3607"/>
              <a:ext cx="3187" cy="197"/>
            </a:xfrm>
            <a:prstGeom prst="rect">
              <a:avLst/>
            </a:prstGeom>
            <a:noFill/>
            <a:ln w="14288"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55" name="直接连接符 139"/>
            <p:cNvSpPr/>
            <p:nvPr/>
          </p:nvSpPr>
          <p:spPr>
            <a:xfrm>
              <a:off x="1261" y="3912"/>
              <a:ext cx="2" cy="216"/>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56" name="直接连接符 140"/>
            <p:cNvSpPr/>
            <p:nvPr/>
          </p:nvSpPr>
          <p:spPr>
            <a:xfrm>
              <a:off x="4433" y="3912"/>
              <a:ext cx="2" cy="216"/>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57" name="矩形 141"/>
            <p:cNvSpPr/>
            <p:nvPr/>
          </p:nvSpPr>
          <p:spPr>
            <a:xfrm>
              <a:off x="4620" y="3621"/>
              <a:ext cx="896" cy="242"/>
            </a:xfrm>
            <a:prstGeom prst="rect">
              <a:avLst/>
            </a:prstGeom>
            <a:noFill/>
            <a:ln w="9525">
              <a:noFill/>
            </a:ln>
          </p:spPr>
          <p:txBody>
            <a:bodyPr wrap="none" lIns="0" tIns="0" rIns="0" bIns="0" anchor="t" anchorCtr="0">
              <a:spAutoFit/>
            </a:bodyPr>
            <a:lstStyle/>
            <a:p>
              <a:pPr>
                <a:spcBef>
                  <a:spcPct val="30000"/>
                </a:spcBef>
                <a:buClr>
                  <a:srgbClr val="B4B9BE"/>
                </a:buClr>
              </a:pPr>
              <a:r>
                <a:rPr lang="zh-CN" altLang="en-US" sz="2800" b="0" dirty="0">
                  <a:latin typeface="Times New Roman" panose="02020603050405020304" pitchFamily="18" charset="0"/>
                  <a:ea typeface="楷体_GB2312" pitchFamily="49" charset="-122"/>
                </a:rPr>
                <a:t>物理地址</a:t>
              </a:r>
            </a:p>
          </p:txBody>
        </p:sp>
        <p:sp>
          <p:nvSpPr>
            <p:cNvPr id="60558" name="直接连接符 142"/>
            <p:cNvSpPr/>
            <p:nvPr/>
          </p:nvSpPr>
          <p:spPr>
            <a:xfrm>
              <a:off x="1248" y="4080"/>
              <a:ext cx="3216" cy="0"/>
            </a:xfrm>
            <a:prstGeom prst="line">
              <a:avLst/>
            </a:prstGeom>
            <a:ln w="25400" cap="flat" cmpd="sng">
              <a:solidFill>
                <a:schemeClr val="tx1"/>
              </a:solidFill>
              <a:prstDash val="solid"/>
              <a:round/>
              <a:headEnd type="stealth" w="lg" len="lg"/>
              <a:tailEnd type="stealth" w="lg" len="lg"/>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59" name="矩形 143"/>
            <p:cNvSpPr/>
            <p:nvPr/>
          </p:nvSpPr>
          <p:spPr>
            <a:xfrm>
              <a:off x="2614" y="3868"/>
              <a:ext cx="384" cy="207"/>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b="0" dirty="0">
                  <a:latin typeface="Times New Roman" panose="02020603050405020304" pitchFamily="18" charset="0"/>
                  <a:ea typeface="楷体_GB2312" pitchFamily="49" charset="-122"/>
                </a:rPr>
                <a:t>20</a:t>
              </a:r>
              <a:r>
                <a:rPr lang="zh-CN" altLang="en-US" b="0" dirty="0">
                  <a:latin typeface="Times New Roman" panose="02020603050405020304" pitchFamily="18" charset="0"/>
                  <a:ea typeface="楷体_GB2312" pitchFamily="49" charset="-122"/>
                </a:rPr>
                <a:t>位</a:t>
              </a:r>
            </a:p>
          </p:txBody>
        </p:sp>
      </p:grpSp>
      <p:grpSp>
        <p:nvGrpSpPr>
          <p:cNvPr id="145" name="组合 144"/>
          <p:cNvGrpSpPr/>
          <p:nvPr/>
        </p:nvGrpSpPr>
        <p:grpSpPr>
          <a:xfrm>
            <a:off x="3048000" y="3381375"/>
            <a:ext cx="5715000" cy="350838"/>
            <a:chOff x="1920" y="2160"/>
            <a:chExt cx="3600" cy="221"/>
          </a:xfrm>
        </p:grpSpPr>
        <p:sp>
          <p:nvSpPr>
            <p:cNvPr id="60561" name="矩形 145"/>
            <p:cNvSpPr/>
            <p:nvPr/>
          </p:nvSpPr>
          <p:spPr>
            <a:xfrm>
              <a:off x="1927" y="2187"/>
              <a:ext cx="159"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62" name="矩形 146"/>
            <p:cNvSpPr/>
            <p:nvPr/>
          </p:nvSpPr>
          <p:spPr>
            <a:xfrm>
              <a:off x="2086" y="2187"/>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63" name="矩形 147"/>
            <p:cNvSpPr/>
            <p:nvPr/>
          </p:nvSpPr>
          <p:spPr>
            <a:xfrm>
              <a:off x="2248" y="2187"/>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64" name="矩形 148"/>
            <p:cNvSpPr/>
            <p:nvPr/>
          </p:nvSpPr>
          <p:spPr>
            <a:xfrm>
              <a:off x="2410" y="2187"/>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65" name="矩形 149"/>
            <p:cNvSpPr/>
            <p:nvPr/>
          </p:nvSpPr>
          <p:spPr>
            <a:xfrm>
              <a:off x="2571" y="2187"/>
              <a:ext cx="163"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66" name="矩形 150"/>
            <p:cNvSpPr/>
            <p:nvPr/>
          </p:nvSpPr>
          <p:spPr>
            <a:xfrm>
              <a:off x="2734" y="2187"/>
              <a:ext cx="159"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67" name="矩形 151"/>
            <p:cNvSpPr/>
            <p:nvPr/>
          </p:nvSpPr>
          <p:spPr>
            <a:xfrm>
              <a:off x="2893" y="2187"/>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68" name="矩形 152"/>
            <p:cNvSpPr/>
            <p:nvPr/>
          </p:nvSpPr>
          <p:spPr>
            <a:xfrm>
              <a:off x="3055" y="2187"/>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69" name="矩形 153"/>
            <p:cNvSpPr/>
            <p:nvPr/>
          </p:nvSpPr>
          <p:spPr>
            <a:xfrm>
              <a:off x="3216" y="2187"/>
              <a:ext cx="164"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0" name="矩形 154"/>
            <p:cNvSpPr/>
            <p:nvPr/>
          </p:nvSpPr>
          <p:spPr>
            <a:xfrm>
              <a:off x="3380" y="2187"/>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1" name="矩形 155"/>
            <p:cNvSpPr/>
            <p:nvPr/>
          </p:nvSpPr>
          <p:spPr>
            <a:xfrm>
              <a:off x="3542" y="2187"/>
              <a:ext cx="158"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2" name="矩形 156"/>
            <p:cNvSpPr/>
            <p:nvPr/>
          </p:nvSpPr>
          <p:spPr>
            <a:xfrm>
              <a:off x="3700" y="2187"/>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3" name="矩形 157"/>
            <p:cNvSpPr/>
            <p:nvPr/>
          </p:nvSpPr>
          <p:spPr>
            <a:xfrm>
              <a:off x="3861" y="2187"/>
              <a:ext cx="164"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4" name="矩形 158"/>
            <p:cNvSpPr/>
            <p:nvPr/>
          </p:nvSpPr>
          <p:spPr>
            <a:xfrm>
              <a:off x="4025" y="2187"/>
              <a:ext cx="162"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5" name="矩形 159"/>
            <p:cNvSpPr/>
            <p:nvPr/>
          </p:nvSpPr>
          <p:spPr>
            <a:xfrm>
              <a:off x="4187" y="2187"/>
              <a:ext cx="16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6" name="矩形 160"/>
            <p:cNvSpPr/>
            <p:nvPr/>
          </p:nvSpPr>
          <p:spPr>
            <a:xfrm>
              <a:off x="4348" y="2187"/>
              <a:ext cx="151" cy="189"/>
            </a:xfrm>
            <a:prstGeom prst="rect">
              <a:avLst/>
            </a:prstGeom>
            <a:solidFill>
              <a:srgbClr val="FFFFFF"/>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7" name="直接连接符 161"/>
            <p:cNvSpPr/>
            <p:nvPr/>
          </p:nvSpPr>
          <p:spPr>
            <a:xfrm>
              <a:off x="2074" y="2187"/>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8" name="直接连接符 162"/>
            <p:cNvSpPr/>
            <p:nvPr/>
          </p:nvSpPr>
          <p:spPr>
            <a:xfrm>
              <a:off x="2235" y="2187"/>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79" name="直接连接符 163"/>
            <p:cNvSpPr/>
            <p:nvPr/>
          </p:nvSpPr>
          <p:spPr>
            <a:xfrm>
              <a:off x="2396" y="2187"/>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0" name="直接连接符 164"/>
            <p:cNvSpPr/>
            <p:nvPr/>
          </p:nvSpPr>
          <p:spPr>
            <a:xfrm>
              <a:off x="2557" y="2187"/>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1" name="直接连接符 165"/>
            <p:cNvSpPr/>
            <p:nvPr/>
          </p:nvSpPr>
          <p:spPr>
            <a:xfrm>
              <a:off x="2720" y="2187"/>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2" name="直接连接符 166"/>
            <p:cNvSpPr/>
            <p:nvPr/>
          </p:nvSpPr>
          <p:spPr>
            <a:xfrm>
              <a:off x="2880" y="2187"/>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3" name="直接连接符 167"/>
            <p:cNvSpPr/>
            <p:nvPr/>
          </p:nvSpPr>
          <p:spPr>
            <a:xfrm>
              <a:off x="3041" y="2187"/>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4" name="直接连接符 168"/>
            <p:cNvSpPr/>
            <p:nvPr/>
          </p:nvSpPr>
          <p:spPr>
            <a:xfrm>
              <a:off x="3203" y="2187"/>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5" name="直接连接符 169"/>
            <p:cNvSpPr/>
            <p:nvPr/>
          </p:nvSpPr>
          <p:spPr>
            <a:xfrm>
              <a:off x="3367" y="2187"/>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6" name="直接连接符 170"/>
            <p:cNvSpPr/>
            <p:nvPr/>
          </p:nvSpPr>
          <p:spPr>
            <a:xfrm>
              <a:off x="3528" y="2187"/>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7" name="直接连接符 171"/>
            <p:cNvSpPr/>
            <p:nvPr/>
          </p:nvSpPr>
          <p:spPr>
            <a:xfrm>
              <a:off x="3686" y="2187"/>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8" name="直接连接符 172"/>
            <p:cNvSpPr/>
            <p:nvPr/>
          </p:nvSpPr>
          <p:spPr>
            <a:xfrm>
              <a:off x="3849" y="2187"/>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89" name="直接连接符 173"/>
            <p:cNvSpPr/>
            <p:nvPr/>
          </p:nvSpPr>
          <p:spPr>
            <a:xfrm>
              <a:off x="4012" y="2187"/>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90" name="直接连接符 174"/>
            <p:cNvSpPr/>
            <p:nvPr/>
          </p:nvSpPr>
          <p:spPr>
            <a:xfrm>
              <a:off x="4173" y="2187"/>
              <a:ext cx="2"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91" name="直接连接符 175"/>
            <p:cNvSpPr/>
            <p:nvPr/>
          </p:nvSpPr>
          <p:spPr>
            <a:xfrm>
              <a:off x="4335" y="2187"/>
              <a:ext cx="1" cy="189"/>
            </a:xfrm>
            <a:prstGeom prst="line">
              <a:avLst/>
            </a:prstGeom>
            <a:ln w="14288"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0592" name="矩形 176"/>
            <p:cNvSpPr/>
            <p:nvPr/>
          </p:nvSpPr>
          <p:spPr>
            <a:xfrm>
              <a:off x="1920" y="2184"/>
              <a:ext cx="2586" cy="197"/>
            </a:xfrm>
            <a:prstGeom prst="rect">
              <a:avLst/>
            </a:prstGeom>
            <a:noFill/>
            <a:ln w="14288"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178" name="文本框 177"/>
            <p:cNvSpPr txBox="1"/>
            <p:nvPr/>
          </p:nvSpPr>
          <p:spPr>
            <a:xfrm>
              <a:off x="4656" y="2160"/>
              <a:ext cx="864" cy="218"/>
            </a:xfrm>
            <a:prstGeom prst="rect">
              <a:avLst/>
            </a:prstGeom>
            <a:noFill/>
            <a:ln w="25400">
              <a:noFill/>
              <a:miter/>
            </a:ln>
          </p:spPr>
          <p:txBody>
            <a:bodyPr lIns="0" tIns="0" rIns="0" bIns="0">
              <a:spAutoFit/>
            </a:bodyPr>
            <a:lstStyle/>
            <a:p>
              <a:pPr>
                <a:spcBef>
                  <a:spcPct val="50000"/>
                </a:spcBef>
                <a:buClr>
                  <a:srgbClr val="B4B9BE"/>
                </a:buClr>
                <a:buFont typeface="Wingdings" panose="05000000000000000000" pitchFamily="2" charset="2"/>
              </a:pPr>
              <a:r>
                <a:rPr lang="en-US" altLang="zh-CN" noProof="1">
                  <a:effectLst>
                    <a:outerShdw blurRad="38100" dist="38100" dir="2700000">
                      <a:srgbClr val="C0C0C0"/>
                    </a:outerShdw>
                  </a:effectLst>
                  <a:latin typeface="Times New Roman" panose="02020603050405020304" pitchFamily="18" charset="0"/>
                  <a:ea typeface="楷体_GB2312" pitchFamily="49" charset="-122"/>
                  <a:cs typeface="+mn-cs"/>
                </a:rPr>
                <a:t>IP</a:t>
              </a:r>
              <a:endParaRPr lang="zh-CN" altLang="en-US" b="0" noProof="1">
                <a:latin typeface="Times New Roman" panose="02020603050405020304" pitchFamily="18" charset="0"/>
                <a:ea typeface="楷体_GB2312" pitchFamily="49" charset="-122"/>
              </a:endParaRPr>
            </a:p>
          </p:txBody>
        </p:sp>
      </p:grpSp>
      <p:sp>
        <p:nvSpPr>
          <p:cNvPr id="60594" name="文本框 178"/>
          <p:cNvSpPr txBox="1"/>
          <p:nvPr/>
        </p:nvSpPr>
        <p:spPr>
          <a:xfrm>
            <a:off x="2165350" y="425450"/>
            <a:ext cx="4629150" cy="481013"/>
          </a:xfrm>
          <a:prstGeom prst="rect">
            <a:avLst/>
          </a:prstGeom>
          <a:noFill/>
          <a:ln w="9525">
            <a:noFill/>
          </a:ln>
        </p:spPr>
        <p:txBody>
          <a:bodyPr wrap="none" anchor="t" anchorCtr="0">
            <a:spAutoFit/>
          </a:bodyPr>
          <a:lstStyle/>
          <a:p>
            <a:r>
              <a:rPr lang="zh-CN" altLang="zh-CN" sz="2800" dirty="0">
                <a:solidFill>
                  <a:srgbClr val="FFFF00"/>
                </a:solidFill>
                <a:latin typeface="宋体" panose="02010600030101010101" pitchFamily="2" charset="-122"/>
                <a:ea typeface="宋体" panose="02010600030101010101" pitchFamily="2" charset="-122"/>
                <a:sym typeface="Arial" panose="020B0604020202020204" pitchFamily="34" charset="0"/>
              </a:rPr>
              <a:t>指令物理地址</a:t>
            </a:r>
            <a:r>
              <a:rPr lang="en-US" altLang="zh-CN" sz="2800" dirty="0">
                <a:solidFill>
                  <a:srgbClr val="FFFF00"/>
                </a:solidFill>
                <a:latin typeface="宋体" panose="02010600030101010101" pitchFamily="2" charset="-122"/>
                <a:ea typeface="宋体" panose="02010600030101010101" pitchFamily="2" charset="-122"/>
                <a:sym typeface="Arial" panose="020B0604020202020204" pitchFamily="34" charset="0"/>
              </a:rPr>
              <a:t>=CS×10H + IP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500" fill="hold"/>
                                        <p:tgtEl>
                                          <p:spTgt spid="61"/>
                                        </p:tgtEl>
                                        <p:attrNameLst>
                                          <p:attrName>ppt_x</p:attrName>
                                        </p:attrNameLst>
                                      </p:cBhvr>
                                      <p:tavLst>
                                        <p:tav tm="0">
                                          <p:val>
                                            <p:strVal val="#ppt_x+#ppt_w/2"/>
                                          </p:val>
                                        </p:tav>
                                        <p:tav tm="100000">
                                          <p:val>
                                            <p:strVal val="#ppt_x"/>
                                          </p:val>
                                        </p:tav>
                                      </p:tavLst>
                                    </p:anim>
                                    <p:anim calcmode="lin" valueType="num">
                                      <p:cBhvr>
                                        <p:cTn id="8" dur="500" fill="hold"/>
                                        <p:tgtEl>
                                          <p:spTgt spid="61"/>
                                        </p:tgtEl>
                                        <p:attrNameLst>
                                          <p:attrName>ppt_y</p:attrName>
                                        </p:attrNameLst>
                                      </p:cBhvr>
                                      <p:tavLst>
                                        <p:tav tm="0">
                                          <p:val>
                                            <p:strVal val="#ppt_y"/>
                                          </p:val>
                                        </p:tav>
                                        <p:tav tm="100000">
                                          <p:val>
                                            <p:strVal val="#ppt_y"/>
                                          </p:val>
                                        </p:tav>
                                      </p:tavLst>
                                    </p:anim>
                                    <p:anim calcmode="lin" valueType="num">
                                      <p:cBhvr>
                                        <p:cTn id="9" dur="500" fill="hold"/>
                                        <p:tgtEl>
                                          <p:spTgt spid="61"/>
                                        </p:tgtEl>
                                        <p:attrNameLst>
                                          <p:attrName>ppt_w</p:attrName>
                                        </p:attrNameLst>
                                      </p:cBhvr>
                                      <p:tavLst>
                                        <p:tav tm="0">
                                          <p:val>
                                            <p:fltVal val="0"/>
                                          </p:val>
                                        </p:tav>
                                        <p:tav tm="100000">
                                          <p:val>
                                            <p:strVal val="#ppt_w"/>
                                          </p:val>
                                        </p:tav>
                                      </p:tavLst>
                                    </p:anim>
                                    <p:anim calcmode="lin" valueType="num">
                                      <p:cBhvr>
                                        <p:cTn id="10" dur="500" fill="hold"/>
                                        <p:tgtEl>
                                          <p:spTgt spid="61"/>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2" fill="hold" nodeType="clickEffect">
                                  <p:stCondLst>
                                    <p:cond delay="0"/>
                                  </p:stCondLst>
                                  <p:childTnLst>
                                    <p:set>
                                      <p:cBhvr>
                                        <p:cTn id="14" dur="1" fill="hold">
                                          <p:stCondLst>
                                            <p:cond delay="0"/>
                                          </p:stCondLst>
                                        </p:cTn>
                                        <p:tgtEl>
                                          <p:spTgt spid="145"/>
                                        </p:tgtEl>
                                        <p:attrNameLst>
                                          <p:attrName>style.visibility</p:attrName>
                                        </p:attrNameLst>
                                      </p:cBhvr>
                                      <p:to>
                                        <p:strVal val="visible"/>
                                      </p:to>
                                    </p:set>
                                    <p:anim calcmode="lin" valueType="num">
                                      <p:cBhvr>
                                        <p:cTn id="15" dur="500" fill="hold"/>
                                        <p:tgtEl>
                                          <p:spTgt spid="145"/>
                                        </p:tgtEl>
                                        <p:attrNameLst>
                                          <p:attrName>ppt_x</p:attrName>
                                        </p:attrNameLst>
                                      </p:cBhvr>
                                      <p:tavLst>
                                        <p:tav tm="0">
                                          <p:val>
                                            <p:strVal val="#ppt_x+#ppt_w/2"/>
                                          </p:val>
                                        </p:tav>
                                        <p:tav tm="100000">
                                          <p:val>
                                            <p:strVal val="#ppt_x"/>
                                          </p:val>
                                        </p:tav>
                                      </p:tavLst>
                                    </p:anim>
                                    <p:anim calcmode="lin" valueType="num">
                                      <p:cBhvr>
                                        <p:cTn id="16" dur="500" fill="hold"/>
                                        <p:tgtEl>
                                          <p:spTgt spid="145"/>
                                        </p:tgtEl>
                                        <p:attrNameLst>
                                          <p:attrName>ppt_y</p:attrName>
                                        </p:attrNameLst>
                                      </p:cBhvr>
                                      <p:tavLst>
                                        <p:tav tm="0">
                                          <p:val>
                                            <p:strVal val="#ppt_y"/>
                                          </p:val>
                                        </p:tav>
                                        <p:tav tm="100000">
                                          <p:val>
                                            <p:strVal val="#ppt_y"/>
                                          </p:val>
                                        </p:tav>
                                      </p:tavLst>
                                    </p:anim>
                                    <p:anim calcmode="lin" valueType="num">
                                      <p:cBhvr>
                                        <p:cTn id="17" dur="500" fill="hold"/>
                                        <p:tgtEl>
                                          <p:spTgt spid="145"/>
                                        </p:tgtEl>
                                        <p:attrNameLst>
                                          <p:attrName>ppt_w</p:attrName>
                                        </p:attrNameLst>
                                      </p:cBhvr>
                                      <p:tavLst>
                                        <p:tav tm="0">
                                          <p:val>
                                            <p:fltVal val="0"/>
                                          </p:val>
                                        </p:tav>
                                        <p:tav tm="100000">
                                          <p:val>
                                            <p:strVal val="#ppt_w"/>
                                          </p:val>
                                        </p:tav>
                                      </p:tavLst>
                                    </p:anim>
                                    <p:anim calcmode="lin" valueType="num">
                                      <p:cBhvr>
                                        <p:cTn id="18" dur="500" fill="hold"/>
                                        <p:tgtEl>
                                          <p:spTgt spid="145"/>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ppt_x</p:attrName>
                                        </p:attrNameLst>
                                      </p:cBhvr>
                                      <p:tavLst>
                                        <p:tav tm="0">
                                          <p:val>
                                            <p:strVal val="0-#ppt_w/2"/>
                                          </p:val>
                                        </p:tav>
                                        <p:tav tm="100000">
                                          <p:val>
                                            <p:strVal val="#ppt_x"/>
                                          </p:val>
                                        </p:tav>
                                      </p:tavLst>
                                    </p:anim>
                                    <p:anim calcmode="lin" valueType="num">
                                      <p:cBhvr>
                                        <p:cTn id="2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2"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ppt_x</p:attrName>
                                        </p:attrNameLst>
                                      </p:cBhvr>
                                      <p:tavLst>
                                        <p:tav tm="0">
                                          <p:val>
                                            <p:strVal val="#ppt_x+#ppt_w/2"/>
                                          </p:val>
                                        </p:tav>
                                        <p:tav tm="100000">
                                          <p:val>
                                            <p:strVal val="#ppt_x"/>
                                          </p:val>
                                        </p:tav>
                                      </p:tavLst>
                                    </p:anim>
                                    <p:anim calcmode="lin" valueType="num">
                                      <p:cBhvr>
                                        <p:cTn id="30" dur="500" fill="hold"/>
                                        <p:tgtEl>
                                          <p:spTgt spid="4"/>
                                        </p:tgtEl>
                                        <p:attrNameLst>
                                          <p:attrName>ppt_y</p:attrName>
                                        </p:attrNameLst>
                                      </p:cBhvr>
                                      <p:tavLst>
                                        <p:tav tm="0">
                                          <p:val>
                                            <p:strVal val="#ppt_y"/>
                                          </p:val>
                                        </p:tav>
                                        <p:tav tm="100000">
                                          <p:val>
                                            <p:strVal val="#ppt_y"/>
                                          </p:val>
                                        </p:tav>
                                      </p:tavLst>
                                    </p:anim>
                                    <p:anim calcmode="lin" valueType="num">
                                      <p:cBhvr>
                                        <p:cTn id="31" dur="500" fill="hold"/>
                                        <p:tgtEl>
                                          <p:spTgt spid="4"/>
                                        </p:tgtEl>
                                        <p:attrNameLst>
                                          <p:attrName>ppt_w</p:attrName>
                                        </p:attrNameLst>
                                      </p:cBhvr>
                                      <p:tavLst>
                                        <p:tav tm="0">
                                          <p:val>
                                            <p:fltVal val="0"/>
                                          </p:val>
                                        </p:tav>
                                        <p:tav tm="100000">
                                          <p:val>
                                            <p:strVal val="#ppt_w"/>
                                          </p:val>
                                        </p:tav>
                                      </p:tavLst>
                                    </p:anim>
                                    <p:anim calcmode="lin" valueType="num">
                                      <p:cBhvr>
                                        <p:cTn id="32"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 fill="hold" nodeType="clickEffect">
                                  <p:stCondLst>
                                    <p:cond delay="0"/>
                                  </p:stCondLst>
                                  <p:childTnLst>
                                    <p:set>
                                      <p:cBhvr>
                                        <p:cTn id="36" dur="1" fill="hold">
                                          <p:stCondLst>
                                            <p:cond delay="0"/>
                                          </p:stCondLst>
                                        </p:cTn>
                                        <p:tgtEl>
                                          <p:spTgt spid="46"/>
                                        </p:tgtEl>
                                        <p:attrNameLst>
                                          <p:attrName>style.visibility</p:attrName>
                                        </p:attrNameLst>
                                      </p:cBhvr>
                                      <p:to>
                                        <p:strVal val="visible"/>
                                      </p:to>
                                    </p:set>
                                    <p:anim calcmode="lin" valueType="num">
                                      <p:cBhvr>
                                        <p:cTn id="37" dur="500" fill="hold"/>
                                        <p:tgtEl>
                                          <p:spTgt spid="46"/>
                                        </p:tgtEl>
                                        <p:attrNameLst>
                                          <p:attrName>ppt_x</p:attrName>
                                        </p:attrNameLst>
                                      </p:cBhvr>
                                      <p:tavLst>
                                        <p:tav tm="0">
                                          <p:val>
                                            <p:strVal val="#ppt_x"/>
                                          </p:val>
                                        </p:tav>
                                        <p:tav tm="100000">
                                          <p:val>
                                            <p:strVal val="#ppt_x"/>
                                          </p:val>
                                        </p:tav>
                                      </p:tavLst>
                                    </p:anim>
                                    <p:anim calcmode="lin" valueType="num">
                                      <p:cBhvr>
                                        <p:cTn id="38" dur="500" fill="hold"/>
                                        <p:tgtEl>
                                          <p:spTgt spid="46"/>
                                        </p:tgtEl>
                                        <p:attrNameLst>
                                          <p:attrName>ppt_y</p:attrName>
                                        </p:attrNameLst>
                                      </p:cBhvr>
                                      <p:tavLst>
                                        <p:tav tm="0">
                                          <p:val>
                                            <p:strVal val="#ppt_y-#ppt_h/2"/>
                                          </p:val>
                                        </p:tav>
                                        <p:tav tm="100000">
                                          <p:val>
                                            <p:strVal val="#ppt_y"/>
                                          </p:val>
                                        </p:tav>
                                      </p:tavLst>
                                    </p:anim>
                                    <p:anim calcmode="lin" valueType="num">
                                      <p:cBhvr>
                                        <p:cTn id="39" dur="500" fill="hold"/>
                                        <p:tgtEl>
                                          <p:spTgt spid="46"/>
                                        </p:tgtEl>
                                        <p:attrNameLst>
                                          <p:attrName>ppt_w</p:attrName>
                                        </p:attrNameLst>
                                      </p:cBhvr>
                                      <p:tavLst>
                                        <p:tav tm="0">
                                          <p:val>
                                            <p:strVal val="#ppt_w"/>
                                          </p:val>
                                        </p:tav>
                                        <p:tav tm="100000">
                                          <p:val>
                                            <p:strVal val="#ppt_w"/>
                                          </p:val>
                                        </p:tav>
                                      </p:tavLst>
                                    </p:anim>
                                    <p:anim calcmode="lin" valueType="num">
                                      <p:cBhvr>
                                        <p:cTn id="40" dur="500" fill="hold"/>
                                        <p:tgtEl>
                                          <p:spTgt spid="46"/>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 fill="hold"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p:cTn id="45" dur="500" fill="hold"/>
                                        <p:tgtEl>
                                          <p:spTgt spid="49"/>
                                        </p:tgtEl>
                                        <p:attrNameLst>
                                          <p:attrName>ppt_x</p:attrName>
                                        </p:attrNameLst>
                                      </p:cBhvr>
                                      <p:tavLst>
                                        <p:tav tm="0">
                                          <p:val>
                                            <p:strVal val="#ppt_x"/>
                                          </p:val>
                                        </p:tav>
                                        <p:tav tm="100000">
                                          <p:val>
                                            <p:strVal val="#ppt_x"/>
                                          </p:val>
                                        </p:tav>
                                      </p:tavLst>
                                    </p:anim>
                                    <p:anim calcmode="lin" valueType="num">
                                      <p:cBhvr>
                                        <p:cTn id="46" dur="500" fill="hold"/>
                                        <p:tgtEl>
                                          <p:spTgt spid="49"/>
                                        </p:tgtEl>
                                        <p:attrNameLst>
                                          <p:attrName>ppt_y</p:attrName>
                                        </p:attrNameLst>
                                      </p:cBhvr>
                                      <p:tavLst>
                                        <p:tav tm="0">
                                          <p:val>
                                            <p:strVal val="#ppt_y-#ppt_h/2"/>
                                          </p:val>
                                        </p:tav>
                                        <p:tav tm="100000">
                                          <p:val>
                                            <p:strVal val="#ppt_y"/>
                                          </p:val>
                                        </p:tav>
                                      </p:tavLst>
                                    </p:anim>
                                    <p:anim calcmode="lin" valueType="num">
                                      <p:cBhvr>
                                        <p:cTn id="47" dur="500" fill="hold"/>
                                        <p:tgtEl>
                                          <p:spTgt spid="49"/>
                                        </p:tgtEl>
                                        <p:attrNameLst>
                                          <p:attrName>ppt_w</p:attrName>
                                        </p:attrNameLst>
                                      </p:cBhvr>
                                      <p:tavLst>
                                        <p:tav tm="0">
                                          <p:val>
                                            <p:strVal val="#ppt_w"/>
                                          </p:val>
                                        </p:tav>
                                        <p:tav tm="100000">
                                          <p:val>
                                            <p:strVal val="#ppt_w"/>
                                          </p:val>
                                        </p:tav>
                                      </p:tavLst>
                                    </p:anim>
                                    <p:anim calcmode="lin" valueType="num">
                                      <p:cBhvr>
                                        <p:cTn id="48" dur="500" fill="hold"/>
                                        <p:tgtEl>
                                          <p:spTgt spid="49"/>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1" fill="hold" nodeType="clickEffect">
                                  <p:stCondLst>
                                    <p:cond delay="0"/>
                                  </p:stCondLst>
                                  <p:childTnLst>
                                    <p:set>
                                      <p:cBhvr>
                                        <p:cTn id="52" dur="1" fill="hold">
                                          <p:stCondLst>
                                            <p:cond delay="0"/>
                                          </p:stCondLst>
                                        </p:cTn>
                                        <p:tgtEl>
                                          <p:spTgt spid="60"/>
                                        </p:tgtEl>
                                        <p:attrNameLst>
                                          <p:attrName>style.visibility</p:attrName>
                                        </p:attrNameLst>
                                      </p:cBhvr>
                                      <p:to>
                                        <p:strVal val="visible"/>
                                      </p:to>
                                    </p:set>
                                    <p:anim calcmode="lin" valueType="num">
                                      <p:cBhvr>
                                        <p:cTn id="53" dur="500" fill="hold"/>
                                        <p:tgtEl>
                                          <p:spTgt spid="60"/>
                                        </p:tgtEl>
                                        <p:attrNameLst>
                                          <p:attrName>ppt_x</p:attrName>
                                        </p:attrNameLst>
                                      </p:cBhvr>
                                      <p:tavLst>
                                        <p:tav tm="0">
                                          <p:val>
                                            <p:strVal val="#ppt_x"/>
                                          </p:val>
                                        </p:tav>
                                        <p:tav tm="100000">
                                          <p:val>
                                            <p:strVal val="#ppt_x"/>
                                          </p:val>
                                        </p:tav>
                                      </p:tavLst>
                                    </p:anim>
                                    <p:anim calcmode="lin" valueType="num">
                                      <p:cBhvr>
                                        <p:cTn id="54" dur="500" fill="hold"/>
                                        <p:tgtEl>
                                          <p:spTgt spid="60"/>
                                        </p:tgtEl>
                                        <p:attrNameLst>
                                          <p:attrName>ppt_y</p:attrName>
                                        </p:attrNameLst>
                                      </p:cBhvr>
                                      <p:tavLst>
                                        <p:tav tm="0">
                                          <p:val>
                                            <p:strVal val="#ppt_y-#ppt_h/2"/>
                                          </p:val>
                                        </p:tav>
                                        <p:tav tm="100000">
                                          <p:val>
                                            <p:strVal val="#ppt_y"/>
                                          </p:val>
                                        </p:tav>
                                      </p:tavLst>
                                    </p:anim>
                                    <p:anim calcmode="lin" valueType="num">
                                      <p:cBhvr>
                                        <p:cTn id="55" dur="500" fill="hold"/>
                                        <p:tgtEl>
                                          <p:spTgt spid="60"/>
                                        </p:tgtEl>
                                        <p:attrNameLst>
                                          <p:attrName>ppt_w</p:attrName>
                                        </p:attrNameLst>
                                      </p:cBhvr>
                                      <p:tavLst>
                                        <p:tav tm="0">
                                          <p:val>
                                            <p:strVal val="#ppt_w"/>
                                          </p:val>
                                        </p:tav>
                                        <p:tav tm="100000">
                                          <p:val>
                                            <p:strVal val="#ppt_w"/>
                                          </p:val>
                                        </p:tav>
                                      </p:tavLst>
                                    </p:anim>
                                    <p:anim calcmode="lin" valueType="num">
                                      <p:cBhvr>
                                        <p:cTn id="56" dur="500" fill="hold"/>
                                        <p:tgtEl>
                                          <p:spTgt spid="60"/>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7" presetClass="entr" presetSubtype="1" fill="hold" nodeType="clickEffect">
                                  <p:stCondLst>
                                    <p:cond delay="0"/>
                                  </p:stCondLst>
                                  <p:childTnLst>
                                    <p:set>
                                      <p:cBhvr>
                                        <p:cTn id="60" dur="1" fill="hold">
                                          <p:stCondLst>
                                            <p:cond delay="0"/>
                                          </p:stCondLst>
                                        </p:cTn>
                                        <p:tgtEl>
                                          <p:spTgt spid="99"/>
                                        </p:tgtEl>
                                        <p:attrNameLst>
                                          <p:attrName>style.visibility</p:attrName>
                                        </p:attrNameLst>
                                      </p:cBhvr>
                                      <p:to>
                                        <p:strVal val="visible"/>
                                      </p:to>
                                    </p:set>
                                    <p:anim calcmode="lin" valueType="num">
                                      <p:cBhvr>
                                        <p:cTn id="61" dur="500" fill="hold"/>
                                        <p:tgtEl>
                                          <p:spTgt spid="99"/>
                                        </p:tgtEl>
                                        <p:attrNameLst>
                                          <p:attrName>ppt_x</p:attrName>
                                        </p:attrNameLst>
                                      </p:cBhvr>
                                      <p:tavLst>
                                        <p:tav tm="0">
                                          <p:val>
                                            <p:strVal val="#ppt_x"/>
                                          </p:val>
                                        </p:tav>
                                        <p:tav tm="100000">
                                          <p:val>
                                            <p:strVal val="#ppt_x"/>
                                          </p:val>
                                        </p:tav>
                                      </p:tavLst>
                                    </p:anim>
                                    <p:anim calcmode="lin" valueType="num">
                                      <p:cBhvr>
                                        <p:cTn id="62" dur="500" fill="hold"/>
                                        <p:tgtEl>
                                          <p:spTgt spid="99"/>
                                        </p:tgtEl>
                                        <p:attrNameLst>
                                          <p:attrName>ppt_y</p:attrName>
                                        </p:attrNameLst>
                                      </p:cBhvr>
                                      <p:tavLst>
                                        <p:tav tm="0">
                                          <p:val>
                                            <p:strVal val="#ppt_y-#ppt_h/2"/>
                                          </p:val>
                                        </p:tav>
                                        <p:tav tm="100000">
                                          <p:val>
                                            <p:strVal val="#ppt_y"/>
                                          </p:val>
                                        </p:tav>
                                      </p:tavLst>
                                    </p:anim>
                                    <p:anim calcmode="lin" valueType="num">
                                      <p:cBhvr>
                                        <p:cTn id="63" dur="500" fill="hold"/>
                                        <p:tgtEl>
                                          <p:spTgt spid="99"/>
                                        </p:tgtEl>
                                        <p:attrNameLst>
                                          <p:attrName>ppt_w</p:attrName>
                                        </p:attrNameLst>
                                      </p:cBhvr>
                                      <p:tavLst>
                                        <p:tav tm="0">
                                          <p:val>
                                            <p:strVal val="#ppt_w"/>
                                          </p:val>
                                        </p:tav>
                                        <p:tav tm="100000">
                                          <p:val>
                                            <p:strVal val="#ppt_w"/>
                                          </p:val>
                                        </p:tav>
                                      </p:tavLst>
                                    </p:anim>
                                    <p:anim calcmode="lin" valueType="num">
                                      <p:cBhvr>
                                        <p:cTn id="64" dur="500" fill="hold"/>
                                        <p:tgtEl>
                                          <p:spTgt spid="9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2.1.2  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的内部寄存器</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6246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62467" name="内容占位符 4"/>
          <p:cNvSpPr>
            <a:spLocks noGrp="1"/>
          </p:cNvSpPr>
          <p:nvPr>
            <p:ph idx="1"/>
          </p:nvPr>
        </p:nvSpPr>
        <p:spPr>
          <a:xfrm>
            <a:off x="150813" y="1571625"/>
            <a:ext cx="8513762" cy="4918075"/>
          </a:xfrm>
          <a:ln/>
        </p:spPr>
        <p:txBody>
          <a:bodyPr wrap="square" lIns="92075" tIns="46038" rIns="92075" bIns="46038" anchor="t" anchorCtr="0"/>
          <a:lstStyle/>
          <a:p>
            <a:pPr algn="just" eaLnBrk="1" hangingPunct="1">
              <a:buNone/>
            </a:pPr>
            <a:r>
              <a:rPr lang="en-US" altLang="zh-CN" sz="2400" dirty="0"/>
              <a:t>     3</a:t>
            </a:r>
            <a:r>
              <a:rPr lang="zh-CN" altLang="zh-CN" sz="2400" dirty="0"/>
              <a:t>．控制寄存器</a:t>
            </a:r>
          </a:p>
          <a:p>
            <a:pPr algn="just" eaLnBrk="1" hangingPunct="1">
              <a:buNone/>
            </a:pPr>
            <a:r>
              <a:rPr lang="en-US" altLang="zh-CN" sz="2400" dirty="0"/>
              <a:t>     1</a:t>
            </a:r>
            <a:r>
              <a:rPr lang="zh-CN" altLang="zh-CN" sz="2400" dirty="0"/>
              <a:t>）指令指针</a:t>
            </a:r>
            <a:r>
              <a:rPr lang="en-US" altLang="zh-CN" sz="2400" dirty="0"/>
              <a:t>IP</a:t>
            </a:r>
            <a:endParaRPr lang="zh-CN" altLang="zh-CN" sz="2400" dirty="0"/>
          </a:p>
          <a:p>
            <a:pPr algn="just" eaLnBrk="1" hangingPunct="1">
              <a:buNone/>
            </a:pPr>
            <a:r>
              <a:rPr lang="en-US" altLang="zh-CN" sz="2400" dirty="0"/>
              <a:t>             IP</a:t>
            </a:r>
            <a:r>
              <a:rPr lang="zh-CN" altLang="zh-CN" sz="2400" dirty="0"/>
              <a:t>用于控制程序中指令的执行顺序，正常运行时，</a:t>
            </a:r>
            <a:r>
              <a:rPr lang="en-US" altLang="zh-CN" sz="2400" dirty="0"/>
              <a:t>IP</a:t>
            </a:r>
            <a:r>
              <a:rPr lang="zh-CN" altLang="zh-CN" sz="2400" dirty="0"/>
              <a:t>中含有</a:t>
            </a:r>
            <a:r>
              <a:rPr lang="en-US" altLang="zh-CN" sz="2400" dirty="0"/>
              <a:t>BIU</a:t>
            </a:r>
            <a:r>
              <a:rPr lang="zh-CN" altLang="zh-CN" sz="2400" dirty="0"/>
              <a:t>要取的下一条指令的偏移地址。一般情况下，每取一次指令代码，</a:t>
            </a:r>
            <a:r>
              <a:rPr lang="en-US" altLang="zh-CN" sz="2400" dirty="0"/>
              <a:t>IP</a:t>
            </a:r>
            <a:r>
              <a:rPr lang="zh-CN" altLang="zh-CN" sz="2400" dirty="0"/>
              <a:t>就会自动加</a:t>
            </a:r>
            <a:r>
              <a:rPr lang="en-US" altLang="zh-CN" sz="2400" dirty="0"/>
              <a:t>1</a:t>
            </a:r>
            <a:r>
              <a:rPr lang="zh-CN" altLang="zh-CN" sz="2400" dirty="0"/>
              <a:t>，从而保证指令的顺序执行。</a:t>
            </a:r>
            <a:r>
              <a:rPr lang="en-US" altLang="zh-CN" sz="2400" dirty="0"/>
              <a:t>IP</a:t>
            </a:r>
            <a:r>
              <a:rPr lang="zh-CN" altLang="zh-CN" sz="2400" dirty="0"/>
              <a:t>实际上是指令机器码存放单元的地址指针，</a:t>
            </a:r>
            <a:r>
              <a:rPr lang="en-US" altLang="zh-CN" sz="2400" dirty="0"/>
              <a:t>IP</a:t>
            </a:r>
            <a:r>
              <a:rPr lang="zh-CN" altLang="zh-CN" sz="2400" dirty="0"/>
              <a:t>的内容可以被转移类指令强迫改写。当需要改变程序的执行顺序时，只要改写</a:t>
            </a:r>
            <a:r>
              <a:rPr lang="en-US" altLang="zh-CN" sz="2400" dirty="0"/>
              <a:t>IP</a:t>
            </a:r>
            <a:r>
              <a:rPr lang="zh-CN" altLang="zh-CN" sz="2400" dirty="0"/>
              <a:t>的内容就可以了。应当注意，编制的程序不能直接访问</a:t>
            </a:r>
            <a:r>
              <a:rPr lang="en-US" altLang="zh-CN" sz="2400" dirty="0"/>
              <a:t>IP</a:t>
            </a:r>
            <a:r>
              <a:rPr lang="zh-CN" altLang="zh-CN" sz="2400" dirty="0"/>
              <a:t>，不能取</a:t>
            </a:r>
            <a:r>
              <a:rPr lang="en-US" altLang="zh-CN" sz="2400" dirty="0"/>
              <a:t>IP</a:t>
            </a:r>
            <a:r>
              <a:rPr lang="zh-CN" altLang="zh-CN" sz="2400" dirty="0"/>
              <a:t>的值或给</a:t>
            </a:r>
            <a:r>
              <a:rPr lang="en-US" altLang="zh-CN" sz="2400" dirty="0"/>
              <a:t>IP</a:t>
            </a:r>
            <a:r>
              <a:rPr lang="zh-CN" altLang="zh-CN" sz="2400" dirty="0"/>
              <a:t>设定值。</a:t>
            </a:r>
            <a:endParaRPr lang="en-US" altLang="zh-CN" sz="2400" dirty="0"/>
          </a:p>
          <a:p>
            <a:pPr eaLnBrk="1" hangingPunct="1">
              <a:buNone/>
            </a:pPr>
            <a:r>
              <a:rPr lang="en-US" altLang="zh-CN" sz="2400" dirty="0"/>
              <a:t>     2</a:t>
            </a:r>
            <a:r>
              <a:rPr lang="zh-CN" altLang="zh-CN" sz="2400" dirty="0"/>
              <a:t>）标志寄存器</a:t>
            </a:r>
            <a:r>
              <a:rPr lang="en-US" altLang="zh-CN" sz="2400" dirty="0"/>
              <a:t>FLAGS</a:t>
            </a:r>
            <a:endParaRPr lang="zh-CN" altLang="zh-CN" sz="2400" dirty="0"/>
          </a:p>
          <a:p>
            <a:pPr eaLnBrk="1" hangingPunct="1">
              <a:buNone/>
            </a:pPr>
            <a:r>
              <a:rPr lang="en-US" altLang="zh-CN" sz="2400" dirty="0"/>
              <a:t>             FLAGS</a:t>
            </a:r>
            <a:r>
              <a:rPr lang="zh-CN" altLang="zh-CN" sz="2400" dirty="0"/>
              <a:t>是一个</a:t>
            </a:r>
            <a:r>
              <a:rPr lang="en-US" altLang="zh-CN" sz="2400" dirty="0"/>
              <a:t>16</a:t>
            </a:r>
            <a:r>
              <a:rPr lang="zh-CN" altLang="zh-CN" sz="2400" dirty="0"/>
              <a:t>位寄存器，</a:t>
            </a:r>
            <a:r>
              <a:rPr lang="en-US" altLang="zh-CN" sz="2400" dirty="0"/>
              <a:t>8086/8088 CPU</a:t>
            </a:r>
            <a:r>
              <a:rPr lang="zh-CN" altLang="zh-CN" sz="2400" dirty="0"/>
              <a:t>只用了其中的</a:t>
            </a:r>
            <a:r>
              <a:rPr lang="en-US" altLang="zh-CN" sz="2400" dirty="0"/>
              <a:t>9</a:t>
            </a:r>
            <a:r>
              <a:rPr lang="zh-CN" altLang="zh-CN" sz="2400" dirty="0"/>
              <a:t>位，这</a:t>
            </a:r>
            <a:r>
              <a:rPr lang="en-US" altLang="zh-CN" sz="2400" dirty="0"/>
              <a:t>9</a:t>
            </a:r>
            <a:r>
              <a:rPr lang="zh-CN" altLang="zh-CN" sz="2400" dirty="0"/>
              <a:t>位包括</a:t>
            </a:r>
            <a:r>
              <a:rPr lang="en-US" altLang="zh-CN" sz="2400" dirty="0"/>
              <a:t>6</a:t>
            </a:r>
            <a:r>
              <a:rPr lang="zh-CN" altLang="zh-CN" sz="2400" dirty="0"/>
              <a:t>个状态标志和</a:t>
            </a:r>
            <a:r>
              <a:rPr lang="en-US" altLang="zh-CN" sz="2400" dirty="0"/>
              <a:t>3</a:t>
            </a:r>
            <a:r>
              <a:rPr lang="zh-CN" altLang="zh-CN" sz="2400" dirty="0"/>
              <a:t>个控制标志。</a:t>
            </a:r>
          </a:p>
          <a:p>
            <a:pPr algn="just" eaLnBrk="1" hangingPunct="1">
              <a:buNone/>
            </a:pPr>
            <a:endParaRPr lang="zh-CN" altLang="zh-CN" sz="2400" dirty="0"/>
          </a:p>
        </p:txBody>
      </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2.1.2  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的内部寄存器</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6451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64515" name="内容占位符 4"/>
          <p:cNvSpPr>
            <a:spLocks noGrp="1"/>
          </p:cNvSpPr>
          <p:nvPr>
            <p:ph idx="1"/>
          </p:nvPr>
        </p:nvSpPr>
        <p:spPr>
          <a:xfrm>
            <a:off x="150813" y="2424113"/>
            <a:ext cx="8513762" cy="3959225"/>
          </a:xfrm>
          <a:ln/>
        </p:spPr>
        <p:txBody>
          <a:bodyPr wrap="square" lIns="92075" tIns="46038" rIns="92075" bIns="46038" anchor="t" anchorCtr="0"/>
          <a:lstStyle/>
          <a:p>
            <a:pPr algn="just" eaLnBrk="1" hangingPunct="1">
              <a:buNone/>
            </a:pPr>
            <a:r>
              <a:rPr lang="en-US" altLang="zh-CN" sz="2400" dirty="0"/>
              <a:t>             </a:t>
            </a:r>
            <a:r>
              <a:rPr lang="zh-CN" altLang="zh-CN" sz="2400" dirty="0"/>
              <a:t>状态标志中用</a:t>
            </a:r>
            <a:r>
              <a:rPr lang="en-US" altLang="zh-CN" sz="2400" dirty="0"/>
              <a:t>6</a:t>
            </a:r>
            <a:r>
              <a:rPr lang="zh-CN" altLang="zh-CN" sz="2400" dirty="0"/>
              <a:t>位来反映</a:t>
            </a:r>
            <a:r>
              <a:rPr lang="en-US" altLang="zh-CN" sz="2400" dirty="0"/>
              <a:t>EU</a:t>
            </a:r>
            <a:r>
              <a:rPr lang="zh-CN" altLang="zh-CN" sz="2400" dirty="0"/>
              <a:t>执行算术或逻辑运算以后的结果特征。这</a:t>
            </a:r>
            <a:r>
              <a:rPr lang="en-US" altLang="zh-CN" sz="2400" dirty="0"/>
              <a:t>6</a:t>
            </a:r>
            <a:r>
              <a:rPr lang="zh-CN" altLang="zh-CN" sz="2400" dirty="0"/>
              <a:t>位都是逻辑值，判断结果为逻辑真时，其值为</a:t>
            </a:r>
            <a:r>
              <a:rPr lang="en-US" altLang="zh-CN" sz="2400" dirty="0"/>
              <a:t>1</a:t>
            </a:r>
            <a:r>
              <a:rPr lang="zh-CN" altLang="zh-CN" sz="2400" dirty="0"/>
              <a:t>；判断结果为逻辑假时，其值为</a:t>
            </a:r>
            <a:r>
              <a:rPr lang="en-US" altLang="zh-CN" sz="2400" dirty="0"/>
              <a:t>0</a:t>
            </a:r>
            <a:r>
              <a:rPr lang="zh-CN" altLang="zh-CN" sz="2400" dirty="0"/>
              <a:t>。</a:t>
            </a:r>
          </a:p>
          <a:p>
            <a:pPr algn="just" eaLnBrk="1" hangingPunct="1">
              <a:buNone/>
            </a:pPr>
            <a:r>
              <a:rPr lang="en-US" altLang="zh-CN" sz="2400" dirty="0"/>
              <a:t>   </a:t>
            </a:r>
            <a:r>
              <a:rPr lang="zh-CN" altLang="zh-CN" sz="2400" dirty="0"/>
              <a:t>（</a:t>
            </a:r>
            <a:r>
              <a:rPr lang="en-US" altLang="zh-CN" sz="2400" dirty="0"/>
              <a:t>1</a:t>
            </a:r>
            <a:r>
              <a:rPr lang="zh-CN" altLang="zh-CN" sz="2400" dirty="0"/>
              <a:t>）进位标志</a:t>
            </a:r>
            <a:r>
              <a:rPr lang="en-US" altLang="zh-CN" sz="2400" dirty="0"/>
              <a:t>CF</a:t>
            </a:r>
            <a:r>
              <a:rPr lang="zh-CN" altLang="zh-CN" sz="2400" dirty="0"/>
              <a:t>（</a:t>
            </a:r>
            <a:r>
              <a:rPr lang="en-US" altLang="zh-CN" sz="2400" dirty="0"/>
              <a:t>Carry Flag</a:t>
            </a:r>
            <a:r>
              <a:rPr lang="zh-CN" altLang="zh-CN" sz="2400" dirty="0"/>
              <a:t>）。</a:t>
            </a:r>
          </a:p>
          <a:p>
            <a:pPr algn="just" eaLnBrk="1" hangingPunct="1">
              <a:buNone/>
            </a:pPr>
            <a:r>
              <a:rPr lang="en-US" altLang="zh-CN" sz="2400" dirty="0"/>
              <a:t>   </a:t>
            </a:r>
            <a:r>
              <a:rPr lang="zh-CN" altLang="zh-CN" sz="2400" dirty="0"/>
              <a:t>（</a:t>
            </a:r>
            <a:r>
              <a:rPr lang="en-US" altLang="zh-CN" sz="2400" dirty="0"/>
              <a:t>2</a:t>
            </a:r>
            <a:r>
              <a:rPr lang="zh-CN" altLang="zh-CN" sz="2400" dirty="0"/>
              <a:t>）奇偶标志</a:t>
            </a:r>
            <a:r>
              <a:rPr lang="en-US" altLang="zh-CN" sz="2400" dirty="0"/>
              <a:t>PF</a:t>
            </a:r>
            <a:r>
              <a:rPr lang="zh-CN" altLang="zh-CN" sz="2400" dirty="0"/>
              <a:t>（</a:t>
            </a:r>
            <a:r>
              <a:rPr lang="en-US" altLang="zh-CN" sz="2400" dirty="0"/>
              <a:t>Parity Flag</a:t>
            </a:r>
            <a:r>
              <a:rPr lang="zh-CN" altLang="zh-CN" sz="2400" dirty="0"/>
              <a:t>）。</a:t>
            </a:r>
          </a:p>
          <a:p>
            <a:pPr algn="just" eaLnBrk="1" hangingPunct="1">
              <a:buNone/>
            </a:pPr>
            <a:r>
              <a:rPr lang="en-US" altLang="zh-CN" sz="2400" dirty="0"/>
              <a:t>   </a:t>
            </a:r>
            <a:r>
              <a:rPr lang="zh-CN" altLang="zh-CN" sz="2400" dirty="0"/>
              <a:t>（</a:t>
            </a:r>
            <a:r>
              <a:rPr lang="en-US" altLang="zh-CN" sz="2400" dirty="0"/>
              <a:t>3</a:t>
            </a:r>
            <a:r>
              <a:rPr lang="zh-CN" altLang="zh-CN" sz="2400" dirty="0"/>
              <a:t>）辅助进位标志</a:t>
            </a:r>
            <a:r>
              <a:rPr lang="en-US" altLang="zh-CN" sz="2400" dirty="0"/>
              <a:t>AF</a:t>
            </a:r>
            <a:r>
              <a:rPr lang="zh-CN" altLang="zh-CN" sz="2400" dirty="0"/>
              <a:t>（</a:t>
            </a:r>
            <a:r>
              <a:rPr lang="en-US" altLang="zh-CN" sz="2400" dirty="0"/>
              <a:t>Auxiliary Flag</a:t>
            </a:r>
            <a:r>
              <a:rPr lang="zh-CN" altLang="zh-CN" sz="2400" dirty="0"/>
              <a:t>）。</a:t>
            </a:r>
          </a:p>
          <a:p>
            <a:pPr algn="just" eaLnBrk="1" hangingPunct="1">
              <a:buNone/>
            </a:pPr>
            <a:r>
              <a:rPr lang="en-US" altLang="zh-CN" sz="2400" dirty="0"/>
              <a:t>   </a:t>
            </a:r>
            <a:r>
              <a:rPr lang="zh-CN" altLang="zh-CN" sz="2400" dirty="0"/>
              <a:t>（</a:t>
            </a:r>
            <a:r>
              <a:rPr lang="en-US" altLang="zh-CN" sz="2400" dirty="0"/>
              <a:t>4</a:t>
            </a:r>
            <a:r>
              <a:rPr lang="zh-CN" altLang="zh-CN" sz="2400" dirty="0"/>
              <a:t>）零标志</a:t>
            </a:r>
            <a:r>
              <a:rPr lang="en-US" altLang="zh-CN" sz="2400" dirty="0"/>
              <a:t>ZF</a:t>
            </a:r>
            <a:r>
              <a:rPr lang="zh-CN" altLang="zh-CN" sz="2400" dirty="0"/>
              <a:t>（</a:t>
            </a:r>
            <a:r>
              <a:rPr lang="en-US" altLang="zh-CN" sz="2400" dirty="0"/>
              <a:t>Zero Flag</a:t>
            </a:r>
            <a:r>
              <a:rPr lang="zh-CN" altLang="zh-CN" sz="2400" dirty="0"/>
              <a:t>）。</a:t>
            </a:r>
          </a:p>
          <a:p>
            <a:pPr algn="just" eaLnBrk="1" hangingPunct="1">
              <a:buNone/>
            </a:pPr>
            <a:r>
              <a:rPr lang="en-US" altLang="zh-CN" sz="2400" dirty="0"/>
              <a:t>   </a:t>
            </a:r>
            <a:r>
              <a:rPr lang="zh-CN" altLang="zh-CN" sz="2400" dirty="0"/>
              <a:t>（</a:t>
            </a:r>
            <a:r>
              <a:rPr lang="en-US" altLang="zh-CN" sz="2400" dirty="0"/>
              <a:t>5</a:t>
            </a:r>
            <a:r>
              <a:rPr lang="zh-CN" altLang="zh-CN" sz="2400" dirty="0"/>
              <a:t>）符号标志</a:t>
            </a:r>
            <a:r>
              <a:rPr lang="en-US" altLang="zh-CN" sz="2400" dirty="0"/>
              <a:t>SF</a:t>
            </a:r>
            <a:r>
              <a:rPr lang="zh-CN" altLang="zh-CN" sz="2400" dirty="0"/>
              <a:t>（</a:t>
            </a:r>
            <a:r>
              <a:rPr lang="en-US" altLang="zh-CN" sz="2400" dirty="0"/>
              <a:t>Sign Flag</a:t>
            </a:r>
            <a:r>
              <a:rPr lang="zh-CN" altLang="zh-CN" sz="2400" dirty="0"/>
              <a:t>）。</a:t>
            </a:r>
          </a:p>
          <a:p>
            <a:pPr algn="just" eaLnBrk="1" hangingPunct="1">
              <a:buNone/>
            </a:pPr>
            <a:r>
              <a:rPr lang="en-US" altLang="zh-CN" sz="2400" dirty="0"/>
              <a:t>   </a:t>
            </a:r>
            <a:r>
              <a:rPr lang="zh-CN" altLang="zh-CN" sz="2400" dirty="0"/>
              <a:t>（</a:t>
            </a:r>
            <a:r>
              <a:rPr lang="en-US" altLang="zh-CN" sz="2400" dirty="0"/>
              <a:t>6</a:t>
            </a:r>
            <a:r>
              <a:rPr lang="zh-CN" altLang="zh-CN" sz="2400" dirty="0"/>
              <a:t>）溢出标志</a:t>
            </a:r>
            <a:r>
              <a:rPr lang="en-US" altLang="zh-CN" sz="2400" dirty="0"/>
              <a:t>OF</a:t>
            </a:r>
            <a:r>
              <a:rPr lang="zh-CN" altLang="zh-CN" sz="2400" dirty="0"/>
              <a:t>（</a:t>
            </a:r>
            <a:r>
              <a:rPr lang="en-US" altLang="zh-CN" sz="2400" dirty="0"/>
              <a:t>Over Flow Flag</a:t>
            </a:r>
            <a:r>
              <a:rPr lang="zh-CN" altLang="zh-CN" sz="2400" dirty="0"/>
              <a:t>）。</a:t>
            </a:r>
          </a:p>
        </p:txBody>
      </p:sp>
      <p:pic>
        <p:nvPicPr>
          <p:cNvPr id="64516" name="图片 36" descr="tu2-6"/>
          <p:cNvPicPr>
            <a:picLocks noChangeAspect="1"/>
          </p:cNvPicPr>
          <p:nvPr/>
        </p:nvPicPr>
        <p:blipFill>
          <a:blip r:embed="rId4"/>
          <a:stretch>
            <a:fillRect/>
          </a:stretch>
        </p:blipFill>
        <p:spPr>
          <a:xfrm>
            <a:off x="1054100" y="1504950"/>
            <a:ext cx="7242175" cy="825500"/>
          </a:xfrm>
          <a:prstGeom prst="rect">
            <a:avLst/>
          </a:prstGeom>
          <a:noFill/>
          <a:ln w="9525">
            <a:noFill/>
          </a:ln>
        </p:spPr>
      </p:pic>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2.1.2  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的内部寄存器</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endParaRPr>
          </a:p>
        </p:txBody>
      </p:sp>
      <p:sp>
        <p:nvSpPr>
          <p:cNvPr id="6656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66563" name="内容占位符 4"/>
          <p:cNvSpPr>
            <a:spLocks noGrp="1"/>
          </p:cNvSpPr>
          <p:nvPr>
            <p:ph idx="1"/>
          </p:nvPr>
        </p:nvSpPr>
        <p:spPr>
          <a:xfrm>
            <a:off x="150813" y="1774825"/>
            <a:ext cx="8513762" cy="4714875"/>
          </a:xfrm>
          <a:ln/>
        </p:spPr>
        <p:txBody>
          <a:bodyPr wrap="square" lIns="92075" tIns="46038" rIns="92075" bIns="46038" anchor="t" anchorCtr="0"/>
          <a:lstStyle/>
          <a:p>
            <a:pPr algn="just" eaLnBrk="1" hangingPunct="1">
              <a:buNone/>
            </a:pPr>
            <a:r>
              <a:rPr lang="en-US" altLang="zh-CN" sz="2400" dirty="0"/>
              <a:t>             </a:t>
            </a:r>
            <a:r>
              <a:rPr lang="zh-CN" altLang="zh-CN" sz="2400" dirty="0"/>
              <a:t>控制标志是一种用于控制</a:t>
            </a:r>
            <a:r>
              <a:rPr lang="en-US" altLang="zh-CN" sz="2400" dirty="0"/>
              <a:t>CPU</a:t>
            </a:r>
            <a:r>
              <a:rPr lang="zh-CN" altLang="zh-CN" sz="2400" dirty="0"/>
              <a:t>工作方式或工作状态的标志，控制标志设置后便对其后面的操作产生控制作用。控制标志具有</a:t>
            </a:r>
            <a:r>
              <a:rPr lang="en-US" altLang="zh-CN" sz="2400" dirty="0"/>
              <a:t>3</a:t>
            </a:r>
            <a:r>
              <a:rPr lang="zh-CN" altLang="zh-CN" sz="2400" dirty="0"/>
              <a:t>个，分别是跟踪标志</a:t>
            </a:r>
            <a:r>
              <a:rPr lang="en-US" altLang="zh-CN" sz="2400" dirty="0"/>
              <a:t>TF</a:t>
            </a:r>
            <a:r>
              <a:rPr lang="zh-CN" altLang="zh-CN" sz="2400" dirty="0"/>
              <a:t>、中断允许标志</a:t>
            </a:r>
            <a:r>
              <a:rPr lang="en-US" altLang="zh-CN" sz="2400" dirty="0"/>
              <a:t>IF</a:t>
            </a:r>
            <a:r>
              <a:rPr lang="zh-CN" altLang="zh-CN" sz="2400" dirty="0"/>
              <a:t>、方向标志</a:t>
            </a:r>
            <a:r>
              <a:rPr lang="en-US" altLang="zh-CN" sz="2400" dirty="0"/>
              <a:t>DF</a:t>
            </a:r>
            <a:r>
              <a:rPr lang="zh-CN" altLang="zh-CN" sz="2400" dirty="0"/>
              <a:t>。</a:t>
            </a:r>
          </a:p>
          <a:p>
            <a:pPr algn="just" eaLnBrk="1" hangingPunct="1">
              <a:buNone/>
            </a:pPr>
            <a:r>
              <a:rPr lang="en-US" altLang="zh-CN" sz="2400" dirty="0"/>
              <a:t>   </a:t>
            </a:r>
            <a:r>
              <a:rPr lang="zh-CN" altLang="zh-CN" sz="2400" dirty="0"/>
              <a:t>（</a:t>
            </a:r>
            <a:r>
              <a:rPr lang="en-US" altLang="zh-CN" sz="2400" dirty="0"/>
              <a:t>1</a:t>
            </a:r>
            <a:r>
              <a:rPr lang="zh-CN" altLang="zh-CN" sz="2400" dirty="0"/>
              <a:t>）跟踪标志</a:t>
            </a:r>
            <a:r>
              <a:rPr lang="en-US" altLang="zh-CN" sz="2400" dirty="0"/>
              <a:t>TF</a:t>
            </a:r>
            <a:r>
              <a:rPr lang="zh-CN" altLang="zh-CN" sz="2400" dirty="0"/>
              <a:t>（</a:t>
            </a:r>
            <a:r>
              <a:rPr lang="en-US" altLang="zh-CN" sz="2400" dirty="0"/>
              <a:t>Trap Flag</a:t>
            </a:r>
            <a:r>
              <a:rPr lang="zh-CN" altLang="zh-CN" sz="2400" dirty="0"/>
              <a:t>）。</a:t>
            </a:r>
            <a:r>
              <a:rPr lang="en-US" altLang="zh-CN" sz="2400" dirty="0"/>
              <a:t>TF=1</a:t>
            </a:r>
            <a:r>
              <a:rPr lang="zh-CN" altLang="zh-CN" sz="2400" dirty="0"/>
              <a:t>表示</a:t>
            </a:r>
            <a:r>
              <a:rPr lang="en-US" altLang="zh-CN" sz="2400" dirty="0"/>
              <a:t>CPU</a:t>
            </a:r>
            <a:r>
              <a:rPr lang="zh-CN" altLang="zh-CN" sz="2400" dirty="0"/>
              <a:t>按跟踪方式执行指令。</a:t>
            </a:r>
          </a:p>
          <a:p>
            <a:pPr algn="just" eaLnBrk="1" hangingPunct="1">
              <a:buNone/>
            </a:pPr>
            <a:r>
              <a:rPr lang="en-US" altLang="zh-CN" sz="2400" dirty="0"/>
              <a:t>   </a:t>
            </a:r>
            <a:r>
              <a:rPr lang="zh-CN" altLang="zh-CN" sz="2400" dirty="0"/>
              <a:t>（</a:t>
            </a:r>
            <a:r>
              <a:rPr lang="en-US" altLang="zh-CN" sz="2400" dirty="0"/>
              <a:t>2</a:t>
            </a:r>
            <a:r>
              <a:rPr lang="zh-CN" altLang="zh-CN" sz="2400" dirty="0"/>
              <a:t>）中断允许标志</a:t>
            </a:r>
            <a:r>
              <a:rPr lang="en-US" altLang="zh-CN" sz="2400" dirty="0"/>
              <a:t>IF</a:t>
            </a:r>
            <a:r>
              <a:rPr lang="zh-CN" altLang="zh-CN" sz="2400" dirty="0"/>
              <a:t>（</a:t>
            </a:r>
            <a:r>
              <a:rPr lang="en-US" altLang="zh-CN" sz="2400" dirty="0"/>
              <a:t>Interrupt Flag</a:t>
            </a:r>
            <a:r>
              <a:rPr lang="zh-CN" altLang="zh-CN" sz="2400" dirty="0"/>
              <a:t>）。</a:t>
            </a:r>
            <a:r>
              <a:rPr lang="en-US" altLang="zh-CN" sz="2400" dirty="0"/>
              <a:t>IF=1</a:t>
            </a:r>
            <a:r>
              <a:rPr lang="zh-CN" altLang="zh-CN" sz="2400" dirty="0"/>
              <a:t>表示打开可屏蔽中断，此时</a:t>
            </a:r>
            <a:r>
              <a:rPr lang="en-US" altLang="zh-CN" sz="2400" dirty="0"/>
              <a:t>CPU</a:t>
            </a:r>
            <a:r>
              <a:rPr lang="zh-CN" altLang="zh-CN" sz="2400" dirty="0"/>
              <a:t>可以响应可屏蔽中断请求；</a:t>
            </a:r>
            <a:r>
              <a:rPr lang="en-US" altLang="zh-CN" sz="2400" dirty="0"/>
              <a:t>IF=0</a:t>
            </a:r>
            <a:r>
              <a:rPr lang="zh-CN" altLang="zh-CN" sz="2400" dirty="0"/>
              <a:t>表示关闭可屏蔽中断，此时</a:t>
            </a:r>
            <a:r>
              <a:rPr lang="en-US" altLang="zh-CN" sz="2400" dirty="0"/>
              <a:t>CPU</a:t>
            </a:r>
            <a:r>
              <a:rPr lang="zh-CN" altLang="zh-CN" sz="2400" dirty="0"/>
              <a:t>不响应可屏蔽中断请求。</a:t>
            </a:r>
          </a:p>
          <a:p>
            <a:pPr algn="just" eaLnBrk="1" hangingPunct="1">
              <a:buNone/>
            </a:pPr>
            <a:r>
              <a:rPr lang="en-US" altLang="zh-CN" sz="2400" dirty="0"/>
              <a:t>   </a:t>
            </a:r>
            <a:r>
              <a:rPr lang="zh-CN" altLang="zh-CN" sz="2400" dirty="0"/>
              <a:t>（</a:t>
            </a:r>
            <a:r>
              <a:rPr lang="en-US" altLang="zh-CN" sz="2400" dirty="0"/>
              <a:t>3</a:t>
            </a:r>
            <a:r>
              <a:rPr lang="zh-CN" altLang="zh-CN" sz="2400" dirty="0"/>
              <a:t>）方向标志</a:t>
            </a:r>
            <a:r>
              <a:rPr lang="en-US" altLang="zh-CN" sz="2400" dirty="0"/>
              <a:t>DF</a:t>
            </a:r>
            <a:r>
              <a:rPr lang="zh-CN" altLang="zh-CN" sz="2400" dirty="0"/>
              <a:t>（</a:t>
            </a:r>
            <a:r>
              <a:rPr lang="en-US" altLang="zh-CN" sz="2400" dirty="0"/>
              <a:t>Direction Flag</a:t>
            </a:r>
            <a:r>
              <a:rPr lang="zh-CN" altLang="zh-CN" sz="2400" dirty="0"/>
              <a:t>）。</a:t>
            </a:r>
            <a:r>
              <a:rPr lang="en-US" altLang="zh-CN" sz="2400" dirty="0"/>
              <a:t>DF=1</a:t>
            </a:r>
            <a:r>
              <a:rPr lang="zh-CN" altLang="zh-CN" sz="2400" dirty="0"/>
              <a:t>表示串操作过程中地址会递减；</a:t>
            </a:r>
            <a:r>
              <a:rPr lang="en-US" altLang="zh-CN" sz="2400" dirty="0"/>
              <a:t>DF=0</a:t>
            </a:r>
            <a:r>
              <a:rPr lang="zh-CN" altLang="zh-CN" sz="2400" dirty="0"/>
              <a:t>表示串操作过程中地址会递增。</a:t>
            </a: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1666" name="组合 241665"/>
          <p:cNvGrpSpPr/>
          <p:nvPr/>
        </p:nvGrpSpPr>
        <p:grpSpPr>
          <a:xfrm>
            <a:off x="609600" y="1219200"/>
            <a:ext cx="7945438" cy="1350963"/>
            <a:chOff x="384" y="638"/>
            <a:chExt cx="5005" cy="851"/>
          </a:xfrm>
        </p:grpSpPr>
        <p:sp>
          <p:nvSpPr>
            <p:cNvPr id="68610" name="矩形 241666"/>
            <p:cNvSpPr/>
            <p:nvPr/>
          </p:nvSpPr>
          <p:spPr>
            <a:xfrm>
              <a:off x="1214"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11" name="矩形 241667"/>
            <p:cNvSpPr/>
            <p:nvPr/>
          </p:nvSpPr>
          <p:spPr>
            <a:xfrm>
              <a:off x="1321"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12" name="矩形 241668"/>
            <p:cNvSpPr/>
            <p:nvPr/>
          </p:nvSpPr>
          <p:spPr>
            <a:xfrm>
              <a:off x="1502"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13" name="矩形 241669"/>
            <p:cNvSpPr/>
            <p:nvPr/>
          </p:nvSpPr>
          <p:spPr>
            <a:xfrm>
              <a:off x="1609"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14" name="矩形 241670"/>
            <p:cNvSpPr/>
            <p:nvPr/>
          </p:nvSpPr>
          <p:spPr>
            <a:xfrm>
              <a:off x="1790" y="638"/>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15" name="矩形 241671"/>
            <p:cNvSpPr/>
            <p:nvPr/>
          </p:nvSpPr>
          <p:spPr>
            <a:xfrm>
              <a:off x="1897"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16" name="矩形 241672"/>
            <p:cNvSpPr/>
            <p:nvPr/>
          </p:nvSpPr>
          <p:spPr>
            <a:xfrm>
              <a:off x="2078" y="638"/>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17" name="矩形 241673"/>
            <p:cNvSpPr/>
            <p:nvPr/>
          </p:nvSpPr>
          <p:spPr>
            <a:xfrm>
              <a:off x="2185"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18" name="矩形 241674"/>
            <p:cNvSpPr/>
            <p:nvPr/>
          </p:nvSpPr>
          <p:spPr>
            <a:xfrm>
              <a:off x="2366" y="638"/>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19" name="矩形 241675"/>
            <p:cNvSpPr/>
            <p:nvPr/>
          </p:nvSpPr>
          <p:spPr>
            <a:xfrm>
              <a:off x="2473"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20" name="矩形 241676"/>
            <p:cNvSpPr/>
            <p:nvPr/>
          </p:nvSpPr>
          <p:spPr>
            <a:xfrm>
              <a:off x="2654" y="638"/>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21" name="矩形 241677"/>
            <p:cNvSpPr/>
            <p:nvPr/>
          </p:nvSpPr>
          <p:spPr>
            <a:xfrm>
              <a:off x="2761"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22" name="矩形 241678"/>
            <p:cNvSpPr/>
            <p:nvPr/>
          </p:nvSpPr>
          <p:spPr>
            <a:xfrm>
              <a:off x="2942"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23" name="矩形 241679"/>
            <p:cNvSpPr/>
            <p:nvPr/>
          </p:nvSpPr>
          <p:spPr>
            <a:xfrm>
              <a:off x="3049"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24" name="矩形 241680"/>
            <p:cNvSpPr/>
            <p:nvPr/>
          </p:nvSpPr>
          <p:spPr>
            <a:xfrm>
              <a:off x="3230"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25" name="矩形 241681"/>
            <p:cNvSpPr/>
            <p:nvPr/>
          </p:nvSpPr>
          <p:spPr>
            <a:xfrm>
              <a:off x="3337"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26" name="矩形 241682"/>
            <p:cNvSpPr/>
            <p:nvPr/>
          </p:nvSpPr>
          <p:spPr>
            <a:xfrm>
              <a:off x="3518" y="638"/>
              <a:ext cx="287"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27" name="矩形 241683"/>
            <p:cNvSpPr/>
            <p:nvPr/>
          </p:nvSpPr>
          <p:spPr>
            <a:xfrm>
              <a:off x="3625"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28" name="矩形 241684"/>
            <p:cNvSpPr/>
            <p:nvPr/>
          </p:nvSpPr>
          <p:spPr>
            <a:xfrm>
              <a:off x="3805"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29" name="矩形 241685"/>
            <p:cNvSpPr/>
            <p:nvPr/>
          </p:nvSpPr>
          <p:spPr>
            <a:xfrm>
              <a:off x="3913"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30" name="矩形 241686"/>
            <p:cNvSpPr/>
            <p:nvPr/>
          </p:nvSpPr>
          <p:spPr>
            <a:xfrm>
              <a:off x="4093" y="638"/>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31" name="矩形 241687"/>
            <p:cNvSpPr/>
            <p:nvPr/>
          </p:nvSpPr>
          <p:spPr>
            <a:xfrm>
              <a:off x="4201" y="702"/>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32" name="矩形 241688"/>
            <p:cNvSpPr/>
            <p:nvPr/>
          </p:nvSpPr>
          <p:spPr>
            <a:xfrm>
              <a:off x="4381" y="638"/>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33" name="矩形 241689"/>
            <p:cNvSpPr/>
            <p:nvPr/>
          </p:nvSpPr>
          <p:spPr>
            <a:xfrm>
              <a:off x="4488"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34" name="矩形 241690"/>
            <p:cNvSpPr/>
            <p:nvPr/>
          </p:nvSpPr>
          <p:spPr>
            <a:xfrm>
              <a:off x="4669" y="638"/>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35" name="矩形 241691"/>
            <p:cNvSpPr/>
            <p:nvPr/>
          </p:nvSpPr>
          <p:spPr>
            <a:xfrm>
              <a:off x="4776"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36" name="矩形 241692"/>
            <p:cNvSpPr/>
            <p:nvPr/>
          </p:nvSpPr>
          <p:spPr>
            <a:xfrm>
              <a:off x="4957" y="638"/>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37" name="矩形 241693"/>
            <p:cNvSpPr/>
            <p:nvPr/>
          </p:nvSpPr>
          <p:spPr>
            <a:xfrm>
              <a:off x="5064"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38" name="矩形 241694"/>
            <p:cNvSpPr/>
            <p:nvPr/>
          </p:nvSpPr>
          <p:spPr>
            <a:xfrm>
              <a:off x="926"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39" name="矩形 241695"/>
            <p:cNvSpPr/>
            <p:nvPr/>
          </p:nvSpPr>
          <p:spPr>
            <a:xfrm>
              <a:off x="1033" y="702"/>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40" name="矩形 241696"/>
            <p:cNvSpPr/>
            <p:nvPr/>
          </p:nvSpPr>
          <p:spPr>
            <a:xfrm>
              <a:off x="638"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41" name="矩形 241697"/>
            <p:cNvSpPr/>
            <p:nvPr/>
          </p:nvSpPr>
          <p:spPr>
            <a:xfrm>
              <a:off x="745"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42" name="矩形 241698"/>
            <p:cNvSpPr/>
            <p:nvPr/>
          </p:nvSpPr>
          <p:spPr>
            <a:xfrm>
              <a:off x="638"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43" name="矩形 241699"/>
            <p:cNvSpPr/>
            <p:nvPr/>
          </p:nvSpPr>
          <p:spPr>
            <a:xfrm>
              <a:off x="745"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44" name="矩形 241700"/>
            <p:cNvSpPr/>
            <p:nvPr/>
          </p:nvSpPr>
          <p:spPr>
            <a:xfrm>
              <a:off x="926"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45" name="矩形 241701"/>
            <p:cNvSpPr/>
            <p:nvPr/>
          </p:nvSpPr>
          <p:spPr>
            <a:xfrm>
              <a:off x="1033"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46" name="矩形 241702"/>
            <p:cNvSpPr/>
            <p:nvPr/>
          </p:nvSpPr>
          <p:spPr>
            <a:xfrm>
              <a:off x="1214"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47" name="矩形 241703"/>
            <p:cNvSpPr/>
            <p:nvPr/>
          </p:nvSpPr>
          <p:spPr>
            <a:xfrm>
              <a:off x="1321"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48" name="矩形 241704"/>
            <p:cNvSpPr/>
            <p:nvPr/>
          </p:nvSpPr>
          <p:spPr>
            <a:xfrm>
              <a:off x="1502"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49" name="矩形 241705"/>
            <p:cNvSpPr/>
            <p:nvPr/>
          </p:nvSpPr>
          <p:spPr>
            <a:xfrm>
              <a:off x="1609"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50" name="矩形 241706"/>
            <p:cNvSpPr/>
            <p:nvPr/>
          </p:nvSpPr>
          <p:spPr>
            <a:xfrm>
              <a:off x="1790" y="1070"/>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51" name="矩形 241707"/>
            <p:cNvSpPr/>
            <p:nvPr/>
          </p:nvSpPr>
          <p:spPr>
            <a:xfrm>
              <a:off x="1897"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52" name="矩形 241708"/>
            <p:cNvSpPr/>
            <p:nvPr/>
          </p:nvSpPr>
          <p:spPr>
            <a:xfrm>
              <a:off x="2078" y="1070"/>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53" name="矩形 241709"/>
            <p:cNvSpPr/>
            <p:nvPr/>
          </p:nvSpPr>
          <p:spPr>
            <a:xfrm>
              <a:off x="2185"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54" name="矩形 241710"/>
            <p:cNvSpPr/>
            <p:nvPr/>
          </p:nvSpPr>
          <p:spPr>
            <a:xfrm>
              <a:off x="2366" y="1070"/>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55" name="矩形 241711"/>
            <p:cNvSpPr/>
            <p:nvPr/>
          </p:nvSpPr>
          <p:spPr>
            <a:xfrm>
              <a:off x="2473"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56" name="矩形 241712"/>
            <p:cNvSpPr/>
            <p:nvPr/>
          </p:nvSpPr>
          <p:spPr>
            <a:xfrm>
              <a:off x="2654" y="1070"/>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57" name="矩形 241713"/>
            <p:cNvSpPr/>
            <p:nvPr/>
          </p:nvSpPr>
          <p:spPr>
            <a:xfrm>
              <a:off x="2761"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58" name="矩形 241714"/>
            <p:cNvSpPr/>
            <p:nvPr/>
          </p:nvSpPr>
          <p:spPr>
            <a:xfrm>
              <a:off x="2942"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59" name="矩形 241715"/>
            <p:cNvSpPr/>
            <p:nvPr/>
          </p:nvSpPr>
          <p:spPr>
            <a:xfrm>
              <a:off x="3049"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60" name="矩形 241716"/>
            <p:cNvSpPr/>
            <p:nvPr/>
          </p:nvSpPr>
          <p:spPr>
            <a:xfrm>
              <a:off x="3230"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61" name="矩形 241717"/>
            <p:cNvSpPr/>
            <p:nvPr/>
          </p:nvSpPr>
          <p:spPr>
            <a:xfrm>
              <a:off x="3337"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62" name="矩形 241718"/>
            <p:cNvSpPr/>
            <p:nvPr/>
          </p:nvSpPr>
          <p:spPr>
            <a:xfrm>
              <a:off x="3518" y="1070"/>
              <a:ext cx="287"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63" name="矩形 241719"/>
            <p:cNvSpPr/>
            <p:nvPr/>
          </p:nvSpPr>
          <p:spPr>
            <a:xfrm>
              <a:off x="3625"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64" name="矩形 241720"/>
            <p:cNvSpPr/>
            <p:nvPr/>
          </p:nvSpPr>
          <p:spPr>
            <a:xfrm>
              <a:off x="3805"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65" name="矩形 241721"/>
            <p:cNvSpPr/>
            <p:nvPr/>
          </p:nvSpPr>
          <p:spPr>
            <a:xfrm>
              <a:off x="3913"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66" name="矩形 241722"/>
            <p:cNvSpPr/>
            <p:nvPr/>
          </p:nvSpPr>
          <p:spPr>
            <a:xfrm>
              <a:off x="4093" y="1070"/>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67" name="矩形 241723"/>
            <p:cNvSpPr/>
            <p:nvPr/>
          </p:nvSpPr>
          <p:spPr>
            <a:xfrm>
              <a:off x="4201"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68" name="矩形 241724"/>
            <p:cNvSpPr/>
            <p:nvPr/>
          </p:nvSpPr>
          <p:spPr>
            <a:xfrm>
              <a:off x="4381" y="1070"/>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69" name="矩形 241725"/>
            <p:cNvSpPr/>
            <p:nvPr/>
          </p:nvSpPr>
          <p:spPr>
            <a:xfrm>
              <a:off x="4488"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70" name="矩形 241726"/>
            <p:cNvSpPr/>
            <p:nvPr/>
          </p:nvSpPr>
          <p:spPr>
            <a:xfrm>
              <a:off x="4669" y="1070"/>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71" name="矩形 241727"/>
            <p:cNvSpPr/>
            <p:nvPr/>
          </p:nvSpPr>
          <p:spPr>
            <a:xfrm>
              <a:off x="4776"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72" name="矩形 241728"/>
            <p:cNvSpPr/>
            <p:nvPr/>
          </p:nvSpPr>
          <p:spPr>
            <a:xfrm>
              <a:off x="4957" y="1070"/>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73" name="矩形 241729"/>
            <p:cNvSpPr/>
            <p:nvPr/>
          </p:nvSpPr>
          <p:spPr>
            <a:xfrm>
              <a:off x="5064"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74" name="直接连接符 241730"/>
            <p:cNvSpPr/>
            <p:nvPr/>
          </p:nvSpPr>
          <p:spPr>
            <a:xfrm>
              <a:off x="384" y="1488"/>
              <a:ext cx="5005" cy="1"/>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75" name="矩形 241731"/>
            <p:cNvSpPr/>
            <p:nvPr/>
          </p:nvSpPr>
          <p:spPr>
            <a:xfrm>
              <a:off x="458" y="1134"/>
              <a:ext cx="113" cy="242"/>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2800">
                  <a:latin typeface="宋体" panose="02010600030101010101" pitchFamily="2" charset="-122"/>
                  <a:ea typeface="宋体" panose="02010600030101010101" pitchFamily="2" charset="-122"/>
                </a:rPr>
                <a:t>+</a:t>
              </a:r>
            </a:p>
          </p:txBody>
        </p:sp>
      </p:grpSp>
      <p:grpSp>
        <p:nvGrpSpPr>
          <p:cNvPr id="241733" name="组合 241732"/>
          <p:cNvGrpSpPr/>
          <p:nvPr/>
        </p:nvGrpSpPr>
        <p:grpSpPr>
          <a:xfrm>
            <a:off x="1012825" y="2817813"/>
            <a:ext cx="7313613" cy="457200"/>
            <a:chOff x="638" y="1645"/>
            <a:chExt cx="4607" cy="288"/>
          </a:xfrm>
        </p:grpSpPr>
        <p:sp>
          <p:nvSpPr>
            <p:cNvPr id="68677" name="矩形 241733"/>
            <p:cNvSpPr/>
            <p:nvPr/>
          </p:nvSpPr>
          <p:spPr>
            <a:xfrm>
              <a:off x="4957" y="1645"/>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78" name="矩形 241734"/>
            <p:cNvSpPr/>
            <p:nvPr/>
          </p:nvSpPr>
          <p:spPr>
            <a:xfrm>
              <a:off x="5064"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79" name="矩形 241735"/>
            <p:cNvSpPr/>
            <p:nvPr/>
          </p:nvSpPr>
          <p:spPr>
            <a:xfrm>
              <a:off x="4669" y="1645"/>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80" name="矩形 241736"/>
            <p:cNvSpPr/>
            <p:nvPr/>
          </p:nvSpPr>
          <p:spPr>
            <a:xfrm>
              <a:off x="4776"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81" name="矩形 241737"/>
            <p:cNvSpPr/>
            <p:nvPr/>
          </p:nvSpPr>
          <p:spPr>
            <a:xfrm>
              <a:off x="4381" y="1645"/>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82" name="矩形 241738"/>
            <p:cNvSpPr/>
            <p:nvPr/>
          </p:nvSpPr>
          <p:spPr>
            <a:xfrm>
              <a:off x="4488"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83" name="矩形 241739"/>
            <p:cNvSpPr/>
            <p:nvPr/>
          </p:nvSpPr>
          <p:spPr>
            <a:xfrm>
              <a:off x="4093" y="1645"/>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84" name="矩形 241740"/>
            <p:cNvSpPr/>
            <p:nvPr/>
          </p:nvSpPr>
          <p:spPr>
            <a:xfrm>
              <a:off x="4201"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85" name="矩形 241741"/>
            <p:cNvSpPr/>
            <p:nvPr/>
          </p:nvSpPr>
          <p:spPr>
            <a:xfrm>
              <a:off x="3805"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86" name="矩形 241742"/>
            <p:cNvSpPr/>
            <p:nvPr/>
          </p:nvSpPr>
          <p:spPr>
            <a:xfrm>
              <a:off x="3913"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87" name="矩形 241743"/>
            <p:cNvSpPr/>
            <p:nvPr/>
          </p:nvSpPr>
          <p:spPr>
            <a:xfrm>
              <a:off x="3518" y="1645"/>
              <a:ext cx="287"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88" name="矩形 241744"/>
            <p:cNvSpPr/>
            <p:nvPr/>
          </p:nvSpPr>
          <p:spPr>
            <a:xfrm>
              <a:off x="3625"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89" name="矩形 241745"/>
            <p:cNvSpPr/>
            <p:nvPr/>
          </p:nvSpPr>
          <p:spPr>
            <a:xfrm>
              <a:off x="3230"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90" name="矩形 241746"/>
            <p:cNvSpPr/>
            <p:nvPr/>
          </p:nvSpPr>
          <p:spPr>
            <a:xfrm>
              <a:off x="3337"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91" name="矩形 241747"/>
            <p:cNvSpPr/>
            <p:nvPr/>
          </p:nvSpPr>
          <p:spPr>
            <a:xfrm>
              <a:off x="2942"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92" name="矩形 241748"/>
            <p:cNvSpPr/>
            <p:nvPr/>
          </p:nvSpPr>
          <p:spPr>
            <a:xfrm>
              <a:off x="3049"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93" name="矩形 241749"/>
            <p:cNvSpPr/>
            <p:nvPr/>
          </p:nvSpPr>
          <p:spPr>
            <a:xfrm>
              <a:off x="2654" y="1645"/>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94" name="矩形 241750"/>
            <p:cNvSpPr/>
            <p:nvPr/>
          </p:nvSpPr>
          <p:spPr>
            <a:xfrm>
              <a:off x="2761"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95" name="矩形 241751"/>
            <p:cNvSpPr/>
            <p:nvPr/>
          </p:nvSpPr>
          <p:spPr>
            <a:xfrm>
              <a:off x="2366" y="1645"/>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96" name="矩形 241752"/>
            <p:cNvSpPr/>
            <p:nvPr/>
          </p:nvSpPr>
          <p:spPr>
            <a:xfrm>
              <a:off x="2473"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697" name="矩形 241753"/>
            <p:cNvSpPr/>
            <p:nvPr/>
          </p:nvSpPr>
          <p:spPr>
            <a:xfrm>
              <a:off x="2078" y="1645"/>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698" name="矩形 241754"/>
            <p:cNvSpPr/>
            <p:nvPr/>
          </p:nvSpPr>
          <p:spPr>
            <a:xfrm>
              <a:off x="2185"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699" name="矩形 241755"/>
            <p:cNvSpPr/>
            <p:nvPr/>
          </p:nvSpPr>
          <p:spPr>
            <a:xfrm>
              <a:off x="1790" y="1645"/>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700" name="矩形 241756"/>
            <p:cNvSpPr/>
            <p:nvPr/>
          </p:nvSpPr>
          <p:spPr>
            <a:xfrm>
              <a:off x="1897"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701" name="矩形 241757"/>
            <p:cNvSpPr/>
            <p:nvPr/>
          </p:nvSpPr>
          <p:spPr>
            <a:xfrm>
              <a:off x="1502"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702" name="矩形 241758"/>
            <p:cNvSpPr/>
            <p:nvPr/>
          </p:nvSpPr>
          <p:spPr>
            <a:xfrm>
              <a:off x="1609"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68703" name="矩形 241759"/>
            <p:cNvSpPr/>
            <p:nvPr/>
          </p:nvSpPr>
          <p:spPr>
            <a:xfrm>
              <a:off x="1214"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704" name="矩形 241760"/>
            <p:cNvSpPr/>
            <p:nvPr/>
          </p:nvSpPr>
          <p:spPr>
            <a:xfrm>
              <a:off x="1321"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705" name="矩形 241761"/>
            <p:cNvSpPr/>
            <p:nvPr/>
          </p:nvSpPr>
          <p:spPr>
            <a:xfrm>
              <a:off x="926"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706" name="矩形 241762"/>
            <p:cNvSpPr/>
            <p:nvPr/>
          </p:nvSpPr>
          <p:spPr>
            <a:xfrm>
              <a:off x="1033"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68707" name="矩形 241763"/>
            <p:cNvSpPr/>
            <p:nvPr/>
          </p:nvSpPr>
          <p:spPr>
            <a:xfrm>
              <a:off x="638"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68708" name="矩形 241764"/>
            <p:cNvSpPr/>
            <p:nvPr/>
          </p:nvSpPr>
          <p:spPr>
            <a:xfrm>
              <a:off x="745"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grpSp>
      <p:sp>
        <p:nvSpPr>
          <p:cNvPr id="241766" name="矩形 241765"/>
          <p:cNvSpPr/>
          <p:nvPr/>
        </p:nvSpPr>
        <p:spPr>
          <a:xfrm>
            <a:off x="1219200" y="3406775"/>
            <a:ext cx="5181600" cy="457200"/>
          </a:xfrm>
          <a:prstGeom prst="rect">
            <a:avLst/>
          </a:prstGeom>
          <a:solidFill>
            <a:schemeClr val="bg1"/>
          </a:solidFill>
          <a:ln w="9525">
            <a:noFill/>
          </a:ln>
        </p:spPr>
        <p:txBody>
          <a:bodyPr anchor="t" anchorCtr="0">
            <a:spAutoFit/>
          </a:bodyPr>
          <a:lstStyle/>
          <a:p>
            <a:pPr>
              <a:spcBef>
                <a:spcPct val="50000"/>
              </a:spcBef>
            </a:pPr>
            <a:r>
              <a:rPr lang="zh-CN" altLang="en-US" dirty="0">
                <a:latin typeface="Times New Roman" panose="02020603050405020304" pitchFamily="18" charset="0"/>
                <a:ea typeface="楷体_GB2312" pitchFamily="49" charset="-122"/>
              </a:rPr>
              <a:t>运算结果最高位为</a:t>
            </a:r>
            <a:r>
              <a:rPr lang="en-US" altLang="zh-CN">
                <a:latin typeface="Times New Roman" panose="02020603050405020304" pitchFamily="18" charset="0"/>
                <a:ea typeface="楷体_GB2312" pitchFamily="49" charset="-122"/>
              </a:rPr>
              <a:t>1		∴SF=1</a:t>
            </a:r>
            <a:r>
              <a:rPr lang="zh-CN" altLang="en-US">
                <a:latin typeface="Times New Roman" panose="02020603050405020304" pitchFamily="18" charset="0"/>
                <a:ea typeface="楷体_GB2312" pitchFamily="49" charset="-122"/>
              </a:rPr>
              <a:t>；</a:t>
            </a:r>
          </a:p>
        </p:txBody>
      </p:sp>
      <p:sp>
        <p:nvSpPr>
          <p:cNvPr id="241767" name="标题 241766"/>
          <p:cNvSpPr>
            <a:spLocks noGrp="1" noRot="1"/>
          </p:cNvSpPr>
          <p:nvPr>
            <p:ph type="title" idx="4294967295"/>
          </p:nvPr>
        </p:nvSpPr>
        <p:spPr>
          <a:xfrm>
            <a:off x="417513" y="282575"/>
            <a:ext cx="8331200" cy="1143000"/>
          </a:xfrm>
        </p:spPr>
        <p:txBody>
          <a:bodyPr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3200" b="1" i="0" u="none" strike="noStrike" kern="0" cap="none" spc="0" normalizeH="0" baseline="0" noProof="1">
                <a:solidFill>
                  <a:srgbClr val="E8E8E8"/>
                </a:solidFill>
                <a:effectLst>
                  <a:outerShdw blurRad="38100" dist="38100" dir="2700000" algn="tl">
                    <a:srgbClr val="000000"/>
                  </a:outerShdw>
                </a:effectLst>
                <a:latin typeface="+mj-lt"/>
                <a:ea typeface="+mj-ea"/>
                <a:cs typeface="+mj-cs"/>
              </a:rPr>
              <a:t>例：</a:t>
            </a:r>
            <a:r>
              <a:rPr kumimoji="1" lang="en-US" altLang="zh-CN" sz="3200" b="1" i="0" u="none" strike="noStrike" kern="0" cap="none" spc="0" normalizeH="0" baseline="0" noProof="1">
                <a:solidFill>
                  <a:srgbClr val="E8E8E8"/>
                </a:solidFill>
                <a:effectLst>
                  <a:outerShdw blurRad="38100" dist="38100" dir="2700000" algn="tl">
                    <a:srgbClr val="000000"/>
                  </a:outerShdw>
                </a:effectLst>
                <a:latin typeface="+mj-lt"/>
                <a:ea typeface="+mj-ea"/>
                <a:cs typeface="+mj-cs"/>
              </a:rPr>
              <a:t>2</a:t>
            </a:r>
            <a:r>
              <a:rPr kumimoji="1" lang="zh-CN" altLang="en-US" sz="3200" b="1" i="0" u="none" strike="noStrike" kern="0" cap="none" spc="0" normalizeH="0" baseline="0" noProof="1">
                <a:solidFill>
                  <a:srgbClr val="E8E8E8"/>
                </a:solidFill>
                <a:effectLst>
                  <a:outerShdw blurRad="38100" dist="38100" dir="2700000" algn="tl">
                    <a:srgbClr val="000000"/>
                  </a:outerShdw>
                </a:effectLst>
                <a:latin typeface="+mj-lt"/>
                <a:ea typeface="+mj-ea"/>
                <a:cs typeface="+mj-cs"/>
              </a:rPr>
              <a:t>个数</a:t>
            </a:r>
            <a:r>
              <a:rPr kumimoji="1" lang="zh-CN" altLang="en-US" sz="3200" b="1" i="0" u="none" strike="noStrike" kern="0" cap="none" spc="0" normalizeH="0" baseline="0" noProof="1">
                <a:solidFill>
                  <a:srgbClr val="FF0000"/>
                </a:solidFill>
                <a:effectLst>
                  <a:outerShdw blurRad="38100" dist="38100" dir="2700000" algn="tl">
                    <a:srgbClr val="000000"/>
                  </a:outerShdw>
                </a:effectLst>
                <a:latin typeface="+mj-lt"/>
                <a:ea typeface="+mj-ea"/>
                <a:cs typeface="+mj-cs"/>
              </a:rPr>
              <a:t>相加</a:t>
            </a:r>
            <a:r>
              <a:rPr kumimoji="1" lang="zh-CN" altLang="en-US" sz="3200" b="1" i="0" u="none" strike="noStrike" kern="0" cap="none" spc="0" normalizeH="0" baseline="0" noProof="1">
                <a:solidFill>
                  <a:srgbClr val="E8E8E8"/>
                </a:solidFill>
                <a:effectLst>
                  <a:outerShdw blurRad="38100" dist="38100" dir="2700000" algn="tl">
                    <a:srgbClr val="000000"/>
                  </a:outerShdw>
                </a:effectLst>
                <a:latin typeface="+mj-lt"/>
                <a:ea typeface="+mj-ea"/>
                <a:cs typeface="+mj-cs"/>
              </a:rPr>
              <a:t>后，分析各标志位的值</a:t>
            </a:r>
          </a:p>
        </p:txBody>
      </p:sp>
      <p:sp>
        <p:nvSpPr>
          <p:cNvPr id="241768" name="任意多边形 241767"/>
          <p:cNvSpPr/>
          <p:nvPr/>
        </p:nvSpPr>
        <p:spPr>
          <a:xfrm>
            <a:off x="6246813" y="2414588"/>
            <a:ext cx="533400" cy="76200"/>
          </a:xfrm>
          <a:custGeom>
            <a:avLst/>
            <a:gdLst/>
            <a:ahLst/>
            <a:cxnLst/>
            <a:rect l="0" t="0" r="0" b="0"/>
            <a:pathLst>
              <a:path w="336" h="48">
                <a:moveTo>
                  <a:pt x="336" y="0"/>
                </a:moveTo>
                <a:cubicBezTo>
                  <a:pt x="316" y="24"/>
                  <a:pt x="296" y="48"/>
                  <a:pt x="240" y="48"/>
                </a:cubicBezTo>
                <a:cubicBezTo>
                  <a:pt x="184" y="48"/>
                  <a:pt x="92" y="24"/>
                  <a:pt x="0" y="0"/>
                </a:cubicBezTo>
              </a:path>
            </a:pathLst>
          </a:custGeom>
          <a:noFill/>
          <a:ln w="25400" cap="flat" cmpd="sng">
            <a:solidFill>
              <a:srgbClr val="00FF00"/>
            </a:solidFill>
            <a:prstDash val="solid"/>
            <a:round/>
            <a:headEnd type="none" w="med" len="med"/>
            <a:tailEnd type="stealth" w="med" len="med"/>
          </a:ln>
        </p:spPr>
        <p:txBody>
          <a:bodyPr/>
          <a:lstStyle/>
          <a:p>
            <a:endParaRPr lang="zh-CN" altLang="en-US"/>
          </a:p>
        </p:txBody>
      </p:sp>
      <p:sp>
        <p:nvSpPr>
          <p:cNvPr id="241769" name="任意多边形 241768"/>
          <p:cNvSpPr/>
          <p:nvPr/>
        </p:nvSpPr>
        <p:spPr>
          <a:xfrm>
            <a:off x="1143000" y="2416175"/>
            <a:ext cx="533400" cy="76200"/>
          </a:xfrm>
          <a:custGeom>
            <a:avLst/>
            <a:gdLst/>
            <a:ahLst/>
            <a:cxnLst/>
            <a:rect l="0" t="0" r="0" b="0"/>
            <a:pathLst>
              <a:path w="336" h="48">
                <a:moveTo>
                  <a:pt x="336" y="0"/>
                </a:moveTo>
                <a:cubicBezTo>
                  <a:pt x="316" y="24"/>
                  <a:pt x="296" y="48"/>
                  <a:pt x="240" y="48"/>
                </a:cubicBezTo>
                <a:cubicBezTo>
                  <a:pt x="184" y="48"/>
                  <a:pt x="92" y="24"/>
                  <a:pt x="0" y="0"/>
                </a:cubicBezTo>
              </a:path>
            </a:pathLst>
          </a:custGeom>
          <a:noFill/>
          <a:ln w="25400" cap="flat" cmpd="sng">
            <a:solidFill>
              <a:srgbClr val="00FF00"/>
            </a:solidFill>
            <a:prstDash val="solid"/>
            <a:round/>
            <a:headEnd type="none" w="med" len="med"/>
            <a:tailEnd type="stealth" w="med" len="med"/>
          </a:ln>
        </p:spPr>
        <p:txBody>
          <a:bodyPr/>
          <a:lstStyle/>
          <a:p>
            <a:endParaRPr lang="zh-CN" altLang="en-US"/>
          </a:p>
        </p:txBody>
      </p:sp>
      <p:sp>
        <p:nvSpPr>
          <p:cNvPr id="241770" name="文本框 241769"/>
          <p:cNvSpPr txBox="1"/>
          <p:nvPr/>
        </p:nvSpPr>
        <p:spPr>
          <a:xfrm>
            <a:off x="1219200" y="5616575"/>
            <a:ext cx="5562600" cy="420688"/>
          </a:xfrm>
          <a:prstGeom prst="rect">
            <a:avLst/>
          </a:prstGeom>
          <a:noFill/>
          <a:ln w="25400">
            <a:noFill/>
          </a:ln>
        </p:spPr>
        <p:txBody>
          <a:bodyPr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低四位向高四位有进位 	</a:t>
            </a:r>
            <a:r>
              <a:rPr lang="en-US" altLang="zh-CN" dirty="0">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AF=1</a:t>
            </a:r>
            <a:r>
              <a:rPr lang="zh-CN" altLang="en-US">
                <a:latin typeface="Times New Roman" panose="02020603050405020304" pitchFamily="18" charset="0"/>
                <a:ea typeface="楷体_GB2312" pitchFamily="49" charset="-122"/>
              </a:rPr>
              <a:t>；</a:t>
            </a:r>
          </a:p>
        </p:txBody>
      </p:sp>
      <p:sp>
        <p:nvSpPr>
          <p:cNvPr id="241771" name="文本框 241770"/>
          <p:cNvSpPr txBox="1"/>
          <p:nvPr/>
        </p:nvSpPr>
        <p:spPr>
          <a:xfrm>
            <a:off x="304800" y="6226175"/>
            <a:ext cx="8686800" cy="420688"/>
          </a:xfrm>
          <a:prstGeom prst="rect">
            <a:avLst/>
          </a:prstGeom>
          <a:noFill/>
          <a:ln w="25400">
            <a:noFill/>
          </a:ln>
        </p:spPr>
        <p:txBody>
          <a:bodyPr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次高位向最高位有进位 ，最高位向前没有进位，</a:t>
            </a:r>
            <a:r>
              <a:rPr lang="en-US" altLang="zh-CN" dirty="0">
                <a:latin typeface="Times New Roman" panose="02020603050405020304" pitchFamily="18" charset="0"/>
                <a:ea typeface="楷体_GB2312" pitchFamily="49" charset="-122"/>
              </a:rPr>
              <a:t>∴</a:t>
            </a:r>
            <a:r>
              <a:rPr lang="en-US" altLang="zh-CN">
                <a:solidFill>
                  <a:srgbClr val="FF0000"/>
                </a:solidFill>
                <a:latin typeface="Times New Roman" panose="02020603050405020304" pitchFamily="18" charset="0"/>
                <a:ea typeface="楷体_GB2312" pitchFamily="49" charset="-122"/>
              </a:rPr>
              <a:t>OF=1</a:t>
            </a:r>
            <a:r>
              <a:rPr lang="en-US" altLang="zh-CN">
                <a:solidFill>
                  <a:srgbClr val="FF0000"/>
                </a:solidFill>
                <a:latin typeface="Times New Roman" panose="02020603050405020304" pitchFamily="18" charset="0"/>
                <a:ea typeface="楷体_GB2312" pitchFamily="49" charset="-122"/>
                <a:sym typeface="Symbol" panose="05050102010706020507" pitchFamily="18" charset="2"/>
              </a:rPr>
              <a:t></a:t>
            </a:r>
            <a:r>
              <a:rPr lang="en-US" altLang="zh-CN">
                <a:solidFill>
                  <a:srgbClr val="FF0000"/>
                </a:solidFill>
                <a:latin typeface="Times New Roman" panose="02020603050405020304" pitchFamily="18" charset="0"/>
                <a:ea typeface="楷体_GB2312" pitchFamily="49" charset="-122"/>
              </a:rPr>
              <a:t>0=1</a:t>
            </a:r>
          </a:p>
        </p:txBody>
      </p:sp>
      <p:sp>
        <p:nvSpPr>
          <p:cNvPr id="241772" name="文本框 241771"/>
          <p:cNvSpPr txBox="1"/>
          <p:nvPr/>
        </p:nvSpPr>
        <p:spPr>
          <a:xfrm>
            <a:off x="1219200" y="5083175"/>
            <a:ext cx="6819900" cy="420688"/>
          </a:xfrm>
          <a:prstGeom prst="rect">
            <a:avLst/>
          </a:prstGeom>
          <a:noFill/>
          <a:ln w="25400">
            <a:noFill/>
          </a:ln>
        </p:spPr>
        <p:txBody>
          <a:bodyPr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最高位没有进位       		 </a:t>
            </a:r>
            <a:r>
              <a:rPr lang="en-US" altLang="zh-CN" dirty="0">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CF=0</a:t>
            </a:r>
            <a:r>
              <a:rPr lang="zh-CN" altLang="en-US">
                <a:latin typeface="Times New Roman" panose="02020603050405020304" pitchFamily="18" charset="0"/>
                <a:ea typeface="楷体_GB2312" pitchFamily="49" charset="-122"/>
              </a:rPr>
              <a:t>；</a:t>
            </a:r>
          </a:p>
        </p:txBody>
      </p:sp>
      <p:sp>
        <p:nvSpPr>
          <p:cNvPr id="241773" name="文本框 241772"/>
          <p:cNvSpPr txBox="1"/>
          <p:nvPr/>
        </p:nvSpPr>
        <p:spPr>
          <a:xfrm>
            <a:off x="1219200" y="4549775"/>
            <a:ext cx="7107238" cy="420688"/>
          </a:xfrm>
          <a:prstGeom prst="rect">
            <a:avLst/>
          </a:prstGeom>
          <a:noFill/>
          <a:ln w="25400">
            <a:noFill/>
          </a:ln>
        </p:spPr>
        <p:txBody>
          <a:bodyPr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低</a:t>
            </a:r>
            <a:r>
              <a:rPr lang="en-US" altLang="zh-CN" dirty="0">
                <a:latin typeface="Times New Roman" panose="02020603050405020304" pitchFamily="18" charset="0"/>
                <a:ea typeface="楷体_GB2312" pitchFamily="49" charset="-122"/>
              </a:rPr>
              <a:t>8</a:t>
            </a:r>
            <a:r>
              <a:rPr lang="zh-CN" altLang="en-US" dirty="0">
                <a:latin typeface="Times New Roman" panose="02020603050405020304" pitchFamily="18" charset="0"/>
                <a:ea typeface="楷体_GB2312" pitchFamily="49" charset="-122"/>
              </a:rPr>
              <a:t>位中</a:t>
            </a:r>
            <a:r>
              <a:rPr lang="en-US" altLang="zh-CN" dirty="0">
                <a:latin typeface="Times New Roman" panose="02020603050405020304" pitchFamily="18" charset="0"/>
                <a:ea typeface="楷体_GB2312" pitchFamily="49" charset="-122"/>
              </a:rPr>
              <a:t>1</a:t>
            </a:r>
            <a:r>
              <a:rPr lang="zh-CN" altLang="en-US" dirty="0">
                <a:latin typeface="Times New Roman" panose="02020603050405020304" pitchFamily="18" charset="0"/>
                <a:ea typeface="楷体_GB2312" pitchFamily="49" charset="-122"/>
              </a:rPr>
              <a:t>的个数为偶数个 	</a:t>
            </a:r>
            <a:r>
              <a:rPr lang="en-US" altLang="zh-CN" dirty="0">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PF=1</a:t>
            </a:r>
            <a:r>
              <a:rPr lang="zh-CN" altLang="en-US">
                <a:latin typeface="Times New Roman" panose="02020603050405020304" pitchFamily="18" charset="0"/>
                <a:ea typeface="楷体_GB2312" pitchFamily="49" charset="-122"/>
              </a:rPr>
              <a:t>；</a:t>
            </a:r>
          </a:p>
        </p:txBody>
      </p:sp>
      <p:sp>
        <p:nvSpPr>
          <p:cNvPr id="241774" name="文本框 241773"/>
          <p:cNvSpPr txBox="1"/>
          <p:nvPr/>
        </p:nvSpPr>
        <p:spPr>
          <a:xfrm>
            <a:off x="1219200" y="4016375"/>
            <a:ext cx="6192838" cy="420688"/>
          </a:xfrm>
          <a:prstGeom prst="rect">
            <a:avLst/>
          </a:prstGeom>
          <a:noFill/>
          <a:ln w="25400">
            <a:noFill/>
          </a:ln>
        </p:spPr>
        <p:txBody>
          <a:bodyPr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运算结果本身</a:t>
            </a:r>
            <a:r>
              <a:rPr lang="en-US" altLang="zh-CN" dirty="0">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0 		∴ZF=0</a:t>
            </a:r>
            <a:r>
              <a:rPr lang="zh-CN" altLang="en-US">
                <a:latin typeface="Times New Roman" panose="02020603050405020304" pitchFamily="18" charset="0"/>
                <a:ea typeface="楷体_GB2312" pitchFamily="49" charset="-122"/>
              </a:rPr>
              <a:t>；</a:t>
            </a:r>
          </a:p>
        </p:txBody>
      </p:sp>
      <p:sp>
        <p:nvSpPr>
          <p:cNvPr id="241775" name="任意多边形 241774"/>
          <p:cNvSpPr/>
          <p:nvPr/>
        </p:nvSpPr>
        <p:spPr>
          <a:xfrm>
            <a:off x="1054100" y="3254375"/>
            <a:ext cx="165100" cy="381000"/>
          </a:xfrm>
          <a:custGeom>
            <a:avLst/>
            <a:gdLst/>
            <a:ahLst/>
            <a:cxnLst/>
            <a:rect l="0" t="0" r="0" b="0"/>
            <a:pathLst>
              <a:path w="104" h="240">
                <a:moveTo>
                  <a:pt x="56" y="0"/>
                </a:moveTo>
                <a:cubicBezTo>
                  <a:pt x="28" y="52"/>
                  <a:pt x="0" y="104"/>
                  <a:pt x="8" y="144"/>
                </a:cubicBezTo>
                <a:cubicBezTo>
                  <a:pt x="16" y="184"/>
                  <a:pt x="60" y="212"/>
                  <a:pt x="104" y="240"/>
                </a:cubicBezTo>
              </a:path>
            </a:pathLst>
          </a:custGeom>
          <a:noFill/>
          <a:ln w="25400" cap="flat" cmpd="sng">
            <a:solidFill>
              <a:srgbClr val="FFFF00"/>
            </a:solidFill>
            <a:prstDash val="solid"/>
            <a:round/>
            <a:headEnd type="none" w="med" len="med"/>
            <a:tailEnd type="stealth" w="med" len="med"/>
          </a:ln>
        </p:spPr>
        <p:txBody>
          <a:bodyPr/>
          <a:lstStyle/>
          <a:p>
            <a:endParaRPr lang="zh-CN" altLang="en-US"/>
          </a:p>
        </p:txBody>
      </p:sp>
      <p:sp>
        <p:nvSpPr>
          <p:cNvPr id="241776" name="左大括号 241775"/>
          <p:cNvSpPr/>
          <p:nvPr/>
        </p:nvSpPr>
        <p:spPr>
          <a:xfrm rot="-5400000">
            <a:off x="6400800" y="1654175"/>
            <a:ext cx="152400" cy="3505200"/>
          </a:xfrm>
          <a:prstGeom prst="leftBrace">
            <a:avLst>
              <a:gd name="adj1" fmla="val 190601"/>
              <a:gd name="adj2" fmla="val 50000"/>
            </a:avLst>
          </a:prstGeom>
          <a:noFill/>
          <a:ln w="25400" cap="flat" cmpd="sng">
            <a:solidFill>
              <a:srgbClr val="00FF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241777" name="任意多边形 241776"/>
          <p:cNvSpPr/>
          <p:nvPr/>
        </p:nvSpPr>
        <p:spPr>
          <a:xfrm>
            <a:off x="6172200" y="3482975"/>
            <a:ext cx="1130300" cy="1219200"/>
          </a:xfrm>
          <a:custGeom>
            <a:avLst/>
            <a:gdLst/>
            <a:ahLst/>
            <a:cxnLst/>
            <a:rect l="0" t="0" r="0" b="0"/>
            <a:pathLst>
              <a:path w="712" h="768">
                <a:moveTo>
                  <a:pt x="240" y="0"/>
                </a:moveTo>
                <a:cubicBezTo>
                  <a:pt x="476" y="128"/>
                  <a:pt x="712" y="256"/>
                  <a:pt x="672" y="384"/>
                </a:cubicBezTo>
                <a:cubicBezTo>
                  <a:pt x="632" y="512"/>
                  <a:pt x="316" y="640"/>
                  <a:pt x="0" y="768"/>
                </a:cubicBezTo>
              </a:path>
            </a:pathLst>
          </a:custGeom>
          <a:noFill/>
          <a:ln w="25400" cap="flat" cmpd="sng">
            <a:solidFill>
              <a:srgbClr val="00FF00"/>
            </a:solidFill>
            <a:prstDash val="solid"/>
            <a:round/>
            <a:headEnd type="none" w="med" len="med"/>
            <a:tailEnd type="stealth" w="lg" len="lg"/>
          </a:ln>
        </p:spPr>
        <p:txBody>
          <a:bodyPr/>
          <a:lstStyle/>
          <a:p>
            <a:endParaRPr lang="zh-CN" altLang="en-US"/>
          </a:p>
        </p:txBody>
      </p:sp>
      <p:sp>
        <p:nvSpPr>
          <p:cNvPr id="241778" name="任意多边形 241777"/>
          <p:cNvSpPr/>
          <p:nvPr/>
        </p:nvSpPr>
        <p:spPr>
          <a:xfrm>
            <a:off x="596900" y="3178175"/>
            <a:ext cx="622300" cy="2260600"/>
          </a:xfrm>
          <a:custGeom>
            <a:avLst/>
            <a:gdLst/>
            <a:ahLst/>
            <a:cxnLst/>
            <a:rect l="0" t="0" r="0" b="0"/>
            <a:pathLst>
              <a:path w="392" h="1424">
                <a:moveTo>
                  <a:pt x="56" y="0"/>
                </a:moveTo>
                <a:cubicBezTo>
                  <a:pt x="28" y="488"/>
                  <a:pt x="0" y="976"/>
                  <a:pt x="56" y="1200"/>
                </a:cubicBezTo>
                <a:cubicBezTo>
                  <a:pt x="112" y="1424"/>
                  <a:pt x="252" y="1384"/>
                  <a:pt x="392" y="1344"/>
                </a:cubicBezTo>
              </a:path>
            </a:pathLst>
          </a:custGeom>
          <a:noFill/>
          <a:ln w="25400" cap="flat" cmpd="sng">
            <a:solidFill>
              <a:schemeClr val="tx1"/>
            </a:solidFill>
            <a:prstDash val="solid"/>
            <a:round/>
            <a:headEnd type="none" w="med" len="med"/>
            <a:tailEnd type="stealth" w="med" len="lg"/>
          </a:ln>
        </p:spPr>
        <p:txBody>
          <a:bodyPr/>
          <a:lstStyle/>
          <a:p>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41666"/>
                                        </p:tgtEl>
                                        <p:attrNameLst>
                                          <p:attrName>style.visibility</p:attrName>
                                        </p:attrNameLst>
                                      </p:cBhvr>
                                      <p:to>
                                        <p:strVal val="visible"/>
                                      </p:to>
                                    </p:set>
                                    <p:anim calcmode="lin" valueType="num">
                                      <p:cBhvr>
                                        <p:cTn id="7" dur="500" fill="hold"/>
                                        <p:tgtEl>
                                          <p:spTgt spid="241666"/>
                                        </p:tgtEl>
                                        <p:attrNameLst>
                                          <p:attrName>ppt_x</p:attrName>
                                        </p:attrNameLst>
                                      </p:cBhvr>
                                      <p:tavLst>
                                        <p:tav tm="0">
                                          <p:val>
                                            <p:strVal val="#ppt_x"/>
                                          </p:val>
                                        </p:tav>
                                        <p:tav tm="100000">
                                          <p:val>
                                            <p:strVal val="#ppt_x"/>
                                          </p:val>
                                        </p:tav>
                                      </p:tavLst>
                                    </p:anim>
                                    <p:anim calcmode="lin" valueType="num">
                                      <p:cBhvr>
                                        <p:cTn id="8" dur="500" fill="hold"/>
                                        <p:tgtEl>
                                          <p:spTgt spid="24166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1733"/>
                                        </p:tgtEl>
                                        <p:attrNameLst>
                                          <p:attrName>style.visibility</p:attrName>
                                        </p:attrNameLst>
                                      </p:cBhvr>
                                      <p:to>
                                        <p:strVal val="visible"/>
                                      </p:to>
                                    </p:set>
                                    <p:anim calcmode="lin" valueType="num">
                                      <p:cBhvr>
                                        <p:cTn id="13" dur="500" fill="hold"/>
                                        <p:tgtEl>
                                          <p:spTgt spid="241733"/>
                                        </p:tgtEl>
                                        <p:attrNameLst>
                                          <p:attrName>ppt_x</p:attrName>
                                        </p:attrNameLst>
                                      </p:cBhvr>
                                      <p:tavLst>
                                        <p:tav tm="0">
                                          <p:val>
                                            <p:strVal val="#ppt_x"/>
                                          </p:val>
                                        </p:tav>
                                        <p:tav tm="100000">
                                          <p:val>
                                            <p:strVal val="#ppt_x"/>
                                          </p:val>
                                        </p:tav>
                                      </p:tavLst>
                                    </p:anim>
                                    <p:anim calcmode="lin" valueType="num">
                                      <p:cBhvr>
                                        <p:cTn id="14" dur="500" fill="hold"/>
                                        <p:tgtEl>
                                          <p:spTgt spid="24173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 fill="hold" nodeType="clickEffect">
                                  <p:stCondLst>
                                    <p:cond delay="0"/>
                                  </p:stCondLst>
                                  <p:childTnLst>
                                    <p:set>
                                      <p:cBhvr>
                                        <p:cTn id="18" dur="1" fill="hold">
                                          <p:stCondLst>
                                            <p:cond delay="0"/>
                                          </p:stCondLst>
                                        </p:cTn>
                                        <p:tgtEl>
                                          <p:spTgt spid="241775"/>
                                        </p:tgtEl>
                                        <p:attrNameLst>
                                          <p:attrName>style.visibility</p:attrName>
                                        </p:attrNameLst>
                                      </p:cBhvr>
                                      <p:to>
                                        <p:strVal val="visible"/>
                                      </p:to>
                                    </p:set>
                                    <p:anim calcmode="lin" valueType="num">
                                      <p:cBhvr>
                                        <p:cTn id="19" dur="500" fill="hold"/>
                                        <p:tgtEl>
                                          <p:spTgt spid="241775"/>
                                        </p:tgtEl>
                                        <p:attrNameLst>
                                          <p:attrName>ppt_x</p:attrName>
                                        </p:attrNameLst>
                                      </p:cBhvr>
                                      <p:tavLst>
                                        <p:tav tm="0">
                                          <p:val>
                                            <p:strVal val="#ppt_x"/>
                                          </p:val>
                                        </p:tav>
                                        <p:tav tm="100000">
                                          <p:val>
                                            <p:strVal val="#ppt_x"/>
                                          </p:val>
                                        </p:tav>
                                      </p:tavLst>
                                    </p:anim>
                                    <p:anim calcmode="lin" valueType="num">
                                      <p:cBhvr>
                                        <p:cTn id="20" dur="500" fill="hold"/>
                                        <p:tgtEl>
                                          <p:spTgt spid="241775"/>
                                        </p:tgtEl>
                                        <p:attrNameLst>
                                          <p:attrName>ppt_y</p:attrName>
                                        </p:attrNameLst>
                                      </p:cBhvr>
                                      <p:tavLst>
                                        <p:tav tm="0">
                                          <p:val>
                                            <p:strVal val="#ppt_y-#ppt_h/2"/>
                                          </p:val>
                                        </p:tav>
                                        <p:tav tm="100000">
                                          <p:val>
                                            <p:strVal val="#ppt_y"/>
                                          </p:val>
                                        </p:tav>
                                      </p:tavLst>
                                    </p:anim>
                                    <p:anim calcmode="lin" valueType="num">
                                      <p:cBhvr>
                                        <p:cTn id="21" dur="500" fill="hold"/>
                                        <p:tgtEl>
                                          <p:spTgt spid="241775"/>
                                        </p:tgtEl>
                                        <p:attrNameLst>
                                          <p:attrName>ppt_w</p:attrName>
                                        </p:attrNameLst>
                                      </p:cBhvr>
                                      <p:tavLst>
                                        <p:tav tm="0">
                                          <p:val>
                                            <p:strVal val="#ppt_w"/>
                                          </p:val>
                                        </p:tav>
                                        <p:tav tm="100000">
                                          <p:val>
                                            <p:strVal val="#ppt_w"/>
                                          </p:val>
                                        </p:tav>
                                      </p:tavLst>
                                    </p:anim>
                                    <p:anim calcmode="lin" valueType="num">
                                      <p:cBhvr>
                                        <p:cTn id="22" dur="500" fill="hold"/>
                                        <p:tgtEl>
                                          <p:spTgt spid="241775"/>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241766"/>
                                        </p:tgtEl>
                                        <p:attrNameLst>
                                          <p:attrName>style.visibility</p:attrName>
                                        </p:attrNameLst>
                                      </p:cBhvr>
                                      <p:to>
                                        <p:strVal val="visible"/>
                                      </p:to>
                                    </p:set>
                                    <p:anim calcmode="lin" valueType="num">
                                      <p:cBhvr>
                                        <p:cTn id="27" dur="500" fill="hold"/>
                                        <p:tgtEl>
                                          <p:spTgt spid="241766"/>
                                        </p:tgtEl>
                                        <p:attrNameLst>
                                          <p:attrName>ppt_x</p:attrName>
                                        </p:attrNameLst>
                                      </p:cBhvr>
                                      <p:tavLst>
                                        <p:tav tm="0">
                                          <p:val>
                                            <p:strVal val="#ppt_x-#ppt_w/2"/>
                                          </p:val>
                                        </p:tav>
                                        <p:tav tm="100000">
                                          <p:val>
                                            <p:strVal val="#ppt_x"/>
                                          </p:val>
                                        </p:tav>
                                      </p:tavLst>
                                    </p:anim>
                                    <p:anim calcmode="lin" valueType="num">
                                      <p:cBhvr>
                                        <p:cTn id="28" dur="500" fill="hold"/>
                                        <p:tgtEl>
                                          <p:spTgt spid="241766"/>
                                        </p:tgtEl>
                                        <p:attrNameLst>
                                          <p:attrName>ppt_y</p:attrName>
                                        </p:attrNameLst>
                                      </p:cBhvr>
                                      <p:tavLst>
                                        <p:tav tm="0">
                                          <p:val>
                                            <p:strVal val="#ppt_y"/>
                                          </p:val>
                                        </p:tav>
                                        <p:tav tm="100000">
                                          <p:val>
                                            <p:strVal val="#ppt_y"/>
                                          </p:val>
                                        </p:tav>
                                      </p:tavLst>
                                    </p:anim>
                                    <p:anim calcmode="lin" valueType="num">
                                      <p:cBhvr>
                                        <p:cTn id="29" dur="500" fill="hold"/>
                                        <p:tgtEl>
                                          <p:spTgt spid="241766"/>
                                        </p:tgtEl>
                                        <p:attrNameLst>
                                          <p:attrName>ppt_w</p:attrName>
                                        </p:attrNameLst>
                                      </p:cBhvr>
                                      <p:tavLst>
                                        <p:tav tm="0">
                                          <p:val>
                                            <p:fltVal val="0"/>
                                          </p:val>
                                        </p:tav>
                                        <p:tav tm="100000">
                                          <p:val>
                                            <p:strVal val="#ppt_w"/>
                                          </p:val>
                                        </p:tav>
                                      </p:tavLst>
                                    </p:anim>
                                    <p:anim calcmode="lin" valueType="num">
                                      <p:cBhvr>
                                        <p:cTn id="30" dur="500" fill="hold"/>
                                        <p:tgtEl>
                                          <p:spTgt spid="241766"/>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grpId="0" nodeType="clickEffect">
                                  <p:stCondLst>
                                    <p:cond delay="0"/>
                                  </p:stCondLst>
                                  <p:childTnLst>
                                    <p:set>
                                      <p:cBhvr>
                                        <p:cTn id="34" dur="1" fill="hold">
                                          <p:stCondLst>
                                            <p:cond delay="0"/>
                                          </p:stCondLst>
                                        </p:cTn>
                                        <p:tgtEl>
                                          <p:spTgt spid="241774"/>
                                        </p:tgtEl>
                                        <p:attrNameLst>
                                          <p:attrName>style.visibility</p:attrName>
                                        </p:attrNameLst>
                                      </p:cBhvr>
                                      <p:to>
                                        <p:strVal val="visible"/>
                                      </p:to>
                                    </p:set>
                                    <p:anim calcmode="lin" valueType="num">
                                      <p:cBhvr>
                                        <p:cTn id="35" dur="500" fill="hold"/>
                                        <p:tgtEl>
                                          <p:spTgt spid="241774"/>
                                        </p:tgtEl>
                                        <p:attrNameLst>
                                          <p:attrName>ppt_x</p:attrName>
                                        </p:attrNameLst>
                                      </p:cBhvr>
                                      <p:tavLst>
                                        <p:tav tm="0">
                                          <p:val>
                                            <p:strVal val="#ppt_x-#ppt_w/2"/>
                                          </p:val>
                                        </p:tav>
                                        <p:tav tm="100000">
                                          <p:val>
                                            <p:strVal val="#ppt_x"/>
                                          </p:val>
                                        </p:tav>
                                      </p:tavLst>
                                    </p:anim>
                                    <p:anim calcmode="lin" valueType="num">
                                      <p:cBhvr>
                                        <p:cTn id="36" dur="500" fill="hold"/>
                                        <p:tgtEl>
                                          <p:spTgt spid="241774"/>
                                        </p:tgtEl>
                                        <p:attrNameLst>
                                          <p:attrName>ppt_y</p:attrName>
                                        </p:attrNameLst>
                                      </p:cBhvr>
                                      <p:tavLst>
                                        <p:tav tm="0">
                                          <p:val>
                                            <p:strVal val="#ppt_y"/>
                                          </p:val>
                                        </p:tav>
                                        <p:tav tm="100000">
                                          <p:val>
                                            <p:strVal val="#ppt_y"/>
                                          </p:val>
                                        </p:tav>
                                      </p:tavLst>
                                    </p:anim>
                                    <p:anim calcmode="lin" valueType="num">
                                      <p:cBhvr>
                                        <p:cTn id="37" dur="500" fill="hold"/>
                                        <p:tgtEl>
                                          <p:spTgt spid="241774"/>
                                        </p:tgtEl>
                                        <p:attrNameLst>
                                          <p:attrName>ppt_w</p:attrName>
                                        </p:attrNameLst>
                                      </p:cBhvr>
                                      <p:tavLst>
                                        <p:tav tm="0">
                                          <p:val>
                                            <p:fltVal val="0"/>
                                          </p:val>
                                        </p:tav>
                                        <p:tav tm="100000">
                                          <p:val>
                                            <p:strVal val="#ppt_w"/>
                                          </p:val>
                                        </p:tav>
                                      </p:tavLst>
                                    </p:anim>
                                    <p:anim calcmode="lin" valueType="num">
                                      <p:cBhvr>
                                        <p:cTn id="38" dur="500" fill="hold"/>
                                        <p:tgtEl>
                                          <p:spTgt spid="241774"/>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24177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7" presetClass="entr" presetSubtype="1" fill="hold" nodeType="clickEffect">
                                  <p:stCondLst>
                                    <p:cond delay="0"/>
                                  </p:stCondLst>
                                  <p:childTnLst>
                                    <p:set>
                                      <p:cBhvr>
                                        <p:cTn id="46" dur="1" fill="hold">
                                          <p:stCondLst>
                                            <p:cond delay="0"/>
                                          </p:stCondLst>
                                        </p:cTn>
                                        <p:tgtEl>
                                          <p:spTgt spid="241777"/>
                                        </p:tgtEl>
                                        <p:attrNameLst>
                                          <p:attrName>style.visibility</p:attrName>
                                        </p:attrNameLst>
                                      </p:cBhvr>
                                      <p:to>
                                        <p:strVal val="visible"/>
                                      </p:to>
                                    </p:set>
                                    <p:anim calcmode="lin" valueType="num">
                                      <p:cBhvr>
                                        <p:cTn id="47" dur="500" fill="hold"/>
                                        <p:tgtEl>
                                          <p:spTgt spid="241777"/>
                                        </p:tgtEl>
                                        <p:attrNameLst>
                                          <p:attrName>ppt_x</p:attrName>
                                        </p:attrNameLst>
                                      </p:cBhvr>
                                      <p:tavLst>
                                        <p:tav tm="0">
                                          <p:val>
                                            <p:strVal val="#ppt_x"/>
                                          </p:val>
                                        </p:tav>
                                        <p:tav tm="100000">
                                          <p:val>
                                            <p:strVal val="#ppt_x"/>
                                          </p:val>
                                        </p:tav>
                                      </p:tavLst>
                                    </p:anim>
                                    <p:anim calcmode="lin" valueType="num">
                                      <p:cBhvr>
                                        <p:cTn id="48" dur="500" fill="hold"/>
                                        <p:tgtEl>
                                          <p:spTgt spid="241777"/>
                                        </p:tgtEl>
                                        <p:attrNameLst>
                                          <p:attrName>ppt_y</p:attrName>
                                        </p:attrNameLst>
                                      </p:cBhvr>
                                      <p:tavLst>
                                        <p:tav tm="0">
                                          <p:val>
                                            <p:strVal val="#ppt_y-#ppt_h/2"/>
                                          </p:val>
                                        </p:tav>
                                        <p:tav tm="100000">
                                          <p:val>
                                            <p:strVal val="#ppt_y"/>
                                          </p:val>
                                        </p:tav>
                                      </p:tavLst>
                                    </p:anim>
                                    <p:anim calcmode="lin" valueType="num">
                                      <p:cBhvr>
                                        <p:cTn id="49" dur="500" fill="hold"/>
                                        <p:tgtEl>
                                          <p:spTgt spid="241777"/>
                                        </p:tgtEl>
                                        <p:attrNameLst>
                                          <p:attrName>ppt_w</p:attrName>
                                        </p:attrNameLst>
                                      </p:cBhvr>
                                      <p:tavLst>
                                        <p:tav tm="0">
                                          <p:val>
                                            <p:strVal val="#ppt_w"/>
                                          </p:val>
                                        </p:tav>
                                        <p:tav tm="100000">
                                          <p:val>
                                            <p:strVal val="#ppt_w"/>
                                          </p:val>
                                        </p:tav>
                                      </p:tavLst>
                                    </p:anim>
                                    <p:anim calcmode="lin" valueType="num">
                                      <p:cBhvr>
                                        <p:cTn id="50" dur="500" fill="hold"/>
                                        <p:tgtEl>
                                          <p:spTgt spid="241777"/>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7" presetClass="entr" presetSubtype="8" fill="hold" grpId="0" nodeType="clickEffect">
                                  <p:stCondLst>
                                    <p:cond delay="0"/>
                                  </p:stCondLst>
                                  <p:childTnLst>
                                    <p:set>
                                      <p:cBhvr>
                                        <p:cTn id="54" dur="1" fill="hold">
                                          <p:stCondLst>
                                            <p:cond delay="0"/>
                                          </p:stCondLst>
                                        </p:cTn>
                                        <p:tgtEl>
                                          <p:spTgt spid="241773"/>
                                        </p:tgtEl>
                                        <p:attrNameLst>
                                          <p:attrName>style.visibility</p:attrName>
                                        </p:attrNameLst>
                                      </p:cBhvr>
                                      <p:to>
                                        <p:strVal val="visible"/>
                                      </p:to>
                                    </p:set>
                                    <p:anim calcmode="lin" valueType="num">
                                      <p:cBhvr>
                                        <p:cTn id="55" dur="500" fill="hold"/>
                                        <p:tgtEl>
                                          <p:spTgt spid="241773"/>
                                        </p:tgtEl>
                                        <p:attrNameLst>
                                          <p:attrName>ppt_x</p:attrName>
                                        </p:attrNameLst>
                                      </p:cBhvr>
                                      <p:tavLst>
                                        <p:tav tm="0">
                                          <p:val>
                                            <p:strVal val="#ppt_x-#ppt_w/2"/>
                                          </p:val>
                                        </p:tav>
                                        <p:tav tm="100000">
                                          <p:val>
                                            <p:strVal val="#ppt_x"/>
                                          </p:val>
                                        </p:tav>
                                      </p:tavLst>
                                    </p:anim>
                                    <p:anim calcmode="lin" valueType="num">
                                      <p:cBhvr>
                                        <p:cTn id="56" dur="500" fill="hold"/>
                                        <p:tgtEl>
                                          <p:spTgt spid="241773"/>
                                        </p:tgtEl>
                                        <p:attrNameLst>
                                          <p:attrName>ppt_y</p:attrName>
                                        </p:attrNameLst>
                                      </p:cBhvr>
                                      <p:tavLst>
                                        <p:tav tm="0">
                                          <p:val>
                                            <p:strVal val="#ppt_y"/>
                                          </p:val>
                                        </p:tav>
                                        <p:tav tm="100000">
                                          <p:val>
                                            <p:strVal val="#ppt_y"/>
                                          </p:val>
                                        </p:tav>
                                      </p:tavLst>
                                    </p:anim>
                                    <p:anim calcmode="lin" valueType="num">
                                      <p:cBhvr>
                                        <p:cTn id="57" dur="500" fill="hold"/>
                                        <p:tgtEl>
                                          <p:spTgt spid="241773"/>
                                        </p:tgtEl>
                                        <p:attrNameLst>
                                          <p:attrName>ppt_w</p:attrName>
                                        </p:attrNameLst>
                                      </p:cBhvr>
                                      <p:tavLst>
                                        <p:tav tm="0">
                                          <p:val>
                                            <p:fltVal val="0"/>
                                          </p:val>
                                        </p:tav>
                                        <p:tav tm="100000">
                                          <p:val>
                                            <p:strVal val="#ppt_w"/>
                                          </p:val>
                                        </p:tav>
                                      </p:tavLst>
                                    </p:anim>
                                    <p:anim calcmode="lin" valueType="num">
                                      <p:cBhvr>
                                        <p:cTn id="58" dur="500" fill="hold"/>
                                        <p:tgtEl>
                                          <p:spTgt spid="241773"/>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1" fill="hold" nodeType="clickEffect">
                                  <p:stCondLst>
                                    <p:cond delay="0"/>
                                  </p:stCondLst>
                                  <p:childTnLst>
                                    <p:set>
                                      <p:cBhvr>
                                        <p:cTn id="62" dur="1" fill="hold">
                                          <p:stCondLst>
                                            <p:cond delay="0"/>
                                          </p:stCondLst>
                                        </p:cTn>
                                        <p:tgtEl>
                                          <p:spTgt spid="241778"/>
                                        </p:tgtEl>
                                        <p:attrNameLst>
                                          <p:attrName>style.visibility</p:attrName>
                                        </p:attrNameLst>
                                      </p:cBhvr>
                                      <p:to>
                                        <p:strVal val="visible"/>
                                      </p:to>
                                    </p:set>
                                    <p:anim calcmode="lin" valueType="num">
                                      <p:cBhvr>
                                        <p:cTn id="63" dur="500" fill="hold"/>
                                        <p:tgtEl>
                                          <p:spTgt spid="241778"/>
                                        </p:tgtEl>
                                        <p:attrNameLst>
                                          <p:attrName>ppt_x</p:attrName>
                                        </p:attrNameLst>
                                      </p:cBhvr>
                                      <p:tavLst>
                                        <p:tav tm="0">
                                          <p:val>
                                            <p:strVal val="#ppt_x"/>
                                          </p:val>
                                        </p:tav>
                                        <p:tav tm="100000">
                                          <p:val>
                                            <p:strVal val="#ppt_x"/>
                                          </p:val>
                                        </p:tav>
                                      </p:tavLst>
                                    </p:anim>
                                    <p:anim calcmode="lin" valueType="num">
                                      <p:cBhvr>
                                        <p:cTn id="64" dur="500" fill="hold"/>
                                        <p:tgtEl>
                                          <p:spTgt spid="241778"/>
                                        </p:tgtEl>
                                        <p:attrNameLst>
                                          <p:attrName>ppt_y</p:attrName>
                                        </p:attrNameLst>
                                      </p:cBhvr>
                                      <p:tavLst>
                                        <p:tav tm="0">
                                          <p:val>
                                            <p:strVal val="#ppt_y-#ppt_h/2"/>
                                          </p:val>
                                        </p:tav>
                                        <p:tav tm="100000">
                                          <p:val>
                                            <p:strVal val="#ppt_y"/>
                                          </p:val>
                                        </p:tav>
                                      </p:tavLst>
                                    </p:anim>
                                    <p:anim calcmode="lin" valueType="num">
                                      <p:cBhvr>
                                        <p:cTn id="65" dur="500" fill="hold"/>
                                        <p:tgtEl>
                                          <p:spTgt spid="241778"/>
                                        </p:tgtEl>
                                        <p:attrNameLst>
                                          <p:attrName>ppt_w</p:attrName>
                                        </p:attrNameLst>
                                      </p:cBhvr>
                                      <p:tavLst>
                                        <p:tav tm="0">
                                          <p:val>
                                            <p:strVal val="#ppt_w"/>
                                          </p:val>
                                        </p:tav>
                                        <p:tav tm="100000">
                                          <p:val>
                                            <p:strVal val="#ppt_w"/>
                                          </p:val>
                                        </p:tav>
                                      </p:tavLst>
                                    </p:anim>
                                    <p:anim calcmode="lin" valueType="num">
                                      <p:cBhvr>
                                        <p:cTn id="66" dur="500" fill="hold"/>
                                        <p:tgtEl>
                                          <p:spTgt spid="241778"/>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17" presetClass="entr" presetSubtype="8" fill="hold" grpId="0" nodeType="clickEffect">
                                  <p:stCondLst>
                                    <p:cond delay="0"/>
                                  </p:stCondLst>
                                  <p:childTnLst>
                                    <p:set>
                                      <p:cBhvr>
                                        <p:cTn id="70" dur="1" fill="hold">
                                          <p:stCondLst>
                                            <p:cond delay="0"/>
                                          </p:stCondLst>
                                        </p:cTn>
                                        <p:tgtEl>
                                          <p:spTgt spid="241772"/>
                                        </p:tgtEl>
                                        <p:attrNameLst>
                                          <p:attrName>style.visibility</p:attrName>
                                        </p:attrNameLst>
                                      </p:cBhvr>
                                      <p:to>
                                        <p:strVal val="visible"/>
                                      </p:to>
                                    </p:set>
                                    <p:anim calcmode="lin" valueType="num">
                                      <p:cBhvr>
                                        <p:cTn id="71" dur="500" fill="hold"/>
                                        <p:tgtEl>
                                          <p:spTgt spid="241772"/>
                                        </p:tgtEl>
                                        <p:attrNameLst>
                                          <p:attrName>ppt_x</p:attrName>
                                        </p:attrNameLst>
                                      </p:cBhvr>
                                      <p:tavLst>
                                        <p:tav tm="0">
                                          <p:val>
                                            <p:strVal val="#ppt_x-#ppt_w/2"/>
                                          </p:val>
                                        </p:tav>
                                        <p:tav tm="100000">
                                          <p:val>
                                            <p:strVal val="#ppt_x"/>
                                          </p:val>
                                        </p:tav>
                                      </p:tavLst>
                                    </p:anim>
                                    <p:anim calcmode="lin" valueType="num">
                                      <p:cBhvr>
                                        <p:cTn id="72" dur="500" fill="hold"/>
                                        <p:tgtEl>
                                          <p:spTgt spid="241772"/>
                                        </p:tgtEl>
                                        <p:attrNameLst>
                                          <p:attrName>ppt_y</p:attrName>
                                        </p:attrNameLst>
                                      </p:cBhvr>
                                      <p:tavLst>
                                        <p:tav tm="0">
                                          <p:val>
                                            <p:strVal val="#ppt_y"/>
                                          </p:val>
                                        </p:tav>
                                        <p:tav tm="100000">
                                          <p:val>
                                            <p:strVal val="#ppt_y"/>
                                          </p:val>
                                        </p:tav>
                                      </p:tavLst>
                                    </p:anim>
                                    <p:anim calcmode="lin" valueType="num">
                                      <p:cBhvr>
                                        <p:cTn id="73" dur="500" fill="hold"/>
                                        <p:tgtEl>
                                          <p:spTgt spid="241772"/>
                                        </p:tgtEl>
                                        <p:attrNameLst>
                                          <p:attrName>ppt_w</p:attrName>
                                        </p:attrNameLst>
                                      </p:cBhvr>
                                      <p:tavLst>
                                        <p:tav tm="0">
                                          <p:val>
                                            <p:fltVal val="0"/>
                                          </p:val>
                                        </p:tav>
                                        <p:tav tm="100000">
                                          <p:val>
                                            <p:strVal val="#ppt_w"/>
                                          </p:val>
                                        </p:tav>
                                      </p:tavLst>
                                    </p:anim>
                                    <p:anim calcmode="lin" valueType="num">
                                      <p:cBhvr>
                                        <p:cTn id="74" dur="500" fill="hold"/>
                                        <p:tgtEl>
                                          <p:spTgt spid="241772"/>
                                        </p:tgtEl>
                                        <p:attrNameLst>
                                          <p:attrName>ppt_h</p:attrName>
                                        </p:attrNameLst>
                                      </p:cBhvr>
                                      <p:tavLst>
                                        <p:tav tm="0">
                                          <p:val>
                                            <p:strVal val="#ppt_h"/>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7" presetClass="entr" presetSubtype="2" fill="hold" nodeType="clickEffect">
                                  <p:stCondLst>
                                    <p:cond delay="0"/>
                                  </p:stCondLst>
                                  <p:childTnLst>
                                    <p:set>
                                      <p:cBhvr>
                                        <p:cTn id="78" dur="1" fill="hold">
                                          <p:stCondLst>
                                            <p:cond delay="0"/>
                                          </p:stCondLst>
                                        </p:cTn>
                                        <p:tgtEl>
                                          <p:spTgt spid="241768"/>
                                        </p:tgtEl>
                                        <p:attrNameLst>
                                          <p:attrName>style.visibility</p:attrName>
                                        </p:attrNameLst>
                                      </p:cBhvr>
                                      <p:to>
                                        <p:strVal val="visible"/>
                                      </p:to>
                                    </p:set>
                                    <p:anim calcmode="lin" valueType="num">
                                      <p:cBhvr>
                                        <p:cTn id="79" dur="500" fill="hold"/>
                                        <p:tgtEl>
                                          <p:spTgt spid="241768"/>
                                        </p:tgtEl>
                                        <p:attrNameLst>
                                          <p:attrName>ppt_x</p:attrName>
                                        </p:attrNameLst>
                                      </p:cBhvr>
                                      <p:tavLst>
                                        <p:tav tm="0">
                                          <p:val>
                                            <p:strVal val="#ppt_x+#ppt_w/2"/>
                                          </p:val>
                                        </p:tav>
                                        <p:tav tm="100000">
                                          <p:val>
                                            <p:strVal val="#ppt_x"/>
                                          </p:val>
                                        </p:tav>
                                      </p:tavLst>
                                    </p:anim>
                                    <p:anim calcmode="lin" valueType="num">
                                      <p:cBhvr>
                                        <p:cTn id="80" dur="500" fill="hold"/>
                                        <p:tgtEl>
                                          <p:spTgt spid="241768"/>
                                        </p:tgtEl>
                                        <p:attrNameLst>
                                          <p:attrName>ppt_y</p:attrName>
                                        </p:attrNameLst>
                                      </p:cBhvr>
                                      <p:tavLst>
                                        <p:tav tm="0">
                                          <p:val>
                                            <p:strVal val="#ppt_y"/>
                                          </p:val>
                                        </p:tav>
                                        <p:tav tm="100000">
                                          <p:val>
                                            <p:strVal val="#ppt_y"/>
                                          </p:val>
                                        </p:tav>
                                      </p:tavLst>
                                    </p:anim>
                                    <p:anim calcmode="lin" valueType="num">
                                      <p:cBhvr>
                                        <p:cTn id="81" dur="500" fill="hold"/>
                                        <p:tgtEl>
                                          <p:spTgt spid="241768"/>
                                        </p:tgtEl>
                                        <p:attrNameLst>
                                          <p:attrName>ppt_w</p:attrName>
                                        </p:attrNameLst>
                                      </p:cBhvr>
                                      <p:tavLst>
                                        <p:tav tm="0">
                                          <p:val>
                                            <p:fltVal val="0"/>
                                          </p:val>
                                        </p:tav>
                                        <p:tav tm="100000">
                                          <p:val>
                                            <p:strVal val="#ppt_w"/>
                                          </p:val>
                                        </p:tav>
                                      </p:tavLst>
                                    </p:anim>
                                    <p:anim calcmode="lin" valueType="num">
                                      <p:cBhvr>
                                        <p:cTn id="82" dur="500" fill="hold"/>
                                        <p:tgtEl>
                                          <p:spTgt spid="241768"/>
                                        </p:tgtEl>
                                        <p:attrNameLst>
                                          <p:attrName>ppt_h</p:attrName>
                                        </p:attrNameLst>
                                      </p:cBhvr>
                                      <p:tavLst>
                                        <p:tav tm="0">
                                          <p:val>
                                            <p:strVal val="#ppt_h"/>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17" presetClass="entr" presetSubtype="8" fill="hold" grpId="0" nodeType="clickEffect">
                                  <p:stCondLst>
                                    <p:cond delay="0"/>
                                  </p:stCondLst>
                                  <p:childTnLst>
                                    <p:set>
                                      <p:cBhvr>
                                        <p:cTn id="86" dur="1" fill="hold">
                                          <p:stCondLst>
                                            <p:cond delay="0"/>
                                          </p:stCondLst>
                                        </p:cTn>
                                        <p:tgtEl>
                                          <p:spTgt spid="241770"/>
                                        </p:tgtEl>
                                        <p:attrNameLst>
                                          <p:attrName>style.visibility</p:attrName>
                                        </p:attrNameLst>
                                      </p:cBhvr>
                                      <p:to>
                                        <p:strVal val="visible"/>
                                      </p:to>
                                    </p:set>
                                    <p:anim calcmode="lin" valueType="num">
                                      <p:cBhvr>
                                        <p:cTn id="87" dur="500" fill="hold"/>
                                        <p:tgtEl>
                                          <p:spTgt spid="241770"/>
                                        </p:tgtEl>
                                        <p:attrNameLst>
                                          <p:attrName>ppt_x</p:attrName>
                                        </p:attrNameLst>
                                      </p:cBhvr>
                                      <p:tavLst>
                                        <p:tav tm="0">
                                          <p:val>
                                            <p:strVal val="#ppt_x-#ppt_w/2"/>
                                          </p:val>
                                        </p:tav>
                                        <p:tav tm="100000">
                                          <p:val>
                                            <p:strVal val="#ppt_x"/>
                                          </p:val>
                                        </p:tav>
                                      </p:tavLst>
                                    </p:anim>
                                    <p:anim calcmode="lin" valueType="num">
                                      <p:cBhvr>
                                        <p:cTn id="88" dur="500" fill="hold"/>
                                        <p:tgtEl>
                                          <p:spTgt spid="241770"/>
                                        </p:tgtEl>
                                        <p:attrNameLst>
                                          <p:attrName>ppt_y</p:attrName>
                                        </p:attrNameLst>
                                      </p:cBhvr>
                                      <p:tavLst>
                                        <p:tav tm="0">
                                          <p:val>
                                            <p:strVal val="#ppt_y"/>
                                          </p:val>
                                        </p:tav>
                                        <p:tav tm="100000">
                                          <p:val>
                                            <p:strVal val="#ppt_y"/>
                                          </p:val>
                                        </p:tav>
                                      </p:tavLst>
                                    </p:anim>
                                    <p:anim calcmode="lin" valueType="num">
                                      <p:cBhvr>
                                        <p:cTn id="89" dur="500" fill="hold"/>
                                        <p:tgtEl>
                                          <p:spTgt spid="241770"/>
                                        </p:tgtEl>
                                        <p:attrNameLst>
                                          <p:attrName>ppt_w</p:attrName>
                                        </p:attrNameLst>
                                      </p:cBhvr>
                                      <p:tavLst>
                                        <p:tav tm="0">
                                          <p:val>
                                            <p:fltVal val="0"/>
                                          </p:val>
                                        </p:tav>
                                        <p:tav tm="100000">
                                          <p:val>
                                            <p:strVal val="#ppt_w"/>
                                          </p:val>
                                        </p:tav>
                                      </p:tavLst>
                                    </p:anim>
                                    <p:anim calcmode="lin" valueType="num">
                                      <p:cBhvr>
                                        <p:cTn id="90" dur="500" fill="hold"/>
                                        <p:tgtEl>
                                          <p:spTgt spid="241770"/>
                                        </p:tgtEl>
                                        <p:attrNameLst>
                                          <p:attrName>ppt_h</p:attrName>
                                        </p:attrNameLst>
                                      </p:cBhvr>
                                      <p:tavLst>
                                        <p:tav tm="0">
                                          <p:val>
                                            <p:strVal val="#ppt_h"/>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17" presetClass="entr" presetSubtype="2" fill="hold" nodeType="clickEffect">
                                  <p:stCondLst>
                                    <p:cond delay="0"/>
                                  </p:stCondLst>
                                  <p:childTnLst>
                                    <p:set>
                                      <p:cBhvr>
                                        <p:cTn id="94" dur="1" fill="hold">
                                          <p:stCondLst>
                                            <p:cond delay="0"/>
                                          </p:stCondLst>
                                        </p:cTn>
                                        <p:tgtEl>
                                          <p:spTgt spid="241769"/>
                                        </p:tgtEl>
                                        <p:attrNameLst>
                                          <p:attrName>style.visibility</p:attrName>
                                        </p:attrNameLst>
                                      </p:cBhvr>
                                      <p:to>
                                        <p:strVal val="visible"/>
                                      </p:to>
                                    </p:set>
                                    <p:anim calcmode="lin" valueType="num">
                                      <p:cBhvr>
                                        <p:cTn id="95" dur="500" fill="hold"/>
                                        <p:tgtEl>
                                          <p:spTgt spid="241769"/>
                                        </p:tgtEl>
                                        <p:attrNameLst>
                                          <p:attrName>ppt_x</p:attrName>
                                        </p:attrNameLst>
                                      </p:cBhvr>
                                      <p:tavLst>
                                        <p:tav tm="0">
                                          <p:val>
                                            <p:strVal val="#ppt_x+#ppt_w/2"/>
                                          </p:val>
                                        </p:tav>
                                        <p:tav tm="100000">
                                          <p:val>
                                            <p:strVal val="#ppt_x"/>
                                          </p:val>
                                        </p:tav>
                                      </p:tavLst>
                                    </p:anim>
                                    <p:anim calcmode="lin" valueType="num">
                                      <p:cBhvr>
                                        <p:cTn id="96" dur="500" fill="hold"/>
                                        <p:tgtEl>
                                          <p:spTgt spid="241769"/>
                                        </p:tgtEl>
                                        <p:attrNameLst>
                                          <p:attrName>ppt_y</p:attrName>
                                        </p:attrNameLst>
                                      </p:cBhvr>
                                      <p:tavLst>
                                        <p:tav tm="0">
                                          <p:val>
                                            <p:strVal val="#ppt_y"/>
                                          </p:val>
                                        </p:tav>
                                        <p:tav tm="100000">
                                          <p:val>
                                            <p:strVal val="#ppt_y"/>
                                          </p:val>
                                        </p:tav>
                                      </p:tavLst>
                                    </p:anim>
                                    <p:anim calcmode="lin" valueType="num">
                                      <p:cBhvr>
                                        <p:cTn id="97" dur="500" fill="hold"/>
                                        <p:tgtEl>
                                          <p:spTgt spid="241769"/>
                                        </p:tgtEl>
                                        <p:attrNameLst>
                                          <p:attrName>ppt_w</p:attrName>
                                        </p:attrNameLst>
                                      </p:cBhvr>
                                      <p:tavLst>
                                        <p:tav tm="0">
                                          <p:val>
                                            <p:fltVal val="0"/>
                                          </p:val>
                                        </p:tav>
                                        <p:tav tm="100000">
                                          <p:val>
                                            <p:strVal val="#ppt_w"/>
                                          </p:val>
                                        </p:tav>
                                      </p:tavLst>
                                    </p:anim>
                                    <p:anim calcmode="lin" valueType="num">
                                      <p:cBhvr>
                                        <p:cTn id="98" dur="500" fill="hold"/>
                                        <p:tgtEl>
                                          <p:spTgt spid="241769"/>
                                        </p:tgtEl>
                                        <p:attrNameLst>
                                          <p:attrName>ppt_h</p:attrName>
                                        </p:attrNameLst>
                                      </p:cBhvr>
                                      <p:tavLst>
                                        <p:tav tm="0">
                                          <p:val>
                                            <p:strVal val="#ppt_h"/>
                                          </p:val>
                                        </p:tav>
                                        <p:tav tm="100000">
                                          <p:val>
                                            <p:strVal val="#ppt_h"/>
                                          </p:val>
                                        </p:tav>
                                      </p:tavLst>
                                    </p:anim>
                                  </p:childTnLst>
                                </p:cTn>
                              </p:par>
                            </p:childTnLst>
                          </p:cTn>
                        </p:par>
                      </p:childTnLst>
                    </p:cTn>
                  </p:par>
                  <p:par>
                    <p:cTn id="99" fill="hold">
                      <p:stCondLst>
                        <p:cond delay="indefinite"/>
                      </p:stCondLst>
                      <p:childTnLst>
                        <p:par>
                          <p:cTn id="100" fill="hold">
                            <p:stCondLst>
                              <p:cond delay="0"/>
                            </p:stCondLst>
                            <p:childTnLst>
                              <p:par>
                                <p:cTn id="101" presetID="17" presetClass="entr" presetSubtype="8" fill="hold" grpId="0" nodeType="clickEffect">
                                  <p:stCondLst>
                                    <p:cond delay="0"/>
                                  </p:stCondLst>
                                  <p:childTnLst>
                                    <p:set>
                                      <p:cBhvr>
                                        <p:cTn id="102" dur="1" fill="hold">
                                          <p:stCondLst>
                                            <p:cond delay="0"/>
                                          </p:stCondLst>
                                        </p:cTn>
                                        <p:tgtEl>
                                          <p:spTgt spid="241771"/>
                                        </p:tgtEl>
                                        <p:attrNameLst>
                                          <p:attrName>style.visibility</p:attrName>
                                        </p:attrNameLst>
                                      </p:cBhvr>
                                      <p:to>
                                        <p:strVal val="visible"/>
                                      </p:to>
                                    </p:set>
                                    <p:anim calcmode="lin" valueType="num">
                                      <p:cBhvr>
                                        <p:cTn id="103" dur="500" fill="hold"/>
                                        <p:tgtEl>
                                          <p:spTgt spid="241771"/>
                                        </p:tgtEl>
                                        <p:attrNameLst>
                                          <p:attrName>ppt_x</p:attrName>
                                        </p:attrNameLst>
                                      </p:cBhvr>
                                      <p:tavLst>
                                        <p:tav tm="0">
                                          <p:val>
                                            <p:strVal val="#ppt_x-#ppt_w/2"/>
                                          </p:val>
                                        </p:tav>
                                        <p:tav tm="100000">
                                          <p:val>
                                            <p:strVal val="#ppt_x"/>
                                          </p:val>
                                        </p:tav>
                                      </p:tavLst>
                                    </p:anim>
                                    <p:anim calcmode="lin" valueType="num">
                                      <p:cBhvr>
                                        <p:cTn id="104" dur="500" fill="hold"/>
                                        <p:tgtEl>
                                          <p:spTgt spid="241771"/>
                                        </p:tgtEl>
                                        <p:attrNameLst>
                                          <p:attrName>ppt_y</p:attrName>
                                        </p:attrNameLst>
                                      </p:cBhvr>
                                      <p:tavLst>
                                        <p:tav tm="0">
                                          <p:val>
                                            <p:strVal val="#ppt_y"/>
                                          </p:val>
                                        </p:tav>
                                        <p:tav tm="100000">
                                          <p:val>
                                            <p:strVal val="#ppt_y"/>
                                          </p:val>
                                        </p:tav>
                                      </p:tavLst>
                                    </p:anim>
                                    <p:anim calcmode="lin" valueType="num">
                                      <p:cBhvr>
                                        <p:cTn id="105" dur="500" fill="hold"/>
                                        <p:tgtEl>
                                          <p:spTgt spid="241771"/>
                                        </p:tgtEl>
                                        <p:attrNameLst>
                                          <p:attrName>ppt_w</p:attrName>
                                        </p:attrNameLst>
                                      </p:cBhvr>
                                      <p:tavLst>
                                        <p:tav tm="0">
                                          <p:val>
                                            <p:fltVal val="0"/>
                                          </p:val>
                                        </p:tav>
                                        <p:tav tm="100000">
                                          <p:val>
                                            <p:strVal val="#ppt_w"/>
                                          </p:val>
                                        </p:tav>
                                      </p:tavLst>
                                    </p:anim>
                                    <p:anim calcmode="lin" valueType="num">
                                      <p:cBhvr>
                                        <p:cTn id="106" dur="500" fill="hold"/>
                                        <p:tgtEl>
                                          <p:spTgt spid="2417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766" grpId="0" bldLvl="0" animBg="1"/>
      <p:bldP spid="241770" grpId="0"/>
      <p:bldP spid="241771" grpId="0"/>
      <p:bldP spid="241772" grpId="0"/>
      <p:bldP spid="241773" grpId="0"/>
      <p:bldP spid="24177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2690" name="组合 242689"/>
          <p:cNvGrpSpPr/>
          <p:nvPr/>
        </p:nvGrpSpPr>
        <p:grpSpPr>
          <a:xfrm>
            <a:off x="609600" y="1222375"/>
            <a:ext cx="7945438" cy="1350963"/>
            <a:chOff x="384" y="638"/>
            <a:chExt cx="5005" cy="851"/>
          </a:xfrm>
        </p:grpSpPr>
        <p:sp>
          <p:nvSpPr>
            <p:cNvPr id="70658" name="矩形 242690"/>
            <p:cNvSpPr/>
            <p:nvPr/>
          </p:nvSpPr>
          <p:spPr>
            <a:xfrm>
              <a:off x="1214"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59" name="矩形 242691"/>
            <p:cNvSpPr/>
            <p:nvPr/>
          </p:nvSpPr>
          <p:spPr>
            <a:xfrm>
              <a:off x="1321" y="702"/>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FF3300"/>
                  </a:solidFill>
                  <a:latin typeface="宋体" panose="02010600030101010101" pitchFamily="2" charset="-122"/>
                  <a:ea typeface="宋体" panose="02010600030101010101" pitchFamily="2" charset="-122"/>
                </a:rPr>
                <a:t>1</a:t>
              </a:r>
            </a:p>
          </p:txBody>
        </p:sp>
        <p:sp>
          <p:nvSpPr>
            <p:cNvPr id="70660" name="矩形 242692"/>
            <p:cNvSpPr/>
            <p:nvPr/>
          </p:nvSpPr>
          <p:spPr>
            <a:xfrm>
              <a:off x="1502"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61" name="矩形 242693"/>
            <p:cNvSpPr/>
            <p:nvPr/>
          </p:nvSpPr>
          <p:spPr>
            <a:xfrm>
              <a:off x="1609"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662" name="矩形 242694"/>
            <p:cNvSpPr/>
            <p:nvPr/>
          </p:nvSpPr>
          <p:spPr>
            <a:xfrm>
              <a:off x="1790" y="638"/>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63" name="矩形 242695"/>
            <p:cNvSpPr/>
            <p:nvPr/>
          </p:nvSpPr>
          <p:spPr>
            <a:xfrm>
              <a:off x="1897"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664" name="矩形 242696"/>
            <p:cNvSpPr/>
            <p:nvPr/>
          </p:nvSpPr>
          <p:spPr>
            <a:xfrm>
              <a:off x="2078" y="638"/>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65" name="矩形 242697"/>
            <p:cNvSpPr/>
            <p:nvPr/>
          </p:nvSpPr>
          <p:spPr>
            <a:xfrm>
              <a:off x="2185"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666" name="矩形 242698"/>
            <p:cNvSpPr/>
            <p:nvPr/>
          </p:nvSpPr>
          <p:spPr>
            <a:xfrm>
              <a:off x="2366" y="638"/>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67" name="矩形 242699"/>
            <p:cNvSpPr/>
            <p:nvPr/>
          </p:nvSpPr>
          <p:spPr>
            <a:xfrm>
              <a:off x="2473"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668" name="矩形 242700"/>
            <p:cNvSpPr/>
            <p:nvPr/>
          </p:nvSpPr>
          <p:spPr>
            <a:xfrm>
              <a:off x="2654" y="638"/>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69" name="矩形 242701"/>
            <p:cNvSpPr/>
            <p:nvPr/>
          </p:nvSpPr>
          <p:spPr>
            <a:xfrm>
              <a:off x="2761"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670" name="矩形 242702"/>
            <p:cNvSpPr/>
            <p:nvPr/>
          </p:nvSpPr>
          <p:spPr>
            <a:xfrm>
              <a:off x="2942"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71" name="矩形 242703"/>
            <p:cNvSpPr/>
            <p:nvPr/>
          </p:nvSpPr>
          <p:spPr>
            <a:xfrm>
              <a:off x="3049"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672" name="矩形 242704"/>
            <p:cNvSpPr/>
            <p:nvPr/>
          </p:nvSpPr>
          <p:spPr>
            <a:xfrm>
              <a:off x="3230"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73" name="矩形 242705"/>
            <p:cNvSpPr/>
            <p:nvPr/>
          </p:nvSpPr>
          <p:spPr>
            <a:xfrm>
              <a:off x="3337" y="702"/>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FF3300"/>
                  </a:solidFill>
                  <a:latin typeface="宋体" panose="02010600030101010101" pitchFamily="2" charset="-122"/>
                  <a:ea typeface="宋体" panose="02010600030101010101" pitchFamily="2" charset="-122"/>
                </a:rPr>
                <a:t>1</a:t>
              </a:r>
            </a:p>
          </p:txBody>
        </p:sp>
        <p:sp>
          <p:nvSpPr>
            <p:cNvPr id="70674" name="矩形 242706"/>
            <p:cNvSpPr/>
            <p:nvPr/>
          </p:nvSpPr>
          <p:spPr>
            <a:xfrm>
              <a:off x="3518" y="638"/>
              <a:ext cx="287"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75" name="矩形 242707"/>
            <p:cNvSpPr/>
            <p:nvPr/>
          </p:nvSpPr>
          <p:spPr>
            <a:xfrm>
              <a:off x="3625" y="702"/>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FF3300"/>
                  </a:solidFill>
                  <a:latin typeface="宋体" panose="02010600030101010101" pitchFamily="2" charset="-122"/>
                  <a:ea typeface="宋体" panose="02010600030101010101" pitchFamily="2" charset="-122"/>
                </a:rPr>
                <a:t>0</a:t>
              </a:r>
            </a:p>
          </p:txBody>
        </p:sp>
        <p:sp>
          <p:nvSpPr>
            <p:cNvPr id="70676" name="矩形 242708"/>
            <p:cNvSpPr/>
            <p:nvPr/>
          </p:nvSpPr>
          <p:spPr>
            <a:xfrm>
              <a:off x="3805"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77" name="矩形 242709"/>
            <p:cNvSpPr/>
            <p:nvPr/>
          </p:nvSpPr>
          <p:spPr>
            <a:xfrm>
              <a:off x="3913"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678" name="矩形 242710"/>
            <p:cNvSpPr/>
            <p:nvPr/>
          </p:nvSpPr>
          <p:spPr>
            <a:xfrm>
              <a:off x="4093" y="638"/>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79" name="矩形 242711"/>
            <p:cNvSpPr/>
            <p:nvPr/>
          </p:nvSpPr>
          <p:spPr>
            <a:xfrm>
              <a:off x="4201" y="702"/>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680" name="矩形 242712"/>
            <p:cNvSpPr/>
            <p:nvPr/>
          </p:nvSpPr>
          <p:spPr>
            <a:xfrm>
              <a:off x="4381" y="638"/>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81" name="矩形 242713"/>
            <p:cNvSpPr/>
            <p:nvPr/>
          </p:nvSpPr>
          <p:spPr>
            <a:xfrm>
              <a:off x="4488"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682" name="矩形 242714"/>
            <p:cNvSpPr/>
            <p:nvPr/>
          </p:nvSpPr>
          <p:spPr>
            <a:xfrm>
              <a:off x="4669" y="638"/>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83" name="矩形 242715"/>
            <p:cNvSpPr/>
            <p:nvPr/>
          </p:nvSpPr>
          <p:spPr>
            <a:xfrm>
              <a:off x="4776"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684" name="矩形 242716"/>
            <p:cNvSpPr/>
            <p:nvPr/>
          </p:nvSpPr>
          <p:spPr>
            <a:xfrm>
              <a:off x="4957" y="638"/>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85" name="矩形 242717"/>
            <p:cNvSpPr/>
            <p:nvPr/>
          </p:nvSpPr>
          <p:spPr>
            <a:xfrm>
              <a:off x="5064"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686" name="矩形 242718"/>
            <p:cNvSpPr/>
            <p:nvPr/>
          </p:nvSpPr>
          <p:spPr>
            <a:xfrm>
              <a:off x="926"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87" name="矩形 242719"/>
            <p:cNvSpPr/>
            <p:nvPr/>
          </p:nvSpPr>
          <p:spPr>
            <a:xfrm>
              <a:off x="1033" y="702"/>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FF3300"/>
                  </a:solidFill>
                  <a:latin typeface="宋体" panose="02010600030101010101" pitchFamily="2" charset="-122"/>
                  <a:ea typeface="宋体" panose="02010600030101010101" pitchFamily="2" charset="-122"/>
                </a:rPr>
                <a:t>1</a:t>
              </a:r>
            </a:p>
          </p:txBody>
        </p:sp>
        <p:sp>
          <p:nvSpPr>
            <p:cNvPr id="70688" name="矩形 242720"/>
            <p:cNvSpPr/>
            <p:nvPr/>
          </p:nvSpPr>
          <p:spPr>
            <a:xfrm>
              <a:off x="638" y="638"/>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89" name="矩形 242721"/>
            <p:cNvSpPr/>
            <p:nvPr/>
          </p:nvSpPr>
          <p:spPr>
            <a:xfrm>
              <a:off x="745" y="702"/>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690" name="矩形 242722"/>
            <p:cNvSpPr/>
            <p:nvPr/>
          </p:nvSpPr>
          <p:spPr>
            <a:xfrm>
              <a:off x="638"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91" name="矩形 242723"/>
            <p:cNvSpPr/>
            <p:nvPr/>
          </p:nvSpPr>
          <p:spPr>
            <a:xfrm>
              <a:off x="745"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692" name="矩形 242724"/>
            <p:cNvSpPr/>
            <p:nvPr/>
          </p:nvSpPr>
          <p:spPr>
            <a:xfrm>
              <a:off x="926"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93" name="矩形 242725"/>
            <p:cNvSpPr/>
            <p:nvPr/>
          </p:nvSpPr>
          <p:spPr>
            <a:xfrm>
              <a:off x="1033"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694" name="矩形 242726"/>
            <p:cNvSpPr/>
            <p:nvPr/>
          </p:nvSpPr>
          <p:spPr>
            <a:xfrm>
              <a:off x="1214"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95" name="矩形 242727"/>
            <p:cNvSpPr/>
            <p:nvPr/>
          </p:nvSpPr>
          <p:spPr>
            <a:xfrm>
              <a:off x="1321"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696" name="矩形 242728"/>
            <p:cNvSpPr/>
            <p:nvPr/>
          </p:nvSpPr>
          <p:spPr>
            <a:xfrm>
              <a:off x="1502"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97" name="矩形 242729"/>
            <p:cNvSpPr/>
            <p:nvPr/>
          </p:nvSpPr>
          <p:spPr>
            <a:xfrm>
              <a:off x="1609"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698" name="矩形 242730"/>
            <p:cNvSpPr/>
            <p:nvPr/>
          </p:nvSpPr>
          <p:spPr>
            <a:xfrm>
              <a:off x="1790" y="1070"/>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699" name="矩形 242731"/>
            <p:cNvSpPr/>
            <p:nvPr/>
          </p:nvSpPr>
          <p:spPr>
            <a:xfrm>
              <a:off x="1897"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00" name="矩形 242732"/>
            <p:cNvSpPr/>
            <p:nvPr/>
          </p:nvSpPr>
          <p:spPr>
            <a:xfrm>
              <a:off x="2078" y="1070"/>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01" name="矩形 242733"/>
            <p:cNvSpPr/>
            <p:nvPr/>
          </p:nvSpPr>
          <p:spPr>
            <a:xfrm>
              <a:off x="2185"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02" name="矩形 242734"/>
            <p:cNvSpPr/>
            <p:nvPr/>
          </p:nvSpPr>
          <p:spPr>
            <a:xfrm>
              <a:off x="2366" y="1070"/>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03" name="矩形 242735"/>
            <p:cNvSpPr/>
            <p:nvPr/>
          </p:nvSpPr>
          <p:spPr>
            <a:xfrm>
              <a:off x="2473"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04" name="矩形 242736"/>
            <p:cNvSpPr/>
            <p:nvPr/>
          </p:nvSpPr>
          <p:spPr>
            <a:xfrm>
              <a:off x="2654" y="1070"/>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05" name="矩形 242737"/>
            <p:cNvSpPr/>
            <p:nvPr/>
          </p:nvSpPr>
          <p:spPr>
            <a:xfrm>
              <a:off x="2761"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06" name="矩形 242738"/>
            <p:cNvSpPr/>
            <p:nvPr/>
          </p:nvSpPr>
          <p:spPr>
            <a:xfrm>
              <a:off x="2942"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07" name="矩形 242739"/>
            <p:cNvSpPr/>
            <p:nvPr/>
          </p:nvSpPr>
          <p:spPr>
            <a:xfrm>
              <a:off x="3049"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08" name="矩形 242740"/>
            <p:cNvSpPr/>
            <p:nvPr/>
          </p:nvSpPr>
          <p:spPr>
            <a:xfrm>
              <a:off x="3230"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09" name="矩形 242741"/>
            <p:cNvSpPr/>
            <p:nvPr/>
          </p:nvSpPr>
          <p:spPr>
            <a:xfrm>
              <a:off x="3337"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10" name="矩形 242742"/>
            <p:cNvSpPr/>
            <p:nvPr/>
          </p:nvSpPr>
          <p:spPr>
            <a:xfrm>
              <a:off x="3518" y="1070"/>
              <a:ext cx="287"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11" name="矩形 242743"/>
            <p:cNvSpPr/>
            <p:nvPr/>
          </p:nvSpPr>
          <p:spPr>
            <a:xfrm>
              <a:off x="3625"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12" name="矩形 242744"/>
            <p:cNvSpPr/>
            <p:nvPr/>
          </p:nvSpPr>
          <p:spPr>
            <a:xfrm>
              <a:off x="3805" y="1070"/>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13" name="矩形 242745"/>
            <p:cNvSpPr/>
            <p:nvPr/>
          </p:nvSpPr>
          <p:spPr>
            <a:xfrm>
              <a:off x="3913"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14" name="矩形 242746"/>
            <p:cNvSpPr/>
            <p:nvPr/>
          </p:nvSpPr>
          <p:spPr>
            <a:xfrm>
              <a:off x="4093" y="1070"/>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15" name="矩形 242747"/>
            <p:cNvSpPr/>
            <p:nvPr/>
          </p:nvSpPr>
          <p:spPr>
            <a:xfrm>
              <a:off x="4201"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16" name="矩形 242748"/>
            <p:cNvSpPr/>
            <p:nvPr/>
          </p:nvSpPr>
          <p:spPr>
            <a:xfrm>
              <a:off x="4381" y="1070"/>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17" name="矩形 242749"/>
            <p:cNvSpPr/>
            <p:nvPr/>
          </p:nvSpPr>
          <p:spPr>
            <a:xfrm>
              <a:off x="4488"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18" name="矩形 242750"/>
            <p:cNvSpPr/>
            <p:nvPr/>
          </p:nvSpPr>
          <p:spPr>
            <a:xfrm>
              <a:off x="4669" y="1070"/>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19" name="矩形 242751"/>
            <p:cNvSpPr/>
            <p:nvPr/>
          </p:nvSpPr>
          <p:spPr>
            <a:xfrm>
              <a:off x="4776"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20" name="矩形 242752"/>
            <p:cNvSpPr/>
            <p:nvPr/>
          </p:nvSpPr>
          <p:spPr>
            <a:xfrm>
              <a:off x="4957" y="1070"/>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21" name="矩形 242753"/>
            <p:cNvSpPr/>
            <p:nvPr/>
          </p:nvSpPr>
          <p:spPr>
            <a:xfrm>
              <a:off x="5064" y="1134"/>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22" name="直接连接符 242754"/>
            <p:cNvSpPr/>
            <p:nvPr/>
          </p:nvSpPr>
          <p:spPr>
            <a:xfrm>
              <a:off x="384" y="1488"/>
              <a:ext cx="5005" cy="1"/>
            </a:xfrm>
            <a:prstGeom prst="line">
              <a:avLst/>
            </a:prstGeom>
            <a:ln w="25400"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23" name="矩形 242755"/>
            <p:cNvSpPr/>
            <p:nvPr/>
          </p:nvSpPr>
          <p:spPr>
            <a:xfrm>
              <a:off x="458" y="1134"/>
              <a:ext cx="129" cy="27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3200">
                  <a:latin typeface="宋体" panose="02010600030101010101" pitchFamily="2" charset="-122"/>
                  <a:ea typeface="宋体" panose="02010600030101010101" pitchFamily="2" charset="-122"/>
                </a:rPr>
                <a:t>-</a:t>
              </a:r>
            </a:p>
          </p:txBody>
        </p:sp>
      </p:grpSp>
      <p:grpSp>
        <p:nvGrpSpPr>
          <p:cNvPr id="242757" name="组合 242756"/>
          <p:cNvGrpSpPr/>
          <p:nvPr/>
        </p:nvGrpSpPr>
        <p:grpSpPr>
          <a:xfrm>
            <a:off x="1012825" y="2820988"/>
            <a:ext cx="7313613" cy="457200"/>
            <a:chOff x="638" y="1645"/>
            <a:chExt cx="4607" cy="288"/>
          </a:xfrm>
        </p:grpSpPr>
        <p:sp>
          <p:nvSpPr>
            <p:cNvPr id="70725" name="矩形 242757"/>
            <p:cNvSpPr/>
            <p:nvPr/>
          </p:nvSpPr>
          <p:spPr>
            <a:xfrm>
              <a:off x="4957" y="1645"/>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26" name="矩形 242758"/>
            <p:cNvSpPr/>
            <p:nvPr/>
          </p:nvSpPr>
          <p:spPr>
            <a:xfrm>
              <a:off x="5064"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27" name="矩形 242759"/>
            <p:cNvSpPr/>
            <p:nvPr/>
          </p:nvSpPr>
          <p:spPr>
            <a:xfrm>
              <a:off x="4669" y="1645"/>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28" name="矩形 242760"/>
            <p:cNvSpPr/>
            <p:nvPr/>
          </p:nvSpPr>
          <p:spPr>
            <a:xfrm>
              <a:off x="4776"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29" name="矩形 242761"/>
            <p:cNvSpPr/>
            <p:nvPr/>
          </p:nvSpPr>
          <p:spPr>
            <a:xfrm>
              <a:off x="4381" y="1645"/>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30" name="矩形 242762"/>
            <p:cNvSpPr/>
            <p:nvPr/>
          </p:nvSpPr>
          <p:spPr>
            <a:xfrm>
              <a:off x="4488"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31" name="矩形 242763"/>
            <p:cNvSpPr/>
            <p:nvPr/>
          </p:nvSpPr>
          <p:spPr>
            <a:xfrm>
              <a:off x="4093" y="1645"/>
              <a:ext cx="288" cy="288"/>
            </a:xfrm>
            <a:prstGeom prst="rect">
              <a:avLst/>
            </a:prstGeom>
            <a:solidFill>
              <a:srgbClr val="FFFF00"/>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32" name="矩形 242764"/>
            <p:cNvSpPr/>
            <p:nvPr/>
          </p:nvSpPr>
          <p:spPr>
            <a:xfrm>
              <a:off x="4201"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33" name="矩形 242765"/>
            <p:cNvSpPr/>
            <p:nvPr/>
          </p:nvSpPr>
          <p:spPr>
            <a:xfrm>
              <a:off x="3805"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34" name="矩形 242766"/>
            <p:cNvSpPr/>
            <p:nvPr/>
          </p:nvSpPr>
          <p:spPr>
            <a:xfrm>
              <a:off x="3913"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35" name="矩形 242767"/>
            <p:cNvSpPr/>
            <p:nvPr/>
          </p:nvSpPr>
          <p:spPr>
            <a:xfrm>
              <a:off x="3518" y="1645"/>
              <a:ext cx="287"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36" name="矩形 242768"/>
            <p:cNvSpPr/>
            <p:nvPr/>
          </p:nvSpPr>
          <p:spPr>
            <a:xfrm>
              <a:off x="3625"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37" name="矩形 242769"/>
            <p:cNvSpPr/>
            <p:nvPr/>
          </p:nvSpPr>
          <p:spPr>
            <a:xfrm>
              <a:off x="3230"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38" name="矩形 242770"/>
            <p:cNvSpPr/>
            <p:nvPr/>
          </p:nvSpPr>
          <p:spPr>
            <a:xfrm>
              <a:off x="3337"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39" name="矩形 242771"/>
            <p:cNvSpPr/>
            <p:nvPr/>
          </p:nvSpPr>
          <p:spPr>
            <a:xfrm>
              <a:off x="2942"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40" name="矩形 242772"/>
            <p:cNvSpPr/>
            <p:nvPr/>
          </p:nvSpPr>
          <p:spPr>
            <a:xfrm>
              <a:off x="3049"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41" name="矩形 242773"/>
            <p:cNvSpPr/>
            <p:nvPr/>
          </p:nvSpPr>
          <p:spPr>
            <a:xfrm>
              <a:off x="2654" y="1645"/>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42" name="矩形 242774"/>
            <p:cNvSpPr/>
            <p:nvPr/>
          </p:nvSpPr>
          <p:spPr>
            <a:xfrm>
              <a:off x="2761"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43" name="矩形 242775"/>
            <p:cNvSpPr/>
            <p:nvPr/>
          </p:nvSpPr>
          <p:spPr>
            <a:xfrm>
              <a:off x="2366" y="1645"/>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44" name="矩形 242776"/>
            <p:cNvSpPr/>
            <p:nvPr/>
          </p:nvSpPr>
          <p:spPr>
            <a:xfrm>
              <a:off x="2473"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45" name="矩形 242777"/>
            <p:cNvSpPr/>
            <p:nvPr/>
          </p:nvSpPr>
          <p:spPr>
            <a:xfrm>
              <a:off x="2078" y="1645"/>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46" name="矩形 242778"/>
            <p:cNvSpPr/>
            <p:nvPr/>
          </p:nvSpPr>
          <p:spPr>
            <a:xfrm>
              <a:off x="2185"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47" name="矩形 242779"/>
            <p:cNvSpPr/>
            <p:nvPr/>
          </p:nvSpPr>
          <p:spPr>
            <a:xfrm>
              <a:off x="1790" y="1645"/>
              <a:ext cx="288" cy="288"/>
            </a:xfrm>
            <a:prstGeom prst="rect">
              <a:avLst/>
            </a:prstGeom>
            <a:solidFill>
              <a:srgbClr val="00FFFF"/>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48" name="矩形 242780"/>
            <p:cNvSpPr/>
            <p:nvPr/>
          </p:nvSpPr>
          <p:spPr>
            <a:xfrm>
              <a:off x="1897"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49" name="矩形 242781"/>
            <p:cNvSpPr/>
            <p:nvPr/>
          </p:nvSpPr>
          <p:spPr>
            <a:xfrm>
              <a:off x="1502"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50" name="矩形 242782"/>
            <p:cNvSpPr/>
            <p:nvPr/>
          </p:nvSpPr>
          <p:spPr>
            <a:xfrm>
              <a:off x="1609" y="1709"/>
              <a:ext cx="147" cy="165"/>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51" name="矩形 242783"/>
            <p:cNvSpPr/>
            <p:nvPr/>
          </p:nvSpPr>
          <p:spPr>
            <a:xfrm>
              <a:off x="1214"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52" name="矩形 242784"/>
            <p:cNvSpPr/>
            <p:nvPr/>
          </p:nvSpPr>
          <p:spPr>
            <a:xfrm>
              <a:off x="1321"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1</a:t>
              </a:r>
            </a:p>
          </p:txBody>
        </p:sp>
        <p:sp>
          <p:nvSpPr>
            <p:cNvPr id="70753" name="矩形 242785"/>
            <p:cNvSpPr/>
            <p:nvPr/>
          </p:nvSpPr>
          <p:spPr>
            <a:xfrm>
              <a:off x="926"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54" name="矩形 242786"/>
            <p:cNvSpPr/>
            <p:nvPr/>
          </p:nvSpPr>
          <p:spPr>
            <a:xfrm>
              <a:off x="1033"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sp>
          <p:nvSpPr>
            <p:cNvPr id="70755" name="矩形 242787"/>
            <p:cNvSpPr/>
            <p:nvPr/>
          </p:nvSpPr>
          <p:spPr>
            <a:xfrm>
              <a:off x="638" y="1645"/>
              <a:ext cx="288" cy="288"/>
            </a:xfrm>
            <a:prstGeom prst="rect">
              <a:avLst/>
            </a:prstGeom>
            <a:solidFill>
              <a:srgbClr val="E6E6E6"/>
            </a:solidFill>
            <a:ln w="9525" cap="flat"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0756" name="矩形 242788"/>
            <p:cNvSpPr/>
            <p:nvPr/>
          </p:nvSpPr>
          <p:spPr>
            <a:xfrm>
              <a:off x="745" y="1709"/>
              <a:ext cx="73" cy="156"/>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800">
                  <a:solidFill>
                    <a:srgbClr val="000000"/>
                  </a:solidFill>
                  <a:latin typeface="宋体" panose="02010600030101010101" pitchFamily="2" charset="-122"/>
                  <a:ea typeface="宋体" panose="02010600030101010101" pitchFamily="2" charset="-122"/>
                </a:rPr>
                <a:t>0</a:t>
              </a:r>
            </a:p>
          </p:txBody>
        </p:sp>
      </p:grpSp>
      <p:sp>
        <p:nvSpPr>
          <p:cNvPr id="242790" name="矩形 242789"/>
          <p:cNvSpPr/>
          <p:nvPr/>
        </p:nvSpPr>
        <p:spPr>
          <a:xfrm>
            <a:off x="1219200" y="3409950"/>
            <a:ext cx="5181600" cy="457200"/>
          </a:xfrm>
          <a:prstGeom prst="rect">
            <a:avLst/>
          </a:prstGeom>
          <a:solidFill>
            <a:schemeClr val="bg1"/>
          </a:solidFill>
          <a:ln w="9525">
            <a:noFill/>
          </a:ln>
        </p:spPr>
        <p:txBody>
          <a:bodyPr anchor="t" anchorCtr="0">
            <a:spAutoFit/>
          </a:bodyPr>
          <a:lstStyle/>
          <a:p>
            <a:pPr>
              <a:spcBef>
                <a:spcPct val="50000"/>
              </a:spcBef>
            </a:pPr>
            <a:r>
              <a:rPr lang="zh-CN" altLang="en-US" dirty="0">
                <a:latin typeface="Times New Roman" panose="02020603050405020304" pitchFamily="18" charset="0"/>
                <a:ea typeface="楷体_GB2312" pitchFamily="49" charset="-122"/>
              </a:rPr>
              <a:t>运算结果最高位为</a:t>
            </a:r>
            <a:r>
              <a:rPr lang="en-US" altLang="zh-CN">
                <a:latin typeface="Times New Roman" panose="02020603050405020304" pitchFamily="18" charset="0"/>
                <a:ea typeface="楷体_GB2312" pitchFamily="49" charset="-122"/>
              </a:rPr>
              <a:t>0		∴SF=0</a:t>
            </a:r>
            <a:r>
              <a:rPr lang="zh-CN" altLang="en-US">
                <a:latin typeface="Times New Roman" panose="02020603050405020304" pitchFamily="18" charset="0"/>
                <a:ea typeface="楷体_GB2312" pitchFamily="49" charset="-122"/>
              </a:rPr>
              <a:t>；</a:t>
            </a:r>
          </a:p>
        </p:txBody>
      </p:sp>
      <p:sp>
        <p:nvSpPr>
          <p:cNvPr id="242791" name="标题 242790"/>
          <p:cNvSpPr>
            <a:spLocks noGrp="1" noRot="1"/>
          </p:cNvSpPr>
          <p:nvPr>
            <p:ph type="title" idx="4294967295"/>
          </p:nvPr>
        </p:nvSpPr>
        <p:spPr>
          <a:xfrm>
            <a:off x="436563" y="419100"/>
            <a:ext cx="8331200" cy="895350"/>
          </a:xfrm>
        </p:spPr>
        <p:txBody>
          <a:bodyPr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3200" b="1" i="0" u="none" strike="noStrike" kern="0" cap="none" spc="0" normalizeH="0" baseline="0" noProof="1">
                <a:solidFill>
                  <a:srgbClr val="E8E8E8"/>
                </a:solidFill>
                <a:effectLst>
                  <a:outerShdw blurRad="38100" dist="38100" dir="2700000" algn="tl">
                    <a:srgbClr val="000000"/>
                  </a:outerShdw>
                </a:effectLst>
                <a:latin typeface="+mj-lt"/>
                <a:ea typeface="+mj-ea"/>
                <a:cs typeface="+mj-cs"/>
              </a:rPr>
              <a:t>例：</a:t>
            </a:r>
            <a:r>
              <a:rPr kumimoji="1" lang="en-US" altLang="zh-CN" sz="3200" b="1" i="0" u="none" strike="noStrike" kern="0" cap="none" spc="0" normalizeH="0" baseline="0" noProof="1">
                <a:solidFill>
                  <a:srgbClr val="E8E8E8"/>
                </a:solidFill>
                <a:effectLst>
                  <a:outerShdw blurRad="38100" dist="38100" dir="2700000" algn="tl">
                    <a:srgbClr val="000000"/>
                  </a:outerShdw>
                </a:effectLst>
                <a:latin typeface="+mj-lt"/>
                <a:ea typeface="+mj-ea"/>
                <a:cs typeface="+mj-cs"/>
              </a:rPr>
              <a:t>2</a:t>
            </a:r>
            <a:r>
              <a:rPr kumimoji="1" lang="zh-CN" altLang="en-US" sz="3200" b="1" i="0" u="none" strike="noStrike" kern="0" cap="none" spc="0" normalizeH="0" baseline="0" noProof="1">
                <a:solidFill>
                  <a:srgbClr val="E8E8E8"/>
                </a:solidFill>
                <a:effectLst>
                  <a:outerShdw blurRad="38100" dist="38100" dir="2700000" algn="tl">
                    <a:srgbClr val="000000"/>
                  </a:outerShdw>
                </a:effectLst>
                <a:latin typeface="+mj-lt"/>
                <a:ea typeface="+mj-ea"/>
                <a:cs typeface="+mj-cs"/>
              </a:rPr>
              <a:t>个数</a:t>
            </a:r>
            <a:r>
              <a:rPr kumimoji="1" lang="zh-CN" altLang="en-US" sz="3200" b="1" i="0" u="none" strike="noStrike" kern="0" cap="none" spc="0" normalizeH="0" baseline="0" noProof="1">
                <a:solidFill>
                  <a:srgbClr val="FF0000"/>
                </a:solidFill>
                <a:effectLst>
                  <a:outerShdw blurRad="38100" dist="38100" dir="2700000" algn="tl">
                    <a:srgbClr val="000000"/>
                  </a:outerShdw>
                </a:effectLst>
                <a:latin typeface="+mj-lt"/>
                <a:ea typeface="+mj-ea"/>
                <a:cs typeface="+mj-cs"/>
              </a:rPr>
              <a:t>相减</a:t>
            </a:r>
            <a:r>
              <a:rPr kumimoji="1" lang="zh-CN" altLang="en-US" sz="3200" b="1" i="0" u="none" strike="noStrike" kern="0" cap="none" spc="0" normalizeH="0" baseline="0" noProof="1">
                <a:solidFill>
                  <a:srgbClr val="E8E8E8"/>
                </a:solidFill>
                <a:effectLst>
                  <a:outerShdw blurRad="38100" dist="38100" dir="2700000" algn="tl">
                    <a:srgbClr val="000000"/>
                  </a:outerShdw>
                </a:effectLst>
                <a:latin typeface="+mj-lt"/>
                <a:ea typeface="+mj-ea"/>
                <a:cs typeface="+mj-cs"/>
              </a:rPr>
              <a:t>后，分析各标志位的值</a:t>
            </a:r>
          </a:p>
        </p:txBody>
      </p:sp>
      <p:sp>
        <p:nvSpPr>
          <p:cNvPr id="242792" name="任意多边形 242791"/>
          <p:cNvSpPr/>
          <p:nvPr/>
        </p:nvSpPr>
        <p:spPr>
          <a:xfrm>
            <a:off x="6246813" y="2417763"/>
            <a:ext cx="533400" cy="76200"/>
          </a:xfrm>
          <a:custGeom>
            <a:avLst/>
            <a:gdLst/>
            <a:ahLst/>
            <a:cxnLst/>
            <a:rect l="0" t="0" r="0" b="0"/>
            <a:pathLst>
              <a:path w="336" h="48">
                <a:moveTo>
                  <a:pt x="336" y="0"/>
                </a:moveTo>
                <a:cubicBezTo>
                  <a:pt x="316" y="24"/>
                  <a:pt x="296" y="48"/>
                  <a:pt x="240" y="48"/>
                </a:cubicBezTo>
                <a:cubicBezTo>
                  <a:pt x="184" y="48"/>
                  <a:pt x="92" y="24"/>
                  <a:pt x="0" y="0"/>
                </a:cubicBezTo>
              </a:path>
            </a:pathLst>
          </a:custGeom>
          <a:noFill/>
          <a:ln w="25400" cap="flat" cmpd="sng">
            <a:solidFill>
              <a:srgbClr val="00FF00"/>
            </a:solidFill>
            <a:prstDash val="solid"/>
            <a:round/>
            <a:headEnd type="none" w="med" len="med"/>
            <a:tailEnd type="stealth" w="med" len="med"/>
          </a:ln>
        </p:spPr>
        <p:txBody>
          <a:bodyPr/>
          <a:lstStyle/>
          <a:p>
            <a:endParaRPr lang="zh-CN" altLang="en-US"/>
          </a:p>
        </p:txBody>
      </p:sp>
      <p:sp>
        <p:nvSpPr>
          <p:cNvPr id="242793" name="任意多边形 242792"/>
          <p:cNvSpPr/>
          <p:nvPr/>
        </p:nvSpPr>
        <p:spPr>
          <a:xfrm>
            <a:off x="1143000" y="2419350"/>
            <a:ext cx="533400" cy="76200"/>
          </a:xfrm>
          <a:custGeom>
            <a:avLst/>
            <a:gdLst/>
            <a:ahLst/>
            <a:cxnLst/>
            <a:rect l="0" t="0" r="0" b="0"/>
            <a:pathLst>
              <a:path w="336" h="48">
                <a:moveTo>
                  <a:pt x="336" y="0"/>
                </a:moveTo>
                <a:cubicBezTo>
                  <a:pt x="316" y="24"/>
                  <a:pt x="296" y="48"/>
                  <a:pt x="240" y="48"/>
                </a:cubicBezTo>
                <a:cubicBezTo>
                  <a:pt x="184" y="48"/>
                  <a:pt x="92" y="24"/>
                  <a:pt x="0" y="0"/>
                </a:cubicBezTo>
              </a:path>
            </a:pathLst>
          </a:custGeom>
          <a:noFill/>
          <a:ln w="25400" cap="flat" cmpd="sng">
            <a:solidFill>
              <a:srgbClr val="00FF00"/>
            </a:solidFill>
            <a:prstDash val="solid"/>
            <a:round/>
            <a:headEnd type="none" w="med" len="med"/>
            <a:tailEnd type="stealth" w="med" len="med"/>
          </a:ln>
        </p:spPr>
        <p:txBody>
          <a:bodyPr/>
          <a:lstStyle/>
          <a:p>
            <a:endParaRPr lang="zh-CN" altLang="en-US"/>
          </a:p>
        </p:txBody>
      </p:sp>
      <p:sp>
        <p:nvSpPr>
          <p:cNvPr id="242794" name="文本框 242793"/>
          <p:cNvSpPr txBox="1"/>
          <p:nvPr/>
        </p:nvSpPr>
        <p:spPr>
          <a:xfrm>
            <a:off x="1219200" y="5619750"/>
            <a:ext cx="5562600" cy="420688"/>
          </a:xfrm>
          <a:prstGeom prst="rect">
            <a:avLst/>
          </a:prstGeom>
          <a:noFill/>
          <a:ln w="25400">
            <a:noFill/>
          </a:ln>
        </p:spPr>
        <p:txBody>
          <a:bodyPr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低四位向高四位没有借位 	</a:t>
            </a:r>
            <a:r>
              <a:rPr lang="en-US" altLang="zh-CN" dirty="0">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AF=0</a:t>
            </a:r>
            <a:r>
              <a:rPr lang="zh-CN" altLang="en-US">
                <a:latin typeface="Times New Roman" panose="02020603050405020304" pitchFamily="18" charset="0"/>
                <a:ea typeface="楷体_GB2312" pitchFamily="49" charset="-122"/>
              </a:rPr>
              <a:t>；</a:t>
            </a:r>
          </a:p>
        </p:txBody>
      </p:sp>
      <p:sp>
        <p:nvSpPr>
          <p:cNvPr id="242795" name="文本框 242794"/>
          <p:cNvSpPr txBox="1"/>
          <p:nvPr/>
        </p:nvSpPr>
        <p:spPr>
          <a:xfrm>
            <a:off x="304800" y="6153150"/>
            <a:ext cx="8791575" cy="454025"/>
          </a:xfrm>
          <a:prstGeom prst="rect">
            <a:avLst/>
          </a:prstGeom>
          <a:noFill/>
          <a:ln w="25400">
            <a:noFill/>
          </a:ln>
        </p:spPr>
        <p:txBody>
          <a:bodyPr wrap="square"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次高位向最高位没有借位 ，最高位向前没有借位，</a:t>
            </a:r>
            <a:r>
              <a:rPr lang="en-US" altLang="zh-CN" dirty="0">
                <a:latin typeface="Times New Roman" panose="02020603050405020304" pitchFamily="18" charset="0"/>
                <a:ea typeface="楷体_GB2312" pitchFamily="49" charset="-122"/>
              </a:rPr>
              <a:t>∴</a:t>
            </a:r>
            <a:r>
              <a:rPr lang="en-US" altLang="zh-CN">
                <a:solidFill>
                  <a:srgbClr val="FF0000"/>
                </a:solidFill>
                <a:latin typeface="Times New Roman" panose="02020603050405020304" pitchFamily="18" charset="0"/>
                <a:ea typeface="楷体_GB2312" pitchFamily="49" charset="-122"/>
              </a:rPr>
              <a:t>OF=0</a:t>
            </a:r>
            <a:r>
              <a:rPr lang="en-US" altLang="zh-CN">
                <a:solidFill>
                  <a:srgbClr val="FF0000"/>
                </a:solidFill>
                <a:latin typeface="Times New Roman" panose="02020603050405020304" pitchFamily="18" charset="0"/>
                <a:ea typeface="楷体_GB2312" pitchFamily="49" charset="-122"/>
                <a:sym typeface="Symbol" panose="05050102010706020507" pitchFamily="18" charset="2"/>
              </a:rPr>
              <a:t></a:t>
            </a:r>
            <a:r>
              <a:rPr lang="en-US" altLang="zh-CN">
                <a:solidFill>
                  <a:srgbClr val="FF0000"/>
                </a:solidFill>
                <a:latin typeface="Times New Roman" panose="02020603050405020304" pitchFamily="18" charset="0"/>
                <a:ea typeface="楷体_GB2312" pitchFamily="49" charset="-122"/>
              </a:rPr>
              <a:t>0=0</a:t>
            </a:r>
          </a:p>
        </p:txBody>
      </p:sp>
      <p:sp>
        <p:nvSpPr>
          <p:cNvPr id="242796" name="文本框 242795"/>
          <p:cNvSpPr txBox="1"/>
          <p:nvPr/>
        </p:nvSpPr>
        <p:spPr>
          <a:xfrm>
            <a:off x="1219200" y="5086350"/>
            <a:ext cx="6478588" cy="420688"/>
          </a:xfrm>
          <a:prstGeom prst="rect">
            <a:avLst/>
          </a:prstGeom>
          <a:noFill/>
          <a:ln w="25400">
            <a:noFill/>
          </a:ln>
        </p:spPr>
        <p:txBody>
          <a:bodyPr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最高位没有借位       		 </a:t>
            </a:r>
            <a:r>
              <a:rPr lang="en-US" altLang="zh-CN" dirty="0">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CF=0</a:t>
            </a:r>
            <a:r>
              <a:rPr lang="zh-CN" altLang="en-US">
                <a:latin typeface="Times New Roman" panose="02020603050405020304" pitchFamily="18" charset="0"/>
                <a:ea typeface="楷体_GB2312" pitchFamily="49" charset="-122"/>
              </a:rPr>
              <a:t>；</a:t>
            </a:r>
          </a:p>
        </p:txBody>
      </p:sp>
      <p:sp>
        <p:nvSpPr>
          <p:cNvPr id="242797" name="文本框 242796"/>
          <p:cNvSpPr txBox="1"/>
          <p:nvPr/>
        </p:nvSpPr>
        <p:spPr>
          <a:xfrm>
            <a:off x="1219200" y="4552950"/>
            <a:ext cx="6819900" cy="420688"/>
          </a:xfrm>
          <a:prstGeom prst="rect">
            <a:avLst/>
          </a:prstGeom>
          <a:noFill/>
          <a:ln w="25400">
            <a:noFill/>
          </a:ln>
        </p:spPr>
        <p:txBody>
          <a:bodyPr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低</a:t>
            </a:r>
            <a:r>
              <a:rPr lang="en-US" altLang="zh-CN" dirty="0">
                <a:latin typeface="Times New Roman" panose="02020603050405020304" pitchFamily="18" charset="0"/>
                <a:ea typeface="楷体_GB2312" pitchFamily="49" charset="-122"/>
              </a:rPr>
              <a:t>8</a:t>
            </a:r>
            <a:r>
              <a:rPr lang="zh-CN" altLang="en-US" dirty="0">
                <a:latin typeface="Times New Roman" panose="02020603050405020304" pitchFamily="18" charset="0"/>
                <a:ea typeface="楷体_GB2312" pitchFamily="49" charset="-122"/>
              </a:rPr>
              <a:t>位中</a:t>
            </a:r>
            <a:r>
              <a:rPr lang="en-US" altLang="zh-CN" dirty="0">
                <a:latin typeface="Times New Roman" panose="02020603050405020304" pitchFamily="18" charset="0"/>
                <a:ea typeface="楷体_GB2312" pitchFamily="49" charset="-122"/>
              </a:rPr>
              <a:t>1</a:t>
            </a:r>
            <a:r>
              <a:rPr lang="zh-CN" altLang="en-US" dirty="0">
                <a:latin typeface="Times New Roman" panose="02020603050405020304" pitchFamily="18" charset="0"/>
                <a:ea typeface="楷体_GB2312" pitchFamily="49" charset="-122"/>
              </a:rPr>
              <a:t>的个数为奇数个 	</a:t>
            </a:r>
            <a:r>
              <a:rPr lang="en-US" altLang="zh-CN" dirty="0">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PF=0</a:t>
            </a:r>
            <a:r>
              <a:rPr lang="zh-CN" altLang="en-US">
                <a:latin typeface="Times New Roman" panose="02020603050405020304" pitchFamily="18" charset="0"/>
                <a:ea typeface="楷体_GB2312" pitchFamily="49" charset="-122"/>
              </a:rPr>
              <a:t>；</a:t>
            </a:r>
          </a:p>
        </p:txBody>
      </p:sp>
      <p:sp>
        <p:nvSpPr>
          <p:cNvPr id="242798" name="文本框 242797"/>
          <p:cNvSpPr txBox="1"/>
          <p:nvPr/>
        </p:nvSpPr>
        <p:spPr>
          <a:xfrm>
            <a:off x="1219200" y="4019550"/>
            <a:ext cx="6819900" cy="420688"/>
          </a:xfrm>
          <a:prstGeom prst="rect">
            <a:avLst/>
          </a:prstGeom>
          <a:noFill/>
          <a:ln w="25400">
            <a:noFill/>
          </a:ln>
        </p:spPr>
        <p:txBody>
          <a:bodyPr anchor="t" anchorCtr="0">
            <a:spAutoFit/>
          </a:bodyPr>
          <a:lstStyle/>
          <a:p>
            <a:pPr>
              <a:spcBef>
                <a:spcPct val="50000"/>
              </a:spcBef>
              <a:buClr>
                <a:srgbClr val="B4B9BE"/>
              </a:buClr>
            </a:pPr>
            <a:r>
              <a:rPr lang="zh-CN" altLang="en-US" dirty="0">
                <a:latin typeface="Times New Roman" panose="02020603050405020304" pitchFamily="18" charset="0"/>
                <a:ea typeface="楷体_GB2312" pitchFamily="49" charset="-122"/>
              </a:rPr>
              <a:t>运算结果本身</a:t>
            </a:r>
            <a:r>
              <a:rPr lang="en-US" altLang="zh-CN" dirty="0">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0 		∴ZF=0</a:t>
            </a:r>
            <a:r>
              <a:rPr lang="zh-CN" altLang="en-US">
                <a:latin typeface="Times New Roman" panose="02020603050405020304" pitchFamily="18" charset="0"/>
                <a:ea typeface="楷体_GB2312" pitchFamily="49" charset="-122"/>
              </a:rPr>
              <a:t>；</a:t>
            </a:r>
          </a:p>
        </p:txBody>
      </p:sp>
      <p:sp>
        <p:nvSpPr>
          <p:cNvPr id="242799" name="任意多边形 242798"/>
          <p:cNvSpPr/>
          <p:nvPr/>
        </p:nvSpPr>
        <p:spPr>
          <a:xfrm>
            <a:off x="1054100" y="3257550"/>
            <a:ext cx="165100" cy="381000"/>
          </a:xfrm>
          <a:custGeom>
            <a:avLst/>
            <a:gdLst/>
            <a:ahLst/>
            <a:cxnLst/>
            <a:rect l="0" t="0" r="0" b="0"/>
            <a:pathLst>
              <a:path w="104" h="240">
                <a:moveTo>
                  <a:pt x="56" y="0"/>
                </a:moveTo>
                <a:cubicBezTo>
                  <a:pt x="28" y="52"/>
                  <a:pt x="0" y="104"/>
                  <a:pt x="8" y="144"/>
                </a:cubicBezTo>
                <a:cubicBezTo>
                  <a:pt x="16" y="184"/>
                  <a:pt x="60" y="212"/>
                  <a:pt x="104" y="240"/>
                </a:cubicBezTo>
              </a:path>
            </a:pathLst>
          </a:custGeom>
          <a:noFill/>
          <a:ln w="25400" cap="flat" cmpd="sng">
            <a:solidFill>
              <a:srgbClr val="FFFF00"/>
            </a:solidFill>
            <a:prstDash val="solid"/>
            <a:round/>
            <a:headEnd type="none" w="med" len="med"/>
            <a:tailEnd type="stealth" w="med" len="med"/>
          </a:ln>
        </p:spPr>
        <p:txBody>
          <a:bodyPr/>
          <a:lstStyle/>
          <a:p>
            <a:endParaRPr lang="zh-CN" altLang="en-US"/>
          </a:p>
        </p:txBody>
      </p:sp>
      <p:sp>
        <p:nvSpPr>
          <p:cNvPr id="242800" name="左大括号 242799"/>
          <p:cNvSpPr/>
          <p:nvPr/>
        </p:nvSpPr>
        <p:spPr>
          <a:xfrm rot="-5400000">
            <a:off x="6400800" y="1657350"/>
            <a:ext cx="152400" cy="3505200"/>
          </a:xfrm>
          <a:prstGeom prst="leftBrace">
            <a:avLst>
              <a:gd name="adj1" fmla="val 190601"/>
              <a:gd name="adj2" fmla="val 50000"/>
            </a:avLst>
          </a:prstGeom>
          <a:noFill/>
          <a:ln w="25400" cap="flat" cmpd="sng">
            <a:solidFill>
              <a:srgbClr val="00FF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242801" name="任意多边形 242800"/>
          <p:cNvSpPr/>
          <p:nvPr/>
        </p:nvSpPr>
        <p:spPr>
          <a:xfrm>
            <a:off x="6172200" y="3486150"/>
            <a:ext cx="1130300" cy="1219200"/>
          </a:xfrm>
          <a:custGeom>
            <a:avLst/>
            <a:gdLst/>
            <a:ahLst/>
            <a:cxnLst/>
            <a:rect l="0" t="0" r="0" b="0"/>
            <a:pathLst>
              <a:path w="712" h="768">
                <a:moveTo>
                  <a:pt x="240" y="0"/>
                </a:moveTo>
                <a:cubicBezTo>
                  <a:pt x="476" y="128"/>
                  <a:pt x="712" y="256"/>
                  <a:pt x="672" y="384"/>
                </a:cubicBezTo>
                <a:cubicBezTo>
                  <a:pt x="632" y="512"/>
                  <a:pt x="316" y="640"/>
                  <a:pt x="0" y="768"/>
                </a:cubicBezTo>
              </a:path>
            </a:pathLst>
          </a:custGeom>
          <a:noFill/>
          <a:ln w="25400" cap="flat" cmpd="sng">
            <a:solidFill>
              <a:srgbClr val="00FF00"/>
            </a:solidFill>
            <a:prstDash val="solid"/>
            <a:round/>
            <a:headEnd type="none" w="med" len="med"/>
            <a:tailEnd type="stealth" w="lg" len="lg"/>
          </a:ln>
        </p:spPr>
        <p:txBody>
          <a:bodyPr/>
          <a:lstStyle/>
          <a:p>
            <a:endParaRPr lang="zh-CN" altLang="en-US"/>
          </a:p>
        </p:txBody>
      </p:sp>
      <p:sp>
        <p:nvSpPr>
          <p:cNvPr id="242802" name="任意多边形 242801"/>
          <p:cNvSpPr/>
          <p:nvPr/>
        </p:nvSpPr>
        <p:spPr>
          <a:xfrm>
            <a:off x="596900" y="3181350"/>
            <a:ext cx="622300" cy="2260600"/>
          </a:xfrm>
          <a:custGeom>
            <a:avLst/>
            <a:gdLst/>
            <a:ahLst/>
            <a:cxnLst/>
            <a:rect l="0" t="0" r="0" b="0"/>
            <a:pathLst>
              <a:path w="392" h="1424">
                <a:moveTo>
                  <a:pt x="56" y="0"/>
                </a:moveTo>
                <a:cubicBezTo>
                  <a:pt x="28" y="488"/>
                  <a:pt x="0" y="976"/>
                  <a:pt x="56" y="1200"/>
                </a:cubicBezTo>
                <a:cubicBezTo>
                  <a:pt x="112" y="1424"/>
                  <a:pt x="252" y="1384"/>
                  <a:pt x="392" y="1344"/>
                </a:cubicBezTo>
              </a:path>
            </a:pathLst>
          </a:custGeom>
          <a:noFill/>
          <a:ln w="25400" cap="flat" cmpd="sng">
            <a:solidFill>
              <a:schemeClr val="tx1"/>
            </a:solidFill>
            <a:prstDash val="solid"/>
            <a:round/>
            <a:headEnd type="none" w="med" len="med"/>
            <a:tailEnd type="stealth" w="med" len="lg"/>
          </a:ln>
        </p:spPr>
        <p:txBody>
          <a:bodyPr/>
          <a:lstStyle/>
          <a:p>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42690"/>
                                        </p:tgtEl>
                                        <p:attrNameLst>
                                          <p:attrName>style.visibility</p:attrName>
                                        </p:attrNameLst>
                                      </p:cBhvr>
                                      <p:to>
                                        <p:strVal val="visible"/>
                                      </p:to>
                                    </p:set>
                                    <p:anim calcmode="lin" valueType="num">
                                      <p:cBhvr>
                                        <p:cTn id="7" dur="500" fill="hold"/>
                                        <p:tgtEl>
                                          <p:spTgt spid="242690"/>
                                        </p:tgtEl>
                                        <p:attrNameLst>
                                          <p:attrName>ppt_x</p:attrName>
                                        </p:attrNameLst>
                                      </p:cBhvr>
                                      <p:tavLst>
                                        <p:tav tm="0">
                                          <p:val>
                                            <p:strVal val="#ppt_x"/>
                                          </p:val>
                                        </p:tav>
                                        <p:tav tm="100000">
                                          <p:val>
                                            <p:strVal val="#ppt_x"/>
                                          </p:val>
                                        </p:tav>
                                      </p:tavLst>
                                    </p:anim>
                                    <p:anim calcmode="lin" valueType="num">
                                      <p:cBhvr>
                                        <p:cTn id="8" dur="500" fill="hold"/>
                                        <p:tgtEl>
                                          <p:spTgt spid="24269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2757"/>
                                        </p:tgtEl>
                                        <p:attrNameLst>
                                          <p:attrName>style.visibility</p:attrName>
                                        </p:attrNameLst>
                                      </p:cBhvr>
                                      <p:to>
                                        <p:strVal val="visible"/>
                                      </p:to>
                                    </p:set>
                                    <p:anim calcmode="lin" valueType="num">
                                      <p:cBhvr>
                                        <p:cTn id="13" dur="500" fill="hold"/>
                                        <p:tgtEl>
                                          <p:spTgt spid="242757"/>
                                        </p:tgtEl>
                                        <p:attrNameLst>
                                          <p:attrName>ppt_x</p:attrName>
                                        </p:attrNameLst>
                                      </p:cBhvr>
                                      <p:tavLst>
                                        <p:tav tm="0">
                                          <p:val>
                                            <p:strVal val="#ppt_x"/>
                                          </p:val>
                                        </p:tav>
                                        <p:tav tm="100000">
                                          <p:val>
                                            <p:strVal val="#ppt_x"/>
                                          </p:val>
                                        </p:tav>
                                      </p:tavLst>
                                    </p:anim>
                                    <p:anim calcmode="lin" valueType="num">
                                      <p:cBhvr>
                                        <p:cTn id="14" dur="500" fill="hold"/>
                                        <p:tgtEl>
                                          <p:spTgt spid="2427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 fill="hold" nodeType="clickEffect">
                                  <p:stCondLst>
                                    <p:cond delay="0"/>
                                  </p:stCondLst>
                                  <p:childTnLst>
                                    <p:set>
                                      <p:cBhvr>
                                        <p:cTn id="18" dur="1" fill="hold">
                                          <p:stCondLst>
                                            <p:cond delay="0"/>
                                          </p:stCondLst>
                                        </p:cTn>
                                        <p:tgtEl>
                                          <p:spTgt spid="242799"/>
                                        </p:tgtEl>
                                        <p:attrNameLst>
                                          <p:attrName>style.visibility</p:attrName>
                                        </p:attrNameLst>
                                      </p:cBhvr>
                                      <p:to>
                                        <p:strVal val="visible"/>
                                      </p:to>
                                    </p:set>
                                    <p:anim calcmode="lin" valueType="num">
                                      <p:cBhvr>
                                        <p:cTn id="19" dur="500" fill="hold"/>
                                        <p:tgtEl>
                                          <p:spTgt spid="242799"/>
                                        </p:tgtEl>
                                        <p:attrNameLst>
                                          <p:attrName>ppt_x</p:attrName>
                                        </p:attrNameLst>
                                      </p:cBhvr>
                                      <p:tavLst>
                                        <p:tav tm="0">
                                          <p:val>
                                            <p:strVal val="#ppt_x"/>
                                          </p:val>
                                        </p:tav>
                                        <p:tav tm="100000">
                                          <p:val>
                                            <p:strVal val="#ppt_x"/>
                                          </p:val>
                                        </p:tav>
                                      </p:tavLst>
                                    </p:anim>
                                    <p:anim calcmode="lin" valueType="num">
                                      <p:cBhvr>
                                        <p:cTn id="20" dur="500" fill="hold"/>
                                        <p:tgtEl>
                                          <p:spTgt spid="242799"/>
                                        </p:tgtEl>
                                        <p:attrNameLst>
                                          <p:attrName>ppt_y</p:attrName>
                                        </p:attrNameLst>
                                      </p:cBhvr>
                                      <p:tavLst>
                                        <p:tav tm="0">
                                          <p:val>
                                            <p:strVal val="#ppt_y-#ppt_h/2"/>
                                          </p:val>
                                        </p:tav>
                                        <p:tav tm="100000">
                                          <p:val>
                                            <p:strVal val="#ppt_y"/>
                                          </p:val>
                                        </p:tav>
                                      </p:tavLst>
                                    </p:anim>
                                    <p:anim calcmode="lin" valueType="num">
                                      <p:cBhvr>
                                        <p:cTn id="21" dur="500" fill="hold"/>
                                        <p:tgtEl>
                                          <p:spTgt spid="242799"/>
                                        </p:tgtEl>
                                        <p:attrNameLst>
                                          <p:attrName>ppt_w</p:attrName>
                                        </p:attrNameLst>
                                      </p:cBhvr>
                                      <p:tavLst>
                                        <p:tav tm="0">
                                          <p:val>
                                            <p:strVal val="#ppt_w"/>
                                          </p:val>
                                        </p:tav>
                                        <p:tav tm="100000">
                                          <p:val>
                                            <p:strVal val="#ppt_w"/>
                                          </p:val>
                                        </p:tav>
                                      </p:tavLst>
                                    </p:anim>
                                    <p:anim calcmode="lin" valueType="num">
                                      <p:cBhvr>
                                        <p:cTn id="22" dur="500" fill="hold"/>
                                        <p:tgtEl>
                                          <p:spTgt spid="242799"/>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242790"/>
                                        </p:tgtEl>
                                        <p:attrNameLst>
                                          <p:attrName>style.visibility</p:attrName>
                                        </p:attrNameLst>
                                      </p:cBhvr>
                                      <p:to>
                                        <p:strVal val="visible"/>
                                      </p:to>
                                    </p:set>
                                    <p:anim calcmode="lin" valueType="num">
                                      <p:cBhvr>
                                        <p:cTn id="27" dur="500" fill="hold"/>
                                        <p:tgtEl>
                                          <p:spTgt spid="242790"/>
                                        </p:tgtEl>
                                        <p:attrNameLst>
                                          <p:attrName>ppt_x</p:attrName>
                                        </p:attrNameLst>
                                      </p:cBhvr>
                                      <p:tavLst>
                                        <p:tav tm="0">
                                          <p:val>
                                            <p:strVal val="#ppt_x-#ppt_w/2"/>
                                          </p:val>
                                        </p:tav>
                                        <p:tav tm="100000">
                                          <p:val>
                                            <p:strVal val="#ppt_x"/>
                                          </p:val>
                                        </p:tav>
                                      </p:tavLst>
                                    </p:anim>
                                    <p:anim calcmode="lin" valueType="num">
                                      <p:cBhvr>
                                        <p:cTn id="28" dur="500" fill="hold"/>
                                        <p:tgtEl>
                                          <p:spTgt spid="242790"/>
                                        </p:tgtEl>
                                        <p:attrNameLst>
                                          <p:attrName>ppt_y</p:attrName>
                                        </p:attrNameLst>
                                      </p:cBhvr>
                                      <p:tavLst>
                                        <p:tav tm="0">
                                          <p:val>
                                            <p:strVal val="#ppt_y"/>
                                          </p:val>
                                        </p:tav>
                                        <p:tav tm="100000">
                                          <p:val>
                                            <p:strVal val="#ppt_y"/>
                                          </p:val>
                                        </p:tav>
                                      </p:tavLst>
                                    </p:anim>
                                    <p:anim calcmode="lin" valueType="num">
                                      <p:cBhvr>
                                        <p:cTn id="29" dur="500" fill="hold"/>
                                        <p:tgtEl>
                                          <p:spTgt spid="242790"/>
                                        </p:tgtEl>
                                        <p:attrNameLst>
                                          <p:attrName>ppt_w</p:attrName>
                                        </p:attrNameLst>
                                      </p:cBhvr>
                                      <p:tavLst>
                                        <p:tav tm="0">
                                          <p:val>
                                            <p:fltVal val="0"/>
                                          </p:val>
                                        </p:tav>
                                        <p:tav tm="100000">
                                          <p:val>
                                            <p:strVal val="#ppt_w"/>
                                          </p:val>
                                        </p:tav>
                                      </p:tavLst>
                                    </p:anim>
                                    <p:anim calcmode="lin" valueType="num">
                                      <p:cBhvr>
                                        <p:cTn id="30" dur="500" fill="hold"/>
                                        <p:tgtEl>
                                          <p:spTgt spid="242790"/>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grpId="0" nodeType="clickEffect">
                                  <p:stCondLst>
                                    <p:cond delay="0"/>
                                  </p:stCondLst>
                                  <p:childTnLst>
                                    <p:set>
                                      <p:cBhvr>
                                        <p:cTn id="34" dur="1" fill="hold">
                                          <p:stCondLst>
                                            <p:cond delay="0"/>
                                          </p:stCondLst>
                                        </p:cTn>
                                        <p:tgtEl>
                                          <p:spTgt spid="242798"/>
                                        </p:tgtEl>
                                        <p:attrNameLst>
                                          <p:attrName>style.visibility</p:attrName>
                                        </p:attrNameLst>
                                      </p:cBhvr>
                                      <p:to>
                                        <p:strVal val="visible"/>
                                      </p:to>
                                    </p:set>
                                    <p:anim calcmode="lin" valueType="num">
                                      <p:cBhvr>
                                        <p:cTn id="35" dur="500" fill="hold"/>
                                        <p:tgtEl>
                                          <p:spTgt spid="242798"/>
                                        </p:tgtEl>
                                        <p:attrNameLst>
                                          <p:attrName>ppt_x</p:attrName>
                                        </p:attrNameLst>
                                      </p:cBhvr>
                                      <p:tavLst>
                                        <p:tav tm="0">
                                          <p:val>
                                            <p:strVal val="#ppt_x-#ppt_w/2"/>
                                          </p:val>
                                        </p:tav>
                                        <p:tav tm="100000">
                                          <p:val>
                                            <p:strVal val="#ppt_x"/>
                                          </p:val>
                                        </p:tav>
                                      </p:tavLst>
                                    </p:anim>
                                    <p:anim calcmode="lin" valueType="num">
                                      <p:cBhvr>
                                        <p:cTn id="36" dur="500" fill="hold"/>
                                        <p:tgtEl>
                                          <p:spTgt spid="242798"/>
                                        </p:tgtEl>
                                        <p:attrNameLst>
                                          <p:attrName>ppt_y</p:attrName>
                                        </p:attrNameLst>
                                      </p:cBhvr>
                                      <p:tavLst>
                                        <p:tav tm="0">
                                          <p:val>
                                            <p:strVal val="#ppt_y"/>
                                          </p:val>
                                        </p:tav>
                                        <p:tav tm="100000">
                                          <p:val>
                                            <p:strVal val="#ppt_y"/>
                                          </p:val>
                                        </p:tav>
                                      </p:tavLst>
                                    </p:anim>
                                    <p:anim calcmode="lin" valueType="num">
                                      <p:cBhvr>
                                        <p:cTn id="37" dur="500" fill="hold"/>
                                        <p:tgtEl>
                                          <p:spTgt spid="242798"/>
                                        </p:tgtEl>
                                        <p:attrNameLst>
                                          <p:attrName>ppt_w</p:attrName>
                                        </p:attrNameLst>
                                      </p:cBhvr>
                                      <p:tavLst>
                                        <p:tav tm="0">
                                          <p:val>
                                            <p:fltVal val="0"/>
                                          </p:val>
                                        </p:tav>
                                        <p:tav tm="100000">
                                          <p:val>
                                            <p:strVal val="#ppt_w"/>
                                          </p:val>
                                        </p:tav>
                                      </p:tavLst>
                                    </p:anim>
                                    <p:anim calcmode="lin" valueType="num">
                                      <p:cBhvr>
                                        <p:cTn id="38" dur="500" fill="hold"/>
                                        <p:tgtEl>
                                          <p:spTgt spid="242798"/>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24280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7" presetClass="entr" presetSubtype="1" fill="hold" nodeType="clickEffect">
                                  <p:stCondLst>
                                    <p:cond delay="0"/>
                                  </p:stCondLst>
                                  <p:childTnLst>
                                    <p:set>
                                      <p:cBhvr>
                                        <p:cTn id="46" dur="1" fill="hold">
                                          <p:stCondLst>
                                            <p:cond delay="0"/>
                                          </p:stCondLst>
                                        </p:cTn>
                                        <p:tgtEl>
                                          <p:spTgt spid="242801"/>
                                        </p:tgtEl>
                                        <p:attrNameLst>
                                          <p:attrName>style.visibility</p:attrName>
                                        </p:attrNameLst>
                                      </p:cBhvr>
                                      <p:to>
                                        <p:strVal val="visible"/>
                                      </p:to>
                                    </p:set>
                                    <p:anim calcmode="lin" valueType="num">
                                      <p:cBhvr>
                                        <p:cTn id="47" dur="500" fill="hold"/>
                                        <p:tgtEl>
                                          <p:spTgt spid="242801"/>
                                        </p:tgtEl>
                                        <p:attrNameLst>
                                          <p:attrName>ppt_x</p:attrName>
                                        </p:attrNameLst>
                                      </p:cBhvr>
                                      <p:tavLst>
                                        <p:tav tm="0">
                                          <p:val>
                                            <p:strVal val="#ppt_x"/>
                                          </p:val>
                                        </p:tav>
                                        <p:tav tm="100000">
                                          <p:val>
                                            <p:strVal val="#ppt_x"/>
                                          </p:val>
                                        </p:tav>
                                      </p:tavLst>
                                    </p:anim>
                                    <p:anim calcmode="lin" valueType="num">
                                      <p:cBhvr>
                                        <p:cTn id="48" dur="500" fill="hold"/>
                                        <p:tgtEl>
                                          <p:spTgt spid="242801"/>
                                        </p:tgtEl>
                                        <p:attrNameLst>
                                          <p:attrName>ppt_y</p:attrName>
                                        </p:attrNameLst>
                                      </p:cBhvr>
                                      <p:tavLst>
                                        <p:tav tm="0">
                                          <p:val>
                                            <p:strVal val="#ppt_y-#ppt_h/2"/>
                                          </p:val>
                                        </p:tav>
                                        <p:tav tm="100000">
                                          <p:val>
                                            <p:strVal val="#ppt_y"/>
                                          </p:val>
                                        </p:tav>
                                      </p:tavLst>
                                    </p:anim>
                                    <p:anim calcmode="lin" valueType="num">
                                      <p:cBhvr>
                                        <p:cTn id="49" dur="500" fill="hold"/>
                                        <p:tgtEl>
                                          <p:spTgt spid="242801"/>
                                        </p:tgtEl>
                                        <p:attrNameLst>
                                          <p:attrName>ppt_w</p:attrName>
                                        </p:attrNameLst>
                                      </p:cBhvr>
                                      <p:tavLst>
                                        <p:tav tm="0">
                                          <p:val>
                                            <p:strVal val="#ppt_w"/>
                                          </p:val>
                                        </p:tav>
                                        <p:tav tm="100000">
                                          <p:val>
                                            <p:strVal val="#ppt_w"/>
                                          </p:val>
                                        </p:tav>
                                      </p:tavLst>
                                    </p:anim>
                                    <p:anim calcmode="lin" valueType="num">
                                      <p:cBhvr>
                                        <p:cTn id="50" dur="500" fill="hold"/>
                                        <p:tgtEl>
                                          <p:spTgt spid="242801"/>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7" presetClass="entr" presetSubtype="8" fill="hold" grpId="0" nodeType="clickEffect">
                                  <p:stCondLst>
                                    <p:cond delay="0"/>
                                  </p:stCondLst>
                                  <p:childTnLst>
                                    <p:set>
                                      <p:cBhvr>
                                        <p:cTn id="54" dur="1" fill="hold">
                                          <p:stCondLst>
                                            <p:cond delay="0"/>
                                          </p:stCondLst>
                                        </p:cTn>
                                        <p:tgtEl>
                                          <p:spTgt spid="242797"/>
                                        </p:tgtEl>
                                        <p:attrNameLst>
                                          <p:attrName>style.visibility</p:attrName>
                                        </p:attrNameLst>
                                      </p:cBhvr>
                                      <p:to>
                                        <p:strVal val="visible"/>
                                      </p:to>
                                    </p:set>
                                    <p:anim calcmode="lin" valueType="num">
                                      <p:cBhvr>
                                        <p:cTn id="55" dur="500" fill="hold"/>
                                        <p:tgtEl>
                                          <p:spTgt spid="242797"/>
                                        </p:tgtEl>
                                        <p:attrNameLst>
                                          <p:attrName>ppt_x</p:attrName>
                                        </p:attrNameLst>
                                      </p:cBhvr>
                                      <p:tavLst>
                                        <p:tav tm="0">
                                          <p:val>
                                            <p:strVal val="#ppt_x-#ppt_w/2"/>
                                          </p:val>
                                        </p:tav>
                                        <p:tav tm="100000">
                                          <p:val>
                                            <p:strVal val="#ppt_x"/>
                                          </p:val>
                                        </p:tav>
                                      </p:tavLst>
                                    </p:anim>
                                    <p:anim calcmode="lin" valueType="num">
                                      <p:cBhvr>
                                        <p:cTn id="56" dur="500" fill="hold"/>
                                        <p:tgtEl>
                                          <p:spTgt spid="242797"/>
                                        </p:tgtEl>
                                        <p:attrNameLst>
                                          <p:attrName>ppt_y</p:attrName>
                                        </p:attrNameLst>
                                      </p:cBhvr>
                                      <p:tavLst>
                                        <p:tav tm="0">
                                          <p:val>
                                            <p:strVal val="#ppt_y"/>
                                          </p:val>
                                        </p:tav>
                                        <p:tav tm="100000">
                                          <p:val>
                                            <p:strVal val="#ppt_y"/>
                                          </p:val>
                                        </p:tav>
                                      </p:tavLst>
                                    </p:anim>
                                    <p:anim calcmode="lin" valueType="num">
                                      <p:cBhvr>
                                        <p:cTn id="57" dur="500" fill="hold"/>
                                        <p:tgtEl>
                                          <p:spTgt spid="242797"/>
                                        </p:tgtEl>
                                        <p:attrNameLst>
                                          <p:attrName>ppt_w</p:attrName>
                                        </p:attrNameLst>
                                      </p:cBhvr>
                                      <p:tavLst>
                                        <p:tav tm="0">
                                          <p:val>
                                            <p:fltVal val="0"/>
                                          </p:val>
                                        </p:tav>
                                        <p:tav tm="100000">
                                          <p:val>
                                            <p:strVal val="#ppt_w"/>
                                          </p:val>
                                        </p:tav>
                                      </p:tavLst>
                                    </p:anim>
                                    <p:anim calcmode="lin" valueType="num">
                                      <p:cBhvr>
                                        <p:cTn id="58" dur="500" fill="hold"/>
                                        <p:tgtEl>
                                          <p:spTgt spid="242797"/>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1" fill="hold" nodeType="clickEffect">
                                  <p:stCondLst>
                                    <p:cond delay="0"/>
                                  </p:stCondLst>
                                  <p:childTnLst>
                                    <p:set>
                                      <p:cBhvr>
                                        <p:cTn id="62" dur="1" fill="hold">
                                          <p:stCondLst>
                                            <p:cond delay="0"/>
                                          </p:stCondLst>
                                        </p:cTn>
                                        <p:tgtEl>
                                          <p:spTgt spid="242802"/>
                                        </p:tgtEl>
                                        <p:attrNameLst>
                                          <p:attrName>style.visibility</p:attrName>
                                        </p:attrNameLst>
                                      </p:cBhvr>
                                      <p:to>
                                        <p:strVal val="visible"/>
                                      </p:to>
                                    </p:set>
                                    <p:anim calcmode="lin" valueType="num">
                                      <p:cBhvr>
                                        <p:cTn id="63" dur="500" fill="hold"/>
                                        <p:tgtEl>
                                          <p:spTgt spid="242802"/>
                                        </p:tgtEl>
                                        <p:attrNameLst>
                                          <p:attrName>ppt_x</p:attrName>
                                        </p:attrNameLst>
                                      </p:cBhvr>
                                      <p:tavLst>
                                        <p:tav tm="0">
                                          <p:val>
                                            <p:strVal val="#ppt_x"/>
                                          </p:val>
                                        </p:tav>
                                        <p:tav tm="100000">
                                          <p:val>
                                            <p:strVal val="#ppt_x"/>
                                          </p:val>
                                        </p:tav>
                                      </p:tavLst>
                                    </p:anim>
                                    <p:anim calcmode="lin" valueType="num">
                                      <p:cBhvr>
                                        <p:cTn id="64" dur="500" fill="hold"/>
                                        <p:tgtEl>
                                          <p:spTgt spid="242802"/>
                                        </p:tgtEl>
                                        <p:attrNameLst>
                                          <p:attrName>ppt_y</p:attrName>
                                        </p:attrNameLst>
                                      </p:cBhvr>
                                      <p:tavLst>
                                        <p:tav tm="0">
                                          <p:val>
                                            <p:strVal val="#ppt_y-#ppt_h/2"/>
                                          </p:val>
                                        </p:tav>
                                        <p:tav tm="100000">
                                          <p:val>
                                            <p:strVal val="#ppt_y"/>
                                          </p:val>
                                        </p:tav>
                                      </p:tavLst>
                                    </p:anim>
                                    <p:anim calcmode="lin" valueType="num">
                                      <p:cBhvr>
                                        <p:cTn id="65" dur="500" fill="hold"/>
                                        <p:tgtEl>
                                          <p:spTgt spid="242802"/>
                                        </p:tgtEl>
                                        <p:attrNameLst>
                                          <p:attrName>ppt_w</p:attrName>
                                        </p:attrNameLst>
                                      </p:cBhvr>
                                      <p:tavLst>
                                        <p:tav tm="0">
                                          <p:val>
                                            <p:strVal val="#ppt_w"/>
                                          </p:val>
                                        </p:tav>
                                        <p:tav tm="100000">
                                          <p:val>
                                            <p:strVal val="#ppt_w"/>
                                          </p:val>
                                        </p:tav>
                                      </p:tavLst>
                                    </p:anim>
                                    <p:anim calcmode="lin" valueType="num">
                                      <p:cBhvr>
                                        <p:cTn id="66" dur="500" fill="hold"/>
                                        <p:tgtEl>
                                          <p:spTgt spid="242802"/>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17" presetClass="entr" presetSubtype="8" fill="hold" grpId="0" nodeType="clickEffect">
                                  <p:stCondLst>
                                    <p:cond delay="0"/>
                                  </p:stCondLst>
                                  <p:childTnLst>
                                    <p:set>
                                      <p:cBhvr>
                                        <p:cTn id="70" dur="1" fill="hold">
                                          <p:stCondLst>
                                            <p:cond delay="0"/>
                                          </p:stCondLst>
                                        </p:cTn>
                                        <p:tgtEl>
                                          <p:spTgt spid="242796"/>
                                        </p:tgtEl>
                                        <p:attrNameLst>
                                          <p:attrName>style.visibility</p:attrName>
                                        </p:attrNameLst>
                                      </p:cBhvr>
                                      <p:to>
                                        <p:strVal val="visible"/>
                                      </p:to>
                                    </p:set>
                                    <p:anim calcmode="lin" valueType="num">
                                      <p:cBhvr>
                                        <p:cTn id="71" dur="500" fill="hold"/>
                                        <p:tgtEl>
                                          <p:spTgt spid="242796"/>
                                        </p:tgtEl>
                                        <p:attrNameLst>
                                          <p:attrName>ppt_x</p:attrName>
                                        </p:attrNameLst>
                                      </p:cBhvr>
                                      <p:tavLst>
                                        <p:tav tm="0">
                                          <p:val>
                                            <p:strVal val="#ppt_x-#ppt_w/2"/>
                                          </p:val>
                                        </p:tav>
                                        <p:tav tm="100000">
                                          <p:val>
                                            <p:strVal val="#ppt_x"/>
                                          </p:val>
                                        </p:tav>
                                      </p:tavLst>
                                    </p:anim>
                                    <p:anim calcmode="lin" valueType="num">
                                      <p:cBhvr>
                                        <p:cTn id="72" dur="500" fill="hold"/>
                                        <p:tgtEl>
                                          <p:spTgt spid="242796"/>
                                        </p:tgtEl>
                                        <p:attrNameLst>
                                          <p:attrName>ppt_y</p:attrName>
                                        </p:attrNameLst>
                                      </p:cBhvr>
                                      <p:tavLst>
                                        <p:tav tm="0">
                                          <p:val>
                                            <p:strVal val="#ppt_y"/>
                                          </p:val>
                                        </p:tav>
                                        <p:tav tm="100000">
                                          <p:val>
                                            <p:strVal val="#ppt_y"/>
                                          </p:val>
                                        </p:tav>
                                      </p:tavLst>
                                    </p:anim>
                                    <p:anim calcmode="lin" valueType="num">
                                      <p:cBhvr>
                                        <p:cTn id="73" dur="500" fill="hold"/>
                                        <p:tgtEl>
                                          <p:spTgt spid="242796"/>
                                        </p:tgtEl>
                                        <p:attrNameLst>
                                          <p:attrName>ppt_w</p:attrName>
                                        </p:attrNameLst>
                                      </p:cBhvr>
                                      <p:tavLst>
                                        <p:tav tm="0">
                                          <p:val>
                                            <p:fltVal val="0"/>
                                          </p:val>
                                        </p:tav>
                                        <p:tav tm="100000">
                                          <p:val>
                                            <p:strVal val="#ppt_w"/>
                                          </p:val>
                                        </p:tav>
                                      </p:tavLst>
                                    </p:anim>
                                    <p:anim calcmode="lin" valueType="num">
                                      <p:cBhvr>
                                        <p:cTn id="74" dur="500" fill="hold"/>
                                        <p:tgtEl>
                                          <p:spTgt spid="242796"/>
                                        </p:tgtEl>
                                        <p:attrNameLst>
                                          <p:attrName>ppt_h</p:attrName>
                                        </p:attrNameLst>
                                      </p:cBhvr>
                                      <p:tavLst>
                                        <p:tav tm="0">
                                          <p:val>
                                            <p:strVal val="#ppt_h"/>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7" presetClass="entr" presetSubtype="2" fill="hold" nodeType="clickEffect">
                                  <p:stCondLst>
                                    <p:cond delay="0"/>
                                  </p:stCondLst>
                                  <p:childTnLst>
                                    <p:set>
                                      <p:cBhvr>
                                        <p:cTn id="78" dur="1" fill="hold">
                                          <p:stCondLst>
                                            <p:cond delay="0"/>
                                          </p:stCondLst>
                                        </p:cTn>
                                        <p:tgtEl>
                                          <p:spTgt spid="242792"/>
                                        </p:tgtEl>
                                        <p:attrNameLst>
                                          <p:attrName>style.visibility</p:attrName>
                                        </p:attrNameLst>
                                      </p:cBhvr>
                                      <p:to>
                                        <p:strVal val="visible"/>
                                      </p:to>
                                    </p:set>
                                    <p:anim calcmode="lin" valueType="num">
                                      <p:cBhvr>
                                        <p:cTn id="79" dur="500" fill="hold"/>
                                        <p:tgtEl>
                                          <p:spTgt spid="242792"/>
                                        </p:tgtEl>
                                        <p:attrNameLst>
                                          <p:attrName>ppt_x</p:attrName>
                                        </p:attrNameLst>
                                      </p:cBhvr>
                                      <p:tavLst>
                                        <p:tav tm="0">
                                          <p:val>
                                            <p:strVal val="#ppt_x+#ppt_w/2"/>
                                          </p:val>
                                        </p:tav>
                                        <p:tav tm="100000">
                                          <p:val>
                                            <p:strVal val="#ppt_x"/>
                                          </p:val>
                                        </p:tav>
                                      </p:tavLst>
                                    </p:anim>
                                    <p:anim calcmode="lin" valueType="num">
                                      <p:cBhvr>
                                        <p:cTn id="80" dur="500" fill="hold"/>
                                        <p:tgtEl>
                                          <p:spTgt spid="242792"/>
                                        </p:tgtEl>
                                        <p:attrNameLst>
                                          <p:attrName>ppt_y</p:attrName>
                                        </p:attrNameLst>
                                      </p:cBhvr>
                                      <p:tavLst>
                                        <p:tav tm="0">
                                          <p:val>
                                            <p:strVal val="#ppt_y"/>
                                          </p:val>
                                        </p:tav>
                                        <p:tav tm="100000">
                                          <p:val>
                                            <p:strVal val="#ppt_y"/>
                                          </p:val>
                                        </p:tav>
                                      </p:tavLst>
                                    </p:anim>
                                    <p:anim calcmode="lin" valueType="num">
                                      <p:cBhvr>
                                        <p:cTn id="81" dur="500" fill="hold"/>
                                        <p:tgtEl>
                                          <p:spTgt spid="242792"/>
                                        </p:tgtEl>
                                        <p:attrNameLst>
                                          <p:attrName>ppt_w</p:attrName>
                                        </p:attrNameLst>
                                      </p:cBhvr>
                                      <p:tavLst>
                                        <p:tav tm="0">
                                          <p:val>
                                            <p:fltVal val="0"/>
                                          </p:val>
                                        </p:tav>
                                        <p:tav tm="100000">
                                          <p:val>
                                            <p:strVal val="#ppt_w"/>
                                          </p:val>
                                        </p:tav>
                                      </p:tavLst>
                                    </p:anim>
                                    <p:anim calcmode="lin" valueType="num">
                                      <p:cBhvr>
                                        <p:cTn id="82" dur="500" fill="hold"/>
                                        <p:tgtEl>
                                          <p:spTgt spid="242792"/>
                                        </p:tgtEl>
                                        <p:attrNameLst>
                                          <p:attrName>ppt_h</p:attrName>
                                        </p:attrNameLst>
                                      </p:cBhvr>
                                      <p:tavLst>
                                        <p:tav tm="0">
                                          <p:val>
                                            <p:strVal val="#ppt_h"/>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17" presetClass="entr" presetSubtype="8" fill="hold" grpId="0" nodeType="clickEffect">
                                  <p:stCondLst>
                                    <p:cond delay="0"/>
                                  </p:stCondLst>
                                  <p:childTnLst>
                                    <p:set>
                                      <p:cBhvr>
                                        <p:cTn id="86" dur="1" fill="hold">
                                          <p:stCondLst>
                                            <p:cond delay="0"/>
                                          </p:stCondLst>
                                        </p:cTn>
                                        <p:tgtEl>
                                          <p:spTgt spid="242794"/>
                                        </p:tgtEl>
                                        <p:attrNameLst>
                                          <p:attrName>style.visibility</p:attrName>
                                        </p:attrNameLst>
                                      </p:cBhvr>
                                      <p:to>
                                        <p:strVal val="visible"/>
                                      </p:to>
                                    </p:set>
                                    <p:anim calcmode="lin" valueType="num">
                                      <p:cBhvr>
                                        <p:cTn id="87" dur="500" fill="hold"/>
                                        <p:tgtEl>
                                          <p:spTgt spid="242794"/>
                                        </p:tgtEl>
                                        <p:attrNameLst>
                                          <p:attrName>ppt_x</p:attrName>
                                        </p:attrNameLst>
                                      </p:cBhvr>
                                      <p:tavLst>
                                        <p:tav tm="0">
                                          <p:val>
                                            <p:strVal val="#ppt_x-#ppt_w/2"/>
                                          </p:val>
                                        </p:tav>
                                        <p:tav tm="100000">
                                          <p:val>
                                            <p:strVal val="#ppt_x"/>
                                          </p:val>
                                        </p:tav>
                                      </p:tavLst>
                                    </p:anim>
                                    <p:anim calcmode="lin" valueType="num">
                                      <p:cBhvr>
                                        <p:cTn id="88" dur="500" fill="hold"/>
                                        <p:tgtEl>
                                          <p:spTgt spid="242794"/>
                                        </p:tgtEl>
                                        <p:attrNameLst>
                                          <p:attrName>ppt_y</p:attrName>
                                        </p:attrNameLst>
                                      </p:cBhvr>
                                      <p:tavLst>
                                        <p:tav tm="0">
                                          <p:val>
                                            <p:strVal val="#ppt_y"/>
                                          </p:val>
                                        </p:tav>
                                        <p:tav tm="100000">
                                          <p:val>
                                            <p:strVal val="#ppt_y"/>
                                          </p:val>
                                        </p:tav>
                                      </p:tavLst>
                                    </p:anim>
                                    <p:anim calcmode="lin" valueType="num">
                                      <p:cBhvr>
                                        <p:cTn id="89" dur="500" fill="hold"/>
                                        <p:tgtEl>
                                          <p:spTgt spid="242794"/>
                                        </p:tgtEl>
                                        <p:attrNameLst>
                                          <p:attrName>ppt_w</p:attrName>
                                        </p:attrNameLst>
                                      </p:cBhvr>
                                      <p:tavLst>
                                        <p:tav tm="0">
                                          <p:val>
                                            <p:fltVal val="0"/>
                                          </p:val>
                                        </p:tav>
                                        <p:tav tm="100000">
                                          <p:val>
                                            <p:strVal val="#ppt_w"/>
                                          </p:val>
                                        </p:tav>
                                      </p:tavLst>
                                    </p:anim>
                                    <p:anim calcmode="lin" valueType="num">
                                      <p:cBhvr>
                                        <p:cTn id="90" dur="500" fill="hold"/>
                                        <p:tgtEl>
                                          <p:spTgt spid="242794"/>
                                        </p:tgtEl>
                                        <p:attrNameLst>
                                          <p:attrName>ppt_h</p:attrName>
                                        </p:attrNameLst>
                                      </p:cBhvr>
                                      <p:tavLst>
                                        <p:tav tm="0">
                                          <p:val>
                                            <p:strVal val="#ppt_h"/>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17" presetClass="entr" presetSubtype="2" fill="hold" nodeType="clickEffect">
                                  <p:stCondLst>
                                    <p:cond delay="0"/>
                                  </p:stCondLst>
                                  <p:childTnLst>
                                    <p:set>
                                      <p:cBhvr>
                                        <p:cTn id="94" dur="1" fill="hold">
                                          <p:stCondLst>
                                            <p:cond delay="0"/>
                                          </p:stCondLst>
                                        </p:cTn>
                                        <p:tgtEl>
                                          <p:spTgt spid="242793"/>
                                        </p:tgtEl>
                                        <p:attrNameLst>
                                          <p:attrName>style.visibility</p:attrName>
                                        </p:attrNameLst>
                                      </p:cBhvr>
                                      <p:to>
                                        <p:strVal val="visible"/>
                                      </p:to>
                                    </p:set>
                                    <p:anim calcmode="lin" valueType="num">
                                      <p:cBhvr>
                                        <p:cTn id="95" dur="500" fill="hold"/>
                                        <p:tgtEl>
                                          <p:spTgt spid="242793"/>
                                        </p:tgtEl>
                                        <p:attrNameLst>
                                          <p:attrName>ppt_x</p:attrName>
                                        </p:attrNameLst>
                                      </p:cBhvr>
                                      <p:tavLst>
                                        <p:tav tm="0">
                                          <p:val>
                                            <p:strVal val="#ppt_x+#ppt_w/2"/>
                                          </p:val>
                                        </p:tav>
                                        <p:tav tm="100000">
                                          <p:val>
                                            <p:strVal val="#ppt_x"/>
                                          </p:val>
                                        </p:tav>
                                      </p:tavLst>
                                    </p:anim>
                                    <p:anim calcmode="lin" valueType="num">
                                      <p:cBhvr>
                                        <p:cTn id="96" dur="500" fill="hold"/>
                                        <p:tgtEl>
                                          <p:spTgt spid="242793"/>
                                        </p:tgtEl>
                                        <p:attrNameLst>
                                          <p:attrName>ppt_y</p:attrName>
                                        </p:attrNameLst>
                                      </p:cBhvr>
                                      <p:tavLst>
                                        <p:tav tm="0">
                                          <p:val>
                                            <p:strVal val="#ppt_y"/>
                                          </p:val>
                                        </p:tav>
                                        <p:tav tm="100000">
                                          <p:val>
                                            <p:strVal val="#ppt_y"/>
                                          </p:val>
                                        </p:tav>
                                      </p:tavLst>
                                    </p:anim>
                                    <p:anim calcmode="lin" valueType="num">
                                      <p:cBhvr>
                                        <p:cTn id="97" dur="500" fill="hold"/>
                                        <p:tgtEl>
                                          <p:spTgt spid="242793"/>
                                        </p:tgtEl>
                                        <p:attrNameLst>
                                          <p:attrName>ppt_w</p:attrName>
                                        </p:attrNameLst>
                                      </p:cBhvr>
                                      <p:tavLst>
                                        <p:tav tm="0">
                                          <p:val>
                                            <p:fltVal val="0"/>
                                          </p:val>
                                        </p:tav>
                                        <p:tav tm="100000">
                                          <p:val>
                                            <p:strVal val="#ppt_w"/>
                                          </p:val>
                                        </p:tav>
                                      </p:tavLst>
                                    </p:anim>
                                    <p:anim calcmode="lin" valueType="num">
                                      <p:cBhvr>
                                        <p:cTn id="98" dur="500" fill="hold"/>
                                        <p:tgtEl>
                                          <p:spTgt spid="242793"/>
                                        </p:tgtEl>
                                        <p:attrNameLst>
                                          <p:attrName>ppt_h</p:attrName>
                                        </p:attrNameLst>
                                      </p:cBhvr>
                                      <p:tavLst>
                                        <p:tav tm="0">
                                          <p:val>
                                            <p:strVal val="#ppt_h"/>
                                          </p:val>
                                        </p:tav>
                                        <p:tav tm="100000">
                                          <p:val>
                                            <p:strVal val="#ppt_h"/>
                                          </p:val>
                                        </p:tav>
                                      </p:tavLst>
                                    </p:anim>
                                  </p:childTnLst>
                                </p:cTn>
                              </p:par>
                            </p:childTnLst>
                          </p:cTn>
                        </p:par>
                      </p:childTnLst>
                    </p:cTn>
                  </p:par>
                  <p:par>
                    <p:cTn id="99" fill="hold">
                      <p:stCondLst>
                        <p:cond delay="indefinite"/>
                      </p:stCondLst>
                      <p:childTnLst>
                        <p:par>
                          <p:cTn id="100" fill="hold">
                            <p:stCondLst>
                              <p:cond delay="0"/>
                            </p:stCondLst>
                            <p:childTnLst>
                              <p:par>
                                <p:cTn id="101" presetID="17" presetClass="entr" presetSubtype="8" fill="hold" grpId="0" nodeType="clickEffect">
                                  <p:stCondLst>
                                    <p:cond delay="0"/>
                                  </p:stCondLst>
                                  <p:childTnLst>
                                    <p:set>
                                      <p:cBhvr>
                                        <p:cTn id="102" dur="1" fill="hold">
                                          <p:stCondLst>
                                            <p:cond delay="0"/>
                                          </p:stCondLst>
                                        </p:cTn>
                                        <p:tgtEl>
                                          <p:spTgt spid="242795"/>
                                        </p:tgtEl>
                                        <p:attrNameLst>
                                          <p:attrName>style.visibility</p:attrName>
                                        </p:attrNameLst>
                                      </p:cBhvr>
                                      <p:to>
                                        <p:strVal val="visible"/>
                                      </p:to>
                                    </p:set>
                                    <p:anim calcmode="lin" valueType="num">
                                      <p:cBhvr>
                                        <p:cTn id="103" dur="500" fill="hold"/>
                                        <p:tgtEl>
                                          <p:spTgt spid="242795"/>
                                        </p:tgtEl>
                                        <p:attrNameLst>
                                          <p:attrName>ppt_x</p:attrName>
                                        </p:attrNameLst>
                                      </p:cBhvr>
                                      <p:tavLst>
                                        <p:tav tm="0">
                                          <p:val>
                                            <p:strVal val="#ppt_x-#ppt_w/2"/>
                                          </p:val>
                                        </p:tav>
                                        <p:tav tm="100000">
                                          <p:val>
                                            <p:strVal val="#ppt_x"/>
                                          </p:val>
                                        </p:tav>
                                      </p:tavLst>
                                    </p:anim>
                                    <p:anim calcmode="lin" valueType="num">
                                      <p:cBhvr>
                                        <p:cTn id="104" dur="500" fill="hold"/>
                                        <p:tgtEl>
                                          <p:spTgt spid="242795"/>
                                        </p:tgtEl>
                                        <p:attrNameLst>
                                          <p:attrName>ppt_y</p:attrName>
                                        </p:attrNameLst>
                                      </p:cBhvr>
                                      <p:tavLst>
                                        <p:tav tm="0">
                                          <p:val>
                                            <p:strVal val="#ppt_y"/>
                                          </p:val>
                                        </p:tav>
                                        <p:tav tm="100000">
                                          <p:val>
                                            <p:strVal val="#ppt_y"/>
                                          </p:val>
                                        </p:tav>
                                      </p:tavLst>
                                    </p:anim>
                                    <p:anim calcmode="lin" valueType="num">
                                      <p:cBhvr>
                                        <p:cTn id="105" dur="500" fill="hold"/>
                                        <p:tgtEl>
                                          <p:spTgt spid="242795"/>
                                        </p:tgtEl>
                                        <p:attrNameLst>
                                          <p:attrName>ppt_w</p:attrName>
                                        </p:attrNameLst>
                                      </p:cBhvr>
                                      <p:tavLst>
                                        <p:tav tm="0">
                                          <p:val>
                                            <p:fltVal val="0"/>
                                          </p:val>
                                        </p:tav>
                                        <p:tav tm="100000">
                                          <p:val>
                                            <p:strVal val="#ppt_w"/>
                                          </p:val>
                                        </p:tav>
                                      </p:tavLst>
                                    </p:anim>
                                    <p:anim calcmode="lin" valueType="num">
                                      <p:cBhvr>
                                        <p:cTn id="106" dur="500" fill="hold"/>
                                        <p:tgtEl>
                                          <p:spTgt spid="24279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790" grpId="0" bldLvl="0" animBg="1"/>
      <p:bldP spid="242794" grpId="0"/>
      <p:bldP spid="242795" grpId="0"/>
      <p:bldP spid="242796" grpId="0"/>
      <p:bldP spid="242797" grpId="0"/>
      <p:bldP spid="24279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标题 245761"/>
          <p:cNvSpPr>
            <a:spLocks noGrp="1" noRot="1"/>
          </p:cNvSpPr>
          <p:nvPr>
            <p:ph type="title" idx="4294967295"/>
          </p:nvPr>
        </p:nvSpPr>
        <p:spPr>
          <a:xfrm>
            <a:off x="417513" y="209550"/>
            <a:ext cx="8331200" cy="1143000"/>
          </a:xfrm>
        </p:spPr>
        <p:txBody>
          <a:bodyPr wrap="square" lIns="92075" tIns="46038" rIns="92075" bIns="46038" numCol="1" anchor="ctr"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1" lang="zh-CN" altLang="en-US" sz="3200" b="1" i="0" u="none" strike="noStrike" kern="0" cap="none" spc="0" normalizeH="0" baseline="0" noProof="1">
                <a:solidFill>
                  <a:srgbClr val="E8E8E8"/>
                </a:solidFill>
                <a:effectLst>
                  <a:outerShdw blurRad="38100" dist="38100" dir="2700000" algn="tl">
                    <a:srgbClr val="000000"/>
                  </a:outerShdw>
                </a:effectLst>
                <a:latin typeface="+mj-lt"/>
                <a:ea typeface="+mj-ea"/>
                <a:cs typeface="+mj-cs"/>
              </a:rPr>
              <a:t>控制标志与状态标志的区别</a:t>
            </a:r>
          </a:p>
        </p:txBody>
      </p:sp>
      <p:sp>
        <p:nvSpPr>
          <p:cNvPr id="245763" name="内容占位符 245762"/>
          <p:cNvSpPr>
            <a:spLocks noGrp="1"/>
          </p:cNvSpPr>
          <p:nvPr>
            <p:ph idx="1"/>
          </p:nvPr>
        </p:nvSpPr>
        <p:spPr>
          <a:xfrm>
            <a:off x="457200" y="1047750"/>
            <a:ext cx="8372475" cy="2362200"/>
          </a:xfrm>
          <a:ln/>
        </p:spPr>
        <p:txBody>
          <a:bodyPr lIns="92075" tIns="46038" rIns="92075" bIns="46038" anchor="t" anchorCtr="0"/>
          <a:lstStyle/>
          <a:p>
            <a:r>
              <a:rPr lang="zh-CN" altLang="en-US" dirty="0"/>
              <a:t>控制标志的值：由系统程序或用户程序根据需要用指令设置。</a:t>
            </a:r>
          </a:p>
          <a:p>
            <a:r>
              <a:rPr lang="zh-CN" altLang="en-US" dirty="0"/>
              <a:t>状态信息：由中央处理器执行运算指令，并根据运算结果而自动设置。</a:t>
            </a:r>
            <a:r>
              <a:rPr lang="en-US" altLang="zh-CN" dirty="0"/>
              <a:t>X86 CPU</a:t>
            </a:r>
            <a:r>
              <a:rPr lang="zh-CN" altLang="en-US" dirty="0"/>
              <a:t>也提供了直接设置状态标志之值的指令</a:t>
            </a:r>
          </a:p>
        </p:txBody>
      </p:sp>
      <p:grpSp>
        <p:nvGrpSpPr>
          <p:cNvPr id="245764" name="组合 245763"/>
          <p:cNvGrpSpPr/>
          <p:nvPr/>
        </p:nvGrpSpPr>
        <p:grpSpPr>
          <a:xfrm>
            <a:off x="1762125" y="3390900"/>
            <a:ext cx="6934200" cy="3429000"/>
            <a:chOff x="480" y="1872"/>
            <a:chExt cx="4656" cy="2400"/>
          </a:xfrm>
        </p:grpSpPr>
        <p:sp>
          <p:nvSpPr>
            <p:cNvPr id="72708" name="矩形 245764"/>
            <p:cNvSpPr/>
            <p:nvPr/>
          </p:nvSpPr>
          <p:spPr>
            <a:xfrm>
              <a:off x="480" y="1872"/>
              <a:ext cx="4656" cy="2400"/>
            </a:xfrm>
            <a:prstGeom prst="rect">
              <a:avLst/>
            </a:prstGeom>
            <a:gradFill rotWithShape="0">
              <a:gsLst>
                <a:gs pos="0">
                  <a:srgbClr val="99FF99"/>
                </a:gs>
                <a:gs pos="100000">
                  <a:schemeClr val="bg1"/>
                </a:gs>
              </a:gsLst>
              <a:lin ang="5400000" scaled="1"/>
              <a:tileRect/>
            </a:gra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09" name="矩形 245765"/>
            <p:cNvSpPr/>
            <p:nvPr/>
          </p:nvSpPr>
          <p:spPr>
            <a:xfrm>
              <a:off x="503" y="1885"/>
              <a:ext cx="2764"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10" name="矩形 245766"/>
            <p:cNvSpPr/>
            <p:nvPr/>
          </p:nvSpPr>
          <p:spPr>
            <a:xfrm>
              <a:off x="1535" y="1944"/>
              <a:ext cx="438" cy="164"/>
            </a:xfrm>
            <a:prstGeom prst="rect">
              <a:avLst/>
            </a:prstGeom>
            <a:noFill/>
            <a:ln w="9525">
              <a:noFill/>
            </a:ln>
          </p:spPr>
          <p:txBody>
            <a:bodyPr wrap="none" lIns="0" tIns="0" rIns="0" bIns="0" anchor="t" anchorCtr="0">
              <a:spAutoFit/>
            </a:bodyPr>
            <a:lstStyle/>
            <a:p>
              <a:pPr>
                <a:spcBef>
                  <a:spcPct val="30000"/>
                </a:spcBef>
                <a:buClr>
                  <a:srgbClr val="B4B9BE"/>
                </a:buClr>
              </a:pPr>
              <a:r>
                <a:rPr lang="zh-CN" altLang="en-US" sz="1700" dirty="0">
                  <a:solidFill>
                    <a:srgbClr val="000000"/>
                  </a:solidFill>
                  <a:latin typeface="宋体" panose="02010600030101010101" pitchFamily="2" charset="-122"/>
                  <a:ea typeface="宋体" panose="02010600030101010101" pitchFamily="2" charset="-122"/>
                </a:rPr>
                <a:t>标志名</a:t>
              </a:r>
            </a:p>
          </p:txBody>
        </p:sp>
        <p:sp>
          <p:nvSpPr>
            <p:cNvPr id="72711" name="矩形 245767"/>
            <p:cNvSpPr/>
            <p:nvPr/>
          </p:nvSpPr>
          <p:spPr>
            <a:xfrm>
              <a:off x="3267" y="1885"/>
              <a:ext cx="922"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12" name="矩形 245768"/>
            <p:cNvSpPr/>
            <p:nvPr/>
          </p:nvSpPr>
          <p:spPr>
            <a:xfrm>
              <a:off x="3321" y="1944"/>
              <a:ext cx="511" cy="164"/>
            </a:xfrm>
            <a:prstGeom prst="rect">
              <a:avLst/>
            </a:prstGeom>
            <a:noFill/>
            <a:ln w="9525">
              <a:noFill/>
            </a:ln>
          </p:spPr>
          <p:txBody>
            <a:bodyPr wrap="none" lIns="0" tIns="0" rIns="0" bIns="0" anchor="t" anchorCtr="0">
              <a:spAutoFit/>
            </a:bodyPr>
            <a:lstStyle/>
            <a:p>
              <a:pPr>
                <a:spcBef>
                  <a:spcPct val="30000"/>
                </a:spcBef>
                <a:buClr>
                  <a:srgbClr val="B4B9BE"/>
                </a:buClr>
              </a:pPr>
              <a:r>
                <a:rPr lang="zh-CN" altLang="en-US" sz="1700" dirty="0">
                  <a:solidFill>
                    <a:srgbClr val="0000FF"/>
                  </a:solidFill>
                  <a:latin typeface="宋体" panose="02010600030101010101" pitchFamily="2" charset="-122"/>
                  <a:ea typeface="宋体" panose="02010600030101010101" pitchFamily="2" charset="-122"/>
                </a:rPr>
                <a:t>标志为</a:t>
              </a:r>
              <a:r>
                <a:rPr lang="en-US" altLang="zh-CN" sz="1700">
                  <a:solidFill>
                    <a:srgbClr val="0000FF"/>
                  </a:solidFill>
                  <a:latin typeface="宋体" panose="02010600030101010101" pitchFamily="2" charset="-122"/>
                  <a:ea typeface="宋体" panose="02010600030101010101" pitchFamily="2" charset="-122"/>
                </a:rPr>
                <a:t>1</a:t>
              </a:r>
            </a:p>
          </p:txBody>
        </p:sp>
        <p:sp>
          <p:nvSpPr>
            <p:cNvPr id="72713" name="任意多边形 245769"/>
            <p:cNvSpPr/>
            <p:nvPr/>
          </p:nvSpPr>
          <p:spPr>
            <a:xfrm>
              <a:off x="4304" y="2017"/>
              <a:ext cx="1" cy="32"/>
            </a:xfrm>
            <a:custGeom>
              <a:avLst/>
              <a:gdLst/>
              <a:ahLst/>
              <a:cxnLst/>
              <a:rect l="0" t="0" r="0" b="0"/>
              <a:pathLst>
                <a:path w="1" h="32">
                  <a:moveTo>
                    <a:pt x="0" y="32"/>
                  </a:moveTo>
                  <a:lnTo>
                    <a:pt x="0" y="0"/>
                  </a:lnTo>
                  <a:lnTo>
                    <a:pt x="0" y="32"/>
                  </a:lnTo>
                  <a:close/>
                </a:path>
              </a:pathLst>
            </a:custGeom>
            <a:solidFill>
              <a:srgbClr val="FFFF00"/>
            </a:solidFill>
            <a:ln w="15875" cap="flat" cmpd="sng">
              <a:solidFill>
                <a:srgbClr val="FF0000"/>
              </a:solidFill>
              <a:prstDash val="solid"/>
              <a:round/>
              <a:headEnd type="none" w="med" len="med"/>
              <a:tailEnd type="none" w="med" len="med"/>
            </a:ln>
          </p:spPr>
          <p:txBody>
            <a:bodyPr/>
            <a:lstStyle/>
            <a:p>
              <a:endParaRPr lang="zh-CN" altLang="en-US"/>
            </a:p>
          </p:txBody>
        </p:sp>
        <p:sp>
          <p:nvSpPr>
            <p:cNvPr id="72714" name="矩形 245770"/>
            <p:cNvSpPr/>
            <p:nvPr/>
          </p:nvSpPr>
          <p:spPr>
            <a:xfrm>
              <a:off x="4189" y="1885"/>
              <a:ext cx="921"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15" name="矩形 245771"/>
            <p:cNvSpPr/>
            <p:nvPr/>
          </p:nvSpPr>
          <p:spPr>
            <a:xfrm>
              <a:off x="4243" y="1944"/>
              <a:ext cx="511" cy="164"/>
            </a:xfrm>
            <a:prstGeom prst="rect">
              <a:avLst/>
            </a:prstGeom>
            <a:noFill/>
            <a:ln w="9525">
              <a:noFill/>
            </a:ln>
          </p:spPr>
          <p:txBody>
            <a:bodyPr wrap="none" lIns="0" tIns="0" rIns="0" bIns="0" anchor="t" anchorCtr="0">
              <a:spAutoFit/>
            </a:bodyPr>
            <a:lstStyle/>
            <a:p>
              <a:pPr>
                <a:spcBef>
                  <a:spcPct val="30000"/>
                </a:spcBef>
                <a:buClr>
                  <a:srgbClr val="B4B9BE"/>
                </a:buClr>
              </a:pPr>
              <a:r>
                <a:rPr lang="zh-CN" altLang="en-US" sz="1700" dirty="0">
                  <a:solidFill>
                    <a:srgbClr val="0000FF"/>
                  </a:solidFill>
                  <a:latin typeface="宋体" panose="02010600030101010101" pitchFamily="2" charset="-122"/>
                  <a:ea typeface="宋体" panose="02010600030101010101" pitchFamily="2" charset="-122"/>
                </a:rPr>
                <a:t>标志为</a:t>
              </a:r>
              <a:r>
                <a:rPr lang="en-US" altLang="zh-CN" sz="1700">
                  <a:solidFill>
                    <a:srgbClr val="0000FF"/>
                  </a:solidFill>
                  <a:latin typeface="宋体" panose="02010600030101010101" pitchFamily="2" charset="-122"/>
                  <a:ea typeface="宋体" panose="02010600030101010101" pitchFamily="2" charset="-122"/>
                </a:rPr>
                <a:t>0</a:t>
              </a:r>
            </a:p>
          </p:txBody>
        </p:sp>
        <p:sp>
          <p:nvSpPr>
            <p:cNvPr id="72716" name="矩形 245772"/>
            <p:cNvSpPr/>
            <p:nvPr/>
          </p:nvSpPr>
          <p:spPr>
            <a:xfrm>
              <a:off x="503" y="2149"/>
              <a:ext cx="2764"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17" name="矩形 245773"/>
            <p:cNvSpPr/>
            <p:nvPr/>
          </p:nvSpPr>
          <p:spPr>
            <a:xfrm>
              <a:off x="1066" y="2208"/>
              <a:ext cx="1025"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dirty="0">
                  <a:solidFill>
                    <a:srgbClr val="000000"/>
                  </a:solidFill>
                  <a:latin typeface="宋体" panose="02010600030101010101" pitchFamily="2" charset="-122"/>
                  <a:ea typeface="宋体" panose="02010600030101010101" pitchFamily="2" charset="-122"/>
                </a:rPr>
                <a:t>OF</a:t>
              </a:r>
              <a:r>
                <a:rPr lang="zh-CN" altLang="en-US" sz="1700" dirty="0">
                  <a:solidFill>
                    <a:srgbClr val="000000"/>
                  </a:solidFill>
                  <a:latin typeface="宋体" panose="02010600030101010101" pitchFamily="2" charset="-122"/>
                  <a:ea typeface="宋体" panose="02010600030101010101" pitchFamily="2" charset="-122"/>
                </a:rPr>
                <a:t>溢出</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是</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否）</a:t>
              </a:r>
            </a:p>
          </p:txBody>
        </p:sp>
        <p:sp>
          <p:nvSpPr>
            <p:cNvPr id="72718" name="矩形 245774"/>
            <p:cNvSpPr/>
            <p:nvPr/>
          </p:nvSpPr>
          <p:spPr>
            <a:xfrm>
              <a:off x="3267" y="2149"/>
              <a:ext cx="922"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19" name="矩形 245775"/>
            <p:cNvSpPr/>
            <p:nvPr/>
          </p:nvSpPr>
          <p:spPr>
            <a:xfrm>
              <a:off x="3610" y="2208"/>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OV</a:t>
              </a:r>
            </a:p>
          </p:txBody>
        </p:sp>
        <p:sp>
          <p:nvSpPr>
            <p:cNvPr id="72720" name="矩形 245776"/>
            <p:cNvSpPr/>
            <p:nvPr/>
          </p:nvSpPr>
          <p:spPr>
            <a:xfrm>
              <a:off x="4189" y="2149"/>
              <a:ext cx="921"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21" name="矩形 245777"/>
            <p:cNvSpPr/>
            <p:nvPr/>
          </p:nvSpPr>
          <p:spPr>
            <a:xfrm>
              <a:off x="4532" y="2208"/>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NV</a:t>
              </a:r>
            </a:p>
          </p:txBody>
        </p:sp>
        <p:sp>
          <p:nvSpPr>
            <p:cNvPr id="72722" name="矩形 245778"/>
            <p:cNvSpPr/>
            <p:nvPr/>
          </p:nvSpPr>
          <p:spPr>
            <a:xfrm>
              <a:off x="503" y="2412"/>
              <a:ext cx="2764"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23" name="矩形 245779"/>
            <p:cNvSpPr/>
            <p:nvPr/>
          </p:nvSpPr>
          <p:spPr>
            <a:xfrm>
              <a:off x="833" y="2471"/>
              <a:ext cx="1316"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dirty="0">
                  <a:solidFill>
                    <a:srgbClr val="000000"/>
                  </a:solidFill>
                  <a:latin typeface="宋体" panose="02010600030101010101" pitchFamily="2" charset="-122"/>
                  <a:ea typeface="宋体" panose="02010600030101010101" pitchFamily="2" charset="-122"/>
                </a:rPr>
                <a:t>DF</a:t>
              </a:r>
              <a:r>
                <a:rPr lang="zh-CN" altLang="en-US" sz="1700" dirty="0">
                  <a:solidFill>
                    <a:srgbClr val="000000"/>
                  </a:solidFill>
                  <a:latin typeface="宋体" panose="02010600030101010101" pitchFamily="2" charset="-122"/>
                  <a:ea typeface="宋体" panose="02010600030101010101" pitchFamily="2" charset="-122"/>
                </a:rPr>
                <a:t>方向（减量</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加量</a:t>
              </a:r>
              <a:r>
                <a:rPr lang="en-US" altLang="zh-CN" sz="1700">
                  <a:solidFill>
                    <a:srgbClr val="000000"/>
                  </a:solidFill>
                  <a:latin typeface="宋体" panose="02010600030101010101" pitchFamily="2" charset="-122"/>
                  <a:ea typeface="宋体" panose="02010600030101010101" pitchFamily="2" charset="-122"/>
                </a:rPr>
                <a:t>)</a:t>
              </a:r>
            </a:p>
          </p:txBody>
        </p:sp>
        <p:sp>
          <p:nvSpPr>
            <p:cNvPr id="72724" name="矩形 245780"/>
            <p:cNvSpPr/>
            <p:nvPr/>
          </p:nvSpPr>
          <p:spPr>
            <a:xfrm>
              <a:off x="3267" y="2412"/>
              <a:ext cx="922"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25" name="矩形 245781"/>
            <p:cNvSpPr/>
            <p:nvPr/>
          </p:nvSpPr>
          <p:spPr>
            <a:xfrm>
              <a:off x="3610" y="2471"/>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DN</a:t>
              </a:r>
            </a:p>
          </p:txBody>
        </p:sp>
        <p:sp>
          <p:nvSpPr>
            <p:cNvPr id="72726" name="矩形 245782"/>
            <p:cNvSpPr/>
            <p:nvPr/>
          </p:nvSpPr>
          <p:spPr>
            <a:xfrm>
              <a:off x="4189" y="2412"/>
              <a:ext cx="921"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27" name="矩形 245783"/>
            <p:cNvSpPr/>
            <p:nvPr/>
          </p:nvSpPr>
          <p:spPr>
            <a:xfrm>
              <a:off x="4532" y="2471"/>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UP</a:t>
              </a:r>
            </a:p>
          </p:txBody>
        </p:sp>
        <p:sp>
          <p:nvSpPr>
            <p:cNvPr id="72728" name="矩形 245784"/>
            <p:cNvSpPr/>
            <p:nvPr/>
          </p:nvSpPr>
          <p:spPr>
            <a:xfrm>
              <a:off x="503" y="2676"/>
              <a:ext cx="2764"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29" name="矩形 245785"/>
            <p:cNvSpPr/>
            <p:nvPr/>
          </p:nvSpPr>
          <p:spPr>
            <a:xfrm>
              <a:off x="893" y="2734"/>
              <a:ext cx="1243" cy="164"/>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dirty="0">
                  <a:solidFill>
                    <a:srgbClr val="000000"/>
                  </a:solidFill>
                  <a:latin typeface="宋体" panose="02010600030101010101" pitchFamily="2" charset="-122"/>
                  <a:ea typeface="宋体" panose="02010600030101010101" pitchFamily="2" charset="-122"/>
                </a:rPr>
                <a:t>IF</a:t>
              </a:r>
              <a:r>
                <a:rPr lang="zh-CN" altLang="en-US" sz="1700" dirty="0">
                  <a:solidFill>
                    <a:srgbClr val="000000"/>
                  </a:solidFill>
                  <a:latin typeface="宋体" panose="02010600030101010101" pitchFamily="2" charset="-122"/>
                  <a:ea typeface="宋体" panose="02010600030101010101" pitchFamily="2" charset="-122"/>
                </a:rPr>
                <a:t>中断</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允许</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关闭</a:t>
              </a:r>
              <a:r>
                <a:rPr lang="en-US" altLang="zh-CN" sz="1700">
                  <a:solidFill>
                    <a:srgbClr val="000000"/>
                  </a:solidFill>
                  <a:latin typeface="宋体" panose="02010600030101010101" pitchFamily="2" charset="-122"/>
                  <a:ea typeface="宋体" panose="02010600030101010101" pitchFamily="2" charset="-122"/>
                </a:rPr>
                <a:t>)</a:t>
              </a:r>
            </a:p>
          </p:txBody>
        </p:sp>
        <p:sp>
          <p:nvSpPr>
            <p:cNvPr id="72730" name="矩形 245786"/>
            <p:cNvSpPr/>
            <p:nvPr/>
          </p:nvSpPr>
          <p:spPr>
            <a:xfrm>
              <a:off x="3267" y="2676"/>
              <a:ext cx="922"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31" name="矩形 245787"/>
            <p:cNvSpPr/>
            <p:nvPr/>
          </p:nvSpPr>
          <p:spPr>
            <a:xfrm>
              <a:off x="3610" y="2734"/>
              <a:ext cx="147" cy="164"/>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EI</a:t>
              </a:r>
            </a:p>
          </p:txBody>
        </p:sp>
        <p:sp>
          <p:nvSpPr>
            <p:cNvPr id="72732" name="矩形 245788"/>
            <p:cNvSpPr/>
            <p:nvPr/>
          </p:nvSpPr>
          <p:spPr>
            <a:xfrm>
              <a:off x="4189" y="2676"/>
              <a:ext cx="921"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33" name="矩形 245789"/>
            <p:cNvSpPr/>
            <p:nvPr/>
          </p:nvSpPr>
          <p:spPr>
            <a:xfrm>
              <a:off x="4532" y="2734"/>
              <a:ext cx="147" cy="164"/>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DI</a:t>
              </a:r>
            </a:p>
          </p:txBody>
        </p:sp>
        <p:sp>
          <p:nvSpPr>
            <p:cNvPr id="72734" name="矩形 245790"/>
            <p:cNvSpPr/>
            <p:nvPr/>
          </p:nvSpPr>
          <p:spPr>
            <a:xfrm>
              <a:off x="503" y="2939"/>
              <a:ext cx="2764"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35" name="矩形 245791"/>
            <p:cNvSpPr/>
            <p:nvPr/>
          </p:nvSpPr>
          <p:spPr>
            <a:xfrm>
              <a:off x="1125" y="2998"/>
              <a:ext cx="952"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dirty="0">
                  <a:solidFill>
                    <a:srgbClr val="000000"/>
                  </a:solidFill>
                  <a:latin typeface="宋体" panose="02010600030101010101" pitchFamily="2" charset="-122"/>
                  <a:ea typeface="宋体" panose="02010600030101010101" pitchFamily="2" charset="-122"/>
                </a:rPr>
                <a:t>SF</a:t>
              </a:r>
              <a:r>
                <a:rPr lang="zh-CN" altLang="en-US" sz="1700" dirty="0">
                  <a:solidFill>
                    <a:srgbClr val="000000"/>
                  </a:solidFill>
                  <a:latin typeface="宋体" panose="02010600030101010101" pitchFamily="2" charset="-122"/>
                  <a:ea typeface="宋体" panose="02010600030101010101" pitchFamily="2" charset="-122"/>
                </a:rPr>
                <a:t>符号</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负</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正</a:t>
              </a:r>
              <a:r>
                <a:rPr lang="en-US" altLang="zh-CN" sz="1700">
                  <a:solidFill>
                    <a:srgbClr val="000000"/>
                  </a:solidFill>
                  <a:latin typeface="宋体" panose="02010600030101010101" pitchFamily="2" charset="-122"/>
                  <a:ea typeface="宋体" panose="02010600030101010101" pitchFamily="2" charset="-122"/>
                </a:rPr>
                <a:t>)</a:t>
              </a:r>
            </a:p>
          </p:txBody>
        </p:sp>
        <p:sp>
          <p:nvSpPr>
            <p:cNvPr id="72736" name="矩形 245792"/>
            <p:cNvSpPr/>
            <p:nvPr/>
          </p:nvSpPr>
          <p:spPr>
            <a:xfrm>
              <a:off x="3267" y="2939"/>
              <a:ext cx="922"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37" name="矩形 245793"/>
            <p:cNvSpPr/>
            <p:nvPr/>
          </p:nvSpPr>
          <p:spPr>
            <a:xfrm>
              <a:off x="3610" y="2998"/>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NG</a:t>
              </a:r>
            </a:p>
          </p:txBody>
        </p:sp>
        <p:sp>
          <p:nvSpPr>
            <p:cNvPr id="72738" name="矩形 245794"/>
            <p:cNvSpPr/>
            <p:nvPr/>
          </p:nvSpPr>
          <p:spPr>
            <a:xfrm>
              <a:off x="4189" y="2939"/>
              <a:ext cx="921"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39" name="矩形 245795"/>
            <p:cNvSpPr/>
            <p:nvPr/>
          </p:nvSpPr>
          <p:spPr>
            <a:xfrm>
              <a:off x="4532" y="2998"/>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PL</a:t>
              </a:r>
            </a:p>
          </p:txBody>
        </p:sp>
        <p:sp>
          <p:nvSpPr>
            <p:cNvPr id="72740" name="矩形 245796"/>
            <p:cNvSpPr/>
            <p:nvPr/>
          </p:nvSpPr>
          <p:spPr>
            <a:xfrm>
              <a:off x="503" y="3203"/>
              <a:ext cx="2764"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41" name="矩形 245797"/>
            <p:cNvSpPr/>
            <p:nvPr/>
          </p:nvSpPr>
          <p:spPr>
            <a:xfrm>
              <a:off x="1184" y="3261"/>
              <a:ext cx="878"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dirty="0">
                  <a:solidFill>
                    <a:srgbClr val="000000"/>
                  </a:solidFill>
                  <a:latin typeface="宋体" panose="02010600030101010101" pitchFamily="2" charset="-122"/>
                  <a:ea typeface="宋体" panose="02010600030101010101" pitchFamily="2" charset="-122"/>
                </a:rPr>
                <a:t>ZF</a:t>
              </a:r>
              <a:r>
                <a:rPr lang="zh-CN" altLang="en-US" sz="1700" dirty="0">
                  <a:solidFill>
                    <a:srgbClr val="000000"/>
                  </a:solidFill>
                  <a:latin typeface="宋体" panose="02010600030101010101" pitchFamily="2" charset="-122"/>
                  <a:ea typeface="宋体" panose="02010600030101010101" pitchFamily="2" charset="-122"/>
                </a:rPr>
                <a:t>零</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是</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否）</a:t>
              </a:r>
            </a:p>
          </p:txBody>
        </p:sp>
        <p:sp>
          <p:nvSpPr>
            <p:cNvPr id="72742" name="矩形 245798"/>
            <p:cNvSpPr/>
            <p:nvPr/>
          </p:nvSpPr>
          <p:spPr>
            <a:xfrm>
              <a:off x="3267" y="3203"/>
              <a:ext cx="922"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43" name="矩形 245799"/>
            <p:cNvSpPr/>
            <p:nvPr/>
          </p:nvSpPr>
          <p:spPr>
            <a:xfrm>
              <a:off x="3610" y="3261"/>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ZR</a:t>
              </a:r>
            </a:p>
          </p:txBody>
        </p:sp>
        <p:sp>
          <p:nvSpPr>
            <p:cNvPr id="72744" name="矩形 245800"/>
            <p:cNvSpPr/>
            <p:nvPr/>
          </p:nvSpPr>
          <p:spPr>
            <a:xfrm>
              <a:off x="4189" y="3203"/>
              <a:ext cx="921"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45" name="矩形 245801"/>
            <p:cNvSpPr/>
            <p:nvPr/>
          </p:nvSpPr>
          <p:spPr>
            <a:xfrm>
              <a:off x="4532" y="3261"/>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NZ</a:t>
              </a:r>
            </a:p>
          </p:txBody>
        </p:sp>
        <p:sp>
          <p:nvSpPr>
            <p:cNvPr id="72746" name="矩形 245802"/>
            <p:cNvSpPr/>
            <p:nvPr/>
          </p:nvSpPr>
          <p:spPr>
            <a:xfrm>
              <a:off x="503" y="3467"/>
              <a:ext cx="2764"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47" name="矩形 245803"/>
            <p:cNvSpPr/>
            <p:nvPr/>
          </p:nvSpPr>
          <p:spPr>
            <a:xfrm>
              <a:off x="833" y="3525"/>
              <a:ext cx="1316" cy="164"/>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dirty="0">
                  <a:solidFill>
                    <a:srgbClr val="000000"/>
                  </a:solidFill>
                  <a:latin typeface="宋体" panose="02010600030101010101" pitchFamily="2" charset="-122"/>
                  <a:ea typeface="宋体" panose="02010600030101010101" pitchFamily="2" charset="-122"/>
                </a:rPr>
                <a:t>AF</a:t>
              </a:r>
              <a:r>
                <a:rPr lang="zh-CN" altLang="en-US" sz="1700" dirty="0">
                  <a:solidFill>
                    <a:srgbClr val="000000"/>
                  </a:solidFill>
                  <a:latin typeface="宋体" panose="02010600030101010101" pitchFamily="2" charset="-122"/>
                  <a:ea typeface="宋体" panose="02010600030101010101" pitchFamily="2" charset="-122"/>
                </a:rPr>
                <a:t>辅助进位</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是</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否）</a:t>
              </a:r>
            </a:p>
          </p:txBody>
        </p:sp>
        <p:sp>
          <p:nvSpPr>
            <p:cNvPr id="72748" name="矩形 245804"/>
            <p:cNvSpPr/>
            <p:nvPr/>
          </p:nvSpPr>
          <p:spPr>
            <a:xfrm>
              <a:off x="3267" y="3467"/>
              <a:ext cx="922"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49" name="矩形 245805"/>
            <p:cNvSpPr/>
            <p:nvPr/>
          </p:nvSpPr>
          <p:spPr>
            <a:xfrm>
              <a:off x="3610" y="3525"/>
              <a:ext cx="147" cy="164"/>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AC</a:t>
              </a:r>
            </a:p>
          </p:txBody>
        </p:sp>
        <p:sp>
          <p:nvSpPr>
            <p:cNvPr id="72750" name="矩形 245806"/>
            <p:cNvSpPr/>
            <p:nvPr/>
          </p:nvSpPr>
          <p:spPr>
            <a:xfrm>
              <a:off x="4189" y="3467"/>
              <a:ext cx="921"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51" name="矩形 245807"/>
            <p:cNvSpPr/>
            <p:nvPr/>
          </p:nvSpPr>
          <p:spPr>
            <a:xfrm>
              <a:off x="4532" y="3525"/>
              <a:ext cx="147" cy="164"/>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NA</a:t>
              </a:r>
            </a:p>
          </p:txBody>
        </p:sp>
        <p:sp>
          <p:nvSpPr>
            <p:cNvPr id="72752" name="矩形 245808"/>
            <p:cNvSpPr/>
            <p:nvPr/>
          </p:nvSpPr>
          <p:spPr>
            <a:xfrm>
              <a:off x="503" y="3730"/>
              <a:ext cx="2764"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53" name="矩形 245809"/>
            <p:cNvSpPr/>
            <p:nvPr/>
          </p:nvSpPr>
          <p:spPr>
            <a:xfrm>
              <a:off x="833" y="3789"/>
              <a:ext cx="131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dirty="0">
                  <a:solidFill>
                    <a:srgbClr val="000000"/>
                  </a:solidFill>
                  <a:latin typeface="宋体" panose="02010600030101010101" pitchFamily="2" charset="-122"/>
                  <a:ea typeface="宋体" panose="02010600030101010101" pitchFamily="2" charset="-122"/>
                </a:rPr>
                <a:t>PF</a:t>
              </a:r>
              <a:r>
                <a:rPr lang="zh-CN" altLang="en-US" sz="1700" dirty="0">
                  <a:solidFill>
                    <a:srgbClr val="000000"/>
                  </a:solidFill>
                  <a:latin typeface="宋体" panose="02010600030101010101" pitchFamily="2" charset="-122"/>
                  <a:ea typeface="宋体" panose="02010600030101010101" pitchFamily="2" charset="-122"/>
                </a:rPr>
                <a:t>奇偶标志</a:t>
              </a:r>
              <a:r>
                <a:rPr lang="en-US" altLang="zh-CN" sz="1700" dirty="0">
                  <a:solidFill>
                    <a:srgbClr val="000000"/>
                  </a:solidFill>
                  <a:latin typeface="宋体" panose="02010600030101010101" pitchFamily="2" charset="-122"/>
                  <a:ea typeface="宋体" panose="02010600030101010101" pitchFamily="2" charset="-122"/>
                </a:rPr>
                <a:t>( </a:t>
              </a:r>
              <a:r>
                <a:rPr lang="zh-CN" altLang="en-US" sz="1700" dirty="0">
                  <a:solidFill>
                    <a:srgbClr val="000000"/>
                  </a:solidFill>
                  <a:latin typeface="宋体" panose="02010600030101010101" pitchFamily="2" charset="-122"/>
                  <a:ea typeface="宋体" panose="02010600030101010101" pitchFamily="2" charset="-122"/>
                </a:rPr>
                <a:t>偶</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奇</a:t>
              </a:r>
              <a:r>
                <a:rPr lang="en-US" altLang="zh-CN" sz="1700">
                  <a:solidFill>
                    <a:srgbClr val="000000"/>
                  </a:solidFill>
                  <a:latin typeface="宋体" panose="02010600030101010101" pitchFamily="2" charset="-122"/>
                  <a:ea typeface="宋体" panose="02010600030101010101" pitchFamily="2" charset="-122"/>
                </a:rPr>
                <a:t>)</a:t>
              </a:r>
            </a:p>
          </p:txBody>
        </p:sp>
        <p:sp>
          <p:nvSpPr>
            <p:cNvPr id="72754" name="矩形 245810"/>
            <p:cNvSpPr/>
            <p:nvPr/>
          </p:nvSpPr>
          <p:spPr>
            <a:xfrm>
              <a:off x="3267" y="3730"/>
              <a:ext cx="922"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55" name="矩形 245811"/>
            <p:cNvSpPr/>
            <p:nvPr/>
          </p:nvSpPr>
          <p:spPr>
            <a:xfrm>
              <a:off x="3610" y="3789"/>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PE</a:t>
              </a:r>
            </a:p>
          </p:txBody>
        </p:sp>
        <p:sp>
          <p:nvSpPr>
            <p:cNvPr id="72756" name="矩形 245812"/>
            <p:cNvSpPr/>
            <p:nvPr/>
          </p:nvSpPr>
          <p:spPr>
            <a:xfrm>
              <a:off x="4189" y="3730"/>
              <a:ext cx="921" cy="264"/>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57" name="矩形 245813"/>
            <p:cNvSpPr/>
            <p:nvPr/>
          </p:nvSpPr>
          <p:spPr>
            <a:xfrm>
              <a:off x="4532" y="3789"/>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PO</a:t>
              </a:r>
            </a:p>
          </p:txBody>
        </p:sp>
        <p:sp>
          <p:nvSpPr>
            <p:cNvPr id="72758" name="矩形 245814"/>
            <p:cNvSpPr/>
            <p:nvPr/>
          </p:nvSpPr>
          <p:spPr>
            <a:xfrm>
              <a:off x="503" y="3994"/>
              <a:ext cx="2764"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59" name="矩形 245815"/>
            <p:cNvSpPr/>
            <p:nvPr/>
          </p:nvSpPr>
          <p:spPr>
            <a:xfrm>
              <a:off x="833" y="4052"/>
              <a:ext cx="1316"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dirty="0">
                  <a:solidFill>
                    <a:srgbClr val="000000"/>
                  </a:solidFill>
                  <a:latin typeface="宋体" panose="02010600030101010101" pitchFamily="2" charset="-122"/>
                  <a:ea typeface="宋体" panose="02010600030101010101" pitchFamily="2" charset="-122"/>
                </a:rPr>
                <a:t>CF</a:t>
              </a:r>
              <a:r>
                <a:rPr lang="zh-CN" altLang="en-US" sz="1700" dirty="0">
                  <a:solidFill>
                    <a:srgbClr val="000000"/>
                  </a:solidFill>
                  <a:latin typeface="宋体" panose="02010600030101010101" pitchFamily="2" charset="-122"/>
                  <a:ea typeface="宋体" panose="02010600030101010101" pitchFamily="2" charset="-122"/>
                </a:rPr>
                <a:t>进位标志</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是</a:t>
              </a:r>
              <a:r>
                <a:rPr lang="en-US" altLang="zh-CN" sz="1700" dirty="0">
                  <a:solidFill>
                    <a:srgbClr val="000000"/>
                  </a:solidFill>
                  <a:latin typeface="宋体" panose="02010600030101010101" pitchFamily="2" charset="-122"/>
                  <a:ea typeface="宋体" panose="02010600030101010101" pitchFamily="2" charset="-122"/>
                </a:rPr>
                <a:t>/</a:t>
              </a:r>
              <a:r>
                <a:rPr lang="zh-CN" altLang="en-US" sz="1700" dirty="0">
                  <a:solidFill>
                    <a:srgbClr val="000000"/>
                  </a:solidFill>
                  <a:latin typeface="宋体" panose="02010600030101010101" pitchFamily="2" charset="-122"/>
                  <a:ea typeface="宋体" panose="02010600030101010101" pitchFamily="2" charset="-122"/>
                </a:rPr>
                <a:t>否）</a:t>
              </a:r>
            </a:p>
          </p:txBody>
        </p:sp>
        <p:sp>
          <p:nvSpPr>
            <p:cNvPr id="72760" name="矩形 245816"/>
            <p:cNvSpPr/>
            <p:nvPr/>
          </p:nvSpPr>
          <p:spPr>
            <a:xfrm>
              <a:off x="3267" y="3994"/>
              <a:ext cx="922"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61" name="矩形 245817"/>
            <p:cNvSpPr/>
            <p:nvPr/>
          </p:nvSpPr>
          <p:spPr>
            <a:xfrm>
              <a:off x="3610" y="4052"/>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CY</a:t>
              </a:r>
            </a:p>
          </p:txBody>
        </p:sp>
        <p:sp>
          <p:nvSpPr>
            <p:cNvPr id="72762" name="矩形 245818"/>
            <p:cNvSpPr/>
            <p:nvPr/>
          </p:nvSpPr>
          <p:spPr>
            <a:xfrm>
              <a:off x="4189" y="3994"/>
              <a:ext cx="921" cy="263"/>
            </a:xfrm>
            <a:prstGeom prst="rect">
              <a:avLst/>
            </a:prstGeom>
            <a:solidFill>
              <a:srgbClr val="FFFF00"/>
            </a:solidFill>
            <a:ln w="15875" cap="flat" cmpd="sng">
              <a:solidFill>
                <a:srgbClr val="FF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72763" name="矩形 245819"/>
            <p:cNvSpPr/>
            <p:nvPr/>
          </p:nvSpPr>
          <p:spPr>
            <a:xfrm>
              <a:off x="4532" y="4052"/>
              <a:ext cx="147" cy="163"/>
            </a:xfrm>
            <a:prstGeom prst="rect">
              <a:avLst/>
            </a:prstGeom>
            <a:noFill/>
            <a:ln w="9525">
              <a:noFill/>
            </a:ln>
          </p:spPr>
          <p:txBody>
            <a:bodyPr wrap="none" lIns="0" tIns="0" rIns="0" bIns="0" anchor="t" anchorCtr="0">
              <a:spAutoFit/>
            </a:bodyPr>
            <a:lstStyle/>
            <a:p>
              <a:pPr>
                <a:spcBef>
                  <a:spcPct val="30000"/>
                </a:spcBef>
                <a:buClr>
                  <a:srgbClr val="B4B9BE"/>
                </a:buClr>
              </a:pPr>
              <a:r>
                <a:rPr lang="en-US" altLang="zh-CN" sz="1700">
                  <a:solidFill>
                    <a:srgbClr val="0000FF"/>
                  </a:solidFill>
                  <a:latin typeface="宋体" panose="02010600030101010101" pitchFamily="2" charset="-122"/>
                  <a:ea typeface="宋体" panose="02010600030101010101" pitchFamily="2" charset="-122"/>
                </a:rPr>
                <a:t>NC</a:t>
              </a:r>
            </a:p>
          </p:txBody>
        </p:sp>
      </p:grpSp>
      <p:sp>
        <p:nvSpPr>
          <p:cNvPr id="245821" name="文本框 245820"/>
          <p:cNvSpPr txBox="1"/>
          <p:nvPr/>
        </p:nvSpPr>
        <p:spPr>
          <a:xfrm>
            <a:off x="687388" y="3657600"/>
            <a:ext cx="846138" cy="2667000"/>
          </a:xfrm>
          <a:prstGeom prst="rect">
            <a:avLst/>
          </a:prstGeom>
          <a:noFill/>
          <a:ln w="25400">
            <a:noFill/>
            <a:miter/>
          </a:ln>
        </p:spPr>
        <p:txBody>
          <a:bodyPr vert="eaVert">
            <a:spAutoFit/>
          </a:bodyPr>
          <a:lstStyle/>
          <a:p>
            <a:pPr>
              <a:spcBef>
                <a:spcPct val="50000"/>
              </a:spcBef>
              <a:buClr>
                <a:srgbClr val="B4B9BE"/>
              </a:buClr>
              <a:buFont typeface="Wingdings" panose="05000000000000000000" pitchFamily="2" charset="2"/>
            </a:pPr>
            <a:r>
              <a:rPr lang="zh-CN" altLang="en-US" noProof="1">
                <a:effectLst>
                  <a:outerShdw blurRad="38100" dist="38100" dir="2700000">
                    <a:srgbClr val="C0C0C0"/>
                  </a:outerShdw>
                </a:effectLst>
                <a:latin typeface="Times New Roman" panose="02020603050405020304" pitchFamily="18" charset="0"/>
                <a:ea typeface="楷体_GB2312" pitchFamily="49" charset="-122"/>
                <a:cs typeface="+mn-cs"/>
              </a:rPr>
              <a:t>调试状态时，标志位值的符号表示</a:t>
            </a:r>
            <a:endParaRPr lang="zh-CN" altLang="en-US" noProof="1">
              <a:effectLst>
                <a:outerShdw blurRad="38100" dist="38100" dir="2700000">
                  <a:srgbClr val="C0C0C0"/>
                </a:outerShdw>
              </a:effectLst>
              <a:latin typeface="Times New Roman" panose="02020603050405020304" pitchFamily="18" charset="0"/>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Effect transition="in" filter="wipe(left)">
                                      <p:cBhvr>
                                        <p:cTn id="7" dur="500"/>
                                        <p:tgtEl>
                                          <p:spTgt spid="2457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63">
                                            <p:txEl>
                                              <p:pRg st="1" end="1"/>
                                            </p:txEl>
                                          </p:spTgt>
                                        </p:tgtEl>
                                        <p:attrNameLst>
                                          <p:attrName>style.visibility</p:attrName>
                                        </p:attrNameLst>
                                      </p:cBhvr>
                                      <p:to>
                                        <p:strVal val="visible"/>
                                      </p:to>
                                    </p:set>
                                    <p:animEffect transition="in" filter="wipe(left)">
                                      <p:cBhvr>
                                        <p:cTn id="12" dur="500"/>
                                        <p:tgtEl>
                                          <p:spTgt spid="2457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45821"/>
                                        </p:tgtEl>
                                        <p:attrNameLst>
                                          <p:attrName>style.visibility</p:attrName>
                                        </p:attrNameLst>
                                      </p:cBhvr>
                                      <p:to>
                                        <p:strVal val="visible"/>
                                      </p:to>
                                    </p:set>
                                    <p:anim calcmode="lin" valueType="num">
                                      <p:cBhvr>
                                        <p:cTn id="17" dur="500" fill="hold"/>
                                        <p:tgtEl>
                                          <p:spTgt spid="245821"/>
                                        </p:tgtEl>
                                        <p:attrNameLst>
                                          <p:attrName>ppt_x</p:attrName>
                                        </p:attrNameLst>
                                      </p:cBhvr>
                                      <p:tavLst>
                                        <p:tav tm="0">
                                          <p:val>
                                            <p:strVal val="0-#ppt_w/2"/>
                                          </p:val>
                                        </p:tav>
                                        <p:tav tm="100000">
                                          <p:val>
                                            <p:strVal val="#ppt_x"/>
                                          </p:val>
                                        </p:tav>
                                      </p:tavLst>
                                    </p:anim>
                                    <p:anim calcmode="lin" valueType="num">
                                      <p:cBhvr>
                                        <p:cTn id="18" dur="500" fill="hold"/>
                                        <p:tgtEl>
                                          <p:spTgt spid="24582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45764"/>
                                        </p:tgtEl>
                                        <p:attrNameLst>
                                          <p:attrName>style.visibility</p:attrName>
                                        </p:attrNameLst>
                                      </p:cBhvr>
                                      <p:to>
                                        <p:strVal val="visible"/>
                                      </p:to>
                                    </p:set>
                                    <p:anim calcmode="lin" valueType="num">
                                      <p:cBhvr>
                                        <p:cTn id="23" dur="500" fill="hold"/>
                                        <p:tgtEl>
                                          <p:spTgt spid="245764"/>
                                        </p:tgtEl>
                                        <p:attrNameLst>
                                          <p:attrName>ppt_x</p:attrName>
                                        </p:attrNameLst>
                                      </p:cBhvr>
                                      <p:tavLst>
                                        <p:tav tm="0">
                                          <p:val>
                                            <p:strVal val="0-#ppt_w/2"/>
                                          </p:val>
                                        </p:tav>
                                        <p:tav tm="100000">
                                          <p:val>
                                            <p:strVal val="#ppt_x"/>
                                          </p:val>
                                        </p:tav>
                                      </p:tavLst>
                                    </p:anim>
                                    <p:anim calcmode="lin" valueType="num">
                                      <p:cBhvr>
                                        <p:cTn id="24" dur="500" fill="hold"/>
                                        <p:tgtEl>
                                          <p:spTgt spid="2457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p:bldP spid="2458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2.1.3  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的引脚信号</a:t>
            </a:r>
          </a:p>
        </p:txBody>
      </p:sp>
      <p:sp>
        <p:nvSpPr>
          <p:cNvPr id="7475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74755" name="内容占位符 4"/>
          <p:cNvSpPr>
            <a:spLocks noGrp="1"/>
          </p:cNvSpPr>
          <p:nvPr>
            <p:ph idx="1"/>
          </p:nvPr>
        </p:nvSpPr>
        <p:spPr>
          <a:xfrm>
            <a:off x="150813" y="1304925"/>
            <a:ext cx="8513762" cy="2078038"/>
          </a:xfrm>
          <a:ln/>
        </p:spPr>
        <p:txBody>
          <a:bodyPr wrap="square" lIns="92075" tIns="46038" rIns="92075" bIns="46038" anchor="t" anchorCtr="0"/>
          <a:lstStyle/>
          <a:p>
            <a:pPr algn="just" eaLnBrk="1" hangingPunct="1">
              <a:buNone/>
            </a:pPr>
            <a:r>
              <a:rPr lang="en-US" altLang="zh-CN" sz="2400" dirty="0"/>
              <a:t>             8086/8088 CPU</a:t>
            </a:r>
            <a:r>
              <a:rPr lang="zh-CN" altLang="zh-CN" sz="2400" dirty="0"/>
              <a:t>具有</a:t>
            </a:r>
            <a:r>
              <a:rPr lang="en-US" altLang="zh-CN" sz="2400" dirty="0"/>
              <a:t>40</a:t>
            </a:r>
            <a:r>
              <a:rPr lang="zh-CN" altLang="zh-CN" sz="2400" dirty="0"/>
              <a:t>个引脚，采用双列直插式封装形式。为了减少芯片引脚的数目，</a:t>
            </a:r>
            <a:r>
              <a:rPr lang="en-US" altLang="zh-CN" sz="2400" dirty="0"/>
              <a:t>8086/8088 CPU</a:t>
            </a:r>
            <a:r>
              <a:rPr lang="zh-CN" altLang="zh-CN" sz="2400" dirty="0"/>
              <a:t>采用了分时复用的地址</a:t>
            </a:r>
            <a:r>
              <a:rPr lang="en-US" altLang="zh-CN" sz="2400" dirty="0"/>
              <a:t>/</a:t>
            </a:r>
            <a:r>
              <a:rPr lang="zh-CN" altLang="zh-CN" sz="2400" dirty="0"/>
              <a:t>数据总线。正是由于使用这种分时复用的方法才使得</a:t>
            </a:r>
            <a:r>
              <a:rPr lang="en-US" altLang="zh-CN" sz="2400" dirty="0"/>
              <a:t>8086/8088 CPU</a:t>
            </a:r>
            <a:r>
              <a:rPr lang="zh-CN" altLang="zh-CN" sz="2400" dirty="0"/>
              <a:t>可用</a:t>
            </a:r>
            <a:r>
              <a:rPr lang="en-US" altLang="zh-CN" sz="2400" dirty="0"/>
              <a:t>40</a:t>
            </a:r>
            <a:r>
              <a:rPr lang="zh-CN" altLang="zh-CN" sz="2400" dirty="0"/>
              <a:t>个引脚实现</a:t>
            </a:r>
            <a:r>
              <a:rPr lang="en-US" altLang="zh-CN" sz="2400" dirty="0"/>
              <a:t>20</a:t>
            </a:r>
            <a:r>
              <a:rPr lang="zh-CN" altLang="zh-CN" sz="2400" dirty="0"/>
              <a:t>位地址、</a:t>
            </a:r>
            <a:r>
              <a:rPr lang="en-US" altLang="zh-CN" sz="2400" dirty="0"/>
              <a:t>16</a:t>
            </a:r>
            <a:r>
              <a:rPr lang="zh-CN" altLang="zh-CN" sz="2400" dirty="0"/>
              <a:t>位数据及许多控制信号和状态信号的传输。</a:t>
            </a:r>
          </a:p>
        </p:txBody>
      </p:sp>
      <p:pic>
        <p:nvPicPr>
          <p:cNvPr id="74756" name="图片 6" descr="8088.JPG"/>
          <p:cNvPicPr>
            <a:picLocks noChangeAspect="1"/>
          </p:cNvPicPr>
          <p:nvPr/>
        </p:nvPicPr>
        <p:blipFill>
          <a:blip r:embed="rId4"/>
          <a:stretch>
            <a:fillRect/>
          </a:stretch>
        </p:blipFill>
        <p:spPr>
          <a:xfrm>
            <a:off x="754063" y="3232150"/>
            <a:ext cx="7620000" cy="3563938"/>
          </a:xfrm>
          <a:prstGeom prst="rect">
            <a:avLst/>
          </a:prstGeom>
          <a:noFill/>
          <a:ln w="9525">
            <a:noFill/>
          </a:ln>
        </p:spPr>
      </p:pic>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2.1.4  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的工作方式</a:t>
            </a:r>
          </a:p>
        </p:txBody>
      </p:sp>
      <p:sp>
        <p:nvSpPr>
          <p:cNvPr id="7680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76803" name="内容占位符 4"/>
          <p:cNvSpPr>
            <a:spLocks noGrp="1"/>
          </p:cNvSpPr>
          <p:nvPr>
            <p:ph idx="1"/>
          </p:nvPr>
        </p:nvSpPr>
        <p:spPr>
          <a:xfrm>
            <a:off x="257175" y="1633538"/>
            <a:ext cx="8513763" cy="4935537"/>
          </a:xfrm>
          <a:ln/>
        </p:spPr>
        <p:txBody>
          <a:bodyPr wrap="square" lIns="92075" tIns="46038" rIns="92075" bIns="46038" anchor="t" anchorCtr="0"/>
          <a:lstStyle/>
          <a:p>
            <a:pPr algn="just" eaLnBrk="1" hangingPunct="1">
              <a:buNone/>
            </a:pPr>
            <a:r>
              <a:rPr lang="en-US" altLang="zh-CN" sz="2400" dirty="0"/>
              <a:t>     8086/8088 CPU</a:t>
            </a:r>
            <a:r>
              <a:rPr lang="zh-CN" altLang="zh-CN" sz="2400" dirty="0"/>
              <a:t>有两种工作方式：</a:t>
            </a:r>
          </a:p>
          <a:p>
            <a:pPr algn="just" eaLnBrk="1" hangingPunct="1">
              <a:buNone/>
            </a:pPr>
            <a:r>
              <a:rPr lang="en-US" altLang="zh-CN" sz="2400" dirty="0"/>
              <a:t>             </a:t>
            </a:r>
            <a:r>
              <a:rPr lang="zh-CN" altLang="zh-CN" sz="2400" dirty="0"/>
              <a:t>最小方式指系统中只有</a:t>
            </a:r>
            <a:r>
              <a:rPr lang="en-US" altLang="zh-CN" sz="2400" dirty="0"/>
              <a:t>8086/8088</a:t>
            </a:r>
            <a:r>
              <a:rPr lang="zh-CN" altLang="zh-CN" sz="2400" dirty="0"/>
              <a:t>一个微处理器。在这种系统中，</a:t>
            </a:r>
            <a:r>
              <a:rPr lang="en-US" altLang="zh-CN" sz="2400" dirty="0"/>
              <a:t>8086/8088 CPU</a:t>
            </a:r>
            <a:r>
              <a:rPr lang="zh-CN" altLang="zh-CN" sz="2400" dirty="0"/>
              <a:t>直接产生所有的总线控制信号，系统所需的外加总线控制逻辑部件最少。</a:t>
            </a:r>
          </a:p>
          <a:p>
            <a:pPr algn="just" eaLnBrk="1" hangingPunct="1">
              <a:buNone/>
            </a:pPr>
            <a:r>
              <a:rPr lang="en-US" altLang="zh-CN" sz="2400" dirty="0"/>
              <a:t>             </a:t>
            </a:r>
            <a:r>
              <a:rPr lang="zh-CN" altLang="zh-CN" sz="2400" dirty="0"/>
              <a:t>最大方式指系统中含有两个或多个微处理器，其中一个为主处理器</a:t>
            </a:r>
            <a:r>
              <a:rPr lang="en-US" altLang="zh-CN" sz="2400" dirty="0"/>
              <a:t>8086/8088 CPU</a:t>
            </a:r>
            <a:r>
              <a:rPr lang="zh-CN" altLang="zh-CN" sz="2400" dirty="0"/>
              <a:t>，其他的称为协处理器，它们是协同主处理器来工作的。和</a:t>
            </a:r>
            <a:r>
              <a:rPr lang="en-US" altLang="zh-CN" sz="2400" dirty="0"/>
              <a:t>8086/8088</a:t>
            </a:r>
            <a:r>
              <a:rPr lang="zh-CN" altLang="zh-CN" sz="2400" dirty="0"/>
              <a:t>相配的协处理器有两个：一个是专用数值运算的协处理器</a:t>
            </a:r>
            <a:r>
              <a:rPr lang="en-US" altLang="zh-CN" sz="2400" dirty="0"/>
              <a:t>8087</a:t>
            </a:r>
            <a:r>
              <a:rPr lang="zh-CN" altLang="zh-CN" sz="2400" dirty="0"/>
              <a:t>，系统中有了此协处理器后会大幅度提高系统数值的运算速度。另一个是专用于输入</a:t>
            </a:r>
            <a:r>
              <a:rPr lang="en-US" altLang="zh-CN" sz="2400" dirty="0"/>
              <a:t>/</a:t>
            </a:r>
            <a:r>
              <a:rPr lang="zh-CN" altLang="zh-CN" sz="2400" dirty="0"/>
              <a:t>输出操作的协处理器</a:t>
            </a:r>
            <a:r>
              <a:rPr lang="en-US" altLang="zh-CN" sz="2400" dirty="0"/>
              <a:t>8089</a:t>
            </a:r>
            <a:r>
              <a:rPr lang="zh-CN" altLang="zh-CN" sz="2400" dirty="0"/>
              <a:t>，系统中加入</a:t>
            </a:r>
            <a:r>
              <a:rPr lang="en-US" altLang="zh-CN" sz="2400" dirty="0"/>
              <a:t>8089</a:t>
            </a:r>
            <a:r>
              <a:rPr lang="zh-CN" altLang="zh-CN" sz="2400" dirty="0"/>
              <a:t>后会提高主处理器的效率，大大减少输入</a:t>
            </a:r>
            <a:r>
              <a:rPr lang="en-US" altLang="zh-CN" sz="2400" dirty="0"/>
              <a:t>/</a:t>
            </a:r>
            <a:r>
              <a:rPr lang="zh-CN" altLang="zh-CN" sz="2400" dirty="0"/>
              <a:t>输出操作占用主处理器的时间。在最大模式下工作时，控制信号是通过</a:t>
            </a:r>
            <a:r>
              <a:rPr lang="en-US" altLang="zh-CN" sz="2400" dirty="0"/>
              <a:t>8288</a:t>
            </a:r>
            <a:r>
              <a:rPr lang="zh-CN" altLang="zh-CN" sz="2400" dirty="0"/>
              <a:t>总线控制器提供的。</a:t>
            </a: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文本占位符 193537"/>
          <p:cNvSpPr>
            <a:spLocks noGrp="1"/>
          </p:cNvSpPr>
          <p:nvPr>
            <p:ph idx="1"/>
          </p:nvPr>
        </p:nvSpPr>
        <p:spPr>
          <a:xfrm>
            <a:off x="304800" y="571500"/>
            <a:ext cx="5562600" cy="685800"/>
          </a:xfrm>
          <a:ln/>
        </p:spPr>
        <p:txBody>
          <a:bodyPr wrap="square" lIns="91440" tIns="45720" rIns="91440" bIns="45720" anchor="t" anchorCtr="0"/>
          <a:lstStyle/>
          <a:p>
            <a:pPr>
              <a:spcBef>
                <a:spcPct val="0"/>
              </a:spcBef>
              <a:buNone/>
            </a:pPr>
            <a:r>
              <a:rPr lang="en-US" altLang="zh-CN">
                <a:ea typeface="楷体_GB2312" pitchFamily="49" charset="-122"/>
                <a:sym typeface="宋体" panose="02010600030101010101" pitchFamily="2" charset="-122"/>
              </a:rPr>
              <a:t>1.</a:t>
            </a:r>
            <a:r>
              <a:rPr lang="zh-CN" altLang="en-US" dirty="0">
                <a:ea typeface="楷体_GB2312" pitchFamily="49" charset="-122"/>
                <a:sym typeface="宋体" panose="02010600030101010101" pitchFamily="2" charset="-122"/>
              </a:rPr>
              <a:t>最小模式系统组成</a:t>
            </a:r>
            <a:endParaRPr lang="zh-CN" altLang="en-US" dirty="0">
              <a:solidFill>
                <a:srgbClr val="FFFF00"/>
              </a:solidFill>
              <a:ea typeface="楷体_GB2312" pitchFamily="49" charset="-122"/>
            </a:endParaRPr>
          </a:p>
        </p:txBody>
      </p:sp>
      <p:pic>
        <p:nvPicPr>
          <p:cNvPr id="78850" name="图片 134" descr="1"/>
          <p:cNvPicPr>
            <a:picLocks noChangeAspect="1"/>
          </p:cNvPicPr>
          <p:nvPr/>
        </p:nvPicPr>
        <p:blipFill>
          <a:blip r:embed="rId3"/>
          <a:stretch>
            <a:fillRect/>
          </a:stretch>
        </p:blipFill>
        <p:spPr>
          <a:xfrm>
            <a:off x="304800" y="1352550"/>
            <a:ext cx="8529638" cy="5362575"/>
          </a:xfrm>
          <a:prstGeom prst="rect">
            <a:avLst/>
          </a:prstGeom>
          <a:noFill/>
          <a:ln w="9525">
            <a:noFill/>
          </a:ln>
        </p:spPr>
      </p:pic>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80898" name="标题 133"/>
          <p:cNvSpPr>
            <a:spLocks noGrp="1"/>
          </p:cNvSpPr>
          <p:nvPr>
            <p:ph type="title" idx="4294967295"/>
          </p:nvPr>
        </p:nvSpPr>
        <p:spPr>
          <a:ln/>
        </p:spPr>
        <p:txBody>
          <a:bodyPr wrap="square" lIns="92075" tIns="46038" rIns="92075" bIns="46038" anchor="ctr" anchorCtr="0"/>
          <a:lstStyle/>
          <a:p>
            <a:r>
              <a:rPr lang="en-US" altLang="zh-CN" sz="2800">
                <a:solidFill>
                  <a:schemeClr val="tx1"/>
                </a:solidFill>
                <a:effectLst/>
                <a:ea typeface="楷体_GB2312" pitchFamily="49" charset="-122"/>
              </a:rPr>
              <a:t>2.</a:t>
            </a:r>
            <a:r>
              <a:rPr lang="zh-CN" altLang="en-US" sz="2800" dirty="0">
                <a:solidFill>
                  <a:schemeClr val="tx1"/>
                </a:solidFill>
                <a:effectLst/>
                <a:ea typeface="楷体_GB2312" pitchFamily="49" charset="-122"/>
              </a:rPr>
              <a:t>最大模式系统组成</a:t>
            </a:r>
          </a:p>
        </p:txBody>
      </p:sp>
      <p:grpSp>
        <p:nvGrpSpPr>
          <p:cNvPr id="80899" name="组合 224259"/>
          <p:cNvGrpSpPr/>
          <p:nvPr/>
        </p:nvGrpSpPr>
        <p:grpSpPr>
          <a:xfrm>
            <a:off x="900113" y="1165225"/>
            <a:ext cx="6696075" cy="5645150"/>
            <a:chOff x="864" y="288"/>
            <a:chExt cx="4407" cy="3715"/>
          </a:xfrm>
        </p:grpSpPr>
        <p:sp>
          <p:nvSpPr>
            <p:cNvPr id="80900" name="文本框 224260"/>
            <p:cNvSpPr txBox="1"/>
            <p:nvPr/>
          </p:nvSpPr>
          <p:spPr>
            <a:xfrm>
              <a:off x="4696" y="2033"/>
              <a:ext cx="575"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BHE</a:t>
              </a:r>
            </a:p>
          </p:txBody>
        </p:sp>
        <p:sp>
          <p:nvSpPr>
            <p:cNvPr id="80901" name="直接连接符 224261"/>
            <p:cNvSpPr/>
            <p:nvPr/>
          </p:nvSpPr>
          <p:spPr>
            <a:xfrm>
              <a:off x="3808" y="2836"/>
              <a:ext cx="17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02" name="直接连接符 224262"/>
            <p:cNvSpPr/>
            <p:nvPr/>
          </p:nvSpPr>
          <p:spPr>
            <a:xfrm>
              <a:off x="3808" y="2836"/>
              <a:ext cx="0" cy="99"/>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03" name="直接连接符 224263"/>
            <p:cNvSpPr/>
            <p:nvPr/>
          </p:nvSpPr>
          <p:spPr>
            <a:xfrm>
              <a:off x="3750" y="2935"/>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04" name="矩形 224264"/>
            <p:cNvSpPr/>
            <p:nvPr/>
          </p:nvSpPr>
          <p:spPr>
            <a:xfrm>
              <a:off x="1493" y="1301"/>
              <a:ext cx="460" cy="389"/>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80905" name="矩形 224265"/>
            <p:cNvSpPr/>
            <p:nvPr/>
          </p:nvSpPr>
          <p:spPr>
            <a:xfrm>
              <a:off x="3885" y="599"/>
              <a:ext cx="736" cy="109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80906" name="直接连接符 224266"/>
            <p:cNvSpPr/>
            <p:nvPr/>
          </p:nvSpPr>
          <p:spPr>
            <a:xfrm>
              <a:off x="4621" y="687"/>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07" name="直接连接符 224267"/>
            <p:cNvSpPr/>
            <p:nvPr/>
          </p:nvSpPr>
          <p:spPr>
            <a:xfrm>
              <a:off x="4621" y="843"/>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08" name="直接连接符 224268"/>
            <p:cNvSpPr/>
            <p:nvPr/>
          </p:nvSpPr>
          <p:spPr>
            <a:xfrm>
              <a:off x="4621" y="999"/>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09" name="直接连接符 224269"/>
            <p:cNvSpPr/>
            <p:nvPr/>
          </p:nvSpPr>
          <p:spPr>
            <a:xfrm>
              <a:off x="4621" y="1145"/>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10" name="直接连接符 224270"/>
            <p:cNvSpPr/>
            <p:nvPr/>
          </p:nvSpPr>
          <p:spPr>
            <a:xfrm>
              <a:off x="4621" y="1301"/>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11" name="直接连接符 224271"/>
            <p:cNvSpPr/>
            <p:nvPr/>
          </p:nvSpPr>
          <p:spPr>
            <a:xfrm>
              <a:off x="4621" y="1456"/>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12" name="直接连接符 224272"/>
            <p:cNvSpPr/>
            <p:nvPr/>
          </p:nvSpPr>
          <p:spPr>
            <a:xfrm>
              <a:off x="4621" y="1612"/>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13" name="矩形 224273"/>
            <p:cNvSpPr/>
            <p:nvPr/>
          </p:nvSpPr>
          <p:spPr>
            <a:xfrm>
              <a:off x="2229" y="521"/>
              <a:ext cx="1196" cy="34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80914" name="矩形 224274"/>
            <p:cNvSpPr/>
            <p:nvPr/>
          </p:nvSpPr>
          <p:spPr>
            <a:xfrm>
              <a:off x="1493" y="599"/>
              <a:ext cx="46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80915" name="矩形 224275"/>
            <p:cNvSpPr/>
            <p:nvPr/>
          </p:nvSpPr>
          <p:spPr>
            <a:xfrm>
              <a:off x="4161" y="2001"/>
              <a:ext cx="552" cy="779"/>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16" name="矩形 224276"/>
            <p:cNvSpPr/>
            <p:nvPr/>
          </p:nvSpPr>
          <p:spPr>
            <a:xfrm>
              <a:off x="4069" y="2079"/>
              <a:ext cx="552" cy="779"/>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17" name="矩形 224277"/>
            <p:cNvSpPr/>
            <p:nvPr/>
          </p:nvSpPr>
          <p:spPr>
            <a:xfrm>
              <a:off x="3989" y="2157"/>
              <a:ext cx="552" cy="77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80918" name="矩形 224278"/>
            <p:cNvSpPr/>
            <p:nvPr/>
          </p:nvSpPr>
          <p:spPr>
            <a:xfrm>
              <a:off x="3977" y="3013"/>
              <a:ext cx="460"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19" name="矩形 224279"/>
            <p:cNvSpPr/>
            <p:nvPr/>
          </p:nvSpPr>
          <p:spPr>
            <a:xfrm>
              <a:off x="3885" y="3092"/>
              <a:ext cx="460"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80920" name="直接连接符 224280"/>
            <p:cNvSpPr/>
            <p:nvPr/>
          </p:nvSpPr>
          <p:spPr>
            <a:xfrm>
              <a:off x="4721" y="2235"/>
              <a:ext cx="368"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21" name="直接连接符 224281"/>
            <p:cNvSpPr/>
            <p:nvPr/>
          </p:nvSpPr>
          <p:spPr>
            <a:xfrm>
              <a:off x="3425" y="2379"/>
              <a:ext cx="552"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22" name="直接连接符 224282"/>
            <p:cNvSpPr/>
            <p:nvPr/>
          </p:nvSpPr>
          <p:spPr>
            <a:xfrm>
              <a:off x="3425" y="755"/>
              <a:ext cx="460"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23" name="直接连接符 224283"/>
            <p:cNvSpPr/>
            <p:nvPr/>
          </p:nvSpPr>
          <p:spPr>
            <a:xfrm>
              <a:off x="3425" y="911"/>
              <a:ext cx="460"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24" name="直接连接符 224284"/>
            <p:cNvSpPr/>
            <p:nvPr/>
          </p:nvSpPr>
          <p:spPr>
            <a:xfrm>
              <a:off x="3425" y="1067"/>
              <a:ext cx="460"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25" name="直接连接符 224285"/>
            <p:cNvSpPr/>
            <p:nvPr/>
          </p:nvSpPr>
          <p:spPr>
            <a:xfrm>
              <a:off x="1953" y="677"/>
              <a:ext cx="27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26" name="直接连接符 224286"/>
            <p:cNvSpPr/>
            <p:nvPr/>
          </p:nvSpPr>
          <p:spPr>
            <a:xfrm>
              <a:off x="1953" y="793"/>
              <a:ext cx="27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27" name="直接连接符 224287"/>
            <p:cNvSpPr/>
            <p:nvPr/>
          </p:nvSpPr>
          <p:spPr>
            <a:xfrm>
              <a:off x="1953" y="911"/>
              <a:ext cx="27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28" name="直接连接符 224288"/>
            <p:cNvSpPr/>
            <p:nvPr/>
          </p:nvSpPr>
          <p:spPr>
            <a:xfrm flipV="1">
              <a:off x="2045" y="444"/>
              <a:ext cx="0" cy="233"/>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29" name="直接连接符 224289"/>
            <p:cNvSpPr/>
            <p:nvPr/>
          </p:nvSpPr>
          <p:spPr>
            <a:xfrm>
              <a:off x="2045" y="444"/>
              <a:ext cx="2208"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0" name="直接连接符 224290"/>
            <p:cNvSpPr/>
            <p:nvPr/>
          </p:nvSpPr>
          <p:spPr>
            <a:xfrm>
              <a:off x="4255" y="444"/>
              <a:ext cx="0" cy="155"/>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1" name="直接连接符 224291"/>
            <p:cNvSpPr/>
            <p:nvPr/>
          </p:nvSpPr>
          <p:spPr>
            <a:xfrm flipH="1">
              <a:off x="3517" y="1301"/>
              <a:ext cx="368"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2" name="直接连接符 224292"/>
            <p:cNvSpPr/>
            <p:nvPr/>
          </p:nvSpPr>
          <p:spPr>
            <a:xfrm flipH="1">
              <a:off x="3609" y="1416"/>
              <a:ext cx="276"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3" name="直接连接符 224293"/>
            <p:cNvSpPr/>
            <p:nvPr/>
          </p:nvSpPr>
          <p:spPr>
            <a:xfrm flipH="1">
              <a:off x="3719" y="1534"/>
              <a:ext cx="16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4" name="直接连接符 224294"/>
            <p:cNvSpPr/>
            <p:nvPr/>
          </p:nvSpPr>
          <p:spPr>
            <a:xfrm>
              <a:off x="3709" y="1534"/>
              <a:ext cx="0" cy="719"/>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5" name="直接连接符 224295"/>
            <p:cNvSpPr/>
            <p:nvPr/>
          </p:nvSpPr>
          <p:spPr>
            <a:xfrm>
              <a:off x="3517" y="1310"/>
              <a:ext cx="0" cy="2336"/>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6" name="直接连接符 224296"/>
            <p:cNvSpPr/>
            <p:nvPr/>
          </p:nvSpPr>
          <p:spPr>
            <a:xfrm>
              <a:off x="3609" y="1416"/>
              <a:ext cx="0" cy="2049"/>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7" name="直接连接符 224297"/>
            <p:cNvSpPr/>
            <p:nvPr/>
          </p:nvSpPr>
          <p:spPr>
            <a:xfrm>
              <a:off x="3609" y="3481"/>
              <a:ext cx="27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8" name="直接连接符 224298"/>
            <p:cNvSpPr/>
            <p:nvPr/>
          </p:nvSpPr>
          <p:spPr>
            <a:xfrm flipH="1">
              <a:off x="1861" y="2469"/>
              <a:ext cx="368"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39" name="直接连接符 224299"/>
            <p:cNvSpPr/>
            <p:nvPr/>
          </p:nvSpPr>
          <p:spPr>
            <a:xfrm>
              <a:off x="1861" y="2469"/>
              <a:ext cx="0" cy="233"/>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40" name="直接连接符 224300"/>
            <p:cNvSpPr/>
            <p:nvPr/>
          </p:nvSpPr>
          <p:spPr>
            <a:xfrm>
              <a:off x="1769" y="2702"/>
              <a:ext cx="184"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41" name="直接连接符 224301"/>
            <p:cNvSpPr/>
            <p:nvPr/>
          </p:nvSpPr>
          <p:spPr>
            <a:xfrm flipV="1">
              <a:off x="1731" y="1067"/>
              <a:ext cx="0" cy="234"/>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42" name="直接连接符 224302"/>
            <p:cNvSpPr/>
            <p:nvPr/>
          </p:nvSpPr>
          <p:spPr>
            <a:xfrm flipV="1">
              <a:off x="1585" y="366"/>
              <a:ext cx="0" cy="233"/>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43" name="直接连接符 224303"/>
            <p:cNvSpPr/>
            <p:nvPr/>
          </p:nvSpPr>
          <p:spPr>
            <a:xfrm flipV="1">
              <a:off x="1861" y="366"/>
              <a:ext cx="0" cy="233"/>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44" name="直接连接符 224304"/>
            <p:cNvSpPr/>
            <p:nvPr/>
          </p:nvSpPr>
          <p:spPr>
            <a:xfrm>
              <a:off x="1585" y="366"/>
              <a:ext cx="9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45" name="直接连接符 224305"/>
            <p:cNvSpPr/>
            <p:nvPr/>
          </p:nvSpPr>
          <p:spPr>
            <a:xfrm flipH="1">
              <a:off x="1769" y="366"/>
              <a:ext cx="9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46" name="直接连接符 224306"/>
            <p:cNvSpPr/>
            <p:nvPr/>
          </p:nvSpPr>
          <p:spPr>
            <a:xfrm>
              <a:off x="1677" y="288"/>
              <a:ext cx="0" cy="156"/>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47" name="直接连接符 224307"/>
            <p:cNvSpPr/>
            <p:nvPr/>
          </p:nvSpPr>
          <p:spPr>
            <a:xfrm>
              <a:off x="1769" y="288"/>
              <a:ext cx="0" cy="156"/>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48" name="矩形 224308"/>
            <p:cNvSpPr/>
            <p:nvPr/>
          </p:nvSpPr>
          <p:spPr>
            <a:xfrm>
              <a:off x="3644" y="3552"/>
              <a:ext cx="115" cy="19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49" name="直接连接符 224309"/>
            <p:cNvSpPr/>
            <p:nvPr/>
          </p:nvSpPr>
          <p:spPr>
            <a:xfrm>
              <a:off x="3759" y="3651"/>
              <a:ext cx="123"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50" name="椭圆 224310"/>
            <p:cNvSpPr/>
            <p:nvPr/>
          </p:nvSpPr>
          <p:spPr>
            <a:xfrm>
              <a:off x="3605" y="3632"/>
              <a:ext cx="33" cy="4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51" name="直接连接符 224311"/>
            <p:cNvSpPr/>
            <p:nvPr/>
          </p:nvSpPr>
          <p:spPr>
            <a:xfrm>
              <a:off x="3519" y="3661"/>
              <a:ext cx="80"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52" name="直接连接符 224312"/>
            <p:cNvSpPr/>
            <p:nvPr/>
          </p:nvSpPr>
          <p:spPr>
            <a:xfrm>
              <a:off x="3713" y="2247"/>
              <a:ext cx="271"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53" name="左右箭头 224313"/>
            <p:cNvSpPr/>
            <p:nvPr/>
          </p:nvSpPr>
          <p:spPr>
            <a:xfrm>
              <a:off x="3414" y="2464"/>
              <a:ext cx="561" cy="234"/>
            </a:xfrm>
            <a:prstGeom prst="leftRightArrow">
              <a:avLst>
                <a:gd name="adj1" fmla="val 50000"/>
                <a:gd name="adj2" fmla="val 47837"/>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54" name="矩形 224314"/>
            <p:cNvSpPr/>
            <p:nvPr/>
          </p:nvSpPr>
          <p:spPr>
            <a:xfrm>
              <a:off x="3644" y="2643"/>
              <a:ext cx="115" cy="593"/>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55" name="右箭头 224315"/>
            <p:cNvSpPr/>
            <p:nvPr/>
          </p:nvSpPr>
          <p:spPr>
            <a:xfrm>
              <a:off x="3644" y="3147"/>
              <a:ext cx="230" cy="198"/>
            </a:xfrm>
            <a:prstGeom prst="rightArrow">
              <a:avLst>
                <a:gd name="adj1" fmla="val 50000"/>
                <a:gd name="adj2" fmla="val 28986"/>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56" name="左右箭头 224316"/>
            <p:cNvSpPr/>
            <p:nvPr/>
          </p:nvSpPr>
          <p:spPr>
            <a:xfrm>
              <a:off x="3423" y="3769"/>
              <a:ext cx="1496" cy="234"/>
            </a:xfrm>
            <a:prstGeom prst="leftRightArrow">
              <a:avLst>
                <a:gd name="adj1" fmla="val 50000"/>
                <a:gd name="adj2" fmla="val 127567"/>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57" name="左右箭头 224317"/>
            <p:cNvSpPr/>
            <p:nvPr/>
          </p:nvSpPr>
          <p:spPr>
            <a:xfrm>
              <a:off x="4439" y="3191"/>
              <a:ext cx="562" cy="234"/>
            </a:xfrm>
            <a:prstGeom prst="leftRightArrow">
              <a:avLst>
                <a:gd name="adj1" fmla="val 50000"/>
                <a:gd name="adj2" fmla="val 47922"/>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58" name="右箭头 224318"/>
            <p:cNvSpPr/>
            <p:nvPr/>
          </p:nvSpPr>
          <p:spPr>
            <a:xfrm>
              <a:off x="4719" y="2464"/>
              <a:ext cx="388" cy="263"/>
            </a:xfrm>
            <a:prstGeom prst="rightArrow">
              <a:avLst>
                <a:gd name="adj1" fmla="val 50000"/>
                <a:gd name="adj2" fmla="val 58328"/>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grpSp>
          <p:nvGrpSpPr>
            <p:cNvPr id="80959" name="组合 224319"/>
            <p:cNvGrpSpPr/>
            <p:nvPr/>
          </p:nvGrpSpPr>
          <p:grpSpPr>
            <a:xfrm>
              <a:off x="1230" y="734"/>
              <a:ext cx="169" cy="648"/>
              <a:chOff x="2647" y="3378"/>
              <a:chExt cx="309" cy="1297"/>
            </a:xfrm>
          </p:grpSpPr>
          <p:sp>
            <p:nvSpPr>
              <p:cNvPr id="80960" name="直接连接符 224320"/>
              <p:cNvSpPr/>
              <p:nvPr/>
            </p:nvSpPr>
            <p:spPr>
              <a:xfrm>
                <a:off x="2647" y="3844"/>
                <a:ext cx="30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61" name="直接连接符 224321"/>
              <p:cNvSpPr/>
              <p:nvPr/>
            </p:nvSpPr>
            <p:spPr>
              <a:xfrm>
                <a:off x="2647" y="4010"/>
                <a:ext cx="30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62" name="直接连接符 224322"/>
              <p:cNvSpPr/>
              <p:nvPr/>
            </p:nvSpPr>
            <p:spPr>
              <a:xfrm>
                <a:off x="2802" y="4010"/>
                <a:ext cx="0" cy="665"/>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63" name="直接连接符 224323"/>
              <p:cNvSpPr/>
              <p:nvPr/>
            </p:nvSpPr>
            <p:spPr>
              <a:xfrm>
                <a:off x="2647" y="4675"/>
                <a:ext cx="30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64" name="直接连接符 224324"/>
              <p:cNvSpPr/>
              <p:nvPr/>
            </p:nvSpPr>
            <p:spPr>
              <a:xfrm>
                <a:off x="2805" y="3378"/>
                <a:ext cx="0" cy="468"/>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grpSp>
          <p:nvGrpSpPr>
            <p:cNvPr id="80965" name="组合 224325"/>
            <p:cNvGrpSpPr/>
            <p:nvPr/>
          </p:nvGrpSpPr>
          <p:grpSpPr>
            <a:xfrm>
              <a:off x="1282" y="387"/>
              <a:ext cx="55" cy="412"/>
              <a:chOff x="2759" y="2682"/>
              <a:chExt cx="102" cy="825"/>
            </a:xfrm>
          </p:grpSpPr>
          <p:grpSp>
            <p:nvGrpSpPr>
              <p:cNvPr id="80966" name="组合 224326"/>
              <p:cNvGrpSpPr/>
              <p:nvPr/>
            </p:nvGrpSpPr>
            <p:grpSpPr>
              <a:xfrm>
                <a:off x="2759" y="2748"/>
                <a:ext cx="102" cy="759"/>
                <a:chOff x="2774" y="3078"/>
                <a:chExt cx="102" cy="759"/>
              </a:xfrm>
            </p:grpSpPr>
            <p:sp>
              <p:nvSpPr>
                <p:cNvPr id="80967" name="直接连接符 224327"/>
                <p:cNvSpPr/>
                <p:nvPr/>
              </p:nvSpPr>
              <p:spPr>
                <a:xfrm rot="5400000">
                  <a:off x="2692" y="3192"/>
                  <a:ext cx="24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68" name="矩形 224328"/>
                <p:cNvSpPr/>
                <p:nvPr/>
              </p:nvSpPr>
              <p:spPr>
                <a:xfrm rot="5400000">
                  <a:off x="2690" y="3397"/>
                  <a:ext cx="249" cy="10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69" name="直接连接符 224329"/>
                <p:cNvSpPr/>
                <p:nvPr/>
              </p:nvSpPr>
              <p:spPr>
                <a:xfrm rot="5400000">
                  <a:off x="2692" y="3702"/>
                  <a:ext cx="24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
            <p:nvSpPr>
              <p:cNvPr id="80970" name="椭圆 224330"/>
              <p:cNvSpPr/>
              <p:nvPr/>
            </p:nvSpPr>
            <p:spPr>
              <a:xfrm>
                <a:off x="2782" y="2682"/>
                <a:ext cx="68" cy="68"/>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grpSp>
        <p:grpSp>
          <p:nvGrpSpPr>
            <p:cNvPr id="80971" name="组合 224331"/>
            <p:cNvGrpSpPr/>
            <p:nvPr/>
          </p:nvGrpSpPr>
          <p:grpSpPr>
            <a:xfrm>
              <a:off x="864" y="772"/>
              <a:ext cx="619" cy="427"/>
              <a:chOff x="1980" y="3453"/>
              <a:chExt cx="1129" cy="855"/>
            </a:xfrm>
          </p:grpSpPr>
          <p:grpSp>
            <p:nvGrpSpPr>
              <p:cNvPr id="80972" name="组合 224332"/>
              <p:cNvGrpSpPr/>
              <p:nvPr/>
            </p:nvGrpSpPr>
            <p:grpSpPr>
              <a:xfrm>
                <a:off x="2010" y="3453"/>
                <a:ext cx="1099" cy="855"/>
                <a:chOff x="2010" y="3453"/>
                <a:chExt cx="1099" cy="855"/>
              </a:xfrm>
            </p:grpSpPr>
            <p:sp>
              <p:nvSpPr>
                <p:cNvPr id="80973" name="直接连接符 224333"/>
                <p:cNvSpPr/>
                <p:nvPr/>
              </p:nvSpPr>
              <p:spPr>
                <a:xfrm>
                  <a:off x="2493" y="3512"/>
                  <a:ext cx="61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nvGrpSpPr>
                <p:cNvPr id="80974" name="组合 224334"/>
                <p:cNvGrpSpPr/>
                <p:nvPr/>
              </p:nvGrpSpPr>
              <p:grpSpPr>
                <a:xfrm>
                  <a:off x="2137" y="3453"/>
                  <a:ext cx="782" cy="357"/>
                  <a:chOff x="2137" y="3453"/>
                  <a:chExt cx="782" cy="357"/>
                </a:xfrm>
              </p:grpSpPr>
              <p:grpSp>
                <p:nvGrpSpPr>
                  <p:cNvPr id="80975" name="组合 224335"/>
                  <p:cNvGrpSpPr/>
                  <p:nvPr/>
                </p:nvGrpSpPr>
                <p:grpSpPr>
                  <a:xfrm>
                    <a:off x="2160" y="3453"/>
                    <a:ext cx="759" cy="102"/>
                    <a:chOff x="1005" y="8100"/>
                    <a:chExt cx="759" cy="102"/>
                  </a:xfrm>
                </p:grpSpPr>
                <p:sp>
                  <p:nvSpPr>
                    <p:cNvPr id="80976" name="直接连接符 224336"/>
                    <p:cNvSpPr/>
                    <p:nvPr/>
                  </p:nvSpPr>
                  <p:spPr>
                    <a:xfrm>
                      <a:off x="1005" y="8148"/>
                      <a:ext cx="24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77" name="矩形 224337"/>
                    <p:cNvSpPr/>
                    <p:nvPr/>
                  </p:nvSpPr>
                  <p:spPr>
                    <a:xfrm>
                      <a:off x="1260" y="8100"/>
                      <a:ext cx="249" cy="10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78" name="直接连接符 224338"/>
                    <p:cNvSpPr/>
                    <p:nvPr/>
                  </p:nvSpPr>
                  <p:spPr>
                    <a:xfrm>
                      <a:off x="1515" y="8163"/>
                      <a:ext cx="24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
                <p:nvSpPr>
                  <p:cNvPr id="80979" name="椭圆 224339"/>
                  <p:cNvSpPr/>
                  <p:nvPr/>
                </p:nvSpPr>
                <p:spPr>
                  <a:xfrm>
                    <a:off x="2137" y="3742"/>
                    <a:ext cx="68" cy="68"/>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80" name="直接连接符 224340"/>
                  <p:cNvSpPr/>
                  <p:nvPr/>
                </p:nvSpPr>
                <p:spPr>
                  <a:xfrm>
                    <a:off x="2157" y="3498"/>
                    <a:ext cx="0" cy="255"/>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grpSp>
              <p:nvGrpSpPr>
                <p:cNvPr id="80981" name="组合 224341"/>
                <p:cNvGrpSpPr/>
                <p:nvPr/>
              </p:nvGrpSpPr>
              <p:grpSpPr>
                <a:xfrm>
                  <a:off x="2010" y="3979"/>
                  <a:ext cx="307" cy="329"/>
                  <a:chOff x="2010" y="3979"/>
                  <a:chExt cx="307" cy="329"/>
                </a:xfrm>
              </p:grpSpPr>
              <p:sp>
                <p:nvSpPr>
                  <p:cNvPr id="80982" name="直接连接符 224342"/>
                  <p:cNvSpPr/>
                  <p:nvPr/>
                </p:nvSpPr>
                <p:spPr>
                  <a:xfrm>
                    <a:off x="2010" y="4308"/>
                    <a:ext cx="307"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83" name="椭圆 224343"/>
                  <p:cNvSpPr/>
                  <p:nvPr/>
                </p:nvSpPr>
                <p:spPr>
                  <a:xfrm>
                    <a:off x="2137" y="3979"/>
                    <a:ext cx="68" cy="68"/>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84" name="直接连接符 224344"/>
                  <p:cNvSpPr/>
                  <p:nvPr/>
                </p:nvSpPr>
                <p:spPr>
                  <a:xfrm flipV="1">
                    <a:off x="2157" y="4032"/>
                    <a:ext cx="0" cy="272"/>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grpSp>
          <p:grpSp>
            <p:nvGrpSpPr>
              <p:cNvPr id="80985" name="组合 224345"/>
              <p:cNvGrpSpPr/>
              <p:nvPr/>
            </p:nvGrpSpPr>
            <p:grpSpPr>
              <a:xfrm>
                <a:off x="1980" y="3762"/>
                <a:ext cx="125" cy="255"/>
                <a:chOff x="1080" y="6744"/>
                <a:chExt cx="360" cy="468"/>
              </a:xfrm>
            </p:grpSpPr>
            <p:sp>
              <p:nvSpPr>
                <p:cNvPr id="80986" name="直接连接符 224346"/>
                <p:cNvSpPr/>
                <p:nvPr/>
              </p:nvSpPr>
              <p:spPr>
                <a:xfrm>
                  <a:off x="1440" y="6744"/>
                  <a:ext cx="0" cy="468"/>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87" name="直接连接符 224347"/>
                <p:cNvSpPr/>
                <p:nvPr/>
              </p:nvSpPr>
              <p:spPr>
                <a:xfrm flipH="1">
                  <a:off x="1080" y="6975"/>
                  <a:ext cx="360"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grpSp>
        <p:sp>
          <p:nvSpPr>
            <p:cNvPr id="80988" name="矩形 224348"/>
            <p:cNvSpPr/>
            <p:nvPr/>
          </p:nvSpPr>
          <p:spPr>
            <a:xfrm>
              <a:off x="1698" y="301"/>
              <a:ext cx="43" cy="14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80989" name="直接连接符 224349"/>
            <p:cNvSpPr/>
            <p:nvPr/>
          </p:nvSpPr>
          <p:spPr>
            <a:xfrm>
              <a:off x="3644" y="2643"/>
              <a:ext cx="115" cy="0"/>
            </a:xfrm>
            <a:prstGeom prst="line">
              <a:avLst/>
            </a:prstGeom>
            <a:ln w="9525" cap="flat" cmpd="sng">
              <a:solidFill>
                <a:srgbClr val="FFFFFF"/>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90" name="直接连接符 224350"/>
            <p:cNvSpPr/>
            <p:nvPr/>
          </p:nvSpPr>
          <p:spPr>
            <a:xfrm>
              <a:off x="3652" y="3200"/>
              <a:ext cx="115" cy="0"/>
            </a:xfrm>
            <a:prstGeom prst="line">
              <a:avLst/>
            </a:prstGeom>
            <a:ln w="9525" cap="flat" cmpd="sng">
              <a:solidFill>
                <a:srgbClr val="FFFFFF"/>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0991" name="文本框 224351"/>
            <p:cNvSpPr txBox="1"/>
            <p:nvPr/>
          </p:nvSpPr>
          <p:spPr>
            <a:xfrm>
              <a:off x="2203" y="585"/>
              <a:ext cx="575" cy="494"/>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CLK</a:t>
              </a:r>
            </a:p>
            <a:p>
              <a:pPr algn="just"/>
              <a:r>
                <a:rPr lang="en-US" altLang="zh-CN" sz="1400">
                  <a:solidFill>
                    <a:schemeClr val="bg2"/>
                  </a:solidFill>
                  <a:latin typeface="Times New Roman" panose="02020603050405020304" pitchFamily="18" charset="0"/>
                  <a:ea typeface="宋体" panose="02010600030101010101" pitchFamily="2" charset="-122"/>
                </a:rPr>
                <a:t>READY</a:t>
              </a:r>
            </a:p>
            <a:p>
              <a:pPr algn="just"/>
              <a:r>
                <a:rPr lang="en-US" altLang="zh-CN" sz="1400">
                  <a:solidFill>
                    <a:schemeClr val="bg2"/>
                  </a:solidFill>
                  <a:latin typeface="Times New Roman" panose="02020603050405020304" pitchFamily="18" charset="0"/>
                  <a:ea typeface="宋体" panose="02010600030101010101" pitchFamily="2" charset="-122"/>
                </a:rPr>
                <a:t>RESET</a:t>
              </a:r>
            </a:p>
          </p:txBody>
        </p:sp>
        <p:sp>
          <p:nvSpPr>
            <p:cNvPr id="80992" name="文本框 224352"/>
            <p:cNvSpPr txBox="1"/>
            <p:nvPr/>
          </p:nvSpPr>
          <p:spPr>
            <a:xfrm>
              <a:off x="1489" y="1299"/>
              <a:ext cx="633" cy="479"/>
            </a:xfrm>
            <a:prstGeom prst="rect">
              <a:avLst/>
            </a:prstGeom>
            <a:noFill/>
            <a:ln w="9525">
              <a:noFill/>
            </a:ln>
          </p:spPr>
          <p:txBody>
            <a:bodyPr anchor="t" anchorCtr="0"/>
            <a:lstStyle/>
            <a:p>
              <a:pPr algn="just"/>
              <a:r>
                <a:rPr lang="zh-CN" altLang="en-US" sz="1400" dirty="0">
                  <a:solidFill>
                    <a:schemeClr val="bg2"/>
                  </a:solidFill>
                  <a:latin typeface="Times New Roman" panose="02020603050405020304" pitchFamily="18" charset="0"/>
                  <a:ea typeface="宋体" panose="02010600030101010101" pitchFamily="2" charset="-122"/>
                </a:rPr>
                <a:t>等待状</a:t>
              </a:r>
            </a:p>
            <a:p>
              <a:pPr algn="just"/>
              <a:r>
                <a:rPr lang="zh-CN" altLang="en-US" sz="1400" dirty="0">
                  <a:solidFill>
                    <a:schemeClr val="bg2"/>
                  </a:solidFill>
                  <a:latin typeface="Times New Roman" panose="02020603050405020304" pitchFamily="18" charset="0"/>
                  <a:ea typeface="宋体" panose="02010600030101010101" pitchFamily="2" charset="-122"/>
                </a:rPr>
                <a:t>态发生</a:t>
              </a:r>
            </a:p>
          </p:txBody>
        </p:sp>
        <p:sp>
          <p:nvSpPr>
            <p:cNvPr id="80993" name="文本框 224353"/>
            <p:cNvSpPr txBox="1"/>
            <p:nvPr/>
          </p:nvSpPr>
          <p:spPr>
            <a:xfrm>
              <a:off x="2831" y="2473"/>
              <a:ext cx="805" cy="396"/>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   A</a:t>
              </a:r>
              <a:r>
                <a:rPr lang="en-US" altLang="zh-CN" sz="1400" baseline="-25000">
                  <a:solidFill>
                    <a:schemeClr val="bg2"/>
                  </a:solidFill>
                  <a:latin typeface="Times New Roman" panose="02020603050405020304" pitchFamily="18" charset="0"/>
                  <a:ea typeface="宋体" panose="02010600030101010101" pitchFamily="2" charset="-122"/>
                </a:rPr>
                <a:t>19</a:t>
              </a:r>
              <a:r>
                <a:rPr lang="en-US" altLang="zh-CN" sz="1400">
                  <a:solidFill>
                    <a:schemeClr val="bg2"/>
                  </a:solidFill>
                  <a:latin typeface="Times New Roman" panose="02020603050405020304" pitchFamily="18" charset="0"/>
                  <a:ea typeface="宋体" panose="02010600030101010101" pitchFamily="2" charset="-122"/>
                </a:rPr>
                <a:t>~A</a:t>
              </a:r>
              <a:r>
                <a:rPr lang="en-US" altLang="zh-CN" sz="1400" baseline="-25000">
                  <a:solidFill>
                    <a:schemeClr val="bg2"/>
                  </a:solidFill>
                  <a:latin typeface="Times New Roman" panose="02020603050405020304" pitchFamily="18" charset="0"/>
                  <a:ea typeface="宋体" panose="02010600030101010101" pitchFamily="2" charset="-122"/>
                </a:rPr>
                <a:t>16</a:t>
              </a:r>
            </a:p>
            <a:p>
              <a:pPr algn="just"/>
              <a:r>
                <a:rPr lang="en-US" altLang="zh-CN" sz="1400">
                  <a:solidFill>
                    <a:schemeClr val="bg2"/>
                  </a:solidFill>
                  <a:latin typeface="Times New Roman" panose="02020603050405020304" pitchFamily="18" charset="0"/>
                  <a:ea typeface="宋体" panose="02010600030101010101" pitchFamily="2" charset="-122"/>
                </a:rPr>
                <a:t>AD</a:t>
              </a:r>
              <a:r>
                <a:rPr lang="en-US" altLang="zh-CN" sz="1400" baseline="-25000">
                  <a:solidFill>
                    <a:schemeClr val="bg2"/>
                  </a:solidFill>
                  <a:latin typeface="Times New Roman" panose="02020603050405020304" pitchFamily="18" charset="0"/>
                  <a:ea typeface="宋体" panose="02010600030101010101" pitchFamily="2" charset="-122"/>
                </a:rPr>
                <a:t>15</a:t>
              </a:r>
              <a:r>
                <a:rPr lang="en-US" altLang="zh-CN" sz="1400">
                  <a:solidFill>
                    <a:schemeClr val="bg2"/>
                  </a:solidFill>
                  <a:latin typeface="Times New Roman" panose="02020603050405020304" pitchFamily="18" charset="0"/>
                  <a:ea typeface="宋体" panose="02010600030101010101" pitchFamily="2" charset="-122"/>
                </a:rPr>
                <a:t>~AD</a:t>
              </a:r>
              <a:r>
                <a:rPr lang="en-US" altLang="zh-CN" sz="1400" baseline="-25000">
                  <a:solidFill>
                    <a:schemeClr val="bg2"/>
                  </a:solidFill>
                  <a:latin typeface="Times New Roman" panose="02020603050405020304" pitchFamily="18" charset="0"/>
                  <a:ea typeface="宋体" panose="02010600030101010101" pitchFamily="2" charset="-122"/>
                </a:rPr>
                <a:t>0</a:t>
              </a:r>
            </a:p>
          </p:txBody>
        </p:sp>
        <p:sp>
          <p:nvSpPr>
            <p:cNvPr id="80994" name="文本框 224354"/>
            <p:cNvSpPr txBox="1"/>
            <p:nvPr/>
          </p:nvSpPr>
          <p:spPr>
            <a:xfrm>
              <a:off x="3448" y="2510"/>
              <a:ext cx="691" cy="297"/>
            </a:xfrm>
            <a:prstGeom prst="rect">
              <a:avLst/>
            </a:prstGeom>
            <a:noFill/>
            <a:ln w="9525">
              <a:noFill/>
            </a:ln>
          </p:spPr>
          <p:txBody>
            <a:bodyPr anchor="t" anchorCtr="0"/>
            <a:lstStyle/>
            <a:p>
              <a:pPr algn="just"/>
              <a:r>
                <a:rPr lang="zh-CN" altLang="en-US" sz="1000" dirty="0">
                  <a:solidFill>
                    <a:schemeClr val="bg2"/>
                  </a:solidFill>
                  <a:latin typeface="Times New Roman" panose="02020603050405020304" pitchFamily="18" charset="0"/>
                  <a:ea typeface="宋体" panose="02010600030101010101" pitchFamily="2" charset="-122"/>
                </a:rPr>
                <a:t>地址</a:t>
              </a:r>
              <a:r>
                <a:rPr lang="en-US" altLang="zh-CN" sz="1000">
                  <a:solidFill>
                    <a:schemeClr val="bg2"/>
                  </a:solidFill>
                  <a:latin typeface="Times New Roman" panose="02020603050405020304" pitchFamily="18" charset="0"/>
                  <a:ea typeface="宋体" panose="02010600030101010101" pitchFamily="2" charset="-122"/>
                </a:rPr>
                <a:t>/</a:t>
              </a:r>
              <a:r>
                <a:rPr lang="zh-CN" altLang="en-US" sz="1000" dirty="0">
                  <a:solidFill>
                    <a:schemeClr val="bg2"/>
                  </a:solidFill>
                  <a:latin typeface="Times New Roman" panose="02020603050405020304" pitchFamily="18" charset="0"/>
                  <a:ea typeface="宋体" panose="02010600030101010101" pitchFamily="2" charset="-122"/>
                </a:rPr>
                <a:t>数据</a:t>
              </a:r>
            </a:p>
          </p:txBody>
        </p:sp>
        <p:sp>
          <p:nvSpPr>
            <p:cNvPr id="80995" name="文本框 224355"/>
            <p:cNvSpPr txBox="1"/>
            <p:nvPr/>
          </p:nvSpPr>
          <p:spPr>
            <a:xfrm>
              <a:off x="3923" y="3157"/>
              <a:ext cx="688" cy="395"/>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8286</a:t>
              </a:r>
            </a:p>
            <a:p>
              <a:pPr algn="just"/>
              <a:r>
                <a:rPr lang="zh-CN" altLang="en-US" sz="1400" dirty="0">
                  <a:solidFill>
                    <a:schemeClr val="bg2"/>
                  </a:solidFill>
                  <a:latin typeface="Times New Roman" panose="02020603050405020304" pitchFamily="18" charset="0"/>
                  <a:ea typeface="宋体" panose="02010600030101010101" pitchFamily="2" charset="-122"/>
                </a:rPr>
                <a:t>收发器</a:t>
              </a:r>
            </a:p>
          </p:txBody>
        </p:sp>
        <p:sp>
          <p:nvSpPr>
            <p:cNvPr id="80996" name="文本框 224356"/>
            <p:cNvSpPr txBox="1"/>
            <p:nvPr/>
          </p:nvSpPr>
          <p:spPr>
            <a:xfrm>
              <a:off x="3845" y="3408"/>
              <a:ext cx="575" cy="396"/>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T</a:t>
              </a:r>
            </a:p>
            <a:p>
              <a:pPr algn="just"/>
              <a:r>
                <a:rPr lang="en-US" altLang="zh-CN" sz="1400">
                  <a:solidFill>
                    <a:schemeClr val="bg2"/>
                  </a:solidFill>
                  <a:latin typeface="Times New Roman" panose="02020603050405020304" pitchFamily="18" charset="0"/>
                  <a:ea typeface="宋体" panose="02010600030101010101" pitchFamily="2" charset="-122"/>
                </a:rPr>
                <a:t>OE</a:t>
              </a:r>
            </a:p>
          </p:txBody>
        </p:sp>
        <p:sp>
          <p:nvSpPr>
            <p:cNvPr id="80997" name="文本框 224357"/>
            <p:cNvSpPr txBox="1"/>
            <p:nvPr/>
          </p:nvSpPr>
          <p:spPr>
            <a:xfrm>
              <a:off x="4133" y="2365"/>
              <a:ext cx="805" cy="396"/>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8282</a:t>
              </a:r>
            </a:p>
            <a:p>
              <a:pPr algn="just"/>
              <a:r>
                <a:rPr lang="zh-CN" altLang="en-US" sz="1400" dirty="0">
                  <a:solidFill>
                    <a:schemeClr val="bg2"/>
                  </a:solidFill>
                  <a:latin typeface="Times New Roman" panose="02020603050405020304" pitchFamily="18" charset="0"/>
                  <a:ea typeface="宋体" panose="02010600030101010101" pitchFamily="2" charset="-122"/>
                </a:rPr>
                <a:t>锁存器</a:t>
              </a:r>
            </a:p>
          </p:txBody>
        </p:sp>
        <p:sp>
          <p:nvSpPr>
            <p:cNvPr id="80998" name="文本框 224358"/>
            <p:cNvSpPr txBox="1"/>
            <p:nvPr/>
          </p:nvSpPr>
          <p:spPr>
            <a:xfrm>
              <a:off x="3965" y="2149"/>
              <a:ext cx="461"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STB</a:t>
              </a:r>
            </a:p>
          </p:txBody>
        </p:sp>
        <p:sp>
          <p:nvSpPr>
            <p:cNvPr id="80999" name="文本框 224359"/>
            <p:cNvSpPr txBox="1"/>
            <p:nvPr/>
          </p:nvSpPr>
          <p:spPr>
            <a:xfrm>
              <a:off x="4505" y="3206"/>
              <a:ext cx="690"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D</a:t>
              </a:r>
              <a:r>
                <a:rPr lang="en-US" altLang="zh-CN" sz="1400" baseline="-25000">
                  <a:solidFill>
                    <a:schemeClr val="bg2"/>
                  </a:solidFill>
                  <a:latin typeface="Times New Roman" panose="02020603050405020304" pitchFamily="18" charset="0"/>
                  <a:ea typeface="宋体" panose="02010600030101010101" pitchFamily="2" charset="-122"/>
                </a:rPr>
                <a:t>15</a:t>
              </a:r>
              <a:r>
                <a:rPr lang="en-US" altLang="zh-CN" sz="1400">
                  <a:solidFill>
                    <a:schemeClr val="bg2"/>
                  </a:solidFill>
                  <a:latin typeface="Times New Roman" panose="02020603050405020304" pitchFamily="18" charset="0"/>
                  <a:ea typeface="宋体" panose="02010600030101010101" pitchFamily="2" charset="-122"/>
                </a:rPr>
                <a:t>~D</a:t>
              </a:r>
              <a:r>
                <a:rPr lang="en-US" altLang="zh-CN" sz="1400" baseline="-25000">
                  <a:solidFill>
                    <a:schemeClr val="bg2"/>
                  </a:solidFill>
                  <a:latin typeface="Times New Roman" panose="02020603050405020304" pitchFamily="18" charset="0"/>
                  <a:ea typeface="宋体" panose="02010600030101010101" pitchFamily="2" charset="-122"/>
                </a:rPr>
                <a:t>0</a:t>
              </a:r>
            </a:p>
          </p:txBody>
        </p:sp>
        <p:sp>
          <p:nvSpPr>
            <p:cNvPr id="81000" name="文本框 224360"/>
            <p:cNvSpPr txBox="1"/>
            <p:nvPr/>
          </p:nvSpPr>
          <p:spPr>
            <a:xfrm>
              <a:off x="1474" y="561"/>
              <a:ext cx="690" cy="495"/>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8284A</a:t>
              </a:r>
            </a:p>
            <a:p>
              <a:pPr algn="just"/>
              <a:r>
                <a:rPr lang="en-US" altLang="zh-CN" sz="1400">
                  <a:solidFill>
                    <a:schemeClr val="bg2"/>
                  </a:solidFill>
                  <a:latin typeface="Times New Roman" panose="02020603050405020304" pitchFamily="18" charset="0"/>
                  <a:ea typeface="宋体" panose="02010600030101010101" pitchFamily="2" charset="-122"/>
                </a:rPr>
                <a:t>RES</a:t>
              </a:r>
            </a:p>
          </p:txBody>
        </p:sp>
        <p:sp>
          <p:nvSpPr>
            <p:cNvPr id="81001" name="文本框 224361"/>
            <p:cNvSpPr txBox="1"/>
            <p:nvPr/>
          </p:nvSpPr>
          <p:spPr>
            <a:xfrm>
              <a:off x="4145" y="846"/>
              <a:ext cx="1035" cy="594"/>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8288</a:t>
              </a:r>
            </a:p>
            <a:p>
              <a:pPr algn="just"/>
              <a:r>
                <a:rPr lang="zh-CN" altLang="en-US" sz="1400" dirty="0">
                  <a:solidFill>
                    <a:schemeClr val="bg2"/>
                  </a:solidFill>
                  <a:latin typeface="Times New Roman" panose="02020603050405020304" pitchFamily="18" charset="0"/>
                  <a:ea typeface="宋体" panose="02010600030101010101" pitchFamily="2" charset="-122"/>
                </a:rPr>
                <a:t>总线</a:t>
              </a:r>
            </a:p>
            <a:p>
              <a:pPr algn="just"/>
              <a:r>
                <a:rPr lang="zh-CN" altLang="en-US" sz="1400" dirty="0">
                  <a:solidFill>
                    <a:schemeClr val="bg2"/>
                  </a:solidFill>
                  <a:latin typeface="Times New Roman" panose="02020603050405020304" pitchFamily="18" charset="0"/>
                  <a:ea typeface="宋体" panose="02010600030101010101" pitchFamily="2" charset="-122"/>
                </a:rPr>
                <a:t>控制器</a:t>
              </a:r>
            </a:p>
          </p:txBody>
        </p:sp>
        <p:sp>
          <p:nvSpPr>
            <p:cNvPr id="81002" name="文本框 224362"/>
            <p:cNvSpPr txBox="1"/>
            <p:nvPr/>
          </p:nvSpPr>
          <p:spPr>
            <a:xfrm>
              <a:off x="4070" y="569"/>
              <a:ext cx="690"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CLK</a:t>
              </a:r>
            </a:p>
          </p:txBody>
        </p:sp>
        <p:sp>
          <p:nvSpPr>
            <p:cNvPr id="81003" name="文本框 224363"/>
            <p:cNvSpPr txBox="1"/>
            <p:nvPr/>
          </p:nvSpPr>
          <p:spPr>
            <a:xfrm>
              <a:off x="2182" y="2368"/>
              <a:ext cx="691"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MN/MX</a:t>
              </a:r>
            </a:p>
          </p:txBody>
        </p:sp>
        <p:sp>
          <p:nvSpPr>
            <p:cNvPr id="81004" name="文本框 224364"/>
            <p:cNvSpPr txBox="1"/>
            <p:nvPr/>
          </p:nvSpPr>
          <p:spPr>
            <a:xfrm>
              <a:off x="2570" y="1831"/>
              <a:ext cx="575" cy="296"/>
            </a:xfrm>
            <a:prstGeom prst="rect">
              <a:avLst/>
            </a:prstGeom>
            <a:noFill/>
            <a:ln w="9525">
              <a:noFill/>
            </a:ln>
          </p:spPr>
          <p:txBody>
            <a:bodyPr anchor="t" anchorCtr="0"/>
            <a:lstStyle/>
            <a:p>
              <a:pPr algn="just"/>
              <a:r>
                <a:rPr lang="en-US" altLang="zh-CN" sz="2000">
                  <a:solidFill>
                    <a:schemeClr val="bg2"/>
                  </a:solidFill>
                  <a:latin typeface="Times New Roman" panose="02020603050405020304" pitchFamily="18" charset="0"/>
                  <a:ea typeface="宋体" panose="02010600030101010101" pitchFamily="2" charset="-122"/>
                </a:rPr>
                <a:t>8086</a:t>
              </a:r>
            </a:p>
          </p:txBody>
        </p:sp>
        <p:sp>
          <p:nvSpPr>
            <p:cNvPr id="81005" name="文本框 224365"/>
            <p:cNvSpPr txBox="1"/>
            <p:nvPr/>
          </p:nvSpPr>
          <p:spPr>
            <a:xfrm>
              <a:off x="3616" y="3545"/>
              <a:ext cx="230"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1</a:t>
              </a:r>
            </a:p>
          </p:txBody>
        </p:sp>
        <p:sp>
          <p:nvSpPr>
            <p:cNvPr id="81006" name="文本框 224366"/>
            <p:cNvSpPr txBox="1"/>
            <p:nvPr/>
          </p:nvSpPr>
          <p:spPr>
            <a:xfrm>
              <a:off x="3211" y="678"/>
              <a:ext cx="460" cy="789"/>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0</a:t>
              </a:r>
            </a:p>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1</a:t>
              </a:r>
            </a:p>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2</a:t>
              </a:r>
            </a:p>
          </p:txBody>
        </p:sp>
        <p:sp>
          <p:nvSpPr>
            <p:cNvPr id="81007" name="文本框 224367"/>
            <p:cNvSpPr txBox="1"/>
            <p:nvPr/>
          </p:nvSpPr>
          <p:spPr>
            <a:xfrm>
              <a:off x="3868" y="690"/>
              <a:ext cx="460" cy="789"/>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0</a:t>
              </a:r>
            </a:p>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1</a:t>
              </a:r>
            </a:p>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2</a:t>
              </a:r>
            </a:p>
            <a:p>
              <a:endParaRPr lang="en-US" altLang="zh-CN" sz="1400" baseline="-25000">
                <a:solidFill>
                  <a:schemeClr val="bg2"/>
                </a:solidFill>
                <a:latin typeface="Times New Roman" panose="02020603050405020304" pitchFamily="18" charset="0"/>
                <a:ea typeface="宋体" panose="02010600030101010101" pitchFamily="2" charset="-122"/>
              </a:endParaRPr>
            </a:p>
          </p:txBody>
        </p:sp>
        <p:sp>
          <p:nvSpPr>
            <p:cNvPr id="81008" name="文本框 224368"/>
            <p:cNvSpPr txBox="1"/>
            <p:nvPr/>
          </p:nvSpPr>
          <p:spPr>
            <a:xfrm>
              <a:off x="1543" y="858"/>
              <a:ext cx="575"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RDY</a:t>
              </a:r>
            </a:p>
          </p:txBody>
        </p:sp>
        <p:sp>
          <p:nvSpPr>
            <p:cNvPr id="81009" name="文本框 224369"/>
            <p:cNvSpPr txBox="1"/>
            <p:nvPr/>
          </p:nvSpPr>
          <p:spPr>
            <a:xfrm>
              <a:off x="3938" y="2750"/>
              <a:ext cx="345" cy="396"/>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OE</a:t>
              </a:r>
            </a:p>
          </p:txBody>
        </p:sp>
        <p:sp>
          <p:nvSpPr>
            <p:cNvPr id="81010" name="直接连接符 224377"/>
            <p:cNvSpPr/>
            <p:nvPr/>
          </p:nvSpPr>
          <p:spPr>
            <a:xfrm>
              <a:off x="4753" y="2058"/>
              <a:ext cx="23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11" name="直接连接符 224378"/>
            <p:cNvSpPr/>
            <p:nvPr/>
          </p:nvSpPr>
          <p:spPr>
            <a:xfrm>
              <a:off x="3235" y="701"/>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12" name="直接连接符 224379"/>
            <p:cNvSpPr/>
            <p:nvPr/>
          </p:nvSpPr>
          <p:spPr>
            <a:xfrm>
              <a:off x="3236" y="837"/>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13" name="直接连接符 224380"/>
            <p:cNvSpPr/>
            <p:nvPr/>
          </p:nvSpPr>
          <p:spPr>
            <a:xfrm>
              <a:off x="3235" y="980"/>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14" name="直接连接符 224381"/>
            <p:cNvSpPr/>
            <p:nvPr/>
          </p:nvSpPr>
          <p:spPr>
            <a:xfrm>
              <a:off x="3890" y="719"/>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15" name="直接连接符 224382"/>
            <p:cNvSpPr/>
            <p:nvPr/>
          </p:nvSpPr>
          <p:spPr>
            <a:xfrm>
              <a:off x="3890" y="855"/>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16" name="直接连接符 224383"/>
            <p:cNvSpPr/>
            <p:nvPr/>
          </p:nvSpPr>
          <p:spPr>
            <a:xfrm>
              <a:off x="3890" y="998"/>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17" name="直接连接符 224384"/>
            <p:cNvSpPr/>
            <p:nvPr/>
          </p:nvSpPr>
          <p:spPr>
            <a:xfrm>
              <a:off x="2483" y="2401"/>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18" name="直接连接符 224385"/>
            <p:cNvSpPr/>
            <p:nvPr/>
          </p:nvSpPr>
          <p:spPr>
            <a:xfrm>
              <a:off x="4032" y="2779"/>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19" name="直接连接符 224386"/>
            <p:cNvSpPr/>
            <p:nvPr/>
          </p:nvSpPr>
          <p:spPr>
            <a:xfrm>
              <a:off x="3934" y="3570"/>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20" name="直接连接符 224387"/>
            <p:cNvSpPr/>
            <p:nvPr/>
          </p:nvSpPr>
          <p:spPr>
            <a:xfrm>
              <a:off x="1545" y="728"/>
              <a:ext cx="15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1021" name="矩形 224388"/>
            <p:cNvSpPr/>
            <p:nvPr/>
          </p:nvSpPr>
          <p:spPr>
            <a:xfrm>
              <a:off x="3840" y="1211"/>
              <a:ext cx="805" cy="891"/>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DEN</a:t>
              </a:r>
            </a:p>
            <a:p>
              <a:pPr algn="just"/>
              <a:r>
                <a:rPr lang="en-US" altLang="zh-CN" sz="1400">
                  <a:solidFill>
                    <a:schemeClr val="bg2"/>
                  </a:solidFill>
                  <a:latin typeface="Times New Roman" panose="02020603050405020304" pitchFamily="18" charset="0"/>
                  <a:ea typeface="宋体" panose="02010600030101010101" pitchFamily="2" charset="-122"/>
                </a:rPr>
                <a:t>DT/R</a:t>
              </a:r>
            </a:p>
            <a:p>
              <a:pPr algn="just"/>
              <a:r>
                <a:rPr lang="en-US" altLang="zh-CN" sz="1400">
                  <a:solidFill>
                    <a:schemeClr val="bg2"/>
                  </a:solidFill>
                  <a:latin typeface="Times New Roman" panose="02020603050405020304" pitchFamily="18" charset="0"/>
                  <a:ea typeface="宋体" panose="02010600030101010101" pitchFamily="2" charset="-122"/>
                </a:rPr>
                <a:t>ALE</a:t>
              </a:r>
            </a:p>
          </p:txBody>
        </p:sp>
        <p:sp>
          <p:nvSpPr>
            <p:cNvPr id="81022" name="直接连接符 224389"/>
            <p:cNvSpPr/>
            <p:nvPr/>
          </p:nvSpPr>
          <p:spPr>
            <a:xfrm>
              <a:off x="4046" y="1376"/>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idx="1"/>
          </p:nvPr>
        </p:nvSpPr>
        <p:spPr>
          <a:xfrm>
            <a:off x="503238" y="1462088"/>
            <a:ext cx="8116888" cy="4303713"/>
          </a:xfrm>
          <a:solidFill>
            <a:schemeClr val="accent4">
              <a:lumMod val="10000"/>
            </a:schemeClr>
          </a:solidFill>
          <a:ln>
            <a:miter/>
          </a:ln>
        </p:spPr>
        <p:txBody>
          <a:bodyPr lIns="92075" tIns="46038" rIns="92075" bIns="46038" anchor="t"/>
          <a:lstStyle/>
          <a:p>
            <a:pPr marL="342900" marR="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endParaRPr kumimoji="1" lang="zh-CN" altLang="en-US" sz="2400" b="1" i="0" u="none" strike="noStrike" kern="0" cap="none" spc="0" normalizeH="0" baseline="0" noProof="1">
              <a:solidFill>
                <a:schemeClr val="tx1"/>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endParaRPr kumimoji="1" lang="zh-CN" altLang="en-US" sz="2800" b="1" i="0" u="none" strike="noStrike" kern="0" cap="none" spc="0" normalizeH="0" baseline="0" noProof="1">
              <a:solidFill>
                <a:schemeClr val="tx1"/>
              </a:solidFill>
              <a:latin typeface="+mn-lt"/>
              <a:ea typeface="+mn-ea"/>
              <a:cs typeface="+mn-cs"/>
            </a:endParaRPr>
          </a:p>
        </p:txBody>
      </p:sp>
      <p:sp>
        <p:nvSpPr>
          <p:cNvPr id="82946" name="文本框 2"/>
          <p:cNvSpPr txBox="1"/>
          <p:nvPr/>
        </p:nvSpPr>
        <p:spPr>
          <a:xfrm>
            <a:off x="2992438" y="1538288"/>
            <a:ext cx="4229100" cy="366712"/>
          </a:xfrm>
          <a:prstGeom prst="rect">
            <a:avLst/>
          </a:prstGeom>
          <a:noFill/>
          <a:ln w="9525">
            <a:noFill/>
          </a:ln>
        </p:spPr>
        <p:txBody>
          <a:bodyPr anchor="t" anchorCtr="0">
            <a:spAutoFit/>
          </a:bodyPr>
          <a:lstStyle/>
          <a:p>
            <a:r>
              <a:rPr lang="en-US" altLang="zh-CN" sz="1800" b="0">
                <a:solidFill>
                  <a:srgbClr val="66FF33"/>
                </a:solidFill>
                <a:latin typeface="Tahoma" panose="020B0604030504040204" pitchFamily="34" charset="0"/>
                <a:ea typeface="宋体" panose="02010600030101010101" pitchFamily="2" charset="-122"/>
              </a:rPr>
              <a:t> T</a:t>
            </a:r>
            <a:r>
              <a:rPr lang="en-US" altLang="zh-CN" sz="1800" b="0" baseline="-25000">
                <a:solidFill>
                  <a:srgbClr val="66FF33"/>
                </a:solidFill>
                <a:latin typeface="Tahoma" panose="020B0604030504040204" pitchFamily="34" charset="0"/>
                <a:ea typeface="宋体" panose="02010600030101010101" pitchFamily="2" charset="-122"/>
              </a:rPr>
              <a:t>1</a:t>
            </a:r>
            <a:r>
              <a:rPr lang="en-US" altLang="zh-CN" sz="1800" b="0">
                <a:solidFill>
                  <a:srgbClr val="66FF33"/>
                </a:solidFill>
                <a:latin typeface="Tahoma" panose="020B0604030504040204" pitchFamily="34" charset="0"/>
                <a:ea typeface="宋体" panose="02010600030101010101" pitchFamily="2" charset="-122"/>
              </a:rPr>
              <a:t>         T</a:t>
            </a:r>
            <a:r>
              <a:rPr lang="en-US" altLang="zh-CN" sz="1800" b="0" baseline="-25000">
                <a:solidFill>
                  <a:srgbClr val="66FF33"/>
                </a:solidFill>
                <a:latin typeface="Tahoma" panose="020B0604030504040204" pitchFamily="34" charset="0"/>
                <a:ea typeface="宋体" panose="02010600030101010101" pitchFamily="2" charset="-122"/>
              </a:rPr>
              <a:t>2</a:t>
            </a:r>
            <a:r>
              <a:rPr lang="en-US" altLang="zh-CN" sz="1800" b="0">
                <a:solidFill>
                  <a:srgbClr val="66FF33"/>
                </a:solidFill>
                <a:latin typeface="Tahoma" panose="020B0604030504040204" pitchFamily="34" charset="0"/>
                <a:ea typeface="宋体" panose="02010600030101010101" pitchFamily="2" charset="-122"/>
              </a:rPr>
              <a:t>          T</a:t>
            </a:r>
            <a:r>
              <a:rPr lang="en-US" altLang="zh-CN" sz="1800" b="0" baseline="-25000">
                <a:solidFill>
                  <a:srgbClr val="66FF33"/>
                </a:solidFill>
                <a:latin typeface="Tahoma" panose="020B0604030504040204" pitchFamily="34" charset="0"/>
                <a:ea typeface="宋体" panose="02010600030101010101" pitchFamily="2" charset="-122"/>
              </a:rPr>
              <a:t>3</a:t>
            </a:r>
            <a:r>
              <a:rPr lang="en-US" altLang="zh-CN" sz="1800" b="0">
                <a:solidFill>
                  <a:srgbClr val="66FF33"/>
                </a:solidFill>
                <a:latin typeface="Tahoma" panose="020B0604030504040204" pitchFamily="34" charset="0"/>
                <a:ea typeface="宋体" panose="02010600030101010101" pitchFamily="2" charset="-122"/>
              </a:rPr>
              <a:t>         </a:t>
            </a:r>
            <a:r>
              <a:rPr lang="en-US" altLang="zh-CN" sz="1800" b="0" err="1">
                <a:solidFill>
                  <a:srgbClr val="66FF33"/>
                </a:solidFill>
                <a:latin typeface="Tahoma" panose="020B0604030504040204" pitchFamily="34" charset="0"/>
                <a:ea typeface="宋体" panose="02010600030101010101" pitchFamily="2" charset="-122"/>
              </a:rPr>
              <a:t>T</a:t>
            </a:r>
            <a:r>
              <a:rPr lang="en-US" altLang="zh-CN" sz="1800" b="0" baseline="-25000" err="1">
                <a:solidFill>
                  <a:srgbClr val="66FF33"/>
                </a:solidFill>
                <a:latin typeface="Tahoma" panose="020B0604030504040204" pitchFamily="34" charset="0"/>
                <a:ea typeface="宋体" panose="02010600030101010101" pitchFamily="2" charset="-122"/>
              </a:rPr>
              <a:t>w</a:t>
            </a:r>
            <a:r>
              <a:rPr lang="en-US" altLang="zh-CN" sz="1800" b="0">
                <a:solidFill>
                  <a:srgbClr val="66FF33"/>
                </a:solidFill>
                <a:latin typeface="Tahoma" panose="020B0604030504040204" pitchFamily="34" charset="0"/>
                <a:ea typeface="宋体" panose="02010600030101010101" pitchFamily="2" charset="-122"/>
              </a:rPr>
              <a:t>       T</a:t>
            </a:r>
            <a:r>
              <a:rPr lang="en-US" altLang="zh-CN" sz="1800" b="0" baseline="-25000">
                <a:solidFill>
                  <a:srgbClr val="66FF33"/>
                </a:solidFill>
                <a:latin typeface="Tahoma" panose="020B0604030504040204" pitchFamily="34" charset="0"/>
                <a:ea typeface="宋体" panose="02010600030101010101" pitchFamily="2" charset="-122"/>
              </a:rPr>
              <a:t>4</a:t>
            </a:r>
          </a:p>
        </p:txBody>
      </p:sp>
      <p:sp>
        <p:nvSpPr>
          <p:cNvPr id="82947" name="直接连接符 3"/>
          <p:cNvSpPr/>
          <p:nvPr/>
        </p:nvSpPr>
        <p:spPr>
          <a:xfrm flipV="1">
            <a:off x="1885950" y="4086225"/>
            <a:ext cx="1006475"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48" name="直接连接符 4"/>
          <p:cNvSpPr/>
          <p:nvPr/>
        </p:nvSpPr>
        <p:spPr>
          <a:xfrm>
            <a:off x="1785938" y="4498975"/>
            <a:ext cx="2214562"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49" name="直接连接符 5"/>
          <p:cNvSpPr/>
          <p:nvPr/>
        </p:nvSpPr>
        <p:spPr>
          <a:xfrm>
            <a:off x="1885950" y="4224338"/>
            <a:ext cx="2214563"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0" name="直接连接符 6"/>
          <p:cNvSpPr/>
          <p:nvPr/>
        </p:nvSpPr>
        <p:spPr>
          <a:xfrm>
            <a:off x="4100513" y="4224338"/>
            <a:ext cx="101600" cy="27463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1" name="直接连接符 7"/>
          <p:cNvSpPr/>
          <p:nvPr/>
        </p:nvSpPr>
        <p:spPr>
          <a:xfrm>
            <a:off x="1885950" y="2295525"/>
            <a:ext cx="560388"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2" name="直接连接符 8"/>
          <p:cNvSpPr/>
          <p:nvPr/>
        </p:nvSpPr>
        <p:spPr>
          <a:xfrm>
            <a:off x="2986088" y="2295525"/>
            <a:ext cx="3238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3" name="直接连接符 9"/>
          <p:cNvSpPr/>
          <p:nvPr/>
        </p:nvSpPr>
        <p:spPr>
          <a:xfrm flipV="1">
            <a:off x="3309938" y="1882775"/>
            <a:ext cx="106362"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4" name="直接连接符 10"/>
          <p:cNvSpPr/>
          <p:nvPr/>
        </p:nvSpPr>
        <p:spPr>
          <a:xfrm>
            <a:off x="3416300" y="1882775"/>
            <a:ext cx="32385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5" name="直接连接符 11"/>
          <p:cNvSpPr/>
          <p:nvPr/>
        </p:nvSpPr>
        <p:spPr>
          <a:xfrm>
            <a:off x="3740150"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6" name="直接连接符 12"/>
          <p:cNvSpPr/>
          <p:nvPr/>
        </p:nvSpPr>
        <p:spPr>
          <a:xfrm>
            <a:off x="3848100" y="2295525"/>
            <a:ext cx="3238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7" name="直接连接符 13"/>
          <p:cNvSpPr/>
          <p:nvPr/>
        </p:nvSpPr>
        <p:spPr>
          <a:xfrm flipV="1">
            <a:off x="4171950"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8" name="直接连接符 14"/>
          <p:cNvSpPr/>
          <p:nvPr/>
        </p:nvSpPr>
        <p:spPr>
          <a:xfrm>
            <a:off x="4279900" y="1882775"/>
            <a:ext cx="32385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59" name="直接连接符 15"/>
          <p:cNvSpPr/>
          <p:nvPr/>
        </p:nvSpPr>
        <p:spPr>
          <a:xfrm>
            <a:off x="4603750"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0" name="直接连接符 16"/>
          <p:cNvSpPr/>
          <p:nvPr/>
        </p:nvSpPr>
        <p:spPr>
          <a:xfrm>
            <a:off x="4711700" y="2295525"/>
            <a:ext cx="3238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1" name="直接连接符 17"/>
          <p:cNvSpPr/>
          <p:nvPr/>
        </p:nvSpPr>
        <p:spPr>
          <a:xfrm flipV="1">
            <a:off x="5035550"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2" name="直接连接符 18"/>
          <p:cNvSpPr/>
          <p:nvPr/>
        </p:nvSpPr>
        <p:spPr>
          <a:xfrm>
            <a:off x="5143500" y="1882775"/>
            <a:ext cx="322263"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3" name="直接连接符 19"/>
          <p:cNvSpPr/>
          <p:nvPr/>
        </p:nvSpPr>
        <p:spPr>
          <a:xfrm>
            <a:off x="5465763" y="1882775"/>
            <a:ext cx="109537"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4" name="直接连接符 20"/>
          <p:cNvSpPr/>
          <p:nvPr/>
        </p:nvSpPr>
        <p:spPr>
          <a:xfrm>
            <a:off x="5575300" y="2295525"/>
            <a:ext cx="322263"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5" name="直接连接符 21"/>
          <p:cNvSpPr/>
          <p:nvPr/>
        </p:nvSpPr>
        <p:spPr>
          <a:xfrm flipV="1">
            <a:off x="5897563" y="1882775"/>
            <a:ext cx="109537"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6" name="直接连接符 22"/>
          <p:cNvSpPr/>
          <p:nvPr/>
        </p:nvSpPr>
        <p:spPr>
          <a:xfrm>
            <a:off x="6007100" y="1882775"/>
            <a:ext cx="322263"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7" name="直接连接符 23"/>
          <p:cNvSpPr/>
          <p:nvPr/>
        </p:nvSpPr>
        <p:spPr>
          <a:xfrm>
            <a:off x="6329363" y="1882775"/>
            <a:ext cx="106362"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8" name="直接连接符 24"/>
          <p:cNvSpPr/>
          <p:nvPr/>
        </p:nvSpPr>
        <p:spPr>
          <a:xfrm>
            <a:off x="6435725" y="2295525"/>
            <a:ext cx="327025"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69" name="直接连接符 25"/>
          <p:cNvSpPr/>
          <p:nvPr/>
        </p:nvSpPr>
        <p:spPr>
          <a:xfrm flipV="1">
            <a:off x="6762750" y="1882775"/>
            <a:ext cx="104775"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70" name="直接连接符 26"/>
          <p:cNvSpPr/>
          <p:nvPr/>
        </p:nvSpPr>
        <p:spPr>
          <a:xfrm>
            <a:off x="6867525" y="1882775"/>
            <a:ext cx="325438"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71" name="直接连接符 27"/>
          <p:cNvSpPr/>
          <p:nvPr/>
        </p:nvSpPr>
        <p:spPr>
          <a:xfrm>
            <a:off x="7192963" y="1882775"/>
            <a:ext cx="106362"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72" name="直接连接符 28"/>
          <p:cNvSpPr/>
          <p:nvPr/>
        </p:nvSpPr>
        <p:spPr>
          <a:xfrm>
            <a:off x="7299325" y="2295525"/>
            <a:ext cx="544513" cy="31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73" name="直接连接符 29"/>
          <p:cNvSpPr/>
          <p:nvPr/>
        </p:nvSpPr>
        <p:spPr>
          <a:xfrm flipV="1">
            <a:off x="2446338" y="1882775"/>
            <a:ext cx="109537"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74" name="直接连接符 30"/>
          <p:cNvSpPr/>
          <p:nvPr/>
        </p:nvSpPr>
        <p:spPr>
          <a:xfrm>
            <a:off x="2555875" y="1882775"/>
            <a:ext cx="322263"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75" name="直接连接符 31"/>
          <p:cNvSpPr/>
          <p:nvPr/>
        </p:nvSpPr>
        <p:spPr>
          <a:xfrm>
            <a:off x="2878138"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76" name="文本框 32"/>
          <p:cNvSpPr txBox="1"/>
          <p:nvPr/>
        </p:nvSpPr>
        <p:spPr>
          <a:xfrm>
            <a:off x="931863" y="2293938"/>
            <a:ext cx="1055687" cy="366712"/>
          </a:xfrm>
          <a:prstGeom prst="rect">
            <a:avLst/>
          </a:prstGeom>
          <a:noFill/>
          <a:ln w="9525">
            <a:noFill/>
          </a:ln>
        </p:spPr>
        <p:txBody>
          <a:bodyPr anchor="t" anchorCtr="0">
            <a:spAutoFit/>
          </a:bodyPr>
          <a:lstStyle/>
          <a:p>
            <a:pPr algn="ctr"/>
            <a:r>
              <a:rPr lang="en-US" altLang="zh-CN" sz="1800" b="0">
                <a:solidFill>
                  <a:srgbClr val="66FF33"/>
                </a:solidFill>
                <a:latin typeface="Tahoma" panose="020B0604030504040204" pitchFamily="34" charset="0"/>
                <a:ea typeface="宋体" panose="02010600030101010101" pitchFamily="2" charset="-122"/>
              </a:rPr>
              <a:t>M/IO</a:t>
            </a:r>
          </a:p>
        </p:txBody>
      </p:sp>
      <p:sp>
        <p:nvSpPr>
          <p:cNvPr id="82977" name="文本框 33"/>
          <p:cNvSpPr txBox="1"/>
          <p:nvPr/>
        </p:nvSpPr>
        <p:spPr>
          <a:xfrm>
            <a:off x="914400" y="4030663"/>
            <a:ext cx="1125538" cy="366712"/>
          </a:xfrm>
          <a:prstGeom prst="rect">
            <a:avLst/>
          </a:prstGeom>
          <a:noFill/>
          <a:ln w="9525">
            <a:noFill/>
          </a:ln>
        </p:spPr>
        <p:txBody>
          <a:bodyPr anchor="t" anchorCtr="0">
            <a:spAutoFit/>
          </a:bodyPr>
          <a:lstStyle/>
          <a:p>
            <a:pPr algn="ctr"/>
            <a:r>
              <a:rPr lang="en-US" altLang="zh-CN" sz="1800" b="0">
                <a:solidFill>
                  <a:srgbClr val="66FF33"/>
                </a:solidFill>
                <a:latin typeface="Tahoma" panose="020B0604030504040204" pitchFamily="34" charset="0"/>
                <a:ea typeface="宋体" panose="02010600030101010101" pitchFamily="2" charset="-122"/>
              </a:rPr>
              <a:t>READY</a:t>
            </a:r>
          </a:p>
        </p:txBody>
      </p:sp>
      <p:sp>
        <p:nvSpPr>
          <p:cNvPr id="82978" name="直接连接符 34"/>
          <p:cNvSpPr/>
          <p:nvPr/>
        </p:nvSpPr>
        <p:spPr>
          <a:xfrm>
            <a:off x="1885950" y="2363788"/>
            <a:ext cx="50323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79" name="直接连接符 35"/>
          <p:cNvSpPr/>
          <p:nvPr/>
        </p:nvSpPr>
        <p:spPr>
          <a:xfrm>
            <a:off x="1885950" y="2570163"/>
            <a:ext cx="50323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80" name="直接连接符 36"/>
          <p:cNvSpPr/>
          <p:nvPr/>
        </p:nvSpPr>
        <p:spPr>
          <a:xfrm>
            <a:off x="2389188" y="2363788"/>
            <a:ext cx="201612" cy="2063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81" name="直接连接符 37"/>
          <p:cNvSpPr/>
          <p:nvPr/>
        </p:nvSpPr>
        <p:spPr>
          <a:xfrm flipV="1">
            <a:off x="2392363" y="2366963"/>
            <a:ext cx="201612" cy="2063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82" name="直接连接符 38"/>
          <p:cNvSpPr/>
          <p:nvPr/>
        </p:nvSpPr>
        <p:spPr>
          <a:xfrm>
            <a:off x="2590800" y="2363788"/>
            <a:ext cx="392588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83" name="直接连接符 39"/>
          <p:cNvSpPr/>
          <p:nvPr/>
        </p:nvSpPr>
        <p:spPr>
          <a:xfrm>
            <a:off x="2590800" y="2570163"/>
            <a:ext cx="392588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84" name="直接连接符 40"/>
          <p:cNvSpPr/>
          <p:nvPr/>
        </p:nvSpPr>
        <p:spPr>
          <a:xfrm>
            <a:off x="6516688" y="2363788"/>
            <a:ext cx="201612" cy="2063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85" name="直接连接符 41"/>
          <p:cNvSpPr/>
          <p:nvPr/>
        </p:nvSpPr>
        <p:spPr>
          <a:xfrm flipV="1">
            <a:off x="6519863" y="2366963"/>
            <a:ext cx="201612" cy="2063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86" name="直接连接符 42"/>
          <p:cNvSpPr/>
          <p:nvPr/>
        </p:nvSpPr>
        <p:spPr>
          <a:xfrm>
            <a:off x="6718300" y="2363788"/>
            <a:ext cx="1128713"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87" name="直接连接符 43"/>
          <p:cNvSpPr/>
          <p:nvPr/>
        </p:nvSpPr>
        <p:spPr>
          <a:xfrm>
            <a:off x="6718300" y="2570163"/>
            <a:ext cx="1120775"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88" name="文本框 44"/>
          <p:cNvSpPr txBox="1"/>
          <p:nvPr/>
        </p:nvSpPr>
        <p:spPr>
          <a:xfrm>
            <a:off x="981075" y="1963738"/>
            <a:ext cx="752475" cy="366712"/>
          </a:xfrm>
          <a:prstGeom prst="rect">
            <a:avLst/>
          </a:prstGeom>
          <a:noFill/>
          <a:ln w="9525">
            <a:noFill/>
          </a:ln>
        </p:spPr>
        <p:txBody>
          <a:bodyPr anchor="t" anchorCtr="0">
            <a:spAutoFit/>
          </a:bodyPr>
          <a:lstStyle/>
          <a:p>
            <a:pPr algn="ctr"/>
            <a:r>
              <a:rPr lang="en-US" altLang="zh-CN" sz="1800" b="0">
                <a:solidFill>
                  <a:srgbClr val="66FF33"/>
                </a:solidFill>
                <a:latin typeface="Tahoma" panose="020B0604030504040204" pitchFamily="34" charset="0"/>
                <a:ea typeface="宋体" panose="02010600030101010101" pitchFamily="2" charset="-122"/>
              </a:rPr>
              <a:t>CLK</a:t>
            </a:r>
          </a:p>
        </p:txBody>
      </p:sp>
      <p:sp>
        <p:nvSpPr>
          <p:cNvPr id="82989" name="直接连接符 45"/>
          <p:cNvSpPr/>
          <p:nvPr/>
        </p:nvSpPr>
        <p:spPr>
          <a:xfrm>
            <a:off x="1885950" y="2708275"/>
            <a:ext cx="503238"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0" name="直接连接符 46"/>
          <p:cNvSpPr/>
          <p:nvPr/>
        </p:nvSpPr>
        <p:spPr>
          <a:xfrm>
            <a:off x="1885950" y="2984500"/>
            <a:ext cx="503238"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1" name="直接连接符 47"/>
          <p:cNvSpPr/>
          <p:nvPr/>
        </p:nvSpPr>
        <p:spPr>
          <a:xfrm>
            <a:off x="2389188" y="2708275"/>
            <a:ext cx="201612"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2" name="直接连接符 48"/>
          <p:cNvSpPr/>
          <p:nvPr/>
        </p:nvSpPr>
        <p:spPr>
          <a:xfrm flipV="1">
            <a:off x="2389188" y="2846388"/>
            <a:ext cx="201612" cy="138112"/>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3" name="直接连接符 49"/>
          <p:cNvSpPr/>
          <p:nvPr/>
        </p:nvSpPr>
        <p:spPr>
          <a:xfrm>
            <a:off x="2590800" y="2846388"/>
            <a:ext cx="40163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4" name="直接连接符 50"/>
          <p:cNvSpPr/>
          <p:nvPr/>
        </p:nvSpPr>
        <p:spPr>
          <a:xfrm flipV="1">
            <a:off x="2992438" y="2708275"/>
            <a:ext cx="201612"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5" name="直接连接符 51"/>
          <p:cNvSpPr/>
          <p:nvPr/>
        </p:nvSpPr>
        <p:spPr>
          <a:xfrm>
            <a:off x="2992438" y="2846388"/>
            <a:ext cx="201612" cy="138112"/>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6" name="直接连接符 52"/>
          <p:cNvSpPr/>
          <p:nvPr/>
        </p:nvSpPr>
        <p:spPr>
          <a:xfrm>
            <a:off x="3194050" y="2708275"/>
            <a:ext cx="8064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7" name="直接连接符 53"/>
          <p:cNvSpPr/>
          <p:nvPr/>
        </p:nvSpPr>
        <p:spPr>
          <a:xfrm>
            <a:off x="3194050" y="2984500"/>
            <a:ext cx="8064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8" name="直接连接符 54"/>
          <p:cNvSpPr/>
          <p:nvPr/>
        </p:nvSpPr>
        <p:spPr>
          <a:xfrm>
            <a:off x="4000500" y="2717800"/>
            <a:ext cx="403225" cy="2762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2999" name="直接连接符 55"/>
          <p:cNvSpPr/>
          <p:nvPr/>
        </p:nvSpPr>
        <p:spPr>
          <a:xfrm flipV="1">
            <a:off x="4003675" y="2711450"/>
            <a:ext cx="403225" cy="2762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0" name="直接连接符 56"/>
          <p:cNvSpPr/>
          <p:nvPr/>
        </p:nvSpPr>
        <p:spPr>
          <a:xfrm>
            <a:off x="4403725" y="2708275"/>
            <a:ext cx="251460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1" name="直接连接符 57"/>
          <p:cNvSpPr/>
          <p:nvPr/>
        </p:nvSpPr>
        <p:spPr>
          <a:xfrm>
            <a:off x="4403725" y="2984500"/>
            <a:ext cx="251460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2" name="直接连接符 58"/>
          <p:cNvSpPr/>
          <p:nvPr/>
        </p:nvSpPr>
        <p:spPr>
          <a:xfrm>
            <a:off x="6918325" y="2708275"/>
            <a:ext cx="201613"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3" name="直接连接符 59"/>
          <p:cNvSpPr/>
          <p:nvPr/>
        </p:nvSpPr>
        <p:spPr>
          <a:xfrm flipV="1">
            <a:off x="6918325" y="2846388"/>
            <a:ext cx="201613" cy="138112"/>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4" name="直接连接符 60"/>
          <p:cNvSpPr/>
          <p:nvPr/>
        </p:nvSpPr>
        <p:spPr>
          <a:xfrm>
            <a:off x="7119938" y="2846388"/>
            <a:ext cx="736600"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5" name="直接连接符 61"/>
          <p:cNvSpPr/>
          <p:nvPr/>
        </p:nvSpPr>
        <p:spPr>
          <a:xfrm>
            <a:off x="3697288" y="4086225"/>
            <a:ext cx="4227512"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6" name="直接连接符 62"/>
          <p:cNvSpPr/>
          <p:nvPr/>
        </p:nvSpPr>
        <p:spPr>
          <a:xfrm flipH="1">
            <a:off x="2892425" y="3811588"/>
            <a:ext cx="100013" cy="3143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7" name="直接连接符 63"/>
          <p:cNvSpPr/>
          <p:nvPr/>
        </p:nvSpPr>
        <p:spPr>
          <a:xfrm>
            <a:off x="2992438" y="3811588"/>
            <a:ext cx="60325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8" name="直接连接符 64"/>
          <p:cNvSpPr/>
          <p:nvPr/>
        </p:nvSpPr>
        <p:spPr>
          <a:xfrm>
            <a:off x="3595688" y="3811588"/>
            <a:ext cx="101600" cy="27463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09" name="直接连接符 65"/>
          <p:cNvSpPr/>
          <p:nvPr/>
        </p:nvSpPr>
        <p:spPr>
          <a:xfrm>
            <a:off x="4000500" y="4498975"/>
            <a:ext cx="201613" cy="2762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0" name="直接连接符 66"/>
          <p:cNvSpPr/>
          <p:nvPr/>
        </p:nvSpPr>
        <p:spPr>
          <a:xfrm>
            <a:off x="4202113" y="4775200"/>
            <a:ext cx="2212975"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1" name="直接连接符 67"/>
          <p:cNvSpPr/>
          <p:nvPr/>
        </p:nvSpPr>
        <p:spPr>
          <a:xfrm flipV="1">
            <a:off x="6415088" y="4498975"/>
            <a:ext cx="201612" cy="2762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2" name="直接连接符 68"/>
          <p:cNvSpPr/>
          <p:nvPr/>
        </p:nvSpPr>
        <p:spPr>
          <a:xfrm>
            <a:off x="6616700" y="4498975"/>
            <a:ext cx="130810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3" name="直接连接符 69"/>
          <p:cNvSpPr/>
          <p:nvPr/>
        </p:nvSpPr>
        <p:spPr>
          <a:xfrm flipV="1">
            <a:off x="1885950" y="3122613"/>
            <a:ext cx="110648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4" name="直接连接符 70"/>
          <p:cNvSpPr/>
          <p:nvPr/>
        </p:nvSpPr>
        <p:spPr>
          <a:xfrm flipH="1">
            <a:off x="3797300" y="3122613"/>
            <a:ext cx="101600" cy="27463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5" name="直接连接符 71"/>
          <p:cNvSpPr/>
          <p:nvPr/>
        </p:nvSpPr>
        <p:spPr>
          <a:xfrm>
            <a:off x="3094038" y="3397250"/>
            <a:ext cx="703262"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6" name="直接连接符 72"/>
          <p:cNvSpPr/>
          <p:nvPr/>
        </p:nvSpPr>
        <p:spPr>
          <a:xfrm>
            <a:off x="2992438" y="3122613"/>
            <a:ext cx="101600" cy="27463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7" name="直接连接符 73"/>
          <p:cNvSpPr/>
          <p:nvPr/>
        </p:nvSpPr>
        <p:spPr>
          <a:xfrm flipV="1">
            <a:off x="3898900" y="3114675"/>
            <a:ext cx="3959225" cy="9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8" name="直接连接符 74"/>
          <p:cNvSpPr/>
          <p:nvPr/>
        </p:nvSpPr>
        <p:spPr>
          <a:xfrm>
            <a:off x="1885950" y="3603625"/>
            <a:ext cx="1106488"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19" name="直接连接符 75"/>
          <p:cNvSpPr/>
          <p:nvPr/>
        </p:nvSpPr>
        <p:spPr>
          <a:xfrm flipV="1">
            <a:off x="2992438" y="3467100"/>
            <a:ext cx="201612" cy="136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0" name="直接连接符 76"/>
          <p:cNvSpPr/>
          <p:nvPr/>
        </p:nvSpPr>
        <p:spPr>
          <a:xfrm>
            <a:off x="2992438" y="3603625"/>
            <a:ext cx="201612"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1" name="直接连接符 77"/>
          <p:cNvSpPr/>
          <p:nvPr/>
        </p:nvSpPr>
        <p:spPr>
          <a:xfrm>
            <a:off x="3194050" y="3467100"/>
            <a:ext cx="80645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2" name="直接连接符 78"/>
          <p:cNvSpPr/>
          <p:nvPr/>
        </p:nvSpPr>
        <p:spPr>
          <a:xfrm>
            <a:off x="3194050" y="3741738"/>
            <a:ext cx="806450"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3" name="直接连接符 79"/>
          <p:cNvSpPr/>
          <p:nvPr/>
        </p:nvSpPr>
        <p:spPr>
          <a:xfrm>
            <a:off x="4000500" y="3467100"/>
            <a:ext cx="201613" cy="136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4" name="直接连接符 80"/>
          <p:cNvSpPr/>
          <p:nvPr/>
        </p:nvSpPr>
        <p:spPr>
          <a:xfrm flipV="1">
            <a:off x="4000500" y="3603625"/>
            <a:ext cx="201613"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5" name="直接连接符 81"/>
          <p:cNvSpPr/>
          <p:nvPr/>
        </p:nvSpPr>
        <p:spPr>
          <a:xfrm>
            <a:off x="4202113" y="3603625"/>
            <a:ext cx="1711325"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6" name="直接连接符 82"/>
          <p:cNvSpPr/>
          <p:nvPr/>
        </p:nvSpPr>
        <p:spPr>
          <a:xfrm>
            <a:off x="6113463" y="3467100"/>
            <a:ext cx="1309687"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7" name="直接连接符 83"/>
          <p:cNvSpPr/>
          <p:nvPr/>
        </p:nvSpPr>
        <p:spPr>
          <a:xfrm>
            <a:off x="6113463" y="3741738"/>
            <a:ext cx="1309687"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8" name="直接连接符 84"/>
          <p:cNvSpPr/>
          <p:nvPr/>
        </p:nvSpPr>
        <p:spPr>
          <a:xfrm>
            <a:off x="7423150" y="3467100"/>
            <a:ext cx="201613" cy="136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29" name="直接连接符 85"/>
          <p:cNvSpPr/>
          <p:nvPr/>
        </p:nvSpPr>
        <p:spPr>
          <a:xfrm flipV="1">
            <a:off x="7423150" y="3603625"/>
            <a:ext cx="201613"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0" name="直接连接符 86"/>
          <p:cNvSpPr/>
          <p:nvPr/>
        </p:nvSpPr>
        <p:spPr>
          <a:xfrm flipH="1">
            <a:off x="5913438" y="3467100"/>
            <a:ext cx="200025" cy="136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1" name="直接连接符 87"/>
          <p:cNvSpPr/>
          <p:nvPr/>
        </p:nvSpPr>
        <p:spPr>
          <a:xfrm flipH="1" flipV="1">
            <a:off x="5913438" y="3603625"/>
            <a:ext cx="200025"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2" name="直接连接符 88"/>
          <p:cNvSpPr/>
          <p:nvPr/>
        </p:nvSpPr>
        <p:spPr>
          <a:xfrm>
            <a:off x="1852613" y="4891088"/>
            <a:ext cx="561975"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3" name="直接连接符 89"/>
          <p:cNvSpPr/>
          <p:nvPr/>
        </p:nvSpPr>
        <p:spPr>
          <a:xfrm>
            <a:off x="1852613" y="5119688"/>
            <a:ext cx="655637"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4" name="直接连接符 90"/>
          <p:cNvSpPr/>
          <p:nvPr/>
        </p:nvSpPr>
        <p:spPr>
          <a:xfrm>
            <a:off x="2414588" y="4891088"/>
            <a:ext cx="93662" cy="22860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5" name="直接连接符 91"/>
          <p:cNvSpPr/>
          <p:nvPr/>
        </p:nvSpPr>
        <p:spPr>
          <a:xfrm>
            <a:off x="2508250" y="5119688"/>
            <a:ext cx="440690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6" name="直接连接符 92"/>
          <p:cNvSpPr/>
          <p:nvPr/>
        </p:nvSpPr>
        <p:spPr>
          <a:xfrm>
            <a:off x="6915150" y="5119688"/>
            <a:ext cx="842963"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7" name="直接连接符 93"/>
          <p:cNvSpPr/>
          <p:nvPr/>
        </p:nvSpPr>
        <p:spPr>
          <a:xfrm flipV="1">
            <a:off x="6915150" y="4891088"/>
            <a:ext cx="93663" cy="22860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8" name="直接连接符 94"/>
          <p:cNvSpPr/>
          <p:nvPr/>
        </p:nvSpPr>
        <p:spPr>
          <a:xfrm>
            <a:off x="7008813" y="4891088"/>
            <a:ext cx="749300"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39" name="直接连接符 95"/>
          <p:cNvSpPr/>
          <p:nvPr/>
        </p:nvSpPr>
        <p:spPr>
          <a:xfrm>
            <a:off x="7618413" y="3595688"/>
            <a:ext cx="280987"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0" name="直接连接符 96"/>
          <p:cNvSpPr/>
          <p:nvPr/>
        </p:nvSpPr>
        <p:spPr>
          <a:xfrm>
            <a:off x="1946275" y="5348288"/>
            <a:ext cx="655638"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1" name="直接连接符 97"/>
          <p:cNvSpPr/>
          <p:nvPr/>
        </p:nvSpPr>
        <p:spPr>
          <a:xfrm>
            <a:off x="1946275" y="5576888"/>
            <a:ext cx="561975"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2" name="直接连接符 98"/>
          <p:cNvSpPr/>
          <p:nvPr/>
        </p:nvSpPr>
        <p:spPr>
          <a:xfrm flipH="1">
            <a:off x="2508250" y="5348288"/>
            <a:ext cx="93663" cy="22860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3" name="直接连接符 99"/>
          <p:cNvSpPr/>
          <p:nvPr/>
        </p:nvSpPr>
        <p:spPr>
          <a:xfrm>
            <a:off x="1852613" y="5348288"/>
            <a:ext cx="2249487"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4" name="直接连接符 100"/>
          <p:cNvSpPr/>
          <p:nvPr/>
        </p:nvSpPr>
        <p:spPr>
          <a:xfrm>
            <a:off x="4102100" y="5348288"/>
            <a:ext cx="187325" cy="30480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5" name="直接连接符 101"/>
          <p:cNvSpPr/>
          <p:nvPr/>
        </p:nvSpPr>
        <p:spPr>
          <a:xfrm>
            <a:off x="4289425" y="5653088"/>
            <a:ext cx="2251075"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6" name="直接连接符 102"/>
          <p:cNvSpPr/>
          <p:nvPr/>
        </p:nvSpPr>
        <p:spPr>
          <a:xfrm flipV="1">
            <a:off x="6540500" y="5348288"/>
            <a:ext cx="93663" cy="30480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7" name="直接连接符 103"/>
          <p:cNvSpPr/>
          <p:nvPr/>
        </p:nvSpPr>
        <p:spPr>
          <a:xfrm>
            <a:off x="6634163" y="5348288"/>
            <a:ext cx="468312"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8" name="直接连接符 104"/>
          <p:cNvSpPr/>
          <p:nvPr/>
        </p:nvSpPr>
        <p:spPr>
          <a:xfrm>
            <a:off x="7102475" y="5348288"/>
            <a:ext cx="749300"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49" name="直接连接符 105"/>
          <p:cNvSpPr/>
          <p:nvPr/>
        </p:nvSpPr>
        <p:spPr>
          <a:xfrm flipH="1" flipV="1">
            <a:off x="7196138" y="5348288"/>
            <a:ext cx="93662" cy="30480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50" name="直接连接符 106"/>
          <p:cNvSpPr/>
          <p:nvPr/>
        </p:nvSpPr>
        <p:spPr>
          <a:xfrm>
            <a:off x="7289800" y="5653088"/>
            <a:ext cx="468313"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51" name="文本框 107"/>
          <p:cNvSpPr txBox="1"/>
          <p:nvPr/>
        </p:nvSpPr>
        <p:spPr>
          <a:xfrm>
            <a:off x="3259138" y="2681288"/>
            <a:ext cx="749300" cy="304800"/>
          </a:xfrm>
          <a:prstGeom prst="rect">
            <a:avLst/>
          </a:prstGeom>
          <a:noFill/>
          <a:ln w="9525">
            <a:noFill/>
          </a:ln>
        </p:spPr>
        <p:txBody>
          <a:bodyPr anchor="t" anchorCtr="0">
            <a:spAutoFit/>
          </a:bodyPr>
          <a:lstStyle/>
          <a:p>
            <a:pPr algn="ctr">
              <a:spcBef>
                <a:spcPct val="50000"/>
              </a:spcBef>
            </a:pPr>
            <a:r>
              <a:rPr lang="zh-CN" altLang="en-US" sz="1400" b="0" dirty="0">
                <a:solidFill>
                  <a:srgbClr val="66FF33"/>
                </a:solidFill>
                <a:latin typeface="Tahoma" panose="020B0604030504040204" pitchFamily="34" charset="0"/>
                <a:ea typeface="宋体" panose="02010600030101010101" pitchFamily="2" charset="-122"/>
              </a:rPr>
              <a:t>地址</a:t>
            </a:r>
          </a:p>
        </p:txBody>
      </p:sp>
      <p:sp>
        <p:nvSpPr>
          <p:cNvPr id="83052" name="文本框 108"/>
          <p:cNvSpPr txBox="1"/>
          <p:nvPr/>
        </p:nvSpPr>
        <p:spPr>
          <a:xfrm>
            <a:off x="4852988" y="2681288"/>
            <a:ext cx="1781175" cy="304800"/>
          </a:xfrm>
          <a:prstGeom prst="rect">
            <a:avLst/>
          </a:prstGeom>
          <a:noFill/>
          <a:ln w="9525">
            <a:noFill/>
          </a:ln>
        </p:spPr>
        <p:txBody>
          <a:bodyPr anchor="t" anchorCtr="0">
            <a:spAutoFit/>
          </a:bodyPr>
          <a:lstStyle/>
          <a:p>
            <a:pPr algn="dist">
              <a:spcBef>
                <a:spcPct val="50000"/>
              </a:spcBef>
            </a:pPr>
            <a:r>
              <a:rPr lang="zh-CN" altLang="en-US" sz="1400" b="0" dirty="0">
                <a:solidFill>
                  <a:srgbClr val="66FF33"/>
                </a:solidFill>
                <a:latin typeface="Tahoma" panose="020B0604030504040204" pitchFamily="34" charset="0"/>
                <a:ea typeface="宋体" panose="02010600030101010101" pitchFamily="2" charset="-122"/>
              </a:rPr>
              <a:t>状态输出</a:t>
            </a:r>
          </a:p>
        </p:txBody>
      </p:sp>
      <p:sp>
        <p:nvSpPr>
          <p:cNvPr id="83053" name="文本框 109"/>
          <p:cNvSpPr txBox="1"/>
          <p:nvPr/>
        </p:nvSpPr>
        <p:spPr>
          <a:xfrm>
            <a:off x="3259138" y="3443288"/>
            <a:ext cx="749300" cy="304800"/>
          </a:xfrm>
          <a:prstGeom prst="rect">
            <a:avLst/>
          </a:prstGeom>
          <a:noFill/>
          <a:ln w="9525">
            <a:noFill/>
          </a:ln>
        </p:spPr>
        <p:txBody>
          <a:bodyPr anchor="t" anchorCtr="0">
            <a:spAutoFit/>
          </a:bodyPr>
          <a:lstStyle/>
          <a:p>
            <a:pPr algn="ctr">
              <a:spcBef>
                <a:spcPct val="50000"/>
              </a:spcBef>
            </a:pPr>
            <a:r>
              <a:rPr lang="zh-CN" altLang="en-US" sz="1400" b="0" dirty="0">
                <a:solidFill>
                  <a:srgbClr val="66FF33"/>
                </a:solidFill>
                <a:latin typeface="Tahoma" panose="020B0604030504040204" pitchFamily="34" charset="0"/>
                <a:ea typeface="宋体" panose="02010600030101010101" pitchFamily="2" charset="-122"/>
              </a:rPr>
              <a:t>地址</a:t>
            </a:r>
          </a:p>
        </p:txBody>
      </p:sp>
      <p:sp>
        <p:nvSpPr>
          <p:cNvPr id="83054" name="文本框 110"/>
          <p:cNvSpPr txBox="1"/>
          <p:nvPr/>
        </p:nvSpPr>
        <p:spPr>
          <a:xfrm>
            <a:off x="6164263" y="3443288"/>
            <a:ext cx="1219200" cy="304800"/>
          </a:xfrm>
          <a:prstGeom prst="rect">
            <a:avLst/>
          </a:prstGeom>
          <a:noFill/>
          <a:ln w="9525">
            <a:noFill/>
          </a:ln>
        </p:spPr>
        <p:txBody>
          <a:bodyPr anchor="t" anchorCtr="0">
            <a:spAutoFit/>
          </a:bodyPr>
          <a:lstStyle/>
          <a:p>
            <a:pPr algn="dist">
              <a:spcBef>
                <a:spcPct val="50000"/>
              </a:spcBef>
            </a:pPr>
            <a:r>
              <a:rPr lang="zh-CN" altLang="en-US" sz="1400" b="0" dirty="0">
                <a:solidFill>
                  <a:srgbClr val="66FF33"/>
                </a:solidFill>
                <a:latin typeface="Tahoma" panose="020B0604030504040204" pitchFamily="34" charset="0"/>
                <a:ea typeface="宋体" panose="02010600030101010101" pitchFamily="2" charset="-122"/>
              </a:rPr>
              <a:t>数据输入</a:t>
            </a:r>
          </a:p>
        </p:txBody>
      </p:sp>
      <p:sp>
        <p:nvSpPr>
          <p:cNvPr id="83055" name="文本框 111"/>
          <p:cNvSpPr txBox="1"/>
          <p:nvPr/>
        </p:nvSpPr>
        <p:spPr>
          <a:xfrm>
            <a:off x="381000" y="2619375"/>
            <a:ext cx="1905000" cy="366713"/>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A</a:t>
            </a:r>
            <a:r>
              <a:rPr lang="en-US" altLang="zh-CN" sz="1800" b="0" baseline="-25000">
                <a:solidFill>
                  <a:srgbClr val="66FF33"/>
                </a:solidFill>
                <a:latin typeface="Tahoma" panose="020B0604030504040204" pitchFamily="34" charset="0"/>
                <a:ea typeface="宋体" panose="02010600030101010101" pitchFamily="2" charset="-122"/>
              </a:rPr>
              <a:t>19</a:t>
            </a:r>
            <a:r>
              <a:rPr lang="en-US" altLang="zh-CN" sz="1800" b="0">
                <a:solidFill>
                  <a:srgbClr val="66FF33"/>
                </a:solidFill>
                <a:latin typeface="Tahoma" panose="020B0604030504040204" pitchFamily="34" charset="0"/>
                <a:ea typeface="宋体" panose="02010600030101010101" pitchFamily="2" charset="-122"/>
              </a:rPr>
              <a:t>/S</a:t>
            </a:r>
            <a:r>
              <a:rPr lang="en-US" altLang="zh-CN" sz="1800" b="0" baseline="-25000">
                <a:solidFill>
                  <a:srgbClr val="66FF33"/>
                </a:solidFill>
                <a:latin typeface="Tahoma" panose="020B0604030504040204" pitchFamily="34" charset="0"/>
                <a:ea typeface="宋体" panose="02010600030101010101" pitchFamily="2" charset="-122"/>
              </a:rPr>
              <a:t>6</a:t>
            </a:r>
            <a:r>
              <a:rPr lang="en-US" altLang="zh-CN" sz="1800" b="0">
                <a:solidFill>
                  <a:srgbClr val="66FF33"/>
                </a:solidFill>
                <a:latin typeface="Tahoma" panose="020B0604030504040204" pitchFamily="34" charset="0"/>
                <a:ea typeface="宋体" panose="02010600030101010101" pitchFamily="2" charset="-122"/>
              </a:rPr>
              <a:t>-A</a:t>
            </a:r>
            <a:r>
              <a:rPr lang="en-US" altLang="zh-CN" sz="1800" b="0" baseline="-25000">
                <a:solidFill>
                  <a:srgbClr val="66FF33"/>
                </a:solidFill>
                <a:latin typeface="Tahoma" panose="020B0604030504040204" pitchFamily="34" charset="0"/>
                <a:ea typeface="宋体" panose="02010600030101010101" pitchFamily="2" charset="-122"/>
              </a:rPr>
              <a:t>16</a:t>
            </a:r>
            <a:r>
              <a:rPr lang="en-US" altLang="zh-CN" sz="1800" b="0">
                <a:solidFill>
                  <a:srgbClr val="66FF33"/>
                </a:solidFill>
                <a:latin typeface="Tahoma" panose="020B0604030504040204" pitchFamily="34" charset="0"/>
                <a:ea typeface="宋体" panose="02010600030101010101" pitchFamily="2" charset="-122"/>
              </a:rPr>
              <a:t>/S</a:t>
            </a:r>
            <a:r>
              <a:rPr lang="en-US" altLang="zh-CN" sz="1800" b="0" baseline="-25000">
                <a:solidFill>
                  <a:srgbClr val="66FF33"/>
                </a:solidFill>
                <a:latin typeface="Tahoma" panose="020B0604030504040204" pitchFamily="34" charset="0"/>
                <a:ea typeface="宋体" panose="02010600030101010101" pitchFamily="2" charset="-122"/>
              </a:rPr>
              <a:t>3</a:t>
            </a:r>
          </a:p>
        </p:txBody>
      </p:sp>
      <p:sp>
        <p:nvSpPr>
          <p:cNvPr id="83056" name="文本框 112"/>
          <p:cNvSpPr txBox="1"/>
          <p:nvPr/>
        </p:nvSpPr>
        <p:spPr>
          <a:xfrm>
            <a:off x="990600" y="2986088"/>
            <a:ext cx="9144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BHE/S</a:t>
            </a:r>
            <a:r>
              <a:rPr lang="en-US" altLang="zh-CN" sz="1800" b="0" baseline="-25000">
                <a:solidFill>
                  <a:srgbClr val="66FF33"/>
                </a:solidFill>
                <a:latin typeface="Tahoma" panose="020B0604030504040204" pitchFamily="34" charset="0"/>
                <a:ea typeface="宋体" panose="02010600030101010101" pitchFamily="2" charset="-122"/>
              </a:rPr>
              <a:t>7</a:t>
            </a:r>
          </a:p>
        </p:txBody>
      </p:sp>
      <p:sp>
        <p:nvSpPr>
          <p:cNvPr id="83057" name="文本框 113"/>
          <p:cNvSpPr txBox="1"/>
          <p:nvPr/>
        </p:nvSpPr>
        <p:spPr>
          <a:xfrm>
            <a:off x="838200" y="3457575"/>
            <a:ext cx="1295400" cy="366713"/>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AD</a:t>
            </a:r>
            <a:r>
              <a:rPr lang="en-US" altLang="zh-CN" sz="1800" b="0" baseline="-25000">
                <a:solidFill>
                  <a:srgbClr val="66FF33"/>
                </a:solidFill>
                <a:latin typeface="Tahoma" panose="020B0604030504040204" pitchFamily="34" charset="0"/>
                <a:ea typeface="宋体" panose="02010600030101010101" pitchFamily="2" charset="-122"/>
              </a:rPr>
              <a:t>15</a:t>
            </a:r>
            <a:r>
              <a:rPr lang="en-US" altLang="zh-CN" sz="1800" b="0">
                <a:solidFill>
                  <a:srgbClr val="66FF33"/>
                </a:solidFill>
                <a:latin typeface="Tahoma" panose="020B0604030504040204" pitchFamily="34" charset="0"/>
                <a:ea typeface="宋体" panose="02010600030101010101" pitchFamily="2" charset="-122"/>
              </a:rPr>
              <a:t>-AD</a:t>
            </a:r>
            <a:r>
              <a:rPr lang="en-US" altLang="zh-CN" sz="1800" b="0" baseline="-25000">
                <a:solidFill>
                  <a:srgbClr val="66FF33"/>
                </a:solidFill>
                <a:latin typeface="Tahoma" panose="020B0604030504040204" pitchFamily="34" charset="0"/>
                <a:ea typeface="宋体" panose="02010600030101010101" pitchFamily="2" charset="-122"/>
              </a:rPr>
              <a:t>0</a:t>
            </a:r>
          </a:p>
        </p:txBody>
      </p:sp>
      <p:sp>
        <p:nvSpPr>
          <p:cNvPr id="83058" name="文本框 114"/>
          <p:cNvSpPr txBox="1"/>
          <p:nvPr/>
        </p:nvSpPr>
        <p:spPr>
          <a:xfrm>
            <a:off x="1143000" y="3824288"/>
            <a:ext cx="6858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ALE</a:t>
            </a:r>
          </a:p>
        </p:txBody>
      </p:sp>
      <p:sp>
        <p:nvSpPr>
          <p:cNvPr id="83059" name="文本框 115"/>
          <p:cNvSpPr txBox="1"/>
          <p:nvPr/>
        </p:nvSpPr>
        <p:spPr>
          <a:xfrm>
            <a:off x="1219200" y="4281488"/>
            <a:ext cx="6096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RD</a:t>
            </a:r>
          </a:p>
        </p:txBody>
      </p:sp>
      <p:sp>
        <p:nvSpPr>
          <p:cNvPr id="83060" name="文本框 116"/>
          <p:cNvSpPr txBox="1"/>
          <p:nvPr/>
        </p:nvSpPr>
        <p:spPr>
          <a:xfrm>
            <a:off x="1143000" y="4891088"/>
            <a:ext cx="8382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DT/R</a:t>
            </a:r>
          </a:p>
        </p:txBody>
      </p:sp>
      <p:sp>
        <p:nvSpPr>
          <p:cNvPr id="83061" name="文本框 117"/>
          <p:cNvSpPr txBox="1"/>
          <p:nvPr/>
        </p:nvSpPr>
        <p:spPr>
          <a:xfrm>
            <a:off x="1066800" y="5348288"/>
            <a:ext cx="7620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DEN</a:t>
            </a:r>
          </a:p>
        </p:txBody>
      </p:sp>
      <p:sp>
        <p:nvSpPr>
          <p:cNvPr id="83062" name="直接连接符 118"/>
          <p:cNvSpPr/>
          <p:nvPr/>
        </p:nvSpPr>
        <p:spPr>
          <a:xfrm>
            <a:off x="1219200" y="5395913"/>
            <a:ext cx="457200" cy="0"/>
          </a:xfrm>
          <a:prstGeom prst="line">
            <a:avLst/>
          </a:prstGeom>
          <a:ln w="2857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63" name="直接连接符 119"/>
          <p:cNvSpPr/>
          <p:nvPr/>
        </p:nvSpPr>
        <p:spPr>
          <a:xfrm>
            <a:off x="1676400" y="4938713"/>
            <a:ext cx="152400" cy="0"/>
          </a:xfrm>
          <a:prstGeom prst="line">
            <a:avLst/>
          </a:prstGeom>
          <a:ln w="2857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64" name="直接连接符 120"/>
          <p:cNvSpPr/>
          <p:nvPr/>
        </p:nvSpPr>
        <p:spPr>
          <a:xfrm>
            <a:off x="1371600" y="4329113"/>
            <a:ext cx="228600" cy="0"/>
          </a:xfrm>
          <a:prstGeom prst="line">
            <a:avLst/>
          </a:prstGeom>
          <a:ln w="2857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65" name="矩形 121"/>
          <p:cNvSpPr/>
          <p:nvPr/>
        </p:nvSpPr>
        <p:spPr>
          <a:xfrm>
            <a:off x="2895600" y="6110288"/>
            <a:ext cx="3657600" cy="366712"/>
          </a:xfrm>
          <a:prstGeom prst="rect">
            <a:avLst/>
          </a:prstGeom>
          <a:noFill/>
          <a:ln w="9525">
            <a:noFill/>
          </a:ln>
        </p:spPr>
        <p:txBody>
          <a:bodyPr wrap="none" anchor="t" anchorCtr="0">
            <a:spAutoFit/>
          </a:bodyPr>
          <a:lstStyle/>
          <a:p>
            <a:pPr algn="ctr"/>
            <a:r>
              <a:rPr lang="zh-CN" altLang="en-US" sz="1800" b="0" dirty="0">
                <a:solidFill>
                  <a:srgbClr val="66FF33"/>
                </a:solidFill>
                <a:latin typeface="Tahoma" panose="020B0604030504040204" pitchFamily="34" charset="0"/>
                <a:ea typeface="宋体" panose="02010600030101010101" pitchFamily="2" charset="-122"/>
              </a:rPr>
              <a:t>最小模式下8086读总线操作时序图</a:t>
            </a:r>
            <a:endParaRPr lang="en-US" altLang="zh-CN" sz="1800" b="0">
              <a:solidFill>
                <a:srgbClr val="66FF33"/>
              </a:solidFill>
              <a:latin typeface="Tahoma" panose="020B0604030504040204" pitchFamily="34" charset="0"/>
              <a:ea typeface="宋体" panose="02010600030101010101" pitchFamily="2" charset="-122"/>
            </a:endParaRPr>
          </a:p>
        </p:txBody>
      </p:sp>
      <p:sp>
        <p:nvSpPr>
          <p:cNvPr id="83066" name="直接连接符 122"/>
          <p:cNvSpPr/>
          <p:nvPr/>
        </p:nvSpPr>
        <p:spPr>
          <a:xfrm>
            <a:off x="1524000" y="2347913"/>
            <a:ext cx="15240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67" name="直接连接符 123"/>
          <p:cNvSpPr/>
          <p:nvPr/>
        </p:nvSpPr>
        <p:spPr>
          <a:xfrm>
            <a:off x="1066800" y="3033713"/>
            <a:ext cx="38100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68" name="直接连接符 124"/>
          <p:cNvSpPr/>
          <p:nvPr/>
        </p:nvSpPr>
        <p:spPr>
          <a:xfrm flipV="1">
            <a:off x="5791200" y="4205288"/>
            <a:ext cx="152400" cy="30480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69" name="直接连接符 125"/>
          <p:cNvSpPr/>
          <p:nvPr/>
        </p:nvSpPr>
        <p:spPr>
          <a:xfrm>
            <a:off x="4191000" y="4510088"/>
            <a:ext cx="160020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70" name="直接连接符 126"/>
          <p:cNvSpPr/>
          <p:nvPr/>
        </p:nvSpPr>
        <p:spPr>
          <a:xfrm>
            <a:off x="5943600" y="4205288"/>
            <a:ext cx="1952625" cy="11112"/>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71" name="直接连接符 127"/>
          <p:cNvSpPr/>
          <p:nvPr/>
        </p:nvSpPr>
        <p:spPr>
          <a:xfrm>
            <a:off x="28956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72" name="直接连接符 128"/>
          <p:cNvSpPr/>
          <p:nvPr/>
        </p:nvSpPr>
        <p:spPr>
          <a:xfrm>
            <a:off x="46101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73" name="直接连接符 129"/>
          <p:cNvSpPr/>
          <p:nvPr/>
        </p:nvSpPr>
        <p:spPr>
          <a:xfrm>
            <a:off x="54610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74" name="直接连接符 130"/>
          <p:cNvSpPr/>
          <p:nvPr/>
        </p:nvSpPr>
        <p:spPr>
          <a:xfrm>
            <a:off x="63246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75" name="直接连接符 131"/>
          <p:cNvSpPr/>
          <p:nvPr/>
        </p:nvSpPr>
        <p:spPr>
          <a:xfrm>
            <a:off x="71882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76" name="直接连接符 132"/>
          <p:cNvSpPr/>
          <p:nvPr/>
        </p:nvSpPr>
        <p:spPr>
          <a:xfrm>
            <a:off x="3746500" y="17795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83077" name="矩形 133"/>
          <p:cNvSpPr/>
          <p:nvPr/>
        </p:nvSpPr>
        <p:spPr>
          <a:xfrm>
            <a:off x="381000" y="571500"/>
            <a:ext cx="6637338" cy="552450"/>
          </a:xfrm>
          <a:prstGeom prst="rect">
            <a:avLst/>
          </a:prstGeom>
          <a:noFill/>
          <a:ln w="9525">
            <a:noFill/>
          </a:ln>
        </p:spPr>
        <p:txBody>
          <a:bodyPr anchor="t" anchorCtr="0">
            <a:spAutoFit/>
          </a:bodyPr>
          <a:lstStyle/>
          <a:p>
            <a:pPr algn="ctr"/>
            <a:r>
              <a:rPr lang="zh-CN" altLang="en-US" sz="3200" dirty="0">
                <a:solidFill>
                  <a:srgbClr val="FFFF00"/>
                </a:solidFill>
                <a:latin typeface="Times New Roman" panose="02020603050405020304" pitchFamily="18" charset="0"/>
                <a:ea typeface="宋体" panose="02010600030101010101" pitchFamily="2" charset="-122"/>
              </a:rPr>
              <a:t>3</a:t>
            </a:r>
            <a:r>
              <a:rPr lang="en-US" altLang="zh-CN" sz="3200" dirty="0">
                <a:solidFill>
                  <a:srgbClr val="FFFF00"/>
                </a:solidFill>
                <a:latin typeface="Times New Roman" panose="02020603050405020304" pitchFamily="18" charset="0"/>
                <a:ea typeface="宋体" panose="02010600030101010101" pitchFamily="2" charset="-122"/>
              </a:rPr>
              <a:t>. </a:t>
            </a:r>
            <a:r>
              <a:rPr lang="zh-CN" altLang="en-US" sz="3200" dirty="0">
                <a:solidFill>
                  <a:srgbClr val="FFFF00"/>
                </a:solidFill>
                <a:latin typeface="Times New Roman" panose="02020603050405020304" pitchFamily="18" charset="0"/>
                <a:ea typeface="宋体" panose="02010600030101010101" pitchFamily="2" charset="-122"/>
              </a:rPr>
              <a:t>最小模式下的8086时序分析</a:t>
            </a:r>
            <a:endParaRPr lang="en-US" altLang="zh-CN" sz="3200">
              <a:solidFill>
                <a:srgbClr val="FFFF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3" name="图片 238757"/>
          <p:cNvPicPr>
            <a:picLocks noChangeAspect="1"/>
          </p:cNvPicPr>
          <p:nvPr/>
        </p:nvPicPr>
        <p:blipFill>
          <a:blip r:embed="rId3"/>
          <a:stretch>
            <a:fillRect/>
          </a:stretch>
        </p:blipFill>
        <p:spPr>
          <a:xfrm>
            <a:off x="4516438" y="3317875"/>
            <a:ext cx="4618037" cy="3529013"/>
          </a:xfrm>
          <a:prstGeom prst="rect">
            <a:avLst/>
          </a:prstGeom>
          <a:noFill/>
          <a:ln w="9525">
            <a:noFill/>
          </a:ln>
        </p:spPr>
      </p:pic>
      <p:pic>
        <p:nvPicPr>
          <p:cNvPr id="84994" name="图片 237725"/>
          <p:cNvPicPr>
            <a:picLocks noChangeAspect="1"/>
          </p:cNvPicPr>
          <p:nvPr/>
        </p:nvPicPr>
        <p:blipFill>
          <a:blip r:embed="rId4"/>
          <a:stretch>
            <a:fillRect/>
          </a:stretch>
        </p:blipFill>
        <p:spPr>
          <a:xfrm>
            <a:off x="12700" y="3175"/>
            <a:ext cx="4972050" cy="3810000"/>
          </a:xfrm>
          <a:prstGeom prst="rect">
            <a:avLst/>
          </a:prstGeom>
          <a:noFill/>
          <a:ln w="9525">
            <a:noFill/>
          </a:ln>
        </p:spPr>
      </p:pic>
      <p:sp>
        <p:nvSpPr>
          <p:cNvPr id="84995" name="文本框 1"/>
          <p:cNvSpPr txBox="1"/>
          <p:nvPr/>
        </p:nvSpPr>
        <p:spPr>
          <a:xfrm>
            <a:off x="1309688" y="3490913"/>
            <a:ext cx="790575" cy="258762"/>
          </a:xfrm>
          <a:prstGeom prst="rect">
            <a:avLst/>
          </a:prstGeom>
          <a:solidFill>
            <a:schemeClr val="tx1"/>
          </a:solidFill>
          <a:ln w="9525">
            <a:noFill/>
          </a:ln>
        </p:spPr>
        <p:txBody>
          <a:bodyPr wrap="square" anchor="t" anchorCtr="0">
            <a:spAutoFit/>
          </a:bodyPr>
          <a:lstStyle/>
          <a:p>
            <a:endParaRPr lang="zh-CN" altLang="en-US" sz="1200">
              <a:latin typeface="宋体" panose="02010600030101010101" pitchFamily="2" charset="-122"/>
              <a:ea typeface="宋体" panose="02010600030101010101" pitchFamily="2" charset="-122"/>
            </a:endParaRPr>
          </a:p>
        </p:txBody>
      </p:sp>
      <p:sp>
        <p:nvSpPr>
          <p:cNvPr id="84996" name="文本框 2"/>
          <p:cNvSpPr txBox="1"/>
          <p:nvPr/>
        </p:nvSpPr>
        <p:spPr>
          <a:xfrm>
            <a:off x="5865813" y="6561138"/>
            <a:ext cx="790575" cy="258762"/>
          </a:xfrm>
          <a:prstGeom prst="rect">
            <a:avLst/>
          </a:prstGeom>
          <a:solidFill>
            <a:schemeClr val="tx1"/>
          </a:solidFill>
          <a:ln w="9525">
            <a:noFill/>
          </a:ln>
        </p:spPr>
        <p:txBody>
          <a:bodyPr wrap="square" anchor="t" anchorCtr="0">
            <a:spAutoFit/>
          </a:bodyPr>
          <a:lstStyle/>
          <a:p>
            <a:endParaRPr lang="zh-CN" altLang="en-US" sz="12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文本占位符 240641"/>
          <p:cNvSpPr>
            <a:spLocks noGrp="1"/>
          </p:cNvSpPr>
          <p:nvPr>
            <p:ph type="body" idx="4294967295"/>
          </p:nvPr>
        </p:nvSpPr>
        <p:spPr>
          <a:xfrm>
            <a:off x="0" y="1828800"/>
            <a:ext cx="8229600" cy="4495800"/>
          </a:xfrm>
          <a:ln/>
        </p:spPr>
        <p:txBody>
          <a:bodyPr lIns="92075" tIns="46038" rIns="92075" bIns="46038" anchor="t" anchorCtr="0"/>
          <a:lstStyle/>
          <a:p>
            <a:pPr lvl="1">
              <a:buNone/>
            </a:pPr>
            <a:endParaRPr lang="zh-CN" altLang="en-US" sz="3200" dirty="0">
              <a:solidFill>
                <a:schemeClr val="bg1"/>
              </a:solidFill>
              <a:latin typeface="楷体_GB2312" pitchFamily="49" charset="-122"/>
              <a:ea typeface="楷体_GB2312" pitchFamily="49" charset="-122"/>
            </a:endParaRPr>
          </a:p>
          <a:p>
            <a:pPr lvl="1"/>
            <a:endParaRPr lang="zh-CN" altLang="en-US" dirty="0">
              <a:solidFill>
                <a:schemeClr val="bg1"/>
              </a:solidFill>
              <a:latin typeface="楷体_GB2312" pitchFamily="49" charset="-122"/>
              <a:ea typeface="楷体_GB2312" pitchFamily="49" charset="-122"/>
            </a:endParaRPr>
          </a:p>
        </p:txBody>
      </p:sp>
      <p:pic>
        <p:nvPicPr>
          <p:cNvPr id="87042" name="图片 240771"/>
          <p:cNvPicPr>
            <a:picLocks noChangeAspect="1"/>
          </p:cNvPicPr>
          <p:nvPr/>
        </p:nvPicPr>
        <p:blipFill>
          <a:blip r:embed="rId3"/>
          <a:stretch>
            <a:fillRect/>
          </a:stretch>
        </p:blipFill>
        <p:spPr>
          <a:xfrm>
            <a:off x="42863" y="33338"/>
            <a:ext cx="5300662" cy="3529012"/>
          </a:xfrm>
          <a:prstGeom prst="rect">
            <a:avLst/>
          </a:prstGeom>
          <a:noFill/>
          <a:ln w="9525">
            <a:noFill/>
          </a:ln>
        </p:spPr>
      </p:pic>
      <p:pic>
        <p:nvPicPr>
          <p:cNvPr id="87043" name="图片 241796"/>
          <p:cNvPicPr>
            <a:picLocks noChangeAspect="1"/>
          </p:cNvPicPr>
          <p:nvPr/>
        </p:nvPicPr>
        <p:blipFill>
          <a:blip r:embed="rId4"/>
          <a:stretch>
            <a:fillRect/>
          </a:stretch>
        </p:blipFill>
        <p:spPr>
          <a:xfrm>
            <a:off x="4127500" y="3448050"/>
            <a:ext cx="5003800" cy="3397250"/>
          </a:xfrm>
          <a:prstGeom prst="rect">
            <a:avLst/>
          </a:prstGeom>
          <a:noFill/>
          <a:ln w="9525">
            <a:noFill/>
          </a:ln>
        </p:spPr>
      </p:pic>
      <p:sp>
        <p:nvSpPr>
          <p:cNvPr id="87044" name="文本框 1"/>
          <p:cNvSpPr txBox="1"/>
          <p:nvPr/>
        </p:nvSpPr>
        <p:spPr>
          <a:xfrm>
            <a:off x="1233488" y="3271838"/>
            <a:ext cx="790575" cy="258762"/>
          </a:xfrm>
          <a:prstGeom prst="rect">
            <a:avLst/>
          </a:prstGeom>
          <a:solidFill>
            <a:schemeClr val="tx1"/>
          </a:solidFill>
          <a:ln w="9525">
            <a:noFill/>
          </a:ln>
        </p:spPr>
        <p:txBody>
          <a:bodyPr wrap="square" anchor="t" anchorCtr="0">
            <a:spAutoFit/>
          </a:bodyPr>
          <a:lstStyle/>
          <a:p>
            <a:endParaRPr lang="zh-CN" altLang="en-US" sz="1200">
              <a:latin typeface="宋体" panose="02010600030101010101" pitchFamily="2" charset="-122"/>
              <a:ea typeface="宋体" panose="02010600030101010101" pitchFamily="2" charset="-122"/>
            </a:endParaRPr>
          </a:p>
        </p:txBody>
      </p:sp>
      <p:sp>
        <p:nvSpPr>
          <p:cNvPr id="87045" name="文本框 2"/>
          <p:cNvSpPr txBox="1"/>
          <p:nvPr/>
        </p:nvSpPr>
        <p:spPr>
          <a:xfrm>
            <a:off x="5224463" y="6596063"/>
            <a:ext cx="790575" cy="258762"/>
          </a:xfrm>
          <a:prstGeom prst="rect">
            <a:avLst/>
          </a:prstGeom>
          <a:solidFill>
            <a:schemeClr val="tx1"/>
          </a:solidFill>
          <a:ln w="9525">
            <a:noFill/>
          </a:ln>
        </p:spPr>
        <p:txBody>
          <a:bodyPr wrap="square" anchor="t" anchorCtr="0">
            <a:spAutoFit/>
          </a:bodyPr>
          <a:lstStyle/>
          <a:p>
            <a:endParaRPr lang="zh-CN" altLang="en-US" sz="12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368925"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2.2  80386</a:t>
            </a:r>
            <a:r>
              <a:rPr kumimoji="1" lang="zh-CN"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微处理器</a:t>
            </a:r>
            <a:endParaRPr kumimoji="1" lang="zh-CN" altLang="en-US"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endParaRPr>
          </a:p>
        </p:txBody>
      </p:sp>
      <p:sp>
        <p:nvSpPr>
          <p:cNvPr id="8909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89091" name="Rectangle 11"/>
          <p:cNvSpPr>
            <a:spLocks noGrp="1"/>
          </p:cNvSpPr>
          <p:nvPr>
            <p:ph idx="1"/>
          </p:nvPr>
        </p:nvSpPr>
        <p:spPr>
          <a:xfrm>
            <a:off x="1412875" y="2159000"/>
            <a:ext cx="6364288" cy="4170363"/>
          </a:xfrm>
          <a:ln/>
        </p:spPr>
        <p:txBody>
          <a:bodyPr wrap="square" lIns="92075" tIns="46038" rIns="92075" bIns="46038" anchor="t" anchorCtr="0"/>
          <a:lstStyle/>
          <a:p>
            <a:pPr eaLnBrk="1" hangingPunct="1">
              <a:buNone/>
            </a:pPr>
            <a:r>
              <a:rPr lang="en-US" altLang="zh-CN" dirty="0">
                <a:solidFill>
                  <a:srgbClr val="66FFCC"/>
                </a:solidFill>
                <a:sym typeface="Arial" panose="020B0604020202020204" pitchFamily="34" charset="0"/>
              </a:rPr>
              <a:t>2</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2</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1</a:t>
            </a:r>
            <a:r>
              <a:rPr lang="zh-CN" altLang="en-US" dirty="0">
                <a:solidFill>
                  <a:srgbClr val="66FFCC"/>
                </a:solidFill>
                <a:sym typeface="Arial" panose="020B0604020202020204" pitchFamily="34" charset="0"/>
              </a:rPr>
              <a:t>  </a:t>
            </a:r>
            <a:r>
              <a:rPr lang="zh-CN" altLang="en-US" dirty="0">
                <a:solidFill>
                  <a:srgbClr val="66FFCC"/>
                </a:solidFill>
              </a:rPr>
              <a:t>80386的内部结构</a:t>
            </a:r>
          </a:p>
          <a:p>
            <a:pPr eaLnBrk="1" hangingPunct="1">
              <a:buNone/>
            </a:pPr>
            <a:endParaRPr lang="zh-CN" altLang="en-US" dirty="0">
              <a:solidFill>
                <a:srgbClr val="66FFCC"/>
              </a:solidFill>
            </a:endParaRPr>
          </a:p>
          <a:p>
            <a:pPr eaLnBrk="1" hangingPunct="1">
              <a:buNone/>
            </a:pPr>
            <a:r>
              <a:rPr lang="zh-CN" altLang="en-US" dirty="0">
                <a:solidFill>
                  <a:srgbClr val="66FFCC"/>
                </a:solidFill>
                <a:sym typeface="Arial" panose="020B0604020202020204" pitchFamily="34" charset="0"/>
              </a:rPr>
              <a:t>2.2.2  </a:t>
            </a:r>
            <a:r>
              <a:rPr lang="zh-CN" altLang="en-US" dirty="0">
                <a:solidFill>
                  <a:srgbClr val="66FFCC"/>
                </a:solidFill>
              </a:rPr>
              <a:t>80386的寄存器</a:t>
            </a:r>
          </a:p>
          <a:p>
            <a:pPr eaLnBrk="1" hangingPunct="1">
              <a:buNone/>
            </a:pPr>
            <a:endParaRPr lang="zh-CN" altLang="en-US" dirty="0">
              <a:solidFill>
                <a:srgbClr val="66FFCC"/>
              </a:solidFill>
            </a:endParaRPr>
          </a:p>
          <a:p>
            <a:pPr eaLnBrk="1" hangingPunct="1">
              <a:buNone/>
            </a:pPr>
            <a:r>
              <a:rPr lang="zh-CN" altLang="en-US" dirty="0">
                <a:solidFill>
                  <a:srgbClr val="66FFCC"/>
                </a:solidFill>
                <a:sym typeface="Arial" panose="020B0604020202020204" pitchFamily="34" charset="0"/>
              </a:rPr>
              <a:t>2.2.3  </a:t>
            </a:r>
            <a:r>
              <a:rPr lang="zh-CN" altLang="en-US" dirty="0">
                <a:solidFill>
                  <a:srgbClr val="66FFCC"/>
                </a:solidFill>
              </a:rPr>
              <a:t>80386的工作方式</a:t>
            </a:r>
          </a:p>
          <a:p>
            <a:pPr eaLnBrk="1" hangingPunct="1">
              <a:buNone/>
            </a:pPr>
            <a:endParaRPr lang="zh-CN" altLang="en-US" dirty="0">
              <a:solidFill>
                <a:srgbClr val="66FFCC"/>
              </a:solidFill>
            </a:endParaRPr>
          </a:p>
          <a:p>
            <a:pPr eaLnBrk="1" hangingPunct="1">
              <a:buNone/>
            </a:pPr>
            <a:r>
              <a:rPr lang="zh-CN" altLang="en-US" dirty="0">
                <a:solidFill>
                  <a:srgbClr val="66FFCC"/>
                </a:solidFill>
                <a:sym typeface="Arial" panose="020B0604020202020204" pitchFamily="34" charset="0"/>
              </a:rPr>
              <a:t>2.2.4  </a:t>
            </a:r>
            <a:r>
              <a:rPr lang="zh-CN" altLang="en-US" dirty="0">
                <a:solidFill>
                  <a:srgbClr val="66FFCC"/>
                </a:solidFill>
              </a:rPr>
              <a:t>80386的存储器管理</a:t>
            </a:r>
          </a:p>
        </p:txBody>
      </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2.2.1  80386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的内部结构</a:t>
            </a:r>
          </a:p>
        </p:txBody>
      </p:sp>
      <p:sp>
        <p:nvSpPr>
          <p:cNvPr id="9113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91139" name="内容占位符 4"/>
          <p:cNvSpPr>
            <a:spLocks noGrp="1"/>
          </p:cNvSpPr>
          <p:nvPr>
            <p:ph idx="1"/>
          </p:nvPr>
        </p:nvSpPr>
        <p:spPr>
          <a:xfrm>
            <a:off x="2849563" y="6351588"/>
            <a:ext cx="3932237" cy="373062"/>
          </a:xfrm>
          <a:ln/>
        </p:spPr>
        <p:txBody>
          <a:bodyPr wrap="square" lIns="92075" tIns="46038" rIns="92075" bIns="46038" anchor="t" anchorCtr="0"/>
          <a:lstStyle/>
          <a:p>
            <a:pPr algn="just" eaLnBrk="1" hangingPunct="1">
              <a:buNone/>
            </a:pPr>
            <a:r>
              <a:rPr lang="zh-CN" altLang="zh-CN" sz="2000" dirty="0"/>
              <a:t>图</a:t>
            </a:r>
            <a:r>
              <a:rPr lang="en-US" altLang="zh-CN" sz="2000" dirty="0"/>
              <a:t>2-8  80386</a:t>
            </a:r>
            <a:r>
              <a:rPr lang="zh-CN" altLang="zh-CN" sz="2000" dirty="0"/>
              <a:t>的逻辑结构</a:t>
            </a:r>
          </a:p>
        </p:txBody>
      </p:sp>
      <p:pic>
        <p:nvPicPr>
          <p:cNvPr id="91140" name="Picture 2" descr="2"/>
          <p:cNvPicPr>
            <a:picLocks noChangeAspect="1"/>
          </p:cNvPicPr>
          <p:nvPr/>
        </p:nvPicPr>
        <p:blipFill>
          <a:blip r:embed="rId4"/>
          <a:stretch>
            <a:fillRect/>
          </a:stretch>
        </p:blipFill>
        <p:spPr>
          <a:xfrm>
            <a:off x="15875" y="1384300"/>
            <a:ext cx="9109075" cy="4873625"/>
          </a:xfrm>
          <a:prstGeom prst="rect">
            <a:avLst/>
          </a:prstGeom>
          <a:noFill/>
          <a:ln w="9525">
            <a:noFill/>
          </a:ln>
        </p:spPr>
      </p:pic>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2.2.2  80386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的寄存器</a:t>
            </a:r>
          </a:p>
        </p:txBody>
      </p:sp>
      <p:sp>
        <p:nvSpPr>
          <p:cNvPr id="9318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93187" name="内容占位符 4"/>
          <p:cNvSpPr>
            <a:spLocks noGrp="1"/>
          </p:cNvSpPr>
          <p:nvPr>
            <p:ph idx="1"/>
          </p:nvPr>
        </p:nvSpPr>
        <p:spPr>
          <a:xfrm>
            <a:off x="488950" y="1900238"/>
            <a:ext cx="7785100" cy="4438650"/>
          </a:xfrm>
          <a:ln/>
        </p:spPr>
        <p:txBody>
          <a:bodyPr wrap="square" lIns="92075" tIns="46038" rIns="92075" bIns="46038" anchor="t" anchorCtr="0"/>
          <a:lstStyle/>
          <a:p>
            <a:pPr algn="just" eaLnBrk="1" hangingPunct="1">
              <a:buNone/>
            </a:pPr>
            <a:r>
              <a:rPr lang="en-US" altLang="zh-CN" sz="2400" dirty="0"/>
              <a:t>             80386</a:t>
            </a:r>
            <a:r>
              <a:rPr lang="zh-CN" altLang="zh-CN" sz="2400" dirty="0"/>
              <a:t>共有</a:t>
            </a:r>
            <a:r>
              <a:rPr lang="en-US" altLang="zh-CN" sz="2400" dirty="0"/>
              <a:t>34</a:t>
            </a:r>
            <a:r>
              <a:rPr lang="zh-CN" altLang="zh-CN" sz="2400" dirty="0"/>
              <a:t>个寄存器，按功能可分为</a:t>
            </a:r>
            <a:r>
              <a:rPr lang="en-US" altLang="zh-CN" sz="2400" dirty="0"/>
              <a:t>7</a:t>
            </a:r>
            <a:r>
              <a:rPr lang="zh-CN" altLang="zh-CN" sz="2400" dirty="0"/>
              <a:t>类：通用寄存器、段寄存器、指令指针和标志寄存器、控制寄存器、系统地址寄存器、调试寄存器和测试寄存器。</a:t>
            </a:r>
          </a:p>
          <a:p>
            <a:pPr algn="just" eaLnBrk="1" hangingPunct="1">
              <a:buNone/>
            </a:pPr>
            <a:r>
              <a:rPr lang="en-US" altLang="zh-CN" sz="2400" dirty="0"/>
              <a:t>     1</a:t>
            </a:r>
            <a:r>
              <a:rPr lang="zh-CN" altLang="zh-CN" sz="2400" dirty="0"/>
              <a:t>．通用寄存器</a:t>
            </a:r>
          </a:p>
          <a:p>
            <a:pPr algn="just" eaLnBrk="1" hangingPunct="1">
              <a:buNone/>
            </a:pPr>
            <a:r>
              <a:rPr lang="en-US" altLang="zh-CN" sz="2400" dirty="0"/>
              <a:t>     2</a:t>
            </a:r>
            <a:r>
              <a:rPr lang="zh-CN" altLang="zh-CN" sz="2400" dirty="0"/>
              <a:t>．段寄存器</a:t>
            </a:r>
          </a:p>
          <a:p>
            <a:pPr eaLnBrk="1" hangingPunct="1">
              <a:buNone/>
            </a:pPr>
            <a:r>
              <a:rPr lang="en-US" altLang="zh-CN" sz="2400" dirty="0"/>
              <a:t>     3</a:t>
            </a:r>
            <a:r>
              <a:rPr lang="zh-CN" altLang="zh-CN" sz="2400" dirty="0"/>
              <a:t>．系统地址寄存器</a:t>
            </a:r>
            <a:endParaRPr lang="en-US" altLang="zh-CN" sz="2400" dirty="0"/>
          </a:p>
          <a:p>
            <a:pPr eaLnBrk="1" hangingPunct="1">
              <a:buNone/>
            </a:pPr>
            <a:r>
              <a:rPr lang="en-US" altLang="zh-CN" sz="2400" dirty="0"/>
              <a:t>     4</a:t>
            </a:r>
            <a:r>
              <a:rPr lang="zh-CN" altLang="zh-CN" sz="2400" dirty="0"/>
              <a:t>．指令指针和标志寄存器</a:t>
            </a:r>
          </a:p>
          <a:p>
            <a:pPr eaLnBrk="1" hangingPunct="1">
              <a:buNone/>
            </a:pPr>
            <a:r>
              <a:rPr lang="en-US" altLang="zh-CN" sz="2400" dirty="0"/>
              <a:t>     5</a:t>
            </a:r>
            <a:r>
              <a:rPr lang="zh-CN" altLang="zh-CN" sz="2400" dirty="0"/>
              <a:t>．控制寄存器</a:t>
            </a:r>
            <a:endParaRPr lang="en-US" altLang="zh-CN" sz="2400" dirty="0"/>
          </a:p>
          <a:p>
            <a:pPr eaLnBrk="1" hangingPunct="1">
              <a:buNone/>
            </a:pPr>
            <a:r>
              <a:rPr lang="en-US" altLang="zh-CN" sz="2400" dirty="0"/>
              <a:t>     6</a:t>
            </a:r>
            <a:r>
              <a:rPr lang="zh-CN" altLang="zh-CN" sz="2400" dirty="0"/>
              <a:t>．调试寄存器</a:t>
            </a:r>
            <a:endParaRPr lang="en-US" altLang="zh-CN" sz="2400" dirty="0"/>
          </a:p>
          <a:p>
            <a:pPr eaLnBrk="1" hangingPunct="1">
              <a:buNone/>
            </a:pPr>
            <a:r>
              <a:rPr lang="en-US" altLang="zh-CN" sz="2400" dirty="0"/>
              <a:t>     7</a:t>
            </a:r>
            <a:r>
              <a:rPr lang="zh-CN" altLang="zh-CN" sz="2400" dirty="0"/>
              <a:t>．测试寄存器</a:t>
            </a:r>
          </a:p>
          <a:p>
            <a:pPr eaLnBrk="1" hangingPunct="1">
              <a:buNone/>
            </a:pPr>
            <a:endParaRPr lang="zh-CN" altLang="zh-CN" sz="2400" dirty="0"/>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2.2.3  80386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的工作方式</a:t>
            </a:r>
          </a:p>
        </p:txBody>
      </p:sp>
      <p:sp>
        <p:nvSpPr>
          <p:cNvPr id="9523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95235" name="内容占位符 4"/>
          <p:cNvSpPr>
            <a:spLocks noGrp="1"/>
          </p:cNvSpPr>
          <p:nvPr>
            <p:ph idx="1"/>
          </p:nvPr>
        </p:nvSpPr>
        <p:spPr>
          <a:xfrm>
            <a:off x="363538" y="1704975"/>
            <a:ext cx="8150225" cy="4510088"/>
          </a:xfrm>
          <a:ln/>
        </p:spPr>
        <p:txBody>
          <a:bodyPr wrap="square" lIns="92075" tIns="46038" rIns="92075" bIns="46038" anchor="t" anchorCtr="0"/>
          <a:lstStyle/>
          <a:p>
            <a:pPr algn="just" eaLnBrk="1" hangingPunct="1">
              <a:buNone/>
            </a:pPr>
            <a:r>
              <a:rPr lang="en-US" altLang="zh-CN" sz="2400" dirty="0"/>
              <a:t>     1</a:t>
            </a:r>
            <a:r>
              <a:rPr lang="zh-CN" altLang="zh-CN" sz="2400" dirty="0"/>
              <a:t>．实地址方式</a:t>
            </a:r>
          </a:p>
          <a:p>
            <a:pPr algn="just" eaLnBrk="1" hangingPunct="1">
              <a:buNone/>
            </a:pPr>
            <a:r>
              <a:rPr lang="en-US" altLang="zh-CN" sz="2400" dirty="0"/>
              <a:t>             80386</a:t>
            </a:r>
            <a:r>
              <a:rPr lang="zh-CN" altLang="zh-CN" sz="2400" dirty="0"/>
              <a:t>在加电或复位初始化时进入实地址方式，这是一种为建立保护方式做准备的方式。它与</a:t>
            </a:r>
            <a:r>
              <a:rPr lang="en-US" altLang="zh-CN" sz="2400" dirty="0"/>
              <a:t>8086</a:t>
            </a:r>
            <a:r>
              <a:rPr lang="zh-CN" altLang="zh-CN" sz="2400" dirty="0"/>
              <a:t>相同，由</a:t>
            </a:r>
            <a:r>
              <a:rPr lang="en-US" altLang="zh-CN" sz="2400" dirty="0"/>
              <a:t>16</a:t>
            </a:r>
            <a:r>
              <a:rPr lang="zh-CN" altLang="zh-CN" sz="2400" dirty="0"/>
              <a:t>位段选择子左移</a:t>
            </a:r>
            <a:r>
              <a:rPr lang="en-US" altLang="zh-CN" sz="2400" dirty="0"/>
              <a:t>4</a:t>
            </a:r>
            <a:r>
              <a:rPr lang="zh-CN" altLang="zh-CN" sz="2400" dirty="0"/>
              <a:t>位与</a:t>
            </a:r>
            <a:r>
              <a:rPr lang="en-US" altLang="zh-CN" sz="2400" dirty="0"/>
              <a:t>16</a:t>
            </a:r>
            <a:r>
              <a:rPr lang="zh-CN" altLang="zh-CN" sz="2400" dirty="0"/>
              <a:t>位偏移地址相加得到</a:t>
            </a:r>
            <a:r>
              <a:rPr lang="en-US" altLang="zh-CN" sz="2400" dirty="0"/>
              <a:t>20</a:t>
            </a:r>
            <a:r>
              <a:rPr lang="zh-CN" altLang="zh-CN" sz="2400" dirty="0"/>
              <a:t>位物理地址，可寻址</a:t>
            </a:r>
            <a:r>
              <a:rPr lang="en-US" altLang="zh-CN" sz="2400" dirty="0"/>
              <a:t>1MB</a:t>
            </a:r>
            <a:r>
              <a:rPr lang="zh-CN" altLang="zh-CN" sz="2400" dirty="0"/>
              <a:t>的存储空间。这时段的基地址在</a:t>
            </a:r>
            <a:r>
              <a:rPr lang="en-US" altLang="zh-CN" sz="2400" dirty="0"/>
              <a:t>4GB</a:t>
            </a:r>
            <a:r>
              <a:rPr lang="zh-CN" altLang="zh-CN" sz="2400" dirty="0"/>
              <a:t>物理存储空间的第一个</a:t>
            </a:r>
            <a:r>
              <a:rPr lang="en-US" altLang="zh-CN" sz="2400" dirty="0"/>
              <a:t>1MB</a:t>
            </a:r>
            <a:r>
              <a:rPr lang="zh-CN" altLang="zh-CN" sz="2400" dirty="0"/>
              <a:t>内。</a:t>
            </a:r>
          </a:p>
          <a:p>
            <a:pPr algn="just" eaLnBrk="1" hangingPunct="1">
              <a:buNone/>
            </a:pPr>
            <a:r>
              <a:rPr lang="en-US" altLang="zh-CN" sz="2400" dirty="0"/>
              <a:t>     2</a:t>
            </a:r>
            <a:r>
              <a:rPr lang="zh-CN" altLang="zh-CN" sz="2400" dirty="0"/>
              <a:t>．保护虚拟地址方式</a:t>
            </a:r>
          </a:p>
          <a:p>
            <a:pPr algn="just" eaLnBrk="1" hangingPunct="1">
              <a:buNone/>
            </a:pPr>
            <a:r>
              <a:rPr lang="en-US" altLang="zh-CN" sz="2400" dirty="0"/>
              <a:t>             80386</a:t>
            </a:r>
            <a:r>
              <a:rPr lang="zh-CN" altLang="zh-CN" sz="2400" dirty="0"/>
              <a:t>的保护虚拟地址方式是其最常用的方式，一般开机或复位后，先进入实地址方式完成初始化，然后立即转入保护虚拟地址方式，也只有在保护虚拟地址方式下，</a:t>
            </a:r>
            <a:r>
              <a:rPr lang="en-US" altLang="zh-CN" sz="2400" dirty="0"/>
              <a:t>80386</a:t>
            </a:r>
            <a:r>
              <a:rPr lang="zh-CN" altLang="zh-CN" sz="2400" dirty="0"/>
              <a:t>才能充分发挥其强大的功能。</a:t>
            </a:r>
          </a:p>
          <a:p>
            <a:pPr algn="just" eaLnBrk="1" hangingPunct="1">
              <a:buNone/>
            </a:pPr>
            <a:endParaRPr lang="zh-CN" altLang="zh-CN" sz="2400" dirty="0"/>
          </a:p>
        </p:txBody>
      </p:sp>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2.2.3  80386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的工作方式</a:t>
            </a:r>
          </a:p>
        </p:txBody>
      </p:sp>
      <p:sp>
        <p:nvSpPr>
          <p:cNvPr id="9728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97283" name="内容占位符 4"/>
          <p:cNvSpPr>
            <a:spLocks noGrp="1"/>
          </p:cNvSpPr>
          <p:nvPr>
            <p:ph idx="1"/>
          </p:nvPr>
        </p:nvSpPr>
        <p:spPr>
          <a:xfrm>
            <a:off x="311150" y="1855788"/>
            <a:ext cx="8148638" cy="4510087"/>
          </a:xfrm>
          <a:ln/>
        </p:spPr>
        <p:txBody>
          <a:bodyPr wrap="square" lIns="92075" tIns="46038" rIns="92075" bIns="46038" anchor="t" anchorCtr="0"/>
          <a:lstStyle/>
          <a:p>
            <a:pPr algn="just" eaLnBrk="1" hangingPunct="1">
              <a:buNone/>
            </a:pPr>
            <a:r>
              <a:rPr lang="en-US" altLang="zh-CN" sz="2400" dirty="0"/>
              <a:t>             80386</a:t>
            </a:r>
            <a:r>
              <a:rPr lang="zh-CN" altLang="zh-CN" sz="2400" dirty="0"/>
              <a:t>在保护虚拟地址方式下，存储器用虚拟地址空间、线性地址空间和物理地址空间三种方式来描述，可提供</a:t>
            </a:r>
            <a:r>
              <a:rPr lang="en-US" altLang="zh-CN" sz="2400" dirty="0"/>
              <a:t>4GB</a:t>
            </a:r>
            <a:r>
              <a:rPr lang="zh-CN" altLang="zh-CN" sz="2400" dirty="0"/>
              <a:t>实地址空间，而虚拟地址空间可以高达</a:t>
            </a:r>
            <a:r>
              <a:rPr lang="en-US" altLang="zh-CN" sz="2400" dirty="0"/>
              <a:t>64TB</a:t>
            </a:r>
            <a:r>
              <a:rPr lang="zh-CN" altLang="zh-CN" sz="2400" dirty="0"/>
              <a:t>。在保护虚拟地址方式下，</a:t>
            </a:r>
            <a:r>
              <a:rPr lang="en-US" altLang="zh-CN" sz="2400" dirty="0"/>
              <a:t>80386</a:t>
            </a:r>
            <a:r>
              <a:rPr lang="zh-CN" altLang="zh-CN" sz="2400" dirty="0"/>
              <a:t>支持存储器的段页式结构，提供两级存储管理。</a:t>
            </a:r>
          </a:p>
          <a:p>
            <a:pPr algn="just" eaLnBrk="1" hangingPunct="1">
              <a:buNone/>
            </a:pPr>
            <a:r>
              <a:rPr lang="en-US" altLang="zh-CN" sz="2400" dirty="0"/>
              <a:t>     3</a:t>
            </a:r>
            <a:r>
              <a:rPr lang="zh-CN" altLang="zh-CN" sz="2400" dirty="0"/>
              <a:t>．虚拟</a:t>
            </a:r>
            <a:r>
              <a:rPr lang="en-US" altLang="zh-CN" sz="2400" dirty="0"/>
              <a:t>8086</a:t>
            </a:r>
            <a:r>
              <a:rPr lang="zh-CN" altLang="zh-CN" sz="2400" dirty="0"/>
              <a:t>方式</a:t>
            </a:r>
          </a:p>
          <a:p>
            <a:pPr algn="just" eaLnBrk="1" hangingPunct="1">
              <a:buNone/>
            </a:pPr>
            <a:r>
              <a:rPr lang="en-US" altLang="zh-CN" sz="2400" dirty="0"/>
              <a:t>             </a:t>
            </a:r>
            <a:r>
              <a:rPr lang="zh-CN" altLang="zh-CN" sz="2400" dirty="0"/>
              <a:t>虚拟</a:t>
            </a:r>
            <a:r>
              <a:rPr lang="en-US" altLang="zh-CN" sz="2400" dirty="0"/>
              <a:t>8086</a:t>
            </a:r>
            <a:r>
              <a:rPr lang="zh-CN" altLang="zh-CN" sz="2400" dirty="0"/>
              <a:t>方式又称为</a:t>
            </a:r>
            <a:r>
              <a:rPr lang="en-US" altLang="zh-CN" sz="2400" dirty="0"/>
              <a:t>V86</a:t>
            </a:r>
            <a:r>
              <a:rPr lang="zh-CN" altLang="zh-CN" sz="2400" dirty="0"/>
              <a:t>方式。</a:t>
            </a:r>
            <a:r>
              <a:rPr lang="en-US" altLang="zh-CN" sz="2400" dirty="0"/>
              <a:t>80386</a:t>
            </a:r>
            <a:r>
              <a:rPr lang="zh-CN" altLang="zh-CN" sz="2400" dirty="0"/>
              <a:t>把标志寄存器中的</a:t>
            </a:r>
            <a:r>
              <a:rPr lang="en-US" altLang="zh-CN" sz="2400" dirty="0"/>
              <a:t>VM</a:t>
            </a:r>
            <a:r>
              <a:rPr lang="zh-CN" altLang="zh-CN" sz="2400" dirty="0"/>
              <a:t>标志位置</a:t>
            </a:r>
            <a:r>
              <a:rPr lang="en-US" altLang="zh-CN" sz="2400" dirty="0"/>
              <a:t>1</a:t>
            </a:r>
            <a:r>
              <a:rPr lang="zh-CN" altLang="zh-CN" sz="2400" dirty="0"/>
              <a:t>，即进入</a:t>
            </a:r>
            <a:r>
              <a:rPr lang="en-US" altLang="zh-CN" sz="2400" dirty="0"/>
              <a:t>V86</a:t>
            </a:r>
            <a:r>
              <a:rPr lang="zh-CN" altLang="zh-CN" sz="2400" dirty="0"/>
              <a:t>方式，执行一个</a:t>
            </a:r>
            <a:r>
              <a:rPr lang="en-US" altLang="zh-CN" sz="2400" dirty="0"/>
              <a:t>8086</a:t>
            </a:r>
            <a:r>
              <a:rPr lang="zh-CN" altLang="zh-CN" sz="2400" dirty="0"/>
              <a:t>程序把</a:t>
            </a:r>
            <a:r>
              <a:rPr lang="en-US" altLang="zh-CN" sz="2400" dirty="0"/>
              <a:t>VM</a:t>
            </a:r>
            <a:r>
              <a:rPr lang="zh-CN" altLang="zh-CN" sz="2400" dirty="0"/>
              <a:t>复位，即退出</a:t>
            </a:r>
            <a:r>
              <a:rPr lang="en-US" altLang="zh-CN" sz="2400" dirty="0"/>
              <a:t>V86</a:t>
            </a:r>
            <a:r>
              <a:rPr lang="zh-CN" altLang="zh-CN" sz="2400" dirty="0"/>
              <a:t>方式而进入保护方式，执行保护方式的</a:t>
            </a:r>
            <a:r>
              <a:rPr lang="en-US" altLang="zh-CN" sz="2400" dirty="0"/>
              <a:t>80386</a:t>
            </a:r>
            <a:r>
              <a:rPr lang="zh-CN" altLang="zh-CN" sz="2400" dirty="0"/>
              <a:t>程序。</a:t>
            </a: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2.2.4  80386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的存储器管理</a:t>
            </a:r>
          </a:p>
        </p:txBody>
      </p:sp>
      <p:sp>
        <p:nvSpPr>
          <p:cNvPr id="9933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99331" name="内容占位符 4"/>
          <p:cNvSpPr>
            <a:spLocks noGrp="1"/>
          </p:cNvSpPr>
          <p:nvPr>
            <p:ph idx="1"/>
          </p:nvPr>
        </p:nvSpPr>
        <p:spPr>
          <a:xfrm>
            <a:off x="303213" y="1384300"/>
            <a:ext cx="8148637" cy="4510088"/>
          </a:xfrm>
          <a:ln/>
        </p:spPr>
        <p:txBody>
          <a:bodyPr wrap="square" lIns="92075" tIns="46038" rIns="92075" bIns="46038" anchor="t" anchorCtr="0"/>
          <a:lstStyle/>
          <a:p>
            <a:pPr algn="just" eaLnBrk="1" hangingPunct="1">
              <a:buNone/>
            </a:pPr>
            <a:r>
              <a:rPr lang="en-US" altLang="zh-CN" sz="2400" dirty="0"/>
              <a:t>             80386</a:t>
            </a:r>
            <a:r>
              <a:rPr lang="zh-CN" altLang="zh-CN" sz="2400" dirty="0"/>
              <a:t>在保护虚拟地址方式下，采用分段、分页两级综合的存储管理，用分段管理组织其逻辑地址空间的结构，用分页管理来管理其物理存储。</a:t>
            </a:r>
            <a:r>
              <a:rPr lang="en-US" altLang="zh-CN" sz="2400" dirty="0"/>
              <a:t>80386</a:t>
            </a:r>
            <a:r>
              <a:rPr lang="zh-CN" altLang="zh-CN" sz="2400" dirty="0"/>
              <a:t>的分段部件把程序的逻辑地址变换为线性地址，进而由分页部件变换为物理地址。这种段管理基础上的分页管理是</a:t>
            </a:r>
            <a:r>
              <a:rPr lang="en-US" altLang="zh-CN" sz="2400" dirty="0"/>
              <a:t>80386</a:t>
            </a:r>
            <a:r>
              <a:rPr lang="zh-CN" altLang="zh-CN" sz="2400" dirty="0"/>
              <a:t>所支持的最全面、功能最强的一种存储管理方式。由于微处理器内还设置高速缓冲存储器（</a:t>
            </a:r>
            <a:r>
              <a:rPr lang="en-US" altLang="zh-CN" sz="2400" dirty="0"/>
              <a:t>Cache</a:t>
            </a:r>
            <a:r>
              <a:rPr lang="zh-CN" altLang="zh-CN" sz="2400" dirty="0"/>
              <a:t>）和其他功能部件，使得这种两级地址转换的速度很快。</a:t>
            </a:r>
          </a:p>
          <a:p>
            <a:pPr algn="just" eaLnBrk="1" hangingPunct="1">
              <a:buNone/>
            </a:pPr>
            <a:r>
              <a:rPr lang="en-US" altLang="zh-CN" sz="2400" dirty="0"/>
              <a:t>      1</a:t>
            </a:r>
            <a:r>
              <a:rPr lang="zh-CN" altLang="zh-CN" sz="2400" dirty="0"/>
              <a:t>．分段管理</a:t>
            </a:r>
          </a:p>
          <a:p>
            <a:pPr algn="just" eaLnBrk="1" hangingPunct="1">
              <a:buNone/>
            </a:pPr>
            <a:r>
              <a:rPr lang="en-US" altLang="zh-CN" sz="2400" dirty="0"/>
              <a:t>             80386</a:t>
            </a:r>
            <a:r>
              <a:rPr lang="zh-CN" altLang="zh-CN" sz="2400" dirty="0"/>
              <a:t>的段描述符为</a:t>
            </a:r>
            <a:r>
              <a:rPr lang="en-US" altLang="zh-CN" sz="2400" dirty="0"/>
              <a:t>8</a:t>
            </a:r>
            <a:r>
              <a:rPr lang="zh-CN" altLang="zh-CN" sz="2400" dirty="0"/>
              <a:t>字节，段基地址扩大到</a:t>
            </a:r>
            <a:r>
              <a:rPr lang="en-US" altLang="zh-CN" sz="2400" dirty="0"/>
              <a:t>32</a:t>
            </a:r>
            <a:r>
              <a:rPr lang="zh-CN" altLang="zh-CN" sz="2400" dirty="0"/>
              <a:t>位，段限值扩大到</a:t>
            </a:r>
            <a:r>
              <a:rPr lang="en-US" altLang="zh-CN" sz="2400" dirty="0"/>
              <a:t>1MB</a:t>
            </a:r>
            <a:r>
              <a:rPr lang="zh-CN" altLang="zh-CN" sz="2400" dirty="0"/>
              <a:t>，增添了</a:t>
            </a:r>
            <a:r>
              <a:rPr lang="en-US" altLang="zh-CN" sz="2400" dirty="0"/>
              <a:t>4</a:t>
            </a:r>
            <a:r>
              <a:rPr lang="zh-CN" altLang="zh-CN" sz="2400" dirty="0"/>
              <a:t>位语义控制字段。</a:t>
            </a:r>
            <a:r>
              <a:rPr lang="en-US" altLang="zh-CN" sz="2400" dirty="0"/>
              <a:t>80386</a:t>
            </a:r>
            <a:r>
              <a:rPr lang="zh-CN" altLang="zh-CN" sz="2400" dirty="0"/>
              <a:t>的段描述符格式如图</a:t>
            </a:r>
            <a:r>
              <a:rPr lang="en-US" altLang="zh-CN" sz="2400" dirty="0"/>
              <a:t>2-9</a:t>
            </a:r>
            <a:r>
              <a:rPr lang="zh-CN" altLang="zh-CN" sz="2400" dirty="0"/>
              <a:t>所示。</a:t>
            </a:r>
          </a:p>
        </p:txBody>
      </p:sp>
      <p:pic>
        <p:nvPicPr>
          <p:cNvPr id="99332" name="Picture 2" descr="2"/>
          <p:cNvPicPr>
            <a:picLocks noChangeAspect="1"/>
          </p:cNvPicPr>
          <p:nvPr/>
        </p:nvPicPr>
        <p:blipFill>
          <a:blip r:embed="rId4"/>
          <a:stretch>
            <a:fillRect/>
          </a:stretch>
        </p:blipFill>
        <p:spPr>
          <a:xfrm>
            <a:off x="1304925" y="5981700"/>
            <a:ext cx="6500813" cy="822325"/>
          </a:xfrm>
          <a:prstGeom prst="rect">
            <a:avLst/>
          </a:prstGeom>
          <a:noFill/>
          <a:ln w="9525">
            <a:noFill/>
          </a:ln>
        </p:spPr>
      </p:pic>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2.2.4  80386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的存储器管理</a:t>
            </a:r>
          </a:p>
        </p:txBody>
      </p:sp>
      <p:sp>
        <p:nvSpPr>
          <p:cNvPr id="10137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64515" name="内容占位符 4"/>
          <p:cNvSpPr>
            <a:spLocks noGrp="1"/>
          </p:cNvSpPr>
          <p:nvPr>
            <p:ph idx="1"/>
          </p:nvPr>
        </p:nvSpPr>
        <p:spPr>
          <a:xfrm>
            <a:off x="311150" y="1384300"/>
            <a:ext cx="8148638" cy="1900238"/>
          </a:xfrm>
          <a:ln>
            <a:miter/>
          </a:ln>
        </p:spPr>
        <p:txBody>
          <a:bodyPr wrap="square" lIns="92075" tIns="46038" rIns="92075" bIns="46038" anchor="t"/>
          <a:lstStyle/>
          <a:p>
            <a:pPr marL="342900" marR="0" indent="-342900" algn="just"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1" lang="en-US" altLang="zh-CN" sz="2400" b="1" i="0" u="none" strike="noStrike" kern="0" cap="none" spc="0" normalizeH="0" baseline="0" noProof="1">
                <a:solidFill>
                  <a:schemeClr val="tx1"/>
                </a:solidFill>
                <a:latin typeface="+mn-lt"/>
                <a:ea typeface="+mn-ea"/>
                <a:cs typeface="+mn-cs"/>
              </a:rPr>
              <a:t>             </a:t>
            </a:r>
            <a:r>
              <a:rPr kumimoji="1" lang="zh-CN" altLang="zh-CN" sz="2400" b="1" i="0" u="none" strike="noStrike" kern="0" cap="none" spc="0" normalizeH="0" baseline="0" noProof="1">
                <a:solidFill>
                  <a:schemeClr val="tx1"/>
                </a:solidFill>
                <a:latin typeface="+mn-lt"/>
                <a:ea typeface="+mn-ea"/>
                <a:cs typeface="+mn-cs"/>
              </a:rPr>
              <a:t>分段存储管理就是要根据逻辑地址提供的段选择符和偏移量，通过段选择符从描述符表中找到相应的描述符，从描述符</a:t>
            </a:r>
            <a:r>
              <a:rPr kumimoji="1" lang="zh-CN" altLang="zh-CN" sz="2400" b="1" i="0" u="none" strike="noStrike" kern="1200" cap="none" spc="0" normalizeH="0" baseline="0" noProof="0" dirty="0">
                <a:ln>
                  <a:noFill/>
                </a:ln>
                <a:solidFill>
                  <a:schemeClr val="tx1"/>
                </a:solidFill>
                <a:uLnTx/>
                <a:uFillTx/>
                <a:latin typeface="宋体" panose="02010600030101010101" pitchFamily="2" charset="-122"/>
                <a:ea typeface="宋体" panose="02010600030101010101" pitchFamily="2" charset="-122"/>
                <a:cs typeface="+mn-cs"/>
                <a:sym typeface="+mn-ea"/>
              </a:rPr>
              <a:t>中</a:t>
            </a:r>
            <a:r>
              <a:rPr kumimoji="1" lang="zh-CN" altLang="zh-CN" sz="2400" b="1" i="0" u="none" strike="noStrike" kern="0" cap="none" spc="0" normalizeH="0" baseline="0" noProof="0" dirty="0">
                <a:ln>
                  <a:noFill/>
                </a:ln>
                <a:solidFill>
                  <a:schemeClr val="tx1"/>
                </a:solidFill>
                <a:uLnTx/>
                <a:uFillTx/>
                <a:latin typeface="+mn-lt"/>
                <a:ea typeface="+mn-ea"/>
                <a:cs typeface="+mn-cs"/>
                <a:sym typeface="+mn-ea"/>
              </a:rPr>
              <a:t>取</a:t>
            </a:r>
            <a:endParaRPr kumimoji="1" lang="zh-CN" altLang="zh-CN" sz="2400" b="1" i="0" u="none" strike="noStrike" kern="0" cap="none" spc="0" normalizeH="0" baseline="0" noProof="1">
              <a:solidFill>
                <a:schemeClr val="tx1"/>
              </a:solidFill>
              <a:latin typeface="+mn-lt"/>
              <a:ea typeface="+mn-ea"/>
              <a:cs typeface="+mn-cs"/>
            </a:endParaRPr>
          </a:p>
        </p:txBody>
      </p:sp>
      <p:pic>
        <p:nvPicPr>
          <p:cNvPr id="101380" name="Picture 2" descr="2"/>
          <p:cNvPicPr>
            <a:picLocks noChangeAspect="1"/>
          </p:cNvPicPr>
          <p:nvPr/>
        </p:nvPicPr>
        <p:blipFill>
          <a:blip r:embed="rId4"/>
          <a:stretch>
            <a:fillRect/>
          </a:stretch>
        </p:blipFill>
        <p:spPr>
          <a:xfrm>
            <a:off x="2797175" y="2220913"/>
            <a:ext cx="5556250" cy="4621212"/>
          </a:xfrm>
          <a:prstGeom prst="rect">
            <a:avLst/>
          </a:prstGeom>
          <a:noFill/>
          <a:ln w="9525">
            <a:noFill/>
          </a:ln>
        </p:spPr>
      </p:pic>
      <p:sp>
        <p:nvSpPr>
          <p:cNvPr id="101381" name="内容占位符 4"/>
          <p:cNvSpPr txBox="1"/>
          <p:nvPr/>
        </p:nvSpPr>
        <p:spPr>
          <a:xfrm>
            <a:off x="293688" y="2532063"/>
            <a:ext cx="2422525" cy="3354387"/>
          </a:xfrm>
          <a:prstGeom prst="rect">
            <a:avLst/>
          </a:prstGeom>
          <a:noFill/>
          <a:ln w="9525">
            <a:noFill/>
          </a:ln>
        </p:spPr>
        <p:txBody>
          <a:bodyPr lIns="92075" tIns="46038" rIns="92075" bIns="46038" anchor="t" anchorCtr="0"/>
          <a:lstStyle/>
          <a:p>
            <a:pPr marL="342900" indent="-342900" algn="just">
              <a:buClr>
                <a:schemeClr val="accent2"/>
              </a:buClr>
              <a:buSzPct val="70000"/>
            </a:pPr>
            <a:r>
              <a:rPr lang="en-US" altLang="zh-CN" dirty="0">
                <a:latin typeface="宋体" panose="02010600030101010101" pitchFamily="2" charset="-122"/>
                <a:ea typeface="宋体" panose="02010600030101010101" pitchFamily="2" charset="-122"/>
              </a:rPr>
              <a:t>  </a:t>
            </a:r>
            <a:r>
              <a:rPr lang="zh-CN" altLang="zh-CN" dirty="0">
                <a:latin typeface="Times New Roman" panose="02020603050405020304" pitchFamily="18" charset="0"/>
                <a:ea typeface="宋体" panose="02010600030101010101" pitchFamily="2" charset="-122"/>
              </a:rPr>
              <a:t>得段的</a:t>
            </a:r>
            <a:r>
              <a:rPr lang="en-US" altLang="zh-CN" dirty="0">
                <a:latin typeface="Times New Roman" panose="02020603050405020304" pitchFamily="18" charset="0"/>
                <a:ea typeface="宋体" panose="02010600030101010101" pitchFamily="2" charset="-122"/>
              </a:rPr>
              <a:t>32</a:t>
            </a:r>
            <a:r>
              <a:rPr lang="zh-CN" altLang="zh-CN" dirty="0">
                <a:latin typeface="Times New Roman" panose="02020603050405020304" pitchFamily="18" charset="0"/>
                <a:ea typeface="宋体" panose="02010600030101010101" pitchFamily="2" charset="-122"/>
              </a:rPr>
              <a:t>位基地址，加上逻辑地址提供的</a:t>
            </a:r>
            <a:r>
              <a:rPr lang="en-US" altLang="zh-CN" dirty="0">
                <a:latin typeface="Times New Roman" panose="02020603050405020304" pitchFamily="18" charset="0"/>
                <a:ea typeface="宋体" panose="02010600030101010101" pitchFamily="2" charset="-122"/>
              </a:rPr>
              <a:t>32</a:t>
            </a:r>
            <a:r>
              <a:rPr lang="zh-CN" altLang="zh-CN" dirty="0">
                <a:latin typeface="Times New Roman" panose="02020603050405020304" pitchFamily="18" charset="0"/>
                <a:ea typeface="宋体" panose="02010600030101010101" pitchFamily="2" charset="-122"/>
              </a:rPr>
              <a:t>位偏移量，形成</a:t>
            </a:r>
            <a:r>
              <a:rPr lang="en-US" altLang="zh-CN" dirty="0">
                <a:latin typeface="Times New Roman" panose="02020603050405020304" pitchFamily="18" charset="0"/>
                <a:ea typeface="宋体" panose="02010600030101010101" pitchFamily="2" charset="-122"/>
              </a:rPr>
              <a:t>32</a:t>
            </a:r>
            <a:r>
              <a:rPr lang="zh-CN" altLang="zh-CN" dirty="0">
                <a:latin typeface="Times New Roman" panose="02020603050405020304" pitchFamily="18" charset="0"/>
                <a:ea typeface="宋体" panose="02010600030101010101" pitchFamily="2" charset="-122"/>
              </a:rPr>
              <a:t>位线性地址。分段存储管理的地址转换过程如图</a:t>
            </a:r>
            <a:r>
              <a:rPr lang="en-US" altLang="zh-CN" dirty="0">
                <a:latin typeface="Times New Roman" panose="02020603050405020304" pitchFamily="18" charset="0"/>
                <a:ea typeface="宋体" panose="02010600030101010101" pitchFamily="2" charset="-122"/>
              </a:rPr>
              <a:t>2-10</a:t>
            </a:r>
            <a:r>
              <a:rPr lang="zh-CN" altLang="zh-CN" dirty="0">
                <a:latin typeface="Times New Roman" panose="02020603050405020304" pitchFamily="18" charset="0"/>
                <a:ea typeface="宋体" panose="02010600030101010101" pitchFamily="2" charset="-122"/>
              </a:rPr>
              <a:t>所示。</a:t>
            </a:r>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2.2.4  80386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的存储器管理</a:t>
            </a:r>
          </a:p>
        </p:txBody>
      </p:sp>
      <p:sp>
        <p:nvSpPr>
          <p:cNvPr id="10342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03427" name="内容占位符 4"/>
          <p:cNvSpPr>
            <a:spLocks noGrp="1"/>
          </p:cNvSpPr>
          <p:nvPr>
            <p:ph idx="1"/>
          </p:nvPr>
        </p:nvSpPr>
        <p:spPr>
          <a:xfrm>
            <a:off x="311150" y="1793875"/>
            <a:ext cx="8148638" cy="4508500"/>
          </a:xfrm>
          <a:ln/>
        </p:spPr>
        <p:txBody>
          <a:bodyPr wrap="square" lIns="92075" tIns="46038" rIns="92075" bIns="46038" anchor="t" anchorCtr="0"/>
          <a:lstStyle/>
          <a:p>
            <a:pPr algn="just" eaLnBrk="1" hangingPunct="1">
              <a:buNone/>
            </a:pPr>
            <a:r>
              <a:rPr lang="en-US" altLang="zh-CN" sz="2400" dirty="0"/>
              <a:t>     2</a:t>
            </a:r>
            <a:r>
              <a:rPr lang="zh-CN" altLang="zh-CN" sz="2400" dirty="0"/>
              <a:t>．分页管理</a:t>
            </a:r>
          </a:p>
          <a:p>
            <a:pPr algn="just" eaLnBrk="1" hangingPunct="1">
              <a:buNone/>
            </a:pPr>
            <a:r>
              <a:rPr lang="en-US" altLang="zh-CN" sz="2400" dirty="0"/>
              <a:t>             80386</a:t>
            </a:r>
            <a:r>
              <a:rPr lang="zh-CN" altLang="zh-CN" sz="2400" dirty="0"/>
              <a:t>的物理存储器组织成若干个页面，一般每个页面为</a:t>
            </a:r>
            <a:r>
              <a:rPr lang="en-US" altLang="zh-CN" sz="2400" dirty="0"/>
              <a:t>4KB</a:t>
            </a:r>
            <a:r>
              <a:rPr lang="zh-CN" altLang="zh-CN" sz="2400" dirty="0"/>
              <a:t>。</a:t>
            </a:r>
          </a:p>
          <a:p>
            <a:pPr algn="just" eaLnBrk="1" hangingPunct="1">
              <a:buNone/>
            </a:pPr>
            <a:r>
              <a:rPr lang="en-US" altLang="zh-CN" sz="2400" dirty="0"/>
              <a:t>             80386</a:t>
            </a:r>
            <a:r>
              <a:rPr lang="zh-CN" altLang="zh-CN" sz="2400" dirty="0"/>
              <a:t>分页采用了页目录表、页表两级页变换机制，低一级的页表是页的映像，由若干页描述符组成，每一个页描述符指示一个物理页面；高一级的页目录表是页表的映像，由若干页目录描述符组成，每一个页目录描述符指示着不同的页表，由</a:t>
            </a:r>
            <a:r>
              <a:rPr lang="en-US" altLang="zh-CN" sz="2400" dirty="0"/>
              <a:t>80386</a:t>
            </a:r>
            <a:r>
              <a:rPr lang="zh-CN" altLang="zh-CN" sz="2400" dirty="0"/>
              <a:t>的页目录基地址寄存器</a:t>
            </a:r>
            <a:r>
              <a:rPr lang="en-US" altLang="zh-CN" sz="2400" dirty="0"/>
              <a:t>CR</a:t>
            </a:r>
            <a:r>
              <a:rPr lang="en-US" altLang="zh-CN" sz="2400" baseline="-25000" dirty="0"/>
              <a:t>3</a:t>
            </a:r>
            <a:r>
              <a:rPr lang="zh-CN" altLang="zh-CN" sz="2400" dirty="0"/>
              <a:t>指示页目录表在存储器中的位置。</a:t>
            </a:r>
            <a:r>
              <a:rPr lang="en-US" altLang="zh-CN" sz="2400" dirty="0"/>
              <a:t>80386</a:t>
            </a:r>
            <a:r>
              <a:rPr lang="zh-CN" altLang="zh-CN" sz="2400" dirty="0"/>
              <a:t>的页表和页目录表中最多可分别包含</a:t>
            </a:r>
            <a:r>
              <a:rPr lang="en-US" altLang="zh-CN" sz="2400" dirty="0"/>
              <a:t>2</a:t>
            </a:r>
            <a:r>
              <a:rPr lang="en-US" altLang="zh-CN" sz="2400" baseline="30000" dirty="0"/>
              <a:t>10</a:t>
            </a:r>
            <a:r>
              <a:rPr lang="zh-CN" altLang="zh-CN" sz="2400" dirty="0"/>
              <a:t>个页描述符和页目录描述符，每个描述符均由</a:t>
            </a:r>
            <a:r>
              <a:rPr lang="en-US" altLang="zh-CN" sz="2400" dirty="0"/>
              <a:t>4</a:t>
            </a:r>
            <a:r>
              <a:rPr lang="zh-CN" altLang="zh-CN" sz="2400" dirty="0"/>
              <a:t>字节（</a:t>
            </a:r>
            <a:r>
              <a:rPr lang="en-US" altLang="zh-CN" sz="2400" dirty="0"/>
              <a:t>32</a:t>
            </a:r>
            <a:r>
              <a:rPr lang="zh-CN" altLang="zh-CN" sz="2400" dirty="0"/>
              <a:t>位）组成，其格式也基本相同。</a:t>
            </a:r>
          </a:p>
        </p:txBody>
      </p:sp>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2.2.4  80386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的存储器管理</a:t>
            </a:r>
          </a:p>
        </p:txBody>
      </p:sp>
      <p:sp>
        <p:nvSpPr>
          <p:cNvPr id="10547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05475" name="内容占位符 4"/>
          <p:cNvSpPr>
            <a:spLocks noGrp="1"/>
          </p:cNvSpPr>
          <p:nvPr>
            <p:ph idx="1"/>
          </p:nvPr>
        </p:nvSpPr>
        <p:spPr>
          <a:xfrm>
            <a:off x="311150" y="1500188"/>
            <a:ext cx="8148638" cy="5095875"/>
          </a:xfrm>
          <a:ln/>
        </p:spPr>
        <p:txBody>
          <a:bodyPr wrap="square" lIns="92075" tIns="46038" rIns="92075" bIns="46038" anchor="t" anchorCtr="0"/>
          <a:lstStyle/>
          <a:p>
            <a:pPr algn="just" eaLnBrk="1" hangingPunct="1">
              <a:buNone/>
            </a:pPr>
            <a:r>
              <a:rPr lang="en-US" altLang="zh-CN" sz="2400" dirty="0"/>
              <a:t>             80386</a:t>
            </a:r>
            <a:r>
              <a:rPr lang="zh-CN" altLang="zh-CN" sz="2400" dirty="0"/>
              <a:t>的页面和页表均起始于存储空间的</a:t>
            </a:r>
            <a:r>
              <a:rPr lang="en-US" altLang="zh-CN" sz="2400" dirty="0"/>
              <a:t>4KB</a:t>
            </a:r>
            <a:r>
              <a:rPr lang="zh-CN" altLang="zh-CN" sz="2400" dirty="0"/>
              <a:t>界上，因此页面地址和页表地址的低</a:t>
            </a:r>
            <a:r>
              <a:rPr lang="en-US" altLang="zh-CN" sz="2400" dirty="0"/>
              <a:t>12</a:t>
            </a:r>
            <a:r>
              <a:rPr lang="zh-CN" altLang="zh-CN" sz="2400" dirty="0"/>
              <a:t>位全为</a:t>
            </a:r>
            <a:r>
              <a:rPr lang="en-US" altLang="zh-CN" sz="2400" dirty="0"/>
              <a:t>0</a:t>
            </a:r>
            <a:r>
              <a:rPr lang="zh-CN" altLang="zh-CN" sz="2400" dirty="0"/>
              <a:t>。在</a:t>
            </a:r>
            <a:r>
              <a:rPr lang="en-US" altLang="zh-CN" sz="2400" dirty="0"/>
              <a:t>80386</a:t>
            </a:r>
            <a:r>
              <a:rPr lang="zh-CN" altLang="zh-CN" sz="2400" dirty="0"/>
              <a:t>分页系统中，由</a:t>
            </a:r>
            <a:r>
              <a:rPr lang="en-US" altLang="zh-CN" sz="2400" dirty="0"/>
              <a:t>CR3</a:t>
            </a:r>
            <a:r>
              <a:rPr lang="zh-CN" altLang="zh-CN" sz="2400" dirty="0"/>
              <a:t>给出页目标表的基地址，利用</a:t>
            </a:r>
            <a:r>
              <a:rPr lang="en-US" altLang="zh-CN" sz="2400" dirty="0"/>
              <a:t>32</a:t>
            </a:r>
            <a:r>
              <a:rPr lang="zh-CN" altLang="zh-CN" sz="2400" dirty="0"/>
              <a:t>位线性地址的高</a:t>
            </a:r>
            <a:r>
              <a:rPr lang="en-US" altLang="zh-CN" sz="2400" dirty="0"/>
              <a:t>10</a:t>
            </a:r>
            <a:r>
              <a:rPr lang="zh-CN" altLang="zh-CN" sz="2400" dirty="0"/>
              <a:t>位在页目录表的</a:t>
            </a:r>
            <a:r>
              <a:rPr lang="en-US" altLang="zh-CN" sz="2400" dirty="0"/>
              <a:t>1 024</a:t>
            </a:r>
            <a:r>
              <a:rPr lang="zh-CN" altLang="zh-CN" sz="2400" dirty="0"/>
              <a:t>个页目录描述符中选定</a:t>
            </a:r>
            <a:r>
              <a:rPr lang="en-US" altLang="zh-CN" sz="2400" dirty="0"/>
              <a:t>1</a:t>
            </a:r>
            <a:r>
              <a:rPr lang="zh-CN" altLang="zh-CN" sz="2400" dirty="0"/>
              <a:t>个，从而获得对应页表的基地址；利用线性地址的中间</a:t>
            </a:r>
            <a:r>
              <a:rPr lang="en-US" altLang="zh-CN" sz="2400" dirty="0"/>
              <a:t>10</a:t>
            </a:r>
            <a:r>
              <a:rPr lang="zh-CN" altLang="zh-CN" sz="2400" dirty="0"/>
              <a:t>位，在对应页表的</a:t>
            </a:r>
            <a:r>
              <a:rPr lang="en-US" altLang="zh-CN" sz="2400" dirty="0"/>
              <a:t>1 024</a:t>
            </a:r>
            <a:r>
              <a:rPr lang="zh-CN" altLang="zh-CN" sz="2400" dirty="0"/>
              <a:t>个页描述符中选定</a:t>
            </a:r>
            <a:r>
              <a:rPr lang="en-US" altLang="zh-CN" sz="2400" dirty="0"/>
              <a:t>1</a:t>
            </a:r>
            <a:r>
              <a:rPr lang="zh-CN" altLang="zh-CN" sz="2400" dirty="0"/>
              <a:t>个，得到页面地址；利用线性地址的低</a:t>
            </a:r>
            <a:r>
              <a:rPr lang="en-US" altLang="zh-CN" sz="2400" dirty="0"/>
              <a:t>12</a:t>
            </a:r>
            <a:r>
              <a:rPr lang="zh-CN" altLang="zh-CN" sz="2400" dirty="0"/>
              <a:t>位可在指定页面的</a:t>
            </a:r>
            <a:r>
              <a:rPr lang="en-US" altLang="zh-CN" sz="2400" dirty="0"/>
              <a:t>4KB</a:t>
            </a:r>
            <a:r>
              <a:rPr lang="zh-CN" altLang="zh-CN" sz="2400" dirty="0"/>
              <a:t>中选中一个物理存储单元，实现从线性地址到物理地址的转换。这种地址转换是标准的二级查表机制。</a:t>
            </a:r>
            <a:endParaRPr lang="en-US" altLang="zh-CN" sz="2400" dirty="0"/>
          </a:p>
          <a:p>
            <a:pPr algn="just" eaLnBrk="1" hangingPunct="1">
              <a:buNone/>
            </a:pPr>
            <a:r>
              <a:rPr lang="en-US" altLang="zh-CN" sz="2400" dirty="0"/>
              <a:t>             </a:t>
            </a:r>
            <a:r>
              <a:rPr lang="zh-CN" altLang="zh-CN" sz="2400" dirty="0"/>
              <a:t>在这个分页系统中，通过页目录表可寻址多达</a:t>
            </a:r>
            <a:r>
              <a:rPr lang="en-US" altLang="zh-CN" sz="2400" dirty="0"/>
              <a:t>1K</a:t>
            </a:r>
            <a:r>
              <a:rPr lang="zh-CN" altLang="zh-CN" sz="2400" dirty="0"/>
              <a:t>个页表，每个页表可寻址多达</a:t>
            </a:r>
            <a:r>
              <a:rPr lang="en-US" altLang="zh-CN" sz="2400" dirty="0"/>
              <a:t>1K</a:t>
            </a:r>
            <a:r>
              <a:rPr lang="zh-CN" altLang="zh-CN" sz="2400" dirty="0"/>
              <a:t>个页面，因此可寻址</a:t>
            </a:r>
            <a:r>
              <a:rPr lang="en-US" altLang="zh-CN" sz="2400" dirty="0"/>
              <a:t>1M</a:t>
            </a:r>
            <a:r>
              <a:rPr lang="zh-CN" altLang="zh-CN" sz="2400" dirty="0"/>
              <a:t>个页面，而一个页面有</a:t>
            </a:r>
            <a:r>
              <a:rPr lang="en-US" altLang="zh-CN" sz="2400" dirty="0"/>
              <a:t>4KB</a:t>
            </a:r>
            <a:r>
              <a:rPr lang="zh-CN" altLang="zh-CN" sz="2400" dirty="0"/>
              <a:t>，即可寻址</a:t>
            </a:r>
            <a:r>
              <a:rPr lang="en-US" altLang="zh-CN" sz="2400" dirty="0"/>
              <a:t>80386</a:t>
            </a:r>
            <a:r>
              <a:rPr lang="zh-CN" altLang="zh-CN" sz="2400" dirty="0"/>
              <a:t>的整个物理空间</a:t>
            </a:r>
            <a:r>
              <a:rPr lang="en-US" altLang="zh-CN" sz="2400" dirty="0"/>
              <a:t>4GB</a:t>
            </a:r>
            <a:r>
              <a:rPr lang="zh-CN" altLang="zh-CN" sz="2400" dirty="0"/>
              <a:t>。</a:t>
            </a:r>
          </a:p>
          <a:p>
            <a:pPr algn="just" eaLnBrk="1" hangingPunct="1">
              <a:buNone/>
            </a:pPr>
            <a:endParaRPr lang="zh-CN" altLang="zh-CN" sz="2400" dirty="0"/>
          </a:p>
        </p:txBody>
      </p:sp>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2.2.4  80386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的存储器管理</a:t>
            </a:r>
          </a:p>
        </p:txBody>
      </p:sp>
      <p:sp>
        <p:nvSpPr>
          <p:cNvPr id="10752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07523" name="内容占位符 4"/>
          <p:cNvSpPr>
            <a:spLocks noGrp="1"/>
          </p:cNvSpPr>
          <p:nvPr>
            <p:ph idx="1"/>
          </p:nvPr>
        </p:nvSpPr>
        <p:spPr>
          <a:xfrm>
            <a:off x="2679700" y="6138863"/>
            <a:ext cx="3622675" cy="541337"/>
          </a:xfrm>
          <a:ln/>
        </p:spPr>
        <p:txBody>
          <a:bodyPr wrap="square" lIns="92075" tIns="46038" rIns="92075" bIns="46038" anchor="t" anchorCtr="0"/>
          <a:lstStyle/>
          <a:p>
            <a:pPr eaLnBrk="1" hangingPunct="1">
              <a:buNone/>
            </a:pPr>
            <a:r>
              <a:rPr lang="zh-CN" altLang="zh-CN" sz="2000" dirty="0"/>
              <a:t>图</a:t>
            </a:r>
            <a:r>
              <a:rPr lang="en-US" altLang="zh-CN" sz="2000" dirty="0"/>
              <a:t>2-11  80386</a:t>
            </a:r>
            <a:r>
              <a:rPr lang="zh-CN" altLang="zh-CN" sz="2000" dirty="0"/>
              <a:t>的分页机制</a:t>
            </a:r>
          </a:p>
          <a:p>
            <a:pPr algn="just" eaLnBrk="1" hangingPunct="1">
              <a:buNone/>
            </a:pPr>
            <a:endParaRPr lang="zh-CN" altLang="zh-CN" sz="2000" dirty="0"/>
          </a:p>
        </p:txBody>
      </p:sp>
      <p:pic>
        <p:nvPicPr>
          <p:cNvPr id="107524" name="Picture 2" descr="2"/>
          <p:cNvPicPr>
            <a:picLocks noChangeAspect="1"/>
          </p:cNvPicPr>
          <p:nvPr/>
        </p:nvPicPr>
        <p:blipFill>
          <a:blip r:embed="rId4"/>
          <a:stretch>
            <a:fillRect/>
          </a:stretch>
        </p:blipFill>
        <p:spPr>
          <a:xfrm>
            <a:off x="790575" y="1784350"/>
            <a:ext cx="7483475" cy="4121150"/>
          </a:xfrm>
          <a:prstGeom prst="rect">
            <a:avLst/>
          </a:prstGeom>
          <a:noFill/>
          <a:ln w="9525">
            <a:noFill/>
          </a:ln>
        </p:spPr>
      </p:pic>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2.2.4  80386</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的存储器管理</a:t>
            </a:r>
          </a:p>
        </p:txBody>
      </p:sp>
      <p:sp>
        <p:nvSpPr>
          <p:cNvPr id="10957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09571" name="内容占位符 4"/>
          <p:cNvSpPr>
            <a:spLocks noGrp="1"/>
          </p:cNvSpPr>
          <p:nvPr>
            <p:ph idx="1"/>
          </p:nvPr>
        </p:nvSpPr>
        <p:spPr>
          <a:xfrm>
            <a:off x="311150" y="1500188"/>
            <a:ext cx="8148638" cy="4714875"/>
          </a:xfrm>
          <a:ln/>
        </p:spPr>
        <p:txBody>
          <a:bodyPr wrap="square" lIns="92075" tIns="46038" rIns="92075" bIns="46038" anchor="t" anchorCtr="0"/>
          <a:lstStyle/>
          <a:p>
            <a:pPr algn="just" eaLnBrk="1" hangingPunct="1">
              <a:buNone/>
            </a:pPr>
            <a:r>
              <a:rPr lang="en-US" altLang="zh-CN" sz="2400" dirty="0"/>
              <a:t>     3</a:t>
            </a:r>
            <a:r>
              <a:rPr lang="zh-CN" altLang="zh-CN" sz="2400" dirty="0"/>
              <a:t>．高速缓冲存储管理</a:t>
            </a:r>
          </a:p>
          <a:p>
            <a:pPr algn="just" eaLnBrk="1" hangingPunct="1">
              <a:buNone/>
            </a:pPr>
            <a:r>
              <a:rPr lang="en-US" altLang="zh-CN" sz="2400" dirty="0"/>
              <a:t>             </a:t>
            </a:r>
            <a:r>
              <a:rPr lang="zh-CN" altLang="zh-CN" sz="2400" dirty="0"/>
              <a:t>为了加快段内地址的转换速度，在</a:t>
            </a:r>
            <a:r>
              <a:rPr lang="en-US" altLang="zh-CN" sz="2400" dirty="0"/>
              <a:t>80386</a:t>
            </a:r>
            <a:r>
              <a:rPr lang="zh-CN" altLang="zh-CN" sz="2400" dirty="0"/>
              <a:t>芯片上有高速缓冲存储器（</a:t>
            </a:r>
            <a:r>
              <a:rPr lang="en-US" altLang="zh-CN" sz="2400" dirty="0"/>
              <a:t>Cache</a:t>
            </a:r>
            <a:r>
              <a:rPr lang="zh-CN" altLang="zh-CN" sz="2400" dirty="0"/>
              <a:t>），可把当前段描述符存入</a:t>
            </a:r>
            <a:r>
              <a:rPr lang="en-US" altLang="zh-CN" sz="2400" dirty="0"/>
              <a:t>Cache</a:t>
            </a:r>
            <a:r>
              <a:rPr lang="zh-CN" altLang="zh-CN" sz="2400" dirty="0"/>
              <a:t>中，在以后进行的地址转换中就不用再访问描述符表，而只与</a:t>
            </a:r>
            <a:r>
              <a:rPr lang="en-US" altLang="zh-CN" sz="2400" dirty="0"/>
              <a:t>Cache</a:t>
            </a:r>
            <a:r>
              <a:rPr lang="zh-CN" altLang="zh-CN" sz="2400" dirty="0"/>
              <a:t>打交道，这样就大大提高了地址转换的速度。</a:t>
            </a:r>
          </a:p>
          <a:p>
            <a:pPr algn="just" eaLnBrk="1" hangingPunct="1">
              <a:buNone/>
            </a:pPr>
            <a:r>
              <a:rPr lang="en-US" altLang="zh-CN" sz="2400" dirty="0"/>
              <a:t>             </a:t>
            </a:r>
            <a:r>
              <a:rPr lang="zh-CN" altLang="zh-CN" sz="2400" dirty="0"/>
              <a:t>分页系统也支持</a:t>
            </a:r>
            <a:r>
              <a:rPr lang="en-US" altLang="zh-CN" sz="2400" dirty="0"/>
              <a:t>Cache</a:t>
            </a:r>
            <a:r>
              <a:rPr lang="zh-CN" altLang="zh-CN" sz="2400" dirty="0"/>
              <a:t>，把最新、最常用的页表项目自动保存在称为转换后备高速缓存（</a:t>
            </a:r>
            <a:r>
              <a:rPr lang="en-US" altLang="zh-CN" sz="2400" dirty="0"/>
              <a:t>TLB</a:t>
            </a:r>
            <a:r>
              <a:rPr lang="zh-CN" altLang="zh-CN" sz="2400" dirty="0"/>
              <a:t>）中。</a:t>
            </a:r>
            <a:r>
              <a:rPr lang="en-US" altLang="zh-CN" sz="2400" dirty="0"/>
              <a:t>TLB</a:t>
            </a:r>
            <a:r>
              <a:rPr lang="zh-CN" altLang="zh-CN" sz="2400" dirty="0"/>
              <a:t>共可保存</a:t>
            </a:r>
            <a:r>
              <a:rPr lang="en-US" altLang="zh-CN" sz="2400" dirty="0"/>
              <a:t>32</a:t>
            </a:r>
            <a:r>
              <a:rPr lang="zh-CN" altLang="zh-CN" sz="2400" dirty="0"/>
              <a:t>个页表信息，</a:t>
            </a:r>
            <a:r>
              <a:rPr lang="en-US" altLang="zh-CN" sz="2400" dirty="0"/>
              <a:t>32</a:t>
            </a:r>
            <a:r>
              <a:rPr lang="zh-CN" altLang="zh-CN" sz="2400" dirty="0"/>
              <a:t>个页与对应页的</a:t>
            </a:r>
            <a:r>
              <a:rPr lang="en-US" altLang="zh-CN" sz="2400" dirty="0"/>
              <a:t>4KB</a:t>
            </a:r>
            <a:r>
              <a:rPr lang="zh-CN" altLang="zh-CN" sz="2400" dirty="0"/>
              <a:t>相联系，从而覆盖了</a:t>
            </a:r>
            <a:r>
              <a:rPr lang="en-US" altLang="zh-CN" sz="2400" dirty="0"/>
              <a:t>128KB</a:t>
            </a:r>
            <a:r>
              <a:rPr lang="zh-CN" altLang="zh-CN" sz="2400" dirty="0"/>
              <a:t>的存储器空间。对一般的多任务系统来说，</a:t>
            </a:r>
            <a:r>
              <a:rPr lang="en-US" altLang="zh-CN" sz="2400" dirty="0"/>
              <a:t>TLB</a:t>
            </a:r>
            <a:r>
              <a:rPr lang="zh-CN" altLang="zh-CN" sz="2400" dirty="0"/>
              <a:t>具有大约</a:t>
            </a:r>
            <a:r>
              <a:rPr lang="en-US" altLang="zh-CN" sz="2400" dirty="0"/>
              <a:t>98%</a:t>
            </a:r>
            <a:r>
              <a:rPr lang="zh-CN" altLang="zh-CN" sz="2400" dirty="0"/>
              <a:t>的命中率，也就是说在处理器访问存储器过程中，只有</a:t>
            </a:r>
            <a:r>
              <a:rPr lang="en-US" altLang="zh-CN" sz="2400" dirty="0"/>
              <a:t>2%</a:t>
            </a:r>
            <a:r>
              <a:rPr lang="zh-CN" altLang="zh-CN" sz="2400" dirty="0"/>
              <a:t>必须访问两级分页机构，所以加快了地址转换的速度。</a:t>
            </a:r>
          </a:p>
          <a:p>
            <a:pPr algn="just" eaLnBrk="1" hangingPunct="1">
              <a:buNone/>
            </a:pPr>
            <a:endParaRPr lang="zh-CN" altLang="zh-CN" sz="2400" dirty="0"/>
          </a:p>
        </p:txBody>
      </p:sp>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368925"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2.3  </a:t>
            </a:r>
            <a:r>
              <a:rPr kumimoji="1" lang="zh-CN"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高性能微处理器</a:t>
            </a:r>
            <a:endParaRPr kumimoji="1" lang="zh-CN" altLang="en-US"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endParaRPr>
          </a:p>
        </p:txBody>
      </p:sp>
      <p:sp>
        <p:nvSpPr>
          <p:cNvPr id="11161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3796" name="Rectangle 11"/>
          <p:cNvSpPr>
            <a:spLocks noGrp="1"/>
          </p:cNvSpPr>
          <p:nvPr>
            <p:ph idx="1"/>
          </p:nvPr>
        </p:nvSpPr>
        <p:spPr>
          <a:xfrm>
            <a:off x="1412875" y="2159000"/>
            <a:ext cx="6364288" cy="4170363"/>
          </a:xfrm>
          <a:ln>
            <a:miter/>
          </a:ln>
        </p:spPr>
        <p:txBody>
          <a:bodyPr vert="horz" wrap="square" lIns="92075" tIns="46038" rIns="92075" bIns="46038" anchor="t"/>
          <a:lstStyle/>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1" lang="en-US" altLang="zh-CN" sz="2800" b="1" i="0" u="none" strike="noStrike" kern="0" cap="none" spc="0" normalizeH="0" baseline="0" noProof="1">
                <a:solidFill>
                  <a:srgbClr val="66FFCC"/>
                </a:solidFill>
                <a:latin typeface="+mn-lt"/>
                <a:ea typeface="+mn-ea"/>
                <a:cs typeface="+mn-cs"/>
                <a:sym typeface="+mn-ea"/>
              </a:rPr>
              <a:t>2</a:t>
            </a:r>
            <a:r>
              <a:rPr kumimoji="1" lang="zh-CN" altLang="en-US" sz="2800" b="1" i="0" u="none" strike="noStrike" kern="0" cap="none" spc="0" normalizeH="0" baseline="0" noProof="1">
                <a:solidFill>
                  <a:srgbClr val="66FFCC"/>
                </a:solidFill>
                <a:latin typeface="+mn-lt"/>
                <a:ea typeface="+mn-ea"/>
                <a:cs typeface="+mn-cs"/>
                <a:sym typeface="+mn-ea"/>
              </a:rPr>
              <a:t>.</a:t>
            </a:r>
            <a:r>
              <a:rPr kumimoji="1" lang="en-US" altLang="zh-CN" sz="2800" b="1" i="0" u="none" strike="noStrike" kern="0" cap="none" spc="0" normalizeH="0" baseline="0" noProof="1">
                <a:solidFill>
                  <a:srgbClr val="66FFCC"/>
                </a:solidFill>
                <a:latin typeface="+mn-lt"/>
                <a:ea typeface="+mn-ea"/>
                <a:cs typeface="+mn-cs"/>
                <a:sym typeface="+mn-ea"/>
              </a:rPr>
              <a:t>3</a:t>
            </a:r>
            <a:r>
              <a:rPr kumimoji="1" lang="zh-CN" altLang="en-US" sz="2800" b="1" i="0" u="none" strike="noStrike" kern="0" cap="none" spc="0" normalizeH="0" baseline="0" noProof="1">
                <a:solidFill>
                  <a:srgbClr val="66FFCC"/>
                </a:solidFill>
                <a:latin typeface="+mn-lt"/>
                <a:ea typeface="+mn-ea"/>
                <a:cs typeface="+mn-cs"/>
                <a:sym typeface="+mn-ea"/>
              </a:rPr>
              <a:t>.1  </a:t>
            </a:r>
            <a:r>
              <a:rPr kumimoji="0" lang="zh-CN" altLang="en-US" sz="2800" b="1" i="0" u="none" strike="noStrike" kern="0" cap="none" spc="0" normalizeH="0" baseline="0" noProof="1">
                <a:solidFill>
                  <a:srgbClr val="66FFCC"/>
                </a:solidFill>
                <a:latin typeface="+mn-lt"/>
                <a:ea typeface="+mn-ea"/>
                <a:cs typeface="+mn-cs"/>
              </a:rPr>
              <a:t>Pentium微处理器</a:t>
            </a:r>
          </a:p>
          <a:p>
            <a:pPr marL="342900" marR="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u"/>
            </a:pPr>
            <a:endParaRPr kumimoji="0" lang="zh-CN" altLang="en-US" sz="2800" b="1" i="0" u="none" strike="noStrike" kern="0" cap="none" spc="0" normalizeH="0" baseline="0" noProof="1">
              <a:solidFill>
                <a:srgbClr val="66FFCC"/>
              </a:solidFill>
              <a:latin typeface="+mn-lt"/>
              <a:ea typeface="+mn-ea"/>
              <a:cs typeface="+mn-cs"/>
            </a:endParaRP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2.3.2  </a:t>
            </a:r>
            <a:r>
              <a:rPr kumimoji="0" lang="zh-CN" altLang="en-US" sz="2800" b="1" i="0" u="none" strike="noStrike" kern="0" cap="none" spc="0" normalizeH="0" baseline="0" noProof="1">
                <a:solidFill>
                  <a:srgbClr val="66FFCC"/>
                </a:solidFill>
                <a:latin typeface="+mn-lt"/>
                <a:ea typeface="+mn-ea"/>
                <a:cs typeface="+mn-cs"/>
              </a:rPr>
              <a:t>Pentium微处理器的技术特点</a:t>
            </a:r>
          </a:p>
          <a:p>
            <a:pPr marL="342900" marR="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u"/>
            </a:pPr>
            <a:endParaRPr kumimoji="0" lang="zh-CN" altLang="en-US" sz="2800" b="1" i="0" u="none" strike="noStrike" kern="0" cap="none" spc="0" normalizeH="0" baseline="0" noProof="1">
              <a:solidFill>
                <a:srgbClr val="66FFCC"/>
              </a:solidFill>
              <a:latin typeface="+mn-lt"/>
              <a:ea typeface="+mn-ea"/>
              <a:cs typeface="+mn-cs"/>
            </a:endParaRP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2.3.3  </a:t>
            </a:r>
            <a:r>
              <a:rPr kumimoji="0" lang="zh-CN" altLang="en-US" sz="2800" b="1" i="0" u="none" strike="noStrike" kern="0" cap="none" spc="0" normalizeH="0" baseline="0" noProof="1">
                <a:solidFill>
                  <a:srgbClr val="66FFCC"/>
                </a:solidFill>
                <a:latin typeface="+mn-lt"/>
                <a:ea typeface="+mn-ea"/>
                <a:cs typeface="+mn-cs"/>
              </a:rPr>
              <a:t>Pentium微处理器的发展</a:t>
            </a:r>
          </a:p>
          <a:p>
            <a:pPr marL="342900" marR="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u"/>
            </a:pPr>
            <a:endParaRPr kumimoji="0" lang="zh-CN" altLang="en-US" sz="2800" b="1" i="0" u="none" strike="noStrike" kern="0" cap="none" spc="0" normalizeH="0" baseline="0" noProof="1">
              <a:solidFill>
                <a:srgbClr val="66FFCC"/>
              </a:solidFill>
              <a:latin typeface="+mn-lt"/>
              <a:ea typeface="+mn-ea"/>
              <a:cs typeface="+mn-cs"/>
            </a:endParaRP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2.3.4  </a:t>
            </a:r>
            <a:r>
              <a:rPr kumimoji="0" lang="zh-CN" altLang="en-US" sz="2800" b="1" i="0" u="none" strike="noStrike" kern="0" cap="none" spc="0" normalizeH="0" baseline="0" noProof="1">
                <a:solidFill>
                  <a:srgbClr val="66FFCC"/>
                </a:solidFill>
                <a:latin typeface="+mn-lt"/>
                <a:ea typeface="+mn-ea"/>
                <a:cs typeface="+mn-cs"/>
              </a:rPr>
              <a:t>多核微处理器</a:t>
            </a:r>
          </a:p>
        </p:txBody>
      </p:sp>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2.3.1  Pentium</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a:t>
            </a:r>
          </a:p>
        </p:txBody>
      </p:sp>
      <p:sp>
        <p:nvSpPr>
          <p:cNvPr id="11366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13667" name="内容占位符 4"/>
          <p:cNvSpPr>
            <a:spLocks noGrp="1"/>
          </p:cNvSpPr>
          <p:nvPr>
            <p:ph idx="1"/>
          </p:nvPr>
        </p:nvSpPr>
        <p:spPr>
          <a:xfrm>
            <a:off x="293688" y="1900238"/>
            <a:ext cx="8148637" cy="4305300"/>
          </a:xfrm>
          <a:ln/>
        </p:spPr>
        <p:txBody>
          <a:bodyPr wrap="square" lIns="92075" tIns="46038" rIns="92075" bIns="46038" anchor="t" anchorCtr="0"/>
          <a:lstStyle/>
          <a:p>
            <a:pPr algn="just" eaLnBrk="1" hangingPunct="1">
              <a:buNone/>
            </a:pPr>
            <a:r>
              <a:rPr lang="en-US" altLang="zh-CN" sz="2400" dirty="0"/>
              <a:t>             1993</a:t>
            </a:r>
            <a:r>
              <a:rPr lang="zh-CN" altLang="zh-CN" sz="2400" dirty="0"/>
              <a:t>年</a:t>
            </a:r>
            <a:r>
              <a:rPr lang="en-US" altLang="zh-CN" sz="2400" dirty="0"/>
              <a:t>3</a:t>
            </a:r>
            <a:r>
              <a:rPr lang="zh-CN" altLang="zh-CN" sz="2400" dirty="0"/>
              <a:t>月，</a:t>
            </a:r>
            <a:r>
              <a:rPr lang="en-US" altLang="zh-CN" sz="2400" dirty="0"/>
              <a:t>Intel</a:t>
            </a:r>
            <a:r>
              <a:rPr lang="zh-CN" altLang="zh-CN" sz="2400" dirty="0"/>
              <a:t>公司推出了新一代名为</a:t>
            </a:r>
            <a:r>
              <a:rPr lang="en-US" altLang="zh-CN" sz="2400" dirty="0"/>
              <a:t>Pentium</a:t>
            </a:r>
            <a:r>
              <a:rPr lang="zh-CN" altLang="zh-CN" sz="2400" dirty="0"/>
              <a:t>（奔腾，即</a:t>
            </a:r>
            <a:r>
              <a:rPr lang="en-US" altLang="zh-CN" sz="2400" dirty="0"/>
              <a:t>P5</a:t>
            </a:r>
            <a:r>
              <a:rPr lang="zh-CN" altLang="zh-CN" sz="2400" dirty="0"/>
              <a:t>）的微处理器。它拥有</a:t>
            </a:r>
            <a:r>
              <a:rPr lang="en-US" altLang="zh-CN" sz="2400" dirty="0"/>
              <a:t>32</a:t>
            </a:r>
            <a:r>
              <a:rPr lang="zh-CN" altLang="zh-CN" sz="2400" dirty="0"/>
              <a:t>位寄存器、</a:t>
            </a:r>
            <a:r>
              <a:rPr lang="en-US" altLang="zh-CN" sz="2400" dirty="0"/>
              <a:t>64</a:t>
            </a:r>
            <a:r>
              <a:rPr lang="zh-CN" altLang="zh-CN" sz="2400" dirty="0"/>
              <a:t>位数据总线和</a:t>
            </a:r>
            <a:r>
              <a:rPr lang="en-US" altLang="zh-CN" sz="2400" dirty="0"/>
              <a:t>32</a:t>
            </a:r>
            <a:r>
              <a:rPr lang="zh-CN" altLang="zh-CN" sz="2400" dirty="0"/>
              <a:t>位地址总线、高性能浮点处理部件和多媒体处理</a:t>
            </a:r>
            <a:r>
              <a:rPr lang="en-US" altLang="zh-CN" sz="2400" dirty="0"/>
              <a:t>MMX</a:t>
            </a:r>
            <a:r>
              <a:rPr lang="zh-CN" altLang="zh-CN" sz="2400" dirty="0"/>
              <a:t>部件。采用</a:t>
            </a:r>
            <a:r>
              <a:rPr lang="en-US" altLang="zh-CN" sz="2400" dirty="0"/>
              <a:t>0.80 </a:t>
            </a:r>
            <a:r>
              <a:rPr lang="zh-CN" altLang="zh-CN" sz="2400" dirty="0"/>
              <a:t>制造工艺，支持</a:t>
            </a:r>
            <a:r>
              <a:rPr lang="en-US" altLang="zh-CN" sz="2400" dirty="0"/>
              <a:t>60</a:t>
            </a:r>
            <a:r>
              <a:rPr lang="zh-CN" altLang="zh-CN" sz="2400" dirty="0"/>
              <a:t>和</a:t>
            </a:r>
            <a:r>
              <a:rPr lang="en-US" altLang="zh-CN" sz="2400" dirty="0"/>
              <a:t>66MHz</a:t>
            </a:r>
            <a:r>
              <a:rPr lang="zh-CN" altLang="zh-CN" sz="2400" dirty="0"/>
              <a:t>前端总线速度（</a:t>
            </a:r>
            <a:r>
              <a:rPr lang="en-US" altLang="zh-CN" sz="2400" dirty="0"/>
              <a:t>FSB</a:t>
            </a:r>
            <a:r>
              <a:rPr lang="zh-CN" altLang="zh-CN" sz="2400" dirty="0"/>
              <a:t>），安全工作电压为</a:t>
            </a:r>
            <a:r>
              <a:rPr lang="en-US" altLang="zh-CN" sz="2400" dirty="0"/>
              <a:t>5V</a:t>
            </a:r>
            <a:r>
              <a:rPr lang="zh-CN" altLang="zh-CN" sz="2400" dirty="0"/>
              <a:t>。</a:t>
            </a:r>
            <a:r>
              <a:rPr lang="en-US" altLang="zh-CN" sz="2400" dirty="0"/>
              <a:t>Pentium</a:t>
            </a:r>
            <a:r>
              <a:rPr lang="zh-CN" altLang="zh-CN" sz="2400" dirty="0"/>
              <a:t>处理器采用全新的设计，与</a:t>
            </a:r>
            <a:r>
              <a:rPr lang="en-US" altLang="zh-CN" sz="2400" dirty="0"/>
              <a:t>80486</a:t>
            </a:r>
            <a:r>
              <a:rPr lang="zh-CN" altLang="zh-CN" sz="2400" dirty="0"/>
              <a:t>相比内部结构也作了很大改进，但是依然保持了和</a:t>
            </a:r>
            <a:r>
              <a:rPr lang="en-US" altLang="zh-CN" sz="2400" dirty="0"/>
              <a:t>80x86</a:t>
            </a:r>
            <a:r>
              <a:rPr lang="zh-CN" altLang="zh-CN" sz="2400" dirty="0"/>
              <a:t>系列的二进制兼容性，在相同的工作模式上可以执行所有的</a:t>
            </a:r>
            <a:r>
              <a:rPr lang="en-US" altLang="zh-CN" sz="2400" dirty="0"/>
              <a:t>80x86</a:t>
            </a:r>
            <a:r>
              <a:rPr lang="zh-CN" altLang="zh-CN" sz="2400" dirty="0"/>
              <a:t>程序。片内存储管理单元（</a:t>
            </a:r>
            <a:r>
              <a:rPr lang="en-US" altLang="zh-CN" sz="2400" dirty="0"/>
              <a:t>MMU</a:t>
            </a:r>
            <a:r>
              <a:rPr lang="zh-CN" altLang="zh-CN" sz="2400" dirty="0"/>
              <a:t>）也与</a:t>
            </a:r>
            <a:r>
              <a:rPr lang="en-US" altLang="zh-CN" sz="2400" dirty="0"/>
              <a:t>80386</a:t>
            </a:r>
            <a:r>
              <a:rPr lang="zh-CN" altLang="zh-CN" sz="2400" dirty="0"/>
              <a:t>和</a:t>
            </a:r>
            <a:r>
              <a:rPr lang="en-US" altLang="zh-CN" sz="2400" dirty="0"/>
              <a:t>80486</a:t>
            </a:r>
            <a:r>
              <a:rPr lang="zh-CN" altLang="zh-CN" sz="2400" dirty="0"/>
              <a:t>兼容，可以在实地址模式引导下转入保护模式和虚拟</a:t>
            </a:r>
            <a:r>
              <a:rPr lang="en-US" altLang="zh-CN" sz="2400" dirty="0"/>
              <a:t>86</a:t>
            </a:r>
            <a:r>
              <a:rPr lang="zh-CN" altLang="zh-CN" sz="2400" dirty="0"/>
              <a:t>模式，其指令集包括了</a:t>
            </a:r>
            <a:r>
              <a:rPr lang="en-US" altLang="zh-CN" sz="2400" dirty="0"/>
              <a:t>80486</a:t>
            </a:r>
            <a:r>
              <a:rPr lang="zh-CN" altLang="zh-CN" sz="2400" dirty="0"/>
              <a:t>的所有指令，并增加了新的指令。</a:t>
            </a:r>
          </a:p>
        </p:txBody>
      </p:sp>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2.3.1  Pentium</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a:t>
            </a:r>
          </a:p>
        </p:txBody>
      </p:sp>
      <p:sp>
        <p:nvSpPr>
          <p:cNvPr id="11571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pic>
        <p:nvPicPr>
          <p:cNvPr id="115715" name="Picture 13" descr="2"/>
          <p:cNvPicPr>
            <a:picLocks noChangeAspect="1"/>
          </p:cNvPicPr>
          <p:nvPr/>
        </p:nvPicPr>
        <p:blipFill>
          <a:blip r:embed="rId4"/>
          <a:stretch>
            <a:fillRect/>
          </a:stretch>
        </p:blipFill>
        <p:spPr>
          <a:xfrm>
            <a:off x="463550" y="1228725"/>
            <a:ext cx="5283200" cy="5575300"/>
          </a:xfrm>
          <a:prstGeom prst="rect">
            <a:avLst/>
          </a:prstGeom>
          <a:noFill/>
          <a:ln w="9525">
            <a:noFill/>
          </a:ln>
        </p:spPr>
      </p:pic>
      <p:sp>
        <p:nvSpPr>
          <p:cNvPr id="115716" name="文本框 99"/>
          <p:cNvSpPr txBox="1"/>
          <p:nvPr/>
        </p:nvSpPr>
        <p:spPr>
          <a:xfrm>
            <a:off x="5864225" y="5842000"/>
            <a:ext cx="3103563" cy="654050"/>
          </a:xfrm>
          <a:prstGeom prst="rect">
            <a:avLst/>
          </a:prstGeom>
          <a:noFill/>
          <a:ln w="9525">
            <a:noFill/>
          </a:ln>
        </p:spPr>
        <p:txBody>
          <a:bodyPr wrap="square" anchor="t" anchorCtr="0">
            <a:spAutoFit/>
          </a:bodyPr>
          <a:lstStyle/>
          <a:p>
            <a:pPr algn="ctr"/>
            <a:r>
              <a:rPr lang="zh-CN" altLang="en-US" sz="2000" b="0">
                <a:latin typeface="Times New Roman" panose="02020603050405020304" pitchFamily="18" charset="0"/>
                <a:ea typeface="宋体" panose="02010600030101010101" pitchFamily="2" charset="-122"/>
              </a:rPr>
              <a:t>图</a:t>
            </a:r>
            <a:r>
              <a:rPr lang="en-US" altLang="zh-CN" sz="2000" b="0">
                <a:latin typeface="Times New Roman" panose="02020603050405020304" pitchFamily="18" charset="0"/>
                <a:ea typeface="宋体" panose="02010600030101010101" pitchFamily="2" charset="-122"/>
              </a:rPr>
              <a:t>2-</a:t>
            </a:r>
            <a:r>
              <a:rPr lang="en-US" altLang="zh-CN" sz="2000" b="0">
                <a:latin typeface="宋体" panose="02010600030101010101" pitchFamily="2" charset="-122"/>
                <a:ea typeface="宋体" panose="02010600030101010101" pitchFamily="2" charset="-122"/>
              </a:rPr>
              <a:t>12</a:t>
            </a:r>
            <a:r>
              <a:rPr lang="en-US" altLang="zh-CN" sz="2000" b="0">
                <a:latin typeface="Times New Roman" panose="02020603050405020304" pitchFamily="18" charset="0"/>
                <a:ea typeface="宋体" panose="02010600030101010101" pitchFamily="2" charset="-122"/>
              </a:rPr>
              <a:t>  Pentium</a:t>
            </a:r>
            <a:r>
              <a:rPr lang="zh-CN" altLang="en-US" sz="2000" b="0">
                <a:latin typeface="宋体" panose="02010600030101010101" pitchFamily="2" charset="-122"/>
                <a:ea typeface="宋体" panose="02010600030101010101" pitchFamily="2" charset="-122"/>
              </a:rPr>
              <a:t>处理器的逻辑结构</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2.3.2  Pentium</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微处理器的技术特点</a:t>
            </a:r>
          </a:p>
        </p:txBody>
      </p:sp>
      <p:sp>
        <p:nvSpPr>
          <p:cNvPr id="11776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17763" name="内容占位符 4"/>
          <p:cNvSpPr>
            <a:spLocks noGrp="1"/>
          </p:cNvSpPr>
          <p:nvPr>
            <p:ph idx="1"/>
          </p:nvPr>
        </p:nvSpPr>
        <p:spPr>
          <a:xfrm>
            <a:off x="293688" y="1900238"/>
            <a:ext cx="8450262" cy="4305300"/>
          </a:xfrm>
          <a:ln/>
        </p:spPr>
        <p:txBody>
          <a:bodyPr wrap="square" lIns="92075" tIns="46038" rIns="92075" bIns="46038" anchor="t" anchorCtr="0"/>
          <a:lstStyle/>
          <a:p>
            <a:pPr eaLnBrk="1" hangingPunct="1">
              <a:buNone/>
            </a:pPr>
            <a:r>
              <a:rPr lang="en-US" altLang="zh-CN" sz="2400" dirty="0"/>
              <a:t>             </a:t>
            </a:r>
            <a:r>
              <a:rPr lang="zh-CN" altLang="zh-CN" sz="2400" dirty="0"/>
              <a:t>除了具有与</a:t>
            </a:r>
            <a:r>
              <a:rPr lang="en-US" altLang="zh-CN" sz="2400" dirty="0"/>
              <a:t>80x86</a:t>
            </a:r>
            <a:r>
              <a:rPr lang="zh-CN" altLang="zh-CN" sz="2400" dirty="0"/>
              <a:t>系列微处理器完全兼容的特点以外，在</a:t>
            </a:r>
            <a:r>
              <a:rPr lang="en-US" altLang="zh-CN" sz="2400" dirty="0"/>
              <a:t>CPU</a:t>
            </a:r>
            <a:r>
              <a:rPr lang="zh-CN" altLang="zh-CN" sz="2400" dirty="0"/>
              <a:t>的结构体系上，还有如下一些新的特点</a:t>
            </a:r>
            <a:r>
              <a:rPr lang="en-US" altLang="zh-CN" sz="2400" dirty="0"/>
              <a:t>:</a:t>
            </a:r>
            <a:endParaRPr lang="zh-CN" altLang="zh-CN" sz="2400" dirty="0"/>
          </a:p>
          <a:p>
            <a:pPr eaLnBrk="1" hangingPunct="1">
              <a:buNone/>
            </a:pPr>
            <a:r>
              <a:rPr lang="en-US" altLang="zh-CN" sz="2400" dirty="0"/>
              <a:t>   </a:t>
            </a:r>
            <a:r>
              <a:rPr lang="zh-CN" altLang="zh-CN" sz="2400" dirty="0"/>
              <a:t>（</a:t>
            </a:r>
            <a:r>
              <a:rPr lang="en-US" altLang="zh-CN" sz="2400" dirty="0"/>
              <a:t>1</a:t>
            </a:r>
            <a:r>
              <a:rPr lang="zh-CN" altLang="zh-CN" sz="2400" dirty="0"/>
              <a:t>）</a:t>
            </a:r>
            <a:r>
              <a:rPr lang="en-US" altLang="zh-CN" sz="2400" dirty="0"/>
              <a:t>Pentium</a:t>
            </a:r>
            <a:r>
              <a:rPr lang="zh-CN" altLang="zh-CN" sz="2400" dirty="0"/>
              <a:t>的片内高速缓存采用了分离式结构。</a:t>
            </a:r>
            <a:endParaRPr lang="en-US" altLang="zh-CN" sz="2400" dirty="0"/>
          </a:p>
          <a:p>
            <a:pPr eaLnBrk="1" hangingPunct="1">
              <a:buNone/>
            </a:pPr>
            <a:r>
              <a:rPr lang="en-US" altLang="zh-CN" sz="2400" dirty="0"/>
              <a:t>   </a:t>
            </a:r>
            <a:r>
              <a:rPr lang="zh-CN" altLang="zh-CN" sz="2400" dirty="0"/>
              <a:t>（</a:t>
            </a:r>
            <a:r>
              <a:rPr lang="en-US" altLang="zh-CN" sz="2400" dirty="0"/>
              <a:t>2</a:t>
            </a:r>
            <a:r>
              <a:rPr lang="zh-CN" altLang="zh-CN" sz="2400" dirty="0"/>
              <a:t>）</a:t>
            </a:r>
            <a:r>
              <a:rPr lang="en-US" altLang="zh-CN" sz="2400" dirty="0"/>
              <a:t>Pentium</a:t>
            </a:r>
            <a:r>
              <a:rPr lang="zh-CN" altLang="zh-CN" sz="2400" dirty="0"/>
              <a:t>采用</a:t>
            </a:r>
            <a:r>
              <a:rPr lang="en-US" altLang="zh-CN" sz="2400" dirty="0">
                <a:solidFill>
                  <a:srgbClr val="FF0000"/>
                </a:solidFill>
              </a:rPr>
              <a:t>RISC</a:t>
            </a:r>
            <a:r>
              <a:rPr lang="zh-CN" altLang="zh-CN" sz="2400" dirty="0"/>
              <a:t>技术。</a:t>
            </a:r>
            <a:endParaRPr lang="en-US" altLang="zh-CN" sz="2400" dirty="0"/>
          </a:p>
          <a:p>
            <a:pPr eaLnBrk="1" hangingPunct="1">
              <a:buNone/>
            </a:pPr>
            <a:r>
              <a:rPr lang="en-US" altLang="zh-CN" sz="2400" dirty="0"/>
              <a:t>   </a:t>
            </a:r>
            <a:r>
              <a:rPr lang="zh-CN" altLang="zh-CN" sz="2400" dirty="0"/>
              <a:t>（</a:t>
            </a:r>
            <a:r>
              <a:rPr lang="en-US" altLang="zh-CN" sz="2400" dirty="0"/>
              <a:t>3</a:t>
            </a:r>
            <a:r>
              <a:rPr lang="zh-CN" altLang="zh-CN" sz="2400" dirty="0"/>
              <a:t>）</a:t>
            </a:r>
            <a:r>
              <a:rPr lang="en-US" altLang="zh-CN" sz="2400" dirty="0"/>
              <a:t>Pentium</a:t>
            </a:r>
            <a:r>
              <a:rPr lang="zh-CN" altLang="zh-CN" sz="2400" dirty="0"/>
              <a:t>具有高性能的浮点运算部件。</a:t>
            </a:r>
            <a:endParaRPr lang="en-US" altLang="zh-CN" sz="2400" dirty="0"/>
          </a:p>
          <a:p>
            <a:pPr eaLnBrk="1" hangingPunct="1">
              <a:buNone/>
            </a:pPr>
            <a:r>
              <a:rPr lang="en-US" altLang="zh-CN" sz="2400" dirty="0"/>
              <a:t>   </a:t>
            </a:r>
            <a:r>
              <a:rPr lang="zh-CN" altLang="zh-CN" sz="2400" dirty="0"/>
              <a:t>（</a:t>
            </a:r>
            <a:r>
              <a:rPr lang="en-US" altLang="zh-CN" sz="2400" dirty="0"/>
              <a:t>4</a:t>
            </a:r>
            <a:r>
              <a:rPr lang="zh-CN" altLang="zh-CN" sz="2400" dirty="0"/>
              <a:t>）具有分支指令预测功能。</a:t>
            </a:r>
            <a:endParaRPr lang="en-US" altLang="zh-CN" sz="2400" dirty="0"/>
          </a:p>
          <a:p>
            <a:pPr eaLnBrk="1" hangingPunct="1">
              <a:buNone/>
            </a:pPr>
            <a:r>
              <a:rPr lang="en-US" altLang="zh-CN" sz="2400" dirty="0"/>
              <a:t>   </a:t>
            </a:r>
            <a:r>
              <a:rPr lang="zh-CN" altLang="zh-CN" sz="2400" dirty="0"/>
              <a:t>（</a:t>
            </a:r>
            <a:r>
              <a:rPr lang="en-US" altLang="zh-CN" sz="2400" dirty="0"/>
              <a:t>5</a:t>
            </a:r>
            <a:r>
              <a:rPr lang="zh-CN" altLang="zh-CN" sz="2400" dirty="0"/>
              <a:t>）数据总线位宽增加。</a:t>
            </a:r>
            <a:endParaRPr lang="en-US" altLang="zh-CN" sz="2400" dirty="0"/>
          </a:p>
          <a:p>
            <a:pPr eaLnBrk="1" hangingPunct="1">
              <a:buNone/>
            </a:pPr>
            <a:r>
              <a:rPr lang="en-US" altLang="zh-CN" sz="2400" dirty="0"/>
              <a:t>   </a:t>
            </a:r>
            <a:r>
              <a:rPr lang="zh-CN" altLang="zh-CN" sz="2400" dirty="0"/>
              <a:t>（</a:t>
            </a:r>
            <a:r>
              <a:rPr lang="en-US" altLang="zh-CN" sz="2400" dirty="0"/>
              <a:t>6</a:t>
            </a:r>
            <a:r>
              <a:rPr lang="zh-CN" altLang="zh-CN" sz="2400" dirty="0"/>
              <a:t>）常用指令固化。</a:t>
            </a:r>
            <a:endParaRPr lang="en-US" altLang="zh-CN" sz="2400" dirty="0"/>
          </a:p>
          <a:p>
            <a:pPr eaLnBrk="1" hangingPunct="1">
              <a:buNone/>
            </a:pPr>
            <a:r>
              <a:rPr lang="en-US" altLang="zh-CN" sz="2400" dirty="0"/>
              <a:t>   </a:t>
            </a:r>
            <a:r>
              <a:rPr lang="zh-CN" altLang="zh-CN" sz="2400" dirty="0"/>
              <a:t>（</a:t>
            </a:r>
            <a:r>
              <a:rPr lang="en-US" altLang="zh-CN" sz="2400" dirty="0"/>
              <a:t>7</a:t>
            </a:r>
            <a:r>
              <a:rPr lang="zh-CN" altLang="zh-CN" sz="2400" dirty="0"/>
              <a:t>）系统管理模式（</a:t>
            </a:r>
            <a:r>
              <a:rPr lang="en-US" altLang="zh-CN" sz="2400" dirty="0"/>
              <a:t>SMM</a:t>
            </a:r>
            <a:r>
              <a:rPr lang="zh-CN" altLang="zh-CN" sz="2400" dirty="0"/>
              <a:t>，</a:t>
            </a:r>
            <a:r>
              <a:rPr lang="en-US" altLang="zh-CN" sz="2400" dirty="0"/>
              <a:t>System Management Mode</a:t>
            </a:r>
            <a:r>
              <a:rPr lang="zh-CN" altLang="zh-CN" sz="2400" dirty="0"/>
              <a:t>）。</a:t>
            </a:r>
          </a:p>
        </p:txBody>
      </p:sp>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2.3.3  Pentium</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微处理器的发展</a:t>
            </a:r>
          </a:p>
        </p:txBody>
      </p:sp>
      <p:sp>
        <p:nvSpPr>
          <p:cNvPr id="11981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19811" name="内容占位符 4"/>
          <p:cNvSpPr>
            <a:spLocks noGrp="1"/>
          </p:cNvSpPr>
          <p:nvPr>
            <p:ph idx="1"/>
          </p:nvPr>
        </p:nvSpPr>
        <p:spPr>
          <a:xfrm>
            <a:off x="438150" y="1533525"/>
            <a:ext cx="8347075" cy="5124450"/>
          </a:xfrm>
          <a:ln/>
        </p:spPr>
        <p:txBody>
          <a:bodyPr wrap="square" lIns="92075" tIns="46038" rIns="92075" bIns="46038" anchor="t" anchorCtr="0"/>
          <a:lstStyle/>
          <a:p>
            <a:pPr algn="just" eaLnBrk="1" hangingPunct="1">
              <a:buNone/>
            </a:pPr>
            <a:r>
              <a:rPr lang="en-US" altLang="zh-CN" sz="2400" dirty="0"/>
              <a:t>     1</a:t>
            </a:r>
            <a:r>
              <a:rPr lang="zh-CN" altLang="zh-CN" sz="2400" dirty="0"/>
              <a:t>．</a:t>
            </a:r>
            <a:r>
              <a:rPr lang="en-US" altLang="zh-CN" sz="2400" dirty="0"/>
              <a:t>Pentium Pro</a:t>
            </a:r>
          </a:p>
          <a:p>
            <a:pPr algn="just" eaLnBrk="1" hangingPunct="1">
              <a:buNone/>
            </a:pPr>
            <a:r>
              <a:rPr lang="en-US" altLang="zh-CN" sz="2400" dirty="0"/>
              <a:t>             Pentium Pro(</a:t>
            </a:r>
            <a:r>
              <a:rPr lang="zh-CN" altLang="zh-CN" sz="2400" dirty="0"/>
              <a:t>高能奔腾，</a:t>
            </a:r>
            <a:r>
              <a:rPr lang="en-US" altLang="zh-CN" sz="2400" dirty="0"/>
              <a:t>686</a:t>
            </a:r>
            <a:r>
              <a:rPr lang="zh-CN" altLang="zh-CN" sz="2400" dirty="0"/>
              <a:t>级的</a:t>
            </a:r>
            <a:r>
              <a:rPr lang="en-US" altLang="zh-CN" sz="2400" dirty="0"/>
              <a:t>CPU)</a:t>
            </a:r>
            <a:r>
              <a:rPr lang="zh-CN" altLang="zh-CN" sz="2400" dirty="0"/>
              <a:t>是第一个属于第六代</a:t>
            </a:r>
            <a:r>
              <a:rPr lang="en-US" altLang="zh-CN" sz="2400" dirty="0"/>
              <a:t>CPU</a:t>
            </a:r>
            <a:r>
              <a:rPr lang="zh-CN" altLang="zh-CN" sz="2400" dirty="0"/>
              <a:t>的产品。</a:t>
            </a:r>
            <a:endParaRPr lang="en-US" altLang="zh-CN" sz="2400" dirty="0"/>
          </a:p>
          <a:p>
            <a:pPr algn="just" eaLnBrk="1" hangingPunct="1">
              <a:buNone/>
            </a:pPr>
            <a:r>
              <a:rPr lang="en-US" altLang="zh-CN" sz="2400" dirty="0"/>
              <a:t>     2</a:t>
            </a:r>
            <a:r>
              <a:rPr lang="zh-CN" altLang="zh-CN" sz="2400" dirty="0"/>
              <a:t>．</a:t>
            </a:r>
            <a:r>
              <a:rPr lang="en-US" altLang="zh-CN" sz="2400" dirty="0"/>
              <a:t>Pentium </a:t>
            </a:r>
            <a:r>
              <a:rPr lang="zh-CN" altLang="zh-CN" sz="2400" dirty="0"/>
              <a:t>Ⅱ </a:t>
            </a:r>
            <a:endParaRPr lang="en-US" altLang="zh-CN" sz="2400" dirty="0"/>
          </a:p>
          <a:p>
            <a:pPr algn="just" eaLnBrk="1" hangingPunct="1">
              <a:buNone/>
            </a:pPr>
            <a:r>
              <a:rPr lang="en-US" altLang="zh-CN" sz="2400" dirty="0"/>
              <a:t>             Pentium Ⅱ</a:t>
            </a:r>
            <a:r>
              <a:rPr lang="zh-CN" altLang="zh-CN" sz="2400" dirty="0"/>
              <a:t>（奔腾</a:t>
            </a:r>
            <a:r>
              <a:rPr lang="en-US" altLang="zh-CN" sz="2400" dirty="0"/>
              <a:t>Ⅱ</a:t>
            </a:r>
            <a:r>
              <a:rPr lang="zh-CN" altLang="zh-CN" sz="2400" dirty="0"/>
              <a:t>）为</a:t>
            </a:r>
            <a:r>
              <a:rPr lang="en-US" altLang="zh-CN" sz="2400" dirty="0"/>
              <a:t>Intel</a:t>
            </a:r>
            <a:r>
              <a:rPr lang="zh-CN" altLang="zh-CN" sz="2400" dirty="0"/>
              <a:t>于</a:t>
            </a:r>
            <a:r>
              <a:rPr lang="en-US" altLang="zh-CN" sz="2400" dirty="0"/>
              <a:t>1997</a:t>
            </a:r>
            <a:r>
              <a:rPr lang="zh-CN" altLang="zh-CN" sz="2400" dirty="0"/>
              <a:t>年</a:t>
            </a:r>
            <a:r>
              <a:rPr lang="en-US" altLang="zh-CN" sz="2400" dirty="0"/>
              <a:t>5</a:t>
            </a:r>
            <a:r>
              <a:rPr lang="zh-CN" altLang="zh-CN" sz="2400" dirty="0"/>
              <a:t>月</a:t>
            </a:r>
            <a:r>
              <a:rPr lang="en-US" altLang="zh-CN" sz="2400" dirty="0"/>
              <a:t>7</a:t>
            </a:r>
            <a:r>
              <a:rPr lang="zh-CN" altLang="zh-CN" sz="2400" dirty="0"/>
              <a:t>日推出的微处理器。它基于</a:t>
            </a:r>
            <a:r>
              <a:rPr lang="en-US" altLang="zh-CN" sz="2400" dirty="0"/>
              <a:t>Pentium Pro</a:t>
            </a:r>
            <a:r>
              <a:rPr lang="zh-CN" altLang="zh-CN" sz="2400" dirty="0"/>
              <a:t>使用的</a:t>
            </a:r>
            <a:r>
              <a:rPr lang="en-US" altLang="zh-CN" sz="2400" dirty="0"/>
              <a:t>P6</a:t>
            </a:r>
            <a:r>
              <a:rPr lang="zh-CN" altLang="zh-CN" sz="2400" dirty="0"/>
              <a:t>微处理架构，但另一方面它的</a:t>
            </a:r>
            <a:r>
              <a:rPr lang="en-US" altLang="zh-CN" sz="2400" dirty="0"/>
              <a:t>16</a:t>
            </a:r>
            <a:r>
              <a:rPr lang="zh-CN" altLang="zh-CN" sz="2400" dirty="0"/>
              <a:t>位元处理能力获得优化，并加入</a:t>
            </a:r>
            <a:r>
              <a:rPr lang="en-US" altLang="zh-CN" sz="2400" dirty="0"/>
              <a:t>MMX</a:t>
            </a:r>
            <a:r>
              <a:rPr lang="zh-CN" altLang="zh-CN" sz="2400" dirty="0"/>
              <a:t>指令集。</a:t>
            </a:r>
          </a:p>
          <a:p>
            <a:pPr algn="just" eaLnBrk="1" hangingPunct="1">
              <a:buNone/>
            </a:pPr>
            <a:r>
              <a:rPr lang="en-US" altLang="zh-CN" sz="2400" dirty="0"/>
              <a:t>      3</a:t>
            </a:r>
            <a:r>
              <a:rPr lang="zh-CN" altLang="zh-CN" sz="2400" dirty="0"/>
              <a:t>．</a:t>
            </a:r>
            <a:r>
              <a:rPr lang="en-US" altLang="zh-CN" sz="2400" dirty="0"/>
              <a:t>Pentium Ⅲ </a:t>
            </a:r>
          </a:p>
          <a:p>
            <a:pPr algn="just" eaLnBrk="1" hangingPunct="1">
              <a:buNone/>
            </a:pPr>
            <a:r>
              <a:rPr lang="en-US" altLang="zh-CN" sz="2400" dirty="0"/>
              <a:t>             Pentium Ⅲ</a:t>
            </a:r>
            <a:r>
              <a:rPr lang="zh-CN" altLang="zh-CN" sz="2400" dirty="0"/>
              <a:t>仍是</a:t>
            </a:r>
            <a:r>
              <a:rPr lang="en-US" altLang="zh-CN" sz="2400" dirty="0"/>
              <a:t>32</a:t>
            </a:r>
            <a:r>
              <a:rPr lang="zh-CN" altLang="zh-CN" sz="2400" dirty="0"/>
              <a:t>位</a:t>
            </a:r>
            <a:r>
              <a:rPr lang="en-US" altLang="zh-CN" sz="2400" dirty="0"/>
              <a:t>Intel</a:t>
            </a:r>
            <a:r>
              <a:rPr lang="zh-CN" altLang="zh-CN" sz="2400" dirty="0"/>
              <a:t>结构（</a:t>
            </a:r>
            <a:r>
              <a:rPr lang="en-US" altLang="zh-CN" sz="2400" dirty="0"/>
              <a:t>IA-32</a:t>
            </a:r>
            <a:r>
              <a:rPr lang="zh-CN" altLang="zh-CN" sz="2400" dirty="0"/>
              <a:t>）</a:t>
            </a:r>
            <a:r>
              <a:rPr lang="en-US" altLang="zh-CN" sz="2400" dirty="0"/>
              <a:t>CPU</a:t>
            </a:r>
            <a:r>
              <a:rPr lang="zh-CN" altLang="zh-CN" sz="2400" dirty="0"/>
              <a:t>，于</a:t>
            </a:r>
            <a:r>
              <a:rPr lang="en-US" altLang="zh-CN" sz="2400" dirty="0"/>
              <a:t>1999</a:t>
            </a:r>
            <a:r>
              <a:rPr lang="zh-CN" altLang="zh-CN" sz="2400" dirty="0"/>
              <a:t>年</a:t>
            </a:r>
            <a:r>
              <a:rPr lang="en-US" altLang="zh-CN" sz="2400" dirty="0"/>
              <a:t>2</a:t>
            </a:r>
            <a:r>
              <a:rPr lang="zh-CN" altLang="zh-CN" sz="2400" dirty="0"/>
              <a:t>月</a:t>
            </a:r>
            <a:r>
              <a:rPr lang="en-US" altLang="zh-CN" sz="2400" dirty="0"/>
              <a:t>26</a:t>
            </a:r>
            <a:r>
              <a:rPr lang="zh-CN" altLang="zh-CN" sz="2400" dirty="0"/>
              <a:t>日推出。</a:t>
            </a:r>
          </a:p>
          <a:p>
            <a:pPr algn="just" eaLnBrk="1" hangingPunct="1">
              <a:buNone/>
            </a:pPr>
            <a:r>
              <a:rPr lang="en-US" altLang="zh-CN" sz="2400" dirty="0"/>
              <a:t>      4</a:t>
            </a:r>
            <a:r>
              <a:rPr lang="zh-CN" altLang="zh-CN" sz="2400" dirty="0"/>
              <a:t>．</a:t>
            </a:r>
            <a:r>
              <a:rPr lang="en-US" altLang="zh-CN" sz="2400" dirty="0"/>
              <a:t>Pentium 4</a:t>
            </a:r>
          </a:p>
          <a:p>
            <a:pPr algn="just" eaLnBrk="1" hangingPunct="1">
              <a:buNone/>
            </a:pPr>
            <a:r>
              <a:rPr lang="zh-CN" altLang="zh-CN" sz="2400" dirty="0"/>
              <a:t>             Pentium 4（奔腾4）是Intel生产的第7代x86微处理器。</a:t>
            </a:r>
            <a:endParaRPr lang="en-US" altLang="zh-CN" sz="2400" dirty="0"/>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2.3.4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多核微处理器</a:t>
            </a:r>
          </a:p>
        </p:txBody>
      </p:sp>
      <p:sp>
        <p:nvSpPr>
          <p:cNvPr id="12185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21859" name="内容占位符 4"/>
          <p:cNvSpPr>
            <a:spLocks noGrp="1"/>
          </p:cNvSpPr>
          <p:nvPr>
            <p:ph idx="1"/>
          </p:nvPr>
        </p:nvSpPr>
        <p:spPr>
          <a:xfrm>
            <a:off x="301625" y="1660525"/>
            <a:ext cx="8177213" cy="4838700"/>
          </a:xfrm>
          <a:ln/>
        </p:spPr>
        <p:txBody>
          <a:bodyPr wrap="square" lIns="92075" tIns="46038" rIns="92075" bIns="46038" anchor="t" anchorCtr="0"/>
          <a:lstStyle/>
          <a:p>
            <a:pPr algn="just" eaLnBrk="1" hangingPunct="1">
              <a:buNone/>
            </a:pPr>
            <a:r>
              <a:rPr lang="en-US" altLang="zh-CN" sz="2400" dirty="0"/>
              <a:t>     1</a:t>
            </a:r>
            <a:r>
              <a:rPr lang="zh-CN" altLang="zh-CN" sz="2400" dirty="0"/>
              <a:t>．多核微处理器简介</a:t>
            </a:r>
            <a:endParaRPr lang="en-US" altLang="zh-CN" sz="2400" dirty="0"/>
          </a:p>
          <a:p>
            <a:pPr algn="just" eaLnBrk="1" hangingPunct="1">
              <a:buNone/>
            </a:pPr>
            <a:r>
              <a:rPr lang="en-US" altLang="zh-CN" sz="2400" dirty="0"/>
              <a:t>             </a:t>
            </a:r>
            <a:r>
              <a:rPr lang="zh-CN" altLang="zh-CN" sz="2400" dirty="0"/>
              <a:t>多核微处理器就是</a:t>
            </a:r>
            <a:r>
              <a:rPr lang="en-US" altLang="zh-CN" sz="2400" dirty="0"/>
              <a:t>基板</a:t>
            </a:r>
            <a:r>
              <a:rPr lang="zh-CN" altLang="zh-CN" sz="2400" dirty="0"/>
              <a:t>上集成有多个单核</a:t>
            </a:r>
            <a:r>
              <a:rPr lang="en-US" altLang="zh-CN" sz="2400" dirty="0"/>
              <a:t>CPU</a:t>
            </a:r>
            <a:r>
              <a:rPr lang="zh-CN" altLang="zh-CN" sz="2400" dirty="0"/>
              <a:t>，早期</a:t>
            </a:r>
            <a:r>
              <a:rPr lang="en-US" altLang="zh-CN" sz="2400" dirty="0"/>
              <a:t>PD</a:t>
            </a:r>
            <a:r>
              <a:rPr lang="zh-CN" altLang="zh-CN" sz="2400" dirty="0"/>
              <a:t>双核需要北桥来控制分配任务，核心之间存在抢二级缓存的情况，后期酷睿自己集成了任务分配系统，再搭配操作系统就能真正同时处理两份任务，速度太快时，如果其中一个核心死机，另一个</a:t>
            </a:r>
            <a:r>
              <a:rPr lang="en-US" altLang="zh-CN" sz="2400" dirty="0"/>
              <a:t>CPU</a:t>
            </a:r>
            <a:r>
              <a:rPr lang="zh-CN" altLang="zh-CN" sz="2400" dirty="0"/>
              <a:t>还可以继续处理关机、关闭软件等任务。</a:t>
            </a:r>
            <a:endParaRPr lang="en-US" altLang="zh-CN" sz="2400" dirty="0"/>
          </a:p>
          <a:p>
            <a:pPr algn="just" eaLnBrk="1" hangingPunct="1">
              <a:buNone/>
            </a:pPr>
            <a:r>
              <a:rPr lang="en-US" altLang="zh-CN" sz="2400" dirty="0"/>
              <a:t>     2</a:t>
            </a:r>
            <a:r>
              <a:rPr lang="zh-CN" altLang="zh-CN" sz="2400" dirty="0"/>
              <a:t>．</a:t>
            </a:r>
            <a:r>
              <a:rPr lang="en-US" altLang="zh-CN" sz="2400" dirty="0"/>
              <a:t>IA-32</a:t>
            </a:r>
            <a:r>
              <a:rPr lang="zh-CN" altLang="zh-CN" sz="2400" dirty="0"/>
              <a:t>与</a:t>
            </a:r>
            <a:r>
              <a:rPr lang="en-US" altLang="zh-CN" sz="2400" dirty="0"/>
              <a:t>IA-64</a:t>
            </a:r>
            <a:r>
              <a:rPr lang="zh-CN" altLang="zh-CN" sz="2400" dirty="0"/>
              <a:t>架构</a:t>
            </a:r>
            <a:endParaRPr lang="en-US" altLang="zh-CN" sz="2400" dirty="0"/>
          </a:p>
          <a:p>
            <a:pPr algn="just" eaLnBrk="1" hangingPunct="1">
              <a:buNone/>
            </a:pPr>
            <a:r>
              <a:rPr lang="en-US" altLang="zh-CN" sz="2400" dirty="0"/>
              <a:t>             IA-32</a:t>
            </a:r>
            <a:r>
              <a:rPr lang="zh-CN" altLang="zh-CN" sz="2400" dirty="0"/>
              <a:t>架构（</a:t>
            </a:r>
            <a:r>
              <a:rPr lang="en-US" altLang="zh-CN" sz="2400" dirty="0"/>
              <a:t>Intel Architecture, 32</a:t>
            </a:r>
            <a:r>
              <a:rPr lang="zh-CN" altLang="zh-CN" sz="2400" dirty="0"/>
              <a:t>位）常被称为</a:t>
            </a:r>
            <a:r>
              <a:rPr lang="en-US" altLang="zh-CN" sz="2400" dirty="0"/>
              <a:t>i386</a:t>
            </a:r>
            <a:r>
              <a:rPr lang="zh-CN" altLang="zh-CN" sz="2400" dirty="0"/>
              <a:t>、</a:t>
            </a:r>
            <a:r>
              <a:rPr lang="en-US" altLang="zh-CN" sz="2400" dirty="0"/>
              <a:t>x86-32</a:t>
            </a:r>
            <a:r>
              <a:rPr lang="zh-CN" altLang="zh-CN" sz="2400" dirty="0"/>
              <a:t>或是</a:t>
            </a:r>
            <a:r>
              <a:rPr lang="en-US" altLang="zh-CN" sz="2400" dirty="0"/>
              <a:t>x86</a:t>
            </a:r>
            <a:r>
              <a:rPr lang="zh-CN" altLang="zh-CN" sz="2400" dirty="0"/>
              <a:t>，是由</a:t>
            </a:r>
            <a:r>
              <a:rPr lang="en-US" altLang="zh-CN" sz="2400" dirty="0"/>
              <a:t>Intel</a:t>
            </a:r>
            <a:r>
              <a:rPr lang="zh-CN" altLang="zh-CN" sz="2400" dirty="0"/>
              <a:t>公司推出的</a:t>
            </a:r>
            <a:r>
              <a:rPr lang="en-US" altLang="zh-CN" sz="2400" dirty="0"/>
              <a:t>指令集架构</a:t>
            </a:r>
            <a:r>
              <a:rPr lang="zh-CN" altLang="zh-CN" sz="2400" dirty="0"/>
              <a:t>，至今英特尔最受欢迎的处理器仍然采用此架构。</a:t>
            </a:r>
            <a:r>
              <a:rPr lang="en-US" altLang="zh-CN" sz="2400" dirty="0"/>
              <a:t>IA-64</a:t>
            </a:r>
            <a:r>
              <a:rPr lang="zh-CN" altLang="zh-CN" sz="2400" dirty="0"/>
              <a:t>架构是</a:t>
            </a:r>
            <a:r>
              <a:rPr lang="en-US" altLang="zh-CN" sz="2400" dirty="0"/>
              <a:t>Intel</a:t>
            </a:r>
            <a:r>
              <a:rPr lang="zh-CN" altLang="zh-CN" sz="2400" dirty="0"/>
              <a:t>公司推出的</a:t>
            </a:r>
            <a:r>
              <a:rPr lang="en-US" altLang="zh-CN" sz="2400" dirty="0"/>
              <a:t>64</a:t>
            </a:r>
            <a:r>
              <a:rPr lang="zh-CN" altLang="zh-CN" sz="2400" dirty="0"/>
              <a:t>位</a:t>
            </a:r>
            <a:r>
              <a:rPr lang="en-US" altLang="zh-CN" sz="2400" dirty="0"/>
              <a:t>指令集架构</a:t>
            </a:r>
            <a:r>
              <a:rPr lang="zh-CN" altLang="en-US" sz="2400" dirty="0"/>
              <a:t>。</a:t>
            </a:r>
            <a:endParaRPr lang="zh-CN" altLang="zh-CN" sz="2400" dirty="0"/>
          </a:p>
        </p:txBody>
      </p:sp>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368925"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2.4  </a:t>
            </a:r>
            <a:r>
              <a:rPr kumimoji="1" lang="zh-CN"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80x86微型计算机系统</a:t>
            </a:r>
          </a:p>
        </p:txBody>
      </p:sp>
      <p:sp>
        <p:nvSpPr>
          <p:cNvPr id="12390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3796" name="Rectangle 11"/>
          <p:cNvSpPr>
            <a:spLocks noGrp="1"/>
          </p:cNvSpPr>
          <p:nvPr>
            <p:ph idx="1"/>
          </p:nvPr>
        </p:nvSpPr>
        <p:spPr>
          <a:xfrm>
            <a:off x="1412875" y="2159000"/>
            <a:ext cx="6365875" cy="3910013"/>
          </a:xfrm>
          <a:ln>
            <a:miter/>
          </a:ln>
        </p:spPr>
        <p:txBody>
          <a:bodyPr vert="horz" wrap="square" lIns="92075" tIns="46038" rIns="92075" bIns="46038" anchor="t"/>
          <a:lstStyle/>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1" lang="en-US" altLang="zh-CN" sz="2800" b="1" i="0" u="none" strike="noStrike" kern="0" cap="none" spc="0" normalizeH="0" baseline="0" noProof="1">
                <a:solidFill>
                  <a:srgbClr val="66FFCC"/>
                </a:solidFill>
                <a:latin typeface="+mn-lt"/>
                <a:ea typeface="+mn-ea"/>
                <a:cs typeface="+mn-cs"/>
                <a:sym typeface="+mn-ea"/>
              </a:rPr>
              <a:t>2</a:t>
            </a:r>
            <a:r>
              <a:rPr kumimoji="1" lang="zh-CN" altLang="en-US" sz="2800" b="1" i="0" u="none" strike="noStrike" kern="0" cap="none" spc="0" normalizeH="0" baseline="0" noProof="1">
                <a:solidFill>
                  <a:srgbClr val="66FFCC"/>
                </a:solidFill>
                <a:latin typeface="+mn-lt"/>
                <a:ea typeface="+mn-ea"/>
                <a:cs typeface="+mn-cs"/>
                <a:sym typeface="+mn-ea"/>
              </a:rPr>
              <a:t>.</a:t>
            </a:r>
            <a:r>
              <a:rPr kumimoji="1" lang="en-US" altLang="zh-CN" sz="2800" b="1" i="0" u="none" strike="noStrike" kern="0" cap="none" spc="0" normalizeH="0" baseline="0" noProof="1">
                <a:solidFill>
                  <a:srgbClr val="66FFCC"/>
                </a:solidFill>
                <a:latin typeface="+mn-lt"/>
                <a:ea typeface="+mn-ea"/>
                <a:cs typeface="+mn-cs"/>
                <a:sym typeface="+mn-ea"/>
              </a:rPr>
              <a:t>4</a:t>
            </a:r>
            <a:r>
              <a:rPr kumimoji="1" lang="zh-CN" altLang="en-US" sz="2800" b="1" i="0" u="none" strike="noStrike" kern="0" cap="none" spc="0" normalizeH="0" baseline="0" noProof="1">
                <a:solidFill>
                  <a:srgbClr val="66FFCC"/>
                </a:solidFill>
                <a:latin typeface="+mn-lt"/>
                <a:ea typeface="+mn-ea"/>
                <a:cs typeface="+mn-cs"/>
                <a:sym typeface="+mn-ea"/>
              </a:rPr>
              <a:t>.1  </a:t>
            </a:r>
            <a:r>
              <a:rPr kumimoji="0" lang="zh-CN" altLang="en-US" sz="2800" b="1" i="0" u="none" strike="noStrike" kern="0" cap="none" spc="0" normalizeH="0" baseline="0" noProof="1">
                <a:solidFill>
                  <a:srgbClr val="66FFCC"/>
                </a:solidFill>
                <a:latin typeface="+mn-lt"/>
                <a:ea typeface="+mn-ea"/>
                <a:cs typeface="+mn-cs"/>
              </a:rPr>
              <a:t>微型计算机系统主板</a:t>
            </a:r>
          </a:p>
          <a:p>
            <a:pPr marL="342900" marR="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u"/>
            </a:pPr>
            <a:endParaRPr kumimoji="0" lang="zh-CN" altLang="en-US" sz="2800" b="1" i="0" u="none" strike="noStrike" kern="0" cap="none" spc="0" normalizeH="0" baseline="0" noProof="1">
              <a:solidFill>
                <a:srgbClr val="66FFCC"/>
              </a:solidFill>
              <a:latin typeface="+mn-lt"/>
              <a:ea typeface="+mn-ea"/>
              <a:cs typeface="+mn-cs"/>
            </a:endParaRP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2.</a:t>
            </a:r>
            <a:r>
              <a:rPr kumimoji="0" lang="en-US" altLang="zh-CN" sz="2800" b="1" i="0" u="none" strike="noStrike" kern="0" cap="none" spc="0" normalizeH="0" baseline="0" noProof="1">
                <a:solidFill>
                  <a:srgbClr val="66FFCC"/>
                </a:solidFill>
                <a:latin typeface="+mn-lt"/>
                <a:ea typeface="+mn-ea"/>
                <a:cs typeface="+mn-cs"/>
                <a:sym typeface="+mn-ea"/>
              </a:rPr>
              <a:t>4</a:t>
            </a:r>
            <a:r>
              <a:rPr kumimoji="0" lang="zh-CN" altLang="en-US" sz="2800" b="1" i="0" u="none" strike="noStrike" kern="0" cap="none" spc="0" normalizeH="0" baseline="0" noProof="1">
                <a:solidFill>
                  <a:srgbClr val="66FFCC"/>
                </a:solidFill>
                <a:latin typeface="+mn-lt"/>
                <a:ea typeface="+mn-ea"/>
                <a:cs typeface="+mn-cs"/>
                <a:sym typeface="+mn-ea"/>
              </a:rPr>
              <a:t>.2  </a:t>
            </a:r>
            <a:r>
              <a:rPr kumimoji="0" lang="zh-CN" altLang="en-US" sz="2800" b="1" i="0" u="none" strike="noStrike" kern="0" cap="none" spc="0" normalizeH="0" baseline="0" noProof="1">
                <a:solidFill>
                  <a:srgbClr val="66FFCC"/>
                </a:solidFill>
                <a:latin typeface="+mn-lt"/>
                <a:ea typeface="+mn-ea"/>
                <a:cs typeface="+mn-cs"/>
              </a:rPr>
              <a:t>80x86典型芯片组440BX</a:t>
            </a:r>
          </a:p>
          <a:p>
            <a:pPr marL="342900" marR="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u"/>
            </a:pPr>
            <a:endParaRPr kumimoji="0" lang="zh-CN" altLang="en-US" sz="2800" b="1" i="0" u="none" strike="noStrike" kern="0" cap="none" spc="0" normalizeH="0" baseline="0" noProof="1">
              <a:solidFill>
                <a:srgbClr val="66FFCC"/>
              </a:solidFill>
              <a:latin typeface="+mn-lt"/>
              <a:ea typeface="+mn-ea"/>
              <a:cs typeface="+mn-cs"/>
            </a:endParaRP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2.</a:t>
            </a:r>
            <a:r>
              <a:rPr kumimoji="0" lang="en-US" altLang="zh-CN" sz="2800" b="1" i="0" u="none" strike="noStrike" kern="0" cap="none" spc="0" normalizeH="0" baseline="0" noProof="1">
                <a:solidFill>
                  <a:srgbClr val="66FFCC"/>
                </a:solidFill>
                <a:latin typeface="+mn-lt"/>
                <a:ea typeface="+mn-ea"/>
                <a:cs typeface="+mn-cs"/>
                <a:sym typeface="+mn-ea"/>
              </a:rPr>
              <a:t>4</a:t>
            </a:r>
            <a:r>
              <a:rPr kumimoji="0" lang="zh-CN" altLang="en-US" sz="2800" b="1" i="0" u="none" strike="noStrike" kern="0" cap="none" spc="0" normalizeH="0" baseline="0" noProof="1">
                <a:solidFill>
                  <a:srgbClr val="66FFCC"/>
                </a:solidFill>
                <a:latin typeface="+mn-lt"/>
                <a:ea typeface="+mn-ea"/>
                <a:cs typeface="+mn-cs"/>
                <a:sym typeface="+mn-ea"/>
              </a:rPr>
              <a:t>.3  </a:t>
            </a:r>
            <a:r>
              <a:rPr kumimoji="0" lang="zh-CN" altLang="en-US" sz="2800" b="1" i="0" u="none" strike="noStrike" kern="0" cap="none" spc="0" normalizeH="0" baseline="0" noProof="1">
                <a:solidFill>
                  <a:srgbClr val="66FFCC"/>
                </a:solidFill>
                <a:latin typeface="+mn-lt"/>
                <a:ea typeface="+mn-ea"/>
                <a:cs typeface="+mn-cs"/>
              </a:rPr>
              <a:t>BIOS功能与设置</a:t>
            </a: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2.4.1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微型计算机系统主板</a:t>
            </a:r>
          </a:p>
        </p:txBody>
      </p:sp>
      <p:sp>
        <p:nvSpPr>
          <p:cNvPr id="12595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25955" name="内容占位符 4"/>
          <p:cNvSpPr>
            <a:spLocks noGrp="1"/>
          </p:cNvSpPr>
          <p:nvPr>
            <p:ph idx="1"/>
          </p:nvPr>
        </p:nvSpPr>
        <p:spPr>
          <a:xfrm>
            <a:off x="301625" y="2189163"/>
            <a:ext cx="8177213" cy="3562350"/>
          </a:xfrm>
          <a:ln/>
        </p:spPr>
        <p:txBody>
          <a:bodyPr wrap="square" lIns="92075" tIns="46038" rIns="92075" bIns="46038" anchor="t" anchorCtr="0"/>
          <a:lstStyle/>
          <a:p>
            <a:pPr algn="just" eaLnBrk="1" hangingPunct="1">
              <a:buNone/>
            </a:pPr>
            <a:r>
              <a:rPr lang="en-US" altLang="zh-CN" sz="2400" dirty="0"/>
              <a:t>            系统主板（System Board，也叫Main Board或Mother Board）是PC的重要组成部分。主板完成计算机系统的管理和协调，支持CPU、内存、总线及接口卡的正常运行。主板上所用的芯片组、BIOS、电源器件和布线水平决定了它的级别。主板的外形多为矩形印制电路板（PCB——Printed Circuit Board），集成有芯片组、各种I/O控制芯片、键盘和面板控制开关接口、指示灯接插件、扩展槽、主板和电源接口等元器件。</a:t>
            </a:r>
          </a:p>
          <a:p>
            <a:pPr algn="just" eaLnBrk="1" hangingPunct="1">
              <a:buNone/>
            </a:pPr>
            <a:endParaRPr lang="en-US" altLang="zh-CN" sz="2400" dirty="0"/>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1" name="内容占位符 2" descr="1"/>
          <p:cNvPicPr>
            <a:picLocks noGrp="1" noChangeAspect="1"/>
          </p:cNvPicPr>
          <p:nvPr>
            <p:ph idx="1"/>
          </p:nvPr>
        </p:nvPicPr>
        <p:blipFill>
          <a:blip r:embed="rId3"/>
          <a:stretch>
            <a:fillRect/>
          </a:stretch>
        </p:blipFill>
        <p:spPr>
          <a:xfrm>
            <a:off x="26988" y="47625"/>
            <a:ext cx="5054600" cy="3790950"/>
          </a:xfrm>
          <a:ln/>
        </p:spPr>
      </p:pic>
      <p:pic>
        <p:nvPicPr>
          <p:cNvPr id="128002" name="图片 3" descr="2"/>
          <p:cNvPicPr>
            <a:picLocks noChangeAspect="1"/>
          </p:cNvPicPr>
          <p:nvPr/>
        </p:nvPicPr>
        <p:blipFill>
          <a:blip r:embed="rId4"/>
          <a:stretch>
            <a:fillRect/>
          </a:stretch>
        </p:blipFill>
        <p:spPr>
          <a:xfrm>
            <a:off x="2943225" y="2984500"/>
            <a:ext cx="6180138" cy="3851275"/>
          </a:xfrm>
          <a:prstGeom prst="rect">
            <a:avLst/>
          </a:prstGeom>
          <a:noFill/>
          <a:ln w="9525">
            <a:noFill/>
          </a:ln>
        </p:spPr>
      </p:pic>
    </p:spTree>
  </p:cSld>
  <p:clrMapOvr>
    <a:masterClrMapping/>
  </p:clrMapOvr>
  <p:transition spd="med">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49" name="图片 7" descr="5"/>
          <p:cNvPicPr>
            <a:picLocks noChangeAspect="1"/>
          </p:cNvPicPr>
          <p:nvPr/>
        </p:nvPicPr>
        <p:blipFill>
          <a:blip r:embed="rId3"/>
          <a:stretch>
            <a:fillRect/>
          </a:stretch>
        </p:blipFill>
        <p:spPr>
          <a:xfrm>
            <a:off x="3325813" y="3403600"/>
            <a:ext cx="5780087" cy="3394075"/>
          </a:xfrm>
          <a:prstGeom prst="rect">
            <a:avLst/>
          </a:prstGeom>
          <a:noFill/>
          <a:ln w="9525">
            <a:noFill/>
          </a:ln>
        </p:spPr>
      </p:pic>
      <p:pic>
        <p:nvPicPr>
          <p:cNvPr id="130050" name="图片 6" descr="4"/>
          <p:cNvPicPr>
            <a:picLocks noChangeAspect="1"/>
          </p:cNvPicPr>
          <p:nvPr/>
        </p:nvPicPr>
        <p:blipFill>
          <a:blip r:embed="rId4"/>
          <a:stretch>
            <a:fillRect/>
          </a:stretch>
        </p:blipFill>
        <p:spPr>
          <a:xfrm>
            <a:off x="55563" y="44450"/>
            <a:ext cx="5119687" cy="3838575"/>
          </a:xfrm>
          <a:prstGeom prst="rect">
            <a:avLst/>
          </a:prstGeom>
          <a:noFill/>
          <a:ln w="9525">
            <a:noFill/>
          </a:ln>
        </p:spPr>
      </p:pic>
    </p:spTree>
  </p:cSld>
  <p:clrMapOvr>
    <a:masterClrMapping/>
  </p:clrMapOvr>
  <p:transition spd="med">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7" name="图片 4" descr="9"/>
          <p:cNvPicPr>
            <a:picLocks noChangeAspect="1"/>
          </p:cNvPicPr>
          <p:nvPr/>
        </p:nvPicPr>
        <p:blipFill>
          <a:blip r:embed="rId3"/>
          <a:stretch>
            <a:fillRect/>
          </a:stretch>
        </p:blipFill>
        <p:spPr>
          <a:xfrm>
            <a:off x="47625" y="3160713"/>
            <a:ext cx="5508625" cy="3671887"/>
          </a:xfrm>
          <a:prstGeom prst="rect">
            <a:avLst/>
          </a:prstGeom>
          <a:noFill/>
          <a:ln w="9525">
            <a:noFill/>
          </a:ln>
        </p:spPr>
      </p:pic>
      <p:pic>
        <p:nvPicPr>
          <p:cNvPr id="132098" name="图片 2" descr="7"/>
          <p:cNvPicPr>
            <a:picLocks noChangeAspect="1"/>
          </p:cNvPicPr>
          <p:nvPr/>
        </p:nvPicPr>
        <p:blipFill>
          <a:blip r:embed="rId4"/>
          <a:stretch>
            <a:fillRect/>
          </a:stretch>
        </p:blipFill>
        <p:spPr>
          <a:xfrm>
            <a:off x="3767138" y="100013"/>
            <a:ext cx="5322887" cy="3592512"/>
          </a:xfrm>
          <a:prstGeom prst="rect">
            <a:avLst/>
          </a:prstGeom>
          <a:noFill/>
          <a:ln w="9525">
            <a:noFill/>
          </a:ln>
        </p:spPr>
      </p:pic>
    </p:spTree>
  </p:cSld>
  <p:clrMapOvr>
    <a:masterClrMapping/>
  </p:clrMapOvr>
  <p:transition spd="med">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5" name="图片 1" descr="6"/>
          <p:cNvPicPr>
            <a:picLocks noChangeAspect="1"/>
          </p:cNvPicPr>
          <p:nvPr/>
        </p:nvPicPr>
        <p:blipFill>
          <a:blip r:embed="rId3"/>
          <a:stretch>
            <a:fillRect/>
          </a:stretch>
        </p:blipFill>
        <p:spPr>
          <a:xfrm>
            <a:off x="49213" y="255588"/>
            <a:ext cx="9050337" cy="6340475"/>
          </a:xfrm>
          <a:prstGeom prst="rect">
            <a:avLst/>
          </a:prstGeom>
          <a:noFill/>
          <a:ln w="9525">
            <a:noFill/>
          </a:ln>
        </p:spPr>
      </p:pic>
    </p:spTree>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3" name="图片 2" descr="8"/>
          <p:cNvPicPr>
            <a:picLocks noChangeAspect="1"/>
          </p:cNvPicPr>
          <p:nvPr/>
        </p:nvPicPr>
        <p:blipFill>
          <a:blip r:embed="rId3"/>
          <a:stretch>
            <a:fillRect/>
          </a:stretch>
        </p:blipFill>
        <p:spPr>
          <a:xfrm>
            <a:off x="76200" y="19050"/>
            <a:ext cx="8991600" cy="6807200"/>
          </a:xfrm>
          <a:prstGeom prst="rect">
            <a:avLst/>
          </a:prstGeom>
          <a:noFill/>
          <a:ln w="9525">
            <a:noFill/>
          </a:ln>
        </p:spPr>
      </p:pic>
    </p:spTree>
  </p:cSld>
  <p:clrMapOvr>
    <a:masterClrMapping/>
  </p:clrMapOvr>
  <p:transition spd="med">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2.4.2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80x86典型芯片组440BX</a:t>
            </a:r>
          </a:p>
        </p:txBody>
      </p:sp>
      <p:sp>
        <p:nvSpPr>
          <p:cNvPr id="13824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38243" name="内容占位符 4"/>
          <p:cNvSpPr>
            <a:spLocks noGrp="1"/>
          </p:cNvSpPr>
          <p:nvPr>
            <p:ph idx="1"/>
          </p:nvPr>
        </p:nvSpPr>
        <p:spPr>
          <a:xfrm>
            <a:off x="301625" y="2136775"/>
            <a:ext cx="8177213" cy="3560763"/>
          </a:xfrm>
          <a:ln/>
        </p:spPr>
        <p:txBody>
          <a:bodyPr wrap="square" lIns="92075" tIns="46038" rIns="92075" bIns="46038" anchor="t" anchorCtr="0"/>
          <a:lstStyle/>
          <a:p>
            <a:pPr algn="just" eaLnBrk="1" hangingPunct="1">
              <a:buNone/>
            </a:pPr>
            <a:r>
              <a:rPr lang="en-US" altLang="zh-CN" sz="2400" dirty="0"/>
              <a:t>            芯片组不仅对CPU、主板起着极其重要的协调、支持和控制作用，而且在很大程度上也决定了PC的结构和性能，不同Pentium处理器必须有相应的芯片组配合才能正常工作，因此芯片组的发展也是十分迅速的。</a:t>
            </a:r>
          </a:p>
          <a:p>
            <a:pPr algn="just" eaLnBrk="1" hangingPunct="1">
              <a:buNone/>
            </a:pPr>
            <a:r>
              <a:rPr lang="en-US" altLang="zh-CN" sz="2400" dirty="0"/>
              <a:t>           Intel 440BX作为一代经典芯片组曾经畅销28个月之久。440BX芯片组由两片芯片组成，一片是492引脚的北桥芯片82443BX，另一片是324引脚的南桥芯片82731EB（PIIXE），而Pentium III使用南桥芯片82731AB。采用440BX芯片组的典型主板结构框图如图2-13所示。</a:t>
            </a:r>
          </a:p>
        </p:txBody>
      </p:sp>
    </p:spTree>
  </p:cSld>
  <p:clrMapOvr>
    <a:masterClrMapping/>
  </p:clrMapOvr>
  <p:transition spd="med">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文本框 2"/>
          <p:cNvSpPr txBox="1"/>
          <p:nvPr/>
        </p:nvSpPr>
        <p:spPr>
          <a:xfrm>
            <a:off x="57150" y="2446338"/>
            <a:ext cx="3849688" cy="4373562"/>
          </a:xfrm>
          <a:prstGeom prst="rect">
            <a:avLst/>
          </a:prstGeom>
          <a:noFill/>
          <a:ln w="9525">
            <a:noFill/>
          </a:ln>
        </p:spPr>
        <p:txBody>
          <a:bodyPr wrap="square" anchor="t" anchorCtr="0">
            <a:spAutoFit/>
          </a:bodyPr>
          <a:lstStyle/>
          <a:p>
            <a:pPr algn="just"/>
            <a:r>
              <a:rPr lang="zh-CN" altLang="en-US">
                <a:latin typeface="宋体" panose="02010600030101010101" pitchFamily="2" charset="-122"/>
                <a:ea typeface="宋体" panose="02010600030101010101" pitchFamily="2" charset="-122"/>
              </a:rPr>
              <a:t>南桥芯片（South Bridge）是主板芯片组的重要组成部分，一般位于主板上离CPU插槽较远的下方，PCI插槽的附近，这种布局是考虑到它所连接的I/O总线较多，离处理器远一点有利于布线。相对于北桥芯片来说，其数据处理量并不算大，所以南桥芯片一般都没有覆盖散热片。南桥芯片不与处理器直接相连，而是通过一定的方式与北桥芯片相连。</a:t>
            </a:r>
          </a:p>
        </p:txBody>
      </p:sp>
      <p:sp>
        <p:nvSpPr>
          <p:cNvPr id="140290" name="文本框 3"/>
          <p:cNvSpPr txBox="1"/>
          <p:nvPr/>
        </p:nvSpPr>
        <p:spPr>
          <a:xfrm>
            <a:off x="82550" y="58738"/>
            <a:ext cx="8828088" cy="2400300"/>
          </a:xfrm>
          <a:prstGeom prst="rect">
            <a:avLst/>
          </a:prstGeom>
          <a:noFill/>
          <a:ln w="9525">
            <a:noFill/>
          </a:ln>
        </p:spPr>
        <p:txBody>
          <a:bodyPr wrap="square" anchor="t" anchorCtr="0">
            <a:spAutoFit/>
          </a:bodyPr>
          <a:lstStyle/>
          <a:p>
            <a:pPr algn="just"/>
            <a:r>
              <a:rPr lang="en-US" altLang="zh-CN">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北桥芯片就是主板上离CPU最近的芯片，这主要是考虑到北桥芯片与处理器之间的通信最密切，为了提高通信性能而缩短传输距离。北桥在电脑里起到的作用非常明显，在电脑中起着主导的作用，所以人们又称为主桥（Host Bridge）。北桥是个人电脑主板芯片组两枚大规模芯片中的一枚。北桥被用来处理高速信号，通常处理CPU（处理器），RAM（内存），AGP端口或PCI Express,和南桥芯片之间的通信。</a:t>
            </a:r>
          </a:p>
        </p:txBody>
      </p:sp>
      <p:pic>
        <p:nvPicPr>
          <p:cNvPr id="140291" name="内容占位符 6" descr="1"/>
          <p:cNvPicPr>
            <a:picLocks noGrp="1" noChangeAspect="1"/>
          </p:cNvPicPr>
          <p:nvPr>
            <p:ph idx="1"/>
          </p:nvPr>
        </p:nvPicPr>
        <p:blipFill>
          <a:blip r:embed="rId3"/>
          <a:stretch>
            <a:fillRect/>
          </a:stretch>
        </p:blipFill>
        <p:spPr>
          <a:xfrm>
            <a:off x="3930650" y="2473325"/>
            <a:ext cx="5164138" cy="4260850"/>
          </a:xfrm>
          <a:ln/>
        </p:spPr>
      </p:pic>
    </p:spTree>
  </p:cSld>
  <p:clrMapOvr>
    <a:masterClrMapping/>
  </p:clrMapOvr>
  <p:transition spd="med">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2.4.2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80x86典型芯片组440BX</a:t>
            </a:r>
          </a:p>
        </p:txBody>
      </p:sp>
      <p:sp>
        <p:nvSpPr>
          <p:cNvPr id="14233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pic>
        <p:nvPicPr>
          <p:cNvPr id="142339" name="图片 26" descr="图片1"/>
          <p:cNvPicPr>
            <a:picLocks noChangeAspect="1"/>
          </p:cNvPicPr>
          <p:nvPr/>
        </p:nvPicPr>
        <p:blipFill>
          <a:blip r:embed="rId4"/>
          <a:stretch>
            <a:fillRect/>
          </a:stretch>
        </p:blipFill>
        <p:spPr>
          <a:xfrm>
            <a:off x="520700" y="1246188"/>
            <a:ext cx="4872038" cy="5564187"/>
          </a:xfrm>
          <a:prstGeom prst="rect">
            <a:avLst/>
          </a:prstGeom>
          <a:noFill/>
          <a:ln w="9525">
            <a:noFill/>
          </a:ln>
        </p:spPr>
      </p:pic>
      <p:sp>
        <p:nvSpPr>
          <p:cNvPr id="142340" name="文本框 99"/>
          <p:cNvSpPr txBox="1"/>
          <p:nvPr/>
        </p:nvSpPr>
        <p:spPr>
          <a:xfrm>
            <a:off x="5516563" y="5900738"/>
            <a:ext cx="3436937" cy="714375"/>
          </a:xfrm>
          <a:prstGeom prst="rect">
            <a:avLst/>
          </a:prstGeom>
          <a:noFill/>
          <a:ln w="9525">
            <a:noFill/>
          </a:ln>
        </p:spPr>
        <p:txBody>
          <a:bodyPr wrap="square" anchor="t" anchorCtr="0">
            <a:spAutoFit/>
          </a:bodyPr>
          <a:lstStyle/>
          <a:p>
            <a:pPr algn="ctr"/>
            <a:r>
              <a:rPr lang="zh-CN" altLang="en-US" sz="2000">
                <a:latin typeface="Times New Roman" panose="02020603050405020304" pitchFamily="18" charset="0"/>
                <a:ea typeface="宋体" panose="02010600030101010101" pitchFamily="2" charset="-122"/>
              </a:rPr>
              <a:t>图</a:t>
            </a:r>
            <a:r>
              <a:rPr lang="en-US" altLang="zh-CN" sz="2000">
                <a:latin typeface="宋体" panose="02010600030101010101" pitchFamily="2" charset="-122"/>
                <a:ea typeface="宋体" panose="02010600030101010101" pitchFamily="2" charset="-122"/>
              </a:rPr>
              <a:t>2-13</a:t>
            </a:r>
            <a:r>
              <a:rPr lang="en-US" altLang="zh-CN" sz="2000">
                <a:latin typeface="Times New Roman" panose="02020603050405020304" pitchFamily="18" charset="0"/>
                <a:ea typeface="宋体" panose="02010600030101010101" pitchFamily="2" charset="-122"/>
              </a:rPr>
              <a:t>  </a:t>
            </a:r>
            <a:r>
              <a:rPr lang="en-US" altLang="zh-CN" sz="2000">
                <a:latin typeface="宋体" panose="02010600030101010101" pitchFamily="2" charset="-122"/>
                <a:ea typeface="宋体" panose="02010600030101010101" pitchFamily="2" charset="-122"/>
              </a:rPr>
              <a:t>440BX Pentium PC</a:t>
            </a:r>
          </a:p>
          <a:p>
            <a:pPr algn="ctr"/>
            <a:r>
              <a:rPr lang="zh-CN" altLang="en-US" sz="2000">
                <a:latin typeface="宋体" panose="02010600030101010101" pitchFamily="2" charset="-122"/>
                <a:ea typeface="宋体" panose="02010600030101010101" pitchFamily="2" charset="-122"/>
              </a:rPr>
              <a:t>主板结构</a:t>
            </a: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2.4.3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BIOS功能与设置</a:t>
            </a:r>
          </a:p>
        </p:txBody>
      </p:sp>
      <p:sp>
        <p:nvSpPr>
          <p:cNvPr id="14438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44387" name="内容占位符 4"/>
          <p:cNvSpPr>
            <a:spLocks noGrp="1"/>
          </p:cNvSpPr>
          <p:nvPr>
            <p:ph idx="1"/>
          </p:nvPr>
        </p:nvSpPr>
        <p:spPr>
          <a:xfrm>
            <a:off x="295275" y="1576388"/>
            <a:ext cx="8072438" cy="4854575"/>
          </a:xfrm>
          <a:ln/>
        </p:spPr>
        <p:txBody>
          <a:bodyPr wrap="square" lIns="92075" tIns="46038" rIns="92075" bIns="46038" anchor="t" anchorCtr="0"/>
          <a:lstStyle/>
          <a:p>
            <a:pPr algn="just" eaLnBrk="1" hangingPunct="1">
              <a:buNone/>
            </a:pPr>
            <a:r>
              <a:rPr lang="en-US" altLang="zh-CN" sz="2400" dirty="0"/>
              <a:t>             1.BIOS功能</a:t>
            </a:r>
          </a:p>
          <a:p>
            <a:pPr algn="just" eaLnBrk="1" hangingPunct="1">
              <a:buNone/>
            </a:pPr>
            <a:r>
              <a:rPr lang="en-US" altLang="zh-CN" sz="2400" dirty="0"/>
              <a:t>            系统主板上有一个BIOS（Basic Input/Output System，基本输入/输出系统）芯片。该芯片内部存储了一组管理程序，包括上电自检程序、DOS引导程序、日时钟管理程序、基本I/O驱动程序等，这些程序固化在ROM芯片中，计算机上电后先执行其中的程序。BIOS是微型计算机系统的一个底层的管理程序，包括4个功能模块。</a:t>
            </a:r>
          </a:p>
          <a:p>
            <a:pPr lvl="2" algn="just" eaLnBrk="1" hangingPunct="1">
              <a:buNone/>
            </a:pPr>
            <a:r>
              <a:rPr lang="en-US" altLang="zh-CN" sz="2400" dirty="0"/>
              <a:t>（1）POST上电自检。</a:t>
            </a:r>
          </a:p>
          <a:p>
            <a:pPr lvl="2" algn="just" eaLnBrk="1" hangingPunct="1">
              <a:buNone/>
            </a:pPr>
            <a:r>
              <a:rPr lang="en-US" altLang="zh-CN" sz="2400" dirty="0"/>
              <a:t>（2）系统启动自检程序。</a:t>
            </a:r>
          </a:p>
          <a:p>
            <a:pPr lvl="2" algn="just" eaLnBrk="1" hangingPunct="1">
              <a:buNone/>
            </a:pPr>
            <a:r>
              <a:rPr lang="en-US" altLang="zh-CN" sz="2400" dirty="0"/>
              <a:t>（3）BIOS功能调用程序。</a:t>
            </a:r>
          </a:p>
          <a:p>
            <a:pPr lvl="2" algn="just" eaLnBrk="1" hangingPunct="1">
              <a:buNone/>
            </a:pPr>
            <a:r>
              <a:rPr lang="en-US" altLang="zh-CN" sz="2400" dirty="0"/>
              <a:t>（4）BIOS系统参数设置程序。</a:t>
            </a: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2.4.3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BIOS功能与设置</a:t>
            </a:r>
          </a:p>
        </p:txBody>
      </p:sp>
      <p:sp>
        <p:nvSpPr>
          <p:cNvPr id="14643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46435" name="内容占位符 4"/>
          <p:cNvSpPr>
            <a:spLocks noGrp="1"/>
          </p:cNvSpPr>
          <p:nvPr>
            <p:ph idx="1"/>
          </p:nvPr>
        </p:nvSpPr>
        <p:spPr>
          <a:xfrm>
            <a:off x="414338" y="1592263"/>
            <a:ext cx="8072437" cy="4854575"/>
          </a:xfrm>
          <a:ln/>
        </p:spPr>
        <p:txBody>
          <a:bodyPr wrap="square" lIns="92075" tIns="46038" rIns="92075" bIns="46038" anchor="t" anchorCtr="0"/>
          <a:lstStyle/>
          <a:p>
            <a:pPr algn="just" eaLnBrk="1" hangingPunct="1">
              <a:buNone/>
            </a:pPr>
            <a:r>
              <a:rPr lang="en-US" altLang="zh-CN" sz="2400" dirty="0"/>
              <a:t>             2.BIOS设置</a:t>
            </a:r>
          </a:p>
          <a:p>
            <a:pPr algn="just" eaLnBrk="1" hangingPunct="1">
              <a:buNone/>
            </a:pPr>
            <a:r>
              <a:rPr lang="en-US" altLang="zh-CN" sz="2400" dirty="0"/>
              <a:t>            在BIOS ROM芯片中有一个“BIOS SETUP”人机交互界面程序，专门用来设置CMOS RAM中的上述参数。例如，有些PC在开机时根据提示按下“DEL”键即可进入。机器装配成功后都要首先完成BIOS设置，以后根据需要可重新设置。Pentium系统主板的BIOS ROM多采用Flash型EEPROM芯片，可以对其进行主板改写，方便用户对BIOS进行版本升级。</a:t>
            </a:r>
          </a:p>
          <a:p>
            <a:pPr algn="just" eaLnBrk="1" hangingPunct="1">
              <a:buNone/>
            </a:pPr>
            <a:r>
              <a:rPr lang="en-US" altLang="zh-CN" sz="2400" dirty="0"/>
              <a:t>            顺便指出，在许多其他设备中也可以见到BIOS芯片，只是功能不同且有局限性而已。例如，显示卡上有视频管理BIOS，硬盘控制器中也有自身的BIOS，有些网卡上的启动ROM也可称为BIOS。</a:t>
            </a:r>
          </a:p>
        </p:txBody>
      </p:sp>
    </p:spTree>
  </p:cSld>
  <p:clrMapOvr>
    <a:masterClrMapping/>
  </p:clrMapOvr>
  <p:transition spd="med">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2.4.3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BIOS功能与设置</a:t>
            </a:r>
          </a:p>
        </p:txBody>
      </p:sp>
      <p:sp>
        <p:nvSpPr>
          <p:cNvPr id="14848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48483" name="内容占位符 4"/>
          <p:cNvSpPr>
            <a:spLocks noGrp="1"/>
          </p:cNvSpPr>
          <p:nvPr>
            <p:ph idx="1"/>
          </p:nvPr>
        </p:nvSpPr>
        <p:spPr>
          <a:xfrm>
            <a:off x="422275" y="2114550"/>
            <a:ext cx="8074025" cy="3251200"/>
          </a:xfrm>
          <a:ln/>
        </p:spPr>
        <p:txBody>
          <a:bodyPr wrap="square" lIns="92075" tIns="46038" rIns="92075" bIns="46038" anchor="t" anchorCtr="0"/>
          <a:lstStyle/>
          <a:p>
            <a:pPr algn="just" eaLnBrk="1" hangingPunct="1">
              <a:buNone/>
            </a:pPr>
            <a:r>
              <a:rPr lang="en-US" altLang="zh-CN" sz="2400" dirty="0"/>
              <a:t>             3.CMOS RAM</a:t>
            </a:r>
          </a:p>
          <a:p>
            <a:pPr algn="just" eaLnBrk="1" hangingPunct="1">
              <a:buNone/>
            </a:pPr>
            <a:r>
              <a:rPr lang="en-US" altLang="zh-CN" sz="2400" dirty="0"/>
              <a:t>             CMOS RAM本身没有存放程序，而对CMOS中各项参数的设定要通过执行固化在BIOS ROM中的“BIOS SETUP”程序。这就说明了ROM型BIOS与RAM型CMOS参数之间的主从关系。换言之，CMOS中的数据是通过BIOS中的设置程序存放的，而BIOS ROM中的自检等程序又必须调用CMOS RAM中存放的参数才能有效地识别、诊断各类部件及基本I/O设备。</a:t>
            </a:r>
          </a:p>
        </p:txBody>
      </p:sp>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15053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50531" name="内容占位符 4"/>
          <p:cNvSpPr>
            <a:spLocks noGrp="1"/>
          </p:cNvSpPr>
          <p:nvPr>
            <p:ph idx="1"/>
          </p:nvPr>
        </p:nvSpPr>
        <p:spPr>
          <a:xfrm>
            <a:off x="1143000" y="1660525"/>
            <a:ext cx="7516813" cy="4838700"/>
          </a:xfrm>
          <a:ln/>
        </p:spPr>
        <p:txBody>
          <a:bodyPr wrap="square" lIns="92075" tIns="46038" rIns="92075" bIns="46038" anchor="t" anchorCtr="0"/>
          <a:lstStyle/>
          <a:p>
            <a:pPr>
              <a:buNone/>
            </a:pPr>
            <a:r>
              <a:rPr lang="en-US" altLang="zh-CN" sz="2400" dirty="0"/>
              <a:t>2-1  简述8086 CPU中EU和BIU的功能。</a:t>
            </a:r>
          </a:p>
          <a:p>
            <a:pPr>
              <a:buNone/>
            </a:pPr>
            <a:r>
              <a:rPr lang="en-US" altLang="zh-CN" sz="2400" dirty="0"/>
              <a:t>2-2  简述地址加法器的工作原理。</a:t>
            </a:r>
          </a:p>
          <a:p>
            <a:pPr>
              <a:buNone/>
            </a:pPr>
            <a:r>
              <a:rPr lang="en-US" altLang="zh-CN" sz="2400" dirty="0"/>
              <a:t>2-3  简述8086存储器的组织结构特点。</a:t>
            </a:r>
          </a:p>
          <a:p>
            <a:pPr>
              <a:buNone/>
            </a:pPr>
            <a:r>
              <a:rPr lang="en-US" altLang="zh-CN" sz="2400" dirty="0"/>
              <a:t>2-4  为什么8086 CPU存储器组织采用分段结构？</a:t>
            </a:r>
          </a:p>
          <a:p>
            <a:pPr>
              <a:buNone/>
            </a:pPr>
            <a:r>
              <a:rPr lang="en-US" altLang="zh-CN" sz="2400" dirty="0"/>
              <a:t>2-5  简述80386微处理器的技术特点。</a:t>
            </a:r>
          </a:p>
          <a:p>
            <a:pPr>
              <a:buNone/>
            </a:pPr>
            <a:r>
              <a:rPr lang="en-US" altLang="zh-CN" sz="2400" dirty="0"/>
              <a:t>2-6  什么是实地址管理方式？</a:t>
            </a:r>
          </a:p>
          <a:p>
            <a:pPr>
              <a:buNone/>
            </a:pPr>
            <a:r>
              <a:rPr lang="en-US" altLang="zh-CN" sz="2400" dirty="0"/>
              <a:t>2-7  简述80386分页管理的工作原理。</a:t>
            </a:r>
          </a:p>
          <a:p>
            <a:pPr>
              <a:buNone/>
            </a:pPr>
            <a:r>
              <a:rPr lang="en-US" altLang="zh-CN" sz="2400" dirty="0"/>
              <a:t>2-8  简述Pentium微处理器的技术特点。</a:t>
            </a:r>
          </a:p>
          <a:p>
            <a:pPr>
              <a:buNone/>
            </a:pPr>
            <a:r>
              <a:rPr lang="en-US" altLang="zh-CN" sz="2400" dirty="0"/>
              <a:t>2-9  简述系统主板的功能和组成。</a:t>
            </a:r>
          </a:p>
          <a:p>
            <a:pPr>
              <a:buNone/>
            </a:pPr>
            <a:r>
              <a:rPr lang="en-US" altLang="zh-CN" sz="2400" dirty="0"/>
              <a:t>2-10  BIOS设置和平常所说的CMOS设置有什么异同。</a:t>
            </a:r>
            <a:endParaRPr lang="zh-CN" altLang="zh-CN" sz="2400" dirty="0"/>
          </a:p>
          <a:p>
            <a:pPr algn="just" eaLnBrk="1" hangingPunct="1">
              <a:buNone/>
            </a:pPr>
            <a:endParaRPr lang="zh-CN" altLang="zh-CN" sz="2400" dirty="0"/>
          </a:p>
          <a:p>
            <a:pPr algn="just" eaLnBrk="1" hangingPunct="1">
              <a:buNone/>
            </a:pPr>
            <a:endParaRPr lang="zh-CN" altLang="zh-CN" sz="2400" dirty="0"/>
          </a:p>
        </p:txBody>
      </p:sp>
    </p:spTree>
  </p:cSld>
  <p:clrMapOvr>
    <a:masterClrMapping/>
  </p:clrMapOvr>
  <p:transition spd="med">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AwNWQ1MGFjZWY2ZGU4NzY5ZmZjNDc2ZWQwNjNjYzUifQ=="/>
</p:tagLst>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716</TotalTime>
  <Words>5509</Words>
  <Application>Microsoft Office PowerPoint</Application>
  <PresentationFormat>On-screen Show (4:3)</PresentationFormat>
  <Paragraphs>556</Paragraphs>
  <Slides>63</Slides>
  <Notes>61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63</vt:i4>
      </vt:variant>
    </vt:vector>
  </HeadingPairs>
  <TitlesOfParts>
    <vt:vector size="74" baseType="lpstr">
      <vt:lpstr>宋体</vt:lpstr>
      <vt:lpstr>楷体_GB2312</vt:lpstr>
      <vt:lpstr>隶书</vt:lpstr>
      <vt:lpstr>黑体</vt:lpstr>
      <vt:lpstr>Arial</vt:lpstr>
      <vt:lpstr>Tahoma</vt:lpstr>
      <vt:lpstr>Times New Roman</vt:lpstr>
      <vt:lpstr>Wingdings</vt:lpstr>
      <vt:lpstr>项目总览</vt:lpstr>
      <vt:lpstr>1_项目总览</vt:lpstr>
      <vt:lpstr>Visio.Drawing.11</vt:lpstr>
      <vt:lpstr>PowerPoint Presentation</vt:lpstr>
      <vt:lpstr>第2章  80x86微处理器及其系统 </vt:lpstr>
      <vt:lpstr>2.1  8086微处理器</vt:lpstr>
      <vt:lpstr>PowerPoint Presentation</vt:lpstr>
      <vt:lpstr>2.1.1  8086微处理器的逻辑结构</vt:lpstr>
      <vt:lpstr>2.1.1  8086微处理器的逻辑结构</vt:lpstr>
      <vt:lpstr> 80386的内部结构</vt:lpstr>
      <vt:lpstr>2.1.1  8086微处理器的逻辑结构</vt:lpstr>
      <vt:lpstr>2.1.1  8086微处理器的逻辑结构</vt:lpstr>
      <vt:lpstr>2.1.1  8086微处理器的逻辑结构</vt:lpstr>
      <vt:lpstr>PowerPoint Presentation</vt:lpstr>
      <vt:lpstr>2.1.1  8086微处理器的逻辑结构</vt:lpstr>
      <vt:lpstr>2.1.1  8086微处理器的逻辑结构</vt:lpstr>
      <vt:lpstr>2.1.1  8086微处理器的逻辑结构</vt:lpstr>
      <vt:lpstr>2.1.2  8086/8088的内部寄存器</vt:lpstr>
      <vt:lpstr>2.1.2  8086/8088的内部寄存器</vt:lpstr>
      <vt:lpstr>PowerPoint Presentation</vt:lpstr>
      <vt:lpstr>2.1.2  8086/8088的内部寄存器</vt:lpstr>
      <vt:lpstr>PowerPoint Presentation</vt:lpstr>
      <vt:lpstr>2.1.2  8086/8088的内部寄存器</vt:lpstr>
      <vt:lpstr>2.1.2  8086/8088的内部寄存器</vt:lpstr>
      <vt:lpstr>2.1.2  8086/8088的内部寄存器</vt:lpstr>
      <vt:lpstr>例：2个数相加后，分析各标志位的值</vt:lpstr>
      <vt:lpstr>例：2个数相减后，分析各标志位的值</vt:lpstr>
      <vt:lpstr>控制标志与状态标志的区别</vt:lpstr>
      <vt:lpstr>2.1.3  8086/8088的引脚信号</vt:lpstr>
      <vt:lpstr>2.1.4  8086/8088的工作方式</vt:lpstr>
      <vt:lpstr>PowerPoint Presentation</vt:lpstr>
      <vt:lpstr>2.最大模式系统组成</vt:lpstr>
      <vt:lpstr>PowerPoint Presentation</vt:lpstr>
      <vt:lpstr>PowerPoint Presentation</vt:lpstr>
      <vt:lpstr>PowerPoint Presentation</vt:lpstr>
      <vt:lpstr>2.2  80386微处理器</vt:lpstr>
      <vt:lpstr>2.2.1  80386的内部结构</vt:lpstr>
      <vt:lpstr>2.2.2  80386的寄存器</vt:lpstr>
      <vt:lpstr>2.2.3  80386的工作方式</vt:lpstr>
      <vt:lpstr>2.2.3  80386的工作方式</vt:lpstr>
      <vt:lpstr>2.2.4  80386的存储器管理</vt:lpstr>
      <vt:lpstr>2.2.4  80386的存储器管理</vt:lpstr>
      <vt:lpstr>2.2.4  80386的存储器管理</vt:lpstr>
      <vt:lpstr>2.2.4  80386的存储器管理</vt:lpstr>
      <vt:lpstr>2.2.4  80386的存储器管理</vt:lpstr>
      <vt:lpstr>2.2.4  80386的存储器管理</vt:lpstr>
      <vt:lpstr>2.3  高性能微处理器</vt:lpstr>
      <vt:lpstr>2.3.1  Pentium微处理器</vt:lpstr>
      <vt:lpstr>2.3.1  Pentium微处理器</vt:lpstr>
      <vt:lpstr>2.3.2  Pentium微处理器的技术特点</vt:lpstr>
      <vt:lpstr>2.3.3  Pentium微处理器的发展</vt:lpstr>
      <vt:lpstr>2.3.4  多核微处理器</vt:lpstr>
      <vt:lpstr>2.4  80x86微型计算机系统</vt:lpstr>
      <vt:lpstr>2.4.1  微型计算机系统主板</vt:lpstr>
      <vt:lpstr>PowerPoint Presentation</vt:lpstr>
      <vt:lpstr>PowerPoint Presentation</vt:lpstr>
      <vt:lpstr>PowerPoint Presentation</vt:lpstr>
      <vt:lpstr>PowerPoint Presentation</vt:lpstr>
      <vt:lpstr>PowerPoint Presentation</vt:lpstr>
      <vt:lpstr>2.4.2  80x86典型芯片组440BX</vt:lpstr>
      <vt:lpstr>PowerPoint Presentation</vt:lpstr>
      <vt:lpstr>2.4.2  80x86典型芯片组440BX</vt:lpstr>
      <vt:lpstr>2.4.3  BIOS功能与设置</vt:lpstr>
      <vt:lpstr>2.4.3  BIOS功能与设置</vt:lpstr>
      <vt:lpstr>2.4.3  BIOS功能与设置</vt:lpstr>
      <vt:lpstr>思考与练习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Dongming Guo</cp:lastModifiedBy>
  <cp:revision>664</cp:revision>
  <dcterms:created xsi:type="dcterms:W3CDTF">2016-01-26T01:15:00Z</dcterms:created>
  <dcterms:modified xsi:type="dcterms:W3CDTF">2024-09-02T12:55:27Z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9E96DB2A334A4FA1A0AE5F610A6739FB_12</vt:lpwstr>
  </property>
</Properties>
</file>