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1"/>
  </p:notesMasterIdLst>
  <p:handoutMasterIdLst>
    <p:handoutMasterId r:id="rId112"/>
  </p:handoutMasterIdLst>
  <p:sldIdLst>
    <p:sldId id="821" r:id="rId2"/>
    <p:sldId id="316" r:id="rId3"/>
    <p:sldId id="389" r:id="rId4"/>
    <p:sldId id="681" r:id="rId5"/>
    <p:sldId id="682" r:id="rId6"/>
    <p:sldId id="683" r:id="rId7"/>
    <p:sldId id="678" r:id="rId8"/>
    <p:sldId id="679" r:id="rId9"/>
    <p:sldId id="680" r:id="rId10"/>
    <p:sldId id="684" r:id="rId11"/>
    <p:sldId id="685" r:id="rId12"/>
    <p:sldId id="676" r:id="rId13"/>
    <p:sldId id="686" r:id="rId14"/>
    <p:sldId id="694" r:id="rId15"/>
    <p:sldId id="687" r:id="rId16"/>
    <p:sldId id="689" r:id="rId17"/>
    <p:sldId id="698" r:id="rId18"/>
    <p:sldId id="690" r:id="rId19"/>
    <p:sldId id="701" r:id="rId20"/>
    <p:sldId id="700" r:id="rId21"/>
    <p:sldId id="691" r:id="rId22"/>
    <p:sldId id="703" r:id="rId23"/>
    <p:sldId id="692" r:id="rId24"/>
    <p:sldId id="705" r:id="rId25"/>
    <p:sldId id="688" r:id="rId26"/>
    <p:sldId id="707" r:id="rId27"/>
    <p:sldId id="693" r:id="rId28"/>
    <p:sldId id="677" r:id="rId29"/>
    <p:sldId id="708" r:id="rId30"/>
    <p:sldId id="718" r:id="rId31"/>
    <p:sldId id="717" r:id="rId32"/>
    <p:sldId id="716" r:id="rId33"/>
    <p:sldId id="715" r:id="rId34"/>
    <p:sldId id="742" r:id="rId35"/>
    <p:sldId id="743" r:id="rId36"/>
    <p:sldId id="714" r:id="rId37"/>
    <p:sldId id="738" r:id="rId38"/>
    <p:sldId id="739" r:id="rId39"/>
    <p:sldId id="744" r:id="rId40"/>
    <p:sldId id="746" r:id="rId41"/>
    <p:sldId id="747" r:id="rId42"/>
    <p:sldId id="748" r:id="rId43"/>
    <p:sldId id="749" r:id="rId44"/>
    <p:sldId id="750" r:id="rId45"/>
    <p:sldId id="710" r:id="rId46"/>
    <p:sldId id="723" r:id="rId47"/>
    <p:sldId id="722" r:id="rId48"/>
    <p:sldId id="721" r:id="rId49"/>
    <p:sldId id="720" r:id="rId50"/>
    <p:sldId id="751" r:id="rId51"/>
    <p:sldId id="752" r:id="rId52"/>
    <p:sldId id="753" r:id="rId53"/>
    <p:sldId id="754" r:id="rId54"/>
    <p:sldId id="755" r:id="rId55"/>
    <p:sldId id="756" r:id="rId56"/>
    <p:sldId id="757" r:id="rId57"/>
    <p:sldId id="758" r:id="rId58"/>
    <p:sldId id="759" r:id="rId59"/>
    <p:sldId id="760" r:id="rId60"/>
    <p:sldId id="761" r:id="rId61"/>
    <p:sldId id="762" r:id="rId62"/>
    <p:sldId id="763" r:id="rId63"/>
    <p:sldId id="764" r:id="rId64"/>
    <p:sldId id="765" r:id="rId65"/>
    <p:sldId id="766" r:id="rId66"/>
    <p:sldId id="711" r:id="rId67"/>
    <p:sldId id="728" r:id="rId68"/>
    <p:sldId id="727" r:id="rId69"/>
    <p:sldId id="726" r:id="rId70"/>
    <p:sldId id="774" r:id="rId71"/>
    <p:sldId id="775" r:id="rId72"/>
    <p:sldId id="776" r:id="rId73"/>
    <p:sldId id="777" r:id="rId74"/>
    <p:sldId id="778" r:id="rId75"/>
    <p:sldId id="779" r:id="rId76"/>
    <p:sldId id="725" r:id="rId77"/>
    <p:sldId id="767" r:id="rId78"/>
    <p:sldId id="768" r:id="rId79"/>
    <p:sldId id="780" r:id="rId80"/>
    <p:sldId id="781" r:id="rId81"/>
    <p:sldId id="782" r:id="rId82"/>
    <p:sldId id="783" r:id="rId83"/>
    <p:sldId id="784" r:id="rId84"/>
    <p:sldId id="785" r:id="rId85"/>
    <p:sldId id="786" r:id="rId86"/>
    <p:sldId id="787" r:id="rId87"/>
    <p:sldId id="797" r:id="rId88"/>
    <p:sldId id="735" r:id="rId89"/>
    <p:sldId id="734" r:id="rId90"/>
    <p:sldId id="709" r:id="rId91"/>
    <p:sldId id="799" r:id="rId92"/>
    <p:sldId id="800" r:id="rId93"/>
    <p:sldId id="801" r:id="rId94"/>
    <p:sldId id="802" r:id="rId95"/>
    <p:sldId id="803" r:id="rId96"/>
    <p:sldId id="804" r:id="rId97"/>
    <p:sldId id="808" r:id="rId98"/>
    <p:sldId id="807" r:id="rId99"/>
    <p:sldId id="806" r:id="rId100"/>
    <p:sldId id="805" r:id="rId101"/>
    <p:sldId id="798" r:id="rId102"/>
    <p:sldId id="810" r:id="rId103"/>
    <p:sldId id="737" r:id="rId104"/>
    <p:sldId id="736" r:id="rId105"/>
    <p:sldId id="812" r:id="rId106"/>
    <p:sldId id="649" r:id="rId107"/>
    <p:sldId id="813" r:id="rId108"/>
    <p:sldId id="814" r:id="rId109"/>
    <p:sldId id="815" r:id="rId110"/>
  </p:sldIdLst>
  <p:sldSz cx="9144000" cy="6858000" type="screen4x3"/>
  <p:notesSz cx="6858000" cy="9144000"/>
  <p:defaultTextStyle>
    <a:defPPr>
      <a:defRPr lang="zh-CN"/>
    </a:defPPr>
    <a:lvl1pPr marL="0" lvl="0"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6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14EC"/>
    <a:srgbClr val="3258FC"/>
    <a:srgbClr val="0066FF"/>
    <a:srgbClr val="FFFF66"/>
    <a:srgbClr val="003399"/>
    <a:srgbClr val="544CFA"/>
    <a:srgbClr val="00000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8" d="100"/>
          <a:sy n="108" d="100"/>
        </p:scale>
        <p:origin x="1704" y="102"/>
      </p:cViewPr>
      <p:guideLst>
        <p:guide orient="horz" pos="2160"/>
        <p:guide pos="694"/>
      </p:guideLst>
    </p:cSldViewPr>
  </p:slid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pPr marL="0" marR="0" lvl="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a:pPr>
            <a:endParaRPr kumimoji="0" lang="zh-CN" altLang="en-US"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a:latin typeface="宋体" panose="02010600030101010101" pitchFamily="2" charset="-122"/>
                <a:cs typeface="+mn-ea"/>
              </a:defRPr>
            </a:lvl1pPr>
          </a:lstStyle>
          <a:p>
            <a:pPr marL="0" marR="0" lvl="0" indent="0" algn="r" defTabSz="914400" rtl="0" eaLnBrk="1" fontAlgn="base" latinLnBrk="0" hangingPunct="1">
              <a:lnSpc>
                <a:spcPct val="90000"/>
              </a:lnSpc>
              <a:spcBef>
                <a:spcPct val="20000"/>
              </a:spcBef>
              <a:spcAft>
                <a:spcPct val="0"/>
              </a:spcAft>
              <a:buClrTx/>
              <a:buSzTx/>
              <a:buFont typeface="Arial" panose="020B0604020202020204" pitchFamily="34" charset="0"/>
              <a:buNone/>
              <a:defRPr/>
            </a:pPr>
            <a:fld id="{E471EEB1-0016-4043-8596-40B20ECA088E}" type="datetimeFigureOut">
              <a:rPr kumimoji="0" lang="zh-CN" altLang="en-US" sz="12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ea"/>
              </a:rPr>
              <a:t>2024/9/19</a:t>
            </a:fld>
            <a:endParaRPr kumimoji="0" lang="zh-CN" altLang="en-US" sz="12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ea"/>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noProof="1"/>
            </a:lvl1pPr>
          </a:lstStyle>
          <a:p>
            <a:pPr marL="0" marR="0" lvl="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a:pPr>
            <a:endParaRPr kumimoji="0" lang="zh-CN" altLang="en-US" sz="12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lstStyle/>
          <a:p>
            <a:pPr lvl="0" algn="r" eaLnBrk="1" fontAlgn="base" hangingPunct="1"/>
            <a:fld id="{9A0DB2DC-4C9A-4742-B13C-FB6460FD3503}" type="slidenum">
              <a:rPr lang="zh-CN" altLang="en-US" sz="1200" strike="noStrike" noProof="1" dirty="0">
                <a:latin typeface="宋体" panose="02010600030101010101" pitchFamily="2" charset="-122"/>
                <a:ea typeface="宋体" panose="02010600030101010101" pitchFamily="2" charset="-122"/>
                <a:cs typeface="+mn-ea"/>
              </a:rPr>
              <a:t>‹#›</a:t>
            </a:fld>
            <a:endParaRPr lang="zh-CN" altLang="en-US" sz="1200" strike="noStrike" noProof="1">
              <a:latin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l" defTabSz="914400" rtl="0" eaLnBrk="1" fontAlgn="base" latinLnBrk="1" hangingPunct="1">
              <a:lnSpc>
                <a:spcPct val="9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r" defTabSz="914400" rtl="0" eaLnBrk="1" fontAlgn="base" latinLnBrk="1" hangingPunct="1">
              <a:lnSpc>
                <a:spcPct val="9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p:cNvSpPr>
          <p:nvPr>
            <p:ph type="sldImg"/>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l" defTabSz="914400" rtl="0" eaLnBrk="1" fontAlgn="base" latinLnBrk="1" hangingPunct="1">
              <a:lnSpc>
                <a:spcPct val="9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106</a:t>
            </a:fld>
            <a:endParaRPr lang="en-US" altLang="zh-CN" sz="1200" b="0" dirty="0"/>
          </a:p>
        </p:txBody>
      </p:sp>
      <p:sp>
        <p:nvSpPr>
          <p:cNvPr id="112642" name="Rectangle 2"/>
          <p:cNvSpPr>
            <a:spLocks noGrp="1" noRot="1" noChangeAspect="1" noTextEdit="1"/>
          </p:cNvSpPr>
          <p:nvPr>
            <p:ph type="sldImg"/>
          </p:nvPr>
        </p:nvSpPr>
        <p:spPr>
          <a:ln/>
        </p:spPr>
      </p:sp>
      <p:sp>
        <p:nvSpPr>
          <p:cNvPr id="11264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107</a:t>
            </a:fld>
            <a:endParaRPr lang="en-US" altLang="zh-CN" sz="1200" b="0" dirty="0"/>
          </a:p>
        </p:txBody>
      </p:sp>
      <p:sp>
        <p:nvSpPr>
          <p:cNvPr id="114690" name="Rectangle 2"/>
          <p:cNvSpPr>
            <a:spLocks noGrp="1" noRot="1" noChangeAspect="1" noTextEdit="1"/>
          </p:cNvSpPr>
          <p:nvPr>
            <p:ph type="sldImg"/>
          </p:nvPr>
        </p:nvSpPr>
        <p:spPr>
          <a:ln/>
        </p:spPr>
      </p:sp>
      <p:sp>
        <p:nvSpPr>
          <p:cNvPr id="11469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108</a:t>
            </a:fld>
            <a:endParaRPr lang="en-US" altLang="zh-CN" sz="1200" b="0" dirty="0"/>
          </a:p>
        </p:txBody>
      </p:sp>
      <p:sp>
        <p:nvSpPr>
          <p:cNvPr id="116738" name="Rectangle 2"/>
          <p:cNvSpPr>
            <a:spLocks noGrp="1" noRot="1" noChangeAspect="1" noTextEdit="1"/>
          </p:cNvSpPr>
          <p:nvPr>
            <p:ph type="sldImg"/>
          </p:nvPr>
        </p:nvSpPr>
        <p:spPr>
          <a:ln/>
        </p:spPr>
      </p:sp>
      <p:sp>
        <p:nvSpPr>
          <p:cNvPr id="11673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109</a:t>
            </a:fld>
            <a:endParaRPr lang="en-US" altLang="zh-CN" sz="1200" b="0" dirty="0"/>
          </a:p>
        </p:txBody>
      </p:sp>
      <p:sp>
        <p:nvSpPr>
          <p:cNvPr id="118786" name="Rectangle 2"/>
          <p:cNvSpPr>
            <a:spLocks noGrp="1" noRot="1" noChangeAspect="1" noTextEdit="1"/>
          </p:cNvSpPr>
          <p:nvPr>
            <p:ph type="sldImg"/>
          </p:nvPr>
        </p:nvSpPr>
        <p:spPr>
          <a:ln/>
        </p:spPr>
      </p:sp>
      <p:sp>
        <p:nvSpPr>
          <p:cNvPr id="11878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577850"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52975"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spcBef>
                <a:spcPct val="20000"/>
              </a:spcBef>
              <a:spcAft>
                <a:spcPct val="0"/>
              </a:spcAft>
              <a:buClr>
                <a:schemeClr val="accent2"/>
              </a:buClr>
              <a:buSzPct val="7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228600"/>
            <a:ext cx="2089150" cy="59737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17513" y="228600"/>
            <a:ext cx="6116637" cy="59737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pct5">
          <a:fgClr>
            <a:srgbClr val="2314EC"/>
          </a:fgClr>
          <a:bgClr>
            <a:schemeClr val="bg1"/>
          </a:bgClr>
        </a:patt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rgbClr val="003F7E"/>
              </a:gs>
            </a:gsLst>
            <a:lin ang="5400000" scaled="1"/>
          </a:gradFill>
          <a:ln w="9525">
            <a:noFill/>
            <a:miter lim="800000"/>
          </a:ln>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7"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8" name="Rectangle 5"/>
          <p:cNvSpPr>
            <a:spLocks noChangeArrowheads="1"/>
          </p:cNvSpPr>
          <p:nvPr/>
        </p:nvSpPr>
        <p:spPr bwMode="auto">
          <a:xfrm>
            <a:off x="763588" y="457200"/>
            <a:ext cx="8380413" cy="762000"/>
          </a:xfrm>
          <a:prstGeom prst="rect">
            <a:avLst/>
          </a:prstGeom>
          <a:gradFill rotWithShape="0">
            <a:gsLst>
              <a:gs pos="0">
                <a:schemeClr val="bg1"/>
              </a:gs>
              <a:gs pos="100000">
                <a:srgbClr val="00101F"/>
              </a:gs>
            </a:gsLst>
            <a:lin ang="0" scaled="1"/>
          </a:gradFill>
          <a:ln w="9525">
            <a:noFill/>
            <a:miter lim="800000"/>
          </a:ln>
        </p:spPr>
        <p:txBody>
          <a:body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6"/>
          <p:cNvSpPr>
            <a:spLocks noGrp="1"/>
          </p:cNvSpPr>
          <p:nvPr>
            <p:ph type="title"/>
          </p:nvPr>
        </p:nvSpPr>
        <p:spPr>
          <a:xfrm>
            <a:off x="417513" y="228600"/>
            <a:ext cx="8331200" cy="1143000"/>
          </a:xfrm>
          <a:prstGeom prst="rect">
            <a:avLst/>
          </a:prstGeom>
          <a:noFill/>
          <a:ln w="9525">
            <a:noFill/>
          </a:ln>
        </p:spPr>
        <p:txBody>
          <a:bodyPr lIns="92075" tIns="46038" rIns="92075" bIns="46038" anchor="ctr" anchorCtr="0"/>
          <a:lstStyle/>
          <a:p>
            <a:pPr lvl="0"/>
            <a:r>
              <a:rPr lang="zh-CN" altLang="en-US" dirty="0"/>
              <a:t>单击此处编辑母版标题样式</a:t>
            </a:r>
          </a:p>
        </p:txBody>
      </p:sp>
      <p:sp>
        <p:nvSpPr>
          <p:cNvPr id="1030"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1031" name="Rectangle 8"/>
          <p:cNvSpPr>
            <a:spLocks noGrp="1" noChangeArrowheads="1"/>
          </p:cNvSpPr>
          <p:nvPr>
            <p:ph type="dt" sz="half" idx="2"/>
          </p:nvPr>
        </p:nvSpPr>
        <p:spPr bwMode="auto">
          <a:xfrm>
            <a:off x="685800" y="6172200"/>
            <a:ext cx="1905000" cy="457200"/>
          </a:xfrm>
          <a:prstGeom prst="rect">
            <a:avLst/>
          </a:prstGeom>
          <a:noFill/>
          <a:ln w="9525">
            <a:noFill/>
            <a:miter lim="800000"/>
          </a:ln>
        </p:spPr>
        <p:txBody>
          <a:bodyPr vert="horz" wrap="square" lIns="92075" tIns="46038" rIns="92075" bIns="46038" numCol="1" anchor="ctr" anchorCtr="0" compatLnSpc="1"/>
          <a:lstStyle>
            <a:lvl1pPr>
              <a:spcBef>
                <a:spcPct val="0"/>
              </a:spcBef>
              <a:buFont typeface="Arial" panose="020B0604020202020204" pitchFamily="34" charset="0"/>
              <a:buNone/>
              <a:defRPr sz="1400" b="0">
                <a:latin typeface="+mn-lt"/>
              </a:defRPr>
            </a:lvl1pPr>
          </a:lstStyle>
          <a:p>
            <a:pPr marL="0" marR="0" lvl="0" indent="0" algn="l"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2" name="Rectangle 9"/>
          <p:cNvSpPr>
            <a:spLocks noGrp="1" noChangeArrowheads="1"/>
          </p:cNvSpPr>
          <p:nvPr>
            <p:ph type="ftr" sz="quarter" idx="3"/>
          </p:nvPr>
        </p:nvSpPr>
        <p:spPr bwMode="auto">
          <a:xfrm>
            <a:off x="3124200" y="6172200"/>
            <a:ext cx="2895600" cy="457200"/>
          </a:xfrm>
          <a:prstGeom prst="rect">
            <a:avLst/>
          </a:prstGeom>
          <a:noFill/>
          <a:ln w="9525">
            <a:noFill/>
            <a:miter lim="800000"/>
          </a:ln>
        </p:spPr>
        <p:txBody>
          <a:bodyPr vert="horz" wrap="square" lIns="92075" tIns="46038" rIns="92075" bIns="46038" numCol="1" anchor="ctr" anchorCtr="0" compatLnSpc="1"/>
          <a:lstStyle>
            <a:lvl1pPr algn="ctr">
              <a:spcBef>
                <a:spcPct val="0"/>
              </a:spcBef>
              <a:buFont typeface="Arial" panose="020B0604020202020204" pitchFamily="34" charset="0"/>
              <a:buNone/>
              <a:defRPr sz="1400" b="0">
                <a:latin typeface="+mn-lt"/>
              </a:defRPr>
            </a:lvl1pPr>
          </a:lstStyle>
          <a:p>
            <a:pPr marL="0" marR="0" lvl="0" indent="0" algn="ctr" defTabSz="914400" rtl="0" eaLnBrk="1" fontAlgn="base" latinLnBrk="0" hangingPunct="1">
              <a:lnSpc>
                <a:spcPct val="9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3"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random/>
  </p:transition>
  <p:hf sldNum="0" hdr="0" ftr="0" dt="0"/>
  <p:txStyles>
    <p:titleStyle>
      <a:lvl1pPr algn="l" rtl="0" eaLnBrk="0" fontAlgn="base" hangingPunct="0">
        <a:spcBef>
          <a:spcPct val="0"/>
        </a:spcBef>
        <a:spcAft>
          <a:spcPct val="0"/>
        </a:spcAft>
        <a:defRPr sz="3200" b="1">
          <a:solidFill>
            <a:srgbClr val="E8E8E8"/>
          </a:solidFill>
          <a:latin typeface="+mj-lt"/>
          <a:ea typeface="+mj-ea"/>
          <a:cs typeface="+mj-cs"/>
        </a:defRPr>
      </a:lvl1pPr>
      <a:lvl2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5pPr>
      <a:lvl6pPr marL="4572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6pPr>
      <a:lvl7pPr marL="9144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7pPr>
      <a:lvl8pPr marL="13716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8pPr>
      <a:lvl9pPr marL="18288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Ø"/>
        <a:defRPr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0000"/>
        <a:buFont typeface="Wingdings" panose="05000000000000000000" pitchFamily="2" charset="2"/>
        <a:buChar char="v"/>
        <a:defRPr sz="20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146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29718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290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8862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035"/>
          <p:cNvSpPr>
            <a:spLocks noGrp="1" noChangeArrowheads="1"/>
          </p:cNvSpPr>
          <p:nvPr/>
        </p:nvSpPr>
        <p:spPr bwMode="auto">
          <a:xfrm>
            <a:off x="685800" y="1549400"/>
            <a:ext cx="7772400" cy="1285875"/>
          </a:xfrm>
          <a:prstGeom prst="rect">
            <a:avLst/>
          </a:prstGeom>
          <a:noFill/>
          <a:ln w="9525">
            <a:noFill/>
            <a:miter lim="800000"/>
          </a:ln>
        </p:spPr>
        <p:txBody>
          <a:bodyPr lIns="92075" tIns="46038" rIns="92075" bIns="46038" anchor="ctr"/>
          <a:lstStyle/>
          <a:p>
            <a:pPr marL="0" marR="0" lvl="0" indent="0" algn="ctr" defTabSz="914400" rtl="0" eaLnBrk="0" fontAlgn="base" latinLnBrk="0" hangingPunct="0">
              <a:spcBef>
                <a:spcPct val="0"/>
              </a:spcBef>
              <a:spcAft>
                <a:spcPct val="0"/>
              </a:spcAft>
              <a:buClrTx/>
              <a:buSzTx/>
              <a:buFont typeface="Arial" panose="020B0604020202020204" pitchFamily="34" charset="0"/>
              <a:buNone/>
              <a:defRPr/>
            </a:pPr>
            <a:r>
              <a:rPr kumimoji="0" lang="zh-CN" altLang="en-US" sz="66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rPr>
              <a:t>微机原理及应用</a:t>
            </a:r>
            <a:endParaRPr kumimoji="0" lang="zh-CN" altLang="en-US" sz="54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1025525" y="268288"/>
            <a:ext cx="70707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第</a:t>
            </a:r>
            <a:r>
              <a:rPr kumimoji="0" 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3</a:t>
            </a:r>
            <a:r>
              <a:rPr kumimoji="0"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章  </a:t>
            </a:r>
            <a:r>
              <a:rPr kumimoji="0" lang="en-US" altLang="zh-CN"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8086/8088</a:t>
            </a:r>
            <a:r>
              <a:rPr kumimoji="0"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指令系统</a:t>
            </a:r>
            <a:endParaRPr kumimoji="0"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 name="Rectangle 3"/>
          <p:cNvSpPr>
            <a:spLocks noGrp="1"/>
          </p:cNvSpPr>
          <p:nvPr>
            <p:ph type="body" idx="4294967295"/>
          </p:nvPr>
        </p:nvSpPr>
        <p:spPr>
          <a:xfrm>
            <a:off x="1411288" y="1995488"/>
            <a:ext cx="6870700" cy="3543300"/>
          </a:xfrm>
          <a:ln/>
        </p:spPr>
        <p:txBody>
          <a:bodyPr wrap="square" lIns="92075" tIns="46038" rIns="92075" bIns="46038" anchor="t" anchorCtr="0"/>
          <a:lstStyle/>
          <a:p>
            <a:pPr eaLnBrk="1" hangingPunct="1">
              <a:lnSpc>
                <a:spcPct val="130000"/>
              </a:lnSpc>
              <a:buNone/>
            </a:pPr>
            <a:endParaRPr lang="en-US" altLang="zh-CN" sz="3200" dirty="0">
              <a:solidFill>
                <a:srgbClr val="FFCC00"/>
              </a:solidFill>
            </a:endParaRPr>
          </a:p>
          <a:p>
            <a:pPr algn="just" eaLnBrk="1" hangingPunct="1">
              <a:lnSpc>
                <a:spcPct val="150000"/>
              </a:lnSpc>
            </a:pPr>
            <a:r>
              <a:rPr lang="en-US" altLang="zh-CN" dirty="0">
                <a:latin typeface="宋体" panose="02010600030101010101" pitchFamily="2" charset="-122"/>
              </a:rPr>
              <a:t> </a:t>
            </a:r>
            <a:r>
              <a:rPr lang="zh-CN" altLang="en-US" dirty="0">
                <a:latin typeface="宋体" panose="02010600030101010101" pitchFamily="2" charset="-122"/>
              </a:rPr>
              <a:t>理解指令系统基本概念</a:t>
            </a:r>
          </a:p>
          <a:p>
            <a:pPr algn="just" eaLnBrk="1" hangingPunct="1">
              <a:lnSpc>
                <a:spcPct val="150000"/>
              </a:lnSpc>
            </a:pPr>
            <a:r>
              <a:rPr lang="zh-CN" altLang="en-US" dirty="0">
                <a:latin typeface="宋体" panose="02010600030101010101" pitchFamily="2" charset="-122"/>
              </a:rPr>
              <a:t> 掌握</a:t>
            </a:r>
            <a:r>
              <a:rPr lang="zh-CN" altLang="en-US" dirty="0">
                <a:latin typeface="宋体" panose="02010600030101010101" pitchFamily="2" charset="-122"/>
                <a:sym typeface="Arial" panose="020B0604020202020204" pitchFamily="34" charset="0"/>
              </a:rPr>
              <a:t>指令系统涉及到的各种寻址方式</a:t>
            </a:r>
            <a:endParaRPr lang="zh-CN" altLang="en-US" dirty="0">
              <a:latin typeface="宋体" panose="02010600030101010101" pitchFamily="2" charset="-122"/>
            </a:endParaRPr>
          </a:p>
          <a:p>
            <a:pPr algn="just" eaLnBrk="1" hangingPunct="1">
              <a:lnSpc>
                <a:spcPct val="150000"/>
              </a:lnSpc>
            </a:pPr>
            <a:r>
              <a:rPr lang="zh-CN" altLang="en-US" dirty="0">
                <a:latin typeface="宋体" panose="02010600030101010101" pitchFamily="2" charset="-122"/>
              </a:rPr>
              <a:t> </a:t>
            </a:r>
            <a:r>
              <a:rPr lang="zh-CN" altLang="en-US" dirty="0">
                <a:latin typeface="宋体" panose="02010600030101010101" pitchFamily="2" charset="-122"/>
                <a:sym typeface="Arial" panose="020B0604020202020204" pitchFamily="34" charset="0"/>
              </a:rPr>
              <a:t>掌握六大类指令的功能和使用方法</a:t>
            </a:r>
            <a:endParaRPr lang="zh-CN" altLang="en-US" dirty="0">
              <a:latin typeface="宋体" panose="02010600030101010101" pitchFamily="2" charset="-122"/>
            </a:endParaRPr>
          </a:p>
        </p:txBody>
      </p:sp>
      <p:sp>
        <p:nvSpPr>
          <p:cNvPr id="5123" name="Rectangle 12"/>
          <p:cNvSpPr/>
          <p:nvPr/>
        </p:nvSpPr>
        <p:spPr>
          <a:xfrm>
            <a:off x="947738" y="1798638"/>
            <a:ext cx="3106737" cy="825500"/>
          </a:xfrm>
          <a:prstGeom prst="rect">
            <a:avLst/>
          </a:prstGeom>
          <a:noFill/>
          <a:ln w="9525">
            <a:noFill/>
          </a:ln>
        </p:spPr>
        <p:txBody>
          <a:bodyPr lIns="92075" tIns="46038" rIns="92075" bIns="46038" anchor="t" anchorCtr="0"/>
          <a:lstStyle/>
          <a:p>
            <a:pPr marL="342900" indent="-342900">
              <a:lnSpc>
                <a:spcPct val="130000"/>
              </a:lnSpc>
              <a:buClr>
                <a:schemeClr val="accent2"/>
              </a:buClr>
              <a:buSzPct val="70000"/>
              <a:buFont typeface="Wingdings" panose="05000000000000000000" pitchFamily="2" charset="2"/>
            </a:pPr>
            <a:r>
              <a:rPr lang="zh-CN" altLang="en-US" sz="3200" dirty="0">
                <a:solidFill>
                  <a:srgbClr val="FFCC00"/>
                </a:solidFill>
                <a:latin typeface="Times New Roman" panose="02020603050405020304" pitchFamily="18" charset="0"/>
                <a:ea typeface="宋体" panose="02010600030101010101" pitchFamily="2" charset="-122"/>
              </a:rPr>
              <a:t>学习目标：</a:t>
            </a:r>
            <a:endParaRPr lang="zh-CN" altLang="en-US" sz="28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3.1  </a:t>
            </a:r>
            <a:r>
              <a:rPr kumimoji="0"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概述</a:t>
            </a:r>
          </a:p>
        </p:txBody>
      </p:sp>
      <p:sp>
        <p:nvSpPr>
          <p:cNvPr id="2"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6147" name="Rectangle 11"/>
          <p:cNvSpPr>
            <a:spLocks noGrp="1"/>
          </p:cNvSpPr>
          <p:nvPr>
            <p:ph type="body" idx="4294967295"/>
          </p:nvPr>
        </p:nvSpPr>
        <p:spPr>
          <a:xfrm>
            <a:off x="1412875" y="2159000"/>
            <a:ext cx="5297488" cy="3162300"/>
          </a:xfrm>
          <a:ln/>
        </p:spPr>
        <p:txBody>
          <a:bodyPr wrap="square" lIns="92075" tIns="46038" rIns="92075" bIns="46038" anchor="t" anchorCtr="0"/>
          <a:lstStyle/>
          <a:p>
            <a:pPr eaLnBrk="1" hangingPunct="1">
              <a:buNone/>
            </a:pPr>
            <a:r>
              <a:rPr lang="en-US" altLang="zh-CN" dirty="0">
                <a:solidFill>
                  <a:srgbClr val="66FFCC"/>
                </a:solidFill>
              </a:rPr>
              <a:t>3</a:t>
            </a:r>
            <a:r>
              <a:rPr lang="zh-CN" altLang="en-US" dirty="0">
                <a:solidFill>
                  <a:srgbClr val="66FFCC"/>
                </a:solidFill>
              </a:rPr>
              <a:t>.1.1  </a:t>
            </a:r>
            <a:r>
              <a:rPr lang="zh-CN" altLang="zh-CN" dirty="0">
                <a:solidFill>
                  <a:srgbClr val="66FFCC"/>
                </a:solidFill>
              </a:rPr>
              <a:t>指令的基本构成</a:t>
            </a:r>
            <a:endParaRPr lang="zh-CN" altLang="en-US" dirty="0">
              <a:solidFill>
                <a:srgbClr val="66FFCC"/>
              </a:solidFill>
            </a:endParaRPr>
          </a:p>
          <a:p>
            <a:pPr eaLnBrk="1" hangingPunct="1"/>
            <a:endParaRPr lang="zh-CN" altLang="en-US" dirty="0">
              <a:solidFill>
                <a:srgbClr val="66FFCC"/>
              </a:solidFill>
            </a:endParaRPr>
          </a:p>
          <a:p>
            <a:pPr eaLnBrk="1" hangingPunct="1">
              <a:buNone/>
            </a:pPr>
            <a:r>
              <a:rPr lang="en-US" altLang="zh-CN" dirty="0">
                <a:solidFill>
                  <a:srgbClr val="66FFCC"/>
                </a:solidFill>
              </a:rPr>
              <a:t>3</a:t>
            </a:r>
            <a:r>
              <a:rPr lang="zh-CN" altLang="en-US" dirty="0">
                <a:solidFill>
                  <a:srgbClr val="66FFCC"/>
                </a:solidFill>
              </a:rPr>
              <a:t>.1.2  指令的执行时间</a:t>
            </a: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3.1  </a:t>
            </a:r>
            <a:r>
              <a:rPr kumimoji="0"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概述</a:t>
            </a:r>
          </a:p>
        </p:txBody>
      </p:sp>
      <p:sp>
        <p:nvSpPr>
          <p:cNvPr id="7170" name="矩形 4"/>
          <p:cNvSpPr/>
          <p:nvPr/>
        </p:nvSpPr>
        <p:spPr>
          <a:xfrm>
            <a:off x="228600" y="1484313"/>
            <a:ext cx="8634413" cy="541020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指令是控制计算机完成指定操作，并且能够被计算机所识别的命令。计算机所能识别的所有指令的集合称作指令系统，不同系列计算机（或者说不同的微处理器）有着不同的指令系统。指令系统定义了计算机硬件所能完成的基本操作，其功能的强弱在一定程度上决定了硬件系统性能的高低。</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        与上一代微处理器的指令系统相比， </a:t>
            </a:r>
            <a:r>
              <a:rPr lang="en-US" altLang="zh-CN" dirty="0">
                <a:latin typeface="Times New Roman" panose="02020603050405020304" pitchFamily="18" charset="0"/>
                <a:ea typeface="宋体" panose="02010600030101010101" pitchFamily="2" charset="-122"/>
              </a:rPr>
              <a:t>8086/8088 </a:t>
            </a:r>
            <a:r>
              <a:rPr lang="zh-CN" altLang="en-US" dirty="0">
                <a:latin typeface="Times New Roman" panose="02020603050405020304" pitchFamily="18" charset="0"/>
                <a:ea typeface="宋体" panose="02010600030101010101" pitchFamily="2" charset="-122"/>
              </a:rPr>
              <a:t>指令系统的功能有了很大扩充，主要表现在： </a:t>
            </a:r>
          </a:p>
          <a:p>
            <a:pPr>
              <a:lnSpc>
                <a:spcPct val="100000"/>
              </a:lnSpc>
            </a:pP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）有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个通用寄存器均可作累加器使用。</a:t>
            </a:r>
          </a:p>
          <a:p>
            <a:pPr>
              <a:lnSpc>
                <a:spcPct val="100000"/>
              </a:lnSpc>
            </a:pP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）可进行字节或字的处理。</a:t>
            </a:r>
          </a:p>
          <a:p>
            <a:pPr>
              <a:lnSpc>
                <a:spcPct val="100000"/>
              </a:lnSpc>
            </a:pP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）有重复指令和乘除运算指令。</a:t>
            </a:r>
          </a:p>
          <a:p>
            <a:pPr>
              <a:lnSpc>
                <a:spcPct val="100000"/>
              </a:lnSpc>
            </a:pP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）扩充了条件转移，移位</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循环指令。</a:t>
            </a:r>
          </a:p>
          <a:p>
            <a:pPr>
              <a:lnSpc>
                <a:spcPct val="100000"/>
              </a:lnSpc>
            </a:pP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）可进行有符号数的运算。</a:t>
            </a:r>
          </a:p>
          <a:p>
            <a:pPr>
              <a:lnSpc>
                <a:spcPct val="100000"/>
              </a:lnSpc>
            </a:pP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）有软中断和协调多处理器工作的指令。</a:t>
            </a:r>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3.1  </a:t>
            </a:r>
            <a:r>
              <a:rPr kumimoji="0"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概述</a:t>
            </a:r>
          </a:p>
        </p:txBody>
      </p:sp>
      <p:sp>
        <p:nvSpPr>
          <p:cNvPr id="8194" name="内容占位符 2"/>
          <p:cNvSpPr txBox="1"/>
          <p:nvPr/>
        </p:nvSpPr>
        <p:spPr>
          <a:xfrm>
            <a:off x="290513" y="1595438"/>
            <a:ext cx="7710487" cy="839787"/>
          </a:xfrm>
          <a:prstGeom prst="rect">
            <a:avLst/>
          </a:prstGeom>
          <a:noFill/>
          <a:ln w="9525">
            <a:noFill/>
          </a:ln>
        </p:spPr>
        <p:txBody>
          <a:bodyPr lIns="92075" tIns="46038" rIns="92075" bIns="46038" anchor="t" anchorCtr="0"/>
          <a:lstStyle/>
          <a:p>
            <a:pPr marL="342900" indent="-342900" algn="just" eaLnBrk="0" hangingPunct="0">
              <a:lnSpc>
                <a:spcPts val="3200"/>
              </a:lnSpc>
              <a:buClr>
                <a:schemeClr val="accent2"/>
              </a:buClr>
              <a:buSzPct val="70000"/>
            </a:pPr>
            <a:r>
              <a:rPr lang="zh-CN" altLang="en-US" dirty="0">
                <a:latin typeface="Times New Roman" panose="02020603050405020304" pitchFamily="18" charset="0"/>
                <a:ea typeface="宋体" panose="02010600030101010101" pitchFamily="2" charset="-122"/>
              </a:rPr>
              <a:t>             按照功能可将</a:t>
            </a:r>
            <a:r>
              <a:rPr lang="en-US" altLang="zh-CN" dirty="0">
                <a:latin typeface="Times New Roman" panose="02020603050405020304" pitchFamily="18" charset="0"/>
                <a:ea typeface="宋体" panose="02010600030101010101" pitchFamily="2" charset="-122"/>
              </a:rPr>
              <a:t>8086/8088 CPU </a:t>
            </a:r>
            <a:r>
              <a:rPr lang="zh-CN" altLang="en-US" dirty="0">
                <a:latin typeface="Times New Roman" panose="02020603050405020304" pitchFamily="18" charset="0"/>
                <a:ea typeface="宋体" panose="02010600030101010101" pitchFamily="2" charset="-122"/>
              </a:rPr>
              <a:t>的指令系统划分为六大类，见表 </a:t>
            </a:r>
            <a:r>
              <a:rPr lang="en-US" altLang="zh-CN" dirty="0">
                <a:latin typeface="Times New Roman" panose="02020603050405020304" pitchFamily="18" charset="0"/>
                <a:ea typeface="宋体" panose="02010600030101010101" pitchFamily="2" charset="-122"/>
              </a:rPr>
              <a:t>3-1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p>
          <a:p>
            <a:pPr marL="342900" indent="-342900" algn="just" eaLnBrk="0" hangingPunct="0">
              <a:lnSpc>
                <a:spcPts val="3200"/>
              </a:lnSpc>
              <a:buClr>
                <a:schemeClr val="accent2"/>
              </a:buClr>
              <a:buSzPct val="70000"/>
              <a:buFont typeface="Wingdings" panose="05000000000000000000" pitchFamily="2" charset="2"/>
            </a:pPr>
            <a:endParaRPr lang="en-US" altLang="zh-CN" dirty="0">
              <a:latin typeface="Times New Roman" panose="02020603050405020304" pitchFamily="18" charset="0"/>
              <a:ea typeface="宋体" panose="02010600030101010101" pitchFamily="2" charset="-122"/>
            </a:endParaRPr>
          </a:p>
        </p:txBody>
      </p:sp>
      <p:pic>
        <p:nvPicPr>
          <p:cNvPr id="8195" name="Picture 3"/>
          <p:cNvPicPr>
            <a:picLocks noChangeAspect="1"/>
          </p:cNvPicPr>
          <p:nvPr/>
        </p:nvPicPr>
        <p:blipFill>
          <a:blip r:embed="rId2"/>
          <a:stretch>
            <a:fillRect/>
          </a:stretch>
        </p:blipFill>
        <p:spPr>
          <a:xfrm>
            <a:off x="439738" y="3019425"/>
            <a:ext cx="8370887" cy="2613025"/>
          </a:xfrm>
          <a:prstGeom prst="rect">
            <a:avLst/>
          </a:prstGeom>
          <a:noFill/>
          <a:ln w="9525">
            <a:noFill/>
          </a:ln>
        </p:spPr>
      </p:pic>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3.1  </a:t>
            </a:r>
            <a:r>
              <a:rPr kumimoji="0"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概述</a:t>
            </a:r>
          </a:p>
        </p:txBody>
      </p:sp>
      <p:pic>
        <p:nvPicPr>
          <p:cNvPr id="9218" name="Picture 2"/>
          <p:cNvPicPr>
            <a:picLocks noChangeAspect="1"/>
          </p:cNvPicPr>
          <p:nvPr/>
        </p:nvPicPr>
        <p:blipFill>
          <a:blip r:embed="rId2"/>
          <a:stretch>
            <a:fillRect/>
          </a:stretch>
        </p:blipFill>
        <p:spPr>
          <a:xfrm>
            <a:off x="141288" y="1601788"/>
            <a:ext cx="8734425" cy="4676775"/>
          </a:xfrm>
          <a:prstGeom prst="rect">
            <a:avLst/>
          </a:prstGeom>
          <a:noFill/>
          <a:ln w="9525">
            <a:noFill/>
          </a:ln>
        </p:spPr>
      </p:pic>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3.1.1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指令的基本构成</a:t>
            </a:r>
            <a:b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b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242" name="内容占位符 2"/>
          <p:cNvSpPr>
            <a:spLocks noGrp="1"/>
          </p:cNvSpPr>
          <p:nvPr>
            <p:ph idx="4294967295"/>
          </p:nvPr>
        </p:nvSpPr>
        <p:spPr>
          <a:xfrm>
            <a:off x="369888" y="1814513"/>
            <a:ext cx="8147050" cy="2906712"/>
          </a:xfrm>
          <a:ln/>
        </p:spPr>
        <p:txBody>
          <a:bodyPr wrap="square" lIns="92075" tIns="46038" rIns="92075" bIns="46038" anchor="t" anchorCtr="0"/>
          <a:lstStyle/>
          <a:p>
            <a:pPr algn="just">
              <a:buNone/>
            </a:pPr>
            <a:r>
              <a:rPr lang="en-US" altLang="zh-CN" sz="2400" dirty="0"/>
              <a:t>             </a:t>
            </a:r>
            <a:r>
              <a:rPr lang="zh-CN" altLang="zh-CN" sz="2400" dirty="0"/>
              <a:t>一条指令通常由两部分组成，如图</a:t>
            </a:r>
            <a:r>
              <a:rPr lang="en-US" altLang="zh-CN" sz="2400" dirty="0"/>
              <a:t>3-1</a:t>
            </a:r>
            <a:r>
              <a:rPr lang="zh-CN" altLang="zh-CN" sz="2400" dirty="0"/>
              <a:t>所示。</a:t>
            </a:r>
            <a:r>
              <a:rPr lang="zh-CN" altLang="en-US" sz="2400" dirty="0"/>
              <a:t>第一部分为操作码（也称指令码，指令助记符），这一部分是指令中必须存在的部分。必要时，可在操作码的前面加上前缀。第二部分是操作数，即指令操作的对象。有些指令不需要操作数，此时指令只由操作码组成；有些指令只需要一个操作数；有些指令则需要两个操作数，这时必须用逗号将两个操作数分开。</a:t>
            </a:r>
          </a:p>
          <a:p>
            <a:pPr algn="just">
              <a:lnSpc>
                <a:spcPts val="3200"/>
              </a:lnSpc>
              <a:buNone/>
            </a:pPr>
            <a:r>
              <a:rPr lang="en-US" altLang="zh-CN" sz="2400" dirty="0"/>
              <a:t>          </a:t>
            </a:r>
          </a:p>
          <a:p>
            <a:pPr algn="just">
              <a:lnSpc>
                <a:spcPts val="3200"/>
              </a:lnSpc>
              <a:buNone/>
            </a:pPr>
            <a:endParaRPr lang="en-US" altLang="zh-CN" sz="2400" dirty="0"/>
          </a:p>
        </p:txBody>
      </p:sp>
      <p:pic>
        <p:nvPicPr>
          <p:cNvPr id="10243" name="Picture 3"/>
          <p:cNvPicPr>
            <a:picLocks noChangeAspect="1"/>
          </p:cNvPicPr>
          <p:nvPr/>
        </p:nvPicPr>
        <p:blipFill>
          <a:blip r:embed="rId2"/>
          <a:stretch>
            <a:fillRect/>
          </a:stretch>
        </p:blipFill>
        <p:spPr>
          <a:xfrm>
            <a:off x="1273175" y="4791075"/>
            <a:ext cx="5989638" cy="1973263"/>
          </a:xfrm>
          <a:prstGeom prst="rect">
            <a:avLst/>
          </a:prstGeom>
          <a:noFill/>
          <a:ln w="9525">
            <a:noFill/>
          </a:ln>
        </p:spPr>
      </p:pic>
      <p:sp>
        <p:nvSpPr>
          <p:cNvPr id="10244" name="矩形 6"/>
          <p:cNvSpPr/>
          <p:nvPr/>
        </p:nvSpPr>
        <p:spPr>
          <a:xfrm>
            <a:off x="387350" y="1397000"/>
            <a:ext cx="4572000" cy="757238"/>
          </a:xfrm>
          <a:prstGeom prst="rect">
            <a:avLst/>
          </a:prstGeom>
          <a:no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．指令的一般格式</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3.1.1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指令的基本构成</a:t>
            </a:r>
            <a:b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b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1266" name="矩形 3"/>
          <p:cNvSpPr/>
          <p:nvPr/>
        </p:nvSpPr>
        <p:spPr>
          <a:xfrm>
            <a:off x="280988" y="1497013"/>
            <a:ext cx="8370887" cy="4819650"/>
          </a:xfrm>
          <a:prstGeom prst="rect">
            <a:avLst/>
          </a:prstGeom>
          <a:noFill/>
          <a:ln w="9525">
            <a:noFill/>
          </a:ln>
        </p:spPr>
        <p:txBody>
          <a:bodyPr anchor="t" anchorCtr="0">
            <a:spAutoFit/>
          </a:bodyPr>
          <a:lstStyle/>
          <a:p>
            <a:r>
              <a:rPr lang="zh-CN" altLang="en-US" dirty="0">
                <a:latin typeface="Times New Roman" panose="02020603050405020304" pitchFamily="18" charset="0"/>
                <a:ea typeface="宋体" panose="02010600030101010101" pitchFamily="2" charset="-122"/>
              </a:rPr>
              <a:t>        根据操作数的个数，指令在格式上具有以下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种形式。</a:t>
            </a:r>
            <a:endParaRPr lang="en-US" altLang="zh-CN" dirty="0">
              <a:latin typeface="Times New Roman" panose="02020603050405020304" pitchFamily="18" charset="0"/>
              <a:ea typeface="宋体" panose="02010600030101010101" pitchFamily="2" charset="-122"/>
            </a:endParaRPr>
          </a:p>
          <a:p>
            <a:endParaRPr lang="zh-CN" altLang="en-US"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）零操作数指令。指令在形式上只有一个操作码。这类指令操作的对象通常是处理器</a:t>
            </a:r>
          </a:p>
          <a:p>
            <a:pPr>
              <a:lnSpc>
                <a:spcPct val="100000"/>
              </a:lnSpc>
            </a:pPr>
            <a:r>
              <a:rPr lang="zh-CN" altLang="en-US" dirty="0">
                <a:latin typeface="Times New Roman" panose="02020603050405020304" pitchFamily="18" charset="0"/>
                <a:ea typeface="宋体" panose="02010600030101010101" pitchFamily="2" charset="-122"/>
              </a:rPr>
              <a:t>本身，如指令“ </a:t>
            </a:r>
            <a:r>
              <a:rPr lang="en-US" altLang="zh-CN" dirty="0">
                <a:latin typeface="Times New Roman" panose="02020603050405020304" pitchFamily="18" charset="0"/>
                <a:ea typeface="宋体" panose="02010600030101010101" pitchFamily="2" charset="-122"/>
              </a:rPr>
              <a:t>HLT”</a:t>
            </a:r>
            <a:r>
              <a:rPr lang="zh-CN" altLang="en-US" dirty="0">
                <a:latin typeface="Times New Roman" panose="02020603050405020304" pitchFamily="18" charset="0"/>
                <a:ea typeface="宋体" panose="02010600030101010101" pitchFamily="2" charset="-122"/>
              </a:rPr>
              <a:t>。</a:t>
            </a:r>
          </a:p>
          <a:p>
            <a:pPr>
              <a:lnSpc>
                <a:spcPct val="100000"/>
              </a:lnSpc>
            </a:pP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）单操作数指令。指令在形式上只有一个操作数，如指令“ </a:t>
            </a:r>
            <a:r>
              <a:rPr lang="en-US" altLang="zh-CN" dirty="0">
                <a:latin typeface="Times New Roman" panose="02020603050405020304" pitchFamily="18" charset="0"/>
                <a:ea typeface="宋体" panose="02010600030101010101" pitchFamily="2" charset="-122"/>
              </a:rPr>
              <a:t>INC CX”</a:t>
            </a:r>
            <a:r>
              <a:rPr lang="zh-CN" altLang="en-US" dirty="0">
                <a:latin typeface="Times New Roman" panose="02020603050405020304" pitchFamily="18" charset="0"/>
                <a:ea typeface="宋体" panose="02010600030101010101" pitchFamily="2" charset="-122"/>
              </a:rPr>
              <a:t>。</a:t>
            </a:r>
          </a:p>
          <a:p>
            <a:pPr>
              <a:lnSpc>
                <a:spcPct val="100000"/>
              </a:lnSpc>
            </a:pP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）双操作数指令。指令在形式上有两个操作数，这两个操作数必须用逗号分开，分别表示目标操作数（也称目的操作数）和源操作数，格式如图 </a:t>
            </a:r>
            <a:r>
              <a:rPr lang="en-US" altLang="zh-CN" dirty="0">
                <a:latin typeface="Times New Roman" panose="02020603050405020304" pitchFamily="18" charset="0"/>
                <a:ea typeface="宋体" panose="02010600030101010101" pitchFamily="2" charset="-122"/>
              </a:rPr>
              <a:t>3-1 </a:t>
            </a:r>
            <a:r>
              <a:rPr lang="zh-CN" altLang="en-US" dirty="0">
                <a:latin typeface="Times New Roman" panose="02020603050405020304" pitchFamily="18" charset="0"/>
                <a:ea typeface="宋体" panose="02010600030101010101" pitchFamily="2" charset="-122"/>
              </a:rPr>
              <a:t>所示。如指令“ </a:t>
            </a:r>
            <a:r>
              <a:rPr lang="en-US" altLang="zh-CN" dirty="0">
                <a:latin typeface="Times New Roman" panose="02020603050405020304" pitchFamily="18" charset="0"/>
                <a:ea typeface="宋体" panose="02010600030101010101" pitchFamily="2" charset="-122"/>
              </a:rPr>
              <a:t>MOV AX, 2000H”</a:t>
            </a:r>
            <a:r>
              <a:rPr lang="zh-CN" altLang="en-US" dirty="0">
                <a:latin typeface="Times New Roman" panose="02020603050405020304" pitchFamily="18" charset="0"/>
                <a:ea typeface="宋体" panose="02010600030101010101" pitchFamily="2" charset="-122"/>
              </a:rPr>
              <a:t>，其中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表示目标操作数， </a:t>
            </a:r>
            <a:r>
              <a:rPr lang="en-US" altLang="zh-CN" dirty="0">
                <a:latin typeface="Times New Roman" panose="02020603050405020304" pitchFamily="18" charset="0"/>
                <a:ea typeface="宋体" panose="02010600030101010101" pitchFamily="2" charset="-122"/>
              </a:rPr>
              <a:t>2000H </a:t>
            </a:r>
            <a:r>
              <a:rPr lang="zh-CN" altLang="en-US" dirty="0">
                <a:latin typeface="Times New Roman" panose="02020603050405020304" pitchFamily="18" charset="0"/>
                <a:ea typeface="宋体" panose="02010600030101010101" pitchFamily="2" charset="-122"/>
              </a:rPr>
              <a:t>表示源操作数。</a:t>
            </a:r>
          </a:p>
        </p:txBody>
      </p:sp>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3.1.1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指令的基本构成</a:t>
            </a:r>
            <a:b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b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2290" name="矩形 3"/>
          <p:cNvSpPr/>
          <p:nvPr/>
        </p:nvSpPr>
        <p:spPr>
          <a:xfrm>
            <a:off x="131763" y="1450975"/>
            <a:ext cx="4572000" cy="755650"/>
          </a:xfrm>
          <a:prstGeom prst="rect">
            <a:avLst/>
          </a:prstGeom>
          <a:no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．指令中的操作数类型</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12291" name="矩形 4"/>
          <p:cNvSpPr/>
          <p:nvPr/>
        </p:nvSpPr>
        <p:spPr>
          <a:xfrm>
            <a:off x="307975" y="1917700"/>
            <a:ext cx="8597900" cy="4918075"/>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）立即数操作数</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a:t>
            </a:r>
            <a:r>
              <a:rPr lang="zh-CN" altLang="zh-CN" dirty="0">
                <a:latin typeface="Times New Roman" panose="02020603050405020304" pitchFamily="18" charset="0"/>
                <a:ea typeface="宋体" panose="02010600030101010101" pitchFamily="2" charset="-122"/>
              </a:rPr>
              <a:t>立即数是指具有固定数值的操作数，即常数，在程序执行过程中不会发生变化。</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a:t>
            </a:r>
            <a:r>
              <a:rPr lang="zh-CN" altLang="zh-CN" dirty="0">
                <a:latin typeface="Times New Roman" panose="02020603050405020304" pitchFamily="18" charset="0"/>
                <a:ea typeface="宋体" panose="02010600030101010101" pitchFamily="2" charset="-122"/>
              </a:rPr>
              <a:t>需要注意的是立即数操作数在指令中只能用作源操作数</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）寄存器操作数</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8086/8088 CPU </a:t>
            </a:r>
            <a:r>
              <a:rPr lang="zh-CN" altLang="en-US" dirty="0">
                <a:latin typeface="Times New Roman" panose="02020603050405020304" pitchFamily="18" charset="0"/>
                <a:ea typeface="宋体" panose="02010600030101010101" pitchFamily="2" charset="-122"/>
              </a:rPr>
              <a:t>的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个通用寄存器和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个段寄存器可以作为指令中的寄存器操作数，它们都可以作为源操作数。除了代码段寄存器 </a:t>
            </a:r>
            <a:r>
              <a:rPr lang="en-US" altLang="zh-CN"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，其他的寄存器也可以作为目标操作数。</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通用寄存器通常用来存放参加运算的数据或者数据所在存储器单元的偏移地址。段寄存器用来存放当前操作数的段地址。</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）存储器操作数</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        存储器操作数是指参加运算的操作数存放在存储单元当中。</a:t>
            </a:r>
          </a:p>
        </p:txBody>
      </p:sp>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3.1.1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指令的基本构成</a:t>
            </a:r>
            <a:b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b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3314" name="矩形 3"/>
          <p:cNvSpPr/>
          <p:nvPr/>
        </p:nvSpPr>
        <p:spPr>
          <a:xfrm>
            <a:off x="131763" y="1450975"/>
            <a:ext cx="4572000" cy="755650"/>
          </a:xfrm>
          <a:prstGeom prst="rect">
            <a:avLst/>
          </a:prstGeom>
          <a:no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．段重设</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13315" name="矩形 5"/>
          <p:cNvSpPr/>
          <p:nvPr/>
        </p:nvSpPr>
        <p:spPr>
          <a:xfrm>
            <a:off x="387350" y="1987550"/>
            <a:ext cx="8150225" cy="1089025"/>
          </a:xfrm>
          <a:prstGeom prst="rect">
            <a:avLst/>
          </a:prstGeom>
          <a:no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        8086/8088 </a:t>
            </a:r>
            <a:r>
              <a:rPr lang="zh-CN" altLang="en-US" dirty="0">
                <a:latin typeface="Times New Roman" panose="02020603050405020304" pitchFamily="18" charset="0"/>
                <a:ea typeface="宋体" panose="02010600030101010101" pitchFamily="2" charset="-122"/>
              </a:rPr>
              <a:t>对段寄存器使用的约定和允许段重设的情况见表 </a:t>
            </a:r>
            <a:r>
              <a:rPr lang="en-US" altLang="zh-CN"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pic>
        <p:nvPicPr>
          <p:cNvPr id="13316" name="Picture 2"/>
          <p:cNvPicPr>
            <a:picLocks noChangeAspect="1"/>
          </p:cNvPicPr>
          <p:nvPr/>
        </p:nvPicPr>
        <p:blipFill>
          <a:blip r:embed="rId2"/>
          <a:stretch>
            <a:fillRect/>
          </a:stretch>
        </p:blipFill>
        <p:spPr>
          <a:xfrm>
            <a:off x="398463" y="3286125"/>
            <a:ext cx="8442325" cy="2973388"/>
          </a:xfrm>
          <a:prstGeom prst="rect">
            <a:avLst/>
          </a:prstGeom>
          <a:noFill/>
          <a:ln w="9525">
            <a:noFill/>
          </a:ln>
        </p:spPr>
      </p:pic>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3.1.2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指令执行时间</a:t>
            </a:r>
            <a:b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b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4338" name="矩形 5"/>
          <p:cNvSpPr/>
          <p:nvPr/>
        </p:nvSpPr>
        <p:spPr>
          <a:xfrm>
            <a:off x="246063" y="1635125"/>
            <a:ext cx="8528050" cy="4967288"/>
          </a:xfrm>
          <a:prstGeom prst="rect">
            <a:avLst/>
          </a:prstGeom>
          <a:noFill/>
          <a:ln w="9525">
            <a:noFill/>
          </a:ln>
        </p:spPr>
        <p:txBody>
          <a:bodyPr anchor="t" anchorCtr="0">
            <a:spAutoFit/>
          </a:bodyPr>
          <a:lstStyle/>
          <a:p>
            <a:pPr algn="just">
              <a:lnSpc>
                <a:spcPct val="100000"/>
              </a:lnSpc>
            </a:pPr>
            <a:r>
              <a:rPr lang="zh-CN" altLang="en-US" dirty="0">
                <a:latin typeface="Times New Roman" panose="02020603050405020304" pitchFamily="18" charset="0"/>
                <a:ea typeface="宋体" panose="02010600030101010101" pitchFamily="2" charset="-122"/>
              </a:rPr>
              <a:t>         一条指令的执行时间包括：取指令、取操作数、执行指令及传送结果等几个部分，单位用时钟周期数表示。不同指令的执行时间有较大的差别。</a:t>
            </a:r>
          </a:p>
          <a:p>
            <a:pPr algn="just">
              <a:lnSpc>
                <a:spcPct val="10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寄存器操作数的指令执行速度最快，其次是立即数操作数指令，存储器操作数指令的执行速度最慢。这是由于寄存器在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内部，执行指令时，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的执行单元可以直接从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内部的寄存器中获取操作数，不需访问内存，因此执行速度很快；对于立即数操作数，由于立即数操作数是指令的一部分，因此它位于总线接口单元的指令队列中，执行指令时也不需要访问内存，因此执行速度也比较快；而存储器操作数位于内存单元中，为了获取操作数，首先要由总线接口单元计算出该操作数所在的 </a:t>
            </a:r>
            <a:r>
              <a:rPr lang="en-US" altLang="zh-CN" dirty="0">
                <a:latin typeface="Times New Roman" panose="02020603050405020304" pitchFamily="18" charset="0"/>
                <a:ea typeface="宋体" panose="02010600030101010101" pitchFamily="2" charset="-122"/>
              </a:rPr>
              <a:t>20 </a:t>
            </a:r>
            <a:r>
              <a:rPr lang="zh-CN" altLang="en-US" dirty="0">
                <a:latin typeface="Times New Roman" panose="02020603050405020304" pitchFamily="18" charset="0"/>
                <a:ea typeface="宋体" panose="02010600030101010101" pitchFamily="2" charset="-122"/>
              </a:rPr>
              <a:t>位物理地址，由于对内存进行了访问，因此相对前两类操作数指令而言，存储器操作数指令的执行速度最慢。</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3.2  </a:t>
            </a:r>
            <a:r>
              <a:rPr kumimoji="0"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寻址方式</a:t>
            </a:r>
          </a:p>
        </p:txBody>
      </p:sp>
      <p:sp>
        <p:nvSpPr>
          <p:cNvPr id="15362"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5363" name="Rectangle 11"/>
          <p:cNvSpPr>
            <a:spLocks noGrp="1"/>
          </p:cNvSpPr>
          <p:nvPr>
            <p:ph type="body" idx="4294967295"/>
          </p:nvPr>
        </p:nvSpPr>
        <p:spPr>
          <a:xfrm>
            <a:off x="1412875" y="2159000"/>
            <a:ext cx="5297488" cy="4251325"/>
          </a:xfrm>
          <a:ln/>
        </p:spPr>
        <p:txBody>
          <a:bodyPr wrap="square" lIns="92075" tIns="46038" rIns="92075" bIns="46038" anchor="t" anchorCtr="0"/>
          <a:lstStyle/>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2</a:t>
            </a:r>
            <a:r>
              <a:rPr lang="zh-CN" altLang="en-US" dirty="0">
                <a:solidFill>
                  <a:srgbClr val="66FFCC"/>
                </a:solidFill>
              </a:rPr>
              <a:t>.1  立即寻址</a:t>
            </a:r>
            <a:endParaRPr lang="en-US" altLang="zh-CN" dirty="0">
              <a:solidFill>
                <a:srgbClr val="66FFCC"/>
              </a:solidFill>
            </a:endParaRP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2</a:t>
            </a:r>
            <a:r>
              <a:rPr lang="zh-CN" altLang="en-US" dirty="0">
                <a:solidFill>
                  <a:srgbClr val="66FFCC"/>
                </a:solidFill>
              </a:rPr>
              <a:t>.2  寄存器寻址</a:t>
            </a:r>
            <a:endParaRPr lang="en-US" altLang="zh-CN" dirty="0">
              <a:solidFill>
                <a:srgbClr val="66FFCC"/>
              </a:solidFill>
            </a:endParaRP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2</a:t>
            </a:r>
            <a:r>
              <a:rPr lang="zh-CN" altLang="en-US" dirty="0">
                <a:solidFill>
                  <a:srgbClr val="66FFCC"/>
                </a:solidFill>
              </a:rPr>
              <a:t>.</a:t>
            </a:r>
            <a:r>
              <a:rPr lang="en-US" altLang="zh-CN" dirty="0">
                <a:solidFill>
                  <a:srgbClr val="66FFCC"/>
                </a:solidFill>
              </a:rPr>
              <a:t>3  </a:t>
            </a:r>
            <a:r>
              <a:rPr lang="zh-CN" altLang="en-US" dirty="0">
                <a:solidFill>
                  <a:srgbClr val="66FFCC"/>
                </a:solidFill>
              </a:rPr>
              <a:t>直接寻址</a:t>
            </a:r>
            <a:endParaRPr lang="en-US" altLang="zh-CN" dirty="0">
              <a:solidFill>
                <a:srgbClr val="66FFCC"/>
              </a:solidFill>
            </a:endParaRP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2</a:t>
            </a:r>
            <a:r>
              <a:rPr lang="zh-CN" altLang="en-US" dirty="0">
                <a:solidFill>
                  <a:srgbClr val="66FFCC"/>
                </a:solidFill>
              </a:rPr>
              <a:t>.</a:t>
            </a:r>
            <a:r>
              <a:rPr lang="en-US" altLang="zh-CN" dirty="0">
                <a:solidFill>
                  <a:srgbClr val="66FFCC"/>
                </a:solidFill>
              </a:rPr>
              <a:t>4  </a:t>
            </a:r>
            <a:r>
              <a:rPr lang="zh-CN" altLang="en-US" dirty="0">
                <a:solidFill>
                  <a:srgbClr val="66FFCC"/>
                </a:solidFill>
              </a:rPr>
              <a:t>寄存器间接寻址</a:t>
            </a: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2</a:t>
            </a:r>
            <a:r>
              <a:rPr lang="zh-CN" altLang="en-US" dirty="0">
                <a:solidFill>
                  <a:srgbClr val="66FFCC"/>
                </a:solidFill>
              </a:rPr>
              <a:t>.</a:t>
            </a:r>
            <a:r>
              <a:rPr lang="en-US" altLang="zh-CN" dirty="0">
                <a:solidFill>
                  <a:srgbClr val="66FFCC"/>
                </a:solidFill>
              </a:rPr>
              <a:t>5  </a:t>
            </a:r>
            <a:r>
              <a:rPr lang="zh-CN" altLang="en-US" dirty="0">
                <a:solidFill>
                  <a:srgbClr val="66FFCC"/>
                </a:solidFill>
              </a:rPr>
              <a:t>寄存器相对寻址</a:t>
            </a:r>
            <a:endParaRPr lang="en-US" altLang="zh-CN" dirty="0">
              <a:solidFill>
                <a:srgbClr val="66FFCC"/>
              </a:solidFill>
            </a:endParaRP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2</a:t>
            </a:r>
            <a:r>
              <a:rPr lang="zh-CN" altLang="en-US" dirty="0">
                <a:solidFill>
                  <a:srgbClr val="66FFCC"/>
                </a:solidFill>
              </a:rPr>
              <a:t>.</a:t>
            </a:r>
            <a:r>
              <a:rPr lang="en-US" altLang="zh-CN" dirty="0">
                <a:solidFill>
                  <a:srgbClr val="66FFCC"/>
                </a:solidFill>
              </a:rPr>
              <a:t>6  </a:t>
            </a:r>
            <a:r>
              <a:rPr lang="zh-CN" altLang="en-US" dirty="0">
                <a:solidFill>
                  <a:srgbClr val="66FFCC"/>
                </a:solidFill>
              </a:rPr>
              <a:t>基址</a:t>
            </a:r>
            <a:r>
              <a:rPr lang="en-US" altLang="zh-CN" dirty="0">
                <a:solidFill>
                  <a:srgbClr val="66FFCC"/>
                </a:solidFill>
              </a:rPr>
              <a:t>—</a:t>
            </a:r>
            <a:r>
              <a:rPr lang="zh-CN" altLang="en-US" dirty="0">
                <a:solidFill>
                  <a:srgbClr val="66FFCC"/>
                </a:solidFill>
              </a:rPr>
              <a:t>变址寻址</a:t>
            </a:r>
            <a:endParaRPr lang="en-US" altLang="zh-CN" dirty="0">
              <a:solidFill>
                <a:srgbClr val="66FFCC"/>
              </a:solidFill>
            </a:endParaRP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2</a:t>
            </a:r>
            <a:r>
              <a:rPr lang="zh-CN" altLang="en-US" dirty="0">
                <a:solidFill>
                  <a:srgbClr val="66FFCC"/>
                </a:solidFill>
              </a:rPr>
              <a:t>.</a:t>
            </a:r>
            <a:r>
              <a:rPr lang="en-US" altLang="zh-CN" dirty="0">
                <a:solidFill>
                  <a:srgbClr val="66FFCC"/>
                </a:solidFill>
              </a:rPr>
              <a:t>7  </a:t>
            </a:r>
            <a:r>
              <a:rPr lang="zh-CN" altLang="en-US" dirty="0">
                <a:solidFill>
                  <a:srgbClr val="66FFCC"/>
                </a:solidFill>
              </a:rPr>
              <a:t>基址</a:t>
            </a:r>
            <a:r>
              <a:rPr lang="en-US" altLang="zh-CN" dirty="0">
                <a:solidFill>
                  <a:srgbClr val="66FFCC"/>
                </a:solidFill>
              </a:rPr>
              <a:t>—</a:t>
            </a:r>
            <a:r>
              <a:rPr lang="zh-CN" altLang="en-US" dirty="0">
                <a:solidFill>
                  <a:srgbClr val="66FFCC"/>
                </a:solidFill>
              </a:rPr>
              <a:t>变址相对寻址</a:t>
            </a: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2</a:t>
            </a:r>
            <a:r>
              <a:rPr lang="zh-CN" altLang="en-US" dirty="0">
                <a:solidFill>
                  <a:srgbClr val="66FFCC"/>
                </a:solidFill>
              </a:rPr>
              <a:t>.</a:t>
            </a:r>
            <a:r>
              <a:rPr lang="en-US" altLang="zh-CN" dirty="0">
                <a:solidFill>
                  <a:srgbClr val="66FFCC"/>
                </a:solidFill>
              </a:rPr>
              <a:t>8  </a:t>
            </a:r>
            <a:r>
              <a:rPr lang="zh-CN" altLang="en-US" dirty="0">
                <a:solidFill>
                  <a:srgbClr val="66FFCC"/>
                </a:solidFill>
              </a:rPr>
              <a:t>隐含寻址</a:t>
            </a: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立即寻址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6386" name="矩形 3"/>
          <p:cNvSpPr/>
          <p:nvPr/>
        </p:nvSpPr>
        <p:spPr>
          <a:xfrm>
            <a:off x="668338" y="2124075"/>
            <a:ext cx="7491412" cy="400685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立即寻址</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方式只针对源操作数。立即寻址的作用是对寄存器或内存单元赋初值。</a:t>
            </a:r>
          </a:p>
          <a:p>
            <a:pPr>
              <a:lnSpc>
                <a:spcPct val="100000"/>
              </a:lnSpc>
            </a:pPr>
            <a:r>
              <a:rPr lang="zh-CN" altLang="en-US" dirty="0">
                <a:latin typeface="Times New Roman" panose="02020603050405020304" pitchFamily="18" charset="0"/>
                <a:ea typeface="宋体" panose="02010600030101010101" pitchFamily="2" charset="-122"/>
              </a:rPr>
              <a:t>立即寻址需要注意的几点：</a:t>
            </a:r>
          </a:p>
          <a:p>
            <a:pPr>
              <a:lnSpc>
                <a:spcPct val="100000"/>
              </a:lnSpc>
            </a:pPr>
            <a:r>
              <a:rPr lang="en-US" altLang="zh-CN" dirty="0">
                <a:latin typeface="Times New Roman" panose="02020603050405020304" pitchFamily="18" charset="0"/>
                <a:ea typeface="宋体" panose="02010600030101010101" pitchFamily="2" charset="-122"/>
              </a:rPr>
              <a:t>        1</a:t>
            </a:r>
            <a:r>
              <a:rPr lang="zh-CN" altLang="en-US" dirty="0">
                <a:latin typeface="Times New Roman" panose="02020603050405020304" pitchFamily="18" charset="0"/>
                <a:ea typeface="宋体" panose="02010600030101010101" pitchFamily="2" charset="-122"/>
              </a:rPr>
              <a:t>）立即寻址只针对源操作数，目标操作数不能是立即数。 例如指令“ </a:t>
            </a:r>
            <a:r>
              <a:rPr lang="en-US" altLang="zh-CN" dirty="0">
                <a:latin typeface="Times New Roman" panose="02020603050405020304" pitchFamily="18" charset="0"/>
                <a:ea typeface="宋体" panose="02010600030101010101" pitchFamily="2" charset="-122"/>
              </a:rPr>
              <a:t>MOV 1234H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AX”</a:t>
            </a:r>
            <a:r>
              <a:rPr lang="zh-CN" altLang="en-US" dirty="0">
                <a:latin typeface="Times New Roman" panose="02020603050405020304" pitchFamily="18" charset="0"/>
                <a:ea typeface="宋体" panose="02010600030101010101" pitchFamily="2" charset="-122"/>
              </a:rPr>
              <a:t>是一条错误的指令。</a:t>
            </a:r>
          </a:p>
          <a:p>
            <a:pPr>
              <a:lnSpc>
                <a:spcPct val="100000"/>
              </a:lnSpc>
            </a:pPr>
            <a:r>
              <a:rPr lang="en-US" altLang="zh-CN" dirty="0">
                <a:latin typeface="Times New Roman" panose="02020603050405020304" pitchFamily="18" charset="0"/>
                <a:ea typeface="宋体" panose="02010600030101010101" pitchFamily="2" charset="-122"/>
              </a:rPr>
              <a:t>        2</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8086/8088 </a:t>
            </a:r>
            <a:r>
              <a:rPr lang="zh-CN" altLang="en-US" dirty="0">
                <a:latin typeface="Times New Roman" panose="02020603050405020304" pitchFamily="18" charset="0"/>
                <a:ea typeface="宋体" panose="02010600030101010101" pitchFamily="2" charset="-122"/>
              </a:rPr>
              <a:t>系统中，立即数可以是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位的或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位的整数。对于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位的立即数，它严格按照“高高低低”的原则进行存储，即低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位在低地址单元中存放，高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位在高地址单元中存放。</a:t>
            </a:r>
          </a:p>
        </p:txBody>
      </p:sp>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立即寻址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7410" name="矩形 2"/>
          <p:cNvSpPr/>
          <p:nvPr/>
        </p:nvSpPr>
        <p:spPr>
          <a:xfrm>
            <a:off x="509588" y="1566863"/>
            <a:ext cx="8177212" cy="1495425"/>
          </a:xfrm>
          <a:prstGeom prst="rect">
            <a:avLst/>
          </a:prstGeom>
          <a:no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例 </a:t>
            </a:r>
            <a:r>
              <a:rPr lang="en-US" altLang="zh-CN" dirty="0">
                <a:latin typeface="Times New Roman" panose="02020603050405020304" pitchFamily="18" charset="0"/>
                <a:ea typeface="宋体" panose="02010600030101010101" pitchFamily="2" charset="-122"/>
              </a:rPr>
              <a:t>3.1】 </a:t>
            </a:r>
            <a:r>
              <a:rPr lang="zh-CN" altLang="en-US" dirty="0">
                <a:latin typeface="Times New Roman" panose="02020603050405020304" pitchFamily="18" charset="0"/>
                <a:ea typeface="宋体" panose="02010600030101010101" pitchFamily="2" charset="-122"/>
              </a:rPr>
              <a:t>指令“ </a:t>
            </a:r>
            <a:r>
              <a:rPr lang="en-US" altLang="zh-CN" dirty="0">
                <a:latin typeface="Times New Roman" panose="02020603050405020304" pitchFamily="18" charset="0"/>
                <a:ea typeface="宋体" panose="02010600030101010101" pitchFamily="2" charset="-122"/>
              </a:rPr>
              <a:t>MOV AX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1234H”</a:t>
            </a:r>
            <a:r>
              <a:rPr lang="zh-CN" altLang="en-US" dirty="0">
                <a:latin typeface="Times New Roman" panose="02020603050405020304" pitchFamily="18" charset="0"/>
                <a:ea typeface="宋体" panose="02010600030101010101" pitchFamily="2" charset="-122"/>
              </a:rPr>
              <a:t>表示将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位立即数 </a:t>
            </a:r>
            <a:r>
              <a:rPr lang="en-US" altLang="zh-CN" dirty="0">
                <a:latin typeface="Times New Roman" panose="02020603050405020304" pitchFamily="18" charset="0"/>
                <a:ea typeface="宋体" panose="02010600030101010101" pitchFamily="2" charset="-122"/>
              </a:rPr>
              <a:t>1234H </a:t>
            </a:r>
            <a:r>
              <a:rPr lang="zh-CN" altLang="en-US" dirty="0">
                <a:latin typeface="Times New Roman" panose="02020603050405020304" pitchFamily="18" charset="0"/>
                <a:ea typeface="宋体" panose="02010600030101010101" pitchFamily="2" charset="-122"/>
              </a:rPr>
              <a:t>送入累加寄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a:t>
            </a:r>
          </a:p>
          <a:p>
            <a:r>
              <a:rPr lang="zh-CN" altLang="en-US" dirty="0">
                <a:latin typeface="Times New Roman" panose="02020603050405020304" pitchFamily="18" charset="0"/>
                <a:ea typeface="宋体" panose="02010600030101010101" pitchFamily="2" charset="-122"/>
              </a:rPr>
              <a:t>        指令执行后， </a:t>
            </a:r>
            <a:r>
              <a:rPr lang="en-US" altLang="zh-CN" dirty="0">
                <a:latin typeface="Times New Roman" panose="02020603050405020304" pitchFamily="18" charset="0"/>
                <a:ea typeface="宋体" panose="02010600030101010101" pitchFamily="2" charset="-122"/>
              </a:rPr>
              <a:t>AH=12H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AL=34H</a:t>
            </a:r>
            <a:r>
              <a:rPr lang="zh-CN" altLang="en-US" dirty="0">
                <a:latin typeface="Times New Roman" panose="02020603050405020304" pitchFamily="18" charset="0"/>
                <a:ea typeface="宋体" panose="02010600030101010101" pitchFamily="2" charset="-122"/>
              </a:rPr>
              <a:t>。指令执行过程如图 </a:t>
            </a:r>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所示。</a:t>
            </a:r>
          </a:p>
        </p:txBody>
      </p:sp>
      <p:pic>
        <p:nvPicPr>
          <p:cNvPr id="17411" name="Picture 2"/>
          <p:cNvPicPr>
            <a:picLocks noChangeAspect="1"/>
          </p:cNvPicPr>
          <p:nvPr/>
        </p:nvPicPr>
        <p:blipFill>
          <a:blip r:embed="rId2"/>
          <a:stretch>
            <a:fillRect/>
          </a:stretch>
        </p:blipFill>
        <p:spPr>
          <a:xfrm>
            <a:off x="2092325" y="3175000"/>
            <a:ext cx="4894263" cy="3459163"/>
          </a:xfrm>
          <a:prstGeom prst="rect">
            <a:avLst/>
          </a:prstGeom>
          <a:noFill/>
          <a:ln w="9525">
            <a:noFill/>
          </a:ln>
        </p:spPr>
      </p:pic>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寄存器寻址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8434" name="矩形 2"/>
          <p:cNvSpPr/>
          <p:nvPr/>
        </p:nvSpPr>
        <p:spPr>
          <a:xfrm>
            <a:off x="369888" y="1482725"/>
            <a:ext cx="8158162" cy="1938338"/>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在寄存器寻址方式下，指令的操作数位于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的内部寄存器中。这些寄存器可以是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位的通用寄存器 ，也可以是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位的通用寄存器 ，还可以是地址指针、变址寄存器以及段寄存器。寄存器寻址指令的操作数既可以是源操作数，也可以是目标操作数，指令中直接给出寄存器名称。</a:t>
            </a:r>
          </a:p>
        </p:txBody>
      </p:sp>
      <p:sp>
        <p:nvSpPr>
          <p:cNvPr id="18435" name="矩形 3"/>
          <p:cNvSpPr/>
          <p:nvPr/>
        </p:nvSpPr>
        <p:spPr>
          <a:xfrm>
            <a:off x="561975" y="3546475"/>
            <a:ext cx="7905750" cy="1570038"/>
          </a:xfrm>
          <a:prstGeom prst="rect">
            <a:avLst/>
          </a:prstGeom>
          <a:noFill/>
          <a:ln w="9525">
            <a:noFill/>
          </a:ln>
        </p:spPr>
        <p:txBody>
          <a:bodyPr anchor="t" anchorCtr="0">
            <a:spAutoFit/>
          </a:bodyPr>
          <a:lstStyle/>
          <a:p>
            <a:pPr>
              <a:lnSpc>
                <a:spcPct val="10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例 </a:t>
            </a:r>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指令“ </a:t>
            </a:r>
            <a:r>
              <a:rPr lang="en-US" altLang="zh-CN" dirty="0">
                <a:latin typeface="Times New Roman" panose="02020603050405020304" pitchFamily="18" charset="0"/>
                <a:ea typeface="宋体" panose="02010600030101010101" pitchFamily="2" charset="-122"/>
              </a:rPr>
              <a:t>MOV AX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BX”</a:t>
            </a:r>
            <a:r>
              <a:rPr lang="zh-CN" altLang="en-US" dirty="0">
                <a:latin typeface="Times New Roman" panose="02020603050405020304" pitchFamily="18" charset="0"/>
                <a:ea typeface="宋体" panose="02010600030101010101" pitchFamily="2" charset="-122"/>
              </a:rPr>
              <a:t>表示将 </a:t>
            </a:r>
            <a:r>
              <a:rPr lang="en-US" altLang="zh-CN" dirty="0">
                <a:latin typeface="Times New Roman" panose="02020603050405020304" pitchFamily="18" charset="0"/>
                <a:ea typeface="宋体" panose="02010600030101010101" pitchFamily="2" charset="-122"/>
              </a:rPr>
              <a:t>BX </a:t>
            </a:r>
            <a:r>
              <a:rPr lang="zh-CN" altLang="en-US" dirty="0">
                <a:latin typeface="Times New Roman" panose="02020603050405020304" pitchFamily="18" charset="0"/>
                <a:ea typeface="宋体" panose="02010600030101010101" pitchFamily="2" charset="-122"/>
              </a:rPr>
              <a:t>中的内容放入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中。指令执行前 </a:t>
            </a:r>
            <a:r>
              <a:rPr lang="en-US" altLang="zh-CN" dirty="0">
                <a:latin typeface="Times New Roman" panose="02020603050405020304" pitchFamily="18" charset="0"/>
                <a:ea typeface="宋体" panose="02010600030101010101" pitchFamily="2" charset="-122"/>
              </a:rPr>
              <a:t>AX=1122H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BX=3344H</a:t>
            </a:r>
            <a:r>
              <a:rPr lang="zh-CN" altLang="en-US" dirty="0">
                <a:latin typeface="Times New Roman" panose="02020603050405020304" pitchFamily="18" charset="0"/>
                <a:ea typeface="宋体" panose="02010600030101010101" pitchFamily="2" charset="-122"/>
              </a:rPr>
              <a:t>，则指令执行后， </a:t>
            </a:r>
            <a:r>
              <a:rPr lang="en-US" altLang="zh-CN" dirty="0">
                <a:latin typeface="Times New Roman" panose="02020603050405020304" pitchFamily="18" charset="0"/>
                <a:ea typeface="宋体" panose="02010600030101010101" pitchFamily="2" charset="-122"/>
              </a:rPr>
              <a:t>BX </a:t>
            </a:r>
            <a:r>
              <a:rPr lang="zh-CN" altLang="en-US" dirty="0">
                <a:latin typeface="Times New Roman" panose="02020603050405020304" pitchFamily="18" charset="0"/>
                <a:ea typeface="宋体" panose="02010600030101010101" pitchFamily="2" charset="-122"/>
              </a:rPr>
              <a:t>的内容保持不变， </a:t>
            </a:r>
            <a:r>
              <a:rPr lang="en-US" altLang="zh-CN" dirty="0">
                <a:latin typeface="Times New Roman" panose="02020603050405020304" pitchFamily="18" charset="0"/>
                <a:ea typeface="宋体" panose="02010600030101010101" pitchFamily="2" charset="-122"/>
              </a:rPr>
              <a:t>AX=3344H</a:t>
            </a:r>
            <a:r>
              <a:rPr lang="zh-CN" altLang="en-US" dirty="0">
                <a:latin typeface="Times New Roman" panose="02020603050405020304" pitchFamily="18" charset="0"/>
                <a:ea typeface="宋体" panose="02010600030101010101" pitchFamily="2" charset="-122"/>
              </a:rPr>
              <a:t>，指令的执行过程如图 </a:t>
            </a:r>
            <a:r>
              <a:rPr lang="en-US" altLang="zh-CN" dirty="0">
                <a:latin typeface="Times New Roman" panose="02020603050405020304" pitchFamily="18" charset="0"/>
                <a:ea typeface="宋体" panose="02010600030101010101" pitchFamily="2" charset="-122"/>
              </a:rPr>
              <a:t>3-3 </a:t>
            </a:r>
            <a:r>
              <a:rPr lang="zh-CN" altLang="en-US" dirty="0">
                <a:latin typeface="Times New Roman" panose="02020603050405020304" pitchFamily="18" charset="0"/>
                <a:ea typeface="宋体" panose="02010600030101010101" pitchFamily="2" charset="-122"/>
              </a:rPr>
              <a:t>所示。</a:t>
            </a:r>
          </a:p>
        </p:txBody>
      </p:sp>
      <p:pic>
        <p:nvPicPr>
          <p:cNvPr id="18436" name="Picture 2"/>
          <p:cNvPicPr>
            <a:picLocks noChangeAspect="1"/>
          </p:cNvPicPr>
          <p:nvPr/>
        </p:nvPicPr>
        <p:blipFill>
          <a:blip r:embed="rId2"/>
          <a:stretch>
            <a:fillRect/>
          </a:stretch>
        </p:blipFill>
        <p:spPr>
          <a:xfrm>
            <a:off x="2670175" y="5186363"/>
            <a:ext cx="3609975" cy="1495425"/>
          </a:xfrm>
          <a:prstGeom prst="rect">
            <a:avLst/>
          </a:prstGeom>
          <a:noFill/>
          <a:ln w="9525">
            <a:noFill/>
          </a:ln>
        </p:spPr>
      </p:pic>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直接寻址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9458" name="矩形 3"/>
          <p:cNvSpPr/>
          <p:nvPr/>
        </p:nvSpPr>
        <p:spPr>
          <a:xfrm>
            <a:off x="246063" y="1558925"/>
            <a:ext cx="8493125" cy="5189538"/>
          </a:xfrm>
          <a:prstGeom prst="rect">
            <a:avLst/>
          </a:prstGeom>
          <a:noFill/>
          <a:ln w="9525">
            <a:noFill/>
          </a:ln>
        </p:spPr>
        <p:txBody>
          <a:bodyPr anchor="t" anchorCtr="0">
            <a:spAutoFit/>
          </a:bodyPr>
          <a:lstStyle/>
          <a:p>
            <a:pPr algn="just">
              <a:lnSpc>
                <a:spcPct val="100000"/>
              </a:lnSpc>
            </a:pPr>
            <a:r>
              <a:rPr lang="zh-CN" altLang="en-US" dirty="0">
                <a:latin typeface="Times New Roman" panose="02020603050405020304" pitchFamily="18" charset="0"/>
                <a:ea typeface="宋体" panose="02010600030101010101" pitchFamily="2" charset="-122"/>
              </a:rPr>
              <a:t>        直接寻址方式表示操作数存放在内存单元中，存放的地址由指令直接给出，即指令中的操作数是存储器操作数。由于操作数的地址直接给出而不需要经过某种变换，所以称这种寻址方式称为直接寻址方式。</a:t>
            </a:r>
          </a:p>
          <a:p>
            <a:pPr algn="just">
              <a:lnSpc>
                <a:spcPct val="100000"/>
              </a:lnSpc>
            </a:pPr>
            <a:r>
              <a:rPr lang="zh-CN" altLang="en-US" dirty="0">
                <a:latin typeface="Times New Roman" panose="02020603050405020304" pitchFamily="18" charset="0"/>
                <a:ea typeface="宋体" panose="02010600030101010101" pitchFamily="2" charset="-122"/>
              </a:rPr>
              <a:t>        直接寻址需要注意的几点：</a:t>
            </a:r>
          </a:p>
          <a:p>
            <a:pPr algn="just">
              <a:lnSpc>
                <a:spcPct val="100000"/>
              </a:lnSpc>
            </a:pPr>
            <a:r>
              <a:rPr lang="en-US" altLang="zh-CN" dirty="0">
                <a:latin typeface="Times New Roman" panose="02020603050405020304" pitchFamily="18" charset="0"/>
                <a:ea typeface="宋体" panose="02010600030101010101" pitchFamily="2" charset="-122"/>
              </a:rPr>
              <a:t>        1</a:t>
            </a:r>
            <a:r>
              <a:rPr lang="zh-CN" altLang="en-US" dirty="0">
                <a:latin typeface="Times New Roman" panose="02020603050405020304" pitchFamily="18" charset="0"/>
                <a:ea typeface="宋体" panose="02010600030101010101" pitchFamily="2" charset="-122"/>
              </a:rPr>
              <a:t>）在程序中，直接寻址的地址要写在方括号“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内。</a:t>
            </a:r>
          </a:p>
          <a:p>
            <a:pPr algn="just">
              <a:lnSpc>
                <a:spcPct val="100000"/>
              </a:lnSpc>
            </a:pPr>
            <a:r>
              <a:rPr lang="en-US" altLang="zh-CN" dirty="0">
                <a:latin typeface="Times New Roman" panose="02020603050405020304" pitchFamily="18" charset="0"/>
                <a:ea typeface="宋体" panose="02010600030101010101" pitchFamily="2" charset="-122"/>
              </a:rPr>
              <a:t>        2</a:t>
            </a:r>
            <a:r>
              <a:rPr lang="zh-CN" altLang="en-US" dirty="0">
                <a:latin typeface="Times New Roman" panose="02020603050405020304" pitchFamily="18" charset="0"/>
                <a:ea typeface="宋体" panose="02010600030101010101" pitchFamily="2" charset="-122"/>
              </a:rPr>
              <a:t>）在直接寻址中，指令操作数字段中存放的是操作数的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位偏移地址 </a:t>
            </a:r>
            <a:r>
              <a:rPr lang="en-US" altLang="zh-CN" dirty="0">
                <a:latin typeface="Times New Roman" panose="02020603050405020304" pitchFamily="18" charset="0"/>
                <a:ea typeface="宋体" panose="02010600030101010101" pitchFamily="2" charset="-122"/>
              </a:rPr>
              <a:t>EA</a:t>
            </a:r>
            <a:r>
              <a:rPr lang="zh-CN" altLang="en-US" dirty="0">
                <a:latin typeface="Times New Roman" panose="02020603050405020304" pitchFamily="18" charset="0"/>
                <a:ea typeface="宋体" panose="02010600030101010101" pitchFamily="2" charset="-122"/>
              </a:rPr>
              <a:t>，操作数的物理地址由其所在段的寄存器内容左移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位与指令中给出的偏移地址 </a:t>
            </a:r>
            <a:r>
              <a:rPr lang="en-US" altLang="zh-CN" dirty="0">
                <a:latin typeface="Times New Roman" panose="02020603050405020304" pitchFamily="18" charset="0"/>
                <a:ea typeface="宋体" panose="02010600030101010101" pitchFamily="2" charset="-122"/>
              </a:rPr>
              <a:t>EA </a:t>
            </a:r>
            <a:r>
              <a:rPr lang="zh-CN" altLang="en-US" dirty="0">
                <a:latin typeface="Times New Roman" panose="02020603050405020304" pitchFamily="18" charset="0"/>
                <a:ea typeface="宋体" panose="02010600030101010101" pitchFamily="2" charset="-122"/>
              </a:rPr>
              <a:t>相加形成。</a:t>
            </a:r>
          </a:p>
          <a:p>
            <a:pPr algn="just">
              <a:lnSpc>
                <a:spcPct val="100000"/>
              </a:lnSpc>
            </a:pPr>
            <a:r>
              <a:rPr lang="en-US" altLang="zh-CN" dirty="0">
                <a:latin typeface="Times New Roman" panose="02020603050405020304" pitchFamily="18" charset="0"/>
                <a:ea typeface="宋体" panose="02010600030101010101" pitchFamily="2" charset="-122"/>
              </a:rPr>
              <a:t>        3</a:t>
            </a:r>
            <a:r>
              <a:rPr lang="zh-CN" altLang="en-US" dirty="0">
                <a:latin typeface="Times New Roman" panose="02020603050405020304" pitchFamily="18" charset="0"/>
                <a:ea typeface="宋体" panose="02010600030101010101" pitchFamily="2" charset="-122"/>
              </a:rPr>
              <a:t>）如果没有特殊说明，直接寻址的操作数一般在内存的数据段中，即隐含的段寄存器是</a:t>
            </a:r>
            <a:r>
              <a:rPr lang="en-US" altLang="zh-CN" dirty="0">
                <a:latin typeface="Times New Roman" panose="02020603050405020304" pitchFamily="18" charset="0"/>
                <a:ea typeface="宋体" panose="02010600030101010101" pitchFamily="2" charset="-122"/>
              </a:rPr>
              <a:t>DS</a:t>
            </a:r>
            <a:r>
              <a:rPr lang="zh-CN" altLang="en-US" dirty="0">
                <a:latin typeface="Times New Roman" panose="02020603050405020304" pitchFamily="18" charset="0"/>
                <a:ea typeface="宋体" panose="02010600030101010101" pitchFamily="2" charset="-122"/>
              </a:rPr>
              <a:t>。但是 </a:t>
            </a:r>
            <a:r>
              <a:rPr lang="en-US" altLang="zh-CN" dirty="0">
                <a:latin typeface="Times New Roman" panose="02020603050405020304" pitchFamily="18" charset="0"/>
                <a:ea typeface="宋体" panose="02010600030101010101" pitchFamily="2" charset="-122"/>
              </a:rPr>
              <a:t>8086/8088 </a:t>
            </a:r>
            <a:r>
              <a:rPr lang="zh-CN" altLang="en-US" dirty="0">
                <a:latin typeface="Times New Roman" panose="02020603050405020304" pitchFamily="18" charset="0"/>
                <a:ea typeface="宋体" panose="02010600030101010101" pitchFamily="2" charset="-122"/>
              </a:rPr>
              <a:t>也允许段重设此时需要在指令中要用段重设符号加以声明。方法是在有关操作数的前面写上段寄存器的名字，再加上冒号。</a:t>
            </a: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直接寻址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20482" name="矩形 2"/>
          <p:cNvSpPr/>
          <p:nvPr/>
        </p:nvSpPr>
        <p:spPr>
          <a:xfrm>
            <a:off x="315913" y="1420813"/>
            <a:ext cx="8266112" cy="2862262"/>
          </a:xfrm>
          <a:prstGeom prst="rect">
            <a:avLst/>
          </a:prstGeom>
          <a:noFill/>
          <a:ln w="9525">
            <a:noFill/>
          </a:ln>
        </p:spPr>
        <p:txBody>
          <a:bodyPr anchor="t" anchorCtr="0">
            <a:spAutoFit/>
          </a:bodyPr>
          <a:lstStyle/>
          <a:p>
            <a:pPr>
              <a:lnSpc>
                <a:spcPct val="10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例 </a:t>
            </a:r>
            <a:r>
              <a:rPr lang="en-US" altLang="zh-CN" dirty="0">
                <a:latin typeface="Times New Roman" panose="02020603050405020304" pitchFamily="18" charset="0"/>
                <a:ea typeface="宋体" panose="02010600030101010101" pitchFamily="2" charset="-122"/>
              </a:rPr>
              <a:t>3.4】 </a:t>
            </a:r>
            <a:r>
              <a:rPr lang="zh-CN" altLang="en-US" dirty="0">
                <a:latin typeface="Times New Roman" panose="02020603050405020304" pitchFamily="18" charset="0"/>
                <a:ea typeface="宋体" panose="02010600030101010101" pitchFamily="2" charset="-122"/>
              </a:rPr>
              <a:t>指令“ </a:t>
            </a:r>
            <a:r>
              <a:rPr lang="en-US" altLang="zh-CN" dirty="0">
                <a:latin typeface="Times New Roman" panose="02020603050405020304" pitchFamily="18" charset="0"/>
                <a:ea typeface="宋体" panose="02010600030101010101" pitchFamily="2" charset="-122"/>
              </a:rPr>
              <a:t>MOV AX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[1234H]”</a:t>
            </a:r>
            <a:r>
              <a:rPr lang="zh-CN" altLang="en-US" dirty="0">
                <a:latin typeface="Times New Roman" panose="02020603050405020304" pitchFamily="18" charset="0"/>
                <a:ea typeface="宋体" panose="02010600030101010101" pitchFamily="2" charset="-122"/>
              </a:rPr>
              <a:t>表示将数据段中的偏移地址为 </a:t>
            </a:r>
            <a:r>
              <a:rPr lang="en-US" altLang="zh-CN" dirty="0">
                <a:latin typeface="Times New Roman" panose="02020603050405020304" pitchFamily="18" charset="0"/>
                <a:ea typeface="宋体" panose="02010600030101010101" pitchFamily="2" charset="-122"/>
              </a:rPr>
              <a:t>1234H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1235H</a:t>
            </a:r>
            <a:r>
              <a:rPr lang="zh-CN" altLang="en-US" dirty="0">
                <a:latin typeface="Times New Roman" panose="02020603050405020304" pitchFamily="18" charset="0"/>
                <a:ea typeface="宋体" panose="02010600030101010101" pitchFamily="2" charset="-122"/>
              </a:rPr>
              <a:t>两个单元中的内容送到累加器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中。该指令是字操作，高地址单元的内容送到累加器的高</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 </a:t>
            </a:r>
            <a:r>
              <a:rPr lang="en-US" altLang="zh-CN" dirty="0">
                <a:latin typeface="Times New Roman" panose="02020603050405020304" pitchFamily="18" charset="0"/>
                <a:ea typeface="宋体" panose="02010600030101010101" pitchFamily="2" charset="-122"/>
              </a:rPr>
              <a:t>AH</a:t>
            </a:r>
            <a:r>
              <a:rPr lang="zh-CN" altLang="en-US" dirty="0">
                <a:latin typeface="Times New Roman" panose="02020603050405020304" pitchFamily="18" charset="0"/>
                <a:ea typeface="宋体" panose="02010600030101010101" pitchFamily="2" charset="-122"/>
              </a:rPr>
              <a:t>，低地址单元的内容送到累加器的低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 </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假设 </a:t>
            </a:r>
            <a:r>
              <a:rPr lang="en-US" altLang="zh-CN" dirty="0">
                <a:latin typeface="Times New Roman" panose="02020603050405020304" pitchFamily="18" charset="0"/>
                <a:ea typeface="宋体" panose="02010600030101010101" pitchFamily="2" charset="-122"/>
              </a:rPr>
              <a:t>DS=3000H</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则所寻找的操作数的物理地址为</a:t>
            </a:r>
          </a:p>
          <a:p>
            <a:endParaRPr lang="zh-CN" altLang="en-US" dirty="0">
              <a:latin typeface="Times New Roman" panose="02020603050405020304" pitchFamily="18" charset="0"/>
              <a:ea typeface="宋体" panose="02010600030101010101" pitchFamily="2" charset="-122"/>
            </a:endParaRPr>
          </a:p>
        </p:txBody>
      </p:sp>
      <p:sp>
        <p:nvSpPr>
          <p:cNvPr id="20483" name="矩形 4"/>
          <p:cNvSpPr/>
          <p:nvPr/>
        </p:nvSpPr>
        <p:spPr>
          <a:xfrm>
            <a:off x="631825" y="3902075"/>
            <a:ext cx="3800475" cy="425450"/>
          </a:xfrm>
          <a:prstGeom prst="rect">
            <a:avLst/>
          </a:prstGeom>
          <a:noFill/>
          <a:ln w="9525">
            <a:noFill/>
          </a:ln>
        </p:spPr>
        <p:txBody>
          <a:bodyPr wrap="none" anchor="t" anchorCtr="0">
            <a:spAutoFit/>
          </a:bodyPr>
          <a:lstStyle/>
          <a:p>
            <a:r>
              <a:rPr lang="en-US" altLang="zh-CN" dirty="0">
                <a:latin typeface="Times New Roman" panose="02020603050405020304" pitchFamily="18" charset="0"/>
                <a:ea typeface="宋体" panose="02010600030101010101" pitchFamily="2" charset="-122"/>
              </a:rPr>
              <a:t>DS×10H+1234H = 31234H</a:t>
            </a:r>
            <a:endParaRPr lang="zh-CN" altLang="en-US" dirty="0">
              <a:latin typeface="Times New Roman" panose="02020603050405020304" pitchFamily="18" charset="0"/>
              <a:ea typeface="宋体" panose="02010600030101010101" pitchFamily="2" charset="-122"/>
            </a:endParaRPr>
          </a:p>
        </p:txBody>
      </p:sp>
      <p:sp>
        <p:nvSpPr>
          <p:cNvPr id="20484" name="矩形 5"/>
          <p:cNvSpPr/>
          <p:nvPr/>
        </p:nvSpPr>
        <p:spPr>
          <a:xfrm>
            <a:off x="388938" y="4351338"/>
            <a:ext cx="4462462" cy="423862"/>
          </a:xfrm>
          <a:prstGeom prst="rect">
            <a:avLst/>
          </a:prstGeom>
          <a:noFill/>
          <a:ln w="9525">
            <a:noFill/>
          </a:ln>
        </p:spPr>
        <p:txBody>
          <a:bodyPr wrap="none" anchor="t" anchorCtr="0">
            <a:spAutoFit/>
          </a:bodyPr>
          <a:lstStyle/>
          <a:p>
            <a:r>
              <a:rPr lang="zh-CN" altLang="en-US" dirty="0">
                <a:latin typeface="Times New Roman" panose="02020603050405020304" pitchFamily="18" charset="0"/>
                <a:ea typeface="宋体" panose="02010600030101010101" pitchFamily="2" charset="-122"/>
              </a:rPr>
              <a:t>指令的执行情况如图 </a:t>
            </a:r>
            <a:r>
              <a:rPr lang="en-US" altLang="zh-CN" dirty="0">
                <a:latin typeface="Times New Roman" panose="02020603050405020304" pitchFamily="18" charset="0"/>
                <a:ea typeface="宋体" panose="02010600030101010101" pitchFamily="2" charset="-122"/>
              </a:rPr>
              <a:t>3-4 </a:t>
            </a:r>
            <a:r>
              <a:rPr lang="zh-CN" altLang="en-US" dirty="0">
                <a:latin typeface="Times New Roman" panose="02020603050405020304" pitchFamily="18" charset="0"/>
                <a:ea typeface="宋体" panose="02010600030101010101" pitchFamily="2" charset="-122"/>
              </a:rPr>
              <a:t>所示。</a:t>
            </a:r>
          </a:p>
        </p:txBody>
      </p:sp>
      <p:pic>
        <p:nvPicPr>
          <p:cNvPr id="20485" name="Picture 2"/>
          <p:cNvPicPr>
            <a:picLocks noChangeAspect="1"/>
          </p:cNvPicPr>
          <p:nvPr/>
        </p:nvPicPr>
        <p:blipFill>
          <a:blip r:embed="rId2"/>
          <a:stretch>
            <a:fillRect/>
          </a:stretch>
        </p:blipFill>
        <p:spPr>
          <a:xfrm>
            <a:off x="4905375" y="2959100"/>
            <a:ext cx="3905250" cy="3722688"/>
          </a:xfrm>
          <a:prstGeom prst="rect">
            <a:avLst/>
          </a:prstGeom>
          <a:noFill/>
          <a:ln w="9525">
            <a:noFill/>
          </a:ln>
        </p:spPr>
      </p:pic>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寄存器间接寻址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21506" name="矩形 2"/>
          <p:cNvSpPr/>
          <p:nvPr/>
        </p:nvSpPr>
        <p:spPr>
          <a:xfrm>
            <a:off x="474663" y="1819275"/>
            <a:ext cx="8062912" cy="422910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寄存器间接寻址与寄存器寻址的根本不同在于寄存器所表达的内容不同。寄存器间接寻址是用寄存器的内容表示操作数的偏移地址，而寄存器寻址是用寄存器的内容表示操作数本身。</a:t>
            </a:r>
          </a:p>
          <a:p>
            <a:pPr>
              <a:lnSpc>
                <a:spcPct val="100000"/>
              </a:lnSpc>
            </a:pPr>
            <a:r>
              <a:rPr lang="zh-CN" altLang="en-US" dirty="0">
                <a:latin typeface="Times New Roman" panose="02020603050405020304" pitchFamily="18" charset="0"/>
                <a:ea typeface="宋体" panose="02010600030101010101" pitchFamily="2" charset="-122"/>
              </a:rPr>
              <a:t>        寄存器间接寻址指令中的操作数在存储单元中，用于存放操作数偏移地址的寄存器只能是 </a:t>
            </a:r>
            <a:r>
              <a:rPr lang="en-US" altLang="zh-CN" dirty="0">
                <a:latin typeface="Times New Roman" panose="02020603050405020304" pitchFamily="18" charset="0"/>
                <a:ea typeface="宋体" panose="02010600030101010101" pitchFamily="2" charset="-122"/>
              </a:rPr>
              <a:t>BX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BP</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SI </a:t>
            </a:r>
            <a:r>
              <a:rPr lang="zh-CN" altLang="en-US" dirty="0">
                <a:latin typeface="Times New Roman" panose="02020603050405020304" pitchFamily="18" charset="0"/>
                <a:ea typeface="宋体" panose="02010600030101010101" pitchFamily="2" charset="-122"/>
              </a:rPr>
              <a:t>或者 </a:t>
            </a:r>
            <a:r>
              <a:rPr lang="en-US" altLang="zh-CN" dirty="0">
                <a:latin typeface="Times New Roman" panose="02020603050405020304" pitchFamily="18" charset="0"/>
                <a:ea typeface="宋体" panose="02010600030101010101" pitchFamily="2" charset="-122"/>
              </a:rPr>
              <a:t>DI </a:t>
            </a:r>
            <a:r>
              <a:rPr lang="zh-CN" altLang="en-US" dirty="0">
                <a:latin typeface="Times New Roman" panose="02020603050405020304" pitchFamily="18" charset="0"/>
                <a:ea typeface="宋体" panose="02010600030101010101" pitchFamily="2" charset="-122"/>
              </a:rPr>
              <a:t>四个寄存器之一，因此它们也简称为间址寄存器或地址寄存器。默认情况下，选择 </a:t>
            </a:r>
            <a:r>
              <a:rPr lang="en-US" altLang="zh-CN" dirty="0">
                <a:latin typeface="Times New Roman" panose="02020603050405020304" pitchFamily="18" charset="0"/>
                <a:ea typeface="宋体" panose="02010600030101010101" pitchFamily="2" charset="-122"/>
              </a:rPr>
              <a:t>SI</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DI</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BX </a:t>
            </a:r>
            <a:r>
              <a:rPr lang="zh-CN" altLang="en-US" dirty="0">
                <a:latin typeface="Times New Roman" panose="02020603050405020304" pitchFamily="18" charset="0"/>
                <a:ea typeface="宋体" panose="02010600030101010101" pitchFamily="2" charset="-122"/>
              </a:rPr>
              <a:t>作为间址寄存器时，操作数在数据段，段地址由 </a:t>
            </a:r>
            <a:r>
              <a:rPr lang="en-US" altLang="zh-CN" dirty="0">
                <a:latin typeface="Times New Roman" panose="02020603050405020304" pitchFamily="18" charset="0"/>
                <a:ea typeface="宋体" panose="02010600030101010101" pitchFamily="2" charset="-122"/>
              </a:rPr>
              <a:t>DS </a:t>
            </a:r>
            <a:r>
              <a:rPr lang="zh-CN" altLang="en-US" dirty="0">
                <a:latin typeface="Times New Roman" panose="02020603050405020304" pitchFamily="18" charset="0"/>
                <a:ea typeface="宋体" panose="02010600030101010101" pitchFamily="2" charset="-122"/>
              </a:rPr>
              <a:t>决定；选择 </a:t>
            </a:r>
            <a:r>
              <a:rPr lang="en-US" altLang="zh-CN" dirty="0">
                <a:latin typeface="Times New Roman" panose="02020603050405020304" pitchFamily="18" charset="0"/>
                <a:ea typeface="宋体" panose="02010600030101010101" pitchFamily="2" charset="-122"/>
              </a:rPr>
              <a:t>BP </a:t>
            </a:r>
            <a:r>
              <a:rPr lang="zh-CN" altLang="en-US" dirty="0">
                <a:latin typeface="Times New Roman" panose="02020603050405020304" pitchFamily="18" charset="0"/>
                <a:ea typeface="宋体" panose="02010600030101010101" pitchFamily="2" charset="-122"/>
              </a:rPr>
              <a:t>作为间址寄存器时，则操作数在堆栈段，段地址由 </a:t>
            </a:r>
            <a:r>
              <a:rPr lang="en-US" altLang="zh-CN" dirty="0">
                <a:latin typeface="Times New Roman" panose="02020603050405020304" pitchFamily="18" charset="0"/>
                <a:ea typeface="宋体" panose="02010600030101010101" pitchFamily="2" charset="-122"/>
              </a:rPr>
              <a:t>SS </a:t>
            </a:r>
            <a:r>
              <a:rPr lang="zh-CN" altLang="en-US" dirty="0">
                <a:latin typeface="Times New Roman" panose="02020603050405020304" pitchFamily="18" charset="0"/>
                <a:ea typeface="宋体" panose="02010600030101010101" pitchFamily="2" charset="-122"/>
              </a:rPr>
              <a:t>决定。可以段重设。</a:t>
            </a:r>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寄存器间接寻址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22530" name="矩形 2"/>
          <p:cNvSpPr/>
          <p:nvPr/>
        </p:nvSpPr>
        <p:spPr>
          <a:xfrm>
            <a:off x="184150" y="1392238"/>
            <a:ext cx="8686800" cy="3416300"/>
          </a:xfrm>
          <a:prstGeom prst="rect">
            <a:avLst/>
          </a:prstGeom>
          <a:noFill/>
          <a:ln w="9525">
            <a:noFill/>
          </a:ln>
        </p:spPr>
        <p:txBody>
          <a:bodyPr anchor="t" anchorCtr="0">
            <a:spAutoFit/>
          </a:bodyPr>
          <a:lstStyle/>
          <a:p>
            <a:pPr>
              <a:lnSpc>
                <a:spcPct val="100000"/>
              </a:lnSpc>
            </a:pPr>
            <a:r>
              <a:rPr lang="en-US" altLang="zh-CN" dirty="0">
                <a:latin typeface="Times New Roman" panose="02020603050405020304" pitchFamily="18" charset="0"/>
                <a:ea typeface="宋体" panose="02010600030101010101" pitchFamily="2" charset="-122"/>
              </a:rPr>
              <a:t>        【 </a:t>
            </a:r>
            <a:r>
              <a:rPr lang="zh-CN" altLang="en-US" dirty="0">
                <a:latin typeface="Times New Roman" panose="02020603050405020304" pitchFamily="18" charset="0"/>
                <a:ea typeface="宋体" panose="02010600030101010101" pitchFamily="2" charset="-122"/>
              </a:rPr>
              <a:t>例 </a:t>
            </a:r>
            <a:r>
              <a:rPr lang="en-US" altLang="zh-CN" dirty="0">
                <a:latin typeface="Times New Roman" panose="02020603050405020304" pitchFamily="18" charset="0"/>
                <a:ea typeface="宋体" panose="02010600030101010101" pitchFamily="2" charset="-122"/>
              </a:rPr>
              <a:t>3.5】 </a:t>
            </a:r>
            <a:r>
              <a:rPr lang="zh-CN" altLang="en-US" dirty="0">
                <a:latin typeface="Times New Roman" panose="02020603050405020304" pitchFamily="18" charset="0"/>
                <a:ea typeface="宋体" panose="02010600030101010101" pitchFamily="2" charset="-122"/>
              </a:rPr>
              <a:t>选择 </a:t>
            </a:r>
            <a:r>
              <a:rPr lang="en-US" altLang="zh-CN" dirty="0">
                <a:latin typeface="Times New Roman" panose="02020603050405020304" pitchFamily="18" charset="0"/>
                <a:ea typeface="宋体" panose="02010600030101010101" pitchFamily="2" charset="-122"/>
              </a:rPr>
              <a:t>SI</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DI</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BX </a:t>
            </a:r>
            <a:r>
              <a:rPr lang="zh-CN" altLang="en-US" dirty="0">
                <a:latin typeface="Times New Roman" panose="02020603050405020304" pitchFamily="18" charset="0"/>
                <a:ea typeface="宋体" panose="02010600030101010101" pitchFamily="2" charset="-122"/>
              </a:rPr>
              <a:t>作间址寄存器，则操作数的物理地址为</a:t>
            </a:r>
          </a:p>
          <a:p>
            <a:pPr>
              <a:lnSpc>
                <a:spcPct val="100000"/>
              </a:lnSpc>
            </a:pPr>
            <a:r>
              <a:rPr lang="en-US" altLang="zh-CN" dirty="0">
                <a:latin typeface="Times New Roman" panose="02020603050405020304" pitchFamily="18" charset="0"/>
                <a:ea typeface="宋体" panose="02010600030101010101" pitchFamily="2" charset="-122"/>
              </a:rPr>
              <a:t>               DS×10H+EA=DS×10H+(BX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SI</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DI </a:t>
            </a:r>
            <a:r>
              <a:rPr lang="zh-CN" altLang="en-US" dirty="0">
                <a:latin typeface="Times New Roman" panose="02020603050405020304" pitchFamily="18" charset="0"/>
                <a:ea typeface="宋体" panose="02010600030101010101" pitchFamily="2" charset="-122"/>
              </a:rPr>
              <a:t>之一</a:t>
            </a:r>
            <a:r>
              <a:rPr lang="en-US" altLang="zh-CN" dirty="0">
                <a:latin typeface="Times New Roman" panose="02020603050405020304" pitchFamily="18" charset="0"/>
                <a:ea typeface="宋体" panose="02010600030101010101" pitchFamily="2" charset="-122"/>
              </a:rPr>
              <a:t>)</a:t>
            </a:r>
          </a:p>
          <a:p>
            <a:pPr>
              <a:lnSpc>
                <a:spcPct val="100000"/>
              </a:lnSpc>
            </a:pPr>
            <a:r>
              <a:rPr lang="zh-CN" altLang="en-US" dirty="0">
                <a:latin typeface="Times New Roman" panose="02020603050405020304" pitchFamily="18" charset="0"/>
                <a:ea typeface="宋体" panose="02010600030101010101" pitchFamily="2" charset="-122"/>
              </a:rPr>
              <a:t>如果 </a:t>
            </a:r>
            <a:r>
              <a:rPr lang="en-US" altLang="zh-CN" dirty="0">
                <a:latin typeface="Times New Roman" panose="02020603050405020304" pitchFamily="18" charset="0"/>
                <a:ea typeface="宋体" panose="02010600030101010101" pitchFamily="2" charset="-122"/>
              </a:rPr>
              <a:t>DS=1000H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SI=2000H</a:t>
            </a:r>
            <a:r>
              <a:rPr lang="zh-CN" altLang="en-US" dirty="0">
                <a:latin typeface="Times New Roman" panose="02020603050405020304" pitchFamily="18" charset="0"/>
                <a:ea typeface="宋体" panose="02010600030101010101" pitchFamily="2" charset="-122"/>
              </a:rPr>
              <a:t>，则执行指令“ </a:t>
            </a:r>
            <a:r>
              <a:rPr lang="en-US" altLang="zh-CN" dirty="0">
                <a:latin typeface="Times New Roman" panose="02020603050405020304" pitchFamily="18" charset="0"/>
                <a:ea typeface="宋体" panose="02010600030101010101" pitchFamily="2" charset="-122"/>
              </a:rPr>
              <a:t>MOV AX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[SI]”</a:t>
            </a:r>
            <a:r>
              <a:rPr lang="zh-CN" altLang="en-US" dirty="0">
                <a:latin typeface="Times New Roman" panose="02020603050405020304" pitchFamily="18" charset="0"/>
                <a:ea typeface="宋体" panose="02010600030101010101" pitchFamily="2" charset="-122"/>
              </a:rPr>
              <a:t>，计算得存储单元物理地址：</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DS×10H+SI=12000H</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具体执行过程如图 </a:t>
            </a:r>
            <a:r>
              <a:rPr lang="en-US" altLang="zh-CN" dirty="0">
                <a:latin typeface="Times New Roman" panose="02020603050405020304" pitchFamily="18" charset="0"/>
                <a:ea typeface="宋体" panose="02010600030101010101" pitchFamily="2" charset="-122"/>
              </a:rPr>
              <a:t>3-5 </a:t>
            </a:r>
            <a:r>
              <a:rPr lang="zh-CN" altLang="en-US" dirty="0">
                <a:latin typeface="Times New Roman" panose="02020603050405020304" pitchFamily="18" charset="0"/>
                <a:ea typeface="宋体" panose="02010600030101010101" pitchFamily="2" charset="-122"/>
              </a:rPr>
              <a:t>所示。</a:t>
            </a:r>
          </a:p>
          <a:p>
            <a:pPr>
              <a:lnSpc>
                <a:spcPct val="100000"/>
              </a:lnSpc>
            </a:pPr>
            <a:r>
              <a:rPr lang="zh-CN" altLang="en-US" dirty="0">
                <a:latin typeface="Times New Roman" panose="02020603050405020304" pitchFamily="18" charset="0"/>
                <a:ea typeface="宋体" panose="02010600030101010101" pitchFamily="2" charset="-122"/>
              </a:rPr>
              <a:t>执行结果： </a:t>
            </a:r>
            <a:r>
              <a:rPr lang="en-US" altLang="zh-CN" dirty="0">
                <a:latin typeface="Times New Roman" panose="02020603050405020304" pitchFamily="18" charset="0"/>
                <a:ea typeface="宋体" panose="02010600030101010101" pitchFamily="2" charset="-122"/>
              </a:rPr>
              <a:t>AX=2211H</a:t>
            </a:r>
            <a:r>
              <a:rPr lang="zh-CN" altLang="en-US" dirty="0">
                <a:latin typeface="Times New Roman" panose="02020603050405020304" pitchFamily="18" charset="0"/>
                <a:ea typeface="宋体" panose="02010600030101010101" pitchFamily="2" charset="-122"/>
              </a:rPr>
              <a:t>。</a:t>
            </a:r>
          </a:p>
        </p:txBody>
      </p:sp>
      <p:pic>
        <p:nvPicPr>
          <p:cNvPr id="22531" name="Picture 2"/>
          <p:cNvPicPr>
            <a:picLocks noChangeAspect="1"/>
          </p:cNvPicPr>
          <p:nvPr/>
        </p:nvPicPr>
        <p:blipFill>
          <a:blip r:embed="rId2"/>
          <a:stretch>
            <a:fillRect/>
          </a:stretch>
        </p:blipFill>
        <p:spPr>
          <a:xfrm>
            <a:off x="4052888" y="3168650"/>
            <a:ext cx="4800600" cy="3373438"/>
          </a:xfrm>
          <a:prstGeom prst="rect">
            <a:avLst/>
          </a:prstGeom>
          <a:noFill/>
          <a:ln w="9525">
            <a:noFill/>
          </a:ln>
        </p:spPr>
      </p:pic>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寄存器间接寻址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23554" name="矩形 2"/>
          <p:cNvSpPr/>
          <p:nvPr/>
        </p:nvSpPr>
        <p:spPr>
          <a:xfrm>
            <a:off x="158750" y="1550988"/>
            <a:ext cx="8843963" cy="2676525"/>
          </a:xfrm>
          <a:prstGeom prst="rect">
            <a:avLst/>
          </a:prstGeom>
          <a:noFill/>
          <a:ln w="9525">
            <a:noFill/>
          </a:ln>
        </p:spPr>
        <p:txBody>
          <a:bodyPr anchor="t" anchorCtr="0">
            <a:spAutoFit/>
          </a:bodyPr>
          <a:lstStyle/>
          <a:p>
            <a:pPr>
              <a:lnSpc>
                <a:spcPct val="100000"/>
              </a:lnSpc>
            </a:pPr>
            <a:r>
              <a:rPr lang="en-US" altLang="zh-CN" dirty="0">
                <a:latin typeface="Times New Roman" panose="02020603050405020304" pitchFamily="18" charset="0"/>
                <a:ea typeface="宋体" panose="02010600030101010101" pitchFamily="2" charset="-122"/>
              </a:rPr>
              <a:t>       【 </a:t>
            </a:r>
            <a:r>
              <a:rPr lang="zh-CN" altLang="en-US" dirty="0">
                <a:latin typeface="Times New Roman" panose="02020603050405020304" pitchFamily="18" charset="0"/>
                <a:ea typeface="宋体" panose="02010600030101010101" pitchFamily="2" charset="-122"/>
              </a:rPr>
              <a:t>例 </a:t>
            </a:r>
            <a:r>
              <a:rPr lang="en-US" altLang="zh-CN" dirty="0">
                <a:latin typeface="Times New Roman" panose="02020603050405020304" pitchFamily="18" charset="0"/>
                <a:ea typeface="宋体" panose="02010600030101010101" pitchFamily="2" charset="-122"/>
              </a:rPr>
              <a:t>3.6】 </a:t>
            </a:r>
            <a:r>
              <a:rPr lang="zh-CN" altLang="en-US" dirty="0">
                <a:latin typeface="Times New Roman" panose="02020603050405020304" pitchFamily="18" charset="0"/>
                <a:ea typeface="宋体" panose="02010600030101010101" pitchFamily="2" charset="-122"/>
              </a:rPr>
              <a:t>选择 </a:t>
            </a:r>
            <a:r>
              <a:rPr lang="en-US" altLang="zh-CN" dirty="0">
                <a:latin typeface="Times New Roman" panose="02020603050405020304" pitchFamily="18" charset="0"/>
                <a:ea typeface="宋体" panose="02010600030101010101" pitchFamily="2" charset="-122"/>
              </a:rPr>
              <a:t>BP </a:t>
            </a:r>
            <a:r>
              <a:rPr lang="zh-CN" altLang="en-US" dirty="0">
                <a:latin typeface="Times New Roman" panose="02020603050405020304" pitchFamily="18" charset="0"/>
                <a:ea typeface="宋体" panose="02010600030101010101" pitchFamily="2" charset="-122"/>
              </a:rPr>
              <a:t>作间址寄存器，则操作数的物理地址为</a:t>
            </a:r>
          </a:p>
          <a:p>
            <a:pPr>
              <a:lnSpc>
                <a:spcPct val="100000"/>
              </a:lnSpc>
            </a:pPr>
            <a:r>
              <a:rPr lang="en-US" altLang="zh-CN" dirty="0">
                <a:latin typeface="Times New Roman" panose="02020603050405020304" pitchFamily="18" charset="0"/>
                <a:ea typeface="宋体" panose="02010600030101010101" pitchFamily="2" charset="-122"/>
              </a:rPr>
              <a:t>                         SS×10H+EA=SS×10H+BP</a:t>
            </a:r>
          </a:p>
          <a:p>
            <a:pPr>
              <a:lnSpc>
                <a:spcPct val="100000"/>
              </a:lnSpc>
            </a:pPr>
            <a:r>
              <a:rPr lang="zh-CN" altLang="en-US" dirty="0">
                <a:latin typeface="Times New Roman" panose="02020603050405020304" pitchFamily="18" charset="0"/>
                <a:ea typeface="宋体" panose="02010600030101010101" pitchFamily="2" charset="-122"/>
              </a:rPr>
              <a:t>若 </a:t>
            </a:r>
            <a:r>
              <a:rPr lang="en-US" altLang="zh-CN" dirty="0">
                <a:latin typeface="Times New Roman" panose="02020603050405020304" pitchFamily="18" charset="0"/>
                <a:ea typeface="宋体" panose="02010600030101010101" pitchFamily="2" charset="-122"/>
              </a:rPr>
              <a:t>SS=1000H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BP=3000H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AX=2211H,</a:t>
            </a:r>
            <a:r>
              <a:rPr lang="zh-CN" altLang="en-US" dirty="0">
                <a:latin typeface="Times New Roman" panose="02020603050405020304" pitchFamily="18" charset="0"/>
                <a:ea typeface="宋体" panose="02010600030101010101" pitchFamily="2" charset="-122"/>
              </a:rPr>
              <a:t>执行指令 </a:t>
            </a:r>
            <a:r>
              <a:rPr lang="en-US" altLang="zh-CN" dirty="0">
                <a:latin typeface="Times New Roman" panose="02020603050405020304" pitchFamily="18" charset="0"/>
                <a:ea typeface="宋体" panose="02010600030101010101" pitchFamily="2" charset="-122"/>
              </a:rPr>
              <a:t>MOV [BP],</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AX </a:t>
            </a:r>
          </a:p>
          <a:p>
            <a:pPr>
              <a:lnSpc>
                <a:spcPct val="100000"/>
              </a:lnSpc>
            </a:pPr>
            <a:r>
              <a:rPr lang="zh-CN" altLang="en-US" dirty="0">
                <a:latin typeface="Times New Roman" panose="02020603050405020304" pitchFamily="18" charset="0"/>
                <a:ea typeface="宋体" panose="02010600030101010101" pitchFamily="2" charset="-122"/>
              </a:rPr>
              <a:t>计算存储单元物理地址：</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SS×10H+BP=13000H</a:t>
            </a:r>
          </a:p>
          <a:p>
            <a:pPr>
              <a:lnSpc>
                <a:spcPct val="100000"/>
              </a:lnSpc>
            </a:pPr>
            <a:r>
              <a:rPr lang="zh-CN" altLang="en-US" dirty="0">
                <a:latin typeface="Times New Roman" panose="02020603050405020304" pitchFamily="18" charset="0"/>
                <a:ea typeface="宋体" panose="02010600030101010101" pitchFamily="2" charset="-122"/>
              </a:rPr>
              <a:t>执行过程如图</a:t>
            </a:r>
            <a:r>
              <a:rPr lang="en-US" altLang="zh-CN" dirty="0">
                <a:latin typeface="Times New Roman" panose="02020603050405020304" pitchFamily="18" charset="0"/>
                <a:ea typeface="宋体" panose="02010600030101010101" pitchFamily="2" charset="-122"/>
              </a:rPr>
              <a:t>3-6 </a:t>
            </a:r>
            <a:r>
              <a:rPr lang="zh-CN" altLang="en-US" dirty="0">
                <a:latin typeface="Times New Roman" panose="02020603050405020304" pitchFamily="18" charset="0"/>
                <a:ea typeface="宋体" panose="02010600030101010101" pitchFamily="2" charset="-122"/>
              </a:rPr>
              <a:t>所示。</a:t>
            </a:r>
          </a:p>
        </p:txBody>
      </p:sp>
      <p:pic>
        <p:nvPicPr>
          <p:cNvPr id="23555" name="Picture 2"/>
          <p:cNvPicPr>
            <a:picLocks noChangeAspect="1"/>
          </p:cNvPicPr>
          <p:nvPr/>
        </p:nvPicPr>
        <p:blipFill>
          <a:blip r:embed="rId2"/>
          <a:stretch>
            <a:fillRect/>
          </a:stretch>
        </p:blipFill>
        <p:spPr>
          <a:xfrm>
            <a:off x="3478213" y="2882900"/>
            <a:ext cx="5424487" cy="3781425"/>
          </a:xfrm>
          <a:prstGeom prst="rect">
            <a:avLst/>
          </a:prstGeom>
          <a:noFill/>
          <a:ln w="9525">
            <a:noFill/>
          </a:ln>
        </p:spPr>
      </p:pic>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寄存器相对寻址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24578" name="矩形 2"/>
          <p:cNvSpPr/>
          <p:nvPr/>
        </p:nvSpPr>
        <p:spPr>
          <a:xfrm>
            <a:off x="703263" y="1887538"/>
            <a:ext cx="7342187" cy="238125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在寄存器相对寻址 中，操作数在内存中的偏移地址由间址寄存器的内容加上指令中给出的位移量组成。这个位移量可以是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位的，也可以是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位的。因为位移量可以看作一个相对值，所以把这种带有位移量的寄存器间接寻址称为寄存器相对寻址。</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计算偏移地址的方法如下：</a:t>
            </a:r>
          </a:p>
        </p:txBody>
      </p:sp>
      <p:pic>
        <p:nvPicPr>
          <p:cNvPr id="24579" name="Picture 2"/>
          <p:cNvPicPr>
            <a:picLocks noChangeAspect="1"/>
          </p:cNvPicPr>
          <p:nvPr/>
        </p:nvPicPr>
        <p:blipFill>
          <a:blip r:embed="rId2"/>
          <a:stretch>
            <a:fillRect/>
          </a:stretch>
        </p:blipFill>
        <p:spPr>
          <a:xfrm>
            <a:off x="2641600" y="4659313"/>
            <a:ext cx="3086100" cy="1600200"/>
          </a:xfrm>
          <a:prstGeom prst="rect">
            <a:avLst/>
          </a:prstGeom>
          <a:noFill/>
          <a:ln w="9525">
            <a:noFill/>
          </a:ln>
        </p:spPr>
      </p:pic>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寄存器相对寻址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25602" name="矩形 3"/>
          <p:cNvSpPr/>
          <p:nvPr/>
        </p:nvSpPr>
        <p:spPr>
          <a:xfrm>
            <a:off x="280988" y="1581150"/>
            <a:ext cx="8704262" cy="3489325"/>
          </a:xfrm>
          <a:prstGeom prst="rect">
            <a:avLst/>
          </a:prstGeom>
          <a:noFill/>
          <a:ln w="9525">
            <a:noFill/>
          </a:ln>
        </p:spPr>
        <p:txBody>
          <a:bodyPr anchor="t" anchorCtr="0">
            <a:spAutoFit/>
          </a:bodyPr>
          <a:lstStyle/>
          <a:p>
            <a:pPr>
              <a:lnSpc>
                <a:spcPct val="10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例 </a:t>
            </a:r>
            <a:r>
              <a:rPr lang="en-US" altLang="zh-CN" dirty="0">
                <a:latin typeface="Times New Roman" panose="02020603050405020304" pitchFamily="18" charset="0"/>
                <a:ea typeface="宋体" panose="02010600030101010101" pitchFamily="2" charset="-122"/>
              </a:rPr>
              <a:t>3.7】 </a:t>
            </a:r>
            <a:r>
              <a:rPr lang="zh-CN" altLang="en-US" dirty="0">
                <a:latin typeface="Times New Roman" panose="02020603050405020304" pitchFamily="18" charset="0"/>
                <a:ea typeface="宋体" panose="02010600030101010101" pitchFamily="2" charset="-122"/>
              </a:rPr>
              <a:t>指令“ </a:t>
            </a:r>
            <a:r>
              <a:rPr lang="en-US" altLang="zh-CN" dirty="0">
                <a:latin typeface="Times New Roman" panose="02020603050405020304" pitchFamily="18" charset="0"/>
                <a:ea typeface="宋体" panose="02010600030101010101" pitchFamily="2" charset="-122"/>
              </a:rPr>
              <a:t>MOV AX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DATA[BX]”</a:t>
            </a:r>
            <a:r>
              <a:rPr lang="zh-CN" altLang="en-US" dirty="0">
                <a:latin typeface="Times New Roman" panose="02020603050405020304" pitchFamily="18" charset="0"/>
                <a:ea typeface="宋体" panose="02010600030101010101" pitchFamily="2" charset="-122"/>
              </a:rPr>
              <a:t>的寻址过程实例。</a:t>
            </a:r>
          </a:p>
          <a:p>
            <a:pPr>
              <a:lnSpc>
                <a:spcPct val="100000"/>
              </a:lnSpc>
            </a:pPr>
            <a:r>
              <a:rPr lang="zh-CN" altLang="en-US" dirty="0">
                <a:latin typeface="Times New Roman" panose="02020603050405020304" pitchFamily="18" charset="0"/>
                <a:ea typeface="宋体" panose="02010600030101010101" pitchFamily="2" charset="-122"/>
              </a:rPr>
              <a:t>        设 </a:t>
            </a:r>
            <a:r>
              <a:rPr lang="en-US" altLang="zh-CN" dirty="0">
                <a:latin typeface="Times New Roman" panose="02020603050405020304" pitchFamily="18" charset="0"/>
                <a:ea typeface="宋体" panose="02010600030101010101" pitchFamily="2" charset="-122"/>
              </a:rPr>
              <a:t>DS=1000H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BX=2000H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DATA=0005H</a:t>
            </a:r>
            <a:r>
              <a:rPr lang="zh-CN" altLang="en-US" dirty="0">
                <a:latin typeface="Times New Roman" panose="02020603050405020304" pitchFamily="18" charset="0"/>
                <a:ea typeface="宋体" panose="02010600030101010101" pitchFamily="2" charset="-122"/>
              </a:rPr>
              <a:t>，则操作数所在的物理地址</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=DS×10H+BX+DATA</a:t>
            </a:r>
          </a:p>
          <a:p>
            <a:pPr>
              <a:lnSpc>
                <a:spcPct val="100000"/>
              </a:lnSpc>
            </a:pPr>
            <a:r>
              <a:rPr lang="en-US" altLang="zh-CN" dirty="0">
                <a:latin typeface="Times New Roman" panose="02020603050405020304" pitchFamily="18" charset="0"/>
                <a:ea typeface="宋体" panose="02010600030101010101" pitchFamily="2" charset="-122"/>
              </a:rPr>
              <a:t>=10000H+2000H+0005H</a:t>
            </a:r>
          </a:p>
          <a:p>
            <a:pPr>
              <a:lnSpc>
                <a:spcPct val="100000"/>
              </a:lnSpc>
            </a:pPr>
            <a:r>
              <a:rPr lang="en-US" altLang="zh-CN" dirty="0">
                <a:latin typeface="Times New Roman" panose="02020603050405020304" pitchFamily="18" charset="0"/>
                <a:ea typeface="宋体" panose="02010600030101010101" pitchFamily="2" charset="-122"/>
              </a:rPr>
              <a:t>=12005H</a:t>
            </a:r>
            <a:r>
              <a:rPr lang="zh-CN" altLang="en-US" dirty="0">
                <a:latin typeface="Times New Roman" panose="02020603050405020304" pitchFamily="18" charset="0"/>
                <a:ea typeface="宋体" panose="02010600030101010101" pitchFamily="2" charset="-122"/>
              </a:rPr>
              <a:t>。</a:t>
            </a:r>
          </a:p>
          <a:p>
            <a:pPr>
              <a:lnSpc>
                <a:spcPct val="100000"/>
              </a:lnSpc>
            </a:pPr>
            <a:r>
              <a:rPr lang="zh-CN" altLang="en-US" dirty="0">
                <a:latin typeface="Times New Roman" panose="02020603050405020304" pitchFamily="18" charset="0"/>
                <a:ea typeface="宋体" panose="02010600030101010101" pitchFamily="2" charset="-122"/>
              </a:rPr>
              <a:t>执行结果： </a:t>
            </a:r>
            <a:r>
              <a:rPr lang="en-US" altLang="zh-CN" dirty="0">
                <a:latin typeface="Times New Roman" panose="02020603050405020304" pitchFamily="18" charset="0"/>
                <a:ea typeface="宋体" panose="02010600030101010101" pitchFamily="2" charset="-122"/>
              </a:rPr>
              <a:t>AX=3344H</a:t>
            </a:r>
            <a:r>
              <a:rPr lang="zh-CN" altLang="en-US" dirty="0">
                <a:latin typeface="Times New Roman" panose="02020603050405020304" pitchFamily="18" charset="0"/>
                <a:ea typeface="宋体" panose="02010600030101010101" pitchFamily="2" charset="-122"/>
              </a:rPr>
              <a:t>。</a:t>
            </a:r>
          </a:p>
          <a:p>
            <a:pPr>
              <a:lnSpc>
                <a:spcPct val="100000"/>
              </a:lnSpc>
            </a:pPr>
            <a:r>
              <a:rPr lang="zh-CN" altLang="en-US" dirty="0">
                <a:latin typeface="Times New Roman" panose="02020603050405020304" pitchFamily="18" charset="0"/>
                <a:ea typeface="宋体" panose="02010600030101010101" pitchFamily="2" charset="-122"/>
              </a:rPr>
              <a:t>执行过程如图 </a:t>
            </a:r>
            <a:r>
              <a:rPr lang="en-US" altLang="zh-CN" dirty="0">
                <a:latin typeface="Times New Roman" panose="02020603050405020304" pitchFamily="18" charset="0"/>
                <a:ea typeface="宋体" panose="02010600030101010101" pitchFamily="2" charset="-122"/>
              </a:rPr>
              <a:t>3-7 </a:t>
            </a:r>
            <a:r>
              <a:rPr lang="zh-CN" altLang="en-US" dirty="0">
                <a:latin typeface="Times New Roman" panose="02020603050405020304" pitchFamily="18" charset="0"/>
                <a:ea typeface="宋体" panose="02010600030101010101" pitchFamily="2" charset="-122"/>
              </a:rPr>
              <a:t>所示。</a:t>
            </a:r>
          </a:p>
        </p:txBody>
      </p:sp>
      <p:pic>
        <p:nvPicPr>
          <p:cNvPr id="25603" name="Picture 2"/>
          <p:cNvPicPr>
            <a:picLocks noChangeAspect="1"/>
          </p:cNvPicPr>
          <p:nvPr/>
        </p:nvPicPr>
        <p:blipFill>
          <a:blip r:embed="rId2"/>
          <a:stretch>
            <a:fillRect/>
          </a:stretch>
        </p:blipFill>
        <p:spPr>
          <a:xfrm>
            <a:off x="3903663" y="2424113"/>
            <a:ext cx="4610100" cy="4371975"/>
          </a:xfrm>
          <a:prstGeom prst="rect">
            <a:avLst/>
          </a:prstGeom>
          <a:noFill/>
          <a:ln w="9525">
            <a:noFill/>
          </a:ln>
        </p:spPr>
      </p:pic>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基址</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变址寻址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26626" name="矩形 2"/>
          <p:cNvSpPr/>
          <p:nvPr/>
        </p:nvSpPr>
        <p:spPr>
          <a:xfrm>
            <a:off x="650875" y="1662113"/>
            <a:ext cx="7991475" cy="2678112"/>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基址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变址寻址方式由一个基址寄存器的内容和一个变址寄存器的内容相加而形成操作数的偏移地址。在基址</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变址寻址方式中，通常把 </a:t>
            </a:r>
            <a:r>
              <a:rPr lang="en-US" altLang="zh-CN" dirty="0">
                <a:latin typeface="Times New Roman" panose="02020603050405020304" pitchFamily="18" charset="0"/>
                <a:ea typeface="宋体" panose="02010600030101010101" pitchFamily="2" charset="-122"/>
              </a:rPr>
              <a:t>BX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BP </a:t>
            </a:r>
            <a:r>
              <a:rPr lang="zh-CN" altLang="en-US" dirty="0">
                <a:latin typeface="Times New Roman" panose="02020603050405020304" pitchFamily="18" charset="0"/>
                <a:ea typeface="宋体" panose="02010600030101010101" pitchFamily="2" charset="-122"/>
              </a:rPr>
              <a:t>看作是基址寄存器，把 </a:t>
            </a:r>
            <a:r>
              <a:rPr lang="en-US" altLang="zh-CN" dirty="0">
                <a:latin typeface="Times New Roman" panose="02020603050405020304" pitchFamily="18" charset="0"/>
                <a:ea typeface="宋体" panose="02010600030101010101" pitchFamily="2" charset="-122"/>
              </a:rPr>
              <a:t>SI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DI </a:t>
            </a:r>
            <a:r>
              <a:rPr lang="zh-CN" altLang="en-US" dirty="0">
                <a:latin typeface="Times New Roman" panose="02020603050405020304" pitchFamily="18" charset="0"/>
                <a:ea typeface="宋体" panose="02010600030101010101" pitchFamily="2" charset="-122"/>
              </a:rPr>
              <a:t>看作变址寄存器。而段寄存器则根据所使用的基址寄存器而定：若用 </a:t>
            </a:r>
            <a:r>
              <a:rPr lang="en-US" altLang="zh-CN" dirty="0">
                <a:latin typeface="Times New Roman" panose="02020603050405020304" pitchFamily="18" charset="0"/>
                <a:ea typeface="宋体" panose="02010600030101010101" pitchFamily="2" charset="-122"/>
              </a:rPr>
              <a:t>BX </a:t>
            </a:r>
            <a:r>
              <a:rPr lang="zh-CN" altLang="en-US" dirty="0">
                <a:latin typeface="Times New Roman" panose="02020603050405020304" pitchFamily="18" charset="0"/>
                <a:ea typeface="宋体" panose="02010600030101010101" pitchFamily="2" charset="-122"/>
              </a:rPr>
              <a:t>作为基地址，则操作数在数据段区域，段地址由</a:t>
            </a:r>
            <a:r>
              <a:rPr lang="en-US" altLang="zh-CN" dirty="0">
                <a:latin typeface="Times New Roman" panose="02020603050405020304" pitchFamily="18" charset="0"/>
                <a:ea typeface="宋体" panose="02010600030101010101" pitchFamily="2" charset="-122"/>
              </a:rPr>
              <a:t>DS </a:t>
            </a:r>
            <a:r>
              <a:rPr lang="zh-CN" altLang="en-US" dirty="0">
                <a:latin typeface="Times New Roman" panose="02020603050405020304" pitchFamily="18" charset="0"/>
                <a:ea typeface="宋体" panose="02010600030101010101" pitchFamily="2" charset="-122"/>
              </a:rPr>
              <a:t>决定；若用 </a:t>
            </a:r>
            <a:r>
              <a:rPr lang="en-US" altLang="zh-CN" dirty="0">
                <a:latin typeface="Times New Roman" panose="02020603050405020304" pitchFamily="18" charset="0"/>
                <a:ea typeface="宋体" panose="02010600030101010101" pitchFamily="2" charset="-122"/>
              </a:rPr>
              <a:t>BP </a:t>
            </a:r>
            <a:r>
              <a:rPr lang="zh-CN" altLang="en-US" dirty="0">
                <a:latin typeface="Times New Roman" panose="02020603050405020304" pitchFamily="18" charset="0"/>
                <a:ea typeface="宋体" panose="02010600030101010101" pitchFamily="2" charset="-122"/>
              </a:rPr>
              <a:t>作为基地址，则操作数在堆栈段区域，段地址由 </a:t>
            </a:r>
            <a:r>
              <a:rPr lang="en-US" altLang="zh-CN" dirty="0">
                <a:latin typeface="Times New Roman" panose="02020603050405020304" pitchFamily="18" charset="0"/>
                <a:ea typeface="宋体" panose="02010600030101010101" pitchFamily="2" charset="-122"/>
              </a:rPr>
              <a:t>SS </a:t>
            </a:r>
            <a:r>
              <a:rPr lang="zh-CN" altLang="en-US" dirty="0">
                <a:latin typeface="Times New Roman" panose="02020603050405020304" pitchFamily="18" charset="0"/>
                <a:ea typeface="宋体" panose="02010600030101010101" pitchFamily="2" charset="-122"/>
              </a:rPr>
              <a:t>决定，但允许段重设。</a:t>
            </a:r>
          </a:p>
        </p:txBody>
      </p:sp>
      <p:sp>
        <p:nvSpPr>
          <p:cNvPr id="26627" name="矩形 3"/>
          <p:cNvSpPr/>
          <p:nvPr/>
        </p:nvSpPr>
        <p:spPr>
          <a:xfrm>
            <a:off x="658813" y="4486275"/>
            <a:ext cx="7923212" cy="1570038"/>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注意：使用基址</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变址寻址方式时，不允许将两个基址寄存器或两个变址寄存器组合在一起使用，即指令中不允许同时出现两个基址寄存器或两个变址寄存器；也不允许出现其他的寄存器。</a:t>
            </a: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基址</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变址寻址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27650" name="矩形 2"/>
          <p:cNvSpPr/>
          <p:nvPr/>
        </p:nvSpPr>
        <p:spPr>
          <a:xfrm>
            <a:off x="387350" y="1609725"/>
            <a:ext cx="8555038" cy="3933825"/>
          </a:xfrm>
          <a:prstGeom prst="rect">
            <a:avLst/>
          </a:prstGeom>
          <a:no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例 </a:t>
            </a:r>
            <a:r>
              <a:rPr lang="en-US" altLang="zh-CN" dirty="0">
                <a:latin typeface="Times New Roman" panose="02020603050405020304" pitchFamily="18" charset="0"/>
                <a:ea typeface="宋体" panose="02010600030101010101" pitchFamily="2" charset="-122"/>
              </a:rPr>
              <a:t>3.9】 </a:t>
            </a:r>
            <a:r>
              <a:rPr lang="zh-CN" altLang="en-US" dirty="0">
                <a:latin typeface="Times New Roman" panose="02020603050405020304" pitchFamily="18" charset="0"/>
                <a:ea typeface="宋体" panose="02010600030101010101" pitchFamily="2" charset="-122"/>
              </a:rPr>
              <a:t>指令“ </a:t>
            </a:r>
            <a:r>
              <a:rPr lang="en-US" altLang="zh-CN" dirty="0">
                <a:latin typeface="Times New Roman" panose="02020603050405020304" pitchFamily="18" charset="0"/>
                <a:ea typeface="宋体" panose="02010600030101010101" pitchFamily="2" charset="-122"/>
              </a:rPr>
              <a:t>MOV AX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[BX] [SI]”</a:t>
            </a:r>
            <a:r>
              <a:rPr lang="zh-CN" altLang="en-US" dirty="0">
                <a:latin typeface="Times New Roman" panose="02020603050405020304" pitchFamily="18" charset="0"/>
                <a:ea typeface="宋体" panose="02010600030101010101" pitchFamily="2" charset="-122"/>
              </a:rPr>
              <a:t>的寻址过程如图 </a:t>
            </a:r>
            <a:r>
              <a:rPr lang="en-US" altLang="zh-CN" dirty="0">
                <a:latin typeface="Times New Roman" panose="02020603050405020304" pitchFamily="18" charset="0"/>
                <a:ea typeface="宋体" panose="02010600030101010101" pitchFamily="2" charset="-122"/>
              </a:rPr>
              <a:t>3-8 </a:t>
            </a:r>
            <a:r>
              <a:rPr lang="zh-CN" altLang="en-US" dirty="0">
                <a:latin typeface="Times New Roman" panose="02020603050405020304" pitchFamily="18" charset="0"/>
                <a:ea typeface="宋体" panose="02010600030101010101" pitchFamily="2" charset="-122"/>
              </a:rPr>
              <a:t>所示。</a:t>
            </a:r>
          </a:p>
          <a:p>
            <a:r>
              <a:rPr lang="zh-CN" altLang="en-US" dirty="0">
                <a:latin typeface="Times New Roman" panose="02020603050405020304" pitchFamily="18" charset="0"/>
                <a:ea typeface="宋体" panose="02010600030101010101" pitchFamily="2" charset="-122"/>
              </a:rPr>
              <a:t>        设 </a:t>
            </a:r>
            <a:r>
              <a:rPr lang="en-US" altLang="zh-CN" dirty="0">
                <a:latin typeface="Times New Roman" panose="02020603050405020304" pitchFamily="18" charset="0"/>
                <a:ea typeface="宋体" panose="02010600030101010101" pitchFamily="2" charset="-122"/>
              </a:rPr>
              <a:t>DS=1000H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BX=2000H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SI=1000H</a:t>
            </a:r>
            <a:r>
              <a:rPr lang="zh-CN" altLang="en-US" dirty="0">
                <a:latin typeface="Times New Roman" panose="02020603050405020304" pitchFamily="18" charset="0"/>
                <a:ea typeface="宋体" panose="02010600030101010101" pitchFamily="2" charset="-122"/>
              </a:rPr>
              <a:t>，则操作数的物 理地址 </a:t>
            </a:r>
            <a:r>
              <a:rPr lang="en-US" altLang="zh-CN" dirty="0">
                <a:latin typeface="Times New Roman" panose="02020603050405020304" pitchFamily="18" charset="0"/>
                <a:ea typeface="宋体" panose="02010600030101010101" pitchFamily="2" charset="-122"/>
              </a:rPr>
              <a:t>=DS×10H+BX+SI</a:t>
            </a:r>
          </a:p>
          <a:p>
            <a:r>
              <a:rPr lang="en-US" altLang="zh-CN" dirty="0">
                <a:latin typeface="Times New Roman" panose="02020603050405020304" pitchFamily="18" charset="0"/>
                <a:ea typeface="宋体" panose="02010600030101010101" pitchFamily="2" charset="-122"/>
              </a:rPr>
              <a:t>=10000H+2000H+1000H</a:t>
            </a:r>
          </a:p>
          <a:p>
            <a:r>
              <a:rPr lang="en-US" altLang="zh-CN" dirty="0">
                <a:latin typeface="Times New Roman" panose="02020603050405020304" pitchFamily="18" charset="0"/>
                <a:ea typeface="宋体" panose="02010600030101010101" pitchFamily="2" charset="-122"/>
              </a:rPr>
              <a:t>=13000H</a:t>
            </a:r>
            <a:r>
              <a:rPr lang="zh-CN" altLang="en-US" dirty="0">
                <a:latin typeface="Times New Roman" panose="02020603050405020304" pitchFamily="18" charset="0"/>
                <a:ea typeface="宋体" panose="02010600030101010101" pitchFamily="2" charset="-122"/>
              </a:rPr>
              <a:t>。</a:t>
            </a:r>
          </a:p>
          <a:p>
            <a:r>
              <a:rPr lang="zh-CN" altLang="en-US" dirty="0">
                <a:latin typeface="Times New Roman" panose="02020603050405020304" pitchFamily="18" charset="0"/>
                <a:ea typeface="宋体" panose="02010600030101010101" pitchFamily="2" charset="-122"/>
              </a:rPr>
              <a:t>指令执行后， </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13000H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=77H</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en-US" altLang="zh-CN" dirty="0">
                <a:latin typeface="Times New Roman" panose="02020603050405020304" pitchFamily="18" charset="0"/>
                <a:ea typeface="宋体" panose="02010600030101010101" pitchFamily="2" charset="-122"/>
              </a:rPr>
              <a:t>AH=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13001H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=88H</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即 </a:t>
            </a:r>
            <a:r>
              <a:rPr lang="en-US" altLang="zh-CN" dirty="0">
                <a:latin typeface="Times New Roman" panose="02020603050405020304" pitchFamily="18" charset="0"/>
                <a:ea typeface="宋体" panose="02010600030101010101" pitchFamily="2" charset="-122"/>
              </a:rPr>
              <a:t>AX=8877H</a:t>
            </a:r>
            <a:r>
              <a:rPr lang="zh-CN" altLang="en-US" dirty="0">
                <a:latin typeface="Times New Roman" panose="02020603050405020304" pitchFamily="18" charset="0"/>
                <a:ea typeface="宋体" panose="02010600030101010101" pitchFamily="2" charset="-122"/>
              </a:rPr>
              <a:t>。</a:t>
            </a:r>
          </a:p>
        </p:txBody>
      </p:sp>
      <p:pic>
        <p:nvPicPr>
          <p:cNvPr id="27651" name="Picture 2"/>
          <p:cNvPicPr>
            <a:picLocks noChangeAspect="1"/>
          </p:cNvPicPr>
          <p:nvPr/>
        </p:nvPicPr>
        <p:blipFill>
          <a:blip r:embed="rId2"/>
          <a:stretch>
            <a:fillRect/>
          </a:stretch>
        </p:blipFill>
        <p:spPr>
          <a:xfrm>
            <a:off x="4097338" y="2786063"/>
            <a:ext cx="4633912" cy="3971925"/>
          </a:xfrm>
          <a:prstGeom prst="rect">
            <a:avLst/>
          </a:prstGeom>
          <a:noFill/>
          <a:ln w="9525">
            <a:noFill/>
          </a:ln>
        </p:spPr>
      </p:pic>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基址</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变址相对寻址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28674" name="矩形 2"/>
          <p:cNvSpPr/>
          <p:nvPr/>
        </p:nvSpPr>
        <p:spPr>
          <a:xfrm>
            <a:off x="588963" y="1855788"/>
            <a:ext cx="7807325" cy="3343275"/>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基址</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变址相对寻址方式实际上是基址</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变址寻址方式的扩充。指令中规定了一个基址寄存器（ </a:t>
            </a:r>
            <a:r>
              <a:rPr lang="en-US" altLang="zh-CN" dirty="0">
                <a:latin typeface="Times New Roman" panose="02020603050405020304" pitchFamily="18" charset="0"/>
                <a:ea typeface="宋体" panose="02010600030101010101" pitchFamily="2" charset="-122"/>
              </a:rPr>
              <a:t>BX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BP </a:t>
            </a:r>
            <a:r>
              <a:rPr lang="zh-CN" altLang="en-US" dirty="0">
                <a:latin typeface="Times New Roman" panose="02020603050405020304" pitchFamily="18" charset="0"/>
                <a:ea typeface="宋体" panose="02010600030101010101" pitchFamily="2" charset="-122"/>
              </a:rPr>
              <a:t>两者之一）和一个变址寄存器（ </a:t>
            </a:r>
            <a:r>
              <a:rPr lang="en-US" altLang="zh-CN" dirty="0">
                <a:latin typeface="Times New Roman" panose="02020603050405020304" pitchFamily="18" charset="0"/>
                <a:ea typeface="宋体" panose="02010600030101010101" pitchFamily="2" charset="-122"/>
              </a:rPr>
              <a:t>SI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DI </a:t>
            </a:r>
            <a:r>
              <a:rPr lang="zh-CN" altLang="en-US" dirty="0">
                <a:latin typeface="Times New Roman" panose="02020603050405020304" pitchFamily="18" charset="0"/>
                <a:ea typeface="宋体" panose="02010600030101010101" pitchFamily="2" charset="-122"/>
              </a:rPr>
              <a:t>两者之一），同时还给出一个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位或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位的位移量，将三者的内容相加得到操作数的有效地址。</a:t>
            </a:r>
            <a:endParaRPr lang="en-US" altLang="zh-CN"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        同样地， 基址</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变址相对寻址指令不允许同时出现两个基址寄存器或者两个变址寄存器；也不允许出现其他寄存器。</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7</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基址</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变址相对寻址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29698" name="矩形 2"/>
          <p:cNvSpPr/>
          <p:nvPr/>
        </p:nvSpPr>
        <p:spPr>
          <a:xfrm>
            <a:off x="201613" y="1419225"/>
            <a:ext cx="8740775" cy="4783138"/>
          </a:xfrm>
          <a:prstGeom prst="rect">
            <a:avLst/>
          </a:prstGeom>
          <a:noFill/>
          <a:ln w="9525">
            <a:noFill/>
          </a:ln>
        </p:spPr>
        <p:txBody>
          <a:bodyPr anchor="t" anchorCtr="0">
            <a:spAutoFit/>
          </a:bodyPr>
          <a:lstStyle/>
          <a:p>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例 </a:t>
            </a:r>
            <a:r>
              <a:rPr lang="en-US" altLang="zh-CN" dirty="0">
                <a:latin typeface="Times New Roman" panose="02020603050405020304" pitchFamily="18" charset="0"/>
                <a:ea typeface="宋体" panose="02010600030101010101" pitchFamily="2" charset="-122"/>
              </a:rPr>
              <a:t>3.10】 </a:t>
            </a:r>
            <a:r>
              <a:rPr lang="zh-CN" altLang="en-US" dirty="0">
                <a:latin typeface="Times New Roman" panose="02020603050405020304" pitchFamily="18" charset="0"/>
                <a:ea typeface="宋体" panose="02010600030101010101" pitchFamily="2" charset="-122"/>
              </a:rPr>
              <a:t>指令“ </a:t>
            </a:r>
            <a:r>
              <a:rPr lang="en-US" altLang="zh-CN" dirty="0">
                <a:latin typeface="Times New Roman" panose="02020603050405020304" pitchFamily="18" charset="0"/>
                <a:ea typeface="宋体" panose="02010600030101010101" pitchFamily="2" charset="-122"/>
              </a:rPr>
              <a:t>MOV AX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DATA[DI][BX]”</a:t>
            </a:r>
            <a:r>
              <a:rPr lang="zh-CN" altLang="en-US" dirty="0">
                <a:latin typeface="Times New Roman" panose="02020603050405020304" pitchFamily="18" charset="0"/>
                <a:ea typeface="宋体" panose="02010600030101010101" pitchFamily="2" charset="-122"/>
              </a:rPr>
              <a:t>的寻址过程示例。</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假设 </a:t>
            </a:r>
            <a:r>
              <a:rPr lang="en-US" altLang="zh-CN" dirty="0">
                <a:latin typeface="Times New Roman" panose="02020603050405020304" pitchFamily="18" charset="0"/>
                <a:ea typeface="宋体" panose="02010600030101010101" pitchFamily="2" charset="-122"/>
              </a:rPr>
              <a:t>DS=8000H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BX=2000H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DI=1000H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DATA=200H</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由于使用的基址寄存器是 </a:t>
            </a:r>
            <a:r>
              <a:rPr lang="en-US" altLang="zh-CN" dirty="0">
                <a:latin typeface="Times New Roman" panose="02020603050405020304" pitchFamily="18" charset="0"/>
                <a:ea typeface="宋体" panose="02010600030101010101" pitchFamily="2" charset="-122"/>
              </a:rPr>
              <a:t>BX</a:t>
            </a:r>
            <a:r>
              <a:rPr lang="zh-CN" altLang="en-US" dirty="0">
                <a:latin typeface="Times New Roman" panose="02020603050405020304" pitchFamily="18" charset="0"/>
                <a:ea typeface="宋体" panose="02010600030101010101" pitchFamily="2" charset="-122"/>
              </a:rPr>
              <a:t>，且没有进行段重设，所以该指令操作数的物理地址是：</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DS×10H+BX+DI+DATA</a:t>
            </a:r>
          </a:p>
          <a:p>
            <a:r>
              <a:rPr lang="en-US" altLang="zh-CN" dirty="0">
                <a:latin typeface="Times New Roman" panose="02020603050405020304" pitchFamily="18" charset="0"/>
                <a:ea typeface="宋体" panose="02010600030101010101" pitchFamily="2" charset="-122"/>
              </a:rPr>
              <a:t>=80000H+2000H+1000H+200H</a:t>
            </a:r>
          </a:p>
          <a:p>
            <a:r>
              <a:rPr lang="en-US" altLang="zh-CN" dirty="0">
                <a:latin typeface="Times New Roman" panose="02020603050405020304" pitchFamily="18" charset="0"/>
                <a:ea typeface="宋体" panose="02010600030101010101" pitchFamily="2" charset="-122"/>
              </a:rPr>
              <a:t>=83200H</a:t>
            </a:r>
            <a:r>
              <a:rPr lang="zh-CN" altLang="en-US" dirty="0">
                <a:latin typeface="Times New Roman" panose="02020603050405020304" pitchFamily="18" charset="0"/>
                <a:ea typeface="宋体" panose="02010600030101010101" pitchFamily="2" charset="-122"/>
              </a:rPr>
              <a:t>。由于是字操作，</a:t>
            </a:r>
            <a:endParaRPr lang="en-US" altLang="zh-CN"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所以该指令把地址为 </a:t>
            </a:r>
            <a:r>
              <a:rPr lang="en-US" altLang="zh-CN" dirty="0">
                <a:latin typeface="Times New Roman" panose="02020603050405020304" pitchFamily="18" charset="0"/>
                <a:ea typeface="宋体" panose="02010600030101010101" pitchFamily="2" charset="-122"/>
              </a:rPr>
              <a:t>83200H </a:t>
            </a:r>
          </a:p>
          <a:p>
            <a:r>
              <a:rPr lang="zh-CN" altLang="en-US" dirty="0">
                <a:latin typeface="Times New Roman" panose="02020603050405020304" pitchFamily="18" charset="0"/>
                <a:ea typeface="宋体" panose="02010600030101010101" pitchFamily="2" charset="-122"/>
              </a:rPr>
              <a:t>的两个连续存储单元的内容</a:t>
            </a:r>
            <a:endParaRPr lang="en-US" altLang="zh-CN"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送到 </a:t>
            </a:r>
            <a:r>
              <a:rPr lang="en-US" altLang="zh-CN" dirty="0">
                <a:latin typeface="Times New Roman" panose="02020603050405020304" pitchFamily="18" charset="0"/>
                <a:ea typeface="宋体" panose="02010600030101010101" pitchFamily="2" charset="-122"/>
              </a:rPr>
              <a:t>AX</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执行结果： </a:t>
            </a:r>
            <a:r>
              <a:rPr lang="en-US" altLang="zh-CN" dirty="0">
                <a:latin typeface="Times New Roman" panose="02020603050405020304" pitchFamily="18" charset="0"/>
                <a:ea typeface="宋体" panose="02010600030101010101" pitchFamily="2" charset="-122"/>
              </a:rPr>
              <a:t>AX=6655H</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指令执行过程如图 </a:t>
            </a:r>
            <a:r>
              <a:rPr lang="en-US" altLang="zh-CN" dirty="0">
                <a:latin typeface="Times New Roman" panose="02020603050405020304" pitchFamily="18" charset="0"/>
                <a:ea typeface="宋体" panose="02010600030101010101" pitchFamily="2" charset="-122"/>
              </a:rPr>
              <a:t>3-9 </a:t>
            </a:r>
            <a:r>
              <a:rPr lang="zh-CN" altLang="en-US" dirty="0">
                <a:latin typeface="Times New Roman" panose="02020603050405020304" pitchFamily="18" charset="0"/>
                <a:ea typeface="宋体" panose="02010600030101010101" pitchFamily="2" charset="-122"/>
              </a:rPr>
              <a:t>所示。</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pic>
        <p:nvPicPr>
          <p:cNvPr id="29699" name="Picture 2"/>
          <p:cNvPicPr>
            <a:picLocks noChangeAspect="1"/>
          </p:cNvPicPr>
          <p:nvPr/>
        </p:nvPicPr>
        <p:blipFill>
          <a:blip r:embed="rId2"/>
          <a:stretch>
            <a:fillRect/>
          </a:stretch>
        </p:blipFill>
        <p:spPr>
          <a:xfrm>
            <a:off x="4441825" y="2481263"/>
            <a:ext cx="4411663" cy="4289425"/>
          </a:xfrm>
          <a:prstGeom prst="rect">
            <a:avLst/>
          </a:prstGeom>
          <a:noFill/>
          <a:ln w="9525">
            <a:noFill/>
          </a:ln>
        </p:spPr>
      </p:pic>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8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隐含寻址</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0722" name="矩形 2"/>
          <p:cNvSpPr/>
          <p:nvPr/>
        </p:nvSpPr>
        <p:spPr>
          <a:xfrm>
            <a:off x="773113" y="1924050"/>
            <a:ext cx="7615237" cy="341630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有的指令操作码中，不仅包含操作码的性质，还隐含了部分操作数的地址，这种将一个操作数隐含在指令码中的寻址方式称为隐含寻址。如指令“ </a:t>
            </a:r>
            <a:r>
              <a:rPr lang="en-US" altLang="zh-CN" dirty="0">
                <a:latin typeface="Times New Roman" panose="02020603050405020304" pitchFamily="18" charset="0"/>
                <a:ea typeface="宋体" panose="02010600030101010101" pitchFamily="2" charset="-122"/>
              </a:rPr>
              <a:t>MUL BL”</a:t>
            </a:r>
            <a:r>
              <a:rPr lang="zh-CN" altLang="en-US" dirty="0">
                <a:latin typeface="Times New Roman" panose="02020603050405020304" pitchFamily="18" charset="0"/>
                <a:ea typeface="宋体" panose="02010600030101010101" pitchFamily="2" charset="-122"/>
              </a:rPr>
              <a:t>的功能是把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中的内容与 </a:t>
            </a:r>
            <a:r>
              <a:rPr lang="en-US" altLang="zh-CN" dirty="0">
                <a:latin typeface="Times New Roman" panose="02020603050405020304" pitchFamily="18" charset="0"/>
                <a:ea typeface="宋体" panose="02010600030101010101" pitchFamily="2" charset="-122"/>
              </a:rPr>
              <a:t>BL </a:t>
            </a:r>
            <a:r>
              <a:rPr lang="zh-CN" altLang="en-US" dirty="0">
                <a:latin typeface="Times New Roman" panose="02020603050405020304" pitchFamily="18" charset="0"/>
                <a:ea typeface="宋体" panose="02010600030101010101" pitchFamily="2" charset="-122"/>
              </a:rPr>
              <a:t>中的内容相乘，乘积送到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寄存器，这条指令隐含了被乘数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及乘积 </a:t>
            </a:r>
            <a:r>
              <a:rPr lang="en-US" altLang="zh-CN" dirty="0">
                <a:latin typeface="Times New Roman" panose="02020603050405020304" pitchFamily="18" charset="0"/>
                <a:ea typeface="宋体" panose="02010600030101010101" pitchFamily="2" charset="-122"/>
              </a:rPr>
              <a:t>AX</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endParaRPr lang="zh-CN" altLang="en-US"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        由于隐含寻址指令的操作数实质上也是位于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内部的寄存器中， 所以有的教材把这种寻址方式归结为寄存器寻址。</a:t>
            </a:r>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3.3  </a:t>
            </a:r>
            <a:r>
              <a:rPr kumimoji="0"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8086/8088 </a:t>
            </a:r>
            <a:r>
              <a:rPr kumimoji="0"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指令系统</a:t>
            </a:r>
          </a:p>
        </p:txBody>
      </p:sp>
      <p:sp>
        <p:nvSpPr>
          <p:cNvPr id="31746" name="AutoShape 8">
            <a:hlinkClick r:id="rId2"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2"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31747" name="Rectangle 11"/>
          <p:cNvSpPr>
            <a:spLocks noGrp="1"/>
          </p:cNvSpPr>
          <p:nvPr>
            <p:ph type="body" idx="4294967295"/>
          </p:nvPr>
        </p:nvSpPr>
        <p:spPr>
          <a:xfrm>
            <a:off x="1412875" y="2159000"/>
            <a:ext cx="5297488" cy="3556000"/>
          </a:xfrm>
          <a:ln/>
        </p:spPr>
        <p:txBody>
          <a:bodyPr wrap="square" lIns="92075" tIns="46038" rIns="92075" bIns="46038" anchor="t" anchorCtr="0"/>
          <a:lstStyle/>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3</a:t>
            </a:r>
            <a:r>
              <a:rPr lang="zh-CN" altLang="en-US" dirty="0">
                <a:solidFill>
                  <a:srgbClr val="66FFCC"/>
                </a:solidFill>
              </a:rPr>
              <a:t>.1  数据传送指令</a:t>
            </a:r>
            <a:endParaRPr lang="en-US" altLang="zh-CN" dirty="0">
              <a:solidFill>
                <a:srgbClr val="66FFCC"/>
              </a:solidFill>
            </a:endParaRP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3</a:t>
            </a:r>
            <a:r>
              <a:rPr lang="zh-CN" altLang="en-US" dirty="0">
                <a:solidFill>
                  <a:srgbClr val="66FFCC"/>
                </a:solidFill>
              </a:rPr>
              <a:t>.2  算术运算指令</a:t>
            </a:r>
            <a:endParaRPr lang="en-US" altLang="zh-CN" dirty="0">
              <a:solidFill>
                <a:srgbClr val="66FFCC"/>
              </a:solidFill>
            </a:endParaRP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3</a:t>
            </a:r>
            <a:r>
              <a:rPr lang="zh-CN" altLang="en-US" dirty="0">
                <a:solidFill>
                  <a:srgbClr val="66FFCC"/>
                </a:solidFill>
              </a:rPr>
              <a:t>.</a:t>
            </a:r>
            <a:r>
              <a:rPr lang="en-US" altLang="zh-CN" dirty="0">
                <a:solidFill>
                  <a:srgbClr val="66FFCC"/>
                </a:solidFill>
              </a:rPr>
              <a:t>3  </a:t>
            </a:r>
            <a:r>
              <a:rPr lang="zh-CN" altLang="en-US" dirty="0">
                <a:solidFill>
                  <a:srgbClr val="66FFCC"/>
                </a:solidFill>
              </a:rPr>
              <a:t>逻辑运算和移位指令</a:t>
            </a:r>
            <a:endParaRPr lang="en-US" altLang="zh-CN" dirty="0">
              <a:solidFill>
                <a:srgbClr val="66FFCC"/>
              </a:solidFill>
            </a:endParaRP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3</a:t>
            </a:r>
            <a:r>
              <a:rPr lang="zh-CN" altLang="en-US" dirty="0">
                <a:solidFill>
                  <a:srgbClr val="66FFCC"/>
                </a:solidFill>
              </a:rPr>
              <a:t>.</a:t>
            </a:r>
            <a:r>
              <a:rPr lang="en-US" altLang="zh-CN" dirty="0">
                <a:solidFill>
                  <a:srgbClr val="66FFCC"/>
                </a:solidFill>
              </a:rPr>
              <a:t>4  </a:t>
            </a:r>
            <a:r>
              <a:rPr lang="zh-CN" altLang="en-US" dirty="0">
                <a:solidFill>
                  <a:srgbClr val="66FFCC"/>
                </a:solidFill>
              </a:rPr>
              <a:t>串操作指令</a:t>
            </a: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3</a:t>
            </a:r>
            <a:r>
              <a:rPr lang="zh-CN" altLang="en-US" dirty="0">
                <a:solidFill>
                  <a:srgbClr val="66FFCC"/>
                </a:solidFill>
              </a:rPr>
              <a:t>.</a:t>
            </a:r>
            <a:r>
              <a:rPr lang="en-US" altLang="zh-CN" dirty="0">
                <a:solidFill>
                  <a:srgbClr val="66FFCC"/>
                </a:solidFill>
              </a:rPr>
              <a:t>5  </a:t>
            </a:r>
            <a:r>
              <a:rPr lang="zh-CN" altLang="en-US" dirty="0">
                <a:solidFill>
                  <a:srgbClr val="66FFCC"/>
                </a:solidFill>
              </a:rPr>
              <a:t>程序控制指令</a:t>
            </a:r>
            <a:endParaRPr lang="en-US" altLang="zh-CN" dirty="0">
              <a:solidFill>
                <a:srgbClr val="66FFCC"/>
              </a:solidFill>
            </a:endParaRPr>
          </a:p>
          <a:p>
            <a:pPr eaLnBrk="1" hangingPunct="1">
              <a:buNone/>
            </a:pPr>
            <a:r>
              <a:rPr lang="en-US" altLang="zh-CN" dirty="0">
                <a:solidFill>
                  <a:srgbClr val="66FFCC"/>
                </a:solidFill>
              </a:rPr>
              <a:t>3</a:t>
            </a:r>
            <a:r>
              <a:rPr lang="zh-CN" altLang="en-US" dirty="0">
                <a:solidFill>
                  <a:srgbClr val="66FFCC"/>
                </a:solidFill>
              </a:rPr>
              <a:t>.</a:t>
            </a:r>
            <a:r>
              <a:rPr lang="en-US" altLang="zh-CN" dirty="0">
                <a:solidFill>
                  <a:srgbClr val="66FFCC"/>
                </a:solidFill>
              </a:rPr>
              <a:t>3</a:t>
            </a:r>
            <a:r>
              <a:rPr lang="zh-CN" altLang="en-US" dirty="0">
                <a:solidFill>
                  <a:srgbClr val="66FFCC"/>
                </a:solidFill>
              </a:rPr>
              <a:t>.</a:t>
            </a:r>
            <a:r>
              <a:rPr lang="en-US" altLang="zh-CN" dirty="0">
                <a:solidFill>
                  <a:srgbClr val="66FFCC"/>
                </a:solidFill>
              </a:rPr>
              <a:t>6  </a:t>
            </a:r>
            <a:r>
              <a:rPr lang="zh-CN" altLang="en-US" dirty="0">
                <a:solidFill>
                  <a:srgbClr val="66FFCC"/>
                </a:solidFill>
              </a:rPr>
              <a:t>处理器控制指令</a:t>
            </a:r>
            <a:endParaRPr lang="en-US" altLang="zh-CN" dirty="0">
              <a:solidFill>
                <a:srgbClr val="66FFCC"/>
              </a:solidFill>
            </a:endParaRPr>
          </a:p>
          <a:p>
            <a:pPr eaLnBrk="1" hangingPunct="1">
              <a:buNone/>
            </a:pPr>
            <a:endParaRPr lang="zh-CN" altLang="en-US" dirty="0">
              <a:solidFill>
                <a:srgbClr val="66FFCC"/>
              </a:solidFill>
            </a:endParaRPr>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2770" name="矩形 4"/>
          <p:cNvSpPr/>
          <p:nvPr/>
        </p:nvSpPr>
        <p:spPr>
          <a:xfrm>
            <a:off x="0" y="1397000"/>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．通用数据传送指令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32771" name="矩形 5"/>
          <p:cNvSpPr/>
          <p:nvPr/>
        </p:nvSpPr>
        <p:spPr>
          <a:xfrm>
            <a:off x="369888" y="1955800"/>
            <a:ext cx="8493125" cy="1570038"/>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通用数据传送指令包括 </a:t>
            </a:r>
            <a:r>
              <a:rPr lang="en-US" altLang="zh-CN" dirty="0">
                <a:latin typeface="Times New Roman" panose="02020603050405020304" pitchFamily="18" charset="0"/>
                <a:ea typeface="宋体" panose="02010600030101010101" pitchFamily="2" charset="-122"/>
              </a:rPr>
              <a:t>MOV</a:t>
            </a:r>
            <a:r>
              <a:rPr lang="zh-CN" altLang="en-US" dirty="0">
                <a:latin typeface="Times New Roman" panose="02020603050405020304" pitchFamily="18" charset="0"/>
                <a:ea typeface="宋体" panose="02010600030101010101" pitchFamily="2" charset="-122"/>
              </a:rPr>
              <a:t>（一般传送）指令、 </a:t>
            </a:r>
            <a:r>
              <a:rPr lang="en-US" altLang="zh-CN" dirty="0">
                <a:latin typeface="Times New Roman" panose="02020603050405020304" pitchFamily="18" charset="0"/>
                <a:ea typeface="宋体" panose="02010600030101010101" pitchFamily="2" charset="-122"/>
              </a:rPr>
              <a:t>PUSH </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POP</a:t>
            </a:r>
            <a:r>
              <a:rPr lang="zh-CN" altLang="en-US" dirty="0">
                <a:latin typeface="Times New Roman" panose="02020603050405020304" pitchFamily="18" charset="0"/>
                <a:ea typeface="宋体" panose="02010600030101010101" pitchFamily="2" charset="-122"/>
              </a:rPr>
              <a:t>（堆栈操作）指令、 </a:t>
            </a:r>
            <a:r>
              <a:rPr lang="en-US" altLang="zh-CN" dirty="0">
                <a:latin typeface="Times New Roman" panose="02020603050405020304" pitchFamily="18" charset="0"/>
                <a:ea typeface="宋体" panose="02010600030101010101" pitchFamily="2" charset="-122"/>
              </a:rPr>
              <a:t>XCHG</a:t>
            </a:r>
            <a:r>
              <a:rPr lang="zh-CN" altLang="en-US" dirty="0">
                <a:latin typeface="Times New Roman" panose="02020603050405020304" pitchFamily="18" charset="0"/>
                <a:ea typeface="宋体" panose="02010600030101010101" pitchFamily="2" charset="-122"/>
              </a:rPr>
              <a:t>（交换）指令和 </a:t>
            </a:r>
            <a:r>
              <a:rPr lang="en-US" altLang="zh-CN" dirty="0">
                <a:latin typeface="Times New Roman" panose="02020603050405020304" pitchFamily="18" charset="0"/>
                <a:ea typeface="宋体" panose="02010600030101010101" pitchFamily="2" charset="-122"/>
              </a:rPr>
              <a:t>XLAT</a:t>
            </a:r>
            <a:r>
              <a:rPr lang="zh-CN" altLang="en-US" dirty="0">
                <a:latin typeface="Times New Roman" panose="02020603050405020304" pitchFamily="18" charset="0"/>
                <a:ea typeface="宋体" panose="02010600030101010101" pitchFamily="2" charset="-122"/>
              </a:rPr>
              <a:t>（查表转换）指令。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32772" name="矩形 6"/>
          <p:cNvSpPr/>
          <p:nvPr/>
        </p:nvSpPr>
        <p:spPr>
          <a:xfrm>
            <a:off x="131763" y="3236913"/>
            <a:ext cx="8634412" cy="3341687"/>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）一般传送指令 </a:t>
            </a:r>
            <a:r>
              <a:rPr lang="en-US" altLang="zh-CN" dirty="0">
                <a:solidFill>
                  <a:srgbClr val="FFC000"/>
                </a:solidFill>
                <a:latin typeface="Times New Roman" panose="02020603050405020304" pitchFamily="18" charset="0"/>
                <a:ea typeface="宋体" panose="02010600030101010101" pitchFamily="2" charset="-122"/>
              </a:rPr>
              <a:t>MOV</a:t>
            </a:r>
            <a:r>
              <a:rPr lang="zh-CN" altLang="en-US" dirty="0">
                <a:solidFill>
                  <a:srgbClr val="FFC000"/>
                </a:solidFill>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MOV  DST,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SRC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DST←SRC</a:t>
            </a:r>
          </a:p>
          <a:p>
            <a:pPr>
              <a:lnSpc>
                <a:spcPct val="100000"/>
              </a:lnSpc>
            </a:pPr>
            <a:r>
              <a:rPr lang="zh-CN" altLang="en-US" dirty="0">
                <a:latin typeface="Times New Roman" panose="02020603050405020304" pitchFamily="18" charset="0"/>
                <a:ea typeface="宋体" panose="02010600030101010101" pitchFamily="2" charset="-122"/>
              </a:rPr>
              <a:t>指令功能</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将源操作数 </a:t>
            </a:r>
            <a:r>
              <a:rPr lang="en-US" altLang="zh-CN" dirty="0">
                <a:latin typeface="Times New Roman" panose="02020603050405020304" pitchFamily="18" charset="0"/>
                <a:ea typeface="宋体" panose="02010600030101010101" pitchFamily="2" charset="-122"/>
              </a:rPr>
              <a:t>SRC</a:t>
            </a:r>
            <a:r>
              <a:rPr lang="zh-CN" altLang="en-US" dirty="0">
                <a:latin typeface="Times New Roman" panose="02020603050405020304" pitchFamily="18" charset="0"/>
                <a:ea typeface="宋体" panose="02010600030101010101" pitchFamily="2" charset="-122"/>
              </a:rPr>
              <a:t>的内容传送到目标操作数 </a:t>
            </a:r>
            <a:r>
              <a:rPr lang="en-US" altLang="zh-CN" dirty="0">
                <a:latin typeface="Times New Roman" panose="02020603050405020304" pitchFamily="18" charset="0"/>
                <a:ea typeface="宋体" panose="02010600030101010101" pitchFamily="2" charset="-122"/>
              </a:rPr>
              <a:t>DST </a:t>
            </a:r>
            <a:r>
              <a:rPr lang="zh-CN" altLang="en-US" dirty="0">
                <a:latin typeface="Times New Roman" panose="02020603050405020304" pitchFamily="18" charset="0"/>
                <a:ea typeface="宋体" panose="02010600030101010101" pitchFamily="2" charset="-122"/>
              </a:rPr>
              <a:t>中。</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1</a:t>
            </a:r>
            <a:r>
              <a:rPr lang="zh-CN" altLang="en-US" dirty="0">
                <a:latin typeface="Times New Roman" panose="02020603050405020304" pitchFamily="18" charset="0"/>
                <a:ea typeface="宋体" panose="02010600030101010101" pitchFamily="2" charset="-122"/>
              </a:rPr>
              <a:t>）指令特点</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        ①既可以传送字节操作数，也可以传送字操作数。一次传送的数到底是字节还是字取决于指令中涉及的寄存器是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位还是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        ②可以使用 </a:t>
            </a:r>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节讨论过的各种寻址方式。</a:t>
            </a:r>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3794" name="矩形 2"/>
          <p:cNvSpPr/>
          <p:nvPr/>
        </p:nvSpPr>
        <p:spPr>
          <a:xfrm>
            <a:off x="712788" y="1546225"/>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）指令实现的操作</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33795" name="矩形 3"/>
          <p:cNvSpPr/>
          <p:nvPr/>
        </p:nvSpPr>
        <p:spPr>
          <a:xfrm>
            <a:off x="695325" y="1890713"/>
            <a:ext cx="8008938" cy="4745037"/>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①寄存器与寄存器、寄存器与段寄存器之间的传送，如：</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MOV BX, SI</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MOV DS, AX</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②寄存器与存储器之间的传送，如：</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MOV [1000H], DX</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MOV AX, [1200H]</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MOV AH, [1200H]</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③立即数到寄存器、立即数到存储单元，如：</a:t>
            </a:r>
            <a:endParaRPr lang="en-US" altLang="zh-CN" dirty="0">
              <a:latin typeface="Times New Roman" panose="02020603050405020304" pitchFamily="18" charset="0"/>
              <a:ea typeface="宋体" panose="02010600030101010101" pitchFamily="2" charset="-122"/>
            </a:endParaRPr>
          </a:p>
          <a:p>
            <a:pPr>
              <a:lnSpc>
                <a:spcPct val="100000"/>
              </a:lnSpc>
            </a:pPr>
            <a:r>
              <a:rPr lang="pt-BR" altLang="zh-CN" dirty="0">
                <a:latin typeface="Times New Roman" panose="02020603050405020304" pitchFamily="18" charset="0"/>
                <a:ea typeface="宋体" panose="02010600030101010101" pitchFamily="2" charset="-122"/>
              </a:rPr>
              <a:t>                                      MOV [1000H], 10H</a:t>
            </a:r>
            <a:br>
              <a:rPr lang="pt-BR" altLang="zh-CN" dirty="0">
                <a:latin typeface="Times New Roman" panose="02020603050405020304" pitchFamily="18" charset="0"/>
                <a:ea typeface="宋体" panose="02010600030101010101" pitchFamily="2" charset="-122"/>
              </a:rPr>
            </a:br>
            <a:r>
              <a:rPr lang="pt-BR" altLang="zh-CN" dirty="0">
                <a:latin typeface="Times New Roman" panose="02020603050405020304" pitchFamily="18" charset="0"/>
                <a:ea typeface="宋体" panose="02010600030101010101" pitchFamily="2" charset="-122"/>
              </a:rPr>
              <a:t>                                      MOV AX, 1020H</a:t>
            </a:r>
            <a:br>
              <a:rPr lang="pt-BR"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④存储器与段寄存器之间的传送，如：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MOV DS, [1020H]</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4818" name="矩形 2"/>
          <p:cNvSpPr/>
          <p:nvPr/>
        </p:nvSpPr>
        <p:spPr>
          <a:xfrm>
            <a:off x="201613" y="1441450"/>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）指令对操作数的要求</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34819" name="矩形 3"/>
          <p:cNvSpPr/>
          <p:nvPr/>
        </p:nvSpPr>
        <p:spPr>
          <a:xfrm>
            <a:off x="246063" y="1963738"/>
            <a:ext cx="8731250" cy="3563937"/>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①</a:t>
            </a:r>
            <a:r>
              <a:rPr lang="en-US" altLang="zh-CN" dirty="0">
                <a:latin typeface="Times New Roman" panose="02020603050405020304" pitchFamily="18" charset="0"/>
                <a:ea typeface="宋体" panose="02010600030101010101" pitchFamily="2" charset="-122"/>
              </a:rPr>
              <a:t>MOV </a:t>
            </a:r>
            <a:r>
              <a:rPr lang="zh-CN" altLang="en-US" dirty="0">
                <a:latin typeface="Times New Roman" panose="02020603050405020304" pitchFamily="18" charset="0"/>
                <a:ea typeface="宋体" panose="02010600030101010101" pitchFamily="2" charset="-122"/>
              </a:rPr>
              <a:t>指令中两个操作数字长必须相同，可同为字节或字操作数，这决定于寄存器是 </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位还是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位，也取决于立即数的形式。</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        ②两个操作数不能同时为存储器操作数或段寄存器。</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③立即数不能传送到段寄存器中。</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        ④一般情况下， 段寄存器 </a:t>
            </a:r>
            <a:r>
              <a:rPr lang="en-US" altLang="zh-CN" dirty="0">
                <a:latin typeface="Times New Roman" panose="02020603050405020304" pitchFamily="18" charset="0"/>
                <a:ea typeface="宋体" panose="02010600030101010101" pitchFamily="2" charset="-122"/>
              </a:rPr>
              <a:t>CS </a:t>
            </a:r>
            <a:r>
              <a:rPr lang="zh-CN" altLang="en-US" dirty="0">
                <a:latin typeface="Times New Roman" panose="02020603050405020304" pitchFamily="18" charset="0"/>
                <a:ea typeface="宋体" panose="02010600030101010101" pitchFamily="2" charset="-122"/>
              </a:rPr>
              <a:t>和指令指针寄存器 </a:t>
            </a:r>
            <a:r>
              <a:rPr lang="en-US" altLang="zh-CN"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不能作目标操作数， 只能为源操作数。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⑤虽然许多指令的执行都对状态寄存器 </a:t>
            </a:r>
            <a:r>
              <a:rPr lang="en-US" altLang="zh-CN" dirty="0">
                <a:latin typeface="Times New Roman" panose="02020603050405020304" pitchFamily="18" charset="0"/>
                <a:ea typeface="宋体" panose="02010600030101010101" pitchFamily="2" charset="-122"/>
              </a:rPr>
              <a:t>FLAGS </a:t>
            </a:r>
            <a:r>
              <a:rPr lang="zh-CN" altLang="en-US" dirty="0">
                <a:latin typeface="Times New Roman" panose="02020603050405020304" pitchFamily="18" charset="0"/>
                <a:ea typeface="宋体" panose="02010600030101010101" pitchFamily="2" charset="-122"/>
              </a:rPr>
              <a:t>的标志位产生影响，但通常情况下，</a:t>
            </a:r>
            <a:r>
              <a:rPr lang="en-US" altLang="zh-CN" dirty="0">
                <a:latin typeface="Times New Roman" panose="02020603050405020304" pitchFamily="18" charset="0"/>
                <a:ea typeface="宋体" panose="02010600030101010101" pitchFamily="2" charset="-122"/>
              </a:rPr>
              <a:t>FLAGS </a:t>
            </a:r>
            <a:r>
              <a:rPr lang="zh-CN" altLang="en-US" dirty="0">
                <a:latin typeface="Times New Roman" panose="02020603050405020304" pitchFamily="18" charset="0"/>
                <a:ea typeface="宋体" panose="02010600030101010101" pitchFamily="2" charset="-122"/>
              </a:rPr>
              <a:t>整体不作为操作数。</a:t>
            </a: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5842" name="矩形 2"/>
          <p:cNvSpPr/>
          <p:nvPr/>
        </p:nvSpPr>
        <p:spPr>
          <a:xfrm>
            <a:off x="114300" y="1450975"/>
            <a:ext cx="4572000" cy="755650"/>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）堆栈操作指令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35843" name="矩形 3"/>
          <p:cNvSpPr/>
          <p:nvPr/>
        </p:nvSpPr>
        <p:spPr>
          <a:xfrm>
            <a:off x="519113" y="1943100"/>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）堆栈的概念</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35844" name="矩形 4"/>
          <p:cNvSpPr/>
          <p:nvPr/>
        </p:nvSpPr>
        <p:spPr>
          <a:xfrm>
            <a:off x="404813" y="2373313"/>
            <a:ext cx="8361362" cy="1938337"/>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堆栈实际上是内存中的一个特定内存区域，在这个特定内存区域里有其规定的操作原则，即先进后出。 </a:t>
            </a:r>
            <a:r>
              <a:rPr lang="en-US" altLang="zh-CN" dirty="0">
                <a:latin typeface="Times New Roman" panose="02020603050405020304" pitchFamily="18" charset="0"/>
                <a:ea typeface="宋体" panose="02010600030101010101" pitchFamily="2" charset="-122"/>
              </a:rPr>
              <a:t>8086/8088 </a:t>
            </a:r>
            <a:r>
              <a:rPr lang="zh-CN" altLang="en-US" dirty="0">
                <a:latin typeface="Times New Roman" panose="02020603050405020304" pitchFamily="18" charset="0"/>
                <a:ea typeface="宋体" panose="02010600030101010101" pitchFamily="2" charset="-122"/>
              </a:rPr>
              <a:t>指令系统提供了专用的堆栈操作指令，即压入堆栈指令（压栈指令） </a:t>
            </a:r>
            <a:r>
              <a:rPr lang="en-US" altLang="zh-CN" dirty="0">
                <a:latin typeface="Times New Roman" panose="02020603050405020304" pitchFamily="18" charset="0"/>
                <a:ea typeface="宋体" panose="02010600030101010101" pitchFamily="2" charset="-122"/>
              </a:rPr>
              <a:t>PUSH</a:t>
            </a:r>
            <a:r>
              <a:rPr lang="zh-CN" altLang="en-US" dirty="0">
                <a:latin typeface="Times New Roman" panose="02020603050405020304" pitchFamily="18" charset="0"/>
                <a:ea typeface="宋体" panose="02010600030101010101" pitchFamily="2" charset="-122"/>
              </a:rPr>
              <a:t>和弹出堆栈指令（出栈指令） </a:t>
            </a:r>
            <a:r>
              <a:rPr lang="en-US" altLang="zh-CN" dirty="0">
                <a:latin typeface="Times New Roman" panose="02020603050405020304" pitchFamily="18" charset="0"/>
                <a:ea typeface="宋体" panose="02010600030101010101" pitchFamily="2" charset="-122"/>
              </a:rPr>
              <a:t>POP</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35845" name="矩形 5"/>
          <p:cNvSpPr/>
          <p:nvPr/>
        </p:nvSpPr>
        <p:spPr>
          <a:xfrm>
            <a:off x="377825" y="4043363"/>
            <a:ext cx="8204200" cy="2382837"/>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堆栈操作必须遵循以下原则：</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①堆栈操作必须是字操作，而且堆栈指令中的操作数只能是寄存器操作数或存储器操作数，不能是立即数。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6866" name="矩形 2"/>
          <p:cNvSpPr/>
          <p:nvPr/>
        </p:nvSpPr>
        <p:spPr>
          <a:xfrm>
            <a:off x="466725" y="1458913"/>
            <a:ext cx="4649788" cy="341630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②堆栈段在内存的位置由堆栈段寄存器 </a:t>
            </a:r>
            <a:r>
              <a:rPr lang="en-US" altLang="zh-CN" dirty="0">
                <a:latin typeface="Times New Roman" panose="02020603050405020304" pitchFamily="18" charset="0"/>
                <a:ea typeface="宋体" panose="02010600030101010101" pitchFamily="2" charset="-122"/>
              </a:rPr>
              <a:t>SS </a:t>
            </a:r>
            <a:r>
              <a:rPr lang="zh-CN" altLang="en-US" dirty="0">
                <a:latin typeface="Times New Roman" panose="02020603050405020304" pitchFamily="18" charset="0"/>
                <a:ea typeface="宋体" panose="02010600030101010101" pitchFamily="2" charset="-122"/>
              </a:rPr>
              <a:t>决定， </a:t>
            </a:r>
            <a:r>
              <a:rPr lang="en-US" altLang="zh-CN" dirty="0">
                <a:latin typeface="Times New Roman" panose="02020603050405020304" pitchFamily="18" charset="0"/>
                <a:ea typeface="宋体" panose="02010600030101010101" pitchFamily="2" charset="-122"/>
              </a:rPr>
              <a:t>SP </a:t>
            </a:r>
            <a:r>
              <a:rPr lang="zh-CN" altLang="en-US" dirty="0">
                <a:latin typeface="Times New Roman" panose="02020603050405020304" pitchFamily="18" charset="0"/>
                <a:ea typeface="宋体" panose="02010600030101010101" pitchFamily="2" charset="-122"/>
              </a:rPr>
              <a:t>寄存器作为堆栈的指针，其始终指向栈顶所在存储单元；由于对堆栈的操作按“先进后出”的原则进行，因此堆栈只有一个出入口，这个出入口就是栈顶，即 </a:t>
            </a:r>
            <a:r>
              <a:rPr lang="en-US" altLang="zh-CN" dirty="0">
                <a:latin typeface="Times New Roman" panose="02020603050405020304" pitchFamily="18" charset="0"/>
                <a:ea typeface="宋体" panose="02010600030101010101" pitchFamily="2" charset="-122"/>
              </a:rPr>
              <a:t>SP </a:t>
            </a:r>
            <a:r>
              <a:rPr lang="zh-CN" altLang="en-US" dirty="0">
                <a:latin typeface="Times New Roman" panose="02020603050405020304" pitchFamily="18" charset="0"/>
                <a:ea typeface="宋体" panose="02010600030101010101" pitchFamily="2" charset="-122"/>
              </a:rPr>
              <a:t>所指的位置，而栈底是固定不变的。堆栈区示意图如图 </a:t>
            </a:r>
            <a:r>
              <a:rPr lang="en-US" altLang="zh-CN" dirty="0">
                <a:latin typeface="Times New Roman" panose="02020603050405020304" pitchFamily="18" charset="0"/>
                <a:ea typeface="宋体" panose="02010600030101010101" pitchFamily="2" charset="-122"/>
              </a:rPr>
              <a:t>3-10 </a:t>
            </a:r>
            <a:r>
              <a:rPr lang="zh-CN" altLang="en-US" dirty="0">
                <a:latin typeface="Times New Roman" panose="02020603050405020304" pitchFamily="18" charset="0"/>
                <a:ea typeface="宋体" panose="02010600030101010101" pitchFamily="2" charset="-122"/>
              </a:rPr>
              <a:t>所示。</a:t>
            </a:r>
          </a:p>
        </p:txBody>
      </p:sp>
      <p:pic>
        <p:nvPicPr>
          <p:cNvPr id="36867" name="Picture 2"/>
          <p:cNvPicPr>
            <a:picLocks noChangeAspect="1"/>
          </p:cNvPicPr>
          <p:nvPr/>
        </p:nvPicPr>
        <p:blipFill>
          <a:blip r:embed="rId2"/>
          <a:stretch>
            <a:fillRect/>
          </a:stretch>
        </p:blipFill>
        <p:spPr>
          <a:xfrm>
            <a:off x="5129213" y="1397000"/>
            <a:ext cx="3808412" cy="3579813"/>
          </a:xfrm>
          <a:prstGeom prst="rect">
            <a:avLst/>
          </a:prstGeom>
          <a:noFill/>
          <a:ln w="9525">
            <a:noFill/>
          </a:ln>
        </p:spPr>
      </p:pic>
      <p:sp>
        <p:nvSpPr>
          <p:cNvPr id="36868" name="矩形 4"/>
          <p:cNvSpPr/>
          <p:nvPr/>
        </p:nvSpPr>
        <p:spPr>
          <a:xfrm>
            <a:off x="404813" y="5153025"/>
            <a:ext cx="8562975" cy="156845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③向堆栈中存放数据（压栈操作）时，总是从高地址向低地址方向变化，此时，</a:t>
            </a:r>
            <a:r>
              <a:rPr lang="en-US" altLang="zh-CN" dirty="0">
                <a:latin typeface="Times New Roman" panose="02020603050405020304" pitchFamily="18" charset="0"/>
                <a:ea typeface="宋体" panose="02010600030101010101" pitchFamily="2" charset="-122"/>
              </a:rPr>
              <a:t>SP </a:t>
            </a:r>
            <a:r>
              <a:rPr lang="zh-CN" altLang="en-US" dirty="0">
                <a:latin typeface="Times New Roman" panose="02020603050405020304" pitchFamily="18" charset="0"/>
                <a:ea typeface="宋体" panose="02010600030101010101" pitchFamily="2" charset="-122"/>
              </a:rPr>
              <a:t>的值变小；从堆栈中取数据出栈操作）时，总是从低地址向高地址方向变化， </a:t>
            </a:r>
            <a:r>
              <a:rPr lang="en-US" altLang="zh-CN" dirty="0">
                <a:latin typeface="Times New Roman" panose="02020603050405020304" pitchFamily="18" charset="0"/>
                <a:ea typeface="宋体" panose="02010600030101010101" pitchFamily="2" charset="-122"/>
              </a:rPr>
              <a:t>SP </a:t>
            </a:r>
            <a:r>
              <a:rPr lang="zh-CN" altLang="en-US" dirty="0">
                <a:latin typeface="Times New Roman" panose="02020603050405020304" pitchFamily="18" charset="0"/>
                <a:ea typeface="宋体" panose="02010600030101010101" pitchFamily="2" charset="-122"/>
              </a:rPr>
              <a:t>的值变大。由于只能是字操作， </a:t>
            </a:r>
            <a:r>
              <a:rPr lang="en-US" altLang="zh-CN" dirty="0">
                <a:latin typeface="Times New Roman" panose="02020603050405020304" pitchFamily="18" charset="0"/>
                <a:ea typeface="宋体" panose="02010600030101010101" pitchFamily="2" charset="-122"/>
              </a:rPr>
              <a:t>SP </a:t>
            </a:r>
            <a:r>
              <a:rPr lang="zh-CN" altLang="en-US" dirty="0">
                <a:latin typeface="Times New Roman" panose="02020603050405020304" pitchFamily="18" charset="0"/>
                <a:ea typeface="宋体" panose="02010600030101010101" pitchFamily="2" charset="-122"/>
              </a:rPr>
              <a:t>的变化量是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的倍数。</a:t>
            </a:r>
          </a:p>
        </p:txBody>
      </p:sp>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7890" name="矩形 2"/>
          <p:cNvSpPr/>
          <p:nvPr/>
        </p:nvSpPr>
        <p:spPr>
          <a:xfrm>
            <a:off x="201613" y="1476375"/>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）堆栈操作指令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37891" name="矩形 3"/>
          <p:cNvSpPr/>
          <p:nvPr/>
        </p:nvSpPr>
        <p:spPr>
          <a:xfrm>
            <a:off x="273050" y="2052638"/>
            <a:ext cx="8493125" cy="4376737"/>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堆栈操作指令共有两条，分别是压入堆栈指令（压栈指令） </a:t>
            </a:r>
            <a:r>
              <a:rPr lang="en-US" altLang="zh-CN" dirty="0">
                <a:latin typeface="Times New Roman" panose="02020603050405020304" pitchFamily="18" charset="0"/>
                <a:ea typeface="宋体" panose="02010600030101010101" pitchFamily="2" charset="-122"/>
              </a:rPr>
              <a:t>PUSH </a:t>
            </a:r>
            <a:r>
              <a:rPr lang="zh-CN" altLang="en-US" dirty="0">
                <a:latin typeface="Times New Roman" panose="02020603050405020304" pitchFamily="18" charset="0"/>
                <a:ea typeface="宋体" panose="02010600030101010101" pitchFamily="2" charset="-122"/>
              </a:rPr>
              <a:t>和弹出堆栈指令（出栈指令） </a:t>
            </a:r>
            <a:r>
              <a:rPr lang="en-US" altLang="zh-CN" dirty="0">
                <a:latin typeface="Times New Roman" panose="02020603050405020304" pitchFamily="18" charset="0"/>
                <a:ea typeface="宋体" panose="02010600030101010101" pitchFamily="2" charset="-122"/>
              </a:rPr>
              <a:t>POP</a:t>
            </a:r>
            <a:r>
              <a:rPr lang="zh-CN" altLang="en-US" dirty="0">
                <a:latin typeface="Times New Roman" panose="02020603050405020304" pitchFamily="18" charset="0"/>
                <a:ea typeface="宋体" panose="02010600030101010101" pitchFamily="2" charset="-122"/>
              </a:rPr>
              <a:t>。其格式是：</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PUSH  SRC</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POP  DST</a:t>
            </a:r>
          </a:p>
          <a:p>
            <a:pPr>
              <a:lnSpc>
                <a:spcPct val="100000"/>
              </a:lnSpc>
            </a:pPr>
            <a:r>
              <a:rPr lang="zh-CN" altLang="en-US" dirty="0">
                <a:latin typeface="Times New Roman" panose="02020603050405020304" pitchFamily="18" charset="0"/>
                <a:ea typeface="宋体" panose="02010600030101010101" pitchFamily="2" charset="-122"/>
              </a:rPr>
              <a:t>        指令中的操作数 </a:t>
            </a:r>
            <a:r>
              <a:rPr lang="en-US" altLang="zh-CN" dirty="0">
                <a:latin typeface="Times New Roman" panose="02020603050405020304" pitchFamily="18" charset="0"/>
                <a:ea typeface="宋体" panose="02010600030101010101" pitchFamily="2" charset="-122"/>
              </a:rPr>
              <a:t>SRC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DST </a:t>
            </a:r>
            <a:r>
              <a:rPr lang="zh-CN" altLang="en-US" dirty="0">
                <a:latin typeface="Times New Roman" panose="02020603050405020304" pitchFamily="18" charset="0"/>
                <a:ea typeface="宋体" panose="02010600030101010101" pitchFamily="2" charset="-122"/>
              </a:rPr>
              <a:t>必须为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位的字操作数，它们可以是：</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①</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位的通用寄存器或段寄存器（ </a:t>
            </a:r>
            <a:r>
              <a:rPr lang="en-US" altLang="zh-CN" dirty="0">
                <a:latin typeface="Times New Roman" panose="02020603050405020304" pitchFamily="18" charset="0"/>
                <a:ea typeface="宋体" panose="02010600030101010101" pitchFamily="2" charset="-122"/>
              </a:rPr>
              <a:t>CS </a:t>
            </a:r>
            <a:r>
              <a:rPr lang="zh-CN" altLang="en-US" dirty="0">
                <a:latin typeface="Times New Roman" panose="02020603050405020304" pitchFamily="18" charset="0"/>
                <a:ea typeface="宋体" panose="02010600030101010101" pitchFamily="2" charset="-122"/>
              </a:rPr>
              <a:t>除外， </a:t>
            </a:r>
            <a:r>
              <a:rPr lang="en-US" altLang="zh-CN" dirty="0">
                <a:latin typeface="Times New Roman" panose="02020603050405020304" pitchFamily="18" charset="0"/>
                <a:ea typeface="宋体" panose="02010600030101010101" pitchFamily="2" charset="-122"/>
              </a:rPr>
              <a:t>PUSH CS </a:t>
            </a:r>
            <a:r>
              <a:rPr lang="zh-CN" altLang="en-US" dirty="0">
                <a:latin typeface="Times New Roman" panose="02020603050405020304" pitchFamily="18" charset="0"/>
                <a:ea typeface="宋体" panose="02010600030101010101" pitchFamily="2" charset="-122"/>
              </a:rPr>
              <a:t>指令是合法的，而 </a:t>
            </a:r>
            <a:r>
              <a:rPr lang="en-US" altLang="zh-CN" dirty="0">
                <a:latin typeface="Times New Roman" panose="02020603050405020304" pitchFamily="18" charset="0"/>
                <a:ea typeface="宋体" panose="02010600030101010101" pitchFamily="2" charset="-122"/>
              </a:rPr>
              <a:t>POP CS </a:t>
            </a:r>
            <a:r>
              <a:rPr lang="zh-CN" altLang="en-US" dirty="0">
                <a:latin typeface="Times New Roman" panose="02020603050405020304" pitchFamily="18" charset="0"/>
                <a:ea typeface="宋体" panose="02010600030101010101" pitchFamily="2" charset="-122"/>
              </a:rPr>
              <a:t>指令是非法的）；</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②存储器单元（地址连续的两个储存单元）。</a:t>
            </a:r>
            <a:br>
              <a:rPr lang="zh-CN" altLang="en-US" dirty="0">
                <a:latin typeface="Times New Roman" panose="02020603050405020304" pitchFamily="18" charset="0"/>
                <a:ea typeface="宋体" panose="02010600030101010101" pitchFamily="2" charset="-122"/>
              </a:rPr>
            </a:b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8914" name="矩形 2"/>
          <p:cNvSpPr/>
          <p:nvPr/>
        </p:nvSpPr>
        <p:spPr>
          <a:xfrm>
            <a:off x="149225" y="1450975"/>
            <a:ext cx="4572000" cy="755650"/>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）堆栈操作指令的执行过程 </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38915" name="矩形 3"/>
          <p:cNvSpPr/>
          <p:nvPr/>
        </p:nvSpPr>
        <p:spPr>
          <a:xfrm>
            <a:off x="369888" y="1863725"/>
            <a:ext cx="8369300" cy="4745038"/>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①压栈指令执行过程</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         压栈指令“ </a:t>
            </a:r>
            <a:r>
              <a:rPr lang="en-US" altLang="zh-CN" dirty="0">
                <a:latin typeface="Times New Roman" panose="02020603050405020304" pitchFamily="18" charset="0"/>
                <a:ea typeface="宋体" panose="02010600030101010101" pitchFamily="2" charset="-122"/>
              </a:rPr>
              <a:t>PUSH OPRD</a:t>
            </a:r>
            <a:r>
              <a:rPr lang="zh-CN" altLang="en-US" dirty="0">
                <a:latin typeface="Times New Roman" panose="02020603050405020304" pitchFamily="18" charset="0"/>
                <a:ea typeface="宋体" panose="02010600030101010101" pitchFamily="2" charset="-122"/>
              </a:rPr>
              <a:t>”是将指令中指定的字操作数压入堆栈，指令的执行过程为：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 </a:t>
            </a:r>
            <a:r>
              <a:rPr lang="zh-CN" altLang="en-US" dirty="0">
                <a:latin typeface="Times New Roman" panose="02020603050405020304" pitchFamily="18" charset="0"/>
                <a:ea typeface="宋体" panose="02010600030101010101" pitchFamily="2" charset="-122"/>
              </a:rPr>
              <a:t>的高字节 →</a:t>
            </a:r>
            <a:r>
              <a:rPr lang="en-US" altLang="zh-CN" dirty="0">
                <a:latin typeface="Times New Roman" panose="02020603050405020304" pitchFamily="18" charset="0"/>
                <a:ea typeface="宋体" panose="02010600030101010101" pitchFamily="2" charset="-122"/>
              </a:rPr>
              <a:t>(SP-1)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 </a:t>
            </a:r>
            <a:r>
              <a:rPr lang="zh-CN" altLang="en-US" dirty="0">
                <a:latin typeface="Times New Roman" panose="02020603050405020304" pitchFamily="18" charset="0"/>
                <a:ea typeface="宋体" panose="02010600030101010101" pitchFamily="2" charset="-122"/>
              </a:rPr>
              <a:t>的低字节 →</a:t>
            </a:r>
            <a:r>
              <a:rPr lang="en-US" altLang="zh-CN" dirty="0">
                <a:latin typeface="Times New Roman" panose="02020603050405020304" pitchFamily="18" charset="0"/>
                <a:ea typeface="宋体" panose="02010600030101010101" pitchFamily="2" charset="-122"/>
              </a:rPr>
              <a:t>(SP-2)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SP-2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p>
          <a:p>
            <a:pPr>
              <a:lnSpc>
                <a:spcPct val="100000"/>
              </a:lnSpc>
            </a:pPr>
            <a:r>
              <a:rPr lang="zh-CN" altLang="en-US" dirty="0">
                <a:latin typeface="Times New Roman" panose="02020603050405020304" pitchFamily="18" charset="0"/>
                <a:ea typeface="宋体" panose="02010600030101010101" pitchFamily="2" charset="-122"/>
              </a:rPr>
              <a:t>②出栈指令执行过程</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出栈指令“ </a:t>
            </a:r>
            <a:r>
              <a:rPr lang="en-US" altLang="zh-CN" dirty="0">
                <a:latin typeface="Times New Roman" panose="02020603050405020304" pitchFamily="18" charset="0"/>
                <a:ea typeface="宋体" panose="02010600030101010101" pitchFamily="2" charset="-122"/>
              </a:rPr>
              <a:t>POP OPRD</a:t>
            </a:r>
            <a:r>
              <a:rPr lang="zh-CN" altLang="en-US" dirty="0">
                <a:latin typeface="Times New Roman" panose="02020603050405020304" pitchFamily="18" charset="0"/>
                <a:ea typeface="宋体" panose="02010600030101010101" pitchFamily="2" charset="-122"/>
              </a:rPr>
              <a:t>”是将当前栈顶的一个字送到指令指定的目标地址，指令的执行过程为：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(SP)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 </a:t>
            </a:r>
            <a:r>
              <a:rPr lang="zh-CN" altLang="en-US" dirty="0">
                <a:latin typeface="Times New Roman" panose="02020603050405020304" pitchFamily="18" charset="0"/>
                <a:ea typeface="宋体" panose="02010600030101010101" pitchFamily="2" charset="-122"/>
              </a:rPr>
              <a:t>的低字节 </a:t>
            </a:r>
            <a:r>
              <a:rPr lang="en-US" altLang="zh-CN" dirty="0">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(SP+1)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 </a:t>
            </a:r>
            <a:r>
              <a:rPr lang="zh-CN" altLang="en-US" dirty="0">
                <a:latin typeface="Times New Roman" panose="02020603050405020304" pitchFamily="18" charset="0"/>
                <a:ea typeface="宋体" panose="02010600030101010101" pitchFamily="2" charset="-122"/>
              </a:rPr>
              <a:t>的高字节 </a:t>
            </a:r>
            <a:r>
              <a:rPr lang="en-US" altLang="zh-CN" dirty="0">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SP+2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9938" name="矩形 2"/>
          <p:cNvSpPr/>
          <p:nvPr/>
        </p:nvSpPr>
        <p:spPr>
          <a:xfrm>
            <a:off x="246063" y="1379538"/>
            <a:ext cx="4572000" cy="757237"/>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）堆栈操作注意事项</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39939" name="矩形 3"/>
          <p:cNvSpPr/>
          <p:nvPr/>
        </p:nvSpPr>
        <p:spPr>
          <a:xfrm>
            <a:off x="333375" y="2001838"/>
            <a:ext cx="8616950" cy="422910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①堆栈栈顶隐含寻址，这个操作数就是 </a:t>
            </a:r>
            <a:r>
              <a:rPr lang="en-US" altLang="zh-CN" dirty="0">
                <a:latin typeface="Times New Roman" panose="02020603050405020304" pitchFamily="18" charset="0"/>
                <a:ea typeface="宋体" panose="02010600030101010101" pitchFamily="2" charset="-122"/>
              </a:rPr>
              <a:t>SP </a:t>
            </a:r>
            <a:r>
              <a:rPr lang="zh-CN" altLang="en-US" dirty="0">
                <a:latin typeface="Times New Roman" panose="02020603050405020304" pitchFamily="18" charset="0"/>
                <a:ea typeface="宋体" panose="02010600030101010101" pitchFamily="2" charset="-122"/>
              </a:rPr>
              <a:t>指示的栈顶存储单元。堆栈操作指令的操作数不能是立即数。对于操作数是段寄存器的情况， 需要注意代码段寄存器 </a:t>
            </a:r>
            <a:r>
              <a:rPr lang="en-US" altLang="zh-CN"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CS </a:t>
            </a:r>
            <a:r>
              <a:rPr lang="zh-CN" altLang="en-US" dirty="0">
                <a:latin typeface="Times New Roman" panose="02020603050405020304" pitchFamily="18" charset="0"/>
                <a:ea typeface="宋体" panose="02010600030101010101" pitchFamily="2" charset="-122"/>
              </a:rPr>
              <a:t>寄存器可进栈， 但不能随意弹出一个数据到 </a:t>
            </a:r>
            <a:r>
              <a:rPr lang="en-US" altLang="zh-CN"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②堆栈操作总是以字为单位进行，不允许对字节或者双字进行操作。</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③在使用堆栈操作保存多个寄存器内容和恢复多个寄存器时，要按“先进后出”原则来组织进栈和出栈的顺序。保存数据入栈顺序和恢复数据出栈次序相反。</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④堆栈的容量有限，一般而言，进栈和出栈要成对出现，否则将有数据残留在堆栈中，时间一长，堆栈会满的。</a:t>
            </a:r>
          </a:p>
        </p:txBody>
      </p:sp>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40962" name="矩形 2"/>
          <p:cNvSpPr/>
          <p:nvPr/>
        </p:nvSpPr>
        <p:spPr>
          <a:xfrm>
            <a:off x="0" y="1379538"/>
            <a:ext cx="4572000" cy="757237"/>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）交换指令 </a:t>
            </a:r>
            <a:r>
              <a:rPr lang="en-US" altLang="zh-CN" dirty="0">
                <a:solidFill>
                  <a:srgbClr val="FFC000"/>
                </a:solidFill>
                <a:latin typeface="Times New Roman" panose="02020603050405020304" pitchFamily="18" charset="0"/>
                <a:ea typeface="宋体" panose="02010600030101010101" pitchFamily="2" charset="-122"/>
              </a:rPr>
              <a:t>XCHG</a:t>
            </a:r>
            <a:br>
              <a:rPr lang="en-US" altLang="zh-CN"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40963" name="矩形 3"/>
          <p:cNvSpPr/>
          <p:nvPr/>
        </p:nvSpPr>
        <p:spPr>
          <a:xfrm>
            <a:off x="352425" y="2219325"/>
            <a:ext cx="8272463" cy="3859213"/>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XCHG DST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SRC </a:t>
            </a:r>
            <a:r>
              <a:rPr lang="zh-CN" altLang="en-US" dirty="0">
                <a:latin typeface="Times New Roman" panose="02020603050405020304" pitchFamily="18" charset="0"/>
                <a:ea typeface="宋体" panose="02010600030101010101" pitchFamily="2" charset="-122"/>
              </a:rPr>
              <a:t>；交换 </a:t>
            </a:r>
            <a:r>
              <a:rPr lang="en-US" altLang="zh-CN" dirty="0">
                <a:latin typeface="Times New Roman" panose="02020603050405020304" pitchFamily="18" charset="0"/>
                <a:ea typeface="宋体" panose="02010600030101010101" pitchFamily="2" charset="-122"/>
              </a:rPr>
              <a:t>DST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SRC </a:t>
            </a:r>
            <a:r>
              <a:rPr lang="zh-CN" altLang="en-US" dirty="0">
                <a:latin typeface="Times New Roman" panose="02020603050405020304" pitchFamily="18" charset="0"/>
                <a:ea typeface="宋体" panose="02010600030101010101" pitchFamily="2" charset="-122"/>
              </a:rPr>
              <a:t>的内容</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指令功能：交换指令 </a:t>
            </a:r>
            <a:r>
              <a:rPr lang="en-US" altLang="zh-CN" dirty="0">
                <a:latin typeface="Times New Roman" panose="02020603050405020304" pitchFamily="18" charset="0"/>
                <a:ea typeface="宋体" panose="02010600030101010101" pitchFamily="2" charset="-122"/>
              </a:rPr>
              <a:t>XCHG</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Exchange</a:t>
            </a:r>
            <a:r>
              <a:rPr lang="zh-CN" altLang="en-US" dirty="0">
                <a:latin typeface="Times New Roman" panose="02020603050405020304" pitchFamily="18" charset="0"/>
                <a:ea typeface="宋体" panose="02010600030101010101" pitchFamily="2" charset="-122"/>
              </a:rPr>
              <a:t>）使得源操作数和目标操作数的内容进行了交换。</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注意事项：</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①源操作数和目标操作数可以是寄存器和存储器，但不能同时为存储器；</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②段寄存器和立即数不能作为操作数来使用；</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③源操作数和目标操作数的字长必须一致，可以是字交换，也可以是字节交换；</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④</a:t>
            </a:r>
            <a:r>
              <a:rPr lang="en-US" altLang="zh-CN" dirty="0">
                <a:latin typeface="Times New Roman" panose="02020603050405020304" pitchFamily="18" charset="0"/>
                <a:ea typeface="宋体" panose="02010600030101010101" pitchFamily="2" charset="-122"/>
              </a:rPr>
              <a:t>CS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不能作为操作数。</a:t>
            </a:r>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41986" name="矩形 2"/>
          <p:cNvSpPr/>
          <p:nvPr/>
        </p:nvSpPr>
        <p:spPr>
          <a:xfrm>
            <a:off x="193675" y="1495425"/>
            <a:ext cx="8766175" cy="5003800"/>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）查表指令 </a:t>
            </a:r>
            <a:r>
              <a:rPr lang="en-US" altLang="zh-CN" dirty="0">
                <a:solidFill>
                  <a:srgbClr val="FFC000"/>
                </a:solidFill>
                <a:latin typeface="Times New Roman" panose="02020603050405020304" pitchFamily="18" charset="0"/>
                <a:ea typeface="宋体" panose="02010600030101010101" pitchFamily="2" charset="-122"/>
              </a:rPr>
              <a:t>XLAT</a:t>
            </a:r>
            <a:r>
              <a:rPr lang="zh-CN" altLang="en-US" dirty="0">
                <a:solidFill>
                  <a:srgbClr val="FFC000"/>
                </a:solidFill>
                <a:latin typeface="Times New Roman" panose="02020603050405020304" pitchFamily="18" charset="0"/>
                <a:ea typeface="宋体" panose="02010600030101010101" pitchFamily="2" charset="-122"/>
              </a:rPr>
              <a:t>  </a:t>
            </a:r>
            <a:endParaRPr lang="en-US" altLang="zh-CN" dirty="0">
              <a:solidFill>
                <a:srgbClr val="FFC000"/>
              </a:solidFill>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XLAT </a:t>
            </a:r>
            <a:r>
              <a:rPr lang="zh-CN" altLang="en-US" dirty="0">
                <a:latin typeface="Times New Roman" panose="02020603050405020304" pitchFamily="18" charset="0"/>
                <a:ea typeface="宋体" panose="02010600030101010101" pitchFamily="2" charset="-122"/>
              </a:rPr>
              <a:t>是一条字节的查表转换指令，该指令可以根据表中元素的序号查出表中相应元素的内容。</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该指令有默认的寄存器，因此，在执行该指令之前，需要进行相应的设置，即表设置。首先，将表的首地址（偏移地址）送到寄存器 </a:t>
            </a:r>
            <a:r>
              <a:rPr lang="en-US" altLang="zh-CN" dirty="0">
                <a:latin typeface="Times New Roman" panose="02020603050405020304" pitchFamily="18" charset="0"/>
                <a:ea typeface="宋体" panose="02010600030101010101" pitchFamily="2" charset="-122"/>
              </a:rPr>
              <a:t>BX</a:t>
            </a:r>
            <a:r>
              <a:rPr lang="zh-CN" altLang="en-US" dirty="0">
                <a:latin typeface="Times New Roman" panose="02020603050405020304" pitchFamily="18" charset="0"/>
                <a:ea typeface="宋体" panose="02010600030101010101" pitchFamily="2" charset="-122"/>
              </a:rPr>
              <a:t>，然后，将要查找的元素的序号送至寄存器 </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。执行 </a:t>
            </a:r>
            <a:r>
              <a:rPr lang="en-US" altLang="zh-CN" dirty="0">
                <a:latin typeface="Times New Roman" panose="02020603050405020304" pitchFamily="18" charset="0"/>
                <a:ea typeface="宋体" panose="02010600030101010101" pitchFamily="2" charset="-122"/>
              </a:rPr>
              <a:t>XLAT </a:t>
            </a:r>
            <a:r>
              <a:rPr lang="zh-CN" altLang="en-US" dirty="0">
                <a:latin typeface="Times New Roman" panose="02020603050405020304" pitchFamily="18" charset="0"/>
                <a:ea typeface="宋体" panose="02010600030101010101" pitchFamily="2" charset="-122"/>
              </a:rPr>
              <a:t>指令后，表中指定序号的元素送至寄存器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中。由于要查找的内容放在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中，所以该指令必须是字节操作。</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XLAT ;   </a:t>
            </a:r>
            <a:r>
              <a:rPr lang="zh-CN" altLang="en-US" dirty="0">
                <a:latin typeface="Times New Roman" panose="02020603050405020304" pitchFamily="18" charset="0"/>
                <a:ea typeface="宋体" panose="02010600030101010101" pitchFamily="2" charset="-122"/>
              </a:rPr>
              <a:t>将偏移地址为 </a:t>
            </a:r>
            <a:r>
              <a:rPr lang="en-US" altLang="zh-CN" dirty="0">
                <a:latin typeface="Times New Roman" panose="02020603050405020304" pitchFamily="18" charset="0"/>
                <a:ea typeface="宋体" panose="02010600030101010101" pitchFamily="2" charset="-122"/>
              </a:rPr>
              <a:t>BX+AL </a:t>
            </a:r>
            <a:r>
              <a:rPr lang="zh-CN" altLang="en-US" dirty="0">
                <a:latin typeface="Times New Roman" panose="02020603050405020304" pitchFamily="18" charset="0"/>
                <a:ea typeface="宋体" panose="02010600030101010101" pitchFamily="2" charset="-122"/>
              </a:rPr>
              <a:t>所指单元的内容送到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或者</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XLAT SCR_TABLE ;   SCR_TABLE </a:t>
            </a:r>
            <a:r>
              <a:rPr lang="zh-CN" altLang="en-US" dirty="0">
                <a:latin typeface="Times New Roman" panose="02020603050405020304" pitchFamily="18" charset="0"/>
                <a:ea typeface="宋体" panose="02010600030101010101" pitchFamily="2" charset="-122"/>
              </a:rPr>
              <a:t>表示要查找的表的首地址</a:t>
            </a:r>
          </a:p>
        </p:txBody>
      </p:sp>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43010" name="矩形 3"/>
          <p:cNvSpPr/>
          <p:nvPr/>
        </p:nvSpPr>
        <p:spPr>
          <a:xfrm>
            <a:off x="0" y="1476375"/>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．输入</a:t>
            </a:r>
            <a:r>
              <a:rPr lang="en-US" altLang="zh-CN" dirty="0">
                <a:solidFill>
                  <a:srgbClr val="FFC000"/>
                </a:solidFill>
                <a:latin typeface="Times New Roman" panose="02020603050405020304" pitchFamily="18" charset="0"/>
                <a:ea typeface="宋体" panose="02010600030101010101" pitchFamily="2" charset="-122"/>
              </a:rPr>
              <a:t>/</a:t>
            </a:r>
            <a:r>
              <a:rPr lang="zh-CN" altLang="en-US" dirty="0">
                <a:solidFill>
                  <a:srgbClr val="FFC000"/>
                </a:solidFill>
                <a:latin typeface="Times New Roman" panose="02020603050405020304" pitchFamily="18" charset="0"/>
                <a:ea typeface="宋体" panose="02010600030101010101" pitchFamily="2" charset="-122"/>
              </a:rPr>
              <a:t>输出（ </a:t>
            </a:r>
            <a:r>
              <a:rPr lang="en-US" altLang="zh-CN" dirty="0">
                <a:solidFill>
                  <a:srgbClr val="FFC000"/>
                </a:solidFill>
                <a:latin typeface="Times New Roman" panose="02020603050405020304" pitchFamily="18" charset="0"/>
                <a:ea typeface="宋体" panose="02010600030101010101" pitchFamily="2" charset="-122"/>
              </a:rPr>
              <a:t>I/O</a:t>
            </a:r>
            <a:r>
              <a:rPr lang="zh-CN" altLang="en-US" dirty="0">
                <a:solidFill>
                  <a:srgbClr val="FFC000"/>
                </a:solidFill>
                <a:latin typeface="Times New Roman" panose="02020603050405020304" pitchFamily="18" charset="0"/>
                <a:ea typeface="宋体" panose="02010600030101010101" pitchFamily="2" charset="-122"/>
              </a:rPr>
              <a:t>）指令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43011" name="矩形 4"/>
          <p:cNvSpPr/>
          <p:nvPr/>
        </p:nvSpPr>
        <p:spPr>
          <a:xfrm>
            <a:off x="280988" y="1963738"/>
            <a:ext cx="8607425" cy="4524375"/>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输入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输出指令是专门面向输入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输出端口进行读写的指令，即用来完成累加器（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I/O </a:t>
            </a:r>
            <a:r>
              <a:rPr lang="zh-CN" altLang="en-US" dirty="0">
                <a:latin typeface="Times New Roman" panose="02020603050405020304" pitchFamily="18" charset="0"/>
                <a:ea typeface="宋体" panose="02010600030101010101" pitchFamily="2" charset="-122"/>
              </a:rPr>
              <a:t>端口之间的数据传送功能。输入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输出指令共有两条，分别是输入指令 </a:t>
            </a:r>
            <a:r>
              <a:rPr lang="en-US" altLang="zh-CN" dirty="0">
                <a:latin typeface="Times New Roman" panose="02020603050405020304" pitchFamily="18" charset="0"/>
                <a:ea typeface="宋体" panose="02010600030101010101" pitchFamily="2" charset="-122"/>
              </a:rPr>
              <a:t>IN </a:t>
            </a:r>
            <a:r>
              <a:rPr lang="zh-CN" altLang="en-US" dirty="0">
                <a:latin typeface="Times New Roman" panose="02020603050405020304" pitchFamily="18" charset="0"/>
                <a:ea typeface="宋体" panose="02010600030101010101" pitchFamily="2" charset="-122"/>
              </a:rPr>
              <a:t>和输出指令 </a:t>
            </a:r>
            <a:r>
              <a:rPr lang="en-US" altLang="zh-CN" dirty="0">
                <a:latin typeface="Times New Roman" panose="02020603050405020304" pitchFamily="18" charset="0"/>
                <a:ea typeface="宋体" panose="02010600030101010101" pitchFamily="2" charset="-122"/>
              </a:rPr>
              <a:t>OUT</a:t>
            </a:r>
            <a:r>
              <a:rPr lang="zh-CN" altLang="en-US" dirty="0">
                <a:latin typeface="Times New Roman" panose="02020603050405020304" pitchFamily="18" charset="0"/>
                <a:ea typeface="宋体" panose="02010600030101010101" pitchFamily="2" charset="-122"/>
              </a:rPr>
              <a:t>。 输入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输出指令也称为累加器专用传送指令。</a:t>
            </a:r>
          </a:p>
          <a:p>
            <a:pPr>
              <a:lnSpc>
                <a:spcPct val="100000"/>
              </a:lnSpc>
            </a:pPr>
            <a:r>
              <a:rPr lang="zh-CN" altLang="en-US" dirty="0">
                <a:latin typeface="Times New Roman" panose="02020603050405020304" pitchFamily="18" charset="0"/>
                <a:ea typeface="宋体" panose="02010600030101010101" pitchFamily="2" charset="-122"/>
              </a:rPr>
              <a:t>       在输入</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输出指令中，有两种寻址方式：</a:t>
            </a:r>
          </a:p>
          <a:p>
            <a:pPr>
              <a:lnSpc>
                <a:spcPct val="100000"/>
              </a:lnSpc>
            </a:pPr>
            <a:r>
              <a:rPr lang="en-US" altLang="zh-CN" dirty="0">
                <a:latin typeface="Times New Roman" panose="02020603050405020304" pitchFamily="18" charset="0"/>
                <a:ea typeface="宋体" panose="02010600030101010101" pitchFamily="2" charset="-122"/>
              </a:rPr>
              <a:t>        1</a:t>
            </a:r>
            <a:r>
              <a:rPr lang="zh-CN" altLang="en-US" dirty="0">
                <a:latin typeface="Times New Roman" panose="02020603050405020304" pitchFamily="18" charset="0"/>
                <a:ea typeface="宋体" panose="02010600030101010101" pitchFamily="2" charset="-122"/>
              </a:rPr>
              <a:t>）直接寻址方式</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I/O </a:t>
            </a:r>
            <a:r>
              <a:rPr lang="zh-CN" altLang="en-US" dirty="0">
                <a:latin typeface="Times New Roman" panose="02020603050405020304" pitchFamily="18" charset="0"/>
                <a:ea typeface="宋体" panose="02010600030101010101" pitchFamily="2" charset="-122"/>
              </a:rPr>
              <a:t>端口地址为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位，端口地址范围为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FFH</a:t>
            </a:r>
            <a:r>
              <a:rPr lang="zh-CN" altLang="en-US" dirty="0">
                <a:latin typeface="Times New Roman" panose="02020603050405020304" pitchFamily="18" charset="0"/>
                <a:ea typeface="宋体" panose="02010600030101010101" pitchFamily="2" charset="-122"/>
              </a:rPr>
              <a:t>。端口地址以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位立即数方式在指令中直接给出。</a:t>
            </a:r>
          </a:p>
          <a:p>
            <a:pPr>
              <a:lnSpc>
                <a:spcPct val="100000"/>
              </a:lnSpc>
            </a:pPr>
            <a:r>
              <a:rPr lang="en-US" altLang="zh-CN" dirty="0">
                <a:latin typeface="Times New Roman" panose="02020603050405020304" pitchFamily="18" charset="0"/>
                <a:ea typeface="宋体" panose="02010600030101010101" pitchFamily="2" charset="-122"/>
              </a:rPr>
              <a:t>         2</a:t>
            </a:r>
            <a:r>
              <a:rPr lang="zh-CN" altLang="en-US" dirty="0">
                <a:latin typeface="Times New Roman" panose="02020603050405020304" pitchFamily="18" charset="0"/>
                <a:ea typeface="宋体" panose="02010600030101010101" pitchFamily="2" charset="-122"/>
              </a:rPr>
              <a:t>）寄存器间接寻址方式  </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端口地址为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位，端口地址范围为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FFFFH</a:t>
            </a:r>
            <a:r>
              <a:rPr lang="zh-CN" altLang="en-US" dirty="0">
                <a:latin typeface="Times New Roman" panose="02020603050405020304" pitchFamily="18" charset="0"/>
                <a:ea typeface="宋体" panose="02010600030101010101" pitchFamily="2" charset="-122"/>
              </a:rPr>
              <a:t>。在寄存器间接寻址方式下，端口地址放到 </a:t>
            </a:r>
            <a:r>
              <a:rPr lang="en-US" altLang="zh-CN" dirty="0">
                <a:latin typeface="Times New Roman" panose="02020603050405020304" pitchFamily="18" charset="0"/>
                <a:ea typeface="宋体" panose="02010600030101010101" pitchFamily="2" charset="-122"/>
              </a:rPr>
              <a:t>DX </a:t>
            </a:r>
            <a:r>
              <a:rPr lang="zh-CN" altLang="en-US" dirty="0">
                <a:latin typeface="Times New Roman" panose="02020603050405020304" pitchFamily="18" charset="0"/>
                <a:ea typeface="宋体" panose="02010600030101010101" pitchFamily="2" charset="-122"/>
              </a:rPr>
              <a:t>中。</a:t>
            </a:r>
          </a:p>
        </p:txBody>
      </p:sp>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44034" name="矩形 2"/>
          <p:cNvSpPr/>
          <p:nvPr/>
        </p:nvSpPr>
        <p:spPr>
          <a:xfrm>
            <a:off x="280988" y="1554163"/>
            <a:ext cx="8696325" cy="4598987"/>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）输入指令 </a:t>
            </a:r>
            <a:r>
              <a:rPr lang="en-US" altLang="zh-CN" dirty="0">
                <a:solidFill>
                  <a:srgbClr val="FFC000"/>
                </a:solidFill>
                <a:latin typeface="Times New Roman" panose="02020603050405020304" pitchFamily="18" charset="0"/>
                <a:ea typeface="宋体" panose="02010600030101010101" pitchFamily="2" charset="-122"/>
              </a:rPr>
              <a:t>IN</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IN </a:t>
            </a:r>
            <a:r>
              <a:rPr lang="zh-CN" altLang="en-US" dirty="0">
                <a:latin typeface="Times New Roman" panose="02020603050405020304" pitchFamily="18" charset="0"/>
                <a:ea typeface="宋体" panose="02010600030101010101" pitchFamily="2" charset="-122"/>
              </a:rPr>
              <a:t>累加器</a:t>
            </a:r>
            <a:r>
              <a:rPr lang="en-US" altLang="zh-CN" dirty="0">
                <a:latin typeface="Times New Roman" panose="02020603050405020304" pitchFamily="18" charset="0"/>
                <a:ea typeface="宋体" panose="02010600030101010101" pitchFamily="2" charset="-122"/>
              </a:rPr>
              <a:t>,PORT ;</a:t>
            </a:r>
            <a:r>
              <a:rPr lang="zh-CN" altLang="en-US" dirty="0">
                <a:latin typeface="Times New Roman" panose="02020603050405020304" pitchFamily="18" charset="0"/>
                <a:ea typeface="宋体" panose="02010600030101010101" pitchFamily="2" charset="-122"/>
              </a:rPr>
              <a:t>直接寻址</a:t>
            </a:r>
            <a:r>
              <a:rPr lang="en-US" altLang="zh-CN" dirty="0">
                <a:latin typeface="Times New Roman" panose="02020603050405020304" pitchFamily="18" charset="0"/>
                <a:ea typeface="宋体" panose="02010600030101010101" pitchFamily="2" charset="-122"/>
              </a:rPr>
              <a:t>,PORT </a:t>
            </a:r>
            <a:r>
              <a:rPr lang="zh-CN" altLang="en-US" dirty="0">
                <a:latin typeface="Times New Roman" panose="02020603050405020304" pitchFamily="18" charset="0"/>
                <a:ea typeface="宋体" panose="02010600030101010101" pitchFamily="2" charset="-122"/>
              </a:rPr>
              <a:t>为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位立即数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或</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IN </a:t>
            </a:r>
            <a:r>
              <a:rPr lang="zh-CN" altLang="en-US" dirty="0">
                <a:latin typeface="Times New Roman" panose="02020603050405020304" pitchFamily="18" charset="0"/>
                <a:ea typeface="宋体" panose="02010600030101010101" pitchFamily="2" charset="-122"/>
              </a:rPr>
              <a:t>累加器</a:t>
            </a:r>
            <a:r>
              <a:rPr lang="en-US" altLang="zh-CN" dirty="0">
                <a:latin typeface="Times New Roman" panose="02020603050405020304" pitchFamily="18" charset="0"/>
                <a:ea typeface="宋体" panose="02010600030101010101" pitchFamily="2" charset="-122"/>
              </a:rPr>
              <a:t>,DX ;</a:t>
            </a:r>
            <a:r>
              <a:rPr lang="zh-CN" altLang="en-US" dirty="0">
                <a:latin typeface="Times New Roman" panose="02020603050405020304" pitchFamily="18" charset="0"/>
                <a:ea typeface="宋体" panose="02010600030101010101" pitchFamily="2" charset="-122"/>
              </a:rPr>
              <a:t>间接寻址</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位端口地址由 </a:t>
            </a:r>
            <a:r>
              <a:rPr lang="en-US" altLang="zh-CN" dirty="0">
                <a:latin typeface="Times New Roman" panose="02020603050405020304" pitchFamily="18" charset="0"/>
                <a:ea typeface="宋体" panose="02010600030101010101" pitchFamily="2" charset="-122"/>
              </a:rPr>
              <a:t>DX </a:t>
            </a:r>
            <a:r>
              <a:rPr lang="zh-CN" altLang="en-US" dirty="0">
                <a:latin typeface="Times New Roman" panose="02020603050405020304" pitchFamily="18" charset="0"/>
                <a:ea typeface="宋体" panose="02010600030101010101" pitchFamily="2" charset="-122"/>
              </a:rPr>
              <a:t>给出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指令功能：将指定端口中的内容送到累加器 </a:t>
            </a:r>
            <a:r>
              <a:rPr lang="en-US" altLang="zh-CN" dirty="0">
                <a:latin typeface="Times New Roman" panose="02020603050405020304" pitchFamily="18" charset="0"/>
                <a:ea typeface="宋体" panose="02010600030101010101" pitchFamily="2" charset="-122"/>
              </a:rPr>
              <a:t>AX/AL </a:t>
            </a:r>
            <a:r>
              <a:rPr lang="zh-CN" altLang="en-US" dirty="0">
                <a:latin typeface="Times New Roman" panose="02020603050405020304" pitchFamily="18" charset="0"/>
                <a:ea typeface="宋体" panose="02010600030101010101" pitchFamily="2" charset="-122"/>
              </a:rPr>
              <a:t>中。</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）输出指令 </a:t>
            </a:r>
            <a:r>
              <a:rPr lang="en-US" altLang="zh-CN" dirty="0">
                <a:solidFill>
                  <a:srgbClr val="FFC000"/>
                </a:solidFill>
                <a:latin typeface="Times New Roman" panose="02020603050405020304" pitchFamily="18" charset="0"/>
                <a:ea typeface="宋体" panose="02010600030101010101" pitchFamily="2" charset="-122"/>
              </a:rPr>
              <a:t>OUT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OUT PORT, </a:t>
            </a:r>
            <a:r>
              <a:rPr lang="zh-CN" altLang="en-US" dirty="0">
                <a:latin typeface="Times New Roman" panose="02020603050405020304" pitchFamily="18" charset="0"/>
                <a:ea typeface="宋体" panose="02010600030101010101" pitchFamily="2" charset="-122"/>
              </a:rPr>
              <a:t>累加器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直接寻址</a:t>
            </a:r>
            <a:r>
              <a:rPr lang="en-US" altLang="zh-CN" dirty="0">
                <a:latin typeface="Times New Roman" panose="02020603050405020304" pitchFamily="18" charset="0"/>
                <a:ea typeface="宋体" panose="02010600030101010101" pitchFamily="2" charset="-122"/>
              </a:rPr>
              <a:t>,PORT </a:t>
            </a:r>
            <a:r>
              <a:rPr lang="zh-CN" altLang="en-US" dirty="0">
                <a:latin typeface="Times New Roman" panose="02020603050405020304" pitchFamily="18" charset="0"/>
                <a:ea typeface="宋体" panose="02010600030101010101" pitchFamily="2" charset="-122"/>
              </a:rPr>
              <a:t>为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位立即数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或</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OUT DX, </a:t>
            </a:r>
            <a:r>
              <a:rPr lang="zh-CN" altLang="en-US" dirty="0">
                <a:latin typeface="Times New Roman" panose="02020603050405020304" pitchFamily="18" charset="0"/>
                <a:ea typeface="宋体" panose="02010600030101010101" pitchFamily="2" charset="-122"/>
              </a:rPr>
              <a:t>累加器 </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间接寻址</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位端口地址由 </a:t>
            </a:r>
            <a:r>
              <a:rPr lang="en-US" altLang="zh-CN" dirty="0">
                <a:latin typeface="Times New Roman" panose="02020603050405020304" pitchFamily="18" charset="0"/>
                <a:ea typeface="宋体" panose="02010600030101010101" pitchFamily="2" charset="-122"/>
              </a:rPr>
              <a:t>DX </a:t>
            </a:r>
            <a:r>
              <a:rPr lang="zh-CN" altLang="en-US" dirty="0">
                <a:latin typeface="Times New Roman" panose="02020603050405020304" pitchFamily="18" charset="0"/>
                <a:ea typeface="宋体" panose="02010600030101010101" pitchFamily="2" charset="-122"/>
              </a:rPr>
              <a:t>给出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指令功能：把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中的内容输出到指定端口。</a:t>
            </a:r>
          </a:p>
        </p:txBody>
      </p:sp>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45058" name="矩形 3"/>
          <p:cNvSpPr/>
          <p:nvPr/>
        </p:nvSpPr>
        <p:spPr>
          <a:xfrm>
            <a:off x="0" y="1468438"/>
            <a:ext cx="4572000" cy="757237"/>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．目标地址传送指令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45059" name="矩形 5"/>
          <p:cNvSpPr/>
          <p:nvPr/>
        </p:nvSpPr>
        <p:spPr>
          <a:xfrm>
            <a:off x="238125" y="1949450"/>
            <a:ext cx="8729663" cy="3859213"/>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）取偏移地址指令 </a:t>
            </a:r>
            <a:r>
              <a:rPr lang="en-US" altLang="zh-CN" dirty="0">
                <a:latin typeface="Times New Roman" panose="02020603050405020304" pitchFamily="18" charset="0"/>
                <a:ea typeface="宋体" panose="02010600030101010101" pitchFamily="2" charset="-122"/>
              </a:rPr>
              <a:t>LEA</a:t>
            </a:r>
            <a:r>
              <a:rPr lang="zh-CN" altLang="en-US" dirty="0">
                <a:latin typeface="Times New Roman" panose="02020603050405020304" pitchFamily="18" charset="0"/>
                <a:ea typeface="宋体" panose="02010600030101010101" pitchFamily="2" charset="-122"/>
              </a:rPr>
              <a:t>。</a:t>
            </a:r>
          </a:p>
          <a:p>
            <a:pPr>
              <a:lnSpc>
                <a:spcPct val="100000"/>
              </a:lnSpc>
            </a:pPr>
            <a:r>
              <a:rPr lang="zh-CN" altLang="en-US" dirty="0">
                <a:latin typeface="Times New Roman" panose="02020603050405020304" pitchFamily="18" charset="0"/>
                <a:ea typeface="宋体" panose="02010600030101010101" pitchFamily="2" charset="-122"/>
              </a:rPr>
              <a:t>指令格式为： </a:t>
            </a:r>
          </a:p>
          <a:p>
            <a:pPr>
              <a:lnSpc>
                <a:spcPct val="100000"/>
              </a:lnSpc>
            </a:pPr>
            <a:r>
              <a:rPr lang="en-US" altLang="zh-CN" dirty="0">
                <a:latin typeface="Times New Roman" panose="02020603050405020304" pitchFamily="18" charset="0"/>
                <a:ea typeface="宋体" panose="02010600030101010101" pitchFamily="2" charset="-122"/>
              </a:rPr>
              <a:t>LEA reg16,mem ;reg16 </a:t>
            </a:r>
            <a:r>
              <a:rPr lang="zh-CN" altLang="en-US" dirty="0">
                <a:latin typeface="Times New Roman" panose="02020603050405020304" pitchFamily="18" charset="0"/>
                <a:ea typeface="宋体" panose="02010600030101010101" pitchFamily="2" charset="-122"/>
              </a:rPr>
              <a:t>表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位的寄存器</a:t>
            </a:r>
            <a:r>
              <a:rPr lang="en-US" altLang="zh-CN" dirty="0">
                <a:latin typeface="Times New Roman" panose="02020603050405020304" pitchFamily="18" charset="0"/>
                <a:ea typeface="宋体" panose="02010600030101010101" pitchFamily="2" charset="-122"/>
              </a:rPr>
              <a:t>,mem </a:t>
            </a:r>
            <a:r>
              <a:rPr lang="zh-CN" altLang="en-US" dirty="0">
                <a:latin typeface="Times New Roman" panose="02020603050405020304" pitchFamily="18" charset="0"/>
                <a:ea typeface="宋体" panose="02010600030101010101" pitchFamily="2" charset="-122"/>
              </a:rPr>
              <a:t>表存储器操作数</a:t>
            </a:r>
          </a:p>
          <a:p>
            <a:pPr>
              <a:lnSpc>
                <a:spcPct val="100000"/>
              </a:lnSpc>
            </a:pPr>
            <a:r>
              <a:rPr lang="zh-CN" altLang="en-US" dirty="0">
                <a:latin typeface="Times New Roman" panose="02020603050405020304" pitchFamily="18" charset="0"/>
                <a:ea typeface="宋体" panose="02010600030101010101" pitchFamily="2" charset="-122"/>
              </a:rPr>
              <a:t>指令功能：把源操作数存储器操作数 </a:t>
            </a:r>
            <a:r>
              <a:rPr lang="en-US" altLang="zh-CN" dirty="0">
                <a:latin typeface="Times New Roman" panose="02020603050405020304" pitchFamily="18" charset="0"/>
                <a:ea typeface="宋体" panose="02010600030101010101" pitchFamily="2" charset="-122"/>
              </a:rPr>
              <a:t>mem </a:t>
            </a:r>
            <a:r>
              <a:rPr lang="zh-CN" altLang="en-US" dirty="0">
                <a:latin typeface="Times New Roman" panose="02020603050405020304" pitchFamily="18" charset="0"/>
                <a:ea typeface="宋体" panose="02010600030101010101" pitchFamily="2" charset="-122"/>
              </a:rPr>
              <a:t>的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位偏移地址送到指定的寄存器中。</a:t>
            </a:r>
          </a:p>
          <a:p>
            <a:pPr>
              <a:lnSpc>
                <a:spcPct val="100000"/>
              </a:lnSpc>
            </a:pPr>
            <a:r>
              <a:rPr lang="zh-CN" altLang="en-US" dirty="0">
                <a:latin typeface="Times New Roman" panose="02020603050405020304" pitchFamily="18" charset="0"/>
                <a:ea typeface="宋体" panose="02010600030101010101" pitchFamily="2" charset="-122"/>
              </a:rPr>
              <a:t>该指令需要注意以下两点：</a:t>
            </a:r>
          </a:p>
          <a:p>
            <a:pPr>
              <a:lnSpc>
                <a:spcPct val="100000"/>
              </a:lnSpc>
            </a:pPr>
            <a:r>
              <a:rPr lang="zh-CN" altLang="en-US" dirty="0">
                <a:latin typeface="Times New Roman" panose="02020603050405020304" pitchFamily="18" charset="0"/>
                <a:ea typeface="宋体" panose="02010600030101010101" pitchFamily="2" charset="-122"/>
              </a:rPr>
              <a:t>①源操作数必须是存储器操作数；</a:t>
            </a:r>
          </a:p>
          <a:p>
            <a:pPr>
              <a:lnSpc>
                <a:spcPct val="100000"/>
              </a:lnSpc>
            </a:pPr>
            <a:r>
              <a:rPr lang="zh-CN" altLang="en-US" dirty="0">
                <a:latin typeface="Times New Roman" panose="02020603050405020304" pitchFamily="18" charset="0"/>
                <a:ea typeface="宋体" panose="02010600030101010101" pitchFamily="2" charset="-122"/>
              </a:rPr>
              <a:t>②目标操作数必须是一个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位的通用寄存器。由于寄存器常用来作为地址指针，因此最好选用四个间址寄存器。</a:t>
            </a:r>
          </a:p>
        </p:txBody>
      </p:sp>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46082" name="矩形 2"/>
          <p:cNvSpPr/>
          <p:nvPr/>
        </p:nvSpPr>
        <p:spPr>
          <a:xfrm>
            <a:off x="201613" y="1481138"/>
            <a:ext cx="8713787" cy="3602037"/>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）远地址传送指令 </a:t>
            </a:r>
            <a:r>
              <a:rPr lang="en-US" altLang="zh-CN" dirty="0">
                <a:solidFill>
                  <a:srgbClr val="FFC000"/>
                </a:solidFill>
                <a:latin typeface="Times New Roman" panose="02020603050405020304" pitchFamily="18" charset="0"/>
                <a:ea typeface="宋体" panose="02010600030101010101" pitchFamily="2" charset="-122"/>
              </a:rPr>
              <a:t>LDS </a:t>
            </a:r>
          </a:p>
          <a:p>
            <a:pPr>
              <a:lnSpc>
                <a:spcPct val="100000"/>
              </a:lnSpc>
            </a:pP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LDS reg16</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mem32</a:t>
            </a:r>
            <a:endParaRPr lang="zh-CN" altLang="en-US"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指令功能：完成一个地址指针的传送。地址指针有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个字节，其中，前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个字节作为偏移量送入一个指定的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位基址寄存器或变址寄存器， 后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个字节作为段地址送入数据段寄存器 </a:t>
            </a:r>
            <a:r>
              <a:rPr lang="en-US" altLang="zh-CN" dirty="0">
                <a:latin typeface="Times New Roman" panose="02020603050405020304" pitchFamily="18" charset="0"/>
                <a:ea typeface="宋体" panose="02010600030101010101" pitchFamily="2" charset="-122"/>
              </a:rPr>
              <a:t>DS </a:t>
            </a:r>
            <a:r>
              <a:rPr lang="zh-CN" altLang="en-US" dirty="0">
                <a:latin typeface="Times New Roman" panose="02020603050405020304" pitchFamily="18" charset="0"/>
                <a:ea typeface="宋体" panose="02010600030101010101" pitchFamily="2" charset="-122"/>
              </a:rPr>
              <a:t>中。</a:t>
            </a:r>
          </a:p>
          <a:p>
            <a:pPr>
              <a:lnSpc>
                <a:spcPct val="100000"/>
              </a:lnSpc>
            </a:pPr>
            <a:r>
              <a:rPr lang="zh-CN" altLang="en-US" dirty="0">
                <a:latin typeface="Times New Roman" panose="02020603050405020304" pitchFamily="18" charset="0"/>
                <a:ea typeface="宋体" panose="02010600030101010101" pitchFamily="2" charset="-122"/>
              </a:rPr>
              <a:t>要求：源操作数必须是存储单元操作数， </a:t>
            </a:r>
            <a:r>
              <a:rPr lang="en-US" altLang="zh-CN" dirty="0">
                <a:latin typeface="Times New Roman" panose="02020603050405020304" pitchFamily="18" charset="0"/>
                <a:ea typeface="宋体" panose="02010600030101010101" pitchFamily="2" charset="-122"/>
              </a:rPr>
              <a:t>mem32 </a:t>
            </a:r>
            <a:r>
              <a:rPr lang="zh-CN" altLang="en-US" dirty="0">
                <a:latin typeface="Times New Roman" panose="02020603050405020304" pitchFamily="18" charset="0"/>
                <a:ea typeface="宋体" panose="02010600030101010101" pitchFamily="2" charset="-122"/>
              </a:rPr>
              <a:t>表示存储器单元中连续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个单元（ </a:t>
            </a:r>
            <a:r>
              <a:rPr lang="en-US" altLang="zh-CN" dirty="0">
                <a:latin typeface="Times New Roman" panose="02020603050405020304" pitchFamily="18" charset="0"/>
                <a:ea typeface="宋体" panose="02010600030101010101" pitchFamily="2" charset="-122"/>
              </a:rPr>
              <a:t>32</a:t>
            </a:r>
            <a:r>
              <a:rPr lang="zh-CN" altLang="en-US" dirty="0">
                <a:latin typeface="Times New Roman" panose="02020603050405020304" pitchFamily="18" charset="0"/>
                <a:ea typeface="宋体" panose="02010600030101010101" pitchFamily="2" charset="-122"/>
              </a:rPr>
              <a:t>位）的首地址；目标操作数必须是寄存器，可以是基址寄存器或变址寄存器（ </a:t>
            </a:r>
            <a:r>
              <a:rPr lang="en-US" altLang="zh-CN" dirty="0">
                <a:latin typeface="Times New Roman" panose="02020603050405020304" pitchFamily="18" charset="0"/>
                <a:ea typeface="宋体" panose="02010600030101010101" pitchFamily="2" charset="-122"/>
              </a:rPr>
              <a:t>BX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BP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SI</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DI</a:t>
            </a:r>
            <a:r>
              <a:rPr lang="zh-CN" altLang="en-US" dirty="0">
                <a:latin typeface="Times New Roman" panose="02020603050405020304" pitchFamily="18" charset="0"/>
                <a:ea typeface="宋体" panose="02010600030101010101" pitchFamily="2" charset="-122"/>
              </a:rPr>
              <a:t>）。</a:t>
            </a:r>
          </a:p>
        </p:txBody>
      </p:sp>
      <p:sp>
        <p:nvSpPr>
          <p:cNvPr id="46083" name="矩形 3"/>
          <p:cNvSpPr/>
          <p:nvPr/>
        </p:nvSpPr>
        <p:spPr>
          <a:xfrm>
            <a:off x="263525" y="5260975"/>
            <a:ext cx="8624888" cy="1643063"/>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）远地址传送指令 </a:t>
            </a:r>
            <a:r>
              <a:rPr lang="en-US" altLang="zh-CN" dirty="0">
                <a:solidFill>
                  <a:srgbClr val="FFC000"/>
                </a:solidFill>
                <a:latin typeface="Times New Roman" panose="02020603050405020304" pitchFamily="18" charset="0"/>
                <a:ea typeface="宋体" panose="02010600030101010101" pitchFamily="2" charset="-122"/>
              </a:rPr>
              <a:t>LES</a:t>
            </a:r>
          </a:p>
          <a:p>
            <a:pPr>
              <a:lnSpc>
                <a:spcPct val="10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LES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LDS </a:t>
            </a:r>
            <a:r>
              <a:rPr lang="zh-CN" altLang="en-US" dirty="0">
                <a:latin typeface="Times New Roman" panose="02020603050405020304" pitchFamily="18" charset="0"/>
                <a:ea typeface="宋体" panose="02010600030101010101" pitchFamily="2" charset="-122"/>
              </a:rPr>
              <a:t>功能类似，不同的是，两个高地址单元中给出的段地址是送向 </a:t>
            </a:r>
            <a:r>
              <a:rPr lang="en-US" altLang="zh-CN" dirty="0">
                <a:latin typeface="Times New Roman" panose="02020603050405020304" pitchFamily="18" charset="0"/>
                <a:ea typeface="宋体" panose="02010600030101010101" pitchFamily="2" charset="-122"/>
              </a:rPr>
              <a:t>ES</a:t>
            </a:r>
            <a:r>
              <a:rPr lang="zh-CN" altLang="en-US" dirty="0">
                <a:latin typeface="Times New Roman" panose="02020603050405020304" pitchFamily="18" charset="0"/>
                <a:ea typeface="宋体" panose="02010600030101010101" pitchFamily="2" charset="-122"/>
              </a:rPr>
              <a:t>寄存器。</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47106" name="矩形 2"/>
          <p:cNvSpPr/>
          <p:nvPr/>
        </p:nvSpPr>
        <p:spPr>
          <a:xfrm>
            <a:off x="255588" y="1409700"/>
            <a:ext cx="8597900" cy="5632450"/>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．标志位传送指令</a:t>
            </a:r>
            <a:endParaRPr lang="en-US" altLang="zh-CN" dirty="0">
              <a:solidFill>
                <a:srgbClr val="FFC000"/>
              </a:solidFill>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        标志寄存器存取操作的指令共有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条，指令的操作数均采用隐含方式。</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）读取标志指令 </a:t>
            </a:r>
            <a:r>
              <a:rPr lang="en-US" altLang="zh-CN" dirty="0">
                <a:solidFill>
                  <a:srgbClr val="FFC000"/>
                </a:solidFill>
                <a:latin typeface="Times New Roman" panose="02020603050405020304" pitchFamily="18" charset="0"/>
                <a:ea typeface="宋体" panose="02010600030101010101" pitchFamily="2" charset="-122"/>
              </a:rPr>
              <a:t>LAHF</a:t>
            </a:r>
          </a:p>
          <a:p>
            <a:pPr>
              <a:lnSpc>
                <a:spcPct val="100000"/>
              </a:lnSpc>
            </a:pP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LAHF</a:t>
            </a:r>
          </a:p>
          <a:p>
            <a:pPr>
              <a:lnSpc>
                <a:spcPct val="100000"/>
              </a:lnSpc>
            </a:pPr>
            <a:r>
              <a:rPr lang="zh-CN" altLang="en-US" dirty="0">
                <a:latin typeface="Times New Roman" panose="02020603050405020304" pitchFamily="18" charset="0"/>
                <a:ea typeface="宋体" panose="02010600030101010101" pitchFamily="2" charset="-122"/>
              </a:rPr>
              <a:t>指令功能：将标志寄存器中的 </a:t>
            </a:r>
            <a:r>
              <a:rPr lang="en-US" altLang="zh-CN" dirty="0">
                <a:latin typeface="Times New Roman" panose="02020603050405020304" pitchFamily="18" charset="0"/>
                <a:ea typeface="宋体" panose="02010600030101010101" pitchFamily="2" charset="-122"/>
              </a:rPr>
              <a:t>SF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PF</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即标志寄存器的低 </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位）传送至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寄存器的指定位，空位没有定义，该指令对标志位没有影响。</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）设置标志指令 </a:t>
            </a:r>
            <a:r>
              <a:rPr lang="en-US" altLang="zh-CN" dirty="0">
                <a:solidFill>
                  <a:srgbClr val="FFC000"/>
                </a:solidFill>
                <a:latin typeface="Times New Roman" panose="02020603050405020304" pitchFamily="18" charset="0"/>
                <a:ea typeface="宋体" panose="02010600030101010101" pitchFamily="2" charset="-122"/>
              </a:rPr>
              <a:t>SAHF</a:t>
            </a:r>
            <a:r>
              <a:rPr lang="zh-CN" altLang="en-US" dirty="0">
                <a:solidFill>
                  <a:srgbClr val="FFC000"/>
                </a:solidFill>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SAHF</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指令功能：将寄存器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的指定位，送至标志寄存器的 </a:t>
            </a:r>
            <a:r>
              <a:rPr lang="en-US" altLang="zh-CN" dirty="0">
                <a:latin typeface="Times New Roman" panose="02020603050405020304" pitchFamily="18" charset="0"/>
                <a:ea typeface="宋体" panose="02010600030101010101" pitchFamily="2" charset="-122"/>
              </a:rPr>
              <a:t>SF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PF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位（即标志寄存器的低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位）。根据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的内容，影响上述标志位，对 </a:t>
            </a:r>
            <a:r>
              <a:rPr lang="en-US" altLang="zh-CN" dirty="0">
                <a:latin typeface="Times New Roman" panose="02020603050405020304" pitchFamily="18" charset="0"/>
                <a:ea typeface="宋体" panose="02010600030101010101" pitchFamily="2" charset="-122"/>
              </a:rPr>
              <a:t>OF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DF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IF </a:t>
            </a:r>
            <a:r>
              <a:rPr lang="zh-CN" altLang="en-US" dirty="0">
                <a:latin typeface="Times New Roman" panose="02020603050405020304" pitchFamily="18" charset="0"/>
                <a:ea typeface="宋体" panose="02010600030101010101" pitchFamily="2" charset="-122"/>
              </a:rPr>
              <a:t>无影响。</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数据传送指令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48130" name="矩形 2"/>
          <p:cNvSpPr/>
          <p:nvPr/>
        </p:nvSpPr>
        <p:spPr>
          <a:xfrm>
            <a:off x="290513" y="1554163"/>
            <a:ext cx="8748712" cy="5284787"/>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）标志寄存器进栈指令 </a:t>
            </a:r>
            <a:r>
              <a:rPr lang="en-US" altLang="zh-CN" dirty="0">
                <a:solidFill>
                  <a:srgbClr val="FFC000"/>
                </a:solidFill>
                <a:latin typeface="Times New Roman" panose="02020603050405020304" pitchFamily="18" charset="0"/>
                <a:ea typeface="宋体" panose="02010600030101010101" pitchFamily="2" charset="-122"/>
              </a:rPr>
              <a:t>PUSHF</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PUSHF</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位标志寄存器 </a:t>
            </a:r>
            <a:r>
              <a:rPr lang="en-US" altLang="zh-CN" dirty="0">
                <a:latin typeface="Times New Roman" panose="02020603050405020304" pitchFamily="18" charset="0"/>
                <a:ea typeface="宋体" panose="02010600030101010101" pitchFamily="2" charset="-122"/>
              </a:rPr>
              <a:t>FLAGS </a:t>
            </a:r>
            <a:r>
              <a:rPr lang="zh-CN" altLang="en-US" dirty="0">
                <a:latin typeface="Times New Roman" panose="02020603050405020304" pitchFamily="18" charset="0"/>
                <a:ea typeface="宋体" panose="02010600030101010101" pitchFamily="2" charset="-122"/>
              </a:rPr>
              <a:t>的内容压入堆栈，同时修改堆栈栈顶指针，不影响标志位。</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FLAGS </a:t>
            </a:r>
            <a:r>
              <a:rPr lang="zh-CN" altLang="en-US" dirty="0">
                <a:latin typeface="Times New Roman" panose="02020603050405020304" pitchFamily="18" charset="0"/>
                <a:ea typeface="宋体" panose="02010600030101010101" pitchFamily="2" charset="-122"/>
              </a:rPr>
              <a:t>高字节 →（ </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FLAGS </a:t>
            </a:r>
            <a:r>
              <a:rPr lang="zh-CN" altLang="en-US" dirty="0">
                <a:latin typeface="Times New Roman" panose="02020603050405020304" pitchFamily="18" charset="0"/>
                <a:ea typeface="宋体" panose="02010600030101010101" pitchFamily="2" charset="-122"/>
              </a:rPr>
              <a:t>低字节 →（ </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p>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）标志寄存器出栈 </a:t>
            </a:r>
            <a:r>
              <a:rPr lang="en-US" altLang="zh-CN" dirty="0">
                <a:solidFill>
                  <a:srgbClr val="FFC000"/>
                </a:solidFill>
                <a:latin typeface="Times New Roman" panose="02020603050405020304" pitchFamily="18" charset="0"/>
                <a:ea typeface="宋体" panose="02010600030101010101" pitchFamily="2" charset="-122"/>
              </a:rPr>
              <a:t>POPF</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POPF</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指令功能：将栈顶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位的字数据弹出送回标志寄存器 </a:t>
            </a:r>
            <a:r>
              <a:rPr lang="en-US" altLang="zh-CN" dirty="0">
                <a:latin typeface="Times New Roman" panose="02020603050405020304" pitchFamily="18" charset="0"/>
                <a:ea typeface="宋体" panose="02010600030101010101" pitchFamily="2" charset="-122"/>
              </a:rPr>
              <a:t>FLAGS </a:t>
            </a:r>
            <a:r>
              <a:rPr lang="zh-CN" altLang="en-US" dirty="0">
                <a:latin typeface="Times New Roman" panose="02020603050405020304" pitchFamily="18" charset="0"/>
                <a:ea typeface="宋体" panose="02010600030101010101" pitchFamily="2" charset="-122"/>
              </a:rPr>
              <a:t>中，同时修改堆栈栈顶指针，影响标志位。</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SP</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FLAGS </a:t>
            </a:r>
            <a:r>
              <a:rPr lang="zh-CN" altLang="en-US" dirty="0">
                <a:latin typeface="Times New Roman" panose="02020603050405020304" pitchFamily="18" charset="0"/>
                <a:ea typeface="宋体" panose="02010600030101010101" pitchFamily="2" charset="-122"/>
              </a:rPr>
              <a:t>低字节</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SP+1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FLAGS </a:t>
            </a:r>
            <a:r>
              <a:rPr lang="zh-CN" altLang="en-US" dirty="0">
                <a:latin typeface="Times New Roman" panose="02020603050405020304" pitchFamily="18" charset="0"/>
                <a:ea typeface="宋体" panose="02010600030101010101" pitchFamily="2" charset="-122"/>
              </a:rPr>
              <a:t>高字节</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SP+2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SP</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49154" name="矩形 2"/>
          <p:cNvSpPr/>
          <p:nvPr/>
        </p:nvSpPr>
        <p:spPr>
          <a:xfrm>
            <a:off x="703263" y="2073275"/>
            <a:ext cx="7640637" cy="4302125"/>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         算术运算指令包括加法运算指令、减法运算指令、乘法运算指令、除法运算指令、十进制调整指令和字位扩展指令。</a:t>
            </a:r>
          </a:p>
          <a:p>
            <a:pPr>
              <a:lnSpc>
                <a:spcPct val="100000"/>
              </a:lnSpc>
            </a:pPr>
            <a:r>
              <a:rPr lang="zh-CN" altLang="en-US" dirty="0">
                <a:latin typeface="Times New Roman" panose="02020603050405020304" pitchFamily="18" charset="0"/>
                <a:ea typeface="宋体" panose="02010600030101010101" pitchFamily="2" charset="-122"/>
              </a:rPr>
              <a:t>        算术运算指令对操作数的要求类似于数据传送类指令。</a:t>
            </a:r>
          </a:p>
          <a:p>
            <a:pPr>
              <a:lnSpc>
                <a:spcPct val="100000"/>
              </a:lnSpc>
            </a:pPr>
            <a:r>
              <a:rPr lang="zh-CN" altLang="en-US" dirty="0">
                <a:latin typeface="Times New Roman" panose="02020603050405020304" pitchFamily="18" charset="0"/>
                <a:ea typeface="宋体" panose="02010600030101010101" pitchFamily="2" charset="-122"/>
              </a:rPr>
              <a:t>        算术运算指令大都对标志位有影响，不同的指令影响不同，加法和减法指令将根据运算结果修改大部分标志位，但加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和减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指令不影响进位标志（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）。乘法指令将改变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OF </a:t>
            </a:r>
            <a:r>
              <a:rPr lang="zh-CN" altLang="en-US" dirty="0">
                <a:latin typeface="Times New Roman" panose="02020603050405020304" pitchFamily="18" charset="0"/>
                <a:ea typeface="宋体" panose="02010600030101010101" pitchFamily="2" charset="-122"/>
              </a:rPr>
              <a:t>标志位，除法指令使大部分标志位状态不确定，字位扩展指令（ </a:t>
            </a:r>
            <a:r>
              <a:rPr lang="en-US" altLang="zh-CN" dirty="0">
                <a:latin typeface="Times New Roman" panose="02020603050405020304" pitchFamily="18" charset="0"/>
                <a:ea typeface="宋体" panose="02010600030101010101" pitchFamily="2" charset="-122"/>
              </a:rPr>
              <a:t>CBW</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CWD</a:t>
            </a:r>
            <a:r>
              <a:rPr lang="zh-CN" altLang="en-US" dirty="0">
                <a:latin typeface="Times New Roman" panose="02020603050405020304" pitchFamily="18" charset="0"/>
                <a:ea typeface="宋体" panose="02010600030101010101" pitchFamily="2" charset="-122"/>
              </a:rPr>
              <a:t>）对标志位没有影响。</a:t>
            </a:r>
          </a:p>
        </p:txBody>
      </p:sp>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50178" name="矩形 2"/>
          <p:cNvSpPr/>
          <p:nvPr/>
        </p:nvSpPr>
        <p:spPr>
          <a:xfrm>
            <a:off x="149225" y="1371600"/>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．加法运算指令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50179" name="矩形 3"/>
          <p:cNvSpPr/>
          <p:nvPr/>
        </p:nvSpPr>
        <p:spPr>
          <a:xfrm>
            <a:off x="412750" y="1887538"/>
            <a:ext cx="8301038" cy="830262"/>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加法运算指令有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条：普通加法指令 </a:t>
            </a:r>
            <a:r>
              <a:rPr lang="en-US" altLang="zh-CN" dirty="0">
                <a:latin typeface="Times New Roman" panose="02020603050405020304" pitchFamily="18" charset="0"/>
                <a:ea typeface="宋体" panose="02010600030101010101" pitchFamily="2" charset="-122"/>
              </a:rPr>
              <a:t>ADD</a:t>
            </a:r>
            <a:r>
              <a:rPr lang="zh-CN" altLang="en-US" dirty="0">
                <a:latin typeface="Times New Roman" panose="02020603050405020304" pitchFamily="18" charset="0"/>
                <a:ea typeface="宋体" panose="02010600030101010101" pitchFamily="2" charset="-122"/>
              </a:rPr>
              <a:t>、带进位位加法指令 </a:t>
            </a:r>
            <a:r>
              <a:rPr lang="en-US" altLang="zh-CN" dirty="0">
                <a:latin typeface="Times New Roman" panose="02020603050405020304" pitchFamily="18" charset="0"/>
                <a:ea typeface="宋体" panose="02010600030101010101" pitchFamily="2" charset="-122"/>
              </a:rPr>
              <a:t>ADC </a:t>
            </a:r>
            <a:r>
              <a:rPr lang="zh-CN" altLang="en-US" dirty="0">
                <a:latin typeface="Times New Roman" panose="02020603050405020304" pitchFamily="18" charset="0"/>
                <a:ea typeface="宋体" panose="02010600030101010101" pitchFamily="2" charset="-122"/>
              </a:rPr>
              <a:t>和加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指令 </a:t>
            </a:r>
            <a:r>
              <a:rPr lang="en-US" altLang="zh-CN" dirty="0">
                <a:latin typeface="Times New Roman" panose="02020603050405020304" pitchFamily="18" charset="0"/>
                <a:ea typeface="宋体" panose="02010600030101010101" pitchFamily="2" charset="-122"/>
              </a:rPr>
              <a:t>INC</a:t>
            </a:r>
            <a:r>
              <a:rPr lang="zh-CN" altLang="en-US" dirty="0">
                <a:latin typeface="Times New Roman" panose="02020603050405020304" pitchFamily="18" charset="0"/>
                <a:ea typeface="宋体" panose="02010600030101010101" pitchFamily="2" charset="-122"/>
              </a:rPr>
              <a:t>。</a:t>
            </a:r>
          </a:p>
        </p:txBody>
      </p:sp>
      <p:sp>
        <p:nvSpPr>
          <p:cNvPr id="50180" name="矩形 4"/>
          <p:cNvSpPr/>
          <p:nvPr/>
        </p:nvSpPr>
        <p:spPr>
          <a:xfrm>
            <a:off x="315913" y="2635250"/>
            <a:ext cx="8335962" cy="3711575"/>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）普通加法指令 </a:t>
            </a:r>
            <a:r>
              <a:rPr lang="en-US" altLang="zh-CN" dirty="0">
                <a:solidFill>
                  <a:srgbClr val="FFC000"/>
                </a:solidFill>
                <a:latin typeface="Times New Roman" panose="02020603050405020304" pitchFamily="18" charset="0"/>
                <a:ea typeface="宋体" panose="02010600030101010101" pitchFamily="2" charset="-122"/>
              </a:rPr>
              <a:t>ADD</a:t>
            </a:r>
          </a:p>
          <a:p>
            <a:pPr>
              <a:lnSpc>
                <a:spcPct val="100000"/>
              </a:lnSpc>
            </a:pP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ADD OPRD1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OPRD2</a:t>
            </a:r>
            <a:r>
              <a:rPr lang="zh-CN" altLang="en-US" dirty="0">
                <a:latin typeface="Times New Roman" panose="02020603050405020304" pitchFamily="18" charset="0"/>
                <a:ea typeface="宋体" panose="02010600030101010101" pitchFamily="2" charset="-122"/>
              </a:rPr>
              <a:t>。</a:t>
            </a:r>
          </a:p>
          <a:p>
            <a:pPr>
              <a:lnSpc>
                <a:spcPct val="100000"/>
              </a:lnSpc>
            </a:pPr>
            <a:r>
              <a:rPr lang="zh-CN" altLang="en-US" dirty="0">
                <a:latin typeface="Times New Roman" panose="02020603050405020304" pitchFamily="18" charset="0"/>
                <a:ea typeface="宋体" panose="02010600030101010101" pitchFamily="2" charset="-122"/>
              </a:rPr>
              <a:t>指令功能：将源操作数和目标操作数相加，结果保留在目标操作数中。加法指令影响标志寄存器的标志位。源操作数和目标操作数均可以是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位的，也可以是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位的；可以是有符号数，也可以是无符号数；可以是寄存器操作数或存储器操作数。源操作数也可以是立即数，但需要注意以下两点：</a:t>
            </a:r>
          </a:p>
          <a:p>
            <a:pPr>
              <a:lnSpc>
                <a:spcPct val="100000"/>
              </a:lnSpc>
            </a:pPr>
            <a:r>
              <a:rPr lang="zh-CN" altLang="en-US" dirty="0">
                <a:latin typeface="Times New Roman" panose="02020603050405020304" pitchFamily="18" charset="0"/>
                <a:ea typeface="宋体" panose="02010600030101010101" pitchFamily="2" charset="-122"/>
              </a:rPr>
              <a:t>①目标操作数和源操作数不能同时为存储器。</a:t>
            </a:r>
          </a:p>
          <a:p>
            <a:pPr>
              <a:lnSpc>
                <a:spcPct val="100000"/>
              </a:lnSpc>
            </a:pPr>
            <a:r>
              <a:rPr lang="zh-CN" altLang="en-US" dirty="0">
                <a:latin typeface="Times New Roman" panose="02020603050405020304" pitchFamily="18" charset="0"/>
                <a:ea typeface="宋体" panose="02010600030101010101" pitchFamily="2" charset="-122"/>
              </a:rPr>
              <a:t>②不能对段寄存器进行算术运算。</a:t>
            </a:r>
          </a:p>
        </p:txBody>
      </p:sp>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51202" name="矩形 2"/>
          <p:cNvSpPr/>
          <p:nvPr/>
        </p:nvSpPr>
        <p:spPr>
          <a:xfrm>
            <a:off x="219075" y="1622425"/>
            <a:ext cx="8582025" cy="4376738"/>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）带进位的加法指令 </a:t>
            </a:r>
            <a:r>
              <a:rPr lang="en-US" altLang="zh-CN" dirty="0">
                <a:solidFill>
                  <a:srgbClr val="FFC000"/>
                </a:solidFill>
                <a:latin typeface="Times New Roman" panose="02020603050405020304" pitchFamily="18" charset="0"/>
                <a:ea typeface="宋体" panose="02010600030101010101" pitchFamily="2" charset="-122"/>
              </a:rPr>
              <a:t>ADC</a:t>
            </a:r>
          </a:p>
          <a:p>
            <a:pPr>
              <a:lnSpc>
                <a:spcPct val="100000"/>
              </a:lnSpc>
            </a:pP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ADC  OPRD1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OPRD2</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指令功能：带进位加法指令的操作过程与 </a:t>
            </a:r>
            <a:r>
              <a:rPr lang="en-US" altLang="zh-CN" dirty="0">
                <a:latin typeface="Times New Roman" panose="02020603050405020304" pitchFamily="18" charset="0"/>
                <a:ea typeface="宋体" panose="02010600030101010101" pitchFamily="2" charset="-122"/>
              </a:rPr>
              <a:t>ADD </a:t>
            </a:r>
            <a:r>
              <a:rPr lang="zh-CN" altLang="en-US" dirty="0">
                <a:latin typeface="Times New Roman" panose="02020603050405020304" pitchFamily="18" charset="0"/>
                <a:ea typeface="宋体" panose="02010600030101010101" pitchFamily="2" charset="-122"/>
              </a:rPr>
              <a:t>指令基本相同，唯一不同的是进位标志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的原状态一起参与加法运算，待运算结束后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将重新根据结果置成新的状态，即 </a:t>
            </a: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latin typeface="Times New Roman" panose="02020603050405020304" pitchFamily="18" charset="0"/>
                <a:ea typeface="宋体" panose="02010600030101010101" pitchFamily="2" charset="-122"/>
              </a:rPr>
              <a:t>                      OPRD1+ OPRD2+CF</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OPRD1</a:t>
            </a:r>
          </a:p>
          <a:p>
            <a:pPr>
              <a:lnSpc>
                <a:spcPct val="100000"/>
              </a:lnSpc>
            </a:pPr>
            <a:r>
              <a:rPr lang="zh-CN" altLang="en-US" dirty="0">
                <a:latin typeface="Times New Roman" panose="02020603050405020304" pitchFamily="18" charset="0"/>
                <a:ea typeface="宋体" panose="02010600030101010101" pitchFamily="2" charset="-122"/>
              </a:rPr>
              <a:t>这条指令对标志位的影响与 </a:t>
            </a:r>
            <a:r>
              <a:rPr lang="en-US" altLang="zh-CN" dirty="0">
                <a:latin typeface="Times New Roman" panose="02020603050405020304" pitchFamily="18" charset="0"/>
                <a:ea typeface="宋体" panose="02010600030101010101" pitchFamily="2" charset="-122"/>
              </a:rPr>
              <a:t>ADD </a:t>
            </a:r>
            <a:r>
              <a:rPr lang="zh-CN" altLang="en-US" dirty="0">
                <a:latin typeface="Times New Roman" panose="02020603050405020304" pitchFamily="18" charset="0"/>
                <a:ea typeface="宋体" panose="02010600030101010101" pitchFamily="2" charset="-122"/>
              </a:rPr>
              <a:t>相同，即对全部 </a:t>
            </a:r>
            <a:r>
              <a:rPr lang="en-US" altLang="zh-CN" dirty="0">
                <a:latin typeface="Times New Roman" panose="02020603050405020304" pitchFamily="18" charset="0"/>
                <a:ea typeface="宋体" panose="02010600030101010101" pitchFamily="2" charset="-122"/>
              </a:rPr>
              <a:t>6 </a:t>
            </a:r>
            <a:r>
              <a:rPr lang="zh-CN" altLang="en-US" dirty="0">
                <a:latin typeface="Times New Roman" panose="02020603050405020304" pitchFamily="18" charset="0"/>
                <a:ea typeface="宋体" panose="02010600030101010101" pitchFamily="2" charset="-122"/>
              </a:rPr>
              <a:t>个状态标志位都会产生影响。</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带进位加法指令主要用于多字节数据的加法运算。如果低字节相加时产生进位，则在下一次高字节相加时将这个进位加进去。</a:t>
            </a:r>
          </a:p>
        </p:txBody>
      </p:sp>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52226" name="矩形 2"/>
          <p:cNvSpPr/>
          <p:nvPr/>
        </p:nvSpPr>
        <p:spPr>
          <a:xfrm>
            <a:off x="658813" y="1724025"/>
            <a:ext cx="7623175" cy="4229100"/>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）加 </a:t>
            </a:r>
            <a:r>
              <a:rPr lang="en-US" altLang="zh-CN" dirty="0">
                <a:solidFill>
                  <a:srgbClr val="FFC000"/>
                </a:solidFill>
                <a:latin typeface="Times New Roman" panose="02020603050405020304" pitchFamily="18" charset="0"/>
                <a:ea typeface="宋体" panose="02010600030101010101" pitchFamily="2" charset="-122"/>
              </a:rPr>
              <a:t>1 </a:t>
            </a:r>
            <a:r>
              <a:rPr lang="zh-CN" altLang="en-US" dirty="0">
                <a:solidFill>
                  <a:srgbClr val="FFC000"/>
                </a:solidFill>
                <a:latin typeface="Times New Roman" panose="02020603050405020304" pitchFamily="18" charset="0"/>
                <a:ea typeface="宋体" panose="02010600030101010101" pitchFamily="2" charset="-122"/>
              </a:rPr>
              <a:t>指令 </a:t>
            </a:r>
            <a:r>
              <a:rPr lang="en-US" altLang="zh-CN" dirty="0">
                <a:solidFill>
                  <a:srgbClr val="FFC000"/>
                </a:solidFill>
                <a:latin typeface="Times New Roman" panose="02020603050405020304" pitchFamily="18" charset="0"/>
                <a:ea typeface="宋体" panose="02010600030101010101" pitchFamily="2" charset="-122"/>
              </a:rPr>
              <a:t>INC</a:t>
            </a:r>
          </a:p>
          <a:p>
            <a:pPr>
              <a:lnSpc>
                <a:spcPct val="100000"/>
              </a:lnSpc>
            </a:pP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INC OPRD</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 </a:t>
            </a:r>
            <a:r>
              <a:rPr lang="en-US" altLang="zh-CN" dirty="0">
                <a:latin typeface="Times New Roman" panose="02020603050405020304" pitchFamily="18" charset="0"/>
                <a:ea typeface="宋体" panose="02010600030101010101" pitchFamily="2" charset="-122"/>
              </a:rPr>
              <a:t>OPRD</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OPRD+1</a:t>
            </a:r>
            <a:r>
              <a:rPr lang="zh-CN" altLang="en-US" dirty="0">
                <a:latin typeface="Times New Roman" panose="02020603050405020304" pitchFamily="18" charset="0"/>
                <a:ea typeface="宋体" panose="02010600030101010101" pitchFamily="2" charset="-122"/>
              </a:rPr>
              <a:t>。完成对指定的操作数 </a:t>
            </a:r>
            <a:r>
              <a:rPr lang="en-US" altLang="zh-CN" dirty="0">
                <a:latin typeface="Times New Roman" panose="02020603050405020304" pitchFamily="18" charset="0"/>
                <a:ea typeface="宋体" panose="02010600030101010101" pitchFamily="2" charset="-122"/>
              </a:rPr>
              <a:t>OPRD </a:t>
            </a:r>
            <a:r>
              <a:rPr lang="zh-CN" altLang="en-US" dirty="0">
                <a:latin typeface="Times New Roman" panose="02020603050405020304" pitchFamily="18" charset="0"/>
                <a:ea typeface="宋体" panose="02010600030101010101" pitchFamily="2" charset="-122"/>
              </a:rPr>
              <a:t>加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，然后返回此操作数；此指令主要用于在循环程序中修改地址指针和循环次数等。</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该操作数可以是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位或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位的通用寄存器和存储器，但不能是段寄存器和立即数。指令</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将影响大多数标志位，如 </a:t>
            </a:r>
            <a:r>
              <a:rPr lang="en-US" altLang="zh-CN" dirty="0">
                <a:latin typeface="Times New Roman" panose="02020603050405020304" pitchFamily="18" charset="0"/>
                <a:ea typeface="宋体" panose="02010600030101010101" pitchFamily="2" charset="-122"/>
              </a:rPr>
              <a:t>SF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OF</a:t>
            </a:r>
            <a:r>
              <a:rPr lang="zh-CN" altLang="en-US" dirty="0">
                <a:latin typeface="Times New Roman" panose="02020603050405020304" pitchFamily="18" charset="0"/>
                <a:ea typeface="宋体" panose="02010600030101010101" pitchFamily="2" charset="-122"/>
              </a:rPr>
              <a:t>，但对进位标志（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）没有影响。</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53250" name="矩形 2"/>
          <p:cNvSpPr/>
          <p:nvPr/>
        </p:nvSpPr>
        <p:spPr>
          <a:xfrm>
            <a:off x="255588" y="1635125"/>
            <a:ext cx="8632825" cy="1568450"/>
          </a:xfrm>
          <a:prstGeom prst="rect">
            <a:avLst/>
          </a:prstGeom>
          <a:noFill/>
          <a:ln w="9525">
            <a:noFill/>
          </a:ln>
        </p:spPr>
        <p:txBody>
          <a:bodyPr anchor="t" anchorCtr="0">
            <a:spAutoFit/>
          </a:bodyPr>
          <a:lstStyle/>
          <a:p>
            <a:pPr>
              <a:lnSpc>
                <a:spcPct val="100000"/>
              </a:lnSpc>
              <a:spcBef>
                <a:spcPts val="1200"/>
              </a:spcBef>
            </a:pP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8086/8088 CPU </a:t>
            </a:r>
            <a:r>
              <a:rPr lang="zh-CN" altLang="en-US" dirty="0">
                <a:latin typeface="Times New Roman" panose="02020603050405020304" pitchFamily="18" charset="0"/>
                <a:ea typeface="宋体" panose="02010600030101010101" pitchFamily="2" charset="-122"/>
              </a:rPr>
              <a:t>指令系统共有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条减法指令，它们分别是普通减法指令，即不考虑借位的减法指令 </a:t>
            </a:r>
            <a:r>
              <a:rPr lang="en-US" altLang="zh-CN" dirty="0">
                <a:latin typeface="Times New Roman" panose="02020603050405020304" pitchFamily="18" charset="0"/>
                <a:ea typeface="宋体" panose="02010600030101010101" pitchFamily="2" charset="-122"/>
              </a:rPr>
              <a:t>SUB</a:t>
            </a:r>
            <a:r>
              <a:rPr lang="zh-CN" altLang="en-US" dirty="0">
                <a:latin typeface="Times New Roman" panose="02020603050405020304" pitchFamily="18" charset="0"/>
                <a:ea typeface="宋体" panose="02010600030101010101" pitchFamily="2" charset="-122"/>
              </a:rPr>
              <a:t>、考虑借位减法指令 </a:t>
            </a:r>
            <a:r>
              <a:rPr lang="en-US" altLang="zh-CN" dirty="0">
                <a:latin typeface="Times New Roman" panose="02020603050405020304" pitchFamily="18" charset="0"/>
                <a:ea typeface="宋体" panose="02010600030101010101" pitchFamily="2" charset="-122"/>
              </a:rPr>
              <a:t>SBB</a:t>
            </a:r>
            <a:r>
              <a:rPr lang="zh-CN" altLang="en-US" dirty="0">
                <a:latin typeface="Times New Roman" panose="02020603050405020304" pitchFamily="18" charset="0"/>
                <a:ea typeface="宋体" panose="02010600030101010101" pitchFamily="2" charset="-122"/>
              </a:rPr>
              <a:t>、减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指令 </a:t>
            </a:r>
            <a:r>
              <a:rPr lang="en-US" altLang="zh-CN" dirty="0">
                <a:latin typeface="Times New Roman" panose="02020603050405020304" pitchFamily="18" charset="0"/>
                <a:ea typeface="宋体" panose="02010600030101010101" pitchFamily="2" charset="-122"/>
              </a:rPr>
              <a:t>DEC</a:t>
            </a:r>
            <a:r>
              <a:rPr lang="zh-CN" altLang="en-US" dirty="0">
                <a:latin typeface="Times New Roman" panose="02020603050405020304" pitchFamily="18" charset="0"/>
                <a:ea typeface="宋体" panose="02010600030101010101" pitchFamily="2" charset="-122"/>
              </a:rPr>
              <a:t>、求补指令 </a:t>
            </a:r>
            <a:r>
              <a:rPr lang="en-US" altLang="zh-CN" dirty="0">
                <a:latin typeface="Times New Roman" panose="02020603050405020304" pitchFamily="18" charset="0"/>
                <a:ea typeface="宋体" panose="02010600030101010101" pitchFamily="2" charset="-122"/>
              </a:rPr>
              <a:t>NEG </a:t>
            </a:r>
            <a:r>
              <a:rPr lang="zh-CN" altLang="en-US" dirty="0">
                <a:latin typeface="Times New Roman" panose="02020603050405020304" pitchFamily="18" charset="0"/>
                <a:ea typeface="宋体" panose="02010600030101010101" pitchFamily="2" charset="-122"/>
              </a:rPr>
              <a:t>以及比较指令 </a:t>
            </a:r>
            <a:r>
              <a:rPr lang="en-US" altLang="zh-CN" dirty="0">
                <a:latin typeface="Times New Roman" panose="02020603050405020304" pitchFamily="18" charset="0"/>
                <a:ea typeface="宋体" panose="02010600030101010101" pitchFamily="2" charset="-122"/>
              </a:rPr>
              <a:t>CMP</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sp>
        <p:nvSpPr>
          <p:cNvPr id="53251" name="矩形 3"/>
          <p:cNvSpPr/>
          <p:nvPr/>
        </p:nvSpPr>
        <p:spPr>
          <a:xfrm>
            <a:off x="130175" y="1431925"/>
            <a:ext cx="1885950" cy="423863"/>
          </a:xfrm>
          <a:prstGeom prst="rect">
            <a:avLst/>
          </a:prstGeom>
          <a:noFill/>
          <a:ln w="9525">
            <a:noFill/>
          </a:ln>
        </p:spPr>
        <p:txBody>
          <a:bodyPr wrap="none"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．减法指令</a:t>
            </a:r>
            <a:endParaRPr lang="zh-CN" altLang="en-US" dirty="0">
              <a:latin typeface="Times New Roman" panose="02020603050405020304" pitchFamily="18" charset="0"/>
              <a:ea typeface="宋体" panose="02010600030101010101" pitchFamily="2" charset="-122"/>
            </a:endParaRPr>
          </a:p>
        </p:txBody>
      </p:sp>
      <p:sp>
        <p:nvSpPr>
          <p:cNvPr id="53252" name="矩形 4"/>
          <p:cNvSpPr/>
          <p:nvPr/>
        </p:nvSpPr>
        <p:spPr>
          <a:xfrm>
            <a:off x="263525" y="3241675"/>
            <a:ext cx="8450263" cy="3046413"/>
          </a:xfrm>
          <a:prstGeom prst="rect">
            <a:avLst/>
          </a:prstGeom>
          <a:noFill/>
          <a:ln w="9525">
            <a:noFill/>
          </a:ln>
        </p:spPr>
        <p:txBody>
          <a:bodyPr anchor="t" anchorCtr="0">
            <a:spAutoFit/>
          </a:bodyPr>
          <a:lstStyle/>
          <a:p>
            <a:pPr>
              <a:lnSpc>
                <a:spcPct val="100000"/>
              </a:lnSpc>
              <a:spcBef>
                <a:spcPts val="1200"/>
              </a:spcBef>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）不考虑借位的减法指令 </a:t>
            </a:r>
            <a:r>
              <a:rPr lang="en-US" altLang="zh-CN" dirty="0">
                <a:solidFill>
                  <a:srgbClr val="FFC000"/>
                </a:solidFill>
                <a:latin typeface="Times New Roman" panose="02020603050405020304" pitchFamily="18" charset="0"/>
                <a:ea typeface="宋体" panose="02010600030101010101" pitchFamily="2" charset="-122"/>
              </a:rPr>
              <a:t>SUB</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SUB OPRD1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OPRD2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OPRD1 </a:t>
            </a:r>
            <a:r>
              <a:rPr lang="zh-CN" altLang="en-US" dirty="0">
                <a:latin typeface="Times New Roman" panose="02020603050405020304" pitchFamily="18" charset="0"/>
                <a:ea typeface="宋体" panose="02010600030101010101" pitchFamily="2" charset="-122"/>
              </a:rPr>
              <a:t>是被减数， </a:t>
            </a:r>
            <a:r>
              <a:rPr lang="en-US" altLang="zh-CN" dirty="0">
                <a:latin typeface="Times New Roman" panose="02020603050405020304" pitchFamily="18" charset="0"/>
                <a:ea typeface="宋体" panose="02010600030101010101" pitchFamily="2" charset="-122"/>
              </a:rPr>
              <a:t>OPRD2 </a:t>
            </a:r>
            <a:r>
              <a:rPr lang="zh-CN" altLang="en-US" dirty="0">
                <a:latin typeface="Times New Roman" panose="02020603050405020304" pitchFamily="18" charset="0"/>
                <a:ea typeface="宋体" panose="02010600030101010101" pitchFamily="2" charset="-122"/>
              </a:rPr>
              <a:t>是减数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 </a:t>
            </a:r>
            <a:r>
              <a:rPr lang="en-US" altLang="zh-CN" dirty="0">
                <a:latin typeface="Times New Roman" panose="02020603050405020304" pitchFamily="18" charset="0"/>
                <a:ea typeface="宋体" panose="02010600030101010101" pitchFamily="2" charset="-122"/>
              </a:rPr>
              <a:t>OPRD1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OPRD1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OPRD2</a:t>
            </a:r>
            <a:r>
              <a:rPr lang="zh-CN" altLang="en-US" dirty="0">
                <a:latin typeface="Times New Roman" panose="02020603050405020304" pitchFamily="18" charset="0"/>
                <a:ea typeface="宋体" panose="02010600030101010101" pitchFamily="2" charset="-122"/>
              </a:rPr>
              <a:t>。完成两个操作数相减，是用目标操作数减去源操作数，并将结果存放到目标操作数所在的地址中。</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该指令对操作数的要求和 </a:t>
            </a:r>
            <a:r>
              <a:rPr lang="en-US" altLang="zh-CN" dirty="0">
                <a:latin typeface="Times New Roman" panose="02020603050405020304" pitchFamily="18" charset="0"/>
                <a:ea typeface="宋体" panose="02010600030101010101" pitchFamily="2" charset="-122"/>
              </a:rPr>
              <a:t>ADD </a:t>
            </a:r>
            <a:r>
              <a:rPr lang="zh-CN" altLang="en-US" dirty="0">
                <a:latin typeface="Times New Roman" panose="02020603050405020304" pitchFamily="18" charset="0"/>
                <a:ea typeface="宋体" panose="02010600030101010101" pitchFamily="2" charset="-122"/>
              </a:rPr>
              <a:t>指令一样，对标志位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ZF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AF </a:t>
            </a:r>
            <a:r>
              <a:rPr lang="zh-CN" altLang="en-US" dirty="0">
                <a:latin typeface="Times New Roman" panose="02020603050405020304" pitchFamily="18" charset="0"/>
                <a:ea typeface="宋体" panose="02010600030101010101" pitchFamily="2" charset="-122"/>
              </a:rPr>
              <a:t>都有影响。</a:t>
            </a:r>
          </a:p>
        </p:txBody>
      </p:sp>
    </p:spTree>
  </p:cSld>
  <p:clrMapOvr>
    <a:masterClrMapping/>
  </p:clrMapOvr>
  <p:transition spd="med">
    <p:random/>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54274" name="矩形 2"/>
          <p:cNvSpPr/>
          <p:nvPr/>
        </p:nvSpPr>
        <p:spPr>
          <a:xfrm>
            <a:off x="273050" y="1539875"/>
            <a:ext cx="8589963" cy="1754188"/>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）考虑借位的减法指令 </a:t>
            </a:r>
            <a:r>
              <a:rPr lang="en-US" altLang="zh-CN" dirty="0">
                <a:solidFill>
                  <a:srgbClr val="FFC000"/>
                </a:solidFill>
                <a:latin typeface="Times New Roman" panose="02020603050405020304" pitchFamily="18" charset="0"/>
                <a:ea typeface="宋体" panose="02010600030101010101" pitchFamily="2" charset="-122"/>
              </a:rPr>
              <a:t>SBB</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SBB OPRD1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OPRD2</a:t>
            </a:r>
            <a:r>
              <a:rPr lang="zh-CN" altLang="en-US" dirty="0">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 </a:t>
            </a:r>
            <a:r>
              <a:rPr lang="en-US" altLang="zh-CN" dirty="0">
                <a:latin typeface="Times New Roman" panose="02020603050405020304" pitchFamily="18" charset="0"/>
                <a:ea typeface="宋体" panose="02010600030101010101" pitchFamily="2" charset="-122"/>
              </a:rPr>
              <a:t>OPRD1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OPRD1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OPRD2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CF</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对操作数的要求和对状态标志位的影响和 </a:t>
            </a:r>
            <a:r>
              <a:rPr lang="en-US" altLang="zh-CN" dirty="0">
                <a:latin typeface="Times New Roman" panose="02020603050405020304" pitchFamily="18" charset="0"/>
                <a:ea typeface="宋体" panose="02010600030101010101" pitchFamily="2" charset="-122"/>
              </a:rPr>
              <a:t>SUB </a:t>
            </a:r>
            <a:r>
              <a:rPr lang="zh-CN" altLang="en-US" dirty="0">
                <a:latin typeface="Times New Roman" panose="02020603050405020304" pitchFamily="18" charset="0"/>
                <a:ea typeface="宋体" panose="02010600030101010101" pitchFamily="2" charset="-122"/>
              </a:rPr>
              <a:t>指令完全一样。</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本指令主要用于多字节的减法运算。</a:t>
            </a:r>
          </a:p>
        </p:txBody>
      </p:sp>
      <p:sp>
        <p:nvSpPr>
          <p:cNvPr id="54275" name="矩形 3"/>
          <p:cNvSpPr/>
          <p:nvPr/>
        </p:nvSpPr>
        <p:spPr>
          <a:xfrm>
            <a:off x="246063" y="3440113"/>
            <a:ext cx="8572500" cy="2751137"/>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）减 </a:t>
            </a:r>
            <a:r>
              <a:rPr lang="en-US" altLang="zh-CN" dirty="0">
                <a:solidFill>
                  <a:srgbClr val="FFC000"/>
                </a:solidFill>
                <a:latin typeface="Times New Roman" panose="02020603050405020304" pitchFamily="18" charset="0"/>
                <a:ea typeface="宋体" panose="02010600030101010101" pitchFamily="2" charset="-122"/>
              </a:rPr>
              <a:t>1 </a:t>
            </a:r>
            <a:r>
              <a:rPr lang="zh-CN" altLang="en-US" dirty="0">
                <a:solidFill>
                  <a:srgbClr val="FFC000"/>
                </a:solidFill>
                <a:latin typeface="Times New Roman" panose="02020603050405020304" pitchFamily="18" charset="0"/>
                <a:ea typeface="宋体" panose="02010600030101010101" pitchFamily="2" charset="-122"/>
              </a:rPr>
              <a:t>指令 </a:t>
            </a:r>
            <a:r>
              <a:rPr lang="en-US" altLang="zh-CN" dirty="0">
                <a:solidFill>
                  <a:srgbClr val="FFC000"/>
                </a:solidFill>
                <a:latin typeface="Times New Roman" panose="02020603050405020304" pitchFamily="18" charset="0"/>
                <a:ea typeface="宋体" panose="02010600030101010101" pitchFamily="2" charset="-122"/>
              </a:rPr>
              <a:t>DEC</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DEC OPRD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OPRD</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指令功能：将目标操作数减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，回送目标操作数。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本指令对操作数的要求和对状态标志位的影响和 </a:t>
            </a:r>
            <a:r>
              <a:rPr lang="en-US" altLang="zh-CN" dirty="0">
                <a:latin typeface="Times New Roman" panose="02020603050405020304" pitchFamily="18" charset="0"/>
                <a:ea typeface="宋体" panose="02010600030101010101" pitchFamily="2" charset="-122"/>
              </a:rPr>
              <a:t>INC </a:t>
            </a:r>
            <a:r>
              <a:rPr lang="zh-CN" altLang="en-US" dirty="0">
                <a:latin typeface="Times New Roman" panose="02020603050405020304" pitchFamily="18" charset="0"/>
                <a:ea typeface="宋体" panose="02010600030101010101" pitchFamily="2" charset="-122"/>
              </a:rPr>
              <a:t>指令完全一样，操作数可以是字节或字类型的寄存器（段寄存器除外），也可以是存储器；指令将影响大多数标志位，如 </a:t>
            </a:r>
            <a:r>
              <a:rPr lang="en-US" altLang="zh-CN" dirty="0">
                <a:latin typeface="Times New Roman" panose="02020603050405020304" pitchFamily="18" charset="0"/>
                <a:ea typeface="宋体" panose="02010600030101010101" pitchFamily="2" charset="-122"/>
              </a:rPr>
              <a:t>SF</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OF</a:t>
            </a:r>
            <a:r>
              <a:rPr lang="zh-CN" altLang="en-US" dirty="0">
                <a:latin typeface="Times New Roman" panose="02020603050405020304" pitchFamily="18" charset="0"/>
                <a:ea typeface="宋体" panose="02010600030101010101" pitchFamily="2" charset="-122"/>
              </a:rPr>
              <a:t>，但对进位标志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没有影响。</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55298" name="矩形 2"/>
          <p:cNvSpPr/>
          <p:nvPr/>
        </p:nvSpPr>
        <p:spPr>
          <a:xfrm>
            <a:off x="273050" y="1312863"/>
            <a:ext cx="8493125" cy="3416300"/>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）求补指令 </a:t>
            </a:r>
            <a:r>
              <a:rPr lang="en-US" altLang="zh-CN" dirty="0">
                <a:solidFill>
                  <a:srgbClr val="FFC000"/>
                </a:solidFill>
                <a:latin typeface="Times New Roman" panose="02020603050405020304" pitchFamily="18" charset="0"/>
                <a:ea typeface="宋体" panose="02010600030101010101" pitchFamily="2" charset="-122"/>
              </a:rPr>
              <a:t>NEG</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NEG OPRD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OPRD</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指令功能：用“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”减去目标操作数 </a:t>
            </a:r>
            <a:r>
              <a:rPr lang="en-US" altLang="zh-CN" dirty="0">
                <a:latin typeface="Times New Roman" panose="02020603050405020304" pitchFamily="18" charset="0"/>
                <a:ea typeface="宋体" panose="02010600030101010101" pitchFamily="2" charset="-122"/>
              </a:rPr>
              <a:t>OPRD</a:t>
            </a:r>
            <a:r>
              <a:rPr lang="zh-CN" altLang="en-US" dirty="0">
                <a:latin typeface="Times New Roman" panose="02020603050405020304" pitchFamily="18" charset="0"/>
                <a:ea typeface="宋体" panose="02010600030101010101" pitchFamily="2" charset="-122"/>
              </a:rPr>
              <a:t>，结果回送目标操作数 </a:t>
            </a:r>
            <a:r>
              <a:rPr lang="en-US" altLang="zh-CN" dirty="0">
                <a:latin typeface="Times New Roman" panose="02020603050405020304" pitchFamily="18" charset="0"/>
                <a:ea typeface="宋体" panose="02010600030101010101" pitchFamily="2" charset="-122"/>
              </a:rPr>
              <a:t>OPRD </a:t>
            </a:r>
            <a:r>
              <a:rPr lang="zh-CN" altLang="en-US" dirty="0">
                <a:latin typeface="Times New Roman" panose="02020603050405020304" pitchFamily="18" charset="0"/>
                <a:ea typeface="宋体" panose="02010600030101010101" pitchFamily="2" charset="-122"/>
              </a:rPr>
              <a:t>所在地址处。由于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OPRD=0FFFFH</a:t>
            </a:r>
            <a:r>
              <a:rPr lang="zh-CN" altLang="en-US" dirty="0">
                <a:latin typeface="Times New Roman" panose="02020603050405020304" pitchFamily="18" charset="0"/>
                <a:ea typeface="宋体" panose="02010600030101010101" pitchFamily="2" charset="-122"/>
              </a:rPr>
              <a:t>（或者 </a:t>
            </a:r>
            <a:r>
              <a:rPr lang="en-US" altLang="zh-CN" dirty="0">
                <a:latin typeface="Times New Roman" panose="02020603050405020304" pitchFamily="18" charset="0"/>
                <a:ea typeface="宋体" panose="02010600030101010101" pitchFamily="2" charset="-122"/>
              </a:rPr>
              <a:t>0FFH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OPRD+1</a:t>
            </a:r>
            <a:r>
              <a:rPr lang="zh-CN" altLang="en-US" dirty="0">
                <a:latin typeface="Times New Roman" panose="02020603050405020304" pitchFamily="18" charset="0"/>
                <a:ea typeface="宋体" panose="02010600030101010101" pitchFamily="2" charset="-122"/>
              </a:rPr>
              <a:t>，相当于把操作数按位求反后末位加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，因此该指令称为求补操作。该指令操作数可以是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位或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位的通用寄存器或者存储器操作数。</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NEG </a:t>
            </a:r>
            <a:r>
              <a:rPr lang="zh-CN" altLang="en-US" dirty="0">
                <a:latin typeface="Times New Roman" panose="02020603050405020304" pitchFamily="18" charset="0"/>
                <a:ea typeface="宋体" panose="02010600030101010101" pitchFamily="2" charset="-122"/>
              </a:rPr>
              <a:t>指令对标志寄存器中的 </a:t>
            </a:r>
            <a:r>
              <a:rPr lang="en-US" altLang="zh-CN" dirty="0">
                <a:latin typeface="Times New Roman" panose="02020603050405020304" pitchFamily="18" charset="0"/>
                <a:ea typeface="宋体" panose="02010600030101010101" pitchFamily="2" charset="-122"/>
              </a:rPr>
              <a:t>6 </a:t>
            </a:r>
            <a:r>
              <a:rPr lang="zh-CN" altLang="en-US" dirty="0">
                <a:latin typeface="Times New Roman" panose="02020603050405020304" pitchFamily="18" charset="0"/>
                <a:ea typeface="宋体" panose="02010600030101010101" pitchFamily="2" charset="-122"/>
              </a:rPr>
              <a:t>个状态标志均有影响。</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55299" name="矩形 3"/>
          <p:cNvSpPr/>
          <p:nvPr/>
        </p:nvSpPr>
        <p:spPr>
          <a:xfrm>
            <a:off x="263525" y="4379913"/>
            <a:ext cx="8502650" cy="2308225"/>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5</a:t>
            </a:r>
            <a:r>
              <a:rPr lang="zh-CN" altLang="en-US" dirty="0">
                <a:solidFill>
                  <a:srgbClr val="FFC000"/>
                </a:solidFill>
                <a:latin typeface="Times New Roman" panose="02020603050405020304" pitchFamily="18" charset="0"/>
                <a:ea typeface="宋体" panose="02010600030101010101" pitchFamily="2" charset="-122"/>
              </a:rPr>
              <a:t>）比较指令 </a:t>
            </a:r>
            <a:r>
              <a:rPr lang="en-US" altLang="zh-CN" dirty="0">
                <a:solidFill>
                  <a:srgbClr val="FFC000"/>
                </a:solidFill>
                <a:latin typeface="Times New Roman" panose="02020603050405020304" pitchFamily="18" charset="0"/>
                <a:ea typeface="宋体" panose="02010600030101010101" pitchFamily="2" charset="-122"/>
              </a:rPr>
              <a:t>CMP</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CMP OPRD1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OPRD2</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指令功能：将目标操作数与源操作数相减，运算结果不送回目标操作数，运算结果只影响 标志位。</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CMP </a:t>
            </a:r>
            <a:r>
              <a:rPr lang="zh-CN" altLang="en-US" dirty="0">
                <a:latin typeface="Times New Roman" panose="02020603050405020304" pitchFamily="18" charset="0"/>
                <a:ea typeface="宋体" panose="02010600030101010101" pitchFamily="2" charset="-122"/>
              </a:rPr>
              <a:t>指令的源操作数可以是立即数、寄存器或者存储器，目标操作数只能是寄存器或者存储器。</a:t>
            </a: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56322" name="矩形 2"/>
          <p:cNvSpPr/>
          <p:nvPr/>
        </p:nvSpPr>
        <p:spPr>
          <a:xfrm>
            <a:off x="377825" y="1647825"/>
            <a:ext cx="8520113" cy="4672013"/>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比较指令主要用于比较两个数之间的关系。在比较指令之后，根据 </a:t>
            </a:r>
            <a:r>
              <a:rPr lang="en-US" altLang="zh-CN" dirty="0">
                <a:latin typeface="Times New Roman" panose="02020603050405020304" pitchFamily="18" charset="0"/>
                <a:ea typeface="宋体" panose="02010600030101010101" pitchFamily="2" charset="-122"/>
              </a:rPr>
              <a:t>ZF </a:t>
            </a:r>
            <a:r>
              <a:rPr lang="zh-CN" altLang="en-US" dirty="0">
                <a:latin typeface="Times New Roman" panose="02020603050405020304" pitchFamily="18" charset="0"/>
                <a:ea typeface="宋体" panose="02010600030101010101" pitchFamily="2" charset="-122"/>
              </a:rPr>
              <a:t>标志即可对两者进行比较。</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）相等的比较：</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如果 </a:t>
            </a:r>
            <a:r>
              <a:rPr lang="en-US" altLang="zh-CN" dirty="0">
                <a:latin typeface="Times New Roman" panose="02020603050405020304" pitchFamily="18" charset="0"/>
                <a:ea typeface="宋体" panose="02010600030101010101" pitchFamily="2" charset="-122"/>
              </a:rPr>
              <a:t>ZF=1</a:t>
            </a:r>
            <a:r>
              <a:rPr lang="zh-CN" altLang="en-US" dirty="0">
                <a:latin typeface="Times New Roman" panose="02020603050405020304" pitchFamily="18" charset="0"/>
                <a:ea typeface="宋体" panose="02010600030101010101" pitchFamily="2" charset="-122"/>
              </a:rPr>
              <a:t>，则两个操作数相等，否则两个操作数不相等。</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）大小的比较：</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①两个无符号数进行比较，则可以根据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标志的状态判断两数大小。若结果没有产生借位（ </a:t>
            </a:r>
            <a:r>
              <a:rPr lang="en-US" altLang="zh-CN" dirty="0">
                <a:latin typeface="Times New Roman" panose="02020603050405020304" pitchFamily="18" charset="0"/>
                <a:ea typeface="宋体" panose="02010600030101010101" pitchFamily="2" charset="-122"/>
              </a:rPr>
              <a:t>CF=0</a:t>
            </a:r>
            <a:r>
              <a:rPr lang="zh-CN" altLang="en-US" dirty="0">
                <a:latin typeface="Times New Roman" panose="02020603050405020304" pitchFamily="18" charset="0"/>
                <a:ea typeface="宋体" panose="02010600030101010101" pitchFamily="2" charset="-122"/>
              </a:rPr>
              <a:t>），则被减数大于减数；若产生了借位（即</a:t>
            </a:r>
            <a:r>
              <a:rPr lang="en-US" altLang="zh-CN" dirty="0">
                <a:latin typeface="Times New Roman" panose="02020603050405020304" pitchFamily="18" charset="0"/>
                <a:ea typeface="宋体" panose="02010600030101010101" pitchFamily="2" charset="-122"/>
              </a:rPr>
              <a:t>CF=1</a:t>
            </a:r>
            <a:r>
              <a:rPr lang="zh-CN" altLang="en-US" dirty="0">
                <a:latin typeface="Times New Roman" panose="02020603050405020304" pitchFamily="18" charset="0"/>
                <a:ea typeface="宋体" panose="02010600030101010101" pitchFamily="2" charset="-122"/>
              </a:rPr>
              <a:t>），则 被减数小于减数。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②两个有符号数的比较：</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当 </a:t>
            </a:r>
            <a:r>
              <a:rPr lang="en-US" altLang="zh-CN" dirty="0">
                <a:latin typeface="Times New Roman" panose="02020603050405020304" pitchFamily="18" charset="0"/>
                <a:ea typeface="宋体" panose="02010600030101010101" pitchFamily="2" charset="-122"/>
              </a:rPr>
              <a:t>OF</a:t>
            </a:r>
            <a:r>
              <a:rPr lang="zh-CN" altLang="en-US" b="0"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SF=0 </a:t>
            </a:r>
            <a:r>
              <a:rPr lang="zh-CN" altLang="en-US" dirty="0">
                <a:latin typeface="Times New Roman" panose="02020603050405020304" pitchFamily="18" charset="0"/>
                <a:ea typeface="宋体" panose="02010600030101010101" pitchFamily="2" charset="-122"/>
              </a:rPr>
              <a:t>时，被减数大于减数；当 </a:t>
            </a:r>
            <a:r>
              <a:rPr lang="en-US" altLang="zh-CN" dirty="0">
                <a:latin typeface="Times New Roman" panose="02020603050405020304" pitchFamily="18" charset="0"/>
                <a:ea typeface="宋体" panose="02010600030101010101" pitchFamily="2" charset="-122"/>
              </a:rPr>
              <a:t>OF</a:t>
            </a:r>
            <a:r>
              <a:rPr lang="zh-CN" altLang="en-US" b="0"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SF=1 </a:t>
            </a:r>
            <a:r>
              <a:rPr lang="zh-CN" altLang="en-US" dirty="0">
                <a:latin typeface="Times New Roman" panose="02020603050405020304" pitchFamily="18" charset="0"/>
                <a:ea typeface="宋体" panose="02010600030101010101" pitchFamily="2" charset="-122"/>
              </a:rPr>
              <a:t>时，被减数小于减数。</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57346" name="矩形 2"/>
          <p:cNvSpPr/>
          <p:nvPr/>
        </p:nvSpPr>
        <p:spPr>
          <a:xfrm>
            <a:off x="131763" y="1423988"/>
            <a:ext cx="4572000" cy="757237"/>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．乘法指令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57347" name="矩形 3"/>
          <p:cNvSpPr/>
          <p:nvPr/>
        </p:nvSpPr>
        <p:spPr>
          <a:xfrm>
            <a:off x="255588" y="2058988"/>
            <a:ext cx="8572500" cy="2751137"/>
          </a:xfrm>
          <a:prstGeom prst="rect">
            <a:avLst/>
          </a:prstGeom>
          <a:noFill/>
          <a:ln w="9525">
            <a:noFill/>
          </a:ln>
        </p:spPr>
        <p:txBody>
          <a:bodyPr anchor="t" anchorCtr="0">
            <a:spAutoFit/>
          </a:bodyPr>
          <a:lstStyle/>
          <a:p>
            <a:r>
              <a:rPr lang="zh-CN" altLang="en-US" dirty="0">
                <a:latin typeface="Times New Roman" panose="02020603050405020304" pitchFamily="18" charset="0"/>
                <a:ea typeface="宋体" panose="02010600030101010101" pitchFamily="2" charset="-122"/>
              </a:rPr>
              <a:t>        乘法指令包括无符号乘法指令 </a:t>
            </a:r>
            <a:r>
              <a:rPr lang="en-US" altLang="zh-CN" dirty="0">
                <a:latin typeface="Times New Roman" panose="02020603050405020304" pitchFamily="18" charset="0"/>
                <a:ea typeface="宋体" panose="02010600030101010101" pitchFamily="2" charset="-122"/>
              </a:rPr>
              <a:t>MUL </a:t>
            </a:r>
            <a:r>
              <a:rPr lang="zh-CN" altLang="en-US" dirty="0">
                <a:latin typeface="Times New Roman" panose="02020603050405020304" pitchFamily="18" charset="0"/>
                <a:ea typeface="宋体" panose="02010600030101010101" pitchFamily="2" charset="-122"/>
              </a:rPr>
              <a:t>和有符号乘法指令 </a:t>
            </a:r>
            <a:r>
              <a:rPr lang="en-US" altLang="zh-CN" dirty="0">
                <a:latin typeface="Times New Roman" panose="02020603050405020304" pitchFamily="18" charset="0"/>
                <a:ea typeface="宋体" panose="02010600030101010101" pitchFamily="2" charset="-122"/>
              </a:rPr>
              <a:t>IMUL</a:t>
            </a:r>
            <a:r>
              <a:rPr lang="zh-CN" altLang="en-US" dirty="0">
                <a:latin typeface="Times New Roman" panose="02020603050405020304" pitchFamily="18" charset="0"/>
                <a:ea typeface="宋体" panose="02010600030101010101" pitchFamily="2" charset="-122"/>
              </a:rPr>
              <a:t>。乘法指令采用隐含寻址方式，隐含的操作数是目标操作数，目标操作数实际存在于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DX </a:t>
            </a:r>
            <a:r>
              <a:rPr lang="zh-CN" altLang="en-US" dirty="0">
                <a:latin typeface="Times New Roman" panose="02020603050405020304" pitchFamily="18" charset="0"/>
                <a:ea typeface="宋体" panose="02010600030101010101" pitchFamily="2" charset="-122"/>
              </a:rPr>
              <a:t>中，而源操作数由指令直接给出。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乘法指令可以完成字节与字节的相乘或者字与字的相乘。如果是字节与字节相乘，则乘积为字，结果存放在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中；如果是字与字相乘，则乘积为双字，结果存放在 </a:t>
            </a:r>
            <a:r>
              <a:rPr lang="en-US" altLang="zh-CN" dirty="0">
                <a:latin typeface="Times New Roman" panose="02020603050405020304" pitchFamily="18" charset="0"/>
                <a:ea typeface="宋体" panose="02010600030101010101" pitchFamily="2" charset="-122"/>
              </a:rPr>
              <a:t>DX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中，其中 </a:t>
            </a:r>
            <a:r>
              <a:rPr lang="en-US" altLang="zh-CN" dirty="0">
                <a:latin typeface="Times New Roman" panose="02020603050405020304" pitchFamily="18" charset="0"/>
                <a:ea typeface="宋体" panose="02010600030101010101" pitchFamily="2" charset="-122"/>
              </a:rPr>
              <a:t>DX </a:t>
            </a:r>
            <a:r>
              <a:rPr lang="zh-CN" altLang="en-US" dirty="0">
                <a:latin typeface="Times New Roman" panose="02020603050405020304" pitchFamily="18" charset="0"/>
                <a:ea typeface="宋体" panose="02010600030101010101" pitchFamily="2" charset="-122"/>
              </a:rPr>
              <a:t>用于存放乘积的高位字，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用于存放乘积的低位字。</a:t>
            </a:r>
          </a:p>
        </p:txBody>
      </p:sp>
    </p:spTree>
  </p:cSld>
  <p:clrMapOvr>
    <a:masterClrMapping/>
  </p:clrMapOvr>
  <p:transition spd="med">
    <p:random/>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58370" name="矩形 2"/>
          <p:cNvSpPr/>
          <p:nvPr/>
        </p:nvSpPr>
        <p:spPr>
          <a:xfrm>
            <a:off x="377825" y="1509713"/>
            <a:ext cx="8132763" cy="5041900"/>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）无符号乘法指令 </a:t>
            </a:r>
            <a:r>
              <a:rPr lang="en-US" altLang="zh-CN" dirty="0">
                <a:solidFill>
                  <a:srgbClr val="FFC000"/>
                </a:solidFill>
                <a:latin typeface="Times New Roman" panose="02020603050405020304" pitchFamily="18" charset="0"/>
                <a:ea typeface="宋体" panose="02010600030101010101" pitchFamily="2" charset="-122"/>
              </a:rPr>
              <a:t>MUL</a:t>
            </a:r>
          </a:p>
          <a:p>
            <a:pPr>
              <a:lnSpc>
                <a:spcPct val="100000"/>
              </a:lnSpc>
            </a:pP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MUL OPRD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 </a:t>
            </a:r>
            <a:r>
              <a:rPr lang="zh-CN" altLang="en-US" dirty="0">
                <a:latin typeface="Times New Roman" panose="02020603050405020304" pitchFamily="18" charset="0"/>
                <a:ea typeface="宋体" panose="02010600030101010101" pitchFamily="2" charset="-122"/>
              </a:rPr>
              <a:t>为源操作数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无符号乘法指令 </a:t>
            </a:r>
            <a:r>
              <a:rPr lang="en-US" altLang="zh-CN" dirty="0">
                <a:latin typeface="Times New Roman" panose="02020603050405020304" pitchFamily="18" charset="0"/>
                <a:ea typeface="宋体" panose="02010600030101010101" pitchFamily="2" charset="-122"/>
              </a:rPr>
              <a:t>MUL </a:t>
            </a:r>
            <a:r>
              <a:rPr lang="zh-CN" altLang="en-US" dirty="0">
                <a:latin typeface="Times New Roman" panose="02020603050405020304" pitchFamily="18" charset="0"/>
                <a:ea typeface="宋体" panose="02010600030101010101" pitchFamily="2" charset="-122"/>
              </a:rPr>
              <a:t>的操作数是无符号数，可以完成字节与字节相乘、字与字相乘，且默认的操作数放在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中，而源操作数由指令给出。指令操作过程如下：</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字节乘法：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 × AL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字乘法： </a:t>
            </a:r>
            <a:r>
              <a:rPr lang="en-US" altLang="zh-CN" dirty="0">
                <a:latin typeface="Times New Roman" panose="02020603050405020304" pitchFamily="18" charset="0"/>
                <a:ea typeface="宋体" panose="02010600030101010101" pitchFamily="2" charset="-122"/>
              </a:rPr>
              <a:t>DX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 × AX</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源操作数不能为立即数，且应满足无符号数的表示范围。</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该指令对标志位有影响。当乘积的高半部分（在字节相乘时为 </a:t>
            </a:r>
            <a:r>
              <a:rPr lang="en-US" altLang="zh-CN" dirty="0">
                <a:latin typeface="Times New Roman" panose="02020603050405020304" pitchFamily="18" charset="0"/>
                <a:ea typeface="宋体" panose="02010600030101010101" pitchFamily="2" charset="-122"/>
              </a:rPr>
              <a:t>AH</a:t>
            </a:r>
            <a:r>
              <a:rPr lang="zh-CN" altLang="en-US" dirty="0">
                <a:latin typeface="Times New Roman" panose="02020603050405020304" pitchFamily="18" charset="0"/>
                <a:ea typeface="宋体" panose="02010600030101010101" pitchFamily="2" charset="-122"/>
              </a:rPr>
              <a:t>，在字相乘时为 </a:t>
            </a:r>
            <a:r>
              <a:rPr lang="en-US" altLang="zh-CN" dirty="0">
                <a:latin typeface="Times New Roman" panose="02020603050405020304" pitchFamily="18" charset="0"/>
                <a:ea typeface="宋体" panose="02010600030101010101" pitchFamily="2" charset="-122"/>
              </a:rPr>
              <a:t>DX</a:t>
            </a:r>
            <a:r>
              <a:rPr lang="zh-CN" altLang="en-US" dirty="0">
                <a:latin typeface="Times New Roman" panose="02020603050405020304" pitchFamily="18" charset="0"/>
                <a:ea typeface="宋体" panose="02010600030101010101" pitchFamily="2" charset="-122"/>
              </a:rPr>
              <a:t>）不为零时，则 </a:t>
            </a:r>
            <a:r>
              <a:rPr lang="en-US" altLang="zh-CN" dirty="0">
                <a:latin typeface="Times New Roman" panose="02020603050405020304" pitchFamily="18" charset="0"/>
                <a:ea typeface="宋体" panose="02010600030101010101" pitchFamily="2" charset="-122"/>
              </a:rPr>
              <a:t>CF=OF=1</a:t>
            </a:r>
            <a:r>
              <a:rPr lang="zh-CN" altLang="en-US" dirty="0">
                <a:latin typeface="Times New Roman" panose="02020603050405020304" pitchFamily="18" charset="0"/>
                <a:ea typeface="宋体" panose="02010600030101010101" pitchFamily="2" charset="-122"/>
              </a:rPr>
              <a:t>，代表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DX </a:t>
            </a:r>
            <a:r>
              <a:rPr lang="zh-CN" altLang="en-US" dirty="0">
                <a:latin typeface="Times New Roman" panose="02020603050405020304" pitchFamily="18" charset="0"/>
                <a:ea typeface="宋体" panose="02010600030101010101" pitchFamily="2" charset="-122"/>
              </a:rPr>
              <a:t>中包含乘积的有效数字；否则 </a:t>
            </a:r>
            <a:r>
              <a:rPr lang="en-US" altLang="zh-CN" dirty="0">
                <a:latin typeface="Times New Roman" panose="02020603050405020304" pitchFamily="18" charset="0"/>
                <a:ea typeface="宋体" panose="02010600030101010101" pitchFamily="2" charset="-122"/>
              </a:rPr>
              <a:t>CF=OF=0</a:t>
            </a:r>
            <a:r>
              <a:rPr lang="zh-CN" altLang="en-US" dirty="0">
                <a:latin typeface="Times New Roman" panose="02020603050405020304" pitchFamily="18" charset="0"/>
                <a:ea typeface="宋体" panose="02010600030101010101" pitchFamily="2" charset="-122"/>
              </a:rPr>
              <a:t>。该指令对其他标志均无定义。</a:t>
            </a:r>
          </a:p>
        </p:txBody>
      </p:sp>
    </p:spTree>
  </p:cSld>
  <p:clrMapOvr>
    <a:masterClrMapping/>
  </p:clrMapOvr>
  <p:transition spd="med">
    <p:random/>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59394" name="矩形 2"/>
          <p:cNvSpPr/>
          <p:nvPr/>
        </p:nvSpPr>
        <p:spPr>
          <a:xfrm>
            <a:off x="280988" y="1866900"/>
            <a:ext cx="8097837" cy="3452813"/>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）有符号数乘法指令 </a:t>
            </a:r>
            <a:r>
              <a:rPr lang="en-US" altLang="zh-CN" dirty="0">
                <a:solidFill>
                  <a:srgbClr val="FFC000"/>
                </a:solidFill>
                <a:latin typeface="Times New Roman" panose="02020603050405020304" pitchFamily="18" charset="0"/>
                <a:ea typeface="宋体" panose="02010600030101010101" pitchFamily="2" charset="-122"/>
              </a:rPr>
              <a:t>IMUL</a:t>
            </a:r>
          </a:p>
          <a:p>
            <a:pPr>
              <a:lnSpc>
                <a:spcPct val="100000"/>
              </a:lnSpc>
            </a:pP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IMUL OPRD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 </a:t>
            </a:r>
            <a:r>
              <a:rPr lang="zh-CN" altLang="en-US" dirty="0">
                <a:latin typeface="Times New Roman" panose="02020603050405020304" pitchFamily="18" charset="0"/>
                <a:ea typeface="宋体" panose="02010600030101010101" pitchFamily="2" charset="-122"/>
              </a:rPr>
              <a:t>为源操作数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MUL </a:t>
            </a:r>
            <a:r>
              <a:rPr lang="zh-CN" altLang="en-US" dirty="0">
                <a:latin typeface="Times New Roman" panose="02020603050405020304" pitchFamily="18" charset="0"/>
                <a:ea typeface="宋体" panose="02010600030101010101" pitchFamily="2" charset="-122"/>
              </a:rPr>
              <a:t>指令不同之处有：</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①要求两个相乘的数必须为有符号数。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②当乘积的高半部分是低半部分的符号位的扩展时，则    </a:t>
            </a:r>
            <a:r>
              <a:rPr lang="en-US" altLang="zh-CN" dirty="0">
                <a:latin typeface="Times New Roman" panose="02020603050405020304" pitchFamily="18" charset="0"/>
                <a:ea typeface="宋体" panose="02010600030101010101" pitchFamily="2" charset="-122"/>
              </a:rPr>
              <a:t>CF=OF=0</a:t>
            </a:r>
            <a:r>
              <a:rPr lang="zh-CN" altLang="en-US" dirty="0">
                <a:latin typeface="Times New Roman" panose="02020603050405020304" pitchFamily="18" charset="0"/>
                <a:ea typeface="宋体" panose="02010600030101010101" pitchFamily="2" charset="-122"/>
              </a:rPr>
              <a:t>；否则 </a:t>
            </a:r>
            <a:r>
              <a:rPr lang="en-US" altLang="zh-CN" dirty="0">
                <a:latin typeface="Times New Roman" panose="02020603050405020304" pitchFamily="18" charset="0"/>
                <a:ea typeface="宋体" panose="02010600030101010101" pitchFamily="2" charset="-122"/>
              </a:rPr>
              <a:t>CF=OF=1</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③源操作数应满足有符号数的表示范围。</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60418" name="矩形 2"/>
          <p:cNvSpPr/>
          <p:nvPr/>
        </p:nvSpPr>
        <p:spPr>
          <a:xfrm>
            <a:off x="571500" y="1600200"/>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．除法指令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60419" name="矩形 3"/>
          <p:cNvSpPr/>
          <p:nvPr/>
        </p:nvSpPr>
        <p:spPr>
          <a:xfrm>
            <a:off x="395288" y="2076450"/>
            <a:ext cx="8132762" cy="304800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除法指令包括无符号数除法指令 </a:t>
            </a:r>
            <a:r>
              <a:rPr lang="en-US" altLang="zh-CN" dirty="0">
                <a:latin typeface="Times New Roman" panose="02020603050405020304" pitchFamily="18" charset="0"/>
                <a:ea typeface="宋体" panose="02010600030101010101" pitchFamily="2" charset="-122"/>
              </a:rPr>
              <a:t>DIV </a:t>
            </a:r>
            <a:r>
              <a:rPr lang="zh-CN" altLang="en-US" dirty="0">
                <a:latin typeface="Times New Roman" panose="02020603050405020304" pitchFamily="18" charset="0"/>
                <a:ea typeface="宋体" panose="02010600030101010101" pitchFamily="2" charset="-122"/>
              </a:rPr>
              <a:t>和有符号数除法指令 </a:t>
            </a:r>
            <a:r>
              <a:rPr lang="en-US" altLang="zh-CN" dirty="0">
                <a:latin typeface="Times New Roman" panose="02020603050405020304" pitchFamily="18" charset="0"/>
                <a:ea typeface="宋体" panose="02010600030101010101" pitchFamily="2" charset="-122"/>
              </a:rPr>
              <a:t>IDIV</a:t>
            </a:r>
            <a:r>
              <a:rPr lang="zh-CN" altLang="en-US" dirty="0">
                <a:latin typeface="Times New Roman" panose="02020603050405020304" pitchFamily="18" charset="0"/>
                <a:ea typeface="宋体" panose="02010600030101010101" pitchFamily="2" charset="-122"/>
              </a:rPr>
              <a:t>。采用隐含寻址方式，隐含的是被除数，而除数由指令给出，要求除数不能是立即数。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除法指令要求：除数的位数为被除数位数的一半，指令格式中给出的是除数，要根据除数的位数来决定被除数的位数。当被除数为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位时，除数为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位，得到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位的商放在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位的余数放在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中；当被除数为 </a:t>
            </a:r>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位时，除数为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位，得到的商放在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中，余数放在 </a:t>
            </a:r>
            <a:r>
              <a:rPr lang="en-US" altLang="zh-CN" dirty="0">
                <a:latin typeface="Times New Roman" panose="02020603050405020304" pitchFamily="18" charset="0"/>
                <a:ea typeface="宋体" panose="02010600030101010101" pitchFamily="2" charset="-122"/>
              </a:rPr>
              <a:t>DX </a:t>
            </a:r>
            <a:r>
              <a:rPr lang="zh-CN" altLang="en-US" dirty="0">
                <a:latin typeface="Times New Roman" panose="02020603050405020304" pitchFamily="18" charset="0"/>
                <a:ea typeface="宋体" panose="02010600030101010101" pitchFamily="2" charset="-122"/>
              </a:rPr>
              <a:t>中。</a:t>
            </a:r>
          </a:p>
        </p:txBody>
      </p:sp>
      <p:sp>
        <p:nvSpPr>
          <p:cNvPr id="60420" name="矩形 4"/>
          <p:cNvSpPr/>
          <p:nvPr/>
        </p:nvSpPr>
        <p:spPr>
          <a:xfrm>
            <a:off x="360363" y="5140325"/>
            <a:ext cx="7886700" cy="1570038"/>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）无符号数除法指令 </a:t>
            </a:r>
            <a:r>
              <a:rPr lang="en-US" altLang="zh-CN" dirty="0">
                <a:solidFill>
                  <a:srgbClr val="FFC000"/>
                </a:solidFill>
                <a:latin typeface="Times New Roman" panose="02020603050405020304" pitchFamily="18" charset="0"/>
                <a:ea typeface="宋体" panose="02010600030101010101" pitchFamily="2" charset="-122"/>
              </a:rPr>
              <a:t>DIV</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DIV OPRD</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源操作数可以是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位或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位的寄存器或存储单元，但不能是立即数。</a:t>
            </a:r>
          </a:p>
        </p:txBody>
      </p:sp>
    </p:spTree>
  </p:cSld>
  <p:clrMapOvr>
    <a:masterClrMapping/>
  </p:clrMapOvr>
  <p:transition spd="med">
    <p:random/>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61442" name="矩形 2"/>
          <p:cNvSpPr/>
          <p:nvPr/>
        </p:nvSpPr>
        <p:spPr>
          <a:xfrm>
            <a:off x="149225" y="1468438"/>
            <a:ext cx="4572000" cy="757237"/>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）有符号数除法 </a:t>
            </a:r>
            <a:r>
              <a:rPr lang="en-US" altLang="zh-CN" dirty="0">
                <a:solidFill>
                  <a:srgbClr val="FFC000"/>
                </a:solidFill>
                <a:latin typeface="Times New Roman" panose="02020603050405020304" pitchFamily="18" charset="0"/>
                <a:ea typeface="宋体" panose="02010600030101010101" pitchFamily="2" charset="-122"/>
              </a:rPr>
              <a:t>IDIV</a:t>
            </a:r>
            <a:br>
              <a:rPr lang="en-US" altLang="zh-CN" dirty="0">
                <a:solidFill>
                  <a:srgbClr val="FFC000"/>
                </a:solidFill>
                <a:latin typeface="Times New Roman" panose="02020603050405020304" pitchFamily="18" charset="0"/>
                <a:ea typeface="宋体" panose="02010600030101010101" pitchFamily="2" charset="-122"/>
              </a:rPr>
            </a:br>
            <a:endParaRPr lang="zh-CN" altLang="en-US" dirty="0">
              <a:solidFill>
                <a:srgbClr val="FFC000"/>
              </a:solidFill>
              <a:latin typeface="Times New Roman" panose="02020603050405020304" pitchFamily="18" charset="0"/>
              <a:ea typeface="宋体" panose="02010600030101010101" pitchFamily="2" charset="-122"/>
            </a:endParaRPr>
          </a:p>
        </p:txBody>
      </p:sp>
      <p:sp>
        <p:nvSpPr>
          <p:cNvPr id="61443" name="矩形 3"/>
          <p:cNvSpPr/>
          <p:nvPr/>
        </p:nvSpPr>
        <p:spPr>
          <a:xfrm>
            <a:off x="158750" y="2257425"/>
            <a:ext cx="8694738" cy="4154488"/>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IDIV OPRD</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该指令执行过程同 </a:t>
            </a:r>
            <a:r>
              <a:rPr lang="en-US" altLang="zh-CN" dirty="0">
                <a:latin typeface="Times New Roman" panose="02020603050405020304" pitchFamily="18" charset="0"/>
                <a:ea typeface="宋体" panose="02010600030101010101" pitchFamily="2" charset="-122"/>
              </a:rPr>
              <a:t>DIV </a:t>
            </a:r>
            <a:r>
              <a:rPr lang="zh-CN" altLang="en-US" dirty="0">
                <a:latin typeface="Times New Roman" panose="02020603050405020304" pitchFamily="18" charset="0"/>
                <a:ea typeface="宋体" panose="02010600030101010101" pitchFamily="2" charset="-122"/>
              </a:rPr>
              <a:t>指令，但 </a:t>
            </a:r>
            <a:r>
              <a:rPr lang="en-US" altLang="zh-CN" dirty="0">
                <a:latin typeface="Times New Roman" panose="02020603050405020304" pitchFamily="18" charset="0"/>
                <a:ea typeface="宋体" panose="02010600030101010101" pitchFamily="2" charset="-122"/>
              </a:rPr>
              <a:t>IDIV </a:t>
            </a:r>
            <a:r>
              <a:rPr lang="zh-CN" altLang="en-US" dirty="0">
                <a:latin typeface="Times New Roman" panose="02020603050405020304" pitchFamily="18" charset="0"/>
                <a:ea typeface="宋体" panose="02010600030101010101" pitchFamily="2" charset="-122"/>
              </a:rPr>
              <a:t>指令认为操作数的最高位为符号位，除法运算的结果商的最高位也为符号位。</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注意：</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①该指令对 </a:t>
            </a:r>
            <a:r>
              <a:rPr lang="en-US" altLang="zh-CN" dirty="0">
                <a:latin typeface="Times New Roman" panose="02020603050405020304" pitchFamily="18" charset="0"/>
                <a:ea typeface="宋体" panose="02010600030101010101" pitchFamily="2" charset="-122"/>
              </a:rPr>
              <a:t>6 </a:t>
            </a:r>
            <a:r>
              <a:rPr lang="zh-CN" altLang="en-US" dirty="0">
                <a:latin typeface="Times New Roman" panose="02020603050405020304" pitchFamily="18" charset="0"/>
                <a:ea typeface="宋体" panose="02010600030101010101" pitchFamily="2" charset="-122"/>
              </a:rPr>
              <a:t>个标志位均无影响。</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②用 </a:t>
            </a:r>
            <a:r>
              <a:rPr lang="en-US" altLang="zh-CN" dirty="0">
                <a:latin typeface="Times New Roman" panose="02020603050405020304" pitchFamily="18" charset="0"/>
                <a:ea typeface="宋体" panose="02010600030101010101" pitchFamily="2" charset="-122"/>
              </a:rPr>
              <a:t>IDIV </a:t>
            </a:r>
            <a:r>
              <a:rPr lang="zh-CN" altLang="en-US" dirty="0">
                <a:latin typeface="Times New Roman" panose="02020603050405020304" pitchFamily="18" charset="0"/>
                <a:ea typeface="宋体" panose="02010600030101010101" pitchFamily="2" charset="-122"/>
              </a:rPr>
              <a:t>指令后，一个双字除以字，则商的范围为−</a:t>
            </a:r>
            <a:r>
              <a:rPr lang="en-US" altLang="zh-CN" dirty="0">
                <a:latin typeface="Times New Roman" panose="02020603050405020304" pitchFamily="18" charset="0"/>
                <a:ea typeface="宋体" panose="02010600030101010101" pitchFamily="2" charset="-122"/>
              </a:rPr>
              <a:t>32768</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+32767</a:t>
            </a:r>
            <a:r>
              <a:rPr lang="zh-CN" altLang="en-US" dirty="0">
                <a:latin typeface="Times New Roman" panose="02020603050405020304" pitchFamily="18" charset="0"/>
                <a:ea typeface="宋体" panose="02010600030101010101" pitchFamily="2" charset="-122"/>
              </a:rPr>
              <a:t>；一个字除以字节，则商的范围为−</a:t>
            </a:r>
            <a:r>
              <a:rPr lang="en-US" altLang="zh-CN" dirty="0">
                <a:latin typeface="Times New Roman" panose="02020603050405020304" pitchFamily="18" charset="0"/>
                <a:ea typeface="宋体" panose="02010600030101010101" pitchFamily="2" charset="-122"/>
              </a:rPr>
              <a:t>128</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+127</a:t>
            </a:r>
            <a:r>
              <a:rPr lang="zh-CN" altLang="en-US" dirty="0">
                <a:latin typeface="Times New Roman" panose="02020603050405020304" pitchFamily="18" charset="0"/>
                <a:ea typeface="宋体" panose="02010600030101010101" pitchFamily="2" charset="-122"/>
              </a:rPr>
              <a:t>；如果运算结果超出了上述范围，会作为除数为 </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的情况来处理，即产生 </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号中断，而不是使 </a:t>
            </a:r>
            <a:r>
              <a:rPr lang="en-US" altLang="zh-CN" dirty="0">
                <a:latin typeface="Times New Roman" panose="02020603050405020304" pitchFamily="18" charset="0"/>
                <a:ea typeface="宋体" panose="02010600030101010101" pitchFamily="2" charset="-122"/>
              </a:rPr>
              <a:t>OF </a:t>
            </a:r>
            <a:r>
              <a:rPr lang="zh-CN" altLang="en-US" dirty="0">
                <a:latin typeface="Times New Roman" panose="02020603050405020304" pitchFamily="18" charset="0"/>
                <a:ea typeface="宋体" panose="02010600030101010101" pitchFamily="2" charset="-122"/>
              </a:rPr>
              <a:t>置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③当被除数的长度不够除数长度的两倍时，必须对被除数进行扩展。</a:t>
            </a:r>
          </a:p>
        </p:txBody>
      </p:sp>
    </p:spTree>
  </p:cSld>
  <p:clrMapOvr>
    <a:masterClrMapping/>
  </p:clrMapOvr>
  <p:transition spd="med">
    <p:random/>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62466" name="矩形 2"/>
          <p:cNvSpPr/>
          <p:nvPr/>
        </p:nvSpPr>
        <p:spPr>
          <a:xfrm>
            <a:off x="176213" y="1511300"/>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5</a:t>
            </a: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BCD </a:t>
            </a:r>
            <a:r>
              <a:rPr lang="zh-CN" altLang="en-US" dirty="0">
                <a:solidFill>
                  <a:srgbClr val="FFC000"/>
                </a:solidFill>
                <a:latin typeface="Times New Roman" panose="02020603050405020304" pitchFamily="18" charset="0"/>
                <a:ea typeface="宋体" panose="02010600030101010101" pitchFamily="2" charset="-122"/>
              </a:rPr>
              <a:t>码运算调整指令</a:t>
            </a:r>
            <a:br>
              <a:rPr lang="zh-CN" altLang="en-US" dirty="0">
                <a:solidFill>
                  <a:srgbClr val="FFC000"/>
                </a:solidFill>
                <a:latin typeface="Times New Roman" panose="02020603050405020304" pitchFamily="18" charset="0"/>
                <a:ea typeface="宋体" panose="02010600030101010101" pitchFamily="2" charset="-122"/>
              </a:rPr>
            </a:br>
            <a:endParaRPr lang="zh-CN" altLang="en-US" dirty="0">
              <a:solidFill>
                <a:srgbClr val="FFC000"/>
              </a:solidFill>
              <a:latin typeface="Times New Roman" panose="02020603050405020304" pitchFamily="18" charset="0"/>
              <a:ea typeface="宋体" panose="02010600030101010101" pitchFamily="2" charset="-122"/>
            </a:endParaRPr>
          </a:p>
        </p:txBody>
      </p:sp>
      <p:sp>
        <p:nvSpPr>
          <p:cNvPr id="62467" name="矩形 3"/>
          <p:cNvSpPr/>
          <p:nvPr/>
        </p:nvSpPr>
        <p:spPr>
          <a:xfrm>
            <a:off x="447675" y="2349500"/>
            <a:ext cx="8177213" cy="341630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调整指令均采用隐含寻址方式， 隐含的操作数是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AH</a:t>
            </a:r>
            <a:r>
              <a:rPr lang="zh-CN" altLang="en-US" dirty="0">
                <a:latin typeface="Times New Roman" panose="02020603050405020304" pitchFamily="18" charset="0"/>
                <a:ea typeface="宋体" panose="02010600030101010101" pitchFamily="2" charset="-122"/>
              </a:rPr>
              <a:t>， 一般不单独使用， 而是与加、减、乘、除指令配合使用，实现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码的算术运算。</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码有两类：压缩的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码，就是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个字节表示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位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码；非压缩的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码，就是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个字节表示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位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码，此时只用低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位来表示，高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位为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码运算采用的方法：利用对普通二进制数的运算指令算出结果，再用专门指令对结果进行调整。</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63490" name="矩形 2"/>
          <p:cNvSpPr/>
          <p:nvPr/>
        </p:nvSpPr>
        <p:spPr>
          <a:xfrm>
            <a:off x="377825" y="1911350"/>
            <a:ext cx="7913688" cy="4524375"/>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）压缩 </a:t>
            </a:r>
            <a:r>
              <a:rPr lang="en-US" altLang="zh-CN" dirty="0">
                <a:solidFill>
                  <a:srgbClr val="FFC000"/>
                </a:solidFill>
                <a:latin typeface="Times New Roman" panose="02020603050405020304" pitchFamily="18" charset="0"/>
                <a:ea typeface="宋体" panose="02010600030101010101" pitchFamily="2" charset="-122"/>
              </a:rPr>
              <a:t>BCD </a:t>
            </a:r>
            <a:r>
              <a:rPr lang="zh-CN" altLang="en-US" dirty="0">
                <a:solidFill>
                  <a:srgbClr val="FFC000"/>
                </a:solidFill>
                <a:latin typeface="Times New Roman" panose="02020603050405020304" pitchFamily="18" charset="0"/>
                <a:ea typeface="宋体" panose="02010600030101010101" pitchFamily="2" charset="-122"/>
              </a:rPr>
              <a:t>码加法调整指令 </a:t>
            </a:r>
            <a:r>
              <a:rPr lang="en-US" altLang="zh-CN" dirty="0">
                <a:solidFill>
                  <a:srgbClr val="FFC000"/>
                </a:solidFill>
                <a:latin typeface="Times New Roman" panose="02020603050405020304" pitchFamily="18" charset="0"/>
                <a:ea typeface="宋体" panose="02010600030101010101" pitchFamily="2" charset="-122"/>
              </a:rPr>
              <a:t>DAA</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DAA</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指令功能：对两个压缩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码相加后的和进行调整，调整前，运算结果必须保存到</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调整方法：</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①若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中的低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9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AF=1</a:t>
            </a:r>
            <a:r>
              <a:rPr lang="zh-CN" altLang="en-US" dirty="0">
                <a:latin typeface="Times New Roman" panose="02020603050405020304" pitchFamily="18" charset="0"/>
                <a:ea typeface="宋体" panose="02010600030101010101" pitchFamily="2" charset="-122"/>
              </a:rPr>
              <a:t>，则 </a:t>
            </a:r>
            <a:r>
              <a:rPr lang="en-US" altLang="zh-CN" dirty="0">
                <a:latin typeface="Times New Roman" panose="02020603050405020304" pitchFamily="18" charset="0"/>
                <a:ea typeface="宋体" panose="02010600030101010101" pitchFamily="2" charset="-122"/>
              </a:rPr>
              <a:t>AL+06H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，并使 </a:t>
            </a:r>
            <a:r>
              <a:rPr lang="en-US" altLang="zh-CN" dirty="0">
                <a:latin typeface="Times New Roman" panose="02020603050405020304" pitchFamily="18" charset="0"/>
                <a:ea typeface="宋体" panose="02010600030101010101" pitchFamily="2" charset="-122"/>
              </a:rPr>
              <a:t>AF=1</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②若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中的高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9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CF=1</a:t>
            </a:r>
            <a:r>
              <a:rPr lang="zh-CN" altLang="en-US" dirty="0">
                <a:latin typeface="Times New Roman" panose="02020603050405020304" pitchFamily="18" charset="0"/>
                <a:ea typeface="宋体" panose="02010600030101010101" pitchFamily="2" charset="-122"/>
              </a:rPr>
              <a:t>，则 </a:t>
            </a:r>
            <a:r>
              <a:rPr lang="en-US" altLang="zh-CN" dirty="0">
                <a:latin typeface="Times New Roman" panose="02020603050405020304" pitchFamily="18" charset="0"/>
                <a:ea typeface="宋体" panose="02010600030101010101" pitchFamily="2" charset="-122"/>
              </a:rPr>
              <a:t>AL+60H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，并使 </a:t>
            </a:r>
            <a:r>
              <a:rPr lang="en-US" altLang="zh-CN" dirty="0">
                <a:latin typeface="Times New Roman" panose="02020603050405020304" pitchFamily="18" charset="0"/>
                <a:ea typeface="宋体" panose="02010600030101010101" pitchFamily="2" charset="-122"/>
              </a:rPr>
              <a:t>CF=1</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DAA </a:t>
            </a:r>
            <a:r>
              <a:rPr lang="zh-CN" altLang="en-US" dirty="0">
                <a:latin typeface="Times New Roman" panose="02020603050405020304" pitchFamily="18" charset="0"/>
                <a:ea typeface="宋体" panose="02010600030101010101" pitchFamily="2" charset="-122"/>
              </a:rPr>
              <a:t>指令会影响标志位 </a:t>
            </a:r>
            <a:r>
              <a:rPr lang="en-US" altLang="zh-CN" dirty="0">
                <a:latin typeface="Times New Roman" panose="02020603050405020304" pitchFamily="18" charset="0"/>
                <a:ea typeface="宋体" panose="02010600030101010101" pitchFamily="2" charset="-122"/>
              </a:rPr>
              <a:t>AF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，但不影响 </a:t>
            </a:r>
            <a:r>
              <a:rPr lang="en-US" altLang="zh-CN" dirty="0">
                <a:latin typeface="Times New Roman" panose="02020603050405020304" pitchFamily="18" charset="0"/>
                <a:ea typeface="宋体" panose="02010600030101010101" pitchFamily="2" charset="-122"/>
              </a:rPr>
              <a:t>OF</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63491" name="矩形 3"/>
          <p:cNvSpPr/>
          <p:nvPr/>
        </p:nvSpPr>
        <p:spPr>
          <a:xfrm>
            <a:off x="128588" y="1458913"/>
            <a:ext cx="2890837" cy="423862"/>
          </a:xfrm>
          <a:prstGeom prst="rect">
            <a:avLst/>
          </a:prstGeom>
          <a:noFill/>
          <a:ln w="9525">
            <a:noFill/>
          </a:ln>
        </p:spPr>
        <p:txBody>
          <a:bodyPr wrap="none"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）加法调整指令</a:t>
            </a:r>
          </a:p>
        </p:txBody>
      </p:sp>
    </p:spTree>
  </p:cSld>
  <p:clrMapOvr>
    <a:masterClrMapping/>
  </p:clrMapOvr>
  <p:transition spd="med">
    <p:random/>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64514" name="矩形 2"/>
          <p:cNvSpPr/>
          <p:nvPr/>
        </p:nvSpPr>
        <p:spPr>
          <a:xfrm>
            <a:off x="430213" y="1720850"/>
            <a:ext cx="8247062" cy="4154488"/>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）非压缩 </a:t>
            </a:r>
            <a:r>
              <a:rPr lang="en-US" altLang="zh-CN" dirty="0">
                <a:solidFill>
                  <a:srgbClr val="FFC000"/>
                </a:solidFill>
                <a:latin typeface="Times New Roman" panose="02020603050405020304" pitchFamily="18" charset="0"/>
                <a:ea typeface="宋体" panose="02010600030101010101" pitchFamily="2" charset="-122"/>
              </a:rPr>
              <a:t>BCD </a:t>
            </a:r>
            <a:r>
              <a:rPr lang="zh-CN" altLang="en-US" dirty="0">
                <a:solidFill>
                  <a:srgbClr val="FFC000"/>
                </a:solidFill>
                <a:latin typeface="Times New Roman" panose="02020603050405020304" pitchFamily="18" charset="0"/>
                <a:ea typeface="宋体" panose="02010600030101010101" pitchFamily="2" charset="-122"/>
              </a:rPr>
              <a:t>码加法调整指令 </a:t>
            </a:r>
            <a:r>
              <a:rPr lang="en-US" altLang="zh-CN" dirty="0">
                <a:solidFill>
                  <a:srgbClr val="FFC000"/>
                </a:solidFill>
                <a:latin typeface="Times New Roman" panose="02020603050405020304" pitchFamily="18" charset="0"/>
                <a:ea typeface="宋体" panose="02010600030101010101" pitchFamily="2" charset="-122"/>
              </a:rPr>
              <a:t>AAA</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AAA</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指令功能：对两个非压缩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码相加后的和进行调整，调整前，运算结果必须保存到</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中。与 </a:t>
            </a:r>
            <a:r>
              <a:rPr lang="en-US" altLang="zh-CN" dirty="0">
                <a:latin typeface="Times New Roman" panose="02020603050405020304" pitchFamily="18" charset="0"/>
                <a:ea typeface="宋体" panose="02010600030101010101" pitchFamily="2" charset="-122"/>
              </a:rPr>
              <a:t>DAA </a:t>
            </a:r>
            <a:r>
              <a:rPr lang="zh-CN" altLang="en-US" dirty="0">
                <a:latin typeface="Times New Roman" panose="02020603050405020304" pitchFamily="18" charset="0"/>
                <a:ea typeface="宋体" panose="02010600030101010101" pitchFamily="2" charset="-122"/>
              </a:rPr>
              <a:t>的不同之处：调整后的结果，其低位在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中，高位在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中。</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调整方法：</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①若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中的低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9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AF=1</a:t>
            </a:r>
            <a:r>
              <a:rPr lang="zh-CN" altLang="en-US" dirty="0">
                <a:latin typeface="Times New Roman" panose="02020603050405020304" pitchFamily="18" charset="0"/>
                <a:ea typeface="宋体" panose="02010600030101010101" pitchFamily="2" charset="-122"/>
              </a:rPr>
              <a:t>，则 </a:t>
            </a:r>
            <a:r>
              <a:rPr lang="en-US" altLang="zh-CN" dirty="0">
                <a:latin typeface="Times New Roman" panose="02020603050405020304" pitchFamily="18" charset="0"/>
                <a:ea typeface="宋体" panose="02010600030101010101" pitchFamily="2" charset="-122"/>
              </a:rPr>
              <a:t>AL+06H→AL</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AH+1→AH</a:t>
            </a:r>
            <a:r>
              <a:rPr lang="zh-CN" altLang="en-US" dirty="0">
                <a:latin typeface="Times New Roman" panose="02020603050405020304" pitchFamily="18" charset="0"/>
                <a:ea typeface="宋体" panose="02010600030101010101" pitchFamily="2" charset="-122"/>
              </a:rPr>
              <a:t>，且 </a:t>
            </a:r>
            <a:r>
              <a:rPr lang="en-US" altLang="zh-CN" dirty="0">
                <a:latin typeface="Times New Roman" panose="02020603050405020304" pitchFamily="18" charset="0"/>
                <a:ea typeface="宋体" panose="02010600030101010101" pitchFamily="2" charset="-122"/>
              </a:rPr>
              <a:t>AF=1</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②屏蔽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的高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位，且 </a:t>
            </a:r>
            <a:r>
              <a:rPr lang="en-US" altLang="zh-CN" dirty="0">
                <a:latin typeface="Times New Roman" panose="02020603050405020304" pitchFamily="18" charset="0"/>
                <a:ea typeface="宋体" panose="02010600030101010101" pitchFamily="2" charset="-122"/>
              </a:rPr>
              <a:t>AF→CF</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AAA </a:t>
            </a:r>
            <a:r>
              <a:rPr lang="zh-CN" altLang="en-US" dirty="0">
                <a:latin typeface="Times New Roman" panose="02020603050405020304" pitchFamily="18" charset="0"/>
                <a:ea typeface="宋体" panose="02010600030101010101" pitchFamily="2" charset="-122"/>
              </a:rPr>
              <a:t>指令会影响标志位 </a:t>
            </a:r>
            <a:r>
              <a:rPr lang="en-US" altLang="zh-CN" dirty="0">
                <a:latin typeface="Times New Roman" panose="02020603050405020304" pitchFamily="18" charset="0"/>
                <a:ea typeface="宋体" panose="02010600030101010101" pitchFamily="2" charset="-122"/>
              </a:rPr>
              <a:t>AF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a:t>
            </a:r>
            <a:br>
              <a:rPr lang="en-US" altLang="zh-CN"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65538" name="矩形 2"/>
          <p:cNvSpPr/>
          <p:nvPr/>
        </p:nvSpPr>
        <p:spPr>
          <a:xfrm>
            <a:off x="342900" y="2017713"/>
            <a:ext cx="8035925" cy="4522787"/>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）压缩 </a:t>
            </a:r>
            <a:r>
              <a:rPr lang="en-US" altLang="zh-CN" dirty="0">
                <a:solidFill>
                  <a:srgbClr val="FFC000"/>
                </a:solidFill>
                <a:latin typeface="Times New Roman" panose="02020603050405020304" pitchFamily="18" charset="0"/>
                <a:ea typeface="宋体" panose="02010600030101010101" pitchFamily="2" charset="-122"/>
              </a:rPr>
              <a:t>BCD </a:t>
            </a:r>
            <a:r>
              <a:rPr lang="zh-CN" altLang="en-US" dirty="0">
                <a:solidFill>
                  <a:srgbClr val="FFC000"/>
                </a:solidFill>
                <a:latin typeface="Times New Roman" panose="02020603050405020304" pitchFamily="18" charset="0"/>
                <a:ea typeface="宋体" panose="02010600030101010101" pitchFamily="2" charset="-122"/>
              </a:rPr>
              <a:t>码减法调整指令 </a:t>
            </a:r>
            <a:r>
              <a:rPr lang="en-US" altLang="zh-CN" dirty="0">
                <a:solidFill>
                  <a:srgbClr val="FFC000"/>
                </a:solidFill>
                <a:latin typeface="Times New Roman" panose="02020603050405020304" pitchFamily="18" charset="0"/>
                <a:ea typeface="宋体" panose="02010600030101010101" pitchFamily="2" charset="-122"/>
              </a:rPr>
              <a:t>DAS</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DAS</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指令功能：对两个压缩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码相减后的结果进行调整，调整前，运算结果必须保存到</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调整方法：</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①若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中的低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9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AF=1</a:t>
            </a:r>
            <a:r>
              <a:rPr lang="zh-CN" altLang="en-US" dirty="0">
                <a:latin typeface="Times New Roman" panose="02020603050405020304" pitchFamily="18" charset="0"/>
                <a:ea typeface="宋体" panose="02010600030101010101" pitchFamily="2" charset="-122"/>
              </a:rPr>
              <a:t>，则 </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06H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，并使 </a:t>
            </a:r>
            <a:r>
              <a:rPr lang="en-US" altLang="zh-CN" dirty="0">
                <a:latin typeface="Times New Roman" panose="02020603050405020304" pitchFamily="18" charset="0"/>
                <a:ea typeface="宋体" panose="02010600030101010101" pitchFamily="2" charset="-122"/>
              </a:rPr>
              <a:t>AF=1</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②若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中的高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9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CF=1</a:t>
            </a:r>
            <a:r>
              <a:rPr lang="zh-CN" altLang="en-US" dirty="0">
                <a:latin typeface="Times New Roman" panose="02020603050405020304" pitchFamily="18" charset="0"/>
                <a:ea typeface="宋体" panose="02010600030101010101" pitchFamily="2" charset="-122"/>
              </a:rPr>
              <a:t>，则 </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60H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，并使 </a:t>
            </a:r>
            <a:r>
              <a:rPr lang="en-US" altLang="zh-CN" dirty="0">
                <a:latin typeface="Times New Roman" panose="02020603050405020304" pitchFamily="18" charset="0"/>
                <a:ea typeface="宋体" panose="02010600030101010101" pitchFamily="2" charset="-122"/>
              </a:rPr>
              <a:t>CF=1</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DAS </a:t>
            </a:r>
            <a:r>
              <a:rPr lang="zh-CN" altLang="en-US" dirty="0">
                <a:latin typeface="Times New Roman" panose="02020603050405020304" pitchFamily="18" charset="0"/>
                <a:ea typeface="宋体" panose="02010600030101010101" pitchFamily="2" charset="-122"/>
              </a:rPr>
              <a:t>指令会影响标志位 </a:t>
            </a:r>
            <a:r>
              <a:rPr lang="en-US" altLang="zh-CN" dirty="0">
                <a:latin typeface="Times New Roman" panose="02020603050405020304" pitchFamily="18" charset="0"/>
                <a:ea typeface="宋体" panose="02010600030101010101" pitchFamily="2" charset="-122"/>
              </a:rPr>
              <a:t>AF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，不影响 </a:t>
            </a:r>
            <a:r>
              <a:rPr lang="en-US" altLang="zh-CN" dirty="0">
                <a:latin typeface="Times New Roman" panose="02020603050405020304" pitchFamily="18" charset="0"/>
                <a:ea typeface="宋体" panose="02010600030101010101" pitchFamily="2" charset="-122"/>
              </a:rPr>
              <a:t>OF</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65539" name="矩形 3"/>
          <p:cNvSpPr/>
          <p:nvPr/>
        </p:nvSpPr>
        <p:spPr>
          <a:xfrm>
            <a:off x="184150" y="1466850"/>
            <a:ext cx="2890838" cy="425450"/>
          </a:xfrm>
          <a:prstGeom prst="rect">
            <a:avLst/>
          </a:prstGeom>
          <a:noFill/>
          <a:ln w="9525">
            <a:noFill/>
          </a:ln>
        </p:spPr>
        <p:txBody>
          <a:bodyPr wrap="none"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）减法调整指令</a:t>
            </a:r>
          </a:p>
        </p:txBody>
      </p:sp>
    </p:spTree>
  </p:cSld>
  <p:clrMapOvr>
    <a:masterClrMapping/>
  </p:clrMapOvr>
  <p:transition spd="med">
    <p:random/>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66562" name="矩形 2"/>
          <p:cNvSpPr/>
          <p:nvPr/>
        </p:nvSpPr>
        <p:spPr>
          <a:xfrm>
            <a:off x="492125" y="1562100"/>
            <a:ext cx="8062913" cy="456088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）非压缩 </a:t>
            </a:r>
            <a:r>
              <a:rPr lang="en-US" altLang="zh-CN" dirty="0">
                <a:solidFill>
                  <a:srgbClr val="FFC000"/>
                </a:solidFill>
                <a:latin typeface="Times New Roman" panose="02020603050405020304" pitchFamily="18" charset="0"/>
                <a:ea typeface="宋体" panose="02010600030101010101" pitchFamily="2" charset="-122"/>
              </a:rPr>
              <a:t>BCD </a:t>
            </a:r>
            <a:r>
              <a:rPr lang="zh-CN" altLang="en-US" dirty="0">
                <a:solidFill>
                  <a:srgbClr val="FFC000"/>
                </a:solidFill>
                <a:latin typeface="Times New Roman" panose="02020603050405020304" pitchFamily="18" charset="0"/>
                <a:ea typeface="宋体" panose="02010600030101010101" pitchFamily="2" charset="-122"/>
              </a:rPr>
              <a:t>码减法调整指令 </a:t>
            </a:r>
            <a:r>
              <a:rPr lang="en-US" altLang="zh-CN" dirty="0">
                <a:solidFill>
                  <a:srgbClr val="FFC000"/>
                </a:solidFill>
                <a:latin typeface="Times New Roman" panose="02020603050405020304" pitchFamily="18" charset="0"/>
                <a:ea typeface="宋体" panose="02010600030101010101" pitchFamily="2" charset="-122"/>
              </a:rPr>
              <a:t>AAS</a:t>
            </a:r>
          </a:p>
          <a:p>
            <a:pPr>
              <a:lnSpc>
                <a:spcPct val="100000"/>
              </a:lnSpc>
            </a:pP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AAS</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指令功能：对两个非压缩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码相减后的和进行调整，调整前，运算结果必须保存到</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DAS </a:t>
            </a:r>
            <a:r>
              <a:rPr lang="zh-CN" altLang="en-US" dirty="0">
                <a:latin typeface="Times New Roman" panose="02020603050405020304" pitchFamily="18" charset="0"/>
                <a:ea typeface="宋体" panose="02010600030101010101" pitchFamily="2" charset="-122"/>
              </a:rPr>
              <a:t>的不同之处：调整后的结果，其低位在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中，高位在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中。调整方法：</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①若（ </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）中的低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a:t>
            </a:r>
            <a:r>
              <a:rPr lang="en-US" altLang="zh-CN" dirty="0">
                <a:latin typeface="Times New Roman" panose="02020603050405020304" pitchFamily="18" charset="0"/>
                <a:ea typeface="宋体" panose="02010600030101010101" pitchFamily="2" charset="-122"/>
              </a:rPr>
              <a:t>9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AF=1</a:t>
            </a:r>
            <a:r>
              <a:rPr lang="zh-CN" altLang="en-US" dirty="0">
                <a:latin typeface="Times New Roman" panose="02020603050405020304" pitchFamily="18" charset="0"/>
                <a:ea typeface="宋体" panose="02010600030101010101" pitchFamily="2" charset="-122"/>
              </a:rPr>
              <a:t>，则（ </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06H</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AH</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AH</a:t>
            </a:r>
            <a:r>
              <a:rPr lang="zh-CN" altLang="en-US" dirty="0">
                <a:latin typeface="Times New Roman" panose="02020603050405020304" pitchFamily="18" charset="0"/>
                <a:ea typeface="宋体" panose="02010600030101010101" pitchFamily="2" charset="-122"/>
              </a:rPr>
              <a:t>），且 </a:t>
            </a:r>
            <a:r>
              <a:rPr lang="en-US" altLang="zh-CN" dirty="0">
                <a:latin typeface="Times New Roman" panose="02020603050405020304" pitchFamily="18" charset="0"/>
                <a:ea typeface="宋体" panose="02010600030101010101" pitchFamily="2" charset="-122"/>
              </a:rPr>
              <a:t>AF=1</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②屏蔽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的高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位，且 </a:t>
            </a:r>
            <a:r>
              <a:rPr lang="en-US" altLang="zh-CN" dirty="0">
                <a:latin typeface="Times New Roman" panose="02020603050405020304" pitchFamily="18" charset="0"/>
                <a:ea typeface="宋体" panose="02010600030101010101" pitchFamily="2" charset="-122"/>
              </a:rPr>
              <a:t>AF</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AAS </a:t>
            </a:r>
            <a:r>
              <a:rPr lang="zh-CN" altLang="en-US" dirty="0">
                <a:latin typeface="Times New Roman" panose="02020603050405020304" pitchFamily="18" charset="0"/>
                <a:ea typeface="宋体" panose="02010600030101010101" pitchFamily="2" charset="-122"/>
              </a:rPr>
              <a:t>指令会影响标志位 </a:t>
            </a:r>
            <a:r>
              <a:rPr lang="en-US" altLang="zh-CN" dirty="0">
                <a:latin typeface="Times New Roman" panose="02020603050405020304" pitchFamily="18" charset="0"/>
                <a:ea typeface="宋体" panose="02010600030101010101" pitchFamily="2" charset="-122"/>
              </a:rPr>
              <a:t>AF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67586" name="矩形 2"/>
          <p:cNvSpPr/>
          <p:nvPr/>
        </p:nvSpPr>
        <p:spPr>
          <a:xfrm>
            <a:off x="238125" y="1447800"/>
            <a:ext cx="8448675" cy="5300663"/>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）乘法调整指令 </a:t>
            </a:r>
            <a:r>
              <a:rPr lang="en-US" altLang="zh-CN" dirty="0">
                <a:solidFill>
                  <a:srgbClr val="FFC000"/>
                </a:solidFill>
                <a:latin typeface="Times New Roman" panose="02020603050405020304" pitchFamily="18" charset="0"/>
                <a:ea typeface="宋体" panose="02010600030101010101" pitchFamily="2" charset="-122"/>
              </a:rPr>
              <a:t>AAM</a:t>
            </a:r>
          </a:p>
          <a:p>
            <a:pPr>
              <a:lnSpc>
                <a:spcPct val="100000"/>
              </a:lnSpc>
            </a:pP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AAM</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指令功能：对两个非压缩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码相乘的结果进行调整，调整前，运算结果必须保存到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操作方法：把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寄存器的内容除以 </a:t>
            </a:r>
            <a:r>
              <a:rPr lang="en-US" altLang="zh-CN" dirty="0">
                <a:latin typeface="Times New Roman" panose="02020603050405020304" pitchFamily="18" charset="0"/>
                <a:ea typeface="宋体" panose="02010600030101010101" pitchFamily="2" charset="-122"/>
              </a:rPr>
              <a:t>0AH</a:t>
            </a:r>
            <a:r>
              <a:rPr lang="zh-CN" altLang="en-US" dirty="0">
                <a:latin typeface="Times New Roman" panose="02020603050405020304" pitchFamily="18" charset="0"/>
                <a:ea typeface="宋体" panose="02010600030101010101" pitchFamily="2" charset="-122"/>
              </a:rPr>
              <a:t>，商放到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中，余数放到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说明：</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①对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码进行乘法运算时，要求乘数和被乘数都必须是非压缩的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码，否则结果将无法调整。</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码是作为无符号数来看待，所以相乘时用 </a:t>
            </a:r>
            <a:r>
              <a:rPr lang="en-US" altLang="zh-CN" dirty="0">
                <a:latin typeface="Times New Roman" panose="02020603050405020304" pitchFamily="18" charset="0"/>
                <a:ea typeface="宋体" panose="02010600030101010101" pitchFamily="2" charset="-122"/>
              </a:rPr>
              <a:t>MUL </a:t>
            </a:r>
            <a:r>
              <a:rPr lang="zh-CN" altLang="en-US" dirty="0">
                <a:latin typeface="Times New Roman" panose="02020603050405020304" pitchFamily="18" charset="0"/>
                <a:ea typeface="宋体" panose="02010600030101010101" pitchFamily="2" charset="-122"/>
              </a:rPr>
              <a:t>指令，而不用 </a:t>
            </a:r>
            <a:r>
              <a:rPr lang="en-US" altLang="zh-CN" dirty="0">
                <a:latin typeface="Times New Roman" panose="02020603050405020304" pitchFamily="18" charset="0"/>
                <a:ea typeface="宋体" panose="02010600030101010101" pitchFamily="2" charset="-122"/>
              </a:rPr>
              <a:t>IMUL </a:t>
            </a:r>
            <a:r>
              <a:rPr lang="zh-CN" altLang="en-US" dirty="0">
                <a:latin typeface="Times New Roman" panose="02020603050405020304" pitchFamily="18" charset="0"/>
                <a:ea typeface="宋体" panose="02010600030101010101" pitchFamily="2" charset="-122"/>
              </a:rPr>
              <a:t>指令。</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③</a:t>
            </a:r>
            <a:r>
              <a:rPr lang="en-US" altLang="zh-CN" dirty="0">
                <a:latin typeface="Times New Roman" panose="02020603050405020304" pitchFamily="18" charset="0"/>
                <a:ea typeface="宋体" panose="02010600030101010101" pitchFamily="2" charset="-122"/>
              </a:rPr>
              <a:t>AAM </a:t>
            </a:r>
            <a:r>
              <a:rPr lang="zh-CN" altLang="en-US" dirty="0">
                <a:latin typeface="Times New Roman" panose="02020603050405020304" pitchFamily="18" charset="0"/>
                <a:ea typeface="宋体" panose="02010600030101010101" pitchFamily="2" charset="-122"/>
              </a:rPr>
              <a:t>指令必须紧跟在乘法指令 </a:t>
            </a:r>
            <a:r>
              <a:rPr lang="en-US" altLang="zh-CN" dirty="0">
                <a:latin typeface="Times New Roman" panose="02020603050405020304" pitchFamily="18" charset="0"/>
                <a:ea typeface="宋体" panose="02010600030101010101" pitchFamily="2" charset="-122"/>
              </a:rPr>
              <a:t>MUL </a:t>
            </a:r>
            <a:r>
              <a:rPr lang="zh-CN" altLang="en-US" dirty="0">
                <a:latin typeface="Times New Roman" panose="02020603050405020304" pitchFamily="18" charset="0"/>
                <a:ea typeface="宋体" panose="02010600030101010101" pitchFamily="2" charset="-122"/>
              </a:rPr>
              <a:t>之后。</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④</a:t>
            </a:r>
            <a:r>
              <a:rPr lang="en-US" altLang="zh-CN" dirty="0">
                <a:latin typeface="Times New Roman" panose="02020603050405020304" pitchFamily="18" charset="0"/>
                <a:ea typeface="宋体" panose="02010600030101010101" pitchFamily="2" charset="-122"/>
              </a:rPr>
              <a:t>AAM </a:t>
            </a:r>
            <a:r>
              <a:rPr lang="zh-CN" altLang="en-US" dirty="0">
                <a:latin typeface="Times New Roman" panose="02020603050405020304" pitchFamily="18" charset="0"/>
                <a:ea typeface="宋体" panose="02010600030101010101" pitchFamily="2" charset="-122"/>
              </a:rPr>
              <a:t>指令会影响标志位 </a:t>
            </a:r>
            <a:r>
              <a:rPr lang="en-US" altLang="zh-CN" dirty="0">
                <a:latin typeface="Times New Roman" panose="02020603050405020304" pitchFamily="18" charset="0"/>
                <a:ea typeface="宋体" panose="02010600030101010101" pitchFamily="2" charset="-122"/>
              </a:rPr>
              <a:t>SF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PF</a:t>
            </a:r>
            <a:r>
              <a:rPr lang="zh-CN" altLang="en-US" dirty="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68610" name="矩形 2"/>
          <p:cNvSpPr/>
          <p:nvPr/>
        </p:nvSpPr>
        <p:spPr>
          <a:xfrm>
            <a:off x="149225" y="1309688"/>
            <a:ext cx="8731250" cy="4967287"/>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）除法调整指令 </a:t>
            </a:r>
            <a:r>
              <a:rPr lang="en-US" altLang="zh-CN" dirty="0">
                <a:solidFill>
                  <a:srgbClr val="FFC000"/>
                </a:solidFill>
                <a:latin typeface="Times New Roman" panose="02020603050405020304" pitchFamily="18" charset="0"/>
                <a:ea typeface="宋体" panose="02010600030101010101" pitchFamily="2" charset="-122"/>
              </a:rPr>
              <a:t>AAD</a:t>
            </a:r>
          </a:p>
          <a:p>
            <a:pPr>
              <a:lnSpc>
                <a:spcPct val="100000"/>
              </a:lnSpc>
            </a:pP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AAD</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指令功能：对两个非压缩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码相除的结果进行调整。它与其他的调整指令不同，它是在除法运算前进行相应的调整操作。</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具体操作：将 </a:t>
            </a:r>
            <a:r>
              <a:rPr lang="en-US" altLang="zh-CN" dirty="0">
                <a:latin typeface="Times New Roman" panose="02020603050405020304" pitchFamily="18" charset="0"/>
                <a:ea typeface="宋体" panose="02010600030101010101" pitchFamily="2" charset="-122"/>
              </a:rPr>
              <a:t>AH </a:t>
            </a:r>
            <a:r>
              <a:rPr lang="zh-CN" altLang="en-US" dirty="0">
                <a:latin typeface="Times New Roman" panose="02020603050405020304" pitchFamily="18" charset="0"/>
                <a:ea typeface="宋体" panose="02010600030101010101" pitchFamily="2" charset="-122"/>
              </a:rPr>
              <a:t>中的高位十进制数乘以 </a:t>
            </a:r>
            <a:r>
              <a:rPr lang="en-US" altLang="zh-CN" dirty="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中的低位十进制数相加，并使 </a:t>
            </a:r>
            <a:r>
              <a:rPr lang="en-US" altLang="zh-CN" dirty="0">
                <a:latin typeface="Times New Roman" panose="02020603050405020304" pitchFamily="18" charset="0"/>
                <a:ea typeface="宋体" panose="02010600030101010101" pitchFamily="2" charset="-122"/>
              </a:rPr>
              <a:t>AH</a:t>
            </a:r>
            <a:r>
              <a:rPr lang="zh-CN" altLang="en-US" dirty="0">
                <a:latin typeface="Times New Roman" panose="02020603050405020304" pitchFamily="18" charset="0"/>
                <a:ea typeface="宋体" panose="02010600030101010101" pitchFamily="2" charset="-122"/>
              </a:rPr>
              <a:t>中的内容清零，结果保留在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中，即</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AH×10+AL</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AL</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AH</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说明：</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①对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码进行除法运算时，要求除数和被除数都用非组合的 </a:t>
            </a:r>
            <a:r>
              <a:rPr lang="en-US" altLang="zh-CN" dirty="0">
                <a:latin typeface="Times New Roman" panose="02020603050405020304" pitchFamily="18" charset="0"/>
                <a:ea typeface="宋体" panose="02010600030101010101" pitchFamily="2" charset="-122"/>
              </a:rPr>
              <a:t>BCD </a:t>
            </a:r>
            <a:r>
              <a:rPr lang="zh-CN" altLang="en-US" dirty="0">
                <a:latin typeface="Times New Roman" panose="02020603050405020304" pitchFamily="18" charset="0"/>
                <a:ea typeface="宋体" panose="02010600030101010101" pitchFamily="2" charset="-122"/>
              </a:rPr>
              <a:t>码来表示。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a:t>
            </a:r>
            <a:r>
              <a:rPr lang="en-US" altLang="zh-CN" dirty="0">
                <a:latin typeface="Times New Roman" panose="02020603050405020304" pitchFamily="18" charset="0"/>
                <a:ea typeface="宋体" panose="02010600030101010101" pitchFamily="2" charset="-122"/>
              </a:rPr>
              <a:t>AAD </a:t>
            </a:r>
            <a:r>
              <a:rPr lang="zh-CN" altLang="en-US" dirty="0">
                <a:latin typeface="Times New Roman" panose="02020603050405020304" pitchFamily="18" charset="0"/>
                <a:ea typeface="宋体" panose="02010600030101010101" pitchFamily="2" charset="-122"/>
              </a:rPr>
              <a:t>指令是在除法指令 </a:t>
            </a:r>
            <a:r>
              <a:rPr lang="en-US" altLang="zh-CN" dirty="0">
                <a:latin typeface="Times New Roman" panose="02020603050405020304" pitchFamily="18" charset="0"/>
                <a:ea typeface="宋体" panose="02010600030101010101" pitchFamily="2" charset="-122"/>
              </a:rPr>
              <a:t>DIV </a:t>
            </a:r>
            <a:r>
              <a:rPr lang="zh-CN" altLang="en-US" dirty="0">
                <a:latin typeface="Times New Roman" panose="02020603050405020304" pitchFamily="18" charset="0"/>
                <a:ea typeface="宋体" panose="02010600030101010101" pitchFamily="2" charset="-122"/>
              </a:rPr>
              <a:t>之前，对除数和被除数进行调整。</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③</a:t>
            </a:r>
            <a:r>
              <a:rPr lang="en-US" altLang="zh-CN" dirty="0">
                <a:latin typeface="Times New Roman" panose="02020603050405020304" pitchFamily="18" charset="0"/>
                <a:ea typeface="宋体" panose="02010600030101010101" pitchFamily="2" charset="-122"/>
              </a:rPr>
              <a:t>AAD </a:t>
            </a:r>
            <a:r>
              <a:rPr lang="zh-CN" altLang="en-US" dirty="0">
                <a:latin typeface="Times New Roman" panose="02020603050405020304" pitchFamily="18" charset="0"/>
                <a:ea typeface="宋体" panose="02010600030101010101" pitchFamily="2" charset="-122"/>
              </a:rPr>
              <a:t>指令会影响标志位 </a:t>
            </a:r>
            <a:r>
              <a:rPr lang="en-US" altLang="zh-CN" dirty="0">
                <a:latin typeface="Times New Roman" panose="02020603050405020304" pitchFamily="18" charset="0"/>
                <a:ea typeface="宋体" panose="02010600030101010101" pitchFamily="2" charset="-122"/>
              </a:rPr>
              <a:t>SF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ZF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PF</a:t>
            </a:r>
            <a:r>
              <a:rPr lang="zh-CN" altLang="en-US" dirty="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算术运算指令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69634" name="矩形 2"/>
          <p:cNvSpPr/>
          <p:nvPr/>
        </p:nvSpPr>
        <p:spPr>
          <a:xfrm>
            <a:off x="0" y="1450975"/>
            <a:ext cx="4572000" cy="755650"/>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6</a:t>
            </a:r>
            <a:r>
              <a:rPr lang="zh-CN" altLang="en-US" dirty="0">
                <a:solidFill>
                  <a:srgbClr val="FFC000"/>
                </a:solidFill>
                <a:latin typeface="Times New Roman" panose="02020603050405020304" pitchFamily="18" charset="0"/>
                <a:ea typeface="宋体" panose="02010600030101010101" pitchFamily="2" charset="-122"/>
              </a:rPr>
              <a:t>．字位扩展指令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69635" name="矩形 3"/>
          <p:cNvSpPr/>
          <p:nvPr/>
        </p:nvSpPr>
        <p:spPr>
          <a:xfrm>
            <a:off x="360363" y="2085975"/>
            <a:ext cx="8281987" cy="1570038"/>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）字节扩展指令 </a:t>
            </a:r>
            <a:r>
              <a:rPr lang="en-US" altLang="zh-CN" dirty="0">
                <a:solidFill>
                  <a:srgbClr val="FFC000"/>
                </a:solidFill>
                <a:latin typeface="Times New Roman" panose="02020603050405020304" pitchFamily="18" charset="0"/>
                <a:ea typeface="宋体" panose="02010600030101010101" pitchFamily="2" charset="-122"/>
              </a:rPr>
              <a:t>CBW</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CBW</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中的字节扩展为字，并存放到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69636" name="矩形 4"/>
          <p:cNvSpPr/>
          <p:nvPr/>
        </p:nvSpPr>
        <p:spPr>
          <a:xfrm>
            <a:off x="395288" y="3690938"/>
            <a:ext cx="8045450" cy="2676525"/>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）字扩展指令 </a:t>
            </a:r>
            <a:r>
              <a:rPr lang="en-US" altLang="zh-CN" dirty="0">
                <a:solidFill>
                  <a:srgbClr val="FFC000"/>
                </a:solidFill>
                <a:latin typeface="Times New Roman" panose="02020603050405020304" pitchFamily="18" charset="0"/>
                <a:ea typeface="宋体" panose="02010600030101010101" pitchFamily="2" charset="-122"/>
              </a:rPr>
              <a:t>CWD</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CBW</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中一个字扩展为双字，结果存放到 </a:t>
            </a:r>
            <a:r>
              <a:rPr lang="en-US" altLang="zh-CN" dirty="0">
                <a:latin typeface="Times New Roman" panose="02020603050405020304" pitchFamily="18" charset="0"/>
                <a:ea typeface="宋体" panose="02010600030101010101" pitchFamily="2" charset="-122"/>
              </a:rPr>
              <a:t>DX</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中，其中 </a:t>
            </a:r>
            <a:r>
              <a:rPr lang="en-US" altLang="zh-CN" dirty="0">
                <a:latin typeface="Times New Roman" panose="02020603050405020304" pitchFamily="18" charset="0"/>
                <a:ea typeface="宋体" panose="02010600030101010101" pitchFamily="2" charset="-122"/>
              </a:rPr>
              <a:t>DX </a:t>
            </a:r>
            <a:r>
              <a:rPr lang="zh-CN" altLang="en-US" dirty="0">
                <a:latin typeface="Times New Roman" panose="02020603050405020304" pitchFamily="18" charset="0"/>
                <a:ea typeface="宋体" panose="02010600030101010101" pitchFamily="2" charset="-122"/>
              </a:rPr>
              <a:t>用来存放扩展的高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字位扩展指令的扩展原则：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对于无符号数来说，只需将扩展的高位补零；对于有符号数来说，将符号位扩展至整个高位。</a:t>
            </a:r>
          </a:p>
        </p:txBody>
      </p:sp>
    </p:spTree>
  </p:cSld>
  <p:clrMapOvr>
    <a:masterClrMapping/>
  </p:clrMapOvr>
  <p:transition spd="med">
    <p:random/>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70658" name="矩形 2"/>
          <p:cNvSpPr/>
          <p:nvPr/>
        </p:nvSpPr>
        <p:spPr>
          <a:xfrm>
            <a:off x="422275" y="1639888"/>
            <a:ext cx="8264525" cy="4821237"/>
          </a:xfrm>
          <a:prstGeom prst="rect">
            <a:avLst/>
          </a:prstGeom>
          <a:noFill/>
          <a:ln w="9525">
            <a:noFill/>
          </a:ln>
        </p:spPr>
        <p:txBody>
          <a:bodyPr anchor="t" anchorCtr="0">
            <a:spAutoFit/>
          </a:bodyPr>
          <a:lstStyle/>
          <a:p>
            <a:r>
              <a:rPr lang="zh-CN" altLang="en-US" dirty="0">
                <a:latin typeface="Times New Roman" panose="02020603050405020304" pitchFamily="18" charset="0"/>
                <a:ea typeface="宋体" panose="02010600030101010101" pitchFamily="2" charset="-122"/>
              </a:rPr>
              <a:t>逻辑运算和移位指令对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位或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位寄存器或存储器单元中的内容按位进行逻辑运算或移位操作，包括逻辑运算指令和移位指令，移位指令又分为非循环移位指令和循环移位指令。</a:t>
            </a:r>
            <a:br>
              <a:rPr lang="zh-CN" altLang="en-US" dirty="0">
                <a:latin typeface="Times New Roman" panose="02020603050405020304" pitchFamily="18" charset="0"/>
                <a:ea typeface="宋体" panose="02010600030101010101" pitchFamily="2" charset="-122"/>
              </a:rPr>
            </a:b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．逻辑运算指令</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8086/8088 CPU </a:t>
            </a:r>
            <a:r>
              <a:rPr lang="zh-CN" altLang="en-US" dirty="0">
                <a:latin typeface="Times New Roman" panose="02020603050405020304" pitchFamily="18" charset="0"/>
                <a:ea typeface="宋体" panose="02010600030101010101" pitchFamily="2" charset="-122"/>
              </a:rPr>
              <a:t>的逻辑运算指令有 </a:t>
            </a:r>
            <a:r>
              <a:rPr lang="en-US" altLang="zh-CN" dirty="0">
                <a:latin typeface="Times New Roman" panose="02020603050405020304" pitchFamily="18" charset="0"/>
                <a:ea typeface="宋体" panose="02010600030101010101" pitchFamily="2" charset="-122"/>
              </a:rPr>
              <a:t>AND</a:t>
            </a:r>
            <a:r>
              <a:rPr lang="zh-CN" altLang="en-US" dirty="0">
                <a:latin typeface="Times New Roman" panose="02020603050405020304" pitchFamily="18" charset="0"/>
                <a:ea typeface="宋体" panose="02010600030101010101" pitchFamily="2" charset="-122"/>
              </a:rPr>
              <a:t>（逻辑“与”）、 </a:t>
            </a:r>
            <a:r>
              <a:rPr lang="en-US" altLang="zh-CN" dirty="0">
                <a:latin typeface="Times New Roman" panose="02020603050405020304" pitchFamily="18" charset="0"/>
                <a:ea typeface="宋体" panose="02010600030101010101" pitchFamily="2" charset="-122"/>
              </a:rPr>
              <a:t>TEST</a:t>
            </a:r>
            <a:r>
              <a:rPr lang="zh-CN" altLang="en-US" dirty="0">
                <a:latin typeface="Times New Roman" panose="02020603050405020304" pitchFamily="18" charset="0"/>
                <a:ea typeface="宋体" panose="02010600030101010101" pitchFamily="2" charset="-122"/>
              </a:rPr>
              <a:t>（测试）、 </a:t>
            </a:r>
            <a:r>
              <a:rPr lang="en-US" altLang="zh-CN" dirty="0">
                <a:latin typeface="Times New Roman" panose="02020603050405020304" pitchFamily="18" charset="0"/>
                <a:ea typeface="宋体" panose="02010600030101010101" pitchFamily="2" charset="-122"/>
              </a:rPr>
              <a:t>OR</a:t>
            </a:r>
            <a:r>
              <a:rPr lang="zh-CN" altLang="en-US" dirty="0">
                <a:latin typeface="Times New Roman" panose="02020603050405020304" pitchFamily="18" charset="0"/>
                <a:ea typeface="宋体" panose="02010600030101010101" pitchFamily="2" charset="-122"/>
              </a:rPr>
              <a:t>（逻辑“或”）、</a:t>
            </a:r>
            <a:r>
              <a:rPr lang="en-US" altLang="zh-CN" dirty="0">
                <a:latin typeface="Times New Roman" panose="02020603050405020304" pitchFamily="18" charset="0"/>
                <a:ea typeface="宋体" panose="02010600030101010101" pitchFamily="2" charset="-122"/>
              </a:rPr>
              <a:t>XOR</a:t>
            </a:r>
            <a:r>
              <a:rPr lang="zh-CN" altLang="en-US" dirty="0">
                <a:latin typeface="Times New Roman" panose="02020603050405020304" pitchFamily="18" charset="0"/>
                <a:ea typeface="宋体" panose="02010600030101010101" pitchFamily="2" charset="-122"/>
              </a:rPr>
              <a:t>（逻辑“异或”）和 </a:t>
            </a:r>
            <a:r>
              <a:rPr lang="en-US" altLang="zh-CN" dirty="0">
                <a:latin typeface="Times New Roman" panose="02020603050405020304" pitchFamily="18" charset="0"/>
                <a:ea typeface="宋体" panose="02010600030101010101" pitchFamily="2" charset="-122"/>
              </a:rPr>
              <a:t>NOT</a:t>
            </a:r>
            <a:r>
              <a:rPr lang="zh-CN" altLang="en-US" dirty="0">
                <a:latin typeface="Times New Roman" panose="02020603050405020304" pitchFamily="18" charset="0"/>
                <a:ea typeface="宋体" panose="02010600030101010101" pitchFamily="2" charset="-122"/>
              </a:rPr>
              <a:t>（逻辑“非”）五条指令。以上五条逻辑指令中，唯有 </a:t>
            </a:r>
            <a:r>
              <a:rPr lang="en-US" altLang="zh-CN" dirty="0">
                <a:latin typeface="Times New Roman" panose="02020603050405020304" pitchFamily="18" charset="0"/>
                <a:ea typeface="宋体" panose="02010600030101010101" pitchFamily="2" charset="-122"/>
              </a:rPr>
              <a:t>NOT </a:t>
            </a:r>
            <a:r>
              <a:rPr lang="zh-CN" altLang="en-US" dirty="0">
                <a:latin typeface="Times New Roman" panose="02020603050405020304" pitchFamily="18" charset="0"/>
                <a:ea typeface="宋体" panose="02010600030101010101" pitchFamily="2" charset="-122"/>
              </a:rPr>
              <a:t>指令对所有标志位不产生影响，其余四条指令对标志位的影响均相同。这些指令将根据各自逻辑运算结果影响 </a:t>
            </a:r>
            <a:r>
              <a:rPr lang="en-US" altLang="zh-CN" dirty="0">
                <a:latin typeface="Times New Roman" panose="02020603050405020304" pitchFamily="18" charset="0"/>
                <a:ea typeface="宋体" panose="02010600030101010101" pitchFamily="2" charset="-122"/>
              </a:rPr>
              <a:t>SF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ZF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PF </a:t>
            </a:r>
            <a:r>
              <a:rPr lang="zh-CN" altLang="en-US" dirty="0">
                <a:latin typeface="Times New Roman" panose="02020603050405020304" pitchFamily="18" charset="0"/>
                <a:ea typeface="宋体" panose="02010600030101010101" pitchFamily="2" charset="-122"/>
              </a:rPr>
              <a:t>标志位。同时，将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OF </a:t>
            </a:r>
            <a:r>
              <a:rPr lang="zh-CN" altLang="en-US" dirty="0">
                <a:latin typeface="Times New Roman" panose="02020603050405020304" pitchFamily="18" charset="0"/>
                <a:ea typeface="宋体" panose="02010600030101010101" pitchFamily="2" charset="-122"/>
              </a:rPr>
              <a:t>标志位置“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r>
              <a:rPr lang="zh-CN" altLang="da-DK" dirty="0">
                <a:latin typeface="Times New Roman" panose="02020603050405020304" pitchFamily="18" charset="0"/>
                <a:ea typeface="宋体" panose="02010600030101010101" pitchFamily="2" charset="-122"/>
              </a:rPr>
              <a:t>使 </a:t>
            </a:r>
            <a:r>
              <a:rPr lang="da-DK" altLang="zh-CN" dirty="0">
                <a:latin typeface="Times New Roman" panose="02020603050405020304" pitchFamily="18" charset="0"/>
                <a:ea typeface="宋体" panose="02010600030101010101" pitchFamily="2" charset="-122"/>
              </a:rPr>
              <a:t>AF </a:t>
            </a:r>
            <a:r>
              <a:rPr lang="zh-CN" altLang="da-DK" dirty="0">
                <a:latin typeface="Times New Roman" panose="02020603050405020304" pitchFamily="18" charset="0"/>
                <a:ea typeface="宋体" panose="02010600030101010101" pitchFamily="2" charset="-122"/>
              </a:rPr>
              <a:t>的值不确定</a:t>
            </a:r>
            <a:r>
              <a:rPr lang="zh-CN" altLang="en-US" dirty="0">
                <a:latin typeface="Times New Roman" panose="02020603050405020304" pitchFamily="18" charset="0"/>
                <a:ea typeface="宋体" panose="02010600030101010101" pitchFamily="2" charset="-122"/>
              </a:rPr>
              <a:t>。</a:t>
            </a:r>
            <a:br>
              <a:rPr lang="zh-CN" altLang="da-DK"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71682" name="矩形 2"/>
          <p:cNvSpPr/>
          <p:nvPr/>
        </p:nvSpPr>
        <p:spPr>
          <a:xfrm>
            <a:off x="352425" y="2128838"/>
            <a:ext cx="7894638" cy="4192587"/>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）逻辑“与”指令 </a:t>
            </a:r>
            <a:r>
              <a:rPr lang="en-US" altLang="zh-CN" dirty="0">
                <a:solidFill>
                  <a:srgbClr val="FFC000"/>
                </a:solidFill>
                <a:latin typeface="Times New Roman" panose="02020603050405020304" pitchFamily="18" charset="0"/>
                <a:ea typeface="宋体" panose="02010600030101010101" pitchFamily="2" charset="-122"/>
              </a:rPr>
              <a:t>AND</a:t>
            </a:r>
          </a:p>
          <a:p>
            <a:pPr>
              <a:lnSpc>
                <a:spcPct val="100000"/>
              </a:lnSpc>
            </a:pP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AND DST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SRC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DST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DST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SRC</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指令功能：将目标操作数与源操作数按位进行“与”运算，结果回送目标操作数。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对操作数的要求如下：</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①源操作数可以是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位或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位的通用寄存器、存储器操作数或立即数。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②目标操作数只允许是寄存器或存储器操作数。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③源操作数和目标操作数不能同时为存储器操作数。</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72706" name="矩形 2"/>
          <p:cNvSpPr/>
          <p:nvPr/>
        </p:nvSpPr>
        <p:spPr>
          <a:xfrm>
            <a:off x="474663" y="1604963"/>
            <a:ext cx="8194675" cy="2309812"/>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）逻辑“或”指令 </a:t>
            </a:r>
            <a:r>
              <a:rPr lang="en-US" altLang="zh-CN" dirty="0">
                <a:solidFill>
                  <a:srgbClr val="FFC000"/>
                </a:solidFill>
                <a:latin typeface="Times New Roman" panose="02020603050405020304" pitchFamily="18" charset="0"/>
                <a:ea typeface="宋体" panose="02010600030101010101" pitchFamily="2" charset="-122"/>
              </a:rPr>
              <a:t>OR</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OR DST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SRC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DST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DST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SRC</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指令功能：将目标操作数与源操作数进行逻辑“或”运算，并将结果回送到目标操作数。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对操作数的要求与 </a:t>
            </a:r>
            <a:r>
              <a:rPr lang="en-US" altLang="zh-CN" dirty="0">
                <a:latin typeface="Times New Roman" panose="02020603050405020304" pitchFamily="18" charset="0"/>
                <a:ea typeface="宋体" panose="02010600030101010101" pitchFamily="2" charset="-122"/>
              </a:rPr>
              <a:t>AND </a:t>
            </a:r>
            <a:r>
              <a:rPr lang="zh-CN" altLang="en-US" dirty="0">
                <a:latin typeface="Times New Roman" panose="02020603050405020304" pitchFamily="18" charset="0"/>
                <a:ea typeface="宋体" panose="02010600030101010101" pitchFamily="2" charset="-122"/>
              </a:rPr>
              <a:t>指令一样。</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72707" name="矩形 3"/>
          <p:cNvSpPr/>
          <p:nvPr/>
        </p:nvSpPr>
        <p:spPr>
          <a:xfrm>
            <a:off x="447675" y="3722688"/>
            <a:ext cx="8020050" cy="2308225"/>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）逻辑“非”指令 </a:t>
            </a:r>
            <a:r>
              <a:rPr lang="en-US" altLang="zh-CN" dirty="0">
                <a:solidFill>
                  <a:srgbClr val="FFC000"/>
                </a:solidFill>
                <a:latin typeface="Times New Roman" panose="02020603050405020304" pitchFamily="18" charset="0"/>
                <a:ea typeface="宋体" panose="02010600030101010101" pitchFamily="2" charset="-122"/>
              </a:rPr>
              <a:t>NOT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NOT DST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指令功能：将源操作数按位取反， </a:t>
            </a:r>
            <a:r>
              <a:rPr lang="en-US" altLang="zh-CN" dirty="0">
                <a:latin typeface="Times New Roman" panose="02020603050405020304" pitchFamily="18" charset="0"/>
                <a:ea typeface="宋体" panose="02010600030101010101" pitchFamily="2" charset="-122"/>
              </a:rPr>
              <a:t>NOT </a:t>
            </a:r>
            <a:r>
              <a:rPr lang="zh-CN" altLang="en-US" dirty="0">
                <a:latin typeface="Times New Roman" panose="02020603050405020304" pitchFamily="18" charset="0"/>
                <a:ea typeface="宋体" panose="02010600030101010101" pitchFamily="2" charset="-122"/>
              </a:rPr>
              <a:t>指令对标志位没有影响。</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操作数要求：操作数可以是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位或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寄存器或存储器。</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73730" name="矩形 2"/>
          <p:cNvSpPr/>
          <p:nvPr/>
        </p:nvSpPr>
        <p:spPr>
          <a:xfrm>
            <a:off x="544513" y="1589088"/>
            <a:ext cx="7799387" cy="2419350"/>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）逻辑“异或”指令 </a:t>
            </a:r>
            <a:r>
              <a:rPr lang="en-US" altLang="zh-CN" dirty="0">
                <a:solidFill>
                  <a:srgbClr val="FFC000"/>
                </a:solidFill>
                <a:latin typeface="Times New Roman" panose="02020603050405020304" pitchFamily="18" charset="0"/>
                <a:ea typeface="宋体" panose="02010600030101010101" pitchFamily="2" charset="-122"/>
              </a:rPr>
              <a:t>XOR</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XOR  DST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SCR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DST</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DST</a:t>
            </a:r>
            <a:r>
              <a:rPr lang="zh-CN" altLang="en-US" b="0" dirty="0">
                <a:latin typeface="Times New Roman" panose="02020603050405020304" pitchFamily="18" charset="0"/>
                <a:ea typeface="宋体" panose="02010600030101010101" pitchFamily="2" charset="-122"/>
              </a:rPr>
              <a:t> ⊕ </a:t>
            </a:r>
            <a:r>
              <a:rPr lang="en-US" altLang="zh-CN" dirty="0">
                <a:latin typeface="Times New Roman" panose="02020603050405020304" pitchFamily="18" charset="0"/>
                <a:ea typeface="宋体" panose="02010600030101010101" pitchFamily="2" charset="-122"/>
              </a:rPr>
              <a:t>SCR</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指令功能：目标操作数与源操作进行“异或”运算，运算结果回送目标操作数。对操作数的要求与“ </a:t>
            </a:r>
            <a:r>
              <a:rPr lang="en-US" altLang="zh-CN" dirty="0">
                <a:latin typeface="Times New Roman" panose="02020603050405020304" pitchFamily="18" charset="0"/>
                <a:ea typeface="宋体" panose="02010600030101010101" pitchFamily="2" charset="-122"/>
              </a:rPr>
              <a:t>AND</a:t>
            </a:r>
            <a:r>
              <a:rPr lang="zh-CN" altLang="en-US" dirty="0">
                <a:latin typeface="Times New Roman" panose="02020603050405020304" pitchFamily="18" charset="0"/>
                <a:ea typeface="宋体" panose="02010600030101010101" pitchFamily="2" charset="-122"/>
              </a:rPr>
              <a:t>”相同。“异或”操作的原则是：两操作数相同结果为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，不同结果为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73731" name="矩形 3"/>
          <p:cNvSpPr/>
          <p:nvPr/>
        </p:nvSpPr>
        <p:spPr>
          <a:xfrm>
            <a:off x="501650" y="4179888"/>
            <a:ext cx="8088313" cy="1754187"/>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5</a:t>
            </a:r>
            <a:r>
              <a:rPr lang="zh-CN" altLang="en-US" dirty="0">
                <a:solidFill>
                  <a:srgbClr val="FFC000"/>
                </a:solidFill>
                <a:latin typeface="Times New Roman" panose="02020603050405020304" pitchFamily="18" charset="0"/>
                <a:ea typeface="宋体" panose="02010600030101010101" pitchFamily="2" charset="-122"/>
              </a:rPr>
              <a:t>）测试指令 </a:t>
            </a:r>
            <a:r>
              <a:rPr lang="en-US" altLang="zh-CN" dirty="0">
                <a:solidFill>
                  <a:srgbClr val="FFC000"/>
                </a:solidFill>
                <a:latin typeface="Times New Roman" panose="02020603050405020304" pitchFamily="18" charset="0"/>
                <a:ea typeface="宋体" panose="02010600030101010101" pitchFamily="2" charset="-122"/>
              </a:rPr>
              <a:t>TEST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TEST  DST</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SCR</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指令功能：与 </a:t>
            </a:r>
            <a:r>
              <a:rPr lang="en-US" altLang="zh-CN" dirty="0">
                <a:latin typeface="Times New Roman" panose="02020603050405020304" pitchFamily="18" charset="0"/>
                <a:ea typeface="宋体" panose="02010600030101010101" pitchFamily="2" charset="-122"/>
              </a:rPr>
              <a:t>AND </a:t>
            </a:r>
            <a:r>
              <a:rPr lang="zh-CN" altLang="en-US" dirty="0">
                <a:latin typeface="Times New Roman" panose="02020603050405020304" pitchFamily="18" charset="0"/>
                <a:ea typeface="宋体" panose="02010600030101010101" pitchFamily="2" charset="-122"/>
              </a:rPr>
              <a:t>指令执行过程类似，但指令执行后，目标操作数保持不变，只影响标志位。</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74754" name="矩形 2"/>
          <p:cNvSpPr/>
          <p:nvPr/>
        </p:nvSpPr>
        <p:spPr>
          <a:xfrm>
            <a:off x="307975" y="1441450"/>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．移位指令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74755" name="矩形 3"/>
          <p:cNvSpPr/>
          <p:nvPr/>
        </p:nvSpPr>
        <p:spPr>
          <a:xfrm>
            <a:off x="333375" y="2044700"/>
            <a:ext cx="8204200" cy="4303713"/>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移位指令包括非循环移位指令和循环移位指令。移位指令用来完成对寄存器操作数或存储器操作数一定次数的移位。当移动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次时，移动次数由指令直接给出；当移动次数大于 </a:t>
            </a:r>
            <a:r>
              <a:rPr lang="en-US" altLang="zh-CN" dirty="0">
                <a:latin typeface="Times New Roman" panose="02020603050405020304" pitchFamily="18" charset="0"/>
                <a:ea typeface="宋体" panose="02010600030101010101" pitchFamily="2" charset="-122"/>
              </a:rPr>
              <a:t>1</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时，移动次数要放到 </a:t>
            </a:r>
            <a:r>
              <a:rPr lang="en-US" altLang="zh-CN" dirty="0">
                <a:latin typeface="Times New Roman" panose="02020603050405020304" pitchFamily="18" charset="0"/>
                <a:ea typeface="宋体" panose="02010600030101010101" pitchFamily="2" charset="-122"/>
              </a:rPr>
              <a:t>CL </a:t>
            </a:r>
            <a:r>
              <a:rPr lang="zh-CN" altLang="en-US" dirty="0">
                <a:latin typeface="Times New Roman" panose="02020603050405020304" pitchFamily="18" charset="0"/>
                <a:ea typeface="宋体" panose="02010600030101010101" pitchFamily="2" charset="-122"/>
              </a:rPr>
              <a:t>寄存器中。指令操作数由源操作数和目标操作数构成，源操作数表示移动次数，目标操作数表示被移动的对象移位指令大都影响 </a:t>
            </a:r>
            <a:r>
              <a:rPr lang="en-US" altLang="zh-CN" dirty="0">
                <a:latin typeface="Times New Roman" panose="02020603050405020304" pitchFamily="18" charset="0"/>
                <a:ea typeface="宋体" panose="02010600030101010101" pitchFamily="2" charset="-122"/>
              </a:rPr>
              <a:t>6 </a:t>
            </a:r>
            <a:r>
              <a:rPr lang="zh-CN" altLang="en-US" dirty="0">
                <a:latin typeface="Times New Roman" panose="02020603050405020304" pitchFamily="18" charset="0"/>
                <a:ea typeface="宋体" panose="02010600030101010101" pitchFamily="2" charset="-122"/>
              </a:rPr>
              <a:t>个状态标志位。</a:t>
            </a:r>
            <a:endParaRPr lang="en-US" altLang="zh-CN" dirty="0">
              <a:solidFill>
                <a:srgbClr val="FFC000"/>
              </a:solidFill>
              <a:latin typeface="Times New Roman" panose="02020603050405020304" pitchFamily="18" charset="0"/>
              <a:ea typeface="宋体" panose="02010600030101010101" pitchFamily="2" charset="-122"/>
            </a:endParaRPr>
          </a:p>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）非循环移位指令</a:t>
            </a:r>
            <a:endParaRPr lang="en-US" altLang="zh-CN" dirty="0">
              <a:solidFill>
                <a:srgbClr val="FFC000"/>
              </a:solidFill>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非循环移位指令包括逻辑左移指令 </a:t>
            </a:r>
            <a:r>
              <a:rPr lang="en-US" altLang="zh-CN" dirty="0">
                <a:latin typeface="Times New Roman" panose="02020603050405020304" pitchFamily="18" charset="0"/>
                <a:ea typeface="宋体" panose="02010600030101010101" pitchFamily="2" charset="-122"/>
              </a:rPr>
              <a:t>SHL</a:t>
            </a:r>
            <a:r>
              <a:rPr lang="zh-CN" altLang="en-US" dirty="0">
                <a:latin typeface="Times New Roman" panose="02020603050405020304" pitchFamily="18" charset="0"/>
                <a:ea typeface="宋体" panose="02010600030101010101" pitchFamily="2" charset="-122"/>
              </a:rPr>
              <a:t>、算术左移指令 </a:t>
            </a:r>
            <a:r>
              <a:rPr lang="en-US" altLang="zh-CN" dirty="0">
                <a:latin typeface="Times New Roman" panose="02020603050405020304" pitchFamily="18" charset="0"/>
                <a:ea typeface="宋体" panose="02010600030101010101" pitchFamily="2" charset="-122"/>
              </a:rPr>
              <a:t>SAL</a:t>
            </a:r>
            <a:r>
              <a:rPr lang="zh-CN" altLang="en-US" dirty="0">
                <a:latin typeface="Times New Roman" panose="02020603050405020304" pitchFamily="18" charset="0"/>
                <a:ea typeface="宋体" panose="02010600030101010101" pitchFamily="2" charset="-122"/>
              </a:rPr>
              <a:t>、逻辑右移指令 </a:t>
            </a:r>
            <a:r>
              <a:rPr lang="en-US" altLang="zh-CN" dirty="0">
                <a:latin typeface="Times New Roman" panose="02020603050405020304" pitchFamily="18" charset="0"/>
                <a:ea typeface="宋体" panose="02010600030101010101" pitchFamily="2" charset="-122"/>
              </a:rPr>
              <a:t>SHR </a:t>
            </a:r>
            <a:r>
              <a:rPr lang="zh-CN" altLang="en-US" dirty="0">
                <a:latin typeface="Times New Roman" panose="02020603050405020304" pitchFamily="18" charset="0"/>
                <a:ea typeface="宋体" panose="02010600030101010101" pitchFamily="2" charset="-122"/>
              </a:rPr>
              <a:t>和算术右移指令 </a:t>
            </a:r>
            <a:r>
              <a:rPr lang="en-US" altLang="zh-CN" dirty="0">
                <a:latin typeface="Times New Roman" panose="02020603050405020304" pitchFamily="18" charset="0"/>
                <a:ea typeface="宋体" panose="02010600030101010101" pitchFamily="2" charset="-122"/>
              </a:rPr>
              <a:t>SAR </a:t>
            </a:r>
            <a:r>
              <a:rPr lang="zh-CN" altLang="en-US" dirty="0">
                <a:latin typeface="Times New Roman" panose="02020603050405020304" pitchFamily="18" charset="0"/>
                <a:ea typeface="宋体" panose="02010600030101010101" pitchFamily="2" charset="-122"/>
              </a:rPr>
              <a:t>等指令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条。逻辑移位指令针对的是无符号数，算术移位指令针对的是有符号数。</a:t>
            </a:r>
          </a:p>
        </p:txBody>
      </p:sp>
    </p:spTree>
  </p:cSld>
  <p:clrMapOvr>
    <a:masterClrMapping/>
  </p:clrMapOvr>
  <p:transition spd="med">
    <p:random/>
  </p:transition>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75778" name="矩形 2"/>
          <p:cNvSpPr/>
          <p:nvPr/>
        </p:nvSpPr>
        <p:spPr>
          <a:xfrm>
            <a:off x="492125" y="1558925"/>
            <a:ext cx="8027988" cy="3822700"/>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）逻辑左移指令 </a:t>
            </a:r>
            <a:r>
              <a:rPr lang="en-US" altLang="zh-CN" dirty="0">
                <a:solidFill>
                  <a:srgbClr val="FFC000"/>
                </a:solidFill>
                <a:latin typeface="Times New Roman" panose="02020603050405020304" pitchFamily="18" charset="0"/>
                <a:ea typeface="宋体" panose="02010600030101010101" pitchFamily="2" charset="-122"/>
              </a:rPr>
              <a:t>SHL </a:t>
            </a:r>
            <a:r>
              <a:rPr lang="zh-CN" altLang="en-US" dirty="0">
                <a:solidFill>
                  <a:srgbClr val="FFC000"/>
                </a:solidFill>
                <a:latin typeface="Times New Roman" panose="02020603050405020304" pitchFamily="18" charset="0"/>
                <a:ea typeface="宋体" panose="02010600030101010101" pitchFamily="2" charset="-122"/>
              </a:rPr>
              <a:t>和算术左移指令 </a:t>
            </a:r>
            <a:r>
              <a:rPr lang="en-US" altLang="zh-CN" dirty="0">
                <a:solidFill>
                  <a:srgbClr val="FFC000"/>
                </a:solidFill>
                <a:latin typeface="Times New Roman" panose="02020603050405020304" pitchFamily="18" charset="0"/>
                <a:ea typeface="宋体" panose="02010600030101010101" pitchFamily="2" charset="-122"/>
              </a:rPr>
              <a:t>SAL</a:t>
            </a:r>
          </a:p>
          <a:p>
            <a:pPr>
              <a:lnSpc>
                <a:spcPct val="100000"/>
              </a:lnSpc>
            </a:pPr>
            <a:r>
              <a:rPr lang="zh-CN" altLang="en-US" dirty="0">
                <a:latin typeface="Times New Roman" panose="02020603050405020304" pitchFamily="18" charset="0"/>
                <a:ea typeface="宋体" panose="02010600030101010101" pitchFamily="2" charset="-122"/>
              </a:rPr>
              <a:t>逻辑左移指令 </a:t>
            </a:r>
            <a:r>
              <a:rPr lang="en-US" altLang="zh-CN" dirty="0">
                <a:latin typeface="Times New Roman" panose="02020603050405020304" pitchFamily="18" charset="0"/>
                <a:ea typeface="宋体" panose="02010600030101010101" pitchFamily="2" charset="-122"/>
              </a:rPr>
              <a:t>SHL </a:t>
            </a:r>
            <a:r>
              <a:rPr lang="zh-CN" altLang="en-US" dirty="0">
                <a:latin typeface="Times New Roman" panose="02020603050405020304" pitchFamily="18" charset="0"/>
                <a:ea typeface="宋体" panose="02010600030101010101" pitchFamily="2" charset="-122"/>
              </a:rPr>
              <a:t>和算术左移指令 </a:t>
            </a:r>
            <a:r>
              <a:rPr lang="en-US" altLang="zh-CN" dirty="0">
                <a:latin typeface="Times New Roman" panose="02020603050405020304" pitchFamily="18" charset="0"/>
                <a:ea typeface="宋体" panose="02010600030101010101" pitchFamily="2" charset="-122"/>
              </a:rPr>
              <a:t>SAL</a:t>
            </a:r>
            <a:r>
              <a:rPr lang="zh-CN" altLang="en-US" dirty="0">
                <a:latin typeface="Times New Roman" panose="02020603050405020304" pitchFamily="18" charset="0"/>
                <a:ea typeface="宋体" panose="02010600030101010101" pitchFamily="2" charset="-122"/>
              </a:rPr>
              <a:t>完全相同，指令格式如下：</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SHL(SAL) OPRD,1 ;SAL OPRD,1</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SHL(SAL) OPRD,CL ;SAL OPRD,CL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指令功能：将目标操作数顺序左移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位或 </a:t>
            </a:r>
            <a:r>
              <a:rPr lang="en-US" altLang="zh-CN" dirty="0">
                <a:latin typeface="Times New Roman" panose="02020603050405020304" pitchFamily="18" charset="0"/>
                <a:ea typeface="宋体" panose="02010600030101010101" pitchFamily="2" charset="-122"/>
              </a:rPr>
              <a:t>CL </a:t>
            </a:r>
            <a:r>
              <a:rPr lang="zh-CN" altLang="en-US" dirty="0">
                <a:latin typeface="Times New Roman" panose="02020603050405020304" pitchFamily="18" charset="0"/>
                <a:ea typeface="宋体" panose="02010600030101010101" pitchFamily="2" charset="-122"/>
              </a:rPr>
              <a:t>寄存器中指定的位数。</a:t>
            </a:r>
            <a:endParaRPr lang="en-US" altLang="zh-CN"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具体操作：每次左移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位，左边的最高位移入标志位</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，而在右边的最低位补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。指令操作过程如图 </a:t>
            </a:r>
            <a:r>
              <a:rPr lang="en-US" altLang="zh-CN" dirty="0">
                <a:latin typeface="Times New Roman" panose="02020603050405020304" pitchFamily="18" charset="0"/>
                <a:ea typeface="宋体" panose="02010600030101010101" pitchFamily="2" charset="-122"/>
              </a:rPr>
              <a:t>3-16 </a:t>
            </a:r>
            <a:r>
              <a:rPr lang="zh-CN" altLang="en-US" dirty="0">
                <a:latin typeface="Times New Roman" panose="02020603050405020304" pitchFamily="18" charset="0"/>
                <a:ea typeface="宋体" panose="02010600030101010101" pitchFamily="2" charset="-122"/>
              </a:rPr>
              <a:t>所示。</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pic>
        <p:nvPicPr>
          <p:cNvPr id="75779" name="Picture 2"/>
          <p:cNvPicPr>
            <a:picLocks noChangeAspect="1"/>
          </p:cNvPicPr>
          <p:nvPr/>
        </p:nvPicPr>
        <p:blipFill>
          <a:blip r:embed="rId2"/>
          <a:stretch>
            <a:fillRect/>
          </a:stretch>
        </p:blipFill>
        <p:spPr>
          <a:xfrm>
            <a:off x="2314575" y="5305425"/>
            <a:ext cx="3681413" cy="1392238"/>
          </a:xfrm>
          <a:prstGeom prst="rect">
            <a:avLst/>
          </a:prstGeom>
          <a:noFill/>
          <a:ln w="9525">
            <a:noFill/>
          </a:ln>
        </p:spPr>
      </p:pic>
    </p:spTree>
  </p:cSld>
  <p:clrMapOvr>
    <a:masterClrMapping/>
  </p:clrMapOvr>
  <p:transition spd="med">
    <p:random/>
  </p:transition>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76802" name="矩形 2"/>
          <p:cNvSpPr/>
          <p:nvPr/>
        </p:nvSpPr>
        <p:spPr>
          <a:xfrm>
            <a:off x="747713" y="1397000"/>
            <a:ext cx="7834312" cy="419258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）逻辑右移指令 </a:t>
            </a:r>
            <a:r>
              <a:rPr lang="en-US" altLang="zh-CN" dirty="0">
                <a:solidFill>
                  <a:srgbClr val="FFC000"/>
                </a:solidFill>
                <a:latin typeface="Times New Roman" panose="02020603050405020304" pitchFamily="18" charset="0"/>
                <a:ea typeface="宋体" panose="02010600030101010101" pitchFamily="2" charset="-122"/>
              </a:rPr>
              <a:t>SHR</a:t>
            </a:r>
          </a:p>
          <a:p>
            <a:pPr>
              <a:lnSpc>
                <a:spcPct val="100000"/>
              </a:lnSpc>
            </a:pP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SHR OPRD,1</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SHR OPRD,CL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指令功能：这条指令将无符号操作数右移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位或由 </a:t>
            </a:r>
            <a:r>
              <a:rPr lang="en-US" altLang="zh-CN" dirty="0">
                <a:latin typeface="Times New Roman" panose="02020603050405020304" pitchFamily="18" charset="0"/>
                <a:ea typeface="宋体" panose="02010600030101010101" pitchFamily="2" charset="-122"/>
              </a:rPr>
              <a:t>CL </a:t>
            </a:r>
            <a:r>
              <a:rPr lang="zh-CN" altLang="en-US" dirty="0">
                <a:latin typeface="Times New Roman" panose="02020603050405020304" pitchFamily="18" charset="0"/>
                <a:ea typeface="宋体" panose="02010600030101010101" pitchFamily="2" charset="-122"/>
              </a:rPr>
              <a:t>寄存器指定的位数。</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具体操作：当逻辑右移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位时，操作数的最低位移到进位标志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，最高位补“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”。指令操作示意图如图 </a:t>
            </a:r>
            <a:r>
              <a:rPr lang="en-US" altLang="zh-CN" dirty="0">
                <a:latin typeface="Times New Roman" panose="02020603050405020304" pitchFamily="18" charset="0"/>
                <a:ea typeface="宋体" panose="02010600030101010101" pitchFamily="2" charset="-122"/>
              </a:rPr>
              <a:t>3-17 </a:t>
            </a:r>
            <a:r>
              <a:rPr lang="zh-CN" altLang="en-US" dirty="0">
                <a:latin typeface="Times New Roman" panose="02020603050405020304" pitchFamily="18" charset="0"/>
                <a:ea typeface="宋体" panose="02010600030101010101" pitchFamily="2" charset="-122"/>
              </a:rPr>
              <a:t>所示。</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pic>
        <p:nvPicPr>
          <p:cNvPr id="76803" name="Picture 2"/>
          <p:cNvPicPr>
            <a:picLocks noChangeAspect="1"/>
          </p:cNvPicPr>
          <p:nvPr/>
        </p:nvPicPr>
        <p:blipFill>
          <a:blip r:embed="rId2"/>
          <a:stretch>
            <a:fillRect/>
          </a:stretch>
        </p:blipFill>
        <p:spPr>
          <a:xfrm>
            <a:off x="2438400" y="5005388"/>
            <a:ext cx="3663950" cy="1487487"/>
          </a:xfrm>
          <a:prstGeom prst="rect">
            <a:avLst/>
          </a:prstGeom>
          <a:noFill/>
          <a:ln w="9525">
            <a:noFill/>
          </a:ln>
        </p:spPr>
      </p:pic>
    </p:spTree>
  </p:cSld>
  <p:clrMapOvr>
    <a:masterClrMapping/>
  </p:clrMapOvr>
  <p:transition spd="med">
    <p:random/>
  </p:transition>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77826" name="矩形 2"/>
          <p:cNvSpPr/>
          <p:nvPr/>
        </p:nvSpPr>
        <p:spPr>
          <a:xfrm>
            <a:off x="352425" y="1858963"/>
            <a:ext cx="8493125" cy="3157537"/>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）算术右移指令 </a:t>
            </a:r>
            <a:r>
              <a:rPr lang="en-US" altLang="zh-CN" dirty="0">
                <a:solidFill>
                  <a:srgbClr val="FFC000"/>
                </a:solidFill>
                <a:latin typeface="Times New Roman" panose="02020603050405020304" pitchFamily="18" charset="0"/>
                <a:ea typeface="宋体" panose="02010600030101010101" pitchFamily="2" charset="-122"/>
              </a:rPr>
              <a:t>SAR</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SAR OPRD,1</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SAR OPRD,CL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指令功能：将有符号数向右移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位或由 </a:t>
            </a:r>
            <a:r>
              <a:rPr lang="en-US" altLang="zh-CN" dirty="0">
                <a:latin typeface="Times New Roman" panose="02020603050405020304" pitchFamily="18" charset="0"/>
                <a:ea typeface="宋体" panose="02010600030101010101" pitchFamily="2" charset="-122"/>
              </a:rPr>
              <a:t>CL </a:t>
            </a:r>
            <a:r>
              <a:rPr lang="zh-CN" altLang="en-US" dirty="0">
                <a:latin typeface="Times New Roman" panose="02020603050405020304" pitchFamily="18" charset="0"/>
                <a:ea typeface="宋体" panose="02010600030101010101" pitchFamily="2" charset="-122"/>
              </a:rPr>
              <a:t>寄存器指定的位数。</a:t>
            </a:r>
            <a:endParaRPr lang="en-US" altLang="zh-CN"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具体操作：当算术右移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位时，操作数的最低位移到进位标志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，而左边的高位保持不变。指令操作示意图如图 </a:t>
            </a:r>
            <a:r>
              <a:rPr lang="en-US" altLang="zh-CN" dirty="0">
                <a:latin typeface="Times New Roman" panose="02020603050405020304" pitchFamily="18" charset="0"/>
                <a:ea typeface="宋体" panose="02010600030101010101" pitchFamily="2" charset="-122"/>
              </a:rPr>
              <a:t>3-18 </a:t>
            </a:r>
            <a:r>
              <a:rPr lang="zh-CN" altLang="en-US" dirty="0">
                <a:latin typeface="Times New Roman" panose="02020603050405020304" pitchFamily="18" charset="0"/>
                <a:ea typeface="宋体" panose="02010600030101010101" pitchFamily="2" charset="-122"/>
              </a:rPr>
              <a:t>所示。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pic>
        <p:nvPicPr>
          <p:cNvPr id="77827" name="Picture 2"/>
          <p:cNvPicPr>
            <a:picLocks noChangeAspect="1"/>
          </p:cNvPicPr>
          <p:nvPr/>
        </p:nvPicPr>
        <p:blipFill>
          <a:blip r:embed="rId2"/>
          <a:stretch>
            <a:fillRect/>
          </a:stretch>
        </p:blipFill>
        <p:spPr>
          <a:xfrm>
            <a:off x="2576513" y="4689475"/>
            <a:ext cx="4167187" cy="1709738"/>
          </a:xfrm>
          <a:prstGeom prst="rect">
            <a:avLst/>
          </a:prstGeom>
          <a:noFill/>
          <a:ln w="9525">
            <a:noFill/>
          </a:ln>
        </p:spPr>
      </p:pic>
    </p:spTree>
  </p:cSld>
  <p:clrMapOvr>
    <a:masterClrMapping/>
  </p:clrMapOvr>
  <p:transition spd="med">
    <p:random/>
  </p:transition>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78850" name="矩形 2"/>
          <p:cNvSpPr/>
          <p:nvPr/>
        </p:nvSpPr>
        <p:spPr>
          <a:xfrm>
            <a:off x="544513" y="1797050"/>
            <a:ext cx="7720012" cy="3859213"/>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）循环移位指令</a:t>
            </a:r>
            <a:endParaRPr lang="en-US" altLang="zh-CN" dirty="0">
              <a:solidFill>
                <a:srgbClr val="FFC000"/>
              </a:solidFill>
              <a:latin typeface="Times New Roman" panose="02020603050405020304" pitchFamily="18" charset="0"/>
              <a:ea typeface="宋体" panose="02010600030101010101" pitchFamily="2" charset="-122"/>
            </a:endParaRPr>
          </a:p>
          <a:p>
            <a:endParaRPr lang="en-US" altLang="zh-CN" dirty="0">
              <a:solidFill>
                <a:srgbClr val="FFC000"/>
              </a:solidFill>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所谓循环移位，是指将目标操作数一端移出来的位移至目标操作数的另一端。它是一种将目标操作数首尾相连的移位，从目标操作数移出来的位不会丢失。</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8086/8088 </a:t>
            </a:r>
            <a:r>
              <a:rPr lang="zh-CN" altLang="en-US" dirty="0">
                <a:latin typeface="Times New Roman" panose="02020603050405020304" pitchFamily="18" charset="0"/>
                <a:ea typeface="宋体" panose="02010600030101010101" pitchFamily="2" charset="-122"/>
              </a:rPr>
              <a:t>指令系统中有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条循环移位指令，分别是：不带进位标志位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的循环左移指令 </a:t>
            </a:r>
            <a:r>
              <a:rPr lang="en-US" altLang="zh-CN" dirty="0">
                <a:latin typeface="Times New Roman" panose="02020603050405020304" pitchFamily="18" charset="0"/>
                <a:ea typeface="宋体" panose="02010600030101010101" pitchFamily="2" charset="-122"/>
              </a:rPr>
              <a:t>ROL</a:t>
            </a:r>
            <a:r>
              <a:rPr lang="zh-CN" altLang="en-US" dirty="0">
                <a:latin typeface="Times New Roman" panose="02020603050405020304" pitchFamily="18" charset="0"/>
                <a:ea typeface="宋体" panose="02010600030101010101" pitchFamily="2" charset="-122"/>
              </a:rPr>
              <a:t>， 不带进位标志位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的循环右移指令 </a:t>
            </a:r>
            <a:r>
              <a:rPr lang="en-US" altLang="zh-CN" dirty="0">
                <a:latin typeface="Times New Roman" panose="02020603050405020304" pitchFamily="18" charset="0"/>
                <a:ea typeface="宋体" panose="02010600030101010101" pitchFamily="2" charset="-122"/>
              </a:rPr>
              <a:t>ROR</a:t>
            </a:r>
            <a:r>
              <a:rPr lang="zh-CN" altLang="en-US" dirty="0">
                <a:latin typeface="Times New Roman" panose="02020603050405020304" pitchFamily="18" charset="0"/>
                <a:ea typeface="宋体" panose="02010600030101010101" pitchFamily="2" charset="-122"/>
              </a:rPr>
              <a:t>， 带进位标志位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的循环左移指令 </a:t>
            </a:r>
            <a:r>
              <a:rPr lang="en-US" altLang="zh-CN" dirty="0">
                <a:latin typeface="Times New Roman" panose="02020603050405020304" pitchFamily="18" charset="0"/>
                <a:ea typeface="宋体" panose="02010600030101010101" pitchFamily="2" charset="-122"/>
              </a:rPr>
              <a:t>RCL</a:t>
            </a:r>
            <a:r>
              <a:rPr lang="zh-CN" altLang="en-US" dirty="0">
                <a:latin typeface="Times New Roman" panose="02020603050405020304" pitchFamily="18" charset="0"/>
                <a:ea typeface="宋体" panose="02010600030101010101" pitchFamily="2" charset="-122"/>
              </a:rPr>
              <a:t>，带进位标志位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的循环右移指令 </a:t>
            </a:r>
            <a:r>
              <a:rPr lang="en-US" altLang="zh-CN" dirty="0">
                <a:latin typeface="Times New Roman" panose="02020603050405020304" pitchFamily="18" charset="0"/>
                <a:ea typeface="宋体" panose="02010600030101010101" pitchFamily="2" charset="-122"/>
              </a:rPr>
              <a:t>RCR</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79874" name="矩形 2"/>
          <p:cNvSpPr/>
          <p:nvPr/>
        </p:nvSpPr>
        <p:spPr>
          <a:xfrm>
            <a:off x="509588" y="1425575"/>
            <a:ext cx="7966075" cy="3786188"/>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）不带 </a:t>
            </a:r>
            <a:r>
              <a:rPr lang="en-US" altLang="zh-CN" dirty="0">
                <a:solidFill>
                  <a:srgbClr val="FFC000"/>
                </a:solidFill>
                <a:latin typeface="Times New Roman" panose="02020603050405020304" pitchFamily="18" charset="0"/>
                <a:ea typeface="宋体" panose="02010600030101010101" pitchFamily="2" charset="-122"/>
              </a:rPr>
              <a:t>CF </a:t>
            </a:r>
            <a:r>
              <a:rPr lang="zh-CN" altLang="en-US" dirty="0">
                <a:solidFill>
                  <a:srgbClr val="FFC000"/>
                </a:solidFill>
                <a:latin typeface="Times New Roman" panose="02020603050405020304" pitchFamily="18" charset="0"/>
                <a:ea typeface="宋体" panose="02010600030101010101" pitchFamily="2" charset="-122"/>
              </a:rPr>
              <a:t>的循环左移指令 </a:t>
            </a:r>
            <a:r>
              <a:rPr lang="en-US" altLang="zh-CN" dirty="0">
                <a:solidFill>
                  <a:srgbClr val="FFC000"/>
                </a:solidFill>
                <a:latin typeface="Times New Roman" panose="02020603050405020304" pitchFamily="18" charset="0"/>
                <a:ea typeface="宋体" panose="02010600030101010101" pitchFamily="2" charset="-122"/>
              </a:rPr>
              <a:t>ROL</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ROL OPRD, 1</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ROL OPRD, CL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 </a:t>
            </a:r>
            <a:r>
              <a:rPr lang="en-US" altLang="zh-CN" dirty="0">
                <a:latin typeface="Times New Roman" panose="02020603050405020304" pitchFamily="18" charset="0"/>
                <a:ea typeface="宋体" panose="02010600030101010101" pitchFamily="2" charset="-122"/>
              </a:rPr>
              <a:t>ROL </a:t>
            </a:r>
            <a:r>
              <a:rPr lang="zh-CN" altLang="en-US" dirty="0">
                <a:latin typeface="Times New Roman" panose="02020603050405020304" pitchFamily="18" charset="0"/>
                <a:ea typeface="宋体" panose="02010600030101010101" pitchFamily="2" charset="-122"/>
              </a:rPr>
              <a:t>是循环左移指令，将目标操作数向左循环移动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位或 </a:t>
            </a:r>
            <a:r>
              <a:rPr lang="en-US" altLang="zh-CN" dirty="0">
                <a:latin typeface="Times New Roman" panose="02020603050405020304" pitchFamily="18" charset="0"/>
                <a:ea typeface="宋体" panose="02010600030101010101" pitchFamily="2" charset="-122"/>
              </a:rPr>
              <a:t>CL </a:t>
            </a:r>
            <a:r>
              <a:rPr lang="zh-CN" altLang="en-US" dirty="0">
                <a:latin typeface="Times New Roman" panose="02020603050405020304" pitchFamily="18" charset="0"/>
                <a:ea typeface="宋体" panose="02010600030101010101" pitchFamily="2" charset="-122"/>
              </a:rPr>
              <a:t>寄存器中指定的位数。目标操作数每一次向左移动一位，最高位移入最低位构成循环，同时把最高位移入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，而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原来的值丢失。标志位</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不在循环之内，指令操作示意图如图 </a:t>
            </a:r>
            <a:r>
              <a:rPr lang="en-US" altLang="zh-CN" dirty="0">
                <a:latin typeface="Times New Roman" panose="02020603050405020304" pitchFamily="18" charset="0"/>
                <a:ea typeface="宋体" panose="02010600030101010101" pitchFamily="2" charset="-122"/>
              </a:rPr>
              <a:t>3-19 </a:t>
            </a:r>
            <a:r>
              <a:rPr lang="zh-CN" altLang="en-US" dirty="0">
                <a:latin typeface="Times New Roman" panose="02020603050405020304" pitchFamily="18" charset="0"/>
                <a:ea typeface="宋体" panose="02010600030101010101" pitchFamily="2" charset="-122"/>
              </a:rPr>
              <a:t>所示。</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pic>
        <p:nvPicPr>
          <p:cNvPr id="79875" name="Picture 2"/>
          <p:cNvPicPr>
            <a:picLocks noChangeAspect="1"/>
          </p:cNvPicPr>
          <p:nvPr/>
        </p:nvPicPr>
        <p:blipFill>
          <a:blip r:embed="rId2"/>
          <a:stretch>
            <a:fillRect/>
          </a:stretch>
        </p:blipFill>
        <p:spPr>
          <a:xfrm>
            <a:off x="2762250" y="4816475"/>
            <a:ext cx="3071813" cy="1822450"/>
          </a:xfrm>
          <a:prstGeom prst="rect">
            <a:avLst/>
          </a:prstGeom>
          <a:noFill/>
          <a:ln w="9525">
            <a:noFill/>
          </a:ln>
        </p:spPr>
      </p:pic>
    </p:spTree>
  </p:cSld>
  <p:clrMapOvr>
    <a:masterClrMapping/>
  </p:clrMapOvr>
  <p:transition spd="med">
    <p:random/>
  </p:transition>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80898" name="矩形 2"/>
          <p:cNvSpPr/>
          <p:nvPr/>
        </p:nvSpPr>
        <p:spPr>
          <a:xfrm>
            <a:off x="457200" y="1547813"/>
            <a:ext cx="8220075" cy="3416300"/>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）不带 </a:t>
            </a:r>
            <a:r>
              <a:rPr lang="en-US" altLang="zh-CN" dirty="0">
                <a:solidFill>
                  <a:srgbClr val="FFC000"/>
                </a:solidFill>
                <a:latin typeface="Times New Roman" panose="02020603050405020304" pitchFamily="18" charset="0"/>
                <a:ea typeface="宋体" panose="02010600030101010101" pitchFamily="2" charset="-122"/>
              </a:rPr>
              <a:t>CF </a:t>
            </a:r>
            <a:r>
              <a:rPr lang="zh-CN" altLang="en-US" dirty="0">
                <a:solidFill>
                  <a:srgbClr val="FFC000"/>
                </a:solidFill>
                <a:latin typeface="Times New Roman" panose="02020603050405020304" pitchFamily="18" charset="0"/>
                <a:ea typeface="宋体" panose="02010600030101010101" pitchFamily="2" charset="-122"/>
              </a:rPr>
              <a:t>的循环右移指令 </a:t>
            </a:r>
            <a:r>
              <a:rPr lang="en-US" altLang="zh-CN" dirty="0">
                <a:solidFill>
                  <a:srgbClr val="FFC000"/>
                </a:solidFill>
                <a:latin typeface="Times New Roman" panose="02020603050405020304" pitchFamily="18" charset="0"/>
                <a:ea typeface="宋体" panose="02010600030101010101" pitchFamily="2" charset="-122"/>
              </a:rPr>
              <a:t>ROR</a:t>
            </a:r>
            <a:r>
              <a:rPr lang="zh-CN" altLang="en-US" dirty="0">
                <a:solidFill>
                  <a:srgbClr val="FFC000"/>
                </a:solidFill>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ROR OPRD, 1</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ROR OPRD, CL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 </a:t>
            </a:r>
            <a:r>
              <a:rPr lang="en-US" altLang="zh-CN" dirty="0">
                <a:latin typeface="Times New Roman" panose="02020603050405020304" pitchFamily="18" charset="0"/>
                <a:ea typeface="宋体" panose="02010600030101010101" pitchFamily="2" charset="-122"/>
              </a:rPr>
              <a:t>ROR </a:t>
            </a:r>
            <a:r>
              <a:rPr lang="zh-CN" altLang="en-US" dirty="0">
                <a:latin typeface="Times New Roman" panose="02020603050405020304" pitchFamily="18" charset="0"/>
                <a:ea typeface="宋体" panose="02010600030101010101" pitchFamily="2" charset="-122"/>
              </a:rPr>
              <a:t>是循环右移指令，它将目标操作数中的每一位向右移动一位，最低位移入最高位，同时把最低位移入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，而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原来的值丢失。同样，标志位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不在循环之内，指令操作示意图如图 </a:t>
            </a:r>
            <a:r>
              <a:rPr lang="en-US" altLang="zh-CN" dirty="0">
                <a:latin typeface="Times New Roman" panose="02020603050405020304" pitchFamily="18" charset="0"/>
                <a:ea typeface="宋体" panose="02010600030101010101" pitchFamily="2" charset="-122"/>
              </a:rPr>
              <a:t>3-20 </a:t>
            </a:r>
            <a:r>
              <a:rPr lang="zh-CN" altLang="en-US" dirty="0">
                <a:latin typeface="Times New Roman" panose="02020603050405020304" pitchFamily="18" charset="0"/>
                <a:ea typeface="宋体" panose="02010600030101010101" pitchFamily="2" charset="-122"/>
              </a:rPr>
              <a:t>所示。</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pic>
        <p:nvPicPr>
          <p:cNvPr id="80899" name="Picture 3"/>
          <p:cNvPicPr>
            <a:picLocks noChangeAspect="1"/>
          </p:cNvPicPr>
          <p:nvPr/>
        </p:nvPicPr>
        <p:blipFill>
          <a:blip r:embed="rId2"/>
          <a:stretch>
            <a:fillRect/>
          </a:stretch>
        </p:blipFill>
        <p:spPr>
          <a:xfrm>
            <a:off x="2351088" y="4610100"/>
            <a:ext cx="3416300" cy="1962150"/>
          </a:xfrm>
          <a:prstGeom prst="rect">
            <a:avLst/>
          </a:prstGeom>
          <a:noFill/>
          <a:ln w="9525">
            <a:noFill/>
          </a:ln>
        </p:spPr>
      </p:pic>
    </p:spTree>
  </p:cSld>
  <p:clrMapOvr>
    <a:masterClrMapping/>
  </p:clrMapOvr>
  <p:transition spd="med">
    <p:random/>
  </p:transition>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81922" name="矩形 2"/>
          <p:cNvSpPr/>
          <p:nvPr/>
        </p:nvSpPr>
        <p:spPr>
          <a:xfrm>
            <a:off x="606425" y="1595438"/>
            <a:ext cx="7939088" cy="3786187"/>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）带 </a:t>
            </a:r>
            <a:r>
              <a:rPr lang="en-US" altLang="zh-CN" dirty="0">
                <a:solidFill>
                  <a:srgbClr val="FFC000"/>
                </a:solidFill>
                <a:latin typeface="Times New Roman" panose="02020603050405020304" pitchFamily="18" charset="0"/>
                <a:ea typeface="宋体" panose="02010600030101010101" pitchFamily="2" charset="-122"/>
              </a:rPr>
              <a:t>CF </a:t>
            </a:r>
            <a:r>
              <a:rPr lang="zh-CN" altLang="en-US" dirty="0">
                <a:solidFill>
                  <a:srgbClr val="FFC000"/>
                </a:solidFill>
                <a:latin typeface="Times New Roman" panose="02020603050405020304" pitchFamily="18" charset="0"/>
                <a:ea typeface="宋体" panose="02010600030101010101" pitchFamily="2" charset="-122"/>
              </a:rPr>
              <a:t>的循环左移指令 </a:t>
            </a:r>
            <a:r>
              <a:rPr lang="en-US" altLang="zh-CN" dirty="0">
                <a:solidFill>
                  <a:srgbClr val="FFC000"/>
                </a:solidFill>
                <a:latin typeface="Times New Roman" panose="02020603050405020304" pitchFamily="18" charset="0"/>
                <a:ea typeface="宋体" panose="02010600030101010101" pitchFamily="2" charset="-122"/>
              </a:rPr>
              <a:t>RCL</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RCL OPRD, 1</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RCL OPRD, CL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 </a:t>
            </a:r>
            <a:r>
              <a:rPr lang="en-US" altLang="zh-CN" dirty="0">
                <a:latin typeface="Times New Roman" panose="02020603050405020304" pitchFamily="18" charset="0"/>
                <a:ea typeface="宋体" panose="02010600030101010101" pitchFamily="2" charset="-122"/>
              </a:rPr>
              <a:t>RCL </a:t>
            </a:r>
            <a:r>
              <a:rPr lang="zh-CN" altLang="en-US" dirty="0">
                <a:latin typeface="Times New Roman" panose="02020603050405020304" pitchFamily="18" charset="0"/>
                <a:ea typeface="宋体" panose="02010600030101010101" pitchFamily="2" charset="-122"/>
              </a:rPr>
              <a:t>是带进位循环左移指令， 它将目标操作数连同进位标志位一起循环左移，标志位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移入目标操作数最低位，而目标操作数最高位移入</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。标志位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在循环之内，指令操作示意图如图 </a:t>
            </a:r>
            <a:r>
              <a:rPr lang="en-US" altLang="zh-CN" dirty="0">
                <a:latin typeface="Times New Roman" panose="02020603050405020304" pitchFamily="18" charset="0"/>
                <a:ea typeface="宋体" panose="02010600030101010101" pitchFamily="2" charset="-122"/>
              </a:rPr>
              <a:t>3-21 </a:t>
            </a:r>
            <a:r>
              <a:rPr lang="zh-CN" altLang="en-US" dirty="0">
                <a:latin typeface="Times New Roman" panose="02020603050405020304" pitchFamily="18" charset="0"/>
                <a:ea typeface="宋体" panose="02010600030101010101" pitchFamily="2" charset="-122"/>
              </a:rPr>
              <a:t>所示。</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pic>
        <p:nvPicPr>
          <p:cNvPr id="81923" name="Picture 2"/>
          <p:cNvPicPr>
            <a:picLocks noChangeAspect="1"/>
          </p:cNvPicPr>
          <p:nvPr/>
        </p:nvPicPr>
        <p:blipFill>
          <a:blip r:embed="rId2"/>
          <a:stretch>
            <a:fillRect/>
          </a:stretch>
        </p:blipFill>
        <p:spPr>
          <a:xfrm>
            <a:off x="2867025" y="4714875"/>
            <a:ext cx="3438525" cy="1928813"/>
          </a:xfrm>
          <a:prstGeom prst="rect">
            <a:avLst/>
          </a:prstGeom>
          <a:noFill/>
          <a:ln w="9525">
            <a:noFill/>
          </a:ln>
        </p:spPr>
      </p:pic>
    </p:spTree>
  </p:cSld>
  <p:clrMapOvr>
    <a:masterClrMapping/>
  </p:clrMapOvr>
  <p:transition spd="med">
    <p:random/>
  </p:transition>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逻辑运算和移位指令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82946" name="矩形 2"/>
          <p:cNvSpPr/>
          <p:nvPr/>
        </p:nvSpPr>
        <p:spPr>
          <a:xfrm>
            <a:off x="658813" y="1493838"/>
            <a:ext cx="7886700" cy="3416300"/>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）带 </a:t>
            </a:r>
            <a:r>
              <a:rPr lang="en-US" altLang="zh-CN" dirty="0">
                <a:solidFill>
                  <a:srgbClr val="FFC000"/>
                </a:solidFill>
                <a:latin typeface="Times New Roman" panose="02020603050405020304" pitchFamily="18" charset="0"/>
                <a:ea typeface="宋体" panose="02010600030101010101" pitchFamily="2" charset="-122"/>
              </a:rPr>
              <a:t>CF </a:t>
            </a:r>
            <a:r>
              <a:rPr lang="zh-CN" altLang="en-US" dirty="0">
                <a:solidFill>
                  <a:srgbClr val="FFC000"/>
                </a:solidFill>
                <a:latin typeface="Times New Roman" panose="02020603050405020304" pitchFamily="18" charset="0"/>
                <a:ea typeface="宋体" panose="02010600030101010101" pitchFamily="2" charset="-122"/>
              </a:rPr>
              <a:t>的循环右移指令 </a:t>
            </a:r>
            <a:r>
              <a:rPr lang="en-US" altLang="zh-CN" dirty="0">
                <a:solidFill>
                  <a:srgbClr val="FFC000"/>
                </a:solidFill>
                <a:latin typeface="Times New Roman" panose="02020603050405020304" pitchFamily="18" charset="0"/>
                <a:ea typeface="宋体" panose="02010600030101010101" pitchFamily="2" charset="-122"/>
              </a:rPr>
              <a:t>RCR</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RCR OPRD, 1</a:t>
            </a:r>
            <a:br>
              <a:rPr lang="en-US" altLang="zh-CN"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RCR OPRD, CL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 </a:t>
            </a:r>
            <a:r>
              <a:rPr lang="en-US" altLang="zh-CN" dirty="0">
                <a:latin typeface="Times New Roman" panose="02020603050405020304" pitchFamily="18" charset="0"/>
                <a:ea typeface="宋体" panose="02010600030101010101" pitchFamily="2" charset="-122"/>
              </a:rPr>
              <a:t>RCR </a:t>
            </a:r>
            <a:r>
              <a:rPr lang="zh-CN" altLang="en-US" dirty="0">
                <a:latin typeface="Times New Roman" panose="02020603050405020304" pitchFamily="18" charset="0"/>
                <a:ea typeface="宋体" panose="02010600030101010101" pitchFamily="2" charset="-122"/>
              </a:rPr>
              <a:t>是带进位循环右移指令，它将目标操作数连同进位标志位一起循环右移，标志位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移入目标操作数最高位，而目标操作数最低位移入 </a:t>
            </a:r>
            <a:r>
              <a:rPr lang="en-US" altLang="zh-CN" dirty="0">
                <a:latin typeface="Times New Roman" panose="02020603050405020304" pitchFamily="18" charset="0"/>
                <a:ea typeface="宋体" panose="02010600030101010101" pitchFamily="2" charset="-122"/>
              </a:rPr>
              <a:t>CF</a:t>
            </a:r>
            <a:r>
              <a:rPr lang="zh-CN" altLang="en-US" dirty="0">
                <a:latin typeface="Times New Roman" panose="02020603050405020304" pitchFamily="18" charset="0"/>
                <a:ea typeface="宋体" panose="02010600030101010101" pitchFamily="2" charset="-122"/>
              </a:rPr>
              <a:t>。 标志位 </a:t>
            </a:r>
            <a:r>
              <a:rPr lang="en-US" altLang="zh-CN" dirty="0">
                <a:latin typeface="Times New Roman" panose="02020603050405020304" pitchFamily="18" charset="0"/>
                <a:ea typeface="宋体" panose="02010600030101010101" pitchFamily="2" charset="-122"/>
              </a:rPr>
              <a:t>CF </a:t>
            </a:r>
            <a:r>
              <a:rPr lang="zh-CN" altLang="en-US" dirty="0">
                <a:latin typeface="Times New Roman" panose="02020603050405020304" pitchFamily="18" charset="0"/>
                <a:ea typeface="宋体" panose="02010600030101010101" pitchFamily="2" charset="-122"/>
              </a:rPr>
              <a:t>在循环之内， 指令操作示意图如图 </a:t>
            </a:r>
            <a:r>
              <a:rPr lang="en-US" altLang="zh-CN" dirty="0">
                <a:latin typeface="Times New Roman" panose="02020603050405020304" pitchFamily="18" charset="0"/>
                <a:ea typeface="宋体" panose="02010600030101010101" pitchFamily="2" charset="-122"/>
              </a:rPr>
              <a:t>3-23 </a:t>
            </a:r>
            <a:r>
              <a:rPr lang="zh-CN" altLang="en-US" dirty="0">
                <a:latin typeface="Times New Roman" panose="02020603050405020304" pitchFamily="18" charset="0"/>
                <a:ea typeface="宋体" panose="02010600030101010101" pitchFamily="2" charset="-122"/>
              </a:rPr>
              <a:t>所示。</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pic>
        <p:nvPicPr>
          <p:cNvPr id="82947" name="Picture 2"/>
          <p:cNvPicPr>
            <a:picLocks noChangeAspect="1"/>
          </p:cNvPicPr>
          <p:nvPr/>
        </p:nvPicPr>
        <p:blipFill>
          <a:blip r:embed="rId2"/>
          <a:stretch>
            <a:fillRect/>
          </a:stretch>
        </p:blipFill>
        <p:spPr>
          <a:xfrm>
            <a:off x="2776538" y="4768850"/>
            <a:ext cx="3232150" cy="1870075"/>
          </a:xfrm>
          <a:prstGeom prst="rect">
            <a:avLst/>
          </a:prstGeom>
          <a:noFill/>
          <a:ln w="9525">
            <a:noFill/>
          </a:ln>
        </p:spPr>
      </p:pic>
    </p:spTree>
  </p:cSld>
  <p:clrMapOvr>
    <a:masterClrMapping/>
  </p:clrMapOvr>
  <p:transition spd="med">
    <p:random/>
  </p:transition>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串操作指令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83970" name="矩形 2"/>
          <p:cNvSpPr/>
          <p:nvPr/>
        </p:nvSpPr>
        <p:spPr>
          <a:xfrm>
            <a:off x="0" y="1336675"/>
            <a:ext cx="4572000" cy="755650"/>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．串操作指令的特点</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83971" name="矩形 3"/>
          <p:cNvSpPr/>
          <p:nvPr/>
        </p:nvSpPr>
        <p:spPr>
          <a:xfrm>
            <a:off x="141288" y="1687513"/>
            <a:ext cx="8686800" cy="4832350"/>
          </a:xfrm>
          <a:prstGeom prst="rect">
            <a:avLst/>
          </a:prstGeom>
          <a:noFill/>
          <a:ln w="9525">
            <a:noFill/>
          </a:ln>
        </p:spPr>
        <p:txBody>
          <a:bodyPr anchor="t" anchorCtr="0">
            <a:spAutoFit/>
          </a:bodyPr>
          <a:lstStyle/>
          <a:p>
            <a:pPr>
              <a:lnSpc>
                <a:spcPct val="100000"/>
              </a:lnSpc>
            </a:pPr>
            <a:r>
              <a:rPr lang="zh-CN" altLang="en-US" sz="2200" dirty="0">
                <a:latin typeface="Times New Roman" panose="02020603050405020304" pitchFamily="18" charset="0"/>
                <a:ea typeface="宋体" panose="02010600030101010101" pitchFamily="2" charset="-122"/>
              </a:rPr>
              <a:t>串操作指令共有五条：串传送指令、串比较指令、串扫描指令、串装入指令、串存储指令。所有的串操作指令（除了与累加器打交道的串操作指令外）都具有以下特点：</a:t>
            </a:r>
          </a:p>
          <a:p>
            <a:pPr>
              <a:lnSpc>
                <a:spcPct val="100000"/>
              </a:lnSpc>
            </a:pPr>
            <a:r>
              <a:rPr lang="zh-CN" altLang="en-US" sz="2200" dirty="0">
                <a:latin typeface="Times New Roman" panose="02020603050405020304" pitchFamily="18" charset="0"/>
                <a:ea typeface="宋体" panose="02010600030101010101" pitchFamily="2" charset="-122"/>
              </a:rPr>
              <a:t>①总是用 </a:t>
            </a:r>
            <a:r>
              <a:rPr lang="en-US" altLang="zh-CN" sz="2200" dirty="0">
                <a:latin typeface="Times New Roman" panose="02020603050405020304" pitchFamily="18" charset="0"/>
                <a:ea typeface="宋体" panose="02010600030101010101" pitchFamily="2" charset="-122"/>
              </a:rPr>
              <a:t>SI </a:t>
            </a:r>
            <a:r>
              <a:rPr lang="zh-CN" altLang="en-US" sz="2200" dirty="0">
                <a:latin typeface="Times New Roman" panose="02020603050405020304" pitchFamily="18" charset="0"/>
                <a:ea typeface="宋体" panose="02010600030101010101" pitchFamily="2" charset="-122"/>
              </a:rPr>
              <a:t>寄存器寻址源串，用 </a:t>
            </a:r>
            <a:r>
              <a:rPr lang="en-US" altLang="zh-CN" sz="2200" dirty="0">
                <a:latin typeface="Times New Roman" panose="02020603050405020304" pitchFamily="18" charset="0"/>
                <a:ea typeface="宋体" panose="02010600030101010101" pitchFamily="2" charset="-122"/>
              </a:rPr>
              <a:t>DI </a:t>
            </a:r>
            <a:r>
              <a:rPr lang="zh-CN" altLang="en-US" sz="2200" dirty="0">
                <a:latin typeface="Times New Roman" panose="02020603050405020304" pitchFamily="18" charset="0"/>
                <a:ea typeface="宋体" panose="02010600030101010101" pitchFamily="2" charset="-122"/>
              </a:rPr>
              <a:t>寄存器寻址目标串。源串默认为在数据段，允许段重设。目标串默认在附加段，不允许进行段重设。</a:t>
            </a:r>
          </a:p>
          <a:p>
            <a:pPr>
              <a:lnSpc>
                <a:spcPct val="100000"/>
              </a:lnSpc>
            </a:pPr>
            <a:r>
              <a:rPr lang="zh-CN" altLang="en-US" sz="2200" dirty="0">
                <a:latin typeface="Times New Roman" panose="02020603050405020304" pitchFamily="18" charset="0"/>
                <a:ea typeface="宋体" panose="02010600030101010101" pitchFamily="2" charset="-122"/>
              </a:rPr>
              <a:t>②串的长度存放在 </a:t>
            </a:r>
            <a:r>
              <a:rPr lang="en-US" altLang="zh-CN" sz="2200" dirty="0">
                <a:latin typeface="Times New Roman" panose="02020603050405020304" pitchFamily="18" charset="0"/>
                <a:ea typeface="宋体" panose="02010600030101010101" pitchFamily="2" charset="-122"/>
              </a:rPr>
              <a:t>CX </a:t>
            </a:r>
            <a:r>
              <a:rPr lang="zh-CN" altLang="en-US" sz="2200" dirty="0">
                <a:latin typeface="Times New Roman" panose="02020603050405020304" pitchFamily="18" charset="0"/>
                <a:ea typeface="宋体" panose="02010600030101010101" pitchFamily="2" charset="-122"/>
              </a:rPr>
              <a:t>寄存器中。</a:t>
            </a:r>
          </a:p>
          <a:p>
            <a:pPr>
              <a:lnSpc>
                <a:spcPct val="100000"/>
              </a:lnSpc>
            </a:pPr>
            <a:r>
              <a:rPr lang="zh-CN" altLang="en-US" sz="2200" dirty="0">
                <a:latin typeface="Times New Roman" panose="02020603050405020304" pitchFamily="18" charset="0"/>
                <a:ea typeface="宋体" panose="02010600030101010101" pitchFamily="2" charset="-122"/>
              </a:rPr>
              <a:t>③可以在串操作命令前加重复前缀。若使用重复前缀， </a:t>
            </a:r>
            <a:r>
              <a:rPr lang="en-US" altLang="zh-CN" sz="2200" dirty="0">
                <a:latin typeface="Times New Roman" panose="02020603050405020304" pitchFamily="18" charset="0"/>
                <a:ea typeface="宋体" panose="02010600030101010101" pitchFamily="2" charset="-122"/>
              </a:rPr>
              <a:t>CX </a:t>
            </a:r>
            <a:r>
              <a:rPr lang="zh-CN" altLang="en-US" sz="2200" dirty="0">
                <a:latin typeface="Times New Roman" panose="02020603050405020304" pitchFamily="18" charset="0"/>
                <a:ea typeface="宋体" panose="02010600030101010101" pitchFamily="2" charset="-122"/>
              </a:rPr>
              <a:t>的内容也会每次自动减 </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a:t>
            </a:r>
          </a:p>
          <a:p>
            <a:pPr>
              <a:lnSpc>
                <a:spcPct val="100000"/>
              </a:lnSpc>
            </a:pPr>
            <a:r>
              <a:rPr lang="zh-CN" altLang="en-US" sz="2200" dirty="0">
                <a:latin typeface="Times New Roman" panose="02020603050405020304" pitchFamily="18" charset="0"/>
                <a:ea typeface="宋体" panose="02010600030101010101" pitchFamily="2" charset="-122"/>
              </a:rPr>
              <a:t>④指针自动修改，修改方向与 </a:t>
            </a:r>
            <a:r>
              <a:rPr lang="en-US" altLang="zh-CN" sz="2200" dirty="0">
                <a:latin typeface="Times New Roman" panose="02020603050405020304" pitchFamily="18" charset="0"/>
                <a:ea typeface="宋体" panose="02010600030101010101" pitchFamily="2" charset="-122"/>
              </a:rPr>
              <a:t>DF </a:t>
            </a:r>
            <a:r>
              <a:rPr lang="zh-CN" altLang="en-US" sz="2200" dirty="0">
                <a:latin typeface="Times New Roman" panose="02020603050405020304" pitchFamily="18" charset="0"/>
                <a:ea typeface="宋体" panose="02010600030101010101" pitchFamily="2" charset="-122"/>
              </a:rPr>
              <a:t>标志有关，若 </a:t>
            </a:r>
            <a:r>
              <a:rPr lang="en-US" altLang="zh-CN" sz="2200" dirty="0">
                <a:latin typeface="Times New Roman" panose="02020603050405020304" pitchFamily="18" charset="0"/>
                <a:ea typeface="宋体" panose="02010600030101010101" pitchFamily="2" charset="-122"/>
              </a:rPr>
              <a:t>DF=0</a:t>
            </a:r>
            <a:r>
              <a:rPr lang="zh-CN" altLang="en-US" sz="2200" dirty="0">
                <a:latin typeface="Times New Roman" panose="02020603050405020304" pitchFamily="18" charset="0"/>
                <a:ea typeface="宋体" panose="02010600030101010101" pitchFamily="2" charset="-122"/>
              </a:rPr>
              <a:t>，则每次操作后， </a:t>
            </a:r>
            <a:r>
              <a:rPr lang="en-US" altLang="zh-CN" sz="2200" dirty="0">
                <a:latin typeface="Times New Roman" panose="02020603050405020304" pitchFamily="18" charset="0"/>
                <a:ea typeface="宋体" panose="02010600030101010101" pitchFamily="2" charset="-122"/>
              </a:rPr>
              <a:t>SI </a:t>
            </a:r>
            <a:r>
              <a:rPr lang="zh-CN" altLang="en-US" sz="2200" dirty="0">
                <a:latin typeface="Times New Roman" panose="02020603050405020304" pitchFamily="18" charset="0"/>
                <a:ea typeface="宋体" panose="02010600030101010101" pitchFamily="2" charset="-122"/>
              </a:rPr>
              <a:t>和 </a:t>
            </a:r>
            <a:r>
              <a:rPr lang="en-US" altLang="zh-CN" sz="2200" dirty="0">
                <a:latin typeface="Times New Roman" panose="02020603050405020304" pitchFamily="18" charset="0"/>
                <a:ea typeface="宋体" panose="02010600030101010101" pitchFamily="2" charset="-122"/>
              </a:rPr>
              <a:t>DI </a:t>
            </a:r>
            <a:r>
              <a:rPr lang="zh-CN" altLang="en-US" sz="2200" dirty="0">
                <a:latin typeface="Times New Roman" panose="02020603050405020304" pitchFamily="18" charset="0"/>
                <a:ea typeface="宋体" panose="02010600030101010101" pitchFamily="2" charset="-122"/>
              </a:rPr>
              <a:t>按地址增量方向修改；否则， 按照相反向修改。</a:t>
            </a:r>
          </a:p>
          <a:p>
            <a:pPr>
              <a:lnSpc>
                <a:spcPct val="100000"/>
              </a:lnSpc>
            </a:pPr>
            <a:r>
              <a:rPr lang="zh-CN" altLang="en-US" sz="2200" dirty="0">
                <a:latin typeface="Times New Roman" panose="02020603050405020304" pitchFamily="18" charset="0"/>
                <a:ea typeface="宋体" panose="02010600030101010101" pitchFamily="2" charset="-122"/>
              </a:rPr>
              <a:t>因此，在使用串操作指令前，需要进行必要的设置，即设置源串指针（ </a:t>
            </a:r>
            <a:r>
              <a:rPr lang="en-US" altLang="zh-CN" sz="2200" dirty="0">
                <a:latin typeface="Times New Roman" panose="02020603050405020304" pitchFamily="18" charset="0"/>
                <a:ea typeface="宋体" panose="02010600030101010101" pitchFamily="2" charset="-122"/>
              </a:rPr>
              <a:t>DS</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SI</a:t>
            </a:r>
            <a:r>
              <a:rPr lang="zh-CN" altLang="en-US" sz="2200" dirty="0">
                <a:latin typeface="Times New Roman" panose="02020603050405020304" pitchFamily="18" charset="0"/>
                <a:ea typeface="宋体" panose="02010600030101010101" pitchFamily="2" charset="-122"/>
              </a:rPr>
              <a:t>）、目标串指针（ </a:t>
            </a:r>
            <a:r>
              <a:rPr lang="en-US" altLang="zh-CN" sz="2200" dirty="0">
                <a:latin typeface="Times New Roman" panose="02020603050405020304" pitchFamily="18" charset="0"/>
                <a:ea typeface="宋体" panose="02010600030101010101" pitchFamily="2" charset="-122"/>
              </a:rPr>
              <a:t>ES</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DI</a:t>
            </a:r>
            <a:r>
              <a:rPr lang="zh-CN" altLang="en-US" sz="2200" dirty="0">
                <a:latin typeface="Times New Roman" panose="02020603050405020304" pitchFamily="18" charset="0"/>
                <a:ea typeface="宋体" panose="02010600030101010101" pitchFamily="2" charset="-122"/>
              </a:rPr>
              <a:t>），重复次数（ </a:t>
            </a:r>
            <a:r>
              <a:rPr lang="en-US" altLang="zh-CN" sz="2200" dirty="0">
                <a:latin typeface="Times New Roman" panose="02020603050405020304" pitchFamily="18" charset="0"/>
                <a:ea typeface="宋体" panose="02010600030101010101" pitchFamily="2" charset="-122"/>
              </a:rPr>
              <a:t>CX</a:t>
            </a:r>
            <a:r>
              <a:rPr lang="zh-CN" altLang="en-US" sz="2200" dirty="0">
                <a:latin typeface="Times New Roman" panose="02020603050405020304" pitchFamily="18" charset="0"/>
                <a:ea typeface="宋体" panose="02010600030101010101" pitchFamily="2" charset="-122"/>
              </a:rPr>
              <a:t>）以及操作方向（ </a:t>
            </a:r>
            <a:r>
              <a:rPr lang="en-US" altLang="zh-CN" sz="2200" dirty="0">
                <a:latin typeface="Times New Roman" panose="02020603050405020304" pitchFamily="18" charset="0"/>
                <a:ea typeface="宋体" panose="02010600030101010101" pitchFamily="2" charset="-122"/>
              </a:rPr>
              <a:t>DF</a:t>
            </a:r>
            <a:r>
              <a:rPr lang="zh-CN" altLang="en-US" sz="2200" dirty="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串操作指令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84994" name="矩形 2"/>
          <p:cNvSpPr/>
          <p:nvPr/>
        </p:nvSpPr>
        <p:spPr>
          <a:xfrm>
            <a:off x="0" y="1431925"/>
            <a:ext cx="2503488" cy="423863"/>
          </a:xfrm>
          <a:prstGeom prst="rect">
            <a:avLst/>
          </a:prstGeom>
          <a:noFill/>
          <a:ln w="9525">
            <a:noFill/>
          </a:ln>
        </p:spPr>
        <p:txBody>
          <a:bodyPr wrap="none"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．重复操作前缀</a:t>
            </a:r>
          </a:p>
        </p:txBody>
      </p:sp>
      <p:sp>
        <p:nvSpPr>
          <p:cNvPr id="84995" name="矩形 3"/>
          <p:cNvSpPr/>
          <p:nvPr/>
        </p:nvSpPr>
        <p:spPr>
          <a:xfrm>
            <a:off x="211138" y="1890713"/>
            <a:ext cx="8739187" cy="4830762"/>
          </a:xfrm>
          <a:prstGeom prst="rect">
            <a:avLst/>
          </a:prstGeom>
          <a:noFill/>
          <a:ln w="9525">
            <a:noFill/>
          </a:ln>
        </p:spPr>
        <p:txBody>
          <a:bodyPr anchor="t" anchorCtr="0">
            <a:spAutoFit/>
          </a:bodyPr>
          <a:lstStyle/>
          <a:p>
            <a:pPr>
              <a:lnSpc>
                <a:spcPct val="100000"/>
              </a:lnSpc>
            </a:pPr>
            <a:r>
              <a:rPr lang="zh-CN" altLang="en-US" sz="2200" dirty="0">
                <a:latin typeface="Times New Roman" panose="02020603050405020304" pitchFamily="18" charset="0"/>
                <a:ea typeface="宋体" panose="02010600030101010101" pitchFamily="2" charset="-122"/>
              </a:rPr>
              <a:t>在串操作指令前加一个适当的重复操作前缀，使该指令能重复执行。用于串操作的重复操作前缀指令共有 </a:t>
            </a:r>
            <a:r>
              <a:rPr lang="en-US" altLang="zh-CN" sz="2200" dirty="0">
                <a:latin typeface="Times New Roman" panose="02020603050405020304" pitchFamily="18" charset="0"/>
                <a:ea typeface="宋体" panose="02010600030101010101" pitchFamily="2" charset="-122"/>
              </a:rPr>
              <a:t>5 </a:t>
            </a:r>
            <a:r>
              <a:rPr lang="zh-CN" altLang="en-US" sz="2200" dirty="0">
                <a:latin typeface="Times New Roman" panose="02020603050405020304" pitchFamily="18" charset="0"/>
                <a:ea typeface="宋体" panose="02010600030101010101" pitchFamily="2" charset="-122"/>
              </a:rPr>
              <a:t>条，即</a:t>
            </a:r>
          </a:p>
          <a:p>
            <a:pPr>
              <a:lnSpc>
                <a:spcPct val="100000"/>
              </a:lnSpc>
            </a:pPr>
            <a:r>
              <a:rPr lang="en-US" altLang="zh-CN" sz="2200" dirty="0">
                <a:latin typeface="Times New Roman" panose="02020603050405020304" pitchFamily="18" charset="0"/>
                <a:ea typeface="宋体" panose="02010600030101010101" pitchFamily="2" charset="-122"/>
              </a:rPr>
              <a:t>REP</a:t>
            </a:r>
            <a:r>
              <a:rPr lang="zh-CN" altLang="en-US" sz="2200" dirty="0">
                <a:latin typeface="Times New Roman" panose="02020603050405020304" pitchFamily="18" charset="0"/>
                <a:ea typeface="宋体" panose="02010600030101010101" pitchFamily="2" charset="-122"/>
              </a:rPr>
              <a:t>：无条件重复前缀</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重复执行指令规定的操作，直到 </a:t>
            </a:r>
            <a:r>
              <a:rPr lang="en-US" altLang="zh-CN" sz="2200" dirty="0">
                <a:latin typeface="Times New Roman" panose="02020603050405020304" pitchFamily="18" charset="0"/>
                <a:ea typeface="宋体" panose="02010600030101010101" pitchFamily="2" charset="-122"/>
              </a:rPr>
              <a:t>CX=0</a:t>
            </a:r>
            <a:r>
              <a:rPr lang="zh-CN" altLang="en-US" sz="2200" dirty="0">
                <a:latin typeface="Times New Roman" panose="02020603050405020304" pitchFamily="18" charset="0"/>
                <a:ea typeface="宋体" panose="02010600030101010101" pitchFamily="2" charset="-122"/>
              </a:rPr>
              <a:t>；</a:t>
            </a:r>
          </a:p>
          <a:p>
            <a:pPr>
              <a:lnSpc>
                <a:spcPct val="100000"/>
              </a:lnSpc>
            </a:pPr>
            <a:r>
              <a:rPr lang="en-US" altLang="zh-CN" sz="2200" dirty="0">
                <a:latin typeface="Times New Roman" panose="02020603050405020304" pitchFamily="18" charset="0"/>
                <a:ea typeface="宋体" panose="02010600030101010101" pitchFamily="2" charset="-122"/>
              </a:rPr>
              <a:t>REPE</a:t>
            </a:r>
            <a:r>
              <a:rPr lang="zh-CN" altLang="en-US" sz="2200" dirty="0">
                <a:latin typeface="Times New Roman" panose="02020603050405020304" pitchFamily="18" charset="0"/>
                <a:ea typeface="宋体" panose="02010600030101010101" pitchFamily="2" charset="-122"/>
              </a:rPr>
              <a:t>：相等时重复</a:t>
            </a:r>
            <a:r>
              <a:rPr lang="en-US" altLang="zh-CN" sz="2200" dirty="0">
                <a:latin typeface="Times New Roman" panose="02020603050405020304" pitchFamily="18" charset="0"/>
                <a:ea typeface="宋体" panose="02010600030101010101" pitchFamily="2" charset="-122"/>
              </a:rPr>
              <a:t>——ZF=1</a:t>
            </a:r>
            <a:r>
              <a:rPr lang="zh-CN" altLang="en-US" sz="2200" dirty="0">
                <a:latin typeface="Times New Roman" panose="02020603050405020304" pitchFamily="18" charset="0"/>
                <a:ea typeface="宋体" panose="02010600030101010101" pitchFamily="2" charset="-122"/>
              </a:rPr>
              <a:t>，且 </a:t>
            </a:r>
            <a:r>
              <a:rPr lang="en-US" altLang="zh-CN" sz="2200" dirty="0">
                <a:latin typeface="Times New Roman" panose="02020603050405020304" pitchFamily="18" charset="0"/>
                <a:ea typeface="宋体" panose="02010600030101010101" pitchFamily="2" charset="-122"/>
              </a:rPr>
              <a:t>CX≠0 </a:t>
            </a:r>
            <a:r>
              <a:rPr lang="zh-CN" altLang="en-US" sz="2200" dirty="0">
                <a:latin typeface="Times New Roman" panose="02020603050405020304" pitchFamily="18" charset="0"/>
                <a:ea typeface="宋体" panose="02010600030101010101" pitchFamily="2" charset="-122"/>
              </a:rPr>
              <a:t>时重复；</a:t>
            </a:r>
          </a:p>
          <a:p>
            <a:pPr>
              <a:lnSpc>
                <a:spcPct val="100000"/>
              </a:lnSpc>
            </a:pPr>
            <a:r>
              <a:rPr lang="en-US" altLang="zh-CN" sz="2200" dirty="0">
                <a:latin typeface="Times New Roman" panose="02020603050405020304" pitchFamily="18" charset="0"/>
                <a:ea typeface="宋体" panose="02010600030101010101" pitchFamily="2" charset="-122"/>
              </a:rPr>
              <a:t>REPZ</a:t>
            </a:r>
            <a:r>
              <a:rPr lang="zh-CN" altLang="en-US" sz="2200" dirty="0">
                <a:latin typeface="Times New Roman" panose="02020603050405020304" pitchFamily="18" charset="0"/>
                <a:ea typeface="宋体" panose="02010600030101010101" pitchFamily="2" charset="-122"/>
              </a:rPr>
              <a:t>：结果为 </a:t>
            </a:r>
            <a:r>
              <a:rPr lang="en-US" altLang="zh-CN" sz="2200" dirty="0">
                <a:latin typeface="Times New Roman" panose="02020603050405020304" pitchFamily="18" charset="0"/>
                <a:ea typeface="宋体" panose="02010600030101010101" pitchFamily="2" charset="-122"/>
              </a:rPr>
              <a:t>0 </a:t>
            </a:r>
            <a:r>
              <a:rPr lang="zh-CN" altLang="en-US" sz="2200" dirty="0">
                <a:latin typeface="Times New Roman" panose="02020603050405020304" pitchFamily="18" charset="0"/>
                <a:ea typeface="宋体" panose="02010600030101010101" pitchFamily="2" charset="-122"/>
              </a:rPr>
              <a:t>时重复</a:t>
            </a:r>
            <a:r>
              <a:rPr lang="en-US" altLang="zh-CN" sz="2200" dirty="0">
                <a:latin typeface="Times New Roman" panose="02020603050405020304" pitchFamily="18" charset="0"/>
                <a:ea typeface="宋体" panose="02010600030101010101" pitchFamily="2" charset="-122"/>
              </a:rPr>
              <a:t>——ZF=1</a:t>
            </a:r>
            <a:r>
              <a:rPr lang="zh-CN" altLang="en-US" sz="2200" dirty="0">
                <a:latin typeface="Times New Roman" panose="02020603050405020304" pitchFamily="18" charset="0"/>
                <a:ea typeface="宋体" panose="02010600030101010101" pitchFamily="2" charset="-122"/>
              </a:rPr>
              <a:t>，且 </a:t>
            </a:r>
            <a:r>
              <a:rPr lang="en-US" altLang="zh-CN" sz="2200" dirty="0">
                <a:latin typeface="Times New Roman" panose="02020603050405020304" pitchFamily="18" charset="0"/>
                <a:ea typeface="宋体" panose="02010600030101010101" pitchFamily="2" charset="-122"/>
              </a:rPr>
              <a:t>CX≠0 </a:t>
            </a:r>
            <a:r>
              <a:rPr lang="zh-CN" altLang="en-US" sz="2200" dirty="0">
                <a:latin typeface="Times New Roman" panose="02020603050405020304" pitchFamily="18" charset="0"/>
                <a:ea typeface="宋体" panose="02010600030101010101" pitchFamily="2" charset="-122"/>
              </a:rPr>
              <a:t>时重复；</a:t>
            </a:r>
          </a:p>
          <a:p>
            <a:pPr>
              <a:lnSpc>
                <a:spcPct val="100000"/>
              </a:lnSpc>
            </a:pPr>
            <a:r>
              <a:rPr lang="en-US" altLang="zh-CN" sz="2200" dirty="0">
                <a:latin typeface="Times New Roman" panose="02020603050405020304" pitchFamily="18" charset="0"/>
                <a:ea typeface="宋体" panose="02010600030101010101" pitchFamily="2" charset="-122"/>
              </a:rPr>
              <a:t>REPNE</a:t>
            </a:r>
            <a:r>
              <a:rPr lang="zh-CN" altLang="en-US" sz="2200" dirty="0">
                <a:latin typeface="Times New Roman" panose="02020603050405020304" pitchFamily="18" charset="0"/>
                <a:ea typeface="宋体" panose="02010600030101010101" pitchFamily="2" charset="-122"/>
              </a:rPr>
              <a:t>：不相等时重复</a:t>
            </a:r>
            <a:r>
              <a:rPr lang="en-US" altLang="zh-CN" sz="2200" dirty="0">
                <a:latin typeface="Times New Roman" panose="02020603050405020304" pitchFamily="18" charset="0"/>
                <a:ea typeface="宋体" panose="02010600030101010101" pitchFamily="2" charset="-122"/>
              </a:rPr>
              <a:t>——ZF=0</a:t>
            </a:r>
            <a:r>
              <a:rPr lang="zh-CN" altLang="en-US" sz="2200" dirty="0">
                <a:latin typeface="Times New Roman" panose="02020603050405020304" pitchFamily="18" charset="0"/>
                <a:ea typeface="宋体" panose="02010600030101010101" pitchFamily="2" charset="-122"/>
              </a:rPr>
              <a:t>，且 </a:t>
            </a:r>
            <a:r>
              <a:rPr lang="en-US" altLang="zh-CN" sz="2200" dirty="0">
                <a:latin typeface="Times New Roman" panose="02020603050405020304" pitchFamily="18" charset="0"/>
                <a:ea typeface="宋体" panose="02010600030101010101" pitchFamily="2" charset="-122"/>
              </a:rPr>
              <a:t>CX≠0 </a:t>
            </a:r>
            <a:r>
              <a:rPr lang="zh-CN" altLang="en-US" sz="2200" dirty="0">
                <a:latin typeface="Times New Roman" panose="02020603050405020304" pitchFamily="18" charset="0"/>
                <a:ea typeface="宋体" panose="02010600030101010101" pitchFamily="2" charset="-122"/>
              </a:rPr>
              <a:t>时重复；</a:t>
            </a:r>
          </a:p>
          <a:p>
            <a:pPr>
              <a:lnSpc>
                <a:spcPct val="100000"/>
              </a:lnSpc>
            </a:pPr>
            <a:r>
              <a:rPr lang="en-US" altLang="zh-CN" sz="2200" dirty="0">
                <a:latin typeface="Times New Roman" panose="02020603050405020304" pitchFamily="18" charset="0"/>
                <a:ea typeface="宋体" panose="02010600030101010101" pitchFamily="2" charset="-122"/>
              </a:rPr>
              <a:t>REPNZ</a:t>
            </a:r>
            <a:r>
              <a:rPr lang="zh-CN" altLang="en-US" sz="2200" dirty="0">
                <a:latin typeface="Times New Roman" panose="02020603050405020304" pitchFamily="18" charset="0"/>
                <a:ea typeface="宋体" panose="02010600030101010101" pitchFamily="2" charset="-122"/>
              </a:rPr>
              <a:t>：结果不为 </a:t>
            </a:r>
            <a:r>
              <a:rPr lang="en-US" altLang="zh-CN" sz="2200" dirty="0">
                <a:latin typeface="Times New Roman" panose="02020603050405020304" pitchFamily="18" charset="0"/>
                <a:ea typeface="宋体" panose="02010600030101010101" pitchFamily="2" charset="-122"/>
              </a:rPr>
              <a:t>0 </a:t>
            </a:r>
            <a:r>
              <a:rPr lang="zh-CN" altLang="en-US" sz="2200" dirty="0">
                <a:latin typeface="Times New Roman" panose="02020603050405020304" pitchFamily="18" charset="0"/>
                <a:ea typeface="宋体" panose="02010600030101010101" pitchFamily="2" charset="-122"/>
              </a:rPr>
              <a:t>时重复</a:t>
            </a:r>
            <a:r>
              <a:rPr lang="en-US" altLang="zh-CN" sz="2200" dirty="0">
                <a:latin typeface="Times New Roman" panose="02020603050405020304" pitchFamily="18" charset="0"/>
                <a:ea typeface="宋体" panose="02010600030101010101" pitchFamily="2" charset="-122"/>
              </a:rPr>
              <a:t>——ZF=0</a:t>
            </a:r>
            <a:r>
              <a:rPr lang="zh-CN" altLang="en-US" sz="2200" dirty="0">
                <a:latin typeface="Times New Roman" panose="02020603050405020304" pitchFamily="18" charset="0"/>
                <a:ea typeface="宋体" panose="02010600030101010101" pitchFamily="2" charset="-122"/>
              </a:rPr>
              <a:t>，且 </a:t>
            </a:r>
            <a:r>
              <a:rPr lang="en-US" altLang="zh-CN" sz="2200" dirty="0">
                <a:latin typeface="Times New Roman" panose="02020603050405020304" pitchFamily="18" charset="0"/>
                <a:ea typeface="宋体" panose="02010600030101010101" pitchFamily="2" charset="-122"/>
              </a:rPr>
              <a:t>CX≠0 </a:t>
            </a:r>
            <a:r>
              <a:rPr lang="zh-CN" altLang="en-US" sz="2200" dirty="0">
                <a:latin typeface="Times New Roman" panose="02020603050405020304" pitchFamily="18" charset="0"/>
                <a:ea typeface="宋体" panose="02010600030101010101" pitchFamily="2" charset="-122"/>
              </a:rPr>
              <a:t>时重复。</a:t>
            </a:r>
          </a:p>
          <a:p>
            <a:pPr>
              <a:lnSpc>
                <a:spcPct val="100000"/>
              </a:lnSpc>
            </a:pPr>
            <a:r>
              <a:rPr lang="zh-CN" altLang="en-US" sz="2200" dirty="0">
                <a:latin typeface="Times New Roman" panose="02020603050405020304" pitchFamily="18" charset="0"/>
                <a:ea typeface="宋体" panose="02010600030101010101" pitchFamily="2" charset="-122"/>
              </a:rPr>
              <a:t>加重复操作前缀指令之后的串操作指令的执行由以下几个步骤构成：</a:t>
            </a:r>
          </a:p>
          <a:p>
            <a:pPr>
              <a:lnSpc>
                <a:spcPct val="100000"/>
              </a:lnSpc>
            </a:pPr>
            <a:r>
              <a:rPr lang="zh-CN" altLang="en-US" sz="2200" dirty="0">
                <a:latin typeface="Times New Roman" panose="02020603050405020304" pitchFamily="18" charset="0"/>
                <a:ea typeface="宋体" panose="02010600030101010101" pitchFamily="2" charset="-122"/>
              </a:rPr>
              <a:t>①执行串操作指令规定的相应操作。</a:t>
            </a:r>
          </a:p>
          <a:p>
            <a:pPr>
              <a:lnSpc>
                <a:spcPct val="100000"/>
              </a:lnSpc>
            </a:pPr>
            <a:r>
              <a:rPr lang="zh-CN" altLang="en-US" sz="2200" dirty="0">
                <a:latin typeface="Times New Roman" panose="02020603050405020304" pitchFamily="18" charset="0"/>
                <a:ea typeface="宋体" panose="02010600030101010101" pitchFamily="2" charset="-122"/>
              </a:rPr>
              <a:t>②</a:t>
            </a:r>
            <a:r>
              <a:rPr lang="en-US" altLang="zh-CN" sz="2200" dirty="0">
                <a:latin typeface="Times New Roman" panose="02020603050405020304" pitchFamily="18" charset="0"/>
                <a:ea typeface="宋体" panose="02010600030101010101" pitchFamily="2" charset="-122"/>
              </a:rPr>
              <a:t>SI </a:t>
            </a:r>
            <a:r>
              <a:rPr lang="zh-CN" altLang="en-US" sz="2200" dirty="0">
                <a:latin typeface="Times New Roman" panose="02020603050405020304" pitchFamily="18" charset="0"/>
                <a:ea typeface="宋体" panose="02010600030101010101" pitchFamily="2" charset="-122"/>
              </a:rPr>
              <a:t>和 </a:t>
            </a:r>
            <a:r>
              <a:rPr lang="en-US" altLang="zh-CN" sz="2200" dirty="0">
                <a:latin typeface="Times New Roman" panose="02020603050405020304" pitchFamily="18" charset="0"/>
                <a:ea typeface="宋体" panose="02010600030101010101" pitchFamily="2" charset="-122"/>
              </a:rPr>
              <a:t>DI </a:t>
            </a:r>
            <a:r>
              <a:rPr lang="zh-CN" altLang="en-US" sz="2200" dirty="0">
                <a:latin typeface="Times New Roman" panose="02020603050405020304" pitchFamily="18" charset="0"/>
                <a:ea typeface="宋体" panose="02010600030101010101" pitchFamily="2" charset="-122"/>
              </a:rPr>
              <a:t>自动增减。</a:t>
            </a:r>
          </a:p>
          <a:p>
            <a:pPr>
              <a:lnSpc>
                <a:spcPct val="100000"/>
              </a:lnSpc>
            </a:pPr>
            <a:r>
              <a:rPr lang="zh-CN" altLang="en-US" sz="2200" dirty="0">
                <a:latin typeface="Times New Roman" panose="02020603050405020304" pitchFamily="18" charset="0"/>
                <a:ea typeface="宋体" panose="02010600030101010101" pitchFamily="2" charset="-122"/>
              </a:rPr>
              <a:t>③</a:t>
            </a:r>
            <a:r>
              <a:rPr lang="en-US" altLang="zh-CN" sz="2200" dirty="0">
                <a:latin typeface="Times New Roman" panose="02020603050405020304" pitchFamily="18" charset="0"/>
                <a:ea typeface="宋体" panose="02010600030101010101" pitchFamily="2" charset="-122"/>
              </a:rPr>
              <a:t>CX </a:t>
            </a:r>
            <a:r>
              <a:rPr lang="zh-CN" altLang="en-US" sz="2200" dirty="0">
                <a:latin typeface="Times New Roman" panose="02020603050405020304" pitchFamily="18" charset="0"/>
                <a:ea typeface="宋体" panose="02010600030101010101" pitchFamily="2" charset="-122"/>
              </a:rPr>
              <a:t>的内容自动减 </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a:t>
            </a:r>
          </a:p>
          <a:p>
            <a:pPr>
              <a:lnSpc>
                <a:spcPct val="100000"/>
              </a:lnSpc>
            </a:pPr>
            <a:r>
              <a:rPr lang="zh-CN" altLang="en-US" sz="2200" dirty="0">
                <a:latin typeface="Times New Roman" panose="02020603050405020304" pitchFamily="18" charset="0"/>
                <a:ea typeface="宋体" panose="02010600030101010101" pitchFamily="2" charset="-122"/>
              </a:rPr>
              <a:t>④ 根据 </a:t>
            </a:r>
            <a:r>
              <a:rPr lang="en-US" altLang="zh-CN" sz="2200" dirty="0">
                <a:latin typeface="Times New Roman" panose="02020603050405020304" pitchFamily="18" charset="0"/>
                <a:ea typeface="宋体" panose="02010600030101010101" pitchFamily="2" charset="-122"/>
              </a:rPr>
              <a:t>ZF </a:t>
            </a:r>
            <a:r>
              <a:rPr lang="zh-CN" altLang="en-US" sz="2200" dirty="0">
                <a:latin typeface="Times New Roman" panose="02020603050405020304" pitchFamily="18" charset="0"/>
                <a:ea typeface="宋体" panose="02010600030101010101" pitchFamily="2" charset="-122"/>
              </a:rPr>
              <a:t>的状态决定是否重复进行。</a:t>
            </a:r>
          </a:p>
        </p:txBody>
      </p:sp>
    </p:spTree>
  </p:cSld>
  <p:clrMapOvr>
    <a:masterClrMapping/>
  </p:clrMapOvr>
  <p:transition spd="med">
    <p:random/>
  </p:transition>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串操作指令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86018" name="矩形 2"/>
          <p:cNvSpPr/>
          <p:nvPr/>
        </p:nvSpPr>
        <p:spPr>
          <a:xfrm>
            <a:off x="0" y="1387475"/>
            <a:ext cx="2195513" cy="425450"/>
          </a:xfrm>
          <a:prstGeom prst="rect">
            <a:avLst/>
          </a:prstGeom>
          <a:noFill/>
          <a:ln w="9525">
            <a:noFill/>
          </a:ln>
        </p:spPr>
        <p:txBody>
          <a:bodyPr wrap="none"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．串操作指令</a:t>
            </a:r>
          </a:p>
        </p:txBody>
      </p:sp>
      <p:sp>
        <p:nvSpPr>
          <p:cNvPr id="86019" name="矩形 3"/>
          <p:cNvSpPr/>
          <p:nvPr/>
        </p:nvSpPr>
        <p:spPr>
          <a:xfrm>
            <a:off x="0" y="1714500"/>
            <a:ext cx="8651875" cy="5068888"/>
          </a:xfrm>
          <a:prstGeom prst="rect">
            <a:avLst/>
          </a:prstGeom>
          <a:noFill/>
          <a:ln w="9525">
            <a:noFill/>
          </a:ln>
        </p:spPr>
        <p:txBody>
          <a:bodyPr anchor="t" anchorCtr="0">
            <a:spAutoFit/>
          </a:bodyPr>
          <a:lstStyle/>
          <a:p>
            <a:r>
              <a:rPr lang="zh-CN" altLang="en-US" sz="2200" dirty="0">
                <a:solidFill>
                  <a:srgbClr val="FFC000"/>
                </a:solidFill>
                <a:latin typeface="Times New Roman" panose="02020603050405020304" pitchFamily="18" charset="0"/>
                <a:ea typeface="宋体" panose="02010600030101010101" pitchFamily="2" charset="-122"/>
              </a:rPr>
              <a:t>（ </a:t>
            </a:r>
            <a:r>
              <a:rPr lang="en-US" altLang="zh-CN" sz="2200" dirty="0">
                <a:solidFill>
                  <a:srgbClr val="FFC000"/>
                </a:solidFill>
                <a:latin typeface="Times New Roman" panose="02020603050405020304" pitchFamily="18" charset="0"/>
                <a:ea typeface="宋体" panose="02010600030101010101" pitchFamily="2" charset="-122"/>
              </a:rPr>
              <a:t>1</a:t>
            </a:r>
            <a:r>
              <a:rPr lang="zh-CN" altLang="en-US" sz="2200" dirty="0">
                <a:solidFill>
                  <a:srgbClr val="FFC000"/>
                </a:solidFill>
                <a:latin typeface="Times New Roman" panose="02020603050405020304" pitchFamily="18" charset="0"/>
                <a:ea typeface="宋体" panose="02010600030101010101" pitchFamily="2" charset="-122"/>
              </a:rPr>
              <a:t>）串传送指令</a:t>
            </a:r>
          </a:p>
          <a:p>
            <a:pPr>
              <a:lnSpc>
                <a:spcPct val="100000"/>
              </a:lnSpc>
            </a:pPr>
            <a:r>
              <a:rPr lang="zh-CN" altLang="en-US" sz="2200" dirty="0">
                <a:latin typeface="Times New Roman" panose="02020603050405020304" pitchFamily="18" charset="0"/>
                <a:ea typeface="宋体" panose="02010600030101010101" pitchFamily="2" charset="-122"/>
              </a:rPr>
              <a:t>串传送指令有 </a:t>
            </a:r>
            <a:r>
              <a:rPr lang="en-US" altLang="zh-CN" sz="2200" dirty="0">
                <a:latin typeface="Times New Roman" panose="02020603050405020304" pitchFamily="18" charset="0"/>
                <a:ea typeface="宋体" panose="02010600030101010101" pitchFamily="2" charset="-122"/>
              </a:rPr>
              <a:t>3 </a:t>
            </a:r>
            <a:r>
              <a:rPr lang="zh-CN" altLang="en-US" sz="2200" dirty="0">
                <a:latin typeface="Times New Roman" panose="02020603050405020304" pitchFamily="18" charset="0"/>
                <a:ea typeface="宋体" panose="02010600030101010101" pitchFamily="2" charset="-122"/>
              </a:rPr>
              <a:t>种格式：</a:t>
            </a:r>
          </a:p>
          <a:p>
            <a:pPr>
              <a:lnSpc>
                <a:spcPct val="100000"/>
              </a:lnSpc>
            </a:pPr>
            <a:r>
              <a:rPr lang="en-US" altLang="zh-CN" sz="2200" dirty="0">
                <a:latin typeface="Times New Roman" panose="02020603050405020304" pitchFamily="18" charset="0"/>
                <a:ea typeface="宋体" panose="02010600030101010101" pitchFamily="2" charset="-122"/>
              </a:rPr>
              <a:t>                                            MOVS OPRD1,OPRD2</a:t>
            </a:r>
          </a:p>
          <a:p>
            <a:pPr>
              <a:lnSpc>
                <a:spcPct val="100000"/>
              </a:lnSpc>
            </a:pPr>
            <a:r>
              <a:rPr lang="en-US" altLang="zh-CN" sz="2200" dirty="0">
                <a:latin typeface="Times New Roman" panose="02020603050405020304" pitchFamily="18" charset="0"/>
                <a:ea typeface="宋体" panose="02010600030101010101" pitchFamily="2" charset="-122"/>
              </a:rPr>
              <a:t>                                            MOVSB</a:t>
            </a:r>
          </a:p>
          <a:p>
            <a:pPr>
              <a:lnSpc>
                <a:spcPct val="100000"/>
              </a:lnSpc>
            </a:pPr>
            <a:r>
              <a:rPr lang="en-US" altLang="zh-CN" sz="2200" dirty="0">
                <a:latin typeface="Times New Roman" panose="02020603050405020304" pitchFamily="18" charset="0"/>
                <a:ea typeface="宋体" panose="02010600030101010101" pitchFamily="2" charset="-122"/>
              </a:rPr>
              <a:t>                                            MOVSW</a:t>
            </a:r>
          </a:p>
          <a:p>
            <a:pPr>
              <a:lnSpc>
                <a:spcPct val="100000"/>
              </a:lnSpc>
            </a:pPr>
            <a:r>
              <a:rPr lang="zh-CN" altLang="en-US" sz="2200" dirty="0">
                <a:latin typeface="Times New Roman" panose="02020603050405020304" pitchFamily="18" charset="0"/>
                <a:ea typeface="宋体" panose="02010600030101010101" pitchFamily="2" charset="-122"/>
              </a:rPr>
              <a:t>指令功能：串传送指令是将源串的内容传送到目标串中。几点说明：</a:t>
            </a:r>
          </a:p>
          <a:p>
            <a:pPr>
              <a:lnSpc>
                <a:spcPct val="100000"/>
              </a:lnSpc>
            </a:pPr>
            <a:r>
              <a:rPr lang="zh-CN" altLang="en-US" sz="2200" dirty="0">
                <a:latin typeface="Times New Roman" panose="02020603050405020304" pitchFamily="18" charset="0"/>
                <a:ea typeface="宋体" panose="02010600030101010101" pitchFamily="2" charset="-122"/>
              </a:rPr>
              <a:t>①第一种格式中，该格式中，源串和目标串的段地址可以使用默认值，源串也可段重设。第一种格式多用于需要段重设的情况。</a:t>
            </a:r>
          </a:p>
          <a:p>
            <a:pPr>
              <a:lnSpc>
                <a:spcPct val="100000"/>
              </a:lnSpc>
            </a:pPr>
            <a:r>
              <a:rPr lang="zh-CN" altLang="en-US" sz="2200" dirty="0">
                <a:latin typeface="Times New Roman" panose="02020603050405020304" pitchFamily="18" charset="0"/>
                <a:ea typeface="宋体" panose="02010600030101010101" pitchFamily="2" charset="-122"/>
              </a:rPr>
              <a:t>②第二种格式和第三种格式隐含了两个操作数的地址，此时，源串和目标串的段地址必须使用默认值，</a:t>
            </a:r>
            <a:r>
              <a:rPr lang="en-US" altLang="zh-CN" sz="2200" dirty="0">
                <a:latin typeface="Times New Roman" panose="02020603050405020304" pitchFamily="18" charset="0"/>
                <a:ea typeface="宋体" panose="02010600030101010101" pitchFamily="2" charset="-122"/>
              </a:rPr>
              <a:t>MOVSB </a:t>
            </a:r>
            <a:r>
              <a:rPr lang="zh-CN" altLang="en-US" sz="2200" dirty="0">
                <a:latin typeface="Times New Roman" panose="02020603050405020304" pitchFamily="18" charset="0"/>
                <a:ea typeface="宋体" panose="02010600030101010101" pitchFamily="2" charset="-122"/>
              </a:rPr>
              <a:t>表示一次完成一个字节的传送， </a:t>
            </a:r>
            <a:r>
              <a:rPr lang="en-US" altLang="zh-CN" sz="2200" dirty="0">
                <a:latin typeface="Times New Roman" panose="02020603050405020304" pitchFamily="18" charset="0"/>
                <a:ea typeface="宋体" panose="02010600030101010101" pitchFamily="2" charset="-122"/>
              </a:rPr>
              <a:t>MOVSW </a:t>
            </a:r>
            <a:r>
              <a:rPr lang="zh-CN" altLang="en-US" sz="2200" dirty="0">
                <a:latin typeface="Times New Roman" panose="02020603050405020304" pitchFamily="18" charset="0"/>
                <a:ea typeface="宋体" panose="02010600030101010101" pitchFamily="2" charset="-122"/>
              </a:rPr>
              <a:t>表示一次完成一个字的传送。</a:t>
            </a:r>
          </a:p>
          <a:p>
            <a:pPr>
              <a:lnSpc>
                <a:spcPct val="100000"/>
              </a:lnSpc>
            </a:pPr>
            <a:r>
              <a:rPr lang="zh-CN" altLang="en-US" sz="2200" dirty="0">
                <a:latin typeface="Times New Roman" panose="02020603050405020304" pitchFamily="18" charset="0"/>
                <a:ea typeface="宋体" panose="02010600030101010101" pitchFamily="2" charset="-122"/>
              </a:rPr>
              <a:t>③</a:t>
            </a:r>
            <a:r>
              <a:rPr lang="en-US" altLang="zh-CN" sz="2200" dirty="0">
                <a:latin typeface="Times New Roman" panose="02020603050405020304" pitchFamily="18" charset="0"/>
                <a:ea typeface="宋体" panose="02010600030101010101" pitchFamily="2" charset="-122"/>
              </a:rPr>
              <a:t>MOVS </a:t>
            </a:r>
            <a:r>
              <a:rPr lang="zh-CN" altLang="en-US" sz="2200" dirty="0">
                <a:latin typeface="Times New Roman" panose="02020603050405020304" pitchFamily="18" charset="0"/>
                <a:ea typeface="宋体" panose="02010600030101010101" pitchFamily="2" charset="-122"/>
              </a:rPr>
              <a:t>指令常与重复前缀联合使用。</a:t>
            </a:r>
          </a:p>
          <a:p>
            <a:pPr>
              <a:lnSpc>
                <a:spcPct val="100000"/>
              </a:lnSpc>
            </a:pPr>
            <a:r>
              <a:rPr lang="zh-CN" altLang="en-US" sz="2200" dirty="0">
                <a:latin typeface="Times New Roman" panose="02020603050405020304" pitchFamily="18" charset="0"/>
                <a:ea typeface="宋体" panose="02010600030101010101" pitchFamily="2" charset="-122"/>
              </a:rPr>
              <a:t>④串传送指令的执行结果不影响标志位。</a:t>
            </a:r>
          </a:p>
        </p:txBody>
      </p:sp>
    </p:spTree>
  </p:cSld>
  <p:clrMapOvr>
    <a:masterClrMapping/>
  </p:clrMapOvr>
  <p:transition spd="med">
    <p:random/>
  </p:transition>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串操作指令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87042" name="矩形 2"/>
          <p:cNvSpPr/>
          <p:nvPr/>
        </p:nvSpPr>
        <p:spPr>
          <a:xfrm>
            <a:off x="201613" y="1741488"/>
            <a:ext cx="8775700" cy="4227512"/>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）串比较指令</a:t>
            </a:r>
          </a:p>
          <a:p>
            <a:pPr>
              <a:lnSpc>
                <a:spcPct val="100000"/>
              </a:lnSpc>
            </a:pPr>
            <a:r>
              <a:rPr lang="zh-CN" altLang="en-US" dirty="0">
                <a:latin typeface="Times New Roman" panose="02020603050405020304" pitchFamily="18" charset="0"/>
                <a:ea typeface="宋体" panose="02010600030101010101" pitchFamily="2" charset="-122"/>
              </a:rPr>
              <a:t>串比较指令有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种格式：</a:t>
            </a:r>
          </a:p>
          <a:p>
            <a:pPr>
              <a:lnSpc>
                <a:spcPct val="100000"/>
              </a:lnSpc>
            </a:pPr>
            <a:r>
              <a:rPr lang="en-US" altLang="zh-CN" dirty="0">
                <a:latin typeface="Times New Roman" panose="02020603050405020304" pitchFamily="18" charset="0"/>
                <a:ea typeface="宋体" panose="02010600030101010101" pitchFamily="2" charset="-122"/>
              </a:rPr>
              <a:t>                                         CMPS OPRD1,OPRD2</a:t>
            </a:r>
          </a:p>
          <a:p>
            <a:pPr>
              <a:lnSpc>
                <a:spcPct val="100000"/>
              </a:lnSpc>
            </a:pPr>
            <a:r>
              <a:rPr lang="en-US" altLang="zh-CN" dirty="0">
                <a:latin typeface="Times New Roman" panose="02020603050405020304" pitchFamily="18" charset="0"/>
                <a:ea typeface="宋体" panose="02010600030101010101" pitchFamily="2" charset="-122"/>
              </a:rPr>
              <a:t>                                         CMPSB</a:t>
            </a:r>
          </a:p>
          <a:p>
            <a:pPr>
              <a:lnSpc>
                <a:spcPct val="100000"/>
              </a:lnSpc>
            </a:pPr>
            <a:r>
              <a:rPr lang="en-US" altLang="zh-CN" dirty="0">
                <a:latin typeface="Times New Roman" panose="02020603050405020304" pitchFamily="18" charset="0"/>
                <a:ea typeface="宋体" panose="02010600030101010101" pitchFamily="2" charset="-122"/>
              </a:rPr>
              <a:t>                                         CMPSW</a:t>
            </a:r>
          </a:p>
          <a:p>
            <a:pPr>
              <a:lnSpc>
                <a:spcPct val="100000"/>
              </a:lnSpc>
            </a:pPr>
            <a:r>
              <a:rPr lang="zh-CN" altLang="en-US" dirty="0">
                <a:latin typeface="Times New Roman" panose="02020603050405020304" pitchFamily="18" charset="0"/>
                <a:ea typeface="宋体" panose="02010600030101010101" pitchFamily="2" charset="-122"/>
              </a:rPr>
              <a:t>指令功能：该指令使两个字符串中的相应元素逐个比较。</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具体执行过程是：将源串地址和目标串地址中的字符串按照字节或字进行比较，比较结果不送回目标串地址中，而只是影响标志位。每进行一次比较之后，自动修改地址指针，指向串中的下一个元素。</a:t>
            </a:r>
          </a:p>
        </p:txBody>
      </p:sp>
    </p:spTree>
  </p:cSld>
  <p:clrMapOvr>
    <a:masterClrMapping/>
  </p:clrMapOvr>
  <p:transition spd="med">
    <p:random/>
  </p:transition>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串操作指令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88066" name="矩形 2"/>
          <p:cNvSpPr/>
          <p:nvPr/>
        </p:nvSpPr>
        <p:spPr>
          <a:xfrm>
            <a:off x="492125" y="1951038"/>
            <a:ext cx="7834313" cy="3711575"/>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几点说明：</a:t>
            </a:r>
          </a:p>
          <a:p>
            <a:pPr>
              <a:lnSpc>
                <a:spcPct val="100000"/>
              </a:lnSpc>
            </a:pPr>
            <a:r>
              <a:rPr lang="zh-CN" altLang="en-US" dirty="0">
                <a:latin typeface="Times New Roman" panose="02020603050405020304" pitchFamily="18" charset="0"/>
                <a:ea typeface="宋体" panose="02010600030101010101" pitchFamily="2" charset="-122"/>
              </a:rPr>
              <a:t>①第一种格式中， 源串和目标串的段地址可以使用默认值，源串也可使用段前缀来指定在其他段中。第一种格式多用于需要段重设的情况。</a:t>
            </a:r>
          </a:p>
          <a:p>
            <a:pPr>
              <a:lnSpc>
                <a:spcPct val="100000"/>
              </a:lnSpc>
            </a:pPr>
            <a:r>
              <a:rPr lang="zh-CN" altLang="en-US" dirty="0">
                <a:latin typeface="Times New Roman" panose="02020603050405020304" pitchFamily="18" charset="0"/>
                <a:ea typeface="宋体" panose="02010600030101010101" pitchFamily="2" charset="-122"/>
              </a:rPr>
              <a:t>②第二种格式和第三种格式隐含了两个操作数的地址，源串和目标串的段地址必须使用默认值 。</a:t>
            </a:r>
            <a:r>
              <a:rPr lang="en-US" altLang="zh-CN" dirty="0">
                <a:latin typeface="Times New Roman" panose="02020603050405020304" pitchFamily="18" charset="0"/>
                <a:ea typeface="宋体" panose="02010600030101010101" pitchFamily="2" charset="-122"/>
              </a:rPr>
              <a:t>CMPSB </a:t>
            </a:r>
            <a:r>
              <a:rPr lang="zh-CN" altLang="en-US" dirty="0">
                <a:latin typeface="Times New Roman" panose="02020603050405020304" pitchFamily="18" charset="0"/>
                <a:ea typeface="宋体" panose="02010600030101010101" pitchFamily="2" charset="-122"/>
              </a:rPr>
              <a:t>表示按字节进行比较， </a:t>
            </a:r>
            <a:r>
              <a:rPr lang="en-US" altLang="zh-CN" dirty="0">
                <a:latin typeface="Times New Roman" panose="02020603050405020304" pitchFamily="18" charset="0"/>
                <a:ea typeface="宋体" panose="02010600030101010101" pitchFamily="2" charset="-122"/>
              </a:rPr>
              <a:t>CMPSW </a:t>
            </a:r>
            <a:r>
              <a:rPr lang="zh-CN" altLang="en-US" dirty="0">
                <a:latin typeface="Times New Roman" panose="02020603050405020304" pitchFamily="18" charset="0"/>
                <a:ea typeface="宋体" panose="02010600030101010101" pitchFamily="2" charset="-122"/>
              </a:rPr>
              <a:t>表示按字进行比较。</a:t>
            </a:r>
          </a:p>
          <a:p>
            <a:pPr>
              <a:lnSpc>
                <a:spcPct val="100000"/>
              </a:lnSpc>
            </a:pPr>
            <a:r>
              <a:rPr lang="zh-CN" altLang="en-US" dirty="0">
                <a:latin typeface="Times New Roman" panose="02020603050405020304" pitchFamily="18" charset="0"/>
                <a:ea typeface="宋体" panose="02010600030101010101" pitchFamily="2" charset="-122"/>
              </a:rPr>
              <a:t>③</a:t>
            </a:r>
            <a:r>
              <a:rPr lang="en-US" altLang="zh-CN" dirty="0">
                <a:latin typeface="Times New Roman" panose="02020603050405020304" pitchFamily="18" charset="0"/>
                <a:ea typeface="宋体" panose="02010600030101010101" pitchFamily="2" charset="-122"/>
              </a:rPr>
              <a:t>CMPS </a:t>
            </a:r>
            <a:r>
              <a:rPr lang="zh-CN" altLang="en-US" dirty="0">
                <a:latin typeface="Times New Roman" panose="02020603050405020304" pitchFamily="18" charset="0"/>
                <a:ea typeface="宋体" panose="02010600030101010101" pitchFamily="2" charset="-122"/>
              </a:rPr>
              <a:t>指令常与重复前缀联合使用。</a:t>
            </a:r>
          </a:p>
          <a:p>
            <a:pPr>
              <a:lnSpc>
                <a:spcPct val="100000"/>
              </a:lnSpc>
            </a:pPr>
            <a:r>
              <a:rPr lang="zh-CN" altLang="en-US" dirty="0">
                <a:latin typeface="Times New Roman" panose="02020603050405020304" pitchFamily="18" charset="0"/>
                <a:ea typeface="宋体" panose="02010600030101010101" pitchFamily="2" charset="-122"/>
              </a:rPr>
              <a:t>④串传送指令的执行结果影响标志位。</a:t>
            </a:r>
          </a:p>
        </p:txBody>
      </p:sp>
    </p:spTree>
  </p:cSld>
  <p:clrMapOvr>
    <a:masterClrMapping/>
  </p:clrMapOvr>
  <p:transition spd="med">
    <p:random/>
  </p:transition>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串操作指令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89090" name="矩形 2"/>
          <p:cNvSpPr/>
          <p:nvPr/>
        </p:nvSpPr>
        <p:spPr>
          <a:xfrm>
            <a:off x="201613" y="1338263"/>
            <a:ext cx="8942387" cy="5292725"/>
          </a:xfrm>
          <a:prstGeom prst="rect">
            <a:avLst/>
          </a:prstGeom>
          <a:noFill/>
          <a:ln w="9525">
            <a:noFill/>
          </a:ln>
        </p:spPr>
        <p:txBody>
          <a:bodyPr anchor="t" anchorCtr="0">
            <a:spAutoFit/>
          </a:bodyPr>
          <a:lstStyle/>
          <a:p>
            <a:pPr>
              <a:lnSpc>
                <a:spcPct val="100000"/>
              </a:lnSpc>
            </a:pPr>
            <a:r>
              <a:rPr lang="zh-CN" altLang="en-US" sz="2200" dirty="0">
                <a:solidFill>
                  <a:srgbClr val="FFC000"/>
                </a:solidFill>
                <a:latin typeface="Times New Roman" panose="02020603050405020304" pitchFamily="18" charset="0"/>
                <a:ea typeface="宋体" panose="02010600030101010101" pitchFamily="2" charset="-122"/>
              </a:rPr>
              <a:t>（ </a:t>
            </a:r>
            <a:r>
              <a:rPr lang="en-US" altLang="zh-CN" sz="2200" dirty="0">
                <a:solidFill>
                  <a:srgbClr val="FFC000"/>
                </a:solidFill>
                <a:latin typeface="Times New Roman" panose="02020603050405020304" pitchFamily="18" charset="0"/>
                <a:ea typeface="宋体" panose="02010600030101010101" pitchFamily="2" charset="-122"/>
              </a:rPr>
              <a:t>3</a:t>
            </a:r>
            <a:r>
              <a:rPr lang="zh-CN" altLang="en-US" sz="2200" dirty="0">
                <a:solidFill>
                  <a:srgbClr val="FFC000"/>
                </a:solidFill>
                <a:latin typeface="Times New Roman" panose="02020603050405020304" pitchFamily="18" charset="0"/>
                <a:ea typeface="宋体" panose="02010600030101010101" pitchFamily="2" charset="-122"/>
              </a:rPr>
              <a:t>）串扫描指令</a:t>
            </a:r>
          </a:p>
          <a:p>
            <a:pPr>
              <a:lnSpc>
                <a:spcPct val="100000"/>
              </a:lnSpc>
            </a:pPr>
            <a:r>
              <a:rPr lang="zh-CN" altLang="en-US" sz="2000" dirty="0">
                <a:latin typeface="Times New Roman" panose="02020603050405020304" pitchFamily="18" charset="0"/>
                <a:ea typeface="宋体" panose="02010600030101010101" pitchFamily="2" charset="-122"/>
              </a:rPr>
              <a:t>串扫描指令有 </a:t>
            </a:r>
            <a:r>
              <a:rPr lang="en-US" altLang="zh-CN" sz="2000" dirty="0">
                <a:latin typeface="Times New Roman" panose="02020603050405020304" pitchFamily="18" charset="0"/>
                <a:ea typeface="宋体" panose="02010600030101010101" pitchFamily="2" charset="-122"/>
              </a:rPr>
              <a:t>3 </a:t>
            </a:r>
            <a:r>
              <a:rPr lang="zh-CN" altLang="en-US" sz="2000" dirty="0">
                <a:latin typeface="Times New Roman" panose="02020603050405020304" pitchFamily="18" charset="0"/>
                <a:ea typeface="宋体" panose="02010600030101010101" pitchFamily="2" charset="-122"/>
              </a:rPr>
              <a:t>种格式：</a:t>
            </a:r>
          </a:p>
          <a:p>
            <a:pPr>
              <a:lnSpc>
                <a:spcPct val="100000"/>
              </a:lnSpc>
            </a:pPr>
            <a:r>
              <a:rPr lang="en-US" altLang="zh-CN" sz="2000" dirty="0">
                <a:latin typeface="Times New Roman" panose="02020603050405020304" pitchFamily="18" charset="0"/>
                <a:ea typeface="宋体" panose="02010600030101010101" pitchFamily="2" charset="-122"/>
              </a:rPr>
              <a:t>                                           SCAS OPRD ;OPRD </a:t>
            </a:r>
            <a:r>
              <a:rPr lang="zh-CN" altLang="en-US" sz="2000" dirty="0">
                <a:latin typeface="Times New Roman" panose="02020603050405020304" pitchFamily="18" charset="0"/>
                <a:ea typeface="宋体" panose="02010600030101010101" pitchFamily="2" charset="-122"/>
              </a:rPr>
              <a:t>是目标串</a:t>
            </a:r>
          </a:p>
          <a:p>
            <a:pPr>
              <a:lnSpc>
                <a:spcPct val="100000"/>
              </a:lnSpc>
            </a:pPr>
            <a:r>
              <a:rPr lang="en-US" altLang="zh-CN" sz="2000" dirty="0">
                <a:latin typeface="Times New Roman" panose="02020603050405020304" pitchFamily="18" charset="0"/>
                <a:ea typeface="宋体" panose="02010600030101010101" pitchFamily="2" charset="-122"/>
              </a:rPr>
              <a:t>                                           SCASB</a:t>
            </a:r>
          </a:p>
          <a:p>
            <a:pPr>
              <a:lnSpc>
                <a:spcPct val="100000"/>
              </a:lnSpc>
            </a:pPr>
            <a:r>
              <a:rPr lang="en-US" altLang="zh-CN" sz="2000" dirty="0">
                <a:latin typeface="Times New Roman" panose="02020603050405020304" pitchFamily="18" charset="0"/>
                <a:ea typeface="宋体" panose="02010600030101010101" pitchFamily="2" charset="-122"/>
              </a:rPr>
              <a:t>                                           SCASW</a:t>
            </a:r>
          </a:p>
          <a:p>
            <a:pPr>
              <a:lnSpc>
                <a:spcPct val="100000"/>
              </a:lnSpc>
            </a:pPr>
            <a:r>
              <a:rPr lang="zh-CN" altLang="en-US" sz="2000" dirty="0">
                <a:latin typeface="Times New Roman" panose="02020603050405020304" pitchFamily="18" charset="0"/>
                <a:ea typeface="宋体" panose="02010600030101010101" pitchFamily="2" charset="-122"/>
              </a:rPr>
              <a:t>指令功能：将累加器 </a:t>
            </a:r>
            <a:r>
              <a:rPr lang="en-US" altLang="zh-CN" sz="2000" dirty="0">
                <a:latin typeface="Times New Roman" panose="02020603050405020304" pitchFamily="18" charset="0"/>
                <a:ea typeface="宋体" panose="02010600030101010101" pitchFamily="2" charset="-122"/>
              </a:rPr>
              <a:t>AL/AX </a:t>
            </a:r>
            <a:r>
              <a:rPr lang="zh-CN" altLang="en-US" sz="2000" dirty="0">
                <a:latin typeface="Times New Roman" panose="02020603050405020304" pitchFamily="18" charset="0"/>
                <a:ea typeface="宋体" panose="02010600030101010101" pitchFamily="2" charset="-122"/>
              </a:rPr>
              <a:t>中的内容与字符串中的元素逐个进行比较，比较结果不改变目标串内容，只是反映在标志位上。说明：</a:t>
            </a:r>
          </a:p>
          <a:p>
            <a:pPr>
              <a:lnSpc>
                <a:spcPct val="100000"/>
              </a:lnSpc>
            </a:pPr>
            <a:r>
              <a:rPr lang="zh-CN" altLang="en-US" sz="2000" dirty="0">
                <a:latin typeface="Times New Roman" panose="02020603050405020304" pitchFamily="18" charset="0"/>
                <a:ea typeface="宋体" panose="02010600030101010101" pitchFamily="2" charset="-122"/>
              </a:rPr>
              <a:t>①格式一中只有一个操作数，用来表示目标串的符号地址。格式二中 </a:t>
            </a:r>
            <a:r>
              <a:rPr lang="en-US" altLang="zh-CN" sz="2000" dirty="0">
                <a:latin typeface="Times New Roman" panose="02020603050405020304" pitchFamily="18" charset="0"/>
                <a:ea typeface="宋体" panose="02010600030101010101" pitchFamily="2" charset="-122"/>
              </a:rPr>
              <a:t>SCASB </a:t>
            </a:r>
            <a:r>
              <a:rPr lang="zh-CN" altLang="en-US" sz="2000" dirty="0">
                <a:latin typeface="Times New Roman" panose="02020603050405020304" pitchFamily="18" charset="0"/>
                <a:ea typeface="宋体" panose="02010600030101010101" pitchFamily="2" charset="-122"/>
              </a:rPr>
              <a:t>表示按字节方式进行扫描， </a:t>
            </a:r>
            <a:r>
              <a:rPr lang="en-US" altLang="zh-CN" sz="2000" dirty="0">
                <a:latin typeface="Times New Roman" panose="02020603050405020304" pitchFamily="18" charset="0"/>
                <a:ea typeface="宋体" panose="02010600030101010101" pitchFamily="2" charset="-122"/>
              </a:rPr>
              <a:t>SCASW </a:t>
            </a:r>
            <a:r>
              <a:rPr lang="zh-CN" altLang="en-US" sz="2000" dirty="0">
                <a:latin typeface="Times New Roman" panose="02020603050405020304" pitchFamily="18" charset="0"/>
                <a:ea typeface="宋体" panose="02010600030101010101" pitchFamily="2" charset="-122"/>
              </a:rPr>
              <a:t>表示按字方式进行扫描。该指令在执行前必须设置 </a:t>
            </a:r>
            <a:r>
              <a:rPr lang="en-US" altLang="zh-CN" sz="2000" dirty="0">
                <a:latin typeface="Times New Roman" panose="02020603050405020304" pitchFamily="18" charset="0"/>
                <a:ea typeface="宋体" panose="02010600030101010101" pitchFamily="2" charset="-122"/>
              </a:rPr>
              <a:t>ES</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DI </a:t>
            </a:r>
            <a:r>
              <a:rPr lang="zh-CN" altLang="en-US" sz="2000" dirty="0">
                <a:latin typeface="Times New Roman" panose="02020603050405020304" pitchFamily="18" charset="0"/>
                <a:ea typeface="宋体" panose="02010600030101010101" pitchFamily="2" charset="-122"/>
              </a:rPr>
              <a:t>来指向目标串。</a:t>
            </a:r>
          </a:p>
          <a:p>
            <a:pPr>
              <a:lnSpc>
                <a:spcPct val="100000"/>
              </a:lnSpc>
            </a:pPr>
            <a:r>
              <a:rPr lang="zh-CN" altLang="en-US" sz="2000" dirty="0">
                <a:latin typeface="Times New Roman" panose="02020603050405020304" pitchFamily="18" charset="0"/>
                <a:ea typeface="宋体" panose="02010600030101010101" pitchFamily="2" charset="-122"/>
              </a:rPr>
              <a:t>②该指令主要用于在一个字符串中查找某个特定的关键字。进行该指令前，要将要找的关键字放到 </a:t>
            </a:r>
            <a:r>
              <a:rPr lang="en-US" altLang="zh-CN" sz="2000" dirty="0">
                <a:latin typeface="Times New Roman" panose="02020603050405020304" pitchFamily="18" charset="0"/>
                <a:ea typeface="宋体" panose="02010600030101010101" pitchFamily="2" charset="-122"/>
              </a:rPr>
              <a:t>AL</a:t>
            </a:r>
            <a:r>
              <a:rPr lang="zh-CN" altLang="en-US" sz="2000" dirty="0">
                <a:latin typeface="Times New Roman" panose="02020603050405020304" pitchFamily="18" charset="0"/>
                <a:ea typeface="宋体" panose="02010600030101010101" pitchFamily="2" charset="-122"/>
              </a:rPr>
              <a:t>（或 </a:t>
            </a:r>
            <a:r>
              <a:rPr lang="en-US" altLang="zh-CN" sz="2000" dirty="0">
                <a:latin typeface="Times New Roman" panose="02020603050405020304" pitchFamily="18" charset="0"/>
                <a:ea typeface="宋体" panose="02010600030101010101" pitchFamily="2" charset="-122"/>
              </a:rPr>
              <a:t>AX</a:t>
            </a:r>
            <a:r>
              <a:rPr lang="zh-CN" altLang="en-US" sz="2000" dirty="0">
                <a:latin typeface="Times New Roman" panose="02020603050405020304" pitchFamily="18" charset="0"/>
                <a:ea typeface="宋体" panose="02010600030101010101" pitchFamily="2" charset="-122"/>
              </a:rPr>
              <a:t>）中，再用本指令与字符串中的各个元素逐一进行比较。</a:t>
            </a:r>
          </a:p>
          <a:p>
            <a:pPr>
              <a:lnSpc>
                <a:spcPct val="100000"/>
              </a:lnSpc>
            </a:pPr>
            <a:r>
              <a:rPr lang="zh-CN" altLang="en-US" sz="2000" dirty="0">
                <a:latin typeface="Times New Roman" panose="02020603050405020304" pitchFamily="18" charset="0"/>
                <a:ea typeface="宋体" panose="02010600030101010101" pitchFamily="2" charset="-122"/>
              </a:rPr>
              <a:t>③</a:t>
            </a:r>
            <a:r>
              <a:rPr lang="en-US" altLang="zh-CN" sz="2000" dirty="0">
                <a:latin typeface="Times New Roman" panose="02020603050405020304" pitchFamily="18" charset="0"/>
                <a:ea typeface="宋体" panose="02010600030101010101" pitchFamily="2" charset="-122"/>
              </a:rPr>
              <a:t>SCAS </a:t>
            </a:r>
            <a:r>
              <a:rPr lang="zh-CN" altLang="en-US" sz="2000" dirty="0">
                <a:latin typeface="Times New Roman" panose="02020603050405020304" pitchFamily="18" charset="0"/>
                <a:ea typeface="宋体" panose="02010600030101010101" pitchFamily="2" charset="-122"/>
              </a:rPr>
              <a:t>指令常与重复前缀联合使用。</a:t>
            </a:r>
          </a:p>
          <a:p>
            <a:pPr>
              <a:lnSpc>
                <a:spcPct val="100000"/>
              </a:lnSpc>
            </a:pPr>
            <a:r>
              <a:rPr lang="zh-CN" altLang="en-US" sz="2000" dirty="0">
                <a:latin typeface="Times New Roman" panose="02020603050405020304" pitchFamily="18" charset="0"/>
                <a:ea typeface="宋体" panose="02010600030101010101" pitchFamily="2" charset="-122"/>
              </a:rPr>
              <a:t>④该指令的执行结果影响标志位。</a:t>
            </a:r>
          </a:p>
        </p:txBody>
      </p:sp>
    </p:spTree>
  </p:cSld>
  <p:clrMapOvr>
    <a:masterClrMapping/>
  </p:clrMapOvr>
  <p:transition spd="med">
    <p:random/>
  </p:transition>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串操作指令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90114" name="矩形 2"/>
          <p:cNvSpPr/>
          <p:nvPr/>
        </p:nvSpPr>
        <p:spPr>
          <a:xfrm>
            <a:off x="123825" y="1658938"/>
            <a:ext cx="9020175" cy="4979987"/>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）串装入指令</a:t>
            </a:r>
          </a:p>
          <a:p>
            <a:pPr>
              <a:lnSpc>
                <a:spcPct val="100000"/>
              </a:lnSpc>
            </a:pPr>
            <a:r>
              <a:rPr lang="zh-CN" altLang="en-US" sz="2000" dirty="0">
                <a:latin typeface="Times New Roman" panose="02020603050405020304" pitchFamily="18" charset="0"/>
                <a:ea typeface="宋体" panose="02010600030101010101" pitchFamily="2" charset="-122"/>
              </a:rPr>
              <a:t>串装入指令有 </a:t>
            </a:r>
            <a:r>
              <a:rPr lang="en-US" altLang="zh-CN" sz="2000" dirty="0">
                <a:latin typeface="Times New Roman" panose="02020603050405020304" pitchFamily="18" charset="0"/>
                <a:ea typeface="宋体" panose="02010600030101010101" pitchFamily="2" charset="-122"/>
              </a:rPr>
              <a:t>3 </a:t>
            </a:r>
            <a:r>
              <a:rPr lang="zh-CN" altLang="en-US" sz="2000" dirty="0">
                <a:latin typeface="Times New Roman" panose="02020603050405020304" pitchFamily="18" charset="0"/>
                <a:ea typeface="宋体" panose="02010600030101010101" pitchFamily="2" charset="-122"/>
              </a:rPr>
              <a:t>种格式：</a:t>
            </a:r>
          </a:p>
          <a:p>
            <a:pPr>
              <a:lnSpc>
                <a:spcPct val="100000"/>
              </a:lnSpc>
            </a:pPr>
            <a:r>
              <a:rPr lang="en-US" altLang="zh-CN" sz="2000" dirty="0">
                <a:latin typeface="Times New Roman" panose="02020603050405020304" pitchFamily="18" charset="0"/>
                <a:ea typeface="宋体" panose="02010600030101010101" pitchFamily="2" charset="-122"/>
              </a:rPr>
              <a:t>                                             LODS OPRD ;OPRD </a:t>
            </a:r>
            <a:r>
              <a:rPr lang="zh-CN" altLang="en-US" sz="2000" dirty="0">
                <a:latin typeface="Times New Roman" panose="02020603050405020304" pitchFamily="18" charset="0"/>
                <a:ea typeface="宋体" panose="02010600030101010101" pitchFamily="2" charset="-122"/>
              </a:rPr>
              <a:t>是源串</a:t>
            </a:r>
          </a:p>
          <a:p>
            <a:pPr>
              <a:lnSpc>
                <a:spcPct val="100000"/>
              </a:lnSpc>
            </a:pPr>
            <a:r>
              <a:rPr lang="en-US" altLang="zh-CN" sz="2000" dirty="0">
                <a:latin typeface="Times New Roman" panose="02020603050405020304" pitchFamily="18" charset="0"/>
                <a:ea typeface="宋体" panose="02010600030101010101" pitchFamily="2" charset="-122"/>
              </a:rPr>
              <a:t>                                             LODSB</a:t>
            </a:r>
          </a:p>
          <a:p>
            <a:pPr>
              <a:lnSpc>
                <a:spcPct val="100000"/>
              </a:lnSpc>
            </a:pPr>
            <a:r>
              <a:rPr lang="en-US" altLang="zh-CN" sz="2000" dirty="0">
                <a:latin typeface="Times New Roman" panose="02020603050405020304" pitchFamily="18" charset="0"/>
                <a:ea typeface="宋体" panose="02010600030101010101" pitchFamily="2" charset="-122"/>
              </a:rPr>
              <a:t>                                             LODSW</a:t>
            </a:r>
          </a:p>
          <a:p>
            <a:pPr>
              <a:lnSpc>
                <a:spcPct val="100000"/>
              </a:lnSpc>
            </a:pPr>
            <a:r>
              <a:rPr lang="zh-CN" altLang="en-US" sz="2000" dirty="0">
                <a:latin typeface="Times New Roman" panose="02020603050405020304" pitchFamily="18" charset="0"/>
                <a:ea typeface="宋体" panose="02010600030101010101" pitchFamily="2" charset="-122"/>
              </a:rPr>
              <a:t>指令功能：将一个字符串的字节或字逐个装入累加器 </a:t>
            </a:r>
            <a:r>
              <a:rPr lang="en-US" altLang="zh-CN" sz="2000" dirty="0">
                <a:latin typeface="Times New Roman" panose="02020603050405020304" pitchFamily="18" charset="0"/>
                <a:ea typeface="宋体" panose="02010600030101010101" pitchFamily="2" charset="-122"/>
              </a:rPr>
              <a:t>AL/AX </a:t>
            </a:r>
            <a:r>
              <a:rPr lang="zh-CN" altLang="en-US" sz="2000" dirty="0">
                <a:latin typeface="Times New Roman" panose="02020603050405020304" pitchFamily="18" charset="0"/>
                <a:ea typeface="宋体" panose="02010600030101010101" pitchFamily="2" charset="-122"/>
              </a:rPr>
              <a:t>中。</a:t>
            </a:r>
          </a:p>
          <a:p>
            <a:pPr>
              <a:lnSpc>
                <a:spcPct val="100000"/>
              </a:lnSpc>
            </a:pPr>
            <a:r>
              <a:rPr lang="zh-CN" altLang="en-US" sz="2000" dirty="0">
                <a:latin typeface="Times New Roman" panose="02020603050405020304" pitchFamily="18" charset="0"/>
                <a:ea typeface="宋体" panose="02010600030101010101" pitchFamily="2" charset="-122"/>
              </a:rPr>
              <a:t>指令执行过程是：指令执行前必须设置 </a:t>
            </a:r>
            <a:r>
              <a:rPr lang="en-US" altLang="zh-CN" sz="2000" dirty="0">
                <a:latin typeface="Times New Roman" panose="02020603050405020304" pitchFamily="18" charset="0"/>
                <a:ea typeface="宋体" panose="02010600030101010101" pitchFamily="2" charset="-122"/>
              </a:rPr>
              <a:t>DS</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SI </a:t>
            </a:r>
            <a:r>
              <a:rPr lang="zh-CN" altLang="en-US" sz="2000" dirty="0">
                <a:latin typeface="Times New Roman" panose="02020603050405020304" pitchFamily="18" charset="0"/>
                <a:ea typeface="宋体" panose="02010600030101010101" pitchFamily="2" charset="-122"/>
              </a:rPr>
              <a:t>来指向源串，执行指令时，将由 </a:t>
            </a:r>
            <a:r>
              <a:rPr lang="en-US" altLang="zh-CN" sz="2000" dirty="0">
                <a:latin typeface="Times New Roman" panose="02020603050405020304" pitchFamily="18" charset="0"/>
                <a:ea typeface="宋体" panose="02010600030101010101" pitchFamily="2" charset="-122"/>
              </a:rPr>
              <a:t>DS</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SI</a:t>
            </a:r>
            <a:r>
              <a:rPr lang="zh-CN" altLang="en-US" sz="2000" dirty="0">
                <a:latin typeface="Times New Roman" panose="02020603050405020304" pitchFamily="18" charset="0"/>
                <a:ea typeface="宋体" panose="02010600030101010101" pitchFamily="2" charset="-122"/>
              </a:rPr>
              <a:t>指向的源串中的字节或者字，取到累加器 </a:t>
            </a:r>
            <a:r>
              <a:rPr lang="en-US" altLang="zh-CN" sz="2000" dirty="0">
                <a:latin typeface="Times New Roman" panose="02020603050405020304" pitchFamily="18" charset="0"/>
                <a:ea typeface="宋体" panose="02010600030101010101" pitchFamily="2" charset="-122"/>
              </a:rPr>
              <a:t>AL </a:t>
            </a:r>
            <a:r>
              <a:rPr lang="zh-CN" altLang="en-US" sz="2000" dirty="0">
                <a:latin typeface="Times New Roman" panose="02020603050405020304" pitchFamily="18" charset="0"/>
                <a:ea typeface="宋体" panose="02010600030101010101" pitchFamily="2" charset="-122"/>
              </a:rPr>
              <a:t>或 </a:t>
            </a:r>
            <a:r>
              <a:rPr lang="en-US" altLang="zh-CN" sz="2000" dirty="0">
                <a:latin typeface="Times New Roman" panose="02020603050405020304" pitchFamily="18" charset="0"/>
                <a:ea typeface="宋体" panose="02010600030101010101" pitchFamily="2" charset="-122"/>
              </a:rPr>
              <a:t>AX </a:t>
            </a:r>
            <a:r>
              <a:rPr lang="zh-CN" altLang="en-US" sz="2000" dirty="0">
                <a:latin typeface="Times New Roman" panose="02020603050405020304" pitchFamily="18" charset="0"/>
                <a:ea typeface="宋体" panose="02010600030101010101" pitchFamily="2" charset="-122"/>
              </a:rPr>
              <a:t>中，并在这之后根据 </a:t>
            </a:r>
            <a:r>
              <a:rPr lang="en-US" altLang="zh-CN" sz="2000" dirty="0">
                <a:latin typeface="Times New Roman" panose="02020603050405020304" pitchFamily="18" charset="0"/>
                <a:ea typeface="宋体" panose="02010600030101010101" pitchFamily="2" charset="-122"/>
              </a:rPr>
              <a:t>DF </a:t>
            </a:r>
            <a:r>
              <a:rPr lang="zh-CN" altLang="en-US" sz="2000" dirty="0">
                <a:latin typeface="Times New Roman" panose="02020603050405020304" pitchFamily="18" charset="0"/>
                <a:ea typeface="宋体" panose="02010600030101010101" pitchFamily="2" charset="-122"/>
              </a:rPr>
              <a:t>的值自动修改指针 </a:t>
            </a:r>
            <a:r>
              <a:rPr lang="en-US" altLang="zh-CN" sz="2000" dirty="0">
                <a:latin typeface="Times New Roman" panose="02020603050405020304" pitchFamily="18" charset="0"/>
                <a:ea typeface="宋体" panose="02010600030101010101" pitchFamily="2" charset="-122"/>
              </a:rPr>
              <a:t>SI</a:t>
            </a:r>
            <a:r>
              <a:rPr lang="zh-CN" altLang="en-US" sz="2000" dirty="0">
                <a:latin typeface="Times New Roman" panose="02020603050405020304" pitchFamily="18" charset="0"/>
                <a:ea typeface="宋体" panose="02010600030101010101" pitchFamily="2" charset="-122"/>
              </a:rPr>
              <a:t>，以指向下一个元素。说明：</a:t>
            </a:r>
          </a:p>
          <a:p>
            <a:pPr>
              <a:lnSpc>
                <a:spcPct val="100000"/>
              </a:lnSpc>
            </a:pPr>
            <a:r>
              <a:rPr lang="zh-CN" altLang="en-US" sz="2000" dirty="0">
                <a:latin typeface="Times New Roman" panose="02020603050405020304" pitchFamily="18" charset="0"/>
                <a:ea typeface="宋体" panose="02010600030101010101" pitchFamily="2" charset="-122"/>
              </a:rPr>
              <a:t>①格式 </a:t>
            </a:r>
            <a:r>
              <a:rPr lang="en-US" altLang="zh-CN" sz="2000" dirty="0">
                <a:latin typeface="Times New Roman" panose="02020603050405020304" pitchFamily="18" charset="0"/>
                <a:ea typeface="宋体" panose="02010600030101010101" pitchFamily="2" charset="-122"/>
              </a:rPr>
              <a:t>1 </a:t>
            </a:r>
            <a:r>
              <a:rPr lang="zh-CN" altLang="en-US" sz="2000" dirty="0">
                <a:latin typeface="Times New Roman" panose="02020603050405020304" pitchFamily="18" charset="0"/>
                <a:ea typeface="宋体" panose="02010600030101010101" pitchFamily="2" charset="-122"/>
              </a:rPr>
              <a:t>中只有一个操作数，用来表示源串的符号地址；格式 </a:t>
            </a:r>
            <a:r>
              <a:rPr lang="en-US" altLang="zh-CN" sz="2000" dirty="0">
                <a:latin typeface="Times New Roman" panose="02020603050405020304" pitchFamily="18" charset="0"/>
                <a:ea typeface="宋体" panose="02010600030101010101" pitchFamily="2" charset="-122"/>
              </a:rPr>
              <a:t>2 </a:t>
            </a:r>
            <a:r>
              <a:rPr lang="zh-CN" altLang="en-US" sz="2000" dirty="0">
                <a:latin typeface="Times New Roman" panose="02020603050405020304" pitchFamily="18" charset="0"/>
                <a:ea typeface="宋体" panose="02010600030101010101" pitchFamily="2" charset="-122"/>
              </a:rPr>
              <a:t>中 </a:t>
            </a:r>
            <a:r>
              <a:rPr lang="en-US" altLang="zh-CN" sz="2000" dirty="0">
                <a:latin typeface="Times New Roman" panose="02020603050405020304" pitchFamily="18" charset="0"/>
                <a:ea typeface="宋体" panose="02010600030101010101" pitchFamily="2" charset="-122"/>
              </a:rPr>
              <a:t>LODSB </a:t>
            </a:r>
            <a:r>
              <a:rPr lang="zh-CN" altLang="en-US" sz="2000" dirty="0">
                <a:latin typeface="Times New Roman" panose="02020603050405020304" pitchFamily="18" charset="0"/>
                <a:ea typeface="宋体" panose="02010600030101010101" pitchFamily="2" charset="-122"/>
              </a:rPr>
              <a:t>表示按字节装入；格式 </a:t>
            </a:r>
            <a:r>
              <a:rPr lang="en-US" altLang="zh-CN" sz="2000" dirty="0">
                <a:latin typeface="Times New Roman" panose="02020603050405020304" pitchFamily="18" charset="0"/>
                <a:ea typeface="宋体" panose="02010600030101010101" pitchFamily="2" charset="-122"/>
              </a:rPr>
              <a:t>3 </a:t>
            </a:r>
            <a:r>
              <a:rPr lang="zh-CN" altLang="en-US" sz="2000" dirty="0">
                <a:latin typeface="Times New Roman" panose="02020603050405020304" pitchFamily="18" charset="0"/>
                <a:ea typeface="宋体" panose="02010600030101010101" pitchFamily="2" charset="-122"/>
              </a:rPr>
              <a:t>中， </a:t>
            </a:r>
            <a:r>
              <a:rPr lang="en-US" altLang="zh-CN" sz="2000" dirty="0">
                <a:latin typeface="Times New Roman" panose="02020603050405020304" pitchFamily="18" charset="0"/>
                <a:ea typeface="宋体" panose="02010600030101010101" pitchFamily="2" charset="-122"/>
              </a:rPr>
              <a:t>LODSW </a:t>
            </a:r>
            <a:r>
              <a:rPr lang="zh-CN" altLang="en-US" sz="2000" dirty="0">
                <a:latin typeface="Times New Roman" panose="02020603050405020304" pitchFamily="18" charset="0"/>
                <a:ea typeface="宋体" panose="02010600030101010101" pitchFamily="2" charset="-122"/>
              </a:rPr>
              <a:t>表示按字装入。</a:t>
            </a:r>
          </a:p>
          <a:p>
            <a:pPr>
              <a:lnSpc>
                <a:spcPct val="100000"/>
              </a:lnSpc>
            </a:pPr>
            <a:r>
              <a:rPr lang="zh-CN" altLang="en-US" sz="2000" dirty="0">
                <a:latin typeface="Times New Roman" panose="02020603050405020304" pitchFamily="18" charset="0"/>
                <a:ea typeface="宋体" panose="02010600030101010101" pitchFamily="2" charset="-122"/>
              </a:rPr>
              <a:t>②该指令一般不带前缀，因为每重复一次 </a:t>
            </a:r>
            <a:r>
              <a:rPr lang="en-US" altLang="zh-CN" sz="2000" dirty="0">
                <a:latin typeface="Times New Roman" panose="02020603050405020304" pitchFamily="18" charset="0"/>
                <a:ea typeface="宋体" panose="02010600030101010101" pitchFamily="2" charset="-122"/>
              </a:rPr>
              <a:t>AL </a:t>
            </a:r>
            <a:r>
              <a:rPr lang="zh-CN" altLang="en-US" sz="2000" dirty="0">
                <a:latin typeface="Times New Roman" panose="02020603050405020304" pitchFamily="18" charset="0"/>
                <a:ea typeface="宋体" panose="02010600030101010101" pitchFamily="2" charset="-122"/>
              </a:rPr>
              <a:t>或 </a:t>
            </a:r>
            <a:r>
              <a:rPr lang="en-US" altLang="zh-CN" sz="2000" dirty="0">
                <a:latin typeface="Times New Roman" panose="02020603050405020304" pitchFamily="18" charset="0"/>
                <a:ea typeface="宋体" panose="02010600030101010101" pitchFamily="2" charset="-122"/>
              </a:rPr>
              <a:t>AX </a:t>
            </a:r>
            <a:r>
              <a:rPr lang="zh-CN" altLang="en-US" sz="2000" dirty="0">
                <a:latin typeface="Times New Roman" panose="02020603050405020304" pitchFamily="18" charset="0"/>
                <a:ea typeface="宋体" panose="02010600030101010101" pitchFamily="2" charset="-122"/>
              </a:rPr>
              <a:t>中的内容将被后一次所装入的内容取代。</a:t>
            </a:r>
          </a:p>
          <a:p>
            <a:pPr>
              <a:lnSpc>
                <a:spcPct val="100000"/>
              </a:lnSpc>
            </a:pPr>
            <a:r>
              <a:rPr lang="zh-CN" altLang="en-US" sz="2000" dirty="0">
                <a:latin typeface="Times New Roman" panose="02020603050405020304" pitchFamily="18" charset="0"/>
                <a:ea typeface="宋体" panose="02010600030101010101" pitchFamily="2" charset="-122"/>
              </a:rPr>
              <a:t>③指令的执行结果不影响标志位。</a:t>
            </a:r>
          </a:p>
        </p:txBody>
      </p:sp>
    </p:spTree>
  </p:cSld>
  <p:clrMapOvr>
    <a:masterClrMapping/>
  </p:clrMapOvr>
  <p:transition spd="med">
    <p:random/>
  </p:transition>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串操作指令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91138" name="矩形 4"/>
          <p:cNvSpPr/>
          <p:nvPr/>
        </p:nvSpPr>
        <p:spPr>
          <a:xfrm>
            <a:off x="228600" y="1473200"/>
            <a:ext cx="8555038" cy="5153025"/>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5</a:t>
            </a:r>
            <a:r>
              <a:rPr lang="zh-CN" altLang="en-US" dirty="0">
                <a:solidFill>
                  <a:srgbClr val="FFC000"/>
                </a:solidFill>
                <a:latin typeface="Times New Roman" panose="02020603050405020304" pitchFamily="18" charset="0"/>
                <a:ea typeface="宋体" panose="02010600030101010101" pitchFamily="2" charset="-122"/>
              </a:rPr>
              <a:t>）串存储指令</a:t>
            </a:r>
          </a:p>
          <a:p>
            <a:pPr>
              <a:lnSpc>
                <a:spcPct val="100000"/>
              </a:lnSpc>
            </a:pPr>
            <a:r>
              <a:rPr lang="zh-CN" altLang="en-US" dirty="0">
                <a:latin typeface="Times New Roman" panose="02020603050405020304" pitchFamily="18" charset="0"/>
                <a:ea typeface="宋体" panose="02010600030101010101" pitchFamily="2" charset="-122"/>
              </a:rPr>
              <a:t>串存储指令有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种格式：</a:t>
            </a:r>
          </a:p>
          <a:p>
            <a:pPr>
              <a:lnSpc>
                <a:spcPct val="100000"/>
              </a:lnSpc>
            </a:pPr>
            <a:r>
              <a:rPr lang="en-US" altLang="zh-CN" dirty="0">
                <a:latin typeface="Times New Roman" panose="02020603050405020304" pitchFamily="18" charset="0"/>
                <a:ea typeface="宋体" panose="02010600030101010101" pitchFamily="2" charset="-122"/>
              </a:rPr>
              <a:t>                           STOS OPRD ;OPRD </a:t>
            </a:r>
            <a:r>
              <a:rPr lang="zh-CN" altLang="en-US" dirty="0">
                <a:latin typeface="Times New Roman" panose="02020603050405020304" pitchFamily="18" charset="0"/>
                <a:ea typeface="宋体" panose="02010600030101010101" pitchFamily="2" charset="-122"/>
              </a:rPr>
              <a:t>是目标串</a:t>
            </a:r>
          </a:p>
          <a:p>
            <a:pPr>
              <a:lnSpc>
                <a:spcPct val="100000"/>
              </a:lnSpc>
            </a:pPr>
            <a:r>
              <a:rPr lang="en-US" altLang="zh-CN" dirty="0">
                <a:latin typeface="Times New Roman" panose="02020603050405020304" pitchFamily="18" charset="0"/>
                <a:ea typeface="宋体" panose="02010600030101010101" pitchFamily="2" charset="-122"/>
              </a:rPr>
              <a:t>                           STOSB</a:t>
            </a:r>
          </a:p>
          <a:p>
            <a:pPr>
              <a:lnSpc>
                <a:spcPct val="100000"/>
              </a:lnSpc>
            </a:pPr>
            <a:r>
              <a:rPr lang="en-US" altLang="zh-CN" dirty="0">
                <a:latin typeface="Times New Roman" panose="02020603050405020304" pitchFamily="18" charset="0"/>
                <a:ea typeface="宋体" panose="02010600030101010101" pitchFamily="2" charset="-122"/>
              </a:rPr>
              <a:t>                           STOSW</a:t>
            </a:r>
          </a:p>
          <a:p>
            <a:pPr>
              <a:lnSpc>
                <a:spcPct val="100000"/>
              </a:lnSpc>
            </a:pPr>
            <a:r>
              <a:rPr lang="zh-CN" altLang="en-US" dirty="0">
                <a:latin typeface="Times New Roman" panose="02020603050405020304" pitchFamily="18" charset="0"/>
                <a:ea typeface="宋体" panose="02010600030101010101" pitchFamily="2" charset="-122"/>
              </a:rPr>
              <a:t>指令功能：将 </a:t>
            </a:r>
            <a:r>
              <a:rPr lang="en-US" altLang="zh-CN" dirty="0">
                <a:latin typeface="Times New Roman" panose="02020603050405020304" pitchFamily="18" charset="0"/>
                <a:ea typeface="宋体" panose="02010600030101010101" pitchFamily="2" charset="-122"/>
              </a:rPr>
              <a:t>AL </a:t>
            </a:r>
            <a:r>
              <a:rPr lang="zh-CN" altLang="en-US" dirty="0">
                <a:latin typeface="Times New Roman" panose="02020603050405020304" pitchFamily="18" charset="0"/>
                <a:ea typeface="宋体" panose="02010600030101010101" pitchFamily="2" charset="-122"/>
              </a:rPr>
              <a:t>或 </a:t>
            </a:r>
            <a:r>
              <a:rPr lang="en-US" altLang="zh-CN" dirty="0">
                <a:latin typeface="Times New Roman" panose="02020603050405020304" pitchFamily="18" charset="0"/>
                <a:ea typeface="宋体" panose="02010600030101010101" pitchFamily="2" charset="-122"/>
              </a:rPr>
              <a:t>AX </a:t>
            </a:r>
            <a:r>
              <a:rPr lang="zh-CN" altLang="en-US" dirty="0">
                <a:latin typeface="Times New Roman" panose="02020603050405020304" pitchFamily="18" charset="0"/>
                <a:ea typeface="宋体" panose="02010600030101010101" pitchFamily="2" charset="-122"/>
              </a:rPr>
              <a:t>中的内容存放到位于 </a:t>
            </a:r>
            <a:r>
              <a:rPr lang="en-US" altLang="zh-CN" dirty="0">
                <a:latin typeface="Times New Roman" panose="02020603050405020304" pitchFamily="18" charset="0"/>
                <a:ea typeface="宋体" panose="02010600030101010101" pitchFamily="2" charset="-122"/>
              </a:rPr>
              <a:t>ES</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DI </a:t>
            </a:r>
            <a:r>
              <a:rPr lang="zh-CN" altLang="en-US" dirty="0">
                <a:latin typeface="Times New Roman" panose="02020603050405020304" pitchFamily="18" charset="0"/>
                <a:ea typeface="宋体" panose="02010600030101010101" pitchFamily="2" charset="-122"/>
              </a:rPr>
              <a:t>所指的存储单元中，并自动修改地址指针 </a:t>
            </a:r>
            <a:r>
              <a:rPr lang="en-US" altLang="zh-CN" dirty="0">
                <a:latin typeface="Times New Roman" panose="02020603050405020304" pitchFamily="18" charset="0"/>
                <a:ea typeface="宋体" panose="02010600030101010101" pitchFamily="2" charset="-122"/>
              </a:rPr>
              <a:t>DI</a:t>
            </a:r>
            <a:r>
              <a:rPr lang="zh-CN" altLang="en-US" dirty="0">
                <a:latin typeface="Times New Roman" panose="02020603050405020304" pitchFamily="18" charset="0"/>
                <a:ea typeface="宋体" panose="02010600030101010101" pitchFamily="2" charset="-122"/>
              </a:rPr>
              <a:t>。说明：</a:t>
            </a:r>
          </a:p>
          <a:p>
            <a:pPr>
              <a:lnSpc>
                <a:spcPct val="100000"/>
              </a:lnSpc>
            </a:pPr>
            <a:r>
              <a:rPr lang="zh-CN" altLang="en-US" dirty="0">
                <a:latin typeface="Times New Roman" panose="02020603050405020304" pitchFamily="18" charset="0"/>
                <a:ea typeface="宋体" panose="02010600030101010101" pitchFamily="2" charset="-122"/>
              </a:rPr>
              <a:t>①格式一中只有一个目标操作数， 用来表示目标串的符号地址。 </a:t>
            </a:r>
            <a:r>
              <a:rPr lang="en-US" altLang="zh-CN" dirty="0">
                <a:latin typeface="Times New Roman" panose="02020603050405020304" pitchFamily="18" charset="0"/>
                <a:ea typeface="宋体" panose="02010600030101010101" pitchFamily="2" charset="-122"/>
              </a:rPr>
              <a:t>STOSB </a:t>
            </a:r>
            <a:r>
              <a:rPr lang="zh-CN" altLang="en-US" dirty="0">
                <a:latin typeface="Times New Roman" panose="02020603050405020304" pitchFamily="18" charset="0"/>
                <a:ea typeface="宋体" panose="02010600030101010101" pitchFamily="2" charset="-122"/>
              </a:rPr>
              <a:t>按字节进行存储，</a:t>
            </a:r>
            <a:r>
              <a:rPr lang="en-US" altLang="zh-CN" dirty="0">
                <a:latin typeface="Times New Roman" panose="02020603050405020304" pitchFamily="18" charset="0"/>
                <a:ea typeface="宋体" panose="02010600030101010101" pitchFamily="2" charset="-122"/>
              </a:rPr>
              <a:t>STOSW </a:t>
            </a:r>
            <a:r>
              <a:rPr lang="zh-CN" altLang="en-US" dirty="0">
                <a:latin typeface="Times New Roman" panose="02020603050405020304" pitchFamily="18" charset="0"/>
                <a:ea typeface="宋体" panose="02010600030101010101" pitchFamily="2" charset="-122"/>
              </a:rPr>
              <a:t>按字进行存储。</a:t>
            </a:r>
          </a:p>
          <a:p>
            <a:pPr>
              <a:lnSpc>
                <a:spcPct val="100000"/>
              </a:lnSpc>
            </a:pPr>
            <a:r>
              <a:rPr lang="zh-CN" altLang="en-US" dirty="0">
                <a:latin typeface="Times New Roman" panose="02020603050405020304" pitchFamily="18" charset="0"/>
                <a:ea typeface="宋体" panose="02010600030101010101" pitchFamily="2" charset="-122"/>
              </a:rPr>
              <a:t>②指令执行前，必须设置 </a:t>
            </a:r>
            <a:r>
              <a:rPr lang="en-US" altLang="zh-CN" dirty="0">
                <a:latin typeface="Times New Roman" panose="02020603050405020304" pitchFamily="18" charset="0"/>
                <a:ea typeface="宋体" panose="02010600030101010101" pitchFamily="2" charset="-122"/>
              </a:rPr>
              <a:t>ES</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DI </a:t>
            </a:r>
            <a:r>
              <a:rPr lang="zh-CN" altLang="en-US" dirty="0">
                <a:latin typeface="Times New Roman" panose="02020603050405020304" pitchFamily="18" charset="0"/>
                <a:ea typeface="宋体" panose="02010600030101010101" pitchFamily="2" charset="-122"/>
              </a:rPr>
              <a:t>指向目标串。</a:t>
            </a:r>
          </a:p>
          <a:p>
            <a:pPr>
              <a:lnSpc>
                <a:spcPct val="100000"/>
              </a:lnSpc>
            </a:pPr>
            <a:r>
              <a:rPr lang="zh-CN" altLang="en-US" dirty="0">
                <a:latin typeface="Times New Roman" panose="02020603050405020304" pitchFamily="18" charset="0"/>
                <a:ea typeface="宋体" panose="02010600030101010101" pitchFamily="2" charset="-122"/>
              </a:rPr>
              <a:t>③可以利用重复前缀对连续的存储单元存入相同的内容。</a:t>
            </a:r>
          </a:p>
          <a:p>
            <a:pPr>
              <a:lnSpc>
                <a:spcPct val="100000"/>
              </a:lnSpc>
            </a:pPr>
            <a:r>
              <a:rPr lang="zh-CN" altLang="en-US" dirty="0">
                <a:latin typeface="Times New Roman" panose="02020603050405020304" pitchFamily="18" charset="0"/>
                <a:ea typeface="宋体" panose="02010600030101010101" pitchFamily="2" charset="-122"/>
              </a:rPr>
              <a:t>④指令的执行结果不影响标志位。</a:t>
            </a:r>
          </a:p>
        </p:txBody>
      </p:sp>
    </p:spTree>
  </p:cSld>
  <p:clrMapOvr>
    <a:masterClrMapping/>
  </p:clrMapOvr>
  <p:transition spd="med">
    <p:random/>
  </p:transition>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92162" name="矩形 2"/>
          <p:cNvSpPr/>
          <p:nvPr/>
        </p:nvSpPr>
        <p:spPr>
          <a:xfrm>
            <a:off x="360363" y="1631950"/>
            <a:ext cx="8343900" cy="1568450"/>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程序控制指令用于控制程序的转移，这些指令有的只修改 </a:t>
            </a:r>
            <a:r>
              <a:rPr lang="en-US" altLang="zh-CN"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的内容，有的则同时修改 </a:t>
            </a:r>
            <a:r>
              <a:rPr lang="en-US" altLang="zh-CN"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CS </a:t>
            </a:r>
            <a:r>
              <a:rPr lang="zh-CN" altLang="en-US" dirty="0">
                <a:latin typeface="Times New Roman" panose="02020603050405020304" pitchFamily="18" charset="0"/>
                <a:ea typeface="宋体" panose="02010600030101010101" pitchFamily="2" charset="-122"/>
              </a:rPr>
              <a:t>的内容。程序控制指令分为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小类：转移指令、循环控制指令、过程调用与返回指令和中断指令，除中断指令外，其他指令均不影响标志位。</a:t>
            </a:r>
          </a:p>
        </p:txBody>
      </p:sp>
      <p:sp>
        <p:nvSpPr>
          <p:cNvPr id="92163" name="矩形 3"/>
          <p:cNvSpPr/>
          <p:nvPr/>
        </p:nvSpPr>
        <p:spPr>
          <a:xfrm>
            <a:off x="131763" y="3182938"/>
            <a:ext cx="4572000" cy="757237"/>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．转移指令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92164" name="矩形 4"/>
          <p:cNvSpPr/>
          <p:nvPr/>
        </p:nvSpPr>
        <p:spPr>
          <a:xfrm>
            <a:off x="325438" y="3613150"/>
            <a:ext cx="8378825" cy="2973388"/>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转移指令包括无条件转移指令和条件转移指令。</a:t>
            </a:r>
          </a:p>
          <a:p>
            <a:pPr>
              <a:lnSpc>
                <a:spcPct val="100000"/>
              </a:lnSpc>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）无条件转移指令 </a:t>
            </a:r>
            <a:r>
              <a:rPr lang="en-US" altLang="zh-CN" dirty="0">
                <a:latin typeface="Times New Roman" panose="02020603050405020304" pitchFamily="18" charset="0"/>
                <a:ea typeface="宋体" panose="02010600030101010101" pitchFamily="2" charset="-122"/>
              </a:rPr>
              <a:t>JMP</a:t>
            </a:r>
          </a:p>
          <a:p>
            <a:pPr>
              <a:lnSpc>
                <a:spcPct val="100000"/>
              </a:lnSpc>
            </a:pP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JMP OPRD </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OPRD </a:t>
            </a:r>
            <a:r>
              <a:rPr lang="zh-CN" altLang="en-US" dirty="0">
                <a:latin typeface="Times New Roman" panose="02020603050405020304" pitchFamily="18" charset="0"/>
                <a:ea typeface="宋体" panose="02010600030101010101" pitchFamily="2" charset="-122"/>
              </a:rPr>
              <a:t>是转移的目标地址</a:t>
            </a:r>
          </a:p>
          <a:p>
            <a:pPr>
              <a:lnSpc>
                <a:spcPct val="100000"/>
              </a:lnSpc>
            </a:pPr>
            <a:r>
              <a:rPr lang="zh-CN" altLang="en-US" dirty="0">
                <a:latin typeface="Times New Roman" panose="02020603050405020304" pitchFamily="18" charset="0"/>
                <a:ea typeface="宋体" panose="02010600030101010101" pitchFamily="2" charset="-122"/>
              </a:rPr>
              <a:t>指令功能：无条件地使程序转移到指定的目标地址，并从目标地址处开始执行新的指令。</a:t>
            </a:r>
          </a:p>
          <a:p>
            <a:pPr>
              <a:lnSpc>
                <a:spcPct val="100000"/>
              </a:lnSpc>
            </a:pPr>
            <a:r>
              <a:rPr lang="zh-CN" altLang="en-US" dirty="0">
                <a:latin typeface="Times New Roman" panose="02020603050405020304" pitchFamily="18" charset="0"/>
                <a:ea typeface="宋体" panose="02010600030101010101" pitchFamily="2" charset="-122"/>
              </a:rPr>
              <a:t>无条件转移指令分为</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种形式，即段内直接转移、段内间接转移、段间直接转移、段间间接转移。</a:t>
            </a:r>
          </a:p>
        </p:txBody>
      </p:sp>
    </p:spTree>
  </p:cSld>
  <p:clrMapOvr>
    <a:masterClrMapping/>
  </p:clrMapOvr>
  <p:transition spd="med">
    <p:random/>
  </p:transition>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93186" name="矩形 2"/>
          <p:cNvSpPr/>
          <p:nvPr/>
        </p:nvSpPr>
        <p:spPr>
          <a:xfrm>
            <a:off x="114300" y="1500188"/>
            <a:ext cx="8704263" cy="4826000"/>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）段内直接转移</a:t>
            </a:r>
          </a:p>
          <a:p>
            <a:pPr>
              <a:lnSpc>
                <a:spcPct val="100000"/>
              </a:lnSpc>
            </a:pP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JMP  LABEL</a:t>
            </a:r>
          </a:p>
          <a:p>
            <a:pPr>
              <a:lnSpc>
                <a:spcPct val="100000"/>
              </a:lnSpc>
            </a:pPr>
            <a:r>
              <a:rPr lang="en-US" altLang="zh-CN" sz="2200" dirty="0">
                <a:latin typeface="Times New Roman" panose="02020603050405020304" pitchFamily="18" charset="0"/>
                <a:ea typeface="宋体" panose="02010600030101010101" pitchFamily="2" charset="-122"/>
              </a:rPr>
              <a:t>LABEL </a:t>
            </a:r>
            <a:r>
              <a:rPr lang="zh-CN" altLang="en-US" sz="2200" dirty="0">
                <a:latin typeface="Times New Roman" panose="02020603050405020304" pitchFamily="18" charset="0"/>
                <a:ea typeface="宋体" panose="02010600030101010101" pitchFamily="2" charset="-122"/>
              </a:rPr>
              <a:t>是一个标号，或称为符号地址，用来表示要转移的目标地址，该标号在本程序所在的代码段内。指令在汇编时，汇编程序可以计算得到 </a:t>
            </a:r>
            <a:r>
              <a:rPr lang="en-US" altLang="zh-CN" sz="2200" dirty="0">
                <a:latin typeface="Times New Roman" panose="02020603050405020304" pitchFamily="18" charset="0"/>
                <a:ea typeface="宋体" panose="02010600030101010101" pitchFamily="2" charset="-122"/>
              </a:rPr>
              <a:t>JMP </a:t>
            </a:r>
            <a:r>
              <a:rPr lang="zh-CN" altLang="en-US" sz="2200" dirty="0">
                <a:latin typeface="Times New Roman" panose="02020603050405020304" pitchFamily="18" charset="0"/>
                <a:ea typeface="宋体" panose="02010600030101010101" pitchFamily="2" charset="-122"/>
              </a:rPr>
              <a:t>指令的下一条指令与 </a:t>
            </a:r>
            <a:r>
              <a:rPr lang="en-US" altLang="zh-CN" sz="2200" dirty="0">
                <a:latin typeface="Times New Roman" panose="02020603050405020304" pitchFamily="18" charset="0"/>
                <a:ea typeface="宋体" panose="02010600030101010101" pitchFamily="2" charset="-122"/>
              </a:rPr>
              <a:t>LABEL </a:t>
            </a:r>
            <a:r>
              <a:rPr lang="zh-CN" altLang="en-US" sz="2200" dirty="0">
                <a:latin typeface="Times New Roman" panose="02020603050405020304" pitchFamily="18" charset="0"/>
                <a:ea typeface="宋体" panose="02010600030101010101" pitchFamily="2" charset="-122"/>
              </a:rPr>
              <a:t>所指示的地址之间的一个偏移量，指令的操作是将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的当前值加上地址的偏移量，形成新的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a:t>
            </a:r>
          </a:p>
          <a:p>
            <a:pPr>
              <a:lnSpc>
                <a:spcPct val="100000"/>
              </a:lnSpc>
            </a:pPr>
            <a:r>
              <a:rPr lang="zh-CN" altLang="en-US" sz="2200" dirty="0">
                <a:latin typeface="Times New Roman" panose="02020603050405020304" pitchFamily="18" charset="0"/>
                <a:ea typeface="宋体" panose="02010600030101010101" pitchFamily="2" charset="-122"/>
              </a:rPr>
              <a:t>偏移量为 </a:t>
            </a:r>
            <a:r>
              <a:rPr lang="en-US" altLang="zh-CN" sz="2200" dirty="0">
                <a:latin typeface="Times New Roman" panose="02020603050405020304" pitchFamily="18" charset="0"/>
                <a:ea typeface="宋体" panose="02010600030101010101" pitchFamily="2" charset="-122"/>
              </a:rPr>
              <a:t>8 </a:t>
            </a:r>
            <a:r>
              <a:rPr lang="zh-CN" altLang="en-US" sz="2200" dirty="0">
                <a:latin typeface="Times New Roman" panose="02020603050405020304" pitchFamily="18" charset="0"/>
                <a:ea typeface="宋体" panose="02010600030101010101" pitchFamily="2" charset="-122"/>
              </a:rPr>
              <a:t>位数时，称为段内直接短转移，转移范围： −</a:t>
            </a:r>
            <a:r>
              <a:rPr lang="en-US" altLang="zh-CN" sz="2200" dirty="0">
                <a:latin typeface="Times New Roman" panose="02020603050405020304" pitchFamily="18" charset="0"/>
                <a:ea typeface="宋体" panose="02010600030101010101" pitchFamily="2" charset="-122"/>
              </a:rPr>
              <a:t>128</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+127</a:t>
            </a:r>
            <a:r>
              <a:rPr lang="zh-CN" altLang="en-US" sz="2200" dirty="0">
                <a:latin typeface="Times New Roman" panose="02020603050405020304" pitchFamily="18" charset="0"/>
                <a:ea typeface="宋体" panose="02010600030101010101" pitchFamily="2" charset="-122"/>
              </a:rPr>
              <a:t>，格式为 </a:t>
            </a:r>
            <a:r>
              <a:rPr lang="en-US" altLang="zh-CN" sz="2200" dirty="0">
                <a:latin typeface="Times New Roman" panose="02020603050405020304" pitchFamily="18" charset="0"/>
                <a:ea typeface="宋体" panose="02010600030101010101" pitchFamily="2" charset="-122"/>
              </a:rPr>
              <a:t>JMP  SHORT  LABEL</a:t>
            </a:r>
            <a:r>
              <a:rPr lang="zh-CN" altLang="en-US" sz="2200" dirty="0">
                <a:latin typeface="Times New Roman" panose="02020603050405020304" pitchFamily="18" charset="0"/>
                <a:ea typeface="宋体" panose="02010600030101010101" pitchFamily="2" charset="-122"/>
              </a:rPr>
              <a:t>；偏移量为 </a:t>
            </a:r>
            <a:r>
              <a:rPr lang="en-US" altLang="zh-CN" sz="2200" dirty="0">
                <a:latin typeface="Times New Roman" panose="02020603050405020304" pitchFamily="18" charset="0"/>
                <a:ea typeface="宋体" panose="02010600030101010101" pitchFamily="2" charset="-122"/>
              </a:rPr>
              <a:t>16 </a:t>
            </a:r>
            <a:r>
              <a:rPr lang="zh-CN" altLang="en-US" sz="2200" dirty="0">
                <a:latin typeface="Times New Roman" panose="02020603050405020304" pitchFamily="18" charset="0"/>
                <a:ea typeface="宋体" panose="02010600030101010101" pitchFamily="2" charset="-122"/>
              </a:rPr>
              <a:t>位数时，称为段内直接近转移，范围：−</a:t>
            </a:r>
            <a:r>
              <a:rPr lang="en-US" altLang="zh-CN" sz="2200" dirty="0">
                <a:latin typeface="Times New Roman" panose="02020603050405020304" pitchFamily="18" charset="0"/>
                <a:ea typeface="宋体" panose="02010600030101010101" pitchFamily="2" charset="-122"/>
              </a:rPr>
              <a:t>32768</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+32767</a:t>
            </a:r>
            <a:r>
              <a:rPr lang="zh-CN" altLang="en-US" sz="2200" dirty="0">
                <a:latin typeface="Times New Roman" panose="02020603050405020304" pitchFamily="18" charset="0"/>
                <a:ea typeface="宋体" panose="02010600030101010101" pitchFamily="2" charset="-122"/>
              </a:rPr>
              <a:t>，格式为 </a:t>
            </a:r>
            <a:r>
              <a:rPr lang="en-US" altLang="zh-CN" sz="2200" dirty="0">
                <a:latin typeface="Times New Roman" panose="02020603050405020304" pitchFamily="18" charset="0"/>
                <a:ea typeface="宋体" panose="02010600030101010101" pitchFamily="2" charset="-122"/>
              </a:rPr>
              <a:t>JMP  NEAR LABEL</a:t>
            </a:r>
            <a:r>
              <a:rPr lang="zh-CN" altLang="en-US" sz="2200" dirty="0">
                <a:latin typeface="Times New Roman" panose="02020603050405020304" pitchFamily="18" charset="0"/>
                <a:ea typeface="宋体" panose="02010600030101010101" pitchFamily="2" charset="-122"/>
              </a:rPr>
              <a:t>；缺省时为近转移， </a:t>
            </a:r>
            <a:r>
              <a:rPr lang="en-US" altLang="zh-CN" sz="2200" dirty="0">
                <a:latin typeface="Times New Roman" panose="02020603050405020304" pitchFamily="18" charset="0"/>
                <a:ea typeface="宋体" panose="02010600030101010101" pitchFamily="2" charset="-122"/>
              </a:rPr>
              <a:t>NEAR </a:t>
            </a:r>
            <a:r>
              <a:rPr lang="zh-CN" altLang="en-US" sz="2200" dirty="0">
                <a:latin typeface="Times New Roman" panose="02020603050405020304" pitchFamily="18" charset="0"/>
                <a:ea typeface="宋体" panose="02010600030101010101" pitchFamily="2" charset="-122"/>
              </a:rPr>
              <a:t>可不写。</a:t>
            </a:r>
          </a:p>
          <a:p>
            <a:pPr>
              <a:lnSpc>
                <a:spcPct val="100000"/>
              </a:lnSpc>
            </a:pPr>
            <a:r>
              <a:rPr lang="zh-CN" altLang="en-US" sz="2200" dirty="0">
                <a:latin typeface="Times New Roman" panose="02020603050405020304" pitchFamily="18" charset="0"/>
                <a:ea typeface="宋体" panose="02010600030101010101" pitchFamily="2" charset="-122"/>
              </a:rPr>
              <a:t>指令的操作是将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的当前值加上计算出的地址偏移量， 形成新的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 并使 </a:t>
            </a:r>
            <a:r>
              <a:rPr lang="en-US" altLang="zh-CN" sz="2200" dirty="0">
                <a:latin typeface="Times New Roman" panose="02020603050405020304" pitchFamily="18" charset="0"/>
                <a:ea typeface="宋体" panose="02010600030101010101" pitchFamily="2" charset="-122"/>
              </a:rPr>
              <a:t>CS </a:t>
            </a:r>
            <a:r>
              <a:rPr lang="zh-CN" altLang="en-US" sz="2200" dirty="0">
                <a:latin typeface="Times New Roman" panose="02020603050405020304" pitchFamily="18" charset="0"/>
                <a:ea typeface="宋体" panose="02010600030101010101" pitchFamily="2" charset="-122"/>
              </a:rPr>
              <a:t>保持不变，从而使程序按新地址继续运行，从而实现了程序的转移。</a:t>
            </a:r>
          </a:p>
        </p:txBody>
      </p:sp>
    </p:spTree>
  </p:cSld>
  <p:clrMapOvr>
    <a:masterClrMapping/>
  </p:clrMapOvr>
  <p:transition spd="med">
    <p:random/>
  </p:transition>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94210" name="矩形 2"/>
          <p:cNvSpPr/>
          <p:nvPr/>
        </p:nvSpPr>
        <p:spPr>
          <a:xfrm>
            <a:off x="377825" y="1477963"/>
            <a:ext cx="8378825" cy="2252662"/>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）段内间接转移</a:t>
            </a:r>
          </a:p>
          <a:p>
            <a:pPr>
              <a:lnSpc>
                <a:spcPct val="100000"/>
              </a:lnSpc>
            </a:pP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JMP OPRD</a:t>
            </a:r>
          </a:p>
          <a:p>
            <a:pPr>
              <a:lnSpc>
                <a:spcPct val="100000"/>
              </a:lnSpc>
            </a:pPr>
            <a:r>
              <a:rPr lang="zh-CN" altLang="en-US" sz="2200" dirty="0">
                <a:latin typeface="Times New Roman" panose="02020603050405020304" pitchFamily="18" charset="0"/>
                <a:ea typeface="宋体" panose="02010600030101010101" pitchFamily="2" charset="-122"/>
              </a:rPr>
              <a:t>指令中的操作数 </a:t>
            </a:r>
            <a:r>
              <a:rPr lang="en-US" altLang="zh-CN" sz="2200" dirty="0">
                <a:latin typeface="Times New Roman" panose="02020603050405020304" pitchFamily="18" charset="0"/>
                <a:ea typeface="宋体" panose="02010600030101010101" pitchFamily="2" charset="-122"/>
              </a:rPr>
              <a:t>OPRD </a:t>
            </a:r>
            <a:r>
              <a:rPr lang="zh-CN" altLang="en-US" sz="2200" dirty="0">
                <a:latin typeface="Times New Roman" panose="02020603050405020304" pitchFamily="18" charset="0"/>
                <a:ea typeface="宋体" panose="02010600030101010101" pitchFamily="2" charset="-122"/>
              </a:rPr>
              <a:t>是 </a:t>
            </a:r>
            <a:r>
              <a:rPr lang="en-US" altLang="zh-CN" sz="2200" dirty="0">
                <a:latin typeface="Times New Roman" panose="02020603050405020304" pitchFamily="18" charset="0"/>
                <a:ea typeface="宋体" panose="02010600030101010101" pitchFamily="2" charset="-122"/>
              </a:rPr>
              <a:t>16 </a:t>
            </a:r>
            <a:r>
              <a:rPr lang="zh-CN" altLang="en-US" sz="2200" dirty="0">
                <a:latin typeface="Times New Roman" panose="02020603050405020304" pitchFamily="18" charset="0"/>
                <a:ea typeface="宋体" panose="02010600030101010101" pitchFamily="2" charset="-122"/>
              </a:rPr>
              <a:t>位的寄存器或存储单元，目标操作数可以采用各种寻址方式。执行后，是用指定的寄存器或指定存储器两单元的内容作为目标的偏移地址，用来取代原来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的内容，从而实现程序的转移。</a:t>
            </a:r>
          </a:p>
        </p:txBody>
      </p:sp>
      <p:sp>
        <p:nvSpPr>
          <p:cNvPr id="94211" name="矩形 3"/>
          <p:cNvSpPr/>
          <p:nvPr/>
        </p:nvSpPr>
        <p:spPr>
          <a:xfrm>
            <a:off x="360363" y="3636963"/>
            <a:ext cx="8467725" cy="2830512"/>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）段间直接转移</a:t>
            </a:r>
            <a:br>
              <a:rPr lang="zh-CN" altLang="en-US"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JMP FAR LABEL</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这里 </a:t>
            </a:r>
            <a:r>
              <a:rPr lang="en-US" altLang="zh-CN" sz="2200" dirty="0">
                <a:latin typeface="Times New Roman" panose="02020603050405020304" pitchFamily="18" charset="0"/>
                <a:ea typeface="宋体" panose="02010600030101010101" pitchFamily="2" charset="-122"/>
              </a:rPr>
              <a:t>FAR </a:t>
            </a:r>
            <a:r>
              <a:rPr lang="zh-CN" altLang="en-US" sz="2200" dirty="0">
                <a:latin typeface="Times New Roman" panose="02020603050405020304" pitchFamily="18" charset="0"/>
                <a:ea typeface="宋体" panose="02010600030101010101" pitchFamily="2" charset="-122"/>
              </a:rPr>
              <a:t>表示其后的标号 </a:t>
            </a:r>
            <a:r>
              <a:rPr lang="en-US" altLang="zh-CN" sz="2200" dirty="0">
                <a:latin typeface="Times New Roman" panose="02020603050405020304" pitchFamily="18" charset="0"/>
                <a:ea typeface="宋体" panose="02010600030101010101" pitchFamily="2" charset="-122"/>
              </a:rPr>
              <a:t>LABEL </a:t>
            </a:r>
            <a:r>
              <a:rPr lang="zh-CN" altLang="en-US" sz="2200" dirty="0">
                <a:latin typeface="Times New Roman" panose="02020603050405020304" pitchFamily="18" charset="0"/>
                <a:ea typeface="宋体" panose="02010600030101010101" pitchFamily="2" charset="-122"/>
              </a:rPr>
              <a:t>是一个远标号，即它在另外一个代码段内，因此这是段间转移。段间直接转移的意思是指令中直接提供了要转移的 </a:t>
            </a:r>
            <a:r>
              <a:rPr lang="en-US" altLang="zh-CN" sz="2200" dirty="0">
                <a:latin typeface="Times New Roman" panose="02020603050405020304" pitchFamily="18" charset="0"/>
                <a:ea typeface="宋体" panose="02010600030101010101" pitchFamily="2" charset="-122"/>
              </a:rPr>
              <a:t>16 </a:t>
            </a:r>
            <a:r>
              <a:rPr lang="zh-CN" altLang="en-US" sz="2200" dirty="0">
                <a:latin typeface="Times New Roman" panose="02020603050405020304" pitchFamily="18" charset="0"/>
                <a:ea typeface="宋体" panose="02010600030101010101" pitchFamily="2" charset="-122"/>
              </a:rPr>
              <a:t>位段地址和 </a:t>
            </a:r>
            <a:r>
              <a:rPr lang="en-US" altLang="zh-CN" sz="2200" dirty="0">
                <a:latin typeface="Times New Roman" panose="02020603050405020304" pitchFamily="18" charset="0"/>
                <a:ea typeface="宋体" panose="02010600030101010101" pitchFamily="2" charset="-122"/>
              </a:rPr>
              <a:t>16 </a:t>
            </a:r>
            <a:r>
              <a:rPr lang="zh-CN" altLang="en-US" sz="2200" dirty="0">
                <a:latin typeface="Times New Roman" panose="02020603050405020304" pitchFamily="18" charset="0"/>
                <a:ea typeface="宋体" panose="02010600030101010101" pitchFamily="2" charset="-122"/>
              </a:rPr>
              <a:t>偏移地址。汇编程序根据远标号 </a:t>
            </a:r>
            <a:r>
              <a:rPr lang="en-US" altLang="zh-CN" sz="2200" dirty="0">
                <a:latin typeface="Times New Roman" panose="02020603050405020304" pitchFamily="18" charset="0"/>
                <a:ea typeface="宋体" panose="02010600030101010101" pitchFamily="2" charset="-122"/>
              </a:rPr>
              <a:t>LABEL </a:t>
            </a:r>
            <a:r>
              <a:rPr lang="zh-CN" altLang="en-US" sz="2200" dirty="0">
                <a:latin typeface="Times New Roman" panose="02020603050405020304" pitchFamily="18" charset="0"/>
                <a:ea typeface="宋体" panose="02010600030101010101" pitchFamily="2" charset="-122"/>
              </a:rPr>
              <a:t>的位置确定出</a:t>
            </a:r>
            <a:r>
              <a:rPr lang="en-US" altLang="zh-CN" sz="2200" dirty="0">
                <a:latin typeface="Times New Roman" panose="02020603050405020304" pitchFamily="18" charset="0"/>
                <a:ea typeface="宋体" panose="02010600030101010101" pitchFamily="2" charset="-122"/>
              </a:rPr>
              <a:t>LABEL </a:t>
            </a:r>
            <a:r>
              <a:rPr lang="zh-CN" altLang="en-US" sz="2200" dirty="0">
                <a:latin typeface="Times New Roman" panose="02020603050405020304" pitchFamily="18" charset="0"/>
                <a:ea typeface="宋体" panose="02010600030101010101" pitchFamily="2" charset="-122"/>
              </a:rPr>
              <a:t>所在的段地址和偏移地址，然后将</a:t>
            </a:r>
            <a:r>
              <a:rPr lang="en-US" altLang="zh-CN" sz="2200" dirty="0">
                <a:latin typeface="Times New Roman" panose="02020603050405020304" pitchFamily="18" charset="0"/>
                <a:ea typeface="宋体" panose="02010600030101010101" pitchFamily="2" charset="-122"/>
              </a:rPr>
              <a:t>LABEL </a:t>
            </a:r>
            <a:r>
              <a:rPr lang="zh-CN" altLang="en-US" sz="2200" dirty="0">
                <a:latin typeface="Times New Roman" panose="02020603050405020304" pitchFamily="18" charset="0"/>
                <a:ea typeface="宋体" panose="02010600030101010101" pitchFamily="2" charset="-122"/>
              </a:rPr>
              <a:t>所在的段地址和偏移地址分别送入 </a:t>
            </a:r>
            <a:r>
              <a:rPr lang="en-US" altLang="zh-CN" sz="2200" dirty="0">
                <a:latin typeface="Times New Roman" panose="02020603050405020304" pitchFamily="18" charset="0"/>
                <a:ea typeface="宋体" panose="02010600030101010101" pitchFamily="2" charset="-122"/>
              </a:rPr>
              <a:t>CS</a:t>
            </a:r>
            <a:r>
              <a:rPr lang="zh-CN" altLang="en-US" sz="2200" dirty="0">
                <a:latin typeface="Times New Roman" panose="02020603050405020304" pitchFamily="18" charset="0"/>
                <a:ea typeface="宋体" panose="02010600030101010101" pitchFamily="2" charset="-122"/>
              </a:rPr>
              <a:t>和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 使程序转移到另一代码段内指定的标号处（即 </a:t>
            </a:r>
            <a:r>
              <a:rPr lang="en-US" altLang="zh-CN" sz="2200" dirty="0">
                <a:latin typeface="Times New Roman" panose="02020603050405020304" pitchFamily="18" charset="0"/>
                <a:ea typeface="宋体" panose="02010600030101010101" pitchFamily="2" charset="-122"/>
              </a:rPr>
              <a:t>CS</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）进行执行。</a:t>
            </a:r>
          </a:p>
        </p:txBody>
      </p:sp>
    </p:spTree>
  </p:cSld>
  <p:clrMapOvr>
    <a:masterClrMapping/>
  </p:clrMapOvr>
  <p:transition spd="med">
    <p:random/>
  </p:transition>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95234" name="矩形 2"/>
          <p:cNvSpPr/>
          <p:nvPr/>
        </p:nvSpPr>
        <p:spPr>
          <a:xfrm>
            <a:off x="315913" y="1389063"/>
            <a:ext cx="8335962" cy="2417762"/>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）段间间接转移</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JMP OPRD</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指令的操作数 </a:t>
            </a:r>
            <a:r>
              <a:rPr lang="en-US" altLang="zh-CN" dirty="0">
                <a:latin typeface="Times New Roman" panose="02020603050405020304" pitchFamily="18" charset="0"/>
                <a:ea typeface="宋体" panose="02010600030101010101" pitchFamily="2" charset="-122"/>
              </a:rPr>
              <a:t>OPRD </a:t>
            </a:r>
            <a:r>
              <a:rPr lang="zh-CN" altLang="en-US" dirty="0">
                <a:latin typeface="Times New Roman" panose="02020603050405020304" pitchFamily="18" charset="0"/>
                <a:ea typeface="宋体" panose="02010600030101010101" pitchFamily="2" charset="-122"/>
              </a:rPr>
              <a:t>是一个 </a:t>
            </a:r>
            <a:r>
              <a:rPr lang="en-US" altLang="zh-CN" dirty="0">
                <a:latin typeface="Times New Roman" panose="02020603050405020304" pitchFamily="18" charset="0"/>
                <a:ea typeface="宋体" panose="02010600030101010101" pitchFamily="2" charset="-122"/>
              </a:rPr>
              <a:t>32 </a:t>
            </a:r>
            <a:r>
              <a:rPr lang="zh-CN" altLang="en-US" dirty="0">
                <a:latin typeface="Times New Roman" panose="02020603050405020304" pitchFamily="18" charset="0"/>
                <a:ea typeface="宋体" panose="02010600030101010101" pitchFamily="2" charset="-122"/>
              </a:rPr>
              <a:t>位的存储器。指令的执行是将指定的连续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个存储单元的内容分别送入 </a:t>
            </a:r>
            <a:r>
              <a:rPr lang="en-US" altLang="zh-CN"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（高地址字内容送 </a:t>
            </a:r>
            <a:r>
              <a:rPr lang="en-US" altLang="zh-CN"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，低地址字内容送 </a:t>
            </a:r>
            <a:r>
              <a:rPr lang="en-US" altLang="zh-CN" dirty="0">
                <a:latin typeface="Times New Roman" panose="02020603050405020304" pitchFamily="18" charset="0"/>
                <a:ea typeface="宋体" panose="02010600030101010101" pitchFamily="2" charset="-122"/>
              </a:rPr>
              <a:t>IP</a:t>
            </a:r>
            <a:r>
              <a:rPr lang="zh-CN" altLang="en-US" dirty="0">
                <a:latin typeface="Times New Roman" panose="02020603050405020304" pitchFamily="18" charset="0"/>
                <a:ea typeface="宋体" panose="02010600030101010101" pitchFamily="2" charset="-122"/>
              </a:rPr>
              <a:t>），从而实现从当前程序到新程序的转移。</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95235" name="矩形 3"/>
          <p:cNvSpPr/>
          <p:nvPr/>
        </p:nvSpPr>
        <p:spPr>
          <a:xfrm>
            <a:off x="280988" y="3579813"/>
            <a:ext cx="8335962" cy="3121025"/>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）条件转移指令</a:t>
            </a:r>
          </a:p>
          <a:p>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JXX </a:t>
            </a:r>
            <a:r>
              <a:rPr lang="zh-CN" altLang="en-US" dirty="0">
                <a:latin typeface="Times New Roman" panose="02020603050405020304" pitchFamily="18" charset="0"/>
                <a:ea typeface="宋体" panose="02010600030101010101" pitchFamily="2" charset="-122"/>
              </a:rPr>
              <a:t>目标标号</a:t>
            </a:r>
          </a:p>
          <a:p>
            <a:r>
              <a:rPr lang="zh-CN" altLang="en-US" dirty="0">
                <a:latin typeface="Times New Roman" panose="02020603050405020304" pitchFamily="18" charset="0"/>
                <a:ea typeface="宋体" panose="02010600030101010101" pitchFamily="2" charset="-122"/>
              </a:rPr>
              <a:t>指令功能： </a:t>
            </a:r>
            <a:r>
              <a:rPr lang="en-US" altLang="zh-CN" dirty="0">
                <a:latin typeface="Times New Roman" panose="02020603050405020304" pitchFamily="18" charset="0"/>
                <a:ea typeface="宋体" panose="02010600030101010101" pitchFamily="2" charset="-122"/>
              </a:rPr>
              <a:t>XX </a:t>
            </a:r>
            <a:r>
              <a:rPr lang="zh-CN" altLang="en-US" dirty="0">
                <a:latin typeface="Times New Roman" panose="02020603050405020304" pitchFamily="18" charset="0"/>
                <a:ea typeface="宋体" panose="02010600030101010101" pitchFamily="2" charset="-122"/>
              </a:rPr>
              <a:t>是测试条件。该指令以执行指令时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标志寄存器中标志位的状态为测试条件，决定是否控制程序转移。</a:t>
            </a:r>
          </a:p>
          <a:p>
            <a:r>
              <a:rPr lang="zh-CN" altLang="en-US" dirty="0">
                <a:latin typeface="Times New Roman" panose="02020603050405020304" pitchFamily="18" charset="0"/>
                <a:ea typeface="宋体" panose="02010600030101010101" pitchFamily="2" charset="-122"/>
              </a:rPr>
              <a:t>条件转移指令的执行过程如下：</a:t>
            </a:r>
          </a:p>
          <a:p>
            <a:r>
              <a:rPr lang="zh-CN" altLang="en-US" dirty="0">
                <a:latin typeface="Times New Roman" panose="02020603050405020304" pitchFamily="18" charset="0"/>
                <a:ea typeface="宋体" panose="02010600030101010101" pitchFamily="2" charset="-122"/>
              </a:rPr>
              <a:t>第一步：测试规定的条件。</a:t>
            </a:r>
          </a:p>
          <a:p>
            <a:r>
              <a:rPr lang="zh-CN" altLang="en-US" dirty="0">
                <a:latin typeface="Times New Roman" panose="02020603050405020304" pitchFamily="18" charset="0"/>
                <a:ea typeface="宋体" panose="02010600030101010101" pitchFamily="2" charset="-122"/>
              </a:rPr>
              <a:t>第二步：如果条件满足，则转移到目标地址，否则继续顺序执行。</a:t>
            </a:r>
          </a:p>
        </p:txBody>
      </p:sp>
    </p:spTree>
  </p:cSld>
  <p:clrMapOvr>
    <a:masterClrMapping/>
  </p:clrMapOvr>
  <p:transition spd="med">
    <p:random/>
  </p:transition>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96258" name="矩形 2"/>
          <p:cNvSpPr/>
          <p:nvPr/>
        </p:nvSpPr>
        <p:spPr>
          <a:xfrm>
            <a:off x="176213" y="1528763"/>
            <a:ext cx="8791575" cy="2678112"/>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在 </a:t>
            </a:r>
            <a:r>
              <a:rPr lang="en-US" altLang="zh-CN" dirty="0">
                <a:latin typeface="Times New Roman" panose="02020603050405020304" pitchFamily="18" charset="0"/>
                <a:ea typeface="宋体" panose="02010600030101010101" pitchFamily="2" charset="-122"/>
              </a:rPr>
              <a:t>8086/8088CPU </a:t>
            </a:r>
            <a:r>
              <a:rPr lang="zh-CN" altLang="en-US" dirty="0">
                <a:latin typeface="Times New Roman" panose="02020603050405020304" pitchFamily="18" charset="0"/>
                <a:ea typeface="宋体" panose="02010600030101010101" pitchFamily="2" charset="-122"/>
              </a:rPr>
              <a:t>中，条件转移指令共有 </a:t>
            </a:r>
            <a:r>
              <a:rPr lang="en-US" altLang="zh-CN" dirty="0">
                <a:latin typeface="Times New Roman" panose="02020603050405020304" pitchFamily="18" charset="0"/>
                <a:ea typeface="宋体" panose="02010600030101010101" pitchFamily="2" charset="-122"/>
              </a:rPr>
              <a:t>19 </a:t>
            </a:r>
            <a:r>
              <a:rPr lang="zh-CN" altLang="en-US" dirty="0">
                <a:latin typeface="Times New Roman" panose="02020603050405020304" pitchFamily="18" charset="0"/>
                <a:ea typeface="宋体" panose="02010600030101010101" pitchFamily="2" charset="-122"/>
              </a:rPr>
              <a:t>条，根据测试条件的不同可分为如下情况。</a:t>
            </a:r>
            <a:br>
              <a:rPr lang="zh-CN" altLang="en-US" dirty="0">
                <a:latin typeface="Times New Roman" panose="02020603050405020304" pitchFamily="18" charset="0"/>
                <a:ea typeface="宋体" panose="02010600030101010101" pitchFamily="2" charset="-122"/>
              </a:rPr>
            </a:b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）与标志无关的转移指令</a:t>
            </a:r>
            <a:r>
              <a:rPr lang="zh-CN" altLang="en-US" dirty="0">
                <a:latin typeface="Times New Roman" panose="02020603050405020304" pitchFamily="18" charset="0"/>
                <a:ea typeface="宋体" panose="02010600030101010101" pitchFamily="2" charset="-122"/>
              </a:rPr>
              <a:t>。该类转移指令只有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条，即</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JCXZ </a:t>
            </a:r>
            <a:r>
              <a:rPr lang="zh-CN" altLang="en-US" dirty="0">
                <a:latin typeface="Times New Roman" panose="02020603050405020304" pitchFamily="18" charset="0"/>
                <a:ea typeface="宋体" panose="02010600030101010101" pitchFamily="2" charset="-122"/>
              </a:rPr>
              <a:t>；       转移条件 </a:t>
            </a:r>
            <a:r>
              <a:rPr lang="en-US" altLang="zh-CN" dirty="0">
                <a:latin typeface="Times New Roman" panose="02020603050405020304" pitchFamily="18" charset="0"/>
                <a:ea typeface="宋体" panose="02010600030101010101" pitchFamily="2" charset="-122"/>
              </a:rPr>
              <a:t>CX=0</a:t>
            </a:r>
            <a:br>
              <a:rPr lang="en-US" altLang="zh-CN" dirty="0">
                <a:latin typeface="Times New Roman" panose="02020603050405020304" pitchFamily="18" charset="0"/>
                <a:ea typeface="宋体" panose="02010600030101010101" pitchFamily="2" charset="-122"/>
              </a:rPr>
            </a:b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）与标志位有关的转移指令</a:t>
            </a:r>
            <a:r>
              <a:rPr lang="zh-CN" altLang="en-US" dirty="0">
                <a:latin typeface="Times New Roman" panose="02020603050405020304" pitchFamily="18" charset="0"/>
                <a:ea typeface="宋体" panose="02010600030101010101" pitchFamily="2" charset="-122"/>
              </a:rPr>
              <a:t>。与标志位有关的转移指令共 </a:t>
            </a:r>
            <a:r>
              <a:rPr lang="en-US" altLang="zh-CN" dirty="0">
                <a:latin typeface="Times New Roman" panose="02020603050405020304" pitchFamily="18" charset="0"/>
                <a:ea typeface="宋体" panose="02010600030101010101" pitchFamily="2" charset="-122"/>
              </a:rPr>
              <a:t>18 </a:t>
            </a:r>
            <a:r>
              <a:rPr lang="zh-CN" altLang="en-US" dirty="0">
                <a:latin typeface="Times New Roman" panose="02020603050405020304" pitchFamily="18" charset="0"/>
                <a:ea typeface="宋体" panose="02010600030101010101" pitchFamily="2" charset="-122"/>
              </a:rPr>
              <a:t>条。根据测试条件中标志位目的不同可分为两组。</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96259" name="矩形 3"/>
          <p:cNvSpPr/>
          <p:nvPr/>
        </p:nvSpPr>
        <p:spPr>
          <a:xfrm>
            <a:off x="184150" y="3984625"/>
            <a:ext cx="8775700" cy="2382838"/>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①单测试条件的转移指令。单测试条件的转移指令有 </a:t>
            </a:r>
            <a:r>
              <a:rPr lang="en-US" altLang="zh-CN" dirty="0">
                <a:latin typeface="Times New Roman" panose="02020603050405020304" pitchFamily="18" charset="0"/>
                <a:ea typeface="宋体" panose="02010600030101010101" pitchFamily="2" charset="-122"/>
              </a:rPr>
              <a:t>10 </a:t>
            </a:r>
            <a:r>
              <a:rPr lang="zh-CN" altLang="en-US" dirty="0">
                <a:latin typeface="Times New Roman" panose="02020603050405020304" pitchFamily="18" charset="0"/>
                <a:ea typeface="宋体" panose="02010600030101010101" pitchFamily="2" charset="-122"/>
              </a:rPr>
              <a:t>条。根据单个标志位的状态判断转移的条件转移指令，见表 </a:t>
            </a:r>
            <a:r>
              <a:rPr lang="en-US" altLang="zh-CN" dirty="0">
                <a:latin typeface="Times New Roman" panose="02020603050405020304" pitchFamily="18" charset="0"/>
                <a:ea typeface="宋体" panose="02010600030101010101" pitchFamily="2" charset="-122"/>
              </a:rPr>
              <a:t>3-3</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②复测试条件的转移指令。复测试条件的转移指令有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条，根据两个或两个以上标志的状态判断转移的条件转移指令。根据所测试操作数类型的不同分为无符号数条件转移指令和有符号数条件转移指令两种，见表 </a:t>
            </a:r>
            <a:r>
              <a:rPr lang="en-US" altLang="zh-CN" dirty="0">
                <a:latin typeface="Times New Roman" panose="02020603050405020304" pitchFamily="18" charset="0"/>
                <a:ea typeface="宋体" panose="02010600030101010101" pitchFamily="2" charset="-122"/>
              </a:rPr>
              <a:t>3-4</a:t>
            </a:r>
            <a:r>
              <a:rPr lang="zh-CN" altLang="en-US" dirty="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pic>
        <p:nvPicPr>
          <p:cNvPr id="97282" name="Picture 2"/>
          <p:cNvPicPr>
            <a:picLocks noChangeAspect="1"/>
          </p:cNvPicPr>
          <p:nvPr/>
        </p:nvPicPr>
        <p:blipFill>
          <a:blip r:embed="rId2"/>
          <a:stretch>
            <a:fillRect/>
          </a:stretch>
        </p:blipFill>
        <p:spPr>
          <a:xfrm>
            <a:off x="247650" y="1644650"/>
            <a:ext cx="8680450" cy="3016250"/>
          </a:xfrm>
          <a:prstGeom prst="rect">
            <a:avLst/>
          </a:prstGeom>
          <a:noFill/>
          <a:ln w="9525">
            <a:noFill/>
          </a:ln>
        </p:spPr>
      </p:pic>
      <p:pic>
        <p:nvPicPr>
          <p:cNvPr id="97283" name="Picture 3"/>
          <p:cNvPicPr>
            <a:picLocks noChangeAspect="1"/>
          </p:cNvPicPr>
          <p:nvPr/>
        </p:nvPicPr>
        <p:blipFill>
          <a:blip r:embed="rId3"/>
          <a:stretch>
            <a:fillRect/>
          </a:stretch>
        </p:blipFill>
        <p:spPr>
          <a:xfrm>
            <a:off x="290513" y="4913313"/>
            <a:ext cx="8615362" cy="1689100"/>
          </a:xfrm>
          <a:prstGeom prst="rect">
            <a:avLst/>
          </a:prstGeom>
          <a:noFill/>
          <a:ln w="9525">
            <a:noFill/>
          </a:ln>
        </p:spPr>
      </p:pic>
    </p:spTree>
  </p:cSld>
  <p:clrMapOvr>
    <a:masterClrMapping/>
  </p:clrMapOvr>
  <p:transition spd="med">
    <p:random/>
  </p:transition>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pic>
        <p:nvPicPr>
          <p:cNvPr id="98306" name="Picture 2"/>
          <p:cNvPicPr>
            <a:picLocks noChangeAspect="1"/>
          </p:cNvPicPr>
          <p:nvPr/>
        </p:nvPicPr>
        <p:blipFill>
          <a:blip r:embed="rId2"/>
          <a:stretch>
            <a:fillRect/>
          </a:stretch>
        </p:blipFill>
        <p:spPr>
          <a:xfrm>
            <a:off x="149225" y="1936750"/>
            <a:ext cx="8890000" cy="3829050"/>
          </a:xfrm>
          <a:prstGeom prst="rect">
            <a:avLst/>
          </a:prstGeom>
          <a:noFill/>
          <a:ln w="9525">
            <a:noFill/>
          </a:ln>
        </p:spPr>
      </p:pic>
    </p:spTree>
  </p:cSld>
  <p:clrMapOvr>
    <a:masterClrMapping/>
  </p:clrMapOvr>
  <p:transition spd="med">
    <p:random/>
  </p:transition>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99330" name="矩形 2"/>
          <p:cNvSpPr/>
          <p:nvPr/>
        </p:nvSpPr>
        <p:spPr>
          <a:xfrm>
            <a:off x="0" y="1362075"/>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．循环控制指令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99331" name="矩形 3"/>
          <p:cNvSpPr/>
          <p:nvPr/>
        </p:nvSpPr>
        <p:spPr>
          <a:xfrm>
            <a:off x="307975" y="1716088"/>
            <a:ext cx="8396288" cy="2308225"/>
          </a:xfrm>
          <a:prstGeom prst="rect">
            <a:avLst/>
          </a:prstGeom>
          <a:noFill/>
          <a:ln w="9525">
            <a:noFill/>
          </a:ln>
        </p:spPr>
        <p:txBody>
          <a:bodyPr anchor="t" anchorCtr="0">
            <a:spAutoFit/>
          </a:bodyPr>
          <a:lstStyle/>
          <a:p>
            <a:pPr>
              <a:lnSpc>
                <a:spcPct val="100000"/>
              </a:lnSpc>
            </a:pPr>
            <a:r>
              <a:rPr lang="zh-CN" altLang="en-US" dirty="0">
                <a:latin typeface="Times New Roman" panose="02020603050405020304" pitchFamily="18" charset="0"/>
                <a:ea typeface="宋体" panose="02010600030101010101" pitchFamily="2" charset="-122"/>
              </a:rPr>
              <a:t>在 </a:t>
            </a:r>
            <a:r>
              <a:rPr lang="en-US" altLang="zh-CN" dirty="0">
                <a:latin typeface="Times New Roman" panose="02020603050405020304" pitchFamily="18" charset="0"/>
                <a:ea typeface="宋体" panose="02010600030101010101" pitchFamily="2" charset="-122"/>
              </a:rPr>
              <a:t>8086/8088 </a:t>
            </a:r>
            <a:r>
              <a:rPr lang="zh-CN" altLang="en-US" dirty="0">
                <a:latin typeface="Times New Roman" panose="02020603050405020304" pitchFamily="18" charset="0"/>
                <a:ea typeface="宋体" panose="02010600030101010101" pitchFamily="2" charset="-122"/>
              </a:rPr>
              <a:t>指令系统中，提供了 </a:t>
            </a:r>
            <a:r>
              <a:rPr lang="en-US" altLang="zh-CN" dirty="0">
                <a:latin typeface="Times New Roman" panose="02020603050405020304" pitchFamily="18" charset="0"/>
                <a:ea typeface="宋体" panose="02010600030101010101" pitchFamily="2" charset="-122"/>
              </a:rPr>
              <a:t>LOOP</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LOOPE/LOOPZ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LOOPNE/LOOPNZ </a:t>
            </a:r>
            <a:r>
              <a:rPr lang="zh-CN" altLang="en-US" dirty="0">
                <a:latin typeface="Times New Roman" panose="02020603050405020304" pitchFamily="18" charset="0"/>
                <a:ea typeface="宋体" panose="02010600030101010101" pitchFamily="2" charset="-122"/>
              </a:rPr>
              <a:t>等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种形式的循环指令，在执行指令前，循环次数必须先送入 </a:t>
            </a:r>
            <a:r>
              <a:rPr lang="en-US" altLang="zh-CN" dirty="0">
                <a:latin typeface="Times New Roman" panose="02020603050405020304" pitchFamily="18" charset="0"/>
                <a:ea typeface="宋体" panose="02010600030101010101" pitchFamily="2" charset="-122"/>
              </a:rPr>
              <a:t>CX </a:t>
            </a:r>
            <a:r>
              <a:rPr lang="zh-CN" altLang="en-US" dirty="0">
                <a:latin typeface="Times New Roman" panose="02020603050405020304" pitchFamily="18" charset="0"/>
                <a:ea typeface="宋体" panose="02010600030101010101" pitchFamily="2" charset="-122"/>
              </a:rPr>
              <a:t>寄存器中，一般情况下，循环控制指令放到循环程序的开始或结尾，每循环一次， </a:t>
            </a:r>
            <a:r>
              <a:rPr lang="en-US" altLang="zh-CN" dirty="0">
                <a:latin typeface="Times New Roman" panose="02020603050405020304" pitchFamily="18" charset="0"/>
                <a:ea typeface="宋体" panose="02010600030101010101" pitchFamily="2" charset="-122"/>
              </a:rPr>
              <a:t>CX </a:t>
            </a:r>
            <a:r>
              <a:rPr lang="zh-CN" altLang="en-US" dirty="0">
                <a:latin typeface="Times New Roman" panose="02020603050405020304" pitchFamily="18" charset="0"/>
                <a:ea typeface="宋体" panose="02010600030101010101" pitchFamily="2" charset="-122"/>
              </a:rPr>
              <a:t>内容减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，若 </a:t>
            </a:r>
            <a:r>
              <a:rPr lang="en-US" altLang="zh-CN" dirty="0">
                <a:latin typeface="Times New Roman" panose="02020603050405020304" pitchFamily="18" charset="0"/>
                <a:ea typeface="宋体" panose="02010600030101010101" pitchFamily="2" charset="-122"/>
              </a:rPr>
              <a:t>CX</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，则继续循环；否则退出循环。</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种形式的循环指令均不影响标志寄存器。</a:t>
            </a:r>
          </a:p>
        </p:txBody>
      </p:sp>
      <p:sp>
        <p:nvSpPr>
          <p:cNvPr id="99332" name="矩形 4"/>
          <p:cNvSpPr/>
          <p:nvPr/>
        </p:nvSpPr>
        <p:spPr>
          <a:xfrm>
            <a:off x="290513" y="4024313"/>
            <a:ext cx="8475662" cy="2308225"/>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LOOP </a:t>
            </a:r>
            <a:r>
              <a:rPr lang="zh-CN" altLang="en-US" dirty="0">
                <a:solidFill>
                  <a:srgbClr val="FFC000"/>
                </a:solidFill>
                <a:latin typeface="Times New Roman" panose="02020603050405020304" pitchFamily="18" charset="0"/>
                <a:ea typeface="宋体" panose="02010600030101010101" pitchFamily="2" charset="-122"/>
              </a:rPr>
              <a:t>指令</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LOOP LABEL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这里的 </a:t>
            </a:r>
            <a:r>
              <a:rPr lang="en-US" altLang="zh-CN" dirty="0">
                <a:latin typeface="Times New Roman" panose="02020603050405020304" pitchFamily="18" charset="0"/>
                <a:ea typeface="宋体" panose="02010600030101010101" pitchFamily="2" charset="-122"/>
              </a:rPr>
              <a:t>LABEL </a:t>
            </a:r>
            <a:r>
              <a:rPr lang="zh-CN" altLang="en-US" dirty="0">
                <a:latin typeface="Times New Roman" panose="02020603050405020304" pitchFamily="18" charset="0"/>
                <a:ea typeface="宋体" panose="02010600030101010101" pitchFamily="2" charset="-122"/>
              </a:rPr>
              <a:t>相当于一个近地址标号。指令的执行过程是：先将 </a:t>
            </a:r>
            <a:r>
              <a:rPr lang="en-US" altLang="zh-CN" dirty="0">
                <a:latin typeface="Times New Roman" panose="02020603050405020304" pitchFamily="18" charset="0"/>
                <a:ea typeface="宋体" panose="02010600030101010101" pitchFamily="2" charset="-122"/>
              </a:rPr>
              <a:t>CX </a:t>
            </a:r>
            <a:r>
              <a:rPr lang="zh-CN" altLang="en-US" dirty="0">
                <a:latin typeface="Times New Roman" panose="02020603050405020304" pitchFamily="18" charset="0"/>
                <a:ea typeface="宋体" panose="02010600030101010101" pitchFamily="2" charset="-122"/>
              </a:rPr>
              <a:t>内容减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，再判断</a:t>
            </a:r>
            <a:r>
              <a:rPr lang="en-US" altLang="zh-CN" dirty="0">
                <a:latin typeface="Times New Roman" panose="02020603050405020304" pitchFamily="18" charset="0"/>
                <a:ea typeface="宋体" panose="02010600030101010101" pitchFamily="2" charset="-122"/>
              </a:rPr>
              <a:t>CX </a:t>
            </a:r>
            <a:r>
              <a:rPr lang="zh-CN" altLang="en-US" dirty="0">
                <a:latin typeface="Times New Roman" panose="02020603050405020304" pitchFamily="18" charset="0"/>
                <a:ea typeface="宋体" panose="02010600030101010101" pitchFamily="2" charset="-122"/>
              </a:rPr>
              <a:t>的值是否为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，若 </a:t>
            </a:r>
            <a:r>
              <a:rPr lang="en-US" altLang="zh-CN" dirty="0">
                <a:latin typeface="Times New Roman" panose="02020603050405020304" pitchFamily="18" charset="0"/>
                <a:ea typeface="宋体" panose="02010600030101010101" pitchFamily="2" charset="-122"/>
              </a:rPr>
              <a:t>CX</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，则转移到目标标号所给定的地址继续循环；否则结束循环，执行下一条指令。</a:t>
            </a:r>
          </a:p>
        </p:txBody>
      </p:sp>
    </p:spTree>
  </p:cSld>
  <p:clrMapOvr>
    <a:masterClrMapping/>
  </p:clrMapOvr>
  <p:transition spd="med">
    <p:random/>
  </p:transition>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0354" name="矩形 2"/>
          <p:cNvSpPr/>
          <p:nvPr/>
        </p:nvSpPr>
        <p:spPr>
          <a:xfrm>
            <a:off x="457200" y="1485900"/>
            <a:ext cx="8291513" cy="3046413"/>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LOOPE/LOOPZ </a:t>
            </a:r>
            <a:r>
              <a:rPr lang="zh-CN" altLang="en-US" dirty="0">
                <a:solidFill>
                  <a:srgbClr val="FFC000"/>
                </a:solidFill>
                <a:latin typeface="Times New Roman" panose="02020603050405020304" pitchFamily="18" charset="0"/>
                <a:ea typeface="宋体" panose="02010600030101010101" pitchFamily="2" charset="-122"/>
              </a:rPr>
              <a:t>指令</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LOOPE/LOOPZ   LABEL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执行过程：先将 </a:t>
            </a:r>
            <a:r>
              <a:rPr lang="en-US" altLang="zh-CN" dirty="0">
                <a:latin typeface="Times New Roman" panose="02020603050405020304" pitchFamily="18" charset="0"/>
                <a:ea typeface="宋体" panose="02010600030101010101" pitchFamily="2" charset="-122"/>
              </a:rPr>
              <a:t>CX </a:t>
            </a:r>
            <a:r>
              <a:rPr lang="zh-CN" altLang="en-US" dirty="0">
                <a:latin typeface="Times New Roman" panose="02020603050405020304" pitchFamily="18" charset="0"/>
                <a:ea typeface="宋体" panose="02010600030101010101" pitchFamily="2" charset="-122"/>
              </a:rPr>
              <a:t>减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送 </a:t>
            </a:r>
            <a:r>
              <a:rPr lang="en-US" altLang="zh-CN" dirty="0">
                <a:latin typeface="Times New Roman" panose="02020603050405020304" pitchFamily="18" charset="0"/>
                <a:ea typeface="宋体" panose="02010600030101010101" pitchFamily="2" charset="-122"/>
              </a:rPr>
              <a:t>CX</a:t>
            </a:r>
            <a:r>
              <a:rPr lang="zh-CN" altLang="en-US" dirty="0">
                <a:latin typeface="Times New Roman" panose="02020603050405020304" pitchFamily="18" charset="0"/>
                <a:ea typeface="宋体" panose="02010600030101010101" pitchFamily="2" charset="-122"/>
              </a:rPr>
              <a:t>，若 </a:t>
            </a:r>
            <a:r>
              <a:rPr lang="en-US" altLang="zh-CN" dirty="0">
                <a:latin typeface="Times New Roman" panose="02020603050405020304" pitchFamily="18" charset="0"/>
                <a:ea typeface="宋体" panose="02010600030101010101" pitchFamily="2" charset="-122"/>
              </a:rPr>
              <a:t>CX</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且 </a:t>
            </a:r>
            <a:r>
              <a:rPr lang="en-US" altLang="zh-CN" dirty="0">
                <a:latin typeface="Times New Roman" panose="02020603050405020304" pitchFamily="18" charset="0"/>
                <a:ea typeface="宋体" panose="02010600030101010101" pitchFamily="2" charset="-122"/>
              </a:rPr>
              <a:t>ZF=1</a:t>
            </a:r>
            <a:r>
              <a:rPr lang="zh-CN" altLang="en-US" dirty="0">
                <a:latin typeface="Times New Roman" panose="02020603050405020304" pitchFamily="18" charset="0"/>
                <a:ea typeface="宋体" panose="02010600030101010101" pitchFamily="2" charset="-122"/>
              </a:rPr>
              <a:t>，则循环，否则执行下一条指令。</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说明：这是一条复合条件的循环指令，既要满足 </a:t>
            </a:r>
            <a:r>
              <a:rPr lang="en-US" altLang="zh-CN" dirty="0">
                <a:latin typeface="Times New Roman" panose="02020603050405020304" pitchFamily="18" charset="0"/>
                <a:ea typeface="宋体" panose="02010600030101010101" pitchFamily="2" charset="-122"/>
              </a:rPr>
              <a:t>CX</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，还应满足“相等”或“等于零”的条件才能循环。即继续执行的条件是 </a:t>
            </a:r>
            <a:r>
              <a:rPr lang="en-US" altLang="zh-CN" dirty="0">
                <a:latin typeface="Times New Roman" panose="02020603050405020304" pitchFamily="18" charset="0"/>
                <a:ea typeface="宋体" panose="02010600030101010101" pitchFamily="2" charset="-122"/>
              </a:rPr>
              <a:t>CX</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且 </a:t>
            </a:r>
            <a:r>
              <a:rPr lang="en-US" altLang="zh-CN" dirty="0">
                <a:latin typeface="Times New Roman" panose="02020603050405020304" pitchFamily="18" charset="0"/>
                <a:ea typeface="宋体" panose="02010600030101010101" pitchFamily="2" charset="-122"/>
              </a:rPr>
              <a:t>ZF=1</a:t>
            </a:r>
            <a:r>
              <a:rPr lang="zh-CN" altLang="en-US" dirty="0">
                <a:latin typeface="Times New Roman" panose="02020603050405020304" pitchFamily="18" charset="0"/>
                <a:ea typeface="宋体" panose="02010600030101010101" pitchFamily="2" charset="-122"/>
              </a:rPr>
              <a:t>；若 </a:t>
            </a:r>
            <a:r>
              <a:rPr lang="en-US" altLang="zh-CN" dirty="0">
                <a:latin typeface="Times New Roman" panose="02020603050405020304" pitchFamily="18" charset="0"/>
                <a:ea typeface="宋体" panose="02010600030101010101" pitchFamily="2" charset="-122"/>
              </a:rPr>
              <a:t>CX=0 </a:t>
            </a:r>
            <a:r>
              <a:rPr lang="zh-CN" altLang="en-US" dirty="0">
                <a:latin typeface="Times New Roman" panose="02020603050405020304" pitchFamily="18" charset="0"/>
                <a:ea typeface="宋体" panose="02010600030101010101" pitchFamily="2" charset="-122"/>
              </a:rPr>
              <a:t>或者 </a:t>
            </a:r>
            <a:r>
              <a:rPr lang="en-US" altLang="zh-CN" dirty="0">
                <a:latin typeface="Times New Roman" panose="02020603050405020304" pitchFamily="18" charset="0"/>
                <a:ea typeface="宋体" panose="02010600030101010101" pitchFamily="2" charset="-122"/>
              </a:rPr>
              <a:t>ZF=0</a:t>
            </a:r>
            <a:r>
              <a:rPr lang="zh-CN" altLang="en-US" dirty="0">
                <a:latin typeface="Times New Roman" panose="02020603050405020304" pitchFamily="18" charset="0"/>
                <a:ea typeface="宋体" panose="02010600030101010101" pitchFamily="2" charset="-122"/>
              </a:rPr>
              <a:t>，则不再循环。</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100355" name="矩形 3"/>
          <p:cNvSpPr/>
          <p:nvPr/>
        </p:nvSpPr>
        <p:spPr>
          <a:xfrm>
            <a:off x="430213" y="4192588"/>
            <a:ext cx="8380412" cy="2308225"/>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LOOPNE/LOOPNZ </a:t>
            </a:r>
            <a:r>
              <a:rPr lang="zh-CN" altLang="en-US" dirty="0">
                <a:solidFill>
                  <a:srgbClr val="FFC000"/>
                </a:solidFill>
                <a:latin typeface="Times New Roman" panose="02020603050405020304" pitchFamily="18" charset="0"/>
                <a:ea typeface="宋体" panose="02010600030101010101" pitchFamily="2" charset="-122"/>
              </a:rPr>
              <a:t>指令</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LOOPNE/LOOPNZ   LABEL</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执行过程：先将 </a:t>
            </a:r>
            <a:r>
              <a:rPr lang="en-US" altLang="zh-CN" dirty="0">
                <a:latin typeface="Times New Roman" panose="02020603050405020304" pitchFamily="18" charset="0"/>
                <a:ea typeface="宋体" panose="02010600030101010101" pitchFamily="2" charset="-122"/>
              </a:rPr>
              <a:t>CX </a:t>
            </a:r>
            <a:r>
              <a:rPr lang="zh-CN" altLang="en-US" dirty="0">
                <a:latin typeface="Times New Roman" panose="02020603050405020304" pitchFamily="18" charset="0"/>
                <a:ea typeface="宋体" panose="02010600030101010101" pitchFamily="2" charset="-122"/>
              </a:rPr>
              <a:t>减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，然后再判断 </a:t>
            </a:r>
            <a:r>
              <a:rPr lang="en-US" altLang="zh-CN" dirty="0">
                <a:latin typeface="Times New Roman" panose="02020603050405020304" pitchFamily="18" charset="0"/>
                <a:ea typeface="宋体" panose="02010600030101010101" pitchFamily="2" charset="-122"/>
              </a:rPr>
              <a:t>CX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ZF </a:t>
            </a:r>
            <a:r>
              <a:rPr lang="zh-CN" altLang="en-US" dirty="0">
                <a:latin typeface="Times New Roman" panose="02020603050405020304" pitchFamily="18" charset="0"/>
                <a:ea typeface="宋体" panose="02010600030101010101" pitchFamily="2" charset="-122"/>
              </a:rPr>
              <a:t>的值，若 </a:t>
            </a:r>
            <a:r>
              <a:rPr lang="en-US" altLang="zh-CN" dirty="0">
                <a:latin typeface="Times New Roman" panose="02020603050405020304" pitchFamily="18" charset="0"/>
                <a:ea typeface="宋体" panose="02010600030101010101" pitchFamily="2" charset="-122"/>
              </a:rPr>
              <a:t>CX</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且 </a:t>
            </a:r>
            <a:r>
              <a:rPr lang="en-US" altLang="zh-CN" dirty="0">
                <a:latin typeface="Times New Roman" panose="02020603050405020304" pitchFamily="18" charset="0"/>
                <a:ea typeface="宋体" panose="02010600030101010101" pitchFamily="2" charset="-122"/>
              </a:rPr>
              <a:t>ZF=0</a:t>
            </a:r>
            <a:r>
              <a:rPr lang="zh-CN" altLang="en-US" dirty="0">
                <a:latin typeface="Times New Roman" panose="02020603050405020304" pitchFamily="18" charset="0"/>
                <a:ea typeface="宋体" panose="02010600030101010101" pitchFamily="2" charset="-122"/>
              </a:rPr>
              <a:t>，则转至目标地址处继续循环，否则退出循环。这是一条复合条件的循环指令，既要满足 </a:t>
            </a:r>
            <a:r>
              <a:rPr lang="en-US" altLang="zh-CN" dirty="0">
                <a:latin typeface="Times New Roman" panose="02020603050405020304" pitchFamily="18" charset="0"/>
                <a:ea typeface="宋体" panose="02010600030101010101" pitchFamily="2" charset="-122"/>
              </a:rPr>
              <a:t>CX</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，还应满足“不相等”或“不等于零”的条件才能循环。</a:t>
            </a:r>
          </a:p>
        </p:txBody>
      </p:sp>
    </p:spTree>
  </p:cSld>
  <p:clrMapOvr>
    <a:masterClrMapping/>
  </p:clrMapOvr>
  <p:transition spd="med">
    <p:random/>
  </p:transition>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1378" name="矩形 2"/>
          <p:cNvSpPr/>
          <p:nvPr/>
        </p:nvSpPr>
        <p:spPr>
          <a:xfrm>
            <a:off x="0" y="1300163"/>
            <a:ext cx="4572000" cy="757237"/>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．过程调用与返回指令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101379" name="矩形 3"/>
          <p:cNvSpPr/>
          <p:nvPr/>
        </p:nvSpPr>
        <p:spPr>
          <a:xfrm>
            <a:off x="246063" y="1882775"/>
            <a:ext cx="8634412" cy="4819650"/>
          </a:xfrm>
          <a:prstGeom prst="rect">
            <a:avLst/>
          </a:prstGeom>
          <a:noFill/>
          <a:ln w="9525">
            <a:noFill/>
          </a:ln>
        </p:spPr>
        <p:txBody>
          <a:bodyPr anchor="t" anchorCtr="0">
            <a:spAutoFit/>
          </a:bodyPr>
          <a:lstStyle/>
          <a:p>
            <a:pPr>
              <a:lnSpc>
                <a:spcPct val="100000"/>
              </a:lnSpc>
            </a:pPr>
            <a:r>
              <a:rPr lang="en-US" altLang="zh-CN" dirty="0">
                <a:latin typeface="Times New Roman" panose="02020603050405020304" pitchFamily="18" charset="0"/>
                <a:ea typeface="宋体" panose="02010600030101010101" pitchFamily="2" charset="-122"/>
              </a:rPr>
              <a:t>8086/8088 </a:t>
            </a:r>
            <a:r>
              <a:rPr lang="zh-CN" altLang="en-US" dirty="0">
                <a:latin typeface="Times New Roman" panose="02020603050405020304" pitchFamily="18" charset="0"/>
                <a:ea typeface="宋体" panose="02010600030101010101" pitchFamily="2" charset="-122"/>
              </a:rPr>
              <a:t>指令系统为实现对过程（子程序）的调用，提供了调用指令 </a:t>
            </a:r>
            <a:r>
              <a:rPr lang="en-US" altLang="zh-CN" dirty="0">
                <a:latin typeface="Times New Roman" panose="02020603050405020304" pitchFamily="18" charset="0"/>
                <a:ea typeface="宋体" panose="02010600030101010101" pitchFamily="2" charset="-122"/>
              </a:rPr>
              <a:t>CALL </a:t>
            </a:r>
            <a:r>
              <a:rPr lang="zh-CN" altLang="en-US" dirty="0">
                <a:latin typeface="Times New Roman" panose="02020603050405020304" pitchFamily="18" charset="0"/>
                <a:ea typeface="宋体" panose="02010600030101010101" pitchFamily="2" charset="-122"/>
              </a:rPr>
              <a:t>和返回指令 </a:t>
            </a:r>
            <a:r>
              <a:rPr lang="en-US" altLang="zh-CN" dirty="0">
                <a:latin typeface="Times New Roman" panose="02020603050405020304" pitchFamily="18" charset="0"/>
                <a:ea typeface="宋体" panose="02010600030101010101" pitchFamily="2" charset="-122"/>
              </a:rPr>
              <a:t>RET</a:t>
            </a:r>
            <a:r>
              <a:rPr lang="zh-CN" altLang="en-US" dirty="0">
                <a:latin typeface="Times New Roman" panose="02020603050405020304" pitchFamily="18" charset="0"/>
                <a:ea typeface="宋体" panose="02010600030101010101" pitchFamily="2" charset="-122"/>
              </a:rPr>
              <a:t>。</a:t>
            </a:r>
          </a:p>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）过程调用指令 </a:t>
            </a:r>
            <a:r>
              <a:rPr lang="en-US" altLang="zh-CN" dirty="0">
                <a:solidFill>
                  <a:srgbClr val="FFC000"/>
                </a:solidFill>
                <a:latin typeface="Times New Roman" panose="02020603050405020304" pitchFamily="18" charset="0"/>
                <a:ea typeface="宋体" panose="02010600030101010101" pitchFamily="2" charset="-122"/>
              </a:rPr>
              <a:t>CALL</a:t>
            </a:r>
            <a:endParaRPr lang="zh-CN" altLang="en-US" dirty="0">
              <a:solidFill>
                <a:srgbClr val="FFC000"/>
              </a:solidFill>
              <a:latin typeface="Times New Roman" panose="02020603050405020304" pitchFamily="18" charset="0"/>
              <a:ea typeface="宋体" panose="02010600030101010101" pitchFamily="2" charset="-122"/>
            </a:endParaRPr>
          </a:p>
          <a:p>
            <a:pPr>
              <a:lnSpc>
                <a:spcPct val="100000"/>
              </a:lnSpc>
            </a:pP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CALL </a:t>
            </a:r>
            <a:r>
              <a:rPr lang="zh-CN" altLang="en-US" dirty="0">
                <a:latin typeface="Times New Roman" panose="02020603050405020304" pitchFamily="18" charset="0"/>
                <a:ea typeface="宋体" panose="02010600030101010101" pitchFamily="2" charset="-122"/>
              </a:rPr>
              <a:t>过程名</a:t>
            </a:r>
          </a:p>
          <a:p>
            <a:pPr>
              <a:lnSpc>
                <a:spcPct val="100000"/>
              </a:lnSpc>
            </a:pPr>
            <a:r>
              <a:rPr lang="zh-CN" altLang="en-US" dirty="0">
                <a:latin typeface="Times New Roman" panose="02020603050405020304" pitchFamily="18" charset="0"/>
                <a:ea typeface="宋体" panose="02010600030101010101" pitchFamily="2" charset="-122"/>
              </a:rPr>
              <a:t>指令功能：指令执行时，首先把主程序的断点地址（调用指令的下一条指令地址）压入堆栈保存，然后将目标地址（过程的首地址）装入 </a:t>
            </a:r>
            <a:r>
              <a:rPr lang="en-US" altLang="zh-CN" dirty="0">
                <a:latin typeface="Times New Roman" panose="02020603050405020304" pitchFamily="18" charset="0"/>
                <a:ea typeface="宋体" panose="02010600030101010101" pitchFamily="2" charset="-122"/>
              </a:rPr>
              <a:t>IP</a:t>
            </a:r>
            <a:r>
              <a:rPr lang="zh-CN" altLang="en-US" dirty="0">
                <a:latin typeface="Times New Roman" panose="02020603050405020304" pitchFamily="18" charset="0"/>
                <a:ea typeface="宋体" panose="02010600030101010101" pitchFamily="2" charset="-122"/>
              </a:rPr>
              <a:t>（或同时装入 </a:t>
            </a:r>
            <a:r>
              <a:rPr lang="en-US" altLang="zh-CN"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和 </a:t>
            </a:r>
            <a:r>
              <a:rPr lang="en-US" altLang="zh-CN"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）以控制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转移到目标过程去执行被调用的过程。执行调用指令对标志位无影响。</a:t>
            </a:r>
          </a:p>
          <a:p>
            <a:pPr>
              <a:lnSpc>
                <a:spcPct val="100000"/>
              </a:lnSpc>
            </a:pPr>
            <a:r>
              <a:rPr lang="zh-CN" altLang="en-US" dirty="0">
                <a:latin typeface="Times New Roman" panose="02020603050405020304" pitchFamily="18" charset="0"/>
                <a:ea typeface="宋体" panose="02010600030101010101" pitchFamily="2" charset="-122"/>
              </a:rPr>
              <a:t>由于子程序有可能和主程序在同一个段内，也有可能不在同一个段内，所以与无条件转移指令一样，过程调用 </a:t>
            </a:r>
            <a:r>
              <a:rPr lang="en-US" altLang="zh-CN" dirty="0">
                <a:latin typeface="Times New Roman" panose="02020603050405020304" pitchFamily="18" charset="0"/>
                <a:ea typeface="宋体" panose="02010600030101010101" pitchFamily="2" charset="-122"/>
              </a:rPr>
              <a:t>CALL </a:t>
            </a:r>
            <a:r>
              <a:rPr lang="zh-CN" altLang="en-US" dirty="0">
                <a:latin typeface="Times New Roman" panose="02020603050405020304" pitchFamily="18" charset="0"/>
                <a:ea typeface="宋体" panose="02010600030101010101" pitchFamily="2" charset="-122"/>
              </a:rPr>
              <a:t>指令也有 </a:t>
            </a: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种形式，即段内直接调用、段内间接调用、段间直接调用、段间间接调用。</a:t>
            </a:r>
          </a:p>
        </p:txBody>
      </p:sp>
    </p:spTree>
  </p:cSld>
  <p:clrMapOvr>
    <a:masterClrMapping/>
  </p:clrMapOvr>
  <p:transition spd="med">
    <p:random/>
  </p:transition>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2402" name="矩形 2"/>
          <p:cNvSpPr/>
          <p:nvPr/>
        </p:nvSpPr>
        <p:spPr>
          <a:xfrm>
            <a:off x="387350" y="1417638"/>
            <a:ext cx="8431213" cy="2862262"/>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）段内直接调用</a:t>
            </a:r>
            <a:br>
              <a:rPr lang="zh-CN" altLang="en-US"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CALL NEAR PROC</a:t>
            </a:r>
            <a:br>
              <a:rPr lang="en-US" altLang="zh-CN" sz="2200" dirty="0">
                <a:latin typeface="Times New Roman" panose="02020603050405020304" pitchFamily="18" charset="0"/>
                <a:ea typeface="宋体" panose="02010600030101010101" pitchFamily="2" charset="-122"/>
              </a:rPr>
            </a:br>
            <a:r>
              <a:rPr lang="en-US" altLang="zh-CN" sz="2200" dirty="0">
                <a:latin typeface="Times New Roman" panose="02020603050405020304" pitchFamily="18" charset="0"/>
                <a:ea typeface="宋体" panose="02010600030101010101" pitchFamily="2" charset="-122"/>
              </a:rPr>
              <a:t>PROC </a:t>
            </a:r>
            <a:r>
              <a:rPr lang="zh-CN" altLang="en-US" sz="2200" dirty="0">
                <a:latin typeface="Times New Roman" panose="02020603050405020304" pitchFamily="18" charset="0"/>
                <a:ea typeface="宋体" panose="02010600030101010101" pitchFamily="2" charset="-122"/>
              </a:rPr>
              <a:t>是一个近过程的符号地址，表示调用的过程在当前代码段内， </a:t>
            </a:r>
            <a:r>
              <a:rPr lang="en-US" altLang="zh-CN" sz="2200" dirty="0">
                <a:latin typeface="Times New Roman" panose="02020603050405020304" pitchFamily="18" charset="0"/>
                <a:ea typeface="宋体" panose="02010600030101010101" pitchFamily="2" charset="-122"/>
              </a:rPr>
              <a:t>NEAR </a:t>
            </a:r>
            <a:r>
              <a:rPr lang="zh-CN" altLang="en-US" sz="2200" dirty="0">
                <a:latin typeface="Times New Roman" panose="02020603050405020304" pitchFamily="18" charset="0"/>
                <a:ea typeface="宋体" panose="02010600030101010101" pitchFamily="2" charset="-122"/>
              </a:rPr>
              <a:t>可省略。指令在汇编后会得到 </a:t>
            </a:r>
            <a:r>
              <a:rPr lang="en-US" altLang="zh-CN" sz="2200" dirty="0">
                <a:latin typeface="Times New Roman" panose="02020603050405020304" pitchFamily="18" charset="0"/>
                <a:ea typeface="宋体" panose="02010600030101010101" pitchFamily="2" charset="-122"/>
              </a:rPr>
              <a:t>CALL </a:t>
            </a:r>
            <a:r>
              <a:rPr lang="zh-CN" altLang="en-US" sz="2200" dirty="0">
                <a:latin typeface="Times New Roman" panose="02020603050405020304" pitchFamily="18" charset="0"/>
                <a:ea typeface="宋体" panose="02010600030101010101" pitchFamily="2" charset="-122"/>
              </a:rPr>
              <a:t>指令的下一条指令与被调用过程入口地址之间相差的 </a:t>
            </a:r>
            <a:r>
              <a:rPr lang="en-US" altLang="zh-CN" sz="2200" dirty="0">
                <a:latin typeface="Times New Roman" panose="02020603050405020304" pitchFamily="18" charset="0"/>
                <a:ea typeface="宋体" panose="02010600030101010101" pitchFamily="2" charset="-122"/>
              </a:rPr>
              <a:t>16 </a:t>
            </a:r>
            <a:r>
              <a:rPr lang="zh-CN" altLang="en-US" sz="2200" dirty="0">
                <a:latin typeface="Times New Roman" panose="02020603050405020304" pitchFamily="18" charset="0"/>
                <a:ea typeface="宋体" panose="02010600030101010101" pitchFamily="2" charset="-122"/>
              </a:rPr>
              <a:t>位相对位移量。 </a:t>
            </a:r>
            <a:r>
              <a:rPr lang="en-US" altLang="zh-CN" sz="2200" dirty="0">
                <a:latin typeface="Times New Roman" panose="02020603050405020304" pitchFamily="18" charset="0"/>
                <a:ea typeface="宋体" panose="02010600030101010101" pitchFamily="2" charset="-122"/>
              </a:rPr>
              <a:t>CALL </a:t>
            </a:r>
            <a:r>
              <a:rPr lang="zh-CN" altLang="en-US" sz="2200" dirty="0">
                <a:latin typeface="Times New Roman" panose="02020603050405020304" pitchFamily="18" charset="0"/>
                <a:ea typeface="宋体" panose="02010600030101010101" pitchFamily="2" charset="-122"/>
              </a:rPr>
              <a:t>指令在执行时，首先将 </a:t>
            </a:r>
            <a:r>
              <a:rPr lang="en-US" altLang="zh-CN" sz="2200" dirty="0">
                <a:latin typeface="Times New Roman" panose="02020603050405020304" pitchFamily="18" charset="0"/>
                <a:ea typeface="宋体" panose="02010600030101010101" pitchFamily="2" charset="-122"/>
              </a:rPr>
              <a:t>CALL </a:t>
            </a:r>
            <a:r>
              <a:rPr lang="zh-CN" altLang="en-US" sz="2200" dirty="0">
                <a:latin typeface="Times New Roman" panose="02020603050405020304" pitchFamily="18" charset="0"/>
                <a:ea typeface="宋体" panose="02010600030101010101" pitchFamily="2" charset="-122"/>
              </a:rPr>
              <a:t>指令的下一条指令的偏移地址压入堆栈，然后将指令中 </a:t>
            </a:r>
            <a:r>
              <a:rPr lang="en-US" altLang="zh-CN" sz="2200" dirty="0">
                <a:latin typeface="Times New Roman" panose="02020603050405020304" pitchFamily="18" charset="0"/>
                <a:ea typeface="宋体" panose="02010600030101010101" pitchFamily="2" charset="-122"/>
              </a:rPr>
              <a:t>16 </a:t>
            </a:r>
            <a:r>
              <a:rPr lang="zh-CN" altLang="en-US" sz="2200" dirty="0">
                <a:latin typeface="Times New Roman" panose="02020603050405020304" pitchFamily="18" charset="0"/>
                <a:ea typeface="宋体" panose="02010600030101010101" pitchFamily="2" charset="-122"/>
              </a:rPr>
              <a:t>位的相对偏移量和当前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的内容相加，新的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内容就是所调用过程的入口地址 </a:t>
            </a:r>
            <a:r>
              <a:rPr lang="zh-CN" altLang="en-US" dirty="0">
                <a:latin typeface="Times New Roman" panose="02020603050405020304" pitchFamily="18" charset="0"/>
                <a:ea typeface="宋体" panose="02010600030101010101" pitchFamily="2" charset="-122"/>
              </a:rPr>
              <a:t>。</a:t>
            </a:r>
          </a:p>
        </p:txBody>
      </p:sp>
      <p:sp>
        <p:nvSpPr>
          <p:cNvPr id="102403" name="矩形 4"/>
          <p:cNvSpPr/>
          <p:nvPr/>
        </p:nvSpPr>
        <p:spPr>
          <a:xfrm>
            <a:off x="395288" y="4319588"/>
            <a:ext cx="8318500" cy="2492375"/>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）段内间接调用</a:t>
            </a:r>
            <a:br>
              <a:rPr lang="zh-CN" altLang="en-US"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CALL OPRD</a:t>
            </a:r>
            <a:br>
              <a:rPr lang="zh-CN" altLang="en-US" sz="2200" dirty="0">
                <a:latin typeface="Times New Roman" panose="02020603050405020304" pitchFamily="18" charset="0"/>
                <a:ea typeface="宋体" panose="02010600030101010101" pitchFamily="2" charset="-122"/>
              </a:rPr>
            </a:br>
            <a:r>
              <a:rPr lang="en-US" altLang="zh-CN" sz="2200" dirty="0">
                <a:latin typeface="Times New Roman" panose="02020603050405020304" pitchFamily="18" charset="0"/>
                <a:ea typeface="宋体" panose="02010600030101010101" pitchFamily="2" charset="-122"/>
              </a:rPr>
              <a:t>OPRD </a:t>
            </a:r>
            <a:r>
              <a:rPr lang="zh-CN" altLang="en-US" sz="2200" dirty="0">
                <a:latin typeface="Times New Roman" panose="02020603050405020304" pitchFamily="18" charset="0"/>
                <a:ea typeface="宋体" panose="02010600030101010101" pitchFamily="2" charset="-122"/>
              </a:rPr>
              <a:t>为 </a:t>
            </a:r>
            <a:r>
              <a:rPr lang="en-US" altLang="zh-CN" sz="2200" dirty="0">
                <a:latin typeface="Times New Roman" panose="02020603050405020304" pitchFamily="18" charset="0"/>
                <a:ea typeface="宋体" panose="02010600030101010101" pitchFamily="2" charset="-122"/>
              </a:rPr>
              <a:t>16 </a:t>
            </a:r>
            <a:r>
              <a:rPr lang="zh-CN" altLang="en-US" sz="2200" dirty="0">
                <a:latin typeface="Times New Roman" panose="02020603050405020304" pitchFamily="18" charset="0"/>
                <a:ea typeface="宋体" panose="02010600030101010101" pitchFamily="2" charset="-122"/>
              </a:rPr>
              <a:t>位寄存器或两个存储单元的内容，这个内容表示的是一个近过程的入口地址。指令的执行是将 </a:t>
            </a:r>
            <a:r>
              <a:rPr lang="en-US" altLang="zh-CN" sz="2200" dirty="0">
                <a:latin typeface="Times New Roman" panose="02020603050405020304" pitchFamily="18" charset="0"/>
                <a:ea typeface="宋体" panose="02010600030101010101" pitchFamily="2" charset="-122"/>
              </a:rPr>
              <a:t>CALL </a:t>
            </a:r>
            <a:r>
              <a:rPr lang="zh-CN" altLang="en-US" sz="2200" dirty="0">
                <a:latin typeface="Times New Roman" panose="02020603050405020304" pitchFamily="18" charset="0"/>
                <a:ea typeface="宋体" panose="02010600030101010101" pitchFamily="2" charset="-122"/>
              </a:rPr>
              <a:t>指令的下一条指令的偏移地址压入堆栈。 若指令中的操作数是一个 </a:t>
            </a:r>
            <a:r>
              <a:rPr lang="en-US" altLang="zh-CN" sz="2200" dirty="0">
                <a:latin typeface="Times New Roman" panose="02020603050405020304" pitchFamily="18" charset="0"/>
                <a:ea typeface="宋体" panose="02010600030101010101" pitchFamily="2" charset="-122"/>
              </a:rPr>
              <a:t>16</a:t>
            </a:r>
            <a:r>
              <a:rPr lang="zh-CN" altLang="en-US" sz="2200" dirty="0">
                <a:latin typeface="Times New Roman" panose="02020603050405020304" pitchFamily="18" charset="0"/>
                <a:ea typeface="宋体" panose="02010600030101010101" pitchFamily="2" charset="-122"/>
              </a:rPr>
              <a:t>位通用寄存器，则将寄存器的内容送至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；若操作数是存储单元，则将连续的两个存储单元的内容送至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3426" name="矩形 2"/>
          <p:cNvSpPr/>
          <p:nvPr/>
        </p:nvSpPr>
        <p:spPr>
          <a:xfrm>
            <a:off x="377825" y="1503363"/>
            <a:ext cx="8326438" cy="2493962"/>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）段间直接调用</a:t>
            </a:r>
            <a:br>
              <a:rPr lang="zh-CN" altLang="en-US"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CALL FAR PROC</a:t>
            </a:r>
            <a:br>
              <a:rPr lang="en-US" altLang="zh-CN" sz="2200" dirty="0">
                <a:latin typeface="Times New Roman" panose="02020603050405020304" pitchFamily="18" charset="0"/>
                <a:ea typeface="宋体" panose="02010600030101010101" pitchFamily="2" charset="-122"/>
              </a:rPr>
            </a:br>
            <a:r>
              <a:rPr lang="en-US" altLang="zh-CN" sz="2200" dirty="0">
                <a:latin typeface="Times New Roman" panose="02020603050405020304" pitchFamily="18" charset="0"/>
                <a:ea typeface="宋体" panose="02010600030101010101" pitchFamily="2" charset="-122"/>
              </a:rPr>
              <a:t>PROC </a:t>
            </a:r>
            <a:r>
              <a:rPr lang="zh-CN" altLang="en-US" sz="2200" dirty="0">
                <a:latin typeface="Times New Roman" panose="02020603050405020304" pitchFamily="18" charset="0"/>
                <a:ea typeface="宋体" panose="02010600030101010101" pitchFamily="2" charset="-122"/>
              </a:rPr>
              <a:t>是一个远过程的符号地址，表示调用的过程不在当前代码段内， </a:t>
            </a:r>
            <a:r>
              <a:rPr lang="en-US" altLang="zh-CN" sz="2200" dirty="0">
                <a:latin typeface="Times New Roman" panose="02020603050405020304" pitchFamily="18" charset="0"/>
                <a:ea typeface="宋体" panose="02010600030101010101" pitchFamily="2" charset="-122"/>
              </a:rPr>
              <a:t>FAR </a:t>
            </a:r>
            <a:r>
              <a:rPr lang="zh-CN" altLang="en-US" sz="2200" dirty="0">
                <a:latin typeface="Times New Roman" panose="02020603050405020304" pitchFamily="18" charset="0"/>
                <a:ea typeface="宋体" panose="02010600030101010101" pitchFamily="2" charset="-122"/>
              </a:rPr>
              <a:t>不可省略。指令在执行时先将 </a:t>
            </a:r>
            <a:r>
              <a:rPr lang="en-US" altLang="zh-CN" sz="2200" dirty="0">
                <a:latin typeface="Times New Roman" panose="02020603050405020304" pitchFamily="18" charset="0"/>
                <a:ea typeface="宋体" panose="02010600030101010101" pitchFamily="2" charset="-122"/>
              </a:rPr>
              <a:t>CALL </a:t>
            </a:r>
            <a:r>
              <a:rPr lang="zh-CN" altLang="en-US" sz="2200" dirty="0">
                <a:latin typeface="Times New Roman" panose="02020603050405020304" pitchFamily="18" charset="0"/>
                <a:ea typeface="宋体" panose="02010600030101010101" pitchFamily="2" charset="-122"/>
              </a:rPr>
              <a:t>指令的下一条指令的地址（包括段地址 </a:t>
            </a:r>
            <a:r>
              <a:rPr lang="en-US" altLang="zh-CN" sz="2200" dirty="0">
                <a:latin typeface="Times New Roman" panose="02020603050405020304" pitchFamily="18" charset="0"/>
                <a:ea typeface="宋体" panose="02010600030101010101" pitchFamily="2" charset="-122"/>
              </a:rPr>
              <a:t>CS </a:t>
            </a:r>
            <a:r>
              <a:rPr lang="zh-CN" altLang="en-US" sz="2200" dirty="0">
                <a:latin typeface="Times New Roman" panose="02020603050405020304" pitchFamily="18" charset="0"/>
                <a:ea typeface="宋体" panose="02010600030101010101" pitchFamily="2" charset="-122"/>
              </a:rPr>
              <a:t>和偏移地址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）压入堆栈，然后用指令中给出的远过程符号地址所在的段地址取代 </a:t>
            </a:r>
            <a:r>
              <a:rPr lang="en-US" altLang="zh-CN" sz="2200" dirty="0">
                <a:latin typeface="Times New Roman" panose="02020603050405020304" pitchFamily="18" charset="0"/>
                <a:ea typeface="宋体" panose="02010600030101010101" pitchFamily="2" charset="-122"/>
              </a:rPr>
              <a:t>CS </a:t>
            </a:r>
            <a:r>
              <a:rPr lang="zh-CN" altLang="en-US" sz="2200" dirty="0">
                <a:latin typeface="Times New Roman" panose="02020603050405020304" pitchFamily="18" charset="0"/>
                <a:ea typeface="宋体" panose="02010600030101010101" pitchFamily="2" charset="-122"/>
              </a:rPr>
              <a:t>的内容，偏移地址取代</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的内容。</a:t>
            </a:r>
          </a:p>
        </p:txBody>
      </p:sp>
      <p:sp>
        <p:nvSpPr>
          <p:cNvPr id="103427" name="矩形 3"/>
          <p:cNvSpPr/>
          <p:nvPr/>
        </p:nvSpPr>
        <p:spPr>
          <a:xfrm>
            <a:off x="404813" y="4124325"/>
            <a:ext cx="8334375" cy="2492375"/>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）段间间接调用</a:t>
            </a:r>
            <a:br>
              <a:rPr lang="zh-CN" altLang="en-US"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CALL PROC</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这里 </a:t>
            </a:r>
            <a:r>
              <a:rPr lang="en-US" altLang="zh-CN" sz="2200" dirty="0">
                <a:latin typeface="Times New Roman" panose="02020603050405020304" pitchFamily="18" charset="0"/>
                <a:ea typeface="宋体" panose="02010600030101010101" pitchFamily="2" charset="-122"/>
              </a:rPr>
              <a:t>PROC </a:t>
            </a:r>
            <a:r>
              <a:rPr lang="zh-CN" altLang="en-US" sz="2200" dirty="0">
                <a:latin typeface="Times New Roman" panose="02020603050405020304" pitchFamily="18" charset="0"/>
                <a:ea typeface="宋体" panose="02010600030101010101" pitchFamily="2" charset="-122"/>
              </a:rPr>
              <a:t>为 </a:t>
            </a:r>
            <a:r>
              <a:rPr lang="en-US" altLang="zh-CN" sz="2200" dirty="0">
                <a:latin typeface="Times New Roman" panose="02020603050405020304" pitchFamily="18" charset="0"/>
                <a:ea typeface="宋体" panose="02010600030101010101" pitchFamily="2" charset="-122"/>
              </a:rPr>
              <a:t>32 </a:t>
            </a:r>
            <a:r>
              <a:rPr lang="zh-CN" altLang="en-US" sz="2200" dirty="0">
                <a:latin typeface="Times New Roman" panose="02020603050405020304" pitchFamily="18" charset="0"/>
                <a:ea typeface="宋体" panose="02010600030101010101" pitchFamily="2" charset="-122"/>
              </a:rPr>
              <a:t>位的存储单元地址。指令在执行时先将 </a:t>
            </a:r>
            <a:r>
              <a:rPr lang="en-US" altLang="zh-CN" sz="2200" dirty="0">
                <a:latin typeface="Times New Roman" panose="02020603050405020304" pitchFamily="18" charset="0"/>
                <a:ea typeface="宋体" panose="02010600030101010101" pitchFamily="2" charset="-122"/>
              </a:rPr>
              <a:t>CALL </a:t>
            </a:r>
            <a:r>
              <a:rPr lang="zh-CN" altLang="en-US" sz="2200" dirty="0">
                <a:latin typeface="Times New Roman" panose="02020603050405020304" pitchFamily="18" charset="0"/>
                <a:ea typeface="宋体" panose="02010600030101010101" pitchFamily="2" charset="-122"/>
              </a:rPr>
              <a:t>指令的下一条指令的地址（包括段地址 </a:t>
            </a:r>
            <a:r>
              <a:rPr lang="en-US" altLang="zh-CN" sz="2200" dirty="0">
                <a:latin typeface="Times New Roman" panose="02020603050405020304" pitchFamily="18" charset="0"/>
                <a:ea typeface="宋体" panose="02010600030101010101" pitchFamily="2" charset="-122"/>
              </a:rPr>
              <a:t>CS </a:t>
            </a:r>
            <a:r>
              <a:rPr lang="zh-CN" altLang="en-US" sz="2200" dirty="0">
                <a:latin typeface="Times New Roman" panose="02020603050405020304" pitchFamily="18" charset="0"/>
                <a:ea typeface="宋体" panose="02010600030101010101" pitchFamily="2" charset="-122"/>
              </a:rPr>
              <a:t>和偏移地址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）压入堆栈，然后把指令中给出的 </a:t>
            </a:r>
            <a:r>
              <a:rPr lang="en-US" altLang="zh-CN" sz="2200" dirty="0">
                <a:latin typeface="Times New Roman" panose="02020603050405020304" pitchFamily="18" charset="0"/>
                <a:ea typeface="宋体" panose="02010600030101010101" pitchFamily="2" charset="-122"/>
              </a:rPr>
              <a:t>4 </a:t>
            </a:r>
            <a:r>
              <a:rPr lang="zh-CN" altLang="en-US" sz="2200" dirty="0">
                <a:latin typeface="Times New Roman" panose="02020603050405020304" pitchFamily="18" charset="0"/>
                <a:ea typeface="宋体" panose="02010600030101010101" pitchFamily="2" charset="-122"/>
              </a:rPr>
              <a:t>个存储单元中的内容送至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和 </a:t>
            </a:r>
            <a:r>
              <a:rPr lang="en-US" altLang="zh-CN" sz="2200" dirty="0">
                <a:latin typeface="Times New Roman" panose="02020603050405020304" pitchFamily="18" charset="0"/>
                <a:ea typeface="宋体" panose="02010600030101010101" pitchFamily="2" charset="-122"/>
              </a:rPr>
              <a:t>CS</a:t>
            </a:r>
            <a:r>
              <a:rPr lang="zh-CN" altLang="en-US" sz="2200" dirty="0">
                <a:latin typeface="Times New Roman" panose="02020603050405020304" pitchFamily="18" charset="0"/>
                <a:ea typeface="宋体" panose="02010600030101010101" pitchFamily="2" charset="-122"/>
              </a:rPr>
              <a:t>，低地址的两个单元的内容为偏移地址，送入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；高地址的两个单元的内容为段地址，送入 </a:t>
            </a:r>
            <a:r>
              <a:rPr lang="en-US" altLang="zh-CN" sz="2200" dirty="0">
                <a:latin typeface="Times New Roman" panose="02020603050405020304" pitchFamily="18" charset="0"/>
                <a:ea typeface="宋体" panose="02010600030101010101" pitchFamily="2" charset="-122"/>
              </a:rPr>
              <a:t>CS</a:t>
            </a:r>
            <a:r>
              <a:rPr lang="zh-CN" altLang="en-US" sz="2200" dirty="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4450" name="矩形 2"/>
          <p:cNvSpPr/>
          <p:nvPr/>
        </p:nvSpPr>
        <p:spPr>
          <a:xfrm>
            <a:off x="141288" y="1484313"/>
            <a:ext cx="8739187" cy="5097462"/>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）过程返回指令 </a:t>
            </a:r>
            <a:r>
              <a:rPr lang="en-US" altLang="zh-CN" dirty="0">
                <a:solidFill>
                  <a:srgbClr val="FFC000"/>
                </a:solidFill>
                <a:latin typeface="Times New Roman" panose="02020603050405020304" pitchFamily="18" charset="0"/>
                <a:ea typeface="宋体" panose="02010600030101010101" pitchFamily="2" charset="-122"/>
              </a:rPr>
              <a:t>RET</a:t>
            </a:r>
          </a:p>
          <a:p>
            <a:pPr>
              <a:lnSpc>
                <a:spcPct val="100000"/>
              </a:lnSpc>
            </a:pP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RET</a:t>
            </a:r>
          </a:p>
          <a:p>
            <a:pPr>
              <a:lnSpc>
                <a:spcPct val="100000"/>
              </a:lnSpc>
            </a:pPr>
            <a:r>
              <a:rPr lang="zh-CN" altLang="en-US" sz="2200" dirty="0">
                <a:latin typeface="Times New Roman" panose="02020603050405020304" pitchFamily="18" charset="0"/>
                <a:ea typeface="宋体" panose="02010600030101010101" pitchFamily="2" charset="-122"/>
              </a:rPr>
              <a:t>过程返回指令与过程调用指令的操作正好相反。从堆栈中弹出由 </a:t>
            </a:r>
            <a:r>
              <a:rPr lang="en-US" altLang="zh-CN" sz="2200" dirty="0">
                <a:latin typeface="Times New Roman" panose="02020603050405020304" pitchFamily="18" charset="0"/>
                <a:ea typeface="宋体" panose="02010600030101010101" pitchFamily="2" charset="-122"/>
              </a:rPr>
              <a:t>CALL </a:t>
            </a:r>
            <a:r>
              <a:rPr lang="zh-CN" altLang="en-US" sz="2200" dirty="0">
                <a:latin typeface="Times New Roman" panose="02020603050405020304" pitchFamily="18" charset="0"/>
                <a:ea typeface="宋体" panose="02010600030101010101" pitchFamily="2" charset="-122"/>
              </a:rPr>
              <a:t>指令压入堆栈的断点地址值，送回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或同时送回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和 </a:t>
            </a:r>
            <a:r>
              <a:rPr lang="en-US" altLang="zh-CN" sz="2200" dirty="0">
                <a:latin typeface="Times New Roman" panose="02020603050405020304" pitchFamily="18" charset="0"/>
                <a:ea typeface="宋体" panose="02010600030101010101" pitchFamily="2" charset="-122"/>
              </a:rPr>
              <a:t>CS </a:t>
            </a:r>
            <a:r>
              <a:rPr lang="zh-CN" altLang="en-US" sz="2200" dirty="0">
                <a:latin typeface="Times New Roman" panose="02020603050405020304" pitchFamily="18" charset="0"/>
                <a:ea typeface="宋体" panose="02010600030101010101" pitchFamily="2" charset="-122"/>
              </a:rPr>
              <a:t>寄存器中，迫使 </a:t>
            </a:r>
            <a:r>
              <a:rPr lang="en-US" altLang="zh-CN" sz="2200" dirty="0">
                <a:latin typeface="Times New Roman" panose="02020603050405020304" pitchFamily="18" charset="0"/>
                <a:ea typeface="宋体" panose="02010600030101010101" pitchFamily="2" charset="-122"/>
              </a:rPr>
              <a:t>CPU </a:t>
            </a:r>
            <a:r>
              <a:rPr lang="zh-CN" altLang="en-US" sz="2200" dirty="0">
                <a:latin typeface="Times New Roman" panose="02020603050405020304" pitchFamily="18" charset="0"/>
                <a:ea typeface="宋体" panose="02010600030101010101" pitchFamily="2" charset="-122"/>
              </a:rPr>
              <a:t>返回到主程序的断点处继续执行。对于段内调用的子过程，用 </a:t>
            </a:r>
            <a:r>
              <a:rPr lang="en-US" altLang="zh-CN" sz="2200" dirty="0">
                <a:latin typeface="Times New Roman" panose="02020603050405020304" pitchFamily="18" charset="0"/>
                <a:ea typeface="宋体" panose="02010600030101010101" pitchFamily="2" charset="-122"/>
              </a:rPr>
              <a:t>RET </a:t>
            </a:r>
            <a:r>
              <a:rPr lang="zh-CN" altLang="en-US" sz="2200" dirty="0">
                <a:latin typeface="Times New Roman" panose="02020603050405020304" pitchFamily="18" charset="0"/>
                <a:ea typeface="宋体" panose="02010600030101010101" pitchFamily="2" charset="-122"/>
              </a:rPr>
              <a:t>指令返回主程序时，只需从堆栈顶部弹出一个字的内容给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作为返回的偏移地址，便可使 </a:t>
            </a:r>
            <a:r>
              <a:rPr lang="en-US" altLang="zh-CN" sz="2200" dirty="0">
                <a:latin typeface="Times New Roman" panose="02020603050405020304" pitchFamily="18" charset="0"/>
                <a:ea typeface="宋体" panose="02010600030101010101" pitchFamily="2" charset="-122"/>
              </a:rPr>
              <a:t>CPU </a:t>
            </a:r>
            <a:r>
              <a:rPr lang="zh-CN" altLang="en-US" sz="2200" dirty="0">
                <a:latin typeface="Times New Roman" panose="02020603050405020304" pitchFamily="18" charset="0"/>
                <a:ea typeface="宋体" panose="02010600030101010101" pitchFamily="2" charset="-122"/>
              </a:rPr>
              <a:t>返回到主程序的断点继续执行；对于段间调用的主程序，用 </a:t>
            </a:r>
            <a:r>
              <a:rPr lang="en-US" altLang="zh-CN" sz="2200" dirty="0">
                <a:latin typeface="Times New Roman" panose="02020603050405020304" pitchFamily="18" charset="0"/>
                <a:ea typeface="宋体" panose="02010600030101010101" pitchFamily="2" charset="-122"/>
              </a:rPr>
              <a:t>RET </a:t>
            </a:r>
            <a:r>
              <a:rPr lang="zh-CN" altLang="en-US" sz="2200" dirty="0">
                <a:latin typeface="Times New Roman" panose="02020603050405020304" pitchFamily="18" charset="0"/>
                <a:ea typeface="宋体" panose="02010600030101010101" pitchFamily="2" charset="-122"/>
              </a:rPr>
              <a:t>指令返回主程序时，则需从堆栈顶部弹出两个字的内容作为返回地址：先弹出一个字的内容给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作为返回的偏移地址，再弹出一个字的内容给 </a:t>
            </a:r>
            <a:r>
              <a:rPr lang="en-US" altLang="zh-CN" sz="2200" dirty="0">
                <a:latin typeface="Times New Roman" panose="02020603050405020304" pitchFamily="18" charset="0"/>
                <a:ea typeface="宋体" panose="02010600030101010101" pitchFamily="2" charset="-122"/>
              </a:rPr>
              <a:t>CS </a:t>
            </a:r>
            <a:r>
              <a:rPr lang="zh-CN" altLang="en-US" sz="2200" dirty="0">
                <a:latin typeface="Times New Roman" panose="02020603050405020304" pitchFamily="18" charset="0"/>
                <a:ea typeface="宋体" panose="02010600030101010101" pitchFamily="2" charset="-122"/>
              </a:rPr>
              <a:t>作为返回的段地址，然后使 </a:t>
            </a:r>
            <a:r>
              <a:rPr lang="en-US" altLang="zh-CN" sz="2200" dirty="0">
                <a:latin typeface="Times New Roman" panose="02020603050405020304" pitchFamily="18" charset="0"/>
                <a:ea typeface="宋体" panose="02010600030101010101" pitchFamily="2" charset="-122"/>
              </a:rPr>
              <a:t>CPU </a:t>
            </a:r>
            <a:r>
              <a:rPr lang="zh-CN" altLang="en-US" sz="2200" dirty="0">
                <a:latin typeface="Times New Roman" panose="02020603050405020304" pitchFamily="18" charset="0"/>
                <a:ea typeface="宋体" panose="02010600030101010101" pitchFamily="2" charset="-122"/>
              </a:rPr>
              <a:t>返回到主程序的断点继续执行。</a:t>
            </a:r>
          </a:p>
          <a:p>
            <a:pPr>
              <a:lnSpc>
                <a:spcPct val="100000"/>
              </a:lnSpc>
            </a:pPr>
            <a:r>
              <a:rPr lang="zh-CN" altLang="en-US" sz="2200" dirty="0">
                <a:latin typeface="Times New Roman" panose="02020603050405020304" pitchFamily="18" charset="0"/>
                <a:ea typeface="宋体" panose="02010600030101010101" pitchFamily="2" charset="-122"/>
              </a:rPr>
              <a:t>返回指令对标志位无影响。</a:t>
            </a:r>
          </a:p>
          <a:p>
            <a:pPr>
              <a:lnSpc>
                <a:spcPct val="100000"/>
              </a:lnSpc>
            </a:pPr>
            <a:r>
              <a:rPr lang="zh-CN" altLang="en-US" sz="2200" dirty="0">
                <a:latin typeface="Times New Roman" panose="02020603050405020304" pitchFamily="18" charset="0"/>
                <a:ea typeface="宋体" panose="02010600030101010101" pitchFamily="2" charset="-122"/>
              </a:rPr>
              <a:t>调用指令 </a:t>
            </a:r>
            <a:r>
              <a:rPr lang="en-US" altLang="zh-CN" sz="2200" dirty="0">
                <a:latin typeface="Times New Roman" panose="02020603050405020304" pitchFamily="18" charset="0"/>
                <a:ea typeface="宋体" panose="02010600030101010101" pitchFamily="2" charset="-122"/>
              </a:rPr>
              <a:t>CALL </a:t>
            </a:r>
            <a:r>
              <a:rPr lang="zh-CN" altLang="en-US" sz="2200" dirty="0">
                <a:latin typeface="Times New Roman" panose="02020603050405020304" pitchFamily="18" charset="0"/>
                <a:ea typeface="宋体" panose="02010600030101010101" pitchFamily="2" charset="-122"/>
              </a:rPr>
              <a:t>与返回指令 </a:t>
            </a:r>
            <a:r>
              <a:rPr lang="en-US" altLang="zh-CN" sz="2200" dirty="0">
                <a:latin typeface="Times New Roman" panose="02020603050405020304" pitchFamily="18" charset="0"/>
                <a:ea typeface="宋体" panose="02010600030101010101" pitchFamily="2" charset="-122"/>
              </a:rPr>
              <a:t>RET </a:t>
            </a:r>
            <a:r>
              <a:rPr lang="zh-CN" altLang="en-US" sz="2200" dirty="0">
                <a:latin typeface="Times New Roman" panose="02020603050405020304" pitchFamily="18" charset="0"/>
                <a:ea typeface="宋体" panose="02010600030101010101" pitchFamily="2" charset="-122"/>
              </a:rPr>
              <a:t>成对使用。返回指令一般作为子程序的最后一条语句。</a:t>
            </a:r>
          </a:p>
        </p:txBody>
      </p:sp>
    </p:spTree>
  </p:cSld>
  <p:clrMapOvr>
    <a:masterClrMapping/>
  </p:clrMapOvr>
  <p:transition spd="med">
    <p:random/>
  </p:transition>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5474" name="矩形 2"/>
          <p:cNvSpPr/>
          <p:nvPr/>
        </p:nvSpPr>
        <p:spPr>
          <a:xfrm>
            <a:off x="0" y="1354138"/>
            <a:ext cx="4572000" cy="757237"/>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．中断指令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105475" name="矩形 3"/>
          <p:cNvSpPr/>
          <p:nvPr/>
        </p:nvSpPr>
        <p:spPr>
          <a:xfrm>
            <a:off x="166688" y="2055813"/>
            <a:ext cx="8828087" cy="4081462"/>
          </a:xfrm>
          <a:prstGeom prst="rect">
            <a:avLst/>
          </a:prstGeom>
          <a:noFill/>
          <a:ln w="9525">
            <a:noFill/>
          </a:ln>
        </p:spPr>
        <p:txBody>
          <a:bodyPr anchor="t" anchorCtr="0">
            <a:spAutoFit/>
          </a:bodyPr>
          <a:lstStyle/>
          <a:p>
            <a:r>
              <a:rPr lang="zh-CN" altLang="en-US" dirty="0">
                <a:latin typeface="Times New Roman" panose="02020603050405020304" pitchFamily="18" charset="0"/>
                <a:ea typeface="宋体" panose="02010600030101010101" pitchFamily="2" charset="-122"/>
              </a:rPr>
              <a:t>中断是指在程序运行期间因某种随机或异常事件， 要求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暂时中止正在运行的程序转去执行一组专门的中断服务程序来处理这些事件，处理完毕后又返回到原来被中止处继续执行原程序的过程。</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引起中断的事件叫中断源，中断源又可以分为内部中断源和外部中断源。内部中断源引起的中断称为内部中断；外部中断源引起的中断称为外部中断。外部中断主要用来处理外设与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间的通信；内部中断则包括由运算异常及中断指令引起的中断。</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8086/8088CPU </a:t>
            </a:r>
            <a:r>
              <a:rPr lang="zh-CN" altLang="en-US" dirty="0">
                <a:latin typeface="Times New Roman" panose="02020603050405020304" pitchFamily="18" charset="0"/>
                <a:ea typeface="宋体" panose="02010600030101010101" pitchFamily="2" charset="-122"/>
              </a:rPr>
              <a:t>可在程序中安排一条中断指令来引起一个中断过程， 这种中断称为软件中断。 </a:t>
            </a:r>
            <a:r>
              <a:rPr lang="en-US" altLang="zh-CN" dirty="0">
                <a:latin typeface="Times New Roman" panose="02020603050405020304" pitchFamily="18" charset="0"/>
                <a:ea typeface="宋体" panose="02010600030101010101" pitchFamily="2" charset="-122"/>
              </a:rPr>
              <a:t>8086/8088 </a:t>
            </a:r>
            <a:r>
              <a:rPr lang="zh-CN" altLang="en-US" dirty="0">
                <a:latin typeface="Times New Roman" panose="02020603050405020304" pitchFamily="18" charset="0"/>
                <a:ea typeface="宋体" panose="02010600030101010101" pitchFamily="2" charset="-122"/>
              </a:rPr>
              <a:t>指令系统提供了 </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条与软件中断相关的指令。</a:t>
            </a:r>
            <a:br>
              <a:rPr lang="zh-CN" altLang="en-US" dirty="0">
                <a:latin typeface="Times New Roman" panose="02020603050405020304" pitchFamily="18" charset="0"/>
                <a:ea typeface="宋体" panose="02010600030101010101" pitchFamily="2" charset="-122"/>
              </a:rPr>
            </a:b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6498" name="矩形 2"/>
          <p:cNvSpPr/>
          <p:nvPr/>
        </p:nvSpPr>
        <p:spPr>
          <a:xfrm>
            <a:off x="176213" y="1422400"/>
            <a:ext cx="8739187" cy="5435600"/>
          </a:xfrm>
          <a:prstGeom prst="rect">
            <a:avLst/>
          </a:prstGeom>
          <a:noFill/>
          <a:ln w="9525">
            <a:noFill/>
          </a:ln>
        </p:spPr>
        <p:txBody>
          <a:bodyPr anchor="t" anchorCtr="0">
            <a:spAutoFit/>
          </a:bodyPr>
          <a:lstStyle/>
          <a:p>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INT </a:t>
            </a:r>
            <a:r>
              <a:rPr lang="zh-CN" altLang="en-US" dirty="0">
                <a:solidFill>
                  <a:srgbClr val="FFC000"/>
                </a:solidFill>
                <a:latin typeface="Times New Roman" panose="02020603050405020304" pitchFamily="18" charset="0"/>
                <a:ea typeface="宋体" panose="02010600030101010101" pitchFamily="2" charset="-122"/>
              </a:rPr>
              <a:t>指令</a:t>
            </a:r>
          </a:p>
          <a:p>
            <a:pPr>
              <a:lnSpc>
                <a:spcPct val="100000"/>
              </a:lnSpc>
            </a:pP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INT n</a:t>
            </a:r>
          </a:p>
          <a:p>
            <a:pPr>
              <a:lnSpc>
                <a:spcPct val="100000"/>
              </a:lnSpc>
            </a:pPr>
            <a:r>
              <a:rPr lang="zh-CN" altLang="en-US" sz="2200" dirty="0">
                <a:latin typeface="Times New Roman" panose="02020603050405020304" pitchFamily="18" charset="0"/>
                <a:ea typeface="宋体" panose="02010600030101010101" pitchFamily="2" charset="-122"/>
              </a:rPr>
              <a:t>指令功能：执行中断类型号为 </a:t>
            </a:r>
            <a:r>
              <a:rPr lang="en-US" altLang="zh-CN" sz="2200" dirty="0">
                <a:latin typeface="Times New Roman" panose="02020603050405020304" pitchFamily="18" charset="0"/>
                <a:ea typeface="宋体" panose="02010600030101010101" pitchFamily="2" charset="-122"/>
              </a:rPr>
              <a:t>n </a:t>
            </a:r>
            <a:r>
              <a:rPr lang="zh-CN" altLang="en-US" sz="2200" dirty="0">
                <a:latin typeface="Times New Roman" panose="02020603050405020304" pitchFamily="18" charset="0"/>
                <a:ea typeface="宋体" panose="02010600030101010101" pitchFamily="2" charset="-122"/>
              </a:rPr>
              <a:t>的中断服务程序。</a:t>
            </a:r>
          </a:p>
          <a:p>
            <a:pPr>
              <a:lnSpc>
                <a:spcPct val="100000"/>
              </a:lnSpc>
            </a:pPr>
            <a:r>
              <a:rPr lang="zh-CN" altLang="en-US" sz="2200" dirty="0">
                <a:latin typeface="Times New Roman" panose="02020603050405020304" pitchFamily="18" charset="0"/>
                <a:ea typeface="宋体" panose="02010600030101010101" pitchFamily="2" charset="-122"/>
              </a:rPr>
              <a:t>这里的 </a:t>
            </a:r>
            <a:r>
              <a:rPr lang="en-US" altLang="zh-CN" sz="2200" dirty="0">
                <a:latin typeface="Times New Roman" panose="02020603050405020304" pitchFamily="18" charset="0"/>
                <a:ea typeface="宋体" panose="02010600030101010101" pitchFamily="2" charset="-122"/>
              </a:rPr>
              <a:t>n </a:t>
            </a:r>
            <a:r>
              <a:rPr lang="zh-CN" altLang="en-US" sz="2200" dirty="0">
                <a:latin typeface="Times New Roman" panose="02020603050405020304" pitchFamily="18" charset="0"/>
                <a:ea typeface="宋体" panose="02010600030101010101" pitchFamily="2" charset="-122"/>
              </a:rPr>
              <a:t>被称为中断类型号（中断向量码）。指令执行时， </a:t>
            </a:r>
            <a:r>
              <a:rPr lang="en-US" altLang="zh-CN" sz="2200" dirty="0">
                <a:latin typeface="Times New Roman" panose="02020603050405020304" pitchFamily="18" charset="0"/>
                <a:ea typeface="宋体" panose="02010600030101010101" pitchFamily="2" charset="-122"/>
              </a:rPr>
              <a:t>CPU </a:t>
            </a:r>
            <a:r>
              <a:rPr lang="zh-CN" altLang="en-US" sz="2200" dirty="0">
                <a:latin typeface="Times New Roman" panose="02020603050405020304" pitchFamily="18" charset="0"/>
                <a:ea typeface="宋体" panose="02010600030101010101" pitchFamily="2" charset="-122"/>
              </a:rPr>
              <a:t>根据中断类型号 </a:t>
            </a:r>
            <a:r>
              <a:rPr lang="en-US" altLang="zh-CN" sz="2200" dirty="0">
                <a:latin typeface="Times New Roman" panose="02020603050405020304" pitchFamily="18" charset="0"/>
                <a:ea typeface="宋体" panose="02010600030101010101" pitchFamily="2" charset="-122"/>
              </a:rPr>
              <a:t>n </a:t>
            </a:r>
            <a:r>
              <a:rPr lang="zh-CN" altLang="en-US" sz="2200" dirty="0">
                <a:latin typeface="Times New Roman" panose="02020603050405020304" pitchFamily="18" charset="0"/>
                <a:ea typeface="宋体" panose="02010600030101010101" pitchFamily="2" charset="-122"/>
              </a:rPr>
              <a:t>的值计算出中断向量的地址，然后从该地址中取出中断服务程序的入口地址，并转到该入口地址处去执行中断服务子程序。</a:t>
            </a:r>
          </a:p>
          <a:p>
            <a:pPr>
              <a:lnSpc>
                <a:spcPct val="100000"/>
              </a:lnSpc>
            </a:pP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INT </a:t>
            </a:r>
            <a:r>
              <a:rPr lang="zh-CN" altLang="en-US" sz="2200" dirty="0">
                <a:latin typeface="Times New Roman" panose="02020603050405020304" pitchFamily="18" charset="0"/>
                <a:ea typeface="宋体" panose="02010600030101010101" pitchFamily="2" charset="-122"/>
              </a:rPr>
              <a:t>中断指令的具体过程如下：</a:t>
            </a:r>
          </a:p>
          <a:p>
            <a:pPr>
              <a:lnSpc>
                <a:spcPct val="100000"/>
              </a:lnSpc>
            </a:pP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）将标志寄存器压入堆栈。 </a:t>
            </a:r>
          </a:p>
          <a:p>
            <a:pPr>
              <a:lnSpc>
                <a:spcPct val="100000"/>
              </a:lnSpc>
            </a:pPr>
            <a:r>
              <a:rPr lang="en-US" altLang="zh-CN" sz="2200" dirty="0">
                <a:latin typeface="Times New Roman" panose="02020603050405020304" pitchFamily="18" charset="0"/>
                <a:ea typeface="宋体" panose="02010600030101010101" pitchFamily="2" charset="-122"/>
              </a:rPr>
              <a:t>2</a:t>
            </a:r>
            <a:r>
              <a:rPr lang="zh-CN" altLang="en-US" sz="2200" dirty="0">
                <a:latin typeface="Times New Roman" panose="02020603050405020304" pitchFamily="18" charset="0"/>
                <a:ea typeface="宋体" panose="02010600030101010101" pitchFamily="2" charset="-122"/>
              </a:rPr>
              <a:t>）清除 </a:t>
            </a:r>
            <a:r>
              <a:rPr lang="en-US" altLang="zh-CN" sz="2200" dirty="0">
                <a:latin typeface="Times New Roman" panose="02020603050405020304" pitchFamily="18" charset="0"/>
                <a:ea typeface="宋体" panose="02010600030101010101" pitchFamily="2" charset="-122"/>
              </a:rPr>
              <a:t>IF </a:t>
            </a:r>
            <a:r>
              <a:rPr lang="zh-CN" altLang="en-US" sz="2200" dirty="0">
                <a:latin typeface="Times New Roman" panose="02020603050405020304" pitchFamily="18" charset="0"/>
                <a:ea typeface="宋体" panose="02010600030101010101" pitchFamily="2" charset="-122"/>
              </a:rPr>
              <a:t>和 </a:t>
            </a:r>
            <a:r>
              <a:rPr lang="en-US" altLang="zh-CN" sz="2200" dirty="0">
                <a:latin typeface="Times New Roman" panose="02020603050405020304" pitchFamily="18" charset="0"/>
                <a:ea typeface="宋体" panose="02010600030101010101" pitchFamily="2" charset="-122"/>
              </a:rPr>
              <a:t>TF</a:t>
            </a:r>
            <a:r>
              <a:rPr lang="zh-CN" altLang="en-US" sz="2200" dirty="0">
                <a:latin typeface="Times New Roman" panose="02020603050405020304" pitchFamily="18" charset="0"/>
                <a:ea typeface="宋体" panose="02010600030101010101" pitchFamily="2" charset="-122"/>
              </a:rPr>
              <a:t>。</a:t>
            </a:r>
          </a:p>
          <a:p>
            <a:pPr>
              <a:lnSpc>
                <a:spcPct val="100000"/>
              </a:lnSpc>
            </a:pPr>
            <a:r>
              <a:rPr lang="en-US" altLang="zh-CN" sz="2200" dirty="0">
                <a:latin typeface="Times New Roman" panose="02020603050405020304" pitchFamily="18" charset="0"/>
                <a:ea typeface="宋体" panose="02010600030101010101" pitchFamily="2" charset="-122"/>
              </a:rPr>
              <a:t>3</a:t>
            </a:r>
            <a:r>
              <a:rPr lang="zh-CN" altLang="en-US" sz="2200" dirty="0">
                <a:latin typeface="Times New Roman" panose="02020603050405020304" pitchFamily="18" charset="0"/>
                <a:ea typeface="宋体" panose="02010600030101010101" pitchFamily="2" charset="-122"/>
              </a:rPr>
              <a:t>）把断点地址（即 </a:t>
            </a:r>
            <a:r>
              <a:rPr lang="en-US" altLang="zh-CN" sz="2200" dirty="0">
                <a:latin typeface="Times New Roman" panose="02020603050405020304" pitchFamily="18" charset="0"/>
                <a:ea typeface="宋体" panose="02010600030101010101" pitchFamily="2" charset="-122"/>
              </a:rPr>
              <a:t>INT </a:t>
            </a:r>
            <a:r>
              <a:rPr lang="zh-CN" altLang="en-US" sz="2200" dirty="0">
                <a:latin typeface="Times New Roman" panose="02020603050405020304" pitchFamily="18" charset="0"/>
                <a:ea typeface="宋体" panose="02010600030101010101" pitchFamily="2" charset="-122"/>
              </a:rPr>
              <a:t>指令的下一条指令的地址）压入堆栈。</a:t>
            </a:r>
          </a:p>
          <a:p>
            <a:pPr>
              <a:lnSpc>
                <a:spcPct val="100000"/>
              </a:lnSpc>
            </a:pPr>
            <a:r>
              <a:rPr lang="en-US" altLang="zh-CN" sz="2200" dirty="0">
                <a:latin typeface="Times New Roman" panose="02020603050405020304" pitchFamily="18" charset="0"/>
                <a:ea typeface="宋体" panose="02010600030101010101" pitchFamily="2" charset="-122"/>
              </a:rPr>
              <a:t>4</a:t>
            </a:r>
            <a:r>
              <a:rPr lang="zh-CN" altLang="en-US" sz="2200" dirty="0">
                <a:latin typeface="Times New Roman" panose="02020603050405020304" pitchFamily="18" charset="0"/>
                <a:ea typeface="宋体" panose="02010600030101010101" pitchFamily="2" charset="-122"/>
              </a:rPr>
              <a:t>）将中断类型号 </a:t>
            </a:r>
            <a:r>
              <a:rPr lang="en-US" altLang="zh-CN" sz="2200" dirty="0">
                <a:latin typeface="Times New Roman" panose="02020603050405020304" pitchFamily="18" charset="0"/>
                <a:ea typeface="宋体" panose="02010600030101010101" pitchFamily="2" charset="-122"/>
              </a:rPr>
              <a:t>n </a:t>
            </a:r>
            <a:r>
              <a:rPr lang="zh-CN" altLang="en-US" sz="2200" dirty="0">
                <a:latin typeface="Times New Roman" panose="02020603050405020304" pitchFamily="18" charset="0"/>
                <a:ea typeface="宋体" panose="02010600030101010101" pitchFamily="2" charset="-122"/>
              </a:rPr>
              <a:t>乘以 </a:t>
            </a:r>
            <a:r>
              <a:rPr lang="en-US" altLang="zh-CN" sz="2200" dirty="0">
                <a:latin typeface="Times New Roman" panose="02020603050405020304" pitchFamily="18" charset="0"/>
                <a:ea typeface="宋体" panose="02010600030101010101" pitchFamily="2" charset="-122"/>
              </a:rPr>
              <a:t>4 </a:t>
            </a:r>
            <a:r>
              <a:rPr lang="zh-CN" altLang="en-US" sz="2200" dirty="0">
                <a:latin typeface="Times New Roman" panose="02020603050405020304" pitchFamily="18" charset="0"/>
                <a:ea typeface="宋体" panose="02010600030101010101" pitchFamily="2" charset="-122"/>
              </a:rPr>
              <a:t>得到中断向量地址，中断向量地址的第二个字内容送给 </a:t>
            </a:r>
            <a:r>
              <a:rPr lang="en-US" altLang="zh-CN" sz="2200" dirty="0">
                <a:latin typeface="Times New Roman" panose="02020603050405020304" pitchFamily="18" charset="0"/>
                <a:ea typeface="宋体" panose="02010600030101010101" pitchFamily="2" charset="-122"/>
              </a:rPr>
              <a:t>CS</a:t>
            </a:r>
            <a:r>
              <a:rPr lang="zh-CN" altLang="en-US" sz="2200" dirty="0">
                <a:latin typeface="Times New Roman" panose="02020603050405020304" pitchFamily="18" charset="0"/>
                <a:ea typeface="宋体" panose="02010600030101010101" pitchFamily="2" charset="-122"/>
              </a:rPr>
              <a:t>，将中断向量的第一个字内容送入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，程序转移到 </a:t>
            </a:r>
            <a:r>
              <a:rPr lang="en-US" altLang="zh-CN" sz="2200" dirty="0">
                <a:latin typeface="Times New Roman" panose="02020603050405020304" pitchFamily="18" charset="0"/>
                <a:ea typeface="宋体" panose="02010600030101010101" pitchFamily="2" charset="-122"/>
              </a:rPr>
              <a:t>CS</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IP </a:t>
            </a:r>
            <a:r>
              <a:rPr lang="zh-CN" altLang="en-US" sz="2200" dirty="0">
                <a:latin typeface="Times New Roman" panose="02020603050405020304" pitchFamily="18" charset="0"/>
                <a:ea typeface="宋体" panose="02010600030101010101" pitchFamily="2" charset="-122"/>
              </a:rPr>
              <a:t>处执行相应的中断服务程序。</a:t>
            </a:r>
          </a:p>
          <a:p>
            <a:pPr>
              <a:lnSpc>
                <a:spcPct val="100000"/>
              </a:lnSpc>
            </a:pPr>
            <a:r>
              <a:rPr lang="en-US" altLang="zh-CN" sz="2200" dirty="0">
                <a:latin typeface="Times New Roman" panose="02020603050405020304" pitchFamily="18" charset="0"/>
                <a:ea typeface="宋体" panose="02010600030101010101" pitchFamily="2" charset="-122"/>
              </a:rPr>
              <a:t>INT n </a:t>
            </a:r>
            <a:r>
              <a:rPr lang="zh-CN" altLang="en-US" sz="2200" dirty="0">
                <a:latin typeface="Times New Roman" panose="02020603050405020304" pitchFamily="18" charset="0"/>
                <a:ea typeface="宋体" panose="02010600030101010101" pitchFamily="2" charset="-122"/>
              </a:rPr>
              <a:t>指令除了复位 </a:t>
            </a:r>
            <a:r>
              <a:rPr lang="en-US" altLang="zh-CN" sz="2200" dirty="0">
                <a:latin typeface="Times New Roman" panose="02020603050405020304" pitchFamily="18" charset="0"/>
                <a:ea typeface="宋体" panose="02010600030101010101" pitchFamily="2" charset="-122"/>
              </a:rPr>
              <a:t>IF </a:t>
            </a:r>
            <a:r>
              <a:rPr lang="zh-CN" altLang="en-US" sz="2200" dirty="0">
                <a:latin typeface="Times New Roman" panose="02020603050405020304" pitchFamily="18" charset="0"/>
                <a:ea typeface="宋体" panose="02010600030101010101" pitchFamily="2" charset="-122"/>
              </a:rPr>
              <a:t>和 </a:t>
            </a:r>
            <a:r>
              <a:rPr lang="en-US" altLang="zh-CN" sz="2200" dirty="0">
                <a:latin typeface="Times New Roman" panose="02020603050405020304" pitchFamily="18" charset="0"/>
                <a:ea typeface="宋体" panose="02010600030101010101" pitchFamily="2" charset="-122"/>
              </a:rPr>
              <a:t>TF </a:t>
            </a:r>
            <a:r>
              <a:rPr lang="zh-CN" altLang="en-US" sz="2200" dirty="0">
                <a:latin typeface="Times New Roman" panose="02020603050405020304" pitchFamily="18" charset="0"/>
                <a:ea typeface="宋体" panose="02010600030101010101" pitchFamily="2" charset="-122"/>
              </a:rPr>
              <a:t>外，对其他标志无影响。</a:t>
            </a:r>
          </a:p>
        </p:txBody>
      </p:sp>
    </p:spTree>
  </p:cSld>
  <p:clrMapOvr>
    <a:masterClrMapping/>
  </p:clrMapOvr>
  <p:transition spd="med">
    <p:random/>
  </p:transition>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程序控制指令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7522" name="矩形 2"/>
          <p:cNvSpPr/>
          <p:nvPr/>
        </p:nvSpPr>
        <p:spPr>
          <a:xfrm>
            <a:off x="263525" y="1389063"/>
            <a:ext cx="8624888" cy="2522537"/>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）溢出中断指令 </a:t>
            </a:r>
            <a:r>
              <a:rPr lang="en-US" altLang="zh-CN" dirty="0">
                <a:solidFill>
                  <a:srgbClr val="FFC000"/>
                </a:solidFill>
                <a:latin typeface="Times New Roman" panose="02020603050405020304" pitchFamily="18" charset="0"/>
                <a:ea typeface="宋体" panose="02010600030101010101" pitchFamily="2" charset="-122"/>
              </a:rPr>
              <a:t>INTO</a:t>
            </a:r>
            <a:br>
              <a:rPr lang="zh-CN" altLang="en-US"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INTO</a:t>
            </a:r>
            <a:br>
              <a:rPr lang="zh-CN" altLang="en-US" sz="2200" dirty="0">
                <a:latin typeface="Times New Roman" panose="02020603050405020304" pitchFamily="18" charset="0"/>
                <a:ea typeface="宋体" panose="02010600030101010101" pitchFamily="2" charset="-122"/>
              </a:rPr>
            </a:br>
            <a:r>
              <a:rPr lang="en-US" altLang="zh-CN" sz="2200" dirty="0">
                <a:latin typeface="Times New Roman" panose="02020603050405020304" pitchFamily="18" charset="0"/>
                <a:ea typeface="宋体" panose="02010600030101010101" pitchFamily="2" charset="-122"/>
              </a:rPr>
              <a:t>INTO </a:t>
            </a:r>
            <a:r>
              <a:rPr lang="zh-CN" altLang="en-US" sz="2200" dirty="0">
                <a:latin typeface="Times New Roman" panose="02020603050405020304" pitchFamily="18" charset="0"/>
                <a:ea typeface="宋体" panose="02010600030101010101" pitchFamily="2" charset="-122"/>
              </a:rPr>
              <a:t>称为溢出中断指令，指令助记符无操作数，执行溢出中断的中断服务程序，该指令相当于指令“ </a:t>
            </a:r>
            <a:r>
              <a:rPr lang="en-US" altLang="zh-CN" sz="2200" dirty="0">
                <a:latin typeface="Times New Roman" panose="02020603050405020304" pitchFamily="18" charset="0"/>
                <a:ea typeface="宋体" panose="02010600030101010101" pitchFamily="2" charset="-122"/>
              </a:rPr>
              <a:t>INT 4</a:t>
            </a:r>
            <a:r>
              <a:rPr lang="zh-CN" altLang="en-US" sz="2200" dirty="0">
                <a:latin typeface="Times New Roman" panose="02020603050405020304" pitchFamily="18" charset="0"/>
                <a:ea typeface="宋体" panose="02010600030101010101" pitchFamily="2" charset="-122"/>
              </a:rPr>
              <a:t>”。</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若 </a:t>
            </a:r>
            <a:r>
              <a:rPr lang="en-US" altLang="zh-CN" sz="2200" dirty="0">
                <a:latin typeface="Times New Roman" panose="02020603050405020304" pitchFamily="18" charset="0"/>
                <a:ea typeface="宋体" panose="02010600030101010101" pitchFamily="2" charset="-122"/>
              </a:rPr>
              <a:t>OF=1</a:t>
            </a:r>
            <a:r>
              <a:rPr lang="zh-CN" altLang="en-US" sz="2200" dirty="0">
                <a:latin typeface="Times New Roman" panose="02020603050405020304" pitchFamily="18" charset="0"/>
                <a:ea typeface="宋体" panose="02010600030101010101" pitchFamily="2" charset="-122"/>
              </a:rPr>
              <a:t>，则启动一个类型为 </a:t>
            </a:r>
            <a:r>
              <a:rPr lang="en-US" altLang="zh-CN" sz="2200" dirty="0">
                <a:latin typeface="Times New Roman" panose="02020603050405020304" pitchFamily="18" charset="0"/>
                <a:ea typeface="宋体" panose="02010600030101010101" pitchFamily="2" charset="-122"/>
              </a:rPr>
              <a:t>4 </a:t>
            </a:r>
            <a:r>
              <a:rPr lang="zh-CN" altLang="en-US" sz="2200" dirty="0">
                <a:latin typeface="Times New Roman" panose="02020603050405020304" pitchFamily="18" charset="0"/>
                <a:ea typeface="宋体" panose="02010600030101010101" pitchFamily="2" charset="-122"/>
              </a:rPr>
              <a:t>的中断过程；否则，不做任何操作。</a:t>
            </a:r>
            <a:br>
              <a:rPr lang="zh-CN" altLang="en-US" sz="2200" dirty="0">
                <a:latin typeface="Times New Roman" panose="02020603050405020304" pitchFamily="18" charset="0"/>
                <a:ea typeface="宋体" panose="02010600030101010101" pitchFamily="2" charset="-122"/>
              </a:rPr>
            </a:br>
            <a:r>
              <a:rPr lang="en-US" altLang="zh-CN" sz="2200" dirty="0">
                <a:latin typeface="Times New Roman" panose="02020603050405020304" pitchFamily="18" charset="0"/>
                <a:ea typeface="宋体" panose="02010600030101010101" pitchFamily="2" charset="-122"/>
              </a:rPr>
              <a:t>INTO </a:t>
            </a:r>
            <a:r>
              <a:rPr lang="zh-CN" altLang="en-US" sz="2200" dirty="0">
                <a:latin typeface="Times New Roman" panose="02020603050405020304" pitchFamily="18" charset="0"/>
                <a:ea typeface="宋体" panose="02010600030101010101" pitchFamily="2" charset="-122"/>
              </a:rPr>
              <a:t>指令通常安排在有符号数加减运算指令之后。</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107523" name="矩形 3"/>
          <p:cNvSpPr/>
          <p:nvPr/>
        </p:nvSpPr>
        <p:spPr>
          <a:xfrm>
            <a:off x="307975" y="3651250"/>
            <a:ext cx="8545513" cy="2832100"/>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）中断返回指令 </a:t>
            </a:r>
            <a:r>
              <a:rPr lang="en-US" altLang="zh-CN" dirty="0">
                <a:solidFill>
                  <a:srgbClr val="FFC000"/>
                </a:solidFill>
                <a:latin typeface="Times New Roman" panose="02020603050405020304" pitchFamily="18" charset="0"/>
                <a:ea typeface="宋体" panose="02010600030101010101" pitchFamily="2" charset="-122"/>
              </a:rPr>
              <a:t>IRET</a:t>
            </a:r>
            <a:br>
              <a:rPr lang="zh-CN" altLang="en-US"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IRET</a:t>
            </a:r>
            <a:br>
              <a:rPr lang="zh-CN" altLang="en-US" sz="2200" dirty="0">
                <a:latin typeface="Times New Roman" panose="02020603050405020304" pitchFamily="18" charset="0"/>
                <a:ea typeface="宋体" panose="02010600030101010101" pitchFamily="2" charset="-122"/>
              </a:rPr>
            </a:br>
            <a:r>
              <a:rPr lang="en-US" altLang="zh-CN" sz="2200" dirty="0">
                <a:latin typeface="Times New Roman" panose="02020603050405020304" pitchFamily="18" charset="0"/>
                <a:ea typeface="宋体" panose="02010600030101010101" pitchFamily="2" charset="-122"/>
              </a:rPr>
              <a:t>IREF </a:t>
            </a:r>
            <a:r>
              <a:rPr lang="zh-CN" altLang="en-US" sz="2200" dirty="0">
                <a:latin typeface="Times New Roman" panose="02020603050405020304" pitchFamily="18" charset="0"/>
                <a:ea typeface="宋体" panose="02010600030101010101" pitchFamily="2" charset="-122"/>
              </a:rPr>
              <a:t>称为中断返回指令，用于从中断服务子程序返回到被中断的程序继续执行。该指令通常是中断服务程序的最后一条指令，执行过程与 </a:t>
            </a:r>
            <a:r>
              <a:rPr lang="en-US" altLang="zh-CN" sz="2200" dirty="0">
                <a:latin typeface="Times New Roman" panose="02020603050405020304" pitchFamily="18" charset="0"/>
                <a:ea typeface="宋体" panose="02010600030101010101" pitchFamily="2" charset="-122"/>
              </a:rPr>
              <a:t>INT </a:t>
            </a:r>
            <a:r>
              <a:rPr lang="zh-CN" altLang="en-US" sz="2200" dirty="0">
                <a:latin typeface="Times New Roman" panose="02020603050405020304" pitchFamily="18" charset="0"/>
                <a:ea typeface="宋体" panose="02010600030101010101" pitchFamily="2" charset="-122"/>
              </a:rPr>
              <a:t>指令相反。 </a:t>
            </a:r>
            <a:r>
              <a:rPr lang="en-US" altLang="zh-CN" sz="2200" dirty="0">
                <a:latin typeface="Times New Roman" panose="02020603050405020304" pitchFamily="18" charset="0"/>
                <a:ea typeface="宋体" panose="02010600030101010101" pitchFamily="2" charset="-122"/>
              </a:rPr>
              <a:t>IRET </a:t>
            </a:r>
            <a:r>
              <a:rPr lang="zh-CN" altLang="en-US" sz="2200" dirty="0">
                <a:latin typeface="Times New Roman" panose="02020603050405020304" pitchFamily="18" charset="0"/>
                <a:ea typeface="宋体" panose="02010600030101010101" pitchFamily="2" charset="-122"/>
              </a:rPr>
              <a:t>指令将压入堆栈的段地址和偏移地址弹出到 </a:t>
            </a:r>
            <a:r>
              <a:rPr lang="en-US" altLang="zh-CN" sz="2200" dirty="0">
                <a:latin typeface="Times New Roman" panose="02020603050405020304" pitchFamily="18" charset="0"/>
                <a:ea typeface="宋体" panose="02010600030101010101" pitchFamily="2" charset="-122"/>
              </a:rPr>
              <a:t>CS </a:t>
            </a:r>
            <a:r>
              <a:rPr lang="zh-CN" altLang="en-US" sz="2200" dirty="0">
                <a:latin typeface="Times New Roman" panose="02020603050405020304" pitchFamily="18" charset="0"/>
                <a:ea typeface="宋体" panose="02010600030101010101" pitchFamily="2" charset="-122"/>
              </a:rPr>
              <a:t>和 </a:t>
            </a:r>
            <a:r>
              <a:rPr lang="en-US" altLang="zh-CN" sz="2200" dirty="0">
                <a:latin typeface="Times New Roman" panose="02020603050405020304" pitchFamily="18" charset="0"/>
                <a:ea typeface="宋体" panose="02010600030101010101" pitchFamily="2" charset="-122"/>
              </a:rPr>
              <a:t>IP</a:t>
            </a:r>
            <a:r>
              <a:rPr lang="zh-CN" altLang="en-US" sz="2200" dirty="0">
                <a:latin typeface="Times New Roman" panose="02020603050405020304" pitchFamily="18" charset="0"/>
                <a:ea typeface="宋体" panose="02010600030101010101" pitchFamily="2" charset="-122"/>
              </a:rPr>
              <a:t>，接着将 </a:t>
            </a:r>
            <a:r>
              <a:rPr lang="en-US" altLang="zh-CN" sz="2200" dirty="0">
                <a:latin typeface="Times New Roman" panose="02020603050405020304" pitchFamily="18" charset="0"/>
                <a:ea typeface="宋体" panose="02010600030101010101" pitchFamily="2" charset="-122"/>
              </a:rPr>
              <a:t>INT </a:t>
            </a:r>
            <a:r>
              <a:rPr lang="zh-CN" altLang="en-US" sz="2200" dirty="0">
                <a:latin typeface="Times New Roman" panose="02020603050405020304" pitchFamily="18" charset="0"/>
                <a:ea typeface="宋体" panose="02010600030101010101" pitchFamily="2" charset="-122"/>
              </a:rPr>
              <a:t>指令执行时压入堆栈的标志寄存器内容弹出到标志寄存器以恢复中断前的标志状态。 </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中断返回指令 </a:t>
            </a:r>
            <a:r>
              <a:rPr lang="en-US" altLang="zh-CN" sz="2200" dirty="0">
                <a:latin typeface="Times New Roman" panose="02020603050405020304" pitchFamily="18" charset="0"/>
                <a:ea typeface="宋体" panose="02010600030101010101" pitchFamily="2" charset="-122"/>
              </a:rPr>
              <a:t>IRET </a:t>
            </a:r>
            <a:r>
              <a:rPr lang="zh-CN" altLang="en-US" sz="2200" dirty="0">
                <a:latin typeface="Times New Roman" panose="02020603050405020304" pitchFamily="18" charset="0"/>
                <a:ea typeface="宋体" panose="02010600030101010101" pitchFamily="2" charset="-122"/>
              </a:rPr>
              <a:t>影响所有的状态标志位。</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处理器控制指令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8546" name="矩形 2"/>
          <p:cNvSpPr/>
          <p:nvPr/>
        </p:nvSpPr>
        <p:spPr>
          <a:xfrm>
            <a:off x="228600" y="1416050"/>
            <a:ext cx="8756650" cy="3606800"/>
          </a:xfrm>
          <a:prstGeom prst="rect">
            <a:avLst/>
          </a:prstGeom>
          <a:noFill/>
          <a:ln w="9525">
            <a:noFill/>
          </a:ln>
        </p:spPr>
        <p:txBody>
          <a:bodyPr anchor="t" anchorCtr="0">
            <a:spAutoFit/>
          </a:bodyPr>
          <a:lstStyle/>
          <a:p>
            <a:pPr>
              <a:lnSpc>
                <a:spcPct val="100000"/>
              </a:lnSpc>
            </a:pPr>
            <a:r>
              <a:rPr lang="en-US" altLang="zh-CN" dirty="0">
                <a:solidFill>
                  <a:srgbClr val="FFC000"/>
                </a:solidFill>
                <a:latin typeface="Times New Roman" panose="02020603050405020304" pitchFamily="18" charset="0"/>
                <a:ea typeface="宋体" panose="02010600030101010101" pitchFamily="2" charset="-122"/>
              </a:rPr>
              <a:t>1</a:t>
            </a:r>
            <a:r>
              <a:rPr lang="zh-CN" altLang="en-US" dirty="0">
                <a:solidFill>
                  <a:srgbClr val="FFC000"/>
                </a:solidFill>
                <a:latin typeface="Times New Roman" panose="02020603050405020304" pitchFamily="18" charset="0"/>
                <a:ea typeface="宋体" panose="02010600030101010101" pitchFamily="2" charset="-122"/>
              </a:rPr>
              <a:t>．标志位操作指令</a:t>
            </a:r>
            <a:br>
              <a:rPr lang="zh-CN" altLang="en-US" dirty="0">
                <a:latin typeface="Times New Roman" panose="02020603050405020304" pitchFamily="18" charset="0"/>
                <a:ea typeface="宋体" panose="02010600030101010101" pitchFamily="2" charset="-122"/>
              </a:rPr>
            </a:br>
            <a:endParaRPr lang="en-US" altLang="zh-CN" dirty="0">
              <a:latin typeface="Times New Roman" panose="02020603050405020304" pitchFamily="18" charset="0"/>
              <a:ea typeface="宋体" panose="02010600030101010101" pitchFamily="2" charset="-122"/>
            </a:endParaRPr>
          </a:p>
          <a:p>
            <a:pPr>
              <a:lnSpc>
                <a:spcPct val="100000"/>
              </a:lnSpc>
            </a:pPr>
            <a:r>
              <a:rPr lang="en-US" altLang="zh-CN" sz="2200" dirty="0">
                <a:latin typeface="Times New Roman" panose="02020603050405020304" pitchFamily="18" charset="0"/>
                <a:ea typeface="宋体" panose="02010600030101010101" pitchFamily="2" charset="-122"/>
              </a:rPr>
              <a:t>8086/8088 </a:t>
            </a:r>
            <a:r>
              <a:rPr lang="zh-CN" altLang="en-US" sz="2200" dirty="0">
                <a:latin typeface="Times New Roman" panose="02020603050405020304" pitchFamily="18" charset="0"/>
                <a:ea typeface="宋体" panose="02010600030101010101" pitchFamily="2" charset="-122"/>
              </a:rPr>
              <a:t>标志位操作指令共 </a:t>
            </a:r>
            <a:r>
              <a:rPr lang="en-US" altLang="zh-CN" sz="2200" dirty="0">
                <a:latin typeface="Times New Roman" panose="02020603050405020304" pitchFamily="18" charset="0"/>
                <a:ea typeface="宋体" panose="02010600030101010101" pitchFamily="2" charset="-122"/>
              </a:rPr>
              <a:t>7 </a:t>
            </a:r>
            <a:r>
              <a:rPr lang="zh-CN" altLang="en-US" sz="2200" dirty="0">
                <a:latin typeface="Times New Roman" panose="02020603050405020304" pitchFamily="18" charset="0"/>
                <a:ea typeface="宋体" panose="02010600030101010101" pitchFamily="2" charset="-122"/>
              </a:rPr>
              <a:t>条，用来设置或改变标志位的状态。</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CLC</a:t>
            </a:r>
            <a:r>
              <a:rPr lang="zh-CN" altLang="en-US" sz="2200" dirty="0">
                <a:latin typeface="Times New Roman" panose="02020603050405020304" pitchFamily="18" charset="0"/>
                <a:ea typeface="宋体" panose="02010600030101010101" pitchFamily="2" charset="-122"/>
              </a:rPr>
              <a:t>：清进位标志位。该指令的操作是将 </a:t>
            </a:r>
            <a:r>
              <a:rPr lang="en-US" altLang="zh-CN" sz="2200" dirty="0">
                <a:latin typeface="Times New Roman" panose="02020603050405020304" pitchFamily="18" charset="0"/>
                <a:ea typeface="宋体" panose="02010600030101010101" pitchFamily="2" charset="-122"/>
              </a:rPr>
              <a:t>CF </a:t>
            </a:r>
            <a:r>
              <a:rPr lang="zh-CN" altLang="en-US" sz="2200" dirty="0">
                <a:latin typeface="Times New Roman" panose="02020603050405020304" pitchFamily="18" charset="0"/>
                <a:ea typeface="宋体" panose="02010600030101010101" pitchFamily="2" charset="-122"/>
              </a:rPr>
              <a:t>清</a:t>
            </a:r>
            <a:r>
              <a:rPr lang="en-US" altLang="zh-CN" sz="2200" dirty="0">
                <a:latin typeface="Times New Roman" panose="02020603050405020304" pitchFamily="18" charset="0"/>
                <a:ea typeface="宋体" panose="02010600030101010101" pitchFamily="2" charset="-122"/>
              </a:rPr>
              <a:t>0</a:t>
            </a:r>
            <a:r>
              <a:rPr lang="zh-CN" altLang="en-US" sz="2200" dirty="0">
                <a:latin typeface="Times New Roman" panose="02020603050405020304" pitchFamily="18" charset="0"/>
                <a:ea typeface="宋体" panose="02010600030101010101" pitchFamily="2" charset="-122"/>
              </a:rPr>
              <a:t>。</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2</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STC</a:t>
            </a:r>
            <a:r>
              <a:rPr lang="zh-CN" altLang="en-US" sz="2200" dirty="0">
                <a:latin typeface="Times New Roman" panose="02020603050405020304" pitchFamily="18" charset="0"/>
                <a:ea typeface="宋体" panose="02010600030101010101" pitchFamily="2" charset="-122"/>
              </a:rPr>
              <a:t> ：置进位标志位。该指令的操作是将 </a:t>
            </a:r>
            <a:r>
              <a:rPr lang="en-US" altLang="zh-CN" sz="2200" dirty="0">
                <a:latin typeface="Times New Roman" panose="02020603050405020304" pitchFamily="18" charset="0"/>
                <a:ea typeface="宋体" panose="02010600030101010101" pitchFamily="2" charset="-122"/>
              </a:rPr>
              <a:t>CF </a:t>
            </a:r>
            <a:r>
              <a:rPr lang="zh-CN" altLang="en-US" sz="2200" dirty="0">
                <a:latin typeface="Times New Roman" panose="02020603050405020304" pitchFamily="18" charset="0"/>
                <a:ea typeface="宋体" panose="02010600030101010101" pitchFamily="2" charset="-122"/>
              </a:rPr>
              <a:t>置</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3</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CMC</a:t>
            </a:r>
            <a:r>
              <a:rPr lang="zh-CN" altLang="en-US" sz="2200" dirty="0">
                <a:latin typeface="Times New Roman" panose="02020603050405020304" pitchFamily="18" charset="0"/>
                <a:ea typeface="宋体" panose="02010600030101010101" pitchFamily="2" charset="-122"/>
              </a:rPr>
              <a:t> ：对进位标志位求反。</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4</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CLD</a:t>
            </a:r>
            <a:r>
              <a:rPr lang="zh-CN" altLang="en-US" sz="2200" dirty="0">
                <a:latin typeface="Times New Roman" panose="02020603050405020304" pitchFamily="18" charset="0"/>
                <a:ea typeface="宋体" panose="02010600030101010101" pitchFamily="2" charset="-122"/>
              </a:rPr>
              <a:t> ： 清方向标志位。该指令的操作是将 </a:t>
            </a:r>
            <a:r>
              <a:rPr lang="en-US" altLang="zh-CN" sz="2200" dirty="0">
                <a:latin typeface="Times New Roman" panose="02020603050405020304" pitchFamily="18" charset="0"/>
                <a:ea typeface="宋体" panose="02010600030101010101" pitchFamily="2" charset="-122"/>
              </a:rPr>
              <a:t>DF </a:t>
            </a:r>
            <a:r>
              <a:rPr lang="zh-CN" altLang="en-US" sz="2200" dirty="0">
                <a:latin typeface="Times New Roman" panose="02020603050405020304" pitchFamily="18" charset="0"/>
                <a:ea typeface="宋体" panose="02010600030101010101" pitchFamily="2" charset="-122"/>
              </a:rPr>
              <a:t>清</a:t>
            </a:r>
            <a:r>
              <a:rPr lang="en-US" altLang="zh-CN" sz="2200" dirty="0">
                <a:latin typeface="Times New Roman" panose="02020603050405020304" pitchFamily="18" charset="0"/>
                <a:ea typeface="宋体" panose="02010600030101010101" pitchFamily="2" charset="-122"/>
              </a:rPr>
              <a:t>0</a:t>
            </a:r>
            <a:r>
              <a:rPr lang="zh-CN" altLang="en-US" sz="2200" dirty="0">
                <a:latin typeface="Times New Roman" panose="02020603050405020304" pitchFamily="18" charset="0"/>
                <a:ea typeface="宋体" panose="02010600030101010101" pitchFamily="2" charset="-122"/>
              </a:rPr>
              <a:t>。</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STD</a:t>
            </a:r>
            <a:r>
              <a:rPr lang="zh-CN" altLang="en-US" sz="2200" dirty="0">
                <a:latin typeface="Times New Roman" panose="02020603050405020304" pitchFamily="18" charset="0"/>
                <a:ea typeface="宋体" panose="02010600030101010101" pitchFamily="2" charset="-122"/>
              </a:rPr>
              <a:t> ：  置方向标志位。该指令的操作是将 </a:t>
            </a:r>
            <a:r>
              <a:rPr lang="en-US" altLang="zh-CN" sz="2200" dirty="0">
                <a:latin typeface="Times New Roman" panose="02020603050405020304" pitchFamily="18" charset="0"/>
                <a:ea typeface="宋体" panose="02010600030101010101" pitchFamily="2" charset="-122"/>
              </a:rPr>
              <a:t>DF </a:t>
            </a:r>
            <a:r>
              <a:rPr lang="zh-CN" altLang="en-US" sz="2200" dirty="0">
                <a:latin typeface="Times New Roman" panose="02020603050405020304" pitchFamily="18" charset="0"/>
                <a:ea typeface="宋体" panose="02010600030101010101" pitchFamily="2" charset="-122"/>
              </a:rPr>
              <a:t>置</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6</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CLI</a:t>
            </a:r>
            <a:r>
              <a:rPr lang="zh-CN" altLang="en-US" sz="2200" dirty="0">
                <a:latin typeface="Times New Roman" panose="02020603050405020304" pitchFamily="18" charset="0"/>
                <a:ea typeface="宋体" panose="02010600030101010101" pitchFamily="2" charset="-122"/>
              </a:rPr>
              <a:t> ： 清中断允许标志位。该指令的操作是将 </a:t>
            </a:r>
            <a:r>
              <a:rPr lang="en-US" altLang="zh-CN" sz="2200" dirty="0">
                <a:latin typeface="Times New Roman" panose="02020603050405020304" pitchFamily="18" charset="0"/>
                <a:ea typeface="宋体" panose="02010600030101010101" pitchFamily="2" charset="-122"/>
              </a:rPr>
              <a:t>IF </a:t>
            </a:r>
            <a:r>
              <a:rPr lang="zh-CN" altLang="en-US" sz="2200" dirty="0">
                <a:latin typeface="Times New Roman" panose="02020603050405020304" pitchFamily="18" charset="0"/>
                <a:ea typeface="宋体" panose="02010600030101010101" pitchFamily="2" charset="-122"/>
              </a:rPr>
              <a:t>清 </a:t>
            </a:r>
            <a:r>
              <a:rPr lang="en-US" altLang="zh-CN" sz="2200" dirty="0">
                <a:latin typeface="Times New Roman" panose="02020603050405020304" pitchFamily="18" charset="0"/>
                <a:ea typeface="宋体" panose="02010600030101010101" pitchFamily="2" charset="-122"/>
              </a:rPr>
              <a:t>0</a:t>
            </a:r>
            <a:r>
              <a:rPr lang="zh-CN" altLang="en-US" sz="2200" dirty="0">
                <a:latin typeface="Times New Roman" panose="02020603050405020304" pitchFamily="18" charset="0"/>
                <a:ea typeface="宋体" panose="02010600030101010101" pitchFamily="2" charset="-122"/>
              </a:rPr>
              <a:t>。</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7</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STI</a:t>
            </a:r>
            <a:r>
              <a:rPr lang="zh-CN" altLang="en-US" sz="2200" dirty="0">
                <a:latin typeface="Times New Roman" panose="02020603050405020304" pitchFamily="18" charset="0"/>
                <a:ea typeface="宋体" panose="02010600030101010101" pitchFamily="2" charset="-122"/>
              </a:rPr>
              <a:t> ：  置中断允许标志位。该指令的操作是将 </a:t>
            </a:r>
            <a:r>
              <a:rPr lang="en-US" altLang="zh-CN" sz="2200" dirty="0">
                <a:latin typeface="Times New Roman" panose="02020603050405020304" pitchFamily="18" charset="0"/>
                <a:ea typeface="宋体" panose="02010600030101010101" pitchFamily="2" charset="-122"/>
              </a:rPr>
              <a:t>IF </a:t>
            </a:r>
            <a:r>
              <a:rPr lang="zh-CN" altLang="en-US" sz="2200" dirty="0">
                <a:latin typeface="Times New Roman" panose="02020603050405020304" pitchFamily="18" charset="0"/>
                <a:ea typeface="宋体" panose="02010600030101010101" pitchFamily="2" charset="-122"/>
              </a:rPr>
              <a:t>置 </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处理器控制指令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09570" name="矩形 2"/>
          <p:cNvSpPr/>
          <p:nvPr/>
        </p:nvSpPr>
        <p:spPr>
          <a:xfrm>
            <a:off x="123825" y="1406525"/>
            <a:ext cx="4572000" cy="757238"/>
          </a:xfrm>
          <a:prstGeom prst="rect">
            <a:avLst/>
          </a:prstGeom>
          <a:noFill/>
          <a:ln w="9525">
            <a:noFill/>
          </a:ln>
        </p:spPr>
        <p:txBody>
          <a:bodyPr anchor="t" anchorCtr="0">
            <a:spAutoFit/>
          </a:bodyPr>
          <a:lstStyle/>
          <a:p>
            <a:r>
              <a:rPr lang="en-US" altLang="zh-CN" dirty="0">
                <a:solidFill>
                  <a:srgbClr val="FFC000"/>
                </a:solidFill>
                <a:latin typeface="Times New Roman" panose="02020603050405020304" pitchFamily="18" charset="0"/>
                <a:ea typeface="宋体" panose="02010600030101010101" pitchFamily="2" charset="-122"/>
              </a:rPr>
              <a:t>2</a:t>
            </a:r>
            <a:r>
              <a:rPr lang="zh-CN" altLang="en-US" dirty="0">
                <a:solidFill>
                  <a:srgbClr val="FFC000"/>
                </a:solidFill>
                <a:latin typeface="Times New Roman" panose="02020603050405020304" pitchFamily="18" charset="0"/>
                <a:ea typeface="宋体" panose="02010600030101010101" pitchFamily="2" charset="-122"/>
              </a:rPr>
              <a:t>．同步控制指令</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109571" name="矩形 3"/>
          <p:cNvSpPr/>
          <p:nvPr/>
        </p:nvSpPr>
        <p:spPr>
          <a:xfrm>
            <a:off x="273050" y="1919288"/>
            <a:ext cx="8537575" cy="2832100"/>
          </a:xfrm>
          <a:prstGeom prst="rect">
            <a:avLst/>
          </a:prstGeom>
          <a:noFill/>
          <a:ln w="9525">
            <a:noFill/>
          </a:ln>
        </p:spPr>
        <p:txBody>
          <a:bodyPr anchor="t" anchorCtr="0">
            <a:spAutoFit/>
          </a:bodyPr>
          <a:lstStyle/>
          <a:p>
            <a:pPr>
              <a:lnSpc>
                <a:spcPct val="100000"/>
              </a:lnSpc>
            </a:pPr>
            <a:r>
              <a:rPr lang="en-US" altLang="zh-CN" sz="2200" dirty="0">
                <a:latin typeface="Times New Roman" panose="02020603050405020304" pitchFamily="18" charset="0"/>
                <a:ea typeface="宋体" panose="02010600030101010101" pitchFamily="2" charset="-122"/>
              </a:rPr>
              <a:t>8086/8088 </a:t>
            </a:r>
            <a:r>
              <a:rPr lang="zh-CN" altLang="en-US" sz="2200" dirty="0">
                <a:latin typeface="Times New Roman" panose="02020603050405020304" pitchFamily="18" charset="0"/>
                <a:ea typeface="宋体" panose="02010600030101010101" pitchFamily="2" charset="-122"/>
              </a:rPr>
              <a:t>处理器在最大方式下工作时可与别的处理器一起构成多处理器系统。当 </a:t>
            </a:r>
            <a:r>
              <a:rPr lang="en-US" altLang="zh-CN" sz="2200" dirty="0">
                <a:latin typeface="Times New Roman" panose="02020603050405020304" pitchFamily="18" charset="0"/>
                <a:ea typeface="宋体" panose="02010600030101010101" pitchFamily="2" charset="-122"/>
              </a:rPr>
              <a:t>CPU</a:t>
            </a:r>
            <a:r>
              <a:rPr lang="zh-CN" altLang="en-US" sz="2200" dirty="0">
                <a:latin typeface="Times New Roman" panose="02020603050405020304" pitchFamily="18" charset="0"/>
                <a:ea typeface="宋体" panose="02010600030101010101" pitchFamily="2" charset="-122"/>
              </a:rPr>
              <a:t>需要协处理器帮助它完成某个任务时， </a:t>
            </a:r>
            <a:r>
              <a:rPr lang="en-US" altLang="zh-CN" sz="2200" dirty="0">
                <a:latin typeface="Times New Roman" panose="02020603050405020304" pitchFamily="18" charset="0"/>
                <a:ea typeface="宋体" panose="02010600030101010101" pitchFamily="2" charset="-122"/>
              </a:rPr>
              <a:t>CPU </a:t>
            </a:r>
            <a:r>
              <a:rPr lang="zh-CN" altLang="en-US" sz="2200" dirty="0">
                <a:latin typeface="Times New Roman" panose="02020603050405020304" pitchFamily="18" charset="0"/>
                <a:ea typeface="宋体" panose="02010600030101010101" pitchFamily="2" charset="-122"/>
              </a:rPr>
              <a:t>可用同步指令向协处理器发出请求，待它们接受这一请求后， </a:t>
            </a:r>
            <a:r>
              <a:rPr lang="en-US" altLang="zh-CN" sz="2200" dirty="0">
                <a:latin typeface="Times New Roman" panose="02020603050405020304" pitchFamily="18" charset="0"/>
                <a:ea typeface="宋体" panose="02010600030101010101" pitchFamily="2" charset="-122"/>
              </a:rPr>
              <a:t>CPU </a:t>
            </a:r>
            <a:r>
              <a:rPr lang="zh-CN" altLang="en-US" sz="2200" dirty="0">
                <a:latin typeface="Times New Roman" panose="02020603050405020304" pitchFamily="18" charset="0"/>
                <a:ea typeface="宋体" panose="02010600030101010101" pitchFamily="2" charset="-122"/>
              </a:rPr>
              <a:t>才能继续执行程序。 </a:t>
            </a:r>
            <a:r>
              <a:rPr lang="en-US" altLang="zh-CN" sz="2200" dirty="0">
                <a:latin typeface="Times New Roman" panose="02020603050405020304" pitchFamily="18" charset="0"/>
                <a:ea typeface="宋体" panose="02010600030101010101" pitchFamily="2" charset="-122"/>
              </a:rPr>
              <a:t>8086/8088 </a:t>
            </a:r>
            <a:r>
              <a:rPr lang="zh-CN" altLang="en-US" sz="2200" dirty="0">
                <a:latin typeface="Times New Roman" panose="02020603050405020304" pitchFamily="18" charset="0"/>
                <a:ea typeface="宋体" panose="02010600030101010101" pitchFamily="2" charset="-122"/>
              </a:rPr>
              <a:t>指令系统中有 </a:t>
            </a:r>
            <a:r>
              <a:rPr lang="en-US" altLang="zh-CN" sz="2200" dirty="0">
                <a:latin typeface="Times New Roman" panose="02020603050405020304" pitchFamily="18" charset="0"/>
                <a:ea typeface="宋体" panose="02010600030101010101" pitchFamily="2" charset="-122"/>
              </a:rPr>
              <a:t>5 </a:t>
            </a:r>
            <a:r>
              <a:rPr lang="zh-CN" altLang="en-US" sz="2200" dirty="0">
                <a:latin typeface="Times New Roman" panose="02020603050405020304" pitchFamily="18" charset="0"/>
                <a:ea typeface="宋体" panose="02010600030101010101" pitchFamily="2" charset="-122"/>
              </a:rPr>
              <a:t>条同步控制指令。</a:t>
            </a:r>
            <a:br>
              <a:rPr lang="zh-CN" altLang="en-US" sz="2200" dirty="0">
                <a:latin typeface="Times New Roman" panose="02020603050405020304" pitchFamily="18" charset="0"/>
                <a:ea typeface="宋体" panose="02010600030101010101" pitchFamily="2" charset="-122"/>
              </a:rPr>
            </a:br>
            <a:r>
              <a:rPr lang="zh-CN" altLang="en-US" sz="2200" dirty="0">
                <a:solidFill>
                  <a:srgbClr val="FFC000"/>
                </a:solidFill>
                <a:latin typeface="Times New Roman" panose="02020603050405020304" pitchFamily="18" charset="0"/>
                <a:ea typeface="宋体" panose="02010600030101010101" pitchFamily="2" charset="-122"/>
              </a:rPr>
              <a:t>（ </a:t>
            </a:r>
            <a:r>
              <a:rPr lang="en-US" altLang="zh-CN" sz="2200" dirty="0">
                <a:solidFill>
                  <a:srgbClr val="FFC000"/>
                </a:solidFill>
                <a:latin typeface="Times New Roman" panose="02020603050405020304" pitchFamily="18" charset="0"/>
                <a:ea typeface="宋体" panose="02010600030101010101" pitchFamily="2" charset="-122"/>
              </a:rPr>
              <a:t>1</a:t>
            </a:r>
            <a:r>
              <a:rPr lang="zh-CN" altLang="en-US" sz="2200" dirty="0">
                <a:solidFill>
                  <a:srgbClr val="FFC000"/>
                </a:solidFill>
                <a:latin typeface="Times New Roman" panose="02020603050405020304" pitchFamily="18" charset="0"/>
                <a:ea typeface="宋体" panose="02010600030101010101" pitchFamily="2" charset="-122"/>
              </a:rPr>
              <a:t>） </a:t>
            </a:r>
            <a:r>
              <a:rPr lang="en-US" altLang="zh-CN" sz="2200" dirty="0">
                <a:solidFill>
                  <a:srgbClr val="FFC000"/>
                </a:solidFill>
                <a:latin typeface="Times New Roman" panose="02020603050405020304" pitchFamily="18" charset="0"/>
                <a:ea typeface="宋体" panose="02010600030101010101" pitchFamily="2" charset="-122"/>
              </a:rPr>
              <a:t>ESC</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ESC  </a:t>
            </a:r>
            <a:r>
              <a:rPr lang="zh-CN" altLang="en-US" sz="2200" dirty="0">
                <a:latin typeface="Times New Roman" panose="02020603050405020304" pitchFamily="18" charset="0"/>
                <a:ea typeface="宋体" panose="02010600030101010101" pitchFamily="2" charset="-122"/>
              </a:rPr>
              <a:t>外部操作码，源操作数</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指令功能：换码指令 </a:t>
            </a:r>
            <a:r>
              <a:rPr lang="en-US" altLang="zh-CN" sz="2200" dirty="0">
                <a:latin typeface="Times New Roman" panose="02020603050405020304" pitchFamily="18" charset="0"/>
                <a:ea typeface="宋体" panose="02010600030101010101" pitchFamily="2" charset="-122"/>
              </a:rPr>
              <a:t>ESC </a:t>
            </a:r>
            <a:r>
              <a:rPr lang="zh-CN" altLang="en-US" sz="2200" dirty="0">
                <a:latin typeface="Times New Roman" panose="02020603050405020304" pitchFamily="18" charset="0"/>
                <a:ea typeface="宋体" panose="02010600030101010101" pitchFamily="2" charset="-122"/>
              </a:rPr>
              <a:t>用来实现 </a:t>
            </a:r>
            <a:r>
              <a:rPr lang="en-US" altLang="zh-CN" sz="2200" dirty="0">
                <a:latin typeface="Times New Roman" panose="02020603050405020304" pitchFamily="18" charset="0"/>
                <a:ea typeface="宋体" panose="02010600030101010101" pitchFamily="2" charset="-122"/>
              </a:rPr>
              <a:t>8086 </a:t>
            </a:r>
            <a:r>
              <a:rPr lang="zh-CN" altLang="en-US" sz="2200" dirty="0">
                <a:latin typeface="Times New Roman" panose="02020603050405020304" pitchFamily="18" charset="0"/>
                <a:ea typeface="宋体" panose="02010600030101010101" pitchFamily="2" charset="-122"/>
              </a:rPr>
              <a:t>对 </a:t>
            </a:r>
            <a:r>
              <a:rPr lang="en-US" altLang="zh-CN" sz="2200" dirty="0">
                <a:latin typeface="Times New Roman" panose="02020603050405020304" pitchFamily="18" charset="0"/>
                <a:ea typeface="宋体" panose="02010600030101010101" pitchFamily="2" charset="-122"/>
              </a:rPr>
              <a:t>8087 </a:t>
            </a:r>
            <a:r>
              <a:rPr lang="zh-CN" altLang="en-US" sz="2200" dirty="0">
                <a:latin typeface="Times New Roman" panose="02020603050405020304" pitchFamily="18" charset="0"/>
                <a:ea typeface="宋体" panose="02010600030101010101" pitchFamily="2" charset="-122"/>
              </a:rPr>
              <a:t>协处理器的控制。</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
        <p:nvSpPr>
          <p:cNvPr id="109572" name="矩形 4"/>
          <p:cNvSpPr/>
          <p:nvPr/>
        </p:nvSpPr>
        <p:spPr>
          <a:xfrm>
            <a:off x="307975" y="4460875"/>
            <a:ext cx="8194675" cy="1366838"/>
          </a:xfrm>
          <a:prstGeom prst="rect">
            <a:avLst/>
          </a:prstGeom>
          <a:noFill/>
          <a:ln w="9525">
            <a:noFill/>
          </a:ln>
        </p:spPr>
        <p:txBody>
          <a:bodyPr anchor="t" anchorCtr="0">
            <a:spAutoFit/>
          </a:bodyPr>
          <a:lstStyle/>
          <a:p>
            <a:r>
              <a:rPr lang="zh-CN" altLang="en-US" sz="2200" dirty="0">
                <a:solidFill>
                  <a:srgbClr val="FFC000"/>
                </a:solidFill>
                <a:latin typeface="Times New Roman" panose="02020603050405020304" pitchFamily="18" charset="0"/>
                <a:ea typeface="宋体" panose="02010600030101010101" pitchFamily="2" charset="-122"/>
              </a:rPr>
              <a:t>（ </a:t>
            </a:r>
            <a:r>
              <a:rPr lang="en-US" altLang="zh-CN" sz="2200" dirty="0">
                <a:solidFill>
                  <a:srgbClr val="FFC000"/>
                </a:solidFill>
                <a:latin typeface="Times New Roman" panose="02020603050405020304" pitchFamily="18" charset="0"/>
                <a:ea typeface="宋体" panose="02010600030101010101" pitchFamily="2" charset="-122"/>
              </a:rPr>
              <a:t>2</a:t>
            </a:r>
            <a:r>
              <a:rPr lang="zh-CN" altLang="en-US" sz="2200" dirty="0">
                <a:solidFill>
                  <a:srgbClr val="FFC000"/>
                </a:solidFill>
                <a:latin typeface="Times New Roman" panose="02020603050405020304" pitchFamily="18" charset="0"/>
                <a:ea typeface="宋体" panose="02010600030101010101" pitchFamily="2" charset="-122"/>
              </a:rPr>
              <a:t>） </a:t>
            </a:r>
            <a:r>
              <a:rPr lang="en-US" altLang="zh-CN" sz="2200" dirty="0">
                <a:solidFill>
                  <a:srgbClr val="FFC000"/>
                </a:solidFill>
                <a:latin typeface="Times New Roman" panose="02020603050405020304" pitchFamily="18" charset="0"/>
                <a:ea typeface="宋体" panose="02010600030101010101" pitchFamily="2" charset="-122"/>
              </a:rPr>
              <a:t>WAIT</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指令格式： </a:t>
            </a:r>
            <a:r>
              <a:rPr lang="en-US" altLang="zh-CN" sz="2200" dirty="0">
                <a:latin typeface="Times New Roman" panose="02020603050405020304" pitchFamily="18" charset="0"/>
                <a:ea typeface="宋体" panose="02010600030101010101" pitchFamily="2" charset="-122"/>
              </a:rPr>
              <a:t>WAIT</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指令功能：该指令完成 </a:t>
            </a:r>
            <a:r>
              <a:rPr lang="en-US" altLang="zh-CN" sz="2200" dirty="0">
                <a:latin typeface="Times New Roman" panose="02020603050405020304" pitchFamily="18" charset="0"/>
                <a:ea typeface="宋体" panose="02010600030101010101" pitchFamily="2" charset="-122"/>
              </a:rPr>
              <a:t>CPU </a:t>
            </a:r>
            <a:r>
              <a:rPr lang="zh-CN" altLang="en-US" sz="2200" dirty="0">
                <a:latin typeface="Times New Roman" panose="02020603050405020304" pitchFamily="18" charset="0"/>
                <a:ea typeface="宋体" panose="02010600030101010101" pitchFamily="2" charset="-122"/>
              </a:rPr>
              <a:t>与协处理器或外部硬件的同步。</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6</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altLang="en-US"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处理器控制指令</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110594" name="矩形 2"/>
          <p:cNvSpPr/>
          <p:nvPr/>
        </p:nvSpPr>
        <p:spPr>
          <a:xfrm>
            <a:off x="325438" y="1430338"/>
            <a:ext cx="8264525" cy="5410200"/>
          </a:xfrm>
          <a:prstGeom prst="rect">
            <a:avLst/>
          </a:prstGeom>
          <a:noFill/>
          <a:ln w="9525">
            <a:noFill/>
          </a:ln>
        </p:spPr>
        <p:txBody>
          <a:bodyPr anchor="t" anchorCtr="0">
            <a:spAutoFit/>
          </a:bodyPr>
          <a:lstStyle/>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3</a:t>
            </a: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LOCK</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LOCK</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 </a:t>
            </a:r>
            <a:r>
              <a:rPr lang="en-US" altLang="zh-CN" dirty="0">
                <a:latin typeface="Times New Roman" panose="02020603050405020304" pitchFamily="18" charset="0"/>
                <a:ea typeface="宋体" panose="02010600030101010101" pitchFamily="2" charset="-122"/>
              </a:rPr>
              <a:t>8086/8088CPU </a:t>
            </a:r>
            <a:r>
              <a:rPr lang="zh-CN" altLang="en-US" dirty="0">
                <a:latin typeface="Times New Roman" panose="02020603050405020304" pitchFamily="18" charset="0"/>
                <a:ea typeface="宋体" panose="02010600030101010101" pitchFamily="2" charset="-122"/>
              </a:rPr>
              <a:t>工作在最大模式下时，它使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在执行 </a:t>
            </a:r>
            <a:r>
              <a:rPr lang="en-US" altLang="zh-CN" dirty="0">
                <a:latin typeface="Times New Roman" panose="02020603050405020304" pitchFamily="18" charset="0"/>
                <a:ea typeface="宋体" panose="02010600030101010101" pitchFamily="2" charset="-122"/>
              </a:rPr>
              <a:t>LOCK </a:t>
            </a:r>
            <a:r>
              <a:rPr lang="zh-CN" altLang="en-US" dirty="0">
                <a:latin typeface="Times New Roman" panose="02020603050405020304" pitchFamily="18" charset="0"/>
                <a:ea typeface="宋体" panose="02010600030101010101" pitchFamily="2" charset="-122"/>
              </a:rPr>
              <a:t>后面的指令时保持一个总线封锁信号 </a:t>
            </a:r>
            <a:r>
              <a:rPr lang="en-US" altLang="zh-CN" dirty="0">
                <a:latin typeface="Times New Roman" panose="02020603050405020304" pitchFamily="18" charset="0"/>
                <a:ea typeface="宋体" panose="02010600030101010101" pitchFamily="2" charset="-122"/>
              </a:rPr>
              <a:t>LOCK </a:t>
            </a:r>
            <a:r>
              <a:rPr lang="zh-CN" altLang="en-US" dirty="0">
                <a:latin typeface="Times New Roman" panose="02020603050405020304" pitchFamily="18" charset="0"/>
                <a:ea typeface="宋体" panose="02010600030101010101" pitchFamily="2" charset="-122"/>
              </a:rPr>
              <a:t>。该信号禁止其他处理器对总线进行访问。</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4</a:t>
            </a: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NOP</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NOP</a:t>
            </a:r>
            <a:br>
              <a:rPr lang="en-US" altLang="zh-CN"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指令功能：空操作指令。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执行 </a:t>
            </a:r>
            <a:r>
              <a:rPr lang="en-US" altLang="zh-CN" dirty="0">
                <a:latin typeface="Times New Roman" panose="02020603050405020304" pitchFamily="18" charset="0"/>
                <a:ea typeface="宋体" panose="02010600030101010101" pitchFamily="2" charset="-122"/>
              </a:rPr>
              <a:t>NOP </a:t>
            </a:r>
            <a:r>
              <a:rPr lang="zh-CN" altLang="en-US" dirty="0">
                <a:latin typeface="Times New Roman" panose="02020603050405020304" pitchFamily="18" charset="0"/>
                <a:ea typeface="宋体" panose="02010600030101010101" pitchFamily="2" charset="-122"/>
              </a:rPr>
              <a:t>指令时，不执行任何操作，但占用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个时钟周期，但使指令指针寄存器 </a:t>
            </a:r>
            <a:r>
              <a:rPr lang="en-US" altLang="zh-CN"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加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，执行完 </a:t>
            </a:r>
            <a:r>
              <a:rPr lang="en-US" altLang="zh-CN" dirty="0">
                <a:latin typeface="Times New Roman" panose="02020603050405020304" pitchFamily="18" charset="0"/>
                <a:ea typeface="宋体" panose="02010600030101010101" pitchFamily="2" charset="-122"/>
              </a:rPr>
              <a:t>NOP </a:t>
            </a:r>
            <a:r>
              <a:rPr lang="zh-CN" altLang="en-US" dirty="0">
                <a:latin typeface="Times New Roman" panose="02020603050405020304" pitchFamily="18" charset="0"/>
                <a:ea typeface="宋体" panose="02010600030101010101" pitchFamily="2" charset="-122"/>
              </a:rPr>
              <a:t>指令后，接着执行后续指令。</a:t>
            </a:r>
            <a:endParaRPr lang="en-US" altLang="zh-CN" dirty="0">
              <a:latin typeface="Times New Roman" panose="02020603050405020304" pitchFamily="18" charset="0"/>
              <a:ea typeface="宋体" panose="02010600030101010101" pitchFamily="2" charset="-122"/>
            </a:endParaRPr>
          </a:p>
          <a:p>
            <a:pPr>
              <a:lnSpc>
                <a:spcPct val="100000"/>
              </a:lnSpc>
            </a:pP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5</a:t>
            </a:r>
            <a:r>
              <a:rPr lang="zh-CN" altLang="en-US" dirty="0">
                <a:solidFill>
                  <a:srgbClr val="FFC000"/>
                </a:solidFill>
                <a:latin typeface="Times New Roman" panose="02020603050405020304" pitchFamily="18" charset="0"/>
                <a:ea typeface="宋体" panose="02010600030101010101" pitchFamily="2" charset="-122"/>
              </a:rPr>
              <a:t>） </a:t>
            </a:r>
            <a:r>
              <a:rPr lang="en-US" altLang="zh-CN" dirty="0">
                <a:solidFill>
                  <a:srgbClr val="FFC000"/>
                </a:solidFill>
                <a:latin typeface="Times New Roman" panose="02020603050405020304" pitchFamily="18" charset="0"/>
                <a:ea typeface="宋体" panose="02010600030101010101" pitchFamily="2" charset="-122"/>
              </a:rPr>
              <a:t>HLT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指令格式： </a:t>
            </a:r>
            <a:r>
              <a:rPr lang="en-US" altLang="zh-CN" dirty="0">
                <a:latin typeface="Times New Roman" panose="02020603050405020304" pitchFamily="18" charset="0"/>
                <a:ea typeface="宋体" panose="02010600030101010101" pitchFamily="2" charset="-122"/>
              </a:rPr>
              <a:t>HLT</a:t>
            </a:r>
            <a:r>
              <a:rPr lang="zh-CN" altLang="en-US"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r>
              <a:rPr lang="zh-CN" altLang="en-US" dirty="0">
                <a:latin typeface="Times New Roman" panose="02020603050405020304" pitchFamily="18" charset="0"/>
                <a:ea typeface="宋体" panose="02010600030101010101" pitchFamily="2" charset="-122"/>
              </a:rPr>
              <a:t>指令功能：执行 </a:t>
            </a:r>
            <a:r>
              <a:rPr lang="en-US" altLang="zh-CN" dirty="0">
                <a:latin typeface="Times New Roman" panose="02020603050405020304" pitchFamily="18" charset="0"/>
                <a:ea typeface="宋体" panose="02010600030101010101" pitchFamily="2" charset="-122"/>
              </a:rPr>
              <a:t>HLT </a:t>
            </a:r>
            <a:r>
              <a:rPr lang="zh-CN" altLang="en-US" dirty="0">
                <a:latin typeface="Times New Roman" panose="02020603050405020304" pitchFamily="18" charset="0"/>
                <a:ea typeface="宋体" panose="02010600030101010101" pitchFamily="2" charset="-122"/>
              </a:rPr>
              <a:t>指令后， </a:t>
            </a:r>
            <a:r>
              <a:rPr lang="en-US" altLang="zh-CN" dirty="0">
                <a:latin typeface="Times New Roman" panose="02020603050405020304" pitchFamily="18" charset="0"/>
                <a:ea typeface="宋体" panose="02010600030101010101" pitchFamily="2" charset="-122"/>
              </a:rPr>
              <a:t>CPU </a:t>
            </a:r>
            <a:r>
              <a:rPr lang="zh-CN" altLang="en-US" dirty="0">
                <a:latin typeface="Times New Roman" panose="02020603050405020304" pitchFamily="18" charset="0"/>
                <a:ea typeface="宋体" panose="02010600030101010101" pitchFamily="2" charset="-122"/>
              </a:rPr>
              <a:t>处于暂时停机状态。</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10363" cy="1143000"/>
          </a:xfrm>
          <a:ln>
            <a:miter/>
          </a:ln>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11161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11619" name="矩形 5"/>
          <p:cNvSpPr/>
          <p:nvPr/>
        </p:nvSpPr>
        <p:spPr>
          <a:xfrm>
            <a:off x="193675" y="1627188"/>
            <a:ext cx="8669338" cy="4592637"/>
          </a:xfrm>
          <a:prstGeom prst="rect">
            <a:avLst/>
          </a:prstGeom>
          <a:noFill/>
          <a:ln w="9525">
            <a:noFill/>
          </a:ln>
        </p:spPr>
        <p:txBody>
          <a:bodyPr anchor="t" anchorCtr="0">
            <a:spAutoFit/>
          </a:bodyPr>
          <a:lstStyle/>
          <a:p>
            <a:pPr>
              <a:lnSpc>
                <a:spcPct val="100000"/>
              </a:lnSpc>
            </a:pPr>
            <a:r>
              <a:rPr lang="en-US" altLang="zh-CN" sz="2200" dirty="0">
                <a:latin typeface="Times New Roman" panose="02020603050405020304" pitchFamily="18" charset="0"/>
                <a:ea typeface="宋体" panose="02010600030101010101" pitchFamily="2" charset="-122"/>
              </a:rPr>
              <a:t>3-1 </a:t>
            </a:r>
            <a:r>
              <a:rPr lang="zh-CN" altLang="en-US" sz="2200" dirty="0">
                <a:latin typeface="Times New Roman" panose="02020603050405020304" pitchFamily="18" charset="0"/>
                <a:ea typeface="宋体" panose="02010600030101010101" pitchFamily="2" charset="-122"/>
              </a:rPr>
              <a:t>什么叫寻址方式？ </a:t>
            </a:r>
            <a:r>
              <a:rPr lang="en-US" altLang="zh-CN" sz="2200" dirty="0">
                <a:latin typeface="Times New Roman" panose="02020603050405020304" pitchFamily="18" charset="0"/>
                <a:ea typeface="宋体" panose="02010600030101010101" pitchFamily="2" charset="-122"/>
              </a:rPr>
              <a:t>8086/8088 CUP </a:t>
            </a:r>
            <a:r>
              <a:rPr lang="zh-CN" altLang="en-US" sz="2200" dirty="0">
                <a:latin typeface="Times New Roman" panose="02020603050405020304" pitchFamily="18" charset="0"/>
                <a:ea typeface="宋体" panose="02010600030101010101" pitchFamily="2" charset="-122"/>
              </a:rPr>
              <a:t>有哪几种寻址方式？</a:t>
            </a:r>
            <a:br>
              <a:rPr lang="zh-CN" altLang="en-US" sz="2200" dirty="0">
                <a:latin typeface="Times New Roman" panose="02020603050405020304" pitchFamily="18" charset="0"/>
                <a:ea typeface="宋体" panose="02010600030101010101" pitchFamily="2" charset="-122"/>
              </a:rPr>
            </a:br>
            <a:r>
              <a:rPr lang="en-US" altLang="zh-CN" sz="2200" dirty="0">
                <a:latin typeface="Times New Roman" panose="02020603050405020304" pitchFamily="18" charset="0"/>
                <a:ea typeface="宋体" panose="02010600030101010101" pitchFamily="2" charset="-122"/>
              </a:rPr>
              <a:t>3-2 </a:t>
            </a:r>
            <a:r>
              <a:rPr lang="zh-CN" altLang="en-US" sz="2200" dirty="0">
                <a:latin typeface="Times New Roman" panose="02020603050405020304" pitchFamily="18" charset="0"/>
                <a:ea typeface="宋体" panose="02010600030101010101" pitchFamily="2" charset="-122"/>
              </a:rPr>
              <a:t>判断下列指令书写是否正确？</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MOV AL</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BX           </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2</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MOV 20H</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AL</a:t>
            </a:r>
            <a:br>
              <a:rPr lang="en-US" altLang="zh-CN"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3</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MOV AX</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[SI][DI]   </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4</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MOV [SI]</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[BX]</a:t>
            </a:r>
            <a:br>
              <a:rPr lang="en-US" altLang="zh-CN"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5</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MUL 30H                     </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6</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PUSH 2000H</a:t>
            </a:r>
            <a:br>
              <a:rPr lang="en-US" altLang="zh-CN"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7</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ADD AL</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256            </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8</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POP CS</a:t>
            </a:r>
            <a:br>
              <a:rPr lang="en-US" altLang="zh-CN"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9</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JMP BYTE PTR[BX] </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10</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MOV DATA[SI]</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ES</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AX</a:t>
            </a:r>
            <a:br>
              <a:rPr lang="en-US" altLang="zh-CN"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11</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OUT 300H</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AX       </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12</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IN BX</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DX</a:t>
            </a:r>
            <a:br>
              <a:rPr lang="en-US" altLang="zh-CN" sz="2200" dirty="0">
                <a:latin typeface="Times New Roman" panose="02020603050405020304" pitchFamily="18" charset="0"/>
                <a:ea typeface="宋体" panose="02010600030101010101" pitchFamily="2" charset="-122"/>
              </a:rPr>
            </a:br>
            <a:r>
              <a:rPr lang="en-US" altLang="zh-CN" sz="2200" dirty="0">
                <a:latin typeface="Times New Roman" panose="02020603050405020304" pitchFamily="18" charset="0"/>
                <a:ea typeface="宋体" panose="02010600030101010101" pitchFamily="2" charset="-122"/>
              </a:rPr>
              <a:t>3-3 </a:t>
            </a:r>
            <a:r>
              <a:rPr lang="zh-CN" altLang="en-US" sz="2200" dirty="0">
                <a:latin typeface="Times New Roman" panose="02020603050405020304" pitchFamily="18" charset="0"/>
                <a:ea typeface="宋体" panose="02010600030101010101" pitchFamily="2" charset="-122"/>
              </a:rPr>
              <a:t>什么是堆栈操作？有什么特点？假设堆栈指针 </a:t>
            </a:r>
            <a:r>
              <a:rPr lang="en-US" altLang="zh-CN" sz="2200" dirty="0">
                <a:latin typeface="Times New Roman" panose="02020603050405020304" pitchFamily="18" charset="0"/>
                <a:ea typeface="宋体" panose="02010600030101010101" pitchFamily="2" charset="-122"/>
              </a:rPr>
              <a:t>SP=2000H</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AX=3000H</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BX=5000H</a:t>
            </a:r>
            <a:r>
              <a:rPr lang="zh-CN" altLang="en-US" sz="2200" dirty="0">
                <a:latin typeface="Times New Roman" panose="02020603050405020304" pitchFamily="18" charset="0"/>
                <a:ea typeface="宋体" panose="02010600030101010101" pitchFamily="2" charset="-122"/>
              </a:rPr>
              <a:t>，</a:t>
            </a:r>
            <a:br>
              <a:rPr lang="zh-CN" altLang="en-US" sz="2200" dirty="0">
                <a:latin typeface="Times New Roman" panose="02020603050405020304" pitchFamily="18" charset="0"/>
                <a:ea typeface="宋体" panose="02010600030101010101" pitchFamily="2" charset="-122"/>
              </a:rPr>
            </a:br>
            <a:r>
              <a:rPr lang="zh-CN" altLang="en-US" sz="2200" dirty="0">
                <a:latin typeface="Times New Roman" panose="02020603050405020304" pitchFamily="18" charset="0"/>
                <a:ea typeface="宋体" panose="02010600030101010101" pitchFamily="2" charset="-122"/>
              </a:rPr>
              <a:t>试问</a:t>
            </a:r>
            <a:r>
              <a:rPr lang="en-US" altLang="zh-CN" sz="2200" dirty="0">
                <a:latin typeface="Times New Roman" panose="02020603050405020304" pitchFamily="18" charset="0"/>
                <a:ea typeface="宋体" panose="02010600030101010101" pitchFamily="2" charset="-122"/>
              </a:rPr>
              <a:t>:</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1</a:t>
            </a:r>
            <a:r>
              <a:rPr lang="zh-CN" altLang="en-US" sz="2200" dirty="0">
                <a:latin typeface="Times New Roman" panose="02020603050405020304" pitchFamily="18" charset="0"/>
                <a:ea typeface="宋体" panose="02010600030101010101" pitchFamily="2" charset="-122"/>
              </a:rPr>
              <a:t>）执行指令 </a:t>
            </a:r>
            <a:r>
              <a:rPr lang="en-US" altLang="zh-CN" sz="2200" dirty="0">
                <a:latin typeface="Times New Roman" panose="02020603050405020304" pitchFamily="18" charset="0"/>
                <a:ea typeface="宋体" panose="02010600030101010101" pitchFamily="2" charset="-122"/>
              </a:rPr>
              <a:t>PUSH AX </a:t>
            </a:r>
            <a:r>
              <a:rPr lang="zh-CN" altLang="en-US" sz="2200" dirty="0">
                <a:latin typeface="Times New Roman" panose="02020603050405020304" pitchFamily="18" charset="0"/>
                <a:ea typeface="宋体" panose="02010600030101010101" pitchFamily="2" charset="-122"/>
              </a:rPr>
              <a:t>后， </a:t>
            </a:r>
            <a:r>
              <a:rPr lang="en-US" altLang="zh-CN" sz="2200" dirty="0">
                <a:latin typeface="Times New Roman" panose="02020603050405020304" pitchFamily="18" charset="0"/>
                <a:ea typeface="宋体" panose="02010600030101010101" pitchFamily="2" charset="-122"/>
              </a:rPr>
              <a:t>SP=</a:t>
            </a:r>
            <a:r>
              <a:rPr lang="zh-CN" altLang="en-US" sz="2200" dirty="0">
                <a:latin typeface="Times New Roman" panose="02020603050405020304" pitchFamily="18" charset="0"/>
                <a:ea typeface="宋体" panose="02010600030101010101" pitchFamily="2" charset="-122"/>
              </a:rPr>
              <a:t>？</a:t>
            </a:r>
            <a:endParaRPr lang="en-US" altLang="zh-CN" sz="2200" dirty="0">
              <a:latin typeface="Times New Roman" panose="02020603050405020304" pitchFamily="18" charset="0"/>
              <a:ea typeface="宋体" panose="02010600030101010101" pitchFamily="2" charset="-122"/>
            </a:endParaRPr>
          </a:p>
          <a:p>
            <a:pPr>
              <a:lnSpc>
                <a:spcPct val="100000"/>
              </a:lnSpc>
            </a:pPr>
            <a:r>
              <a:rPr lang="zh-CN" altLang="en-US" sz="2200" dirty="0">
                <a:latin typeface="Times New Roman" panose="02020603050405020304" pitchFamily="18" charset="0"/>
                <a:ea typeface="宋体" panose="02010600030101010101" pitchFamily="2" charset="-122"/>
              </a:rPr>
              <a:t>         （ </a:t>
            </a:r>
            <a:r>
              <a:rPr lang="en-US" altLang="zh-CN" sz="2200" dirty="0">
                <a:latin typeface="Times New Roman" panose="02020603050405020304" pitchFamily="18" charset="0"/>
                <a:ea typeface="宋体" panose="02010600030101010101" pitchFamily="2" charset="-122"/>
              </a:rPr>
              <a:t>2</a:t>
            </a:r>
            <a:r>
              <a:rPr lang="zh-CN" altLang="en-US" sz="2200" dirty="0">
                <a:latin typeface="Times New Roman" panose="02020603050405020304" pitchFamily="18" charset="0"/>
                <a:ea typeface="宋体" panose="02010600030101010101" pitchFamily="2" charset="-122"/>
              </a:rPr>
              <a:t>）再执行指令 </a:t>
            </a:r>
            <a:r>
              <a:rPr lang="en-US" altLang="zh-CN" sz="2200" dirty="0">
                <a:latin typeface="Times New Roman" panose="02020603050405020304" pitchFamily="18" charset="0"/>
                <a:ea typeface="宋体" panose="02010600030101010101" pitchFamily="2" charset="-122"/>
              </a:rPr>
              <a:t>PUSH BX </a:t>
            </a:r>
            <a:r>
              <a:rPr lang="zh-CN" altLang="en-US" sz="2200" dirty="0">
                <a:latin typeface="Times New Roman" panose="02020603050405020304" pitchFamily="18" charset="0"/>
                <a:ea typeface="宋体" panose="02010600030101010101" pitchFamily="2" charset="-122"/>
              </a:rPr>
              <a:t>及 </a:t>
            </a:r>
            <a:r>
              <a:rPr lang="en-US" altLang="zh-CN" sz="2200" dirty="0">
                <a:latin typeface="Times New Roman" panose="02020603050405020304" pitchFamily="18" charset="0"/>
                <a:ea typeface="宋体" panose="02010600030101010101" pitchFamily="2" charset="-122"/>
              </a:rPr>
              <a:t>POP AX </a:t>
            </a:r>
            <a:r>
              <a:rPr lang="zh-CN" altLang="en-US" sz="2200" dirty="0">
                <a:latin typeface="Times New Roman" panose="02020603050405020304" pitchFamily="18" charset="0"/>
                <a:ea typeface="宋体" panose="02010600030101010101" pitchFamily="2" charset="-122"/>
              </a:rPr>
              <a:t>后， </a:t>
            </a:r>
            <a:r>
              <a:rPr lang="en-US" altLang="zh-CN" sz="2200" dirty="0">
                <a:latin typeface="Times New Roman" panose="02020603050405020304" pitchFamily="18" charset="0"/>
                <a:ea typeface="宋体" panose="02010600030101010101" pitchFamily="2" charset="-122"/>
              </a:rPr>
              <a:t>SP=</a:t>
            </a:r>
            <a:r>
              <a:rPr lang="zh-CN" altLang="en-US"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AX=</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BX=</a:t>
            </a:r>
            <a:r>
              <a:rPr lang="zh-CN" altLang="en-US" sz="2200" dirty="0">
                <a:latin typeface="Times New Roman" panose="02020603050405020304" pitchFamily="18" charset="0"/>
                <a:ea typeface="宋体" panose="02010600030101010101" pitchFamily="2" charset="-122"/>
              </a:rPr>
              <a:t>？</a:t>
            </a:r>
            <a:br>
              <a:rPr lang="zh-CN" altLang="en-US"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10363" cy="1143000"/>
          </a:xfrm>
          <a:ln>
            <a:miter/>
          </a:ln>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11366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13667" name="矩形 5"/>
          <p:cNvSpPr/>
          <p:nvPr/>
        </p:nvSpPr>
        <p:spPr>
          <a:xfrm>
            <a:off x="193675" y="1627188"/>
            <a:ext cx="8669338" cy="5078412"/>
          </a:xfrm>
          <a:prstGeom prst="rect">
            <a:avLst/>
          </a:prstGeom>
          <a:noFill/>
          <a:ln w="9525">
            <a:noFill/>
          </a:ln>
        </p:spPr>
        <p:txBody>
          <a:bodyPr anchor="t" anchorCtr="0">
            <a:spAutoFit/>
          </a:bodyPr>
          <a:lstStyle/>
          <a:p>
            <a:pPr>
              <a:lnSpc>
                <a:spcPct val="100000"/>
              </a:lnSpc>
            </a:pPr>
            <a:r>
              <a:rPr lang="en-US" altLang="zh-CN" sz="2000" dirty="0">
                <a:latin typeface="Times New Roman" panose="02020603050405020304" pitchFamily="18" charset="0"/>
                <a:ea typeface="宋体" panose="02010600030101010101" pitchFamily="2" charset="-122"/>
              </a:rPr>
              <a:t>3-4 </a:t>
            </a:r>
            <a:r>
              <a:rPr lang="zh-CN" altLang="en-US" sz="2000" dirty="0">
                <a:latin typeface="Times New Roman" panose="02020603050405020304" pitchFamily="18" charset="0"/>
                <a:ea typeface="宋体" panose="02010600030101010101" pitchFamily="2" charset="-122"/>
              </a:rPr>
              <a:t>设 </a:t>
            </a:r>
            <a:r>
              <a:rPr lang="en-US" altLang="zh-CN" sz="2000" dirty="0">
                <a:latin typeface="Times New Roman" panose="02020603050405020304" pitchFamily="18" charset="0"/>
                <a:ea typeface="宋体" panose="02010600030101010101" pitchFamily="2" charset="-122"/>
              </a:rPr>
              <a:t>DS=6000H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ES=2000H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SS=1500H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SI=0A0H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BX=0800H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BP=1200H</a:t>
            </a:r>
            <a:r>
              <a:rPr lang="zh-CN" altLang="en-US" sz="2000" dirty="0">
                <a:latin typeface="Times New Roman" panose="02020603050405020304" pitchFamily="18" charset="0"/>
                <a:ea typeface="宋体" panose="02010600030101010101" pitchFamily="2" charset="-122"/>
              </a:rPr>
              <a:t>，字符常数 </a:t>
            </a:r>
            <a:r>
              <a:rPr lang="en-US" altLang="zh-CN" sz="2000" dirty="0">
                <a:latin typeface="Times New Roman" panose="02020603050405020304" pitchFamily="18" charset="0"/>
                <a:ea typeface="宋体" panose="02010600030101010101" pitchFamily="2" charset="-122"/>
              </a:rPr>
              <a:t>VAR=50H</a:t>
            </a:r>
            <a:r>
              <a:rPr lang="zh-CN" altLang="en-US" sz="2000" dirty="0">
                <a:latin typeface="Times New Roman" panose="02020603050405020304" pitchFamily="18" charset="0"/>
                <a:ea typeface="宋体" panose="02010600030101010101" pitchFamily="2" charset="-122"/>
              </a:rPr>
              <a:t>。分别指出下列各条指令源操作数的寻址方式，并计算除立即数寻址外的其他</a:t>
            </a:r>
            <a:br>
              <a:rPr lang="zh-CN" altLang="en-US"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寻址方式下源操作数的物理地址。</a:t>
            </a:r>
            <a:br>
              <a:rPr lang="zh-CN" altLang="en-US"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AX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BX   </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DL</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80H</a:t>
            </a:r>
            <a:br>
              <a:rPr lang="en-US" altLang="zh-CN"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AX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VAR </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4</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AX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VAR[BX][SI]</a:t>
            </a:r>
            <a:br>
              <a:rPr lang="en-US" altLang="zh-CN"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5</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AL</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’B’    </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6</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DI</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ES</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[BX]</a:t>
            </a:r>
            <a:br>
              <a:rPr lang="en-US" altLang="zh-CN"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7</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DX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[BP] </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8</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BX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20H[BX]</a:t>
            </a:r>
            <a:br>
              <a:rPr lang="en-US" altLang="zh-CN" sz="2000" dirty="0">
                <a:latin typeface="Times New Roman" panose="02020603050405020304" pitchFamily="18" charset="0"/>
                <a:ea typeface="宋体" panose="02010600030101010101" pitchFamily="2" charset="-122"/>
              </a:rPr>
            </a:br>
            <a:r>
              <a:rPr lang="en-US" altLang="zh-CN" sz="2000" dirty="0">
                <a:latin typeface="Times New Roman" panose="02020603050405020304" pitchFamily="18" charset="0"/>
                <a:ea typeface="宋体" panose="02010600030101010101" pitchFamily="2" charset="-122"/>
              </a:rPr>
              <a:t>3-5 </a:t>
            </a:r>
            <a:r>
              <a:rPr lang="zh-CN" altLang="en-US" sz="2000" dirty="0">
                <a:latin typeface="Times New Roman" panose="02020603050405020304" pitchFamily="18" charset="0"/>
                <a:ea typeface="宋体" panose="02010600030101010101" pitchFamily="2" charset="-122"/>
              </a:rPr>
              <a:t>假设 </a:t>
            </a:r>
            <a:r>
              <a:rPr lang="en-US" altLang="zh-CN" sz="2000" dirty="0">
                <a:latin typeface="Times New Roman" panose="02020603050405020304" pitchFamily="18" charset="0"/>
                <a:ea typeface="宋体" panose="02010600030101010101" pitchFamily="2" charset="-122"/>
              </a:rPr>
              <a:t>DS=212AH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CS=0200H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IP=1200H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BX=0500H</a:t>
            </a:r>
            <a:r>
              <a:rPr lang="zh-CN" altLang="en-US" sz="2000" dirty="0">
                <a:latin typeface="Times New Roman" panose="02020603050405020304" pitchFamily="18" charset="0"/>
                <a:ea typeface="宋体" panose="02010600030101010101" pitchFamily="2" charset="-122"/>
              </a:rPr>
              <a:t>， 位移量 </a:t>
            </a:r>
            <a:r>
              <a:rPr lang="en-US" altLang="zh-CN" sz="2000" dirty="0">
                <a:latin typeface="Times New Roman" panose="02020603050405020304" pitchFamily="18" charset="0"/>
                <a:ea typeface="宋体" panose="02010600030101010101" pitchFamily="2" charset="-122"/>
              </a:rPr>
              <a:t>DATA=40H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[217A0H]</a:t>
            </a:r>
            <a:br>
              <a:rPr lang="en-US" altLang="zh-CN" sz="2000" dirty="0">
                <a:latin typeface="Times New Roman" panose="02020603050405020304" pitchFamily="18" charset="0"/>
                <a:ea typeface="宋体" panose="02010600030101010101" pitchFamily="2" charset="-122"/>
              </a:rPr>
            </a:br>
            <a:r>
              <a:rPr lang="en-US" altLang="zh-CN" sz="2000" dirty="0">
                <a:latin typeface="Times New Roman" panose="02020603050405020304" pitchFamily="18" charset="0"/>
                <a:ea typeface="宋体" panose="02010600030101010101" pitchFamily="2" charset="-122"/>
              </a:rPr>
              <a:t>=2300H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[217E0H]=0400H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[217E2H]=9000H</a:t>
            </a:r>
            <a:r>
              <a:rPr lang="zh-CN" altLang="en-US" sz="2000" dirty="0">
                <a:latin typeface="Times New Roman" panose="02020603050405020304" pitchFamily="18" charset="0"/>
                <a:ea typeface="宋体" panose="02010600030101010101" pitchFamily="2" charset="-122"/>
              </a:rPr>
              <a:t>。确定下列转移指令的转移地址：</a:t>
            </a:r>
            <a:br>
              <a:rPr lang="zh-CN" altLang="en-US"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JMP BX</a:t>
            </a:r>
            <a:br>
              <a:rPr lang="en-US" altLang="zh-CN"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JMP WORD PTR[BX]</a:t>
            </a:r>
            <a:br>
              <a:rPr lang="en-US" altLang="zh-CN"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JMP DWORD PRT[BX+DATA]</a:t>
            </a:r>
            <a:br>
              <a:rPr lang="en-US" altLang="zh-CN" sz="2000"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10363" cy="1143000"/>
          </a:xfrm>
          <a:ln>
            <a:miter/>
          </a:ln>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11571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15715" name="矩形 5"/>
          <p:cNvSpPr/>
          <p:nvPr/>
        </p:nvSpPr>
        <p:spPr>
          <a:xfrm>
            <a:off x="193675" y="1627188"/>
            <a:ext cx="8669338" cy="4832350"/>
          </a:xfrm>
          <a:prstGeom prst="rect">
            <a:avLst/>
          </a:prstGeom>
          <a:noFill/>
          <a:ln w="9525">
            <a:noFill/>
          </a:ln>
        </p:spPr>
        <p:txBody>
          <a:bodyPr anchor="t" anchorCtr="0">
            <a:spAutoFit/>
          </a:bodyPr>
          <a:lstStyle/>
          <a:p>
            <a:pPr>
              <a:lnSpc>
                <a:spcPct val="100000"/>
              </a:lnSpc>
            </a:pPr>
            <a:r>
              <a:rPr lang="en-US" altLang="zh-CN" sz="2000" dirty="0">
                <a:latin typeface="Times New Roman" panose="02020603050405020304" pitchFamily="18" charset="0"/>
                <a:ea typeface="宋体" panose="02010600030101010101" pitchFamily="2" charset="-122"/>
              </a:rPr>
              <a:t>3-6 </a:t>
            </a:r>
            <a:r>
              <a:rPr lang="zh-CN" altLang="en-US" sz="2000" dirty="0">
                <a:latin typeface="Times New Roman" panose="02020603050405020304" pitchFamily="18" charset="0"/>
                <a:ea typeface="宋体" panose="02010600030101010101" pitchFamily="2" charset="-122"/>
              </a:rPr>
              <a:t>已知 </a:t>
            </a:r>
            <a:r>
              <a:rPr lang="en-US" altLang="zh-CN" sz="2000" dirty="0">
                <a:latin typeface="Times New Roman" panose="02020603050405020304" pitchFamily="18" charset="0"/>
                <a:ea typeface="宋体" panose="02010600030101010101" pitchFamily="2" charset="-122"/>
              </a:rPr>
              <a:t>AX=8060H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DX=03F8H</a:t>
            </a:r>
            <a:r>
              <a:rPr lang="zh-CN" altLang="en-US" sz="2000" dirty="0">
                <a:latin typeface="Times New Roman" panose="02020603050405020304" pitchFamily="18" charset="0"/>
                <a:ea typeface="宋体" panose="02010600030101010101" pitchFamily="2" charset="-122"/>
              </a:rPr>
              <a:t>，端口 </a:t>
            </a:r>
            <a:r>
              <a:rPr lang="en-US" altLang="zh-CN" sz="2000" dirty="0">
                <a:latin typeface="Times New Roman" panose="02020603050405020304" pitchFamily="18" charset="0"/>
                <a:ea typeface="宋体" panose="02010600030101010101" pitchFamily="2" charset="-122"/>
              </a:rPr>
              <a:t>PORT1 </a:t>
            </a:r>
            <a:r>
              <a:rPr lang="zh-CN" altLang="en-US" sz="2000" dirty="0">
                <a:latin typeface="Times New Roman" panose="02020603050405020304" pitchFamily="18" charset="0"/>
                <a:ea typeface="宋体" panose="02010600030101010101" pitchFamily="2" charset="-122"/>
              </a:rPr>
              <a:t>的地址是 </a:t>
            </a:r>
            <a:r>
              <a:rPr lang="en-US" altLang="zh-CN" sz="2000" dirty="0">
                <a:latin typeface="Times New Roman" panose="02020603050405020304" pitchFamily="18" charset="0"/>
                <a:ea typeface="宋体" panose="02010600030101010101" pitchFamily="2" charset="-122"/>
              </a:rPr>
              <a:t>48H</a:t>
            </a:r>
            <a:r>
              <a:rPr lang="zh-CN" altLang="en-US" sz="2000" dirty="0">
                <a:latin typeface="Times New Roman" panose="02020603050405020304" pitchFamily="18" charset="0"/>
                <a:ea typeface="宋体" panose="02010600030101010101" pitchFamily="2" charset="-122"/>
              </a:rPr>
              <a:t>，内容为 </a:t>
            </a:r>
            <a:r>
              <a:rPr lang="en-US" altLang="zh-CN" sz="2000" dirty="0">
                <a:latin typeface="Times New Roman" panose="02020603050405020304" pitchFamily="18" charset="0"/>
                <a:ea typeface="宋体" panose="02010600030101010101" pitchFamily="2" charset="-122"/>
              </a:rPr>
              <a:t>40H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PORT2</a:t>
            </a:r>
            <a:br>
              <a:rPr lang="en-US" altLang="zh-CN"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的地址是 </a:t>
            </a:r>
            <a:r>
              <a:rPr lang="en-US" altLang="zh-CN" sz="2000" dirty="0">
                <a:latin typeface="Times New Roman" panose="02020603050405020304" pitchFamily="18" charset="0"/>
                <a:ea typeface="宋体" panose="02010600030101010101" pitchFamily="2" charset="-122"/>
              </a:rPr>
              <a:t>84H</a:t>
            </a:r>
            <a:r>
              <a:rPr lang="zh-CN" altLang="en-US" sz="2000" dirty="0">
                <a:latin typeface="Times New Roman" panose="02020603050405020304" pitchFamily="18" charset="0"/>
                <a:ea typeface="宋体" panose="02010600030101010101" pitchFamily="2" charset="-122"/>
              </a:rPr>
              <a:t>，内容为 </a:t>
            </a:r>
            <a:r>
              <a:rPr lang="en-US" altLang="zh-CN" sz="2000" dirty="0">
                <a:latin typeface="Times New Roman" panose="02020603050405020304" pitchFamily="18" charset="0"/>
                <a:ea typeface="宋体" panose="02010600030101010101" pitchFamily="2" charset="-122"/>
              </a:rPr>
              <a:t>85H</a:t>
            </a:r>
            <a:r>
              <a:rPr lang="zh-CN" altLang="en-US" sz="2000" dirty="0">
                <a:latin typeface="Times New Roman" panose="02020603050405020304" pitchFamily="18" charset="0"/>
                <a:ea typeface="宋体" panose="02010600030101010101" pitchFamily="2" charset="-122"/>
              </a:rPr>
              <a:t>。指出下列指令执行后的结果。</a:t>
            </a:r>
            <a:br>
              <a:rPr lang="zh-CN" altLang="en-US"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OUT DX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AL </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IN AL</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PORT1</a:t>
            </a:r>
            <a:br>
              <a:rPr lang="en-US" altLang="zh-CN"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OUT DX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AX </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4</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IN AX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48H</a:t>
            </a:r>
            <a:br>
              <a:rPr lang="en-US" altLang="zh-CN"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5</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OUT PORT2</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AX</a:t>
            </a:r>
            <a:br>
              <a:rPr lang="en-US" altLang="zh-CN" sz="2000" dirty="0">
                <a:latin typeface="Times New Roman" panose="02020603050405020304" pitchFamily="18" charset="0"/>
                <a:ea typeface="宋体" panose="02010600030101010101" pitchFamily="2" charset="-122"/>
              </a:rPr>
            </a:br>
            <a:r>
              <a:rPr lang="en-US" altLang="zh-CN" sz="2000" dirty="0">
                <a:latin typeface="Times New Roman" panose="02020603050405020304" pitchFamily="18" charset="0"/>
                <a:ea typeface="宋体" panose="02010600030101010101" pitchFamily="2" charset="-122"/>
              </a:rPr>
              <a:t>3-7 </a:t>
            </a:r>
            <a:r>
              <a:rPr lang="zh-CN" altLang="en-US" sz="2000" dirty="0">
                <a:latin typeface="Times New Roman" panose="02020603050405020304" pitchFamily="18" charset="0"/>
                <a:ea typeface="宋体" panose="02010600030101010101" pitchFamily="2" charset="-122"/>
              </a:rPr>
              <a:t>若 </a:t>
            </a:r>
            <a:r>
              <a:rPr lang="en-US" altLang="zh-CN" sz="2000" dirty="0">
                <a:latin typeface="Times New Roman" panose="02020603050405020304" pitchFamily="18" charset="0"/>
                <a:ea typeface="宋体" panose="02010600030101010101" pitchFamily="2" charset="-122"/>
              </a:rPr>
              <a:t>AL=96H</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BL=12H</a:t>
            </a:r>
            <a:r>
              <a:rPr lang="zh-CN" altLang="en-US" sz="2000" dirty="0">
                <a:latin typeface="Times New Roman" panose="02020603050405020304" pitchFamily="18" charset="0"/>
                <a:ea typeface="宋体" panose="02010600030101010101" pitchFamily="2" charset="-122"/>
              </a:rPr>
              <a:t>，分别执行指令 </a:t>
            </a:r>
            <a:r>
              <a:rPr lang="en-US" altLang="zh-CN" sz="2000" dirty="0">
                <a:latin typeface="Times New Roman" panose="02020603050405020304" pitchFamily="18" charset="0"/>
                <a:ea typeface="宋体" panose="02010600030101010101" pitchFamily="2" charset="-122"/>
              </a:rPr>
              <a:t>MUL </a:t>
            </a:r>
            <a:r>
              <a:rPr lang="zh-CN" altLang="en-US" sz="2000" dirty="0">
                <a:latin typeface="Times New Roman" panose="02020603050405020304" pitchFamily="18" charset="0"/>
                <a:ea typeface="宋体" panose="02010600030101010101" pitchFamily="2" charset="-122"/>
              </a:rPr>
              <a:t>和 </a:t>
            </a:r>
            <a:r>
              <a:rPr lang="en-US" altLang="zh-CN" sz="2000" dirty="0">
                <a:latin typeface="Times New Roman" panose="02020603050405020304" pitchFamily="18" charset="0"/>
                <a:ea typeface="宋体" panose="02010600030101010101" pitchFamily="2" charset="-122"/>
              </a:rPr>
              <a:t>IMUL </a:t>
            </a:r>
            <a:r>
              <a:rPr lang="zh-CN" altLang="en-US" sz="2000" dirty="0">
                <a:latin typeface="Times New Roman" panose="02020603050405020304" pitchFamily="18" charset="0"/>
                <a:ea typeface="宋体" panose="02010600030101010101" pitchFamily="2" charset="-122"/>
              </a:rPr>
              <a:t>后的结果是多少？</a:t>
            </a:r>
            <a:br>
              <a:rPr lang="zh-CN" altLang="en-US" sz="2000" dirty="0">
                <a:latin typeface="Times New Roman" panose="02020603050405020304" pitchFamily="18" charset="0"/>
                <a:ea typeface="宋体" panose="02010600030101010101" pitchFamily="2" charset="-122"/>
              </a:rPr>
            </a:br>
            <a:r>
              <a:rPr lang="en-US" altLang="zh-CN" sz="2000" dirty="0">
                <a:latin typeface="Times New Roman" panose="02020603050405020304" pitchFamily="18" charset="0"/>
                <a:ea typeface="宋体" panose="02010600030101010101" pitchFamily="2" charset="-122"/>
              </a:rPr>
              <a:t>3-8 </a:t>
            </a:r>
            <a:r>
              <a:rPr lang="zh-CN" altLang="en-US" sz="2000" dirty="0">
                <a:latin typeface="Times New Roman" panose="02020603050405020304" pitchFamily="18" charset="0"/>
                <a:ea typeface="宋体" panose="02010600030101010101" pitchFamily="2" charset="-122"/>
              </a:rPr>
              <a:t>试述下列指令的区别：</a:t>
            </a:r>
            <a:br>
              <a:rPr lang="zh-CN" altLang="en-US"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AX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2010H </a:t>
            </a:r>
            <a:r>
              <a:rPr lang="zh-CN" altLang="en-US" sz="2000" dirty="0">
                <a:latin typeface="Times New Roman" panose="02020603050405020304" pitchFamily="18" charset="0"/>
                <a:ea typeface="宋体" panose="02010600030101010101" pitchFamily="2" charset="-122"/>
              </a:rPr>
              <a:t>和 </a:t>
            </a:r>
            <a:r>
              <a:rPr lang="en-US" altLang="zh-CN" sz="2000" dirty="0">
                <a:latin typeface="Times New Roman" panose="02020603050405020304" pitchFamily="18" charset="0"/>
                <a:ea typeface="宋体" panose="02010600030101010101" pitchFamily="2" charset="-122"/>
              </a:rPr>
              <a:t>MOV AX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DS</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[2010H]</a:t>
            </a:r>
            <a:br>
              <a:rPr lang="en-US" altLang="zh-CN"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MOV BX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200H[BX]</a:t>
            </a:r>
            <a:r>
              <a:rPr lang="zh-CN" altLang="en-US" sz="2000" dirty="0">
                <a:latin typeface="Times New Roman" panose="02020603050405020304" pitchFamily="18" charset="0"/>
                <a:ea typeface="宋体" panose="02010600030101010101" pitchFamily="2" charset="-122"/>
              </a:rPr>
              <a:t>和 </a:t>
            </a:r>
            <a:r>
              <a:rPr lang="en-US" altLang="zh-CN" sz="2000" dirty="0">
                <a:latin typeface="Times New Roman" panose="02020603050405020304" pitchFamily="18" charset="0"/>
                <a:ea typeface="宋体" panose="02010600030101010101" pitchFamily="2" charset="-122"/>
              </a:rPr>
              <a:t>LEA BX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200H[BX]</a:t>
            </a:r>
            <a:br>
              <a:rPr lang="en-US" altLang="zh-CN"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CMP DX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CX </a:t>
            </a:r>
            <a:r>
              <a:rPr lang="zh-CN" altLang="en-US" sz="2000" dirty="0">
                <a:latin typeface="Times New Roman" panose="02020603050405020304" pitchFamily="18" charset="0"/>
                <a:ea typeface="宋体" panose="02010600030101010101" pitchFamily="2" charset="-122"/>
              </a:rPr>
              <a:t>和 </a:t>
            </a:r>
            <a:r>
              <a:rPr lang="en-US" altLang="zh-CN" sz="2000" dirty="0">
                <a:latin typeface="Times New Roman" panose="02020603050405020304" pitchFamily="18" charset="0"/>
                <a:ea typeface="宋体" panose="02010600030101010101" pitchFamily="2" charset="-122"/>
              </a:rPr>
              <a:t>SUB DX</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CX</a:t>
            </a:r>
          </a:p>
          <a:p>
            <a:pPr>
              <a:lnSpc>
                <a:spcPct val="100000"/>
              </a:lnSpc>
            </a:pPr>
            <a:r>
              <a:rPr lang="en-US" altLang="zh-CN" sz="2000" dirty="0">
                <a:latin typeface="Times New Roman" panose="02020603050405020304" pitchFamily="18" charset="0"/>
                <a:ea typeface="宋体" panose="02010600030101010101" pitchFamily="2" charset="-122"/>
              </a:rPr>
              <a:t>3-9 </a:t>
            </a:r>
            <a:r>
              <a:rPr lang="zh-CN" altLang="en-US" sz="2000" dirty="0">
                <a:latin typeface="Times New Roman" panose="02020603050405020304" pitchFamily="18" charset="0"/>
                <a:ea typeface="宋体" panose="02010600030101010101" pitchFamily="2" charset="-122"/>
              </a:rPr>
              <a:t>试比较无条件转移指令、条件转移指令、调用指令和中断指令有什么异同。</a:t>
            </a:r>
            <a:br>
              <a:rPr lang="en-US" altLang="zh-CN" sz="2000" dirty="0">
                <a:latin typeface="Times New Roman" panose="02020603050405020304" pitchFamily="18" charset="0"/>
                <a:ea typeface="宋体" panose="02010600030101010101" pitchFamily="2" charset="-122"/>
              </a:rPr>
            </a:br>
            <a:r>
              <a:rPr lang="en-US" altLang="zh-CN" sz="2000" dirty="0">
                <a:latin typeface="Times New Roman" panose="02020603050405020304" pitchFamily="18" charset="0"/>
                <a:ea typeface="宋体" panose="02010600030101010101" pitchFamily="2" charset="-122"/>
              </a:rPr>
              <a:t> </a:t>
            </a:r>
            <a:br>
              <a:rPr lang="en-US" altLang="zh-CN" sz="2000"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10363" cy="1143000"/>
          </a:xfrm>
          <a:ln>
            <a:miter/>
          </a:ln>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11776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117763" name="矩形 5"/>
          <p:cNvSpPr/>
          <p:nvPr/>
        </p:nvSpPr>
        <p:spPr>
          <a:xfrm>
            <a:off x="193675" y="1627188"/>
            <a:ext cx="8669338" cy="2616200"/>
          </a:xfrm>
          <a:prstGeom prst="rect">
            <a:avLst/>
          </a:prstGeom>
          <a:noFill/>
          <a:ln w="9525">
            <a:noFill/>
          </a:ln>
        </p:spPr>
        <p:txBody>
          <a:bodyPr anchor="t" anchorCtr="0">
            <a:spAutoFit/>
          </a:bodyPr>
          <a:lstStyle/>
          <a:p>
            <a:pPr>
              <a:lnSpc>
                <a:spcPct val="100000"/>
              </a:lnSpc>
            </a:pPr>
            <a:r>
              <a:rPr lang="en-US" altLang="zh-CN" sz="2000" dirty="0">
                <a:latin typeface="Times New Roman" panose="02020603050405020304" pitchFamily="18" charset="0"/>
                <a:ea typeface="宋体" panose="02010600030101010101" pitchFamily="2" charset="-122"/>
              </a:rPr>
              <a:t>3-10 </a:t>
            </a:r>
            <a:r>
              <a:rPr lang="zh-CN" altLang="en-US" sz="2000" dirty="0">
                <a:latin typeface="Times New Roman" panose="02020603050405020304" pitchFamily="18" charset="0"/>
                <a:ea typeface="宋体" panose="02010600030101010101" pitchFamily="2" charset="-122"/>
              </a:rPr>
              <a:t>写出完成下述功能的程序段。</a:t>
            </a:r>
            <a:br>
              <a:rPr lang="zh-CN" altLang="en-US"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）从地址 </a:t>
            </a:r>
            <a:r>
              <a:rPr lang="en-US" altLang="zh-CN" sz="2000" dirty="0">
                <a:latin typeface="Times New Roman" panose="02020603050405020304" pitchFamily="18" charset="0"/>
                <a:ea typeface="宋体" panose="02010600030101010101" pitchFamily="2" charset="-122"/>
              </a:rPr>
              <a:t>DS</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0010H </a:t>
            </a:r>
            <a:r>
              <a:rPr lang="zh-CN" altLang="en-US" sz="2000" dirty="0">
                <a:latin typeface="Times New Roman" panose="02020603050405020304" pitchFamily="18" charset="0"/>
                <a:ea typeface="宋体" panose="02010600030101010101" pitchFamily="2" charset="-122"/>
              </a:rPr>
              <a:t>中传送一个数据 </a:t>
            </a:r>
            <a:r>
              <a:rPr lang="en-US" altLang="zh-CN" sz="2000" dirty="0">
                <a:latin typeface="Times New Roman" panose="02020603050405020304" pitchFamily="18" charset="0"/>
                <a:ea typeface="宋体" panose="02010600030101010101" pitchFamily="2" charset="-122"/>
              </a:rPr>
              <a:t>50H </a:t>
            </a:r>
            <a:r>
              <a:rPr lang="zh-CN" altLang="en-US" sz="2000" dirty="0">
                <a:latin typeface="Times New Roman" panose="02020603050405020304" pitchFamily="18" charset="0"/>
                <a:ea typeface="宋体" panose="02010600030101010101" pitchFamily="2" charset="-122"/>
              </a:rPr>
              <a:t>到 </a:t>
            </a:r>
            <a:r>
              <a:rPr lang="en-US" altLang="zh-CN" sz="2000" dirty="0">
                <a:latin typeface="Times New Roman" panose="02020603050405020304" pitchFamily="18" charset="0"/>
                <a:ea typeface="宋体" panose="02010600030101010101" pitchFamily="2" charset="-122"/>
              </a:rPr>
              <a:t>AL </a:t>
            </a:r>
            <a:r>
              <a:rPr lang="zh-CN" altLang="en-US" sz="2000" dirty="0">
                <a:latin typeface="Times New Roman" panose="02020603050405020304" pitchFamily="18" charset="0"/>
                <a:ea typeface="宋体" panose="02010600030101010101" pitchFamily="2" charset="-122"/>
              </a:rPr>
              <a:t>寄存器。</a:t>
            </a:r>
            <a:br>
              <a:rPr lang="zh-CN" altLang="en-US"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AL </a:t>
            </a:r>
            <a:r>
              <a:rPr lang="zh-CN" altLang="en-US" sz="2000" dirty="0">
                <a:latin typeface="Times New Roman" panose="02020603050405020304" pitchFamily="18" charset="0"/>
                <a:ea typeface="宋体" panose="02010600030101010101" pitchFamily="2" charset="-122"/>
              </a:rPr>
              <a:t>的内容与字节单元 </a:t>
            </a:r>
            <a:r>
              <a:rPr lang="en-US" altLang="zh-CN" sz="2000" dirty="0">
                <a:latin typeface="Times New Roman" panose="02020603050405020304" pitchFamily="18" charset="0"/>
                <a:ea typeface="宋体" panose="02010600030101010101" pitchFamily="2" charset="-122"/>
              </a:rPr>
              <a:t>DS</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0010H </a:t>
            </a:r>
            <a:r>
              <a:rPr lang="zh-CN" altLang="en-US" sz="2000" dirty="0">
                <a:latin typeface="Times New Roman" panose="02020603050405020304" pitchFamily="18" charset="0"/>
                <a:ea typeface="宋体" panose="02010600030101010101" pitchFamily="2" charset="-122"/>
              </a:rPr>
              <a:t>中的内容相乘。</a:t>
            </a:r>
            <a:br>
              <a:rPr lang="zh-CN" altLang="en-US"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）乘积存入字单元 </a:t>
            </a:r>
            <a:r>
              <a:rPr lang="en-US" altLang="zh-CN" sz="2000" dirty="0">
                <a:latin typeface="Times New Roman" panose="02020603050405020304" pitchFamily="18" charset="0"/>
                <a:ea typeface="宋体" panose="02010600030101010101" pitchFamily="2" charset="-122"/>
              </a:rPr>
              <a:t>DS</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0020H </a:t>
            </a:r>
            <a:r>
              <a:rPr lang="zh-CN" altLang="en-US" sz="2000" dirty="0">
                <a:latin typeface="Times New Roman" panose="02020603050405020304" pitchFamily="18" charset="0"/>
                <a:ea typeface="宋体" panose="02010600030101010101" pitchFamily="2" charset="-122"/>
              </a:rPr>
              <a:t>中。</a:t>
            </a:r>
            <a:br>
              <a:rPr lang="zh-CN" altLang="en-US"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4</a:t>
            </a:r>
            <a:r>
              <a:rPr lang="zh-CN" altLang="en-US" sz="2000" dirty="0">
                <a:latin typeface="Times New Roman" panose="02020603050405020304" pitchFamily="18" charset="0"/>
                <a:ea typeface="宋体" panose="02010600030101010101" pitchFamily="2" charset="-122"/>
              </a:rPr>
              <a:t>）屏蔽 </a:t>
            </a:r>
            <a:r>
              <a:rPr lang="en-US" altLang="zh-CN" sz="2000" dirty="0">
                <a:latin typeface="Times New Roman" panose="02020603050405020304" pitchFamily="18" charset="0"/>
                <a:ea typeface="宋体" panose="02010600030101010101" pitchFamily="2" charset="-122"/>
              </a:rPr>
              <a:t>CX </a:t>
            </a:r>
            <a:r>
              <a:rPr lang="zh-CN" altLang="en-US" sz="2000" dirty="0">
                <a:latin typeface="Times New Roman" panose="02020603050405020304" pitchFamily="18" charset="0"/>
                <a:ea typeface="宋体" panose="02010600030101010101" pitchFamily="2" charset="-122"/>
              </a:rPr>
              <a:t>寄存器中的 </a:t>
            </a:r>
            <a:r>
              <a:rPr lang="en-US" altLang="zh-CN" sz="2000" dirty="0">
                <a:latin typeface="Times New Roman" panose="02020603050405020304" pitchFamily="18" charset="0"/>
                <a:ea typeface="宋体" panose="02010600030101010101" pitchFamily="2" charset="-122"/>
              </a:rPr>
              <a:t>D11</a:t>
            </a:r>
            <a:r>
              <a:rPr lang="zh-CN" altLang="en-US" sz="2000" dirty="0">
                <a:latin typeface="Times New Roman" panose="02020603050405020304" pitchFamily="18" charset="0"/>
                <a:ea typeface="宋体" panose="02010600030101010101" pitchFamily="2" charset="-122"/>
              </a:rPr>
              <a:t>、 </a:t>
            </a:r>
            <a:r>
              <a:rPr lang="en-US" altLang="zh-CN" sz="2000" dirty="0">
                <a:latin typeface="Times New Roman" panose="02020603050405020304" pitchFamily="18" charset="0"/>
                <a:ea typeface="宋体" panose="02010600030101010101" pitchFamily="2" charset="-122"/>
              </a:rPr>
              <a:t>D7 </a:t>
            </a:r>
            <a:r>
              <a:rPr lang="zh-CN" altLang="en-US" sz="2000" dirty="0">
                <a:latin typeface="Times New Roman" panose="02020603050405020304" pitchFamily="18" charset="0"/>
                <a:ea typeface="宋体" panose="02010600030101010101" pitchFamily="2" charset="-122"/>
              </a:rPr>
              <a:t>和 </a:t>
            </a:r>
            <a:r>
              <a:rPr lang="en-US" altLang="zh-CN" sz="2000" dirty="0">
                <a:latin typeface="Times New Roman" panose="02020603050405020304" pitchFamily="18" charset="0"/>
                <a:ea typeface="宋体" panose="02010600030101010101" pitchFamily="2" charset="-122"/>
              </a:rPr>
              <a:t>D3 </a:t>
            </a:r>
            <a:r>
              <a:rPr lang="zh-CN" altLang="en-US" sz="2000" dirty="0">
                <a:latin typeface="Times New Roman" panose="02020603050405020304" pitchFamily="18" charset="0"/>
                <a:ea typeface="宋体" panose="02010600030101010101" pitchFamily="2" charset="-122"/>
              </a:rPr>
              <a:t>位。</a:t>
            </a:r>
            <a:br>
              <a:rPr lang="zh-CN" altLang="en-US" sz="2000" dirty="0">
                <a:latin typeface="Times New Roman" panose="02020603050405020304" pitchFamily="18" charset="0"/>
                <a:ea typeface="宋体" panose="02010600030101010101" pitchFamily="2" charset="-122"/>
              </a:rPr>
            </a:br>
            <a:r>
              <a:rPr lang="zh-CN" altLang="en-US" sz="2000" dirty="0">
                <a:latin typeface="Times New Roman" panose="02020603050405020304" pitchFamily="18" charset="0"/>
                <a:ea typeface="宋体" panose="02010600030101010101" pitchFamily="2" charset="-122"/>
              </a:rPr>
              <a:t> </a:t>
            </a:r>
            <a:br>
              <a:rPr lang="en-US" altLang="zh-CN" sz="2000" dirty="0">
                <a:latin typeface="Times New Roman" panose="02020603050405020304" pitchFamily="18" charset="0"/>
                <a:ea typeface="宋体" panose="02010600030101010101" pitchFamily="2" charset="-122"/>
              </a:rPr>
            </a:br>
            <a:r>
              <a:rPr lang="en-US" altLang="zh-CN" sz="2000" dirty="0">
                <a:latin typeface="Times New Roman" panose="02020603050405020304" pitchFamily="18" charset="0"/>
                <a:ea typeface="宋体" panose="02010600030101010101" pitchFamily="2" charset="-122"/>
              </a:rPr>
              <a:t> </a:t>
            </a:r>
            <a:br>
              <a:rPr lang="en-US" altLang="zh-CN" sz="2000" dirty="0">
                <a:latin typeface="Times New Roman" panose="02020603050405020304" pitchFamily="18" charset="0"/>
                <a:ea typeface="宋体" panose="02010600030101010101" pitchFamily="2" charset="-122"/>
              </a:rPr>
            </a:b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theme/theme1.xml><?xml version="1.0" encoding="utf-8"?>
<a:theme xmlns:a="http://schemas.openxmlformats.org/drawingml/2006/main" name="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Office\Templates\2052\项目总览.pot</Template>
  <TotalTime>65</TotalTime>
  <Words>14320</Words>
  <Application>Microsoft Office PowerPoint</Application>
  <PresentationFormat>On-screen Show (4:3)</PresentationFormat>
  <Paragraphs>533</Paragraphs>
  <Slides>109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109</vt:i4>
      </vt:variant>
    </vt:vector>
  </HeadingPairs>
  <TitlesOfParts>
    <vt:vector size="115" baseType="lpstr">
      <vt:lpstr>宋体</vt:lpstr>
      <vt:lpstr>隶书</vt:lpstr>
      <vt:lpstr>Arial</vt:lpstr>
      <vt:lpstr>Times New Roman</vt:lpstr>
      <vt:lpstr>Wingdings</vt:lpstr>
      <vt:lpstr>项目总览</vt:lpstr>
      <vt:lpstr>PowerPoint Presentation</vt:lpstr>
      <vt:lpstr>第3章  8086/8088指令系统</vt:lpstr>
      <vt:lpstr>3.1  概述</vt:lpstr>
      <vt:lpstr>3.1  概述</vt:lpstr>
      <vt:lpstr>3.1  概述</vt:lpstr>
      <vt:lpstr>3.1  概述</vt:lpstr>
      <vt:lpstr>3.1.1  指令的基本构成 </vt:lpstr>
      <vt:lpstr>3.1.1  指令的基本构成 </vt:lpstr>
      <vt:lpstr>3.1.1  指令的基本构成 </vt:lpstr>
      <vt:lpstr>3.1.1  指令的基本构成 </vt:lpstr>
      <vt:lpstr>3.1.2  指令执行时间 </vt:lpstr>
      <vt:lpstr>3.2  寻址方式</vt:lpstr>
      <vt:lpstr>3.2.1  立即寻址</vt:lpstr>
      <vt:lpstr>3.2.1  立即寻址</vt:lpstr>
      <vt:lpstr>3.2.2  寄存器寻址</vt:lpstr>
      <vt:lpstr>3.2.3  直接寻址</vt:lpstr>
      <vt:lpstr>3.2.3  直接寻址</vt:lpstr>
      <vt:lpstr>3.2.4  寄存器间接寻址</vt:lpstr>
      <vt:lpstr>3.2.4  寄存器间接寻址</vt:lpstr>
      <vt:lpstr>3.2.4  寄存器间接寻址</vt:lpstr>
      <vt:lpstr>3.2.5  寄存器相对寻址</vt:lpstr>
      <vt:lpstr>3.2.5  寄存器相对寻址</vt:lpstr>
      <vt:lpstr>3.2.6  基址—变址寻址</vt:lpstr>
      <vt:lpstr>3.2.6  基址—变址寻址</vt:lpstr>
      <vt:lpstr>3.2.7  基址—变址相对寻址</vt:lpstr>
      <vt:lpstr>3.2.7  基址—变址相对寻址</vt:lpstr>
      <vt:lpstr>3.2.8  隐含寻址</vt:lpstr>
      <vt:lpstr>3.3  8086/8088 指令系统</vt:lpstr>
      <vt:lpstr>3.3.1  数据传送指令</vt:lpstr>
      <vt:lpstr>3.3.1  数据传送指令</vt:lpstr>
      <vt:lpstr>3.3.1  数据传送指令</vt:lpstr>
      <vt:lpstr>3.3.1  数据传送指令</vt:lpstr>
      <vt:lpstr>3.3.1  数据传送指令</vt:lpstr>
      <vt:lpstr>3.3.1  数据传送指令</vt:lpstr>
      <vt:lpstr>3.3.1  数据传送指令</vt:lpstr>
      <vt:lpstr>3.3.1  数据传送指令</vt:lpstr>
      <vt:lpstr>3.3.1  数据传送指令</vt:lpstr>
      <vt:lpstr>3.3.1  数据传送指令</vt:lpstr>
      <vt:lpstr>3.3.1  数据传送指令</vt:lpstr>
      <vt:lpstr>3.3.1  数据传送指令</vt:lpstr>
      <vt:lpstr>3.3.1  数据传送指令</vt:lpstr>
      <vt:lpstr>3.3.1  数据传送指令</vt:lpstr>
      <vt:lpstr>3.3.1  数据传送指令</vt:lpstr>
      <vt:lpstr>3.3.1  数据传送指令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3.3.2  算术运算指令</vt:lpstr>
      <vt:lpstr>3.3.3  逻辑运算和移位指令</vt:lpstr>
      <vt:lpstr>3.3.3  逻辑运算和移位指令</vt:lpstr>
      <vt:lpstr>3.3.3  逻辑运算和移位指令</vt:lpstr>
      <vt:lpstr>3.3.3  逻辑运算和移位指令</vt:lpstr>
      <vt:lpstr>3.3.3  逻辑运算和移位指令</vt:lpstr>
      <vt:lpstr>3.3.3  逻辑运算和移位指令</vt:lpstr>
      <vt:lpstr>3.3.3  逻辑运算和移位指令</vt:lpstr>
      <vt:lpstr>3.3.3  逻辑运算和移位指令</vt:lpstr>
      <vt:lpstr>3.3.3  逻辑运算和移位指令</vt:lpstr>
      <vt:lpstr>3.3.3  逻辑运算和移位指令</vt:lpstr>
      <vt:lpstr>3.3.3  逻辑运算和移位指令</vt:lpstr>
      <vt:lpstr>3.3.3  逻辑运算和移位指令</vt:lpstr>
      <vt:lpstr>3.3.3  逻辑运算和移位指令</vt:lpstr>
      <vt:lpstr>3.3.4  串操作指令</vt:lpstr>
      <vt:lpstr>3.3.4  串操作指令</vt:lpstr>
      <vt:lpstr>3.3.4  串操作指令</vt:lpstr>
      <vt:lpstr>3.3.4  串操作指令</vt:lpstr>
      <vt:lpstr>3.3.4  串操作指令</vt:lpstr>
      <vt:lpstr>3.3.4  串操作指令</vt:lpstr>
      <vt:lpstr>3.3.4  串操作指令</vt:lpstr>
      <vt:lpstr>3.3.4  串操作指令</vt:lpstr>
      <vt:lpstr>3.3.5  程序控制指令</vt:lpstr>
      <vt:lpstr>3.3.5  程序控制指令</vt:lpstr>
      <vt:lpstr>3.3.5  程序控制指令</vt:lpstr>
      <vt:lpstr>3.3.5  程序控制指令</vt:lpstr>
      <vt:lpstr>3.3.5  程序控制指令</vt:lpstr>
      <vt:lpstr>3.3.5  程序控制指令</vt:lpstr>
      <vt:lpstr>3.3.5  程序控制指令</vt:lpstr>
      <vt:lpstr>3.3.5  程序控制指令</vt:lpstr>
      <vt:lpstr>3.3.5  程序控制指令</vt:lpstr>
      <vt:lpstr>3.3.5  程序控制指令</vt:lpstr>
      <vt:lpstr>3.3.5  程序控制指令</vt:lpstr>
      <vt:lpstr>3.3.5  程序控制指令</vt:lpstr>
      <vt:lpstr>3.3.5  程序控制指令</vt:lpstr>
      <vt:lpstr>3.3.5  程序控制指令</vt:lpstr>
      <vt:lpstr>3.3.5  程序控制指令</vt:lpstr>
      <vt:lpstr>3.3.5  程序控制指令</vt:lpstr>
      <vt:lpstr>3.3.6  处理器控制指令</vt:lpstr>
      <vt:lpstr>3.3.6  处理器控制指令</vt:lpstr>
      <vt:lpstr>3.3.6  处理器控制指令</vt:lpstr>
      <vt:lpstr>思考与练习</vt:lpstr>
      <vt:lpstr>思考与练习</vt:lpstr>
      <vt:lpstr>思考与练习</vt:lpstr>
      <vt:lpstr>思考与练习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Dongming Guo</cp:lastModifiedBy>
  <cp:revision>932</cp:revision>
  <dcterms:created xsi:type="dcterms:W3CDTF">2013-12-06T13:55:24Z</dcterms:created>
  <dcterms:modified xsi:type="dcterms:W3CDTF">2024-09-19T01:16:08Z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9D074C484223450AAA2C314B5D53A0DE_13</vt:lpwstr>
  </property>
</Properties>
</file>