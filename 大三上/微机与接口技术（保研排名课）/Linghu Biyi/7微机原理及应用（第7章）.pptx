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60"/>
  </p:notesMasterIdLst>
  <p:handoutMasterIdLst>
    <p:handoutMasterId r:id="rId61"/>
  </p:handoutMasterIdLst>
  <p:sldIdLst>
    <p:sldId id="707" r:id="rId3"/>
    <p:sldId id="462" r:id="rId4"/>
    <p:sldId id="565" r:id="rId5"/>
    <p:sldId id="564" r:id="rId6"/>
    <p:sldId id="763" r:id="rId7"/>
    <p:sldId id="566" r:id="rId8"/>
    <p:sldId id="567" r:id="rId9"/>
    <p:sldId id="568" r:id="rId10"/>
    <p:sldId id="562" r:id="rId11"/>
    <p:sldId id="415" r:id="rId12"/>
    <p:sldId id="569" r:id="rId13"/>
    <p:sldId id="570" r:id="rId14"/>
    <p:sldId id="571" r:id="rId15"/>
    <p:sldId id="572" r:id="rId16"/>
    <p:sldId id="573" r:id="rId17"/>
    <p:sldId id="574" r:id="rId18"/>
    <p:sldId id="575" r:id="rId19"/>
    <p:sldId id="576" r:id="rId20"/>
    <p:sldId id="577" r:id="rId21"/>
    <p:sldId id="578" r:id="rId22"/>
    <p:sldId id="579" r:id="rId23"/>
    <p:sldId id="580" r:id="rId24"/>
    <p:sldId id="622" r:id="rId25"/>
    <p:sldId id="623" r:id="rId26"/>
    <p:sldId id="624" r:id="rId27"/>
    <p:sldId id="625" r:id="rId28"/>
    <p:sldId id="626" r:id="rId29"/>
    <p:sldId id="627" r:id="rId30"/>
    <p:sldId id="628" r:id="rId31"/>
    <p:sldId id="629" r:id="rId32"/>
    <p:sldId id="630" r:id="rId33"/>
    <p:sldId id="631" r:id="rId34"/>
    <p:sldId id="632" r:id="rId35"/>
    <p:sldId id="633" r:id="rId36"/>
    <p:sldId id="634" r:id="rId37"/>
    <p:sldId id="635" r:id="rId38"/>
    <p:sldId id="636" r:id="rId39"/>
    <p:sldId id="637" r:id="rId40"/>
    <p:sldId id="638" r:id="rId41"/>
    <p:sldId id="639" r:id="rId42"/>
    <p:sldId id="640" r:id="rId43"/>
    <p:sldId id="641" r:id="rId44"/>
    <p:sldId id="642" r:id="rId45"/>
    <p:sldId id="643" r:id="rId46"/>
    <p:sldId id="644" r:id="rId47"/>
    <p:sldId id="645" r:id="rId48"/>
    <p:sldId id="646" r:id="rId49"/>
    <p:sldId id="647" r:id="rId50"/>
    <p:sldId id="648" r:id="rId51"/>
    <p:sldId id="649" r:id="rId52"/>
    <p:sldId id="650" r:id="rId53"/>
    <p:sldId id="651" r:id="rId54"/>
    <p:sldId id="652" r:id="rId55"/>
    <p:sldId id="653" r:id="rId56"/>
    <p:sldId id="764" r:id="rId57"/>
    <p:sldId id="765" r:id="rId58"/>
    <p:sldId id="766" r:id="rId59"/>
  </p:sldIdLst>
  <p:sldSz cx="9144000" cy="6858000" type="screen4x3"/>
  <p:notesSz cx="6858000" cy="9144000"/>
  <p:custDataLst>
    <p:tags r:id="rId62"/>
  </p:custDataLst>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6"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66FFCC"/>
    <a:srgbClr val="FFFF66"/>
    <a:srgbClr val="99FFCC"/>
    <a:srgbClr val="FF3300"/>
    <a:srgbClr val="FFCC00"/>
    <a:srgbClr val="FF99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1"/>
    <p:restoredTop sz="94614"/>
  </p:normalViewPr>
  <p:slideViewPr>
    <p:cSldViewPr snapToGrid="0" showGuides="1">
      <p:cViewPr varScale="1">
        <p:scale>
          <a:sx n="112" d="100"/>
          <a:sy n="112" d="100"/>
        </p:scale>
        <p:origin x="60" y="776"/>
      </p:cViewPr>
      <p:guideLst>
        <p:guide orient="horz" pos="2176"/>
        <p:guide pos="6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4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54</a:t>
            </a:fld>
            <a:endParaRPr lang="en-US" altLang="zh-CN" sz="1200" b="0" dirty="0"/>
          </a:p>
        </p:txBody>
      </p:sp>
      <p:sp>
        <p:nvSpPr>
          <p:cNvPr id="66562" name="Rectangle 2"/>
          <p:cNvSpPr>
            <a:spLocks noGrp="1" noRot="1" noChangeAspect="1" noTextEdit="1"/>
          </p:cNvSpPr>
          <p:nvPr>
            <p:ph type="sldImg"/>
          </p:nvPr>
        </p:nvSpPr>
        <p:spPr>
          <a:ln/>
        </p:spPr>
      </p:sp>
      <p:sp>
        <p:nvSpPr>
          <p:cNvPr id="665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685800" y="1717675"/>
            <a:ext cx="7772400" cy="1711325"/>
          </a:xfrm>
        </p:spPr>
        <p:txBody>
          <a:bodyPr/>
          <a:lstStyle>
            <a:lvl1pPr>
              <a:defRPr sz="4000"/>
            </a:lvl1pPr>
          </a:lstStyle>
          <a:p>
            <a:pPr fontAlgn="base"/>
            <a:r>
              <a:rPr lang="zh-CN" altLang="en-US" strike="noStrike" noProof="1"/>
              <a:t>单击此处编辑母版标题样式</a:t>
            </a:r>
          </a:p>
        </p:txBody>
      </p:sp>
      <p:sp>
        <p:nvSpPr>
          <p:cNvPr id="4101" name="Rectangle 5"/>
          <p:cNvSpPr>
            <a:spLocks noGrp="1" noChangeArrowheads="1"/>
          </p:cNvSpPr>
          <p:nvPr>
            <p:ph type="subTitle" sz="quarter" idx="1"/>
          </p:nvPr>
        </p:nvSpPr>
        <p:spPr>
          <a:xfrm>
            <a:off x="1828800" y="3810000"/>
            <a:ext cx="6400800" cy="1752600"/>
          </a:xfrm>
        </p:spPr>
        <p:txBody>
          <a:bodyPr/>
          <a:lstStyle>
            <a:lvl1pPr marL="0" indent="0" algn="ctr">
              <a:buFont typeface="Wingdings" panose="05000000000000000000" pitchFamily="2" charset="2"/>
              <a:buNone/>
              <a:defRPr b="0"/>
            </a:lvl1pPr>
          </a:lstStyle>
          <a:p>
            <a:pPr fontAlgn="base"/>
            <a:r>
              <a:rPr lang="zh-CN" altLang="en-US" strike="noStrike" noProof="1"/>
              <a:t>单击此处编辑母版副标题样式</a:t>
            </a: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768350"/>
            <a:ext cx="77724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1" name="日期占位符 4"/>
          <p:cNvSpPr>
            <a:spLocks noGrp="1"/>
          </p:cNvSpPr>
          <p:nvPr>
            <p:ph type="dt" sz="half" idx="12"/>
          </p:nvPr>
        </p:nvSpPr>
        <p:spPr bwMode="auto">
          <a:xfrm>
            <a:off x="665163" y="6367463"/>
            <a:ext cx="19050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2" name="页脚占位符 5"/>
          <p:cNvSpPr>
            <a:spLocks noGrp="1"/>
          </p:cNvSpPr>
          <p:nvPr>
            <p:ph type="ftr" sz="quarter" idx="3"/>
          </p:nvPr>
        </p:nvSpPr>
        <p:spPr bwMode="auto">
          <a:xfrm>
            <a:off x="3103563" y="6367463"/>
            <a:ext cx="28956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3" name="灯片编号占位符 6"/>
          <p:cNvSpPr>
            <a:spLocks noGrp="1"/>
          </p:cNvSpPr>
          <p:nvPr>
            <p:ph type="sldNum" sz="quarter" idx="4"/>
          </p:nvPr>
        </p:nvSpPr>
        <p:spPr bwMode="auto">
          <a:xfrm>
            <a:off x="6532563" y="6367463"/>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685800" y="1717675"/>
            <a:ext cx="7772400" cy="1711325"/>
          </a:xfrm>
        </p:spPr>
        <p:txBody>
          <a:bodyPr/>
          <a:lstStyle>
            <a:lvl1pPr>
              <a:defRPr sz="4000"/>
            </a:lvl1pPr>
          </a:lstStyle>
          <a:p>
            <a:pPr fontAlgn="base"/>
            <a:r>
              <a:rPr lang="zh-CN" altLang="en-US" strike="noStrike" noProof="1"/>
              <a:t>单击此处编辑母版标题样式</a:t>
            </a:r>
          </a:p>
        </p:txBody>
      </p:sp>
      <p:sp>
        <p:nvSpPr>
          <p:cNvPr id="4101" name="Rectangle 5"/>
          <p:cNvSpPr>
            <a:spLocks noGrp="1" noChangeArrowheads="1"/>
          </p:cNvSpPr>
          <p:nvPr>
            <p:ph type="subTitle" sz="quarter" idx="1"/>
          </p:nvPr>
        </p:nvSpPr>
        <p:spPr>
          <a:xfrm>
            <a:off x="1828800" y="3810000"/>
            <a:ext cx="6400800" cy="1752600"/>
          </a:xfrm>
        </p:spPr>
        <p:txBody>
          <a:bodyPr/>
          <a:lstStyle>
            <a:lvl1pPr marL="0" indent="0" algn="ctr">
              <a:buFont typeface="Wingdings" panose="05000000000000000000" pitchFamily="2" charset="2"/>
              <a:buNone/>
              <a:defRPr b="0"/>
            </a:lvl1pPr>
          </a:lstStyle>
          <a:p>
            <a:pPr fontAlgn="base"/>
            <a:r>
              <a:rPr lang="zh-CN" altLang="en-US" strike="noStrike" noProof="1"/>
              <a:t>单击此处编辑母版副标题样式</a:t>
            </a: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p>
            <a:pPr marL="0" marR="0" indent="0" algn="l"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p>
            <a:pPr marL="0" marR="0" indent="0" defTabSz="914400" rtl="0" eaLnBrk="1" fontAlgn="base" latinLnBrk="0" hangingPunct="1">
              <a:spcAft>
                <a:spcPct val="0"/>
              </a:spcAft>
              <a:buClrTx/>
              <a:buSzTx/>
              <a:buFont typeface="Arial" panose="020B0604020202020204" pitchFamily="34" charset="0"/>
              <a:buNone/>
              <a:defRPr/>
            </a:pPr>
            <a:endParaRPr kumimoji="0" lang="en-US" i="0" strike="noStrike" kern="1200" cap="none" spc="0" normalizeH="0" baseline="0" noProof="0">
              <a:solidFill>
                <a:schemeClr val="tx1"/>
              </a:solidFill>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768350"/>
            <a:ext cx="77724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1" name="日期占位符 4"/>
          <p:cNvSpPr>
            <a:spLocks noGrp="1"/>
          </p:cNvSpPr>
          <p:nvPr>
            <p:ph type="dt" sz="half" idx="12"/>
          </p:nvPr>
        </p:nvSpPr>
        <p:spPr bwMode="auto">
          <a:xfrm>
            <a:off x="665163" y="6367463"/>
            <a:ext cx="19050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2" name="页脚占位符 5"/>
          <p:cNvSpPr>
            <a:spLocks noGrp="1"/>
          </p:cNvSpPr>
          <p:nvPr>
            <p:ph type="ftr" sz="quarter" idx="3"/>
          </p:nvPr>
        </p:nvSpPr>
        <p:spPr bwMode="auto">
          <a:xfrm>
            <a:off x="3103563" y="6367463"/>
            <a:ext cx="2895600" cy="457200"/>
          </a:xfrm>
          <a:prstGeom prst="rect">
            <a:avLst/>
          </a:prstGeom>
          <a:noFill/>
          <a:ln w="9525">
            <a:noFill/>
            <a:miter lim="800000"/>
          </a:ln>
          <a:effectLst/>
        </p:spPr>
        <p:txBody>
          <a:bodyPr vert="horz" wrap="square" lIns="92075" tIns="46038" rIns="92075" bIns="46038" numCol="1" anchor="ctr" anchorCtr="0" compatLnSpc="1"/>
          <a:lstStyle>
            <a:lvl1pPr>
              <a:defRPr smtClean="0"/>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3" name="灯片编号占位符 6"/>
          <p:cNvSpPr>
            <a:spLocks noGrp="1"/>
          </p:cNvSpPr>
          <p:nvPr>
            <p:ph type="sldNum" sz="quarter" idx="4"/>
          </p:nvPr>
        </p:nvSpPr>
        <p:spPr bwMode="auto">
          <a:xfrm>
            <a:off x="6532563" y="6367463"/>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2054"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861" name="Text Box 5"/>
          <p:cNvSpPr txBox="1"/>
          <p:nvPr/>
        </p:nvSpPr>
        <p:spPr>
          <a:xfrm>
            <a:off x="571500" y="1146175"/>
            <a:ext cx="8281988" cy="366713"/>
          </a:xfrm>
          <a:prstGeom prst="rect">
            <a:avLst/>
          </a:prstGeom>
          <a:noFill/>
          <a:ln w="9525">
            <a:noFill/>
          </a:ln>
        </p:spPr>
        <p:txBody>
          <a:bodyPr anchor="t" anchorCtr="0">
            <a:spAutoFit/>
          </a:bodyPr>
          <a:lstStyle/>
          <a:p>
            <a:pPr marL="377825" indent="-377825"/>
            <a:endParaRPr lang="zh-CN" altLang="zh-CN" b="0" dirty="0">
              <a:latin typeface="宋体" panose="02010600030101010101" pitchFamily="2" charset="-122"/>
              <a:ea typeface="宋体" panose="02010600030101010101" pitchFamily="2" charset="-122"/>
            </a:endParaRPr>
          </a:p>
        </p:txBody>
      </p:sp>
      <p:sp>
        <p:nvSpPr>
          <p:cNvPr id="10246" name="矩形 10"/>
          <p:cNvSpPr/>
          <p:nvPr/>
        </p:nvSpPr>
        <p:spPr>
          <a:xfrm>
            <a:off x="1087438" y="530225"/>
            <a:ext cx="5865813" cy="593725"/>
          </a:xfrm>
          <a:prstGeom prst="rect">
            <a:avLst/>
          </a:prstGeom>
          <a:noFill/>
          <a:ln w="9525">
            <a:noFill/>
            <a:miter/>
          </a:ln>
        </p:spPr>
        <p:txBody>
          <a:bodyPr anchor="t">
            <a:spAutoFit/>
          </a:bodyPr>
          <a:lstStyle/>
          <a:p>
            <a:pPr lvl="0" fontAlgn="base"/>
            <a:r>
              <a:rPr lang="zh-CN" altLang="en-US" sz="3600" strike="noStrike" kern="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第7章 中断系统</a:t>
            </a:r>
          </a:p>
        </p:txBody>
      </p:sp>
      <p:sp>
        <p:nvSpPr>
          <p:cNvPr id="12291" name="Rectangle 12"/>
          <p:cNvSpPr/>
          <p:nvPr/>
        </p:nvSpPr>
        <p:spPr>
          <a:xfrm>
            <a:off x="687388" y="1558925"/>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
        <p:nvSpPr>
          <p:cNvPr id="2" name="Rectangle 3"/>
          <p:cNvSpPr>
            <a:spLocks noGrp="1"/>
          </p:cNvSpPr>
          <p:nvPr>
            <p:ph type="body" idx="4294967295"/>
          </p:nvPr>
        </p:nvSpPr>
        <p:spPr>
          <a:xfrm>
            <a:off x="1006475" y="1709738"/>
            <a:ext cx="7369175" cy="4894263"/>
          </a:xfrm>
          <a:ln>
            <a:miter/>
          </a:ln>
        </p:spPr>
        <p:txBody>
          <a:bodyPr wrap="square" lIns="92075" tIns="46038" rIns="92075" bIns="46038" anchor="t"/>
          <a:lstStyle/>
          <a:p>
            <a:pPr marL="342900" marR="0" lvl="0" indent="-342900" algn="l" defTabSz="914400" rtl="0" eaLnBrk="1" fontAlgn="base" latinLnBrk="0" hangingPunct="1">
              <a:lnSpc>
                <a:spcPct val="130000"/>
              </a:lnSpc>
              <a:spcBef>
                <a:spcPct val="20000"/>
              </a:spcBef>
              <a:spcAft>
                <a:spcPct val="0"/>
              </a:spcAft>
              <a:buClr>
                <a:schemeClr val="accent2"/>
              </a:buClr>
              <a:buSzPct val="70000"/>
              <a:buFont typeface="Wingdings" panose="05000000000000000000" pitchFamily="2" charset="2"/>
              <a:buNone/>
            </a:pPr>
            <a:endParaRPr kumimoji="1" lang="en-US" altLang="zh-CN" sz="3200" b="1" i="0" u="none" strike="noStrike" kern="0" cap="none" spc="0" normalizeH="0" baseline="0" noProof="1">
              <a:solidFill>
                <a:srgbClr val="FFCC00"/>
              </a:solidFill>
              <a:latin typeface="+mn-lt"/>
              <a:ea typeface="+mn-ea"/>
              <a:cs typeface="+mn-cs"/>
            </a:endParaRPr>
          </a:p>
          <a:p>
            <a:pPr marL="342900" marR="0" lvl="0" indent="-3429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u"/>
            </a:pPr>
            <a:r>
              <a:rPr kumimoji="1" lang="zh-CN" altLang="en-US" sz="2800" b="1" i="0" u="none" strike="noStrike" kern="0" cap="none" spc="0" normalizeH="0" baseline="0" noProof="1">
                <a:solidFill>
                  <a:schemeClr val="tx1"/>
                </a:solidFill>
                <a:latin typeface="+mn-lt"/>
                <a:ea typeface="+mn-ea"/>
                <a:cs typeface="+mn-cs"/>
                <a:sym typeface="+mn-ea"/>
              </a:rPr>
              <a:t>掌握中断技术的基本概念</a:t>
            </a:r>
            <a:endParaRPr kumimoji="1" lang="zh-CN" altLang="en-US" sz="2800" b="1" i="0" u="none" strike="noStrike" kern="0" cap="none" spc="0" normalizeH="0" baseline="0" noProof="1">
              <a:solidFill>
                <a:schemeClr val="tx1"/>
              </a:solidFill>
              <a:latin typeface="宋体" panose="02010600030101010101" pitchFamily="2" charset="-122"/>
              <a:ea typeface="+mn-ea"/>
              <a:cs typeface="+mn-cs"/>
            </a:endParaRPr>
          </a:p>
          <a:p>
            <a:pPr marL="342900" marR="0" lvl="0" indent="-3429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u"/>
            </a:pPr>
            <a:r>
              <a:rPr kumimoji="1" lang="zh-CN" altLang="en-US" sz="2800" b="1" i="0" u="none" strike="noStrike" kern="0" cap="none" spc="0" normalizeH="0" baseline="0" noProof="1">
                <a:solidFill>
                  <a:schemeClr val="tx1"/>
                </a:solidFill>
                <a:latin typeface="+mn-lt"/>
                <a:ea typeface="+mn-ea"/>
                <a:cs typeface="+mn-cs"/>
                <a:sym typeface="+mn-ea"/>
              </a:rPr>
              <a:t>了解8086中断系统及其对各种类型中断的</a:t>
            </a:r>
          </a:p>
          <a:p>
            <a:pPr marL="0" marR="0" lvl="0" indent="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None/>
            </a:pPr>
            <a:r>
              <a:rPr kumimoji="1" lang="zh-CN" altLang="en-US" sz="2800" b="1" i="0" u="none" strike="noStrike" kern="0" cap="none" spc="0" normalizeH="0" baseline="0" noProof="1">
                <a:solidFill>
                  <a:schemeClr val="tx1"/>
                </a:solidFill>
                <a:latin typeface="+mn-lt"/>
                <a:ea typeface="+mn-ea"/>
                <a:cs typeface="+mn-cs"/>
                <a:sym typeface="+mn-ea"/>
              </a:rPr>
              <a:t>    响应流程</a:t>
            </a:r>
            <a:endParaRPr kumimoji="1" lang="zh-CN" altLang="en-US" sz="2800" b="1" i="0" u="none" strike="noStrike" kern="0" cap="none" spc="0" normalizeH="0" baseline="0" noProof="1">
              <a:solidFill>
                <a:schemeClr val="tx1"/>
              </a:solidFill>
              <a:latin typeface="+mn-lt"/>
              <a:ea typeface="+mn-ea"/>
              <a:cs typeface="+mn-cs"/>
            </a:endParaRPr>
          </a:p>
          <a:p>
            <a:pPr marL="342900" marR="0" lvl="0" indent="-3429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u"/>
            </a:pPr>
            <a:r>
              <a:rPr kumimoji="1" lang="zh-CN" altLang="en-US" sz="2800" b="1" i="0" u="none" strike="noStrike" kern="0" cap="none" spc="0" normalizeH="0" baseline="0" noProof="1">
                <a:solidFill>
                  <a:schemeClr val="tx1"/>
                </a:solidFill>
                <a:latin typeface="+mn-lt"/>
                <a:ea typeface="+mn-ea"/>
                <a:cs typeface="+mn-cs"/>
                <a:sym typeface="+mn-ea"/>
              </a:rPr>
              <a:t>了解8259A中涉及到的有关概念 </a:t>
            </a:r>
          </a:p>
          <a:p>
            <a:pPr marL="342900" marR="0" lvl="0" indent="-3429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u"/>
            </a:pPr>
            <a:r>
              <a:rPr kumimoji="1" lang="zh-CN" altLang="en-US" sz="2800" b="1" i="0" u="none" strike="noStrike" kern="0" cap="none" spc="0" normalizeH="0" baseline="0" noProof="1">
                <a:solidFill>
                  <a:schemeClr val="tx1"/>
                </a:solidFill>
                <a:latin typeface="+mn-lt"/>
                <a:ea typeface="+mn-ea"/>
                <a:cs typeface="+mn-cs"/>
                <a:sym typeface="+mn-ea"/>
              </a:rPr>
              <a:t>掌握8259A的编程应用</a:t>
            </a:r>
            <a:endParaRPr kumimoji="1" lang="zh-CN" altLang="en-US" sz="2800" b="1" i="0" u="none" strike="noStrike" kern="0" cap="none" spc="0" normalizeH="0" baseline="0" noProof="1">
              <a:solidFill>
                <a:schemeClr val="tx1"/>
              </a:solidFill>
              <a:latin typeface="+mn-lt"/>
              <a:ea typeface="+mn-ea"/>
              <a:cs typeface="+mn-cs"/>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1000"/>
                                  </p:stCondLst>
                                  <p:endCondLst>
                                    <p:cond evt="begin" delay="0">
                                      <p:tn val="5"/>
                                    </p:cond>
                                  </p:endCondLst>
                                  <p:childTnLst>
                                    <p:set>
                                      <p:cBhvr>
                                        <p:cTn id="6" dur="1" fill="hold">
                                          <p:stCondLst>
                                            <p:cond delay="0"/>
                                          </p:stCondLst>
                                        </p:cTn>
                                        <p:tgtEl>
                                          <p:spTgt spid="121861">
                                            <p:txEl>
                                              <p:pRg st="0" end="0"/>
                                            </p:txEl>
                                          </p:spTgt>
                                        </p:tgtEl>
                                        <p:attrNameLst>
                                          <p:attrName>style.visibility</p:attrName>
                                        </p:attrNameLst>
                                      </p:cBhvr>
                                      <p:to>
                                        <p:strVal val="visible"/>
                                      </p:to>
                                    </p:set>
                                    <p:animEffect transition="in" filter="wipe(left)">
                                      <p:cBhvr>
                                        <p:cTn id="7" dur="500"/>
                                        <p:tgtEl>
                                          <p:spTgt spid="1218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build="p" advAuto="100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7.1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中断的基本概念</a:t>
            </a:r>
          </a:p>
        </p:txBody>
      </p:sp>
      <p:sp>
        <p:nvSpPr>
          <p:cNvPr id="13314"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3315" name="Rectangle 11"/>
          <p:cNvSpPr>
            <a:spLocks noGrp="1"/>
          </p:cNvSpPr>
          <p:nvPr>
            <p:ph type="body" idx="4294967295"/>
          </p:nvPr>
        </p:nvSpPr>
        <p:spPr>
          <a:xfrm>
            <a:off x="1412875" y="2159000"/>
            <a:ext cx="5297488" cy="3162300"/>
          </a:xfrm>
          <a:ln/>
        </p:spPr>
        <p:txBody>
          <a:bodyPr wrap="square" lIns="92075" tIns="46038" rIns="92075" bIns="46038" anchor="t" anchorCtr="0"/>
          <a:lstStyle/>
          <a:p>
            <a:pPr eaLnBrk="1" hangingPunct="1">
              <a:buNone/>
            </a:pPr>
            <a:r>
              <a:rPr lang="en-US" altLang="zh-CN" dirty="0">
                <a:solidFill>
                  <a:srgbClr val="66FFCC"/>
                </a:solidFill>
              </a:rPr>
              <a:t>7</a:t>
            </a:r>
            <a:r>
              <a:rPr lang="zh-CN" altLang="en-US" dirty="0">
                <a:solidFill>
                  <a:srgbClr val="66FFCC"/>
                </a:solidFill>
              </a:rPr>
              <a:t>.1.1  中断、中断源及中断系统</a:t>
            </a:r>
          </a:p>
          <a:p>
            <a:pPr eaLnBrk="1" hangingPunct="1"/>
            <a:endParaRPr lang="zh-CN" altLang="en-US" dirty="0">
              <a:solidFill>
                <a:srgbClr val="66FFCC"/>
              </a:solidFill>
            </a:endParaRPr>
          </a:p>
          <a:p>
            <a:pPr eaLnBrk="1" hangingPunct="1">
              <a:buNone/>
            </a:pPr>
            <a:r>
              <a:rPr lang="en-US" altLang="zh-CN" dirty="0">
                <a:solidFill>
                  <a:srgbClr val="66FFCC"/>
                </a:solidFill>
              </a:rPr>
              <a:t>7</a:t>
            </a:r>
            <a:r>
              <a:rPr lang="zh-CN" altLang="en-US" dirty="0">
                <a:solidFill>
                  <a:srgbClr val="66FFCC"/>
                </a:solidFill>
              </a:rPr>
              <a:t>.1.2  中断处理过程</a:t>
            </a:r>
          </a:p>
          <a:p>
            <a:pPr eaLnBrk="1" hangingPunct="1">
              <a:buNone/>
            </a:pPr>
            <a:endParaRPr lang="zh-CN" altLang="en-US" dirty="0">
              <a:solidFill>
                <a:srgbClr val="66FFCC"/>
              </a:solidFill>
            </a:endParaRPr>
          </a:p>
          <a:p>
            <a:pPr eaLnBrk="1" hangingPunct="1">
              <a:buNone/>
            </a:pPr>
            <a:r>
              <a:rPr lang="en-US" altLang="zh-CN" dirty="0">
                <a:solidFill>
                  <a:srgbClr val="66FFCC"/>
                </a:solidFill>
              </a:rPr>
              <a:t>7</a:t>
            </a:r>
            <a:r>
              <a:rPr lang="zh-CN" altLang="en-US" dirty="0">
                <a:solidFill>
                  <a:srgbClr val="66FFCC"/>
                </a:solidFill>
              </a:rPr>
              <a:t>.1.3  中断嵌套</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中断、中断源及中断系统</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4338" name="内容占位符 2"/>
          <p:cNvSpPr>
            <a:spLocks noGrp="1"/>
          </p:cNvSpPr>
          <p:nvPr>
            <p:ph idx="4294967295"/>
          </p:nvPr>
        </p:nvSpPr>
        <p:spPr>
          <a:xfrm>
            <a:off x="417513" y="1646238"/>
            <a:ext cx="8147050" cy="3794125"/>
          </a:xfrm>
          <a:ln/>
        </p:spPr>
        <p:txBody>
          <a:bodyPr wrap="square" lIns="92075" tIns="46038" rIns="92075" bIns="46038" anchor="t" anchorCtr="0"/>
          <a:lstStyle/>
          <a:p>
            <a:pPr algn="just">
              <a:lnSpc>
                <a:spcPts val="3200"/>
              </a:lnSpc>
              <a:buNone/>
            </a:pPr>
            <a:r>
              <a:rPr lang="en-US" altLang="zh-CN" sz="2400"/>
              <a:t>              1</a:t>
            </a:r>
            <a:r>
              <a:rPr lang="zh-CN" altLang="en-US" sz="2400"/>
              <a:t>．中断</a:t>
            </a:r>
          </a:p>
          <a:p>
            <a:pPr algn="just">
              <a:lnSpc>
                <a:spcPts val="3200"/>
              </a:lnSpc>
              <a:buNone/>
            </a:pPr>
            <a:r>
              <a:rPr lang="en-US" altLang="zh-CN" sz="2400"/>
              <a:t>             CPU暂时停止正在运行的程序，转去执行请求CPU为之服务的内/外部事件的服务程序，待该服务程序执行完后，又返回到被暂停的程序继续运行的过程，称为中断。简言之，就是CPU正常运行程序时被“中间打断”后继续运行的过程。正在运行的程序通常称为主程序，服务程序称为中断服务程序。          </a:t>
            </a:r>
          </a:p>
          <a:p>
            <a:pPr algn="just">
              <a:lnSpc>
                <a:spcPts val="3200"/>
              </a:lnSpc>
              <a:buNone/>
            </a:pPr>
            <a:endParaRPr lang="en-US" altLang="zh-CN" sz="2400"/>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中断、中断源及中断系统</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1266" name="内容占位符 2"/>
          <p:cNvSpPr>
            <a:spLocks noGrp="1"/>
          </p:cNvSpPr>
          <p:nvPr>
            <p:ph idx="4294967295"/>
          </p:nvPr>
        </p:nvSpPr>
        <p:spPr>
          <a:xfrm>
            <a:off x="417830" y="1646555"/>
            <a:ext cx="8147050" cy="3794125"/>
          </a:xfrm>
        </p:spPr>
        <p:txBody>
          <a:bodyPr wrap="square" lIns="92075" tIns="46038" rIns="92075" bIns="46038" anchor="t" anchorCtr="0"/>
          <a:lstStyle/>
          <a:p>
            <a:pPr algn="just" fontAlgn="base">
              <a:lnSpc>
                <a:spcPts val="3200"/>
              </a:lnSpc>
              <a:buNone/>
            </a:pPr>
            <a:r>
              <a:rPr lang="en-US" altLang="zh-CN" noProof="1"/>
              <a:t>              1</a:t>
            </a:r>
            <a:r>
              <a:rPr lang="zh-CN" altLang="en-US" noProof="1"/>
              <a:t>．中断</a:t>
            </a:r>
          </a:p>
          <a:p>
            <a:pPr algn="just" fontAlgn="base">
              <a:lnSpc>
                <a:spcPts val="3200"/>
              </a:lnSpc>
              <a:buNone/>
            </a:pPr>
            <a:r>
              <a:rPr lang="en-US" altLang="zh-CN" noProof="1"/>
              <a:t>             </a:t>
            </a:r>
            <a:r>
              <a:rPr noProof="1">
                <a:sym typeface="+mn-ea"/>
              </a:rPr>
              <a:t>CPU执行程序时，   由于发生了某种随机 的事件(外部或内部) ， 引起CPU暂时中断正在运行的程序，  转去执行一段特殊的服务 程序，   以处理该事件，   该事件处理完后又返回被中断的程序 继续执行，   这一过程称为中断。</a:t>
            </a:r>
            <a:endParaRPr lang="en-US" altLang="en-US" noProof="1"/>
          </a:p>
          <a:p>
            <a:pPr algn="just" fontAlgn="base">
              <a:lnSpc>
                <a:spcPts val="3200"/>
              </a:lnSpc>
              <a:buNone/>
            </a:pPr>
            <a:r>
              <a:rPr lang="en-US" altLang="zh-CN" noProof="1"/>
              <a:t>。          </a:t>
            </a:r>
          </a:p>
          <a:p>
            <a:pPr algn="just" fontAlgn="base">
              <a:lnSpc>
                <a:spcPts val="3200"/>
              </a:lnSpc>
              <a:buNone/>
            </a:pPr>
            <a:endParaRPr lang="en-US" altLang="zh-CN" noProof="1"/>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中断、中断源及中断系统</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6386" name="内容占位符 2"/>
          <p:cNvSpPr>
            <a:spLocks noGrp="1"/>
          </p:cNvSpPr>
          <p:nvPr>
            <p:ph idx="4294967295"/>
          </p:nvPr>
        </p:nvSpPr>
        <p:spPr>
          <a:xfrm>
            <a:off x="342900" y="1362075"/>
            <a:ext cx="8543925" cy="5238750"/>
          </a:xfrm>
          <a:ln/>
        </p:spPr>
        <p:txBody>
          <a:bodyPr wrap="square" lIns="92075" tIns="46038" rIns="92075" bIns="46038" anchor="t" anchorCtr="0"/>
          <a:lstStyle/>
          <a:p>
            <a:pPr algn="just">
              <a:lnSpc>
                <a:spcPts val="3200"/>
              </a:lnSpc>
              <a:buNone/>
            </a:pPr>
            <a:r>
              <a:rPr lang="en-US" altLang="zh-CN" sz="2000"/>
              <a:t>             2</a:t>
            </a:r>
            <a:r>
              <a:rPr lang="zh-CN" altLang="en-US" sz="2000"/>
              <a:t>．中断源</a:t>
            </a:r>
          </a:p>
          <a:p>
            <a:pPr algn="just">
              <a:lnSpc>
                <a:spcPts val="3200"/>
              </a:lnSpc>
              <a:buNone/>
            </a:pPr>
            <a:r>
              <a:rPr lang="zh-CN" altLang="en-US" sz="2000"/>
              <a:t>             引起中断的事件称为“中断源”。中断源主要有以下几类。</a:t>
            </a:r>
          </a:p>
          <a:p>
            <a:pPr algn="just">
              <a:lnSpc>
                <a:spcPts val="3200"/>
              </a:lnSpc>
              <a:buNone/>
            </a:pPr>
            <a:r>
              <a:rPr lang="zh-CN" altLang="en-US" sz="2000"/>
              <a:t>   （</a:t>
            </a:r>
            <a:r>
              <a:rPr lang="en-US" altLang="zh-CN" sz="2000"/>
              <a:t>1</a:t>
            </a:r>
            <a:r>
              <a:rPr lang="zh-CN" altLang="en-US" sz="2000"/>
              <a:t>）外部设备请求中断。一般外部设备有键盘、磁盘驱动器、打印机等，工作告一段落发出中断请求，要求</a:t>
            </a:r>
            <a:r>
              <a:rPr lang="en-US" altLang="zh-CN" sz="2000"/>
              <a:t>CPU</a:t>
            </a:r>
            <a:r>
              <a:rPr lang="zh-CN" altLang="en-US" sz="2000"/>
              <a:t>为它服务。</a:t>
            </a:r>
          </a:p>
          <a:p>
            <a:pPr algn="just">
              <a:lnSpc>
                <a:spcPts val="3200"/>
              </a:lnSpc>
              <a:buNone/>
            </a:pPr>
            <a:r>
              <a:rPr lang="zh-CN" altLang="en-US" sz="2000"/>
              <a:t>   （</a:t>
            </a:r>
            <a:r>
              <a:rPr lang="en-US" altLang="zh-CN" sz="2000"/>
              <a:t>2</a:t>
            </a:r>
            <a:r>
              <a:rPr lang="zh-CN" altLang="en-US" sz="2000"/>
              <a:t>）实时时钟请求中断。例如，定时</a:t>
            </a:r>
            <a:r>
              <a:rPr lang="en-US" altLang="zh-CN" sz="2000"/>
              <a:t>/</a:t>
            </a:r>
            <a:r>
              <a:rPr lang="zh-CN" altLang="en-US" sz="2000"/>
              <a:t>计数器，先由</a:t>
            </a:r>
            <a:r>
              <a:rPr lang="en-US" altLang="zh-CN" sz="2000"/>
              <a:t>CPU</a:t>
            </a:r>
            <a:r>
              <a:rPr lang="zh-CN" altLang="en-US" sz="2000"/>
              <a:t>发出指令，让时钟电路开始计数工作，待规定的时间到，时钟电路发出中断申请，</a:t>
            </a:r>
            <a:r>
              <a:rPr lang="en-US" altLang="zh-CN" sz="2000"/>
              <a:t>CPU</a:t>
            </a:r>
            <a:r>
              <a:rPr lang="zh-CN" altLang="en-US" sz="2000"/>
              <a:t>转向中断服务程序。</a:t>
            </a:r>
          </a:p>
          <a:p>
            <a:pPr algn="just">
              <a:lnSpc>
                <a:spcPts val="3200"/>
              </a:lnSpc>
              <a:buNone/>
            </a:pPr>
            <a:r>
              <a:rPr lang="zh-CN" altLang="en-US" sz="2000"/>
              <a:t>   （</a:t>
            </a:r>
            <a:r>
              <a:rPr lang="en-US" altLang="zh-CN" sz="2000"/>
              <a:t>3</a:t>
            </a:r>
            <a:r>
              <a:rPr lang="zh-CN" altLang="en-US" sz="2000"/>
              <a:t>）故障请求中断。当出现电源掉电、存储出错或溢出等故障时，发出中断请求，</a:t>
            </a:r>
            <a:r>
              <a:rPr lang="en-US" altLang="zh-CN" sz="2000"/>
              <a:t>CPU</a:t>
            </a:r>
            <a:r>
              <a:rPr lang="zh-CN" altLang="en-US" sz="2000"/>
              <a:t>转向执行故障处理程序，如启动备用电源报警等。</a:t>
            </a:r>
          </a:p>
          <a:p>
            <a:pPr algn="just">
              <a:lnSpc>
                <a:spcPts val="3200"/>
              </a:lnSpc>
              <a:buNone/>
            </a:pPr>
            <a:r>
              <a:rPr lang="zh-CN" altLang="en-US" sz="2000"/>
              <a:t>   （</a:t>
            </a:r>
            <a:r>
              <a:rPr lang="en-US" altLang="zh-CN" sz="2000"/>
              <a:t>4</a:t>
            </a:r>
            <a:r>
              <a:rPr lang="zh-CN" altLang="en-US" sz="2000"/>
              <a:t>）由软件引起的，如程序错、运算错、为调试程序而特意设置的断点等。</a:t>
            </a: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内容占位符 2"/>
          <p:cNvSpPr>
            <a:spLocks noGrp="1"/>
          </p:cNvSpPr>
          <p:nvPr>
            <p:ph idx="4294967295"/>
          </p:nvPr>
        </p:nvSpPr>
        <p:spPr>
          <a:xfrm>
            <a:off x="158750" y="635000"/>
            <a:ext cx="8677275" cy="5626100"/>
          </a:xfrm>
          <a:ln/>
        </p:spPr>
        <p:txBody>
          <a:bodyPr wrap="square" lIns="92075" tIns="46038" rIns="92075" bIns="46038" anchor="t" anchorCtr="0"/>
          <a:lstStyle/>
          <a:p>
            <a:pPr algn="just">
              <a:lnSpc>
                <a:spcPts val="3200"/>
              </a:lnSpc>
              <a:buNone/>
            </a:pPr>
            <a:r>
              <a:rPr lang="en-US" altLang="zh-CN" sz="2000"/>
              <a:t>             3</a:t>
            </a:r>
            <a:r>
              <a:rPr lang="zh-CN" altLang="en-US" sz="2000"/>
              <a:t>．中断系统</a:t>
            </a:r>
          </a:p>
          <a:p>
            <a:pPr algn="just">
              <a:lnSpc>
                <a:spcPts val="3200"/>
              </a:lnSpc>
              <a:buNone/>
            </a:pPr>
            <a:r>
              <a:rPr lang="zh-CN" altLang="en-US" sz="2000"/>
              <a:t>             中断系统是指实现中断功能的软硬件的统称。为了满足各种情况下的中断请求，中断系统应具有以下功能。</a:t>
            </a:r>
          </a:p>
          <a:p>
            <a:pPr algn="just">
              <a:lnSpc>
                <a:spcPts val="3200"/>
              </a:lnSpc>
              <a:buNone/>
            </a:pPr>
            <a:r>
              <a:rPr lang="zh-CN" altLang="en-US" sz="2000"/>
              <a:t>    （</a:t>
            </a:r>
            <a:r>
              <a:rPr lang="en-US" altLang="zh-CN" sz="2000"/>
              <a:t>1</a:t>
            </a:r>
            <a:r>
              <a:rPr lang="zh-CN" altLang="en-US" sz="2000"/>
              <a:t>）能实现中断响应、中断服务及中断返回。当某一中断源发出中断请求时，</a:t>
            </a:r>
            <a:r>
              <a:rPr lang="en-US" altLang="zh-CN" sz="2000"/>
              <a:t>CPU</a:t>
            </a:r>
            <a:r>
              <a:rPr lang="zh-CN" altLang="en-US" sz="2000"/>
              <a:t>能决定是否响应这一中断请求，若允许这一中断请求，则</a:t>
            </a:r>
            <a:r>
              <a:rPr lang="en-US" altLang="zh-CN" sz="2000"/>
              <a:t>CPU</a:t>
            </a:r>
            <a:r>
              <a:rPr lang="zh-CN" altLang="en-US" sz="2000"/>
              <a:t>在保护断点后将转移到响应的中断服务程序中，中断处理完后</a:t>
            </a:r>
            <a:r>
              <a:rPr lang="en-US" altLang="zh-CN" sz="2000"/>
              <a:t>CPU</a:t>
            </a:r>
            <a:r>
              <a:rPr lang="zh-CN" altLang="en-US" sz="2000"/>
              <a:t>返回原断点处继续执行原程序。</a:t>
            </a:r>
          </a:p>
          <a:p>
            <a:pPr algn="just">
              <a:lnSpc>
                <a:spcPts val="3200"/>
              </a:lnSpc>
              <a:buNone/>
            </a:pPr>
            <a:r>
              <a:rPr lang="zh-CN" altLang="en-US" sz="2000"/>
              <a:t>    （</a:t>
            </a:r>
            <a:r>
              <a:rPr lang="en-US" altLang="zh-CN" sz="2000"/>
              <a:t>2</a:t>
            </a:r>
            <a:r>
              <a:rPr lang="zh-CN" altLang="en-US" sz="2000"/>
              <a:t>）能实现中断优先权排队。当有两个或多个中断源同时提出中断请求时，中断系统能根据各中断源的性质给出处理的先后顺序，确保优先级高的中断请求先处理。</a:t>
            </a:r>
          </a:p>
          <a:p>
            <a:pPr algn="just">
              <a:lnSpc>
                <a:spcPts val="3200"/>
              </a:lnSpc>
              <a:buNone/>
            </a:pPr>
            <a:r>
              <a:rPr lang="zh-CN" altLang="en-US" sz="2000"/>
              <a:t>    （</a:t>
            </a:r>
            <a:r>
              <a:rPr lang="en-US" altLang="zh-CN" sz="2000"/>
              <a:t>3</a:t>
            </a:r>
            <a:r>
              <a:rPr lang="zh-CN" altLang="en-US" sz="2000"/>
              <a:t>）能实现中断嵌套。若在中断过程中又有新的优先级较高的中断源提出请求，则中断系统要能让</a:t>
            </a:r>
            <a:r>
              <a:rPr lang="en-US" altLang="zh-CN" sz="2000"/>
              <a:t>CPU</a:t>
            </a:r>
            <a:r>
              <a:rPr lang="zh-CN" altLang="en-US" sz="2000"/>
              <a:t>暂停执行当前中断服务程序，而转去处理优先级高的中断请求，处理完后再返回原级别较低的中断服务程序中。</a:t>
            </a: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中断处理过程</a:t>
            </a:r>
          </a:p>
        </p:txBody>
      </p:sp>
      <p:sp>
        <p:nvSpPr>
          <p:cNvPr id="18434" name="内容占位符 2"/>
          <p:cNvSpPr>
            <a:spLocks noGrp="1"/>
          </p:cNvSpPr>
          <p:nvPr>
            <p:ph idx="4294967295"/>
          </p:nvPr>
        </p:nvSpPr>
        <p:spPr>
          <a:xfrm>
            <a:off x="660400" y="2238375"/>
            <a:ext cx="7794625" cy="3762375"/>
          </a:xfrm>
          <a:ln/>
        </p:spPr>
        <p:txBody>
          <a:bodyPr wrap="square" lIns="92075" tIns="46038" rIns="92075" bIns="46038" anchor="t" anchorCtr="0"/>
          <a:lstStyle/>
          <a:p>
            <a:pPr algn="just">
              <a:lnSpc>
                <a:spcPts val="3200"/>
              </a:lnSpc>
              <a:buNone/>
            </a:pPr>
            <a:r>
              <a:rPr lang="en-US" altLang="zh-CN" sz="2400"/>
              <a:t>             尽管不同微型计算机的中断系统有所不同，但实现中断过程基本相同。一个完整的中断处理过程包括</a:t>
            </a:r>
          </a:p>
          <a:p>
            <a:pPr algn="just">
              <a:lnSpc>
                <a:spcPts val="3200"/>
              </a:lnSpc>
              <a:buNone/>
            </a:pPr>
            <a:r>
              <a:rPr lang="en-US" altLang="zh-CN" sz="2400"/>
              <a:t>       </a:t>
            </a:r>
            <a:r>
              <a:rPr lang="en-US" altLang="zh-CN" sz="3200">
                <a:latin typeface="楷体" panose="02010609060101010101" charset="-122"/>
                <a:ea typeface="楷体" panose="02010609060101010101" charset="-122"/>
              </a:rPr>
              <a:t>中断请求</a:t>
            </a:r>
          </a:p>
          <a:p>
            <a:pPr algn="just">
              <a:lnSpc>
                <a:spcPts val="3200"/>
              </a:lnSpc>
              <a:buNone/>
            </a:pPr>
            <a:r>
              <a:rPr lang="en-US" altLang="zh-CN" sz="3200">
                <a:latin typeface="楷体" panose="02010609060101010101" charset="-122"/>
                <a:ea typeface="楷体" panose="02010609060101010101" charset="-122"/>
              </a:rPr>
              <a:t>   中断排队</a:t>
            </a:r>
          </a:p>
          <a:p>
            <a:pPr algn="just">
              <a:lnSpc>
                <a:spcPts val="3200"/>
              </a:lnSpc>
              <a:buNone/>
            </a:pPr>
            <a:r>
              <a:rPr lang="en-US" altLang="zh-CN" sz="3200">
                <a:latin typeface="楷体" panose="02010609060101010101" charset="-122"/>
                <a:ea typeface="楷体" panose="02010609060101010101" charset="-122"/>
              </a:rPr>
              <a:t>   中断响应</a:t>
            </a:r>
          </a:p>
          <a:p>
            <a:pPr algn="just">
              <a:lnSpc>
                <a:spcPts val="3200"/>
              </a:lnSpc>
              <a:buNone/>
            </a:pPr>
            <a:r>
              <a:rPr lang="en-US" altLang="zh-CN" sz="3200">
                <a:latin typeface="楷体" panose="02010609060101010101" charset="-122"/>
                <a:ea typeface="楷体" panose="02010609060101010101" charset="-122"/>
              </a:rPr>
              <a:t>   中断处理</a:t>
            </a:r>
          </a:p>
          <a:p>
            <a:pPr algn="just">
              <a:lnSpc>
                <a:spcPts val="3200"/>
              </a:lnSpc>
              <a:buNone/>
            </a:pPr>
            <a:r>
              <a:rPr lang="en-US" altLang="zh-CN" sz="3200">
                <a:latin typeface="楷体" panose="02010609060101010101" charset="-122"/>
                <a:ea typeface="楷体" panose="02010609060101010101" charset="-122"/>
              </a:rPr>
              <a:t>   中断返回    </a:t>
            </a:r>
            <a:r>
              <a:rPr lang="en-US" altLang="zh-CN" sz="2400"/>
              <a:t>    </a:t>
            </a:r>
          </a:p>
          <a:p>
            <a:pPr algn="just">
              <a:lnSpc>
                <a:spcPts val="3200"/>
              </a:lnSpc>
              <a:buNone/>
            </a:pPr>
            <a:endParaRPr lang="en-US" altLang="zh-CN" sz="2400"/>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7" name="Picture 1" descr="7"/>
          <p:cNvPicPr>
            <a:picLocks noChangeAspect="1"/>
          </p:cNvPicPr>
          <p:nvPr/>
        </p:nvPicPr>
        <p:blipFill>
          <a:blip r:embed="rId2"/>
          <a:stretch>
            <a:fillRect/>
          </a:stretch>
        </p:blipFill>
        <p:spPr>
          <a:xfrm>
            <a:off x="2025650" y="50800"/>
            <a:ext cx="4867275" cy="6281738"/>
          </a:xfrm>
          <a:prstGeom prst="rect">
            <a:avLst/>
          </a:prstGeom>
          <a:noFill/>
          <a:ln w="9525">
            <a:noFill/>
          </a:ln>
        </p:spPr>
      </p:pic>
      <p:sp>
        <p:nvSpPr>
          <p:cNvPr id="19458" name="文本框 99"/>
          <p:cNvSpPr txBox="1"/>
          <p:nvPr/>
        </p:nvSpPr>
        <p:spPr>
          <a:xfrm>
            <a:off x="1844675" y="6426200"/>
            <a:ext cx="5080000" cy="381000"/>
          </a:xfrm>
          <a:prstGeom prst="rect">
            <a:avLst/>
          </a:prstGeom>
          <a:noFill/>
          <a:ln w="9525">
            <a:noFill/>
          </a:ln>
        </p:spPr>
        <p:txBody>
          <a:bodyPr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7-1  </a:t>
            </a:r>
            <a:r>
              <a:rPr lang="zh-CN" altLang="en-US" sz="2000" b="0">
                <a:latin typeface="宋体" panose="02010600030101010101" pitchFamily="2" charset="-122"/>
                <a:ea typeface="宋体" panose="02010600030101010101" pitchFamily="2" charset="-122"/>
              </a:rPr>
              <a:t>中断处理过程流程图</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81" name="Picture 2" descr="7"/>
          <p:cNvPicPr>
            <a:picLocks noChangeAspect="1"/>
          </p:cNvPicPr>
          <p:nvPr/>
        </p:nvPicPr>
        <p:blipFill>
          <a:blip r:embed="rId2"/>
          <a:stretch>
            <a:fillRect/>
          </a:stretch>
        </p:blipFill>
        <p:spPr>
          <a:xfrm>
            <a:off x="1358900" y="1563688"/>
            <a:ext cx="6126163" cy="4064000"/>
          </a:xfrm>
          <a:prstGeom prst="rect">
            <a:avLst/>
          </a:prstGeom>
          <a:noFill/>
          <a:ln w="9525">
            <a:noFill/>
          </a:ln>
        </p:spPr>
      </p:pic>
      <p:sp>
        <p:nvSpPr>
          <p:cNvPr id="20482" name="文本框 99"/>
          <p:cNvSpPr txBox="1"/>
          <p:nvPr/>
        </p:nvSpPr>
        <p:spPr>
          <a:xfrm>
            <a:off x="2724150" y="5762625"/>
            <a:ext cx="3754438" cy="379413"/>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7-2  </a:t>
            </a:r>
            <a:r>
              <a:rPr lang="zh-CN" altLang="en-US" sz="2000" b="0">
                <a:latin typeface="宋体" panose="02010600030101010101" pitchFamily="2" charset="-122"/>
                <a:ea typeface="宋体" panose="02010600030101010101" pitchFamily="2" charset="-122"/>
              </a:rPr>
              <a:t>两级中断嵌套的示意图</a:t>
            </a:r>
            <a:endParaRPr lang="zh-CN" altLang="en-US" sz="2000">
              <a:latin typeface="宋体" panose="02010600030101010101" pitchFamily="2" charset="-122"/>
              <a:ea typeface="宋体" panose="02010600030101010101" pitchFamily="2" charset="-122"/>
            </a:endParaRPr>
          </a:p>
        </p:txBody>
      </p:sp>
      <p:sp>
        <p:nvSpPr>
          <p:cNvPr id="8194" name="标题 1"/>
          <p:cNvSpPr>
            <a:spLocks noGrp="1"/>
          </p:cNvSpPr>
          <p:nvPr>
            <p:ph type="title"/>
          </p:nvPr>
        </p:nvSpPr>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中断嵌套</a:t>
            </a:r>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7.2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80x86中断系统</a:t>
            </a:r>
          </a:p>
        </p:txBody>
      </p:sp>
      <p:sp>
        <p:nvSpPr>
          <p:cNvPr id="21506"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21507" name="Rectangle 11"/>
          <p:cNvSpPr>
            <a:spLocks noGrp="1"/>
          </p:cNvSpPr>
          <p:nvPr>
            <p:ph type="body" idx="4294967295"/>
          </p:nvPr>
        </p:nvSpPr>
        <p:spPr>
          <a:xfrm>
            <a:off x="1397000" y="1914525"/>
            <a:ext cx="5297488" cy="4024313"/>
          </a:xfrm>
          <a:ln/>
        </p:spPr>
        <p:txBody>
          <a:bodyPr wrap="square" lIns="92075" tIns="46038" rIns="92075" bIns="46038" anchor="t" anchorCtr="0"/>
          <a:lstStyle/>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2</a:t>
            </a:r>
            <a:r>
              <a:rPr lang="zh-CN" altLang="en-US" dirty="0">
                <a:solidFill>
                  <a:srgbClr val="66FFCC"/>
                </a:solidFill>
              </a:rPr>
              <a:t>.1  外部中断</a:t>
            </a:r>
          </a:p>
          <a:p>
            <a:pPr eaLnBrk="1" hangingPunct="1"/>
            <a:endParaRPr lang="zh-CN" altLang="en-US" dirty="0">
              <a:solidFill>
                <a:srgbClr val="66FFCC"/>
              </a:solidFill>
            </a:endParaRPr>
          </a:p>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2</a:t>
            </a:r>
            <a:r>
              <a:rPr lang="zh-CN" altLang="en-US" dirty="0">
                <a:solidFill>
                  <a:srgbClr val="66FFCC"/>
                </a:solidFill>
              </a:rPr>
              <a:t>.2  内部中断</a:t>
            </a:r>
          </a:p>
          <a:p>
            <a:pPr eaLnBrk="1" hangingPunct="1">
              <a:buNone/>
            </a:pPr>
            <a:endParaRPr lang="zh-CN" altLang="en-US" dirty="0">
              <a:solidFill>
                <a:srgbClr val="66FFCC"/>
              </a:solidFill>
            </a:endParaRPr>
          </a:p>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2</a:t>
            </a:r>
            <a:r>
              <a:rPr lang="zh-CN" altLang="en-US" dirty="0">
                <a:solidFill>
                  <a:srgbClr val="66FFCC"/>
                </a:solidFill>
              </a:rPr>
              <a:t>.3  中断向量和中断向量表</a:t>
            </a:r>
          </a:p>
          <a:p>
            <a:pPr eaLnBrk="1" hangingPunct="1">
              <a:buNone/>
            </a:pPr>
            <a:endParaRPr lang="zh-CN" altLang="en-US" dirty="0">
              <a:solidFill>
                <a:srgbClr val="66FFCC"/>
              </a:solidFill>
            </a:endParaRPr>
          </a:p>
          <a:p>
            <a:pPr eaLnBrk="1" hangingPunct="1">
              <a:buNone/>
            </a:pPr>
            <a:r>
              <a:rPr lang="en-US" altLang="zh-CN" dirty="0">
                <a:solidFill>
                  <a:srgbClr val="66FFCC"/>
                </a:solidFill>
                <a:sym typeface="Arial" panose="020B0604020202020204" pitchFamily="34" charset="0"/>
              </a:rPr>
              <a:t>7</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2</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4</a:t>
            </a:r>
            <a:r>
              <a:rPr lang="zh-CN" altLang="en-US" dirty="0">
                <a:solidFill>
                  <a:srgbClr val="66FFCC"/>
                </a:solidFill>
                <a:sym typeface="Arial" panose="020B0604020202020204" pitchFamily="34" charset="0"/>
              </a:rPr>
              <a:t>  80x86中断响应过程</a:t>
            </a:r>
          </a:p>
          <a:p>
            <a:pPr eaLnBrk="1" hangingPunct="1">
              <a:buNone/>
            </a:pPr>
            <a:endParaRPr lang="zh-CN" altLang="en-US" dirty="0">
              <a:solidFill>
                <a:srgbClr val="66FFCC"/>
              </a:solidFill>
            </a:endParaRP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内容占位符 2"/>
          <p:cNvSpPr>
            <a:spLocks noGrp="1"/>
          </p:cNvSpPr>
          <p:nvPr>
            <p:ph idx="4294967295"/>
          </p:nvPr>
        </p:nvSpPr>
        <p:spPr>
          <a:xfrm>
            <a:off x="333375" y="1393825"/>
            <a:ext cx="8147050" cy="2224088"/>
          </a:xfrm>
          <a:ln/>
        </p:spPr>
        <p:txBody>
          <a:bodyPr wrap="square" lIns="92075" tIns="46038" rIns="92075" bIns="46038" anchor="t" anchorCtr="0"/>
          <a:lstStyle/>
          <a:p>
            <a:pPr algn="just">
              <a:lnSpc>
                <a:spcPts val="3200"/>
              </a:lnSpc>
              <a:buNone/>
            </a:pPr>
            <a:r>
              <a:rPr lang="en-US" altLang="zh-CN" sz="2400"/>
              <a:t>             80x86微机具有一个简单而灵活的中断系统，可处理256种不同的中断请求。这些中断可分为外部中断（硬件中断）和内部中断（软件中断）。每一种又包括许多类型。各种类型的中断被分配一个中断类型号。80x86中断源如图7-3所示。  </a:t>
            </a:r>
          </a:p>
          <a:p>
            <a:pPr algn="just">
              <a:lnSpc>
                <a:spcPts val="3200"/>
              </a:lnSpc>
              <a:buNone/>
            </a:pPr>
            <a:endParaRPr lang="en-US" altLang="zh-CN" sz="2400"/>
          </a:p>
        </p:txBody>
      </p:sp>
      <p:pic>
        <p:nvPicPr>
          <p:cNvPr id="22530" name="Picture 3" descr="7"/>
          <p:cNvPicPr>
            <a:picLocks noChangeAspect="1"/>
          </p:cNvPicPr>
          <p:nvPr/>
        </p:nvPicPr>
        <p:blipFill>
          <a:blip r:embed="rId2"/>
          <a:stretch>
            <a:fillRect/>
          </a:stretch>
        </p:blipFill>
        <p:spPr>
          <a:xfrm>
            <a:off x="1874838" y="3511550"/>
            <a:ext cx="5337175" cy="3076575"/>
          </a:xfrm>
          <a:prstGeom prst="rect">
            <a:avLst/>
          </a:prstGeom>
          <a:noFill/>
          <a:ln w="9525">
            <a:noFill/>
          </a:ln>
        </p:spPr>
      </p:pic>
      <p:sp>
        <p:nvSpPr>
          <p:cNvPr id="6146" name="Rectangle 2"/>
          <p:cNvSpPr>
            <a:spLocks noGrp="1" noChangeArrowheads="1"/>
          </p:cNvSpPr>
          <p:nvPr>
            <p:ph type="title" idx="4294967295"/>
          </p:nvPr>
        </p:nvSpPr>
        <p:spPr>
          <a:xfrm>
            <a:off x="1101725" y="268288"/>
            <a:ext cx="5368925"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7.2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80x86中断系统</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外部中断</a:t>
            </a:r>
          </a:p>
        </p:txBody>
      </p:sp>
      <p:sp>
        <p:nvSpPr>
          <p:cNvPr id="23554" name="文本框 99"/>
          <p:cNvSpPr txBox="1"/>
          <p:nvPr/>
        </p:nvSpPr>
        <p:spPr>
          <a:xfrm>
            <a:off x="479425" y="2017713"/>
            <a:ext cx="8035925" cy="306863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由</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外部硬件电路发出的电信号引起的中断称为外部中断（亦称硬件中断），外部中断又分为非屏蔽中断和可屏蔽中断。</a:t>
            </a:r>
          </a:p>
          <a:p>
            <a:pPr indent="266700" algn="just"/>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．非屏蔽中断</a:t>
            </a:r>
            <a:r>
              <a:rPr lang="en-US" altLang="zh-CN">
                <a:latin typeface="Times New Roman" panose="02020603050405020304" pitchFamily="18" charset="0"/>
                <a:ea typeface="宋体" panose="02010600030101010101" pitchFamily="2" charset="-122"/>
              </a:rPr>
              <a:t>NMI</a:t>
            </a:r>
          </a:p>
          <a:p>
            <a:pPr indent="266700" algn="just"/>
            <a:r>
              <a:rPr lang="zh-CN" altLang="en-US">
                <a:latin typeface="Times New Roman" panose="02020603050405020304" pitchFamily="18" charset="0"/>
                <a:ea typeface="宋体" panose="02010600030101010101" pitchFamily="2" charset="-122"/>
              </a:rPr>
              <a:t>非屏蔽中断</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信号连到</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引脚，其不受</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中断允许标志位</a:t>
            </a:r>
            <a:r>
              <a:rPr lang="en-US" altLang="zh-CN">
                <a:latin typeface="Times New Roman" panose="02020603050405020304" pitchFamily="18" charset="0"/>
                <a:ea typeface="宋体" panose="02010600030101010101" pitchFamily="2" charset="-122"/>
              </a:rPr>
              <a:t>IF</a:t>
            </a:r>
            <a:r>
              <a:rPr lang="zh-CN" altLang="en-US">
                <a:latin typeface="Times New Roman" panose="02020603050405020304" pitchFamily="18" charset="0"/>
                <a:ea typeface="宋体" panose="02010600030101010101" pitchFamily="2" charset="-122"/>
              </a:rPr>
              <a:t>的控制，一旦发生，立即转至中断类型号为</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的中断处理服务程序。</a:t>
            </a:r>
            <a:r>
              <a:rPr lang="en-US" altLang="zh-CN">
                <a:latin typeface="Times New Roman" panose="02020603050405020304" pitchFamily="18" charset="0"/>
                <a:ea typeface="宋体" panose="02010600030101010101" pitchFamily="2" charset="-122"/>
              </a:rPr>
              <a:t>NMI	</a:t>
            </a:r>
            <a:r>
              <a:rPr lang="zh-CN" altLang="en-US">
                <a:latin typeface="Times New Roman" panose="02020603050405020304" pitchFamily="18" charset="0"/>
                <a:ea typeface="宋体" panose="02010600030101010101" pitchFamily="2" charset="-122"/>
              </a:rPr>
              <a:t>的优先级高于</a:t>
            </a:r>
            <a:r>
              <a:rPr lang="en-US" altLang="zh-CN">
                <a:latin typeface="Times New Roman" panose="02020603050405020304" pitchFamily="18" charset="0"/>
                <a:ea typeface="宋体" panose="02010600030101010101" pitchFamily="2" charset="-122"/>
              </a:rPr>
              <a:t>INTR</a:t>
            </a:r>
            <a:r>
              <a:rPr lang="zh-CN" altLang="en-US">
                <a:latin typeface="Times New Roman" panose="02020603050405020304" pitchFamily="18" charset="0"/>
                <a:ea typeface="宋体" panose="02010600030101010101" pitchFamily="2" charset="-122"/>
              </a:rPr>
              <a:t>。当</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采样到有</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请求时，在内部将其锁存，并自动提供中断类型号</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，然后按照下列顺序处理。</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外部中断</a:t>
            </a:r>
          </a:p>
        </p:txBody>
      </p:sp>
      <p:sp>
        <p:nvSpPr>
          <p:cNvPr id="24578" name="文本框 99"/>
          <p:cNvSpPr txBox="1"/>
          <p:nvPr/>
        </p:nvSpPr>
        <p:spPr>
          <a:xfrm>
            <a:off x="377825" y="2328863"/>
            <a:ext cx="8035925" cy="3251200"/>
          </a:xfrm>
          <a:prstGeom prst="rect">
            <a:avLst/>
          </a:prstGeom>
          <a:noFill/>
          <a:ln w="9525">
            <a:noFill/>
          </a:ln>
        </p:spPr>
        <p:txBody>
          <a:bodyPr wrap="square" anchor="t" anchorCtr="0">
            <a:spAutoFit/>
          </a:bodyPr>
          <a:lstStyle/>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）将中断类型号乘以</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，得到中断向量地址</a:t>
            </a:r>
            <a:r>
              <a:rPr lang="en-US" altLang="zh-CN">
                <a:latin typeface="Times New Roman" panose="02020603050405020304" pitchFamily="18" charset="0"/>
                <a:ea typeface="宋体" panose="02010600030101010101" pitchFamily="2" charset="-122"/>
              </a:rPr>
              <a:t>0008H;</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）将标志寄存器中的内容压入堆栈保护；</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）清除</a:t>
            </a:r>
            <a:r>
              <a:rPr lang="en-US" altLang="zh-CN">
                <a:latin typeface="Times New Roman" panose="02020603050405020304" pitchFamily="18" charset="0"/>
                <a:ea typeface="宋体" panose="02010600030101010101" pitchFamily="2" charset="-122"/>
              </a:rPr>
              <a:t>IF</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TF</a:t>
            </a:r>
            <a:r>
              <a:rPr lang="zh-CN" altLang="en-US">
                <a:latin typeface="Times New Roman" panose="02020603050405020304" pitchFamily="18" charset="0"/>
                <a:ea typeface="宋体" panose="02010600030101010101" pitchFamily="2" charset="-122"/>
              </a:rPr>
              <a:t>标志，屏蔽</a:t>
            </a:r>
            <a:r>
              <a:rPr lang="en-US" altLang="zh-CN">
                <a:latin typeface="Times New Roman" panose="02020603050405020304" pitchFamily="18" charset="0"/>
                <a:ea typeface="宋体" panose="02010600030101010101" pitchFamily="2" charset="-122"/>
              </a:rPr>
              <a:t>INTR</a:t>
            </a:r>
            <a:r>
              <a:rPr lang="zh-CN" altLang="en-US">
                <a:latin typeface="Times New Roman" panose="02020603050405020304" pitchFamily="18" charset="0"/>
                <a:ea typeface="宋体" panose="02010600030101010101" pitchFamily="2" charset="-122"/>
              </a:rPr>
              <a:t>中断和单步中断；</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）保存断点，即把断点处的</a:t>
            </a:r>
            <a:r>
              <a:rPr lang="en-US" altLang="zh-CN">
                <a:latin typeface="Times New Roman" panose="02020603050405020304" pitchFamily="18" charset="0"/>
                <a:ea typeface="宋体" panose="02010600030101010101" pitchFamily="2" charset="-122"/>
              </a:rPr>
              <a:t>IP</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CS</a:t>
            </a:r>
            <a:r>
              <a:rPr lang="zh-CN" altLang="en-US">
                <a:latin typeface="Times New Roman" panose="02020603050405020304" pitchFamily="18" charset="0"/>
                <a:ea typeface="宋体" panose="02010600030101010101" pitchFamily="2" charset="-122"/>
              </a:rPr>
              <a:t>内容压栈；</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5</a:t>
            </a:r>
            <a:r>
              <a:rPr lang="zh-CN" altLang="en-US">
                <a:latin typeface="Times New Roman" panose="02020603050405020304" pitchFamily="18" charset="0"/>
                <a:ea typeface="宋体" panose="02010600030101010101" pitchFamily="2" charset="-122"/>
              </a:rPr>
              <a:t>）从中断向量表中取中断服务程序的入口地址，</a:t>
            </a:r>
          </a:p>
          <a:p>
            <a:pPr indent="266700" algn="just"/>
            <a:r>
              <a:rPr lang="zh-CN" altLang="en-US">
                <a:latin typeface="Times New Roman" panose="02020603050405020304" pitchFamily="18" charset="0"/>
                <a:ea typeface="宋体" panose="02010600030101010101" pitchFamily="2" charset="-122"/>
              </a:rPr>
              <a:t>          分别送至</a:t>
            </a:r>
            <a:r>
              <a:rPr lang="en-US" altLang="zh-CN">
                <a:latin typeface="Times New Roman" panose="02020603050405020304" pitchFamily="18" charset="0"/>
                <a:ea typeface="宋体" panose="02010600030101010101" pitchFamily="2" charset="-122"/>
              </a:rPr>
              <a:t>CS</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IP;</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6</a:t>
            </a:r>
            <a:r>
              <a:rPr lang="zh-CN" altLang="en-US">
                <a:latin typeface="Times New Roman" panose="02020603050405020304" pitchFamily="18" charset="0"/>
                <a:ea typeface="宋体" panose="02010600030101010101" pitchFamily="2" charset="-122"/>
              </a:rPr>
              <a:t>）转入相应中断服务程序并执行；</a:t>
            </a:r>
          </a:p>
          <a:p>
            <a:pPr indent="266700" algn="just"/>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7</a:t>
            </a:r>
            <a:r>
              <a:rPr lang="zh-CN" altLang="en-US">
                <a:latin typeface="Times New Roman" panose="02020603050405020304" pitchFamily="18" charset="0"/>
                <a:ea typeface="宋体" panose="02010600030101010101" pitchFamily="2" charset="-122"/>
              </a:rPr>
              <a:t>）恢复断点及标志寄存器中的内容，中断返回。</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外部中断</a:t>
            </a:r>
          </a:p>
        </p:txBody>
      </p:sp>
      <p:sp>
        <p:nvSpPr>
          <p:cNvPr id="25602" name="文本框 99"/>
          <p:cNvSpPr txBox="1"/>
          <p:nvPr/>
        </p:nvSpPr>
        <p:spPr>
          <a:xfrm>
            <a:off x="411163" y="1595438"/>
            <a:ext cx="8035925" cy="4708525"/>
          </a:xfrm>
          <a:prstGeom prst="rect">
            <a:avLst/>
          </a:prstGeom>
          <a:noFill/>
          <a:ln w="9525">
            <a:noFill/>
          </a:ln>
        </p:spPr>
        <p:txBody>
          <a:bodyPr wrap="square" anchor="t" anchorCtr="0">
            <a:spAutoFit/>
          </a:bodyPr>
          <a:lstStyle/>
          <a:p>
            <a:pPr indent="266700" algn="just"/>
            <a:r>
              <a:rPr lang="en-US"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．可屏蔽中断</a:t>
            </a:r>
            <a:r>
              <a:rPr lang="en-US" altLang="zh-CN" sz="2000">
                <a:latin typeface="Times New Roman" panose="02020603050405020304" pitchFamily="18" charset="0"/>
                <a:ea typeface="宋体" panose="02010600030101010101" pitchFamily="2" charset="-122"/>
              </a:rPr>
              <a:t>INTR</a:t>
            </a:r>
          </a:p>
          <a:p>
            <a:pPr indent="266700" algn="just"/>
            <a:r>
              <a:rPr lang="en-US" altLang="zh-CN" sz="2000">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可屏蔽中断</a:t>
            </a:r>
            <a:r>
              <a:rPr lang="en-US" altLang="zh-CN" sz="2000">
                <a:latin typeface="Times New Roman" panose="02020603050405020304" pitchFamily="18" charset="0"/>
                <a:ea typeface="宋体" panose="02010600030101010101" pitchFamily="2" charset="-122"/>
              </a:rPr>
              <a:t>INTR</a:t>
            </a:r>
            <a:r>
              <a:rPr lang="zh-CN" altLang="en-US" sz="2000">
                <a:latin typeface="Times New Roman" panose="02020603050405020304" pitchFamily="18" charset="0"/>
                <a:ea typeface="宋体" panose="02010600030101010101" pitchFamily="2" charset="-122"/>
              </a:rPr>
              <a:t>信号连接到</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的</a:t>
            </a:r>
            <a:r>
              <a:rPr lang="en-US" altLang="zh-CN" sz="2000">
                <a:latin typeface="Times New Roman" panose="02020603050405020304" pitchFamily="18" charset="0"/>
                <a:ea typeface="宋体" panose="02010600030101010101" pitchFamily="2" charset="-122"/>
              </a:rPr>
              <a:t>INTR</a:t>
            </a:r>
            <a:r>
              <a:rPr lang="zh-CN" altLang="en-US" sz="2000">
                <a:latin typeface="Times New Roman" panose="02020603050405020304" pitchFamily="18" charset="0"/>
                <a:ea typeface="宋体" panose="02010600030101010101" pitchFamily="2" charset="-122"/>
              </a:rPr>
              <a:t>引脚，它受</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中断允许标志位</a:t>
            </a:r>
            <a:r>
              <a:rPr lang="en-US" altLang="zh-CN" sz="2000">
                <a:latin typeface="Times New Roman" panose="02020603050405020304" pitchFamily="18" charset="0"/>
                <a:ea typeface="宋体" panose="02010600030101010101" pitchFamily="2" charset="-122"/>
              </a:rPr>
              <a:t>IF</a:t>
            </a:r>
            <a:r>
              <a:rPr lang="zh-CN" altLang="en-US" sz="2000">
                <a:latin typeface="Times New Roman" panose="02020603050405020304" pitchFamily="18" charset="0"/>
                <a:ea typeface="宋体" panose="02010600030101010101" pitchFamily="2" charset="-122"/>
              </a:rPr>
              <a:t>的控制，即当</a:t>
            </a:r>
            <a:r>
              <a:rPr lang="en-US" altLang="zh-CN" sz="2000">
                <a:latin typeface="Times New Roman" panose="02020603050405020304" pitchFamily="18" charset="0"/>
                <a:ea typeface="宋体" panose="02010600030101010101" pitchFamily="2" charset="-122"/>
              </a:rPr>
              <a:t>IF=1</a:t>
            </a:r>
            <a:r>
              <a:rPr lang="zh-CN" altLang="en-US" sz="2000">
                <a:latin typeface="Times New Roman" panose="02020603050405020304" pitchFamily="18" charset="0"/>
                <a:ea typeface="宋体" panose="02010600030101010101" pitchFamily="2" charset="-122"/>
              </a:rPr>
              <a:t>时，</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才能响应</a:t>
            </a:r>
            <a:r>
              <a:rPr lang="en-US" altLang="zh-CN" sz="2000">
                <a:latin typeface="Times New Roman" panose="02020603050405020304" pitchFamily="18" charset="0"/>
                <a:ea typeface="宋体" panose="02010600030101010101" pitchFamily="2" charset="-122"/>
              </a:rPr>
              <a:t>INTR</a:t>
            </a:r>
            <a:r>
              <a:rPr lang="zh-CN" altLang="en-US" sz="2000">
                <a:latin typeface="Times New Roman" panose="02020603050405020304" pitchFamily="18" charset="0"/>
                <a:ea typeface="宋体" panose="02010600030101010101" pitchFamily="2" charset="-122"/>
              </a:rPr>
              <a:t>引脚上的中断请求。当可屏蔽中断被响应时，</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需要执行</a:t>
            </a:r>
            <a:r>
              <a:rPr lang="en-US" altLang="zh-CN" sz="2000">
                <a:latin typeface="Times New Roman" panose="02020603050405020304" pitchFamily="18" charset="0"/>
                <a:ea typeface="宋体" panose="02010600030101010101" pitchFamily="2" charset="-122"/>
              </a:rPr>
              <a:t>7</a:t>
            </a:r>
            <a:r>
              <a:rPr lang="zh-CN" altLang="en-US" sz="2000">
                <a:latin typeface="Times New Roman" panose="02020603050405020304" pitchFamily="18" charset="0"/>
                <a:ea typeface="宋体" panose="02010600030101010101" pitchFamily="2" charset="-122"/>
              </a:rPr>
              <a:t>个总线周期。</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）执行第一个总线周期，通知外部中断系统做准备。</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）执行第二个总线周期，从外部中断系统获取中断类型号，并乘以</a:t>
            </a:r>
            <a:r>
              <a:rPr lang="en-US" altLang="zh-CN" sz="2000">
                <a:latin typeface="Times New Roman" panose="02020603050405020304" pitchFamily="18" charset="0"/>
                <a:ea typeface="宋体" panose="02010600030101010101" pitchFamily="2" charset="-122"/>
              </a:rPr>
              <a:t>4</a:t>
            </a:r>
            <a:r>
              <a:rPr lang="zh-CN" altLang="en-US" sz="2000">
                <a:latin typeface="Times New Roman" panose="02020603050405020304" pitchFamily="18" charset="0"/>
                <a:ea typeface="宋体" panose="02010600030101010101" pitchFamily="2" charset="-122"/>
              </a:rPr>
              <a:t>，形成中断向量地址。</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3</a:t>
            </a:r>
            <a:r>
              <a:rPr lang="zh-CN" altLang="en-US" sz="2000">
                <a:latin typeface="Times New Roman" panose="02020603050405020304" pitchFamily="18" charset="0"/>
                <a:ea typeface="宋体" panose="02010600030101010101" pitchFamily="2" charset="-122"/>
              </a:rPr>
              <a:t>）执行一个总线写周期，将标志寄存器内容压栈，且使</a:t>
            </a:r>
            <a:r>
              <a:rPr lang="en-US" altLang="zh-CN" sz="2000">
                <a:latin typeface="Times New Roman" panose="02020603050405020304" pitchFamily="18" charset="0"/>
                <a:ea typeface="宋体" panose="02010600030101010101" pitchFamily="2" charset="-122"/>
              </a:rPr>
              <a:t>IF</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TF</a:t>
            </a:r>
            <a:r>
              <a:rPr lang="zh-CN" altLang="en-US" sz="2000">
                <a:latin typeface="Times New Roman" panose="02020603050405020304" pitchFamily="18" charset="0"/>
                <a:ea typeface="宋体" panose="02010600030101010101" pitchFamily="2" charset="-122"/>
              </a:rPr>
              <a:t>都为</a:t>
            </a:r>
            <a:r>
              <a:rPr lang="en-US" altLang="zh-CN" sz="2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4</a:t>
            </a:r>
            <a:r>
              <a:rPr lang="zh-CN" altLang="en-US" sz="2000">
                <a:latin typeface="Times New Roman" panose="02020603050405020304" pitchFamily="18" charset="0"/>
                <a:ea typeface="宋体" panose="02010600030101010101" pitchFamily="2" charset="-122"/>
              </a:rPr>
              <a:t>）执行一个总线写周期，将</a:t>
            </a:r>
            <a:r>
              <a:rPr lang="en-US" altLang="zh-CN" sz="2000">
                <a:latin typeface="Times New Roman" panose="02020603050405020304" pitchFamily="18" charset="0"/>
                <a:ea typeface="宋体" panose="02010600030101010101" pitchFamily="2" charset="-122"/>
              </a:rPr>
              <a:t>CS</a:t>
            </a:r>
            <a:r>
              <a:rPr lang="zh-CN" altLang="en-US" sz="2000">
                <a:latin typeface="Times New Roman" panose="02020603050405020304" pitchFamily="18" charset="0"/>
                <a:ea typeface="宋体" panose="02010600030101010101" pitchFamily="2" charset="-122"/>
              </a:rPr>
              <a:t>内容压栈。</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5</a:t>
            </a:r>
            <a:r>
              <a:rPr lang="zh-CN" altLang="en-US" sz="2000">
                <a:latin typeface="Times New Roman" panose="02020603050405020304" pitchFamily="18" charset="0"/>
                <a:ea typeface="宋体" panose="02010600030101010101" pitchFamily="2" charset="-122"/>
              </a:rPr>
              <a:t>）执行一个总线写周期，把当前的</a:t>
            </a:r>
            <a:r>
              <a:rPr lang="en-US" altLang="zh-CN" sz="2000">
                <a:latin typeface="Times New Roman" panose="02020603050405020304" pitchFamily="18" charset="0"/>
                <a:ea typeface="宋体" panose="02010600030101010101" pitchFamily="2" charset="-122"/>
              </a:rPr>
              <a:t>IP</a:t>
            </a:r>
            <a:r>
              <a:rPr lang="zh-CN" altLang="en-US" sz="2000">
                <a:latin typeface="Times New Roman" panose="02020603050405020304" pitchFamily="18" charset="0"/>
                <a:ea typeface="宋体" panose="02010600030101010101" pitchFamily="2" charset="-122"/>
              </a:rPr>
              <a:t>内容压栈。</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6</a:t>
            </a:r>
            <a:r>
              <a:rPr lang="zh-CN" altLang="en-US" sz="2000">
                <a:latin typeface="Times New Roman" panose="02020603050405020304" pitchFamily="18" charset="0"/>
                <a:ea typeface="宋体" panose="02010600030101010101" pitchFamily="2" charset="-122"/>
              </a:rPr>
              <a:t>）执行一个总线读周期，从中断向量表中读取中断服务程序的偏移地址并送入</a:t>
            </a:r>
            <a:r>
              <a:rPr lang="en-US" altLang="zh-CN" sz="2000">
                <a:latin typeface="Times New Roman" panose="02020603050405020304" pitchFamily="18" charset="0"/>
                <a:ea typeface="宋体" panose="02010600030101010101" pitchFamily="2" charset="-122"/>
              </a:rPr>
              <a:t>IP</a:t>
            </a:r>
            <a:r>
              <a:rPr lang="zh-CN" altLang="en-US" sz="2000">
                <a:latin typeface="Times New Roman" panose="02020603050405020304" pitchFamily="18" charset="0"/>
                <a:ea typeface="宋体" panose="02010600030101010101" pitchFamily="2" charset="-122"/>
              </a:rPr>
              <a:t>。</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7</a:t>
            </a:r>
            <a:r>
              <a:rPr lang="zh-CN" altLang="en-US" sz="2000">
                <a:latin typeface="Times New Roman" panose="02020603050405020304" pitchFamily="18" charset="0"/>
                <a:ea typeface="宋体" panose="02010600030101010101" pitchFamily="2" charset="-122"/>
              </a:rPr>
              <a:t>）执行一个总线读周期，从中断向量表中读取中断服务程序的段地址并送入</a:t>
            </a:r>
            <a:r>
              <a:rPr lang="en-US" altLang="zh-CN" sz="2000">
                <a:latin typeface="Times New Roman" panose="02020603050405020304" pitchFamily="18" charset="0"/>
                <a:ea typeface="宋体" panose="02010600030101010101" pitchFamily="2" charset="-122"/>
              </a:rPr>
              <a:t>CS</a:t>
            </a:r>
            <a:r>
              <a:rPr lang="zh-CN" altLang="en-US" sz="200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内部中断</a:t>
            </a:r>
          </a:p>
        </p:txBody>
      </p:sp>
      <p:sp>
        <p:nvSpPr>
          <p:cNvPr id="26626" name="文本框 99"/>
          <p:cNvSpPr txBox="1"/>
          <p:nvPr/>
        </p:nvSpPr>
        <p:spPr>
          <a:xfrm>
            <a:off x="444500" y="1552575"/>
            <a:ext cx="8035925" cy="48228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由</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执行某些指令所引起的中断称为内部中断（亦称软件中断）。内部中断响应后不需要总线周期，处理过程与</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过程基本相同。内部中断包括如下几类。</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）专用中断。</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① 0</a:t>
            </a:r>
            <a:r>
              <a:rPr lang="zh-CN" altLang="en-US">
                <a:latin typeface="Times New Roman" panose="02020603050405020304" pitchFamily="18" charset="0"/>
                <a:ea typeface="宋体" panose="02010600030101010101" pitchFamily="2" charset="-122"/>
              </a:rPr>
              <a:t>型中断</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除法出错中断。</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② 1</a:t>
            </a:r>
            <a:r>
              <a:rPr lang="zh-CN" altLang="en-US">
                <a:latin typeface="Times New Roman" panose="02020603050405020304" pitchFamily="18" charset="0"/>
                <a:ea typeface="宋体" panose="02010600030101010101" pitchFamily="2" charset="-122"/>
              </a:rPr>
              <a:t>型中断</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单步中断。</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③ 3</a:t>
            </a:r>
            <a:r>
              <a:rPr lang="zh-CN" altLang="en-US">
                <a:latin typeface="Times New Roman" panose="02020603050405020304" pitchFamily="18" charset="0"/>
                <a:ea typeface="宋体" panose="02010600030101010101" pitchFamily="2" charset="-122"/>
              </a:rPr>
              <a:t>型中断</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断点中断（</a:t>
            </a:r>
            <a:r>
              <a:rPr lang="en-US" altLang="zh-CN">
                <a:latin typeface="Times New Roman" panose="02020603050405020304" pitchFamily="18" charset="0"/>
                <a:ea typeface="宋体" panose="02010600030101010101" pitchFamily="2" charset="-122"/>
              </a:rPr>
              <a:t>INT</a:t>
            </a:r>
            <a:r>
              <a:rPr lang="zh-CN" altLang="en-US">
                <a:latin typeface="Times New Roman" panose="02020603050405020304" pitchFamily="18" charset="0"/>
                <a:ea typeface="宋体" panose="02010600030101010101" pitchFamily="2" charset="-122"/>
              </a:rPr>
              <a:t>指令）。</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④ 4</a:t>
            </a:r>
            <a:r>
              <a:rPr lang="zh-CN" altLang="en-US">
                <a:latin typeface="Times New Roman" panose="02020603050405020304" pitchFamily="18" charset="0"/>
                <a:ea typeface="宋体" panose="02010600030101010101" pitchFamily="2" charset="-122"/>
              </a:rPr>
              <a:t>型中断</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溢出中断（</a:t>
            </a:r>
            <a:r>
              <a:rPr lang="en-US" altLang="zh-CN">
                <a:latin typeface="Times New Roman" panose="02020603050405020304" pitchFamily="18" charset="0"/>
                <a:ea typeface="宋体" panose="02010600030101010101" pitchFamily="2" charset="-122"/>
              </a:rPr>
              <a:t>INTO</a:t>
            </a:r>
            <a:r>
              <a:rPr lang="zh-CN" altLang="en-US">
                <a:latin typeface="Times New Roman" panose="02020603050405020304" pitchFamily="18" charset="0"/>
                <a:ea typeface="宋体" panose="02010600030101010101" pitchFamily="2" charset="-122"/>
              </a:rPr>
              <a:t>指令）。</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）指令中断</a:t>
            </a:r>
            <a:r>
              <a:rPr lang="en-US" altLang="zh-CN">
                <a:latin typeface="Times New Roman" panose="02020603050405020304" pitchFamily="18" charset="0"/>
                <a:ea typeface="宋体" panose="02010600030101010101" pitchFamily="2" charset="-122"/>
              </a:rPr>
              <a:t>——INT n</a:t>
            </a:r>
            <a:r>
              <a:rPr lang="zh-CN" altLang="en-US">
                <a:latin typeface="Times New Roman" panose="02020603050405020304" pitchFamily="18" charset="0"/>
                <a:ea typeface="宋体" panose="02010600030101010101" pitchFamily="2" charset="-122"/>
              </a:rPr>
              <a:t>指令，其类型号就是指定的</a:t>
            </a:r>
            <a:r>
              <a:rPr lang="en-US" altLang="zh-CN">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。它和</a:t>
            </a:r>
            <a:r>
              <a:rPr lang="en-US" altLang="zh-CN">
                <a:latin typeface="Times New Roman" panose="02020603050405020304" pitchFamily="18" charset="0"/>
                <a:ea typeface="宋体" panose="02010600030101010101" pitchFamily="2" charset="-122"/>
              </a:rPr>
              <a:t>INT</a:t>
            </a:r>
            <a:r>
              <a:rPr lang="zh-CN" altLang="en-US">
                <a:latin typeface="Times New Roman" panose="02020603050405020304" pitchFamily="18" charset="0"/>
                <a:ea typeface="宋体" panose="02010600030101010101" pitchFamily="2" charset="-122"/>
              </a:rPr>
              <a:t>与</a:t>
            </a:r>
            <a:r>
              <a:rPr lang="en-US" altLang="zh-CN">
                <a:latin typeface="Times New Roman" panose="02020603050405020304" pitchFamily="18" charset="0"/>
                <a:ea typeface="宋体" panose="02010600030101010101" pitchFamily="2" charset="-122"/>
              </a:rPr>
              <a:t>INTO</a:t>
            </a:r>
            <a:r>
              <a:rPr lang="zh-CN" altLang="en-US">
                <a:latin typeface="Times New Roman" panose="02020603050405020304" pitchFamily="18" charset="0"/>
                <a:ea typeface="宋体" panose="02010600030101010101" pitchFamily="2" charset="-122"/>
              </a:rPr>
              <a:t>一样，都是引起</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中断响应的指令中断，所不同的是，</a:t>
            </a:r>
            <a:r>
              <a:rPr lang="en-US" altLang="zh-CN">
                <a:latin typeface="Times New Roman" panose="02020603050405020304" pitchFamily="18" charset="0"/>
                <a:ea typeface="宋体" panose="02010600030101010101" pitchFamily="2" charset="-122"/>
              </a:rPr>
              <a:t>INT</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INTO</a:t>
            </a:r>
            <a:r>
              <a:rPr lang="zh-CN" altLang="en-US">
                <a:latin typeface="Times New Roman" panose="02020603050405020304" pitchFamily="18" charset="0"/>
                <a:ea typeface="宋体" panose="02010600030101010101" pitchFamily="2" charset="-122"/>
              </a:rPr>
              <a:t>是单字节指令，而</a:t>
            </a:r>
            <a:r>
              <a:rPr lang="en-US" altLang="zh-CN">
                <a:latin typeface="Times New Roman" panose="02020603050405020304" pitchFamily="18" charset="0"/>
                <a:ea typeface="宋体" panose="02010600030101010101" pitchFamily="2" charset="-122"/>
              </a:rPr>
              <a:t>INT n</a:t>
            </a:r>
            <a:r>
              <a:rPr lang="zh-CN" altLang="en-US">
                <a:latin typeface="Times New Roman" panose="02020603050405020304" pitchFamily="18" charset="0"/>
                <a:ea typeface="宋体" panose="02010600030101010101" pitchFamily="2" charset="-122"/>
              </a:rPr>
              <a:t>是两字节指令，第二个字节是类型号</a:t>
            </a:r>
            <a:r>
              <a:rPr lang="en-US" altLang="zh-CN">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INT n</a:t>
            </a:r>
            <a:r>
              <a:rPr lang="zh-CN" altLang="en-US">
                <a:latin typeface="Times New Roman" panose="02020603050405020304" pitchFamily="18" charset="0"/>
                <a:ea typeface="宋体" panose="02010600030101010101" pitchFamily="2" charset="-122"/>
              </a:rPr>
              <a:t>主要是用于系统定义或用户自定义的软件中断。</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中断向量和中断向量表</a:t>
            </a:r>
          </a:p>
        </p:txBody>
      </p:sp>
      <p:sp>
        <p:nvSpPr>
          <p:cNvPr id="27650" name="文本框 99"/>
          <p:cNvSpPr txBox="1"/>
          <p:nvPr/>
        </p:nvSpPr>
        <p:spPr>
          <a:xfrm>
            <a:off x="487363" y="1873250"/>
            <a:ext cx="8035925" cy="372745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中断向量是指中断服务程序的入口地址，它包括中断服务程序的段基址</a:t>
            </a:r>
            <a:r>
              <a:rPr lang="en-US" altLang="zh-CN">
                <a:latin typeface="Times New Roman" panose="02020603050405020304" pitchFamily="18" charset="0"/>
                <a:ea typeface="宋体" panose="02010600030101010101" pitchFamily="2" charset="-122"/>
              </a:rPr>
              <a:t>CS</a:t>
            </a:r>
            <a:r>
              <a:rPr lang="zh-CN" altLang="en-US">
                <a:latin typeface="Times New Roman" panose="02020603050405020304" pitchFamily="18" charset="0"/>
                <a:ea typeface="宋体" panose="02010600030101010101" pitchFamily="2" charset="-122"/>
              </a:rPr>
              <a:t>和偏移地址</a:t>
            </a:r>
            <a:r>
              <a:rPr lang="en-US" altLang="zh-CN">
                <a:latin typeface="Times New Roman" panose="02020603050405020304" pitchFamily="18" charset="0"/>
                <a:ea typeface="宋体" panose="02010600030101010101" pitchFamily="2" charset="-122"/>
              </a:rPr>
              <a:t>IP</a:t>
            </a:r>
            <a:r>
              <a:rPr lang="zh-CN" altLang="en-US">
                <a:latin typeface="Times New Roman" panose="02020603050405020304" pitchFamily="18" charset="0"/>
                <a:ea typeface="宋体" panose="02010600030101010101" pitchFamily="2" charset="-122"/>
              </a:rPr>
              <a:t>（共占</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个字节地址）。因此，通过使用中断向量，可以找到中断服务程序的入口地址，实现程序转移。中断向量表是存放中断服务程序入口地址的表格，它存放于系统内存的最低端，共</a:t>
            </a:r>
            <a:r>
              <a:rPr lang="en-US" altLang="zh-CN">
                <a:latin typeface="Times New Roman" panose="02020603050405020304" pitchFamily="18" charset="0"/>
                <a:ea typeface="宋体" panose="02010600030101010101" pitchFamily="2" charset="-122"/>
              </a:rPr>
              <a:t>1KB</a:t>
            </a:r>
            <a:r>
              <a:rPr lang="zh-CN" altLang="en-US">
                <a:latin typeface="Times New Roman" panose="02020603050405020304" pitchFamily="18" charset="0"/>
                <a:ea typeface="宋体" panose="02010600030101010101" pitchFamily="2" charset="-122"/>
              </a:rPr>
              <a:t>，每</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个字节存放一个中断服务程序的入口地址，较高地址的两个字节存放中断服务程序入口的段地址，较低地址的两个字节存放中断服务程序入口的偏移地址，这</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个单元的最低地址称为中断向量地址，其值为中断类型号乘</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80x86</a:t>
            </a:r>
            <a:r>
              <a:rPr lang="zh-CN" altLang="en-US">
                <a:latin typeface="Times New Roman" panose="02020603050405020304" pitchFamily="18" charset="0"/>
                <a:ea typeface="宋体" panose="02010600030101010101" pitchFamily="2" charset="-122"/>
              </a:rPr>
              <a:t>系统各服务程序的段基址</a:t>
            </a:r>
            <a:r>
              <a:rPr lang="en-US" altLang="zh-CN">
                <a:latin typeface="Times New Roman" panose="02020603050405020304" pitchFamily="18" charset="0"/>
                <a:ea typeface="宋体" panose="02010600030101010101" pitchFamily="2" charset="-122"/>
              </a:rPr>
              <a:t>CS</a:t>
            </a:r>
            <a:r>
              <a:rPr lang="zh-CN" altLang="en-US">
                <a:latin typeface="Times New Roman" panose="02020603050405020304" pitchFamily="18" charset="0"/>
                <a:ea typeface="宋体" panose="02010600030101010101" pitchFamily="2" charset="-122"/>
              </a:rPr>
              <a:t>和偏移地址</a:t>
            </a:r>
            <a:r>
              <a:rPr lang="en-US" altLang="zh-CN">
                <a:latin typeface="Times New Roman" panose="02020603050405020304" pitchFamily="18" charset="0"/>
                <a:ea typeface="宋体" panose="02010600030101010101" pitchFamily="2" charset="-122"/>
              </a:rPr>
              <a:t>IP</a:t>
            </a:r>
            <a:r>
              <a:rPr lang="zh-CN" altLang="en-US">
                <a:latin typeface="Times New Roman" panose="02020603050405020304" pitchFamily="18" charset="0"/>
                <a:ea typeface="宋体" panose="02010600030101010101" pitchFamily="2" charset="-122"/>
              </a:rPr>
              <a:t>在中断向量表中按中断号顺序存放，见表</a:t>
            </a:r>
            <a:r>
              <a:rPr lang="en-US" altLang="zh-CN">
                <a:latin typeface="Times New Roman" panose="02020603050405020304" pitchFamily="18" charset="0"/>
                <a:ea typeface="宋体" panose="02010600030101010101" pitchFamily="2" charset="-122"/>
              </a:rPr>
              <a:t>7-2</a:t>
            </a:r>
            <a:r>
              <a:rPr lang="zh-CN" altLang="en-US">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3" name="Picture 20" descr="b7"/>
          <p:cNvPicPr>
            <a:picLocks noChangeAspect="1"/>
          </p:cNvPicPr>
          <p:nvPr/>
        </p:nvPicPr>
        <p:blipFill>
          <a:blip r:embed="rId2"/>
          <a:stretch>
            <a:fillRect/>
          </a:stretch>
        </p:blipFill>
        <p:spPr>
          <a:xfrm>
            <a:off x="363538" y="1155700"/>
            <a:ext cx="2917825" cy="5384800"/>
          </a:xfrm>
          <a:prstGeom prst="rect">
            <a:avLst/>
          </a:prstGeom>
          <a:noFill/>
          <a:ln w="9525">
            <a:noFill/>
          </a:ln>
        </p:spPr>
      </p:pic>
      <p:sp>
        <p:nvSpPr>
          <p:cNvPr id="28674" name="文本框 100"/>
          <p:cNvSpPr txBox="1"/>
          <p:nvPr/>
        </p:nvSpPr>
        <p:spPr>
          <a:xfrm>
            <a:off x="3671646" y="502053"/>
            <a:ext cx="5030787" cy="5318125"/>
          </a:xfrm>
          <a:prstGeom prst="rect">
            <a:avLst/>
          </a:prstGeom>
          <a:noFill/>
          <a:ln w="9525">
            <a:noFill/>
          </a:ln>
        </p:spPr>
        <p:txBody>
          <a:bodyPr wrap="square" anchor="t" anchorCtr="0">
            <a:spAutoFit/>
          </a:bodyPr>
          <a:lstStyle/>
          <a:p>
            <a:pPr indent="266700"/>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en-US" sz="2000" dirty="0">
                <a:latin typeface="宋体" panose="02010600030101010101" pitchFamily="2" charset="-122"/>
                <a:ea typeface="宋体" panose="02010600030101010101" pitchFamily="2" charset="-122"/>
              </a:rPr>
              <a:t>）直接写入。</a:t>
            </a:r>
          </a:p>
          <a:p>
            <a:pPr indent="266700"/>
            <a:r>
              <a:rPr lang="zh-CN" altLang="en-US" sz="2000" dirty="0">
                <a:latin typeface="宋体" panose="02010600030101010101" pitchFamily="2" charset="-122"/>
                <a:ea typeface="宋体" panose="02010600030101010101" pitchFamily="2" charset="-122"/>
              </a:rPr>
              <a:t> </a:t>
            </a:r>
          </a:p>
          <a:p>
            <a:pPr indent="266700"/>
            <a:r>
              <a:rPr lang="en-US" altLang="zh-CN" sz="2000" dirty="0">
                <a:latin typeface="宋体" panose="02010600030101010101" pitchFamily="2" charset="-122"/>
                <a:ea typeface="宋体" panose="02010600030101010101" pitchFamily="2" charset="-122"/>
              </a:rPr>
              <a:t>MOV       DS</a:t>
            </a:r>
            <a:r>
              <a:rPr lang="zh-CN" altLang="en-US" sz="2000" dirty="0">
                <a:latin typeface="宋体" panose="02010600030101010101" pitchFamily="2" charset="-122"/>
                <a:ea typeface="宋体" panose="02010600030101010101" pitchFamily="2" charset="-122"/>
              </a:rPr>
              <a:t>，</a:t>
            </a:r>
            <a:r>
              <a:rPr lang="en-US" altLang="zh-CN" sz="2000" dirty="0">
                <a:latin typeface="Courier New" panose="02070309020205020404" charset="0"/>
                <a:ea typeface="宋体" panose="02010600030101010101" pitchFamily="2" charset="-122"/>
              </a:rPr>
              <a:t>0000H</a:t>
            </a:r>
          </a:p>
          <a:p>
            <a:pPr indent="266700"/>
            <a:r>
              <a:rPr lang="en-US" altLang="zh-CN" sz="2000" dirty="0">
                <a:latin typeface="宋体" panose="02010600030101010101" pitchFamily="2" charset="-122"/>
                <a:ea typeface="宋体" panose="02010600030101010101" pitchFamily="2" charset="-122"/>
              </a:rPr>
              <a:t>MOV       SI</a:t>
            </a:r>
            <a:r>
              <a:rPr lang="zh-CN" altLang="en-US" sz="2000" dirty="0">
                <a:latin typeface="宋体" panose="02010600030101010101" pitchFamily="2" charset="-122"/>
                <a:ea typeface="宋体" panose="02010600030101010101" pitchFamily="2" charset="-122"/>
              </a:rPr>
              <a:t>，中断类型号乘</a:t>
            </a:r>
            <a:r>
              <a:rPr lang="en-US" altLang="zh-CN" sz="2000" dirty="0">
                <a:latin typeface="Courier New" panose="02070309020205020404" charset="0"/>
                <a:ea typeface="宋体" panose="02010600030101010101" pitchFamily="2" charset="-122"/>
              </a:rPr>
              <a:t>4</a:t>
            </a:r>
          </a:p>
          <a:p>
            <a:pPr indent="266700"/>
            <a:r>
              <a:rPr lang="en-US" altLang="zh-CN" sz="2000" dirty="0">
                <a:latin typeface="宋体" panose="02010600030101010101" pitchFamily="2" charset="-122"/>
                <a:ea typeface="宋体" panose="02010600030101010101" pitchFamily="2" charset="-122"/>
              </a:rPr>
              <a:t>MOV       AX</a:t>
            </a:r>
            <a:r>
              <a:rPr lang="zh-CN" altLang="en-US" sz="2000" dirty="0">
                <a:latin typeface="宋体" panose="02010600030101010101" pitchFamily="2" charset="-122"/>
                <a:ea typeface="宋体" panose="02010600030101010101" pitchFamily="2" charset="-122"/>
              </a:rPr>
              <a:t>，中断服务程序偏移地址</a:t>
            </a:r>
          </a:p>
          <a:p>
            <a:pPr indent="266700"/>
            <a:r>
              <a:rPr lang="en-US" altLang="zh-CN" sz="2000" dirty="0">
                <a:latin typeface="宋体" panose="02010600030101010101" pitchFamily="2" charset="-122"/>
                <a:ea typeface="宋体" panose="02010600030101010101" pitchFamily="2" charset="-122"/>
              </a:rPr>
              <a:t>MOV       [SI]</a:t>
            </a:r>
            <a:r>
              <a:rPr lang="zh-CN" altLang="en-US" sz="2000" dirty="0">
                <a:latin typeface="宋体" panose="02010600030101010101" pitchFamily="2" charset="-122"/>
                <a:ea typeface="宋体" panose="02010600030101010101" pitchFamily="2" charset="-122"/>
              </a:rPr>
              <a:t>，</a:t>
            </a:r>
            <a:r>
              <a:rPr lang="en-US" altLang="zh-CN" sz="2000" dirty="0">
                <a:latin typeface="Courier New" panose="02070309020205020404" charset="0"/>
                <a:ea typeface="宋体" panose="02010600030101010101" pitchFamily="2" charset="-122"/>
              </a:rPr>
              <a:t>AX</a:t>
            </a:r>
          </a:p>
          <a:p>
            <a:pPr indent="266700"/>
            <a:r>
              <a:rPr lang="en-US" altLang="zh-CN" sz="2000" dirty="0">
                <a:latin typeface="宋体" panose="02010600030101010101" pitchFamily="2" charset="-122"/>
                <a:ea typeface="宋体" panose="02010600030101010101" pitchFamily="2" charset="-122"/>
              </a:rPr>
              <a:t>MOV       AX</a:t>
            </a:r>
            <a:r>
              <a:rPr lang="zh-CN" altLang="en-US" sz="2000" dirty="0">
                <a:latin typeface="宋体" panose="02010600030101010101" pitchFamily="2" charset="-122"/>
                <a:ea typeface="宋体" panose="02010600030101010101" pitchFamily="2" charset="-122"/>
              </a:rPr>
              <a:t>，中断服务程序段地址</a:t>
            </a:r>
          </a:p>
          <a:p>
            <a:pPr indent="266700"/>
            <a:r>
              <a:rPr lang="en-US" altLang="zh-CN" sz="2000" dirty="0">
                <a:latin typeface="宋体" panose="02010600030101010101" pitchFamily="2" charset="-122"/>
                <a:ea typeface="宋体" panose="02010600030101010101" pitchFamily="2" charset="-122"/>
              </a:rPr>
              <a:t>MOV       [SI+2]</a:t>
            </a:r>
            <a:r>
              <a:rPr lang="zh-CN" altLang="en-US" sz="2000" dirty="0">
                <a:latin typeface="宋体" panose="02010600030101010101" pitchFamily="2" charset="-122"/>
                <a:ea typeface="宋体" panose="02010600030101010101" pitchFamily="2" charset="-122"/>
              </a:rPr>
              <a:t>，</a:t>
            </a:r>
            <a:r>
              <a:rPr lang="en-US" altLang="zh-CN" sz="2000" dirty="0">
                <a:latin typeface="Courier New" panose="02070309020205020404" charset="0"/>
                <a:ea typeface="宋体" panose="02010600030101010101" pitchFamily="2" charset="-122"/>
              </a:rPr>
              <a:t>AX</a:t>
            </a:r>
          </a:p>
          <a:p>
            <a:pPr indent="266700"/>
            <a:r>
              <a:rPr lang="en-US" altLang="zh-CN" sz="2000" dirty="0">
                <a:latin typeface="宋体" panose="02010600030101010101" pitchFamily="2" charset="-122"/>
                <a:ea typeface="宋体" panose="02010600030101010101" pitchFamily="2" charset="-122"/>
              </a:rPr>
              <a:t> </a:t>
            </a:r>
          </a:p>
          <a:p>
            <a:pPr indent="266700"/>
            <a:r>
              <a:rPr lang="zh-CN" altLang="en-US" sz="2000" dirty="0">
                <a:latin typeface="宋体" panose="02010600030101010101" pitchFamily="2" charset="-122"/>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宋体" panose="02010600030101010101" pitchFamily="2" charset="-122"/>
                <a:ea typeface="宋体" panose="02010600030101010101" pitchFamily="2" charset="-122"/>
              </a:rPr>
              <a:t>）利用</a:t>
            </a:r>
            <a:r>
              <a:rPr lang="en-US" altLang="zh-CN" sz="2000" dirty="0">
                <a:latin typeface="Times New Roman" panose="02020603050405020304" pitchFamily="18" charset="0"/>
                <a:ea typeface="宋体" panose="02010600030101010101" pitchFamily="2" charset="-122"/>
              </a:rPr>
              <a:t>DOS</a:t>
            </a:r>
            <a:r>
              <a:rPr lang="zh-CN" altLang="en-US" sz="2000" dirty="0">
                <a:latin typeface="宋体" panose="02010600030101010101" pitchFamily="2" charset="-122"/>
                <a:ea typeface="宋体" panose="02010600030101010101" pitchFamily="2" charset="-122"/>
              </a:rPr>
              <a:t>功能调用。</a:t>
            </a:r>
          </a:p>
          <a:p>
            <a:pPr indent="266700"/>
            <a:r>
              <a:rPr lang="zh-CN" altLang="en-US" sz="2000" dirty="0">
                <a:latin typeface="宋体" panose="02010600030101010101" pitchFamily="2" charset="-122"/>
                <a:ea typeface="宋体" panose="02010600030101010101" pitchFamily="2" charset="-122"/>
              </a:rPr>
              <a:t>设置中断向量（</a:t>
            </a:r>
            <a:r>
              <a:rPr lang="en-US" altLang="zh-CN" sz="2000" dirty="0">
                <a:latin typeface="Times New Roman" panose="02020603050405020304" pitchFamily="18" charset="0"/>
                <a:ea typeface="宋体" panose="02010600030101010101" pitchFamily="2" charset="-122"/>
              </a:rPr>
              <a:t>DOS</a:t>
            </a:r>
            <a:r>
              <a:rPr lang="zh-CN" altLang="en-US" sz="2000" dirty="0">
                <a:latin typeface="宋体" panose="02010600030101010101" pitchFamily="2" charset="-122"/>
                <a:ea typeface="宋体" panose="02010600030101010101" pitchFamily="2" charset="-122"/>
              </a:rPr>
              <a:t>功能调用</a:t>
            </a:r>
            <a:r>
              <a:rPr lang="en-US" altLang="zh-CN" sz="2000" dirty="0">
                <a:latin typeface="Times New Roman" panose="02020603050405020304" pitchFamily="18" charset="0"/>
                <a:ea typeface="宋体" panose="02010600030101010101" pitchFamily="2" charset="-122"/>
              </a:rPr>
              <a:t>INT 21H</a:t>
            </a:r>
            <a:r>
              <a:rPr lang="zh-CN" altLang="en-US" sz="2000" dirty="0">
                <a:latin typeface="宋体" panose="02010600030101010101" pitchFamily="2" charset="-122"/>
                <a:ea typeface="宋体" panose="02010600030101010101" pitchFamily="2" charset="-122"/>
              </a:rPr>
              <a:t>）。</a:t>
            </a:r>
          </a:p>
          <a:p>
            <a:pPr indent="266700"/>
            <a:r>
              <a:rPr lang="zh-CN" altLang="en-US" sz="2000" dirty="0">
                <a:latin typeface="宋体" panose="02010600030101010101" pitchFamily="2" charset="-122"/>
                <a:ea typeface="宋体" panose="02010600030101010101" pitchFamily="2" charset="-122"/>
              </a:rPr>
              <a:t>功能号：</a:t>
            </a:r>
            <a:r>
              <a:rPr lang="en-US" altLang="zh-CN" sz="2000" dirty="0">
                <a:latin typeface="Times New Roman" panose="02020603050405020304" pitchFamily="18" charset="0"/>
                <a:ea typeface="宋体" panose="02010600030101010101" pitchFamily="2" charset="-122"/>
              </a:rPr>
              <a:t>AH=25H</a:t>
            </a:r>
            <a:r>
              <a:rPr lang="zh-CN" altLang="en-US" sz="2000" dirty="0">
                <a:latin typeface="宋体" panose="02010600030101010101" pitchFamily="2" charset="-122"/>
                <a:ea typeface="宋体" panose="02010600030101010101" pitchFamily="2" charset="-122"/>
              </a:rPr>
              <a:t>。</a:t>
            </a:r>
          </a:p>
          <a:p>
            <a:pPr indent="266700"/>
            <a:r>
              <a:rPr lang="zh-CN" altLang="en-US" sz="2000" dirty="0">
                <a:latin typeface="宋体" panose="02010600030101010101" pitchFamily="2" charset="-122"/>
                <a:ea typeface="宋体" panose="02010600030101010101" pitchFamily="2" charset="-122"/>
              </a:rPr>
              <a:t>入口参数：</a:t>
            </a:r>
            <a:r>
              <a:rPr lang="en-US" altLang="zh-CN" sz="2000" dirty="0">
                <a:latin typeface="Times New Roman" panose="02020603050405020304" pitchFamily="18" charset="0"/>
                <a:ea typeface="宋体" panose="02010600030101010101" pitchFamily="2" charset="-122"/>
              </a:rPr>
              <a:t>AL=</a:t>
            </a:r>
            <a:r>
              <a:rPr lang="zh-CN" altLang="en-US" sz="2000" dirty="0">
                <a:latin typeface="宋体" panose="02010600030101010101" pitchFamily="2" charset="-122"/>
                <a:ea typeface="宋体" panose="02010600030101010101" pitchFamily="2" charset="-122"/>
              </a:rPr>
              <a:t>中断类型号；</a:t>
            </a:r>
            <a:r>
              <a:rPr lang="en-US" altLang="zh-CN" sz="2000" dirty="0">
                <a:latin typeface="Times New Roman" panose="02020603050405020304" pitchFamily="18" charset="0"/>
                <a:ea typeface="宋体" panose="02010600030101010101" pitchFamily="2" charset="-122"/>
              </a:rPr>
              <a:t>DS</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DX=</a:t>
            </a:r>
            <a:r>
              <a:rPr lang="zh-CN" altLang="en-US" sz="2000" dirty="0">
                <a:latin typeface="宋体" panose="02010600030101010101" pitchFamily="2" charset="-122"/>
                <a:ea typeface="宋体" panose="02010600030101010101" pitchFamily="2" charset="-122"/>
              </a:rPr>
              <a:t>中断向量（段地址：偏移地址）。</a:t>
            </a:r>
          </a:p>
          <a:p>
            <a:pPr indent="266700"/>
            <a:r>
              <a:rPr lang="zh-CN" altLang="en-US" sz="2000" dirty="0">
                <a:latin typeface="宋体" panose="02010600030101010101" pitchFamily="2" charset="-122"/>
                <a:ea typeface="宋体" panose="02010600030101010101" pitchFamily="2" charset="-122"/>
              </a:rPr>
              <a:t>获取中断向量（</a:t>
            </a:r>
            <a:r>
              <a:rPr lang="en-US" altLang="zh-CN" sz="2000" dirty="0">
                <a:latin typeface="Times New Roman" panose="02020603050405020304" pitchFamily="18" charset="0"/>
                <a:ea typeface="宋体" panose="02010600030101010101" pitchFamily="2" charset="-122"/>
              </a:rPr>
              <a:t>DOS</a:t>
            </a:r>
            <a:r>
              <a:rPr lang="zh-CN" altLang="en-US" sz="2000" dirty="0">
                <a:latin typeface="宋体" panose="02010600030101010101" pitchFamily="2" charset="-122"/>
                <a:ea typeface="宋体" panose="02010600030101010101" pitchFamily="2" charset="-122"/>
              </a:rPr>
              <a:t>功能调用</a:t>
            </a:r>
            <a:r>
              <a:rPr lang="en-US" altLang="zh-CN" sz="2000" dirty="0">
                <a:latin typeface="Times New Roman" panose="02020603050405020304" pitchFamily="18" charset="0"/>
                <a:ea typeface="宋体" panose="02010600030101010101" pitchFamily="2" charset="-122"/>
              </a:rPr>
              <a:t>INT 21H</a:t>
            </a:r>
            <a:r>
              <a:rPr lang="zh-CN" altLang="en-US" sz="2000" dirty="0">
                <a:latin typeface="宋体" panose="02010600030101010101" pitchFamily="2" charset="-122"/>
                <a:ea typeface="宋体" panose="02010600030101010101" pitchFamily="2" charset="-122"/>
              </a:rPr>
              <a:t>）。</a:t>
            </a:r>
          </a:p>
          <a:p>
            <a:pPr indent="266700"/>
            <a:r>
              <a:rPr lang="zh-CN" altLang="en-US" sz="2000" dirty="0">
                <a:latin typeface="宋体" panose="02010600030101010101" pitchFamily="2" charset="-122"/>
                <a:ea typeface="宋体" panose="02010600030101010101" pitchFamily="2" charset="-122"/>
              </a:rPr>
              <a:t>功能号：</a:t>
            </a:r>
            <a:r>
              <a:rPr lang="en-US" altLang="zh-CN" sz="2000" dirty="0">
                <a:latin typeface="Times New Roman" panose="02020603050405020304" pitchFamily="18" charset="0"/>
                <a:ea typeface="宋体" panose="02010600030101010101" pitchFamily="2" charset="-122"/>
              </a:rPr>
              <a:t>AH=35H</a:t>
            </a:r>
            <a:r>
              <a:rPr lang="zh-CN" altLang="en-US" sz="2000" dirty="0">
                <a:latin typeface="宋体" panose="02010600030101010101" pitchFamily="2" charset="-122"/>
                <a:ea typeface="宋体" panose="02010600030101010101" pitchFamily="2" charset="-122"/>
              </a:rPr>
              <a:t>。</a:t>
            </a:r>
          </a:p>
          <a:p>
            <a:pPr indent="266700"/>
            <a:r>
              <a:rPr lang="zh-CN" altLang="en-US" sz="2000" dirty="0">
                <a:latin typeface="宋体" panose="02010600030101010101" pitchFamily="2" charset="-122"/>
                <a:ea typeface="宋体" panose="02010600030101010101" pitchFamily="2" charset="-122"/>
              </a:rPr>
              <a:t>入口参数：</a:t>
            </a:r>
            <a:r>
              <a:rPr lang="en-US" altLang="zh-CN" sz="2000" dirty="0">
                <a:latin typeface="Times New Roman" panose="02020603050405020304" pitchFamily="18" charset="0"/>
                <a:ea typeface="宋体" panose="02010600030101010101" pitchFamily="2" charset="-122"/>
              </a:rPr>
              <a:t>AL=</a:t>
            </a:r>
            <a:r>
              <a:rPr lang="zh-CN" altLang="en-US" sz="2000" dirty="0">
                <a:latin typeface="宋体" panose="02010600030101010101" pitchFamily="2" charset="-122"/>
                <a:ea typeface="宋体" panose="02010600030101010101" pitchFamily="2" charset="-122"/>
              </a:rPr>
              <a:t>中断类型号。</a:t>
            </a:r>
          </a:p>
          <a:p>
            <a:pPr indent="266700"/>
            <a:r>
              <a:rPr lang="zh-CN" altLang="en-US" sz="2000" dirty="0">
                <a:latin typeface="宋体" panose="02010600030101010101" pitchFamily="2" charset="-122"/>
                <a:ea typeface="宋体" panose="02010600030101010101" pitchFamily="2" charset="-122"/>
              </a:rPr>
              <a:t>出口参数：</a:t>
            </a:r>
            <a:r>
              <a:rPr lang="en-US" altLang="zh-CN" sz="2000" dirty="0">
                <a:latin typeface="Times New Roman" panose="02020603050405020304" pitchFamily="18" charset="0"/>
                <a:ea typeface="宋体" panose="02010600030101010101" pitchFamily="2" charset="-122"/>
              </a:rPr>
              <a:t>ES</a:t>
            </a:r>
            <a:r>
              <a:rPr lang="zh-CN" altLang="en-US" sz="2000" dirty="0">
                <a:latin typeface="宋体" panose="02010600030101010101" pitchFamily="2" charset="-122"/>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BX=</a:t>
            </a:r>
            <a:r>
              <a:rPr lang="zh-CN" altLang="en-US" sz="2000" dirty="0">
                <a:latin typeface="宋体" panose="02010600030101010101" pitchFamily="2" charset="-122"/>
                <a:ea typeface="宋体" panose="02010600030101010101" pitchFamily="2" charset="-122"/>
              </a:rPr>
              <a:t>中断向量（段地址：偏移地址）。</a:t>
            </a:r>
          </a:p>
        </p:txBody>
      </p:sp>
      <p:sp>
        <p:nvSpPr>
          <p:cNvPr id="28675" name="文本框 1"/>
          <p:cNvSpPr txBox="1"/>
          <p:nvPr/>
        </p:nvSpPr>
        <p:spPr>
          <a:xfrm>
            <a:off x="209550" y="633413"/>
            <a:ext cx="3238500" cy="381000"/>
          </a:xfrm>
          <a:prstGeom prst="rect">
            <a:avLst/>
          </a:prstGeom>
          <a:noFill/>
          <a:ln w="9525">
            <a:noFill/>
          </a:ln>
        </p:spPr>
        <p:txBody>
          <a:bodyPr wrap="square" anchor="t" anchorCtr="0">
            <a:spAutoFit/>
          </a:bodyPr>
          <a:lstStyle/>
          <a:p>
            <a:pPr algn="ctr"/>
            <a:r>
              <a:rPr lang="zh-CN" altLang="en-US" sz="2000" b="0">
                <a:latin typeface="黑体" panose="02010609060101010101" pitchFamily="49" charset="-122"/>
                <a:ea typeface="黑体" panose="02010609060101010101" pitchFamily="49" charset="-122"/>
              </a:rPr>
              <a:t>表</a:t>
            </a:r>
            <a:r>
              <a:rPr lang="en-US" altLang="zh-CN" sz="2000" b="0">
                <a:latin typeface="Arial" panose="020B0604020202020204" pitchFamily="34" charset="0"/>
                <a:ea typeface="宋体" panose="02010600030101010101" pitchFamily="2" charset="-122"/>
              </a:rPr>
              <a:t>7-2  </a:t>
            </a:r>
            <a:r>
              <a:rPr lang="zh-CN" altLang="en-US" sz="2000" b="0">
                <a:latin typeface="黑体" panose="02010609060101010101" pitchFamily="49" charset="-122"/>
                <a:ea typeface="黑体" panose="02010609060101010101" pitchFamily="49" charset="-122"/>
              </a:rPr>
              <a:t>中断向量表</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80x86中断响应过程</a:t>
            </a:r>
          </a:p>
        </p:txBody>
      </p:sp>
      <p:sp>
        <p:nvSpPr>
          <p:cNvPr id="29698" name="文本框 99"/>
          <p:cNvSpPr txBox="1"/>
          <p:nvPr/>
        </p:nvSpPr>
        <p:spPr>
          <a:xfrm>
            <a:off x="420688" y="1425575"/>
            <a:ext cx="8035925" cy="4983163"/>
          </a:xfrm>
          <a:prstGeom prst="rect">
            <a:avLst/>
          </a:prstGeom>
          <a:noFill/>
          <a:ln w="9525">
            <a:noFill/>
          </a:ln>
        </p:spPr>
        <p:txBody>
          <a:bodyPr wrap="square" anchor="t" anchorCtr="0">
            <a:spAutoFit/>
          </a:bodyPr>
          <a:lstStyle/>
          <a:p>
            <a:pPr indent="266700" algn="just"/>
            <a:r>
              <a:rPr lang="en-US"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80x86CPU</a:t>
            </a:r>
            <a:r>
              <a:rPr lang="zh-CN" altLang="en-US" sz="2000">
                <a:latin typeface="Times New Roman" panose="02020603050405020304" pitchFamily="18" charset="0"/>
                <a:ea typeface="宋体" panose="02010600030101010101" pitchFamily="2" charset="-122"/>
              </a:rPr>
              <a:t>对各种中断的响应过程是不同的，主要区别在于如何获得相应的中断类型号。</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．内部中断响应过程</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在执行内部中断时没有中断响应周期。对于除法溢出、单步、断点和溢出中断，中断类型号是自动形成的，而对于</a:t>
            </a:r>
            <a:r>
              <a:rPr lang="en-US" altLang="zh-CN" sz="2000">
                <a:latin typeface="Times New Roman" panose="02020603050405020304" pitchFamily="18" charset="0"/>
                <a:ea typeface="宋体" panose="02010600030101010101" pitchFamily="2" charset="-122"/>
              </a:rPr>
              <a:t>INT n</a:t>
            </a:r>
            <a:r>
              <a:rPr lang="zh-CN" altLang="en-US" sz="2000">
                <a:latin typeface="Times New Roman" panose="02020603050405020304" pitchFamily="18" charset="0"/>
                <a:ea typeface="宋体" panose="02010600030101010101" pitchFamily="2" charset="-122"/>
              </a:rPr>
              <a:t>指令，其中断类型号由</a:t>
            </a:r>
            <a:r>
              <a:rPr lang="en-US" altLang="zh-CN" sz="2000">
                <a:latin typeface="Times New Roman" panose="02020603050405020304" pitchFamily="18" charset="0"/>
                <a:ea typeface="宋体" panose="02010600030101010101" pitchFamily="2" charset="-122"/>
              </a:rPr>
              <a:t>INT n</a:t>
            </a:r>
            <a:r>
              <a:rPr lang="zh-CN" altLang="en-US" sz="2000">
                <a:latin typeface="Times New Roman" panose="02020603050405020304" pitchFamily="18" charset="0"/>
                <a:ea typeface="宋体" panose="02010600030101010101" pitchFamily="2" charset="-122"/>
              </a:rPr>
              <a:t>指令中给定的</a:t>
            </a:r>
            <a:r>
              <a:rPr lang="en-US" altLang="zh-CN" sz="2000">
                <a:latin typeface="Times New Roman" panose="02020603050405020304" pitchFamily="18" charset="0"/>
                <a:ea typeface="宋体" panose="02010600030101010101" pitchFamily="2" charset="-122"/>
              </a:rPr>
              <a:t>n</a:t>
            </a:r>
            <a:r>
              <a:rPr lang="zh-CN" altLang="en-US" sz="2000">
                <a:latin typeface="Times New Roman" panose="02020603050405020304" pitchFamily="18" charset="0"/>
                <a:ea typeface="宋体" panose="02010600030101010101" pitchFamily="2" charset="-122"/>
              </a:rPr>
              <a:t>决定，获得中断类型号以后的处理过程顺序如下。</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）将类型号乘</a:t>
            </a:r>
            <a:r>
              <a:rPr lang="en-US" altLang="zh-CN" sz="2000">
                <a:latin typeface="Times New Roman" panose="02020603050405020304" pitchFamily="18" charset="0"/>
                <a:ea typeface="宋体" panose="02010600030101010101" pitchFamily="2" charset="-122"/>
              </a:rPr>
              <a:t>4</a:t>
            </a:r>
            <a:r>
              <a:rPr lang="zh-CN" altLang="en-US" sz="2000">
                <a:latin typeface="Times New Roman" panose="02020603050405020304" pitchFamily="18" charset="0"/>
                <a:ea typeface="宋体" panose="02010600030101010101" pitchFamily="2" charset="-122"/>
              </a:rPr>
              <a:t>，计算出中断向量的地址。</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的标志寄存器入栈，以保护各个标志位，此操作类似于</a:t>
            </a:r>
            <a:r>
              <a:rPr lang="en-US" altLang="zh-CN" sz="2000">
                <a:latin typeface="Times New Roman" panose="02020603050405020304" pitchFamily="18" charset="0"/>
                <a:ea typeface="宋体" panose="02010600030101010101" pitchFamily="2" charset="-122"/>
              </a:rPr>
              <a:t>PUSHF</a:t>
            </a:r>
            <a:r>
              <a:rPr lang="zh-CN" altLang="en-US" sz="2000">
                <a:latin typeface="Times New Roman" panose="02020603050405020304" pitchFamily="18" charset="0"/>
                <a:ea typeface="宋体" panose="02010600030101010101" pitchFamily="2" charset="-122"/>
              </a:rPr>
              <a:t>指令。</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3</a:t>
            </a:r>
            <a:r>
              <a:rPr lang="zh-CN" altLang="en-US" sz="2000">
                <a:latin typeface="Times New Roman" panose="02020603050405020304" pitchFamily="18" charset="0"/>
                <a:ea typeface="宋体" panose="02010600030101010101" pitchFamily="2" charset="-122"/>
              </a:rPr>
              <a:t>）清除</a:t>
            </a:r>
            <a:r>
              <a:rPr lang="en-US" altLang="zh-CN" sz="2000">
                <a:latin typeface="Times New Roman" panose="02020603050405020304" pitchFamily="18" charset="0"/>
                <a:ea typeface="宋体" panose="02010600030101010101" pitchFamily="2" charset="-122"/>
              </a:rPr>
              <a:t>IF</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TF</a:t>
            </a:r>
            <a:r>
              <a:rPr lang="zh-CN" altLang="en-US" sz="2000">
                <a:latin typeface="Times New Roman" panose="02020603050405020304" pitchFamily="18" charset="0"/>
                <a:ea typeface="宋体" panose="02010600030101010101" pitchFamily="2" charset="-122"/>
              </a:rPr>
              <a:t>标志，屏蔽新的</a:t>
            </a:r>
            <a:r>
              <a:rPr lang="en-US" altLang="zh-CN" sz="2000">
                <a:latin typeface="Times New Roman" panose="02020603050405020304" pitchFamily="18" charset="0"/>
                <a:ea typeface="宋体" panose="02010600030101010101" pitchFamily="2" charset="-122"/>
              </a:rPr>
              <a:t>INTR</a:t>
            </a:r>
            <a:r>
              <a:rPr lang="zh-CN" altLang="en-US" sz="2000">
                <a:latin typeface="Times New Roman" panose="02020603050405020304" pitchFamily="18" charset="0"/>
                <a:ea typeface="宋体" panose="02010600030101010101" pitchFamily="2" charset="-122"/>
              </a:rPr>
              <a:t>中断和单步中断。</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4</a:t>
            </a:r>
            <a:r>
              <a:rPr lang="zh-CN" altLang="en-US" sz="2000">
                <a:latin typeface="Times New Roman" panose="02020603050405020304" pitchFamily="18" charset="0"/>
                <a:ea typeface="宋体" panose="02010600030101010101" pitchFamily="2" charset="-122"/>
              </a:rPr>
              <a:t>）保存断点，即把断点处的</a:t>
            </a:r>
            <a:r>
              <a:rPr lang="en-US" altLang="zh-CN" sz="2000">
                <a:latin typeface="Times New Roman" panose="02020603050405020304" pitchFamily="18" charset="0"/>
                <a:ea typeface="宋体" panose="02010600030101010101" pitchFamily="2" charset="-122"/>
              </a:rPr>
              <a:t>IP</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CS</a:t>
            </a:r>
            <a:r>
              <a:rPr lang="zh-CN" altLang="en-US" sz="2000">
                <a:latin typeface="Times New Roman" panose="02020603050405020304" pitchFamily="18" charset="0"/>
                <a:ea typeface="宋体" panose="02010600030101010101" pitchFamily="2" charset="-122"/>
              </a:rPr>
              <a:t>值压入堆栈，先压入</a:t>
            </a:r>
            <a:r>
              <a:rPr lang="en-US" altLang="zh-CN" sz="2000">
                <a:latin typeface="Times New Roman" panose="02020603050405020304" pitchFamily="18" charset="0"/>
                <a:ea typeface="宋体" panose="02010600030101010101" pitchFamily="2" charset="-122"/>
              </a:rPr>
              <a:t>CS</a:t>
            </a:r>
            <a:r>
              <a:rPr lang="zh-CN" altLang="en-US" sz="2000">
                <a:latin typeface="Times New Roman" panose="02020603050405020304" pitchFamily="18" charset="0"/>
                <a:ea typeface="宋体" panose="02010600030101010101" pitchFamily="2" charset="-122"/>
              </a:rPr>
              <a:t>值，再压入</a:t>
            </a:r>
            <a:r>
              <a:rPr lang="en-US" altLang="zh-CN" sz="2000">
                <a:latin typeface="Times New Roman" panose="02020603050405020304" pitchFamily="18" charset="0"/>
                <a:ea typeface="宋体" panose="02010600030101010101" pitchFamily="2" charset="-122"/>
              </a:rPr>
              <a:t>IP</a:t>
            </a:r>
            <a:r>
              <a:rPr lang="zh-CN" altLang="en-US" sz="2000">
                <a:latin typeface="Times New Roman" panose="02020603050405020304" pitchFamily="18" charset="0"/>
                <a:ea typeface="宋体" panose="02010600030101010101" pitchFamily="2" charset="-122"/>
              </a:rPr>
              <a:t>值。</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5</a:t>
            </a:r>
            <a:r>
              <a:rPr lang="zh-CN" altLang="en-US" sz="2000">
                <a:latin typeface="Times New Roman" panose="02020603050405020304" pitchFamily="18" charset="0"/>
                <a:ea typeface="宋体" panose="02010600030101010101" pitchFamily="2" charset="-122"/>
              </a:rPr>
              <a:t>）根据第一步计算出来的地址从中断向量表中取出中断服务程序的入口地址（段地址和偏移地址），分别送至</a:t>
            </a:r>
            <a:r>
              <a:rPr lang="en-US" altLang="zh-CN" sz="2000">
                <a:latin typeface="Times New Roman" panose="02020603050405020304" pitchFamily="18" charset="0"/>
                <a:ea typeface="宋体" panose="02010600030101010101" pitchFamily="2" charset="-122"/>
              </a:rPr>
              <a:t>CS</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IP</a:t>
            </a:r>
            <a:r>
              <a:rPr lang="zh-CN" altLang="en-US" sz="2000">
                <a:latin typeface="Times New Roman" panose="02020603050405020304" pitchFamily="18" charset="0"/>
                <a:ea typeface="宋体" panose="02010600030101010101" pitchFamily="2" charset="-122"/>
              </a:rPr>
              <a:t>中。</a:t>
            </a:r>
          </a:p>
          <a:p>
            <a:pPr indent="266700" algn="just"/>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6</a:t>
            </a:r>
            <a:r>
              <a:rPr lang="zh-CN" altLang="en-US" sz="2000">
                <a:latin typeface="Times New Roman" panose="02020603050405020304" pitchFamily="18" charset="0"/>
                <a:ea typeface="宋体" panose="02010600030101010101" pitchFamily="2" charset="-122"/>
              </a:rPr>
              <a:t>）转入中断服务程序执行。</a:t>
            </a: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80x86中断响应过程</a:t>
            </a:r>
          </a:p>
        </p:txBody>
      </p:sp>
      <p:sp>
        <p:nvSpPr>
          <p:cNvPr id="30722" name="文本框 99"/>
          <p:cNvSpPr txBox="1"/>
          <p:nvPr/>
        </p:nvSpPr>
        <p:spPr>
          <a:xfrm>
            <a:off x="295275" y="1249363"/>
            <a:ext cx="8407400" cy="5516562"/>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．外部中断响应过程</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）非屏蔽中断响应。</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中断不受</a:t>
            </a:r>
            <a:r>
              <a:rPr lang="en-US" altLang="zh-CN">
                <a:latin typeface="Times New Roman" panose="02020603050405020304" pitchFamily="18" charset="0"/>
                <a:ea typeface="宋体" panose="02010600030101010101" pitchFamily="2" charset="-122"/>
              </a:rPr>
              <a:t>IF</a:t>
            </a:r>
            <a:r>
              <a:rPr lang="zh-CN" altLang="en-US">
                <a:latin typeface="Times New Roman" panose="02020603050405020304" pitchFamily="18" charset="0"/>
                <a:ea typeface="宋体" panose="02010600030101010101" pitchFamily="2" charset="-122"/>
              </a:rPr>
              <a:t>标志位的影响，也不用外部接口给出中断类型号，</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响应</a:t>
            </a:r>
            <a:r>
              <a:rPr lang="en-US" altLang="zh-CN">
                <a:latin typeface="Times New Roman" panose="02020603050405020304" pitchFamily="18" charset="0"/>
                <a:ea typeface="宋体" panose="02010600030101010101" pitchFamily="2" charset="-122"/>
              </a:rPr>
              <a:t>NMI</a:t>
            </a:r>
            <a:r>
              <a:rPr lang="zh-CN" altLang="en-US">
                <a:latin typeface="Times New Roman" panose="02020603050405020304" pitchFamily="18" charset="0"/>
                <a:ea typeface="宋体" panose="02010600030101010101" pitchFamily="2" charset="-122"/>
              </a:rPr>
              <a:t>中断时也没有中断响应周期。</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会自动按中断类型号</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来计算中断向量的地址，其后的中断处理过程和内部中断一样。</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）可屏蔽中断响应。当</a:t>
            </a:r>
            <a:r>
              <a:rPr lang="en-US" altLang="zh-CN">
                <a:latin typeface="Times New Roman" panose="02020603050405020304" pitchFamily="18" charset="0"/>
                <a:ea typeface="宋体" panose="02010600030101010101" pitchFamily="2" charset="-122"/>
              </a:rPr>
              <a:t>INTR</a:t>
            </a:r>
            <a:r>
              <a:rPr lang="zh-CN" altLang="en-US">
                <a:latin typeface="Times New Roman" panose="02020603050405020304" pitchFamily="18" charset="0"/>
                <a:ea typeface="宋体" panose="02010600030101010101" pitchFamily="2" charset="-122"/>
              </a:rPr>
              <a:t>信号有效时，如果中断允许标志位</a:t>
            </a:r>
            <a:r>
              <a:rPr lang="en-US" altLang="zh-CN">
                <a:latin typeface="Times New Roman" panose="02020603050405020304" pitchFamily="18" charset="0"/>
                <a:ea typeface="宋体" panose="02010600030101010101" pitchFamily="2" charset="-122"/>
              </a:rPr>
              <a:t>IF=1</a:t>
            </a:r>
            <a:r>
              <a:rPr lang="zh-CN" altLang="en-US">
                <a:latin typeface="Times New Roman" panose="02020603050405020304" pitchFamily="18" charset="0"/>
                <a:ea typeface="宋体" panose="02010600030101010101" pitchFamily="2" charset="-122"/>
              </a:rPr>
              <a:t>，则</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在当前指令执行完毕后产生两个连续的中断响应总线周期。在第一个中断响应总线周期，</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将地址</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数据总线置高阻，发出第一个中断响应信号给</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中断控制器，表示</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响应此中断请求，禁止来自其他总线控制器的总线请求。在最大模式时，</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还要启动信号，通知总线仲裁器</a:t>
            </a:r>
            <a:r>
              <a:rPr lang="en-US" altLang="zh-CN">
                <a:latin typeface="Times New Roman" panose="02020603050405020304" pitchFamily="18" charset="0"/>
                <a:ea typeface="宋体" panose="02010600030101010101" pitchFamily="2" charset="-122"/>
              </a:rPr>
              <a:t>8289</a:t>
            </a:r>
            <a:r>
              <a:rPr lang="zh-CN" altLang="en-US">
                <a:latin typeface="Times New Roman" panose="02020603050405020304" pitchFamily="18" charset="0"/>
                <a:ea typeface="宋体" panose="02010600030101010101" pitchFamily="2" charset="-122"/>
              </a:rPr>
              <a:t>，使系统中其他处理器不能访问总线。在第二个中断响应总线周期，</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送出第二个信号，该信号通知</a:t>
            </a:r>
            <a:r>
              <a:rPr lang="en-US" altLang="zh-CN">
                <a:latin typeface="Times New Roman" panose="02020603050405020304" pitchFamily="18" charset="0"/>
                <a:ea typeface="宋体" panose="02010600030101010101" pitchFamily="2" charset="-122"/>
              </a:rPr>
              <a:t>8259A </a:t>
            </a:r>
            <a:r>
              <a:rPr lang="zh-CN" altLang="en-US">
                <a:latin typeface="Times New Roman" panose="02020603050405020304" pitchFamily="18" charset="0"/>
                <a:ea typeface="宋体" panose="02010600030101010101" pitchFamily="2" charset="-122"/>
              </a:rPr>
              <a:t>中断控制器将相应中断请求的中断类型号放到数据总线上供</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读取。</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读取中断类型号</a:t>
            </a:r>
            <a:r>
              <a:rPr lang="en-US" altLang="zh-CN">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后的中断处理过程也和内部中断一样。</a:t>
            </a:r>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45" name="Picture 5" descr="7"/>
          <p:cNvPicPr>
            <a:picLocks noChangeAspect="1"/>
          </p:cNvPicPr>
          <p:nvPr/>
        </p:nvPicPr>
        <p:blipFill>
          <a:blip r:embed="rId2"/>
          <a:stretch>
            <a:fillRect/>
          </a:stretch>
        </p:blipFill>
        <p:spPr>
          <a:xfrm>
            <a:off x="384175" y="-7937"/>
            <a:ext cx="4729163" cy="6873875"/>
          </a:xfrm>
          <a:prstGeom prst="rect">
            <a:avLst/>
          </a:prstGeom>
          <a:noFill/>
          <a:ln w="9525">
            <a:noFill/>
          </a:ln>
        </p:spPr>
      </p:pic>
      <p:sp>
        <p:nvSpPr>
          <p:cNvPr id="31746" name="文本框 100"/>
          <p:cNvSpPr txBox="1"/>
          <p:nvPr/>
        </p:nvSpPr>
        <p:spPr>
          <a:xfrm>
            <a:off x="5311775" y="5929313"/>
            <a:ext cx="3584575" cy="379412"/>
          </a:xfrm>
          <a:prstGeom prst="rect">
            <a:avLst/>
          </a:prstGeom>
          <a:noFill/>
          <a:ln w="9525">
            <a:noFill/>
          </a:ln>
        </p:spPr>
        <p:txBody>
          <a:bodyPr wrap="square" anchor="t" anchorCtr="0">
            <a:spAutoFit/>
          </a:bodyPr>
          <a:lstStyle/>
          <a:p>
            <a:pPr algn="ctr"/>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7-4  80x86</a:t>
            </a:r>
            <a:r>
              <a:rPr lang="zh-CN" altLang="en-US" sz="2000" b="0">
                <a:latin typeface="宋体" panose="02010600030101010101" pitchFamily="2" charset="-122"/>
                <a:ea typeface="宋体" panose="02010600030101010101" pitchFamily="2" charset="-122"/>
              </a:rPr>
              <a:t>中断处理流程</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6864350" cy="1143000"/>
          </a:xfrm>
        </p:spPr>
        <p:txBody>
          <a:bodyPr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7.3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可编程中断控制器Intel 8259A</a:t>
            </a:r>
          </a:p>
        </p:txBody>
      </p:sp>
      <p:sp>
        <p:nvSpPr>
          <p:cNvPr id="32770"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2771" name="Rectangle 11"/>
          <p:cNvSpPr>
            <a:spLocks noGrp="1"/>
          </p:cNvSpPr>
          <p:nvPr>
            <p:ph type="body" idx="4294967295"/>
          </p:nvPr>
        </p:nvSpPr>
        <p:spPr>
          <a:xfrm>
            <a:off x="1092200" y="1974850"/>
            <a:ext cx="7240588" cy="3838575"/>
          </a:xfrm>
          <a:ln/>
        </p:spPr>
        <p:txBody>
          <a:bodyPr wrap="square" lIns="92075" tIns="46038" rIns="92075" bIns="46038" anchor="t" anchorCtr="0"/>
          <a:lstStyle/>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3</a:t>
            </a:r>
            <a:r>
              <a:rPr lang="zh-CN" altLang="en-US" dirty="0">
                <a:solidFill>
                  <a:srgbClr val="66FFCC"/>
                </a:solidFill>
              </a:rPr>
              <a:t>.1  8259A的功能</a:t>
            </a:r>
          </a:p>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3</a:t>
            </a:r>
            <a:r>
              <a:rPr lang="zh-CN" altLang="en-US" dirty="0">
                <a:solidFill>
                  <a:srgbClr val="66FFCC"/>
                </a:solidFill>
              </a:rPr>
              <a:t>.2  8259A的内部结构和引脚功能</a:t>
            </a:r>
          </a:p>
          <a:p>
            <a:pPr eaLnBrk="1" hangingPunct="1">
              <a:buNone/>
            </a:pPr>
            <a:r>
              <a:rPr lang="en-US" altLang="zh-CN" dirty="0">
                <a:solidFill>
                  <a:srgbClr val="66FFCC"/>
                </a:solidFill>
              </a:rPr>
              <a:t>7</a:t>
            </a:r>
            <a:r>
              <a:rPr lang="zh-CN" altLang="en-US" dirty="0">
                <a:solidFill>
                  <a:srgbClr val="66FFCC"/>
                </a:solidFill>
              </a:rPr>
              <a:t>.</a:t>
            </a:r>
            <a:r>
              <a:rPr lang="en-US" altLang="zh-CN" dirty="0">
                <a:solidFill>
                  <a:srgbClr val="66FFCC"/>
                </a:solidFill>
              </a:rPr>
              <a:t>3</a:t>
            </a:r>
            <a:r>
              <a:rPr lang="zh-CN" altLang="en-US" dirty="0">
                <a:solidFill>
                  <a:srgbClr val="66FFCC"/>
                </a:solidFill>
              </a:rPr>
              <a:t>.3  Intel 8259A的引脚及功能</a:t>
            </a:r>
          </a:p>
          <a:p>
            <a:pPr eaLnBrk="1" hangingPunct="1">
              <a:buNone/>
            </a:pPr>
            <a:r>
              <a:rPr lang="en-US" altLang="zh-CN" dirty="0">
                <a:solidFill>
                  <a:srgbClr val="66FFCC"/>
                </a:solidFill>
                <a:sym typeface="宋体" panose="02010600030101010101" pitchFamily="2" charset="-122"/>
              </a:rPr>
              <a:t>7</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4</a:t>
            </a:r>
            <a:r>
              <a:rPr lang="zh-CN" altLang="en-US" dirty="0">
                <a:solidFill>
                  <a:srgbClr val="66FFCC"/>
                </a:solidFill>
                <a:sym typeface="宋体" panose="02010600030101010101" pitchFamily="2" charset="-122"/>
              </a:rPr>
              <a:t>  8259A的工作方式</a:t>
            </a:r>
          </a:p>
          <a:p>
            <a:pPr eaLnBrk="1" hangingPunct="1">
              <a:buNone/>
            </a:pPr>
            <a:r>
              <a:rPr lang="en-US" altLang="zh-CN" dirty="0">
                <a:solidFill>
                  <a:srgbClr val="66FFCC"/>
                </a:solidFill>
                <a:sym typeface="宋体" panose="02010600030101010101" pitchFamily="2" charset="-122"/>
              </a:rPr>
              <a:t>7</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5</a:t>
            </a:r>
            <a:r>
              <a:rPr lang="zh-CN" altLang="en-US" dirty="0">
                <a:solidFill>
                  <a:srgbClr val="66FFCC"/>
                </a:solidFill>
                <a:sym typeface="宋体" panose="02010600030101010101" pitchFamily="2" charset="-122"/>
              </a:rPr>
              <a:t>  8259A的级联</a:t>
            </a:r>
          </a:p>
          <a:p>
            <a:pPr eaLnBrk="1" hangingPunct="1">
              <a:buNone/>
            </a:pPr>
            <a:r>
              <a:rPr lang="en-US" altLang="zh-CN" dirty="0">
                <a:solidFill>
                  <a:srgbClr val="66FFCC"/>
                </a:solidFill>
                <a:sym typeface="宋体" panose="02010600030101010101" pitchFamily="2" charset="-122"/>
              </a:rPr>
              <a:t>7</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6</a:t>
            </a:r>
            <a:r>
              <a:rPr lang="zh-CN" altLang="en-US" dirty="0">
                <a:solidFill>
                  <a:srgbClr val="66FFCC"/>
                </a:solidFill>
                <a:sym typeface="宋体" panose="02010600030101010101" pitchFamily="2" charset="-122"/>
              </a:rPr>
              <a:t>  8259A的编程</a:t>
            </a:r>
          </a:p>
          <a:p>
            <a:pPr eaLnBrk="1" hangingPunct="1">
              <a:buNone/>
            </a:pPr>
            <a:r>
              <a:rPr lang="en-US" altLang="zh-CN" dirty="0">
                <a:solidFill>
                  <a:srgbClr val="66FFCC"/>
                </a:solidFill>
                <a:sym typeface="宋体" panose="02010600030101010101" pitchFamily="2" charset="-122"/>
              </a:rPr>
              <a:t>7</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3</a:t>
            </a:r>
            <a:r>
              <a:rPr lang="zh-CN" altLang="en-US" dirty="0">
                <a:solidFill>
                  <a:srgbClr val="66FFCC"/>
                </a:solidFill>
                <a:sym typeface="宋体" panose="02010600030101010101" pitchFamily="2" charset="-122"/>
              </a:rPr>
              <a:t>.</a:t>
            </a:r>
            <a:r>
              <a:rPr lang="en-US" altLang="zh-CN" dirty="0">
                <a:solidFill>
                  <a:srgbClr val="66FFCC"/>
                </a:solidFill>
                <a:sym typeface="宋体" panose="02010600030101010101" pitchFamily="2" charset="-122"/>
              </a:rPr>
              <a:t>7</a:t>
            </a:r>
            <a:r>
              <a:rPr lang="zh-CN" altLang="en-US" dirty="0">
                <a:solidFill>
                  <a:srgbClr val="66FFCC"/>
                </a:solidFill>
                <a:sym typeface="宋体" panose="02010600030101010101" pitchFamily="2" charset="-122"/>
              </a:rPr>
              <a:t>  8259A在微机系统中的应用</a:t>
            </a:r>
          </a:p>
          <a:p>
            <a:pPr eaLnBrk="1" hangingPunct="1">
              <a:buNone/>
            </a:pPr>
            <a:endParaRPr lang="zh-CN" altLang="en-US" dirty="0">
              <a:solidFill>
                <a:srgbClr val="66FFCC"/>
              </a:solidFill>
              <a:sym typeface="宋体" panose="02010600030101010101" pitchFamily="2" charset="-122"/>
            </a:endParaRP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1" lang="zh-CN" altLang="en-US" sz="3200" b="1" i="0" u="none" strike="noStrike" kern="0" cap="none" spc="0" normalizeH="0" baseline="0" noProof="1">
                <a:solidFill>
                  <a:srgbClr val="66FFCC"/>
                </a:solidFill>
                <a:effectLst>
                  <a:outerShdw blurRad="38100" dist="38100" dir="2700000" algn="tl">
                    <a:srgbClr val="000000"/>
                  </a:outerShdw>
                </a:effectLst>
                <a:latin typeface="+mj-lt"/>
                <a:ea typeface="+mj-ea"/>
                <a:cs typeface="+mj-cs"/>
                <a:sym typeface="+mn-ea"/>
              </a:rPr>
              <a:t>8259A的功能</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endParaRPr>
          </a:p>
        </p:txBody>
      </p:sp>
      <p:sp>
        <p:nvSpPr>
          <p:cNvPr id="33794" name="文本框 99"/>
          <p:cNvSpPr txBox="1"/>
          <p:nvPr/>
        </p:nvSpPr>
        <p:spPr>
          <a:xfrm>
            <a:off x="404813" y="1671638"/>
            <a:ext cx="8407400" cy="474980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Intel 8259A</a:t>
            </a:r>
            <a:r>
              <a:rPr lang="zh-CN" altLang="en-US">
                <a:latin typeface="Times New Roman" panose="02020603050405020304" pitchFamily="18" charset="0"/>
                <a:ea typeface="宋体" panose="02010600030101010101" pitchFamily="2" charset="-122"/>
              </a:rPr>
              <a:t>可编程控制器用于管理外部可屏蔽的中断请求。因为</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芯片的外部请求引脚</a:t>
            </a:r>
            <a:r>
              <a:rPr lang="en-US" altLang="zh-CN">
                <a:latin typeface="Times New Roman" panose="02020603050405020304" pitchFamily="18" charset="0"/>
                <a:ea typeface="宋体" panose="02010600030101010101" pitchFamily="2" charset="-122"/>
              </a:rPr>
              <a:t>INTR</a:t>
            </a:r>
            <a:r>
              <a:rPr lang="zh-CN" altLang="en-US">
                <a:latin typeface="Times New Roman" panose="02020603050405020304" pitchFamily="18" charset="0"/>
                <a:ea typeface="宋体" panose="02010600030101010101" pitchFamily="2" charset="-122"/>
              </a:rPr>
              <a:t>只有一根，但外部的中断源可以有多个，如时钟、键盘串口</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并口和软盘等多个中断源，所以</a:t>
            </a:r>
            <a:r>
              <a:rPr lang="en-US" altLang="zh-CN">
                <a:latin typeface="Times New Roman" panose="02020603050405020304" pitchFamily="18" charset="0"/>
                <a:ea typeface="宋体" panose="02010600030101010101" pitchFamily="2" charset="-122"/>
              </a:rPr>
              <a:t>PC</a:t>
            </a:r>
            <a:r>
              <a:rPr lang="zh-CN" altLang="en-US">
                <a:latin typeface="Times New Roman" panose="02020603050405020304" pitchFamily="18" charset="0"/>
                <a:ea typeface="宋体" panose="02010600030101010101" pitchFamily="2" charset="-122"/>
              </a:rPr>
              <a:t>系列机中，用</a:t>
            </a:r>
            <a:r>
              <a:rPr lang="en-US" altLang="zh-CN">
                <a:latin typeface="Times New Roman" panose="02020603050405020304" pitchFamily="18" charset="0"/>
                <a:ea typeface="宋体" panose="02010600030101010101" pitchFamily="2" charset="-122"/>
              </a:rPr>
              <a:t>Intel 8259A</a:t>
            </a:r>
            <a:r>
              <a:rPr lang="zh-CN" altLang="en-US">
                <a:latin typeface="Times New Roman" panose="02020603050405020304" pitchFamily="18" charset="0"/>
                <a:ea typeface="宋体" panose="02010600030101010101" pitchFamily="2" charset="-122"/>
              </a:rPr>
              <a:t>来协助</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管理外部中断源。一片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管理</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级中断源。在</a:t>
            </a:r>
            <a:r>
              <a:rPr lang="en-US" altLang="zh-CN">
                <a:latin typeface="Times New Roman" panose="02020603050405020304" pitchFamily="18" charset="0"/>
                <a:ea typeface="宋体" panose="02010600030101010101" pitchFamily="2" charset="-122"/>
              </a:rPr>
              <a:t>PC-AT</a:t>
            </a:r>
            <a:r>
              <a:rPr lang="zh-CN" altLang="en-US">
                <a:latin typeface="Times New Roman" panose="02020603050405020304" pitchFamily="18" charset="0"/>
                <a:ea typeface="宋体" panose="02010600030101010101" pitchFamily="2" charset="-122"/>
              </a:rPr>
              <a:t>机中用两片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级联管理</a:t>
            </a:r>
            <a:r>
              <a:rPr lang="en-US" altLang="zh-CN">
                <a:latin typeface="Times New Roman" panose="02020603050405020304" pitchFamily="18" charset="0"/>
                <a:ea typeface="宋体" panose="02010600030101010101" pitchFamily="2" charset="-122"/>
              </a:rPr>
              <a:t>15</a:t>
            </a:r>
            <a:r>
              <a:rPr lang="zh-CN" altLang="en-US">
                <a:latin typeface="Times New Roman" panose="02020603050405020304" pitchFamily="18" charset="0"/>
                <a:ea typeface="宋体" panose="02010600030101010101" pitchFamily="2" charset="-122"/>
              </a:rPr>
              <a:t>级中断源。若用</a:t>
            </a:r>
            <a:r>
              <a:rPr lang="en-US" altLang="zh-CN">
                <a:latin typeface="Times New Roman" panose="02020603050405020304" pitchFamily="18" charset="0"/>
                <a:ea typeface="宋体" panose="02010600030101010101" pitchFamily="2" charset="-122"/>
              </a:rPr>
              <a:t>9</a:t>
            </a:r>
            <a:r>
              <a:rPr lang="zh-CN" altLang="en-US">
                <a:latin typeface="Times New Roman" panose="02020603050405020304" pitchFamily="18" charset="0"/>
                <a:ea typeface="宋体" panose="02010600030101010101" pitchFamily="2" charset="-122"/>
              </a:rPr>
              <a:t>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级联不用附加外部电路就能管理</a:t>
            </a:r>
            <a:r>
              <a:rPr lang="en-US" altLang="zh-CN">
                <a:latin typeface="Times New Roman" panose="02020603050405020304" pitchFamily="18" charset="0"/>
                <a:ea typeface="宋体" panose="02010600030101010101" pitchFamily="2" charset="-122"/>
              </a:rPr>
              <a:t>64</a:t>
            </a:r>
            <a:r>
              <a:rPr lang="zh-CN" altLang="en-US">
                <a:latin typeface="Times New Roman" panose="02020603050405020304" pitchFamily="18" charset="0"/>
                <a:ea typeface="宋体" panose="02010600030101010101" pitchFamily="2" charset="-122"/>
              </a:rPr>
              <a:t>级中断源。</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Intel 8259A</a:t>
            </a:r>
            <a:r>
              <a:rPr lang="zh-CN" altLang="en-US">
                <a:latin typeface="Times New Roman" panose="02020603050405020304" pitchFamily="18" charset="0"/>
                <a:ea typeface="宋体" panose="02010600030101010101" pitchFamily="2" charset="-122"/>
              </a:rPr>
              <a:t>是一种可编程的、具有强大中断管理功能的大规模集成电路芯片，其主要功能如下。</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）具有</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级优先权控制，通过级联可以扩展到</a:t>
            </a:r>
            <a:r>
              <a:rPr lang="en-US" altLang="zh-CN">
                <a:latin typeface="Times New Roman" panose="02020603050405020304" pitchFamily="18" charset="0"/>
                <a:ea typeface="宋体" panose="02010600030101010101" pitchFamily="2" charset="-122"/>
              </a:rPr>
              <a:t>64</a:t>
            </a:r>
            <a:r>
              <a:rPr lang="zh-CN" altLang="en-US">
                <a:latin typeface="Times New Roman" panose="02020603050405020304" pitchFamily="18" charset="0"/>
                <a:ea typeface="宋体" panose="02010600030101010101" pitchFamily="2" charset="-122"/>
              </a:rPr>
              <a:t>级。</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）每一级均可通过编程实现屏蔽或开放。</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）能向</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提供相应的中断类型号。</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）可通过编程选择不同的工作方式。</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8259A的内部结构和引脚功能</a:t>
            </a:r>
          </a:p>
        </p:txBody>
      </p:sp>
      <p:sp>
        <p:nvSpPr>
          <p:cNvPr id="34818" name="文本框 99"/>
          <p:cNvSpPr txBox="1"/>
          <p:nvPr/>
        </p:nvSpPr>
        <p:spPr>
          <a:xfrm>
            <a:off x="404813" y="1671638"/>
            <a:ext cx="8407400" cy="142398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主要由以下几部分组成：中断请求寄存器</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、中断屏蔽寄存器</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、中断服务寄存器</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、优先权裁决器、控制逻辑、数据总线缓冲器、读</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写逻辑、级联缓冲器</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比较器。其结构如图</a:t>
            </a:r>
            <a:r>
              <a:rPr lang="en-US" altLang="zh-CN">
                <a:latin typeface="Times New Roman" panose="02020603050405020304" pitchFamily="18" charset="0"/>
                <a:ea typeface="宋体" panose="02010600030101010101" pitchFamily="2" charset="-122"/>
              </a:rPr>
              <a:t>7-5</a:t>
            </a:r>
            <a:r>
              <a:rPr lang="zh-CN" altLang="en-US">
                <a:latin typeface="Times New Roman" panose="02020603050405020304" pitchFamily="18" charset="0"/>
                <a:ea typeface="宋体" panose="02010600030101010101" pitchFamily="2" charset="-122"/>
              </a:rPr>
              <a:t>所示，各部分功能如下。</a:t>
            </a:r>
          </a:p>
        </p:txBody>
      </p:sp>
      <p:pic>
        <p:nvPicPr>
          <p:cNvPr id="34819" name="图片 57" descr="图片1"/>
          <p:cNvPicPr>
            <a:picLocks noChangeAspect="1"/>
          </p:cNvPicPr>
          <p:nvPr/>
        </p:nvPicPr>
        <p:blipFill>
          <a:blip r:embed="rId2"/>
          <a:stretch>
            <a:fillRect/>
          </a:stretch>
        </p:blipFill>
        <p:spPr>
          <a:xfrm>
            <a:off x="557213" y="3114675"/>
            <a:ext cx="4665662" cy="3344863"/>
          </a:xfrm>
          <a:prstGeom prst="rect">
            <a:avLst/>
          </a:prstGeom>
          <a:noFill/>
          <a:ln w="9525">
            <a:noFill/>
          </a:ln>
        </p:spPr>
      </p:pic>
      <p:pic>
        <p:nvPicPr>
          <p:cNvPr id="34820" name="Picture 7" descr="7"/>
          <p:cNvPicPr>
            <a:picLocks noChangeAspect="1"/>
          </p:cNvPicPr>
          <p:nvPr/>
        </p:nvPicPr>
        <p:blipFill>
          <a:blip r:embed="rId3"/>
          <a:srcRect t="54639" b="4596"/>
          <a:stretch>
            <a:fillRect/>
          </a:stretch>
        </p:blipFill>
        <p:spPr>
          <a:xfrm>
            <a:off x="5514975" y="3138488"/>
            <a:ext cx="3187700" cy="3303587"/>
          </a:xfrm>
          <a:prstGeom prst="rect">
            <a:avLst/>
          </a:prstGeom>
          <a:noFill/>
          <a:ln w="9525">
            <a:noFill/>
          </a:ln>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8259A的内部结构和引脚功能</a:t>
            </a:r>
          </a:p>
        </p:txBody>
      </p:sp>
      <p:sp>
        <p:nvSpPr>
          <p:cNvPr id="35842" name="文本框 99"/>
          <p:cNvSpPr txBox="1"/>
          <p:nvPr/>
        </p:nvSpPr>
        <p:spPr>
          <a:xfrm>
            <a:off x="404813" y="1671638"/>
            <a:ext cx="8407400" cy="42005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）中断请求寄存器（</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是一个</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位的锁存器，用来寄存外部设备送来的</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中断请求信号。</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可以连接</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个外设的中断请求信号，当</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中的任何一个变为高电平时，</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的相应位置为“</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）中断服务寄存器（</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是一个</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位的寄存器，用来存放当前正在服务的中断级。响应中断后，</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收到第一个中断响应信号时，使当前被响应的中断请求所对应的</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，而相应的</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复位。在中断嵌套时，</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中有多个位为“</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）中断屏蔽寄存器（</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是一个</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位的寄存器，用于寄存要屏蔽的中断。某位为“</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，表示屏蔽相应中断请求；为“</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，则表示开放相应中断请求。</a:t>
            </a: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8259A的内部结构和引脚功能</a:t>
            </a:r>
          </a:p>
        </p:txBody>
      </p:sp>
      <p:sp>
        <p:nvSpPr>
          <p:cNvPr id="36866" name="文本框 99"/>
          <p:cNvSpPr txBox="1"/>
          <p:nvPr/>
        </p:nvSpPr>
        <p:spPr>
          <a:xfrm>
            <a:off x="311150" y="1503363"/>
            <a:ext cx="8407400" cy="500380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）优先权裁决器（</a:t>
            </a:r>
            <a:r>
              <a:rPr lang="en-US" altLang="zh-CN">
                <a:latin typeface="Times New Roman" panose="02020603050405020304" pitchFamily="18" charset="0"/>
                <a:ea typeface="宋体" panose="02010600030101010101" pitchFamily="2" charset="-122"/>
              </a:rPr>
              <a:t>PR</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PR</a:t>
            </a:r>
            <a:r>
              <a:rPr lang="zh-CN" altLang="en-US">
                <a:latin typeface="Times New Roman" panose="02020603050405020304" pitchFamily="18" charset="0"/>
                <a:ea typeface="宋体" panose="02010600030101010101" pitchFamily="2" charset="-122"/>
              </a:rPr>
              <a:t>用来识别和管理各中断请求信号的优先级别。 </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5</a:t>
            </a:r>
            <a:r>
              <a:rPr lang="zh-CN" altLang="en-US">
                <a:latin typeface="Times New Roman" panose="02020603050405020304" pitchFamily="18" charset="0"/>
                <a:ea typeface="宋体" panose="02010600030101010101" pitchFamily="2" charset="-122"/>
              </a:rPr>
              <a:t>）数据总线缓冲器。它是用于连接系统的数据总线，是一个</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位的双向三态缓冲器，传输写入</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的控制字，读取</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的状态信息及</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读取的中断类型号。</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6</a:t>
            </a:r>
            <a:r>
              <a:rPr lang="zh-CN" altLang="en-US">
                <a:latin typeface="Times New Roman" panose="02020603050405020304" pitchFamily="18" charset="0"/>
                <a:ea typeface="宋体" panose="02010600030101010101" pitchFamily="2" charset="-122"/>
              </a:rPr>
              <a:t>）读</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写逻辑。用来接收端口地址信息和</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的读写控制信号和，产生相应的控制信号，控制命令字的写入和状态字的读取。</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7</a:t>
            </a:r>
            <a:r>
              <a:rPr lang="zh-CN" altLang="en-US">
                <a:latin typeface="Times New Roman" panose="02020603050405020304" pitchFamily="18" charset="0"/>
                <a:ea typeface="宋体" panose="02010600030101010101" pitchFamily="2" charset="-122"/>
              </a:rPr>
              <a:t>）控制逻辑。根据编程设定的工作方式管理的</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负责向</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发中断请求信号</a:t>
            </a:r>
            <a:r>
              <a:rPr lang="en-US" altLang="zh-CN">
                <a:latin typeface="Times New Roman" panose="02020603050405020304" pitchFamily="18" charset="0"/>
                <a:ea typeface="宋体" panose="02010600030101010101" pitchFamily="2" charset="-122"/>
              </a:rPr>
              <a:t>INT</a:t>
            </a:r>
            <a:r>
              <a:rPr lang="zh-CN" altLang="en-US">
                <a:latin typeface="Times New Roman" panose="02020603050405020304" pitchFamily="18" charset="0"/>
                <a:ea typeface="宋体" panose="02010600030101010101" pitchFamily="2" charset="-122"/>
              </a:rPr>
              <a:t>和接收来自</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的中断响应信号，并将信号转换成内部所需的各种控制信号。</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）级联缓冲器</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比较器。用于控制多片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的级联，使得系统的中断级可以扩展。最多可用</a:t>
            </a:r>
            <a:r>
              <a:rPr lang="en-US" altLang="zh-CN">
                <a:latin typeface="Times New Roman" panose="02020603050405020304" pitchFamily="18" charset="0"/>
                <a:ea typeface="宋体" panose="02010600030101010101" pitchFamily="2" charset="-122"/>
              </a:rPr>
              <a:t>9</a:t>
            </a:r>
            <a:r>
              <a:rPr lang="zh-CN" altLang="en-US">
                <a:latin typeface="Times New Roman" panose="02020603050405020304" pitchFamily="18" charset="0"/>
                <a:ea typeface="宋体" panose="02010600030101010101" pitchFamily="2" charset="-122"/>
              </a:rPr>
              <a:t>片级联，一片为主片，其他为从片。</a:t>
            </a: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Intel 8259A的引脚及功能</a:t>
            </a:r>
          </a:p>
        </p:txBody>
      </p:sp>
      <p:sp>
        <p:nvSpPr>
          <p:cNvPr id="37890" name="文本框 99"/>
          <p:cNvSpPr txBox="1"/>
          <p:nvPr/>
        </p:nvSpPr>
        <p:spPr>
          <a:xfrm>
            <a:off x="203200" y="1503363"/>
            <a:ext cx="8685213" cy="482123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是一种具有</a:t>
            </a:r>
            <a:r>
              <a:rPr lang="en-US" altLang="zh-CN">
                <a:latin typeface="Times New Roman" panose="02020603050405020304" pitchFamily="18" charset="0"/>
                <a:ea typeface="宋体" panose="02010600030101010101" pitchFamily="2" charset="-122"/>
              </a:rPr>
              <a:t>28</a:t>
            </a:r>
            <a:r>
              <a:rPr lang="zh-CN" altLang="en-US">
                <a:latin typeface="Times New Roman" panose="02020603050405020304" pitchFamily="18" charset="0"/>
                <a:ea typeface="宋体" panose="02010600030101010101" pitchFamily="2" charset="-122"/>
              </a:rPr>
              <a:t>引脚双列直插式封装的大规模集成电路专用芯片，其引脚信号如图</a:t>
            </a:r>
            <a:r>
              <a:rPr lang="en-US" altLang="zh-CN">
                <a:latin typeface="Times New Roman" panose="02020603050405020304" pitchFamily="18" charset="0"/>
                <a:ea typeface="宋体" panose="02010600030101010101" pitchFamily="2" charset="-122"/>
              </a:rPr>
              <a:t>7-5</a:t>
            </a:r>
            <a:r>
              <a:rPr lang="zh-CN" altLang="en-US">
                <a:latin typeface="Times New Roman" panose="02020603050405020304" pitchFamily="18" charset="0"/>
                <a:ea typeface="宋体" panose="02010600030101010101" pitchFamily="2" charset="-122"/>
              </a:rPr>
              <a:t>所示。</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D7</a:t>
            </a:r>
            <a:r>
              <a:rPr lang="zh-CN" altLang="en-US">
                <a:latin typeface="Times New Roman" panose="02020603050405020304" pitchFamily="18" charset="0"/>
                <a:ea typeface="宋体" panose="02010600030101010101" pitchFamily="2" charset="-122"/>
              </a:rPr>
              <a:t>。双向三态数据线，在系统中与数据总线相连。</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。中断请求输入信号。</a:t>
            </a:r>
          </a:p>
          <a:p>
            <a:pPr indent="266700" algn="just"/>
            <a:r>
              <a:rPr lang="en-US" altLang="en-US">
                <a:latin typeface="Times New Roman" panose="02020603050405020304" pitchFamily="18" charset="0"/>
                <a:ea typeface="宋体" panose="02010600030101010101" pitchFamily="2" charset="-122"/>
              </a:rPr>
              <a:t>  （3）RD</a:t>
            </a:r>
            <a:r>
              <a:rPr lang="zh-CN" altLang="en-US">
                <a:latin typeface="Times New Roman" panose="02020603050405020304" pitchFamily="18" charset="0"/>
                <a:ea typeface="宋体" panose="02010600030101010101" pitchFamily="2" charset="-122"/>
              </a:rPr>
              <a:t>。读控制信号输入，与控制总线相连。低电平有效，它有效表示由</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读至</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a:t>
            </a:r>
          </a:p>
          <a:p>
            <a:pPr indent="266700" algn="just"/>
            <a:r>
              <a:rPr lang="en-US" altLang="en-US">
                <a:latin typeface="Times New Roman" panose="02020603050405020304" pitchFamily="18" charset="0"/>
                <a:ea typeface="宋体" panose="02010600030101010101" pitchFamily="2" charset="-122"/>
              </a:rPr>
              <a:t>  （4）WR</a:t>
            </a:r>
            <a:r>
              <a:rPr lang="zh-CN" altLang="en-US">
                <a:latin typeface="Times New Roman" panose="02020603050405020304" pitchFamily="18" charset="0"/>
                <a:ea typeface="宋体" panose="02010600030101010101" pitchFamily="2" charset="-122"/>
              </a:rPr>
              <a:t>。写控制信号输入，与控制总线相连。低电平有效，它有效表示写信号至</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a:t>
            </a:r>
          </a:p>
          <a:p>
            <a:pPr indent="266700" algn="just"/>
            <a:r>
              <a:rPr lang="en-US" altLang="en-US">
                <a:latin typeface="Times New Roman" panose="02020603050405020304" pitchFamily="18" charset="0"/>
                <a:ea typeface="宋体" panose="02010600030101010101" pitchFamily="2" charset="-122"/>
              </a:rPr>
              <a:t>  （5）CS</a:t>
            </a:r>
            <a:r>
              <a:rPr lang="zh-CN" altLang="en-US">
                <a:latin typeface="Times New Roman" panose="02020603050405020304" pitchFamily="18" charset="0"/>
                <a:ea typeface="宋体" panose="02010600030101010101" pitchFamily="2" charset="-122"/>
              </a:rPr>
              <a:t>。片选信号输入，与地址译码电路相连。低电平有效，它有效表示正在访问该</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6</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。地址线输入，在使用中</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占用相邻两个端口地址，</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与配合，</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选中奇地址端口。</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选中偶地址端口。在</a:t>
            </a:r>
            <a:r>
              <a:rPr lang="en-US" altLang="zh-CN">
                <a:latin typeface="Times New Roman" panose="02020603050405020304" pitchFamily="18" charset="0"/>
                <a:ea typeface="宋体" panose="02010600030101010101" pitchFamily="2" charset="-122"/>
              </a:rPr>
              <a:t>80x86</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PC</a:t>
            </a:r>
            <a:r>
              <a:rPr lang="zh-CN" altLang="en-US">
                <a:latin typeface="Times New Roman" panose="02020603050405020304" pitchFamily="18" charset="0"/>
                <a:ea typeface="宋体" panose="02010600030101010101" pitchFamily="2" charset="-122"/>
              </a:rPr>
              <a:t>系列机中，主片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的端口地址为</a:t>
            </a:r>
            <a:r>
              <a:rPr lang="en-US" altLang="zh-CN">
                <a:latin typeface="Times New Roman" panose="02020603050405020304" pitchFamily="18" charset="0"/>
                <a:ea typeface="宋体" panose="02010600030101010101" pitchFamily="2" charset="-122"/>
              </a:rPr>
              <a:t>20H</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21H</a:t>
            </a:r>
            <a:r>
              <a:rPr lang="zh-CN" altLang="en-US">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Intel 8259A的引脚及功能</a:t>
            </a:r>
          </a:p>
        </p:txBody>
      </p:sp>
      <p:sp>
        <p:nvSpPr>
          <p:cNvPr id="38914" name="文本框 99"/>
          <p:cNvSpPr txBox="1"/>
          <p:nvPr/>
        </p:nvSpPr>
        <p:spPr>
          <a:xfrm>
            <a:off x="203200" y="1503363"/>
            <a:ext cx="8685213" cy="4602162"/>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7</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CAS0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CAS2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根级联信号线，对主片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，它为输出；对从片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，它为输入。主、从片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的，为</a:t>
            </a:r>
            <a:r>
              <a:rPr lang="en-US" altLang="zh-CN">
                <a:latin typeface="Times New Roman" panose="02020603050405020304" pitchFamily="18" charset="0"/>
                <a:ea typeface="宋体" panose="02010600030101010101" pitchFamily="2" charset="-122"/>
              </a:rPr>
              <a:t>CAS0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CAS2</a:t>
            </a:r>
            <a:r>
              <a:rPr lang="zh-CN" altLang="en-US">
                <a:latin typeface="Times New Roman" panose="02020603050405020304" pitchFamily="18" charset="0"/>
                <a:ea typeface="宋体" panose="02010600030101010101" pitchFamily="2" charset="-122"/>
              </a:rPr>
              <a:t>对应相连，主片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在第一个响应周期内通过</a:t>
            </a:r>
            <a:r>
              <a:rPr lang="en-US" altLang="zh-CN">
                <a:latin typeface="Times New Roman" panose="02020603050405020304" pitchFamily="18" charset="0"/>
                <a:ea typeface="宋体" panose="02010600030101010101" pitchFamily="2" charset="-122"/>
              </a:rPr>
              <a:t>CAS0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CAS2</a:t>
            </a:r>
            <a:r>
              <a:rPr lang="zh-CN" altLang="en-US">
                <a:latin typeface="Times New Roman" panose="02020603050405020304" pitchFamily="18" charset="0"/>
                <a:ea typeface="宋体" panose="02010600030101010101" pitchFamily="2" charset="-122"/>
              </a:rPr>
              <a:t>送出识别码，而和此识别码相符的从片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在接收到第二个信号后将中断类型码发送到数据总线上。</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       。从编程</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缓冲器允许信号，双向。是作为输入还是输出取决于</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是否采用缓冲方式，若不用缓冲方式，则是输入，反之，则作为输出。作为输入的使用时，用于区分主、从片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。主片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，从片的＝</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。作为输出的使用时作为数据总线缓冲器的使能信号。</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9</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INT</a:t>
            </a:r>
            <a:r>
              <a:rPr lang="zh-CN" altLang="en-US">
                <a:latin typeface="Times New Roman" panose="02020603050405020304" pitchFamily="18" charset="0"/>
                <a:ea typeface="宋体" panose="02010600030101010101" pitchFamily="2" charset="-122"/>
              </a:rPr>
              <a:t>。中断请求信号输出。</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用此线向</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发送中断请求信号。接至</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INTR</a:t>
            </a:r>
            <a:r>
              <a:rPr lang="zh-CN" altLang="en-US">
                <a:latin typeface="Times New Roman" panose="02020603050405020304" pitchFamily="18" charset="0"/>
                <a:ea typeface="宋体" panose="02010600030101010101" pitchFamily="2" charset="-122"/>
              </a:rPr>
              <a:t>引脚。</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10</a:t>
            </a:r>
            <a:r>
              <a:rPr lang="zh-CN" altLang="en-US">
                <a:latin typeface="Times New Roman" panose="02020603050405020304" pitchFamily="18" charset="0"/>
                <a:ea typeface="宋体" panose="02010600030101010101" pitchFamily="2" charset="-122"/>
              </a:rPr>
              <a:t>）      。中断响应信号输入。与</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的引脚相连。</a:t>
            </a:r>
          </a:p>
        </p:txBody>
      </p:sp>
      <p:graphicFrame>
        <p:nvGraphicFramePr>
          <p:cNvPr id="38915" name="Picture 30"/>
          <p:cNvGraphicFramePr>
            <a:graphicFrameLocks noChangeAspect="1"/>
          </p:cNvGraphicFramePr>
          <p:nvPr/>
        </p:nvGraphicFramePr>
        <p:xfrm>
          <a:off x="1503363" y="3228975"/>
          <a:ext cx="625475" cy="330200"/>
        </p:xfrm>
        <a:graphic>
          <a:graphicData uri="http://schemas.openxmlformats.org/presentationml/2006/ole">
            <mc:AlternateContent xmlns:mc="http://schemas.openxmlformats.org/markup-compatibility/2006">
              <mc:Choice xmlns:v="urn:schemas-microsoft-com:vml" Requires="v">
                <p:oleObj r:id="rId2" imgW="435610" imgH="230505" progId="Equation.3">
                  <p:embed/>
                </p:oleObj>
              </mc:Choice>
              <mc:Fallback>
                <p:oleObj r:id="rId2" imgW="435610" imgH="230505" progId="Equation.3">
                  <p:embed/>
                  <p:pic>
                    <p:nvPicPr>
                      <p:cNvPr id="0" name="图片 3075"/>
                      <p:cNvPicPr/>
                      <p:nvPr/>
                    </p:nvPicPr>
                    <p:blipFill>
                      <a:blip r:embed="rId3"/>
                      <a:stretch>
                        <a:fillRect/>
                      </a:stretch>
                    </p:blipFill>
                    <p:spPr>
                      <a:xfrm>
                        <a:off x="1503363" y="3228975"/>
                        <a:ext cx="625475" cy="330200"/>
                      </a:xfrm>
                      <a:prstGeom prst="rect">
                        <a:avLst/>
                      </a:prstGeom>
                      <a:solidFill>
                        <a:schemeClr val="tx1"/>
                      </a:solidFill>
                      <a:ln w="38100">
                        <a:noFill/>
                        <a:miter/>
                      </a:ln>
                    </p:spPr>
                  </p:pic>
                </p:oleObj>
              </mc:Fallback>
            </mc:AlternateContent>
          </a:graphicData>
        </a:graphic>
      </p:graphicFrame>
      <p:graphicFrame>
        <p:nvGraphicFramePr>
          <p:cNvPr id="38916" name="Picture 1"/>
          <p:cNvGraphicFramePr>
            <a:graphicFrameLocks noChangeAspect="1"/>
          </p:cNvGraphicFramePr>
          <p:nvPr/>
        </p:nvGraphicFramePr>
        <p:xfrm>
          <a:off x="1566863" y="5684838"/>
          <a:ext cx="538162" cy="296862"/>
        </p:xfrm>
        <a:graphic>
          <a:graphicData uri="http://schemas.openxmlformats.org/presentationml/2006/ole">
            <mc:AlternateContent xmlns:mc="http://schemas.openxmlformats.org/markup-compatibility/2006">
              <mc:Choice xmlns:v="urn:schemas-microsoft-com:vml" Requires="v">
                <p:oleObj r:id="rId4" imgW="371475" imgH="205105" progId="Equation.3">
                  <p:embed/>
                </p:oleObj>
              </mc:Choice>
              <mc:Fallback>
                <p:oleObj r:id="rId4" imgW="371475" imgH="205105" progId="Equation.3">
                  <p:embed/>
                  <p:pic>
                    <p:nvPicPr>
                      <p:cNvPr id="0" name="图片 3076"/>
                      <p:cNvPicPr/>
                      <p:nvPr/>
                    </p:nvPicPr>
                    <p:blipFill>
                      <a:blip r:embed="rId5"/>
                      <a:stretch>
                        <a:fillRect/>
                      </a:stretch>
                    </p:blipFill>
                    <p:spPr>
                      <a:xfrm>
                        <a:off x="1566863" y="5684838"/>
                        <a:ext cx="538162" cy="296862"/>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8259A的工作方式</a:t>
            </a:r>
          </a:p>
        </p:txBody>
      </p:sp>
      <p:sp>
        <p:nvSpPr>
          <p:cNvPr id="39938" name="文本框 99"/>
          <p:cNvSpPr txBox="1"/>
          <p:nvPr/>
        </p:nvSpPr>
        <p:spPr>
          <a:xfrm>
            <a:off x="254000" y="2001838"/>
            <a:ext cx="8524875" cy="36163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的工作方式有多种，可以通过编程来设定。用户可根据系统工作的要求来选择相应的工作方式，然后通过对</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写入初始化命令字来确定其工作方式。</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．中断屏蔽方式</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）普通屏蔽方式。利用操作命令字</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使屏蔽寄存器</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中的一位或数位置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来屏蔽一个或数个中断源的中断请求。若要开放某一个中断源的中断请求，则将</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中相应的位置</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）特殊屏蔽方式。在某些场合，执行某一个中断服务程序时，要求允许另一个优先级比它低的中断请求被响应，此时可采用特殊屏蔽方式。它可通过</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D6D5=11</a:t>
            </a:r>
            <a:r>
              <a:rPr lang="zh-CN" altLang="en-US">
                <a:latin typeface="Times New Roman" panose="02020603050405020304" pitchFamily="18" charset="0"/>
                <a:ea typeface="宋体" panose="02010600030101010101" pitchFamily="2" charset="-122"/>
              </a:rPr>
              <a:t>来设定。</a:t>
            </a: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8259A的工作方式</a:t>
            </a:r>
          </a:p>
        </p:txBody>
      </p:sp>
      <p:sp>
        <p:nvSpPr>
          <p:cNvPr id="40962" name="文本框 99"/>
          <p:cNvSpPr txBox="1"/>
          <p:nvPr/>
        </p:nvSpPr>
        <p:spPr>
          <a:xfrm>
            <a:off x="254000" y="2001838"/>
            <a:ext cx="8524875" cy="354330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．中断嵌套方式</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）全嵌套方式。这是最常用的一种工作方式，中断优先级别固定，</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最高，</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最低。当</a:t>
            </a:r>
            <a:r>
              <a:rPr lang="en-US" altLang="zh-CN">
                <a:latin typeface="Times New Roman" panose="02020603050405020304" pitchFamily="18" charset="0"/>
                <a:ea typeface="宋体" panose="02010600030101010101" pitchFamily="2" charset="-122"/>
              </a:rPr>
              <a:t>IRi</a:t>
            </a:r>
            <a:r>
              <a:rPr lang="zh-CN" altLang="en-US">
                <a:latin typeface="Times New Roman" panose="02020603050405020304" pitchFamily="18" charset="0"/>
                <a:ea typeface="宋体" panose="02010600030101010101" pitchFamily="2" charset="-122"/>
              </a:rPr>
              <a:t>中断请求响应时，相应的</a:t>
            </a:r>
            <a:r>
              <a:rPr lang="en-US" altLang="zh-CN">
                <a:latin typeface="Times New Roman" panose="02020603050405020304" pitchFamily="18" charset="0"/>
                <a:ea typeface="宋体" panose="02010600030101010101" pitchFamily="2" charset="-122"/>
              </a:rPr>
              <a:t>ISRi</a:t>
            </a:r>
            <a:r>
              <a:rPr lang="zh-CN" altLang="en-US">
                <a:latin typeface="Times New Roman" panose="02020603050405020304" pitchFamily="18" charset="0"/>
                <a:ea typeface="宋体" panose="02010600030101010101" pitchFamily="2" charset="-122"/>
              </a:rPr>
              <a:t>位置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，在中断服务过程中，禁止同级和优先级低于本级的中断请求。</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）特殊全嵌套方式。与全嵌套方式基本相同，所不同的是在特殊全嵌套方式下，当执行某一级中断服务程序时可响应同级的中断请求，从而实现对同级中断请求的特殊嵌套（</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级联使用时，某从片的</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个中断源对主片来说可以认为是同级的）。特殊全嵌套方式用于多片级联。</a:t>
            </a: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8259A的工作方式</a:t>
            </a:r>
          </a:p>
        </p:txBody>
      </p:sp>
      <p:sp>
        <p:nvSpPr>
          <p:cNvPr id="41986" name="文本框 99"/>
          <p:cNvSpPr txBox="1"/>
          <p:nvPr/>
        </p:nvSpPr>
        <p:spPr>
          <a:xfrm>
            <a:off x="254000" y="2001838"/>
            <a:ext cx="8524875" cy="321468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．优先级控制方式</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）优先级自动循环方式。在这种方式下，优先级的顺序不是固定不变的，一个设备得到中断服务后，其优先级自动降为最低。其初始的优先级顺序规定为</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。该方式用于系统中多个中断源优先级相等的场合。</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）优先级特殊循环方式。这种方式与优先级自动循环方式唯一的区别是，其初始的优先级不是固定的</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为最高，然后开始循环，而是由程序指定</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中任意一个为最高优先级，然后再按顺序自动循环，决定优先级。</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8259A的工作方式</a:t>
            </a:r>
          </a:p>
        </p:txBody>
      </p:sp>
      <p:sp>
        <p:nvSpPr>
          <p:cNvPr id="43010" name="文本框 99"/>
          <p:cNvSpPr txBox="1"/>
          <p:nvPr/>
        </p:nvSpPr>
        <p:spPr>
          <a:xfrm>
            <a:off x="254000" y="2001838"/>
            <a:ext cx="8524875" cy="2557462"/>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．中断结束方式</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）自动中断结束方式。在中断服务程序中，中断返回前不需要发出中断结束命令就会自动清除该中断源所对应的</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位（实际上在</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发出第二个信号时，</a:t>
            </a:r>
            <a:r>
              <a:rPr lang="en-US" altLang="zh-CN">
                <a:latin typeface="Times New Roman" panose="02020603050405020304" pitchFamily="18" charset="0"/>
                <a:ea typeface="宋体" panose="02010600030101010101" pitchFamily="2" charset="-122"/>
              </a:rPr>
              <a:t>8259</a:t>
            </a:r>
            <a:r>
              <a:rPr lang="zh-CN" altLang="en-US">
                <a:latin typeface="Times New Roman" panose="02020603050405020304" pitchFamily="18" charset="0"/>
                <a:ea typeface="宋体" panose="02010600030101010101" pitchFamily="2" charset="-122"/>
              </a:rPr>
              <a:t>即自动清除</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中的对应位）。这种方式用在多个中断不会嵌套的系统中。</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）非自动中断结束方式。在中断服务程序返回之前必须发中断结束命令才能使</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中的当前服务位清除。</a:t>
            </a: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8259A的级联</a:t>
            </a:r>
          </a:p>
        </p:txBody>
      </p:sp>
      <p:sp>
        <p:nvSpPr>
          <p:cNvPr id="44034" name="文本框 99"/>
          <p:cNvSpPr txBox="1"/>
          <p:nvPr/>
        </p:nvSpPr>
        <p:spPr>
          <a:xfrm>
            <a:off x="261938" y="1393825"/>
            <a:ext cx="8524875" cy="175260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众所周知，一片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可管理</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级中断源，那么如果要管理多于</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个中断源的中断，又该如何进行呢？实际上</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在芯片的设计过程中已经考虑到了这个问题，这就是利用级联的方法，将多片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连接在一起来管理多于</a:t>
            </a:r>
            <a:r>
              <a:rPr lang="en-US" altLang="zh-CN">
                <a:latin typeface="Times New Roman" panose="02020603050405020304" pitchFamily="18" charset="0"/>
                <a:ea typeface="宋体" panose="02010600030101010101" pitchFamily="2" charset="-122"/>
              </a:rPr>
              <a:t>8</a:t>
            </a:r>
            <a:r>
              <a:rPr lang="zh-CN" altLang="en-US">
                <a:latin typeface="Times New Roman" panose="02020603050405020304" pitchFamily="18" charset="0"/>
                <a:ea typeface="宋体" panose="02010600030101010101" pitchFamily="2" charset="-122"/>
              </a:rPr>
              <a:t>个中断源的中断系统。图</a:t>
            </a:r>
            <a:r>
              <a:rPr lang="en-US" altLang="zh-CN">
                <a:latin typeface="Times New Roman" panose="02020603050405020304" pitchFamily="18" charset="0"/>
                <a:ea typeface="宋体" panose="02010600030101010101" pitchFamily="2" charset="-122"/>
              </a:rPr>
              <a:t>7-6</a:t>
            </a:r>
            <a:r>
              <a:rPr lang="zh-CN" altLang="en-US">
                <a:latin typeface="Times New Roman" panose="02020603050405020304" pitchFamily="18" charset="0"/>
                <a:ea typeface="宋体" panose="02010600030101010101" pitchFamily="2" charset="-122"/>
              </a:rPr>
              <a:t>给出了多片</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组成的级联中断系统图。</a:t>
            </a:r>
          </a:p>
        </p:txBody>
      </p:sp>
      <p:pic>
        <p:nvPicPr>
          <p:cNvPr id="44035" name="Picture 8" descr="7"/>
          <p:cNvPicPr>
            <a:picLocks noChangeAspect="1"/>
          </p:cNvPicPr>
          <p:nvPr/>
        </p:nvPicPr>
        <p:blipFill>
          <a:blip r:embed="rId2"/>
          <a:stretch>
            <a:fillRect/>
          </a:stretch>
        </p:blipFill>
        <p:spPr>
          <a:xfrm>
            <a:off x="1527175" y="3175000"/>
            <a:ext cx="5514975" cy="3633788"/>
          </a:xfrm>
          <a:prstGeom prst="rect">
            <a:avLst/>
          </a:prstGeom>
          <a:noFill/>
          <a:ln w="9525">
            <a:noFill/>
          </a:ln>
        </p:spPr>
      </p:pic>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45058" name="文本框 99"/>
          <p:cNvSpPr txBox="1"/>
          <p:nvPr/>
        </p:nvSpPr>
        <p:spPr>
          <a:xfrm>
            <a:off x="523875" y="2187575"/>
            <a:ext cx="7934325" cy="3068638"/>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在使用</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时，除了按规定的信号接好电路外，还必须用程序选定其工作状态，例如，中断请求的优先权分配、中断屏蔽、中断矢量等，每一种状态都由一个命令字或一个命令字中的某些位来规定。</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的命令字可分为初始化命令字</a:t>
            </a:r>
            <a:r>
              <a:rPr lang="en-US" altLang="zh-CN">
                <a:latin typeface="Times New Roman" panose="02020603050405020304" pitchFamily="18" charset="0"/>
                <a:ea typeface="宋体" panose="02010600030101010101" pitchFamily="2" charset="-122"/>
              </a:rPr>
              <a:t>ICW</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Initialization Command Word</a:t>
            </a:r>
            <a:r>
              <a:rPr lang="zh-CN" altLang="en-US">
                <a:latin typeface="Times New Roman" panose="02020603050405020304" pitchFamily="18" charset="0"/>
                <a:ea typeface="宋体" panose="02010600030101010101" pitchFamily="2" charset="-122"/>
              </a:rPr>
              <a:t>）和工作命令字</a:t>
            </a:r>
            <a:r>
              <a:rPr lang="en-US" altLang="zh-CN">
                <a:latin typeface="Times New Roman" panose="02020603050405020304" pitchFamily="18" charset="0"/>
                <a:ea typeface="宋体" panose="02010600030101010101" pitchFamily="2" charset="-122"/>
              </a:rPr>
              <a:t>OCW</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Operation Command Word</a:t>
            </a:r>
            <a:r>
              <a:rPr lang="zh-CN" altLang="en-US">
                <a:latin typeface="Times New Roman" panose="02020603050405020304" pitchFamily="18" charset="0"/>
                <a:ea typeface="宋体" panose="02010600030101010101" pitchFamily="2" charset="-122"/>
              </a:rPr>
              <a:t>）两种，因此</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的编程也分为初始化编程和工作编程两步。在</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内部，有相应的一组寄存器分别将这些命令字锁存以控制其工作。</a:t>
            </a: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46082" name="文本框 99"/>
          <p:cNvSpPr txBox="1"/>
          <p:nvPr/>
        </p:nvSpPr>
        <p:spPr>
          <a:xfrm>
            <a:off x="430213" y="1571625"/>
            <a:ext cx="8188325" cy="467677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寄存器的读写</a:t>
            </a:r>
          </a:p>
          <a:p>
            <a:pPr indent="266700" algn="just"/>
            <a:r>
              <a:rPr lang="zh-CN" altLang="en-US">
                <a:latin typeface="Times New Roman" panose="02020603050405020304" pitchFamily="18" charset="0"/>
                <a:ea typeface="宋体" panose="02010600030101010101" pitchFamily="2" charset="-122"/>
              </a:rPr>
              <a:t>     对于</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的内部寄存器，除了在编程时</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可用输出指令对它们逐一写入外，在查询状态时还可用输入指令将其内容读出。为了寻址各寄存器，除了用地址信号</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译码外，还需要用这些命令字的某些位作为访问某个寄存器的特征，或者按写入的先后顺序来区分。</a:t>
            </a:r>
          </a:p>
          <a:p>
            <a:pPr indent="266700" algn="just"/>
            <a:r>
              <a:rPr lang="zh-CN" altLang="en-US">
                <a:latin typeface="Times New Roman" panose="02020603050405020304" pitchFamily="18" charset="0"/>
                <a:ea typeface="宋体" panose="02010600030101010101" pitchFamily="2" charset="-122"/>
              </a:rPr>
              <a:t>     例如：要对</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操作，此时除了将地址线</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置</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外还需要将</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命令字</a:t>
            </a:r>
            <a:r>
              <a:rPr lang="en-US" altLang="zh-CN">
                <a:latin typeface="Times New Roman" panose="02020603050405020304" pitchFamily="18" charset="0"/>
                <a:ea typeface="宋体" panose="02010600030101010101" pitchFamily="2" charset="-122"/>
              </a:rPr>
              <a:t>D4</a:t>
            </a:r>
            <a:r>
              <a:rPr lang="zh-CN" altLang="en-US">
                <a:latin typeface="Times New Roman" panose="02020603050405020304" pitchFamily="18" charset="0"/>
                <a:ea typeface="宋体" panose="02010600030101010101" pitchFamily="2" charset="-122"/>
              </a:rPr>
              <a:t>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，此时表示选中了</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命令字，或者说启动了</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的初始化编程。</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的初始化编程</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必须先进行初始化编程，后进行工作编程。初始化编程由写入</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（称为主初始化命令字）开始，然后写入</a:t>
            </a:r>
            <a:r>
              <a:rPr lang="en-US" altLang="zh-CN">
                <a:latin typeface="Times New Roman" panose="02020603050405020304" pitchFamily="18" charset="0"/>
                <a:ea typeface="宋体" panose="02010600030101010101" pitchFamily="2" charset="-122"/>
              </a:rPr>
              <a:t>ICW2</a:t>
            </a:r>
            <a:r>
              <a:rPr lang="zh-CN" altLang="en-US">
                <a:latin typeface="Times New Roman" panose="02020603050405020304" pitchFamily="18" charset="0"/>
                <a:ea typeface="宋体" panose="02010600030101010101" pitchFamily="2" charset="-122"/>
              </a:rPr>
              <a:t>。至于是否写</a:t>
            </a:r>
            <a:r>
              <a:rPr lang="en-US" altLang="zh-CN">
                <a:latin typeface="Times New Roman" panose="02020603050405020304" pitchFamily="18" charset="0"/>
                <a:ea typeface="宋体" panose="02010600030101010101" pitchFamily="2" charset="-122"/>
              </a:rPr>
              <a:t>ICW3</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ICW4</a:t>
            </a:r>
            <a:r>
              <a:rPr lang="zh-CN" altLang="en-US">
                <a:latin typeface="Times New Roman" panose="02020603050405020304" pitchFamily="18" charset="0"/>
                <a:ea typeface="宋体" panose="02010600030101010101" pitchFamily="2" charset="-122"/>
              </a:rPr>
              <a:t>，取决于</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的内容。</a:t>
            </a: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47106" name="文本框 99"/>
          <p:cNvSpPr txBox="1"/>
          <p:nvPr/>
        </p:nvSpPr>
        <p:spPr>
          <a:xfrm>
            <a:off x="498475" y="2011363"/>
            <a:ext cx="5367338" cy="3470275"/>
          </a:xfrm>
          <a:prstGeom prst="rect">
            <a:avLst/>
          </a:prstGeom>
          <a:noFill/>
          <a:ln w="9525">
            <a:noFill/>
          </a:ln>
        </p:spPr>
        <p:txBody>
          <a:bodyPr wrap="square" anchor="t" anchorCtr="0">
            <a:spAutoFit/>
          </a:bodyPr>
          <a:lstStyle/>
          <a:p>
            <a:pPr indent="266700"/>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从图</a:t>
            </a:r>
            <a:r>
              <a:rPr lang="en-US" altLang="zh-CN">
                <a:latin typeface="Times New Roman" panose="02020603050405020304" pitchFamily="18" charset="0"/>
                <a:ea typeface="宋体" panose="02010600030101010101" pitchFamily="2" charset="-122"/>
              </a:rPr>
              <a:t>7-7</a:t>
            </a:r>
            <a:r>
              <a:rPr lang="zh-CN" altLang="en-US">
                <a:latin typeface="Times New Roman" panose="02020603050405020304" pitchFamily="18" charset="0"/>
                <a:ea typeface="宋体" panose="02010600030101010101" pitchFamily="2" charset="-122"/>
              </a:rPr>
              <a:t>中可以看出，初始化命令字的写入顺序是：</a:t>
            </a:r>
            <a:r>
              <a:rPr lang="en-US" altLang="zh-CN">
                <a:latin typeface="Times New Roman" panose="02020603050405020304" pitchFamily="18" charset="0"/>
                <a:ea typeface="宋体" panose="02010600030101010101" pitchFamily="2" charset="-122"/>
              </a:rPr>
              <a:t>ICW1→ICW2→ICW3→ICW4</a:t>
            </a:r>
            <a:r>
              <a:rPr lang="zh-CN" altLang="en-US">
                <a:latin typeface="Times New Roman" panose="02020603050405020304" pitchFamily="18" charset="0"/>
                <a:ea typeface="宋体" panose="02010600030101010101" pitchFamily="2" charset="-122"/>
              </a:rPr>
              <a:t>，这</a:t>
            </a:r>
            <a:r>
              <a:rPr lang="en-US" altLang="zh-CN">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个命令字必须按照顺序写入，一般不重复写。</a:t>
            </a:r>
          </a:p>
          <a:p>
            <a:pPr indent="266700" algn="just"/>
            <a:r>
              <a:rPr lang="zh-CN" altLang="en-US">
                <a:latin typeface="Times New Roman" panose="02020603050405020304" pitchFamily="18" charset="0"/>
                <a:ea typeface="宋体" panose="02010600030101010101" pitchFamily="2" charset="-122"/>
              </a:rPr>
              <a:t>无论何时，当</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向</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送入一条地址线</a:t>
            </a:r>
            <a:r>
              <a:rPr lang="en-US" altLang="zh-CN">
                <a:latin typeface="Times New Roman" panose="02020603050405020304" pitchFamily="18" charset="0"/>
                <a:ea typeface="宋体" panose="02010600030101010101" pitchFamily="2" charset="-122"/>
              </a:rPr>
              <a:t>A0=0</a:t>
            </a:r>
            <a:r>
              <a:rPr lang="zh-CN" altLang="en-US">
                <a:latin typeface="Times New Roman" panose="02020603050405020304" pitchFamily="18" charset="0"/>
                <a:ea typeface="宋体" panose="02010600030101010101" pitchFamily="2" charset="-122"/>
              </a:rPr>
              <a:t>、数据线</a:t>
            </a:r>
            <a:r>
              <a:rPr lang="en-US" altLang="zh-CN">
                <a:latin typeface="Times New Roman" panose="02020603050405020304" pitchFamily="18" charset="0"/>
                <a:ea typeface="宋体" panose="02010600030101010101" pitchFamily="2" charset="-122"/>
              </a:rPr>
              <a:t>D4=1</a:t>
            </a:r>
            <a:r>
              <a:rPr lang="zh-CN" altLang="en-US">
                <a:latin typeface="Times New Roman" panose="02020603050405020304" pitchFamily="18" charset="0"/>
                <a:ea typeface="宋体" panose="02010600030101010101" pitchFamily="2" charset="-122"/>
              </a:rPr>
              <a:t>的命令时，该命令被译码为初始化命令字</a:t>
            </a:r>
            <a:r>
              <a:rPr lang="en-US" altLang="zh-CN">
                <a:latin typeface="Times New Roman" panose="02020603050405020304" pitchFamily="18" charset="0"/>
                <a:ea typeface="宋体" panose="02010600030101010101" pitchFamily="2" charset="-122"/>
              </a:rPr>
              <a:t>ICW1</a:t>
            </a:r>
            <a:r>
              <a:rPr lang="zh-CN" altLang="en-US">
                <a:latin typeface="Times New Roman" panose="02020603050405020304" pitchFamily="18" charset="0"/>
                <a:ea typeface="宋体" panose="02010600030101010101" pitchFamily="2" charset="-122"/>
              </a:rPr>
              <a:t>，它启动</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的初始化过程，即相当于</a:t>
            </a:r>
            <a:r>
              <a:rPr lang="en-US" altLang="zh-CN">
                <a:latin typeface="Times New Roman" panose="02020603050405020304" pitchFamily="18" charset="0"/>
                <a:ea typeface="宋体" panose="02010600030101010101" pitchFamily="2" charset="-122"/>
              </a:rPr>
              <a:t>RESET</a:t>
            </a:r>
            <a:r>
              <a:rPr lang="zh-CN" altLang="en-US">
                <a:latin typeface="Times New Roman" panose="02020603050405020304" pitchFamily="18" charset="0"/>
                <a:ea typeface="宋体" panose="02010600030101010101" pitchFamily="2" charset="-122"/>
              </a:rPr>
              <a:t>信号的作用。</a:t>
            </a:r>
          </a:p>
        </p:txBody>
      </p:sp>
      <p:pic>
        <p:nvPicPr>
          <p:cNvPr id="47107" name="Picture 9" descr="7"/>
          <p:cNvPicPr>
            <a:picLocks noChangeAspect="1"/>
          </p:cNvPicPr>
          <p:nvPr/>
        </p:nvPicPr>
        <p:blipFill>
          <a:blip r:embed="rId2"/>
          <a:stretch>
            <a:fillRect/>
          </a:stretch>
        </p:blipFill>
        <p:spPr>
          <a:xfrm>
            <a:off x="6092825" y="1247775"/>
            <a:ext cx="2598738" cy="5275263"/>
          </a:xfrm>
          <a:prstGeom prst="rect">
            <a:avLst/>
          </a:prstGeom>
          <a:noFill/>
          <a:ln w="9525">
            <a:noFill/>
          </a:ln>
        </p:spPr>
      </p:pic>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48130" name="文本框 99"/>
          <p:cNvSpPr txBox="1"/>
          <p:nvPr/>
        </p:nvSpPr>
        <p:spPr>
          <a:xfrm>
            <a:off x="430213" y="1571625"/>
            <a:ext cx="8188325" cy="4037013"/>
          </a:xfrm>
          <a:prstGeom prst="rect">
            <a:avLst/>
          </a:prstGeom>
          <a:noFill/>
          <a:ln w="9525">
            <a:noFill/>
          </a:ln>
        </p:spPr>
        <p:txBody>
          <a:bodyPr wrap="square" anchor="t" anchorCtr="0">
            <a:spAutoFit/>
          </a:bodyPr>
          <a:lstStyle/>
          <a:p>
            <a:pPr indent="266700" algn="just"/>
            <a:r>
              <a:rPr lang="en-US"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在进行初始化时将完成如下操作。</a:t>
            </a:r>
          </a:p>
          <a:p>
            <a:pPr indent="266700" algn="just"/>
            <a:r>
              <a:rPr lang="en-US" altLang="zh-CN" sz="2000">
                <a:latin typeface="Times New Roman" panose="02020603050405020304" pitchFamily="18" charset="0"/>
                <a:ea typeface="宋体" panose="02010600030101010101" pitchFamily="2" charset="-122"/>
              </a:rPr>
              <a:t>① </a:t>
            </a:r>
            <a:r>
              <a:rPr lang="zh-CN" altLang="en-US" sz="2000">
                <a:latin typeface="Times New Roman" panose="02020603050405020304" pitchFamily="18" charset="0"/>
                <a:ea typeface="宋体" panose="02010600030101010101" pitchFamily="2" charset="-122"/>
              </a:rPr>
              <a:t>清除中断屏蔽寄存器</a:t>
            </a:r>
            <a:r>
              <a:rPr lang="en-US" altLang="zh-CN" sz="2000">
                <a:latin typeface="Times New Roman" panose="02020603050405020304" pitchFamily="18" charset="0"/>
                <a:ea typeface="宋体" panose="02010600030101010101" pitchFamily="2" charset="-122"/>
              </a:rPr>
              <a:t>IMR</a:t>
            </a:r>
            <a:r>
              <a:rPr lang="zh-CN" altLang="en-US" sz="2000">
                <a:latin typeface="Times New Roman" panose="02020603050405020304" pitchFamily="18" charset="0"/>
                <a:ea typeface="宋体" panose="02010600030101010101" pitchFamily="2" charset="-122"/>
              </a:rPr>
              <a:t>，即中断屏蔽寄存器的各位均复位为</a:t>
            </a:r>
            <a:r>
              <a:rPr lang="en-US" altLang="zh-CN" sz="2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a:t>
            </a:r>
          </a:p>
          <a:p>
            <a:pPr indent="266700" algn="just"/>
            <a:r>
              <a:rPr lang="en-US" altLang="zh-CN" sz="2000">
                <a:latin typeface="Times New Roman" panose="02020603050405020304" pitchFamily="18" charset="0"/>
                <a:ea typeface="宋体" panose="02010600030101010101" pitchFamily="2" charset="-122"/>
              </a:rPr>
              <a:t>② </a:t>
            </a:r>
            <a:r>
              <a:rPr lang="zh-CN" altLang="en-US" sz="2000">
                <a:latin typeface="Times New Roman" panose="02020603050405020304" pitchFamily="18" charset="0"/>
                <a:ea typeface="宋体" panose="02010600030101010101" pitchFamily="2" charset="-122"/>
              </a:rPr>
              <a:t>设置</a:t>
            </a:r>
            <a:r>
              <a:rPr lang="en-US" altLang="zh-CN" sz="2000">
                <a:latin typeface="Times New Roman" panose="02020603050405020304" pitchFamily="18" charset="0"/>
                <a:ea typeface="宋体" panose="02010600030101010101" pitchFamily="2" charset="-122"/>
              </a:rPr>
              <a:t>IR7</a:t>
            </a:r>
            <a:r>
              <a:rPr lang="zh-CN" altLang="en-US" sz="2000">
                <a:latin typeface="Times New Roman" panose="02020603050405020304" pitchFamily="18" charset="0"/>
                <a:ea typeface="宋体" panose="02010600030101010101" pitchFamily="2" charset="-122"/>
              </a:rPr>
              <a:t>为最低优先级的完全嵌套方式，固定优先权排序。</a:t>
            </a:r>
          </a:p>
          <a:p>
            <a:pPr indent="266700" algn="just"/>
            <a:r>
              <a:rPr lang="zh-CN" altLang="en-US" sz="2000">
                <a:latin typeface="Times New Roman" panose="02020603050405020304" pitchFamily="18" charset="0"/>
                <a:ea typeface="宋体" panose="02010600030101010101" pitchFamily="2" charset="-122"/>
              </a:rPr>
              <a:t>完全嵌套方式是指当一个中断请求被响应后，就会自动屏蔽同级和低级的中断请求，但能开放高级的中断请求，即某中断未服务完，同级或低级有中断请求，不会使</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的</a:t>
            </a:r>
            <a:r>
              <a:rPr lang="en-US" altLang="zh-CN" sz="2000">
                <a:latin typeface="Times New Roman" panose="02020603050405020304" pitchFamily="18" charset="0"/>
                <a:ea typeface="宋体" panose="02010600030101010101" pitchFamily="2" charset="-122"/>
              </a:rPr>
              <a:t>INT</a:t>
            </a:r>
            <a:r>
              <a:rPr lang="zh-CN" altLang="en-US" sz="2000">
                <a:latin typeface="Times New Roman" panose="02020603050405020304" pitchFamily="18" charset="0"/>
                <a:ea typeface="宋体" panose="02010600030101010101" pitchFamily="2" charset="-122"/>
              </a:rPr>
              <a:t>变为高电平。</a:t>
            </a:r>
          </a:p>
          <a:p>
            <a:pPr indent="266700" algn="just"/>
            <a:r>
              <a:rPr lang="en-US" altLang="zh-CN" sz="2000">
                <a:latin typeface="Times New Roman" panose="02020603050405020304" pitchFamily="18" charset="0"/>
                <a:ea typeface="宋体" panose="02010600030101010101" pitchFamily="2" charset="-122"/>
              </a:rPr>
              <a:t>③ </a:t>
            </a:r>
            <a:r>
              <a:rPr lang="zh-CN" altLang="en-US" sz="2000">
                <a:latin typeface="Times New Roman" panose="02020603050405020304" pitchFamily="18" charset="0"/>
                <a:ea typeface="宋体" panose="02010600030101010101" pitchFamily="2" charset="-122"/>
              </a:rPr>
              <a:t>清除特殊屏蔽方式。</a:t>
            </a:r>
          </a:p>
          <a:p>
            <a:pPr indent="266700" algn="just"/>
            <a:r>
              <a:rPr lang="zh-CN" altLang="en-US" sz="2000">
                <a:latin typeface="Times New Roman" panose="02020603050405020304" pitchFamily="18" charset="0"/>
                <a:ea typeface="宋体" panose="02010600030101010101" pitchFamily="2" charset="-122"/>
              </a:rPr>
              <a:t>    在某些应用场合，可能要求能在软件的控制下动态地改变系统的优先权结构，也就是若</a:t>
            </a:r>
            <a:r>
              <a:rPr lang="en-US" altLang="zh-CN" sz="2000">
                <a:latin typeface="Times New Roman" panose="02020603050405020304" pitchFamily="18" charset="0"/>
                <a:ea typeface="宋体" panose="02010600030101010101" pitchFamily="2" charset="-122"/>
              </a:rPr>
              <a:t>CPU</a:t>
            </a:r>
            <a:r>
              <a:rPr lang="zh-CN" altLang="en-US" sz="2000">
                <a:latin typeface="Times New Roman" panose="02020603050405020304" pitchFamily="18" charset="0"/>
                <a:ea typeface="宋体" panose="02010600030101010101" pitchFamily="2" charset="-122"/>
              </a:rPr>
              <a:t>正处在中断服务的过程中，希望能屏蔽一些较低优先权的中断源的中断申请，而允许一些优先权更低的中断源的中断申请。当然在通常情况下，当较高优先权的中断源正处在中断服务过程中时，所有中断优先权较低的中断源都被屏蔽。</a:t>
            </a:r>
          </a:p>
          <a:p>
            <a:pPr indent="266700" algn="just"/>
            <a:r>
              <a:rPr lang="en-US" altLang="zh-CN" sz="2000">
                <a:latin typeface="Times New Roman" panose="02020603050405020304" pitchFamily="18" charset="0"/>
                <a:ea typeface="宋体" panose="02010600030101010101" pitchFamily="2" charset="-122"/>
              </a:rPr>
              <a:t>④ </a:t>
            </a:r>
            <a:r>
              <a:rPr lang="zh-CN" altLang="en-US" sz="2000">
                <a:latin typeface="Times New Roman" panose="02020603050405020304" pitchFamily="18" charset="0"/>
                <a:ea typeface="宋体" panose="02010600030101010101" pitchFamily="2" charset="-122"/>
              </a:rPr>
              <a:t>设置读</a:t>
            </a:r>
            <a:r>
              <a:rPr lang="en-US" altLang="zh-CN" sz="2000">
                <a:latin typeface="Times New Roman" panose="02020603050405020304" pitchFamily="18" charset="0"/>
                <a:ea typeface="宋体" panose="02010600030101010101" pitchFamily="2" charset="-122"/>
              </a:rPr>
              <a:t>IRR</a:t>
            </a:r>
            <a:r>
              <a:rPr lang="zh-CN" altLang="en-US" sz="2000">
                <a:latin typeface="Times New Roman" panose="02020603050405020304" pitchFamily="18" charset="0"/>
                <a:ea typeface="宋体" panose="02010600030101010101" pitchFamily="2" charset="-122"/>
              </a:rPr>
              <a:t>方式。</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49154" name="文本框 99"/>
          <p:cNvSpPr txBox="1"/>
          <p:nvPr/>
        </p:nvSpPr>
        <p:spPr>
          <a:xfrm>
            <a:off x="320675" y="1497013"/>
            <a:ext cx="8518525" cy="510063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ICW1</a:t>
            </a:r>
            <a:r>
              <a:rPr lang="zh-CN" altLang="en-US" sz="2000">
                <a:latin typeface="Times New Roman" panose="02020603050405020304" pitchFamily="18" charset="0"/>
                <a:ea typeface="宋体" panose="02010600030101010101" pitchFamily="2" charset="-122"/>
              </a:rPr>
              <a:t>。</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ICW1</a:t>
            </a:r>
            <a:r>
              <a:rPr lang="zh-CN" altLang="en-US" sz="2000">
                <a:latin typeface="Times New Roman" panose="02020603050405020304" pitchFamily="18" charset="0"/>
                <a:ea typeface="宋体" panose="02010600030101010101" pitchFamily="2" charset="-122"/>
              </a:rPr>
              <a:t>用于设置</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的基本工作方式。刚才提到了当地址线</a:t>
            </a:r>
            <a:r>
              <a:rPr lang="en-US" altLang="zh-CN" sz="2000">
                <a:latin typeface="Times New Roman" panose="02020603050405020304" pitchFamily="18" charset="0"/>
                <a:ea typeface="宋体" panose="02010600030101010101" pitchFamily="2" charset="-122"/>
              </a:rPr>
              <a:t>A0=0</a:t>
            </a:r>
            <a:r>
              <a:rPr lang="zh-CN" altLang="en-US" sz="2000">
                <a:latin typeface="Times New Roman" panose="02020603050405020304" pitchFamily="18" charset="0"/>
                <a:ea typeface="宋体" panose="02010600030101010101" pitchFamily="2" charset="-122"/>
              </a:rPr>
              <a:t>时，若对</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写入</a:t>
            </a:r>
            <a:r>
              <a:rPr lang="en-US" altLang="zh-CN" sz="2000">
                <a:latin typeface="Times New Roman" panose="02020603050405020304" pitchFamily="18" charset="0"/>
                <a:ea typeface="宋体" panose="02010600030101010101" pitchFamily="2" charset="-122"/>
              </a:rPr>
              <a:t>D4=1</a:t>
            </a:r>
            <a:r>
              <a:rPr lang="zh-CN" altLang="en-US" sz="2000">
                <a:latin typeface="Times New Roman" panose="02020603050405020304" pitchFamily="18" charset="0"/>
                <a:ea typeface="宋体" panose="02010600030101010101" pitchFamily="2" charset="-122"/>
              </a:rPr>
              <a:t>则启动了初始化编程写入的字节被当成</a:t>
            </a:r>
            <a:r>
              <a:rPr lang="en-US" altLang="zh-CN" sz="2000">
                <a:latin typeface="Times New Roman" panose="02020603050405020304" pitchFamily="18" charset="0"/>
                <a:ea typeface="宋体" panose="02010600030101010101" pitchFamily="2" charset="-122"/>
              </a:rPr>
              <a:t>ICW1</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D4=1</a:t>
            </a:r>
            <a:r>
              <a:rPr lang="zh-CN" altLang="en-US" sz="2000">
                <a:latin typeface="Times New Roman" panose="02020603050405020304" pitchFamily="18" charset="0"/>
                <a:ea typeface="宋体" panose="02010600030101010101" pitchFamily="2" charset="-122"/>
              </a:rPr>
              <a:t>是它的特征位，其余各位作用如下。</a:t>
            </a: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r>
              <a:rPr lang="en-US" altLang="zh-CN" sz="2000">
                <a:latin typeface="Times New Roman" panose="02020603050405020304" pitchFamily="18" charset="0"/>
                <a:ea typeface="宋体" panose="02010600030101010101" pitchFamily="2" charset="-122"/>
              </a:rPr>
              <a:t>A0=0</a:t>
            </a:r>
            <a:r>
              <a:rPr lang="zh-CN" altLang="en-US" sz="2000">
                <a:latin typeface="Times New Roman" panose="02020603050405020304" pitchFamily="18" charset="0"/>
                <a:ea typeface="宋体" panose="02010600030101010101" pitchFamily="2" charset="-122"/>
              </a:rPr>
              <a:t>表示是偶地址，</a:t>
            </a:r>
            <a:r>
              <a:rPr lang="en-US" altLang="zh-CN" sz="2000">
                <a:latin typeface="Times New Roman" panose="02020603050405020304" pitchFamily="18" charset="0"/>
                <a:ea typeface="宋体" panose="02010600030101010101" pitchFamily="2" charset="-122"/>
              </a:rPr>
              <a:t>D4=1</a:t>
            </a:r>
            <a:r>
              <a:rPr lang="zh-CN" altLang="en-US" sz="2000">
                <a:latin typeface="Times New Roman" panose="02020603050405020304" pitchFamily="18" charset="0"/>
                <a:ea typeface="宋体" panose="02010600030101010101" pitchFamily="2" charset="-122"/>
              </a:rPr>
              <a:t>是初始化命令字</a:t>
            </a:r>
            <a:r>
              <a:rPr lang="en-US" altLang="zh-CN" sz="2000">
                <a:latin typeface="Times New Roman" panose="02020603050405020304" pitchFamily="18" charset="0"/>
                <a:ea typeface="宋体" panose="02010600030101010101" pitchFamily="2" charset="-122"/>
              </a:rPr>
              <a:t>ICW1</a:t>
            </a:r>
            <a:r>
              <a:rPr lang="zh-CN" altLang="en-US" sz="2000">
                <a:latin typeface="Times New Roman" panose="02020603050405020304" pitchFamily="18" charset="0"/>
                <a:ea typeface="宋体" panose="02010600030101010101" pitchFamily="2" charset="-122"/>
              </a:rPr>
              <a:t>的标志。</a:t>
            </a:r>
          </a:p>
          <a:p>
            <a:pPr indent="266700" algn="just"/>
            <a:r>
              <a:rPr lang="en-US" altLang="zh-CN" sz="2000">
                <a:latin typeface="Times New Roman" panose="02020603050405020304" pitchFamily="18" charset="0"/>
                <a:ea typeface="宋体" panose="02010600030101010101" pitchFamily="2" charset="-122"/>
              </a:rPr>
              <a:t>D0</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ICW4</a:t>
            </a:r>
            <a:r>
              <a:rPr lang="zh-CN" altLang="en-US" sz="2000">
                <a:latin typeface="Times New Roman" panose="02020603050405020304" pitchFamily="18" charset="0"/>
                <a:ea typeface="宋体" panose="02010600030101010101" pitchFamily="2" charset="-122"/>
              </a:rPr>
              <a:t>）表示初始化过程是否需要写</a:t>
            </a:r>
            <a:r>
              <a:rPr lang="en-US" altLang="zh-CN" sz="2000">
                <a:latin typeface="Times New Roman" panose="02020603050405020304" pitchFamily="18" charset="0"/>
                <a:ea typeface="宋体" panose="02010600030101010101" pitchFamily="2" charset="-122"/>
              </a:rPr>
              <a:t>ICW4</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D0=1</a:t>
            </a:r>
            <a:r>
              <a:rPr lang="zh-CN" altLang="en-US" sz="2000">
                <a:latin typeface="Times New Roman" panose="02020603050405020304" pitchFamily="18" charset="0"/>
                <a:ea typeface="宋体" panose="02010600030101010101" pitchFamily="2" charset="-122"/>
              </a:rPr>
              <a:t>表示是</a:t>
            </a:r>
            <a:r>
              <a:rPr lang="en-US" altLang="zh-CN" sz="2000">
                <a:latin typeface="Times New Roman" panose="02020603050405020304" pitchFamily="18" charset="0"/>
                <a:ea typeface="宋体" panose="02010600030101010101" pitchFamily="2" charset="-122"/>
              </a:rPr>
              <a:t>8086/8088</a:t>
            </a:r>
            <a:r>
              <a:rPr lang="zh-CN" altLang="en-US" sz="2000">
                <a:latin typeface="Times New Roman" panose="02020603050405020304" pitchFamily="18" charset="0"/>
                <a:ea typeface="宋体" panose="02010600030101010101" pitchFamily="2" charset="-122"/>
              </a:rPr>
              <a:t>系统，必须写</a:t>
            </a:r>
            <a:r>
              <a:rPr lang="en-US" altLang="zh-CN" sz="2000">
                <a:latin typeface="Times New Roman" panose="02020603050405020304" pitchFamily="18" charset="0"/>
                <a:ea typeface="宋体" panose="02010600030101010101" pitchFamily="2" charset="-122"/>
              </a:rPr>
              <a:t>ICW4</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D0=0</a:t>
            </a:r>
            <a:r>
              <a:rPr lang="zh-CN" altLang="en-US" sz="2000">
                <a:latin typeface="Times New Roman" panose="02020603050405020304" pitchFamily="18" charset="0"/>
                <a:ea typeface="宋体" panose="02010600030101010101" pitchFamily="2" charset="-122"/>
              </a:rPr>
              <a:t>表示不需要写</a:t>
            </a:r>
            <a:r>
              <a:rPr lang="en-US" altLang="zh-CN" sz="2000">
                <a:latin typeface="Times New Roman" panose="02020603050405020304" pitchFamily="18" charset="0"/>
                <a:ea typeface="宋体" panose="02010600030101010101" pitchFamily="2" charset="-122"/>
              </a:rPr>
              <a:t>ICW4</a:t>
            </a:r>
            <a:r>
              <a:rPr lang="zh-CN" altLang="en-US" sz="2000">
                <a:latin typeface="Times New Roman" panose="02020603050405020304" pitchFamily="18" charset="0"/>
                <a:ea typeface="宋体" panose="02010600030101010101" pitchFamily="2" charset="-122"/>
              </a:rPr>
              <a:t>。</a:t>
            </a:r>
          </a:p>
          <a:p>
            <a:pPr indent="266700" algn="just"/>
            <a:r>
              <a:rPr lang="en-US" altLang="zh-CN" sz="2000">
                <a:latin typeface="Times New Roman" panose="02020603050405020304" pitchFamily="18" charset="0"/>
                <a:ea typeface="宋体" panose="02010600030101010101" pitchFamily="2" charset="-122"/>
              </a:rPr>
              <a:t>D1</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SNGL</a:t>
            </a:r>
            <a:r>
              <a:rPr lang="zh-CN" altLang="en-US" sz="2000">
                <a:latin typeface="Times New Roman" panose="02020603050405020304" pitchFamily="18" charset="0"/>
                <a:ea typeface="宋体" panose="02010600030101010101" pitchFamily="2" charset="-122"/>
              </a:rPr>
              <a:t>）用于表示系统是单片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还是多片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D0=1</a:t>
            </a:r>
            <a:r>
              <a:rPr lang="zh-CN" altLang="en-US" sz="2000">
                <a:latin typeface="Times New Roman" panose="02020603050405020304" pitchFamily="18" charset="0"/>
                <a:ea typeface="宋体" panose="02010600030101010101" pitchFamily="2" charset="-122"/>
              </a:rPr>
              <a:t>表示单片，</a:t>
            </a:r>
            <a:r>
              <a:rPr lang="en-US" altLang="zh-CN" sz="2000">
                <a:latin typeface="Times New Roman" panose="02020603050405020304" pitchFamily="18" charset="0"/>
                <a:ea typeface="宋体" panose="02010600030101010101" pitchFamily="2" charset="-122"/>
              </a:rPr>
              <a:t>D0=0</a:t>
            </a:r>
            <a:r>
              <a:rPr lang="zh-CN" altLang="en-US" sz="2000">
                <a:latin typeface="Times New Roman" panose="02020603050405020304" pitchFamily="18" charset="0"/>
                <a:ea typeface="宋体" panose="02010600030101010101" pitchFamily="2" charset="-122"/>
              </a:rPr>
              <a:t>表示级联。</a:t>
            </a:r>
          </a:p>
          <a:p>
            <a:pPr indent="266700" algn="just"/>
            <a:r>
              <a:rPr lang="en-US" altLang="zh-CN" sz="2000">
                <a:latin typeface="Times New Roman" panose="02020603050405020304" pitchFamily="18" charset="0"/>
                <a:ea typeface="宋体" panose="02010600030101010101" pitchFamily="2" charset="-122"/>
              </a:rPr>
              <a:t>D3</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LJIM</a:t>
            </a:r>
            <a:r>
              <a:rPr lang="zh-CN" altLang="en-US" sz="2000">
                <a:latin typeface="Times New Roman" panose="02020603050405020304" pitchFamily="18" charset="0"/>
                <a:ea typeface="宋体" panose="02010600030101010101" pitchFamily="2" charset="-122"/>
              </a:rPr>
              <a:t>）表示中断请求信号起作用的触发方式。</a:t>
            </a:r>
            <a:r>
              <a:rPr lang="en-US" altLang="zh-CN" sz="2000">
                <a:latin typeface="Times New Roman" panose="02020603050405020304" pitchFamily="18" charset="0"/>
                <a:ea typeface="宋体" panose="02010600030101010101" pitchFamily="2" charset="-122"/>
              </a:rPr>
              <a:t>D3=1</a:t>
            </a:r>
            <a:r>
              <a:rPr lang="zh-CN" altLang="en-US" sz="2000">
                <a:latin typeface="Times New Roman" panose="02020603050405020304" pitchFamily="18" charset="0"/>
                <a:ea typeface="宋体" panose="02010600030101010101" pitchFamily="2" charset="-122"/>
              </a:rPr>
              <a:t>表示电平触发，</a:t>
            </a:r>
            <a:r>
              <a:rPr lang="en-US" altLang="zh-CN" sz="2000">
                <a:latin typeface="Times New Roman" panose="02020603050405020304" pitchFamily="18" charset="0"/>
                <a:ea typeface="宋体" panose="02010600030101010101" pitchFamily="2" charset="-122"/>
              </a:rPr>
              <a:t>D3=0</a:t>
            </a:r>
            <a:r>
              <a:rPr lang="zh-CN" altLang="en-US" sz="2000">
                <a:latin typeface="Times New Roman" panose="02020603050405020304" pitchFamily="18" charset="0"/>
                <a:ea typeface="宋体" panose="02010600030101010101" pitchFamily="2" charset="-122"/>
              </a:rPr>
              <a:t>表示边沿触发。</a:t>
            </a:r>
          </a:p>
          <a:p>
            <a:pPr indent="266700" algn="just"/>
            <a:r>
              <a:rPr lang="en-US" altLang="zh-CN" sz="2000">
                <a:latin typeface="Times New Roman" panose="02020603050405020304" pitchFamily="18" charset="0"/>
                <a:ea typeface="宋体" panose="02010600030101010101" pitchFamily="2" charset="-122"/>
              </a:rPr>
              <a:t>D2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ADI</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D7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D6</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D5</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A6</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A5</a:t>
            </a:r>
            <a:r>
              <a:rPr lang="zh-CN" altLang="en-US" sz="2000">
                <a:latin typeface="Times New Roman" panose="02020603050405020304" pitchFamily="18" charset="0"/>
                <a:ea typeface="宋体" panose="02010600030101010101" pitchFamily="2" charset="-122"/>
              </a:rPr>
              <a:t>）用于</a:t>
            </a:r>
            <a:r>
              <a:rPr lang="en-US" altLang="zh-CN" sz="2000">
                <a:latin typeface="Times New Roman" panose="02020603050405020304" pitchFamily="18" charset="0"/>
                <a:ea typeface="宋体" panose="02010600030101010101" pitchFamily="2" charset="-122"/>
              </a:rPr>
              <a:t>8080/8085</a:t>
            </a:r>
            <a:r>
              <a:rPr lang="zh-CN" altLang="en-US" sz="2000">
                <a:latin typeface="Times New Roman" panose="02020603050405020304" pitchFamily="18" charset="0"/>
                <a:ea typeface="宋体" panose="02010600030101010101" pitchFamily="2" charset="-122"/>
              </a:rPr>
              <a:t>系统中设置中断服务程序入口地址的</a:t>
            </a:r>
            <a:r>
              <a:rPr lang="en-US" altLang="zh-CN" sz="2000">
                <a:latin typeface="Times New Roman" panose="02020603050405020304" pitchFamily="18" charset="0"/>
                <a:ea typeface="宋体" panose="02010600030101010101" pitchFamily="2" charset="-122"/>
              </a:rPr>
              <a:t>A7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A6</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A5</a:t>
            </a:r>
            <a:r>
              <a:rPr lang="zh-CN" altLang="en-US" sz="2000">
                <a:latin typeface="Times New Roman" panose="02020603050405020304" pitchFamily="18" charset="0"/>
                <a:ea typeface="宋体" panose="02010600030101010101" pitchFamily="2" charset="-122"/>
              </a:rPr>
              <a:t>，在</a:t>
            </a:r>
            <a:r>
              <a:rPr lang="en-US" altLang="zh-CN" sz="2000">
                <a:latin typeface="Times New Roman" panose="02020603050405020304" pitchFamily="18" charset="0"/>
                <a:ea typeface="宋体" panose="02010600030101010101" pitchFamily="2" charset="-122"/>
              </a:rPr>
              <a:t>8086/8088</a:t>
            </a:r>
            <a:r>
              <a:rPr lang="zh-CN" altLang="en-US" sz="2000">
                <a:latin typeface="Times New Roman" panose="02020603050405020304" pitchFamily="18" charset="0"/>
                <a:ea typeface="宋体" panose="02010600030101010101" pitchFamily="2" charset="-122"/>
              </a:rPr>
              <a:t>系统中，此</a:t>
            </a:r>
            <a:r>
              <a:rPr lang="en-US" altLang="zh-CN" sz="2000">
                <a:latin typeface="Times New Roman" panose="02020603050405020304" pitchFamily="18" charset="0"/>
                <a:ea typeface="宋体" panose="02010600030101010101" pitchFamily="2" charset="-122"/>
              </a:rPr>
              <a:t>3</a:t>
            </a:r>
            <a:r>
              <a:rPr lang="zh-CN" altLang="en-US" sz="2000">
                <a:latin typeface="Times New Roman" panose="02020603050405020304" pitchFamily="18" charset="0"/>
                <a:ea typeface="宋体" panose="02010600030101010101" pitchFamily="2" charset="-122"/>
              </a:rPr>
              <a:t>位无意义。</a:t>
            </a:r>
          </a:p>
        </p:txBody>
      </p:sp>
      <p:pic>
        <p:nvPicPr>
          <p:cNvPr id="49155" name="Picture 10" descr="7b"/>
          <p:cNvPicPr>
            <a:picLocks noChangeAspect="1"/>
          </p:cNvPicPr>
          <p:nvPr/>
        </p:nvPicPr>
        <p:blipFill>
          <a:blip r:embed="rId2"/>
          <a:stretch>
            <a:fillRect/>
          </a:stretch>
        </p:blipFill>
        <p:spPr>
          <a:xfrm>
            <a:off x="1476375" y="2919413"/>
            <a:ext cx="5129213" cy="735012"/>
          </a:xfrm>
          <a:prstGeom prst="rect">
            <a:avLst/>
          </a:prstGeom>
          <a:noFill/>
          <a:ln w="9525">
            <a:noFill/>
          </a:ln>
        </p:spPr>
      </p:pic>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0178" name="文本框 99"/>
          <p:cNvSpPr txBox="1"/>
          <p:nvPr/>
        </p:nvSpPr>
        <p:spPr>
          <a:xfrm>
            <a:off x="320675" y="1497013"/>
            <a:ext cx="8518525" cy="266223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ICW2</a:t>
            </a:r>
            <a:r>
              <a:rPr lang="zh-CN" altLang="en-US" sz="2000">
                <a:latin typeface="Times New Roman" panose="02020603050405020304" pitchFamily="18" charset="0"/>
                <a:ea typeface="宋体" panose="02010600030101010101" pitchFamily="2" charset="-122"/>
              </a:rPr>
              <a:t>（主片地址为</a:t>
            </a:r>
            <a:r>
              <a:rPr lang="en-US" altLang="zh-CN" sz="2000">
                <a:latin typeface="Times New Roman" panose="02020603050405020304" pitchFamily="18" charset="0"/>
                <a:ea typeface="宋体" panose="02010600030101010101" pitchFamily="2" charset="-122"/>
              </a:rPr>
              <a:t>21H</a:t>
            </a:r>
            <a:r>
              <a:rPr lang="zh-CN" altLang="en-US" sz="2000">
                <a:latin typeface="Times New Roman" panose="02020603050405020304" pitchFamily="18" charset="0"/>
                <a:ea typeface="宋体" panose="02010600030101010101" pitchFamily="2" charset="-122"/>
              </a:rPr>
              <a:t>，从片地址为</a:t>
            </a:r>
            <a:r>
              <a:rPr lang="en-US" altLang="zh-CN" sz="2000">
                <a:latin typeface="Times New Roman" panose="02020603050405020304" pitchFamily="18" charset="0"/>
                <a:ea typeface="宋体" panose="02010600030101010101" pitchFamily="2" charset="-122"/>
              </a:rPr>
              <a:t>A1H</a:t>
            </a:r>
            <a:r>
              <a:rPr lang="zh-CN" altLang="en-US" sz="2000">
                <a:latin typeface="Times New Roman" panose="02020603050405020304" pitchFamily="18" charset="0"/>
                <a:ea typeface="宋体" panose="02010600030101010101" pitchFamily="2" charset="-122"/>
              </a:rPr>
              <a:t>）。</a:t>
            </a:r>
          </a:p>
          <a:p>
            <a:pPr indent="266700" algn="just"/>
            <a:r>
              <a:rPr lang="zh-CN" altLang="en-US" sz="2000">
                <a:latin typeface="Times New Roman" panose="02020603050405020304" pitchFamily="18" charset="0"/>
                <a:ea typeface="宋体" panose="02010600030101010101" pitchFamily="2" charset="-122"/>
              </a:rPr>
              <a:t>    功能：用来设置中断信号的类型码。</a:t>
            </a:r>
          </a:p>
          <a:p>
            <a:pPr indent="266700" algn="just"/>
            <a:r>
              <a:rPr lang="zh-CN" altLang="en-US" sz="2000">
                <a:latin typeface="Times New Roman" panose="02020603050405020304" pitchFamily="18" charset="0"/>
                <a:ea typeface="宋体" panose="02010600030101010101" pitchFamily="2" charset="-122"/>
              </a:rPr>
              <a:t>    格式如下：</a:t>
            </a: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r>
              <a:rPr lang="zh-CN" altLang="en-US" sz="2000">
                <a:latin typeface="Times New Roman" panose="02020603050405020304" pitchFamily="18" charset="0"/>
                <a:ea typeface="宋体" panose="02010600030101010101" pitchFamily="2" charset="-122"/>
              </a:rPr>
              <a:t>    工作于</a:t>
            </a:r>
            <a:r>
              <a:rPr lang="en-US" altLang="zh-CN" sz="2000">
                <a:latin typeface="Times New Roman" panose="02020603050405020304" pitchFamily="18" charset="0"/>
                <a:ea typeface="宋体" panose="02010600030101010101" pitchFamily="2" charset="-122"/>
              </a:rPr>
              <a:t>8080/8085</a:t>
            </a:r>
            <a:r>
              <a:rPr lang="zh-CN" altLang="en-US" sz="2000">
                <a:latin typeface="Times New Roman" panose="02020603050405020304" pitchFamily="18" charset="0"/>
                <a:ea typeface="宋体" panose="02010600030101010101" pitchFamily="2" charset="-122"/>
              </a:rPr>
              <a:t>系统中时，</a:t>
            </a:r>
            <a:r>
              <a:rPr lang="en-US" altLang="zh-CN" sz="2000">
                <a:latin typeface="Times New Roman" panose="02020603050405020304" pitchFamily="18" charset="0"/>
                <a:ea typeface="宋体" panose="02010600030101010101" pitchFamily="2" charset="-122"/>
              </a:rPr>
              <a:t>8</a:t>
            </a:r>
            <a:r>
              <a:rPr lang="zh-CN" altLang="en-US" sz="2000">
                <a:latin typeface="Times New Roman" panose="02020603050405020304" pitchFamily="18" charset="0"/>
                <a:ea typeface="宋体" panose="02010600030101010101" pitchFamily="2" charset="-122"/>
              </a:rPr>
              <a:t>位全部有用，表示</a:t>
            </a:r>
            <a:r>
              <a:rPr lang="en-US" altLang="zh-CN" sz="2000">
                <a:latin typeface="Times New Roman" panose="02020603050405020304" pitchFamily="18" charset="0"/>
                <a:ea typeface="宋体" panose="02010600030101010101" pitchFamily="2" charset="-122"/>
              </a:rPr>
              <a:t>CALL</a:t>
            </a:r>
            <a:r>
              <a:rPr lang="zh-CN" altLang="en-US" sz="2000">
                <a:latin typeface="Times New Roman" panose="02020603050405020304" pitchFamily="18" charset="0"/>
                <a:ea typeface="宋体" panose="02010600030101010101" pitchFamily="2" charset="-122"/>
              </a:rPr>
              <a:t>指令的高</a:t>
            </a:r>
            <a:r>
              <a:rPr lang="en-US" altLang="zh-CN" sz="2000">
                <a:latin typeface="Times New Roman" panose="02020603050405020304" pitchFamily="18" charset="0"/>
                <a:ea typeface="宋体" panose="02010600030101010101" pitchFamily="2" charset="-122"/>
              </a:rPr>
              <a:t>8</a:t>
            </a:r>
            <a:r>
              <a:rPr lang="zh-CN" altLang="en-US" sz="2000">
                <a:latin typeface="Times New Roman" panose="02020603050405020304" pitchFamily="18" charset="0"/>
                <a:ea typeface="宋体" panose="02010600030101010101" pitchFamily="2" charset="-122"/>
              </a:rPr>
              <a:t>位；工作于</a:t>
            </a:r>
            <a:r>
              <a:rPr lang="en-US" altLang="zh-CN" sz="2000">
                <a:latin typeface="Times New Roman" panose="02020603050405020304" pitchFamily="18" charset="0"/>
                <a:ea typeface="宋体" panose="02010600030101010101" pitchFamily="2" charset="-122"/>
              </a:rPr>
              <a:t>8086/8088</a:t>
            </a:r>
            <a:r>
              <a:rPr lang="zh-CN" altLang="en-US" sz="2000">
                <a:latin typeface="Times New Roman" panose="02020603050405020304" pitchFamily="18" charset="0"/>
                <a:ea typeface="宋体" panose="02010600030101010101" pitchFamily="2" charset="-122"/>
              </a:rPr>
              <a:t>系统中时，</a:t>
            </a:r>
            <a:r>
              <a:rPr lang="en-US" altLang="zh-CN" sz="2000">
                <a:latin typeface="Times New Roman" panose="02020603050405020304" pitchFamily="18" charset="0"/>
                <a:ea typeface="宋体" panose="02010600030101010101" pitchFamily="2" charset="-122"/>
              </a:rPr>
              <a:t>D7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D3</a:t>
            </a:r>
            <a:r>
              <a:rPr lang="zh-CN" altLang="en-US" sz="2000">
                <a:latin typeface="Times New Roman" panose="02020603050405020304" pitchFamily="18" charset="0"/>
                <a:ea typeface="宋体" panose="02010600030101010101" pitchFamily="2" charset="-122"/>
              </a:rPr>
              <a:t>表示中断矢量的高</a:t>
            </a:r>
            <a:r>
              <a:rPr lang="en-US" altLang="zh-CN" sz="2000">
                <a:latin typeface="Times New Roman" panose="02020603050405020304" pitchFamily="18" charset="0"/>
                <a:ea typeface="宋体" panose="02010600030101010101" pitchFamily="2" charset="-122"/>
              </a:rPr>
              <a:t>5</a:t>
            </a:r>
            <a:r>
              <a:rPr lang="zh-CN" altLang="en-US" sz="2000">
                <a:latin typeface="Times New Roman" panose="02020603050405020304" pitchFamily="18" charset="0"/>
                <a:ea typeface="宋体" panose="02010600030101010101" pitchFamily="2" charset="-122"/>
              </a:rPr>
              <a:t>位，</a:t>
            </a:r>
            <a:r>
              <a:rPr lang="en-US" altLang="zh-CN" sz="2000">
                <a:latin typeface="Times New Roman" panose="02020603050405020304" pitchFamily="18" charset="0"/>
                <a:ea typeface="宋体" panose="02010600030101010101" pitchFamily="2" charset="-122"/>
              </a:rPr>
              <a:t>D2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a:t>
            </a:r>
            <a:r>
              <a:rPr lang="zh-CN" altLang="en-US" sz="2000">
                <a:latin typeface="Times New Roman" panose="02020603050405020304" pitchFamily="18" charset="0"/>
                <a:ea typeface="宋体" panose="02010600030101010101" pitchFamily="2" charset="-122"/>
              </a:rPr>
              <a:t>不需编程而是由中断源序号填入。</a:t>
            </a:r>
          </a:p>
        </p:txBody>
      </p:sp>
      <p:pic>
        <p:nvPicPr>
          <p:cNvPr id="50179" name="Picture 11" descr="7c"/>
          <p:cNvPicPr>
            <a:picLocks noChangeAspect="1"/>
          </p:cNvPicPr>
          <p:nvPr/>
        </p:nvPicPr>
        <p:blipFill>
          <a:blip r:embed="rId2"/>
          <a:stretch>
            <a:fillRect/>
          </a:stretch>
        </p:blipFill>
        <p:spPr>
          <a:xfrm>
            <a:off x="1879600" y="2574925"/>
            <a:ext cx="3863975" cy="561975"/>
          </a:xfrm>
          <a:prstGeom prst="rect">
            <a:avLst/>
          </a:prstGeom>
          <a:noFill/>
          <a:ln w="9525">
            <a:noFill/>
          </a:ln>
        </p:spPr>
      </p:pic>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1202" name="文本框 99"/>
          <p:cNvSpPr txBox="1"/>
          <p:nvPr/>
        </p:nvSpPr>
        <p:spPr>
          <a:xfrm>
            <a:off x="269875" y="1624013"/>
            <a:ext cx="8585200" cy="39719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3</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（主片口地址为</a:t>
            </a:r>
            <a:r>
              <a:rPr lang="en-US" altLang="zh-CN" sz="2000">
                <a:latin typeface="Times New Roman" panose="02020603050405020304" pitchFamily="18" charset="0"/>
                <a:ea typeface="宋体" panose="02010600030101010101" pitchFamily="2" charset="-122"/>
              </a:rPr>
              <a:t>21H</a:t>
            </a:r>
            <a:r>
              <a:rPr lang="zh-CN" altLang="en-US" sz="2000">
                <a:latin typeface="Times New Roman" panose="02020603050405020304" pitchFamily="18" charset="0"/>
                <a:ea typeface="宋体" panose="02010600030101010101" pitchFamily="2" charset="-122"/>
              </a:rPr>
              <a:t>，从片口地址为</a:t>
            </a:r>
            <a:r>
              <a:rPr lang="en-US" altLang="zh-CN" sz="2000">
                <a:latin typeface="Times New Roman" panose="02020603050405020304" pitchFamily="18" charset="0"/>
                <a:ea typeface="宋体" panose="02010600030101010101" pitchFamily="2" charset="-122"/>
              </a:rPr>
              <a:t>A1H</a:t>
            </a:r>
            <a:r>
              <a:rPr lang="zh-CN" altLang="en-US" sz="2000">
                <a:latin typeface="Times New Roman" panose="02020603050405020304" pitchFamily="18" charset="0"/>
                <a:ea typeface="宋体" panose="02010600030101010101" pitchFamily="2" charset="-122"/>
              </a:rPr>
              <a:t>，多片级联时使用）。</a:t>
            </a: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是</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的级联命令字，单片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工作时，不需要写入，多片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级联工作时，需要分别写入</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，主片</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的</a:t>
            </a:r>
            <a:r>
              <a:rPr lang="en-US" altLang="zh-CN" sz="2000">
                <a:latin typeface="Times New Roman" panose="02020603050405020304" pitchFamily="18" charset="0"/>
                <a:ea typeface="宋体" panose="02010600030101010101" pitchFamily="2" charset="-122"/>
              </a:rPr>
              <a:t>D7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a:t>
            </a:r>
            <a:r>
              <a:rPr lang="zh-CN" altLang="en-US" sz="2000">
                <a:latin typeface="Times New Roman" panose="02020603050405020304" pitchFamily="18" charset="0"/>
                <a:ea typeface="宋体" panose="02010600030101010101" pitchFamily="2" charset="-122"/>
              </a:rPr>
              <a:t>对其</a:t>
            </a:r>
            <a:r>
              <a:rPr lang="en-US" altLang="zh-CN" sz="2000">
                <a:latin typeface="Times New Roman" panose="02020603050405020304" pitchFamily="18" charset="0"/>
                <a:ea typeface="宋体" panose="02010600030101010101" pitchFamily="2" charset="-122"/>
              </a:rPr>
              <a:t>8</a:t>
            </a:r>
            <a:r>
              <a:rPr lang="zh-CN" altLang="en-US" sz="2000">
                <a:latin typeface="Times New Roman" panose="02020603050405020304" pitchFamily="18" charset="0"/>
                <a:ea typeface="宋体" panose="02010600030101010101" pitchFamily="2" charset="-122"/>
              </a:rPr>
              <a:t>条中断请求线</a:t>
            </a:r>
            <a:r>
              <a:rPr lang="en-US" altLang="zh-CN" sz="2000">
                <a:latin typeface="Times New Roman" panose="02020603050405020304" pitchFamily="18" charset="0"/>
                <a:ea typeface="宋体" panose="02010600030101010101" pitchFamily="2" charset="-122"/>
              </a:rPr>
              <a:t>IR7</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IR0</a:t>
            </a:r>
            <a:r>
              <a:rPr lang="zh-CN" altLang="en-US" sz="2000">
                <a:latin typeface="Times New Roman" panose="02020603050405020304" pitchFamily="18" charset="0"/>
                <a:ea typeface="宋体" panose="02010600030101010101" pitchFamily="2" charset="-122"/>
              </a:rPr>
              <a:t>，若某条</a:t>
            </a:r>
            <a:r>
              <a:rPr lang="en-US" altLang="zh-CN" sz="2000">
                <a:latin typeface="Times New Roman" panose="02020603050405020304" pitchFamily="18" charset="0"/>
                <a:ea typeface="宋体" panose="02010600030101010101" pitchFamily="2" charset="-122"/>
              </a:rPr>
              <a:t>IR</a:t>
            </a:r>
            <a:r>
              <a:rPr lang="zh-CN" altLang="en-US" sz="2000">
                <a:latin typeface="Times New Roman" panose="02020603050405020304" pitchFamily="18" charset="0"/>
                <a:ea typeface="宋体" panose="02010600030101010101" pitchFamily="2" charset="-122"/>
              </a:rPr>
              <a:t>线上接有从</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片，则主</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的相应位写</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，否则写</a:t>
            </a:r>
            <a:r>
              <a:rPr lang="en-US" altLang="zh-CN" sz="2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。各从片的</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仅</a:t>
            </a:r>
            <a:r>
              <a:rPr lang="en-US" altLang="zh-CN" sz="2000">
                <a:latin typeface="Times New Roman" panose="02020603050405020304" pitchFamily="18" charset="0"/>
                <a:ea typeface="宋体" panose="02010600030101010101" pitchFamily="2" charset="-122"/>
              </a:rPr>
              <a:t>D2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D0</a:t>
            </a:r>
            <a:r>
              <a:rPr lang="zh-CN" altLang="en-US" sz="2000">
                <a:latin typeface="Times New Roman" panose="02020603050405020304" pitchFamily="18" charset="0"/>
                <a:ea typeface="宋体" panose="02010600030101010101" pitchFamily="2" charset="-122"/>
              </a:rPr>
              <a:t>有意义，作为从片标识码，高</a:t>
            </a:r>
            <a:r>
              <a:rPr lang="en-US" altLang="zh-CN" sz="2000">
                <a:latin typeface="Times New Roman" panose="02020603050405020304" pitchFamily="18" charset="0"/>
                <a:ea typeface="宋体" panose="02010600030101010101" pitchFamily="2" charset="-122"/>
              </a:rPr>
              <a:t>5</a:t>
            </a:r>
            <a:r>
              <a:rPr lang="zh-CN" altLang="en-US" sz="2000">
                <a:latin typeface="Times New Roman" panose="02020603050405020304" pitchFamily="18" charset="0"/>
                <a:ea typeface="宋体" panose="02010600030101010101" pitchFamily="2" charset="-122"/>
              </a:rPr>
              <a:t>位固定为</a:t>
            </a:r>
            <a:r>
              <a:rPr lang="en-US" altLang="zh-CN" sz="2000">
                <a:latin typeface="Times New Roman" panose="02020603050405020304" pitchFamily="18" charset="0"/>
                <a:ea typeface="宋体" panose="02010600030101010101" pitchFamily="2" charset="-122"/>
              </a:rPr>
              <a:t>0</a:t>
            </a:r>
            <a:r>
              <a:rPr lang="zh-CN" altLang="en-US" sz="2000">
                <a:latin typeface="Times New Roman" panose="02020603050405020304" pitchFamily="18" charset="0"/>
                <a:ea typeface="宋体" panose="02010600030101010101" pitchFamily="2" charset="-122"/>
              </a:rPr>
              <a:t>。这个从片标识码须和本片所接主片</a:t>
            </a:r>
            <a:r>
              <a:rPr lang="en-US" altLang="zh-CN" sz="2000">
                <a:latin typeface="Times New Roman" panose="02020603050405020304" pitchFamily="18" charset="0"/>
                <a:ea typeface="宋体" panose="02010600030101010101" pitchFamily="2" charset="-122"/>
              </a:rPr>
              <a:t>IRi</a:t>
            </a:r>
            <a:r>
              <a:rPr lang="zh-CN" altLang="en-US" sz="2000">
                <a:latin typeface="Times New Roman" panose="02020603050405020304" pitchFamily="18" charset="0"/>
                <a:ea typeface="宋体" panose="02010600030101010101" pitchFamily="2" charset="-122"/>
              </a:rPr>
              <a:t>线的序号（</a:t>
            </a:r>
            <a:r>
              <a:rPr lang="en-US" altLang="zh-CN" sz="2000">
                <a:latin typeface="Times New Roman" panose="02020603050405020304" pitchFamily="18" charset="0"/>
                <a:ea typeface="宋体" panose="02010600030101010101" pitchFamily="2" charset="-122"/>
              </a:rPr>
              <a:t>i</a:t>
            </a:r>
            <a:r>
              <a:rPr lang="zh-CN" altLang="en-US" sz="2000">
                <a:latin typeface="Times New Roman" panose="02020603050405020304" pitchFamily="18" charset="0"/>
                <a:ea typeface="宋体" panose="02010600030101010101" pitchFamily="2" charset="-122"/>
              </a:rPr>
              <a:t>）一致。在中断响应时，主片通过</a:t>
            </a:r>
            <a:r>
              <a:rPr lang="en-US" altLang="zh-CN" sz="2000">
                <a:latin typeface="Times New Roman" panose="02020603050405020304" pitchFamily="18" charset="0"/>
                <a:ea typeface="宋体" panose="02010600030101010101" pitchFamily="2" charset="-122"/>
              </a:rPr>
              <a:t>CAS2</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CAS0</a:t>
            </a:r>
            <a:r>
              <a:rPr lang="zh-CN" altLang="en-US" sz="2000">
                <a:latin typeface="Times New Roman" panose="02020603050405020304" pitchFamily="18" charset="0"/>
                <a:ea typeface="宋体" panose="02010600030101010101" pitchFamily="2" charset="-122"/>
              </a:rPr>
              <a:t>送出被允许中断的从片标识码。各从片用自己的</a:t>
            </a:r>
            <a:r>
              <a:rPr lang="en-US" altLang="zh-CN" sz="2000">
                <a:latin typeface="Times New Roman" panose="02020603050405020304" pitchFamily="18" charset="0"/>
                <a:ea typeface="宋体" panose="02010600030101010101" pitchFamily="2" charset="-122"/>
              </a:rPr>
              <a:t>ICW3</a:t>
            </a:r>
            <a:r>
              <a:rPr lang="zh-CN" altLang="en-US" sz="2000">
                <a:latin typeface="Times New Roman" panose="02020603050405020304" pitchFamily="18" charset="0"/>
                <a:ea typeface="宋体" panose="02010600030101010101" pitchFamily="2" charset="-122"/>
              </a:rPr>
              <a:t>和</a:t>
            </a:r>
            <a:r>
              <a:rPr lang="en-US" altLang="zh-CN" sz="2000">
                <a:latin typeface="Times New Roman" panose="02020603050405020304" pitchFamily="18" charset="0"/>
                <a:ea typeface="宋体" panose="02010600030101010101" pitchFamily="2" charset="-122"/>
              </a:rPr>
              <a:t>CAS0</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CAS2</a:t>
            </a:r>
            <a:r>
              <a:rPr lang="zh-CN" altLang="en-US" sz="2000">
                <a:latin typeface="Times New Roman" panose="02020603050405020304" pitchFamily="18" charset="0"/>
                <a:ea typeface="宋体" panose="02010600030101010101" pitchFamily="2" charset="-122"/>
              </a:rPr>
              <a:t>的信号比较。二者一致的从片确定为当前中断源，才可发送自己的中断矢量。</a:t>
            </a:r>
          </a:p>
        </p:txBody>
      </p:sp>
      <p:pic>
        <p:nvPicPr>
          <p:cNvPr id="51203" name="Picture 12" descr="7d"/>
          <p:cNvPicPr>
            <a:picLocks noChangeAspect="1"/>
          </p:cNvPicPr>
          <p:nvPr/>
        </p:nvPicPr>
        <p:blipFill>
          <a:blip r:embed="rId2"/>
          <a:stretch>
            <a:fillRect/>
          </a:stretch>
        </p:blipFill>
        <p:spPr>
          <a:xfrm>
            <a:off x="1787525" y="2441575"/>
            <a:ext cx="4951413" cy="720725"/>
          </a:xfrm>
          <a:prstGeom prst="rect">
            <a:avLst/>
          </a:prstGeom>
          <a:noFill/>
          <a:ln w="9525">
            <a:noFill/>
          </a:ln>
        </p:spPr>
      </p:pic>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2226" name="文本框 99"/>
          <p:cNvSpPr txBox="1"/>
          <p:nvPr/>
        </p:nvSpPr>
        <p:spPr>
          <a:xfrm>
            <a:off x="269875" y="1624013"/>
            <a:ext cx="8450263" cy="45815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4</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ICW4</a:t>
            </a:r>
            <a:r>
              <a:rPr lang="zh-CN" altLang="en-US" sz="2000">
                <a:latin typeface="Times New Roman" panose="02020603050405020304" pitchFamily="18" charset="0"/>
                <a:ea typeface="宋体" panose="02010600030101010101" pitchFamily="2" charset="-122"/>
              </a:rPr>
              <a:t>。</a:t>
            </a:r>
          </a:p>
          <a:p>
            <a:pPr indent="266700" algn="just"/>
            <a:r>
              <a:rPr lang="zh-CN" altLang="en-US" sz="2000">
                <a:latin typeface="Times New Roman" panose="02020603050405020304" pitchFamily="18" charset="0"/>
                <a:ea typeface="宋体" panose="02010600030101010101" pitchFamily="2" charset="-122"/>
              </a:rPr>
              <a:t>    其格式如下。</a:t>
            </a:r>
          </a:p>
          <a:p>
            <a:pPr indent="266700" algn="just"/>
            <a:endParaRPr lang="zh-CN" altLang="en-US" sz="2000">
              <a:latin typeface="Times New Roman" panose="02020603050405020304" pitchFamily="18" charset="0"/>
              <a:ea typeface="宋体" panose="02010600030101010101" pitchFamily="2" charset="-122"/>
            </a:endParaRPr>
          </a:p>
          <a:p>
            <a:pPr indent="266700" algn="just"/>
            <a:endParaRPr lang="zh-CN" altLang="en-US" sz="2000">
              <a:latin typeface="Times New Roman" panose="02020603050405020304" pitchFamily="18" charset="0"/>
              <a:ea typeface="宋体" panose="02010600030101010101" pitchFamily="2" charset="-122"/>
            </a:endParaRPr>
          </a:p>
          <a:p>
            <a:pPr indent="266700" algn="just"/>
            <a:r>
              <a:rPr lang="zh-CN" altLang="en-US" sz="2000">
                <a:latin typeface="Times New Roman" panose="02020603050405020304" pitchFamily="18" charset="0"/>
                <a:ea typeface="宋体" panose="02010600030101010101" pitchFamily="2" charset="-122"/>
              </a:rPr>
              <a:t>    其中高</a:t>
            </a:r>
            <a:r>
              <a:rPr lang="en-US" altLang="zh-CN" sz="2000">
                <a:latin typeface="Times New Roman" panose="02020603050405020304" pitchFamily="18" charset="0"/>
                <a:ea typeface="宋体" panose="02010600030101010101" pitchFamily="2" charset="-122"/>
              </a:rPr>
              <a:t>3</a:t>
            </a:r>
            <a:r>
              <a:rPr lang="zh-CN" altLang="en-US" sz="2000">
                <a:latin typeface="Times New Roman" panose="02020603050405020304" pitchFamily="18" charset="0"/>
                <a:ea typeface="宋体" panose="02010600030101010101" pitchFamily="2" charset="-122"/>
              </a:rPr>
              <a:t>位无意义。</a:t>
            </a:r>
          </a:p>
          <a:p>
            <a:pPr indent="266700" algn="just"/>
            <a:r>
              <a:rPr lang="zh-CN" altLang="en-US" sz="2000">
                <a:latin typeface="Times New Roman" panose="02020603050405020304" pitchFamily="18" charset="0"/>
                <a:ea typeface="宋体" panose="02010600030101010101" pitchFamily="2" charset="-122"/>
              </a:rPr>
              <a:t>    </a:t>
            </a:r>
            <a:r>
              <a:rPr lang="en-US" altLang="zh-CN" sz="2000">
                <a:latin typeface="Times New Roman" panose="02020603050405020304" pitchFamily="18" charset="0"/>
                <a:ea typeface="宋体" panose="02010600030101010101" pitchFamily="2" charset="-122"/>
              </a:rPr>
              <a:t>D4</a:t>
            </a: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SFNM</a:t>
            </a:r>
            <a:r>
              <a:rPr lang="zh-CN" altLang="en-US" sz="2000">
                <a:latin typeface="Times New Roman" panose="02020603050405020304" pitchFamily="18" charset="0"/>
                <a:ea typeface="宋体" panose="02010600030101010101" pitchFamily="2" charset="-122"/>
              </a:rPr>
              <a:t>）指定了中断的嵌套方式。</a:t>
            </a:r>
            <a:r>
              <a:rPr lang="en-US" altLang="zh-CN" sz="2000">
                <a:latin typeface="Times New Roman" panose="02020603050405020304" pitchFamily="18" charset="0"/>
                <a:ea typeface="宋体" panose="02010600030101010101" pitchFamily="2" charset="-122"/>
              </a:rPr>
              <a:t>D4=0</a:t>
            </a:r>
            <a:r>
              <a:rPr lang="zh-CN" altLang="en-US" sz="2000">
                <a:latin typeface="Times New Roman" panose="02020603050405020304" pitchFamily="18" charset="0"/>
                <a:ea typeface="宋体" panose="02010600030101010101" pitchFamily="2" charset="-122"/>
              </a:rPr>
              <a:t>为一般嵌套方式。一般完全嵌套是指当一个中断源请求被响应后就会自动屏蔽同级和低级的中断请求，但能开放高级的中断请求，即某中断未服务完，同级或低级有中断请求，不会使</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的</a:t>
            </a:r>
            <a:r>
              <a:rPr lang="en-US" altLang="zh-CN" sz="2000">
                <a:latin typeface="Times New Roman" panose="02020603050405020304" pitchFamily="18" charset="0"/>
                <a:ea typeface="宋体" panose="02010600030101010101" pitchFamily="2" charset="-122"/>
              </a:rPr>
              <a:t>INT</a:t>
            </a:r>
            <a:r>
              <a:rPr lang="zh-CN" altLang="en-US" sz="2000">
                <a:latin typeface="Times New Roman" panose="02020603050405020304" pitchFamily="18" charset="0"/>
                <a:ea typeface="宋体" panose="02010600030101010101" pitchFamily="2" charset="-122"/>
              </a:rPr>
              <a:t>变为有效高电平。对于单片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的中断系统，这种安排是没有问题的。但对于多片</a:t>
            </a:r>
            <a:r>
              <a:rPr lang="en-US" altLang="zh-CN" sz="2000">
                <a:latin typeface="Times New Roman" panose="02020603050405020304" pitchFamily="18" charset="0"/>
                <a:ea typeface="宋体" panose="02010600030101010101" pitchFamily="2" charset="-122"/>
              </a:rPr>
              <a:t>8259A</a:t>
            </a:r>
            <a:r>
              <a:rPr lang="zh-CN" altLang="en-US" sz="2000">
                <a:latin typeface="Times New Roman" panose="02020603050405020304" pitchFamily="18" charset="0"/>
                <a:ea typeface="宋体" panose="02010600030101010101" pitchFamily="2" charset="-122"/>
              </a:rPr>
              <a:t>级联组成的系统，当某个从片中的一个中断正在服务时，主片将这个从片的所有中断屏蔽。这是因为尽管该从片多个中断源各有优先级别，但由于它们都通过同一个中断申请</a:t>
            </a:r>
            <a:r>
              <a:rPr lang="en-US" altLang="zh-CN" sz="2000">
                <a:latin typeface="Times New Roman" panose="02020603050405020304" pitchFamily="18" charset="0"/>
                <a:ea typeface="宋体" panose="02010600030101010101" pitchFamily="2" charset="-122"/>
              </a:rPr>
              <a:t>INT</a:t>
            </a:r>
            <a:r>
              <a:rPr lang="zh-CN" altLang="en-US" sz="2000">
                <a:latin typeface="Times New Roman" panose="02020603050405020304" pitchFamily="18" charset="0"/>
                <a:ea typeface="宋体" panose="02010600030101010101" pitchFamily="2" charset="-122"/>
              </a:rPr>
              <a:t>引脚接到主片的同一个</a:t>
            </a:r>
            <a:r>
              <a:rPr lang="en-US" altLang="zh-CN" sz="2000">
                <a:latin typeface="Times New Roman" panose="02020603050405020304" pitchFamily="18" charset="0"/>
                <a:ea typeface="宋体" panose="02010600030101010101" pitchFamily="2" charset="-122"/>
              </a:rPr>
              <a:t>IRi</a:t>
            </a:r>
            <a:r>
              <a:rPr lang="zh-CN" altLang="en-US" sz="2000">
                <a:latin typeface="Times New Roman" panose="02020603050405020304" pitchFamily="18" charset="0"/>
                <a:ea typeface="宋体" panose="02010600030101010101" pitchFamily="2" charset="-122"/>
              </a:rPr>
              <a:t>上，也就是说在主片上，它们的优先级别均相同，所以说即使本片中有比正在服务的中断级别更高的中断源发出请求，也不能得到响应即不能中断嵌套。</a:t>
            </a:r>
          </a:p>
        </p:txBody>
      </p:sp>
      <p:pic>
        <p:nvPicPr>
          <p:cNvPr id="52227" name="Picture 13" descr="7e"/>
          <p:cNvPicPr>
            <a:picLocks noChangeAspect="1"/>
          </p:cNvPicPr>
          <p:nvPr/>
        </p:nvPicPr>
        <p:blipFill>
          <a:blip r:embed="rId2"/>
          <a:stretch>
            <a:fillRect/>
          </a:stretch>
        </p:blipFill>
        <p:spPr>
          <a:xfrm>
            <a:off x="2820988" y="2201863"/>
            <a:ext cx="4651375" cy="666750"/>
          </a:xfrm>
          <a:prstGeom prst="rect">
            <a:avLst/>
          </a:prstGeom>
          <a:noFill/>
          <a:ln w="9525">
            <a:noFill/>
          </a:ln>
        </p:spPr>
      </p:pic>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3250" name="文本框 99"/>
          <p:cNvSpPr txBox="1"/>
          <p:nvPr/>
        </p:nvSpPr>
        <p:spPr>
          <a:xfrm>
            <a:off x="269875" y="1624013"/>
            <a:ext cx="8450263" cy="4459287"/>
          </a:xfrm>
          <a:prstGeom prst="rect">
            <a:avLst/>
          </a:prstGeom>
          <a:noFill/>
          <a:ln w="9525">
            <a:noFill/>
          </a:ln>
        </p:spPr>
        <p:txBody>
          <a:bodyPr wrap="square" anchor="t" anchorCtr="0">
            <a:spAutoFit/>
          </a:bodyPr>
          <a:lstStyle/>
          <a:p>
            <a:pPr indent="266700" algn="just"/>
            <a:r>
              <a:rPr lang="en-US" altLang="en-US"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D3</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BUF</a:t>
            </a:r>
            <a:r>
              <a:rPr lang="zh-CN" altLang="en-US" sz="2000" dirty="0">
                <a:latin typeface="Times New Roman" panose="02020603050405020304" pitchFamily="18" charset="0"/>
                <a:ea typeface="宋体" panose="02010600030101010101" pitchFamily="2" charset="-122"/>
              </a:rPr>
              <a:t>）为数据缓冲选择。</a:t>
            </a:r>
            <a:r>
              <a:rPr lang="en-US" altLang="zh-CN" sz="2000" dirty="0">
                <a:latin typeface="Times New Roman" panose="02020603050405020304" pitchFamily="18" charset="0"/>
                <a:ea typeface="宋体" panose="02010600030101010101" pitchFamily="2" charset="-122"/>
              </a:rPr>
              <a:t>D3=1</a:t>
            </a:r>
            <a:r>
              <a:rPr lang="zh-CN" altLang="en-US" sz="2000" dirty="0">
                <a:latin typeface="Times New Roman" panose="02020603050405020304" pitchFamily="18" charset="0"/>
                <a:ea typeface="宋体" panose="02010600030101010101" pitchFamily="2" charset="-122"/>
              </a:rPr>
              <a:t>时，</a:t>
            </a:r>
            <a:r>
              <a:rPr lang="en-US" altLang="zh-CN" sz="2000" dirty="0">
                <a:latin typeface="Times New Roman" panose="02020603050405020304" pitchFamily="18" charset="0"/>
                <a:ea typeface="宋体" panose="02010600030101010101" pitchFamily="2" charset="-122"/>
              </a:rPr>
              <a:t>8259A</a:t>
            </a:r>
            <a:r>
              <a:rPr lang="zh-CN" altLang="en-US" sz="2000" dirty="0">
                <a:latin typeface="Times New Roman" panose="02020603050405020304" pitchFamily="18" charset="0"/>
                <a:ea typeface="宋体" panose="02010600030101010101" pitchFamily="2" charset="-122"/>
              </a:rPr>
              <a:t>的数据总线和系统总线之间要加三态缓冲器。此时</a:t>
            </a:r>
            <a:r>
              <a:rPr lang="en-US" altLang="zh-CN" sz="2000" dirty="0">
                <a:latin typeface="Times New Roman" panose="02020603050405020304" pitchFamily="18" charset="0"/>
                <a:ea typeface="宋体" panose="02010600030101010101" pitchFamily="2" charset="-122"/>
              </a:rPr>
              <a:t>8259A</a:t>
            </a:r>
            <a:r>
              <a:rPr lang="zh-CN" altLang="en-US" sz="2000" dirty="0">
                <a:latin typeface="Times New Roman" panose="02020603050405020304" pitchFamily="18" charset="0"/>
                <a:ea typeface="宋体" panose="02010600030101010101" pitchFamily="2" charset="-122"/>
              </a:rPr>
              <a:t>的引脚变成输出线以控制缓冲器的接通。当</a:t>
            </a:r>
            <a:r>
              <a:rPr lang="en-US" altLang="zh-CN" sz="2000" dirty="0">
                <a:latin typeface="Times New Roman" panose="02020603050405020304" pitchFamily="18" charset="0"/>
                <a:ea typeface="宋体" panose="02010600030101010101" pitchFamily="2" charset="-122"/>
              </a:rPr>
              <a:t>D3=0</a:t>
            </a:r>
            <a:r>
              <a:rPr lang="zh-CN" altLang="en-US" sz="2000" dirty="0">
                <a:latin typeface="Times New Roman" panose="02020603050405020304" pitchFamily="18" charset="0"/>
                <a:ea typeface="宋体" panose="02010600030101010101" pitchFamily="2" charset="-122"/>
              </a:rPr>
              <a:t>时，设定为非缓冲方式，由所接的电平高低确定</a:t>
            </a:r>
            <a:r>
              <a:rPr lang="en-US" altLang="zh-CN" sz="2000" dirty="0">
                <a:latin typeface="Times New Roman" panose="02020603050405020304" pitchFamily="18" charset="0"/>
                <a:ea typeface="宋体" panose="02010600030101010101" pitchFamily="2" charset="-122"/>
              </a:rPr>
              <a:t>5259A</a:t>
            </a:r>
            <a:r>
              <a:rPr lang="zh-CN" altLang="en-US" sz="2000" dirty="0">
                <a:latin typeface="Times New Roman" panose="02020603050405020304" pitchFamily="18" charset="0"/>
                <a:ea typeface="宋体" panose="02010600030101010101" pitchFamily="2" charset="-122"/>
              </a:rPr>
              <a:t>片是主片还是从片。当</a:t>
            </a:r>
            <a:r>
              <a:rPr lang="en-US" altLang="zh-CN" sz="2000" dirty="0">
                <a:latin typeface="Times New Roman" panose="02020603050405020304" pitchFamily="18" charset="0"/>
                <a:ea typeface="宋体" panose="02010600030101010101" pitchFamily="2" charset="-122"/>
              </a:rPr>
              <a:t>D3=1</a:t>
            </a:r>
            <a:r>
              <a:rPr lang="zh-CN" altLang="en-US" sz="2000" dirty="0">
                <a:latin typeface="Times New Roman" panose="02020603050405020304" pitchFamily="18" charset="0"/>
                <a:ea typeface="宋体" panose="02010600030101010101" pitchFamily="2" charset="-122"/>
              </a:rPr>
              <a:t>且又是级联方式时，这时规定当</a:t>
            </a:r>
            <a:r>
              <a:rPr lang="en-US" altLang="zh-CN" sz="2000" dirty="0">
                <a:latin typeface="Times New Roman" panose="02020603050405020304" pitchFamily="18" charset="0"/>
                <a:ea typeface="宋体" panose="02010600030101010101" pitchFamily="2" charset="-122"/>
              </a:rPr>
              <a:t>ICW4</a:t>
            </a:r>
            <a:r>
              <a:rPr lang="zh-CN" altLang="en-US" sz="2000" dirty="0">
                <a:latin typeface="Times New Roman" panose="02020603050405020304" pitchFamily="18" charset="0"/>
                <a:ea typeface="宋体" panose="02010600030101010101" pitchFamily="2" charset="-122"/>
              </a:rPr>
              <a:t>的</a:t>
            </a:r>
            <a:r>
              <a:rPr lang="en-US" altLang="zh-CN" sz="2000" dirty="0">
                <a:latin typeface="Times New Roman" panose="02020603050405020304" pitchFamily="18" charset="0"/>
                <a:ea typeface="宋体" panose="02010600030101010101" pitchFamily="2" charset="-122"/>
              </a:rPr>
              <a:t>D2=1</a:t>
            </a:r>
            <a:r>
              <a:rPr lang="zh-CN" altLang="en-US" sz="2000" dirty="0">
                <a:latin typeface="Times New Roman" panose="02020603050405020304" pitchFamily="18" charset="0"/>
                <a:ea typeface="宋体" panose="02010600030101010101" pitchFamily="2" charset="-122"/>
              </a:rPr>
              <a:t>时表示主片，当</a:t>
            </a:r>
            <a:r>
              <a:rPr lang="en-US" altLang="zh-CN" sz="2000" dirty="0">
                <a:latin typeface="Times New Roman" panose="02020603050405020304" pitchFamily="18" charset="0"/>
                <a:ea typeface="宋体" panose="02010600030101010101" pitchFamily="2" charset="-122"/>
              </a:rPr>
              <a:t>D2=0</a:t>
            </a:r>
            <a:r>
              <a:rPr lang="zh-CN" altLang="en-US" sz="2000" dirty="0">
                <a:latin typeface="Times New Roman" panose="02020603050405020304" pitchFamily="18" charset="0"/>
                <a:ea typeface="宋体" panose="02010600030101010101" pitchFamily="2" charset="-122"/>
              </a:rPr>
              <a:t>时表示从片。当然</a:t>
            </a:r>
            <a:r>
              <a:rPr lang="en-US" altLang="zh-CN" sz="2000" dirty="0">
                <a:latin typeface="Times New Roman" panose="02020603050405020304" pitchFamily="18" charset="0"/>
                <a:ea typeface="宋体" panose="02010600030101010101" pitchFamily="2" charset="-122"/>
              </a:rPr>
              <a:t>D3=0</a:t>
            </a:r>
            <a:r>
              <a:rPr lang="zh-CN" altLang="en-US" sz="2000" dirty="0">
                <a:latin typeface="Times New Roman" panose="02020603050405020304" pitchFamily="18" charset="0"/>
                <a:ea typeface="宋体" panose="02010600030101010101" pitchFamily="2" charset="-122"/>
              </a:rPr>
              <a:t>时，</a:t>
            </a:r>
            <a:r>
              <a:rPr lang="en-US" altLang="zh-CN" sz="2000" dirty="0">
                <a:latin typeface="Times New Roman" panose="02020603050405020304" pitchFamily="18" charset="0"/>
                <a:ea typeface="宋体" panose="02010600030101010101" pitchFamily="2" charset="-122"/>
              </a:rPr>
              <a:t>D2</a:t>
            </a:r>
            <a:r>
              <a:rPr lang="zh-CN" altLang="en-US" sz="2000" dirty="0">
                <a:latin typeface="Times New Roman" panose="02020603050405020304" pitchFamily="18" charset="0"/>
                <a:ea typeface="宋体" panose="02010600030101010101" pitchFamily="2" charset="-122"/>
              </a:rPr>
              <a:t>就无意义了。</a:t>
            </a:r>
          </a:p>
          <a:p>
            <a:pPr indent="266700" algn="just"/>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D2</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M/S</a:t>
            </a:r>
            <a:r>
              <a:rPr lang="zh-CN" altLang="en-US" sz="2000" dirty="0">
                <a:latin typeface="Times New Roman" panose="02020603050405020304" pitchFamily="18" charset="0"/>
                <a:ea typeface="宋体" panose="02010600030101010101" pitchFamily="2" charset="-122"/>
              </a:rPr>
              <a:t>）表示本片</a:t>
            </a:r>
            <a:r>
              <a:rPr lang="en-US" altLang="zh-CN" sz="2000" dirty="0">
                <a:latin typeface="Times New Roman" panose="02020603050405020304" pitchFamily="18" charset="0"/>
                <a:ea typeface="宋体" panose="02010600030101010101" pitchFamily="2" charset="-122"/>
              </a:rPr>
              <a:t>8259A</a:t>
            </a:r>
            <a:r>
              <a:rPr lang="zh-CN" altLang="en-US" sz="2000" dirty="0">
                <a:latin typeface="Times New Roman" panose="02020603050405020304" pitchFamily="18" charset="0"/>
                <a:ea typeface="宋体" panose="02010600030101010101" pitchFamily="2" charset="-122"/>
              </a:rPr>
              <a:t>是主片还是从片，</a:t>
            </a:r>
            <a:r>
              <a:rPr lang="en-US" altLang="zh-CN" sz="2000" dirty="0">
                <a:latin typeface="Times New Roman" panose="02020603050405020304" pitchFamily="18" charset="0"/>
                <a:ea typeface="宋体" panose="02010600030101010101" pitchFamily="2" charset="-122"/>
              </a:rPr>
              <a:t>D2=0</a:t>
            </a:r>
            <a:r>
              <a:rPr lang="zh-CN" altLang="en-US" sz="2000" dirty="0">
                <a:latin typeface="Times New Roman" panose="02020603050405020304" pitchFamily="18" charset="0"/>
                <a:ea typeface="宋体" panose="02010600030101010101" pitchFamily="2" charset="-122"/>
              </a:rPr>
              <a:t>时表示从片，</a:t>
            </a:r>
            <a:r>
              <a:rPr lang="en-US" altLang="zh-CN" sz="2000" dirty="0">
                <a:latin typeface="Times New Roman" panose="02020603050405020304" pitchFamily="18" charset="0"/>
                <a:ea typeface="宋体" panose="02010600030101010101" pitchFamily="2" charset="-122"/>
              </a:rPr>
              <a:t>D2=1</a:t>
            </a:r>
            <a:r>
              <a:rPr lang="zh-CN" altLang="en-US" sz="2000" dirty="0">
                <a:latin typeface="Times New Roman" panose="02020603050405020304" pitchFamily="18" charset="0"/>
                <a:ea typeface="宋体" panose="02010600030101010101" pitchFamily="2" charset="-122"/>
              </a:rPr>
              <a:t>时表示主片。</a:t>
            </a:r>
          </a:p>
          <a:p>
            <a:pPr indent="266700" algn="just"/>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D1</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AEOI</a:t>
            </a:r>
            <a:r>
              <a:rPr lang="zh-CN" altLang="en-US" sz="2000" dirty="0">
                <a:latin typeface="Times New Roman" panose="02020603050405020304" pitchFamily="18" charset="0"/>
                <a:ea typeface="宋体" panose="02010600030101010101" pitchFamily="2" charset="-122"/>
              </a:rPr>
              <a:t>）说明了中断的结束方式。中断结束的方式有两种：一种是正常方式，另一种是自动方式。</a:t>
            </a:r>
            <a:r>
              <a:rPr lang="en-US" altLang="zh-CN" sz="2000" dirty="0">
                <a:latin typeface="Times New Roman" panose="02020603050405020304" pitchFamily="18" charset="0"/>
                <a:ea typeface="宋体" panose="02010600030101010101" pitchFamily="2" charset="-122"/>
              </a:rPr>
              <a:t>D1=0</a:t>
            </a:r>
            <a:r>
              <a:rPr lang="zh-CN" altLang="en-US" sz="2000" dirty="0">
                <a:latin typeface="Times New Roman" panose="02020603050405020304" pitchFamily="18" charset="0"/>
                <a:ea typeface="宋体" panose="02010600030101010101" pitchFamily="2" charset="-122"/>
              </a:rPr>
              <a:t>是中断的正常结束方式，在这种方式下，中断结束时向</a:t>
            </a:r>
            <a:r>
              <a:rPr lang="en-US" altLang="zh-CN" sz="2000" dirty="0">
                <a:latin typeface="Times New Roman" panose="02020603050405020304" pitchFamily="18" charset="0"/>
                <a:ea typeface="宋体" panose="02010600030101010101" pitchFamily="2" charset="-122"/>
              </a:rPr>
              <a:t>8259A</a:t>
            </a:r>
            <a:r>
              <a:rPr lang="zh-CN" altLang="en-US" sz="2000" dirty="0">
                <a:latin typeface="Times New Roman" panose="02020603050405020304" pitchFamily="18" charset="0"/>
                <a:ea typeface="宋体" panose="02010600030101010101" pitchFamily="2" charset="-122"/>
              </a:rPr>
              <a:t>送一个</a:t>
            </a:r>
            <a:r>
              <a:rPr lang="en-US" altLang="zh-CN" sz="2000" dirty="0">
                <a:latin typeface="Times New Roman" panose="02020603050405020304" pitchFamily="18" charset="0"/>
                <a:ea typeface="宋体" panose="02010600030101010101" pitchFamily="2" charset="-122"/>
              </a:rPr>
              <a:t>EOI</a:t>
            </a:r>
            <a:r>
              <a:rPr lang="zh-CN" altLang="en-US" sz="2000" dirty="0">
                <a:latin typeface="Times New Roman" panose="02020603050405020304" pitchFamily="18" charset="0"/>
                <a:ea typeface="宋体" panose="02010600030101010101" pitchFamily="2" charset="-122"/>
              </a:rPr>
              <a:t>命令字（</a:t>
            </a:r>
            <a:r>
              <a:rPr lang="en-US" altLang="zh-CN" sz="2000" dirty="0">
                <a:latin typeface="Times New Roman" panose="02020603050405020304" pitchFamily="18" charset="0"/>
                <a:ea typeface="宋体" panose="02010600030101010101" pitchFamily="2" charset="-122"/>
              </a:rPr>
              <a:t>OCW2</a:t>
            </a:r>
            <a:r>
              <a:rPr lang="zh-CN" altLang="en-US" sz="2000" dirty="0">
                <a:latin typeface="Times New Roman" panose="02020603050405020304" pitchFamily="18" charset="0"/>
                <a:ea typeface="宋体" panose="02010600030101010101" pitchFamily="2" charset="-122"/>
              </a:rPr>
              <a:t>），于是中断服务寄存器</a:t>
            </a:r>
            <a:r>
              <a:rPr lang="en-US" altLang="zh-CN" sz="2000" dirty="0">
                <a:latin typeface="Times New Roman" panose="02020603050405020304" pitchFamily="18" charset="0"/>
                <a:ea typeface="宋体" panose="02010600030101010101" pitchFamily="2" charset="-122"/>
              </a:rPr>
              <a:t>ISR</a:t>
            </a:r>
            <a:r>
              <a:rPr lang="zh-CN" altLang="en-US" sz="2000" dirty="0">
                <a:latin typeface="Times New Roman" panose="02020603050405020304" pitchFamily="18" charset="0"/>
                <a:ea typeface="宋体" panose="02010600030101010101" pitchFamily="2" charset="-122"/>
              </a:rPr>
              <a:t>中与中断源相应的位被清除。</a:t>
            </a:r>
            <a:r>
              <a:rPr lang="en-US" altLang="zh-CN" sz="2000" dirty="0">
                <a:latin typeface="Times New Roman" panose="02020603050405020304" pitchFamily="18" charset="0"/>
                <a:ea typeface="宋体" panose="02010600030101010101" pitchFamily="2" charset="-122"/>
              </a:rPr>
              <a:t>D1=1</a:t>
            </a:r>
            <a:r>
              <a:rPr lang="zh-CN" altLang="en-US" sz="2000" dirty="0">
                <a:latin typeface="Times New Roman" panose="02020603050405020304" pitchFamily="18" charset="0"/>
                <a:ea typeface="宋体" panose="02010600030101010101" pitchFamily="2" charset="-122"/>
              </a:rPr>
              <a:t>是中断的特殊结束方式，在中断响应时，</a:t>
            </a:r>
            <a:r>
              <a:rPr lang="en-US" altLang="zh-CN" sz="2000" dirty="0">
                <a:latin typeface="Times New Roman" panose="02020603050405020304" pitchFamily="18" charset="0"/>
                <a:ea typeface="宋体" panose="02010600030101010101" pitchFamily="2" charset="-122"/>
              </a:rPr>
              <a:t>8259A</a:t>
            </a:r>
            <a:r>
              <a:rPr lang="zh-CN" altLang="en-US" sz="2000" dirty="0">
                <a:latin typeface="Times New Roman" panose="02020603050405020304" pitchFamily="18" charset="0"/>
                <a:ea typeface="宋体" panose="02010600030101010101" pitchFamily="2" charset="-122"/>
              </a:rPr>
              <a:t>送出中断矢量后自动将</a:t>
            </a:r>
            <a:r>
              <a:rPr lang="en-US" altLang="zh-CN" sz="2000" dirty="0">
                <a:latin typeface="Times New Roman" panose="02020603050405020304" pitchFamily="18" charset="0"/>
                <a:ea typeface="宋体" panose="02010600030101010101" pitchFamily="2" charset="-122"/>
              </a:rPr>
              <a:t>ISR</a:t>
            </a:r>
            <a:r>
              <a:rPr lang="zh-CN" altLang="en-US" sz="2000" dirty="0">
                <a:latin typeface="Times New Roman" panose="02020603050405020304" pitchFamily="18" charset="0"/>
                <a:ea typeface="宋体" panose="02010600030101010101" pitchFamily="2" charset="-122"/>
              </a:rPr>
              <a:t>复位，不需要送结束命令字</a:t>
            </a:r>
            <a:r>
              <a:rPr lang="en-US" altLang="zh-CN" sz="2000" dirty="0">
                <a:latin typeface="Times New Roman" panose="02020603050405020304" pitchFamily="18" charset="0"/>
                <a:ea typeface="宋体" panose="02010600030101010101" pitchFamily="2" charset="-122"/>
              </a:rPr>
              <a:t>OCW2</a:t>
            </a:r>
            <a:r>
              <a:rPr lang="zh-CN" altLang="en-US" sz="2000" dirty="0">
                <a:latin typeface="Times New Roman" panose="02020603050405020304" pitchFamily="18" charset="0"/>
                <a:ea typeface="宋体" panose="02010600030101010101" pitchFamily="2" charset="-122"/>
              </a:rPr>
              <a:t>。</a:t>
            </a:r>
          </a:p>
          <a:p>
            <a:pPr indent="266700" algn="just"/>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D0</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UPM</a:t>
            </a:r>
            <a:r>
              <a:rPr lang="zh-CN" altLang="en-US" sz="2000" dirty="0">
                <a:latin typeface="Times New Roman" panose="02020603050405020304" pitchFamily="18" charset="0"/>
                <a:ea typeface="宋体" panose="02010600030101010101" pitchFamily="2" charset="-122"/>
              </a:rPr>
              <a:t>）指定了系统中所采用的</a:t>
            </a:r>
            <a:r>
              <a:rPr lang="en-US" altLang="zh-CN" sz="2000" dirty="0">
                <a:latin typeface="Times New Roman" panose="02020603050405020304" pitchFamily="18" charset="0"/>
                <a:ea typeface="宋体" panose="02010600030101010101" pitchFamily="2" charset="-122"/>
              </a:rPr>
              <a:t>CPU</a:t>
            </a:r>
            <a:r>
              <a:rPr lang="zh-CN" altLang="en-US" sz="2000" dirty="0">
                <a:latin typeface="Times New Roman" panose="02020603050405020304" pitchFamily="18" charset="0"/>
                <a:ea typeface="宋体" panose="02010600030101010101" pitchFamily="2" charset="-122"/>
              </a:rPr>
              <a:t>系列。当</a:t>
            </a:r>
            <a:r>
              <a:rPr lang="en-US" altLang="zh-CN" sz="2000" dirty="0">
                <a:latin typeface="Times New Roman" panose="02020603050405020304" pitchFamily="18" charset="0"/>
                <a:ea typeface="宋体" panose="02010600030101010101" pitchFamily="2" charset="-122"/>
              </a:rPr>
              <a:t>D0=0</a:t>
            </a:r>
            <a:r>
              <a:rPr lang="zh-CN" altLang="en-US" sz="2000" dirty="0">
                <a:latin typeface="Times New Roman" panose="02020603050405020304" pitchFamily="18" charset="0"/>
                <a:ea typeface="宋体" panose="02010600030101010101" pitchFamily="2" charset="-122"/>
              </a:rPr>
              <a:t>时系统用</a:t>
            </a:r>
            <a:r>
              <a:rPr lang="en-US" altLang="zh-CN" sz="2000" dirty="0">
                <a:latin typeface="Times New Roman" panose="02020603050405020304" pitchFamily="18" charset="0"/>
                <a:ea typeface="宋体" panose="02010600030101010101" pitchFamily="2" charset="-122"/>
              </a:rPr>
              <a:t>8080/8085CPU</a:t>
            </a:r>
            <a:r>
              <a:rPr lang="zh-CN" altLang="en-US" sz="2000" dirty="0">
                <a:latin typeface="Times New Roman" panose="02020603050405020304" pitchFamily="18" charset="0"/>
                <a:ea typeface="宋体" panose="02010600030101010101" pitchFamily="2" charset="-122"/>
              </a:rPr>
              <a:t>。当</a:t>
            </a:r>
            <a:r>
              <a:rPr lang="en-US" altLang="zh-CN" sz="2000" dirty="0">
                <a:latin typeface="Times New Roman" panose="02020603050405020304" pitchFamily="18" charset="0"/>
                <a:ea typeface="宋体" panose="02010600030101010101" pitchFamily="2" charset="-122"/>
              </a:rPr>
              <a:t>D0=1</a:t>
            </a:r>
            <a:r>
              <a:rPr lang="zh-CN" altLang="en-US" sz="2000" dirty="0">
                <a:latin typeface="Times New Roman" panose="02020603050405020304" pitchFamily="18" charset="0"/>
                <a:ea typeface="宋体" panose="02010600030101010101" pitchFamily="2" charset="-122"/>
              </a:rPr>
              <a:t>时系统用</a:t>
            </a:r>
            <a:r>
              <a:rPr lang="en-US" altLang="zh-CN" sz="2000" dirty="0">
                <a:latin typeface="Times New Roman" panose="02020603050405020304" pitchFamily="18" charset="0"/>
                <a:ea typeface="宋体" panose="02010600030101010101" pitchFamily="2" charset="-122"/>
              </a:rPr>
              <a:t>8086/8088CPU</a:t>
            </a:r>
            <a:r>
              <a:rPr lang="zh-CN" altLang="en-US" sz="2000" dirty="0">
                <a:latin typeface="Times New Roman" panose="02020603050405020304" pitchFamily="18" charset="0"/>
                <a:ea typeface="宋体" panose="02010600030101010101" pitchFamily="2" charset="-122"/>
              </a:rPr>
              <a:t>系列。</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4274" name="文本框 99"/>
          <p:cNvSpPr txBox="1"/>
          <p:nvPr/>
        </p:nvSpPr>
        <p:spPr>
          <a:xfrm>
            <a:off x="269875" y="1624013"/>
            <a:ext cx="8450263" cy="3944937"/>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的工作编程</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在初始化编程后，应再进行工作编程，即写入工作命令字共有三个</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OCW2</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。它们各有自己的特征位，因此写入时没有顺序的要求。在中断服务程序中，某些命令字可能会多次重复写入。</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（主片口地址为</a:t>
            </a:r>
            <a:r>
              <a:rPr lang="en-US" altLang="zh-CN">
                <a:latin typeface="Times New Roman" panose="02020603050405020304" pitchFamily="18" charset="0"/>
                <a:ea typeface="宋体" panose="02010600030101010101" pitchFamily="2" charset="-122"/>
              </a:rPr>
              <a:t>21H</a:t>
            </a:r>
            <a:r>
              <a:rPr lang="zh-CN" altLang="en-US">
                <a:latin typeface="Times New Roman" panose="02020603050405020304" pitchFamily="18" charset="0"/>
                <a:ea typeface="宋体" panose="02010600030101010101" pitchFamily="2" charset="-122"/>
              </a:rPr>
              <a:t>，从片口地址为</a:t>
            </a:r>
            <a:r>
              <a:rPr lang="en-US" altLang="zh-CN">
                <a:latin typeface="Times New Roman" panose="02020603050405020304" pitchFamily="18" charset="0"/>
                <a:ea typeface="宋体" panose="02010600030101010101" pitchFamily="2" charset="-122"/>
              </a:rPr>
              <a:t>A1H</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又被称为中断屏蔽字，用来设置中断屏蔽寄存器</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中各位的值。</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输入信号</a:t>
            </a:r>
            <a:r>
              <a:rPr lang="en-US" altLang="zh-CN">
                <a:latin typeface="Times New Roman" panose="02020603050405020304" pitchFamily="18" charset="0"/>
                <a:ea typeface="宋体" panose="02010600030101010101" pitchFamily="2" charset="-122"/>
              </a:rPr>
              <a:t>IRi</a:t>
            </a:r>
            <a:r>
              <a:rPr lang="zh-CN" altLang="en-US">
                <a:latin typeface="Times New Roman" panose="02020603050405020304" pitchFamily="18" charset="0"/>
                <a:ea typeface="宋体" panose="02010600030101010101" pitchFamily="2" charset="-122"/>
              </a:rPr>
              <a:t>的屏蔽操作与中断屏蔽寄存器</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中各位的值一一对应。将</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中的某个</a:t>
            </a:r>
            <a:r>
              <a:rPr lang="en-US" altLang="zh-CN">
                <a:latin typeface="Times New Roman" panose="02020603050405020304" pitchFamily="18" charset="0"/>
                <a:ea typeface="宋体" panose="02010600030101010101" pitchFamily="2" charset="-122"/>
              </a:rPr>
              <a:t>Mi</a:t>
            </a:r>
            <a:r>
              <a:rPr lang="zh-CN" altLang="en-US">
                <a:latin typeface="Times New Roman" panose="02020603050405020304" pitchFamily="18" charset="0"/>
                <a:ea typeface="宋体" panose="02010600030101010101" pitchFamily="2" charset="-122"/>
              </a:rPr>
              <a:t>位置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时，</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的相应位也置</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，从而屏蔽相应的输入</a:t>
            </a:r>
            <a:r>
              <a:rPr lang="en-US" altLang="zh-CN">
                <a:latin typeface="Times New Roman" panose="02020603050405020304" pitchFamily="18" charset="0"/>
                <a:ea typeface="宋体" panose="02010600030101010101" pitchFamily="2" charset="-122"/>
              </a:rPr>
              <a:t>IRi</a:t>
            </a:r>
            <a:r>
              <a:rPr lang="zh-CN" altLang="en-US">
                <a:latin typeface="Times New Roman" panose="02020603050405020304" pitchFamily="18" charset="0"/>
                <a:ea typeface="宋体" panose="02010600030101010101" pitchFamily="2" charset="-122"/>
              </a:rPr>
              <a:t>信号。三个工作命令字中仅</a:t>
            </a:r>
            <a:r>
              <a:rPr lang="en-US" altLang="zh-CN">
                <a:latin typeface="Times New Roman" panose="02020603050405020304" pitchFamily="18" charset="0"/>
                <a:ea typeface="宋体" panose="02010600030101010101" pitchFamily="2" charset="-122"/>
              </a:rPr>
              <a:t>OCW1</a:t>
            </a:r>
            <a:r>
              <a:rPr lang="zh-CN" altLang="en-US">
                <a:latin typeface="Times New Roman" panose="02020603050405020304" pitchFamily="18" charset="0"/>
                <a:ea typeface="宋体" panose="02010600030101010101" pitchFamily="2" charset="-122"/>
              </a:rPr>
              <a:t>占有奇地址（</a:t>
            </a:r>
            <a:r>
              <a:rPr lang="en-US" altLang="zh-CN">
                <a:latin typeface="Times New Roman" panose="02020603050405020304" pitchFamily="18" charset="0"/>
                <a:ea typeface="宋体" panose="02010600030101010101" pitchFamily="2" charset="-122"/>
              </a:rPr>
              <a:t>A0=1</a:t>
            </a:r>
            <a:r>
              <a:rPr lang="zh-CN" altLang="en-US">
                <a:latin typeface="Times New Roman" panose="02020603050405020304" pitchFamily="18" charset="0"/>
                <a:ea typeface="宋体" panose="02010600030101010101" pitchFamily="2" charset="-122"/>
              </a:rPr>
              <a:t>）。</a:t>
            </a:r>
          </a:p>
        </p:txBody>
      </p:sp>
      <p:pic>
        <p:nvPicPr>
          <p:cNvPr id="54275" name="图片 -2147482568" descr="7f"/>
          <p:cNvPicPr>
            <a:picLocks noChangeAspect="1"/>
          </p:cNvPicPr>
          <p:nvPr/>
        </p:nvPicPr>
        <p:blipFill>
          <a:blip r:embed="rId2"/>
          <a:stretch>
            <a:fillRect/>
          </a:stretch>
        </p:blipFill>
        <p:spPr>
          <a:xfrm>
            <a:off x="1839913" y="5765800"/>
            <a:ext cx="4703762" cy="673100"/>
          </a:xfrm>
          <a:prstGeom prst="rect">
            <a:avLst/>
          </a:prstGeom>
          <a:noFill/>
          <a:ln w="9525">
            <a:noFill/>
          </a:ln>
        </p:spPr>
      </p:pic>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5298" name="文本框 99"/>
          <p:cNvSpPr txBox="1"/>
          <p:nvPr/>
        </p:nvSpPr>
        <p:spPr>
          <a:xfrm>
            <a:off x="269875" y="1624013"/>
            <a:ext cx="8450263" cy="44926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OCW2</a:t>
            </a:r>
            <a:r>
              <a:rPr lang="zh-CN" altLang="en-US">
                <a:latin typeface="Times New Roman" panose="02020603050405020304" pitchFamily="18" charset="0"/>
                <a:ea typeface="宋体" panose="02010600030101010101" pitchFamily="2" charset="-122"/>
              </a:rPr>
              <a:t>（主片口地址为</a:t>
            </a:r>
            <a:r>
              <a:rPr lang="en-US" altLang="zh-CN">
                <a:latin typeface="Times New Roman" panose="02020603050405020304" pitchFamily="18" charset="0"/>
                <a:ea typeface="宋体" panose="02010600030101010101" pitchFamily="2" charset="-122"/>
              </a:rPr>
              <a:t>20H</a:t>
            </a:r>
            <a:r>
              <a:rPr lang="zh-CN" altLang="en-US">
                <a:latin typeface="Times New Roman" panose="02020603050405020304" pitchFamily="18" charset="0"/>
                <a:ea typeface="宋体" panose="02010600030101010101" pitchFamily="2" charset="-122"/>
              </a:rPr>
              <a:t>，从片口地址为</a:t>
            </a:r>
            <a:r>
              <a:rPr lang="en-US" altLang="zh-CN">
                <a:latin typeface="Times New Roman" panose="02020603050405020304" pitchFamily="18" charset="0"/>
                <a:ea typeface="宋体" panose="02010600030101010101" pitchFamily="2" charset="-122"/>
              </a:rPr>
              <a:t>A0H</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写</a:t>
            </a:r>
            <a:r>
              <a:rPr lang="en-US" altLang="zh-CN">
                <a:latin typeface="Times New Roman" panose="02020603050405020304" pitchFamily="18" charset="0"/>
                <a:ea typeface="宋体" panose="02010600030101010101" pitchFamily="2" charset="-122"/>
              </a:rPr>
              <a:t>OCW2</a:t>
            </a:r>
            <a:r>
              <a:rPr lang="zh-CN" altLang="en-US">
                <a:latin typeface="Times New Roman" panose="02020603050405020304" pitchFamily="18" charset="0"/>
                <a:ea typeface="宋体" panose="02010600030101010101" pitchFamily="2" charset="-122"/>
              </a:rPr>
              <a:t>的作用：</a:t>
            </a:r>
            <a:r>
              <a:rPr lang="en-US" altLang="zh-CN">
                <a:latin typeface="Times New Roman" panose="02020603050405020304" pitchFamily="18" charset="0"/>
                <a:ea typeface="宋体" panose="02010600030101010101" pitchFamily="2" charset="-122"/>
              </a:rPr>
              <a:t>①</a:t>
            </a:r>
            <a:r>
              <a:rPr lang="zh-CN" altLang="en-US">
                <a:latin typeface="Times New Roman" panose="02020603050405020304" pitchFamily="18" charset="0"/>
                <a:ea typeface="宋体" panose="02010600030101010101" pitchFamily="2" charset="-122"/>
              </a:rPr>
              <a:t>对</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发中断结束命令，实际上也就是清</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中的置位；</a:t>
            </a:r>
            <a:r>
              <a:rPr lang="en-US" altLang="zh-CN">
                <a:latin typeface="Times New Roman" panose="02020603050405020304" pitchFamily="18" charset="0"/>
                <a:ea typeface="宋体" panose="02010600030101010101" pitchFamily="2" charset="-122"/>
              </a:rPr>
              <a:t>②</a:t>
            </a:r>
            <a:r>
              <a:rPr lang="zh-CN" altLang="en-US">
                <a:latin typeface="Times New Roman" panose="02020603050405020304" pitchFamily="18" charset="0"/>
                <a:ea typeface="宋体" panose="02010600030101010101" pitchFamily="2" charset="-122"/>
              </a:rPr>
              <a:t>改变优先权的排序结构。</a:t>
            </a:r>
          </a:p>
          <a:p>
            <a:pPr indent="266700" algn="just"/>
            <a:r>
              <a:rPr lang="zh-CN" altLang="en-US">
                <a:latin typeface="Times New Roman" panose="02020603050405020304" pitchFamily="18" charset="0"/>
                <a:ea typeface="宋体" panose="02010600030101010101" pitchFamily="2" charset="-122"/>
              </a:rPr>
              <a:t>     它和工作命令字</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都占有偶地址（</a:t>
            </a:r>
            <a:r>
              <a:rPr lang="en-US" altLang="zh-CN">
                <a:latin typeface="Times New Roman" panose="02020603050405020304" pitchFamily="18" charset="0"/>
                <a:ea typeface="宋体" panose="02010600030101010101" pitchFamily="2" charset="-122"/>
              </a:rPr>
              <a:t>A0=0</a:t>
            </a:r>
            <a:r>
              <a:rPr lang="zh-CN" altLang="en-US">
                <a:latin typeface="Times New Roman" panose="02020603050405020304" pitchFamily="18" charset="0"/>
                <a:ea typeface="宋体" panose="02010600030101010101" pitchFamily="2" charset="-122"/>
              </a:rPr>
              <a:t>），但其特征位为</a:t>
            </a:r>
            <a:r>
              <a:rPr lang="en-US" altLang="zh-CN">
                <a:latin typeface="Times New Roman" panose="02020603050405020304" pitchFamily="18" charset="0"/>
                <a:ea typeface="宋体" panose="02010600030101010101" pitchFamily="2" charset="-122"/>
              </a:rPr>
              <a:t>D4D3=00</a:t>
            </a:r>
            <a:r>
              <a:rPr lang="zh-CN" altLang="en-US">
                <a:latin typeface="Times New Roman" panose="02020603050405020304" pitchFamily="18" charset="0"/>
                <a:ea typeface="宋体" panose="02010600030101010101" pitchFamily="2" charset="-122"/>
              </a:rPr>
              <a:t>。因此不会混淆。同样对它们的写入也没有要求是早写还是晚写。</a:t>
            </a: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endParaRPr lang="zh-CN" altLang="en-US">
              <a:latin typeface="Times New Roman" panose="02020603050405020304" pitchFamily="18" charset="0"/>
              <a:ea typeface="宋体" panose="02010600030101010101" pitchFamily="2" charset="-122"/>
            </a:endParaRPr>
          </a:p>
          <a:p>
            <a:pPr indent="266700" algn="just"/>
            <a:r>
              <a:rPr lang="zh-CN" altLang="en-US">
                <a:latin typeface="Times New Roman" panose="02020603050405020304" pitchFamily="18" charset="0"/>
                <a:ea typeface="宋体" panose="02010600030101010101" pitchFamily="2" charset="-122"/>
              </a:rPr>
              <a:t>     其中</a:t>
            </a:r>
            <a:r>
              <a:rPr lang="en-US" altLang="zh-CN">
                <a:latin typeface="Times New Roman" panose="02020603050405020304" pitchFamily="18" charset="0"/>
                <a:ea typeface="宋体" panose="02010600030101010101" pitchFamily="2" charset="-122"/>
              </a:rPr>
              <a:t>A0=0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D4D3=00</a:t>
            </a:r>
            <a:r>
              <a:rPr lang="zh-CN" altLang="en-US">
                <a:latin typeface="Times New Roman" panose="02020603050405020304" pitchFamily="18" charset="0"/>
                <a:ea typeface="宋体" panose="02010600030101010101" pitchFamily="2" charset="-122"/>
              </a:rPr>
              <a:t>为</a:t>
            </a:r>
            <a:r>
              <a:rPr lang="en-US" altLang="zh-CN">
                <a:latin typeface="Times New Roman" panose="02020603050405020304" pitchFamily="18" charset="0"/>
                <a:ea typeface="宋体" panose="02010600030101010101" pitchFamily="2" charset="-122"/>
              </a:rPr>
              <a:t>OCW2</a:t>
            </a:r>
            <a:r>
              <a:rPr lang="zh-CN" altLang="en-US">
                <a:latin typeface="Times New Roman" panose="02020603050405020304" pitchFamily="18" charset="0"/>
                <a:ea typeface="宋体" panose="02010600030101010101" pitchFamily="2" charset="-122"/>
              </a:rPr>
              <a:t>的标志。这些操作命令通常以组合方式出现，而不是按位设置的，为了说明组合命令的意义，首先介绍有关位的定义。</a:t>
            </a:r>
          </a:p>
        </p:txBody>
      </p:sp>
      <p:pic>
        <p:nvPicPr>
          <p:cNvPr id="55299" name="Picture 15" descr="7g"/>
          <p:cNvPicPr>
            <a:picLocks noChangeAspect="1"/>
          </p:cNvPicPr>
          <p:nvPr/>
        </p:nvPicPr>
        <p:blipFill>
          <a:blip r:embed="rId2"/>
          <a:stretch>
            <a:fillRect/>
          </a:stretch>
        </p:blipFill>
        <p:spPr>
          <a:xfrm>
            <a:off x="1830388" y="4008438"/>
            <a:ext cx="5173662" cy="741362"/>
          </a:xfrm>
          <a:prstGeom prst="rect">
            <a:avLst/>
          </a:prstGeom>
          <a:noFill/>
          <a:ln w="9525">
            <a:noFill/>
          </a:ln>
        </p:spPr>
      </p:pic>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6322" name="文本框 99"/>
          <p:cNvSpPr txBox="1"/>
          <p:nvPr/>
        </p:nvSpPr>
        <p:spPr>
          <a:xfrm>
            <a:off x="261938" y="1293813"/>
            <a:ext cx="8450262" cy="5480050"/>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D7</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R</a:t>
            </a:r>
            <a:r>
              <a:rPr lang="zh-CN" altLang="en-US">
                <a:latin typeface="Times New Roman" panose="02020603050405020304" pitchFamily="18" charset="0"/>
                <a:ea typeface="宋体" panose="02010600030101010101" pitchFamily="2" charset="-122"/>
              </a:rPr>
              <a:t>）：优先权控制位。</a:t>
            </a:r>
          </a:p>
          <a:p>
            <a:pPr indent="266700" algn="just"/>
            <a:r>
              <a:rPr lang="zh-CN" altLang="en-US">
                <a:latin typeface="Times New Roman" panose="02020603050405020304" pitchFamily="18" charset="0"/>
                <a:ea typeface="宋体" panose="02010600030101010101" pitchFamily="2" charset="-122"/>
              </a:rPr>
              <a:t>    优先权：它是指响应中断过程中中断请求信号级别的高低。一般情况下，</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级别最高，</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级别最低，但在实际应用中，中断源的优先权情况是比较复杂的，不一定有明显的等级，而且优先权还有可能改变，所以不能总规定</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的优先权最高，而</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的优先权最低，要根据情况来改变。在</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中有两种控制优先权的方法。</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① </a:t>
            </a:r>
            <a:r>
              <a:rPr lang="zh-CN" altLang="en-US">
                <a:latin typeface="Times New Roman" panose="02020603050405020304" pitchFamily="18" charset="0"/>
                <a:ea typeface="宋体" panose="02010600030101010101" pitchFamily="2" charset="-122"/>
              </a:rPr>
              <a:t>自动循环</a:t>
            </a:r>
          </a:p>
          <a:p>
            <a:pPr indent="266700" algn="just"/>
            <a:r>
              <a:rPr lang="zh-CN" altLang="en-US">
                <a:latin typeface="Times New Roman" panose="02020603050405020304" pitchFamily="18" charset="0"/>
                <a:ea typeface="宋体" panose="02010600030101010101" pitchFamily="2" charset="-122"/>
              </a:rPr>
              <a:t>     在某些应用的情况下，若干中断源有相等的优先权。因此当某个中断源服务完成后，它的优先权变为最低。</a:t>
            </a:r>
          </a:p>
          <a:p>
            <a:pPr indent="266700" algn="just"/>
            <a:r>
              <a:rPr lang="zh-CN" altLang="en-US">
                <a:latin typeface="Times New Roman" panose="02020603050405020304" pitchFamily="18" charset="0"/>
                <a:ea typeface="宋体" panose="02010600030101010101" pitchFamily="2" charset="-122"/>
              </a:rPr>
              <a:t>     例如，在循环前，若</a:t>
            </a:r>
            <a:r>
              <a:rPr lang="en-US" altLang="zh-CN">
                <a:latin typeface="Times New Roman" panose="02020603050405020304" pitchFamily="18" charset="0"/>
                <a:ea typeface="宋体" panose="02010600030101010101" pitchFamily="2" charset="-122"/>
              </a:rPr>
              <a:t>IR4</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IR6</a:t>
            </a:r>
            <a:r>
              <a:rPr lang="zh-CN" altLang="en-US">
                <a:latin typeface="Times New Roman" panose="02020603050405020304" pitchFamily="18" charset="0"/>
                <a:ea typeface="宋体" panose="02010600030101010101" pitchFamily="2" charset="-122"/>
              </a:rPr>
              <a:t>同时有中断请求，而当时的</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最高，</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最低。因此就先服务</a:t>
            </a:r>
            <a:r>
              <a:rPr lang="en-US" altLang="zh-CN">
                <a:latin typeface="Times New Roman" panose="02020603050405020304" pitchFamily="18" charset="0"/>
                <a:ea typeface="宋体" panose="02010600030101010101" pitchFamily="2" charset="-122"/>
              </a:rPr>
              <a:t>IR4</a:t>
            </a:r>
            <a:r>
              <a:rPr lang="zh-CN" altLang="en-US">
                <a:latin typeface="Times New Roman" panose="02020603050405020304" pitchFamily="18" charset="0"/>
                <a:ea typeface="宋体" panose="02010600030101010101" pitchFamily="2" charset="-122"/>
              </a:rPr>
              <a:t>的请求，当</a:t>
            </a:r>
            <a:r>
              <a:rPr lang="en-US" altLang="zh-CN">
                <a:latin typeface="Times New Roman" panose="02020603050405020304" pitchFamily="18" charset="0"/>
                <a:ea typeface="宋体" panose="02010600030101010101" pitchFamily="2" charset="-122"/>
              </a:rPr>
              <a:t>IR4</a:t>
            </a:r>
            <a:r>
              <a:rPr lang="zh-CN" altLang="en-US">
                <a:latin typeface="Times New Roman" panose="02020603050405020304" pitchFamily="18" charset="0"/>
                <a:ea typeface="宋体" panose="02010600030101010101" pitchFamily="2" charset="-122"/>
              </a:rPr>
              <a:t>服务完毕后它的优先权最低，而</a:t>
            </a:r>
            <a:r>
              <a:rPr lang="en-US" altLang="zh-CN">
                <a:latin typeface="Times New Roman" panose="02020603050405020304" pitchFamily="18" charset="0"/>
                <a:ea typeface="宋体" panose="02010600030101010101" pitchFamily="2" charset="-122"/>
              </a:rPr>
              <a:t>IR6</a:t>
            </a:r>
            <a:r>
              <a:rPr lang="zh-CN" altLang="en-US">
                <a:latin typeface="Times New Roman" panose="02020603050405020304" pitchFamily="18" charset="0"/>
                <a:ea typeface="宋体" panose="02010600030101010101" pitchFamily="2" charset="-122"/>
              </a:rPr>
              <a:t>的优先权就最高了。</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② </a:t>
            </a:r>
            <a:r>
              <a:rPr lang="zh-CN" altLang="en-US">
                <a:latin typeface="Times New Roman" panose="02020603050405020304" pitchFamily="18" charset="0"/>
                <a:ea typeface="宋体" panose="02010600030101010101" pitchFamily="2" charset="-122"/>
              </a:rPr>
              <a:t>固定优先权</a:t>
            </a:r>
          </a:p>
          <a:p>
            <a:pPr indent="266700" algn="just"/>
            <a:r>
              <a:rPr lang="zh-CN" altLang="en-US">
                <a:latin typeface="Times New Roman" panose="02020603050405020304" pitchFamily="18" charset="0"/>
                <a:ea typeface="宋体" panose="02010600030101010101" pitchFamily="2" charset="-122"/>
              </a:rPr>
              <a:t>     固定优先权是指中断请求信号</a:t>
            </a:r>
            <a:r>
              <a:rPr lang="en-US" altLang="zh-CN">
                <a:latin typeface="Times New Roman" panose="02020603050405020304" pitchFamily="18" charset="0"/>
                <a:ea typeface="宋体" panose="02010600030101010101" pitchFamily="2" charset="-122"/>
              </a:rPr>
              <a:t>IR0</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IR7</a:t>
            </a:r>
            <a:r>
              <a:rPr lang="zh-CN" altLang="en-US">
                <a:latin typeface="Times New Roman" panose="02020603050405020304" pitchFamily="18" charset="0"/>
                <a:ea typeface="宋体" panose="02010600030101010101" pitchFamily="2" charset="-122"/>
              </a:rPr>
              <a:t>的级别是固定的。</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7346" name="文本框 99"/>
          <p:cNvSpPr txBox="1"/>
          <p:nvPr/>
        </p:nvSpPr>
        <p:spPr>
          <a:xfrm>
            <a:off x="303213" y="2105025"/>
            <a:ext cx="8450262" cy="3470275"/>
          </a:xfrm>
          <a:prstGeom prst="rect">
            <a:avLst/>
          </a:prstGeom>
          <a:noFill/>
          <a:ln w="9525">
            <a:noFill/>
          </a:ln>
        </p:spPr>
        <p:txBody>
          <a:bodyPr wrap="square" anchor="t" anchorCtr="0">
            <a:spAutoFit/>
          </a:bodyPr>
          <a:lstStyle/>
          <a:p>
            <a:pPr indent="266700" algn="just"/>
            <a:r>
              <a:rPr lang="en-US"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SL</a:t>
            </a:r>
            <a:r>
              <a:rPr lang="zh-CN" altLang="en-US" dirty="0">
                <a:latin typeface="Times New Roman" panose="02020603050405020304" pitchFamily="18" charset="0"/>
                <a:ea typeface="宋体" panose="02010600030101010101" pitchFamily="2" charset="-122"/>
              </a:rPr>
              <a:t>）位表示特殊旋转。当</a:t>
            </a:r>
            <a:r>
              <a:rPr lang="en-US" altLang="zh-CN" dirty="0">
                <a:latin typeface="Times New Roman" panose="02020603050405020304" pitchFamily="18" charset="0"/>
                <a:ea typeface="宋体" panose="02010600030101010101" pitchFamily="2" charset="-122"/>
              </a:rPr>
              <a:t>D6=1</a:t>
            </a:r>
            <a:r>
              <a:rPr lang="zh-CN" altLang="en-US" dirty="0">
                <a:latin typeface="Times New Roman" panose="02020603050405020304" pitchFamily="18" charset="0"/>
                <a:ea typeface="宋体" panose="02010600030101010101" pitchFamily="2" charset="-122"/>
              </a:rPr>
              <a:t>时，允许由</a:t>
            </a:r>
            <a:r>
              <a:rPr lang="en-US" altLang="zh-CN" dirty="0">
                <a:latin typeface="Times New Roman" panose="02020603050405020304" pitchFamily="18" charset="0"/>
                <a:ea typeface="宋体" panose="02010600030101010101" pitchFamily="2" charset="-122"/>
              </a:rPr>
              <a:t>D2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L0</a:t>
            </a:r>
            <a:r>
              <a:rPr lang="zh-CN" altLang="en-US" dirty="0">
                <a:latin typeface="Times New Roman" panose="02020603050405020304" pitchFamily="18" charset="0"/>
                <a:ea typeface="宋体" panose="02010600030101010101" pitchFamily="2" charset="-122"/>
              </a:rPr>
              <a:t>）编码指定对应的</a:t>
            </a:r>
            <a:r>
              <a:rPr lang="en-US" altLang="zh-CN" dirty="0" err="1">
                <a:latin typeface="Times New Roman" panose="02020603050405020304" pitchFamily="18" charset="0"/>
                <a:ea typeface="宋体" panose="02010600030101010101" pitchFamily="2" charset="-122"/>
              </a:rPr>
              <a:t>IRi</a:t>
            </a:r>
            <a:r>
              <a:rPr lang="zh-CN" altLang="en-US" dirty="0">
                <a:latin typeface="Times New Roman" panose="02020603050405020304" pitchFamily="18" charset="0"/>
                <a:ea typeface="宋体" panose="02010600030101010101" pitchFamily="2" charset="-122"/>
              </a:rPr>
              <a:t>为最低优先权。那么此时最高优先级为</a:t>
            </a:r>
            <a:r>
              <a:rPr lang="en-US" altLang="zh-CN" dirty="0">
                <a:latin typeface="Times New Roman" panose="02020603050405020304" pitchFamily="18" charset="0"/>
                <a:ea typeface="宋体" panose="02010600030101010101" pitchFamily="2" charset="-122"/>
              </a:rPr>
              <a:t>IRi-1</a:t>
            </a:r>
            <a:r>
              <a:rPr lang="zh-CN" altLang="en-US" dirty="0">
                <a:latin typeface="Times New Roman" panose="02020603050405020304" pitchFamily="18" charset="0"/>
                <a:ea typeface="宋体" panose="02010600030101010101" pitchFamily="2" charset="-122"/>
              </a:rPr>
              <a:t>。当</a:t>
            </a:r>
            <a:r>
              <a:rPr lang="en-US" altLang="zh-CN" dirty="0">
                <a:latin typeface="Times New Roman" panose="02020603050405020304" pitchFamily="18" charset="0"/>
                <a:ea typeface="宋体" panose="02010600030101010101" pitchFamily="2" charset="-122"/>
              </a:rPr>
              <a:t>D6=0</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L2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L0</a:t>
            </a:r>
            <a:r>
              <a:rPr lang="zh-CN" altLang="en-US" dirty="0">
                <a:latin typeface="Times New Roman" panose="02020603050405020304" pitchFamily="18" charset="0"/>
                <a:ea typeface="宋体" panose="02010600030101010101" pitchFamily="2" charset="-122"/>
              </a:rPr>
              <a:t>编码无效。</a:t>
            </a:r>
          </a:p>
          <a:p>
            <a:pPr indent="266700"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EOI</a:t>
            </a:r>
            <a:r>
              <a:rPr lang="zh-CN" altLang="en-US" dirty="0">
                <a:latin typeface="Times New Roman" panose="02020603050405020304" pitchFamily="18" charset="0"/>
                <a:ea typeface="宋体" panose="02010600030101010101" pitchFamily="2" charset="-122"/>
              </a:rPr>
              <a:t>）：中断结束命令位。</a:t>
            </a:r>
            <a:r>
              <a:rPr lang="en-US" altLang="zh-CN" dirty="0">
                <a:latin typeface="Times New Roman" panose="02020603050405020304" pitchFamily="18" charset="0"/>
                <a:ea typeface="宋体" panose="02010600030101010101" pitchFamily="2" charset="-122"/>
              </a:rPr>
              <a:t>D5=1</a:t>
            </a:r>
            <a:r>
              <a:rPr lang="zh-CN" altLang="en-US" dirty="0">
                <a:latin typeface="Times New Roman" panose="02020603050405020304" pitchFamily="18" charset="0"/>
                <a:ea typeface="宋体" panose="02010600030101010101" pitchFamily="2" charset="-122"/>
              </a:rPr>
              <a:t>表示中断结束（</a:t>
            </a:r>
            <a:r>
              <a:rPr lang="en-US" altLang="zh-CN" dirty="0">
                <a:latin typeface="Times New Roman" panose="02020603050405020304" pitchFamily="18" charset="0"/>
                <a:ea typeface="宋体" panose="02010600030101010101" pitchFamily="2" charset="-122"/>
              </a:rPr>
              <a:t>EOI</a:t>
            </a:r>
            <a:r>
              <a:rPr lang="zh-CN" altLang="en-US" dirty="0">
                <a:latin typeface="Times New Roman" panose="02020603050405020304" pitchFamily="18" charset="0"/>
                <a:ea typeface="宋体" panose="02010600030101010101" pitchFamily="2" charset="-122"/>
              </a:rPr>
              <a:t>命令）。当用</a:t>
            </a:r>
            <a:r>
              <a:rPr lang="en-US" altLang="zh-CN" dirty="0">
                <a:latin typeface="Times New Roman" panose="02020603050405020304" pitchFamily="18" charset="0"/>
                <a:ea typeface="宋体" panose="02010600030101010101" pitchFamily="2" charset="-122"/>
              </a:rPr>
              <a:t>8259A</a:t>
            </a:r>
            <a:r>
              <a:rPr lang="zh-CN" altLang="en-US" dirty="0">
                <a:latin typeface="Times New Roman" panose="02020603050405020304" pitchFamily="18" charset="0"/>
                <a:ea typeface="宋体" panose="02010600030101010101" pitchFamily="2" charset="-122"/>
              </a:rPr>
              <a:t>来实现中断管理时，返回指令</a:t>
            </a:r>
            <a:r>
              <a:rPr lang="en-US" altLang="zh-CN" dirty="0">
                <a:latin typeface="Times New Roman" panose="02020603050405020304" pitchFamily="18" charset="0"/>
                <a:ea typeface="宋体" panose="02010600030101010101" pitchFamily="2" charset="-122"/>
              </a:rPr>
              <a:t>IRET</a:t>
            </a:r>
            <a:r>
              <a:rPr lang="zh-CN" altLang="en-US" dirty="0">
                <a:latin typeface="Times New Roman" panose="02020603050405020304" pitchFamily="18" charset="0"/>
                <a:ea typeface="宋体" panose="02010600030101010101" pitchFamily="2" charset="-122"/>
              </a:rPr>
              <a:t>前必须给</a:t>
            </a:r>
            <a:r>
              <a:rPr lang="en-US" altLang="zh-CN" dirty="0">
                <a:latin typeface="Times New Roman" panose="02020603050405020304" pitchFamily="18" charset="0"/>
                <a:ea typeface="宋体" panose="02010600030101010101" pitchFamily="2" charset="-122"/>
              </a:rPr>
              <a:t>8259A</a:t>
            </a:r>
            <a:r>
              <a:rPr lang="zh-CN" altLang="en-US" dirty="0">
                <a:latin typeface="Times New Roman" panose="02020603050405020304" pitchFamily="18" charset="0"/>
                <a:ea typeface="宋体" panose="02010600030101010101" pitchFamily="2" charset="-122"/>
              </a:rPr>
              <a:t>送一条</a:t>
            </a:r>
            <a:r>
              <a:rPr lang="en-US" altLang="zh-CN" dirty="0">
                <a:latin typeface="Times New Roman" panose="02020603050405020304" pitchFamily="18" charset="0"/>
                <a:ea typeface="宋体" panose="02010600030101010101" pitchFamily="2" charset="-122"/>
              </a:rPr>
              <a:t>EOI</a:t>
            </a:r>
            <a:r>
              <a:rPr lang="zh-CN" altLang="en-US" dirty="0">
                <a:latin typeface="Times New Roman" panose="02020603050405020304" pitchFamily="18" charset="0"/>
                <a:ea typeface="宋体" panose="02010600030101010101" pitchFamily="2" charset="-122"/>
              </a:rPr>
              <a:t>命令（即</a:t>
            </a:r>
            <a:r>
              <a:rPr lang="en-US" altLang="zh-CN" dirty="0">
                <a:latin typeface="Times New Roman" panose="02020603050405020304" pitchFamily="18" charset="0"/>
                <a:ea typeface="宋体" panose="02010600030101010101" pitchFamily="2" charset="-122"/>
              </a:rPr>
              <a:t>D5=1</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OCW2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8259A</a:t>
            </a:r>
            <a:r>
              <a:rPr lang="zh-CN" altLang="en-US" dirty="0">
                <a:latin typeface="Times New Roman" panose="02020603050405020304" pitchFamily="18" charset="0"/>
                <a:ea typeface="宋体" panose="02010600030101010101" pitchFamily="2" charset="-122"/>
              </a:rPr>
              <a:t>收到这条命令后，将中断服务寄存器</a:t>
            </a:r>
            <a:r>
              <a:rPr lang="en-US" altLang="zh-CN" dirty="0">
                <a:latin typeface="Times New Roman" panose="02020603050405020304" pitchFamily="18" charset="0"/>
                <a:ea typeface="宋体" panose="02010600030101010101" pitchFamily="2" charset="-122"/>
              </a:rPr>
              <a:t>ISR</a:t>
            </a:r>
            <a:r>
              <a:rPr lang="zh-CN" altLang="en-US" dirty="0">
                <a:latin typeface="Times New Roman" panose="02020603050405020304" pitchFamily="18" charset="0"/>
                <a:ea typeface="宋体" panose="02010600030101010101" pitchFamily="2" charset="-122"/>
              </a:rPr>
              <a:t>中的相应位清除，然后才好为其他中断源服务。当</a:t>
            </a:r>
            <a:r>
              <a:rPr lang="en-US" altLang="zh-CN">
                <a:latin typeface="Times New Roman" panose="02020603050405020304" pitchFamily="18" charset="0"/>
                <a:ea typeface="宋体" panose="02010600030101010101" pitchFamily="2" charset="-122"/>
              </a:rPr>
              <a:t>D6D5=11</a:t>
            </a:r>
            <a:r>
              <a:rPr lang="zh-CN" altLang="en-US">
                <a:latin typeface="Times New Roman" panose="02020603050405020304" pitchFamily="18" charset="0"/>
                <a:ea typeface="宋体" panose="02010600030101010101" pitchFamily="2" charset="-122"/>
              </a:rPr>
              <a:t>时，则为特殊的中断结束（</a:t>
            </a:r>
            <a:r>
              <a:rPr lang="en-US" altLang="zh-CN" dirty="0">
                <a:latin typeface="Times New Roman" panose="02020603050405020304" pitchFamily="18" charset="0"/>
                <a:ea typeface="宋体" panose="02010600030101010101" pitchFamily="2" charset="-122"/>
              </a:rPr>
              <a:t>SEOI</a:t>
            </a:r>
            <a:r>
              <a:rPr lang="zh-CN" altLang="en-US" dirty="0">
                <a:latin typeface="Times New Roman" panose="02020603050405020304" pitchFamily="18" charset="0"/>
                <a:ea typeface="宋体" panose="02010600030101010101" pitchFamily="2" charset="-122"/>
              </a:rPr>
              <a:t>命令），它将复位</a:t>
            </a:r>
            <a:r>
              <a:rPr lang="en-US" altLang="zh-CN" dirty="0">
                <a:latin typeface="Times New Roman" panose="02020603050405020304" pitchFamily="18" charset="0"/>
                <a:ea typeface="宋体" panose="02010600030101010101" pitchFamily="2" charset="-122"/>
              </a:rPr>
              <a:t>ISR</a:t>
            </a:r>
            <a:r>
              <a:rPr lang="zh-CN" altLang="en-US" dirty="0">
                <a:latin typeface="Times New Roman" panose="02020603050405020304" pitchFamily="18" charset="0"/>
                <a:ea typeface="宋体" panose="02010600030101010101" pitchFamily="2" charset="-122"/>
              </a:rPr>
              <a:t>中由</a:t>
            </a:r>
            <a:r>
              <a:rPr lang="en-US" altLang="zh-CN" dirty="0">
                <a:latin typeface="Times New Roman" panose="02020603050405020304" pitchFamily="18" charset="0"/>
                <a:ea typeface="宋体" panose="02010600030101010101" pitchFamily="2" charset="-122"/>
              </a:rPr>
              <a:t>OCW2</a:t>
            </a:r>
            <a:r>
              <a:rPr lang="zh-CN" altLang="en-US" dirty="0">
                <a:latin typeface="Times New Roman" panose="02020603050405020304" pitchFamily="18" charset="0"/>
                <a:ea typeface="宋体" panose="02010600030101010101" pitchFamily="2" charset="-122"/>
              </a:rPr>
              <a:t>中的</a:t>
            </a:r>
            <a:r>
              <a:rPr lang="en-US" altLang="zh-CN" dirty="0">
                <a:latin typeface="Times New Roman" panose="02020603050405020304" pitchFamily="18" charset="0"/>
                <a:ea typeface="宋体" panose="02010600030101010101" pitchFamily="2" charset="-122"/>
              </a:rPr>
              <a:t>L2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L0</a:t>
            </a:r>
            <a:r>
              <a:rPr lang="zh-CN" altLang="en-US" dirty="0">
                <a:latin typeface="Times New Roman" panose="02020603050405020304" pitchFamily="18" charset="0"/>
                <a:ea typeface="宋体" panose="02010600030101010101" pitchFamily="2" charset="-122"/>
              </a:rPr>
              <a:t>指定的位。</a:t>
            </a: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8370" name="文本框 99"/>
          <p:cNvSpPr txBox="1"/>
          <p:nvPr/>
        </p:nvSpPr>
        <p:spPr>
          <a:xfrm>
            <a:off x="303213" y="2105025"/>
            <a:ext cx="8450262" cy="197167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（主片口地址</a:t>
            </a:r>
            <a:r>
              <a:rPr lang="en-US" altLang="zh-CN">
                <a:latin typeface="Times New Roman" panose="02020603050405020304" pitchFamily="18" charset="0"/>
                <a:ea typeface="宋体" panose="02010600030101010101" pitchFamily="2" charset="-122"/>
              </a:rPr>
              <a:t>20H</a:t>
            </a:r>
            <a:r>
              <a:rPr lang="zh-CN" altLang="en-US">
                <a:latin typeface="Times New Roman" panose="02020603050405020304" pitchFamily="18" charset="0"/>
                <a:ea typeface="宋体" panose="02010600030101010101" pitchFamily="2" charset="-122"/>
              </a:rPr>
              <a:t>，从片口地址</a:t>
            </a:r>
            <a:r>
              <a:rPr lang="en-US" altLang="zh-CN">
                <a:latin typeface="Times New Roman" panose="02020603050405020304" pitchFamily="18" charset="0"/>
                <a:ea typeface="宋体" panose="02010600030101010101" pitchFamily="2" charset="-122"/>
              </a:rPr>
              <a:t>A0H</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写入</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的地址和</a:t>
            </a:r>
            <a:r>
              <a:rPr lang="en-US" altLang="zh-CN">
                <a:latin typeface="Times New Roman" panose="02020603050405020304" pitchFamily="18" charset="0"/>
                <a:ea typeface="宋体" panose="02010600030101010101" pitchFamily="2" charset="-122"/>
              </a:rPr>
              <a:t>OCW2</a:t>
            </a:r>
            <a:r>
              <a:rPr lang="zh-CN" altLang="en-US">
                <a:latin typeface="Times New Roman" panose="02020603050405020304" pitchFamily="18" charset="0"/>
                <a:ea typeface="宋体" panose="02010600030101010101" pitchFamily="2" charset="-122"/>
              </a:rPr>
              <a:t>的相同，都是</a:t>
            </a:r>
            <a:r>
              <a:rPr lang="en-US" altLang="zh-CN">
                <a:latin typeface="Times New Roman" panose="02020603050405020304" pitchFamily="18" charset="0"/>
                <a:ea typeface="宋体" panose="02010600030101010101" pitchFamily="2" charset="-122"/>
              </a:rPr>
              <a:t>A0=0</a:t>
            </a:r>
            <a:r>
              <a:rPr lang="zh-CN" altLang="en-US">
                <a:latin typeface="Times New Roman" panose="02020603050405020304" pitchFamily="18" charset="0"/>
                <a:ea typeface="宋体" panose="02010600030101010101" pitchFamily="2" charset="-122"/>
              </a:rPr>
              <a:t>，但其特征位是</a:t>
            </a:r>
            <a:r>
              <a:rPr lang="en-US" altLang="zh-CN">
                <a:latin typeface="Times New Roman" panose="02020603050405020304" pitchFamily="18" charset="0"/>
                <a:ea typeface="宋体" panose="02010600030101010101" pitchFamily="2" charset="-122"/>
              </a:rPr>
              <a:t>D4D3=01</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功用：</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常用来配合读</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内部寄存器的内容。</a:t>
            </a:r>
          </a:p>
          <a:p>
            <a:pPr indent="266700" algn="just"/>
            <a:r>
              <a:rPr lang="zh-CN" altLang="en-US">
                <a:latin typeface="Times New Roman" panose="02020603050405020304" pitchFamily="18" charset="0"/>
                <a:ea typeface="宋体" panose="02010600030101010101" pitchFamily="2" charset="-122"/>
              </a:rPr>
              <a:t>     格式如下。</a:t>
            </a:r>
          </a:p>
        </p:txBody>
      </p:sp>
      <p:pic>
        <p:nvPicPr>
          <p:cNvPr id="58371" name="Picture 16" descr="7h"/>
          <p:cNvPicPr>
            <a:picLocks noChangeAspect="1"/>
          </p:cNvPicPr>
          <p:nvPr/>
        </p:nvPicPr>
        <p:blipFill>
          <a:blip r:embed="rId2"/>
          <a:stretch>
            <a:fillRect/>
          </a:stretch>
        </p:blipFill>
        <p:spPr>
          <a:xfrm>
            <a:off x="1755775" y="4168775"/>
            <a:ext cx="4943475" cy="708025"/>
          </a:xfrm>
          <a:prstGeom prst="rect">
            <a:avLst/>
          </a:prstGeom>
          <a:noFill/>
          <a:ln w="9525">
            <a:noFill/>
          </a:ln>
        </p:spPr>
      </p:pic>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59394" name="文本框 99"/>
          <p:cNvSpPr txBox="1"/>
          <p:nvPr/>
        </p:nvSpPr>
        <p:spPr>
          <a:xfrm>
            <a:off x="336550" y="1724025"/>
            <a:ext cx="8451850" cy="453072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D6</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D5</a:t>
            </a:r>
            <a:r>
              <a:rPr lang="zh-CN" altLang="en-US">
                <a:latin typeface="Times New Roman" panose="02020603050405020304" pitchFamily="18" charset="0"/>
                <a:ea typeface="宋体" panose="02010600030101010101" pitchFamily="2" charset="-122"/>
              </a:rPr>
              <a:t>两位用来设定和清除特殊屏蔽。这里首先介绍一下。一般情况下的屏蔽是：当交给优先权的中断源正处在中断服务的过程中时，所有优先权较低的中断申请全都被屏蔽了。特殊屏蔽是指：若</a:t>
            </a:r>
            <a:r>
              <a:rPr lang="en-US" altLang="zh-CN">
                <a:latin typeface="Times New Roman" panose="02020603050405020304" pitchFamily="18" charset="0"/>
                <a:ea typeface="宋体" panose="02010600030101010101" pitchFamily="2" charset="-122"/>
              </a:rPr>
              <a:t>CPU</a:t>
            </a:r>
            <a:r>
              <a:rPr lang="zh-CN" altLang="en-US">
                <a:latin typeface="Times New Roman" panose="02020603050405020304" pitchFamily="18" charset="0"/>
                <a:ea typeface="宋体" panose="02010600030101010101" pitchFamily="2" charset="-122"/>
              </a:rPr>
              <a:t>正处在中断服务过程中，希望能屏蔽一些较低优先权中断源的中断，而允许一些优先权更低的中断源发出中断申请。设置特殊屏蔽为：</a:t>
            </a:r>
            <a:r>
              <a:rPr lang="en-US" altLang="zh-CN">
                <a:latin typeface="Times New Roman" panose="02020603050405020304" pitchFamily="18" charset="0"/>
                <a:ea typeface="宋体" panose="02010600030101010101" pitchFamily="2" charset="-122"/>
              </a:rPr>
              <a:t>D6D5=11</a:t>
            </a:r>
            <a:r>
              <a:rPr lang="zh-CN" altLang="en-US">
                <a:latin typeface="Times New Roman" panose="02020603050405020304" pitchFamily="18" charset="0"/>
                <a:ea typeface="宋体" panose="02010600030101010101" pitchFamily="2" charset="-122"/>
              </a:rPr>
              <a:t>；清除特殊屏蔽为：</a:t>
            </a:r>
            <a:r>
              <a:rPr lang="en-US" altLang="zh-CN">
                <a:latin typeface="Times New Roman" panose="02020603050405020304" pitchFamily="18" charset="0"/>
                <a:ea typeface="宋体" panose="02010600030101010101" pitchFamily="2" charset="-122"/>
              </a:rPr>
              <a:t>D6D5=10</a:t>
            </a:r>
            <a:r>
              <a:rPr lang="zh-CN" altLang="en-US">
                <a:latin typeface="Times New Roman" panose="02020603050405020304" pitchFamily="18" charset="0"/>
                <a:ea typeface="宋体" panose="02010600030101010101" pitchFamily="2" charset="-122"/>
              </a:rPr>
              <a:t>。</a:t>
            </a:r>
          </a:p>
          <a:p>
            <a:pPr indent="266700" algn="just"/>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D1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D0</a:t>
            </a:r>
            <a:r>
              <a:rPr lang="zh-CN" altLang="en-US">
                <a:latin typeface="Times New Roman" panose="02020603050405020304" pitchFamily="18" charset="0"/>
                <a:ea typeface="宋体" panose="02010600030101010101" pitchFamily="2" charset="-122"/>
              </a:rPr>
              <a:t>两位组合表示中断请求寄存器（</a:t>
            </a:r>
            <a:r>
              <a:rPr lang="en-US" altLang="zh-CN">
                <a:latin typeface="Times New Roman" panose="02020603050405020304" pitchFamily="18" charset="0"/>
                <a:ea typeface="宋体" panose="02010600030101010101" pitchFamily="2" charset="-122"/>
              </a:rPr>
              <a:t>IRR</a:t>
            </a:r>
            <a:r>
              <a:rPr lang="zh-CN" altLang="en-US">
                <a:latin typeface="Times New Roman" panose="02020603050405020304" pitchFamily="18" charset="0"/>
                <a:ea typeface="宋体" panose="02010600030101010101" pitchFamily="2" charset="-122"/>
              </a:rPr>
              <a:t>）或是读中断服务寄存器（</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）。当</a:t>
            </a:r>
            <a:r>
              <a:rPr lang="en-US" altLang="zh-CN">
                <a:latin typeface="Times New Roman" panose="02020603050405020304" pitchFamily="18" charset="0"/>
                <a:ea typeface="宋体" panose="02010600030101010101" pitchFamily="2" charset="-122"/>
              </a:rPr>
              <a:t>OCW3</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D1D0=11</a:t>
            </a:r>
            <a:r>
              <a:rPr lang="zh-CN" altLang="en-US">
                <a:latin typeface="Times New Roman" panose="02020603050405020304" pitchFamily="18" charset="0"/>
                <a:ea typeface="宋体" panose="02010600030101010101" pitchFamily="2" charset="-122"/>
              </a:rPr>
              <a:t>时，也对同一个地址（</a:t>
            </a:r>
            <a:r>
              <a:rPr lang="en-US" altLang="zh-CN">
                <a:latin typeface="Times New Roman" panose="02020603050405020304" pitchFamily="18" charset="0"/>
                <a:ea typeface="宋体" panose="02010600030101010101" pitchFamily="2" charset="-122"/>
              </a:rPr>
              <a:t>A0</a:t>
            </a:r>
            <a:r>
              <a:rPr lang="zh-CN" altLang="en-US">
                <a:latin typeface="Times New Roman" panose="02020603050405020304" pitchFamily="18" charset="0"/>
                <a:ea typeface="宋体" panose="02010600030101010101" pitchFamily="2" charset="-122"/>
              </a:rPr>
              <a:t>）作输入，则读入的是中断服务寄存器（</a:t>
            </a:r>
            <a:r>
              <a:rPr lang="en-US" altLang="zh-CN">
                <a:latin typeface="Times New Roman" panose="02020603050405020304" pitchFamily="18" charset="0"/>
                <a:ea typeface="宋体" panose="02010600030101010101" pitchFamily="2" charset="-122"/>
              </a:rPr>
              <a:t>ISR</a:t>
            </a:r>
            <a:r>
              <a:rPr lang="zh-CN" altLang="en-US">
                <a:latin typeface="Times New Roman" panose="02020603050405020304" pitchFamily="18" charset="0"/>
                <a:ea typeface="宋体" panose="02010600030101010101" pitchFamily="2" charset="-122"/>
              </a:rPr>
              <a:t>）的内容。</a:t>
            </a:r>
          </a:p>
          <a:p>
            <a:pPr indent="266700" algn="just"/>
            <a:r>
              <a:rPr lang="zh-CN" altLang="en-US">
                <a:latin typeface="Times New Roman" panose="02020603050405020304" pitchFamily="18" charset="0"/>
                <a:ea typeface="宋体" panose="02010600030101010101" pitchFamily="2" charset="-122"/>
              </a:rPr>
              <a:t>     除了以上两个寄存器外，任何时候对</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用奇地址</a:t>
            </a:r>
            <a:r>
              <a:rPr lang="en-US" altLang="zh-CN">
                <a:latin typeface="Times New Roman" panose="02020603050405020304" pitchFamily="18" charset="0"/>
                <a:ea typeface="宋体" panose="02010600030101010101" pitchFamily="2" charset="-122"/>
              </a:rPr>
              <a:t>A0=1</a:t>
            </a:r>
            <a:r>
              <a:rPr lang="zh-CN" altLang="en-US">
                <a:latin typeface="Times New Roman" panose="02020603050405020304" pitchFamily="18" charset="0"/>
                <a:ea typeface="宋体" panose="02010600030101010101" pitchFamily="2" charset="-122"/>
              </a:rPr>
              <a:t>作输入，都可以读出</a:t>
            </a:r>
            <a:r>
              <a:rPr lang="en-US" altLang="zh-CN">
                <a:latin typeface="Times New Roman" panose="02020603050405020304" pitchFamily="18" charset="0"/>
                <a:ea typeface="宋体" panose="02010600030101010101" pitchFamily="2" charset="-122"/>
              </a:rPr>
              <a:t>IMR</a:t>
            </a:r>
            <a:r>
              <a:rPr lang="zh-CN" altLang="en-US">
                <a:latin typeface="Times New Roman" panose="02020603050405020304" pitchFamily="18" charset="0"/>
                <a:ea typeface="宋体" panose="02010600030101010101" pitchFamily="2" charset="-122"/>
              </a:rPr>
              <a:t>的内容。</a:t>
            </a: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8259A在微机系统中的应用</a:t>
            </a:r>
          </a:p>
        </p:txBody>
      </p:sp>
      <p:sp>
        <p:nvSpPr>
          <p:cNvPr id="60418" name="文本框 99"/>
          <p:cNvSpPr txBox="1"/>
          <p:nvPr/>
        </p:nvSpPr>
        <p:spPr>
          <a:xfrm>
            <a:off x="336550" y="1724025"/>
            <a:ext cx="8451850" cy="839788"/>
          </a:xfrm>
          <a:prstGeom prst="rect">
            <a:avLst/>
          </a:prstGeom>
          <a:noFill/>
          <a:ln w="9525">
            <a:noFill/>
          </a:ln>
        </p:spPr>
        <p:txBody>
          <a:bodyPr wrap="square" anchor="t" anchorCtr="0">
            <a:spAutoFit/>
          </a:bodyPr>
          <a:lstStyle/>
          <a:p>
            <a:pPr indent="266700" algn="just"/>
            <a:r>
              <a:rPr lang="zh-CN" altLang="en-US">
                <a:latin typeface="Times New Roman" panose="02020603050405020304" pitchFamily="18" charset="0"/>
                <a:ea typeface="宋体" panose="02010600030101010101" pitchFamily="2" charset="-122"/>
              </a:rPr>
              <a:t>【例</a:t>
            </a:r>
            <a:r>
              <a:rPr lang="en-US" altLang="zh-CN">
                <a:latin typeface="Times New Roman" panose="02020603050405020304" pitchFamily="18" charset="0"/>
                <a:ea typeface="宋体" panose="02010600030101010101" pitchFamily="2" charset="-122"/>
              </a:rPr>
              <a:t>7.1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在</a:t>
            </a:r>
            <a:r>
              <a:rPr lang="en-US" altLang="zh-CN">
                <a:latin typeface="Times New Roman" panose="02020603050405020304" pitchFamily="18" charset="0"/>
                <a:ea typeface="宋体" panose="02010600030101010101" pitchFamily="2" charset="-122"/>
              </a:rPr>
              <a:t>IBM PC/XT</a:t>
            </a:r>
            <a:r>
              <a:rPr lang="zh-CN" altLang="en-US">
                <a:latin typeface="Times New Roman" panose="02020603050405020304" pitchFamily="18" charset="0"/>
                <a:ea typeface="宋体" panose="02010600030101010101" pitchFamily="2" charset="-122"/>
              </a:rPr>
              <a:t>中的应用。</a:t>
            </a:r>
          </a:p>
          <a:p>
            <a:pPr indent="266700" algn="just"/>
            <a:r>
              <a:rPr lang="zh-CN" altLang="en-US">
                <a:latin typeface="Times New Roman" panose="02020603050405020304" pitchFamily="18" charset="0"/>
                <a:ea typeface="宋体" panose="02010600030101010101" pitchFamily="2" charset="-122"/>
              </a:rPr>
              <a:t> 其连接图如图</a:t>
            </a:r>
            <a:r>
              <a:rPr lang="en-US" altLang="zh-CN">
                <a:latin typeface="Times New Roman" panose="02020603050405020304" pitchFamily="18" charset="0"/>
                <a:ea typeface="宋体" panose="02010600030101010101" pitchFamily="2" charset="-122"/>
              </a:rPr>
              <a:t>7-8</a:t>
            </a:r>
            <a:r>
              <a:rPr lang="zh-CN" altLang="en-US">
                <a:latin typeface="Times New Roman" panose="02020603050405020304" pitchFamily="18" charset="0"/>
                <a:ea typeface="宋体" panose="02010600030101010101" pitchFamily="2" charset="-122"/>
              </a:rPr>
              <a:t>所示。</a:t>
            </a:r>
          </a:p>
        </p:txBody>
      </p:sp>
      <p:pic>
        <p:nvPicPr>
          <p:cNvPr id="60419" name="Picture 17" descr="7"/>
          <p:cNvPicPr>
            <a:picLocks noChangeAspect="1"/>
          </p:cNvPicPr>
          <p:nvPr/>
        </p:nvPicPr>
        <p:blipFill>
          <a:blip r:embed="rId2"/>
          <a:stretch>
            <a:fillRect/>
          </a:stretch>
        </p:blipFill>
        <p:spPr>
          <a:xfrm>
            <a:off x="1063625" y="2747963"/>
            <a:ext cx="6638925" cy="2967037"/>
          </a:xfrm>
          <a:prstGeom prst="rect">
            <a:avLst/>
          </a:prstGeom>
          <a:noFill/>
          <a:ln w="9525">
            <a:noFill/>
          </a:ln>
        </p:spPr>
      </p:pic>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8259A在微机系统中的应用</a:t>
            </a:r>
          </a:p>
        </p:txBody>
      </p:sp>
      <p:sp>
        <p:nvSpPr>
          <p:cNvPr id="61442" name="文本框 99"/>
          <p:cNvSpPr txBox="1"/>
          <p:nvPr/>
        </p:nvSpPr>
        <p:spPr>
          <a:xfrm>
            <a:off x="2014538" y="1393825"/>
            <a:ext cx="5080000" cy="381000"/>
          </a:xfrm>
          <a:prstGeom prst="rect">
            <a:avLst/>
          </a:prstGeom>
          <a:noFill/>
          <a:ln w="9525">
            <a:noFill/>
          </a:ln>
        </p:spPr>
        <p:txBody>
          <a:bodyPr anchor="t" anchorCtr="0">
            <a:spAutoFit/>
          </a:bodyPr>
          <a:lstStyle/>
          <a:p>
            <a:pPr algn="ctr"/>
            <a:r>
              <a:rPr lang="zh-CN" altLang="en-US" sz="2000" b="0">
                <a:latin typeface="黑体" panose="02010609060101010101" pitchFamily="49" charset="-122"/>
                <a:ea typeface="黑体" panose="02010609060101010101" pitchFamily="49" charset="-122"/>
              </a:rPr>
              <a:t>表</a:t>
            </a:r>
            <a:r>
              <a:rPr lang="en-US" altLang="zh-CN" sz="2000" b="0">
                <a:latin typeface="Arial" panose="020B0604020202020204" pitchFamily="34" charset="0"/>
                <a:ea typeface="宋体" panose="02010600030101010101" pitchFamily="2" charset="-122"/>
              </a:rPr>
              <a:t>7-3  IBM PC/AT</a:t>
            </a:r>
            <a:r>
              <a:rPr lang="zh-CN" altLang="en-US" sz="2000" b="0">
                <a:latin typeface="黑体" panose="02010609060101010101" pitchFamily="49" charset="-122"/>
                <a:ea typeface="黑体" panose="02010609060101010101" pitchFamily="49" charset="-122"/>
              </a:rPr>
              <a:t>的中断源和类型号</a:t>
            </a:r>
            <a:endParaRPr lang="zh-CN" altLang="en-US" sz="2000">
              <a:latin typeface="宋体" panose="02010600030101010101" pitchFamily="2" charset="-122"/>
              <a:ea typeface="宋体" panose="02010600030101010101" pitchFamily="2" charset="-122"/>
            </a:endParaRPr>
          </a:p>
        </p:txBody>
      </p:sp>
      <p:graphicFrame>
        <p:nvGraphicFramePr>
          <p:cNvPr id="2" name="表格 -1"/>
          <p:cNvGraphicFramePr/>
          <p:nvPr/>
        </p:nvGraphicFramePr>
        <p:xfrm>
          <a:off x="914400" y="1857375"/>
          <a:ext cx="7384415" cy="4145297"/>
        </p:xfrm>
        <a:graphic>
          <a:graphicData uri="http://schemas.openxmlformats.org/drawingml/2006/table">
            <a:tbl>
              <a:tblPr firstRow="1" bandRow="1">
                <a:tableStyleId>{5940675A-B579-460E-94D1-54222C63F5DA}</a:tableStyleId>
              </a:tblPr>
              <a:tblGrid>
                <a:gridCol w="1779270">
                  <a:extLst>
                    <a:ext uri="{9D8B030D-6E8A-4147-A177-3AD203B41FA5}">
                      <a16:colId xmlns:a16="http://schemas.microsoft.com/office/drawing/2014/main" val="20000"/>
                    </a:ext>
                  </a:extLst>
                </a:gridCol>
                <a:gridCol w="1427480">
                  <a:extLst>
                    <a:ext uri="{9D8B030D-6E8A-4147-A177-3AD203B41FA5}">
                      <a16:colId xmlns:a16="http://schemas.microsoft.com/office/drawing/2014/main" val="20001"/>
                    </a:ext>
                  </a:extLst>
                </a:gridCol>
                <a:gridCol w="1134110">
                  <a:extLst>
                    <a:ext uri="{9D8B030D-6E8A-4147-A177-3AD203B41FA5}">
                      <a16:colId xmlns:a16="http://schemas.microsoft.com/office/drawing/2014/main" val="20002"/>
                    </a:ext>
                  </a:extLst>
                </a:gridCol>
                <a:gridCol w="1176655">
                  <a:extLst>
                    <a:ext uri="{9D8B030D-6E8A-4147-A177-3AD203B41FA5}">
                      <a16:colId xmlns:a16="http://schemas.microsoft.com/office/drawing/2014/main" val="20003"/>
                    </a:ext>
                  </a:extLst>
                </a:gridCol>
                <a:gridCol w="1866900">
                  <a:extLst>
                    <a:ext uri="{9D8B030D-6E8A-4147-A177-3AD203B41FA5}">
                      <a16:colId xmlns:a16="http://schemas.microsoft.com/office/drawing/2014/main" val="20004"/>
                    </a:ext>
                  </a:extLst>
                </a:gridCol>
              </a:tblGrid>
              <a:tr h="191770">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中断向量地址指针</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8259A</a:t>
                      </a:r>
                      <a:r>
                        <a:rPr lang="zh-CN" altLang="en-US" sz="1600" b="1" u="none">
                          <a:latin typeface="宋体" panose="02010600030101010101" pitchFamily="2" charset="-122"/>
                          <a:ea typeface="宋体" panose="02010600030101010101" pitchFamily="2" charset="-122"/>
                          <a:cs typeface="宋体" panose="02010600030101010101" pitchFamily="2" charset="-122"/>
                        </a:rPr>
                        <a:t>引脚引脚</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中断类型号</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优先级</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中断源</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479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00020H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0</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08H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a:t>
                      </a:r>
                      <a:r>
                        <a:rPr lang="zh-CN" altLang="en-US" sz="1600" b="1" u="none">
                          <a:latin typeface="宋体" panose="02010600030101010101" pitchFamily="2" charset="-122"/>
                          <a:ea typeface="宋体" panose="02010600030101010101" pitchFamily="2" charset="-122"/>
                          <a:cs typeface="宋体" panose="02010600030101010101" pitchFamily="2" charset="-122"/>
                        </a:rPr>
                        <a:t>（最高）</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定时器</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00024H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09H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键盘</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352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00028H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2</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0AH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2</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8259A</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479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001C0H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0</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70H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3</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时钟</a:t>
                      </a:r>
                      <a:r>
                        <a:rPr lang="en-US" altLang="zh-CN" sz="1600" b="1" u="none">
                          <a:latin typeface="宋体" panose="02010600030101010101" pitchFamily="2" charset="-122"/>
                          <a:ea typeface="宋体" panose="02010600030101010101" pitchFamily="2" charset="-122"/>
                          <a:cs typeface="宋体" panose="02010600030101010101" pitchFamily="2" charset="-122"/>
                        </a:rPr>
                        <a:t>/</a:t>
                      </a:r>
                      <a:r>
                        <a:rPr lang="zh-CN" altLang="en-US" sz="1600" b="1" u="none">
                          <a:latin typeface="宋体" panose="02010600030101010101" pitchFamily="2" charset="-122"/>
                          <a:ea typeface="宋体" panose="02010600030101010101" pitchFamily="2" charset="-122"/>
                          <a:cs typeface="宋体" panose="02010600030101010101" pitchFamily="2" charset="-122"/>
                        </a:rPr>
                        <a:t>日历钟</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352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001C4H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71H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4</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1" u="none">
                          <a:latin typeface="宋体" panose="02010600030101010101" pitchFamily="2" charset="-122"/>
                          <a:ea typeface="宋体" panose="02010600030101010101" pitchFamily="2" charset="-122"/>
                          <a:cs typeface="宋体" panose="02010600030101010101" pitchFamily="2" charset="-122"/>
                        </a:rPr>
                        <a:t>IRO</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9</a:t>
                      </a:r>
                      <a:r>
                        <a:rPr lang="zh-CN" altLang="en-US" sz="1600" b="1" u="none">
                          <a:latin typeface="宋体" panose="02010600030101010101" pitchFamily="2" charset="-122"/>
                          <a:ea typeface="宋体" panose="02010600030101010101" pitchFamily="2" charset="-122"/>
                          <a:cs typeface="宋体" panose="02010600030101010101" pitchFamily="2" charset="-122"/>
                        </a:rPr>
                        <a:t>（保留）</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001C8H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2</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72H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5</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1" u="none">
                          <a:latin typeface="宋体" panose="02010600030101010101" pitchFamily="2" charset="-122"/>
                          <a:ea typeface="宋体" panose="02010600030101010101" pitchFamily="2" charset="-122"/>
                          <a:cs typeface="宋体" panose="02010600030101010101" pitchFamily="2" charset="-122"/>
                        </a:rPr>
                        <a:t>IRO</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10</a:t>
                      </a:r>
                      <a:r>
                        <a:rPr lang="zh-CN" altLang="en-US" sz="1600" b="1" u="none">
                          <a:latin typeface="宋体" panose="02010600030101010101" pitchFamily="2" charset="-122"/>
                          <a:ea typeface="宋体" panose="02010600030101010101" pitchFamily="2" charset="-122"/>
                          <a:cs typeface="宋体" panose="02010600030101010101" pitchFamily="2" charset="-122"/>
                        </a:rPr>
                        <a:t>（保留）</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479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001CCH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3</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73H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1" u="none">
                          <a:latin typeface="宋体" panose="02010600030101010101" pitchFamily="2" charset="-122"/>
                          <a:ea typeface="宋体" panose="02010600030101010101" pitchFamily="2" charset="-122"/>
                          <a:cs typeface="宋体" panose="02010600030101010101" pitchFamily="2" charset="-122"/>
                        </a:rPr>
                        <a:t>IRO</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11</a:t>
                      </a:r>
                      <a:r>
                        <a:rPr lang="zh-CN" altLang="en-US" sz="1600" b="1" u="none">
                          <a:latin typeface="宋体" panose="02010600030101010101" pitchFamily="2" charset="-122"/>
                          <a:ea typeface="宋体" panose="02010600030101010101" pitchFamily="2" charset="-122"/>
                          <a:cs typeface="宋体" panose="02010600030101010101" pitchFamily="2" charset="-122"/>
                        </a:rPr>
                        <a:t>（保留）</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352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001D0H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4</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74H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1" u="none">
                          <a:latin typeface="宋体" panose="02010600030101010101" pitchFamily="2" charset="-122"/>
                          <a:ea typeface="宋体" panose="02010600030101010101" pitchFamily="2" charset="-122"/>
                          <a:cs typeface="宋体" panose="02010600030101010101" pitchFamily="2" charset="-122"/>
                        </a:rPr>
                        <a:t>IRO</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12</a:t>
                      </a:r>
                      <a:r>
                        <a:rPr lang="zh-CN" altLang="en-US" sz="1600" b="1" u="none">
                          <a:latin typeface="宋体" panose="02010600030101010101" pitchFamily="2" charset="-122"/>
                          <a:ea typeface="宋体" panose="02010600030101010101" pitchFamily="2" charset="-122"/>
                          <a:cs typeface="宋体" panose="02010600030101010101" pitchFamily="2" charset="-122"/>
                        </a:rPr>
                        <a:t>（保留）</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001D4H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5</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75H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8</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协处理器</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001D6H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6</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76H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9</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硬盘控制器</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001D8H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从片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7</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77H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en-US" altLang="zh-CN" sz="1600" b="1" u="none">
                          <a:latin typeface="宋体" panose="02010600030101010101" pitchFamily="2" charset="-122"/>
                          <a:ea typeface="宋体" panose="02010600030101010101" pitchFamily="2" charset="-122"/>
                          <a:cs typeface="宋体" panose="02010600030101010101" pitchFamily="2" charset="-122"/>
                        </a:rPr>
                        <a:t>IRQ</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15</a:t>
                      </a:r>
                      <a:r>
                        <a:rPr lang="zh-CN" altLang="en-US" sz="1600" b="1" u="none">
                          <a:latin typeface="宋体" panose="02010600030101010101" pitchFamily="2" charset="-122"/>
                          <a:ea typeface="宋体" panose="02010600030101010101" pitchFamily="2" charset="-122"/>
                          <a:cs typeface="宋体" panose="02010600030101010101" pitchFamily="2" charset="-122"/>
                        </a:rPr>
                        <a:t>（保留）</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479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0002CH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3</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0BH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异步通信口</a:t>
                      </a:r>
                      <a:r>
                        <a:rPr lang="en-US" altLang="zh-CN" sz="1600" b="1" u="none">
                          <a:latin typeface="宋体" panose="02010600030101010101" pitchFamily="2" charset="-122"/>
                          <a:ea typeface="宋体" panose="02010600030101010101" pitchFamily="2" charset="-122"/>
                          <a:cs typeface="宋体" panose="02010600030101010101" pitchFamily="2" charset="-122"/>
                        </a:rPr>
                        <a:t>(COM</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2</a:t>
                      </a:r>
                      <a:r>
                        <a:rPr lang="en-US" altLang="zh-CN" sz="1600" b="1" u="none">
                          <a:latin typeface="宋体" panose="02010600030101010101" pitchFamily="2" charset="-122"/>
                          <a:ea typeface="宋体" panose="02010600030101010101" pitchFamily="2" charset="-122"/>
                          <a:cs typeface="宋体" panose="02010600030101010101" pitchFamily="2" charset="-122"/>
                        </a:rPr>
                        <a:t>)</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3520">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00030H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4</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0CH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12</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异步通信口</a:t>
                      </a:r>
                      <a:r>
                        <a:rPr lang="en-US" altLang="zh-CN" sz="1600" b="1" u="none">
                          <a:latin typeface="宋体" panose="02010600030101010101" pitchFamily="2" charset="-122"/>
                          <a:ea typeface="宋体" panose="02010600030101010101" pitchFamily="2" charset="-122"/>
                          <a:cs typeface="宋体" panose="02010600030101010101" pitchFamily="2" charset="-122"/>
                        </a:rPr>
                        <a:t>(COM</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1</a:t>
                      </a:r>
                      <a:r>
                        <a:rPr lang="en-US" altLang="zh-CN" sz="1600" b="1" u="none">
                          <a:latin typeface="宋体" panose="02010600030101010101" pitchFamily="2" charset="-122"/>
                          <a:ea typeface="宋体" panose="02010600030101010101" pitchFamily="2" charset="-122"/>
                          <a:cs typeface="宋体" panose="02010600030101010101" pitchFamily="2" charset="-122"/>
                        </a:rPr>
                        <a:t>)</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00034H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5</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0DH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13</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并行打印口</a:t>
                      </a:r>
                      <a:r>
                        <a:rPr lang="en-US" altLang="zh-CN" sz="1600" b="1" u="none">
                          <a:latin typeface="宋体" panose="02010600030101010101" pitchFamily="2" charset="-122"/>
                          <a:ea typeface="宋体" panose="02010600030101010101" pitchFamily="2" charset="-122"/>
                          <a:cs typeface="宋体" panose="02010600030101010101" pitchFamily="2" charset="-122"/>
                        </a:rPr>
                        <a:t>22</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00038H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6</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0EH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14</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软盘驱动器</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24155">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0003CH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主片</a:t>
                      </a:r>
                      <a:r>
                        <a:rPr lang="en-US" altLang="zh-CN" sz="1600" b="1" u="none">
                          <a:latin typeface="宋体" panose="02010600030101010101" pitchFamily="2" charset="-122"/>
                          <a:ea typeface="宋体" panose="02010600030101010101" pitchFamily="2" charset="-122"/>
                          <a:cs typeface="宋体" panose="02010600030101010101" pitchFamily="2" charset="-122"/>
                        </a:rPr>
                        <a:t>IR</a:t>
                      </a:r>
                      <a:r>
                        <a:rPr lang="en-US" altLang="zh-CN" sz="1600" b="1" u="none" baseline="-25000">
                          <a:latin typeface="宋体" panose="02010600030101010101" pitchFamily="2" charset="-122"/>
                          <a:ea typeface="宋体" panose="02010600030101010101" pitchFamily="2" charset="-122"/>
                          <a:cs typeface="宋体" panose="02010600030101010101" pitchFamily="2" charset="-122"/>
                        </a:rPr>
                        <a:t>7</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0FH</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15</a:t>
                      </a:r>
                      <a:r>
                        <a:rPr lang="zh-CN" altLang="en-US" sz="1600" b="1" u="none">
                          <a:latin typeface="宋体" panose="02010600030101010101" pitchFamily="2" charset="-122"/>
                          <a:ea typeface="宋体" panose="02010600030101010101" pitchFamily="2" charset="-122"/>
                          <a:cs typeface="宋体" panose="02010600030101010101" pitchFamily="2" charset="-122"/>
                        </a:rPr>
                        <a:t>（最低）</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并行打印口</a:t>
                      </a:r>
                      <a:r>
                        <a:rPr lang="en-US" altLang="zh-CN" sz="1600" b="1" u="none">
                          <a:latin typeface="宋体" panose="02010600030101010101" pitchFamily="2" charset="-122"/>
                          <a:ea typeface="宋体" panose="02010600030101010101" pitchFamily="2" charset="-122"/>
                          <a:cs typeface="宋体" panose="02010600030101010101" pitchFamily="2" charset="-122"/>
                        </a:rPr>
                        <a:t>11</a:t>
                      </a:r>
                    </a:p>
                  </a:txBody>
                  <a:tcPr marL="200025"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1"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1"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8259A的编程</a:t>
            </a:r>
          </a:p>
        </p:txBody>
      </p:sp>
      <p:sp>
        <p:nvSpPr>
          <p:cNvPr id="62466" name="文本框 99"/>
          <p:cNvSpPr txBox="1"/>
          <p:nvPr/>
        </p:nvSpPr>
        <p:spPr>
          <a:xfrm>
            <a:off x="277813" y="1403350"/>
            <a:ext cx="8450262" cy="1095375"/>
          </a:xfrm>
          <a:prstGeom prst="rect">
            <a:avLst/>
          </a:prstGeom>
          <a:noFill/>
          <a:ln w="9525">
            <a:noFill/>
          </a:ln>
        </p:spPr>
        <p:txBody>
          <a:bodyPr wrap="square" anchor="t" anchorCtr="0">
            <a:spAutoFit/>
          </a:bodyPr>
          <a:lstStyle/>
          <a:p>
            <a:pPr indent="266700" algn="just"/>
            <a:r>
              <a:rPr lang="en-US" altLang="en-US">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【例</a:t>
            </a:r>
            <a:r>
              <a:rPr lang="en-US" altLang="zh-CN">
                <a:latin typeface="Times New Roman" panose="02020603050405020304" pitchFamily="18" charset="0"/>
                <a:ea typeface="宋体" panose="02010600030101010101" pitchFamily="2" charset="-122"/>
              </a:rPr>
              <a:t>7.2</a:t>
            </a:r>
            <a:r>
              <a:rPr lang="zh-CN" altLang="en-US">
                <a:latin typeface="Times New Roman" panose="02020603050405020304" pitchFamily="18" charset="0"/>
                <a:ea typeface="宋体" panose="02010600030101010101" pitchFamily="2" charset="-122"/>
              </a:rPr>
              <a:t>】试编程实现主机每次响应</a:t>
            </a:r>
            <a:r>
              <a:rPr lang="en-US" altLang="zh-CN">
                <a:latin typeface="Times New Roman" panose="02020603050405020304" pitchFamily="18" charset="0"/>
                <a:ea typeface="宋体" panose="02010600030101010101" pitchFamily="2" charset="-122"/>
              </a:rPr>
              <a:t>8259A</a:t>
            </a:r>
            <a:r>
              <a:rPr lang="zh-CN" altLang="en-US">
                <a:latin typeface="Times New Roman" panose="02020603050405020304" pitchFamily="18" charset="0"/>
                <a:ea typeface="宋体" panose="02010600030101010101" pitchFamily="2" charset="-122"/>
              </a:rPr>
              <a:t>的</a:t>
            </a:r>
            <a:r>
              <a:rPr lang="en-US" altLang="zh-CN">
                <a:latin typeface="Times New Roman" panose="02020603050405020304" pitchFamily="18" charset="0"/>
                <a:ea typeface="宋体" panose="02010600030101010101" pitchFamily="2" charset="-122"/>
              </a:rPr>
              <a:t>IR2</a:t>
            </a:r>
            <a:r>
              <a:rPr lang="zh-CN" altLang="en-US">
                <a:latin typeface="Times New Roman" panose="02020603050405020304" pitchFamily="18" charset="0"/>
                <a:ea typeface="宋体" panose="02010600030101010101" pitchFamily="2" charset="-122"/>
              </a:rPr>
              <a:t>中断请求，显示字符串“</a:t>
            </a:r>
            <a:r>
              <a:rPr lang="en-US" altLang="zh-CN">
                <a:latin typeface="Times New Roman" panose="02020603050405020304" pitchFamily="18" charset="0"/>
                <a:ea typeface="宋体" panose="02010600030101010101" pitchFamily="2" charset="-122"/>
              </a:rPr>
              <a:t>THIS IS A 8259A INTERRUPT!”</a:t>
            </a:r>
            <a:r>
              <a:rPr lang="zh-CN" altLang="en-US">
                <a:latin typeface="Times New Roman" panose="02020603050405020304" pitchFamily="18" charset="0"/>
                <a:ea typeface="宋体" panose="02010600030101010101" pitchFamily="2" charset="-122"/>
              </a:rPr>
              <a:t>，中断</a:t>
            </a:r>
            <a:r>
              <a:rPr lang="en-US" altLang="zh-CN">
                <a:latin typeface="Times New Roman" panose="02020603050405020304" pitchFamily="18" charset="0"/>
                <a:ea typeface="宋体" panose="02010600030101010101" pitchFamily="2" charset="-122"/>
              </a:rPr>
              <a:t>10</a:t>
            </a:r>
            <a:r>
              <a:rPr lang="zh-CN" altLang="en-US">
                <a:latin typeface="Times New Roman" panose="02020603050405020304" pitchFamily="18" charset="0"/>
                <a:ea typeface="宋体" panose="02010600030101010101" pitchFamily="2" charset="-122"/>
              </a:rPr>
              <a:t>次结束。流程图如图</a:t>
            </a:r>
            <a:r>
              <a:rPr lang="en-US" altLang="zh-CN">
                <a:latin typeface="Times New Roman" panose="02020603050405020304" pitchFamily="18" charset="0"/>
                <a:ea typeface="宋体" panose="02010600030101010101" pitchFamily="2" charset="-122"/>
              </a:rPr>
              <a:t>7-9</a:t>
            </a:r>
            <a:r>
              <a:rPr lang="zh-CN" altLang="en-US">
                <a:latin typeface="Times New Roman" panose="02020603050405020304" pitchFamily="18" charset="0"/>
                <a:ea typeface="宋体" panose="02010600030101010101" pitchFamily="2" charset="-122"/>
              </a:rPr>
              <a:t>所示。</a:t>
            </a:r>
          </a:p>
        </p:txBody>
      </p:sp>
      <p:pic>
        <p:nvPicPr>
          <p:cNvPr id="62467" name="图片 58" descr="图片2"/>
          <p:cNvPicPr>
            <a:picLocks noChangeAspect="1"/>
          </p:cNvPicPr>
          <p:nvPr/>
        </p:nvPicPr>
        <p:blipFill>
          <a:blip r:embed="rId2"/>
          <a:stretch>
            <a:fillRect/>
          </a:stretch>
        </p:blipFill>
        <p:spPr>
          <a:xfrm>
            <a:off x="3630613" y="2187575"/>
            <a:ext cx="3541712" cy="4614863"/>
          </a:xfrm>
          <a:prstGeom prst="rect">
            <a:avLst/>
          </a:prstGeom>
          <a:noFill/>
          <a:ln w="9525">
            <a:noFill/>
          </a:ln>
        </p:spPr>
      </p:pic>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文本框 99"/>
          <p:cNvSpPr txBox="1"/>
          <p:nvPr/>
        </p:nvSpPr>
        <p:spPr>
          <a:xfrm>
            <a:off x="488950" y="153988"/>
            <a:ext cx="8256588" cy="6592887"/>
          </a:xfrm>
          <a:prstGeom prst="rect">
            <a:avLst/>
          </a:prstGeom>
          <a:noFill/>
          <a:ln w="9525">
            <a:noFill/>
          </a:ln>
        </p:spPr>
        <p:txBody>
          <a:bodyPr wrap="square" anchor="t" anchorCtr="0">
            <a:spAutoFit/>
          </a:bodyPr>
          <a:lstStyle/>
          <a:p>
            <a:pPr indent="266700" algn="just"/>
            <a:r>
              <a:rPr lang="en-US"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 DATA  SEGMENT</a:t>
            </a:r>
          </a:p>
          <a:p>
            <a:pPr indent="266700" algn="just"/>
            <a:r>
              <a:rPr lang="en-US" altLang="zh-CN" sz="1500">
                <a:latin typeface="Times New Roman" panose="02020603050405020304" pitchFamily="18" charset="0"/>
                <a:ea typeface="宋体" panose="02010600030101010101" pitchFamily="2" charset="-122"/>
              </a:rPr>
              <a:t>         MESS  DB        'THIS IS A 8259A INTERRUPT!',0AH,0DH,'$'</a:t>
            </a:r>
          </a:p>
          <a:p>
            <a:pPr indent="266700" algn="just"/>
            <a:r>
              <a:rPr lang="en-US" altLang="zh-CN" sz="1500">
                <a:latin typeface="Times New Roman" panose="02020603050405020304" pitchFamily="18" charset="0"/>
                <a:ea typeface="宋体" panose="02010600030101010101" pitchFamily="2" charset="-122"/>
              </a:rPr>
              <a:t>         DATA  ENDS</a:t>
            </a:r>
          </a:p>
          <a:p>
            <a:pPr indent="266700" algn="just"/>
            <a:r>
              <a:rPr lang="en-US" altLang="zh-CN" sz="1500">
                <a:latin typeface="Times New Roman" panose="02020603050405020304" pitchFamily="18" charset="0"/>
                <a:ea typeface="宋体" panose="02010600030101010101" pitchFamily="2" charset="-122"/>
              </a:rPr>
              <a:t>         CODE  SEGMENT</a:t>
            </a:r>
          </a:p>
          <a:p>
            <a:pPr indent="266700" algn="just"/>
            <a:r>
              <a:rPr lang="en-US" altLang="zh-CN" sz="1500">
                <a:latin typeface="Times New Roman" panose="02020603050405020304" pitchFamily="18" charset="0"/>
                <a:ea typeface="宋体" panose="02010600030101010101" pitchFamily="2" charset="-122"/>
              </a:rPr>
              <a:t>         ASSUME    CS:CODE, DS:DATA</a:t>
            </a:r>
          </a:p>
          <a:p>
            <a:pPr indent="266700" algn="just"/>
            <a:r>
              <a:rPr lang="en-US" altLang="zh-CN" sz="1500">
                <a:latin typeface="Times New Roman" panose="02020603050405020304" pitchFamily="18" charset="0"/>
                <a:ea typeface="宋体" panose="02010600030101010101" pitchFamily="2" charset="-122"/>
              </a:rPr>
              <a:t> START: MOV       AX, DATA</a:t>
            </a:r>
          </a:p>
          <a:p>
            <a:pPr indent="266700" algn="just"/>
            <a:r>
              <a:rPr lang="en-US" altLang="zh-CN" sz="1500">
                <a:latin typeface="Times New Roman" panose="02020603050405020304" pitchFamily="18" charset="0"/>
                <a:ea typeface="宋体" panose="02010600030101010101" pitchFamily="2" charset="-122"/>
              </a:rPr>
              <a:t>          MOV       DS, AX</a:t>
            </a:r>
          </a:p>
          <a:p>
            <a:pPr indent="266700" algn="just"/>
            <a:r>
              <a:rPr lang="en-US" altLang="zh-CN" sz="1500">
                <a:latin typeface="Times New Roman" panose="02020603050405020304" pitchFamily="18" charset="0"/>
                <a:ea typeface="宋体" panose="02010600030101010101" pitchFamily="2" charset="-122"/>
              </a:rPr>
              <a:t>          CLI                         	;</a:t>
            </a:r>
            <a:r>
              <a:rPr lang="zh-CN" altLang="en-US" sz="1500">
                <a:latin typeface="Times New Roman" panose="02020603050405020304" pitchFamily="18" charset="0"/>
                <a:ea typeface="宋体" panose="02010600030101010101" pitchFamily="2" charset="-122"/>
              </a:rPr>
              <a:t>关中断</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PUSH     DS</a:t>
            </a:r>
          </a:p>
          <a:p>
            <a:pPr indent="266700" algn="just"/>
            <a:r>
              <a:rPr lang="en-US" altLang="zh-CN" sz="1500">
                <a:latin typeface="Times New Roman" panose="02020603050405020304" pitchFamily="18" charset="0"/>
                <a:ea typeface="宋体" panose="02010600030101010101" pitchFamily="2" charset="-122"/>
              </a:rPr>
              <a:t>           MOV      AX, SEG DISPLAY   	;</a:t>
            </a:r>
            <a:r>
              <a:rPr lang="zh-CN" altLang="en-US" sz="1500">
                <a:latin typeface="Times New Roman" panose="02020603050405020304" pitchFamily="18" charset="0"/>
                <a:ea typeface="宋体" panose="02010600030101010101" pitchFamily="2" charset="-122"/>
              </a:rPr>
              <a:t>取中断服务程序入口段地址</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MOV      DS, AX  </a:t>
            </a:r>
          </a:p>
          <a:p>
            <a:pPr indent="266700" algn="just"/>
            <a:r>
              <a:rPr lang="en-US" altLang="zh-CN" sz="1500">
                <a:latin typeface="Times New Roman" panose="02020603050405020304" pitchFamily="18" charset="0"/>
                <a:ea typeface="宋体" panose="02010600030101010101" pitchFamily="2" charset="-122"/>
              </a:rPr>
              <a:t>           MOV      DX, OFFSET DISPLAY ;</a:t>
            </a:r>
            <a:r>
              <a:rPr lang="zh-CN" altLang="en-US" sz="1500">
                <a:latin typeface="Times New Roman" panose="02020603050405020304" pitchFamily="18" charset="0"/>
                <a:ea typeface="宋体" panose="02010600030101010101" pitchFamily="2" charset="-122"/>
              </a:rPr>
              <a:t>取中断服务程序入口偏移地址</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MOV      AX,250AH          	;</a:t>
            </a:r>
            <a:r>
              <a:rPr lang="zh-CN" altLang="en-US" sz="1500">
                <a:latin typeface="Times New Roman" panose="02020603050405020304" pitchFamily="18" charset="0"/>
                <a:ea typeface="宋体" panose="02010600030101010101" pitchFamily="2" charset="-122"/>
              </a:rPr>
              <a:t>设置中断向量</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INT      21H</a:t>
            </a:r>
          </a:p>
          <a:p>
            <a:pPr indent="266700" algn="just"/>
            <a:r>
              <a:rPr lang="en-US" altLang="zh-CN" sz="1500">
                <a:latin typeface="Times New Roman" panose="02020603050405020304" pitchFamily="18" charset="0"/>
                <a:ea typeface="宋体" panose="02010600030101010101" pitchFamily="2" charset="-122"/>
              </a:rPr>
              <a:t>           POP      DS</a:t>
            </a:r>
          </a:p>
          <a:p>
            <a:pPr indent="266700" algn="just"/>
            <a:r>
              <a:rPr lang="en-US" altLang="zh-CN" sz="1500">
                <a:latin typeface="Times New Roman" panose="02020603050405020304" pitchFamily="18" charset="0"/>
                <a:ea typeface="宋体" panose="02010600030101010101" pitchFamily="2" charset="-122"/>
              </a:rPr>
              <a:t>           MOV      AL,13H           	;</a:t>
            </a:r>
            <a:r>
              <a:rPr lang="zh-CN" altLang="en-US" sz="1500">
                <a:latin typeface="Times New Roman" panose="02020603050405020304" pitchFamily="18" charset="0"/>
                <a:ea typeface="宋体" panose="02010600030101010101" pitchFamily="2" charset="-122"/>
              </a:rPr>
              <a:t>设置</a:t>
            </a:r>
            <a:r>
              <a:rPr lang="en-US" altLang="zh-CN" sz="1500">
                <a:latin typeface="Times New Roman" panose="02020603050405020304" pitchFamily="18" charset="0"/>
                <a:ea typeface="宋体" panose="02010600030101010101" pitchFamily="2" charset="-122"/>
              </a:rPr>
              <a:t>ICW1</a:t>
            </a:r>
            <a:r>
              <a:rPr lang="zh-CN" altLang="en-US" sz="1500">
                <a:latin typeface="Times New Roman" panose="02020603050405020304" pitchFamily="18" charset="0"/>
                <a:ea typeface="宋体" panose="02010600030101010101" pitchFamily="2" charset="-122"/>
              </a:rPr>
              <a:t>，边沿触发，单片</a:t>
            </a:r>
            <a:r>
              <a:rPr lang="en-US" altLang="zh-CN" sz="1500">
                <a:latin typeface="Times New Roman" panose="02020603050405020304" pitchFamily="18" charset="0"/>
                <a:ea typeface="宋体" panose="02010600030101010101" pitchFamily="2" charset="-122"/>
              </a:rPr>
              <a:t>8259A</a:t>
            </a:r>
            <a:r>
              <a:rPr lang="zh-CN" altLang="en-US" sz="1500">
                <a:latin typeface="Times New Roman" panose="02020603050405020304" pitchFamily="18" charset="0"/>
                <a:ea typeface="宋体" panose="02010600030101010101" pitchFamily="2" charset="-122"/>
              </a:rPr>
              <a:t>，需</a:t>
            </a:r>
            <a:r>
              <a:rPr lang="en-US" altLang="zh-CN" sz="1500">
                <a:latin typeface="Times New Roman" panose="02020603050405020304" pitchFamily="18" charset="0"/>
                <a:ea typeface="宋体" panose="02010600030101010101" pitchFamily="2" charset="-122"/>
              </a:rPr>
              <a:t>ICW4</a:t>
            </a:r>
          </a:p>
          <a:p>
            <a:pPr indent="266700" algn="just"/>
            <a:r>
              <a:rPr lang="en-US" altLang="zh-CN" sz="1500">
                <a:latin typeface="Times New Roman" panose="02020603050405020304" pitchFamily="18" charset="0"/>
                <a:ea typeface="宋体" panose="02010600030101010101" pitchFamily="2" charset="-122"/>
              </a:rPr>
              <a:t>           OUT      20H,AL     </a:t>
            </a:r>
          </a:p>
          <a:p>
            <a:pPr indent="266700" algn="just"/>
            <a:r>
              <a:rPr lang="en-US" altLang="zh-CN" sz="1500">
                <a:latin typeface="Times New Roman" panose="02020603050405020304" pitchFamily="18" charset="0"/>
                <a:ea typeface="宋体" panose="02010600030101010101" pitchFamily="2" charset="-122"/>
              </a:rPr>
              <a:t>           MOV      AL,08H          	;</a:t>
            </a:r>
            <a:r>
              <a:rPr lang="zh-CN" altLang="en-US" sz="1500">
                <a:latin typeface="Times New Roman" panose="02020603050405020304" pitchFamily="18" charset="0"/>
                <a:ea typeface="宋体" panose="02010600030101010101" pitchFamily="2" charset="-122"/>
              </a:rPr>
              <a:t>设置</a:t>
            </a:r>
            <a:r>
              <a:rPr lang="en-US" altLang="zh-CN" sz="1500">
                <a:latin typeface="Times New Roman" panose="02020603050405020304" pitchFamily="18" charset="0"/>
                <a:ea typeface="宋体" panose="02010600030101010101" pitchFamily="2" charset="-122"/>
              </a:rPr>
              <a:t>ICW2</a:t>
            </a:r>
            <a:r>
              <a:rPr lang="zh-CN" altLang="en-US" sz="1500">
                <a:latin typeface="Times New Roman" panose="02020603050405020304" pitchFamily="18" charset="0"/>
                <a:ea typeface="宋体" panose="02010600030101010101" pitchFamily="2" charset="-122"/>
              </a:rPr>
              <a:t>，中断类型号的高</a:t>
            </a:r>
            <a:r>
              <a:rPr lang="en-US" altLang="zh-CN" sz="1500">
                <a:latin typeface="Times New Roman" panose="02020603050405020304" pitchFamily="18" charset="0"/>
                <a:ea typeface="宋体" panose="02010600030101010101" pitchFamily="2" charset="-122"/>
              </a:rPr>
              <a:t>5</a:t>
            </a:r>
            <a:r>
              <a:rPr lang="zh-CN" altLang="en-US" sz="1500">
                <a:latin typeface="Times New Roman" panose="02020603050405020304" pitchFamily="18" charset="0"/>
                <a:ea typeface="宋体" panose="02010600030101010101" pitchFamily="2" charset="-122"/>
              </a:rPr>
              <a:t>位为</a:t>
            </a:r>
            <a:r>
              <a:rPr lang="en-US" altLang="zh-CN" sz="1500">
                <a:latin typeface="Times New Roman" panose="02020603050405020304" pitchFamily="18" charset="0"/>
                <a:ea typeface="宋体" panose="02010600030101010101" pitchFamily="2" charset="-122"/>
              </a:rPr>
              <a:t>00001</a:t>
            </a:r>
          </a:p>
          <a:p>
            <a:pPr indent="266700" algn="just"/>
            <a:r>
              <a:rPr lang="en-US" altLang="zh-CN" sz="1500">
                <a:latin typeface="Times New Roman" panose="02020603050405020304" pitchFamily="18" charset="0"/>
                <a:ea typeface="宋体" panose="02010600030101010101" pitchFamily="2" charset="-122"/>
              </a:rPr>
              <a:t>           OUT      21H,AL</a:t>
            </a:r>
          </a:p>
          <a:p>
            <a:pPr indent="266700" algn="just"/>
            <a:r>
              <a:rPr lang="en-US" altLang="zh-CN" sz="1500">
                <a:latin typeface="Times New Roman" panose="02020603050405020304" pitchFamily="18" charset="0"/>
                <a:ea typeface="宋体" panose="02010600030101010101" pitchFamily="2" charset="-122"/>
              </a:rPr>
              <a:t>           MOV      AL,05H           	;</a:t>
            </a:r>
            <a:r>
              <a:rPr lang="zh-CN" altLang="en-US" sz="1500">
                <a:latin typeface="Times New Roman" panose="02020603050405020304" pitchFamily="18" charset="0"/>
                <a:ea typeface="宋体" panose="02010600030101010101" pitchFamily="2" charset="-122"/>
              </a:rPr>
              <a:t>设置</a:t>
            </a:r>
            <a:r>
              <a:rPr lang="en-US" altLang="zh-CN" sz="1500">
                <a:latin typeface="Times New Roman" panose="02020603050405020304" pitchFamily="18" charset="0"/>
                <a:ea typeface="宋体" panose="02010600030101010101" pitchFamily="2" charset="-122"/>
              </a:rPr>
              <a:t>ICW4</a:t>
            </a:r>
            <a:r>
              <a:rPr lang="zh-CN" altLang="en-US" sz="1500">
                <a:latin typeface="Times New Roman" panose="02020603050405020304" pitchFamily="18" charset="0"/>
                <a:ea typeface="宋体" panose="02010600030101010101" pitchFamily="2" charset="-122"/>
              </a:rPr>
              <a:t>，非</a:t>
            </a:r>
            <a:r>
              <a:rPr lang="en-US" altLang="zh-CN" sz="1500">
                <a:latin typeface="Times New Roman" panose="02020603050405020304" pitchFamily="18" charset="0"/>
                <a:ea typeface="宋体" panose="02010600030101010101" pitchFamily="2" charset="-122"/>
              </a:rPr>
              <a:t>AEOI</a:t>
            </a:r>
            <a:r>
              <a:rPr lang="zh-CN" altLang="en-US" sz="1500">
                <a:latin typeface="Times New Roman" panose="02020603050405020304" pitchFamily="18" charset="0"/>
                <a:ea typeface="宋体" panose="02010600030101010101" pitchFamily="2" charset="-122"/>
              </a:rPr>
              <a:t>方式，完全嵌套方式</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OUT      21H,AL</a:t>
            </a:r>
          </a:p>
          <a:p>
            <a:pPr indent="266700" algn="just"/>
            <a:r>
              <a:rPr lang="en-US" altLang="zh-CN" sz="1500">
                <a:latin typeface="Times New Roman" panose="02020603050405020304" pitchFamily="18" charset="0"/>
                <a:ea typeface="宋体" panose="02010600030101010101" pitchFamily="2" charset="-122"/>
              </a:rPr>
              <a:t>           IN       AL, 21H          	;</a:t>
            </a:r>
            <a:r>
              <a:rPr lang="zh-CN" altLang="en-US" sz="1500">
                <a:latin typeface="Times New Roman" panose="02020603050405020304" pitchFamily="18" charset="0"/>
                <a:ea typeface="宋体" panose="02010600030101010101" pitchFamily="2" charset="-122"/>
              </a:rPr>
              <a:t>读取</a:t>
            </a:r>
            <a:r>
              <a:rPr lang="en-US" altLang="zh-CN" sz="1500">
                <a:latin typeface="Times New Roman" panose="02020603050405020304" pitchFamily="18" charset="0"/>
                <a:ea typeface="宋体" panose="02010600030101010101" pitchFamily="2" charset="-122"/>
              </a:rPr>
              <a:t>IMR</a:t>
            </a:r>
          </a:p>
          <a:p>
            <a:pPr indent="266700" algn="just"/>
            <a:r>
              <a:rPr lang="en-US" altLang="zh-CN" sz="1500">
                <a:latin typeface="Times New Roman" panose="02020603050405020304" pitchFamily="18" charset="0"/>
                <a:ea typeface="宋体" panose="02010600030101010101" pitchFamily="2" charset="-122"/>
              </a:rPr>
              <a:t>           AND      AL,0FBH         	;</a:t>
            </a:r>
            <a:r>
              <a:rPr lang="zh-CN" altLang="en-US" sz="1500">
                <a:latin typeface="Times New Roman" panose="02020603050405020304" pitchFamily="18" charset="0"/>
                <a:ea typeface="宋体" panose="02010600030101010101" pitchFamily="2" charset="-122"/>
              </a:rPr>
              <a:t>开放</a:t>
            </a:r>
            <a:r>
              <a:rPr lang="en-US" altLang="zh-CN" sz="1500">
                <a:latin typeface="Times New Roman" panose="02020603050405020304" pitchFamily="18" charset="0"/>
                <a:ea typeface="宋体" panose="02010600030101010101" pitchFamily="2" charset="-122"/>
              </a:rPr>
              <a:t>IR2</a:t>
            </a:r>
          </a:p>
          <a:p>
            <a:pPr indent="266700" algn="just"/>
            <a:r>
              <a:rPr lang="en-US" altLang="zh-CN" sz="1500">
                <a:latin typeface="Times New Roman" panose="02020603050405020304" pitchFamily="18" charset="0"/>
                <a:ea typeface="宋体" panose="02010600030101010101" pitchFamily="2" charset="-122"/>
              </a:rPr>
              <a:t>           OUT      21H,AL</a:t>
            </a:r>
          </a:p>
          <a:p>
            <a:pPr indent="266700" algn="just"/>
            <a:r>
              <a:rPr lang="en-US" altLang="zh-CN" sz="1500">
                <a:latin typeface="Times New Roman" panose="02020603050405020304" pitchFamily="18" charset="0"/>
                <a:ea typeface="宋体" panose="02010600030101010101" pitchFamily="2" charset="-122"/>
              </a:rPr>
              <a:t>           MOV      BL,10            	;</a:t>
            </a:r>
            <a:r>
              <a:rPr lang="zh-CN" altLang="en-US" sz="1500">
                <a:latin typeface="Times New Roman" panose="02020603050405020304" pitchFamily="18" charset="0"/>
                <a:ea typeface="宋体" panose="02010600030101010101" pitchFamily="2" charset="-122"/>
              </a:rPr>
              <a:t>初始化中断次数</a:t>
            </a:r>
          </a:p>
          <a:p>
            <a:pPr indent="266700" algn="just"/>
            <a:r>
              <a:rPr lang="zh-CN" altLang="en-US" sz="1500">
                <a:latin typeface="Times New Roman" panose="02020603050405020304" pitchFamily="18" charset="0"/>
                <a:ea typeface="宋体" panose="02010600030101010101" pitchFamily="2" charset="-122"/>
              </a:rPr>
              <a:t>           </a:t>
            </a:r>
            <a:r>
              <a:rPr lang="en-US" altLang="zh-CN" sz="1500">
                <a:latin typeface="Times New Roman" panose="02020603050405020304" pitchFamily="18" charset="0"/>
                <a:ea typeface="宋体" panose="02010600030101010101" pitchFamily="2" charset="-122"/>
              </a:rPr>
              <a:t>STI                           	;</a:t>
            </a:r>
            <a:r>
              <a:rPr lang="zh-CN" altLang="en-US" sz="1500">
                <a:latin typeface="Times New Roman" panose="02020603050405020304" pitchFamily="18" charset="0"/>
                <a:ea typeface="宋体" panose="02010600030101010101" pitchFamily="2" charset="-122"/>
              </a:rPr>
              <a:t>开中断</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文本框 99"/>
          <p:cNvSpPr txBox="1"/>
          <p:nvPr/>
        </p:nvSpPr>
        <p:spPr>
          <a:xfrm>
            <a:off x="641350" y="280988"/>
            <a:ext cx="7505700" cy="6369050"/>
          </a:xfrm>
          <a:prstGeom prst="rect">
            <a:avLst/>
          </a:prstGeom>
          <a:noFill/>
          <a:ln w="9525">
            <a:noFill/>
          </a:ln>
        </p:spPr>
        <p:txBody>
          <a:bodyPr wrap="square" anchor="t" anchorCtr="0">
            <a:spAutoFit/>
          </a:bodyPr>
          <a:lstStyle/>
          <a:p>
            <a:pPr indent="266700" algn="just"/>
            <a:r>
              <a:rPr lang="en-US" altLang="en-US" sz="1800">
                <a:latin typeface="Times New Roman" panose="02020603050405020304" pitchFamily="18" charset="0"/>
                <a:ea typeface="宋体" panose="02010600030101010101" pitchFamily="2" charset="-122"/>
              </a:rPr>
              <a:t>     </a:t>
            </a:r>
            <a:r>
              <a:rPr lang="en-US" altLang="zh-CN" sz="1800">
                <a:latin typeface="Times New Roman" panose="02020603050405020304" pitchFamily="18" charset="0"/>
                <a:ea typeface="宋体" panose="02010600030101010101" pitchFamily="2" charset="-122"/>
              </a:rPr>
              <a:t>   WAIT1:  CMP      BL,0</a:t>
            </a:r>
          </a:p>
          <a:p>
            <a:pPr indent="266700" algn="just"/>
            <a:r>
              <a:rPr lang="en-US" altLang="zh-CN" sz="1800">
                <a:latin typeface="Times New Roman" panose="02020603050405020304" pitchFamily="18" charset="0"/>
                <a:ea typeface="宋体" panose="02010600030101010101" pitchFamily="2" charset="-122"/>
              </a:rPr>
              <a:t>            NOP</a:t>
            </a:r>
          </a:p>
          <a:p>
            <a:pPr indent="266700" algn="just"/>
            <a:r>
              <a:rPr lang="en-US" altLang="zh-CN" sz="1800">
                <a:latin typeface="Times New Roman" panose="02020603050405020304" pitchFamily="18" charset="0"/>
                <a:ea typeface="宋体" panose="02010600030101010101" pitchFamily="2" charset="-122"/>
              </a:rPr>
              <a:t>           JNZ      WAIT1</a:t>
            </a:r>
          </a:p>
          <a:p>
            <a:pPr indent="266700" algn="just"/>
            <a:r>
              <a:rPr lang="en-US" altLang="zh-CN" sz="1800">
                <a:latin typeface="Times New Roman" panose="02020603050405020304" pitchFamily="18" charset="0"/>
                <a:ea typeface="宋体" panose="02010600030101010101" pitchFamily="2" charset="-122"/>
              </a:rPr>
              <a:t>           CLI</a:t>
            </a:r>
          </a:p>
          <a:p>
            <a:pPr indent="266700" algn="just"/>
            <a:r>
              <a:rPr lang="en-US" altLang="zh-CN" sz="1800">
                <a:latin typeface="Times New Roman" panose="02020603050405020304" pitchFamily="18" charset="0"/>
                <a:ea typeface="宋体" panose="02010600030101010101" pitchFamily="2" charset="-122"/>
              </a:rPr>
              <a:t>           IN       AL,21H</a:t>
            </a:r>
          </a:p>
          <a:p>
            <a:pPr indent="266700" algn="just"/>
            <a:r>
              <a:rPr lang="en-US" altLang="zh-CN" sz="1800">
                <a:latin typeface="Times New Roman" panose="02020603050405020304" pitchFamily="18" charset="0"/>
                <a:ea typeface="宋体" panose="02010600030101010101" pitchFamily="2" charset="-122"/>
              </a:rPr>
              <a:t>           OR       AL,04H            	;</a:t>
            </a:r>
            <a:r>
              <a:rPr lang="zh-CN" altLang="en-US" sz="1800">
                <a:latin typeface="Times New Roman" panose="02020603050405020304" pitchFamily="18" charset="0"/>
                <a:ea typeface="宋体" panose="02010600030101010101" pitchFamily="2" charset="-122"/>
              </a:rPr>
              <a:t>禁止</a:t>
            </a:r>
            <a:r>
              <a:rPr lang="en-US" altLang="zh-CN" sz="1800">
                <a:latin typeface="Times New Roman" panose="02020603050405020304" pitchFamily="18" charset="0"/>
                <a:ea typeface="宋体" panose="02010600030101010101" pitchFamily="2" charset="-122"/>
              </a:rPr>
              <a:t>IR2</a:t>
            </a:r>
            <a:r>
              <a:rPr lang="zh-CN" altLang="en-US" sz="1800">
                <a:latin typeface="Times New Roman" panose="02020603050405020304" pitchFamily="18" charset="0"/>
                <a:ea typeface="宋体" panose="02010600030101010101" pitchFamily="2" charset="-122"/>
              </a:rPr>
              <a:t>中断</a:t>
            </a:r>
          </a:p>
          <a:p>
            <a:pPr indent="266700" algn="just"/>
            <a:r>
              <a:rPr lang="zh-CN" altLang="en-US" sz="1800">
                <a:latin typeface="Times New Roman" panose="02020603050405020304" pitchFamily="18" charset="0"/>
                <a:ea typeface="宋体" panose="02010600030101010101" pitchFamily="2" charset="-122"/>
              </a:rPr>
              <a:t>           </a:t>
            </a:r>
            <a:r>
              <a:rPr lang="en-US" altLang="zh-CN" sz="1800">
                <a:latin typeface="Times New Roman" panose="02020603050405020304" pitchFamily="18" charset="0"/>
                <a:ea typeface="宋体" panose="02010600030101010101" pitchFamily="2" charset="-122"/>
              </a:rPr>
              <a:t>OUT      21H,AL</a:t>
            </a:r>
          </a:p>
          <a:p>
            <a:pPr indent="266700" algn="just"/>
            <a:r>
              <a:rPr lang="en-US" altLang="zh-CN" sz="1800">
                <a:latin typeface="Times New Roman" panose="02020603050405020304" pitchFamily="18" charset="0"/>
                <a:ea typeface="宋体" panose="02010600030101010101" pitchFamily="2" charset="-122"/>
              </a:rPr>
              <a:t>           STI</a:t>
            </a:r>
          </a:p>
          <a:p>
            <a:pPr indent="266700" algn="just"/>
            <a:r>
              <a:rPr lang="en-US" altLang="zh-CN" sz="1800">
                <a:latin typeface="Times New Roman" panose="02020603050405020304" pitchFamily="18" charset="0"/>
                <a:ea typeface="宋体" panose="02010600030101010101" pitchFamily="2" charset="-122"/>
              </a:rPr>
              <a:t>           MOV      AH,4CH            	;</a:t>
            </a:r>
            <a:r>
              <a:rPr lang="zh-CN" altLang="en-US" sz="1800">
                <a:latin typeface="Times New Roman" panose="02020603050405020304" pitchFamily="18" charset="0"/>
                <a:ea typeface="宋体" panose="02010600030101010101" pitchFamily="2" charset="-122"/>
              </a:rPr>
              <a:t>返回</a:t>
            </a:r>
            <a:r>
              <a:rPr lang="en-US" altLang="zh-CN" sz="1800">
                <a:latin typeface="Times New Roman" panose="02020603050405020304" pitchFamily="18" charset="0"/>
                <a:ea typeface="宋体" panose="02010600030101010101" pitchFamily="2" charset="-122"/>
              </a:rPr>
              <a:t>DOS</a:t>
            </a:r>
          </a:p>
          <a:p>
            <a:pPr indent="266700" algn="just"/>
            <a:r>
              <a:rPr lang="en-US" altLang="zh-CN" sz="1800">
                <a:latin typeface="Times New Roman" panose="02020603050405020304" pitchFamily="18" charset="0"/>
                <a:ea typeface="宋体" panose="02010600030101010101" pitchFamily="2" charset="-122"/>
              </a:rPr>
              <a:t>           INT      21H</a:t>
            </a:r>
          </a:p>
          <a:p>
            <a:pPr indent="266700" algn="just"/>
            <a:r>
              <a:rPr lang="en-US" altLang="zh-CN" sz="1800">
                <a:latin typeface="Times New Roman" panose="02020603050405020304" pitchFamily="18" charset="0"/>
                <a:ea typeface="宋体" panose="02010600030101010101" pitchFamily="2" charset="-122"/>
              </a:rPr>
              <a:t> DISPLAY  PROC    NEAR</a:t>
            </a:r>
          </a:p>
          <a:p>
            <a:pPr indent="266700" algn="just"/>
            <a:r>
              <a:rPr lang="en-US" altLang="zh-CN" sz="1800">
                <a:latin typeface="Times New Roman" panose="02020603050405020304" pitchFamily="18" charset="0"/>
                <a:ea typeface="宋体" panose="02010600030101010101" pitchFamily="2" charset="-122"/>
              </a:rPr>
              <a:t>            LEA     DX, MESS        	;</a:t>
            </a:r>
            <a:r>
              <a:rPr lang="zh-CN" altLang="en-US" sz="1800">
                <a:latin typeface="Times New Roman" panose="02020603050405020304" pitchFamily="18" charset="0"/>
                <a:ea typeface="宋体" panose="02010600030101010101" pitchFamily="2" charset="-122"/>
              </a:rPr>
              <a:t>显示字符串</a:t>
            </a:r>
          </a:p>
          <a:p>
            <a:pPr indent="266700" algn="just"/>
            <a:r>
              <a:rPr lang="zh-CN" altLang="en-US" sz="1800">
                <a:latin typeface="Times New Roman" panose="02020603050405020304" pitchFamily="18" charset="0"/>
                <a:ea typeface="宋体" panose="02010600030101010101" pitchFamily="2" charset="-122"/>
              </a:rPr>
              <a:t>            </a:t>
            </a:r>
            <a:r>
              <a:rPr lang="en-US" altLang="zh-CN" sz="1800">
                <a:latin typeface="Times New Roman" panose="02020603050405020304" pitchFamily="18" charset="0"/>
                <a:ea typeface="宋体" panose="02010600030101010101" pitchFamily="2" charset="-122"/>
              </a:rPr>
              <a:t>MOV     AH, 09H</a:t>
            </a:r>
          </a:p>
          <a:p>
            <a:pPr indent="266700" algn="just"/>
            <a:r>
              <a:rPr lang="en-US" altLang="zh-CN" sz="1800">
                <a:latin typeface="Times New Roman" panose="02020603050405020304" pitchFamily="18" charset="0"/>
                <a:ea typeface="宋体" panose="02010600030101010101" pitchFamily="2" charset="-122"/>
              </a:rPr>
              <a:t>            INT     21H</a:t>
            </a:r>
          </a:p>
          <a:p>
            <a:pPr indent="266700" algn="just"/>
            <a:r>
              <a:rPr lang="en-US" altLang="zh-CN" sz="1800">
                <a:latin typeface="Times New Roman" panose="02020603050405020304" pitchFamily="18" charset="0"/>
                <a:ea typeface="宋体" panose="02010600030101010101" pitchFamily="2" charset="-122"/>
              </a:rPr>
              <a:t>            DEC     BL                	;</a:t>
            </a:r>
            <a:r>
              <a:rPr lang="zh-CN" altLang="en-US" sz="1800">
                <a:latin typeface="Times New Roman" panose="02020603050405020304" pitchFamily="18" charset="0"/>
                <a:ea typeface="宋体" panose="02010600030101010101" pitchFamily="2" charset="-122"/>
              </a:rPr>
              <a:t>中断次数减</a:t>
            </a:r>
            <a:r>
              <a:rPr lang="en-US" altLang="zh-CN" sz="1800">
                <a:latin typeface="Times New Roman" panose="02020603050405020304" pitchFamily="18" charset="0"/>
                <a:ea typeface="宋体" panose="02010600030101010101" pitchFamily="2" charset="-122"/>
              </a:rPr>
              <a:t>1</a:t>
            </a:r>
          </a:p>
          <a:p>
            <a:pPr indent="266700" algn="just"/>
            <a:r>
              <a:rPr lang="en-US" altLang="zh-CN" sz="1800">
                <a:latin typeface="Times New Roman" panose="02020603050405020304" pitchFamily="18" charset="0"/>
                <a:ea typeface="宋体" panose="02010600030101010101" pitchFamily="2" charset="-122"/>
              </a:rPr>
              <a:t>            MOV     AL, 20H            	;</a:t>
            </a:r>
            <a:r>
              <a:rPr lang="zh-CN" altLang="en-US" sz="1800">
                <a:latin typeface="Times New Roman" panose="02020603050405020304" pitchFamily="18" charset="0"/>
                <a:ea typeface="宋体" panose="02010600030101010101" pitchFamily="2" charset="-122"/>
              </a:rPr>
              <a:t>发送中断结束命令</a:t>
            </a:r>
          </a:p>
          <a:p>
            <a:pPr indent="266700" algn="just"/>
            <a:r>
              <a:rPr lang="zh-CN" altLang="en-US" sz="1800">
                <a:latin typeface="Times New Roman" panose="02020603050405020304" pitchFamily="18" charset="0"/>
                <a:ea typeface="宋体" panose="02010600030101010101" pitchFamily="2" charset="-122"/>
              </a:rPr>
              <a:t>            </a:t>
            </a:r>
            <a:r>
              <a:rPr lang="en-US" altLang="zh-CN" sz="1800">
                <a:latin typeface="Times New Roman" panose="02020603050405020304" pitchFamily="18" charset="0"/>
                <a:ea typeface="宋体" panose="02010600030101010101" pitchFamily="2" charset="-122"/>
              </a:rPr>
              <a:t>OUT     20H, AL</a:t>
            </a:r>
          </a:p>
          <a:p>
            <a:pPr indent="266700" algn="just"/>
            <a:r>
              <a:rPr lang="en-US" altLang="zh-CN" sz="1800">
                <a:latin typeface="Times New Roman" panose="02020603050405020304" pitchFamily="18" charset="0"/>
                <a:ea typeface="宋体" panose="02010600030101010101" pitchFamily="2" charset="-122"/>
              </a:rPr>
              <a:t>            IRET</a:t>
            </a:r>
          </a:p>
          <a:p>
            <a:pPr indent="266700" algn="just"/>
            <a:r>
              <a:rPr lang="en-US" altLang="zh-CN" sz="1800">
                <a:latin typeface="Times New Roman" panose="02020603050405020304" pitchFamily="18" charset="0"/>
                <a:ea typeface="宋体" panose="02010600030101010101" pitchFamily="2" charset="-122"/>
              </a:rPr>
              <a:t>  DISPLAY  ENDP</a:t>
            </a:r>
          </a:p>
          <a:p>
            <a:pPr indent="266700" algn="just"/>
            <a:r>
              <a:rPr lang="en-US" altLang="zh-CN" sz="1800">
                <a:latin typeface="Times New Roman" panose="02020603050405020304" pitchFamily="18" charset="0"/>
                <a:ea typeface="宋体" panose="02010600030101010101" pitchFamily="2" charset="-122"/>
              </a:rPr>
              <a:t>     CODE  ENDS</a:t>
            </a:r>
          </a:p>
          <a:p>
            <a:pPr indent="266700" algn="just"/>
            <a:r>
              <a:rPr lang="en-US" altLang="zh-CN" sz="1800">
                <a:latin typeface="Times New Roman" panose="02020603050405020304" pitchFamily="18" charset="0"/>
                <a:ea typeface="宋体" panose="02010600030101010101" pitchFamily="2" charset="-122"/>
              </a:rPr>
              <a:t>             END    START</a:t>
            </a:r>
          </a:p>
        </p:txBody>
      </p:sp>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65538" name="内容占位符 4"/>
          <p:cNvSpPr>
            <a:spLocks noGrp="1"/>
          </p:cNvSpPr>
          <p:nvPr>
            <p:ph idx="1"/>
          </p:nvPr>
        </p:nvSpPr>
        <p:spPr>
          <a:xfrm>
            <a:off x="920750" y="1865313"/>
            <a:ext cx="7620000" cy="3829050"/>
          </a:xfrm>
          <a:ln/>
        </p:spPr>
        <p:txBody>
          <a:bodyPr wrap="square" lIns="92075" tIns="46038" rIns="92075" bIns="46038" anchor="t" anchorCtr="0"/>
          <a:lstStyle/>
          <a:p>
            <a:pPr algn="just">
              <a:buNone/>
            </a:pPr>
            <a:r>
              <a:rPr lang="en-US" altLang="zh-CN" sz="2400" dirty="0"/>
              <a:t>7-1  什么是中断？什么是中断系统？中断系统的主要功</a:t>
            </a:r>
          </a:p>
          <a:p>
            <a:pPr algn="just">
              <a:buNone/>
            </a:pPr>
            <a:r>
              <a:rPr lang="en-US" altLang="zh-CN" sz="2400" dirty="0"/>
              <a:t>能有哪些？</a:t>
            </a:r>
          </a:p>
          <a:p>
            <a:pPr algn="just">
              <a:buNone/>
            </a:pPr>
            <a:r>
              <a:rPr lang="en-US" altLang="zh-CN" sz="2400" dirty="0"/>
              <a:t>7-2  中断处理过程主要包括哪几个基本阶段？中断服务</a:t>
            </a:r>
          </a:p>
          <a:p>
            <a:pPr algn="just">
              <a:buNone/>
            </a:pPr>
            <a:r>
              <a:rPr lang="en-US" altLang="zh-CN" sz="2400" dirty="0"/>
              <a:t>程序中为什么要保护现场和恢复现场？如何实现？</a:t>
            </a:r>
          </a:p>
          <a:p>
            <a:pPr algn="just">
              <a:buNone/>
            </a:pPr>
            <a:r>
              <a:rPr lang="en-US" altLang="zh-CN" sz="2400" dirty="0"/>
              <a:t>7-3  什么是内部中断和外部中断？如何分类？</a:t>
            </a:r>
          </a:p>
          <a:p>
            <a:pPr algn="just">
              <a:buNone/>
            </a:pPr>
            <a:r>
              <a:rPr lang="en-US" altLang="zh-CN" sz="2400" dirty="0"/>
              <a:t>7-4  INTR中断和NMI中断有什么区别？</a:t>
            </a:r>
          </a:p>
          <a:p>
            <a:pPr algn="just">
              <a:buNone/>
            </a:pPr>
            <a:r>
              <a:rPr lang="en-US" altLang="zh-CN" sz="2400" dirty="0"/>
              <a:t>7-5  中断向量表的作用是什么？如何设置中断向量表？</a:t>
            </a:r>
          </a:p>
          <a:p>
            <a:pPr algn="just">
              <a:buNone/>
            </a:pPr>
            <a:r>
              <a:rPr lang="en-US" altLang="zh-CN" sz="2400" dirty="0"/>
              <a:t>中断类型号为15H的中断向量存放在哪些存储器单元？</a:t>
            </a:r>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手机屏幕截图&#10;&#10;AI 生成的内容可能不正确。">
            <a:extLst>
              <a:ext uri="{FF2B5EF4-FFF2-40B4-BE49-F238E27FC236}">
                <a16:creationId xmlns:a16="http://schemas.microsoft.com/office/drawing/2014/main" id="{158EEFE2-C4DB-B116-8A60-602F1D2470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7850" y="1835083"/>
            <a:ext cx="8197850" cy="3919671"/>
          </a:xfrm>
        </p:spPr>
      </p:pic>
      <p:sp>
        <p:nvSpPr>
          <p:cNvPr id="6" name="Rectangle 2">
            <a:extLst>
              <a:ext uri="{FF2B5EF4-FFF2-40B4-BE49-F238E27FC236}">
                <a16:creationId xmlns:a16="http://schemas.microsoft.com/office/drawing/2014/main" id="{78266361-5562-AE7F-C509-FBF424833ADA}"/>
              </a:ext>
            </a:extLst>
          </p:cNvPr>
          <p:cNvSpPr txBox="1">
            <a:spLocks noChangeArrowheads="1"/>
          </p:cNvSpPr>
          <p:nvPr/>
        </p:nvSpPr>
        <p:spPr bwMode="auto">
          <a:xfrm>
            <a:off x="1101725" y="268288"/>
            <a:ext cx="6710363" cy="1143000"/>
          </a:xfrm>
          <a:prstGeom prst="rect">
            <a:avLst/>
          </a:prstGeom>
          <a:noFill/>
          <a:ln w="9525">
            <a:noFill/>
            <a:miter lim="800000"/>
          </a:ln>
          <a:effectLst/>
        </p:spPr>
        <p:txBody>
          <a:bodyPr vert="horz" wrap="square" lIns="92075" tIns="46038" rIns="92075" bIns="46038" numCol="1" anchor="ctr" anchorCtr="0" compatLnSpc="1"/>
          <a:lst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lgn="ctr" eaLnBrk="1" hangingPunct="1">
              <a:lnSpc>
                <a:spcPct val="100000"/>
              </a:lnSpc>
              <a:defRPr/>
            </a:pPr>
            <a:r>
              <a:rPr lang="zh-CN" altLang="zh-CN" kern="0" dirty="0">
                <a:solidFill>
                  <a:srgbClr val="FF0000"/>
                </a:solidFill>
              </a:rPr>
              <a:t>思考与练习</a:t>
            </a:r>
          </a:p>
        </p:txBody>
      </p:sp>
    </p:spTree>
    <p:extLst>
      <p:ext uri="{BB962C8B-B14F-4D97-AF65-F5344CB8AC3E}">
        <p14:creationId xmlns:p14="http://schemas.microsoft.com/office/powerpoint/2010/main" val="913001744"/>
      </p:ext>
    </p:extLst>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文本&#10;&#10;AI 生成的内容可能不正确。">
            <a:extLst>
              <a:ext uri="{FF2B5EF4-FFF2-40B4-BE49-F238E27FC236}">
                <a16:creationId xmlns:a16="http://schemas.microsoft.com/office/drawing/2014/main" id="{660A610B-F0D8-846E-8A82-721D12E92A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690" y="1474492"/>
            <a:ext cx="8622619" cy="1366181"/>
          </a:xfrm>
        </p:spPr>
      </p:pic>
      <p:sp>
        <p:nvSpPr>
          <p:cNvPr id="6" name="Rectangle 2">
            <a:extLst>
              <a:ext uri="{FF2B5EF4-FFF2-40B4-BE49-F238E27FC236}">
                <a16:creationId xmlns:a16="http://schemas.microsoft.com/office/drawing/2014/main" id="{4E8EC115-F793-246B-2DFB-3B56F9FE7EBB}"/>
              </a:ext>
            </a:extLst>
          </p:cNvPr>
          <p:cNvSpPr txBox="1">
            <a:spLocks noChangeArrowheads="1"/>
          </p:cNvSpPr>
          <p:nvPr/>
        </p:nvSpPr>
        <p:spPr bwMode="auto">
          <a:xfrm>
            <a:off x="1101725" y="268288"/>
            <a:ext cx="6710363" cy="1143000"/>
          </a:xfrm>
          <a:prstGeom prst="rect">
            <a:avLst/>
          </a:prstGeom>
          <a:noFill/>
          <a:ln w="9525">
            <a:noFill/>
            <a:miter lim="800000"/>
          </a:ln>
          <a:effectLst/>
        </p:spPr>
        <p:txBody>
          <a:bodyPr vert="horz" wrap="square" lIns="92075" tIns="46038" rIns="92075" bIns="46038" numCol="1" anchor="ctr" anchorCtr="0" compatLnSpc="1"/>
          <a:lst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lgn="ctr" eaLnBrk="1" hangingPunct="1">
              <a:lnSpc>
                <a:spcPct val="100000"/>
              </a:lnSpc>
              <a:defRPr/>
            </a:pPr>
            <a:r>
              <a:rPr lang="zh-CN" altLang="zh-CN" kern="0" dirty="0">
                <a:solidFill>
                  <a:srgbClr val="FF0000"/>
                </a:solidFill>
              </a:rPr>
              <a:t>思考与练习</a:t>
            </a:r>
          </a:p>
        </p:txBody>
      </p:sp>
      <p:pic>
        <p:nvPicPr>
          <p:cNvPr id="10" name="图片 9" descr="文本&#10;&#10;AI 生成的内容可能不正确。">
            <a:extLst>
              <a:ext uri="{FF2B5EF4-FFF2-40B4-BE49-F238E27FC236}">
                <a16:creationId xmlns:a16="http://schemas.microsoft.com/office/drawing/2014/main" id="{E532F683-8AD1-B6E1-EBB7-17A61E71C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609" y="2985656"/>
            <a:ext cx="8622619" cy="1909707"/>
          </a:xfrm>
          <a:prstGeom prst="rect">
            <a:avLst/>
          </a:prstGeom>
        </p:spPr>
      </p:pic>
      <p:pic>
        <p:nvPicPr>
          <p:cNvPr id="12" name="图片 11" descr="图片包含 文本&#10;&#10;AI 生成的内容可能不正确。">
            <a:extLst>
              <a:ext uri="{FF2B5EF4-FFF2-40B4-BE49-F238E27FC236}">
                <a16:creationId xmlns:a16="http://schemas.microsoft.com/office/drawing/2014/main" id="{E3AC7A42-6FC4-135B-3117-2A718D65B0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690" y="5117666"/>
            <a:ext cx="8587538" cy="1375674"/>
          </a:xfrm>
          <a:prstGeom prst="rect">
            <a:avLst/>
          </a:prstGeom>
        </p:spPr>
      </p:pic>
    </p:spTree>
    <p:extLst>
      <p:ext uri="{BB962C8B-B14F-4D97-AF65-F5344CB8AC3E}">
        <p14:creationId xmlns:p14="http://schemas.microsoft.com/office/powerpoint/2010/main" val="4239709531"/>
      </p:ext>
    </p:extLst>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表格&#10;&#10;AI 生成的内容可能不正确。">
            <a:extLst>
              <a:ext uri="{FF2B5EF4-FFF2-40B4-BE49-F238E27FC236}">
                <a16:creationId xmlns:a16="http://schemas.microsoft.com/office/drawing/2014/main" id="{0FEE3C7B-C958-047C-B448-31A86D9276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3075" y="1270506"/>
            <a:ext cx="8197850" cy="3061000"/>
          </a:xfrm>
        </p:spPr>
      </p:pic>
      <p:sp>
        <p:nvSpPr>
          <p:cNvPr id="8" name="Rectangle 2">
            <a:extLst>
              <a:ext uri="{FF2B5EF4-FFF2-40B4-BE49-F238E27FC236}">
                <a16:creationId xmlns:a16="http://schemas.microsoft.com/office/drawing/2014/main" id="{7A3CEEC4-281A-CE5F-AC93-246B0EF2FBD2}"/>
              </a:ext>
            </a:extLst>
          </p:cNvPr>
          <p:cNvSpPr txBox="1">
            <a:spLocks noChangeArrowheads="1"/>
          </p:cNvSpPr>
          <p:nvPr/>
        </p:nvSpPr>
        <p:spPr bwMode="auto">
          <a:xfrm>
            <a:off x="1101725" y="268288"/>
            <a:ext cx="6710363" cy="1143000"/>
          </a:xfrm>
          <a:prstGeom prst="rect">
            <a:avLst/>
          </a:prstGeom>
          <a:noFill/>
          <a:ln w="9525">
            <a:noFill/>
            <a:miter lim="800000"/>
          </a:ln>
          <a:effectLst/>
        </p:spPr>
        <p:txBody>
          <a:bodyPr vert="horz" wrap="square" lIns="92075" tIns="46038" rIns="92075" bIns="46038" numCol="1" anchor="ctr" anchorCtr="0" compatLnSpc="1"/>
          <a:lst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lgn="ctr" eaLnBrk="1" hangingPunct="1">
              <a:lnSpc>
                <a:spcPct val="100000"/>
              </a:lnSpc>
              <a:defRPr/>
            </a:pPr>
            <a:r>
              <a:rPr lang="zh-CN" altLang="zh-CN" kern="0" dirty="0">
                <a:solidFill>
                  <a:srgbClr val="FF0000"/>
                </a:solidFill>
              </a:rPr>
              <a:t>思考与练习</a:t>
            </a:r>
          </a:p>
        </p:txBody>
      </p:sp>
    </p:spTree>
    <p:extLst>
      <p:ext uri="{BB962C8B-B14F-4D97-AF65-F5344CB8AC3E}">
        <p14:creationId xmlns:p14="http://schemas.microsoft.com/office/powerpoint/2010/main" val="1977918330"/>
      </p:ext>
    </p:extLst>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4281</TotalTime>
  <Words>7016</Words>
  <Application>Microsoft Office PowerPoint</Application>
  <PresentationFormat>全屏显示(4:3)</PresentationFormat>
  <Paragraphs>422</Paragraphs>
  <Slides>57</Slides>
  <Notes>1</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57</vt:i4>
      </vt:variant>
    </vt:vector>
  </HeadingPairs>
  <TitlesOfParts>
    <vt:vector size="68" baseType="lpstr">
      <vt:lpstr>黑体</vt:lpstr>
      <vt:lpstr>楷体</vt:lpstr>
      <vt:lpstr>隶书</vt:lpstr>
      <vt:lpstr>宋体</vt:lpstr>
      <vt:lpstr>Arial</vt:lpstr>
      <vt:lpstr>Courier New</vt:lpstr>
      <vt:lpstr>Times New Roman</vt:lpstr>
      <vt:lpstr>Wingdings</vt:lpstr>
      <vt:lpstr>项目总览</vt:lpstr>
      <vt:lpstr>1_项目总览</vt:lpstr>
      <vt:lpstr>Equation.3</vt:lpstr>
      <vt:lpstr>PowerPoint 演示文稿</vt:lpstr>
      <vt:lpstr>PowerPoint 演示文稿</vt:lpstr>
      <vt:lpstr>7.1  中断的基本概念</vt:lpstr>
      <vt:lpstr>7.1.1  中断、中断源及中断系统</vt:lpstr>
      <vt:lpstr>7.1.1  中断、中断源及中断系统</vt:lpstr>
      <vt:lpstr>7.1.1  中断、中断源及中断系统</vt:lpstr>
      <vt:lpstr>PowerPoint 演示文稿</vt:lpstr>
      <vt:lpstr>7.1.2  中断处理过程</vt:lpstr>
      <vt:lpstr>PowerPoint 演示文稿</vt:lpstr>
      <vt:lpstr>7.1.3  中断嵌套</vt:lpstr>
      <vt:lpstr>7.2  80x86中断系统</vt:lpstr>
      <vt:lpstr>7.2  80x86中断系统</vt:lpstr>
      <vt:lpstr>7.2.1  外部中断</vt:lpstr>
      <vt:lpstr>7.2.1  外部中断</vt:lpstr>
      <vt:lpstr>7.2.1  外部中断</vt:lpstr>
      <vt:lpstr>7.2.2  内部中断</vt:lpstr>
      <vt:lpstr>7.2.3  中断向量和中断向量表</vt:lpstr>
      <vt:lpstr>PowerPoint 演示文稿</vt:lpstr>
      <vt:lpstr>7.2.4  80x86中断响应过程</vt:lpstr>
      <vt:lpstr>7.2.4  80x86中断响应过程</vt:lpstr>
      <vt:lpstr>PowerPoint 演示文稿</vt:lpstr>
      <vt:lpstr>7.3  可编程中断控制器Intel 8259A</vt:lpstr>
      <vt:lpstr>7.3.1  8259A的功能</vt:lpstr>
      <vt:lpstr>7.3.2  8259A的内部结构和引脚功能</vt:lpstr>
      <vt:lpstr>7.3.2  8259A的内部结构和引脚功能</vt:lpstr>
      <vt:lpstr>7.3.2  8259A的内部结构和引脚功能</vt:lpstr>
      <vt:lpstr>7.3.3  Intel 8259A的引脚及功能</vt:lpstr>
      <vt:lpstr>7.3.3  Intel 8259A的引脚及功能</vt:lpstr>
      <vt:lpstr>7.3.4  8259A的工作方式</vt:lpstr>
      <vt:lpstr>7.3.4  8259A的工作方式</vt:lpstr>
      <vt:lpstr>7.3.4  8259A的工作方式</vt:lpstr>
      <vt:lpstr>7.3.4  8259A的工作方式</vt:lpstr>
      <vt:lpstr>7.3.5  8259A的级联</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7.3.6  8259A的编程</vt:lpstr>
      <vt:lpstr>7.3.7  8259A在微机系统中的应用</vt:lpstr>
      <vt:lpstr>7.3.7  8259A在微机系统中的应用</vt:lpstr>
      <vt:lpstr>7.3.6  8259A的编程</vt:lpstr>
      <vt:lpstr>PowerPoint 演示文稿</vt:lpstr>
      <vt:lpstr>PowerPoint 演示文稿</vt:lpstr>
      <vt:lpstr>思考与练习</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czq</dc:creator>
  <cp:lastModifiedBy>Dongming Guo</cp:lastModifiedBy>
  <cp:revision>647</cp:revision>
  <dcterms:created xsi:type="dcterms:W3CDTF">2016-01-26T02:38:54Z</dcterms:created>
  <dcterms:modified xsi:type="dcterms:W3CDTF">2025-11-25T03:29:22Z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089E450B80604F448BD4EF2046412336_12</vt:lpwstr>
  </property>
</Properties>
</file>