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171"/>
  </p:notesMasterIdLst>
  <p:sldIdLst>
    <p:sldId id="256" r:id="rId2"/>
    <p:sldId id="991" r:id="rId3"/>
    <p:sldId id="1270" r:id="rId4"/>
    <p:sldId id="260" r:id="rId5"/>
    <p:sldId id="334" r:id="rId6"/>
    <p:sldId id="333" r:id="rId7"/>
    <p:sldId id="1004" r:id="rId8"/>
    <p:sldId id="1078" r:id="rId9"/>
    <p:sldId id="1097" r:id="rId10"/>
    <p:sldId id="1017" r:id="rId11"/>
    <p:sldId id="1018" r:id="rId12"/>
    <p:sldId id="1100" r:id="rId13"/>
    <p:sldId id="1101" r:id="rId14"/>
    <p:sldId id="1102" r:id="rId15"/>
    <p:sldId id="1272" r:id="rId16"/>
    <p:sldId id="264" r:id="rId17"/>
    <p:sldId id="323" r:id="rId18"/>
    <p:sldId id="1108" r:id="rId19"/>
    <p:sldId id="1109" r:id="rId20"/>
    <p:sldId id="1110" r:id="rId21"/>
    <p:sldId id="1111" r:id="rId22"/>
    <p:sldId id="1028" r:id="rId23"/>
    <p:sldId id="1029" r:id="rId24"/>
    <p:sldId id="1217" r:id="rId25"/>
    <p:sldId id="1274" r:id="rId26"/>
    <p:sldId id="1273" r:id="rId27"/>
    <p:sldId id="1218" r:id="rId28"/>
    <p:sldId id="1219" r:id="rId29"/>
    <p:sldId id="1221" r:id="rId30"/>
    <p:sldId id="1220" r:id="rId31"/>
    <p:sldId id="1222" r:id="rId32"/>
    <p:sldId id="1275" r:id="rId33"/>
    <p:sldId id="1276" r:id="rId34"/>
    <p:sldId id="1277" r:id="rId35"/>
    <p:sldId id="1278" r:id="rId36"/>
    <p:sldId id="1223" r:id="rId37"/>
    <p:sldId id="1279" r:id="rId38"/>
    <p:sldId id="1244" r:id="rId39"/>
    <p:sldId id="1225" r:id="rId40"/>
    <p:sldId id="1240" r:id="rId41"/>
    <p:sldId id="1295" r:id="rId42"/>
    <p:sldId id="1241" r:id="rId43"/>
    <p:sldId id="1242" r:id="rId44"/>
    <p:sldId id="1243" r:id="rId45"/>
    <p:sldId id="1296" r:id="rId46"/>
    <p:sldId id="1280" r:id="rId47"/>
    <p:sldId id="1281" r:id="rId48"/>
    <p:sldId id="350" r:id="rId49"/>
    <p:sldId id="351" r:id="rId50"/>
    <p:sldId id="352" r:id="rId51"/>
    <p:sldId id="353" r:id="rId52"/>
    <p:sldId id="1224" r:id="rId53"/>
    <p:sldId id="1283" r:id="rId54"/>
    <p:sldId id="340" r:id="rId55"/>
    <p:sldId id="339" r:id="rId56"/>
    <p:sldId id="1226" r:id="rId57"/>
    <p:sldId id="271" r:id="rId58"/>
    <p:sldId id="272" r:id="rId59"/>
    <p:sldId id="342" r:id="rId60"/>
    <p:sldId id="1228" r:id="rId61"/>
    <p:sldId id="273" r:id="rId62"/>
    <p:sldId id="274" r:id="rId63"/>
    <p:sldId id="1284" r:id="rId64"/>
    <p:sldId id="275" r:id="rId65"/>
    <p:sldId id="276" r:id="rId66"/>
    <p:sldId id="277" r:id="rId67"/>
    <p:sldId id="1232" r:id="rId68"/>
    <p:sldId id="1006" r:id="rId69"/>
    <p:sldId id="1081" r:id="rId70"/>
    <p:sldId id="372" r:id="rId71"/>
    <p:sldId id="373" r:id="rId72"/>
    <p:sldId id="282" r:id="rId73"/>
    <p:sldId id="283" r:id="rId74"/>
    <p:sldId id="1285" r:id="rId75"/>
    <p:sldId id="1286" r:id="rId76"/>
    <p:sldId id="1287" r:id="rId77"/>
    <p:sldId id="365" r:id="rId78"/>
    <p:sldId id="1288" r:id="rId79"/>
    <p:sldId id="288" r:id="rId80"/>
    <p:sldId id="289" r:id="rId81"/>
    <p:sldId id="321" r:id="rId82"/>
    <p:sldId id="367" r:id="rId83"/>
    <p:sldId id="368" r:id="rId84"/>
    <p:sldId id="369" r:id="rId85"/>
    <p:sldId id="370" r:id="rId86"/>
    <p:sldId id="1298" r:id="rId87"/>
    <p:sldId id="322" r:id="rId88"/>
    <p:sldId id="291" r:id="rId89"/>
    <p:sldId id="371" r:id="rId90"/>
    <p:sldId id="1289" r:id="rId91"/>
    <p:sldId id="376" r:id="rId92"/>
    <p:sldId id="293" r:id="rId93"/>
    <p:sldId id="294" r:id="rId94"/>
    <p:sldId id="375" r:id="rId95"/>
    <p:sldId id="364" r:id="rId96"/>
    <p:sldId id="428" r:id="rId97"/>
    <p:sldId id="429" r:id="rId98"/>
    <p:sldId id="1290" r:id="rId99"/>
    <p:sldId id="394" r:id="rId100"/>
    <p:sldId id="395" r:id="rId101"/>
    <p:sldId id="399" r:id="rId102"/>
    <p:sldId id="400" r:id="rId103"/>
    <p:sldId id="408" r:id="rId104"/>
    <p:sldId id="1291" r:id="rId105"/>
    <p:sldId id="409" r:id="rId106"/>
    <p:sldId id="410" r:id="rId107"/>
    <p:sldId id="411" r:id="rId108"/>
    <p:sldId id="412" r:id="rId109"/>
    <p:sldId id="413" r:id="rId110"/>
    <p:sldId id="414" r:id="rId111"/>
    <p:sldId id="415" r:id="rId112"/>
    <p:sldId id="416" r:id="rId113"/>
    <p:sldId id="417" r:id="rId114"/>
    <p:sldId id="419" r:id="rId115"/>
    <p:sldId id="382" r:id="rId116"/>
    <p:sldId id="383" r:id="rId117"/>
    <p:sldId id="386" r:id="rId118"/>
    <p:sldId id="388" r:id="rId119"/>
    <p:sldId id="387" r:id="rId120"/>
    <p:sldId id="389" r:id="rId121"/>
    <p:sldId id="390" r:id="rId122"/>
    <p:sldId id="391" r:id="rId123"/>
    <p:sldId id="426" r:id="rId124"/>
    <p:sldId id="418" r:id="rId125"/>
    <p:sldId id="427" r:id="rId126"/>
    <p:sldId id="1008" r:id="rId127"/>
    <p:sldId id="1292" r:id="rId128"/>
    <p:sldId id="1293" r:id="rId129"/>
    <p:sldId id="1299" r:id="rId130"/>
    <p:sldId id="1052" r:id="rId131"/>
    <p:sldId id="1179" r:id="rId132"/>
    <p:sldId id="1178" r:id="rId133"/>
    <p:sldId id="1180" r:id="rId134"/>
    <p:sldId id="1058" r:id="rId135"/>
    <p:sldId id="287" r:id="rId136"/>
    <p:sldId id="1059" r:id="rId137"/>
    <p:sldId id="284" r:id="rId138"/>
    <p:sldId id="285" r:id="rId139"/>
    <p:sldId id="286" r:id="rId140"/>
    <p:sldId id="1060" r:id="rId141"/>
    <p:sldId id="1239" r:id="rId142"/>
    <p:sldId id="1062" r:id="rId143"/>
    <p:sldId id="1063" r:id="rId144"/>
    <p:sldId id="292" r:id="rId145"/>
    <p:sldId id="297" r:id="rId146"/>
    <p:sldId id="304" r:id="rId147"/>
    <p:sldId id="1064" r:id="rId148"/>
    <p:sldId id="298" r:id="rId149"/>
    <p:sldId id="1065" r:id="rId150"/>
    <p:sldId id="299" r:id="rId151"/>
    <p:sldId id="296" r:id="rId152"/>
    <p:sldId id="300" r:id="rId153"/>
    <p:sldId id="1066" r:id="rId154"/>
    <p:sldId id="301" r:id="rId155"/>
    <p:sldId id="1238" r:id="rId156"/>
    <p:sldId id="1181" r:id="rId157"/>
    <p:sldId id="1183" r:id="rId158"/>
    <p:sldId id="1184" r:id="rId159"/>
    <p:sldId id="1185" r:id="rId160"/>
    <p:sldId id="1186" r:id="rId161"/>
    <p:sldId id="1188" r:id="rId162"/>
    <p:sldId id="1190" r:id="rId163"/>
    <p:sldId id="1191" r:id="rId164"/>
    <p:sldId id="1192" r:id="rId165"/>
    <p:sldId id="1193" r:id="rId166"/>
    <p:sldId id="1194" r:id="rId167"/>
    <p:sldId id="994" r:id="rId168"/>
    <p:sldId id="317" r:id="rId169"/>
    <p:sldId id="319" r:id="rId17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7A2D3"/>
    <a:srgbClr val="6600FF"/>
    <a:srgbClr val="6666FF"/>
    <a:srgbClr val="6900B0"/>
    <a:srgbClr val="5B307E"/>
    <a:srgbClr val="FDCB0B"/>
    <a:srgbClr val="FFD700"/>
    <a:srgbClr val="F9BC12"/>
    <a:srgbClr val="FFD801"/>
    <a:srgbClr val="EFB91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474" autoAdjust="0"/>
    <p:restoredTop sz="74005" autoAdjust="0"/>
  </p:normalViewPr>
  <p:slideViewPr>
    <p:cSldViewPr snapToGrid="0" snapToObjects="1">
      <p:cViewPr varScale="1">
        <p:scale>
          <a:sx n="53" d="100"/>
          <a:sy n="53" d="100"/>
        </p:scale>
        <p:origin x="318" y="72"/>
      </p:cViewPr>
      <p:guideLst/>
    </p:cSldViewPr>
  </p:slideViewPr>
  <p:outlineViewPr>
    <p:cViewPr>
      <p:scale>
        <a:sx n="33" d="100"/>
        <a:sy n="33" d="100"/>
      </p:scale>
      <p:origin x="0" y="-264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54" Type="http://schemas.openxmlformats.org/officeDocument/2006/relationships/slide" Target="slides/slide153.xml"/><Relationship Id="rId159" Type="http://schemas.openxmlformats.org/officeDocument/2006/relationships/slide" Target="slides/slide158.xml"/><Relationship Id="rId175" Type="http://schemas.openxmlformats.org/officeDocument/2006/relationships/tableStyles" Target="tableStyles.xml"/><Relationship Id="rId170" Type="http://schemas.openxmlformats.org/officeDocument/2006/relationships/slide" Target="slides/slide169.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slide" Target="slides/slide159.xml"/><Relationship Id="rId165" Type="http://schemas.openxmlformats.org/officeDocument/2006/relationships/slide" Target="slides/slide16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71" Type="http://schemas.openxmlformats.org/officeDocument/2006/relationships/notesMaster" Target="notesMasters/notesMaster1.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slide" Target="slides/slide16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slide" Target="slides/slide142.xml"/><Relationship Id="rId148" Type="http://schemas.openxmlformats.org/officeDocument/2006/relationships/slide" Target="slides/slide147.xml"/><Relationship Id="rId151" Type="http://schemas.openxmlformats.org/officeDocument/2006/relationships/slide" Target="slides/slide150.xml"/><Relationship Id="rId156" Type="http://schemas.openxmlformats.org/officeDocument/2006/relationships/slide" Target="slides/slide155.xml"/><Relationship Id="rId164" Type="http://schemas.openxmlformats.org/officeDocument/2006/relationships/slide" Target="slides/slide163.xml"/><Relationship Id="rId169" Type="http://schemas.openxmlformats.org/officeDocument/2006/relationships/slide" Target="slides/slide168.xml"/><Relationship Id="rId4" Type="http://schemas.openxmlformats.org/officeDocument/2006/relationships/slide" Target="slides/slide3.xml"/><Relationship Id="rId9" Type="http://schemas.openxmlformats.org/officeDocument/2006/relationships/slide" Target="slides/slide8.xml"/><Relationship Id="rId172" Type="http://schemas.openxmlformats.org/officeDocument/2006/relationships/presProps" Target="pres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theme" Target="theme/theme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8.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1.png"/></Relationships>
</file>

<file path=ppt/drawings/_rels/vmlDrawing7.vml.rels><?xml version="1.0" encoding="UTF-8" standalone="yes"?>
<Relationships xmlns="http://schemas.openxmlformats.org/package/2006/relationships"><Relationship Id="rId1" Type="http://schemas.openxmlformats.org/officeDocument/2006/relationships/image" Target="../media/image5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53.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5E8472-67E5-DE40-B53F-0C0FEA434AA0}" type="datetimeFigureOut">
              <a:rPr kumimoji="1" lang="zh-CN" altLang="en-US" smtClean="0"/>
              <a:t>2024/10/18</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0B8802-914A-7C41-BC77-CC54DEE99EEF}" type="slidenum">
              <a:rPr kumimoji="1" lang="zh-CN" altLang="en-US" smtClean="0"/>
              <a:t>‹#›</a:t>
            </a:fld>
            <a:endParaRPr kumimoji="1" lang="zh-CN" altLang="en-US"/>
          </a:p>
        </p:txBody>
      </p:sp>
    </p:spTree>
    <p:extLst>
      <p:ext uri="{BB962C8B-B14F-4D97-AF65-F5344CB8AC3E}">
        <p14:creationId xmlns:p14="http://schemas.microsoft.com/office/powerpoint/2010/main" val="39560254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ea typeface="楷体_GB2312" pitchFamily="49" charset="-122"/>
              </a:defRPr>
            </a:lvl1pPr>
            <a:lvl2pPr marL="803275" indent="-307975">
              <a:defRPr sz="2000">
                <a:solidFill>
                  <a:schemeClr val="tx1"/>
                </a:solidFill>
                <a:latin typeface="Arial" panose="020B0604020202020204" pitchFamily="34" charset="0"/>
                <a:ea typeface="楷体_GB2312" pitchFamily="49" charset="-122"/>
              </a:defRPr>
            </a:lvl2pPr>
            <a:lvl3pPr marL="1236663" indent="-246063">
              <a:defRPr sz="2000">
                <a:solidFill>
                  <a:schemeClr val="tx1"/>
                </a:solidFill>
                <a:latin typeface="Arial" panose="020B0604020202020204" pitchFamily="34" charset="0"/>
                <a:ea typeface="楷体_GB2312" pitchFamily="49" charset="-122"/>
              </a:defRPr>
            </a:lvl3pPr>
            <a:lvl4pPr marL="1731963" indent="-246063">
              <a:defRPr sz="2000">
                <a:solidFill>
                  <a:schemeClr val="tx1"/>
                </a:solidFill>
                <a:latin typeface="Arial" panose="020B0604020202020204" pitchFamily="34" charset="0"/>
                <a:ea typeface="楷体_GB2312" pitchFamily="49" charset="-122"/>
              </a:defRPr>
            </a:lvl4pPr>
            <a:lvl5pPr marL="2227263" indent="-246063">
              <a:defRPr sz="2000">
                <a:solidFill>
                  <a:schemeClr val="tx1"/>
                </a:solidFill>
                <a:latin typeface="Arial" panose="020B0604020202020204" pitchFamily="34" charset="0"/>
                <a:ea typeface="楷体_GB2312" pitchFamily="49" charset="-122"/>
              </a:defRPr>
            </a:lvl5pPr>
            <a:lvl6pPr marL="2684463" indent="-246063" eaLnBrk="0" fontAlgn="base" hangingPunct="0">
              <a:spcBef>
                <a:spcPct val="0"/>
              </a:spcBef>
              <a:spcAft>
                <a:spcPct val="0"/>
              </a:spcAft>
              <a:defRPr sz="2000">
                <a:solidFill>
                  <a:schemeClr val="tx1"/>
                </a:solidFill>
                <a:latin typeface="Arial" panose="020B0604020202020204" pitchFamily="34" charset="0"/>
                <a:ea typeface="楷体_GB2312" pitchFamily="49" charset="-122"/>
              </a:defRPr>
            </a:lvl6pPr>
            <a:lvl7pPr marL="3141663" indent="-246063" eaLnBrk="0" fontAlgn="base" hangingPunct="0">
              <a:spcBef>
                <a:spcPct val="0"/>
              </a:spcBef>
              <a:spcAft>
                <a:spcPct val="0"/>
              </a:spcAft>
              <a:defRPr sz="2000">
                <a:solidFill>
                  <a:schemeClr val="tx1"/>
                </a:solidFill>
                <a:latin typeface="Arial" panose="020B0604020202020204" pitchFamily="34" charset="0"/>
                <a:ea typeface="楷体_GB2312" pitchFamily="49" charset="-122"/>
              </a:defRPr>
            </a:lvl7pPr>
            <a:lvl8pPr marL="3598863" indent="-246063" eaLnBrk="0" fontAlgn="base" hangingPunct="0">
              <a:spcBef>
                <a:spcPct val="0"/>
              </a:spcBef>
              <a:spcAft>
                <a:spcPct val="0"/>
              </a:spcAft>
              <a:defRPr sz="2000">
                <a:solidFill>
                  <a:schemeClr val="tx1"/>
                </a:solidFill>
                <a:latin typeface="Arial" panose="020B0604020202020204" pitchFamily="34" charset="0"/>
                <a:ea typeface="楷体_GB2312" pitchFamily="49" charset="-122"/>
              </a:defRPr>
            </a:lvl8pPr>
            <a:lvl9pPr marL="4056063" indent="-246063" eaLnBrk="0" fontAlgn="base" hangingPunct="0">
              <a:spcBef>
                <a:spcPct val="0"/>
              </a:spcBef>
              <a:spcAft>
                <a:spcPct val="0"/>
              </a:spcAft>
              <a:defRPr sz="2000">
                <a:solidFill>
                  <a:schemeClr val="tx1"/>
                </a:solidFill>
                <a:latin typeface="Arial" panose="020B0604020202020204" pitchFamily="34" charset="0"/>
                <a:ea typeface="楷体_GB2312" pitchFamily="49" charset="-122"/>
              </a:defRPr>
            </a:lvl9pPr>
          </a:lstStyle>
          <a:p>
            <a:fld id="{74799CDD-4FDB-44E9-82C1-8D101EADDEDF}" type="slidenum">
              <a:rPr lang="en-US" altLang="zh-CN" sz="1300" smtClean="0">
                <a:ea typeface="宋体" panose="02010600030101010101" pitchFamily="2" charset="-122"/>
              </a:rPr>
              <a:pPr/>
              <a:t>3</a:t>
            </a:fld>
            <a:endParaRPr lang="en-US" altLang="zh-CN" sz="1300">
              <a:ea typeface="宋体" panose="02010600030101010101" pitchFamily="2" charset="-122"/>
            </a:endParaRPr>
          </a:p>
        </p:txBody>
      </p:sp>
      <p:sp>
        <p:nvSpPr>
          <p:cNvPr id="10243" name="Rectangle 2"/>
          <p:cNvSpPr>
            <a:spLocks noGrp="1" noRot="1" noChangeAspect="1" noChangeArrowheads="1" noTextEdit="1"/>
          </p:cNvSpPr>
          <p:nvPr>
            <p:ph type="sldImg"/>
          </p:nvPr>
        </p:nvSpPr>
        <p:spPr>
          <a:xfrm>
            <a:off x="141288" y="768350"/>
            <a:ext cx="6819900" cy="3836988"/>
          </a:xfrm>
          <a:solidFill>
            <a:srgbClr val="FFFFFF"/>
          </a:solidFill>
          <a:ln/>
        </p:spPr>
      </p:sp>
      <p:sp>
        <p:nvSpPr>
          <p:cNvPr id="10244" name="Rectangle 3"/>
          <p:cNvSpPr>
            <a:spLocks noGrp="1" noChangeArrowheads="1"/>
          </p:cNvSpPr>
          <p:nvPr>
            <p:ph type="body" idx="1"/>
          </p:nvPr>
        </p:nvSpPr>
        <p:spPr>
          <a:xfrm>
            <a:off x="946573" y="4860171"/>
            <a:ext cx="5209329" cy="4604623"/>
          </a:xfrm>
          <a:solidFill>
            <a:srgbClr val="FFFFFF"/>
          </a:solidFill>
          <a:ln>
            <a:solidFill>
              <a:srgbClr val="000000"/>
            </a:solidFill>
            <a:miter lim="800000"/>
            <a:headEnd/>
            <a:tailEnd/>
          </a:ln>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27680280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要点：</a:t>
            </a:r>
            <a:endParaRPr lang="en-US" altLang="zh-CN" dirty="0"/>
          </a:p>
          <a:p>
            <a:r>
              <a:rPr lang="en-US" altLang="zh-CN" dirty="0"/>
              <a:t>1</a:t>
            </a:r>
            <a:r>
              <a:rPr lang="zh-CN" altLang="en-US" dirty="0"/>
              <a:t>、数据链路层位于物理层之上</a:t>
            </a:r>
            <a:endParaRPr lang="en-US" altLang="zh-CN" dirty="0"/>
          </a:p>
          <a:p>
            <a:r>
              <a:rPr lang="en-US" altLang="zh-CN" dirty="0"/>
              <a:t>2</a:t>
            </a:r>
            <a:r>
              <a:rPr lang="zh-CN" altLang="en-US" dirty="0"/>
              <a:t>、对于局域网，数据链路层被划分成介质访问控制层和逻辑链路控制层</a:t>
            </a:r>
            <a:endParaRPr lang="en-US" altLang="zh-CN" dirty="0"/>
          </a:p>
          <a:p>
            <a:r>
              <a:rPr lang="en-US" altLang="zh-CN" dirty="0"/>
              <a:t>3</a:t>
            </a:r>
            <a:r>
              <a:rPr lang="zh-CN" altLang="en-US" dirty="0"/>
              <a:t>、本章主要以点到点链路为基础（相邻的两个节点之间），介绍数据链路层的基本功能和提供的服务类型，对于局域网的介质访问控制方法及相关局域网技术将在下一章进行介绍</a:t>
            </a:r>
            <a:endParaRPr lang="en-US" altLang="zh-CN"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8</a:t>
            </a:fld>
            <a:endParaRPr kumimoji="1" lang="zh-CN" altLang="en-US"/>
          </a:p>
        </p:txBody>
      </p:sp>
    </p:spTree>
    <p:extLst>
      <p:ext uri="{BB962C8B-B14F-4D97-AF65-F5344CB8AC3E}">
        <p14:creationId xmlns:p14="http://schemas.microsoft.com/office/powerpoint/2010/main" val="4540418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t>数据链路层主要通过成帧（</a:t>
            </a:r>
            <a:r>
              <a:rPr lang="en-US" altLang="zh-CN" sz="1200" dirty="0"/>
              <a:t>framing</a:t>
            </a:r>
            <a:r>
              <a:rPr lang="zh-CN" altLang="en-US" sz="1200" dirty="0"/>
              <a:t>），提供差错控制 和 流量控制 能力，并对网络层提供服务。</a:t>
            </a:r>
          </a:p>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9</a:t>
            </a:fld>
            <a:endParaRPr kumimoji="1" lang="zh-CN" altLang="en-US"/>
          </a:p>
        </p:txBody>
      </p:sp>
    </p:spTree>
    <p:extLst>
      <p:ext uri="{BB962C8B-B14F-4D97-AF65-F5344CB8AC3E}">
        <p14:creationId xmlns:p14="http://schemas.microsoft.com/office/powerpoint/2010/main" val="40676620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10</a:t>
            </a:fld>
            <a:endParaRPr kumimoji="1" lang="zh-CN" altLang="en-US"/>
          </a:p>
        </p:txBody>
      </p:sp>
    </p:spTree>
    <p:extLst>
      <p:ext uri="{BB962C8B-B14F-4D97-AF65-F5344CB8AC3E}">
        <p14:creationId xmlns:p14="http://schemas.microsoft.com/office/powerpoint/2010/main" val="19924277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数据链路层数据单元称为帧（</a:t>
            </a:r>
            <a:r>
              <a:rPr lang="en-US" altLang="zh-CN" dirty="0"/>
              <a:t>Frame</a:t>
            </a:r>
            <a:r>
              <a:rPr lang="zh-CN" altLang="en-US" dirty="0"/>
              <a:t>），通常由头标（</a:t>
            </a:r>
            <a:r>
              <a:rPr lang="en-US" altLang="zh-CN" dirty="0"/>
              <a:t>Header</a:t>
            </a:r>
            <a:r>
              <a:rPr lang="zh-CN" altLang="en-US" dirty="0"/>
              <a:t>）、尾标（</a:t>
            </a:r>
            <a:r>
              <a:rPr lang="en-US" altLang="zh-CN" dirty="0"/>
              <a:t>Trailer</a:t>
            </a:r>
            <a:r>
              <a:rPr lang="zh-CN" altLang="en-US" dirty="0"/>
              <a:t>）、有效载荷构成，有效载荷部分封装上层（网络层）数据单元（分组，</a:t>
            </a:r>
            <a:r>
              <a:rPr lang="en-US" altLang="zh-CN" dirty="0"/>
              <a:t>packet</a:t>
            </a:r>
            <a:r>
              <a:rPr lang="zh-CN" altLang="en-US" dirty="0"/>
              <a:t>），帧之间有帧分隔符（帧定界符）</a:t>
            </a:r>
            <a:endParaRPr lang="en-US" altLang="zh-CN"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11</a:t>
            </a:fld>
            <a:endParaRPr kumimoji="1" lang="zh-CN" altLang="en-US"/>
          </a:p>
        </p:txBody>
      </p:sp>
    </p:spTree>
    <p:extLst>
      <p:ext uri="{BB962C8B-B14F-4D97-AF65-F5344CB8AC3E}">
        <p14:creationId xmlns:p14="http://schemas.microsoft.com/office/powerpoint/2010/main" val="3871742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a:t>
            </a:r>
            <a:r>
              <a:rPr lang="zh-CN" altLang="en-US" dirty="0"/>
              <a:t>、成帧中的一个关键问题：如何定界一个帧的开始？</a:t>
            </a:r>
            <a:endParaRPr lang="en-US" altLang="zh-CN" dirty="0"/>
          </a:p>
          <a:p>
            <a:r>
              <a:rPr lang="en-US" altLang="zh-CN" dirty="0"/>
              <a:t>2</a:t>
            </a:r>
            <a:r>
              <a:rPr lang="zh-CN" altLang="en-US" dirty="0"/>
              <a:t>、基于不同的定界方法，成帧方式可以包含所列四种类型，并在后面对四种类型进行介绍</a:t>
            </a:r>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12</a:t>
            </a:fld>
            <a:endParaRPr kumimoji="1" lang="zh-CN" altLang="en-US"/>
          </a:p>
        </p:txBody>
      </p:sp>
    </p:spTree>
    <p:extLst>
      <p:ext uri="{BB962C8B-B14F-4D97-AF65-F5344CB8AC3E}">
        <p14:creationId xmlns:p14="http://schemas.microsoft.com/office/powerpoint/2010/main" val="1389795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1</a:t>
            </a:r>
            <a:r>
              <a:rPr lang="zh-CN" altLang="en-US" dirty="0"/>
              <a:t>、如果出现的差错，正好是一帧的计数，就会破坏帧的边界，导致一连串帧的错误，接收方会失去同步。</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2</a:t>
            </a:r>
            <a:r>
              <a:rPr lang="zh-CN" altLang="en-US" dirty="0"/>
              <a:t>、字节计数法很少使用</a:t>
            </a:r>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14</a:t>
            </a:fld>
            <a:endParaRPr kumimoji="1" lang="zh-CN" altLang="en-US"/>
          </a:p>
        </p:txBody>
      </p:sp>
    </p:spTree>
    <p:extLst>
      <p:ext uri="{BB962C8B-B14F-4D97-AF65-F5344CB8AC3E}">
        <p14:creationId xmlns:p14="http://schemas.microsoft.com/office/powerpoint/2010/main" val="9300171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用一个特殊位组合标识帧的开始和结束。</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18</a:t>
            </a:fld>
            <a:endParaRPr kumimoji="1" lang="zh-CN" altLang="en-US"/>
          </a:p>
        </p:txBody>
      </p:sp>
    </p:spTree>
    <p:extLst>
      <p:ext uri="{BB962C8B-B14F-4D97-AF65-F5344CB8AC3E}">
        <p14:creationId xmlns:p14="http://schemas.microsoft.com/office/powerpoint/2010/main" val="5488668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1</a:t>
            </a:r>
            <a:r>
              <a:rPr lang="zh-CN" altLang="en-US" dirty="0"/>
              <a:t>、比特填充：对有效载荷部分中出现定界符的处理，即避免连续六个</a:t>
            </a:r>
            <a:r>
              <a:rPr lang="en-US" altLang="zh-CN" dirty="0"/>
              <a:t>1</a:t>
            </a:r>
            <a:r>
              <a:rPr lang="zh-CN" altLang="en-US" dirty="0"/>
              <a:t>出现，在连续</a:t>
            </a:r>
            <a:r>
              <a:rPr lang="en-US" altLang="zh-CN" dirty="0"/>
              <a:t>5</a:t>
            </a:r>
            <a:r>
              <a:rPr lang="zh-CN" altLang="en-US" dirty="0"/>
              <a:t>个</a:t>
            </a:r>
            <a:r>
              <a:rPr lang="en-US" altLang="zh-CN" dirty="0"/>
              <a:t>1</a:t>
            </a:r>
            <a:r>
              <a:rPr lang="zh-CN" altLang="en-US" dirty="0"/>
              <a:t>比特之后插入</a:t>
            </a:r>
            <a:r>
              <a:rPr lang="en-US" altLang="zh-CN" dirty="0"/>
              <a:t>1</a:t>
            </a:r>
            <a:r>
              <a:rPr lang="zh-CN" altLang="en-US" dirty="0"/>
              <a:t>个</a:t>
            </a:r>
            <a:r>
              <a:rPr lang="en-US" altLang="zh-CN" dirty="0"/>
              <a:t>0</a:t>
            </a:r>
            <a:r>
              <a:rPr lang="zh-CN" altLang="en-US" dirty="0"/>
              <a:t>比特</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2</a:t>
            </a:r>
            <a:r>
              <a:rPr lang="zh-CN" altLang="en-US" dirty="0"/>
              <a:t>、发送方：仅对</a:t>
            </a:r>
            <a:r>
              <a:rPr lang="zh-CN" altLang="en-US" baseline="0" dirty="0"/>
              <a:t> 有效载荷 部分，进行填充。</a:t>
            </a:r>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19</a:t>
            </a:fld>
            <a:endParaRPr kumimoji="1" lang="zh-CN" altLang="en-US"/>
          </a:p>
        </p:txBody>
      </p:sp>
    </p:spTree>
    <p:extLst>
      <p:ext uri="{BB962C8B-B14F-4D97-AF65-F5344CB8AC3E}">
        <p14:creationId xmlns:p14="http://schemas.microsoft.com/office/powerpoint/2010/main" val="13415595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1</a:t>
            </a:r>
            <a:r>
              <a:rPr lang="zh-CN" altLang="en-US" dirty="0"/>
              <a:t>、接收方：对所有接收到的数据进行检查。</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2</a:t>
            </a:r>
            <a:r>
              <a:rPr lang="zh-CN" altLang="en-US" dirty="0"/>
              <a:t>、比特填充和字节填充均会带来帧的长度与携带的内容相关，即取决于填充字节或比特的数量</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20</a:t>
            </a:fld>
            <a:endParaRPr kumimoji="1" lang="zh-CN" altLang="en-US"/>
          </a:p>
        </p:txBody>
      </p:sp>
    </p:spTree>
    <p:extLst>
      <p:ext uri="{BB962C8B-B14F-4D97-AF65-F5344CB8AC3E}">
        <p14:creationId xmlns:p14="http://schemas.microsoft.com/office/powerpoint/2010/main" val="5807766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核心思想：使用特殊的定界符，保证在正常的编码中不太容易产生或不会产生相应的信号</a:t>
            </a:r>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21</a:t>
            </a:fld>
            <a:endParaRPr kumimoji="1" lang="zh-CN" altLang="en-US"/>
          </a:p>
        </p:txBody>
      </p:sp>
    </p:spTree>
    <p:extLst>
      <p:ext uri="{BB962C8B-B14F-4D97-AF65-F5344CB8AC3E}">
        <p14:creationId xmlns:p14="http://schemas.microsoft.com/office/powerpoint/2010/main" val="22007650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乱序在点到点链路中一般不会出现。</a:t>
            </a:r>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22</a:t>
            </a:fld>
            <a:endParaRPr kumimoji="1" lang="zh-CN" altLang="en-US"/>
          </a:p>
        </p:txBody>
      </p:sp>
    </p:spTree>
    <p:extLst>
      <p:ext uri="{BB962C8B-B14F-4D97-AF65-F5344CB8AC3E}">
        <p14:creationId xmlns:p14="http://schemas.microsoft.com/office/powerpoint/2010/main" val="12799434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要点：</a:t>
            </a:r>
            <a:endParaRPr lang="en-US" altLang="zh-CN" dirty="0"/>
          </a:p>
          <a:p>
            <a:pPr marL="171450" indent="-171450">
              <a:buFont typeface="Arial" panose="020B0604020202020204" pitchFamily="34" charset="0"/>
              <a:buChar char="•"/>
            </a:pPr>
            <a:r>
              <a:rPr lang="zh-CN" altLang="en-US" dirty="0"/>
              <a:t>发送发：每个比特传三份</a:t>
            </a:r>
            <a:endParaRPr lang="en-US" altLang="zh-CN" dirty="0"/>
          </a:p>
          <a:p>
            <a:pPr marL="171450" indent="-171450">
              <a:buFont typeface="Arial" panose="020B0604020202020204" pitchFamily="34" charset="0"/>
              <a:buChar char="•"/>
            </a:pPr>
            <a:r>
              <a:rPr lang="zh-CN" altLang="en-US" dirty="0"/>
              <a:t>接收方：</a:t>
            </a:r>
            <a:endParaRPr lang="en-US" altLang="zh-CN" dirty="0"/>
          </a:p>
          <a:p>
            <a:pPr marL="171450" indent="-171450">
              <a:buFont typeface="微软雅黑" panose="020B0503020204020204" pitchFamily="34" charset="-122"/>
              <a:buChar char="−"/>
            </a:pPr>
            <a:r>
              <a:rPr lang="zh-CN" altLang="en-US" dirty="0"/>
              <a:t>比较每个比特的三份，如果不一致，能识别出传输错误；</a:t>
            </a:r>
            <a:endParaRPr lang="en-US" altLang="zh-CN" dirty="0"/>
          </a:p>
          <a:p>
            <a:pPr marL="171450" indent="-171450">
              <a:buFont typeface="微软雅黑" panose="020B0503020204020204" pitchFamily="34" charset="-122"/>
              <a:buChar char="−"/>
            </a:pPr>
            <a:r>
              <a:rPr lang="zh-CN" altLang="en-US" dirty="0"/>
              <a:t>如果三比特中只有一位错，则可以以其中相同的两位为准，对不同的位进行纠正。</a:t>
            </a:r>
            <a:endParaRPr lang="en-US" altLang="zh-CN" dirty="0"/>
          </a:p>
          <a:p>
            <a:pPr marL="171450" indent="-171450">
              <a:buFont typeface="Arial" panose="020B0604020202020204" pitchFamily="34" charset="0"/>
              <a:buChar char="•"/>
            </a:pPr>
            <a:r>
              <a:rPr lang="zh-CN" altLang="en-US" dirty="0"/>
              <a:t>携带</a:t>
            </a:r>
            <a:r>
              <a:rPr lang="en-US" altLang="zh-CN" dirty="0"/>
              <a:t>2/3</a:t>
            </a:r>
            <a:r>
              <a:rPr lang="zh-CN" altLang="en-US" dirty="0"/>
              <a:t>的冗余信息，冗余信息量大，如蓝牙中的</a:t>
            </a:r>
            <a:r>
              <a:rPr lang="en-US" altLang="zh-CN" dirty="0"/>
              <a:t>1/3FEC</a:t>
            </a:r>
            <a:r>
              <a:rPr lang="zh-CN" altLang="en-US" dirty="0"/>
              <a:t>采用了类似的方法</a:t>
            </a:r>
            <a:endParaRPr lang="en-US" altLang="zh-CN" dirty="0"/>
          </a:p>
          <a:p>
            <a:pPr marL="0" indent="0">
              <a:buFont typeface="Arial" panose="020B0604020202020204" pitchFamily="34" charset="0"/>
              <a:buNone/>
            </a:pPr>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27</a:t>
            </a:fld>
            <a:endParaRPr kumimoji="1" lang="zh-CN" altLang="en-US"/>
          </a:p>
        </p:txBody>
      </p:sp>
    </p:spTree>
    <p:extLst>
      <p:ext uri="{BB962C8B-B14F-4D97-AF65-F5344CB8AC3E}">
        <p14:creationId xmlns:p14="http://schemas.microsoft.com/office/powerpoint/2010/main" val="13438051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dirty="0"/>
              <a:t>选择错略具体策略取决于信道特征：例如，误码率较高的无线链路和误码率较低的光纤链路，需要不同的策略。</a:t>
            </a:r>
            <a:endParaRPr kumimoji="1" lang="en-US" altLang="zh-CN" dirty="0"/>
          </a:p>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28</a:t>
            </a:fld>
            <a:endParaRPr kumimoji="1" lang="zh-CN" altLang="en-US"/>
          </a:p>
        </p:txBody>
      </p:sp>
    </p:spTree>
    <p:extLst>
      <p:ext uri="{BB962C8B-B14F-4D97-AF65-F5344CB8AC3E}">
        <p14:creationId xmlns:p14="http://schemas.microsoft.com/office/powerpoint/2010/main" val="37494739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根据信道的不同会选择不同的码率：在有噪声信道上可能为</a:t>
            </a:r>
            <a:r>
              <a:rPr lang="en-US" altLang="zh-CN" dirty="0"/>
              <a:t>1/2</a:t>
            </a:r>
            <a:r>
              <a:rPr lang="zh-CN" altLang="en-US" dirty="0"/>
              <a:t>，在高质量信道上可能接近</a:t>
            </a:r>
            <a:r>
              <a:rPr lang="en-US" altLang="zh-CN" dirty="0"/>
              <a:t>1</a:t>
            </a:r>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31</a:t>
            </a:fld>
            <a:endParaRPr kumimoji="1" lang="zh-CN" altLang="en-US"/>
          </a:p>
        </p:txBody>
      </p:sp>
    </p:spTree>
    <p:extLst>
      <p:ext uri="{BB962C8B-B14F-4D97-AF65-F5344CB8AC3E}">
        <p14:creationId xmlns:p14="http://schemas.microsoft.com/office/powerpoint/2010/main" val="5779366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36</a:t>
            </a:fld>
            <a:endParaRPr kumimoji="1" lang="zh-CN" altLang="en-US"/>
          </a:p>
        </p:txBody>
      </p:sp>
    </p:spTree>
    <p:extLst>
      <p:ext uri="{BB962C8B-B14F-4D97-AF65-F5344CB8AC3E}">
        <p14:creationId xmlns:p14="http://schemas.microsoft.com/office/powerpoint/2010/main" val="40258689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40BE1D19-F9E4-41D8-88AB-F75072E4C5D4}" type="slidenum">
              <a:rPr lang="en-US" altLang="zh-CN"/>
              <a:pPr>
                <a:spcBef>
                  <a:spcPct val="0"/>
                </a:spcBef>
              </a:pPr>
              <a:t>38</a:t>
            </a:fld>
            <a:endParaRPr lang="en-US" altLang="zh-CN"/>
          </a:p>
        </p:txBody>
      </p:sp>
      <p:sp>
        <p:nvSpPr>
          <p:cNvPr id="53250" name="Rectangle 2"/>
          <p:cNvSpPr>
            <a:spLocks noGrp="1" noRot="1" noChangeAspect="1" noChangeArrowheads="1" noTextEdit="1"/>
          </p:cNvSpPr>
          <p:nvPr>
            <p:ph type="sldImg"/>
          </p:nvPr>
        </p:nvSpPr>
        <p:spPr>
          <a:ln/>
        </p:spPr>
      </p:sp>
      <p:sp>
        <p:nvSpPr>
          <p:cNvPr id="53251"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extLst>
      <p:ext uri="{BB962C8B-B14F-4D97-AF65-F5344CB8AC3E}">
        <p14:creationId xmlns:p14="http://schemas.microsoft.com/office/powerpoint/2010/main" val="28031634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要点：</a:t>
            </a:r>
            <a:endParaRPr lang="en-US" altLang="zh-CN" dirty="0"/>
          </a:p>
          <a:p>
            <a:r>
              <a:rPr lang="en-US" altLang="zh-CN" dirty="0"/>
              <a:t>1</a:t>
            </a:r>
            <a:r>
              <a:rPr lang="zh-CN" altLang="en-US" dirty="0"/>
              <a:t>、海明码利用奇偶校验，是奇偶校验的扩展，首先向学生介绍基本的奇偶校验方法</a:t>
            </a:r>
            <a:endParaRPr lang="en-US" altLang="zh-CN" dirty="0"/>
          </a:p>
          <a:p>
            <a:r>
              <a:rPr lang="en-US" altLang="zh-CN" dirty="0"/>
              <a:t>2</a:t>
            </a:r>
            <a:r>
              <a:rPr lang="zh-CN" altLang="en-US" dirty="0"/>
              <a:t>、</a:t>
            </a:r>
            <a:r>
              <a:rPr lang="en-US" altLang="zh-CN" dirty="0"/>
              <a:t>1</a:t>
            </a:r>
            <a:r>
              <a:rPr lang="zh-CN" altLang="en-US" dirty="0"/>
              <a:t>位奇偶校验，只能检错，不能纠错，校验能力很弱，但可以作为更为复杂方案的重要基础</a:t>
            </a:r>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39</a:t>
            </a:fld>
            <a:endParaRPr kumimoji="1" lang="zh-CN" altLang="en-US"/>
          </a:p>
        </p:txBody>
      </p:sp>
    </p:spTree>
    <p:extLst>
      <p:ext uri="{BB962C8B-B14F-4D97-AF65-F5344CB8AC3E}">
        <p14:creationId xmlns:p14="http://schemas.microsoft.com/office/powerpoint/2010/main" val="35361683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000000"/>
                </a:solidFill>
                <a:effectLst/>
                <a:latin typeface="verdana" panose="020B0604030504040204" pitchFamily="34" charset="0"/>
              </a:rPr>
              <a:t>当发送</a:t>
            </a:r>
            <a:r>
              <a:rPr lang="en-US" b="0" i="0" dirty="0">
                <a:solidFill>
                  <a:srgbClr val="000000"/>
                </a:solidFill>
                <a:effectLst/>
                <a:latin typeface="verdana" panose="020B0604030504040204" pitchFamily="34" charset="0"/>
              </a:rPr>
              <a:t>IP</a:t>
            </a:r>
            <a:r>
              <a:rPr lang="zh-CN" altLang="en-US" b="0" i="0" dirty="0">
                <a:solidFill>
                  <a:srgbClr val="000000"/>
                </a:solidFill>
                <a:effectLst/>
                <a:latin typeface="verdana" panose="020B0604030504040204" pitchFamily="34" charset="0"/>
              </a:rPr>
              <a:t>包时，需要计算</a:t>
            </a:r>
            <a:r>
              <a:rPr lang="en-US" b="0" i="0" dirty="0">
                <a:solidFill>
                  <a:srgbClr val="000000"/>
                </a:solidFill>
                <a:effectLst/>
                <a:latin typeface="verdana" panose="020B0604030504040204" pitchFamily="34" charset="0"/>
              </a:rPr>
              <a:t>IP</a:t>
            </a:r>
            <a:r>
              <a:rPr lang="zh-CN" altLang="en-US" b="0" i="0" dirty="0">
                <a:solidFill>
                  <a:srgbClr val="000000"/>
                </a:solidFill>
                <a:effectLst/>
                <a:latin typeface="verdana" panose="020B0604030504040204" pitchFamily="34" charset="0"/>
              </a:rPr>
              <a:t>报头的校验和：</a:t>
            </a:r>
          </a:p>
          <a:p>
            <a:pPr algn="l"/>
            <a:r>
              <a:rPr lang="en-US" altLang="zh-CN" b="0" i="0" dirty="0">
                <a:solidFill>
                  <a:srgbClr val="000000"/>
                </a:solidFill>
                <a:effectLst/>
                <a:latin typeface="verdana" panose="020B0604030504040204" pitchFamily="34" charset="0"/>
              </a:rPr>
              <a:t>1</a:t>
            </a:r>
            <a:r>
              <a:rPr lang="zh-CN" altLang="en-US" b="0" i="0" dirty="0">
                <a:solidFill>
                  <a:srgbClr val="000000"/>
                </a:solidFill>
                <a:effectLst/>
                <a:latin typeface="verdana" panose="020B0604030504040204" pitchFamily="34" charset="0"/>
              </a:rPr>
              <a:t>、  把校验和字段置为</a:t>
            </a:r>
            <a:r>
              <a:rPr lang="en-US" altLang="zh-CN" b="0" i="0" dirty="0">
                <a:solidFill>
                  <a:srgbClr val="000000"/>
                </a:solidFill>
                <a:effectLst/>
                <a:latin typeface="verdana" panose="020B0604030504040204" pitchFamily="34" charset="0"/>
              </a:rPr>
              <a:t>0</a:t>
            </a:r>
            <a:r>
              <a:rPr lang="zh-CN" altLang="en-US" b="0" i="0" dirty="0">
                <a:solidFill>
                  <a:srgbClr val="000000"/>
                </a:solidFill>
                <a:effectLst/>
                <a:latin typeface="verdana" panose="020B0604030504040204" pitchFamily="34" charset="0"/>
              </a:rPr>
              <a:t>；</a:t>
            </a:r>
          </a:p>
          <a:p>
            <a:pPr algn="l"/>
            <a:r>
              <a:rPr lang="en-US" altLang="zh-CN" b="0" i="0" dirty="0">
                <a:solidFill>
                  <a:srgbClr val="000000"/>
                </a:solidFill>
                <a:effectLst/>
                <a:latin typeface="verdana" panose="020B0604030504040204" pitchFamily="34" charset="0"/>
              </a:rPr>
              <a:t>2</a:t>
            </a:r>
            <a:r>
              <a:rPr lang="zh-CN" altLang="en-US" b="0" i="0" dirty="0">
                <a:solidFill>
                  <a:srgbClr val="000000"/>
                </a:solidFill>
                <a:effectLst/>
                <a:latin typeface="verdana" panose="020B0604030504040204" pitchFamily="34" charset="0"/>
              </a:rPr>
              <a:t>、  对</a:t>
            </a:r>
            <a:r>
              <a:rPr lang="en-US" b="0" i="0" dirty="0">
                <a:solidFill>
                  <a:srgbClr val="000000"/>
                </a:solidFill>
                <a:effectLst/>
                <a:latin typeface="verdana" panose="020B0604030504040204" pitchFamily="34" charset="0"/>
              </a:rPr>
              <a:t>IP</a:t>
            </a:r>
            <a:r>
              <a:rPr lang="zh-CN" altLang="en-US" b="0" i="0" dirty="0">
                <a:solidFill>
                  <a:srgbClr val="000000"/>
                </a:solidFill>
                <a:effectLst/>
                <a:latin typeface="verdana" panose="020B0604030504040204" pitchFamily="34" charset="0"/>
              </a:rPr>
              <a:t>头部中的每</a:t>
            </a:r>
            <a:r>
              <a:rPr lang="en-US" altLang="zh-CN" b="0" i="0" dirty="0">
                <a:solidFill>
                  <a:srgbClr val="000000"/>
                </a:solidFill>
                <a:effectLst/>
                <a:latin typeface="verdana" panose="020B0604030504040204" pitchFamily="34" charset="0"/>
              </a:rPr>
              <a:t>16</a:t>
            </a:r>
            <a:r>
              <a:rPr lang="en-US" b="0" i="0" dirty="0">
                <a:solidFill>
                  <a:srgbClr val="000000"/>
                </a:solidFill>
                <a:effectLst/>
                <a:latin typeface="verdana" panose="020B0604030504040204" pitchFamily="34" charset="0"/>
              </a:rPr>
              <a:t>bit</a:t>
            </a:r>
            <a:r>
              <a:rPr lang="zh-CN" altLang="en-US" b="0" i="0" dirty="0">
                <a:solidFill>
                  <a:srgbClr val="000000"/>
                </a:solidFill>
                <a:effectLst/>
                <a:latin typeface="verdana" panose="020B0604030504040204" pitchFamily="34" charset="0"/>
              </a:rPr>
              <a:t>进行二进制求和；</a:t>
            </a:r>
          </a:p>
          <a:p>
            <a:pPr algn="l"/>
            <a:r>
              <a:rPr lang="en-US" altLang="zh-CN" b="0" i="0" dirty="0">
                <a:solidFill>
                  <a:srgbClr val="000000"/>
                </a:solidFill>
                <a:effectLst/>
                <a:latin typeface="verdana" panose="020B0604030504040204" pitchFamily="34" charset="0"/>
              </a:rPr>
              <a:t>3</a:t>
            </a:r>
            <a:r>
              <a:rPr lang="zh-CN" altLang="en-US" b="0" i="0" dirty="0">
                <a:solidFill>
                  <a:srgbClr val="000000"/>
                </a:solidFill>
                <a:effectLst/>
                <a:latin typeface="verdana" panose="020B0604030504040204" pitchFamily="34" charset="0"/>
              </a:rPr>
              <a:t>、  如果和的高</a:t>
            </a:r>
            <a:r>
              <a:rPr lang="en-US" altLang="zh-CN" b="0" i="0" dirty="0">
                <a:solidFill>
                  <a:srgbClr val="000000"/>
                </a:solidFill>
                <a:effectLst/>
                <a:latin typeface="verdana" panose="020B0604030504040204" pitchFamily="34" charset="0"/>
              </a:rPr>
              <a:t>16</a:t>
            </a:r>
            <a:r>
              <a:rPr lang="en-US" b="0" i="0" dirty="0">
                <a:solidFill>
                  <a:srgbClr val="000000"/>
                </a:solidFill>
                <a:effectLst/>
                <a:latin typeface="verdana" panose="020B0604030504040204" pitchFamily="34" charset="0"/>
              </a:rPr>
              <a:t>bit</a:t>
            </a:r>
            <a:r>
              <a:rPr lang="zh-CN" altLang="en-US" b="0" i="0" dirty="0">
                <a:solidFill>
                  <a:srgbClr val="000000"/>
                </a:solidFill>
                <a:effectLst/>
                <a:latin typeface="verdana" panose="020B0604030504040204" pitchFamily="34" charset="0"/>
              </a:rPr>
              <a:t>不为</a:t>
            </a:r>
            <a:r>
              <a:rPr lang="en-US" altLang="zh-CN" b="0" i="0" dirty="0">
                <a:solidFill>
                  <a:srgbClr val="000000"/>
                </a:solidFill>
                <a:effectLst/>
                <a:latin typeface="verdana" panose="020B0604030504040204" pitchFamily="34" charset="0"/>
              </a:rPr>
              <a:t>0</a:t>
            </a:r>
            <a:r>
              <a:rPr lang="zh-CN" altLang="en-US" b="0" i="0" dirty="0">
                <a:solidFill>
                  <a:srgbClr val="000000"/>
                </a:solidFill>
                <a:effectLst/>
                <a:latin typeface="verdana" panose="020B0604030504040204" pitchFamily="34" charset="0"/>
              </a:rPr>
              <a:t>，则将和的高</a:t>
            </a:r>
            <a:r>
              <a:rPr lang="en-US" altLang="zh-CN" b="0" i="0" dirty="0">
                <a:solidFill>
                  <a:srgbClr val="000000"/>
                </a:solidFill>
                <a:effectLst/>
                <a:latin typeface="verdana" panose="020B0604030504040204" pitchFamily="34" charset="0"/>
              </a:rPr>
              <a:t>16</a:t>
            </a:r>
            <a:r>
              <a:rPr lang="en-US" b="0" i="0" dirty="0">
                <a:solidFill>
                  <a:srgbClr val="000000"/>
                </a:solidFill>
                <a:effectLst/>
                <a:latin typeface="verdana" panose="020B0604030504040204" pitchFamily="34" charset="0"/>
              </a:rPr>
              <a:t>bit</a:t>
            </a:r>
            <a:r>
              <a:rPr lang="zh-CN" altLang="en-US" b="0" i="0" dirty="0">
                <a:solidFill>
                  <a:srgbClr val="000000"/>
                </a:solidFill>
                <a:effectLst/>
                <a:latin typeface="verdana" panose="020B0604030504040204" pitchFamily="34" charset="0"/>
              </a:rPr>
              <a:t>和低</a:t>
            </a:r>
            <a:r>
              <a:rPr lang="en-US" altLang="zh-CN" b="0" i="0" dirty="0">
                <a:solidFill>
                  <a:srgbClr val="000000"/>
                </a:solidFill>
                <a:effectLst/>
                <a:latin typeface="verdana" panose="020B0604030504040204" pitchFamily="34" charset="0"/>
              </a:rPr>
              <a:t>16</a:t>
            </a:r>
            <a:r>
              <a:rPr lang="en-US" b="0" i="0" dirty="0">
                <a:solidFill>
                  <a:srgbClr val="000000"/>
                </a:solidFill>
                <a:effectLst/>
                <a:latin typeface="verdana" panose="020B0604030504040204" pitchFamily="34" charset="0"/>
              </a:rPr>
              <a:t>bit</a:t>
            </a:r>
            <a:r>
              <a:rPr lang="zh-CN" altLang="en-US" b="0" i="0" dirty="0">
                <a:solidFill>
                  <a:srgbClr val="000000"/>
                </a:solidFill>
                <a:effectLst/>
                <a:latin typeface="verdana" panose="020B0604030504040204" pitchFamily="34" charset="0"/>
              </a:rPr>
              <a:t>反复相加，直到和的高</a:t>
            </a:r>
            <a:r>
              <a:rPr lang="en-US" altLang="zh-CN" b="0" i="0" dirty="0">
                <a:solidFill>
                  <a:srgbClr val="000000"/>
                </a:solidFill>
                <a:effectLst/>
                <a:latin typeface="verdana" panose="020B0604030504040204" pitchFamily="34" charset="0"/>
              </a:rPr>
              <a:t>16</a:t>
            </a:r>
            <a:r>
              <a:rPr lang="en-US" b="0" i="0" dirty="0">
                <a:solidFill>
                  <a:srgbClr val="000000"/>
                </a:solidFill>
                <a:effectLst/>
                <a:latin typeface="verdana" panose="020B0604030504040204" pitchFamily="34" charset="0"/>
              </a:rPr>
              <a:t>bit</a:t>
            </a:r>
            <a:r>
              <a:rPr lang="zh-CN" altLang="en-US" b="0" i="0" dirty="0">
                <a:solidFill>
                  <a:srgbClr val="000000"/>
                </a:solidFill>
                <a:effectLst/>
                <a:latin typeface="verdana" panose="020B0604030504040204" pitchFamily="34" charset="0"/>
              </a:rPr>
              <a:t>为</a:t>
            </a:r>
            <a:r>
              <a:rPr lang="en-US" altLang="zh-CN" b="0" i="0" dirty="0">
                <a:solidFill>
                  <a:srgbClr val="000000"/>
                </a:solidFill>
                <a:effectLst/>
                <a:latin typeface="verdana" panose="020B0604030504040204" pitchFamily="34" charset="0"/>
              </a:rPr>
              <a:t>0</a:t>
            </a:r>
            <a:r>
              <a:rPr lang="zh-CN" altLang="en-US" b="0" i="0" dirty="0">
                <a:solidFill>
                  <a:srgbClr val="000000"/>
                </a:solidFill>
                <a:effectLst/>
                <a:latin typeface="verdana" panose="020B0604030504040204" pitchFamily="34" charset="0"/>
              </a:rPr>
              <a:t>，从而获得一个</a:t>
            </a:r>
            <a:r>
              <a:rPr lang="en-US" altLang="zh-CN" b="0" i="0" dirty="0">
                <a:solidFill>
                  <a:srgbClr val="000000"/>
                </a:solidFill>
                <a:effectLst/>
                <a:latin typeface="verdana" panose="020B0604030504040204" pitchFamily="34" charset="0"/>
              </a:rPr>
              <a:t>16</a:t>
            </a:r>
            <a:r>
              <a:rPr lang="en-US" b="0" i="0" dirty="0">
                <a:solidFill>
                  <a:srgbClr val="000000"/>
                </a:solidFill>
                <a:effectLst/>
                <a:latin typeface="verdana" panose="020B0604030504040204" pitchFamily="34" charset="0"/>
              </a:rPr>
              <a:t>bit</a:t>
            </a:r>
            <a:r>
              <a:rPr lang="zh-CN" altLang="en-US" b="0" i="0" dirty="0">
                <a:solidFill>
                  <a:srgbClr val="000000"/>
                </a:solidFill>
                <a:effectLst/>
                <a:latin typeface="verdana" panose="020B0604030504040204" pitchFamily="34" charset="0"/>
              </a:rPr>
              <a:t>的值；</a:t>
            </a:r>
          </a:p>
          <a:p>
            <a:pPr algn="l"/>
            <a:r>
              <a:rPr lang="en-US" altLang="zh-CN" b="0" i="0" dirty="0">
                <a:solidFill>
                  <a:srgbClr val="000000"/>
                </a:solidFill>
                <a:effectLst/>
                <a:latin typeface="verdana" panose="020B0604030504040204" pitchFamily="34" charset="0"/>
              </a:rPr>
              <a:t>4</a:t>
            </a:r>
            <a:r>
              <a:rPr lang="zh-CN" altLang="en-US" b="0" i="0" dirty="0">
                <a:solidFill>
                  <a:srgbClr val="000000"/>
                </a:solidFill>
                <a:effectLst/>
                <a:latin typeface="verdana" panose="020B0604030504040204" pitchFamily="34" charset="0"/>
              </a:rPr>
              <a:t>、  将该</a:t>
            </a:r>
            <a:r>
              <a:rPr lang="en-US" altLang="zh-CN" b="0" i="0" dirty="0">
                <a:solidFill>
                  <a:srgbClr val="000000"/>
                </a:solidFill>
                <a:effectLst/>
                <a:latin typeface="verdana" panose="020B0604030504040204" pitchFamily="34" charset="0"/>
              </a:rPr>
              <a:t>16</a:t>
            </a:r>
            <a:r>
              <a:rPr lang="en-US" b="0" i="0" dirty="0">
                <a:solidFill>
                  <a:srgbClr val="000000"/>
                </a:solidFill>
                <a:effectLst/>
                <a:latin typeface="verdana" panose="020B0604030504040204" pitchFamily="34" charset="0"/>
              </a:rPr>
              <a:t>bit</a:t>
            </a:r>
            <a:r>
              <a:rPr lang="zh-CN" altLang="en-US" b="0" i="0" dirty="0">
                <a:solidFill>
                  <a:srgbClr val="000000"/>
                </a:solidFill>
                <a:effectLst/>
                <a:latin typeface="verdana" panose="020B0604030504040204" pitchFamily="34" charset="0"/>
              </a:rPr>
              <a:t>的值取反，存入校验和字段。</a:t>
            </a:r>
          </a:p>
          <a:p>
            <a:pPr algn="l"/>
            <a:r>
              <a:rPr lang="zh-CN" altLang="en-US" b="0" i="0" dirty="0">
                <a:solidFill>
                  <a:srgbClr val="000000"/>
                </a:solidFill>
                <a:effectLst/>
                <a:latin typeface="verdana" panose="020B0604030504040204" pitchFamily="34" charset="0"/>
              </a:rPr>
              <a:t>◆当接收</a:t>
            </a:r>
            <a:r>
              <a:rPr lang="en-US" b="0" i="0" dirty="0">
                <a:solidFill>
                  <a:srgbClr val="000000"/>
                </a:solidFill>
                <a:effectLst/>
                <a:latin typeface="verdana" panose="020B0604030504040204" pitchFamily="34" charset="0"/>
              </a:rPr>
              <a:t>IP</a:t>
            </a:r>
            <a:r>
              <a:rPr lang="zh-CN" altLang="en-US" b="0" i="0" dirty="0">
                <a:solidFill>
                  <a:srgbClr val="000000"/>
                </a:solidFill>
                <a:effectLst/>
                <a:latin typeface="verdana" panose="020B0604030504040204" pitchFamily="34" charset="0"/>
              </a:rPr>
              <a:t>包时，需要对报头进行确认，检查</a:t>
            </a:r>
            <a:r>
              <a:rPr lang="en-US" b="0" i="0" dirty="0">
                <a:solidFill>
                  <a:srgbClr val="000000"/>
                </a:solidFill>
                <a:effectLst/>
                <a:latin typeface="verdana" panose="020B0604030504040204" pitchFamily="34" charset="0"/>
              </a:rPr>
              <a:t>IP</a:t>
            </a:r>
            <a:r>
              <a:rPr lang="zh-CN" altLang="en-US" b="0" i="0" dirty="0">
                <a:solidFill>
                  <a:srgbClr val="000000"/>
                </a:solidFill>
                <a:effectLst/>
                <a:latin typeface="verdana" panose="020B0604030504040204" pitchFamily="34" charset="0"/>
              </a:rPr>
              <a:t>头是否有误，算法同上</a:t>
            </a:r>
            <a:r>
              <a:rPr lang="en-US" altLang="zh-CN" b="0" i="0" dirty="0">
                <a:solidFill>
                  <a:srgbClr val="000000"/>
                </a:solidFill>
                <a:effectLst/>
                <a:latin typeface="verdana" panose="020B0604030504040204" pitchFamily="34" charset="0"/>
              </a:rPr>
              <a:t>2</a:t>
            </a:r>
            <a:r>
              <a:rPr lang="zh-CN" altLang="en-US" b="0" i="0" dirty="0">
                <a:solidFill>
                  <a:srgbClr val="000000"/>
                </a:solidFill>
                <a:effectLst/>
                <a:latin typeface="verdana" panose="020B0604030504040204" pitchFamily="34" charset="0"/>
              </a:rPr>
              <a:t>、</a:t>
            </a:r>
            <a:r>
              <a:rPr lang="en-US" altLang="zh-CN" b="0" i="0" dirty="0">
                <a:solidFill>
                  <a:srgbClr val="000000"/>
                </a:solidFill>
                <a:effectLst/>
                <a:latin typeface="verdana" panose="020B0604030504040204" pitchFamily="34" charset="0"/>
              </a:rPr>
              <a:t>3</a:t>
            </a:r>
            <a:r>
              <a:rPr lang="zh-CN" altLang="en-US" b="0" i="0" dirty="0">
                <a:solidFill>
                  <a:srgbClr val="000000"/>
                </a:solidFill>
                <a:effectLst/>
                <a:latin typeface="verdana" panose="020B0604030504040204" pitchFamily="34" charset="0"/>
              </a:rPr>
              <a:t>步，然后判断取反 的结果是否为</a:t>
            </a:r>
            <a:r>
              <a:rPr lang="en-US" altLang="zh-CN" b="0" i="0" dirty="0">
                <a:solidFill>
                  <a:srgbClr val="000000"/>
                </a:solidFill>
                <a:effectLst/>
                <a:latin typeface="verdana" panose="020B0604030504040204" pitchFamily="34" charset="0"/>
              </a:rPr>
              <a:t>0</a:t>
            </a:r>
            <a:r>
              <a:rPr lang="zh-CN" altLang="en-US" b="0" i="0" dirty="0">
                <a:solidFill>
                  <a:srgbClr val="000000"/>
                </a:solidFill>
                <a:effectLst/>
                <a:latin typeface="verdana" panose="020B0604030504040204" pitchFamily="34" charset="0"/>
              </a:rPr>
              <a:t>，是则正确，否则有错。</a:t>
            </a:r>
          </a:p>
          <a:p>
            <a:endParaRPr kumimoji="1" lang="zh-CN" altLang="en-US" dirty="0"/>
          </a:p>
        </p:txBody>
      </p:sp>
      <p:sp>
        <p:nvSpPr>
          <p:cNvPr id="4" name="幻灯片编号占位符 3"/>
          <p:cNvSpPr>
            <a:spLocks noGrp="1"/>
          </p:cNvSpPr>
          <p:nvPr>
            <p:ph type="sldNum" sz="quarter" idx="10"/>
          </p:nvPr>
        </p:nvSpPr>
        <p:spPr/>
        <p:txBody>
          <a:bodyPr/>
          <a:lstStyle/>
          <a:p>
            <a:fld id="{840B8802-914A-7C41-BC77-CC54DEE99EEF}" type="slidenum">
              <a:rPr kumimoji="1" lang="zh-CN" altLang="en-US" smtClean="0"/>
              <a:t>40</a:t>
            </a:fld>
            <a:endParaRPr kumimoji="1" lang="zh-CN" altLang="en-US"/>
          </a:p>
        </p:txBody>
      </p:sp>
    </p:spTree>
    <p:extLst>
      <p:ext uri="{BB962C8B-B14F-4D97-AF65-F5344CB8AC3E}">
        <p14:creationId xmlns:p14="http://schemas.microsoft.com/office/powerpoint/2010/main" val="22787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000000"/>
                </a:solidFill>
                <a:effectLst/>
                <a:latin typeface="verdana" panose="020B0604030504040204" pitchFamily="34" charset="0"/>
              </a:rPr>
              <a:t>当发送</a:t>
            </a:r>
            <a:r>
              <a:rPr lang="en-US" b="0" i="0" dirty="0">
                <a:solidFill>
                  <a:srgbClr val="000000"/>
                </a:solidFill>
                <a:effectLst/>
                <a:latin typeface="verdana" panose="020B0604030504040204" pitchFamily="34" charset="0"/>
              </a:rPr>
              <a:t>IP</a:t>
            </a:r>
            <a:r>
              <a:rPr lang="zh-CN" altLang="en-US" b="0" i="0" dirty="0">
                <a:solidFill>
                  <a:srgbClr val="000000"/>
                </a:solidFill>
                <a:effectLst/>
                <a:latin typeface="verdana" panose="020B0604030504040204" pitchFamily="34" charset="0"/>
              </a:rPr>
              <a:t>包时，需要计算</a:t>
            </a:r>
            <a:r>
              <a:rPr lang="en-US" b="0" i="0" dirty="0">
                <a:solidFill>
                  <a:srgbClr val="000000"/>
                </a:solidFill>
                <a:effectLst/>
                <a:latin typeface="verdana" panose="020B0604030504040204" pitchFamily="34" charset="0"/>
              </a:rPr>
              <a:t>IP</a:t>
            </a:r>
            <a:r>
              <a:rPr lang="zh-CN" altLang="en-US" b="0" i="0" dirty="0">
                <a:solidFill>
                  <a:srgbClr val="000000"/>
                </a:solidFill>
                <a:effectLst/>
                <a:latin typeface="verdana" panose="020B0604030504040204" pitchFamily="34" charset="0"/>
              </a:rPr>
              <a:t>报头的校验和：</a:t>
            </a:r>
          </a:p>
          <a:p>
            <a:pPr algn="l"/>
            <a:r>
              <a:rPr lang="en-US" altLang="zh-CN" b="0" i="0" dirty="0">
                <a:solidFill>
                  <a:srgbClr val="000000"/>
                </a:solidFill>
                <a:effectLst/>
                <a:latin typeface="verdana" panose="020B0604030504040204" pitchFamily="34" charset="0"/>
              </a:rPr>
              <a:t>1</a:t>
            </a:r>
            <a:r>
              <a:rPr lang="zh-CN" altLang="en-US" b="0" i="0" dirty="0">
                <a:solidFill>
                  <a:srgbClr val="000000"/>
                </a:solidFill>
                <a:effectLst/>
                <a:latin typeface="verdana" panose="020B0604030504040204" pitchFamily="34" charset="0"/>
              </a:rPr>
              <a:t>、  把校验和字段置为</a:t>
            </a:r>
            <a:r>
              <a:rPr lang="en-US" altLang="zh-CN" b="0" i="0" dirty="0">
                <a:solidFill>
                  <a:srgbClr val="000000"/>
                </a:solidFill>
                <a:effectLst/>
                <a:latin typeface="verdana" panose="020B0604030504040204" pitchFamily="34" charset="0"/>
              </a:rPr>
              <a:t>0</a:t>
            </a:r>
            <a:r>
              <a:rPr lang="zh-CN" altLang="en-US" b="0" i="0" dirty="0">
                <a:solidFill>
                  <a:srgbClr val="000000"/>
                </a:solidFill>
                <a:effectLst/>
                <a:latin typeface="verdana" panose="020B0604030504040204" pitchFamily="34" charset="0"/>
              </a:rPr>
              <a:t>；</a:t>
            </a:r>
          </a:p>
          <a:p>
            <a:pPr algn="l"/>
            <a:r>
              <a:rPr lang="en-US" altLang="zh-CN" b="0" i="0" dirty="0">
                <a:solidFill>
                  <a:srgbClr val="000000"/>
                </a:solidFill>
                <a:effectLst/>
                <a:latin typeface="verdana" panose="020B0604030504040204" pitchFamily="34" charset="0"/>
              </a:rPr>
              <a:t>2</a:t>
            </a:r>
            <a:r>
              <a:rPr lang="zh-CN" altLang="en-US" b="0" i="0" dirty="0">
                <a:solidFill>
                  <a:srgbClr val="000000"/>
                </a:solidFill>
                <a:effectLst/>
                <a:latin typeface="verdana" panose="020B0604030504040204" pitchFamily="34" charset="0"/>
              </a:rPr>
              <a:t>、  对</a:t>
            </a:r>
            <a:r>
              <a:rPr lang="en-US" b="0" i="0" dirty="0">
                <a:solidFill>
                  <a:srgbClr val="000000"/>
                </a:solidFill>
                <a:effectLst/>
                <a:latin typeface="verdana" panose="020B0604030504040204" pitchFamily="34" charset="0"/>
              </a:rPr>
              <a:t>IP</a:t>
            </a:r>
            <a:r>
              <a:rPr lang="zh-CN" altLang="en-US" b="0" i="0" dirty="0">
                <a:solidFill>
                  <a:srgbClr val="000000"/>
                </a:solidFill>
                <a:effectLst/>
                <a:latin typeface="verdana" panose="020B0604030504040204" pitchFamily="34" charset="0"/>
              </a:rPr>
              <a:t>头部中的每</a:t>
            </a:r>
            <a:r>
              <a:rPr lang="en-US" altLang="zh-CN" b="0" i="0" dirty="0">
                <a:solidFill>
                  <a:srgbClr val="000000"/>
                </a:solidFill>
                <a:effectLst/>
                <a:latin typeface="verdana" panose="020B0604030504040204" pitchFamily="34" charset="0"/>
              </a:rPr>
              <a:t>16</a:t>
            </a:r>
            <a:r>
              <a:rPr lang="en-US" b="0" i="0" dirty="0">
                <a:solidFill>
                  <a:srgbClr val="000000"/>
                </a:solidFill>
                <a:effectLst/>
                <a:latin typeface="verdana" panose="020B0604030504040204" pitchFamily="34" charset="0"/>
              </a:rPr>
              <a:t>bit</a:t>
            </a:r>
            <a:r>
              <a:rPr lang="zh-CN" altLang="en-US" b="0" i="0" dirty="0">
                <a:solidFill>
                  <a:srgbClr val="000000"/>
                </a:solidFill>
                <a:effectLst/>
                <a:latin typeface="verdana" panose="020B0604030504040204" pitchFamily="34" charset="0"/>
              </a:rPr>
              <a:t>进行二进制求和；</a:t>
            </a:r>
          </a:p>
          <a:p>
            <a:pPr algn="l"/>
            <a:r>
              <a:rPr lang="en-US" altLang="zh-CN" b="0" i="0" dirty="0">
                <a:solidFill>
                  <a:srgbClr val="000000"/>
                </a:solidFill>
                <a:effectLst/>
                <a:latin typeface="verdana" panose="020B0604030504040204" pitchFamily="34" charset="0"/>
              </a:rPr>
              <a:t>3</a:t>
            </a:r>
            <a:r>
              <a:rPr lang="zh-CN" altLang="en-US" b="0" i="0" dirty="0">
                <a:solidFill>
                  <a:srgbClr val="000000"/>
                </a:solidFill>
                <a:effectLst/>
                <a:latin typeface="verdana" panose="020B0604030504040204" pitchFamily="34" charset="0"/>
              </a:rPr>
              <a:t>、  如果和的高</a:t>
            </a:r>
            <a:r>
              <a:rPr lang="en-US" altLang="zh-CN" b="0" i="0" dirty="0">
                <a:solidFill>
                  <a:srgbClr val="000000"/>
                </a:solidFill>
                <a:effectLst/>
                <a:latin typeface="verdana" panose="020B0604030504040204" pitchFamily="34" charset="0"/>
              </a:rPr>
              <a:t>16</a:t>
            </a:r>
            <a:r>
              <a:rPr lang="en-US" b="0" i="0" dirty="0">
                <a:solidFill>
                  <a:srgbClr val="000000"/>
                </a:solidFill>
                <a:effectLst/>
                <a:latin typeface="verdana" panose="020B0604030504040204" pitchFamily="34" charset="0"/>
              </a:rPr>
              <a:t>bit</a:t>
            </a:r>
            <a:r>
              <a:rPr lang="zh-CN" altLang="en-US" b="0" i="0" dirty="0">
                <a:solidFill>
                  <a:srgbClr val="000000"/>
                </a:solidFill>
                <a:effectLst/>
                <a:latin typeface="verdana" panose="020B0604030504040204" pitchFamily="34" charset="0"/>
              </a:rPr>
              <a:t>不为</a:t>
            </a:r>
            <a:r>
              <a:rPr lang="en-US" altLang="zh-CN" b="0" i="0" dirty="0">
                <a:solidFill>
                  <a:srgbClr val="000000"/>
                </a:solidFill>
                <a:effectLst/>
                <a:latin typeface="verdana" panose="020B0604030504040204" pitchFamily="34" charset="0"/>
              </a:rPr>
              <a:t>0</a:t>
            </a:r>
            <a:r>
              <a:rPr lang="zh-CN" altLang="en-US" b="0" i="0" dirty="0">
                <a:solidFill>
                  <a:srgbClr val="000000"/>
                </a:solidFill>
                <a:effectLst/>
                <a:latin typeface="verdana" panose="020B0604030504040204" pitchFamily="34" charset="0"/>
              </a:rPr>
              <a:t>，则将和的高</a:t>
            </a:r>
            <a:r>
              <a:rPr lang="en-US" altLang="zh-CN" b="0" i="0" dirty="0">
                <a:solidFill>
                  <a:srgbClr val="000000"/>
                </a:solidFill>
                <a:effectLst/>
                <a:latin typeface="verdana" panose="020B0604030504040204" pitchFamily="34" charset="0"/>
              </a:rPr>
              <a:t>16</a:t>
            </a:r>
            <a:r>
              <a:rPr lang="en-US" b="0" i="0" dirty="0">
                <a:solidFill>
                  <a:srgbClr val="000000"/>
                </a:solidFill>
                <a:effectLst/>
                <a:latin typeface="verdana" panose="020B0604030504040204" pitchFamily="34" charset="0"/>
              </a:rPr>
              <a:t>bit</a:t>
            </a:r>
            <a:r>
              <a:rPr lang="zh-CN" altLang="en-US" b="0" i="0" dirty="0">
                <a:solidFill>
                  <a:srgbClr val="000000"/>
                </a:solidFill>
                <a:effectLst/>
                <a:latin typeface="verdana" panose="020B0604030504040204" pitchFamily="34" charset="0"/>
              </a:rPr>
              <a:t>和低</a:t>
            </a:r>
            <a:r>
              <a:rPr lang="en-US" altLang="zh-CN" b="0" i="0" dirty="0">
                <a:solidFill>
                  <a:srgbClr val="000000"/>
                </a:solidFill>
                <a:effectLst/>
                <a:latin typeface="verdana" panose="020B0604030504040204" pitchFamily="34" charset="0"/>
              </a:rPr>
              <a:t>16</a:t>
            </a:r>
            <a:r>
              <a:rPr lang="en-US" b="0" i="0" dirty="0">
                <a:solidFill>
                  <a:srgbClr val="000000"/>
                </a:solidFill>
                <a:effectLst/>
                <a:latin typeface="verdana" panose="020B0604030504040204" pitchFamily="34" charset="0"/>
              </a:rPr>
              <a:t>bit</a:t>
            </a:r>
            <a:r>
              <a:rPr lang="zh-CN" altLang="en-US" b="0" i="0" dirty="0">
                <a:solidFill>
                  <a:srgbClr val="000000"/>
                </a:solidFill>
                <a:effectLst/>
                <a:latin typeface="verdana" panose="020B0604030504040204" pitchFamily="34" charset="0"/>
              </a:rPr>
              <a:t>反复相加，直到和的高</a:t>
            </a:r>
            <a:r>
              <a:rPr lang="en-US" altLang="zh-CN" b="0" i="0" dirty="0">
                <a:solidFill>
                  <a:srgbClr val="000000"/>
                </a:solidFill>
                <a:effectLst/>
                <a:latin typeface="verdana" panose="020B0604030504040204" pitchFamily="34" charset="0"/>
              </a:rPr>
              <a:t>16</a:t>
            </a:r>
            <a:r>
              <a:rPr lang="en-US" b="0" i="0" dirty="0">
                <a:solidFill>
                  <a:srgbClr val="000000"/>
                </a:solidFill>
                <a:effectLst/>
                <a:latin typeface="verdana" panose="020B0604030504040204" pitchFamily="34" charset="0"/>
              </a:rPr>
              <a:t>bit</a:t>
            </a:r>
            <a:r>
              <a:rPr lang="zh-CN" altLang="en-US" b="0" i="0" dirty="0">
                <a:solidFill>
                  <a:srgbClr val="000000"/>
                </a:solidFill>
                <a:effectLst/>
                <a:latin typeface="verdana" panose="020B0604030504040204" pitchFamily="34" charset="0"/>
              </a:rPr>
              <a:t>为</a:t>
            </a:r>
            <a:r>
              <a:rPr lang="en-US" altLang="zh-CN" b="0" i="0" dirty="0">
                <a:solidFill>
                  <a:srgbClr val="000000"/>
                </a:solidFill>
                <a:effectLst/>
                <a:latin typeface="verdana" panose="020B0604030504040204" pitchFamily="34" charset="0"/>
              </a:rPr>
              <a:t>0</a:t>
            </a:r>
            <a:r>
              <a:rPr lang="zh-CN" altLang="en-US" b="0" i="0" dirty="0">
                <a:solidFill>
                  <a:srgbClr val="000000"/>
                </a:solidFill>
                <a:effectLst/>
                <a:latin typeface="verdana" panose="020B0604030504040204" pitchFamily="34" charset="0"/>
              </a:rPr>
              <a:t>，从而获得一个</a:t>
            </a:r>
            <a:r>
              <a:rPr lang="en-US" altLang="zh-CN" b="0" i="0" dirty="0">
                <a:solidFill>
                  <a:srgbClr val="000000"/>
                </a:solidFill>
                <a:effectLst/>
                <a:latin typeface="verdana" panose="020B0604030504040204" pitchFamily="34" charset="0"/>
              </a:rPr>
              <a:t>16</a:t>
            </a:r>
            <a:r>
              <a:rPr lang="en-US" b="0" i="0" dirty="0">
                <a:solidFill>
                  <a:srgbClr val="000000"/>
                </a:solidFill>
                <a:effectLst/>
                <a:latin typeface="verdana" panose="020B0604030504040204" pitchFamily="34" charset="0"/>
              </a:rPr>
              <a:t>bit</a:t>
            </a:r>
            <a:r>
              <a:rPr lang="zh-CN" altLang="en-US" b="0" i="0" dirty="0">
                <a:solidFill>
                  <a:srgbClr val="000000"/>
                </a:solidFill>
                <a:effectLst/>
                <a:latin typeface="verdana" panose="020B0604030504040204" pitchFamily="34" charset="0"/>
              </a:rPr>
              <a:t>的值；</a:t>
            </a:r>
          </a:p>
          <a:p>
            <a:pPr algn="l"/>
            <a:r>
              <a:rPr lang="en-US" altLang="zh-CN" b="0" i="0" dirty="0">
                <a:solidFill>
                  <a:srgbClr val="000000"/>
                </a:solidFill>
                <a:effectLst/>
                <a:latin typeface="verdana" panose="020B0604030504040204" pitchFamily="34" charset="0"/>
              </a:rPr>
              <a:t>4</a:t>
            </a:r>
            <a:r>
              <a:rPr lang="zh-CN" altLang="en-US" b="0" i="0" dirty="0">
                <a:solidFill>
                  <a:srgbClr val="000000"/>
                </a:solidFill>
                <a:effectLst/>
                <a:latin typeface="verdana" panose="020B0604030504040204" pitchFamily="34" charset="0"/>
              </a:rPr>
              <a:t>、  将该</a:t>
            </a:r>
            <a:r>
              <a:rPr lang="en-US" altLang="zh-CN" b="0" i="0" dirty="0">
                <a:solidFill>
                  <a:srgbClr val="000000"/>
                </a:solidFill>
                <a:effectLst/>
                <a:latin typeface="verdana" panose="020B0604030504040204" pitchFamily="34" charset="0"/>
              </a:rPr>
              <a:t>16</a:t>
            </a:r>
            <a:r>
              <a:rPr lang="en-US" b="0" i="0" dirty="0">
                <a:solidFill>
                  <a:srgbClr val="000000"/>
                </a:solidFill>
                <a:effectLst/>
                <a:latin typeface="verdana" panose="020B0604030504040204" pitchFamily="34" charset="0"/>
              </a:rPr>
              <a:t>bit</a:t>
            </a:r>
            <a:r>
              <a:rPr lang="zh-CN" altLang="en-US" b="0" i="0" dirty="0">
                <a:solidFill>
                  <a:srgbClr val="000000"/>
                </a:solidFill>
                <a:effectLst/>
                <a:latin typeface="verdana" panose="020B0604030504040204" pitchFamily="34" charset="0"/>
              </a:rPr>
              <a:t>的值取反，存入校验和字段。</a:t>
            </a:r>
          </a:p>
          <a:p>
            <a:pPr algn="l"/>
            <a:r>
              <a:rPr lang="zh-CN" altLang="en-US" b="0" i="0" dirty="0">
                <a:solidFill>
                  <a:srgbClr val="000000"/>
                </a:solidFill>
                <a:effectLst/>
                <a:latin typeface="verdana" panose="020B0604030504040204" pitchFamily="34" charset="0"/>
              </a:rPr>
              <a:t>◆当接收</a:t>
            </a:r>
            <a:r>
              <a:rPr lang="en-US" b="0" i="0" dirty="0">
                <a:solidFill>
                  <a:srgbClr val="000000"/>
                </a:solidFill>
                <a:effectLst/>
                <a:latin typeface="verdana" panose="020B0604030504040204" pitchFamily="34" charset="0"/>
              </a:rPr>
              <a:t>IP</a:t>
            </a:r>
            <a:r>
              <a:rPr lang="zh-CN" altLang="en-US" b="0" i="0" dirty="0">
                <a:solidFill>
                  <a:srgbClr val="000000"/>
                </a:solidFill>
                <a:effectLst/>
                <a:latin typeface="verdana" panose="020B0604030504040204" pitchFamily="34" charset="0"/>
              </a:rPr>
              <a:t>包时，需要对报头进行确认，检查</a:t>
            </a:r>
            <a:r>
              <a:rPr lang="en-US" b="0" i="0" dirty="0">
                <a:solidFill>
                  <a:srgbClr val="000000"/>
                </a:solidFill>
                <a:effectLst/>
                <a:latin typeface="verdana" panose="020B0604030504040204" pitchFamily="34" charset="0"/>
              </a:rPr>
              <a:t>IP</a:t>
            </a:r>
            <a:r>
              <a:rPr lang="zh-CN" altLang="en-US" b="0" i="0" dirty="0">
                <a:solidFill>
                  <a:srgbClr val="000000"/>
                </a:solidFill>
                <a:effectLst/>
                <a:latin typeface="verdana" panose="020B0604030504040204" pitchFamily="34" charset="0"/>
              </a:rPr>
              <a:t>头是否有误，算法同上</a:t>
            </a:r>
            <a:r>
              <a:rPr lang="en-US" altLang="zh-CN" b="0" i="0" dirty="0">
                <a:solidFill>
                  <a:srgbClr val="000000"/>
                </a:solidFill>
                <a:effectLst/>
                <a:latin typeface="verdana" panose="020B0604030504040204" pitchFamily="34" charset="0"/>
              </a:rPr>
              <a:t>2</a:t>
            </a:r>
            <a:r>
              <a:rPr lang="zh-CN" altLang="en-US" b="0" i="0" dirty="0">
                <a:solidFill>
                  <a:srgbClr val="000000"/>
                </a:solidFill>
                <a:effectLst/>
                <a:latin typeface="verdana" panose="020B0604030504040204" pitchFamily="34" charset="0"/>
              </a:rPr>
              <a:t>、</a:t>
            </a:r>
            <a:r>
              <a:rPr lang="en-US" altLang="zh-CN" b="0" i="0" dirty="0">
                <a:solidFill>
                  <a:srgbClr val="000000"/>
                </a:solidFill>
                <a:effectLst/>
                <a:latin typeface="verdana" panose="020B0604030504040204" pitchFamily="34" charset="0"/>
              </a:rPr>
              <a:t>3</a:t>
            </a:r>
            <a:r>
              <a:rPr lang="zh-CN" altLang="en-US" b="0" i="0" dirty="0">
                <a:solidFill>
                  <a:srgbClr val="000000"/>
                </a:solidFill>
                <a:effectLst/>
                <a:latin typeface="verdana" panose="020B0604030504040204" pitchFamily="34" charset="0"/>
              </a:rPr>
              <a:t>步，然后判断取反 的结果是否为</a:t>
            </a:r>
            <a:r>
              <a:rPr lang="en-US" altLang="zh-CN" b="0" i="0" dirty="0">
                <a:solidFill>
                  <a:srgbClr val="000000"/>
                </a:solidFill>
                <a:effectLst/>
                <a:latin typeface="verdana" panose="020B0604030504040204" pitchFamily="34" charset="0"/>
              </a:rPr>
              <a:t>0</a:t>
            </a:r>
            <a:r>
              <a:rPr lang="zh-CN" altLang="en-US" b="0" i="0" dirty="0">
                <a:solidFill>
                  <a:srgbClr val="000000"/>
                </a:solidFill>
                <a:effectLst/>
                <a:latin typeface="verdana" panose="020B0604030504040204" pitchFamily="34" charset="0"/>
              </a:rPr>
              <a:t>，是则正确，否则有错。</a:t>
            </a:r>
          </a:p>
          <a:p>
            <a:endParaRPr kumimoji="1" lang="zh-CN" altLang="en-US" dirty="0"/>
          </a:p>
        </p:txBody>
      </p:sp>
      <p:sp>
        <p:nvSpPr>
          <p:cNvPr id="4" name="幻灯片编号占位符 3"/>
          <p:cNvSpPr>
            <a:spLocks noGrp="1"/>
          </p:cNvSpPr>
          <p:nvPr>
            <p:ph type="sldNum" sz="quarter" idx="10"/>
          </p:nvPr>
        </p:nvSpPr>
        <p:spPr/>
        <p:txBody>
          <a:bodyPr/>
          <a:lstStyle/>
          <a:p>
            <a:fld id="{840B8802-914A-7C41-BC77-CC54DEE99EEF}" type="slidenum">
              <a:rPr kumimoji="1" lang="zh-CN" altLang="en-US" smtClean="0"/>
              <a:t>41</a:t>
            </a:fld>
            <a:endParaRPr kumimoji="1" lang="zh-CN" altLang="en-US"/>
          </a:p>
        </p:txBody>
      </p:sp>
    </p:spTree>
    <p:extLst>
      <p:ext uri="{BB962C8B-B14F-4D97-AF65-F5344CB8AC3E}">
        <p14:creationId xmlns:p14="http://schemas.microsoft.com/office/powerpoint/2010/main" val="14738981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要点：可以引导学生思考接收端的计算方法：直接做除法运算，余数为</a:t>
            </a:r>
            <a:r>
              <a:rPr kumimoji="1" lang="en-US" altLang="zh-CN" dirty="0"/>
              <a:t>0</a:t>
            </a:r>
            <a:r>
              <a:rPr kumimoji="1" lang="zh-CN" altLang="en-US" dirty="0"/>
              <a:t>，则未监测出错误。</a:t>
            </a:r>
          </a:p>
        </p:txBody>
      </p:sp>
      <p:sp>
        <p:nvSpPr>
          <p:cNvPr id="4" name="幻灯片编号占位符 3"/>
          <p:cNvSpPr>
            <a:spLocks noGrp="1"/>
          </p:cNvSpPr>
          <p:nvPr>
            <p:ph type="sldNum" sz="quarter" idx="10"/>
          </p:nvPr>
        </p:nvSpPr>
        <p:spPr/>
        <p:txBody>
          <a:bodyPr/>
          <a:lstStyle/>
          <a:p>
            <a:fld id="{840B8802-914A-7C41-BC77-CC54DEE99EEF}" type="slidenum">
              <a:rPr kumimoji="1" lang="zh-CN" altLang="en-US" smtClean="0"/>
              <a:t>42</a:t>
            </a:fld>
            <a:endParaRPr kumimoji="1" lang="zh-CN" altLang="en-US"/>
          </a:p>
        </p:txBody>
      </p:sp>
    </p:spTree>
    <p:extLst>
      <p:ext uri="{BB962C8B-B14F-4D97-AF65-F5344CB8AC3E}">
        <p14:creationId xmlns:p14="http://schemas.microsoft.com/office/powerpoint/2010/main" val="39664634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840B8802-914A-7C41-BC77-CC54DEE99EEF}" type="slidenum">
              <a:rPr kumimoji="1" lang="zh-CN" altLang="en-US" smtClean="0"/>
              <a:t>43</a:t>
            </a:fld>
            <a:endParaRPr kumimoji="1" lang="zh-CN" altLang="en-US"/>
          </a:p>
        </p:txBody>
      </p:sp>
    </p:spTree>
    <p:extLst>
      <p:ext uri="{BB962C8B-B14F-4D97-AF65-F5344CB8AC3E}">
        <p14:creationId xmlns:p14="http://schemas.microsoft.com/office/powerpoint/2010/main" val="233490286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BB0F6816-A5B4-4674-8788-E4794043BB64}" type="slidenum">
              <a:rPr lang="en-US" altLang="zh-CN"/>
              <a:pPr>
                <a:spcBef>
                  <a:spcPct val="0"/>
                </a:spcBef>
              </a:pPr>
              <a:t>44</a:t>
            </a:fld>
            <a:endParaRPr lang="en-US" altLang="zh-CN"/>
          </a:p>
        </p:txBody>
      </p:sp>
      <p:sp>
        <p:nvSpPr>
          <p:cNvPr id="62466" name="Rectangle 2"/>
          <p:cNvSpPr>
            <a:spLocks noGrp="1" noRot="1" noChangeAspect="1" noChangeArrowheads="1" noTextEdit="1"/>
          </p:cNvSpPr>
          <p:nvPr>
            <p:ph type="sldImg"/>
          </p:nvPr>
        </p:nvSpPr>
        <p:spPr>
          <a:ln/>
        </p:spPr>
      </p:sp>
      <p:sp>
        <p:nvSpPr>
          <p:cNvPr id="62467"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extLst>
      <p:ext uri="{BB962C8B-B14F-4D97-AF65-F5344CB8AC3E}">
        <p14:creationId xmlns:p14="http://schemas.microsoft.com/office/powerpoint/2010/main" val="24225072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52</a:t>
            </a:fld>
            <a:endParaRPr kumimoji="1" lang="zh-CN" altLang="en-US"/>
          </a:p>
        </p:txBody>
      </p:sp>
    </p:spTree>
    <p:extLst>
      <p:ext uri="{BB962C8B-B14F-4D97-AF65-F5344CB8AC3E}">
        <p14:creationId xmlns:p14="http://schemas.microsoft.com/office/powerpoint/2010/main" val="199420202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53</a:t>
            </a:fld>
            <a:endParaRPr kumimoji="1" lang="zh-CN" altLang="en-US"/>
          </a:p>
        </p:txBody>
      </p:sp>
    </p:spTree>
    <p:extLst>
      <p:ext uri="{BB962C8B-B14F-4D97-AF65-F5344CB8AC3E}">
        <p14:creationId xmlns:p14="http://schemas.microsoft.com/office/powerpoint/2010/main" val="391611570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56</a:t>
            </a:fld>
            <a:endParaRPr kumimoji="1" lang="zh-CN" altLang="en-US"/>
          </a:p>
        </p:txBody>
      </p:sp>
    </p:spTree>
    <p:extLst>
      <p:ext uri="{BB962C8B-B14F-4D97-AF65-F5344CB8AC3E}">
        <p14:creationId xmlns:p14="http://schemas.microsoft.com/office/powerpoint/2010/main" val="299960915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60</a:t>
            </a:fld>
            <a:endParaRPr kumimoji="1" lang="zh-CN" altLang="en-US"/>
          </a:p>
        </p:txBody>
      </p:sp>
    </p:spTree>
    <p:extLst>
      <p:ext uri="{BB962C8B-B14F-4D97-AF65-F5344CB8AC3E}">
        <p14:creationId xmlns:p14="http://schemas.microsoft.com/office/powerpoint/2010/main" val="47786589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67</a:t>
            </a:fld>
            <a:endParaRPr kumimoji="1" lang="zh-CN" altLang="en-US"/>
          </a:p>
        </p:txBody>
      </p:sp>
    </p:spTree>
    <p:extLst>
      <p:ext uri="{BB962C8B-B14F-4D97-AF65-F5344CB8AC3E}">
        <p14:creationId xmlns:p14="http://schemas.microsoft.com/office/powerpoint/2010/main" val="129961424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3.3</a:t>
            </a:r>
            <a:r>
              <a:rPr lang="zh-CN" altLang="en-US" dirty="0"/>
              <a:t>节主要讨论基本数据链层协议的设计方法，从理想情况入手，介绍</a:t>
            </a:r>
            <a:r>
              <a:rPr lang="zh-CN" altLang="en-US" sz="1200" dirty="0">
                <a:solidFill>
                  <a:schemeClr val="tx1"/>
                </a:solidFill>
                <a:latin typeface="微软雅黑" panose="020B0503020204020204" pitchFamily="34" charset="-122"/>
                <a:ea typeface="微软雅黑" panose="020B0503020204020204" pitchFamily="34" charset="-122"/>
                <a:sym typeface="+mn-ea"/>
              </a:rPr>
              <a:t>无错信道单工停止</a:t>
            </a:r>
            <a:r>
              <a:rPr lang="en-US" altLang="zh-CN" sz="1200" dirty="0">
                <a:solidFill>
                  <a:schemeClr val="tx1"/>
                </a:solidFill>
                <a:latin typeface="微软雅黑" panose="020B0503020204020204" pitchFamily="34" charset="-122"/>
                <a:ea typeface="微软雅黑" panose="020B0503020204020204" pitchFamily="34" charset="-122"/>
                <a:sym typeface="+mn-ea"/>
              </a:rPr>
              <a:t>-</a:t>
            </a:r>
            <a:r>
              <a:rPr lang="zh-CN" altLang="en-US" sz="1200" dirty="0">
                <a:solidFill>
                  <a:schemeClr val="tx1"/>
                </a:solidFill>
                <a:latin typeface="微软雅黑" panose="020B0503020204020204" pitchFamily="34" charset="-122"/>
                <a:ea typeface="微软雅黑" panose="020B0503020204020204" pitchFamily="34" charset="-122"/>
                <a:sym typeface="+mn-ea"/>
              </a:rPr>
              <a:t>等待协议和无错信道单工停止</a:t>
            </a:r>
            <a:r>
              <a:rPr lang="en-US" altLang="zh-CN" sz="1200" dirty="0">
                <a:solidFill>
                  <a:schemeClr val="tx1"/>
                </a:solidFill>
                <a:latin typeface="微软雅黑" panose="020B0503020204020204" pitchFamily="34" charset="-122"/>
                <a:ea typeface="微软雅黑" panose="020B0503020204020204" pitchFamily="34" charset="-122"/>
                <a:sym typeface="+mn-ea"/>
              </a:rPr>
              <a:t>-</a:t>
            </a:r>
            <a:r>
              <a:rPr lang="zh-CN" altLang="en-US" sz="1200" dirty="0">
                <a:solidFill>
                  <a:schemeClr val="tx1"/>
                </a:solidFill>
                <a:latin typeface="微软雅黑" panose="020B0503020204020204" pitchFamily="34" charset="-122"/>
                <a:ea typeface="微软雅黑" panose="020B0503020204020204" pitchFamily="34" charset="-122"/>
                <a:sym typeface="+mn-ea"/>
              </a:rPr>
              <a:t>等待协议的实现，主要集中在如何解决差错问题</a:t>
            </a:r>
            <a:endParaRPr lang="en-US" altLang="zh-CN" sz="1200" dirty="0">
              <a:solidFill>
                <a:schemeClr val="tx1"/>
              </a:solidFill>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solidFill>
                <a:schemeClr val="tx1"/>
              </a:solidFill>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68</a:t>
            </a:fld>
            <a:endParaRPr kumimoji="1" lang="zh-CN" altLang="en-US"/>
          </a:p>
        </p:txBody>
      </p:sp>
    </p:spTree>
    <p:extLst>
      <p:ext uri="{BB962C8B-B14F-4D97-AF65-F5344CB8AC3E}">
        <p14:creationId xmlns:p14="http://schemas.microsoft.com/office/powerpoint/2010/main" val="80970475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关注数据链路层与上下层之间的关系</a:t>
            </a:r>
          </a:p>
          <a:p>
            <a:r>
              <a:rPr lang="zh-CN" altLang="en-US" dirty="0"/>
              <a:t>以及数据链路层的实现方式</a:t>
            </a:r>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69</a:t>
            </a:fld>
            <a:endParaRPr kumimoji="1" lang="zh-CN" altLang="en-US"/>
          </a:p>
        </p:txBody>
      </p:sp>
    </p:spTree>
    <p:extLst>
      <p:ext uri="{BB962C8B-B14F-4D97-AF65-F5344CB8AC3E}">
        <p14:creationId xmlns:p14="http://schemas.microsoft.com/office/powerpoint/2010/main" val="138992651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主要有两种应用情形：</a:t>
            </a:r>
            <a:endParaRPr lang="en-US" altLang="zh-CN" dirty="0"/>
          </a:p>
          <a:p>
            <a:r>
              <a:rPr lang="zh-CN" altLang="en-US" dirty="0"/>
              <a:t>（</a:t>
            </a:r>
            <a:r>
              <a:rPr lang="en-US" altLang="zh-CN" dirty="0"/>
              <a:t>1) </a:t>
            </a:r>
            <a:r>
              <a:rPr lang="zh-CN" altLang="en-US" dirty="0"/>
              <a:t>拥有</a:t>
            </a:r>
            <a:r>
              <a:rPr lang="en-US" altLang="zh-CN" dirty="0"/>
              <a:t>LAN</a:t>
            </a:r>
            <a:r>
              <a:rPr lang="zh-CN" altLang="en-US" dirty="0"/>
              <a:t>的单位，每个</a:t>
            </a:r>
            <a:r>
              <a:rPr lang="en-US" altLang="zh-CN" dirty="0"/>
              <a:t>LAN</a:t>
            </a:r>
            <a:r>
              <a:rPr lang="zh-CN" altLang="en-US" dirty="0"/>
              <a:t>都有一个或者多个路由器与外界联系，它们通过租用线路，链接到远程的路由器，这些路由器与租用线路构成通信子网，</a:t>
            </a:r>
            <a:r>
              <a:rPr lang="en-US" altLang="zh-CN" dirty="0"/>
              <a:t>Internet</a:t>
            </a:r>
            <a:r>
              <a:rPr lang="zh-CN" altLang="en-US" dirty="0"/>
              <a:t>正是在这些通信子网上建立起来的。</a:t>
            </a:r>
            <a:endParaRPr lang="en-US" altLang="zh-CN" dirty="0"/>
          </a:p>
          <a:p>
            <a:r>
              <a:rPr lang="zh-CN" altLang="en-US" dirty="0"/>
              <a:t>（</a:t>
            </a:r>
            <a:r>
              <a:rPr lang="en-US" altLang="zh-CN" dirty="0"/>
              <a:t>2)</a:t>
            </a:r>
            <a:r>
              <a:rPr lang="en-US" altLang="zh-CN" baseline="0" dirty="0"/>
              <a:t> </a:t>
            </a:r>
            <a:r>
              <a:rPr lang="zh-CN" altLang="en-US" dirty="0"/>
              <a:t>个人用户的</a:t>
            </a:r>
            <a:r>
              <a:rPr lang="en-US" altLang="zh-CN" dirty="0"/>
              <a:t>PC</a:t>
            </a:r>
            <a:r>
              <a:rPr lang="zh-CN" altLang="en-US" dirty="0"/>
              <a:t>通过调制解调器呼叫</a:t>
            </a:r>
            <a:r>
              <a:rPr lang="en-US" altLang="zh-CN" dirty="0"/>
              <a:t>Internet</a:t>
            </a:r>
            <a:r>
              <a:rPr lang="zh-CN" altLang="en-US" dirty="0"/>
              <a:t>服务提供商的路由器，来实现与互联网的互连。用户终止会话之后，</a:t>
            </a:r>
            <a:r>
              <a:rPr lang="en-US" altLang="zh-CN" dirty="0"/>
              <a:t>PC</a:t>
            </a:r>
            <a:r>
              <a:rPr lang="zh-CN" altLang="en-US" dirty="0"/>
              <a:t>与路由器之间的链接也就终止。</a:t>
            </a:r>
          </a:p>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130</a:t>
            </a:fld>
            <a:endParaRPr kumimoji="1" lang="zh-CN" altLang="en-US"/>
          </a:p>
        </p:txBody>
      </p:sp>
    </p:spTree>
    <p:extLst>
      <p:ext uri="{BB962C8B-B14F-4D97-AF65-F5344CB8AC3E}">
        <p14:creationId xmlns:p14="http://schemas.microsoft.com/office/powerpoint/2010/main" val="86849707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详细功能说明：</a:t>
            </a:r>
            <a:endParaRPr lang="en-US" altLang="zh-CN" dirty="0"/>
          </a:p>
          <a:p>
            <a:r>
              <a:rPr lang="zh-CN" altLang="en-US" dirty="0"/>
              <a:t>（</a:t>
            </a:r>
            <a:r>
              <a:rPr lang="en-US" altLang="zh-CN" dirty="0"/>
              <a:t>1</a:t>
            </a:r>
            <a:r>
              <a:rPr lang="zh-CN" altLang="en-US" dirty="0"/>
              <a:t>）能够完成通信的简单协议</a:t>
            </a:r>
            <a:endParaRPr lang="en-US" altLang="zh-CN" dirty="0"/>
          </a:p>
          <a:p>
            <a:r>
              <a:rPr lang="zh-CN" altLang="en-US" dirty="0"/>
              <a:t>数据链路层的帧，不需要提供纠错，不需要序号，不需要流量控制。误码率高的无线链路上会有更复杂的链路层协议。</a:t>
            </a:r>
            <a:r>
              <a:rPr lang="en-US" altLang="zh-CN" dirty="0"/>
              <a:t>PPP</a:t>
            </a:r>
            <a:r>
              <a:rPr lang="zh-CN" altLang="en-US" dirty="0"/>
              <a:t>数据链路层：接收方收到一个帧，就进行</a:t>
            </a:r>
            <a:r>
              <a:rPr lang="en-US" altLang="zh-CN" dirty="0"/>
              <a:t>CRC</a:t>
            </a:r>
            <a:r>
              <a:rPr lang="zh-CN" altLang="en-US" dirty="0"/>
              <a:t>检验，如</a:t>
            </a:r>
            <a:r>
              <a:rPr lang="en-US" altLang="zh-CN" dirty="0"/>
              <a:t>CRC</a:t>
            </a:r>
            <a:r>
              <a:rPr lang="zh-CN" altLang="en-US" dirty="0"/>
              <a:t>检验正确，就收下这个帧；反之，丢弃帧，其它什么也不做。</a:t>
            </a:r>
            <a:endParaRPr lang="en-US" altLang="zh-CN" dirty="0"/>
          </a:p>
          <a:p>
            <a:r>
              <a:rPr lang="zh-CN" altLang="en-US" dirty="0"/>
              <a:t>（</a:t>
            </a:r>
            <a:r>
              <a:rPr lang="en-US" altLang="zh-CN" dirty="0"/>
              <a:t>2</a:t>
            </a:r>
            <a:r>
              <a:rPr lang="zh-CN" altLang="en-US" dirty="0"/>
              <a:t>）利用帧定界符封装成帧</a:t>
            </a:r>
          </a:p>
          <a:p>
            <a:r>
              <a:rPr lang="en-US" altLang="zh-CN" dirty="0"/>
              <a:t>PPP</a:t>
            </a:r>
            <a:r>
              <a:rPr lang="zh-CN" altLang="en-US" dirty="0"/>
              <a:t>协议必须使用特殊的字符作为帧定界符（标志一个帧的开始和结束的字符），以便使接收端从收到的比特流中能准确地找出帧的开始和结束位置。</a:t>
            </a:r>
          </a:p>
          <a:p>
            <a:r>
              <a:rPr lang="zh-CN" altLang="en-US" dirty="0"/>
              <a:t>（</a:t>
            </a:r>
            <a:r>
              <a:rPr lang="en-US" altLang="zh-CN" dirty="0"/>
              <a:t>3</a:t>
            </a:r>
            <a:r>
              <a:rPr lang="zh-CN" altLang="en-US" dirty="0"/>
              <a:t>）填充技术实现透明数据传输</a:t>
            </a:r>
          </a:p>
          <a:p>
            <a:r>
              <a:rPr lang="en-US" altLang="zh-CN" dirty="0"/>
              <a:t>PPP</a:t>
            </a:r>
            <a:r>
              <a:rPr lang="zh-CN" altLang="en-US" dirty="0"/>
              <a:t>协议必须保证数据传输的透明性。采取有效的措施解决，与帧定界符相同的比特组合（同步链路：零比特填充；异步链路：字节填充）。</a:t>
            </a:r>
          </a:p>
          <a:p>
            <a:r>
              <a:rPr lang="zh-CN" altLang="en-US" dirty="0"/>
              <a:t>（</a:t>
            </a:r>
            <a:r>
              <a:rPr lang="en-US" altLang="zh-CN" dirty="0"/>
              <a:t>4</a:t>
            </a:r>
            <a:r>
              <a:rPr lang="zh-CN" altLang="en-US" dirty="0"/>
              <a:t>）同时支持链路上的多种网络层协议</a:t>
            </a:r>
          </a:p>
          <a:p>
            <a:r>
              <a:rPr lang="en-US" altLang="zh-CN" dirty="0"/>
              <a:t>PPP</a:t>
            </a:r>
            <a:r>
              <a:rPr lang="zh-CN" altLang="en-US" dirty="0"/>
              <a:t>协议能够在同一条物理链路上同时支持多种网络层协议（如</a:t>
            </a:r>
            <a:r>
              <a:rPr lang="en-US" altLang="zh-CN" dirty="0"/>
              <a:t>IP</a:t>
            </a:r>
            <a:r>
              <a:rPr lang="zh-CN" altLang="en-US" dirty="0"/>
              <a:t>和</a:t>
            </a:r>
            <a:r>
              <a:rPr lang="en-US" altLang="zh-CN" dirty="0"/>
              <a:t>IPX</a:t>
            </a:r>
            <a:r>
              <a:rPr lang="zh-CN" altLang="en-US" dirty="0"/>
              <a:t>等）的运行。点对点链路连接的是局域网或路由器，</a:t>
            </a:r>
            <a:r>
              <a:rPr lang="en-US" altLang="zh-CN" dirty="0"/>
              <a:t>PPP</a:t>
            </a:r>
            <a:r>
              <a:rPr lang="zh-CN" altLang="en-US" dirty="0"/>
              <a:t>协议必须同时支持在链路所连接的局域网或路由器上运行的各种网络协议。</a:t>
            </a:r>
          </a:p>
          <a:p>
            <a:r>
              <a:rPr lang="zh-CN" altLang="en-US" dirty="0"/>
              <a:t>（</a:t>
            </a:r>
            <a:r>
              <a:rPr lang="en-US" altLang="zh-CN" dirty="0"/>
              <a:t>5</a:t>
            </a:r>
            <a:r>
              <a:rPr lang="zh-CN" altLang="en-US" dirty="0"/>
              <a:t>）能够在不同的链路上运行</a:t>
            </a:r>
          </a:p>
          <a:p>
            <a:r>
              <a:rPr lang="zh-CN" altLang="en-US" dirty="0"/>
              <a:t>要支持在多种类型的链路上运行。如：串行的链路、并行的链路、同步的或异步链路，低速或高速的，电信号或光信号的链路，动态交换的或静态非交换的链路。如</a:t>
            </a:r>
            <a:r>
              <a:rPr lang="en-US" altLang="zh-CN" dirty="0" err="1"/>
              <a:t>PPPoE</a:t>
            </a:r>
            <a:r>
              <a:rPr lang="zh-CN" altLang="en-US" dirty="0"/>
              <a:t>，就是支持以太网上运行的</a:t>
            </a:r>
            <a:r>
              <a:rPr lang="en-US" altLang="zh-CN" dirty="0"/>
              <a:t>PPP</a:t>
            </a:r>
            <a:r>
              <a:rPr lang="zh-CN" altLang="en-US" dirty="0"/>
              <a:t>协议。</a:t>
            </a:r>
            <a:endParaRPr lang="en-US" altLang="zh-CN" dirty="0"/>
          </a:p>
          <a:p>
            <a:r>
              <a:rPr lang="zh-CN" altLang="en-US" dirty="0"/>
              <a:t>（</a:t>
            </a:r>
            <a:r>
              <a:rPr lang="en-US" altLang="zh-CN" dirty="0"/>
              <a:t>6</a:t>
            </a:r>
            <a:r>
              <a:rPr lang="zh-CN" altLang="en-US" dirty="0"/>
              <a:t>）帧的差错检测</a:t>
            </a:r>
            <a:endParaRPr lang="en-US" altLang="zh-CN" dirty="0"/>
          </a:p>
          <a:p>
            <a:r>
              <a:rPr lang="en-US" altLang="zh-CN" dirty="0"/>
              <a:t>PPP</a:t>
            </a:r>
            <a:r>
              <a:rPr lang="zh-CN" altLang="en-US" dirty="0"/>
              <a:t>协议必须能够对接收端收到的帧进行检测，并立即丢弃有差错的帧。如果不这么做，差错的无用帧就还要在网络中继续转发，浪费资源。</a:t>
            </a:r>
          </a:p>
          <a:p>
            <a:r>
              <a:rPr lang="zh-CN" altLang="en-US" dirty="0"/>
              <a:t>（</a:t>
            </a:r>
            <a:r>
              <a:rPr lang="en-US" altLang="zh-CN" dirty="0"/>
              <a:t>7</a:t>
            </a:r>
            <a:r>
              <a:rPr lang="zh-CN" altLang="en-US" dirty="0"/>
              <a:t>）实时监测链路工作状态</a:t>
            </a:r>
            <a:endParaRPr lang="en-US" altLang="zh-CN" dirty="0"/>
          </a:p>
          <a:p>
            <a:r>
              <a:rPr lang="zh-CN" altLang="en-US" dirty="0"/>
              <a:t>必须具有一种机制能够及时的自动检测出链路是否处于正常工作状态。如：线路出现故障，又恢复正常时。</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a:t>
            </a:r>
            <a:r>
              <a:rPr lang="en-US" altLang="zh-CN" dirty="0"/>
              <a:t>8</a:t>
            </a:r>
            <a:r>
              <a:rPr lang="zh-CN" altLang="en-US" dirty="0"/>
              <a:t>）设置链路最大传输单元（</a:t>
            </a:r>
            <a:r>
              <a:rPr lang="en-US" altLang="zh-CN" dirty="0"/>
              <a:t>MTU</a:t>
            </a:r>
            <a:r>
              <a:rPr lang="zh-CN" altLang="en-US" dirty="0"/>
              <a:t>）</a:t>
            </a:r>
          </a:p>
          <a:p>
            <a:r>
              <a:rPr lang="en-US" altLang="zh-CN" dirty="0"/>
              <a:t>PPP</a:t>
            </a:r>
            <a:r>
              <a:rPr lang="zh-CN" altLang="en-US" dirty="0"/>
              <a:t>协议必须对每种类型的点对点链路设置最大传送单元</a:t>
            </a:r>
            <a:r>
              <a:rPr lang="en-US" altLang="zh-CN" dirty="0"/>
              <a:t>MTU</a:t>
            </a:r>
            <a:r>
              <a:rPr lang="zh-CN" altLang="en-US" dirty="0"/>
              <a:t>的标准默认值（多数网络实现都规定了这种上限）。</a:t>
            </a:r>
            <a:r>
              <a:rPr lang="en-US" altLang="zh-CN" dirty="0"/>
              <a:t>MTU</a:t>
            </a:r>
            <a:r>
              <a:rPr lang="zh-CN" altLang="en-US" dirty="0"/>
              <a:t>是数据链路层的帧可以载荷的数据部分的最大长度，而不是帧的总长度。如果高层协议发送的分组（</a:t>
            </a:r>
            <a:r>
              <a:rPr lang="en-US" altLang="zh-CN" dirty="0"/>
              <a:t>IP</a:t>
            </a:r>
            <a:r>
              <a:rPr lang="zh-CN" altLang="en-US" dirty="0"/>
              <a:t>分组）过长超过</a:t>
            </a:r>
            <a:r>
              <a:rPr lang="en-US" altLang="zh-CN" dirty="0"/>
              <a:t>MTU</a:t>
            </a:r>
            <a:r>
              <a:rPr lang="zh-CN" altLang="en-US" dirty="0"/>
              <a:t>值，</a:t>
            </a:r>
            <a:r>
              <a:rPr lang="en-US" altLang="zh-CN" dirty="0"/>
              <a:t>PPP</a:t>
            </a:r>
            <a:r>
              <a:rPr lang="zh-CN" altLang="en-US" dirty="0"/>
              <a:t>协议就要丢弃这样的帧，并返回差错。（通常高层协议会根据链路层的</a:t>
            </a:r>
            <a:r>
              <a:rPr lang="en-US" altLang="zh-CN" dirty="0"/>
              <a:t>MTU</a:t>
            </a:r>
            <a:r>
              <a:rPr lang="zh-CN" altLang="en-US" dirty="0"/>
              <a:t>，进行分片）</a:t>
            </a:r>
          </a:p>
          <a:p>
            <a:r>
              <a:rPr lang="zh-CN" altLang="en-US" dirty="0"/>
              <a:t>（</a:t>
            </a:r>
            <a:r>
              <a:rPr lang="en-US" altLang="zh-CN" dirty="0"/>
              <a:t>9</a:t>
            </a:r>
            <a:r>
              <a:rPr lang="zh-CN" altLang="en-US" dirty="0"/>
              <a:t>）网络层地址协商机制</a:t>
            </a:r>
          </a:p>
          <a:p>
            <a:r>
              <a:rPr lang="en-US" altLang="zh-CN" dirty="0"/>
              <a:t>PPP</a:t>
            </a:r>
            <a:r>
              <a:rPr lang="zh-CN" altLang="en-US" dirty="0"/>
              <a:t>必须提供一种机制使通信的两个网络层的实体能够通过协商知道或能够配置彼此的网络层地址。如在拨号连接的链路中，仅仅在链路层建立了连接而不知道对方网络层地址，则还不能够保证网络层能够传送分组。</a:t>
            </a:r>
          </a:p>
          <a:p>
            <a:r>
              <a:rPr lang="zh-CN" altLang="en-US" dirty="0"/>
              <a:t>（</a:t>
            </a:r>
            <a:r>
              <a:rPr lang="en-US" altLang="zh-CN" dirty="0"/>
              <a:t>10</a:t>
            </a:r>
            <a:r>
              <a:rPr lang="zh-CN" altLang="en-US" dirty="0"/>
              <a:t>）数据压缩协商机制</a:t>
            </a:r>
          </a:p>
          <a:p>
            <a:r>
              <a:rPr lang="zh-CN" altLang="en-US" dirty="0"/>
              <a:t>提供一种方法来协商使用数据压缩算法。如压缩</a:t>
            </a:r>
            <a:r>
              <a:rPr lang="en-US" altLang="zh-CN" dirty="0"/>
              <a:t>TCP</a:t>
            </a:r>
            <a:r>
              <a:rPr lang="zh-CN" altLang="en-US" dirty="0"/>
              <a:t>和</a:t>
            </a:r>
            <a:r>
              <a:rPr lang="en-US" altLang="zh-CN" dirty="0"/>
              <a:t>IP</a:t>
            </a:r>
            <a:r>
              <a:rPr lang="zh-CN" altLang="en-US" dirty="0"/>
              <a:t>数据报头的，减少链路上发送的比特数。</a:t>
            </a:r>
          </a:p>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131</a:t>
            </a:fld>
            <a:endParaRPr kumimoji="1" lang="zh-CN" altLang="en-US"/>
          </a:p>
        </p:txBody>
      </p:sp>
    </p:spTree>
    <p:extLst>
      <p:ext uri="{BB962C8B-B14F-4D97-AF65-F5344CB8AC3E}">
        <p14:creationId xmlns:p14="http://schemas.microsoft.com/office/powerpoint/2010/main" val="61670387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200000"/>
              </a:lnSpc>
            </a:pPr>
            <a:r>
              <a:rPr lang="zh-CN" altLang="en-US" dirty="0"/>
              <a:t>（</a:t>
            </a:r>
            <a:r>
              <a:rPr lang="en-US" altLang="zh-CN" dirty="0"/>
              <a:t>1</a:t>
            </a:r>
            <a:r>
              <a:rPr lang="zh-CN" altLang="en-US" dirty="0"/>
              <a:t>）帧数据的纠错功能</a:t>
            </a:r>
            <a:endParaRPr lang="en-US" altLang="zh-CN" dirty="0"/>
          </a:p>
          <a:p>
            <a:r>
              <a:rPr lang="en-US" altLang="zh-CN" dirty="0"/>
              <a:t>TCP/IP</a:t>
            </a:r>
            <a:r>
              <a:rPr lang="zh-CN" altLang="en-US" dirty="0"/>
              <a:t>协议族中，可靠传输由</a:t>
            </a:r>
            <a:r>
              <a:rPr lang="en-US" altLang="zh-CN" dirty="0"/>
              <a:t>TCP</a:t>
            </a:r>
            <a:r>
              <a:rPr lang="zh-CN" altLang="en-US" dirty="0"/>
              <a:t>协议负责，数据链路层的</a:t>
            </a:r>
            <a:r>
              <a:rPr lang="en-US" altLang="zh-CN" dirty="0"/>
              <a:t>PPP</a:t>
            </a:r>
            <a:r>
              <a:rPr lang="zh-CN" altLang="en-US" dirty="0"/>
              <a:t>协议只进行检错。</a:t>
            </a:r>
            <a:r>
              <a:rPr lang="en-US" altLang="zh-CN" dirty="0"/>
              <a:t>PPP</a:t>
            </a:r>
            <a:r>
              <a:rPr lang="zh-CN" altLang="en-US" dirty="0"/>
              <a:t>协议是不可靠传输协议。</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a:t>
            </a:r>
            <a:r>
              <a:rPr lang="en-US" altLang="zh-CN" dirty="0"/>
              <a:t>2</a:t>
            </a:r>
            <a:r>
              <a:rPr lang="zh-CN" altLang="en-US" dirty="0"/>
              <a:t>）流量控制功能</a:t>
            </a:r>
            <a:endParaRPr lang="en-US" altLang="zh-CN" dirty="0"/>
          </a:p>
          <a:p>
            <a:r>
              <a:rPr lang="zh-CN" altLang="en-US" dirty="0"/>
              <a:t>在</a:t>
            </a:r>
            <a:r>
              <a:rPr lang="en-US" altLang="zh-CN" dirty="0"/>
              <a:t>TCP/IP</a:t>
            </a:r>
            <a:r>
              <a:rPr lang="zh-CN" altLang="en-US" dirty="0"/>
              <a:t>协议中，端到端的流量控制由</a:t>
            </a:r>
            <a:r>
              <a:rPr lang="en-US" altLang="zh-CN" dirty="0"/>
              <a:t>TCP</a:t>
            </a:r>
            <a:r>
              <a:rPr lang="zh-CN" altLang="en-US" dirty="0"/>
              <a:t>负责，</a:t>
            </a:r>
            <a:r>
              <a:rPr lang="en-US" altLang="zh-CN" dirty="0"/>
              <a:t>PPP</a:t>
            </a:r>
            <a:r>
              <a:rPr lang="zh-CN" altLang="en-US" dirty="0"/>
              <a:t>协议不需要重复进行流量控制。</a:t>
            </a:r>
          </a:p>
          <a:p>
            <a:r>
              <a:rPr lang="zh-CN" altLang="en-US" dirty="0"/>
              <a:t>（</a:t>
            </a:r>
            <a:r>
              <a:rPr lang="en-US" altLang="zh-CN" dirty="0"/>
              <a:t>3</a:t>
            </a:r>
            <a:r>
              <a:rPr lang="zh-CN" altLang="en-US" dirty="0"/>
              <a:t>）可靠传输功能</a:t>
            </a:r>
          </a:p>
          <a:p>
            <a:r>
              <a:rPr lang="en-US" altLang="zh-CN" dirty="0"/>
              <a:t>PPP</a:t>
            </a:r>
            <a:r>
              <a:rPr lang="zh-CN" altLang="en-US" dirty="0"/>
              <a:t>为不可靠协议，不使用帧的序号。不可靠网络中可能使用有序号的工作方式。</a:t>
            </a:r>
          </a:p>
          <a:p>
            <a:r>
              <a:rPr lang="zh-CN" altLang="en-US" dirty="0"/>
              <a:t>（</a:t>
            </a:r>
            <a:r>
              <a:rPr lang="en-US" altLang="zh-CN" dirty="0"/>
              <a:t>4</a:t>
            </a:r>
            <a:r>
              <a:rPr lang="zh-CN" altLang="en-US" dirty="0"/>
              <a:t>）多点连接功能</a:t>
            </a:r>
          </a:p>
          <a:p>
            <a:r>
              <a:rPr lang="en-US" altLang="zh-CN" dirty="0"/>
              <a:t>PPP</a:t>
            </a:r>
            <a:r>
              <a:rPr lang="zh-CN" altLang="en-US" dirty="0"/>
              <a:t>协议不支持多点线路，而只支持点对点的链路通信。</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a:t>
            </a:r>
            <a:r>
              <a:rPr lang="en-US" altLang="zh-CN" dirty="0"/>
              <a:t>5</a:t>
            </a:r>
            <a:r>
              <a:rPr lang="zh-CN" altLang="en-US" dirty="0"/>
              <a:t>）单工和半双工链路 </a:t>
            </a:r>
          </a:p>
          <a:p>
            <a:r>
              <a:rPr lang="en-US" altLang="zh-CN" dirty="0"/>
              <a:t>PPP</a:t>
            </a:r>
            <a:r>
              <a:rPr lang="zh-CN" altLang="en-US" dirty="0"/>
              <a:t>协议只支持全双工链路</a:t>
            </a:r>
          </a:p>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132</a:t>
            </a:fld>
            <a:endParaRPr kumimoji="1" lang="zh-CN" altLang="en-US"/>
          </a:p>
        </p:txBody>
      </p:sp>
    </p:spTree>
    <p:extLst>
      <p:ext uri="{BB962C8B-B14F-4D97-AF65-F5344CB8AC3E}">
        <p14:creationId xmlns:p14="http://schemas.microsoft.com/office/powerpoint/2010/main" val="221860394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PPP </a:t>
            </a:r>
            <a:r>
              <a:rPr lang="zh-CN" altLang="en-US" dirty="0"/>
              <a:t>帧的首部和尾部分别为 </a:t>
            </a:r>
            <a:r>
              <a:rPr lang="en-US" altLang="zh-CN" dirty="0"/>
              <a:t>4 </a:t>
            </a:r>
            <a:r>
              <a:rPr lang="zh-CN" altLang="en-US" dirty="0"/>
              <a:t>个字段和 </a:t>
            </a:r>
            <a:r>
              <a:rPr lang="en-US" altLang="zh-CN" dirty="0"/>
              <a:t>2 </a:t>
            </a:r>
            <a:r>
              <a:rPr lang="zh-CN" altLang="en-US" dirty="0"/>
              <a:t>个字段。</a:t>
            </a:r>
          </a:p>
          <a:p>
            <a:r>
              <a:rPr lang="zh-CN" altLang="en-US" dirty="0"/>
              <a:t>标志字段 </a:t>
            </a:r>
            <a:r>
              <a:rPr lang="en-US" altLang="zh-CN" dirty="0"/>
              <a:t>F = </a:t>
            </a:r>
            <a:r>
              <a:rPr lang="en-US" altLang="zh-CN" dirty="0" err="1"/>
              <a:t>0x7E</a:t>
            </a:r>
            <a:r>
              <a:rPr lang="en-US" altLang="zh-CN" dirty="0"/>
              <a:t> </a:t>
            </a:r>
            <a:r>
              <a:rPr lang="zh-CN" altLang="en-US" dirty="0"/>
              <a:t>（符号“</a:t>
            </a:r>
            <a:r>
              <a:rPr lang="en-US" altLang="zh-CN" dirty="0" err="1"/>
              <a:t>0x</a:t>
            </a:r>
            <a:r>
              <a:rPr lang="en-US" altLang="zh-CN" dirty="0"/>
              <a:t>”</a:t>
            </a:r>
            <a:r>
              <a:rPr lang="zh-CN" altLang="en-US" dirty="0"/>
              <a:t>表示后面的字符是用十六进制表示。十六进制的 </a:t>
            </a:r>
            <a:r>
              <a:rPr lang="en-US" altLang="zh-CN" dirty="0" err="1"/>
              <a:t>7E</a:t>
            </a:r>
            <a:r>
              <a:rPr lang="en-US" altLang="zh-CN" dirty="0"/>
              <a:t> </a:t>
            </a:r>
            <a:r>
              <a:rPr lang="zh-CN" altLang="en-US" dirty="0"/>
              <a:t>的二进制表示是 </a:t>
            </a:r>
            <a:r>
              <a:rPr lang="en-US" altLang="zh-CN" dirty="0"/>
              <a:t>01111110</a:t>
            </a:r>
            <a:r>
              <a:rPr lang="zh-CN" altLang="en-US" dirty="0"/>
              <a:t>）。</a:t>
            </a:r>
          </a:p>
          <a:p>
            <a:r>
              <a:rPr lang="zh-CN" altLang="en-US" dirty="0"/>
              <a:t>地址字段 </a:t>
            </a:r>
            <a:r>
              <a:rPr lang="en-US" altLang="zh-CN" dirty="0"/>
              <a:t>A </a:t>
            </a:r>
            <a:r>
              <a:rPr lang="zh-CN" altLang="en-US" dirty="0"/>
              <a:t>只置为 </a:t>
            </a:r>
            <a:r>
              <a:rPr lang="en-US" altLang="zh-CN" dirty="0" err="1"/>
              <a:t>0xFF</a:t>
            </a:r>
            <a:r>
              <a:rPr lang="zh-CN" altLang="en-US" dirty="0"/>
              <a:t>。地址字段实际上并不起作用。</a:t>
            </a:r>
          </a:p>
          <a:p>
            <a:r>
              <a:rPr lang="zh-CN" altLang="en-US" dirty="0"/>
              <a:t>控制字段 </a:t>
            </a:r>
            <a:r>
              <a:rPr lang="en-US" altLang="zh-CN" dirty="0"/>
              <a:t>C </a:t>
            </a:r>
            <a:r>
              <a:rPr lang="zh-CN" altLang="en-US" dirty="0"/>
              <a:t>通常置为 </a:t>
            </a:r>
            <a:r>
              <a:rPr lang="en-US" altLang="zh-CN" dirty="0" err="1"/>
              <a:t>0x03</a:t>
            </a:r>
            <a:r>
              <a:rPr lang="zh-CN" altLang="en-US" dirty="0"/>
              <a:t>。</a:t>
            </a:r>
          </a:p>
          <a:p>
            <a:r>
              <a:rPr lang="en-US" altLang="zh-CN" dirty="0"/>
              <a:t>PPP </a:t>
            </a:r>
            <a:r>
              <a:rPr lang="zh-CN" altLang="en-US" dirty="0"/>
              <a:t>是面向字节的，所有的 </a:t>
            </a:r>
            <a:r>
              <a:rPr lang="en-US" altLang="zh-CN" dirty="0"/>
              <a:t>PPP </a:t>
            </a:r>
            <a:r>
              <a:rPr lang="zh-CN" altLang="en-US" dirty="0"/>
              <a:t>帧的长度都是整数字节。</a:t>
            </a:r>
            <a:endParaRPr lang="en-US" altLang="zh-CN" dirty="0"/>
          </a:p>
          <a:p>
            <a:endParaRPr lang="en-US" altLang="zh-CN" dirty="0"/>
          </a:p>
          <a:p>
            <a:pPr>
              <a:lnSpc>
                <a:spcPts val="3600"/>
              </a:lnSpc>
            </a:pPr>
            <a:r>
              <a:rPr lang="en-US" altLang="zh-CN" dirty="0">
                <a:latin typeface="微软雅黑" panose="020B0503020204020204" pitchFamily="34" charset="-122"/>
                <a:ea typeface="微软雅黑" panose="020B0503020204020204" pitchFamily="34" charset="-122"/>
              </a:rPr>
              <a:t>PPP 2 </a:t>
            </a:r>
            <a:r>
              <a:rPr lang="zh-CN" altLang="en-US" dirty="0">
                <a:latin typeface="微软雅黑" panose="020B0503020204020204" pitchFamily="34" charset="-122"/>
                <a:ea typeface="微软雅黑" panose="020B0503020204020204" pitchFamily="34" charset="-122"/>
              </a:rPr>
              <a:t>个字节的协议字段</a:t>
            </a:r>
            <a:endParaRPr lang="en-US" altLang="zh-CN" dirty="0">
              <a:latin typeface="微软雅黑" panose="020B0503020204020204" pitchFamily="34" charset="-122"/>
              <a:ea typeface="微软雅黑" panose="020B0503020204020204" pitchFamily="34" charset="-122"/>
            </a:endParaRPr>
          </a:p>
          <a:p>
            <a:pPr lvl="1">
              <a:lnSpc>
                <a:spcPts val="3600"/>
              </a:lnSpc>
            </a:pPr>
            <a:r>
              <a:rPr lang="zh-CN" altLang="en-US" dirty="0">
                <a:latin typeface="微软雅黑" panose="020B0503020204020204" pitchFamily="34" charset="-122"/>
                <a:ea typeface="微软雅黑" panose="020B0503020204020204" pitchFamily="34" charset="-122"/>
              </a:rPr>
              <a:t>当协议字段为 </a:t>
            </a:r>
            <a:r>
              <a:rPr lang="en-US" altLang="zh-CN" dirty="0">
                <a:latin typeface="微软雅黑" panose="020B0503020204020204" pitchFamily="34" charset="-122"/>
                <a:ea typeface="微软雅黑" panose="020B0503020204020204" pitchFamily="34" charset="-122"/>
              </a:rPr>
              <a:t>0x0021 </a:t>
            </a:r>
            <a:r>
              <a:rPr lang="zh-CN" altLang="en-US" dirty="0">
                <a:latin typeface="微软雅黑" panose="020B0503020204020204" pitchFamily="34" charset="-122"/>
                <a:ea typeface="微软雅黑" panose="020B0503020204020204" pitchFamily="34" charset="-122"/>
              </a:rPr>
              <a:t>时，信息字段是 </a:t>
            </a:r>
            <a:r>
              <a:rPr lang="en-US" altLang="zh-CN" dirty="0">
                <a:latin typeface="微软雅黑" panose="020B0503020204020204" pitchFamily="34" charset="-122"/>
                <a:ea typeface="微软雅黑" panose="020B0503020204020204" pitchFamily="34" charset="-122"/>
              </a:rPr>
              <a:t>IP </a:t>
            </a:r>
            <a:r>
              <a:rPr lang="zh-CN" altLang="en-US" dirty="0">
                <a:latin typeface="微软雅黑" panose="020B0503020204020204" pitchFamily="34" charset="-122"/>
                <a:ea typeface="微软雅黑" panose="020B0503020204020204" pitchFamily="34" charset="-122"/>
              </a:rPr>
              <a:t>数据报</a:t>
            </a:r>
          </a:p>
          <a:p>
            <a:pPr lvl="1">
              <a:lnSpc>
                <a:spcPts val="3600"/>
              </a:lnSpc>
            </a:pPr>
            <a:r>
              <a:rPr lang="zh-CN" altLang="en-US" dirty="0">
                <a:latin typeface="微软雅黑" panose="020B0503020204020204" pitchFamily="34" charset="-122"/>
                <a:ea typeface="微软雅黑" panose="020B0503020204020204" pitchFamily="34" charset="-122"/>
              </a:rPr>
              <a:t>当协议字段为 </a:t>
            </a:r>
            <a:r>
              <a:rPr lang="en-US" altLang="zh-CN" dirty="0">
                <a:latin typeface="微软雅黑" panose="020B0503020204020204" pitchFamily="34" charset="-122"/>
                <a:ea typeface="微软雅黑" panose="020B0503020204020204" pitchFamily="34" charset="-122"/>
              </a:rPr>
              <a:t>0x8021 </a:t>
            </a:r>
            <a:r>
              <a:rPr lang="zh-CN" altLang="en-US" dirty="0">
                <a:latin typeface="微软雅黑" panose="020B0503020204020204" pitchFamily="34" charset="-122"/>
                <a:ea typeface="微软雅黑" panose="020B0503020204020204" pitchFamily="34" charset="-122"/>
              </a:rPr>
              <a:t>时，信息字段是网络控制数据 </a:t>
            </a:r>
            <a:r>
              <a:rPr lang="en-US" altLang="zh-CN" dirty="0">
                <a:latin typeface="微软雅黑" panose="020B0503020204020204" pitchFamily="34" charset="-122"/>
                <a:ea typeface="微软雅黑" panose="020B0503020204020204" pitchFamily="34" charset="-122"/>
              </a:rPr>
              <a:t>NCP</a:t>
            </a:r>
            <a:endParaRPr lang="zh-CN" altLang="en-US" dirty="0">
              <a:latin typeface="微软雅黑" panose="020B0503020204020204" pitchFamily="34" charset="-122"/>
              <a:ea typeface="微软雅黑" panose="020B0503020204020204" pitchFamily="34" charset="-122"/>
            </a:endParaRPr>
          </a:p>
          <a:p>
            <a:pPr lvl="1">
              <a:lnSpc>
                <a:spcPts val="3600"/>
              </a:lnSpc>
            </a:pPr>
            <a:r>
              <a:rPr lang="zh-CN" altLang="en-US" dirty="0">
                <a:latin typeface="微软雅黑" panose="020B0503020204020204" pitchFamily="34" charset="-122"/>
                <a:ea typeface="微软雅黑" panose="020B0503020204020204" pitchFamily="34" charset="-122"/>
              </a:rPr>
              <a:t>当协议字段为 </a:t>
            </a:r>
            <a:r>
              <a:rPr lang="en-US" altLang="zh-CN" dirty="0">
                <a:latin typeface="微软雅黑" panose="020B0503020204020204" pitchFamily="34" charset="-122"/>
                <a:ea typeface="微软雅黑" panose="020B0503020204020204" pitchFamily="34" charset="-122"/>
              </a:rPr>
              <a:t>0xC021 </a:t>
            </a:r>
            <a:r>
              <a:rPr lang="zh-CN" altLang="en-US" dirty="0">
                <a:latin typeface="微软雅黑" panose="020B0503020204020204" pitchFamily="34" charset="-122"/>
                <a:ea typeface="微软雅黑" panose="020B0503020204020204" pitchFamily="34" charset="-122"/>
              </a:rPr>
              <a:t>时</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信息字段是链路控制数据 </a:t>
            </a:r>
            <a:r>
              <a:rPr lang="en-US" altLang="zh-CN" dirty="0">
                <a:latin typeface="微软雅黑" panose="020B0503020204020204" pitchFamily="34" charset="-122"/>
                <a:ea typeface="微软雅黑" panose="020B0503020204020204" pitchFamily="34" charset="-122"/>
              </a:rPr>
              <a:t>LCP</a:t>
            </a:r>
          </a:p>
          <a:p>
            <a:pPr lvl="1">
              <a:lnSpc>
                <a:spcPts val="3600"/>
              </a:lnSpc>
            </a:pPr>
            <a:r>
              <a:rPr lang="zh-CN" altLang="en-US" dirty="0">
                <a:latin typeface="微软雅黑" panose="020B0503020204020204" pitchFamily="34" charset="-122"/>
                <a:ea typeface="微软雅黑" panose="020B0503020204020204" pitchFamily="34" charset="-122"/>
              </a:rPr>
              <a:t>当协议字段为 </a:t>
            </a:r>
            <a:r>
              <a:rPr lang="en-US" altLang="zh-CN" dirty="0">
                <a:latin typeface="微软雅黑" panose="020B0503020204020204" pitchFamily="34" charset="-122"/>
                <a:ea typeface="微软雅黑" panose="020B0503020204020204" pitchFamily="34" charset="-122"/>
              </a:rPr>
              <a:t>0xC023 </a:t>
            </a:r>
            <a:r>
              <a:rPr lang="zh-CN" altLang="en-US" dirty="0">
                <a:latin typeface="微软雅黑" panose="020B0503020204020204" pitchFamily="34" charset="-122"/>
                <a:ea typeface="微软雅黑" panose="020B0503020204020204" pitchFamily="34" charset="-122"/>
              </a:rPr>
              <a:t>时</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信息字段是口令鉴别协议数据</a:t>
            </a:r>
            <a:endParaRPr lang="en-US" altLang="zh-CN" dirty="0">
              <a:latin typeface="微软雅黑" panose="020B0503020204020204" pitchFamily="34" charset="-122"/>
              <a:ea typeface="微软雅黑" panose="020B0503020204020204" pitchFamily="34" charset="-122"/>
            </a:endParaRPr>
          </a:p>
          <a:p>
            <a:pPr lvl="1">
              <a:lnSpc>
                <a:spcPts val="3600"/>
              </a:lnSpc>
            </a:pPr>
            <a:r>
              <a:rPr lang="zh-CN" altLang="en-US" dirty="0">
                <a:latin typeface="微软雅黑" panose="020B0503020204020204" pitchFamily="34" charset="-122"/>
                <a:ea typeface="微软雅黑" panose="020B0503020204020204" pitchFamily="34" charset="-122"/>
              </a:rPr>
              <a:t>当协议字段为 </a:t>
            </a:r>
            <a:r>
              <a:rPr lang="en-US" altLang="zh-CN" dirty="0">
                <a:latin typeface="微软雅黑" panose="020B0503020204020204" pitchFamily="34" charset="-122"/>
                <a:ea typeface="微软雅黑" panose="020B0503020204020204" pitchFamily="34" charset="-122"/>
              </a:rPr>
              <a:t>0xC025 </a:t>
            </a:r>
            <a:r>
              <a:rPr lang="zh-CN" altLang="en-US" dirty="0">
                <a:latin typeface="微软雅黑" panose="020B0503020204020204" pitchFamily="34" charset="-122"/>
                <a:ea typeface="微软雅黑" panose="020B0503020204020204" pitchFamily="34" charset="-122"/>
              </a:rPr>
              <a:t>时</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信息字段是链路质量报告</a:t>
            </a:r>
            <a:endParaRPr lang="en-US" altLang="zh-CN" dirty="0">
              <a:latin typeface="微软雅黑" panose="020B0503020204020204" pitchFamily="34" charset="-122"/>
              <a:ea typeface="微软雅黑" panose="020B0503020204020204" pitchFamily="34" charset="-122"/>
            </a:endParaRPr>
          </a:p>
          <a:p>
            <a:pPr lvl="1">
              <a:lnSpc>
                <a:spcPts val="3600"/>
              </a:lnSpc>
            </a:pPr>
            <a:r>
              <a:rPr lang="zh-CN" altLang="en-US" dirty="0">
                <a:latin typeface="微软雅黑" panose="020B0503020204020204" pitchFamily="34" charset="-122"/>
                <a:ea typeface="微软雅黑" panose="020B0503020204020204" pitchFamily="34" charset="-122"/>
              </a:rPr>
              <a:t>当协议字段为 </a:t>
            </a:r>
            <a:r>
              <a:rPr lang="en-US" altLang="zh-CN" dirty="0">
                <a:latin typeface="微软雅黑" panose="020B0503020204020204" pitchFamily="34" charset="-122"/>
                <a:ea typeface="微软雅黑" panose="020B0503020204020204" pitchFamily="34" charset="-122"/>
              </a:rPr>
              <a:t>0xC223 </a:t>
            </a:r>
            <a:r>
              <a:rPr lang="zh-CN" altLang="en-US" dirty="0">
                <a:latin typeface="微软雅黑" panose="020B0503020204020204" pitchFamily="34" charset="-122"/>
                <a:ea typeface="微软雅黑" panose="020B0503020204020204" pitchFamily="34" charset="-122"/>
              </a:rPr>
              <a:t>时</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信息字段是口令握手鉴别协议</a:t>
            </a:r>
            <a:endParaRPr lang="en-US" altLang="zh-CN" dirty="0">
              <a:latin typeface="微软雅黑" panose="020B0503020204020204" pitchFamily="34" charset="-122"/>
              <a:ea typeface="微软雅黑" panose="020B0503020204020204" pitchFamily="34" charset="-122"/>
            </a:endParaRPr>
          </a:p>
          <a:p>
            <a:pPr lvl="1">
              <a:lnSpc>
                <a:spcPts val="3600"/>
              </a:lnSpc>
            </a:pPr>
            <a:r>
              <a:rPr lang="en-US" altLang="zh-CN" dirty="0">
                <a:latin typeface="微软雅黑" panose="020B0503020204020204" pitchFamily="34" charset="-122"/>
                <a:ea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endParaRPr>
          </a:p>
          <a:p>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134</a:t>
            </a:fld>
            <a:endParaRPr kumimoji="1" lang="zh-CN" altLang="en-US"/>
          </a:p>
        </p:txBody>
      </p:sp>
    </p:spTree>
    <p:extLst>
      <p:ext uri="{BB962C8B-B14F-4D97-AF65-F5344CB8AC3E}">
        <p14:creationId xmlns:p14="http://schemas.microsoft.com/office/powerpoint/2010/main" val="169475614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200000"/>
              </a:lnSpc>
            </a:pPr>
            <a:r>
              <a:rPr lang="zh-CN" altLang="en-US" sz="1200" dirty="0"/>
              <a:t>当用户拨号接入 </a:t>
            </a:r>
            <a:r>
              <a:rPr lang="en-US" altLang="zh-CN" sz="1200" dirty="0"/>
              <a:t>ISP </a:t>
            </a:r>
            <a:r>
              <a:rPr lang="zh-CN" altLang="en-US" sz="1200" dirty="0"/>
              <a:t>时，路由器的调制解调器对拨号做出确认，并建立一条物理连接。</a:t>
            </a:r>
          </a:p>
          <a:p>
            <a:pPr>
              <a:lnSpc>
                <a:spcPct val="200000"/>
              </a:lnSpc>
            </a:pPr>
            <a:r>
              <a:rPr lang="en-US" altLang="zh-CN" sz="1200" dirty="0"/>
              <a:t>PC </a:t>
            </a:r>
            <a:r>
              <a:rPr lang="zh-CN" altLang="en-US" sz="1200" dirty="0"/>
              <a:t>机向路由器发送一系列的 </a:t>
            </a:r>
            <a:r>
              <a:rPr lang="en-US" altLang="zh-CN" sz="1200" dirty="0"/>
              <a:t>LCP </a:t>
            </a:r>
            <a:r>
              <a:rPr lang="zh-CN" altLang="en-US" sz="1200" dirty="0"/>
              <a:t>分组（封装成多个 </a:t>
            </a:r>
            <a:r>
              <a:rPr lang="en-US" altLang="zh-CN" sz="1200" dirty="0"/>
              <a:t>PPP </a:t>
            </a:r>
            <a:r>
              <a:rPr lang="zh-CN" altLang="en-US" sz="1200" dirty="0"/>
              <a:t>帧）。</a:t>
            </a:r>
          </a:p>
          <a:p>
            <a:pPr>
              <a:lnSpc>
                <a:spcPct val="200000"/>
              </a:lnSpc>
            </a:pPr>
            <a:r>
              <a:rPr lang="zh-CN" altLang="en-US" sz="1200" dirty="0"/>
              <a:t>这些分组及其响应选择一些 </a:t>
            </a:r>
            <a:r>
              <a:rPr lang="en-US" altLang="zh-CN" sz="1200" dirty="0"/>
              <a:t>PPP </a:t>
            </a:r>
            <a:r>
              <a:rPr lang="zh-CN" altLang="en-US" sz="1200" dirty="0"/>
              <a:t>参数，并进行网络层配置，</a:t>
            </a:r>
            <a:r>
              <a:rPr lang="en-US" altLang="zh-CN" sz="1200" dirty="0"/>
              <a:t>NCP </a:t>
            </a:r>
            <a:r>
              <a:rPr lang="zh-CN" altLang="en-US" sz="1200" dirty="0"/>
              <a:t>给新接入的 </a:t>
            </a:r>
            <a:r>
              <a:rPr lang="en-US" altLang="zh-CN" sz="1200" dirty="0"/>
              <a:t>PC </a:t>
            </a:r>
            <a:r>
              <a:rPr lang="zh-CN" altLang="en-US" sz="1200" dirty="0"/>
              <a:t>机分配一个临时的 </a:t>
            </a:r>
            <a:r>
              <a:rPr lang="en-US" altLang="zh-CN" sz="1200" dirty="0"/>
              <a:t>IP </a:t>
            </a:r>
            <a:r>
              <a:rPr lang="zh-CN" altLang="en-US" sz="1200" dirty="0"/>
              <a:t>地址，使 </a:t>
            </a:r>
            <a:r>
              <a:rPr lang="en-US" altLang="zh-CN" sz="1200" dirty="0"/>
              <a:t>PC </a:t>
            </a:r>
            <a:r>
              <a:rPr lang="zh-CN" altLang="en-US" sz="1200" dirty="0"/>
              <a:t>机成为因特网上的一个主机。</a:t>
            </a:r>
          </a:p>
          <a:p>
            <a:pPr>
              <a:lnSpc>
                <a:spcPct val="200000"/>
              </a:lnSpc>
            </a:pPr>
            <a:r>
              <a:rPr lang="zh-CN" altLang="en-US" sz="1200" dirty="0"/>
              <a:t>通信完毕时，</a:t>
            </a:r>
            <a:r>
              <a:rPr lang="en-US" altLang="zh-CN" sz="1200" dirty="0"/>
              <a:t>NCP </a:t>
            </a:r>
            <a:r>
              <a:rPr lang="zh-CN" altLang="en-US" sz="1200" dirty="0"/>
              <a:t>释放网络层连接，收回原来分配出去的 </a:t>
            </a:r>
            <a:r>
              <a:rPr lang="en-US" altLang="zh-CN" sz="1200" dirty="0"/>
              <a:t>IP </a:t>
            </a:r>
            <a:r>
              <a:rPr lang="zh-CN" altLang="en-US" sz="1200" dirty="0"/>
              <a:t>地址。接着，</a:t>
            </a:r>
            <a:r>
              <a:rPr lang="en-US" altLang="zh-CN" sz="1200" dirty="0"/>
              <a:t>LCP </a:t>
            </a:r>
            <a:r>
              <a:rPr lang="zh-CN" altLang="en-US" sz="1200" dirty="0"/>
              <a:t>释放数据链路层连接。最后释放的是物理层的连接。</a:t>
            </a:r>
          </a:p>
          <a:p>
            <a:pPr>
              <a:lnSpc>
                <a:spcPct val="200000"/>
              </a:lnSpc>
            </a:pPr>
            <a:r>
              <a:rPr lang="zh-CN" altLang="en-US" sz="1200" dirty="0"/>
              <a:t>可见，</a:t>
            </a:r>
            <a:r>
              <a:rPr lang="en-US" altLang="zh-CN" sz="1200" dirty="0"/>
              <a:t>PPP </a:t>
            </a:r>
            <a:r>
              <a:rPr lang="zh-CN" altLang="en-US" sz="1200" dirty="0"/>
              <a:t>协议已不是纯粹的数据链路层的协议，它还包含了物理层和网络层的内容。</a:t>
            </a:r>
          </a:p>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140</a:t>
            </a:fld>
            <a:endParaRPr kumimoji="1" lang="zh-CN" altLang="en-US"/>
          </a:p>
        </p:txBody>
      </p:sp>
    </p:spTree>
    <p:extLst>
      <p:ext uri="{BB962C8B-B14F-4D97-AF65-F5344CB8AC3E}">
        <p14:creationId xmlns:p14="http://schemas.microsoft.com/office/powerpoint/2010/main" val="153163316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在此阶段，</a:t>
            </a:r>
            <a:r>
              <a:rPr lang="en-US" altLang="zh-CN" dirty="0"/>
              <a:t>LCP</a:t>
            </a:r>
            <a:r>
              <a:rPr lang="zh-CN" altLang="en-US" dirty="0"/>
              <a:t>自动机将处于初始或启动状态。</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向链路建立阶段的转换将向</a:t>
            </a:r>
            <a:r>
              <a:rPr lang="en-US" altLang="zh-CN" dirty="0"/>
              <a:t>LCP</a:t>
            </a:r>
            <a:r>
              <a:rPr lang="zh-CN" altLang="en-US" dirty="0"/>
              <a:t>自动机发出</a:t>
            </a:r>
            <a:r>
              <a:rPr lang="en-US" altLang="zh-CN" dirty="0"/>
              <a:t>Up</a:t>
            </a:r>
            <a:r>
              <a:rPr lang="zh-CN" altLang="en-US" dirty="0"/>
              <a:t>事件的信号。</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143</a:t>
            </a:fld>
            <a:endParaRPr kumimoji="1" lang="zh-CN" altLang="en-US"/>
          </a:p>
        </p:txBody>
      </p:sp>
    </p:spTree>
    <p:extLst>
      <p:ext uri="{BB962C8B-B14F-4D97-AF65-F5344CB8AC3E}">
        <p14:creationId xmlns:p14="http://schemas.microsoft.com/office/powerpoint/2010/main" val="228189493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144</a:t>
            </a:fld>
            <a:endParaRPr kumimoji="1" lang="zh-CN" altLang="en-US"/>
          </a:p>
        </p:txBody>
      </p:sp>
    </p:spTree>
    <p:extLst>
      <p:ext uri="{BB962C8B-B14F-4D97-AF65-F5344CB8AC3E}">
        <p14:creationId xmlns:p14="http://schemas.microsoft.com/office/powerpoint/2010/main" val="26421823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所有配置选项都假定为默认值</a:t>
            </a:r>
          </a:p>
          <a:p>
            <a:r>
              <a:rPr lang="zh-CN" altLang="en-US" dirty="0"/>
              <a:t>在网络层协议阶段，单个网络层协议的配置由单独的网络控制协议</a:t>
            </a:r>
            <a:r>
              <a:rPr lang="en-US" altLang="zh-CN" dirty="0"/>
              <a:t>(NCPs)</a:t>
            </a:r>
            <a:r>
              <a:rPr lang="zh-CN" altLang="en-US" dirty="0"/>
              <a:t>处理</a:t>
            </a:r>
          </a:p>
          <a:p>
            <a:r>
              <a:rPr lang="zh-CN" altLang="en-US" dirty="0"/>
              <a:t>在此阶段，接收到的任何非</a:t>
            </a:r>
            <a:r>
              <a:rPr lang="en-US" altLang="zh-CN" dirty="0"/>
              <a:t>LCP</a:t>
            </a:r>
            <a:r>
              <a:rPr lang="zh-CN" altLang="en-US" dirty="0"/>
              <a:t>数据包都必须丢弃</a:t>
            </a:r>
          </a:p>
          <a:p>
            <a:r>
              <a:rPr lang="zh-CN" altLang="en-US" dirty="0"/>
              <a:t>收到</a:t>
            </a:r>
            <a:r>
              <a:rPr lang="en-US" altLang="zh-CN" dirty="0"/>
              <a:t>LCP</a:t>
            </a:r>
            <a:r>
              <a:rPr lang="zh-CN" altLang="en-US" dirty="0"/>
              <a:t>配置请求会导致从网络层协议阶段或身份验证阶段返回到链路建立阶段</a:t>
            </a:r>
          </a:p>
          <a:p>
            <a:r>
              <a:rPr lang="zh-CN" altLang="en-US" dirty="0"/>
              <a:t>注意：只有独立于特定网络层协议的配置选项才由</a:t>
            </a:r>
            <a:r>
              <a:rPr lang="en-US" altLang="zh-CN" dirty="0"/>
              <a:t>LCP</a:t>
            </a:r>
            <a:r>
              <a:rPr lang="zh-CN" altLang="en-US" dirty="0"/>
              <a:t>配置</a:t>
            </a:r>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145</a:t>
            </a:fld>
            <a:endParaRPr kumimoji="1" lang="zh-CN" altLang="en-US"/>
          </a:p>
        </p:txBody>
      </p:sp>
    </p:spTree>
    <p:extLst>
      <p:ext uri="{BB962C8B-B14F-4D97-AF65-F5344CB8AC3E}">
        <p14:creationId xmlns:p14="http://schemas.microsoft.com/office/powerpoint/2010/main" val="44155785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不允许交换链路质量确定包来无限期地延迟身份验证。</a:t>
            </a:r>
            <a:endParaRPr lang="en-US" altLang="zh-CN" dirty="0"/>
          </a:p>
          <a:p>
            <a:r>
              <a:rPr lang="zh-CN" altLang="en-US" dirty="0"/>
              <a:t>如果使用口令鉴别协议</a:t>
            </a:r>
            <a:r>
              <a:rPr lang="en-US" altLang="zh-CN" dirty="0"/>
              <a:t>PAP</a:t>
            </a:r>
            <a:r>
              <a:rPr lang="zh-CN" altLang="en-US" dirty="0"/>
              <a:t>（</a:t>
            </a:r>
            <a:r>
              <a:rPr lang="en-US" altLang="zh-CN" dirty="0"/>
              <a:t>Password Authentication Protocol</a:t>
            </a:r>
            <a:r>
              <a:rPr lang="zh-CN" altLang="en-US" dirty="0"/>
              <a:t>），需要发起通信的一方发送身份标识符和口令。</a:t>
            </a:r>
          </a:p>
          <a:p>
            <a:r>
              <a:rPr lang="zh-CN" altLang="en-US" dirty="0"/>
              <a:t>或者复杂的口令握手鉴别协议（</a:t>
            </a:r>
            <a:r>
              <a:rPr lang="en-US" altLang="zh-CN" dirty="0"/>
              <a:t>Challenge-Handshake Authentication Protocol</a:t>
            </a:r>
            <a:r>
              <a:rPr lang="zh-CN" altLang="en-US" dirty="0"/>
              <a:t>）。</a:t>
            </a:r>
          </a:p>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148</a:t>
            </a:fld>
            <a:endParaRPr kumimoji="1" lang="zh-CN" altLang="en-US"/>
          </a:p>
        </p:txBody>
      </p:sp>
    </p:spTree>
    <p:extLst>
      <p:ext uri="{BB962C8B-B14F-4D97-AF65-F5344CB8AC3E}">
        <p14:creationId xmlns:p14="http://schemas.microsoft.com/office/powerpoint/2010/main" val="193686137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在“网络层协议”（</a:t>
            </a:r>
            <a:r>
              <a:rPr lang="en-US" altLang="zh-CN" dirty="0"/>
              <a:t>Network-Layer Protocol</a:t>
            </a:r>
            <a:r>
              <a:rPr lang="zh-CN" altLang="en-US" dirty="0"/>
              <a:t>）状态，</a:t>
            </a:r>
            <a:r>
              <a:rPr lang="en-US" altLang="zh-CN" dirty="0"/>
              <a:t>PPP</a:t>
            </a:r>
            <a:r>
              <a:rPr lang="zh-CN" altLang="en-US" dirty="0"/>
              <a:t>链路的两端的网络控制协议</a:t>
            </a:r>
            <a:r>
              <a:rPr lang="en-US" altLang="zh-CN" dirty="0"/>
              <a:t>NCP</a:t>
            </a:r>
            <a:r>
              <a:rPr lang="zh-CN" altLang="en-US" dirty="0"/>
              <a:t>根据网络层的不同协议互相交换网络层特定的网络控制分组，进行配置网络层。</a:t>
            </a:r>
            <a:r>
              <a:rPr lang="en-US" altLang="zh-CN" dirty="0"/>
              <a:t>PPP</a:t>
            </a:r>
            <a:r>
              <a:rPr lang="zh-CN" altLang="en-US" dirty="0"/>
              <a:t>两端可能运行了不同的网络层协议。</a:t>
            </a:r>
          </a:p>
          <a:p>
            <a:r>
              <a:rPr lang="zh-CN" altLang="en-US" dirty="0"/>
              <a:t>若在</a:t>
            </a:r>
            <a:r>
              <a:rPr lang="en-US" altLang="zh-CN" dirty="0"/>
              <a:t>PPP</a:t>
            </a:r>
            <a:r>
              <a:rPr lang="zh-CN" altLang="en-US" dirty="0"/>
              <a:t>链路上运行的是</a:t>
            </a:r>
            <a:r>
              <a:rPr lang="en-US" altLang="zh-CN" dirty="0"/>
              <a:t>IP</a:t>
            </a:r>
            <a:r>
              <a:rPr lang="zh-CN" altLang="en-US" dirty="0"/>
              <a:t>协议，则对</a:t>
            </a:r>
            <a:r>
              <a:rPr lang="en-US" altLang="zh-CN" dirty="0"/>
              <a:t>PPP</a:t>
            </a:r>
            <a:r>
              <a:rPr lang="zh-CN" altLang="en-US" dirty="0"/>
              <a:t>链路的每一端配置</a:t>
            </a:r>
            <a:r>
              <a:rPr lang="en-US" altLang="zh-CN" dirty="0"/>
              <a:t>IP</a:t>
            </a:r>
            <a:r>
              <a:rPr lang="zh-CN" altLang="en-US" dirty="0"/>
              <a:t>协议模块时要使用</a:t>
            </a:r>
            <a:r>
              <a:rPr lang="en-US" altLang="zh-CN" dirty="0"/>
              <a:t>NCP</a:t>
            </a:r>
            <a:r>
              <a:rPr lang="zh-CN" altLang="en-US" dirty="0"/>
              <a:t>中支持</a:t>
            </a:r>
            <a:r>
              <a:rPr lang="en-US" altLang="zh-CN" dirty="0"/>
              <a:t>IP</a:t>
            </a:r>
            <a:r>
              <a:rPr lang="zh-CN" altLang="en-US" dirty="0"/>
              <a:t>的协议</a:t>
            </a:r>
            <a:r>
              <a:rPr lang="en-US" altLang="zh-CN" dirty="0"/>
              <a:t>——IP</a:t>
            </a:r>
            <a:r>
              <a:rPr lang="zh-CN" altLang="en-US" dirty="0"/>
              <a:t>控制协议</a:t>
            </a:r>
            <a:r>
              <a:rPr lang="en-US" altLang="zh-CN" dirty="0" err="1"/>
              <a:t>IPCP</a:t>
            </a:r>
            <a:r>
              <a:rPr lang="zh-CN" altLang="en-US" dirty="0"/>
              <a:t>（</a:t>
            </a:r>
            <a:r>
              <a:rPr lang="en-US" altLang="zh-CN" dirty="0"/>
              <a:t>IP Control Protocol</a:t>
            </a:r>
            <a:r>
              <a:rPr lang="zh-CN" altLang="en-US" dirty="0"/>
              <a:t>）。</a:t>
            </a:r>
            <a:r>
              <a:rPr lang="en-US" altLang="zh-CN" dirty="0" err="1"/>
              <a:t>IPCP</a:t>
            </a:r>
            <a:r>
              <a:rPr lang="zh-CN" altLang="en-US" dirty="0"/>
              <a:t>分组封装成</a:t>
            </a:r>
            <a:r>
              <a:rPr lang="en-US" altLang="zh-CN" dirty="0"/>
              <a:t>PPP</a:t>
            </a:r>
            <a:r>
              <a:rPr lang="zh-CN" altLang="en-US" dirty="0"/>
              <a:t>帧，在链路上传送，协议字段为</a:t>
            </a:r>
            <a:r>
              <a:rPr lang="en-US" altLang="zh-CN" dirty="0" err="1"/>
              <a:t>0x8201</a:t>
            </a:r>
            <a:r>
              <a:rPr lang="zh-CN" altLang="en-US" dirty="0"/>
              <a:t>。</a:t>
            </a:r>
          </a:p>
          <a:p>
            <a:r>
              <a:rPr lang="zh-CN" altLang="en-US" dirty="0"/>
              <a:t>不同的</a:t>
            </a:r>
            <a:r>
              <a:rPr lang="en-US" altLang="zh-CN" dirty="0"/>
              <a:t>NCP</a:t>
            </a:r>
            <a:r>
              <a:rPr lang="zh-CN" altLang="en-US" dirty="0"/>
              <a:t>协议支持针对某种特定的网络层协议。 </a:t>
            </a:r>
          </a:p>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150</a:t>
            </a:fld>
            <a:endParaRPr kumimoji="1" lang="zh-CN" altLang="en-US"/>
          </a:p>
        </p:txBody>
      </p:sp>
    </p:spTree>
    <p:extLst>
      <p:ext uri="{BB962C8B-B14F-4D97-AF65-F5344CB8AC3E}">
        <p14:creationId xmlns:p14="http://schemas.microsoft.com/office/powerpoint/2010/main" val="20782721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使用</a:t>
            </a:r>
            <a:r>
              <a:rPr lang="en-US" altLang="zh-CN" dirty="0"/>
              <a:t>Terminate--request</a:t>
            </a:r>
            <a:r>
              <a:rPr lang="zh-CN" altLang="en-US" dirty="0"/>
              <a:t>帧终止链路，收到对方的</a:t>
            </a:r>
            <a:r>
              <a:rPr lang="en-US" altLang="zh-CN" dirty="0"/>
              <a:t>Terminate-</a:t>
            </a:r>
            <a:r>
              <a:rPr lang="en-US" altLang="zh-CN" dirty="0" err="1"/>
              <a:t>Ack</a:t>
            </a:r>
            <a:r>
              <a:rPr lang="zh-CN" altLang="en-US" dirty="0"/>
              <a:t>帧</a:t>
            </a:r>
            <a:endParaRPr lang="en-US" altLang="zh-CN" dirty="0"/>
          </a:p>
          <a:p>
            <a:r>
              <a:rPr lang="zh-CN" altLang="en-US" dirty="0"/>
              <a:t>数据传输结束后，可以使用</a:t>
            </a:r>
            <a:r>
              <a:rPr lang="en-US" altLang="zh-CN" dirty="0"/>
              <a:t>Terminate-*</a:t>
            </a:r>
            <a:r>
              <a:rPr lang="zh-CN" altLang="en-US" dirty="0"/>
              <a:t>帧终止链路，收到对方的</a:t>
            </a:r>
            <a:r>
              <a:rPr lang="en-US" altLang="zh-CN" dirty="0"/>
              <a:t>Terminate-</a:t>
            </a:r>
            <a:r>
              <a:rPr lang="en-US" altLang="zh-CN" dirty="0" err="1"/>
              <a:t>Ack</a:t>
            </a:r>
            <a:r>
              <a:rPr lang="zh-CN" altLang="en-US" dirty="0"/>
              <a:t>帧后进入“链路终止”状态，当调制解调器的载波停止后，回到“链路静止”状态。</a:t>
            </a:r>
          </a:p>
          <a:p>
            <a:endParaRPr lang="zh-CN" altLang="en-US" dirty="0"/>
          </a:p>
          <a:p>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154</a:t>
            </a:fld>
            <a:endParaRPr kumimoji="1" lang="zh-CN" altLang="en-US"/>
          </a:p>
        </p:txBody>
      </p:sp>
    </p:spTree>
    <p:extLst>
      <p:ext uri="{BB962C8B-B14F-4D97-AF65-F5344CB8AC3E}">
        <p14:creationId xmlns:p14="http://schemas.microsoft.com/office/powerpoint/2010/main" val="149763412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通过</a:t>
            </a:r>
            <a:r>
              <a:rPr lang="en-US" altLang="zh-CN" dirty="0"/>
              <a:t>Ethernet</a:t>
            </a:r>
            <a:r>
              <a:rPr lang="zh-CN" altLang="en-US" dirty="0"/>
              <a:t>和</a:t>
            </a:r>
            <a:r>
              <a:rPr lang="en-US" altLang="zh-CN" dirty="0"/>
              <a:t>PPP</a:t>
            </a:r>
            <a:r>
              <a:rPr lang="zh-CN" altLang="en-US" dirty="0"/>
              <a:t>的优点和缺点介绍，引入</a:t>
            </a:r>
            <a:r>
              <a:rPr lang="en-US" altLang="zh-CN" dirty="0" err="1"/>
              <a:t>PPPoE</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156</a:t>
            </a:fld>
            <a:endParaRPr kumimoji="1" lang="zh-CN" altLang="en-US"/>
          </a:p>
        </p:txBody>
      </p:sp>
    </p:spTree>
    <p:extLst>
      <p:ext uri="{BB962C8B-B14F-4D97-AF65-F5344CB8AC3E}">
        <p14:creationId xmlns:p14="http://schemas.microsoft.com/office/powerpoint/2010/main" val="330041012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通过</a:t>
            </a:r>
            <a:r>
              <a:rPr lang="en-US" altLang="zh-CN" dirty="0"/>
              <a:t>Ethernet</a:t>
            </a:r>
            <a:r>
              <a:rPr lang="zh-CN" altLang="en-US" dirty="0"/>
              <a:t>和</a:t>
            </a:r>
            <a:r>
              <a:rPr lang="en-US" altLang="zh-CN" dirty="0"/>
              <a:t>PPP</a:t>
            </a:r>
            <a:r>
              <a:rPr lang="zh-CN" altLang="en-US" dirty="0"/>
              <a:t>的优点和缺点介绍，引入</a:t>
            </a:r>
            <a:r>
              <a:rPr lang="en-US" altLang="zh-CN" dirty="0" err="1"/>
              <a:t>PPPoE</a:t>
            </a:r>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157</a:t>
            </a:fld>
            <a:endParaRPr kumimoji="1" lang="zh-CN" altLang="en-US"/>
          </a:p>
        </p:txBody>
      </p:sp>
    </p:spTree>
    <p:extLst>
      <p:ext uri="{BB962C8B-B14F-4D97-AF65-F5344CB8AC3E}">
        <p14:creationId xmlns:p14="http://schemas.microsoft.com/office/powerpoint/2010/main" val="102001976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组网方式</a:t>
            </a:r>
            <a:r>
              <a:rPr lang="en-US" altLang="zh-CN" dirty="0"/>
              <a:t>1</a:t>
            </a:r>
            <a:r>
              <a:rPr lang="zh-CN" altLang="en-US" dirty="0"/>
              <a:t>与家庭中常用的路由器拨号方式一致</a:t>
            </a: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158</a:t>
            </a:fld>
            <a:endParaRPr kumimoji="1" lang="zh-CN" altLang="en-US"/>
          </a:p>
        </p:txBody>
      </p:sp>
    </p:spTree>
    <p:extLst>
      <p:ext uri="{BB962C8B-B14F-4D97-AF65-F5344CB8AC3E}">
        <p14:creationId xmlns:p14="http://schemas.microsoft.com/office/powerpoint/2010/main" val="375216217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组网方式</a:t>
            </a:r>
            <a:r>
              <a:rPr lang="en-US" altLang="zh-CN" dirty="0"/>
              <a:t>2</a:t>
            </a:r>
            <a:r>
              <a:rPr lang="zh-CN" altLang="en-US" dirty="0"/>
              <a:t>：通过计算机直接拨号上网</a:t>
            </a: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159</a:t>
            </a:fld>
            <a:endParaRPr kumimoji="1" lang="zh-CN" altLang="en-US"/>
          </a:p>
        </p:txBody>
      </p:sp>
    </p:spTree>
    <p:extLst>
      <p:ext uri="{BB962C8B-B14F-4D97-AF65-F5344CB8AC3E}">
        <p14:creationId xmlns:p14="http://schemas.microsoft.com/office/powerpoint/2010/main" val="189777632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160</a:t>
            </a:fld>
            <a:endParaRPr kumimoji="1" lang="zh-CN" altLang="en-US"/>
          </a:p>
        </p:txBody>
      </p:sp>
    </p:spTree>
    <p:extLst>
      <p:ext uri="{BB962C8B-B14F-4D97-AF65-F5344CB8AC3E}">
        <p14:creationId xmlns:p14="http://schemas.microsoft.com/office/powerpoint/2010/main" val="143111454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通过代码字段值的不同，标识有效载荷数据的不同</a:t>
            </a: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161</a:t>
            </a:fld>
            <a:endParaRPr kumimoji="1" lang="zh-CN" altLang="en-US"/>
          </a:p>
        </p:txBody>
      </p:sp>
    </p:spTree>
    <p:extLst>
      <p:ext uri="{BB962C8B-B14F-4D97-AF65-F5344CB8AC3E}">
        <p14:creationId xmlns:p14="http://schemas.microsoft.com/office/powerpoint/2010/main" val="293019502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162</a:t>
            </a:fld>
            <a:endParaRPr kumimoji="1" lang="zh-CN" altLang="en-US"/>
          </a:p>
        </p:txBody>
      </p:sp>
    </p:spTree>
    <p:extLst>
      <p:ext uri="{BB962C8B-B14F-4D97-AF65-F5344CB8AC3E}">
        <p14:creationId xmlns:p14="http://schemas.microsoft.com/office/powerpoint/2010/main" val="129361569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166</a:t>
            </a:fld>
            <a:endParaRPr kumimoji="1" lang="zh-CN" altLang="en-US"/>
          </a:p>
        </p:txBody>
      </p:sp>
    </p:spTree>
    <p:extLst>
      <p:ext uri="{BB962C8B-B14F-4D97-AF65-F5344CB8AC3E}">
        <p14:creationId xmlns:p14="http://schemas.microsoft.com/office/powerpoint/2010/main" val="15561999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F97C75-78EB-4043-953B-95F867F42CEE}"/>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dirty="0"/>
              <a:t>单击此处编辑母版标题样式</a:t>
            </a:r>
          </a:p>
        </p:txBody>
      </p:sp>
      <p:sp>
        <p:nvSpPr>
          <p:cNvPr id="3" name="副标题 2">
            <a:extLst>
              <a:ext uri="{FF2B5EF4-FFF2-40B4-BE49-F238E27FC236}">
                <a16:creationId xmlns:a16="http://schemas.microsoft.com/office/drawing/2014/main" id="{421C1163-5F70-9046-86B2-81951DCE1A9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dirty="0"/>
              <a:t>单击此处编辑母版副标题样式</a:t>
            </a:r>
          </a:p>
        </p:txBody>
      </p:sp>
      <p:sp>
        <p:nvSpPr>
          <p:cNvPr id="4" name="日期占位符 3">
            <a:extLst>
              <a:ext uri="{FF2B5EF4-FFF2-40B4-BE49-F238E27FC236}">
                <a16:creationId xmlns:a16="http://schemas.microsoft.com/office/drawing/2014/main" id="{9C07FD42-40C8-0740-93F0-4905CF427A8F}"/>
              </a:ext>
            </a:extLst>
          </p:cNvPr>
          <p:cNvSpPr>
            <a:spLocks noGrp="1"/>
          </p:cNvSpPr>
          <p:nvPr>
            <p:ph type="dt" sz="half" idx="10"/>
          </p:nvPr>
        </p:nvSpPr>
        <p:spPr/>
        <p:txBody>
          <a:bodyPr/>
          <a:lstStyle/>
          <a:p>
            <a:fld id="{0E59C439-FD35-4547-BEF5-304266CA27AE}" type="datetime1">
              <a:rPr kumimoji="1" lang="zh-CN" altLang="en-US" smtClean="0"/>
              <a:t>2024/10/18</a:t>
            </a:fld>
            <a:endParaRPr kumimoji="1" lang="zh-CN" altLang="en-US"/>
          </a:p>
        </p:txBody>
      </p:sp>
      <p:sp>
        <p:nvSpPr>
          <p:cNvPr id="5" name="页脚占位符 4">
            <a:extLst>
              <a:ext uri="{FF2B5EF4-FFF2-40B4-BE49-F238E27FC236}">
                <a16:creationId xmlns:a16="http://schemas.microsoft.com/office/drawing/2014/main" id="{B598E813-0309-7546-9A4F-6893C100586A}"/>
              </a:ext>
            </a:extLst>
          </p:cNvPr>
          <p:cNvSpPr>
            <a:spLocks noGrp="1"/>
          </p:cNvSpPr>
          <p:nvPr>
            <p:ph type="ftr" sz="quarter" idx="11"/>
          </p:nvPr>
        </p:nvSpPr>
        <p:spPr/>
        <p:txBody>
          <a:bodyPr/>
          <a:lstStyle/>
          <a:p>
            <a:endParaRPr kumimoji="1" lang="zh-CN" altLang="en-US" dirty="0"/>
          </a:p>
        </p:txBody>
      </p:sp>
      <p:sp>
        <p:nvSpPr>
          <p:cNvPr id="7" name="矩形 6">
            <a:extLst>
              <a:ext uri="{FF2B5EF4-FFF2-40B4-BE49-F238E27FC236}">
                <a16:creationId xmlns:a16="http://schemas.microsoft.com/office/drawing/2014/main" id="{B6F9E280-F138-8142-8DB1-324EA9F38324}"/>
              </a:ext>
            </a:extLst>
          </p:cNvPr>
          <p:cNvSpPr/>
          <p:nvPr userDrawn="1"/>
        </p:nvSpPr>
        <p:spPr>
          <a:xfrm>
            <a:off x="-9939" y="-8627"/>
            <a:ext cx="9307502" cy="567811"/>
          </a:xfrm>
          <a:prstGeom prst="rect">
            <a:avLst/>
          </a:prstGeom>
          <a:solidFill>
            <a:srgbClr val="5B30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0" spc="600" dirty="0">
                <a:solidFill>
                  <a:schemeClr val="bg1"/>
                </a:solidFill>
                <a:latin typeface="微软雅黑" panose="020B0503020204020204" pitchFamily="34" charset="-122"/>
                <a:ea typeface="微软雅黑" panose="020B0503020204020204" pitchFamily="34" charset="-122"/>
              </a:rPr>
              <a:t>计算机网络</a:t>
            </a:r>
          </a:p>
        </p:txBody>
      </p:sp>
      <p:sp>
        <p:nvSpPr>
          <p:cNvPr id="9" name="文本框 8">
            <a:extLst>
              <a:ext uri="{FF2B5EF4-FFF2-40B4-BE49-F238E27FC236}">
                <a16:creationId xmlns:a16="http://schemas.microsoft.com/office/drawing/2014/main" id="{56DF02C2-66E0-594F-914D-47F0EC7AA666}"/>
              </a:ext>
            </a:extLst>
          </p:cNvPr>
          <p:cNvSpPr txBox="1"/>
          <p:nvPr userDrawn="1"/>
        </p:nvSpPr>
        <p:spPr>
          <a:xfrm>
            <a:off x="9569811" y="90612"/>
            <a:ext cx="2297425" cy="369332"/>
          </a:xfrm>
          <a:prstGeom prst="rect">
            <a:avLst/>
          </a:prstGeom>
          <a:noFill/>
        </p:spPr>
        <p:txBody>
          <a:bodyPr wrap="none" rtlCol="0">
            <a:spAutoFit/>
          </a:bodyPr>
          <a:lstStyle/>
          <a:p>
            <a:pPr algn="r"/>
            <a:r>
              <a:rPr lang="zh-CN" altLang="en-US" sz="1800" spc="600" dirty="0">
                <a:solidFill>
                  <a:srgbClr val="5B307E"/>
                </a:solidFill>
                <a:latin typeface="微软雅黑" panose="020B0503020204020204" pitchFamily="34" charset="-122"/>
                <a:ea typeface="微软雅黑" panose="020B0503020204020204" pitchFamily="34" charset="-122"/>
              </a:rPr>
              <a:t>众筹</a:t>
            </a:r>
            <a:r>
              <a:rPr lang="en-US" altLang="zh-CN" sz="1800" b="0" spc="600" dirty="0">
                <a:solidFill>
                  <a:srgbClr val="5B307E"/>
                </a:solidFill>
                <a:latin typeface="微软雅黑" panose="020B0503020204020204" pitchFamily="34" charset="-122"/>
                <a:ea typeface="微软雅黑" panose="020B0503020204020204" pitchFamily="34" charset="-122"/>
              </a:rPr>
              <a:t>·</a:t>
            </a:r>
            <a:r>
              <a:rPr lang="zh-CN" altLang="en-US" sz="1800" spc="600" dirty="0">
                <a:solidFill>
                  <a:srgbClr val="5B307E"/>
                </a:solidFill>
                <a:latin typeface="微软雅黑" panose="020B0503020204020204" pitchFamily="34" charset="-122"/>
                <a:ea typeface="微软雅黑" panose="020B0503020204020204" pitchFamily="34" charset="-122"/>
              </a:rPr>
              <a:t>网络</a:t>
            </a:r>
            <a:r>
              <a:rPr lang="en-US" altLang="zh-CN" sz="1800" b="0" spc="600" dirty="0">
                <a:solidFill>
                  <a:srgbClr val="5B307E"/>
                </a:solidFill>
                <a:latin typeface="微软雅黑" panose="020B0503020204020204" pitchFamily="34" charset="-122"/>
                <a:ea typeface="微软雅黑" panose="020B0503020204020204" pitchFamily="34" charset="-122"/>
              </a:rPr>
              <a:t>·</a:t>
            </a:r>
            <a:r>
              <a:rPr lang="zh-CN" altLang="en-US" sz="1800" spc="600" dirty="0">
                <a:solidFill>
                  <a:srgbClr val="5B307E"/>
                </a:solidFill>
                <a:latin typeface="微软雅黑" panose="020B0503020204020204" pitchFamily="34" charset="-122"/>
                <a:ea typeface="微软雅黑" panose="020B0503020204020204" pitchFamily="34" charset="-122"/>
              </a:rPr>
              <a:t>分享</a:t>
            </a:r>
          </a:p>
        </p:txBody>
      </p:sp>
    </p:spTree>
    <p:extLst>
      <p:ext uri="{BB962C8B-B14F-4D97-AF65-F5344CB8AC3E}">
        <p14:creationId xmlns:p14="http://schemas.microsoft.com/office/powerpoint/2010/main" val="84974403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9" name="矩形 38">
            <a:extLst>
              <a:ext uri="{FF2B5EF4-FFF2-40B4-BE49-F238E27FC236}">
                <a16:creationId xmlns:a16="http://schemas.microsoft.com/office/drawing/2014/main" id="{FBB5D1D6-FEDC-364E-ADD0-80C842FD6986}"/>
              </a:ext>
            </a:extLst>
          </p:cNvPr>
          <p:cNvSpPr/>
          <p:nvPr userDrawn="1"/>
        </p:nvSpPr>
        <p:spPr>
          <a:xfrm>
            <a:off x="667831" y="541554"/>
            <a:ext cx="509313" cy="498948"/>
          </a:xfrm>
          <a:prstGeom prst="rect">
            <a:avLst/>
          </a:prstGeom>
          <a:solidFill>
            <a:srgbClr val="5C30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5C307E"/>
              </a:solidFill>
            </a:endParaRPr>
          </a:p>
        </p:txBody>
      </p:sp>
      <p:sp>
        <p:nvSpPr>
          <p:cNvPr id="2" name="标题 1">
            <a:extLst>
              <a:ext uri="{FF2B5EF4-FFF2-40B4-BE49-F238E27FC236}">
                <a16:creationId xmlns:a16="http://schemas.microsoft.com/office/drawing/2014/main" id="{223457C5-5D0E-4F46-9D0B-7EA2985DFFE7}"/>
              </a:ext>
            </a:extLst>
          </p:cNvPr>
          <p:cNvSpPr>
            <a:spLocks noGrp="1"/>
          </p:cNvSpPr>
          <p:nvPr>
            <p:ph type="title"/>
          </p:nvPr>
        </p:nvSpPr>
        <p:spPr/>
        <p:txBody>
          <a:bodyPr>
            <a:normAutofit/>
          </a:bodyPr>
          <a:lstStyle>
            <a:lvl1pPr>
              <a:defRPr sz="4000"/>
            </a:lvl1pPr>
          </a:lstStyle>
          <a:p>
            <a:r>
              <a:rPr kumimoji="1" lang="zh-CN" altLang="en-US" dirty="0"/>
              <a:t>单击此处编辑母版标题样式</a:t>
            </a:r>
          </a:p>
        </p:txBody>
      </p:sp>
      <p:sp>
        <p:nvSpPr>
          <p:cNvPr id="3" name="内容占位符 2">
            <a:extLst>
              <a:ext uri="{FF2B5EF4-FFF2-40B4-BE49-F238E27FC236}">
                <a16:creationId xmlns:a16="http://schemas.microsoft.com/office/drawing/2014/main" id="{D2FA45BE-434F-B44C-99F8-C563AC076A02}"/>
              </a:ext>
            </a:extLst>
          </p:cNvPr>
          <p:cNvSpPr>
            <a:spLocks noGrp="1"/>
          </p:cNvSpPr>
          <p:nvPr>
            <p:ph idx="1"/>
          </p:nvPr>
        </p:nvSpPr>
        <p:spPr>
          <a:xfrm>
            <a:off x="838200" y="1510758"/>
            <a:ext cx="10515600" cy="4586694"/>
          </a:xfrm>
        </p:spPr>
        <p:txBody>
          <a:bodyPr/>
          <a:lstStyle>
            <a:lvl1pPr marL="360363" indent="-360363">
              <a:lnSpc>
                <a:spcPct val="100000"/>
              </a:lnSpc>
              <a:spcBef>
                <a:spcPts val="600"/>
              </a:spcBef>
              <a:buFont typeface="Wingdings" pitchFamily="2" charset="2"/>
              <a:buChar char="Ø"/>
              <a:tabLst/>
              <a:defRPr/>
            </a:lvl1pPr>
            <a:lvl2pPr>
              <a:lnSpc>
                <a:spcPct val="100000"/>
              </a:lnSpc>
              <a:spcBef>
                <a:spcPts val="600"/>
              </a:spcBef>
              <a:buFont typeface="Arial" panose="020B0604020202020204" pitchFamily="34" charset="0"/>
              <a:buChar char="•"/>
              <a:defRPr/>
            </a:lvl2pPr>
            <a:lvl3pPr>
              <a:lnSpc>
                <a:spcPct val="100000"/>
              </a:lnSpc>
              <a:spcBef>
                <a:spcPts val="600"/>
              </a:spcBef>
              <a:defRPr/>
            </a:lvl3pPr>
            <a:lvl4pPr>
              <a:lnSpc>
                <a:spcPct val="100000"/>
              </a:lnSpc>
              <a:spcBef>
                <a:spcPts val="600"/>
              </a:spcBef>
              <a:defRPr/>
            </a:lvl4pPr>
            <a:lvl5pPr>
              <a:lnSpc>
                <a:spcPct val="100000"/>
              </a:lnSpc>
              <a:spcBef>
                <a:spcPts val="600"/>
              </a:spcBef>
              <a:defRPr/>
            </a:lvl5p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日期占位符 3">
            <a:extLst>
              <a:ext uri="{FF2B5EF4-FFF2-40B4-BE49-F238E27FC236}">
                <a16:creationId xmlns:a16="http://schemas.microsoft.com/office/drawing/2014/main" id="{5A1C8C13-A111-E44B-BB6E-32C9AFF870A6}"/>
              </a:ext>
            </a:extLst>
          </p:cNvPr>
          <p:cNvSpPr>
            <a:spLocks noGrp="1"/>
          </p:cNvSpPr>
          <p:nvPr>
            <p:ph type="dt" sz="half" idx="10"/>
          </p:nvPr>
        </p:nvSpPr>
        <p:spPr/>
        <p:txBody>
          <a:bodyPr/>
          <a:lstStyle/>
          <a:p>
            <a:fld id="{742A9FFD-B852-1440-BFA7-3771E624B655}" type="datetime1">
              <a:rPr kumimoji="1" lang="zh-CN" altLang="en-US" smtClean="0"/>
              <a:t>2024/10/18</a:t>
            </a:fld>
            <a:endParaRPr kumimoji="1" lang="zh-CN" altLang="en-US"/>
          </a:p>
        </p:txBody>
      </p:sp>
      <p:sp>
        <p:nvSpPr>
          <p:cNvPr id="5" name="页脚占位符 4">
            <a:extLst>
              <a:ext uri="{FF2B5EF4-FFF2-40B4-BE49-F238E27FC236}">
                <a16:creationId xmlns:a16="http://schemas.microsoft.com/office/drawing/2014/main" id="{3A7B7B75-EEC1-2D4D-AB7C-5A3514969529}"/>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8FDBE6BC-6A1B-1944-BBB6-30FD8C33B360}"/>
              </a:ext>
            </a:extLst>
          </p:cNvPr>
          <p:cNvSpPr>
            <a:spLocks noGrp="1"/>
          </p:cNvSpPr>
          <p:nvPr>
            <p:ph type="sldNum" sz="quarter" idx="12"/>
          </p:nvPr>
        </p:nvSpPr>
        <p:spPr/>
        <p:txBody>
          <a:bodyPr/>
          <a:lstStyle/>
          <a:p>
            <a:fld id="{8D4D1E41-7A09-AB4A-A4E1-09765ADA2698}" type="slidenum">
              <a:rPr kumimoji="1" lang="zh-CN" altLang="en-US" smtClean="0"/>
              <a:t>‹#›</a:t>
            </a:fld>
            <a:endParaRPr kumimoji="1" lang="zh-CN" altLang="en-US" dirty="0"/>
          </a:p>
        </p:txBody>
      </p:sp>
      <p:cxnSp>
        <p:nvCxnSpPr>
          <p:cNvPr id="40" name="直线连接符 39">
            <a:extLst>
              <a:ext uri="{FF2B5EF4-FFF2-40B4-BE49-F238E27FC236}">
                <a16:creationId xmlns:a16="http://schemas.microsoft.com/office/drawing/2014/main" id="{9E7AFED4-5702-094E-A3B8-21EB069F234E}"/>
              </a:ext>
            </a:extLst>
          </p:cNvPr>
          <p:cNvCxnSpPr>
            <a:cxnSpLocks/>
          </p:cNvCxnSpPr>
          <p:nvPr userDrawn="1"/>
        </p:nvCxnSpPr>
        <p:spPr>
          <a:xfrm>
            <a:off x="1314788" y="1244212"/>
            <a:ext cx="7295812" cy="0"/>
          </a:xfrm>
          <a:prstGeom prst="line">
            <a:avLst/>
          </a:prstGeom>
          <a:ln w="19050">
            <a:solidFill>
              <a:srgbClr val="5C307E"/>
            </a:solidFill>
          </a:ln>
        </p:spPr>
        <p:style>
          <a:lnRef idx="1">
            <a:schemeClr val="accent1"/>
          </a:lnRef>
          <a:fillRef idx="0">
            <a:schemeClr val="accent1"/>
          </a:fillRef>
          <a:effectRef idx="0">
            <a:schemeClr val="accent1"/>
          </a:effectRef>
          <a:fontRef idx="minor">
            <a:schemeClr val="tx1"/>
          </a:fontRef>
        </p:style>
      </p:cxnSp>
      <p:grpSp>
        <p:nvGrpSpPr>
          <p:cNvPr id="41" name="组合 40">
            <a:extLst>
              <a:ext uri="{FF2B5EF4-FFF2-40B4-BE49-F238E27FC236}">
                <a16:creationId xmlns:a16="http://schemas.microsoft.com/office/drawing/2014/main" id="{AB0058AB-B1F1-354B-AC17-D97CF5C61CCA}"/>
              </a:ext>
            </a:extLst>
          </p:cNvPr>
          <p:cNvGrpSpPr/>
          <p:nvPr userDrawn="1"/>
        </p:nvGrpSpPr>
        <p:grpSpPr>
          <a:xfrm>
            <a:off x="9849450" y="844221"/>
            <a:ext cx="1961485" cy="208345"/>
            <a:chOff x="1368170" y="1165302"/>
            <a:chExt cx="4139947" cy="439737"/>
          </a:xfrm>
        </p:grpSpPr>
        <p:grpSp>
          <p:nvGrpSpPr>
            <p:cNvPr id="42" name="组合 41">
              <a:extLst>
                <a:ext uri="{FF2B5EF4-FFF2-40B4-BE49-F238E27FC236}">
                  <a16:creationId xmlns:a16="http://schemas.microsoft.com/office/drawing/2014/main" id="{AAF2B681-E82A-B44D-9C2D-B50F21D83567}"/>
                </a:ext>
              </a:extLst>
            </p:cNvPr>
            <p:cNvGrpSpPr/>
            <p:nvPr/>
          </p:nvGrpSpPr>
          <p:grpSpPr>
            <a:xfrm>
              <a:off x="1368170" y="1165302"/>
              <a:ext cx="550582" cy="439737"/>
              <a:chOff x="1368170" y="664579"/>
              <a:chExt cx="550582" cy="439737"/>
            </a:xfrm>
          </p:grpSpPr>
          <p:sp>
            <p:nvSpPr>
              <p:cNvPr id="53" name="Freeform 1">
                <a:extLst>
                  <a:ext uri="{FF2B5EF4-FFF2-40B4-BE49-F238E27FC236}">
                    <a16:creationId xmlns:a16="http://schemas.microsoft.com/office/drawing/2014/main" id="{0961A78E-DF61-2349-8E10-2E9861DBEA9A}"/>
                  </a:ext>
                </a:extLst>
              </p:cNvPr>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solidFill>
                <a:srgbClr val="D72229"/>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4" name="Freeform 2">
                <a:extLst>
                  <a:ext uri="{FF2B5EF4-FFF2-40B4-BE49-F238E27FC236}">
                    <a16:creationId xmlns:a16="http://schemas.microsoft.com/office/drawing/2014/main" id="{1B3EB2F6-21CF-A24E-9B62-5D7928C20B20}"/>
                  </a:ext>
                </a:extLst>
              </p:cNvPr>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solidFill>
                <a:srgbClr val="DD4A16"/>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5" name="Freeform 3">
                <a:extLst>
                  <a:ext uri="{FF2B5EF4-FFF2-40B4-BE49-F238E27FC236}">
                    <a16:creationId xmlns:a16="http://schemas.microsoft.com/office/drawing/2014/main" id="{81A1399D-3A4A-4346-8C84-7B455211A803}"/>
                  </a:ext>
                </a:extLst>
              </p:cNvPr>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solidFill>
                <a:srgbClr val="EA741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6" name="Freeform 4">
                <a:extLst>
                  <a:ext uri="{FF2B5EF4-FFF2-40B4-BE49-F238E27FC236}">
                    <a16:creationId xmlns:a16="http://schemas.microsoft.com/office/drawing/2014/main" id="{E9BBE6CF-9D5F-7A45-BADF-582C03D33AE6}"/>
                  </a:ext>
                </a:extLst>
              </p:cNvPr>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solidFill>
                <a:srgbClr val="F6C40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7" name="Freeform 5">
                <a:extLst>
                  <a:ext uri="{FF2B5EF4-FFF2-40B4-BE49-F238E27FC236}">
                    <a16:creationId xmlns:a16="http://schemas.microsoft.com/office/drawing/2014/main" id="{4AA75148-84CF-0844-9DC3-A5A612E4F4BE}"/>
                  </a:ext>
                </a:extLst>
              </p:cNvPr>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solidFill>
                <a:srgbClr val="F1E827"/>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8" name="Freeform 6">
                <a:extLst>
                  <a:ext uri="{FF2B5EF4-FFF2-40B4-BE49-F238E27FC236}">
                    <a16:creationId xmlns:a16="http://schemas.microsoft.com/office/drawing/2014/main" id="{AB607A71-F482-B646-9976-486F89F11276}"/>
                  </a:ext>
                </a:extLst>
              </p:cNvPr>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solidFill>
                <a:srgbClr val="157C5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9" name="Freeform 7">
                <a:extLst>
                  <a:ext uri="{FF2B5EF4-FFF2-40B4-BE49-F238E27FC236}">
                    <a16:creationId xmlns:a16="http://schemas.microsoft.com/office/drawing/2014/main" id="{6DA5CE31-3E42-6346-B29B-FE9FF265D7AD}"/>
                  </a:ext>
                </a:extLst>
              </p:cNvPr>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solidFill>
                <a:srgbClr val="049445"/>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0" name="Freeform 8">
                <a:extLst>
                  <a:ext uri="{FF2B5EF4-FFF2-40B4-BE49-F238E27FC236}">
                    <a16:creationId xmlns:a16="http://schemas.microsoft.com/office/drawing/2014/main" id="{CF0A24C0-A91E-F641-90F0-BC83EC452429}"/>
                  </a:ext>
                </a:extLst>
              </p:cNvPr>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solidFill>
                <a:srgbClr val="48A838"/>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1" name="Freeform 9">
                <a:extLst>
                  <a:ext uri="{FF2B5EF4-FFF2-40B4-BE49-F238E27FC236}">
                    <a16:creationId xmlns:a16="http://schemas.microsoft.com/office/drawing/2014/main" id="{310AF166-F554-F74D-AB72-E414E499E277}"/>
                  </a:ext>
                </a:extLst>
              </p:cNvPr>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solidFill>
                <a:srgbClr val="B2CE24"/>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2" name="Freeform 10">
                <a:extLst>
                  <a:ext uri="{FF2B5EF4-FFF2-40B4-BE49-F238E27FC236}">
                    <a16:creationId xmlns:a16="http://schemas.microsoft.com/office/drawing/2014/main" id="{8D3BD77D-1A93-E64A-9C17-6A3B016DF2E9}"/>
                  </a:ext>
                </a:extLst>
              </p:cNvPr>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solidFill>
                <a:srgbClr val="F1E827"/>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3" name="Freeform 11">
                <a:extLst>
                  <a:ext uri="{FF2B5EF4-FFF2-40B4-BE49-F238E27FC236}">
                    <a16:creationId xmlns:a16="http://schemas.microsoft.com/office/drawing/2014/main" id="{0D54B55E-B871-E543-9108-B4A5765745E5}"/>
                  </a:ext>
                </a:extLst>
              </p:cNvPr>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solidFill>
                <a:srgbClr val="F1E827"/>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43" name="组合 42">
              <a:extLst>
                <a:ext uri="{FF2B5EF4-FFF2-40B4-BE49-F238E27FC236}">
                  <a16:creationId xmlns:a16="http://schemas.microsoft.com/office/drawing/2014/main" id="{30A711A7-A169-8A41-85E2-EA40E3A3BB5F}"/>
                </a:ext>
              </a:extLst>
            </p:cNvPr>
            <p:cNvGrpSpPr/>
            <p:nvPr/>
          </p:nvGrpSpPr>
          <p:grpSpPr>
            <a:xfrm>
              <a:off x="2028870" y="1197389"/>
              <a:ext cx="3479247" cy="365353"/>
              <a:chOff x="2028870" y="696666"/>
              <a:chExt cx="3479247" cy="365353"/>
            </a:xfrm>
            <a:solidFill>
              <a:schemeClr val="bg1">
                <a:lumMod val="50000"/>
              </a:schemeClr>
            </a:solidFill>
          </p:grpSpPr>
          <p:sp>
            <p:nvSpPr>
              <p:cNvPr id="44" name="Freeform 12">
                <a:extLst>
                  <a:ext uri="{FF2B5EF4-FFF2-40B4-BE49-F238E27FC236}">
                    <a16:creationId xmlns:a16="http://schemas.microsoft.com/office/drawing/2014/main" id="{7E68957D-5A1D-C948-A5BC-A3888C640FE3}"/>
                  </a:ext>
                </a:extLst>
              </p:cNvPr>
              <p:cNvSpPr>
                <a:spLocks noChangeArrowheads="1"/>
              </p:cNvSpPr>
              <p:nvPr/>
            </p:nvSpPr>
            <p:spPr bwMode="auto">
              <a:xfrm>
                <a:off x="2028870" y="697395"/>
                <a:ext cx="358061" cy="363166"/>
              </a:xfrm>
              <a:custGeom>
                <a:avLst/>
                <a:gdLst>
                  <a:gd name="T0" fmla="*/ 121 w 2165"/>
                  <a:gd name="T1" fmla="*/ 758 h 2195"/>
                  <a:gd name="T2" fmla="*/ 0 w 2165"/>
                  <a:gd name="T3" fmla="*/ 758 h 2195"/>
                  <a:gd name="T4" fmla="*/ 0 w 2165"/>
                  <a:gd name="T5" fmla="*/ 582 h 2195"/>
                  <a:gd name="T6" fmla="*/ 463 w 2165"/>
                  <a:gd name="T7" fmla="*/ 582 h 2195"/>
                  <a:gd name="T8" fmla="*/ 463 w 2165"/>
                  <a:gd name="T9" fmla="*/ 1982 h 2195"/>
                  <a:gd name="T10" fmla="*/ 620 w 2165"/>
                  <a:gd name="T11" fmla="*/ 1982 h 2195"/>
                  <a:gd name="T12" fmla="*/ 620 w 2165"/>
                  <a:gd name="T13" fmla="*/ 2157 h 2195"/>
                  <a:gd name="T14" fmla="*/ 121 w 2165"/>
                  <a:gd name="T15" fmla="*/ 2157 h 2195"/>
                  <a:gd name="T16" fmla="*/ 121 w 2165"/>
                  <a:gd name="T17" fmla="*/ 758 h 2195"/>
                  <a:gd name="T18" fmla="*/ 467 w 2165"/>
                  <a:gd name="T19" fmla="*/ 51 h 2195"/>
                  <a:gd name="T20" fmla="*/ 467 w 2165"/>
                  <a:gd name="T21" fmla="*/ 462 h 2195"/>
                  <a:gd name="T22" fmla="*/ 121 w 2165"/>
                  <a:gd name="T23" fmla="*/ 462 h 2195"/>
                  <a:gd name="T24" fmla="*/ 121 w 2165"/>
                  <a:gd name="T25" fmla="*/ 51 h 2195"/>
                  <a:gd name="T26" fmla="*/ 467 w 2165"/>
                  <a:gd name="T27" fmla="*/ 51 h 2195"/>
                  <a:gd name="T28" fmla="*/ 629 w 2165"/>
                  <a:gd name="T29" fmla="*/ 906 h 2195"/>
                  <a:gd name="T30" fmla="*/ 629 w 2165"/>
                  <a:gd name="T31" fmla="*/ 730 h 2195"/>
                  <a:gd name="T32" fmla="*/ 1221 w 2165"/>
                  <a:gd name="T33" fmla="*/ 730 h 2195"/>
                  <a:gd name="T34" fmla="*/ 1221 w 2165"/>
                  <a:gd name="T35" fmla="*/ 0 h 2195"/>
                  <a:gd name="T36" fmla="*/ 1563 w 2165"/>
                  <a:gd name="T37" fmla="*/ 0 h 2195"/>
                  <a:gd name="T38" fmla="*/ 1563 w 2165"/>
                  <a:gd name="T39" fmla="*/ 730 h 2195"/>
                  <a:gd name="T40" fmla="*/ 2164 w 2165"/>
                  <a:gd name="T41" fmla="*/ 730 h 2195"/>
                  <a:gd name="T42" fmla="*/ 2164 w 2165"/>
                  <a:gd name="T43" fmla="*/ 906 h 2195"/>
                  <a:gd name="T44" fmla="*/ 1563 w 2165"/>
                  <a:gd name="T45" fmla="*/ 906 h 2195"/>
                  <a:gd name="T46" fmla="*/ 1563 w 2165"/>
                  <a:gd name="T47" fmla="*/ 2194 h 2195"/>
                  <a:gd name="T48" fmla="*/ 1221 w 2165"/>
                  <a:gd name="T49" fmla="*/ 2194 h 2195"/>
                  <a:gd name="T50" fmla="*/ 1221 w 2165"/>
                  <a:gd name="T51" fmla="*/ 906 h 2195"/>
                  <a:gd name="T52" fmla="*/ 629 w 2165"/>
                  <a:gd name="T53" fmla="*/ 906 h 2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165" h="2195">
                    <a:moveTo>
                      <a:pt x="121" y="758"/>
                    </a:moveTo>
                    <a:lnTo>
                      <a:pt x="0" y="758"/>
                    </a:lnTo>
                    <a:lnTo>
                      <a:pt x="0" y="582"/>
                    </a:lnTo>
                    <a:lnTo>
                      <a:pt x="463" y="582"/>
                    </a:lnTo>
                    <a:lnTo>
                      <a:pt x="463" y="1982"/>
                    </a:lnTo>
                    <a:lnTo>
                      <a:pt x="620" y="1982"/>
                    </a:lnTo>
                    <a:lnTo>
                      <a:pt x="620" y="2157"/>
                    </a:lnTo>
                    <a:lnTo>
                      <a:pt x="121" y="2157"/>
                    </a:lnTo>
                    <a:lnTo>
                      <a:pt x="121" y="758"/>
                    </a:lnTo>
                    <a:close/>
                    <a:moveTo>
                      <a:pt x="467" y="51"/>
                    </a:moveTo>
                    <a:lnTo>
                      <a:pt x="467" y="462"/>
                    </a:lnTo>
                    <a:lnTo>
                      <a:pt x="121" y="462"/>
                    </a:lnTo>
                    <a:lnTo>
                      <a:pt x="121" y="51"/>
                    </a:lnTo>
                    <a:lnTo>
                      <a:pt x="467" y="51"/>
                    </a:lnTo>
                    <a:close/>
                    <a:moveTo>
                      <a:pt x="629" y="906"/>
                    </a:moveTo>
                    <a:lnTo>
                      <a:pt x="629" y="730"/>
                    </a:lnTo>
                    <a:lnTo>
                      <a:pt x="1221" y="730"/>
                    </a:lnTo>
                    <a:lnTo>
                      <a:pt x="1221" y="0"/>
                    </a:lnTo>
                    <a:lnTo>
                      <a:pt x="1563" y="0"/>
                    </a:lnTo>
                    <a:lnTo>
                      <a:pt x="1563" y="730"/>
                    </a:lnTo>
                    <a:lnTo>
                      <a:pt x="2164" y="730"/>
                    </a:lnTo>
                    <a:lnTo>
                      <a:pt x="2164" y="906"/>
                    </a:lnTo>
                    <a:lnTo>
                      <a:pt x="1563" y="906"/>
                    </a:lnTo>
                    <a:lnTo>
                      <a:pt x="1563" y="2194"/>
                    </a:lnTo>
                    <a:lnTo>
                      <a:pt x="1221" y="2194"/>
                    </a:lnTo>
                    <a:lnTo>
                      <a:pt x="1221" y="906"/>
                    </a:lnTo>
                    <a:lnTo>
                      <a:pt x="629" y="906"/>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 name="Freeform 13">
                <a:extLst>
                  <a:ext uri="{FF2B5EF4-FFF2-40B4-BE49-F238E27FC236}">
                    <a16:creationId xmlns:a16="http://schemas.microsoft.com/office/drawing/2014/main" id="{01D55A2B-04CF-B043-87D1-43B606D23BFB}"/>
                  </a:ext>
                </a:extLst>
              </p:cNvPr>
              <p:cNvSpPr>
                <a:spLocks noChangeArrowheads="1"/>
              </p:cNvSpPr>
              <p:nvPr/>
            </p:nvSpPr>
            <p:spPr bwMode="auto">
              <a:xfrm>
                <a:off x="2417559" y="696666"/>
                <a:ext cx="357332" cy="364625"/>
              </a:xfrm>
              <a:custGeom>
                <a:avLst/>
                <a:gdLst>
                  <a:gd name="T0" fmla="*/ 583 w 2161"/>
                  <a:gd name="T1" fmla="*/ 379 h 2205"/>
                  <a:gd name="T2" fmla="*/ 458 w 2161"/>
                  <a:gd name="T3" fmla="*/ 287 h 2205"/>
                  <a:gd name="T4" fmla="*/ 0 w 2161"/>
                  <a:gd name="T5" fmla="*/ 379 h 2205"/>
                  <a:gd name="T6" fmla="*/ 662 w 2161"/>
                  <a:gd name="T7" fmla="*/ 0 h 2205"/>
                  <a:gd name="T8" fmla="*/ 1087 w 2161"/>
                  <a:gd name="T9" fmla="*/ 111 h 2205"/>
                  <a:gd name="T10" fmla="*/ 916 w 2161"/>
                  <a:gd name="T11" fmla="*/ 287 h 2205"/>
                  <a:gd name="T12" fmla="*/ 675 w 2161"/>
                  <a:gd name="T13" fmla="*/ 1691 h 2205"/>
                  <a:gd name="T14" fmla="*/ 1545 w 2161"/>
                  <a:gd name="T15" fmla="*/ 1811 h 2205"/>
                  <a:gd name="T16" fmla="*/ 1887 w 2161"/>
                  <a:gd name="T17" fmla="*/ 1691 h 2205"/>
                  <a:gd name="T18" fmla="*/ 2150 w 2161"/>
                  <a:gd name="T19" fmla="*/ 1811 h 2205"/>
                  <a:gd name="T20" fmla="*/ 1887 w 2161"/>
                  <a:gd name="T21" fmla="*/ 1987 h 2205"/>
                  <a:gd name="T22" fmla="*/ 1545 w 2161"/>
                  <a:gd name="T23" fmla="*/ 2204 h 2205"/>
                  <a:gd name="T24" fmla="*/ 652 w 2161"/>
                  <a:gd name="T25" fmla="*/ 1987 h 2205"/>
                  <a:gd name="T26" fmla="*/ 144 w 2161"/>
                  <a:gd name="T27" fmla="*/ 2204 h 2205"/>
                  <a:gd name="T28" fmla="*/ 47 w 2161"/>
                  <a:gd name="T29" fmla="*/ 1987 h 2205"/>
                  <a:gd name="T30" fmla="*/ 333 w 2161"/>
                  <a:gd name="T31" fmla="*/ 1811 h 2205"/>
                  <a:gd name="T32" fmla="*/ 675 w 2161"/>
                  <a:gd name="T33" fmla="*/ 1691 h 2205"/>
                  <a:gd name="T34" fmla="*/ 2100 w 2161"/>
                  <a:gd name="T35" fmla="*/ 448 h 2205"/>
                  <a:gd name="T36" fmla="*/ 102 w 2161"/>
                  <a:gd name="T37" fmla="*/ 1622 h 2205"/>
                  <a:gd name="T38" fmla="*/ 444 w 2161"/>
                  <a:gd name="T39" fmla="*/ 781 h 2205"/>
                  <a:gd name="T40" fmla="*/ 1757 w 2161"/>
                  <a:gd name="T41" fmla="*/ 624 h 2205"/>
                  <a:gd name="T42" fmla="*/ 444 w 2161"/>
                  <a:gd name="T43" fmla="*/ 781 h 2205"/>
                  <a:gd name="T44" fmla="*/ 1757 w 2161"/>
                  <a:gd name="T45" fmla="*/ 1114 h 2205"/>
                  <a:gd name="T46" fmla="*/ 444 w 2161"/>
                  <a:gd name="T47" fmla="*/ 957 h 2205"/>
                  <a:gd name="T48" fmla="*/ 1757 w 2161"/>
                  <a:gd name="T49" fmla="*/ 1289 h 2205"/>
                  <a:gd name="T50" fmla="*/ 444 w 2161"/>
                  <a:gd name="T51" fmla="*/ 1446 h 2205"/>
                  <a:gd name="T52" fmla="*/ 1757 w 2161"/>
                  <a:gd name="T53" fmla="*/ 1289 h 2205"/>
                  <a:gd name="T54" fmla="*/ 1041 w 2161"/>
                  <a:gd name="T55" fmla="*/ 379 h 2205"/>
                  <a:gd name="T56" fmla="*/ 1688 w 2161"/>
                  <a:gd name="T57" fmla="*/ 0 h 2205"/>
                  <a:gd name="T58" fmla="*/ 2160 w 2161"/>
                  <a:gd name="T59" fmla="*/ 111 h 2205"/>
                  <a:gd name="T60" fmla="*/ 1998 w 2161"/>
                  <a:gd name="T61" fmla="*/ 287 h 2205"/>
                  <a:gd name="T62" fmla="*/ 1646 w 2161"/>
                  <a:gd name="T63" fmla="*/ 379 h 2205"/>
                  <a:gd name="T64" fmla="*/ 1508 w 2161"/>
                  <a:gd name="T65" fmla="*/ 287 h 2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161" h="2205">
                    <a:moveTo>
                      <a:pt x="990" y="379"/>
                    </a:moveTo>
                    <a:lnTo>
                      <a:pt x="583" y="379"/>
                    </a:lnTo>
                    <a:lnTo>
                      <a:pt x="509" y="287"/>
                    </a:lnTo>
                    <a:lnTo>
                      <a:pt x="458" y="287"/>
                    </a:lnTo>
                    <a:lnTo>
                      <a:pt x="389" y="379"/>
                    </a:lnTo>
                    <a:lnTo>
                      <a:pt x="0" y="379"/>
                    </a:lnTo>
                    <a:lnTo>
                      <a:pt x="273" y="0"/>
                    </a:lnTo>
                    <a:lnTo>
                      <a:pt x="662" y="0"/>
                    </a:lnTo>
                    <a:lnTo>
                      <a:pt x="592" y="111"/>
                    </a:lnTo>
                    <a:lnTo>
                      <a:pt x="1087" y="111"/>
                    </a:lnTo>
                    <a:lnTo>
                      <a:pt x="1087" y="287"/>
                    </a:lnTo>
                    <a:lnTo>
                      <a:pt x="916" y="287"/>
                    </a:lnTo>
                    <a:lnTo>
                      <a:pt x="990" y="379"/>
                    </a:lnTo>
                    <a:close/>
                    <a:moveTo>
                      <a:pt x="675" y="1691"/>
                    </a:moveTo>
                    <a:lnTo>
                      <a:pt x="675" y="1811"/>
                    </a:lnTo>
                    <a:lnTo>
                      <a:pt x="1545" y="1811"/>
                    </a:lnTo>
                    <a:lnTo>
                      <a:pt x="1545" y="1691"/>
                    </a:lnTo>
                    <a:lnTo>
                      <a:pt x="1887" y="1691"/>
                    </a:lnTo>
                    <a:lnTo>
                      <a:pt x="1887" y="1811"/>
                    </a:lnTo>
                    <a:lnTo>
                      <a:pt x="2150" y="1811"/>
                    </a:lnTo>
                    <a:lnTo>
                      <a:pt x="2150" y="1987"/>
                    </a:lnTo>
                    <a:lnTo>
                      <a:pt x="1887" y="1987"/>
                    </a:lnTo>
                    <a:lnTo>
                      <a:pt x="1887" y="2204"/>
                    </a:lnTo>
                    <a:lnTo>
                      <a:pt x="1545" y="2204"/>
                    </a:lnTo>
                    <a:lnTo>
                      <a:pt x="1545" y="1987"/>
                    </a:lnTo>
                    <a:lnTo>
                      <a:pt x="652" y="1987"/>
                    </a:lnTo>
                    <a:lnTo>
                      <a:pt x="527" y="2204"/>
                    </a:lnTo>
                    <a:lnTo>
                      <a:pt x="144" y="2204"/>
                    </a:lnTo>
                    <a:lnTo>
                      <a:pt x="282" y="1987"/>
                    </a:lnTo>
                    <a:lnTo>
                      <a:pt x="47" y="1987"/>
                    </a:lnTo>
                    <a:lnTo>
                      <a:pt x="47" y="1811"/>
                    </a:lnTo>
                    <a:lnTo>
                      <a:pt x="333" y="1811"/>
                    </a:lnTo>
                    <a:lnTo>
                      <a:pt x="333" y="1691"/>
                    </a:lnTo>
                    <a:lnTo>
                      <a:pt x="675" y="1691"/>
                    </a:lnTo>
                    <a:close/>
                    <a:moveTo>
                      <a:pt x="102" y="448"/>
                    </a:moveTo>
                    <a:lnTo>
                      <a:pt x="2100" y="448"/>
                    </a:lnTo>
                    <a:lnTo>
                      <a:pt x="2100" y="1622"/>
                    </a:lnTo>
                    <a:lnTo>
                      <a:pt x="102" y="1622"/>
                    </a:lnTo>
                    <a:lnTo>
                      <a:pt x="102" y="448"/>
                    </a:lnTo>
                    <a:close/>
                    <a:moveTo>
                      <a:pt x="444" y="781"/>
                    </a:moveTo>
                    <a:lnTo>
                      <a:pt x="1757" y="781"/>
                    </a:lnTo>
                    <a:lnTo>
                      <a:pt x="1757" y="624"/>
                    </a:lnTo>
                    <a:lnTo>
                      <a:pt x="444" y="624"/>
                    </a:lnTo>
                    <a:lnTo>
                      <a:pt x="444" y="781"/>
                    </a:lnTo>
                    <a:close/>
                    <a:moveTo>
                      <a:pt x="444" y="1114"/>
                    </a:moveTo>
                    <a:lnTo>
                      <a:pt x="1757" y="1114"/>
                    </a:lnTo>
                    <a:lnTo>
                      <a:pt x="1757" y="957"/>
                    </a:lnTo>
                    <a:lnTo>
                      <a:pt x="444" y="957"/>
                    </a:lnTo>
                    <a:lnTo>
                      <a:pt x="444" y="1114"/>
                    </a:lnTo>
                    <a:close/>
                    <a:moveTo>
                      <a:pt x="1757" y="1289"/>
                    </a:moveTo>
                    <a:lnTo>
                      <a:pt x="444" y="1289"/>
                    </a:lnTo>
                    <a:lnTo>
                      <a:pt x="444" y="1446"/>
                    </a:lnTo>
                    <a:lnTo>
                      <a:pt x="1757" y="1446"/>
                    </a:lnTo>
                    <a:lnTo>
                      <a:pt x="1757" y="1289"/>
                    </a:lnTo>
                    <a:close/>
                    <a:moveTo>
                      <a:pt x="1434" y="379"/>
                    </a:moveTo>
                    <a:lnTo>
                      <a:pt x="1041" y="379"/>
                    </a:lnTo>
                    <a:lnTo>
                      <a:pt x="1313" y="0"/>
                    </a:lnTo>
                    <a:lnTo>
                      <a:pt x="1688" y="0"/>
                    </a:lnTo>
                    <a:lnTo>
                      <a:pt x="1609" y="111"/>
                    </a:lnTo>
                    <a:lnTo>
                      <a:pt x="2160" y="111"/>
                    </a:lnTo>
                    <a:lnTo>
                      <a:pt x="2160" y="287"/>
                    </a:lnTo>
                    <a:lnTo>
                      <a:pt x="1998" y="287"/>
                    </a:lnTo>
                    <a:lnTo>
                      <a:pt x="2072" y="379"/>
                    </a:lnTo>
                    <a:lnTo>
                      <a:pt x="1646" y="379"/>
                    </a:lnTo>
                    <a:lnTo>
                      <a:pt x="1572" y="287"/>
                    </a:lnTo>
                    <a:lnTo>
                      <a:pt x="1508" y="287"/>
                    </a:lnTo>
                    <a:lnTo>
                      <a:pt x="1434" y="379"/>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6" name="Freeform 14">
                <a:extLst>
                  <a:ext uri="{FF2B5EF4-FFF2-40B4-BE49-F238E27FC236}">
                    <a16:creationId xmlns:a16="http://schemas.microsoft.com/office/drawing/2014/main" id="{FF056158-A321-8F40-B663-2CF3304CA5ED}"/>
                  </a:ext>
                </a:extLst>
              </p:cNvPr>
              <p:cNvSpPr>
                <a:spLocks noChangeArrowheads="1"/>
              </p:cNvSpPr>
              <p:nvPr/>
            </p:nvSpPr>
            <p:spPr bwMode="auto">
              <a:xfrm>
                <a:off x="2810625" y="696666"/>
                <a:ext cx="363895" cy="364625"/>
              </a:xfrm>
              <a:custGeom>
                <a:avLst/>
                <a:gdLst>
                  <a:gd name="T0" fmla="*/ 0 w 2202"/>
                  <a:gd name="T1" fmla="*/ 2019 h 2205"/>
                  <a:gd name="T2" fmla="*/ 74 w 2202"/>
                  <a:gd name="T3" fmla="*/ 661 h 2205"/>
                  <a:gd name="T4" fmla="*/ 310 w 2202"/>
                  <a:gd name="T5" fmla="*/ 661 h 2205"/>
                  <a:gd name="T6" fmla="*/ 231 w 2202"/>
                  <a:gd name="T7" fmla="*/ 2019 h 2205"/>
                  <a:gd name="T8" fmla="*/ 0 w 2202"/>
                  <a:gd name="T9" fmla="*/ 2019 h 2205"/>
                  <a:gd name="T10" fmla="*/ 939 w 2202"/>
                  <a:gd name="T11" fmla="*/ 439 h 2205"/>
                  <a:gd name="T12" fmla="*/ 684 w 2202"/>
                  <a:gd name="T13" fmla="*/ 439 h 2205"/>
                  <a:gd name="T14" fmla="*/ 684 w 2202"/>
                  <a:gd name="T15" fmla="*/ 2204 h 2205"/>
                  <a:gd name="T16" fmla="*/ 361 w 2202"/>
                  <a:gd name="T17" fmla="*/ 2204 h 2205"/>
                  <a:gd name="T18" fmla="*/ 361 w 2202"/>
                  <a:gd name="T19" fmla="*/ 439 h 2205"/>
                  <a:gd name="T20" fmla="*/ 28 w 2202"/>
                  <a:gd name="T21" fmla="*/ 439 h 2205"/>
                  <a:gd name="T22" fmla="*/ 28 w 2202"/>
                  <a:gd name="T23" fmla="*/ 264 h 2205"/>
                  <a:gd name="T24" fmla="*/ 361 w 2202"/>
                  <a:gd name="T25" fmla="*/ 264 h 2205"/>
                  <a:gd name="T26" fmla="*/ 361 w 2202"/>
                  <a:gd name="T27" fmla="*/ 0 h 2205"/>
                  <a:gd name="T28" fmla="*/ 684 w 2202"/>
                  <a:gd name="T29" fmla="*/ 0 h 2205"/>
                  <a:gd name="T30" fmla="*/ 684 w 2202"/>
                  <a:gd name="T31" fmla="*/ 264 h 2205"/>
                  <a:gd name="T32" fmla="*/ 939 w 2202"/>
                  <a:gd name="T33" fmla="*/ 264 h 2205"/>
                  <a:gd name="T34" fmla="*/ 939 w 2202"/>
                  <a:gd name="T35" fmla="*/ 439 h 2205"/>
                  <a:gd name="T36" fmla="*/ 939 w 2202"/>
                  <a:gd name="T37" fmla="*/ 661 h 2205"/>
                  <a:gd name="T38" fmla="*/ 939 w 2202"/>
                  <a:gd name="T39" fmla="*/ 1686 h 2205"/>
                  <a:gd name="T40" fmla="*/ 735 w 2202"/>
                  <a:gd name="T41" fmla="*/ 1686 h 2205"/>
                  <a:gd name="T42" fmla="*/ 735 w 2202"/>
                  <a:gd name="T43" fmla="*/ 661 h 2205"/>
                  <a:gd name="T44" fmla="*/ 939 w 2202"/>
                  <a:gd name="T45" fmla="*/ 661 h 2205"/>
                  <a:gd name="T46" fmla="*/ 1022 w 2202"/>
                  <a:gd name="T47" fmla="*/ 1594 h 2205"/>
                  <a:gd name="T48" fmla="*/ 1022 w 2202"/>
                  <a:gd name="T49" fmla="*/ 42 h 2205"/>
                  <a:gd name="T50" fmla="*/ 1988 w 2202"/>
                  <a:gd name="T51" fmla="*/ 42 h 2205"/>
                  <a:gd name="T52" fmla="*/ 1988 w 2202"/>
                  <a:gd name="T53" fmla="*/ 2033 h 2205"/>
                  <a:gd name="T54" fmla="*/ 2201 w 2202"/>
                  <a:gd name="T55" fmla="*/ 2033 h 2205"/>
                  <a:gd name="T56" fmla="*/ 2201 w 2202"/>
                  <a:gd name="T57" fmla="*/ 2204 h 2205"/>
                  <a:gd name="T58" fmla="*/ 1665 w 2202"/>
                  <a:gd name="T59" fmla="*/ 2204 h 2205"/>
                  <a:gd name="T60" fmla="*/ 1665 w 2202"/>
                  <a:gd name="T61" fmla="*/ 217 h 2205"/>
                  <a:gd name="T62" fmla="*/ 1355 w 2202"/>
                  <a:gd name="T63" fmla="*/ 217 h 2205"/>
                  <a:gd name="T64" fmla="*/ 1355 w 2202"/>
                  <a:gd name="T65" fmla="*/ 1668 h 2205"/>
                  <a:gd name="T66" fmla="*/ 1198 w 2202"/>
                  <a:gd name="T67" fmla="*/ 2204 h 2205"/>
                  <a:gd name="T68" fmla="*/ 851 w 2202"/>
                  <a:gd name="T69" fmla="*/ 2204 h 2205"/>
                  <a:gd name="T70" fmla="*/ 1022 w 2202"/>
                  <a:gd name="T71" fmla="*/ 1594 h 2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202" h="2205">
                    <a:moveTo>
                      <a:pt x="0" y="2019"/>
                    </a:moveTo>
                    <a:lnTo>
                      <a:pt x="74" y="661"/>
                    </a:lnTo>
                    <a:lnTo>
                      <a:pt x="310" y="661"/>
                    </a:lnTo>
                    <a:lnTo>
                      <a:pt x="231" y="2019"/>
                    </a:lnTo>
                    <a:lnTo>
                      <a:pt x="0" y="2019"/>
                    </a:lnTo>
                    <a:close/>
                    <a:moveTo>
                      <a:pt x="939" y="439"/>
                    </a:moveTo>
                    <a:lnTo>
                      <a:pt x="684" y="439"/>
                    </a:lnTo>
                    <a:lnTo>
                      <a:pt x="684" y="2204"/>
                    </a:lnTo>
                    <a:lnTo>
                      <a:pt x="361" y="2204"/>
                    </a:lnTo>
                    <a:lnTo>
                      <a:pt x="361" y="439"/>
                    </a:lnTo>
                    <a:lnTo>
                      <a:pt x="28" y="439"/>
                    </a:lnTo>
                    <a:lnTo>
                      <a:pt x="28" y="264"/>
                    </a:lnTo>
                    <a:lnTo>
                      <a:pt x="361" y="264"/>
                    </a:lnTo>
                    <a:lnTo>
                      <a:pt x="361" y="0"/>
                    </a:lnTo>
                    <a:lnTo>
                      <a:pt x="684" y="0"/>
                    </a:lnTo>
                    <a:lnTo>
                      <a:pt x="684" y="264"/>
                    </a:lnTo>
                    <a:lnTo>
                      <a:pt x="939" y="264"/>
                    </a:lnTo>
                    <a:lnTo>
                      <a:pt x="939" y="439"/>
                    </a:lnTo>
                    <a:close/>
                    <a:moveTo>
                      <a:pt x="939" y="661"/>
                    </a:moveTo>
                    <a:lnTo>
                      <a:pt x="939" y="1686"/>
                    </a:lnTo>
                    <a:lnTo>
                      <a:pt x="735" y="1686"/>
                    </a:lnTo>
                    <a:lnTo>
                      <a:pt x="735" y="661"/>
                    </a:lnTo>
                    <a:lnTo>
                      <a:pt x="939" y="661"/>
                    </a:lnTo>
                    <a:close/>
                    <a:moveTo>
                      <a:pt x="1022" y="1594"/>
                    </a:moveTo>
                    <a:lnTo>
                      <a:pt x="1022" y="42"/>
                    </a:lnTo>
                    <a:lnTo>
                      <a:pt x="1988" y="42"/>
                    </a:lnTo>
                    <a:lnTo>
                      <a:pt x="1988" y="2033"/>
                    </a:lnTo>
                    <a:lnTo>
                      <a:pt x="2201" y="2033"/>
                    </a:lnTo>
                    <a:lnTo>
                      <a:pt x="2201" y="2204"/>
                    </a:lnTo>
                    <a:lnTo>
                      <a:pt x="1665" y="2204"/>
                    </a:lnTo>
                    <a:lnTo>
                      <a:pt x="1665" y="217"/>
                    </a:lnTo>
                    <a:lnTo>
                      <a:pt x="1355" y="217"/>
                    </a:lnTo>
                    <a:lnTo>
                      <a:pt x="1355" y="1668"/>
                    </a:lnTo>
                    <a:lnTo>
                      <a:pt x="1198" y="2204"/>
                    </a:lnTo>
                    <a:lnTo>
                      <a:pt x="851" y="2204"/>
                    </a:lnTo>
                    <a:lnTo>
                      <a:pt x="1022" y="1594"/>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7" name="Freeform 15">
                <a:extLst>
                  <a:ext uri="{FF2B5EF4-FFF2-40B4-BE49-F238E27FC236}">
                    <a16:creationId xmlns:a16="http://schemas.microsoft.com/office/drawing/2014/main" id="{9C184C5C-D7DA-A74D-B56E-C97972D2E6C1}"/>
                  </a:ext>
                </a:extLst>
              </p:cNvPr>
              <p:cNvSpPr>
                <a:spLocks noChangeArrowheads="1"/>
              </p:cNvSpPr>
              <p:nvPr/>
            </p:nvSpPr>
            <p:spPr bwMode="auto">
              <a:xfrm>
                <a:off x="3212441" y="703958"/>
                <a:ext cx="339830" cy="358061"/>
              </a:xfrm>
              <a:custGeom>
                <a:avLst/>
                <a:gdLst>
                  <a:gd name="T0" fmla="*/ 1747 w 2053"/>
                  <a:gd name="T1" fmla="*/ 1982 h 2163"/>
                  <a:gd name="T2" fmla="*/ 1747 w 2053"/>
                  <a:gd name="T3" fmla="*/ 175 h 2163"/>
                  <a:gd name="T4" fmla="*/ 305 w 2053"/>
                  <a:gd name="T5" fmla="*/ 175 h 2163"/>
                  <a:gd name="T6" fmla="*/ 305 w 2053"/>
                  <a:gd name="T7" fmla="*/ 2162 h 2163"/>
                  <a:gd name="T8" fmla="*/ 0 w 2053"/>
                  <a:gd name="T9" fmla="*/ 2162 h 2163"/>
                  <a:gd name="T10" fmla="*/ 0 w 2053"/>
                  <a:gd name="T11" fmla="*/ 0 h 2163"/>
                  <a:gd name="T12" fmla="*/ 2052 w 2053"/>
                  <a:gd name="T13" fmla="*/ 0 h 2163"/>
                  <a:gd name="T14" fmla="*/ 2052 w 2053"/>
                  <a:gd name="T15" fmla="*/ 2162 h 2163"/>
                  <a:gd name="T16" fmla="*/ 1590 w 2053"/>
                  <a:gd name="T17" fmla="*/ 2162 h 2163"/>
                  <a:gd name="T18" fmla="*/ 1590 w 2053"/>
                  <a:gd name="T19" fmla="*/ 1982 h 2163"/>
                  <a:gd name="T20" fmla="*/ 1747 w 2053"/>
                  <a:gd name="T21" fmla="*/ 1982 h 2163"/>
                  <a:gd name="T22" fmla="*/ 791 w 2053"/>
                  <a:gd name="T23" fmla="*/ 1127 h 2163"/>
                  <a:gd name="T24" fmla="*/ 1017 w 2053"/>
                  <a:gd name="T25" fmla="*/ 1843 h 2163"/>
                  <a:gd name="T26" fmla="*/ 786 w 2053"/>
                  <a:gd name="T27" fmla="*/ 1843 h 2163"/>
                  <a:gd name="T28" fmla="*/ 680 w 2053"/>
                  <a:gd name="T29" fmla="*/ 1501 h 2163"/>
                  <a:gd name="T30" fmla="*/ 573 w 2053"/>
                  <a:gd name="T31" fmla="*/ 1843 h 2163"/>
                  <a:gd name="T32" fmla="*/ 347 w 2053"/>
                  <a:gd name="T33" fmla="*/ 1843 h 2163"/>
                  <a:gd name="T34" fmla="*/ 564 w 2053"/>
                  <a:gd name="T35" fmla="*/ 1136 h 2163"/>
                  <a:gd name="T36" fmla="*/ 338 w 2053"/>
                  <a:gd name="T37" fmla="*/ 430 h 2163"/>
                  <a:gd name="T38" fmla="*/ 569 w 2053"/>
                  <a:gd name="T39" fmla="*/ 430 h 2163"/>
                  <a:gd name="T40" fmla="*/ 675 w 2053"/>
                  <a:gd name="T41" fmla="*/ 767 h 2163"/>
                  <a:gd name="T42" fmla="*/ 777 w 2053"/>
                  <a:gd name="T43" fmla="*/ 430 h 2163"/>
                  <a:gd name="T44" fmla="*/ 1003 w 2053"/>
                  <a:gd name="T45" fmla="*/ 430 h 2163"/>
                  <a:gd name="T46" fmla="*/ 791 w 2053"/>
                  <a:gd name="T47" fmla="*/ 1127 h 2163"/>
                  <a:gd name="T48" fmla="*/ 1503 w 2053"/>
                  <a:gd name="T49" fmla="*/ 1127 h 2163"/>
                  <a:gd name="T50" fmla="*/ 1728 w 2053"/>
                  <a:gd name="T51" fmla="*/ 1843 h 2163"/>
                  <a:gd name="T52" fmla="*/ 1498 w 2053"/>
                  <a:gd name="T53" fmla="*/ 1843 h 2163"/>
                  <a:gd name="T54" fmla="*/ 1392 w 2053"/>
                  <a:gd name="T55" fmla="*/ 1501 h 2163"/>
                  <a:gd name="T56" fmla="*/ 1286 w 2053"/>
                  <a:gd name="T57" fmla="*/ 1843 h 2163"/>
                  <a:gd name="T58" fmla="*/ 1059 w 2053"/>
                  <a:gd name="T59" fmla="*/ 1843 h 2163"/>
                  <a:gd name="T60" fmla="*/ 1276 w 2053"/>
                  <a:gd name="T61" fmla="*/ 1136 h 2163"/>
                  <a:gd name="T62" fmla="*/ 1050 w 2053"/>
                  <a:gd name="T63" fmla="*/ 430 h 2163"/>
                  <a:gd name="T64" fmla="*/ 1281 w 2053"/>
                  <a:gd name="T65" fmla="*/ 430 h 2163"/>
                  <a:gd name="T66" fmla="*/ 1387 w 2053"/>
                  <a:gd name="T67" fmla="*/ 767 h 2163"/>
                  <a:gd name="T68" fmla="*/ 1489 w 2053"/>
                  <a:gd name="T69" fmla="*/ 430 h 2163"/>
                  <a:gd name="T70" fmla="*/ 1715 w 2053"/>
                  <a:gd name="T71" fmla="*/ 430 h 2163"/>
                  <a:gd name="T72" fmla="*/ 1503 w 2053"/>
                  <a:gd name="T73" fmla="*/ 1127 h 2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053" h="2163">
                    <a:moveTo>
                      <a:pt x="1747" y="1982"/>
                    </a:moveTo>
                    <a:lnTo>
                      <a:pt x="1747" y="175"/>
                    </a:lnTo>
                    <a:lnTo>
                      <a:pt x="305" y="175"/>
                    </a:lnTo>
                    <a:lnTo>
                      <a:pt x="305" y="2162"/>
                    </a:lnTo>
                    <a:lnTo>
                      <a:pt x="0" y="2162"/>
                    </a:lnTo>
                    <a:lnTo>
                      <a:pt x="0" y="0"/>
                    </a:lnTo>
                    <a:lnTo>
                      <a:pt x="2052" y="0"/>
                    </a:lnTo>
                    <a:lnTo>
                      <a:pt x="2052" y="2162"/>
                    </a:lnTo>
                    <a:lnTo>
                      <a:pt x="1590" y="2162"/>
                    </a:lnTo>
                    <a:lnTo>
                      <a:pt x="1590" y="1982"/>
                    </a:lnTo>
                    <a:lnTo>
                      <a:pt x="1747" y="1982"/>
                    </a:lnTo>
                    <a:close/>
                    <a:moveTo>
                      <a:pt x="791" y="1127"/>
                    </a:moveTo>
                    <a:lnTo>
                      <a:pt x="1017" y="1843"/>
                    </a:lnTo>
                    <a:lnTo>
                      <a:pt x="786" y="1843"/>
                    </a:lnTo>
                    <a:lnTo>
                      <a:pt x="680" y="1501"/>
                    </a:lnTo>
                    <a:lnTo>
                      <a:pt x="573" y="1843"/>
                    </a:lnTo>
                    <a:lnTo>
                      <a:pt x="347" y="1843"/>
                    </a:lnTo>
                    <a:lnTo>
                      <a:pt x="564" y="1136"/>
                    </a:lnTo>
                    <a:lnTo>
                      <a:pt x="338" y="430"/>
                    </a:lnTo>
                    <a:lnTo>
                      <a:pt x="569" y="430"/>
                    </a:lnTo>
                    <a:lnTo>
                      <a:pt x="675" y="767"/>
                    </a:lnTo>
                    <a:lnTo>
                      <a:pt x="777" y="430"/>
                    </a:lnTo>
                    <a:lnTo>
                      <a:pt x="1003" y="430"/>
                    </a:lnTo>
                    <a:lnTo>
                      <a:pt x="791" y="1127"/>
                    </a:lnTo>
                    <a:close/>
                    <a:moveTo>
                      <a:pt x="1503" y="1127"/>
                    </a:moveTo>
                    <a:lnTo>
                      <a:pt x="1728" y="1843"/>
                    </a:lnTo>
                    <a:lnTo>
                      <a:pt x="1498" y="1843"/>
                    </a:lnTo>
                    <a:lnTo>
                      <a:pt x="1392" y="1501"/>
                    </a:lnTo>
                    <a:lnTo>
                      <a:pt x="1286" y="1843"/>
                    </a:lnTo>
                    <a:lnTo>
                      <a:pt x="1059" y="1843"/>
                    </a:lnTo>
                    <a:lnTo>
                      <a:pt x="1276" y="1136"/>
                    </a:lnTo>
                    <a:lnTo>
                      <a:pt x="1050" y="430"/>
                    </a:lnTo>
                    <a:lnTo>
                      <a:pt x="1281" y="430"/>
                    </a:lnTo>
                    <a:lnTo>
                      <a:pt x="1387" y="767"/>
                    </a:lnTo>
                    <a:lnTo>
                      <a:pt x="1489" y="430"/>
                    </a:lnTo>
                    <a:lnTo>
                      <a:pt x="1715" y="430"/>
                    </a:lnTo>
                    <a:lnTo>
                      <a:pt x="1503" y="1127"/>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8" name="Freeform 16">
                <a:extLst>
                  <a:ext uri="{FF2B5EF4-FFF2-40B4-BE49-F238E27FC236}">
                    <a16:creationId xmlns:a16="http://schemas.microsoft.com/office/drawing/2014/main" id="{177BD5B8-6ED6-AF44-A4E9-AC0F5ADBB26A}"/>
                  </a:ext>
                </a:extLst>
              </p:cNvPr>
              <p:cNvSpPr>
                <a:spLocks noChangeArrowheads="1"/>
              </p:cNvSpPr>
              <p:nvPr/>
            </p:nvSpPr>
            <p:spPr bwMode="auto">
              <a:xfrm>
                <a:off x="3581441" y="696666"/>
                <a:ext cx="375564" cy="362437"/>
              </a:xfrm>
              <a:custGeom>
                <a:avLst/>
                <a:gdLst>
                  <a:gd name="T0" fmla="*/ 315 w 2272"/>
                  <a:gd name="T1" fmla="*/ 957 h 2191"/>
                  <a:gd name="T2" fmla="*/ 0 w 2272"/>
                  <a:gd name="T3" fmla="*/ 957 h 2191"/>
                  <a:gd name="T4" fmla="*/ 361 w 2272"/>
                  <a:gd name="T5" fmla="*/ 5 h 2191"/>
                  <a:gd name="T6" fmla="*/ 675 w 2272"/>
                  <a:gd name="T7" fmla="*/ 5 h 2191"/>
                  <a:gd name="T8" fmla="*/ 380 w 2272"/>
                  <a:gd name="T9" fmla="*/ 767 h 2191"/>
                  <a:gd name="T10" fmla="*/ 453 w 2272"/>
                  <a:gd name="T11" fmla="*/ 767 h 2191"/>
                  <a:gd name="T12" fmla="*/ 509 w 2272"/>
                  <a:gd name="T13" fmla="*/ 647 h 2191"/>
                  <a:gd name="T14" fmla="*/ 823 w 2272"/>
                  <a:gd name="T15" fmla="*/ 647 h 2191"/>
                  <a:gd name="T16" fmla="*/ 463 w 2272"/>
                  <a:gd name="T17" fmla="*/ 1492 h 2191"/>
                  <a:gd name="T18" fmla="*/ 754 w 2272"/>
                  <a:gd name="T19" fmla="*/ 1492 h 2191"/>
                  <a:gd name="T20" fmla="*/ 754 w 2272"/>
                  <a:gd name="T21" fmla="*/ 1677 h 2191"/>
                  <a:gd name="T22" fmla="*/ 366 w 2272"/>
                  <a:gd name="T23" fmla="*/ 1677 h 2191"/>
                  <a:gd name="T24" fmla="*/ 65 w 2272"/>
                  <a:gd name="T25" fmla="*/ 1677 h 2191"/>
                  <a:gd name="T26" fmla="*/ 375 w 2272"/>
                  <a:gd name="T27" fmla="*/ 957 h 2191"/>
                  <a:gd name="T28" fmla="*/ 315 w 2272"/>
                  <a:gd name="T29" fmla="*/ 957 h 2191"/>
                  <a:gd name="T30" fmla="*/ 763 w 2272"/>
                  <a:gd name="T31" fmla="*/ 1954 h 2191"/>
                  <a:gd name="T32" fmla="*/ 763 w 2272"/>
                  <a:gd name="T33" fmla="*/ 2130 h 2191"/>
                  <a:gd name="T34" fmla="*/ 84 w 2272"/>
                  <a:gd name="T35" fmla="*/ 2130 h 2191"/>
                  <a:gd name="T36" fmla="*/ 84 w 2272"/>
                  <a:gd name="T37" fmla="*/ 1954 h 2191"/>
                  <a:gd name="T38" fmla="*/ 763 w 2272"/>
                  <a:gd name="T39" fmla="*/ 1954 h 2191"/>
                  <a:gd name="T40" fmla="*/ 1831 w 2272"/>
                  <a:gd name="T41" fmla="*/ 1205 h 2191"/>
                  <a:gd name="T42" fmla="*/ 1614 w 2272"/>
                  <a:gd name="T43" fmla="*/ 994 h 2191"/>
                  <a:gd name="T44" fmla="*/ 1355 w 2272"/>
                  <a:gd name="T45" fmla="*/ 1205 h 2191"/>
                  <a:gd name="T46" fmla="*/ 884 w 2272"/>
                  <a:gd name="T47" fmla="*/ 1205 h 2191"/>
                  <a:gd name="T48" fmla="*/ 1392 w 2272"/>
                  <a:gd name="T49" fmla="*/ 781 h 2191"/>
                  <a:gd name="T50" fmla="*/ 1212 w 2272"/>
                  <a:gd name="T51" fmla="*/ 587 h 2191"/>
                  <a:gd name="T52" fmla="*/ 1179 w 2272"/>
                  <a:gd name="T53" fmla="*/ 684 h 2191"/>
                  <a:gd name="T54" fmla="*/ 842 w 2272"/>
                  <a:gd name="T55" fmla="*/ 684 h 2191"/>
                  <a:gd name="T56" fmla="*/ 1082 w 2272"/>
                  <a:gd name="T57" fmla="*/ 0 h 2191"/>
                  <a:gd name="T58" fmla="*/ 1420 w 2272"/>
                  <a:gd name="T59" fmla="*/ 0 h 2191"/>
                  <a:gd name="T60" fmla="*/ 1397 w 2272"/>
                  <a:gd name="T61" fmla="*/ 79 h 2191"/>
                  <a:gd name="T62" fmla="*/ 2174 w 2272"/>
                  <a:gd name="T63" fmla="*/ 79 h 2191"/>
                  <a:gd name="T64" fmla="*/ 2174 w 2272"/>
                  <a:gd name="T65" fmla="*/ 527 h 2191"/>
                  <a:gd name="T66" fmla="*/ 1864 w 2272"/>
                  <a:gd name="T67" fmla="*/ 795 h 2191"/>
                  <a:gd name="T68" fmla="*/ 2271 w 2272"/>
                  <a:gd name="T69" fmla="*/ 1205 h 2191"/>
                  <a:gd name="T70" fmla="*/ 1831 w 2272"/>
                  <a:gd name="T71" fmla="*/ 1205 h 2191"/>
                  <a:gd name="T72" fmla="*/ 934 w 2272"/>
                  <a:gd name="T73" fmla="*/ 2190 h 2191"/>
                  <a:gd name="T74" fmla="*/ 934 w 2272"/>
                  <a:gd name="T75" fmla="*/ 1303 h 2191"/>
                  <a:gd name="T76" fmla="*/ 2206 w 2272"/>
                  <a:gd name="T77" fmla="*/ 1303 h 2191"/>
                  <a:gd name="T78" fmla="*/ 2206 w 2272"/>
                  <a:gd name="T79" fmla="*/ 2190 h 2191"/>
                  <a:gd name="T80" fmla="*/ 934 w 2272"/>
                  <a:gd name="T81" fmla="*/ 2190 h 2191"/>
                  <a:gd name="T82" fmla="*/ 1522 w 2272"/>
                  <a:gd name="T83" fmla="*/ 467 h 2191"/>
                  <a:gd name="T84" fmla="*/ 1646 w 2272"/>
                  <a:gd name="T85" fmla="*/ 592 h 2191"/>
                  <a:gd name="T86" fmla="*/ 1892 w 2272"/>
                  <a:gd name="T87" fmla="*/ 379 h 2191"/>
                  <a:gd name="T88" fmla="*/ 1892 w 2272"/>
                  <a:gd name="T89" fmla="*/ 254 h 2191"/>
                  <a:gd name="T90" fmla="*/ 1332 w 2272"/>
                  <a:gd name="T91" fmla="*/ 254 h 2191"/>
                  <a:gd name="T92" fmla="*/ 1253 w 2272"/>
                  <a:gd name="T93" fmla="*/ 467 h 2191"/>
                  <a:gd name="T94" fmla="*/ 1522 w 2272"/>
                  <a:gd name="T95" fmla="*/ 467 h 2191"/>
                  <a:gd name="T96" fmla="*/ 1277 w 2272"/>
                  <a:gd name="T97" fmla="*/ 1478 h 2191"/>
                  <a:gd name="T98" fmla="*/ 1277 w 2272"/>
                  <a:gd name="T99" fmla="*/ 2014 h 2191"/>
                  <a:gd name="T100" fmla="*/ 1864 w 2272"/>
                  <a:gd name="T101" fmla="*/ 2014 h 2191"/>
                  <a:gd name="T102" fmla="*/ 1864 w 2272"/>
                  <a:gd name="T103" fmla="*/ 1478 h 2191"/>
                  <a:gd name="T104" fmla="*/ 1277 w 2272"/>
                  <a:gd name="T105" fmla="*/ 1478 h 2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272" h="2191">
                    <a:moveTo>
                      <a:pt x="315" y="957"/>
                    </a:moveTo>
                    <a:lnTo>
                      <a:pt x="0" y="957"/>
                    </a:lnTo>
                    <a:lnTo>
                      <a:pt x="361" y="5"/>
                    </a:lnTo>
                    <a:lnTo>
                      <a:pt x="675" y="5"/>
                    </a:lnTo>
                    <a:lnTo>
                      <a:pt x="380" y="767"/>
                    </a:lnTo>
                    <a:lnTo>
                      <a:pt x="453" y="767"/>
                    </a:lnTo>
                    <a:lnTo>
                      <a:pt x="509" y="647"/>
                    </a:lnTo>
                    <a:lnTo>
                      <a:pt x="823" y="647"/>
                    </a:lnTo>
                    <a:lnTo>
                      <a:pt x="463" y="1492"/>
                    </a:lnTo>
                    <a:lnTo>
                      <a:pt x="754" y="1492"/>
                    </a:lnTo>
                    <a:lnTo>
                      <a:pt x="754" y="1677"/>
                    </a:lnTo>
                    <a:lnTo>
                      <a:pt x="366" y="1677"/>
                    </a:lnTo>
                    <a:lnTo>
                      <a:pt x="65" y="1677"/>
                    </a:lnTo>
                    <a:lnTo>
                      <a:pt x="375" y="957"/>
                    </a:lnTo>
                    <a:lnTo>
                      <a:pt x="315" y="957"/>
                    </a:lnTo>
                    <a:close/>
                    <a:moveTo>
                      <a:pt x="763" y="1954"/>
                    </a:moveTo>
                    <a:lnTo>
                      <a:pt x="763" y="2130"/>
                    </a:lnTo>
                    <a:lnTo>
                      <a:pt x="84" y="2130"/>
                    </a:lnTo>
                    <a:lnTo>
                      <a:pt x="84" y="1954"/>
                    </a:lnTo>
                    <a:lnTo>
                      <a:pt x="763" y="1954"/>
                    </a:lnTo>
                    <a:close/>
                    <a:moveTo>
                      <a:pt x="1831" y="1205"/>
                    </a:moveTo>
                    <a:lnTo>
                      <a:pt x="1614" y="994"/>
                    </a:lnTo>
                    <a:lnTo>
                      <a:pt x="1355" y="1205"/>
                    </a:lnTo>
                    <a:lnTo>
                      <a:pt x="884" y="1205"/>
                    </a:lnTo>
                    <a:lnTo>
                      <a:pt x="1392" y="781"/>
                    </a:lnTo>
                    <a:lnTo>
                      <a:pt x="1212" y="587"/>
                    </a:lnTo>
                    <a:lnTo>
                      <a:pt x="1179" y="684"/>
                    </a:lnTo>
                    <a:lnTo>
                      <a:pt x="842" y="684"/>
                    </a:lnTo>
                    <a:lnTo>
                      <a:pt x="1082" y="0"/>
                    </a:lnTo>
                    <a:lnTo>
                      <a:pt x="1420" y="0"/>
                    </a:lnTo>
                    <a:lnTo>
                      <a:pt x="1397" y="79"/>
                    </a:lnTo>
                    <a:lnTo>
                      <a:pt x="2174" y="79"/>
                    </a:lnTo>
                    <a:lnTo>
                      <a:pt x="2174" y="527"/>
                    </a:lnTo>
                    <a:lnTo>
                      <a:pt x="1864" y="795"/>
                    </a:lnTo>
                    <a:lnTo>
                      <a:pt x="2271" y="1205"/>
                    </a:lnTo>
                    <a:lnTo>
                      <a:pt x="1831" y="1205"/>
                    </a:lnTo>
                    <a:close/>
                    <a:moveTo>
                      <a:pt x="934" y="2190"/>
                    </a:moveTo>
                    <a:lnTo>
                      <a:pt x="934" y="1303"/>
                    </a:lnTo>
                    <a:lnTo>
                      <a:pt x="2206" y="1303"/>
                    </a:lnTo>
                    <a:lnTo>
                      <a:pt x="2206" y="2190"/>
                    </a:lnTo>
                    <a:lnTo>
                      <a:pt x="934" y="2190"/>
                    </a:lnTo>
                    <a:close/>
                    <a:moveTo>
                      <a:pt x="1522" y="467"/>
                    </a:moveTo>
                    <a:lnTo>
                      <a:pt x="1646" y="592"/>
                    </a:lnTo>
                    <a:lnTo>
                      <a:pt x="1892" y="379"/>
                    </a:lnTo>
                    <a:lnTo>
                      <a:pt x="1892" y="254"/>
                    </a:lnTo>
                    <a:lnTo>
                      <a:pt x="1332" y="254"/>
                    </a:lnTo>
                    <a:lnTo>
                      <a:pt x="1253" y="467"/>
                    </a:lnTo>
                    <a:lnTo>
                      <a:pt x="1522" y="467"/>
                    </a:lnTo>
                    <a:close/>
                    <a:moveTo>
                      <a:pt x="1277" y="1478"/>
                    </a:moveTo>
                    <a:lnTo>
                      <a:pt x="1277" y="2014"/>
                    </a:lnTo>
                    <a:lnTo>
                      <a:pt x="1864" y="2014"/>
                    </a:lnTo>
                    <a:lnTo>
                      <a:pt x="1864" y="1478"/>
                    </a:lnTo>
                    <a:lnTo>
                      <a:pt x="1277" y="1478"/>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9" name="Freeform 17">
                <a:extLst>
                  <a:ext uri="{FF2B5EF4-FFF2-40B4-BE49-F238E27FC236}">
                    <a16:creationId xmlns:a16="http://schemas.microsoft.com/office/drawing/2014/main" id="{659E8A2F-BD45-A141-8653-9A26A575F667}"/>
                  </a:ext>
                </a:extLst>
              </p:cNvPr>
              <p:cNvSpPr>
                <a:spLocks noChangeArrowheads="1"/>
              </p:cNvSpPr>
              <p:nvPr/>
            </p:nvSpPr>
            <p:spPr bwMode="auto">
              <a:xfrm>
                <a:off x="3982528" y="697395"/>
                <a:ext cx="362437" cy="363166"/>
              </a:xfrm>
              <a:custGeom>
                <a:avLst/>
                <a:gdLst>
                  <a:gd name="T0" fmla="*/ 1244 w 2193"/>
                  <a:gd name="T1" fmla="*/ 1012 h 2195"/>
                  <a:gd name="T2" fmla="*/ 934 w 2193"/>
                  <a:gd name="T3" fmla="*/ 1589 h 2195"/>
                  <a:gd name="T4" fmla="*/ 1249 w 2193"/>
                  <a:gd name="T5" fmla="*/ 1764 h 2195"/>
                  <a:gd name="T6" fmla="*/ 925 w 2193"/>
                  <a:gd name="T7" fmla="*/ 2194 h 2195"/>
                  <a:gd name="T8" fmla="*/ 439 w 2193"/>
                  <a:gd name="T9" fmla="*/ 2032 h 2195"/>
                  <a:gd name="T10" fmla="*/ 597 w 2193"/>
                  <a:gd name="T11" fmla="*/ 1764 h 2195"/>
                  <a:gd name="T12" fmla="*/ 65 w 2193"/>
                  <a:gd name="T13" fmla="*/ 1589 h 2195"/>
                  <a:gd name="T14" fmla="*/ 856 w 2193"/>
                  <a:gd name="T15" fmla="*/ 1187 h 2195"/>
                  <a:gd name="T16" fmla="*/ 292 w 2193"/>
                  <a:gd name="T17" fmla="*/ 1455 h 2195"/>
                  <a:gd name="T18" fmla="*/ 167 w 2193"/>
                  <a:gd name="T19" fmla="*/ 1187 h 2195"/>
                  <a:gd name="T20" fmla="*/ 65 w 2193"/>
                  <a:gd name="T21" fmla="*/ 1012 h 2195"/>
                  <a:gd name="T22" fmla="*/ 361 w 2193"/>
                  <a:gd name="T23" fmla="*/ 809 h 2195"/>
                  <a:gd name="T24" fmla="*/ 56 w 2193"/>
                  <a:gd name="T25" fmla="*/ 628 h 2195"/>
                  <a:gd name="T26" fmla="*/ 366 w 2193"/>
                  <a:gd name="T27" fmla="*/ 319 h 2195"/>
                  <a:gd name="T28" fmla="*/ 125 w 2193"/>
                  <a:gd name="T29" fmla="*/ 148 h 2195"/>
                  <a:gd name="T30" fmla="*/ 366 w 2193"/>
                  <a:gd name="T31" fmla="*/ 0 h 2195"/>
                  <a:gd name="T32" fmla="*/ 680 w 2193"/>
                  <a:gd name="T33" fmla="*/ 148 h 2195"/>
                  <a:gd name="T34" fmla="*/ 934 w 2193"/>
                  <a:gd name="T35" fmla="*/ 319 h 2195"/>
                  <a:gd name="T36" fmla="*/ 680 w 2193"/>
                  <a:gd name="T37" fmla="*/ 628 h 2195"/>
                  <a:gd name="T38" fmla="*/ 1022 w 2193"/>
                  <a:gd name="T39" fmla="*/ 64 h 2195"/>
                  <a:gd name="T40" fmla="*/ 1115 w 2193"/>
                  <a:gd name="T41" fmla="*/ 628 h 2195"/>
                  <a:gd name="T42" fmla="*/ 1244 w 2193"/>
                  <a:gd name="T43" fmla="*/ 809 h 2195"/>
                  <a:gd name="T44" fmla="*/ 546 w 2193"/>
                  <a:gd name="T45" fmla="*/ 1012 h 2195"/>
                  <a:gd name="T46" fmla="*/ 1683 w 2193"/>
                  <a:gd name="T47" fmla="*/ 0 h 2195"/>
                  <a:gd name="T48" fmla="*/ 2183 w 2193"/>
                  <a:gd name="T49" fmla="*/ 115 h 2195"/>
                  <a:gd name="T50" fmla="*/ 2113 w 2193"/>
                  <a:gd name="T51" fmla="*/ 291 h 2195"/>
                  <a:gd name="T52" fmla="*/ 1868 w 2193"/>
                  <a:gd name="T53" fmla="*/ 1427 h 2195"/>
                  <a:gd name="T54" fmla="*/ 1836 w 2193"/>
                  <a:gd name="T55" fmla="*/ 2194 h 2195"/>
                  <a:gd name="T56" fmla="*/ 1535 w 2193"/>
                  <a:gd name="T57" fmla="*/ 2194 h 2195"/>
                  <a:gd name="T58" fmla="*/ 1489 w 2193"/>
                  <a:gd name="T59" fmla="*/ 1445 h 2195"/>
                  <a:gd name="T60" fmla="*/ 1632 w 2193"/>
                  <a:gd name="T61" fmla="*/ 1104 h 2195"/>
                  <a:gd name="T62" fmla="*/ 1771 w 2193"/>
                  <a:gd name="T63" fmla="*/ 291 h 2195"/>
                  <a:gd name="T64" fmla="*/ 1614 w 2193"/>
                  <a:gd name="T65" fmla="*/ 975 h 2195"/>
                  <a:gd name="T66" fmla="*/ 1360 w 2193"/>
                  <a:gd name="T67" fmla="*/ 0 h 2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93" h="2195">
                    <a:moveTo>
                      <a:pt x="546" y="1012"/>
                    </a:moveTo>
                    <a:lnTo>
                      <a:pt x="1244" y="1012"/>
                    </a:lnTo>
                    <a:lnTo>
                      <a:pt x="1244" y="1187"/>
                    </a:lnTo>
                    <a:lnTo>
                      <a:pt x="934" y="1589"/>
                    </a:lnTo>
                    <a:lnTo>
                      <a:pt x="1249" y="1589"/>
                    </a:lnTo>
                    <a:lnTo>
                      <a:pt x="1249" y="1764"/>
                    </a:lnTo>
                    <a:lnTo>
                      <a:pt x="925" y="1764"/>
                    </a:lnTo>
                    <a:lnTo>
                      <a:pt x="925" y="2194"/>
                    </a:lnTo>
                    <a:lnTo>
                      <a:pt x="439" y="2194"/>
                    </a:lnTo>
                    <a:lnTo>
                      <a:pt x="439" y="2032"/>
                    </a:lnTo>
                    <a:lnTo>
                      <a:pt x="597" y="2032"/>
                    </a:lnTo>
                    <a:lnTo>
                      <a:pt x="597" y="1764"/>
                    </a:lnTo>
                    <a:lnTo>
                      <a:pt x="65" y="1764"/>
                    </a:lnTo>
                    <a:lnTo>
                      <a:pt x="65" y="1589"/>
                    </a:lnTo>
                    <a:lnTo>
                      <a:pt x="537" y="1589"/>
                    </a:lnTo>
                    <a:lnTo>
                      <a:pt x="856" y="1187"/>
                    </a:lnTo>
                    <a:lnTo>
                      <a:pt x="453" y="1187"/>
                    </a:lnTo>
                    <a:lnTo>
                      <a:pt x="292" y="1455"/>
                    </a:lnTo>
                    <a:lnTo>
                      <a:pt x="0" y="1455"/>
                    </a:lnTo>
                    <a:lnTo>
                      <a:pt x="167" y="1187"/>
                    </a:lnTo>
                    <a:lnTo>
                      <a:pt x="65" y="1187"/>
                    </a:lnTo>
                    <a:lnTo>
                      <a:pt x="65" y="1012"/>
                    </a:lnTo>
                    <a:lnTo>
                      <a:pt x="255" y="1012"/>
                    </a:lnTo>
                    <a:lnTo>
                      <a:pt x="361" y="809"/>
                    </a:lnTo>
                    <a:lnTo>
                      <a:pt x="56" y="809"/>
                    </a:lnTo>
                    <a:lnTo>
                      <a:pt x="56" y="628"/>
                    </a:lnTo>
                    <a:lnTo>
                      <a:pt x="366" y="628"/>
                    </a:lnTo>
                    <a:lnTo>
                      <a:pt x="366" y="319"/>
                    </a:lnTo>
                    <a:lnTo>
                      <a:pt x="125" y="319"/>
                    </a:lnTo>
                    <a:lnTo>
                      <a:pt x="125" y="148"/>
                    </a:lnTo>
                    <a:lnTo>
                      <a:pt x="366" y="148"/>
                    </a:lnTo>
                    <a:lnTo>
                      <a:pt x="366" y="0"/>
                    </a:lnTo>
                    <a:lnTo>
                      <a:pt x="680" y="0"/>
                    </a:lnTo>
                    <a:lnTo>
                      <a:pt x="680" y="148"/>
                    </a:lnTo>
                    <a:lnTo>
                      <a:pt x="934" y="148"/>
                    </a:lnTo>
                    <a:lnTo>
                      <a:pt x="934" y="319"/>
                    </a:lnTo>
                    <a:lnTo>
                      <a:pt x="680" y="319"/>
                    </a:lnTo>
                    <a:lnTo>
                      <a:pt x="680" y="628"/>
                    </a:lnTo>
                    <a:lnTo>
                      <a:pt x="846" y="628"/>
                    </a:lnTo>
                    <a:lnTo>
                      <a:pt x="1022" y="64"/>
                    </a:lnTo>
                    <a:lnTo>
                      <a:pt x="1272" y="64"/>
                    </a:lnTo>
                    <a:lnTo>
                      <a:pt x="1115" y="628"/>
                    </a:lnTo>
                    <a:lnTo>
                      <a:pt x="1244" y="628"/>
                    </a:lnTo>
                    <a:lnTo>
                      <a:pt x="1244" y="809"/>
                    </a:lnTo>
                    <a:lnTo>
                      <a:pt x="652" y="809"/>
                    </a:lnTo>
                    <a:lnTo>
                      <a:pt x="546" y="1012"/>
                    </a:lnTo>
                    <a:close/>
                    <a:moveTo>
                      <a:pt x="1360" y="0"/>
                    </a:moveTo>
                    <a:lnTo>
                      <a:pt x="1683" y="0"/>
                    </a:lnTo>
                    <a:lnTo>
                      <a:pt x="1679" y="115"/>
                    </a:lnTo>
                    <a:lnTo>
                      <a:pt x="2183" y="115"/>
                    </a:lnTo>
                    <a:lnTo>
                      <a:pt x="2183" y="291"/>
                    </a:lnTo>
                    <a:lnTo>
                      <a:pt x="2113" y="291"/>
                    </a:lnTo>
                    <a:lnTo>
                      <a:pt x="2113" y="739"/>
                    </a:lnTo>
                    <a:lnTo>
                      <a:pt x="1868" y="1427"/>
                    </a:lnTo>
                    <a:lnTo>
                      <a:pt x="2192" y="2194"/>
                    </a:lnTo>
                    <a:lnTo>
                      <a:pt x="1836" y="2194"/>
                    </a:lnTo>
                    <a:lnTo>
                      <a:pt x="1683" y="1834"/>
                    </a:lnTo>
                    <a:lnTo>
                      <a:pt x="1535" y="2194"/>
                    </a:lnTo>
                    <a:lnTo>
                      <a:pt x="1175" y="2194"/>
                    </a:lnTo>
                    <a:lnTo>
                      <a:pt x="1489" y="1445"/>
                    </a:lnTo>
                    <a:lnTo>
                      <a:pt x="1355" y="1104"/>
                    </a:lnTo>
                    <a:lnTo>
                      <a:pt x="1632" y="1104"/>
                    </a:lnTo>
                    <a:lnTo>
                      <a:pt x="1771" y="698"/>
                    </a:lnTo>
                    <a:lnTo>
                      <a:pt x="1771" y="291"/>
                    </a:lnTo>
                    <a:lnTo>
                      <a:pt x="1669" y="291"/>
                    </a:lnTo>
                    <a:lnTo>
                      <a:pt x="1614" y="975"/>
                    </a:lnTo>
                    <a:lnTo>
                      <a:pt x="1281" y="975"/>
                    </a:lnTo>
                    <a:lnTo>
                      <a:pt x="1360" y="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0" name="Freeform 18">
                <a:extLst>
                  <a:ext uri="{FF2B5EF4-FFF2-40B4-BE49-F238E27FC236}">
                    <a16:creationId xmlns:a16="http://schemas.microsoft.com/office/drawing/2014/main" id="{74855C05-5F16-C049-9443-A35BB82DE2CF}"/>
                  </a:ext>
                </a:extLst>
              </p:cNvPr>
              <p:cNvSpPr>
                <a:spLocks noChangeArrowheads="1"/>
              </p:cNvSpPr>
              <p:nvPr/>
            </p:nvSpPr>
            <p:spPr bwMode="auto">
              <a:xfrm>
                <a:off x="4374864" y="702500"/>
                <a:ext cx="369000" cy="355874"/>
              </a:xfrm>
              <a:custGeom>
                <a:avLst/>
                <a:gdLst>
                  <a:gd name="T0" fmla="*/ 1447 w 2230"/>
                  <a:gd name="T1" fmla="*/ 1118 h 2150"/>
                  <a:gd name="T2" fmla="*/ 2229 w 2230"/>
                  <a:gd name="T3" fmla="*/ 1405 h 2150"/>
                  <a:gd name="T4" fmla="*/ 1545 w 2230"/>
                  <a:gd name="T5" fmla="*/ 1405 h 2150"/>
                  <a:gd name="T6" fmla="*/ 1078 w 2230"/>
                  <a:gd name="T7" fmla="*/ 1252 h 2150"/>
                  <a:gd name="T8" fmla="*/ 652 w 2230"/>
                  <a:gd name="T9" fmla="*/ 1405 h 2150"/>
                  <a:gd name="T10" fmla="*/ 0 w 2230"/>
                  <a:gd name="T11" fmla="*/ 1405 h 2150"/>
                  <a:gd name="T12" fmla="*/ 726 w 2230"/>
                  <a:gd name="T13" fmla="*/ 1137 h 2150"/>
                  <a:gd name="T14" fmla="*/ 222 w 2230"/>
                  <a:gd name="T15" fmla="*/ 976 h 2150"/>
                  <a:gd name="T16" fmla="*/ 361 w 2230"/>
                  <a:gd name="T17" fmla="*/ 745 h 2150"/>
                  <a:gd name="T18" fmla="*/ 88 w 2230"/>
                  <a:gd name="T19" fmla="*/ 745 h 2150"/>
                  <a:gd name="T20" fmla="*/ 88 w 2230"/>
                  <a:gd name="T21" fmla="*/ 583 h 2150"/>
                  <a:gd name="T22" fmla="*/ 467 w 2230"/>
                  <a:gd name="T23" fmla="*/ 583 h 2150"/>
                  <a:gd name="T24" fmla="*/ 550 w 2230"/>
                  <a:gd name="T25" fmla="*/ 444 h 2150"/>
                  <a:gd name="T26" fmla="*/ 902 w 2230"/>
                  <a:gd name="T27" fmla="*/ 444 h 2150"/>
                  <a:gd name="T28" fmla="*/ 823 w 2230"/>
                  <a:gd name="T29" fmla="*/ 583 h 2150"/>
                  <a:gd name="T30" fmla="*/ 2146 w 2230"/>
                  <a:gd name="T31" fmla="*/ 583 h 2150"/>
                  <a:gd name="T32" fmla="*/ 2146 w 2230"/>
                  <a:gd name="T33" fmla="*/ 745 h 2150"/>
                  <a:gd name="T34" fmla="*/ 1910 w 2230"/>
                  <a:gd name="T35" fmla="*/ 745 h 2150"/>
                  <a:gd name="T36" fmla="*/ 1910 w 2230"/>
                  <a:gd name="T37" fmla="*/ 957 h 2150"/>
                  <a:gd name="T38" fmla="*/ 1447 w 2230"/>
                  <a:gd name="T39" fmla="*/ 1118 h 2150"/>
                  <a:gd name="T40" fmla="*/ 56 w 2230"/>
                  <a:gd name="T41" fmla="*/ 2126 h 2150"/>
                  <a:gd name="T42" fmla="*/ 426 w 2230"/>
                  <a:gd name="T43" fmla="*/ 1733 h 2150"/>
                  <a:gd name="T44" fmla="*/ 819 w 2230"/>
                  <a:gd name="T45" fmla="*/ 1733 h 2150"/>
                  <a:gd name="T46" fmla="*/ 463 w 2230"/>
                  <a:gd name="T47" fmla="*/ 2126 h 2150"/>
                  <a:gd name="T48" fmla="*/ 56 w 2230"/>
                  <a:gd name="T49" fmla="*/ 2126 h 2150"/>
                  <a:gd name="T50" fmla="*/ 1817 w 2230"/>
                  <a:gd name="T51" fmla="*/ 490 h 2150"/>
                  <a:gd name="T52" fmla="*/ 1817 w 2230"/>
                  <a:gd name="T53" fmla="*/ 292 h 2150"/>
                  <a:gd name="T54" fmla="*/ 412 w 2230"/>
                  <a:gd name="T55" fmla="*/ 292 h 2150"/>
                  <a:gd name="T56" fmla="*/ 412 w 2230"/>
                  <a:gd name="T57" fmla="*/ 490 h 2150"/>
                  <a:gd name="T58" fmla="*/ 88 w 2230"/>
                  <a:gd name="T59" fmla="*/ 490 h 2150"/>
                  <a:gd name="T60" fmla="*/ 88 w 2230"/>
                  <a:gd name="T61" fmla="*/ 121 h 2150"/>
                  <a:gd name="T62" fmla="*/ 925 w 2230"/>
                  <a:gd name="T63" fmla="*/ 121 h 2150"/>
                  <a:gd name="T64" fmla="*/ 925 w 2230"/>
                  <a:gd name="T65" fmla="*/ 0 h 2150"/>
                  <a:gd name="T66" fmla="*/ 1290 w 2230"/>
                  <a:gd name="T67" fmla="*/ 0 h 2150"/>
                  <a:gd name="T68" fmla="*/ 1290 w 2230"/>
                  <a:gd name="T69" fmla="*/ 121 h 2150"/>
                  <a:gd name="T70" fmla="*/ 2146 w 2230"/>
                  <a:gd name="T71" fmla="*/ 121 h 2150"/>
                  <a:gd name="T72" fmla="*/ 2146 w 2230"/>
                  <a:gd name="T73" fmla="*/ 490 h 2150"/>
                  <a:gd name="T74" fmla="*/ 1817 w 2230"/>
                  <a:gd name="T75" fmla="*/ 490 h 2150"/>
                  <a:gd name="T76" fmla="*/ 1281 w 2230"/>
                  <a:gd name="T77" fmla="*/ 1368 h 2150"/>
                  <a:gd name="T78" fmla="*/ 1281 w 2230"/>
                  <a:gd name="T79" fmla="*/ 1497 h 2150"/>
                  <a:gd name="T80" fmla="*/ 2146 w 2230"/>
                  <a:gd name="T81" fmla="*/ 1497 h 2150"/>
                  <a:gd name="T82" fmla="*/ 2146 w 2230"/>
                  <a:gd name="T83" fmla="*/ 1668 h 2150"/>
                  <a:gd name="T84" fmla="*/ 1281 w 2230"/>
                  <a:gd name="T85" fmla="*/ 1668 h 2150"/>
                  <a:gd name="T86" fmla="*/ 1281 w 2230"/>
                  <a:gd name="T87" fmla="*/ 2149 h 2150"/>
                  <a:gd name="T88" fmla="*/ 944 w 2230"/>
                  <a:gd name="T89" fmla="*/ 2149 h 2150"/>
                  <a:gd name="T90" fmla="*/ 944 w 2230"/>
                  <a:gd name="T91" fmla="*/ 1668 h 2150"/>
                  <a:gd name="T92" fmla="*/ 88 w 2230"/>
                  <a:gd name="T93" fmla="*/ 1668 h 2150"/>
                  <a:gd name="T94" fmla="*/ 88 w 2230"/>
                  <a:gd name="T95" fmla="*/ 1497 h 2150"/>
                  <a:gd name="T96" fmla="*/ 944 w 2230"/>
                  <a:gd name="T97" fmla="*/ 1497 h 2150"/>
                  <a:gd name="T98" fmla="*/ 944 w 2230"/>
                  <a:gd name="T99" fmla="*/ 1368 h 2150"/>
                  <a:gd name="T100" fmla="*/ 1281 w 2230"/>
                  <a:gd name="T101" fmla="*/ 1368 h 2150"/>
                  <a:gd name="T102" fmla="*/ 1115 w 2230"/>
                  <a:gd name="T103" fmla="*/ 999 h 2150"/>
                  <a:gd name="T104" fmla="*/ 1568 w 2230"/>
                  <a:gd name="T105" fmla="*/ 832 h 2150"/>
                  <a:gd name="T106" fmla="*/ 1568 w 2230"/>
                  <a:gd name="T107" fmla="*/ 745 h 2150"/>
                  <a:gd name="T108" fmla="*/ 726 w 2230"/>
                  <a:gd name="T109" fmla="*/ 745 h 2150"/>
                  <a:gd name="T110" fmla="*/ 675 w 2230"/>
                  <a:gd name="T111" fmla="*/ 837 h 2150"/>
                  <a:gd name="T112" fmla="*/ 1115 w 2230"/>
                  <a:gd name="T113" fmla="*/ 999 h 2150"/>
                  <a:gd name="T114" fmla="*/ 2192 w 2230"/>
                  <a:gd name="T115" fmla="*/ 2126 h 2150"/>
                  <a:gd name="T116" fmla="*/ 1776 w 2230"/>
                  <a:gd name="T117" fmla="*/ 2126 h 2150"/>
                  <a:gd name="T118" fmla="*/ 1420 w 2230"/>
                  <a:gd name="T119" fmla="*/ 1733 h 2150"/>
                  <a:gd name="T120" fmla="*/ 1827 w 2230"/>
                  <a:gd name="T121" fmla="*/ 1733 h 2150"/>
                  <a:gd name="T122" fmla="*/ 2192 w 2230"/>
                  <a:gd name="T123" fmla="*/ 2126 h 2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230" h="2150">
                    <a:moveTo>
                      <a:pt x="1447" y="1118"/>
                    </a:moveTo>
                    <a:lnTo>
                      <a:pt x="2229" y="1405"/>
                    </a:lnTo>
                    <a:lnTo>
                      <a:pt x="1545" y="1405"/>
                    </a:lnTo>
                    <a:lnTo>
                      <a:pt x="1078" y="1252"/>
                    </a:lnTo>
                    <a:lnTo>
                      <a:pt x="652" y="1405"/>
                    </a:lnTo>
                    <a:lnTo>
                      <a:pt x="0" y="1405"/>
                    </a:lnTo>
                    <a:lnTo>
                      <a:pt x="726" y="1137"/>
                    </a:lnTo>
                    <a:lnTo>
                      <a:pt x="222" y="976"/>
                    </a:lnTo>
                    <a:lnTo>
                      <a:pt x="361" y="745"/>
                    </a:lnTo>
                    <a:lnTo>
                      <a:pt x="88" y="745"/>
                    </a:lnTo>
                    <a:lnTo>
                      <a:pt x="88" y="583"/>
                    </a:lnTo>
                    <a:lnTo>
                      <a:pt x="467" y="583"/>
                    </a:lnTo>
                    <a:lnTo>
                      <a:pt x="550" y="444"/>
                    </a:lnTo>
                    <a:lnTo>
                      <a:pt x="902" y="444"/>
                    </a:lnTo>
                    <a:lnTo>
                      <a:pt x="823" y="583"/>
                    </a:lnTo>
                    <a:lnTo>
                      <a:pt x="2146" y="583"/>
                    </a:lnTo>
                    <a:lnTo>
                      <a:pt x="2146" y="745"/>
                    </a:lnTo>
                    <a:lnTo>
                      <a:pt x="1910" y="745"/>
                    </a:lnTo>
                    <a:lnTo>
                      <a:pt x="1910" y="957"/>
                    </a:lnTo>
                    <a:lnTo>
                      <a:pt x="1447" y="1118"/>
                    </a:lnTo>
                    <a:close/>
                    <a:moveTo>
                      <a:pt x="56" y="2126"/>
                    </a:moveTo>
                    <a:lnTo>
                      <a:pt x="426" y="1733"/>
                    </a:lnTo>
                    <a:lnTo>
                      <a:pt x="819" y="1733"/>
                    </a:lnTo>
                    <a:lnTo>
                      <a:pt x="463" y="2126"/>
                    </a:lnTo>
                    <a:lnTo>
                      <a:pt x="56" y="2126"/>
                    </a:lnTo>
                    <a:close/>
                    <a:moveTo>
                      <a:pt x="1817" y="490"/>
                    </a:moveTo>
                    <a:lnTo>
                      <a:pt x="1817" y="292"/>
                    </a:lnTo>
                    <a:lnTo>
                      <a:pt x="412" y="292"/>
                    </a:lnTo>
                    <a:lnTo>
                      <a:pt x="412" y="490"/>
                    </a:lnTo>
                    <a:lnTo>
                      <a:pt x="88" y="490"/>
                    </a:lnTo>
                    <a:lnTo>
                      <a:pt x="88" y="121"/>
                    </a:lnTo>
                    <a:lnTo>
                      <a:pt x="925" y="121"/>
                    </a:lnTo>
                    <a:lnTo>
                      <a:pt x="925" y="0"/>
                    </a:lnTo>
                    <a:lnTo>
                      <a:pt x="1290" y="0"/>
                    </a:lnTo>
                    <a:lnTo>
                      <a:pt x="1290" y="121"/>
                    </a:lnTo>
                    <a:lnTo>
                      <a:pt x="2146" y="121"/>
                    </a:lnTo>
                    <a:lnTo>
                      <a:pt x="2146" y="490"/>
                    </a:lnTo>
                    <a:lnTo>
                      <a:pt x="1817" y="490"/>
                    </a:lnTo>
                    <a:close/>
                    <a:moveTo>
                      <a:pt x="1281" y="1368"/>
                    </a:moveTo>
                    <a:lnTo>
                      <a:pt x="1281" y="1497"/>
                    </a:lnTo>
                    <a:lnTo>
                      <a:pt x="2146" y="1497"/>
                    </a:lnTo>
                    <a:lnTo>
                      <a:pt x="2146" y="1668"/>
                    </a:lnTo>
                    <a:lnTo>
                      <a:pt x="1281" y="1668"/>
                    </a:lnTo>
                    <a:lnTo>
                      <a:pt x="1281" y="2149"/>
                    </a:lnTo>
                    <a:lnTo>
                      <a:pt x="944" y="2149"/>
                    </a:lnTo>
                    <a:lnTo>
                      <a:pt x="944" y="1668"/>
                    </a:lnTo>
                    <a:lnTo>
                      <a:pt x="88" y="1668"/>
                    </a:lnTo>
                    <a:lnTo>
                      <a:pt x="88" y="1497"/>
                    </a:lnTo>
                    <a:lnTo>
                      <a:pt x="944" y="1497"/>
                    </a:lnTo>
                    <a:lnTo>
                      <a:pt x="944" y="1368"/>
                    </a:lnTo>
                    <a:lnTo>
                      <a:pt x="1281" y="1368"/>
                    </a:lnTo>
                    <a:close/>
                    <a:moveTo>
                      <a:pt x="1115" y="999"/>
                    </a:moveTo>
                    <a:lnTo>
                      <a:pt x="1568" y="832"/>
                    </a:lnTo>
                    <a:lnTo>
                      <a:pt x="1568" y="745"/>
                    </a:lnTo>
                    <a:lnTo>
                      <a:pt x="726" y="745"/>
                    </a:lnTo>
                    <a:lnTo>
                      <a:pt x="675" y="837"/>
                    </a:lnTo>
                    <a:lnTo>
                      <a:pt x="1115" y="999"/>
                    </a:lnTo>
                    <a:close/>
                    <a:moveTo>
                      <a:pt x="2192" y="2126"/>
                    </a:moveTo>
                    <a:lnTo>
                      <a:pt x="1776" y="2126"/>
                    </a:lnTo>
                    <a:lnTo>
                      <a:pt x="1420" y="1733"/>
                    </a:lnTo>
                    <a:lnTo>
                      <a:pt x="1827" y="1733"/>
                    </a:lnTo>
                    <a:lnTo>
                      <a:pt x="2192" y="2126"/>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1" name="Freeform 19">
                <a:extLst>
                  <a:ext uri="{FF2B5EF4-FFF2-40B4-BE49-F238E27FC236}">
                    <a16:creationId xmlns:a16="http://schemas.microsoft.com/office/drawing/2014/main" id="{F26716A7-ED33-4E4F-BADB-2E2D22363495}"/>
                  </a:ext>
                </a:extLst>
              </p:cNvPr>
              <p:cNvSpPr>
                <a:spLocks noChangeArrowheads="1"/>
              </p:cNvSpPr>
              <p:nvPr/>
            </p:nvSpPr>
            <p:spPr bwMode="auto">
              <a:xfrm>
                <a:off x="4758449" y="696666"/>
                <a:ext cx="376293" cy="364625"/>
              </a:xfrm>
              <a:custGeom>
                <a:avLst/>
                <a:gdLst>
                  <a:gd name="T0" fmla="*/ 615 w 2276"/>
                  <a:gd name="T1" fmla="*/ 943 h 2205"/>
                  <a:gd name="T2" fmla="*/ 897 w 2276"/>
                  <a:gd name="T3" fmla="*/ 1145 h 2205"/>
                  <a:gd name="T4" fmla="*/ 897 w 2276"/>
                  <a:gd name="T5" fmla="*/ 1548 h 2205"/>
                  <a:gd name="T6" fmla="*/ 583 w 2276"/>
                  <a:gd name="T7" fmla="*/ 1330 h 2205"/>
                  <a:gd name="T8" fmla="*/ 583 w 2276"/>
                  <a:gd name="T9" fmla="*/ 2204 h 2205"/>
                  <a:gd name="T10" fmla="*/ 241 w 2276"/>
                  <a:gd name="T11" fmla="*/ 2204 h 2205"/>
                  <a:gd name="T12" fmla="*/ 241 w 2276"/>
                  <a:gd name="T13" fmla="*/ 1478 h 2205"/>
                  <a:gd name="T14" fmla="*/ 0 w 2276"/>
                  <a:gd name="T15" fmla="*/ 1478 h 2205"/>
                  <a:gd name="T16" fmla="*/ 435 w 2276"/>
                  <a:gd name="T17" fmla="*/ 439 h 2205"/>
                  <a:gd name="T18" fmla="*/ 93 w 2276"/>
                  <a:gd name="T19" fmla="*/ 439 h 2205"/>
                  <a:gd name="T20" fmla="*/ 93 w 2276"/>
                  <a:gd name="T21" fmla="*/ 264 h 2205"/>
                  <a:gd name="T22" fmla="*/ 306 w 2276"/>
                  <a:gd name="T23" fmla="*/ 264 h 2205"/>
                  <a:gd name="T24" fmla="*/ 306 w 2276"/>
                  <a:gd name="T25" fmla="*/ 0 h 2205"/>
                  <a:gd name="T26" fmla="*/ 680 w 2276"/>
                  <a:gd name="T27" fmla="*/ 0 h 2205"/>
                  <a:gd name="T28" fmla="*/ 680 w 2276"/>
                  <a:gd name="T29" fmla="*/ 264 h 2205"/>
                  <a:gd name="T30" fmla="*/ 819 w 2276"/>
                  <a:gd name="T31" fmla="*/ 264 h 2205"/>
                  <a:gd name="T32" fmla="*/ 819 w 2276"/>
                  <a:gd name="T33" fmla="*/ 439 h 2205"/>
                  <a:gd name="T34" fmla="*/ 615 w 2276"/>
                  <a:gd name="T35" fmla="*/ 943 h 2205"/>
                  <a:gd name="T36" fmla="*/ 888 w 2276"/>
                  <a:gd name="T37" fmla="*/ 726 h 2205"/>
                  <a:gd name="T38" fmla="*/ 888 w 2276"/>
                  <a:gd name="T39" fmla="*/ 550 h 2205"/>
                  <a:gd name="T40" fmla="*/ 1360 w 2276"/>
                  <a:gd name="T41" fmla="*/ 550 h 2205"/>
                  <a:gd name="T42" fmla="*/ 1360 w 2276"/>
                  <a:gd name="T43" fmla="*/ 0 h 2205"/>
                  <a:gd name="T44" fmla="*/ 1702 w 2276"/>
                  <a:gd name="T45" fmla="*/ 0 h 2205"/>
                  <a:gd name="T46" fmla="*/ 1702 w 2276"/>
                  <a:gd name="T47" fmla="*/ 550 h 2205"/>
                  <a:gd name="T48" fmla="*/ 2178 w 2276"/>
                  <a:gd name="T49" fmla="*/ 550 h 2205"/>
                  <a:gd name="T50" fmla="*/ 2178 w 2276"/>
                  <a:gd name="T51" fmla="*/ 726 h 2205"/>
                  <a:gd name="T52" fmla="*/ 1702 w 2276"/>
                  <a:gd name="T53" fmla="*/ 726 h 2205"/>
                  <a:gd name="T54" fmla="*/ 1702 w 2276"/>
                  <a:gd name="T55" fmla="*/ 1996 h 2205"/>
                  <a:gd name="T56" fmla="*/ 2275 w 2276"/>
                  <a:gd name="T57" fmla="*/ 1996 h 2205"/>
                  <a:gd name="T58" fmla="*/ 2275 w 2276"/>
                  <a:gd name="T59" fmla="*/ 2172 h 2205"/>
                  <a:gd name="T60" fmla="*/ 763 w 2276"/>
                  <a:gd name="T61" fmla="*/ 2172 h 2205"/>
                  <a:gd name="T62" fmla="*/ 763 w 2276"/>
                  <a:gd name="T63" fmla="*/ 1996 h 2205"/>
                  <a:gd name="T64" fmla="*/ 1360 w 2276"/>
                  <a:gd name="T65" fmla="*/ 1996 h 2205"/>
                  <a:gd name="T66" fmla="*/ 1360 w 2276"/>
                  <a:gd name="T67" fmla="*/ 726 h 2205"/>
                  <a:gd name="T68" fmla="*/ 888 w 2276"/>
                  <a:gd name="T69" fmla="*/ 726 h 2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276" h="2205">
                    <a:moveTo>
                      <a:pt x="615" y="943"/>
                    </a:moveTo>
                    <a:lnTo>
                      <a:pt x="897" y="1145"/>
                    </a:lnTo>
                    <a:lnTo>
                      <a:pt x="897" y="1548"/>
                    </a:lnTo>
                    <a:lnTo>
                      <a:pt x="583" y="1330"/>
                    </a:lnTo>
                    <a:lnTo>
                      <a:pt x="583" y="2204"/>
                    </a:lnTo>
                    <a:lnTo>
                      <a:pt x="241" y="2204"/>
                    </a:lnTo>
                    <a:lnTo>
                      <a:pt x="241" y="1478"/>
                    </a:lnTo>
                    <a:lnTo>
                      <a:pt x="0" y="1478"/>
                    </a:lnTo>
                    <a:lnTo>
                      <a:pt x="435" y="439"/>
                    </a:lnTo>
                    <a:lnTo>
                      <a:pt x="93" y="439"/>
                    </a:lnTo>
                    <a:lnTo>
                      <a:pt x="93" y="264"/>
                    </a:lnTo>
                    <a:lnTo>
                      <a:pt x="306" y="264"/>
                    </a:lnTo>
                    <a:lnTo>
                      <a:pt x="306" y="0"/>
                    </a:lnTo>
                    <a:lnTo>
                      <a:pt x="680" y="0"/>
                    </a:lnTo>
                    <a:lnTo>
                      <a:pt x="680" y="264"/>
                    </a:lnTo>
                    <a:lnTo>
                      <a:pt x="819" y="264"/>
                    </a:lnTo>
                    <a:lnTo>
                      <a:pt x="819" y="439"/>
                    </a:lnTo>
                    <a:lnTo>
                      <a:pt x="615" y="943"/>
                    </a:lnTo>
                    <a:close/>
                    <a:moveTo>
                      <a:pt x="888" y="726"/>
                    </a:moveTo>
                    <a:lnTo>
                      <a:pt x="888" y="550"/>
                    </a:lnTo>
                    <a:lnTo>
                      <a:pt x="1360" y="550"/>
                    </a:lnTo>
                    <a:lnTo>
                      <a:pt x="1360" y="0"/>
                    </a:lnTo>
                    <a:lnTo>
                      <a:pt x="1702" y="0"/>
                    </a:lnTo>
                    <a:lnTo>
                      <a:pt x="1702" y="550"/>
                    </a:lnTo>
                    <a:lnTo>
                      <a:pt x="2178" y="550"/>
                    </a:lnTo>
                    <a:lnTo>
                      <a:pt x="2178" y="726"/>
                    </a:lnTo>
                    <a:lnTo>
                      <a:pt x="1702" y="726"/>
                    </a:lnTo>
                    <a:lnTo>
                      <a:pt x="1702" y="1996"/>
                    </a:lnTo>
                    <a:lnTo>
                      <a:pt x="2275" y="1996"/>
                    </a:lnTo>
                    <a:lnTo>
                      <a:pt x="2275" y="2172"/>
                    </a:lnTo>
                    <a:lnTo>
                      <a:pt x="763" y="2172"/>
                    </a:lnTo>
                    <a:lnTo>
                      <a:pt x="763" y="1996"/>
                    </a:lnTo>
                    <a:lnTo>
                      <a:pt x="1360" y="1996"/>
                    </a:lnTo>
                    <a:lnTo>
                      <a:pt x="1360" y="726"/>
                    </a:lnTo>
                    <a:lnTo>
                      <a:pt x="888" y="726"/>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2" name="Freeform 20">
                <a:extLst>
                  <a:ext uri="{FF2B5EF4-FFF2-40B4-BE49-F238E27FC236}">
                    <a16:creationId xmlns:a16="http://schemas.microsoft.com/office/drawing/2014/main" id="{A25A530F-4DF9-E348-A512-A3FC76E2497C}"/>
                  </a:ext>
                </a:extLst>
              </p:cNvPr>
              <p:cNvSpPr>
                <a:spLocks noChangeArrowheads="1"/>
              </p:cNvSpPr>
              <p:nvPr/>
            </p:nvSpPr>
            <p:spPr bwMode="auto">
              <a:xfrm>
                <a:off x="5179226" y="705417"/>
                <a:ext cx="328891" cy="352227"/>
              </a:xfrm>
              <a:custGeom>
                <a:avLst/>
                <a:gdLst>
                  <a:gd name="T0" fmla="*/ 1979 w 1990"/>
                  <a:gd name="T1" fmla="*/ 176 h 2131"/>
                  <a:gd name="T2" fmla="*/ 343 w 1990"/>
                  <a:gd name="T3" fmla="*/ 176 h 2131"/>
                  <a:gd name="T4" fmla="*/ 343 w 1990"/>
                  <a:gd name="T5" fmla="*/ 1954 h 2131"/>
                  <a:gd name="T6" fmla="*/ 1989 w 1990"/>
                  <a:gd name="T7" fmla="*/ 1954 h 2131"/>
                  <a:gd name="T8" fmla="*/ 1989 w 1990"/>
                  <a:gd name="T9" fmla="*/ 2130 h 2131"/>
                  <a:gd name="T10" fmla="*/ 0 w 1990"/>
                  <a:gd name="T11" fmla="*/ 2130 h 2131"/>
                  <a:gd name="T12" fmla="*/ 0 w 1990"/>
                  <a:gd name="T13" fmla="*/ 0 h 2131"/>
                  <a:gd name="T14" fmla="*/ 1979 w 1990"/>
                  <a:gd name="T15" fmla="*/ 0 h 2131"/>
                  <a:gd name="T16" fmla="*/ 1979 w 1990"/>
                  <a:gd name="T17" fmla="*/ 176 h 2131"/>
                  <a:gd name="T18" fmla="*/ 958 w 1990"/>
                  <a:gd name="T19" fmla="*/ 1063 h 2131"/>
                  <a:gd name="T20" fmla="*/ 421 w 1990"/>
                  <a:gd name="T21" fmla="*/ 310 h 2131"/>
                  <a:gd name="T22" fmla="*/ 847 w 1990"/>
                  <a:gd name="T23" fmla="*/ 310 h 2131"/>
                  <a:gd name="T24" fmla="*/ 1166 w 1990"/>
                  <a:gd name="T25" fmla="*/ 763 h 2131"/>
                  <a:gd name="T26" fmla="*/ 1475 w 1990"/>
                  <a:gd name="T27" fmla="*/ 310 h 2131"/>
                  <a:gd name="T28" fmla="*/ 1887 w 1990"/>
                  <a:gd name="T29" fmla="*/ 310 h 2131"/>
                  <a:gd name="T30" fmla="*/ 1378 w 1990"/>
                  <a:gd name="T31" fmla="*/ 1058 h 2131"/>
                  <a:gd name="T32" fmla="*/ 1924 w 1990"/>
                  <a:gd name="T33" fmla="*/ 1829 h 2131"/>
                  <a:gd name="T34" fmla="*/ 1508 w 1990"/>
                  <a:gd name="T35" fmla="*/ 1829 h 2131"/>
                  <a:gd name="T36" fmla="*/ 1175 w 1990"/>
                  <a:gd name="T37" fmla="*/ 1358 h 2131"/>
                  <a:gd name="T38" fmla="*/ 860 w 1990"/>
                  <a:gd name="T39" fmla="*/ 1829 h 2131"/>
                  <a:gd name="T40" fmla="*/ 440 w 1990"/>
                  <a:gd name="T41" fmla="*/ 1829 h 2131"/>
                  <a:gd name="T42" fmla="*/ 958 w 1990"/>
                  <a:gd name="T43" fmla="*/ 1063 h 2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990" h="2131">
                    <a:moveTo>
                      <a:pt x="1979" y="176"/>
                    </a:moveTo>
                    <a:lnTo>
                      <a:pt x="343" y="176"/>
                    </a:lnTo>
                    <a:lnTo>
                      <a:pt x="343" y="1954"/>
                    </a:lnTo>
                    <a:lnTo>
                      <a:pt x="1989" y="1954"/>
                    </a:lnTo>
                    <a:lnTo>
                      <a:pt x="1989" y="2130"/>
                    </a:lnTo>
                    <a:lnTo>
                      <a:pt x="0" y="2130"/>
                    </a:lnTo>
                    <a:lnTo>
                      <a:pt x="0" y="0"/>
                    </a:lnTo>
                    <a:lnTo>
                      <a:pt x="1979" y="0"/>
                    </a:lnTo>
                    <a:lnTo>
                      <a:pt x="1979" y="176"/>
                    </a:lnTo>
                    <a:close/>
                    <a:moveTo>
                      <a:pt x="958" y="1063"/>
                    </a:moveTo>
                    <a:lnTo>
                      <a:pt x="421" y="310"/>
                    </a:lnTo>
                    <a:lnTo>
                      <a:pt x="847" y="310"/>
                    </a:lnTo>
                    <a:lnTo>
                      <a:pt x="1166" y="763"/>
                    </a:lnTo>
                    <a:lnTo>
                      <a:pt x="1475" y="310"/>
                    </a:lnTo>
                    <a:lnTo>
                      <a:pt x="1887" y="310"/>
                    </a:lnTo>
                    <a:lnTo>
                      <a:pt x="1378" y="1058"/>
                    </a:lnTo>
                    <a:lnTo>
                      <a:pt x="1924" y="1829"/>
                    </a:lnTo>
                    <a:lnTo>
                      <a:pt x="1508" y="1829"/>
                    </a:lnTo>
                    <a:lnTo>
                      <a:pt x="1175" y="1358"/>
                    </a:lnTo>
                    <a:lnTo>
                      <a:pt x="860" y="1829"/>
                    </a:lnTo>
                    <a:lnTo>
                      <a:pt x="440" y="1829"/>
                    </a:lnTo>
                    <a:lnTo>
                      <a:pt x="958" y="1063"/>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dirty="0"/>
              </a:p>
            </p:txBody>
          </p:sp>
        </p:grpSp>
      </p:grpSp>
      <p:cxnSp>
        <p:nvCxnSpPr>
          <p:cNvPr id="64" name="直线连接符 63">
            <a:extLst>
              <a:ext uri="{FF2B5EF4-FFF2-40B4-BE49-F238E27FC236}">
                <a16:creationId xmlns:a16="http://schemas.microsoft.com/office/drawing/2014/main" id="{06B569DB-EE88-CB4A-A634-A7CA45E81663}"/>
              </a:ext>
            </a:extLst>
          </p:cNvPr>
          <p:cNvCxnSpPr>
            <a:cxnSpLocks/>
          </p:cNvCxnSpPr>
          <p:nvPr userDrawn="1"/>
        </p:nvCxnSpPr>
        <p:spPr>
          <a:xfrm>
            <a:off x="9705401" y="526774"/>
            <a:ext cx="0" cy="503679"/>
          </a:xfrm>
          <a:prstGeom prst="line">
            <a:avLst/>
          </a:prstGeom>
          <a:ln w="12700" cap="rnd">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71" name="组合 70">
            <a:extLst>
              <a:ext uri="{FF2B5EF4-FFF2-40B4-BE49-F238E27FC236}">
                <a16:creationId xmlns:a16="http://schemas.microsoft.com/office/drawing/2014/main" id="{C1D75728-DE08-814F-9EF0-7E9AFB999FE6}"/>
              </a:ext>
            </a:extLst>
          </p:cNvPr>
          <p:cNvGrpSpPr/>
          <p:nvPr userDrawn="1"/>
        </p:nvGrpSpPr>
        <p:grpSpPr>
          <a:xfrm>
            <a:off x="715452" y="634525"/>
            <a:ext cx="403039" cy="321898"/>
            <a:chOff x="1368170" y="664579"/>
            <a:chExt cx="550582" cy="439737"/>
          </a:xfrm>
          <a:solidFill>
            <a:schemeClr val="bg1"/>
          </a:solidFill>
        </p:grpSpPr>
        <p:sp>
          <p:nvSpPr>
            <p:cNvPr id="72" name="Freeform 1">
              <a:extLst>
                <a:ext uri="{FF2B5EF4-FFF2-40B4-BE49-F238E27FC236}">
                  <a16:creationId xmlns:a16="http://schemas.microsoft.com/office/drawing/2014/main" id="{53F1A011-1E52-3140-9C21-8911AB32201B}"/>
                </a:ext>
              </a:extLst>
            </p:cNvPr>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3" name="Freeform 2">
              <a:extLst>
                <a:ext uri="{FF2B5EF4-FFF2-40B4-BE49-F238E27FC236}">
                  <a16:creationId xmlns:a16="http://schemas.microsoft.com/office/drawing/2014/main" id="{364873AD-F7AE-3D48-84F0-C71836518975}"/>
                </a:ext>
              </a:extLst>
            </p:cNvPr>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4" name="Freeform 3">
              <a:extLst>
                <a:ext uri="{FF2B5EF4-FFF2-40B4-BE49-F238E27FC236}">
                  <a16:creationId xmlns:a16="http://schemas.microsoft.com/office/drawing/2014/main" id="{5B03D593-4A0D-DF4E-8474-4FAD50C6BCB7}"/>
                </a:ext>
              </a:extLst>
            </p:cNvPr>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5" name="Freeform 4">
              <a:extLst>
                <a:ext uri="{FF2B5EF4-FFF2-40B4-BE49-F238E27FC236}">
                  <a16:creationId xmlns:a16="http://schemas.microsoft.com/office/drawing/2014/main" id="{1A0E5E70-2235-6044-9E4C-A8D32092980C}"/>
                </a:ext>
              </a:extLst>
            </p:cNvPr>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6" name="Freeform 5">
              <a:extLst>
                <a:ext uri="{FF2B5EF4-FFF2-40B4-BE49-F238E27FC236}">
                  <a16:creationId xmlns:a16="http://schemas.microsoft.com/office/drawing/2014/main" id="{9F25C08B-5CAA-1D40-B768-CF07CC9095C1}"/>
                </a:ext>
              </a:extLst>
            </p:cNvPr>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7" name="Freeform 6">
              <a:extLst>
                <a:ext uri="{FF2B5EF4-FFF2-40B4-BE49-F238E27FC236}">
                  <a16:creationId xmlns:a16="http://schemas.microsoft.com/office/drawing/2014/main" id="{A1A66D2D-2EC2-AA45-8DA4-4B543D6DB3C7}"/>
                </a:ext>
              </a:extLst>
            </p:cNvPr>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8" name="Freeform 7">
              <a:extLst>
                <a:ext uri="{FF2B5EF4-FFF2-40B4-BE49-F238E27FC236}">
                  <a16:creationId xmlns:a16="http://schemas.microsoft.com/office/drawing/2014/main" id="{BF5A2635-9D3C-B746-B7BB-00E1B5440D84}"/>
                </a:ext>
              </a:extLst>
            </p:cNvPr>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9" name="Freeform 8">
              <a:extLst>
                <a:ext uri="{FF2B5EF4-FFF2-40B4-BE49-F238E27FC236}">
                  <a16:creationId xmlns:a16="http://schemas.microsoft.com/office/drawing/2014/main" id="{9A427AEE-5F0B-1D43-8127-A5A07CDC3AC8}"/>
                </a:ext>
              </a:extLst>
            </p:cNvPr>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0" name="Freeform 9">
              <a:extLst>
                <a:ext uri="{FF2B5EF4-FFF2-40B4-BE49-F238E27FC236}">
                  <a16:creationId xmlns:a16="http://schemas.microsoft.com/office/drawing/2014/main" id="{E60E42BA-4A46-4D41-AA72-E2F725048BE0}"/>
                </a:ext>
              </a:extLst>
            </p:cNvPr>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1" name="Freeform 10">
              <a:extLst>
                <a:ext uri="{FF2B5EF4-FFF2-40B4-BE49-F238E27FC236}">
                  <a16:creationId xmlns:a16="http://schemas.microsoft.com/office/drawing/2014/main" id="{5B1734EF-4E6E-164F-849F-5F01256562DA}"/>
                </a:ext>
              </a:extLst>
            </p:cNvPr>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2" name="Freeform 11">
              <a:extLst>
                <a:ext uri="{FF2B5EF4-FFF2-40B4-BE49-F238E27FC236}">
                  <a16:creationId xmlns:a16="http://schemas.microsoft.com/office/drawing/2014/main" id="{8623BE8B-4483-AE4A-A6EA-432CBE50BCAC}"/>
                </a:ext>
              </a:extLst>
            </p:cNvPr>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pic>
        <p:nvPicPr>
          <p:cNvPr id="7" name="Picture 6">
            <a:extLst>
              <a:ext uri="{FF2B5EF4-FFF2-40B4-BE49-F238E27FC236}">
                <a16:creationId xmlns:a16="http://schemas.microsoft.com/office/drawing/2014/main" id="{18C2B86F-275D-E818-544A-2F89E829FB87}"/>
              </a:ext>
            </a:extLst>
          </p:cNvPr>
          <p:cNvPicPr>
            <a:picLocks noChangeAspect="1"/>
          </p:cNvPicPr>
          <p:nvPr userDrawn="1"/>
        </p:nvPicPr>
        <p:blipFill>
          <a:blip r:embed="rId2"/>
          <a:stretch>
            <a:fillRect/>
          </a:stretch>
        </p:blipFill>
        <p:spPr>
          <a:xfrm>
            <a:off x="10201492" y="360786"/>
            <a:ext cx="1372094" cy="423211"/>
          </a:xfrm>
          <a:prstGeom prst="rect">
            <a:avLst/>
          </a:prstGeom>
        </p:spPr>
      </p:pic>
    </p:spTree>
    <p:extLst>
      <p:ext uri="{BB962C8B-B14F-4D97-AF65-F5344CB8AC3E}">
        <p14:creationId xmlns:p14="http://schemas.microsoft.com/office/powerpoint/2010/main" val="32402532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E882D0-572E-624F-BEDB-F00CBE6A2180}"/>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B1A87903-353F-4B4A-B3FB-4066EDD98E7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AD04B3FA-B4F5-5C42-B890-F4076B7A4FD0}"/>
              </a:ext>
            </a:extLst>
          </p:cNvPr>
          <p:cNvSpPr>
            <a:spLocks noGrp="1"/>
          </p:cNvSpPr>
          <p:nvPr>
            <p:ph type="dt" sz="half" idx="10"/>
          </p:nvPr>
        </p:nvSpPr>
        <p:spPr/>
        <p:txBody>
          <a:bodyPr/>
          <a:lstStyle/>
          <a:p>
            <a:fld id="{8FB9FD2C-6821-D14F-9B68-59272353C12E}" type="datetime1">
              <a:rPr kumimoji="1" lang="zh-CN" altLang="en-US" smtClean="0"/>
              <a:t>2024/10/18</a:t>
            </a:fld>
            <a:endParaRPr kumimoji="1" lang="zh-CN" altLang="en-US"/>
          </a:p>
        </p:txBody>
      </p:sp>
      <p:sp>
        <p:nvSpPr>
          <p:cNvPr id="5" name="页脚占位符 4">
            <a:extLst>
              <a:ext uri="{FF2B5EF4-FFF2-40B4-BE49-F238E27FC236}">
                <a16:creationId xmlns:a16="http://schemas.microsoft.com/office/drawing/2014/main" id="{0C101AF8-66A2-9540-852A-299D36316658}"/>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31EE700E-C900-6342-B705-37A4EAE2A741}"/>
              </a:ext>
            </a:extLst>
          </p:cNvPr>
          <p:cNvSpPr>
            <a:spLocks noGrp="1"/>
          </p:cNvSpPr>
          <p:nvPr>
            <p:ph type="sldNum" sz="quarter" idx="12"/>
          </p:nvPr>
        </p:nvSpPr>
        <p:spPr/>
        <p:txBody>
          <a:bodyPr/>
          <a:lstStyle/>
          <a:p>
            <a:fld id="{8D4D1E41-7A09-AB4A-A4E1-09765ADA2698}" type="slidenum">
              <a:rPr kumimoji="1" lang="zh-CN" altLang="en-US" smtClean="0"/>
              <a:t>‹#›</a:t>
            </a:fld>
            <a:endParaRPr kumimoji="1" lang="zh-CN" altLang="en-US"/>
          </a:p>
        </p:txBody>
      </p:sp>
    </p:spTree>
    <p:extLst>
      <p:ext uri="{BB962C8B-B14F-4D97-AF65-F5344CB8AC3E}">
        <p14:creationId xmlns:p14="http://schemas.microsoft.com/office/powerpoint/2010/main" val="15926295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4CA6BC-3A36-834A-8A46-510CF743F360}"/>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E9F4A777-4880-8640-83A6-327323A56F12}"/>
              </a:ext>
            </a:extLst>
          </p:cNvPr>
          <p:cNvSpPr>
            <a:spLocks noGrp="1"/>
          </p:cNvSpPr>
          <p:nvPr>
            <p:ph sz="half" idx="1"/>
          </p:nvPr>
        </p:nvSpPr>
        <p:spPr>
          <a:xfrm>
            <a:off x="838200" y="1825625"/>
            <a:ext cx="5181600" cy="4351338"/>
          </a:xfrm>
        </p:spPr>
        <p:txBody>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内容占位符 3">
            <a:extLst>
              <a:ext uri="{FF2B5EF4-FFF2-40B4-BE49-F238E27FC236}">
                <a16:creationId xmlns:a16="http://schemas.microsoft.com/office/drawing/2014/main" id="{27E2510C-46FB-B140-83A3-4B9EF1B4C9DF}"/>
              </a:ext>
            </a:extLst>
          </p:cNvPr>
          <p:cNvSpPr>
            <a:spLocks noGrp="1"/>
          </p:cNvSpPr>
          <p:nvPr>
            <p:ph sz="half" idx="2"/>
          </p:nvPr>
        </p:nvSpPr>
        <p:spPr>
          <a:xfrm>
            <a:off x="6172200" y="1825625"/>
            <a:ext cx="5181600" cy="4351338"/>
          </a:xfrm>
        </p:spPr>
        <p:txBody>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5" name="日期占位符 4">
            <a:extLst>
              <a:ext uri="{FF2B5EF4-FFF2-40B4-BE49-F238E27FC236}">
                <a16:creationId xmlns:a16="http://schemas.microsoft.com/office/drawing/2014/main" id="{C459310F-E4CA-E54F-B1B1-7656B1F4AAA8}"/>
              </a:ext>
            </a:extLst>
          </p:cNvPr>
          <p:cNvSpPr>
            <a:spLocks noGrp="1"/>
          </p:cNvSpPr>
          <p:nvPr>
            <p:ph type="dt" sz="half" idx="10"/>
          </p:nvPr>
        </p:nvSpPr>
        <p:spPr/>
        <p:txBody>
          <a:bodyPr/>
          <a:lstStyle/>
          <a:p>
            <a:fld id="{3B2C8BEE-C117-B242-AE80-6684D8ECFAC3}" type="datetime1">
              <a:rPr kumimoji="1" lang="zh-CN" altLang="en-US" smtClean="0"/>
              <a:t>2024/10/18</a:t>
            </a:fld>
            <a:endParaRPr kumimoji="1" lang="zh-CN" altLang="en-US"/>
          </a:p>
        </p:txBody>
      </p:sp>
      <p:sp>
        <p:nvSpPr>
          <p:cNvPr id="6" name="页脚占位符 5">
            <a:extLst>
              <a:ext uri="{FF2B5EF4-FFF2-40B4-BE49-F238E27FC236}">
                <a16:creationId xmlns:a16="http://schemas.microsoft.com/office/drawing/2014/main" id="{D8A41358-8B3C-CE4B-B391-06B0FF85E814}"/>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FDFB6C4E-D29D-9647-82C6-2B183C588D14}"/>
              </a:ext>
            </a:extLst>
          </p:cNvPr>
          <p:cNvSpPr>
            <a:spLocks noGrp="1"/>
          </p:cNvSpPr>
          <p:nvPr>
            <p:ph type="sldNum" sz="quarter" idx="12"/>
          </p:nvPr>
        </p:nvSpPr>
        <p:spPr/>
        <p:txBody>
          <a:bodyPr/>
          <a:lstStyle/>
          <a:p>
            <a:fld id="{8D4D1E41-7A09-AB4A-A4E1-09765ADA2698}" type="slidenum">
              <a:rPr kumimoji="1" lang="zh-CN" altLang="en-US" smtClean="0"/>
              <a:t>‹#›</a:t>
            </a:fld>
            <a:endParaRPr kumimoji="1" lang="zh-CN" altLang="en-US"/>
          </a:p>
        </p:txBody>
      </p:sp>
      <p:sp>
        <p:nvSpPr>
          <p:cNvPr id="8" name="矩形 7">
            <a:extLst>
              <a:ext uri="{FF2B5EF4-FFF2-40B4-BE49-F238E27FC236}">
                <a16:creationId xmlns:a16="http://schemas.microsoft.com/office/drawing/2014/main" id="{6EA401A9-3F89-014C-9A94-02FD1A5217FC}"/>
              </a:ext>
            </a:extLst>
          </p:cNvPr>
          <p:cNvSpPr/>
          <p:nvPr userDrawn="1"/>
        </p:nvSpPr>
        <p:spPr>
          <a:xfrm>
            <a:off x="667831" y="553426"/>
            <a:ext cx="509313" cy="498948"/>
          </a:xfrm>
          <a:prstGeom prst="rect">
            <a:avLst/>
          </a:prstGeom>
          <a:solidFill>
            <a:srgbClr val="5C30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5C307E"/>
              </a:solidFill>
            </a:endParaRPr>
          </a:p>
        </p:txBody>
      </p:sp>
      <p:cxnSp>
        <p:nvCxnSpPr>
          <p:cNvPr id="9" name="直线连接符 8">
            <a:extLst>
              <a:ext uri="{FF2B5EF4-FFF2-40B4-BE49-F238E27FC236}">
                <a16:creationId xmlns:a16="http://schemas.microsoft.com/office/drawing/2014/main" id="{2D64F221-C9B8-444F-9076-736EED2DA56E}"/>
              </a:ext>
            </a:extLst>
          </p:cNvPr>
          <p:cNvCxnSpPr>
            <a:cxnSpLocks/>
          </p:cNvCxnSpPr>
          <p:nvPr userDrawn="1"/>
        </p:nvCxnSpPr>
        <p:spPr>
          <a:xfrm>
            <a:off x="1314788" y="1244212"/>
            <a:ext cx="7295812" cy="0"/>
          </a:xfrm>
          <a:prstGeom prst="line">
            <a:avLst/>
          </a:prstGeom>
          <a:ln w="19050">
            <a:solidFill>
              <a:srgbClr val="5C307E"/>
            </a:solidFill>
          </a:ln>
        </p:spPr>
        <p:style>
          <a:lnRef idx="1">
            <a:schemeClr val="accent1"/>
          </a:lnRef>
          <a:fillRef idx="0">
            <a:schemeClr val="accent1"/>
          </a:fillRef>
          <a:effectRef idx="0">
            <a:schemeClr val="accent1"/>
          </a:effectRef>
          <a:fontRef idx="minor">
            <a:schemeClr val="tx1"/>
          </a:fontRef>
        </p:style>
      </p:cxnSp>
      <p:grpSp>
        <p:nvGrpSpPr>
          <p:cNvPr id="10" name="组合 9">
            <a:extLst>
              <a:ext uri="{FF2B5EF4-FFF2-40B4-BE49-F238E27FC236}">
                <a16:creationId xmlns:a16="http://schemas.microsoft.com/office/drawing/2014/main" id="{F75304E3-D2BA-6B43-A9CA-868095E37E2C}"/>
              </a:ext>
            </a:extLst>
          </p:cNvPr>
          <p:cNvGrpSpPr/>
          <p:nvPr userDrawn="1"/>
        </p:nvGrpSpPr>
        <p:grpSpPr>
          <a:xfrm>
            <a:off x="9849450" y="844221"/>
            <a:ext cx="1961485" cy="208345"/>
            <a:chOff x="1368170" y="1165302"/>
            <a:chExt cx="4139947" cy="439737"/>
          </a:xfrm>
        </p:grpSpPr>
        <p:grpSp>
          <p:nvGrpSpPr>
            <p:cNvPr id="11" name="组合 10">
              <a:extLst>
                <a:ext uri="{FF2B5EF4-FFF2-40B4-BE49-F238E27FC236}">
                  <a16:creationId xmlns:a16="http://schemas.microsoft.com/office/drawing/2014/main" id="{C6BD9614-F72F-8A43-9314-4D110B22A613}"/>
                </a:ext>
              </a:extLst>
            </p:cNvPr>
            <p:cNvGrpSpPr/>
            <p:nvPr/>
          </p:nvGrpSpPr>
          <p:grpSpPr>
            <a:xfrm>
              <a:off x="1368170" y="1165302"/>
              <a:ext cx="550582" cy="439737"/>
              <a:chOff x="1368170" y="664579"/>
              <a:chExt cx="550582" cy="439737"/>
            </a:xfrm>
          </p:grpSpPr>
          <p:sp>
            <p:nvSpPr>
              <p:cNvPr id="22" name="Freeform 1">
                <a:extLst>
                  <a:ext uri="{FF2B5EF4-FFF2-40B4-BE49-F238E27FC236}">
                    <a16:creationId xmlns:a16="http://schemas.microsoft.com/office/drawing/2014/main" id="{17E3AC1A-2BCC-CA46-AC9B-ECC6AD4DD9B6}"/>
                  </a:ext>
                </a:extLst>
              </p:cNvPr>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solidFill>
                <a:srgbClr val="D72229"/>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3" name="Freeform 2">
                <a:extLst>
                  <a:ext uri="{FF2B5EF4-FFF2-40B4-BE49-F238E27FC236}">
                    <a16:creationId xmlns:a16="http://schemas.microsoft.com/office/drawing/2014/main" id="{8FC97171-0F8A-6B4A-BC04-4A83196EEE71}"/>
                  </a:ext>
                </a:extLst>
              </p:cNvPr>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solidFill>
                <a:srgbClr val="DD4A16"/>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 name="Freeform 3">
                <a:extLst>
                  <a:ext uri="{FF2B5EF4-FFF2-40B4-BE49-F238E27FC236}">
                    <a16:creationId xmlns:a16="http://schemas.microsoft.com/office/drawing/2014/main" id="{2486AB9B-C9E8-E94F-B7E8-57CD96498467}"/>
                  </a:ext>
                </a:extLst>
              </p:cNvPr>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solidFill>
                <a:srgbClr val="EA741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 name="Freeform 4">
                <a:extLst>
                  <a:ext uri="{FF2B5EF4-FFF2-40B4-BE49-F238E27FC236}">
                    <a16:creationId xmlns:a16="http://schemas.microsoft.com/office/drawing/2014/main" id="{18A408D8-23CF-864B-9403-912ED0D24EDB}"/>
                  </a:ext>
                </a:extLst>
              </p:cNvPr>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solidFill>
                <a:srgbClr val="F6C40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6" name="Freeform 5">
                <a:extLst>
                  <a:ext uri="{FF2B5EF4-FFF2-40B4-BE49-F238E27FC236}">
                    <a16:creationId xmlns:a16="http://schemas.microsoft.com/office/drawing/2014/main" id="{77D66A57-5273-854B-AD7C-A91B6BFF4D68}"/>
                  </a:ext>
                </a:extLst>
              </p:cNvPr>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solidFill>
                <a:srgbClr val="F1E827"/>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 name="Freeform 6">
                <a:extLst>
                  <a:ext uri="{FF2B5EF4-FFF2-40B4-BE49-F238E27FC236}">
                    <a16:creationId xmlns:a16="http://schemas.microsoft.com/office/drawing/2014/main" id="{9AD37317-D84E-444B-88EB-8CF2CC57CC4B}"/>
                  </a:ext>
                </a:extLst>
              </p:cNvPr>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solidFill>
                <a:srgbClr val="157C5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 name="Freeform 7">
                <a:extLst>
                  <a:ext uri="{FF2B5EF4-FFF2-40B4-BE49-F238E27FC236}">
                    <a16:creationId xmlns:a16="http://schemas.microsoft.com/office/drawing/2014/main" id="{069D0FB6-7378-5344-B149-1899961AC549}"/>
                  </a:ext>
                </a:extLst>
              </p:cNvPr>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solidFill>
                <a:srgbClr val="049445"/>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9" name="Freeform 8">
                <a:extLst>
                  <a:ext uri="{FF2B5EF4-FFF2-40B4-BE49-F238E27FC236}">
                    <a16:creationId xmlns:a16="http://schemas.microsoft.com/office/drawing/2014/main" id="{3084061A-A4AC-BE42-8E46-F3BEBCC64BF5}"/>
                  </a:ext>
                </a:extLst>
              </p:cNvPr>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solidFill>
                <a:srgbClr val="48A838"/>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0" name="Freeform 9">
                <a:extLst>
                  <a:ext uri="{FF2B5EF4-FFF2-40B4-BE49-F238E27FC236}">
                    <a16:creationId xmlns:a16="http://schemas.microsoft.com/office/drawing/2014/main" id="{F3560C95-0398-8848-953C-C870AD870704}"/>
                  </a:ext>
                </a:extLst>
              </p:cNvPr>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solidFill>
                <a:srgbClr val="B2CE24"/>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1" name="Freeform 10">
                <a:extLst>
                  <a:ext uri="{FF2B5EF4-FFF2-40B4-BE49-F238E27FC236}">
                    <a16:creationId xmlns:a16="http://schemas.microsoft.com/office/drawing/2014/main" id="{FC10BBCE-A81E-674D-90E5-1E60F8B244E1}"/>
                  </a:ext>
                </a:extLst>
              </p:cNvPr>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solidFill>
                <a:srgbClr val="F1E827"/>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2" name="Freeform 11">
                <a:extLst>
                  <a:ext uri="{FF2B5EF4-FFF2-40B4-BE49-F238E27FC236}">
                    <a16:creationId xmlns:a16="http://schemas.microsoft.com/office/drawing/2014/main" id="{7825D298-25D2-B645-9DE4-6B4AC2DAF418}"/>
                  </a:ext>
                </a:extLst>
              </p:cNvPr>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solidFill>
                <a:srgbClr val="F1E827"/>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12" name="组合 11">
              <a:extLst>
                <a:ext uri="{FF2B5EF4-FFF2-40B4-BE49-F238E27FC236}">
                  <a16:creationId xmlns:a16="http://schemas.microsoft.com/office/drawing/2014/main" id="{1AB322FF-E82E-B849-A67E-8885F84F1B80}"/>
                </a:ext>
              </a:extLst>
            </p:cNvPr>
            <p:cNvGrpSpPr/>
            <p:nvPr/>
          </p:nvGrpSpPr>
          <p:grpSpPr>
            <a:xfrm>
              <a:off x="2028870" y="1197389"/>
              <a:ext cx="3479247" cy="365353"/>
              <a:chOff x="2028870" y="696666"/>
              <a:chExt cx="3479247" cy="365353"/>
            </a:xfrm>
            <a:solidFill>
              <a:schemeClr val="bg1">
                <a:lumMod val="50000"/>
              </a:schemeClr>
            </a:solidFill>
          </p:grpSpPr>
          <p:sp>
            <p:nvSpPr>
              <p:cNvPr id="13" name="Freeform 12">
                <a:extLst>
                  <a:ext uri="{FF2B5EF4-FFF2-40B4-BE49-F238E27FC236}">
                    <a16:creationId xmlns:a16="http://schemas.microsoft.com/office/drawing/2014/main" id="{939245C7-932E-A84A-81EC-0A53746F9A2E}"/>
                  </a:ext>
                </a:extLst>
              </p:cNvPr>
              <p:cNvSpPr>
                <a:spLocks noChangeArrowheads="1"/>
              </p:cNvSpPr>
              <p:nvPr/>
            </p:nvSpPr>
            <p:spPr bwMode="auto">
              <a:xfrm>
                <a:off x="2028870" y="697395"/>
                <a:ext cx="358061" cy="363166"/>
              </a:xfrm>
              <a:custGeom>
                <a:avLst/>
                <a:gdLst>
                  <a:gd name="T0" fmla="*/ 121 w 2165"/>
                  <a:gd name="T1" fmla="*/ 758 h 2195"/>
                  <a:gd name="T2" fmla="*/ 0 w 2165"/>
                  <a:gd name="T3" fmla="*/ 758 h 2195"/>
                  <a:gd name="T4" fmla="*/ 0 w 2165"/>
                  <a:gd name="T5" fmla="*/ 582 h 2195"/>
                  <a:gd name="T6" fmla="*/ 463 w 2165"/>
                  <a:gd name="T7" fmla="*/ 582 h 2195"/>
                  <a:gd name="T8" fmla="*/ 463 w 2165"/>
                  <a:gd name="T9" fmla="*/ 1982 h 2195"/>
                  <a:gd name="T10" fmla="*/ 620 w 2165"/>
                  <a:gd name="T11" fmla="*/ 1982 h 2195"/>
                  <a:gd name="T12" fmla="*/ 620 w 2165"/>
                  <a:gd name="T13" fmla="*/ 2157 h 2195"/>
                  <a:gd name="T14" fmla="*/ 121 w 2165"/>
                  <a:gd name="T15" fmla="*/ 2157 h 2195"/>
                  <a:gd name="T16" fmla="*/ 121 w 2165"/>
                  <a:gd name="T17" fmla="*/ 758 h 2195"/>
                  <a:gd name="T18" fmla="*/ 467 w 2165"/>
                  <a:gd name="T19" fmla="*/ 51 h 2195"/>
                  <a:gd name="T20" fmla="*/ 467 w 2165"/>
                  <a:gd name="T21" fmla="*/ 462 h 2195"/>
                  <a:gd name="T22" fmla="*/ 121 w 2165"/>
                  <a:gd name="T23" fmla="*/ 462 h 2195"/>
                  <a:gd name="T24" fmla="*/ 121 w 2165"/>
                  <a:gd name="T25" fmla="*/ 51 h 2195"/>
                  <a:gd name="T26" fmla="*/ 467 w 2165"/>
                  <a:gd name="T27" fmla="*/ 51 h 2195"/>
                  <a:gd name="T28" fmla="*/ 629 w 2165"/>
                  <a:gd name="T29" fmla="*/ 906 h 2195"/>
                  <a:gd name="T30" fmla="*/ 629 w 2165"/>
                  <a:gd name="T31" fmla="*/ 730 h 2195"/>
                  <a:gd name="T32" fmla="*/ 1221 w 2165"/>
                  <a:gd name="T33" fmla="*/ 730 h 2195"/>
                  <a:gd name="T34" fmla="*/ 1221 w 2165"/>
                  <a:gd name="T35" fmla="*/ 0 h 2195"/>
                  <a:gd name="T36" fmla="*/ 1563 w 2165"/>
                  <a:gd name="T37" fmla="*/ 0 h 2195"/>
                  <a:gd name="T38" fmla="*/ 1563 w 2165"/>
                  <a:gd name="T39" fmla="*/ 730 h 2195"/>
                  <a:gd name="T40" fmla="*/ 2164 w 2165"/>
                  <a:gd name="T41" fmla="*/ 730 h 2195"/>
                  <a:gd name="T42" fmla="*/ 2164 w 2165"/>
                  <a:gd name="T43" fmla="*/ 906 h 2195"/>
                  <a:gd name="T44" fmla="*/ 1563 w 2165"/>
                  <a:gd name="T45" fmla="*/ 906 h 2195"/>
                  <a:gd name="T46" fmla="*/ 1563 w 2165"/>
                  <a:gd name="T47" fmla="*/ 2194 h 2195"/>
                  <a:gd name="T48" fmla="*/ 1221 w 2165"/>
                  <a:gd name="T49" fmla="*/ 2194 h 2195"/>
                  <a:gd name="T50" fmla="*/ 1221 w 2165"/>
                  <a:gd name="T51" fmla="*/ 906 h 2195"/>
                  <a:gd name="T52" fmla="*/ 629 w 2165"/>
                  <a:gd name="T53" fmla="*/ 906 h 2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165" h="2195">
                    <a:moveTo>
                      <a:pt x="121" y="758"/>
                    </a:moveTo>
                    <a:lnTo>
                      <a:pt x="0" y="758"/>
                    </a:lnTo>
                    <a:lnTo>
                      <a:pt x="0" y="582"/>
                    </a:lnTo>
                    <a:lnTo>
                      <a:pt x="463" y="582"/>
                    </a:lnTo>
                    <a:lnTo>
                      <a:pt x="463" y="1982"/>
                    </a:lnTo>
                    <a:lnTo>
                      <a:pt x="620" y="1982"/>
                    </a:lnTo>
                    <a:lnTo>
                      <a:pt x="620" y="2157"/>
                    </a:lnTo>
                    <a:lnTo>
                      <a:pt x="121" y="2157"/>
                    </a:lnTo>
                    <a:lnTo>
                      <a:pt x="121" y="758"/>
                    </a:lnTo>
                    <a:close/>
                    <a:moveTo>
                      <a:pt x="467" y="51"/>
                    </a:moveTo>
                    <a:lnTo>
                      <a:pt x="467" y="462"/>
                    </a:lnTo>
                    <a:lnTo>
                      <a:pt x="121" y="462"/>
                    </a:lnTo>
                    <a:lnTo>
                      <a:pt x="121" y="51"/>
                    </a:lnTo>
                    <a:lnTo>
                      <a:pt x="467" y="51"/>
                    </a:lnTo>
                    <a:close/>
                    <a:moveTo>
                      <a:pt x="629" y="906"/>
                    </a:moveTo>
                    <a:lnTo>
                      <a:pt x="629" y="730"/>
                    </a:lnTo>
                    <a:lnTo>
                      <a:pt x="1221" y="730"/>
                    </a:lnTo>
                    <a:lnTo>
                      <a:pt x="1221" y="0"/>
                    </a:lnTo>
                    <a:lnTo>
                      <a:pt x="1563" y="0"/>
                    </a:lnTo>
                    <a:lnTo>
                      <a:pt x="1563" y="730"/>
                    </a:lnTo>
                    <a:lnTo>
                      <a:pt x="2164" y="730"/>
                    </a:lnTo>
                    <a:lnTo>
                      <a:pt x="2164" y="906"/>
                    </a:lnTo>
                    <a:lnTo>
                      <a:pt x="1563" y="906"/>
                    </a:lnTo>
                    <a:lnTo>
                      <a:pt x="1563" y="2194"/>
                    </a:lnTo>
                    <a:lnTo>
                      <a:pt x="1221" y="2194"/>
                    </a:lnTo>
                    <a:lnTo>
                      <a:pt x="1221" y="906"/>
                    </a:lnTo>
                    <a:lnTo>
                      <a:pt x="629" y="906"/>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4" name="Freeform 13">
                <a:extLst>
                  <a:ext uri="{FF2B5EF4-FFF2-40B4-BE49-F238E27FC236}">
                    <a16:creationId xmlns:a16="http://schemas.microsoft.com/office/drawing/2014/main" id="{09FAD7D1-6766-4344-BAA4-F13F7EAB76F7}"/>
                  </a:ext>
                </a:extLst>
              </p:cNvPr>
              <p:cNvSpPr>
                <a:spLocks noChangeArrowheads="1"/>
              </p:cNvSpPr>
              <p:nvPr/>
            </p:nvSpPr>
            <p:spPr bwMode="auto">
              <a:xfrm>
                <a:off x="2417559" y="696666"/>
                <a:ext cx="357332" cy="364625"/>
              </a:xfrm>
              <a:custGeom>
                <a:avLst/>
                <a:gdLst>
                  <a:gd name="T0" fmla="*/ 583 w 2161"/>
                  <a:gd name="T1" fmla="*/ 379 h 2205"/>
                  <a:gd name="T2" fmla="*/ 458 w 2161"/>
                  <a:gd name="T3" fmla="*/ 287 h 2205"/>
                  <a:gd name="T4" fmla="*/ 0 w 2161"/>
                  <a:gd name="T5" fmla="*/ 379 h 2205"/>
                  <a:gd name="T6" fmla="*/ 662 w 2161"/>
                  <a:gd name="T7" fmla="*/ 0 h 2205"/>
                  <a:gd name="T8" fmla="*/ 1087 w 2161"/>
                  <a:gd name="T9" fmla="*/ 111 h 2205"/>
                  <a:gd name="T10" fmla="*/ 916 w 2161"/>
                  <a:gd name="T11" fmla="*/ 287 h 2205"/>
                  <a:gd name="T12" fmla="*/ 675 w 2161"/>
                  <a:gd name="T13" fmla="*/ 1691 h 2205"/>
                  <a:gd name="T14" fmla="*/ 1545 w 2161"/>
                  <a:gd name="T15" fmla="*/ 1811 h 2205"/>
                  <a:gd name="T16" fmla="*/ 1887 w 2161"/>
                  <a:gd name="T17" fmla="*/ 1691 h 2205"/>
                  <a:gd name="T18" fmla="*/ 2150 w 2161"/>
                  <a:gd name="T19" fmla="*/ 1811 h 2205"/>
                  <a:gd name="T20" fmla="*/ 1887 w 2161"/>
                  <a:gd name="T21" fmla="*/ 1987 h 2205"/>
                  <a:gd name="T22" fmla="*/ 1545 w 2161"/>
                  <a:gd name="T23" fmla="*/ 2204 h 2205"/>
                  <a:gd name="T24" fmla="*/ 652 w 2161"/>
                  <a:gd name="T25" fmla="*/ 1987 h 2205"/>
                  <a:gd name="T26" fmla="*/ 144 w 2161"/>
                  <a:gd name="T27" fmla="*/ 2204 h 2205"/>
                  <a:gd name="T28" fmla="*/ 47 w 2161"/>
                  <a:gd name="T29" fmla="*/ 1987 h 2205"/>
                  <a:gd name="T30" fmla="*/ 333 w 2161"/>
                  <a:gd name="T31" fmla="*/ 1811 h 2205"/>
                  <a:gd name="T32" fmla="*/ 675 w 2161"/>
                  <a:gd name="T33" fmla="*/ 1691 h 2205"/>
                  <a:gd name="T34" fmla="*/ 2100 w 2161"/>
                  <a:gd name="T35" fmla="*/ 448 h 2205"/>
                  <a:gd name="T36" fmla="*/ 102 w 2161"/>
                  <a:gd name="T37" fmla="*/ 1622 h 2205"/>
                  <a:gd name="T38" fmla="*/ 444 w 2161"/>
                  <a:gd name="T39" fmla="*/ 781 h 2205"/>
                  <a:gd name="T40" fmla="*/ 1757 w 2161"/>
                  <a:gd name="T41" fmla="*/ 624 h 2205"/>
                  <a:gd name="T42" fmla="*/ 444 w 2161"/>
                  <a:gd name="T43" fmla="*/ 781 h 2205"/>
                  <a:gd name="T44" fmla="*/ 1757 w 2161"/>
                  <a:gd name="T45" fmla="*/ 1114 h 2205"/>
                  <a:gd name="T46" fmla="*/ 444 w 2161"/>
                  <a:gd name="T47" fmla="*/ 957 h 2205"/>
                  <a:gd name="T48" fmla="*/ 1757 w 2161"/>
                  <a:gd name="T49" fmla="*/ 1289 h 2205"/>
                  <a:gd name="T50" fmla="*/ 444 w 2161"/>
                  <a:gd name="T51" fmla="*/ 1446 h 2205"/>
                  <a:gd name="T52" fmla="*/ 1757 w 2161"/>
                  <a:gd name="T53" fmla="*/ 1289 h 2205"/>
                  <a:gd name="T54" fmla="*/ 1041 w 2161"/>
                  <a:gd name="T55" fmla="*/ 379 h 2205"/>
                  <a:gd name="T56" fmla="*/ 1688 w 2161"/>
                  <a:gd name="T57" fmla="*/ 0 h 2205"/>
                  <a:gd name="T58" fmla="*/ 2160 w 2161"/>
                  <a:gd name="T59" fmla="*/ 111 h 2205"/>
                  <a:gd name="T60" fmla="*/ 1998 w 2161"/>
                  <a:gd name="T61" fmla="*/ 287 h 2205"/>
                  <a:gd name="T62" fmla="*/ 1646 w 2161"/>
                  <a:gd name="T63" fmla="*/ 379 h 2205"/>
                  <a:gd name="T64" fmla="*/ 1508 w 2161"/>
                  <a:gd name="T65" fmla="*/ 287 h 2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161" h="2205">
                    <a:moveTo>
                      <a:pt x="990" y="379"/>
                    </a:moveTo>
                    <a:lnTo>
                      <a:pt x="583" y="379"/>
                    </a:lnTo>
                    <a:lnTo>
                      <a:pt x="509" y="287"/>
                    </a:lnTo>
                    <a:lnTo>
                      <a:pt x="458" y="287"/>
                    </a:lnTo>
                    <a:lnTo>
                      <a:pt x="389" y="379"/>
                    </a:lnTo>
                    <a:lnTo>
                      <a:pt x="0" y="379"/>
                    </a:lnTo>
                    <a:lnTo>
                      <a:pt x="273" y="0"/>
                    </a:lnTo>
                    <a:lnTo>
                      <a:pt x="662" y="0"/>
                    </a:lnTo>
                    <a:lnTo>
                      <a:pt x="592" y="111"/>
                    </a:lnTo>
                    <a:lnTo>
                      <a:pt x="1087" y="111"/>
                    </a:lnTo>
                    <a:lnTo>
                      <a:pt x="1087" y="287"/>
                    </a:lnTo>
                    <a:lnTo>
                      <a:pt x="916" y="287"/>
                    </a:lnTo>
                    <a:lnTo>
                      <a:pt x="990" y="379"/>
                    </a:lnTo>
                    <a:close/>
                    <a:moveTo>
                      <a:pt x="675" y="1691"/>
                    </a:moveTo>
                    <a:lnTo>
                      <a:pt x="675" y="1811"/>
                    </a:lnTo>
                    <a:lnTo>
                      <a:pt x="1545" y="1811"/>
                    </a:lnTo>
                    <a:lnTo>
                      <a:pt x="1545" y="1691"/>
                    </a:lnTo>
                    <a:lnTo>
                      <a:pt x="1887" y="1691"/>
                    </a:lnTo>
                    <a:lnTo>
                      <a:pt x="1887" y="1811"/>
                    </a:lnTo>
                    <a:lnTo>
                      <a:pt x="2150" y="1811"/>
                    </a:lnTo>
                    <a:lnTo>
                      <a:pt x="2150" y="1987"/>
                    </a:lnTo>
                    <a:lnTo>
                      <a:pt x="1887" y="1987"/>
                    </a:lnTo>
                    <a:lnTo>
                      <a:pt x="1887" y="2204"/>
                    </a:lnTo>
                    <a:lnTo>
                      <a:pt x="1545" y="2204"/>
                    </a:lnTo>
                    <a:lnTo>
                      <a:pt x="1545" y="1987"/>
                    </a:lnTo>
                    <a:lnTo>
                      <a:pt x="652" y="1987"/>
                    </a:lnTo>
                    <a:lnTo>
                      <a:pt x="527" y="2204"/>
                    </a:lnTo>
                    <a:lnTo>
                      <a:pt x="144" y="2204"/>
                    </a:lnTo>
                    <a:lnTo>
                      <a:pt x="282" y="1987"/>
                    </a:lnTo>
                    <a:lnTo>
                      <a:pt x="47" y="1987"/>
                    </a:lnTo>
                    <a:lnTo>
                      <a:pt x="47" y="1811"/>
                    </a:lnTo>
                    <a:lnTo>
                      <a:pt x="333" y="1811"/>
                    </a:lnTo>
                    <a:lnTo>
                      <a:pt x="333" y="1691"/>
                    </a:lnTo>
                    <a:lnTo>
                      <a:pt x="675" y="1691"/>
                    </a:lnTo>
                    <a:close/>
                    <a:moveTo>
                      <a:pt x="102" y="448"/>
                    </a:moveTo>
                    <a:lnTo>
                      <a:pt x="2100" y="448"/>
                    </a:lnTo>
                    <a:lnTo>
                      <a:pt x="2100" y="1622"/>
                    </a:lnTo>
                    <a:lnTo>
                      <a:pt x="102" y="1622"/>
                    </a:lnTo>
                    <a:lnTo>
                      <a:pt x="102" y="448"/>
                    </a:lnTo>
                    <a:close/>
                    <a:moveTo>
                      <a:pt x="444" y="781"/>
                    </a:moveTo>
                    <a:lnTo>
                      <a:pt x="1757" y="781"/>
                    </a:lnTo>
                    <a:lnTo>
                      <a:pt x="1757" y="624"/>
                    </a:lnTo>
                    <a:lnTo>
                      <a:pt x="444" y="624"/>
                    </a:lnTo>
                    <a:lnTo>
                      <a:pt x="444" y="781"/>
                    </a:lnTo>
                    <a:close/>
                    <a:moveTo>
                      <a:pt x="444" y="1114"/>
                    </a:moveTo>
                    <a:lnTo>
                      <a:pt x="1757" y="1114"/>
                    </a:lnTo>
                    <a:lnTo>
                      <a:pt x="1757" y="957"/>
                    </a:lnTo>
                    <a:lnTo>
                      <a:pt x="444" y="957"/>
                    </a:lnTo>
                    <a:lnTo>
                      <a:pt x="444" y="1114"/>
                    </a:lnTo>
                    <a:close/>
                    <a:moveTo>
                      <a:pt x="1757" y="1289"/>
                    </a:moveTo>
                    <a:lnTo>
                      <a:pt x="444" y="1289"/>
                    </a:lnTo>
                    <a:lnTo>
                      <a:pt x="444" y="1446"/>
                    </a:lnTo>
                    <a:lnTo>
                      <a:pt x="1757" y="1446"/>
                    </a:lnTo>
                    <a:lnTo>
                      <a:pt x="1757" y="1289"/>
                    </a:lnTo>
                    <a:close/>
                    <a:moveTo>
                      <a:pt x="1434" y="379"/>
                    </a:moveTo>
                    <a:lnTo>
                      <a:pt x="1041" y="379"/>
                    </a:lnTo>
                    <a:lnTo>
                      <a:pt x="1313" y="0"/>
                    </a:lnTo>
                    <a:lnTo>
                      <a:pt x="1688" y="0"/>
                    </a:lnTo>
                    <a:lnTo>
                      <a:pt x="1609" y="111"/>
                    </a:lnTo>
                    <a:lnTo>
                      <a:pt x="2160" y="111"/>
                    </a:lnTo>
                    <a:lnTo>
                      <a:pt x="2160" y="287"/>
                    </a:lnTo>
                    <a:lnTo>
                      <a:pt x="1998" y="287"/>
                    </a:lnTo>
                    <a:lnTo>
                      <a:pt x="2072" y="379"/>
                    </a:lnTo>
                    <a:lnTo>
                      <a:pt x="1646" y="379"/>
                    </a:lnTo>
                    <a:lnTo>
                      <a:pt x="1572" y="287"/>
                    </a:lnTo>
                    <a:lnTo>
                      <a:pt x="1508" y="287"/>
                    </a:lnTo>
                    <a:lnTo>
                      <a:pt x="1434" y="379"/>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5" name="Freeform 14">
                <a:extLst>
                  <a:ext uri="{FF2B5EF4-FFF2-40B4-BE49-F238E27FC236}">
                    <a16:creationId xmlns:a16="http://schemas.microsoft.com/office/drawing/2014/main" id="{A3F469B6-43A0-3142-B44A-FCAEEFFB11A0}"/>
                  </a:ext>
                </a:extLst>
              </p:cNvPr>
              <p:cNvSpPr>
                <a:spLocks noChangeArrowheads="1"/>
              </p:cNvSpPr>
              <p:nvPr/>
            </p:nvSpPr>
            <p:spPr bwMode="auto">
              <a:xfrm>
                <a:off x="2810625" y="696666"/>
                <a:ext cx="363895" cy="364625"/>
              </a:xfrm>
              <a:custGeom>
                <a:avLst/>
                <a:gdLst>
                  <a:gd name="T0" fmla="*/ 0 w 2202"/>
                  <a:gd name="T1" fmla="*/ 2019 h 2205"/>
                  <a:gd name="T2" fmla="*/ 74 w 2202"/>
                  <a:gd name="T3" fmla="*/ 661 h 2205"/>
                  <a:gd name="T4" fmla="*/ 310 w 2202"/>
                  <a:gd name="T5" fmla="*/ 661 h 2205"/>
                  <a:gd name="T6" fmla="*/ 231 w 2202"/>
                  <a:gd name="T7" fmla="*/ 2019 h 2205"/>
                  <a:gd name="T8" fmla="*/ 0 w 2202"/>
                  <a:gd name="T9" fmla="*/ 2019 h 2205"/>
                  <a:gd name="T10" fmla="*/ 939 w 2202"/>
                  <a:gd name="T11" fmla="*/ 439 h 2205"/>
                  <a:gd name="T12" fmla="*/ 684 w 2202"/>
                  <a:gd name="T13" fmla="*/ 439 h 2205"/>
                  <a:gd name="T14" fmla="*/ 684 w 2202"/>
                  <a:gd name="T15" fmla="*/ 2204 h 2205"/>
                  <a:gd name="T16" fmla="*/ 361 w 2202"/>
                  <a:gd name="T17" fmla="*/ 2204 h 2205"/>
                  <a:gd name="T18" fmla="*/ 361 w 2202"/>
                  <a:gd name="T19" fmla="*/ 439 h 2205"/>
                  <a:gd name="T20" fmla="*/ 28 w 2202"/>
                  <a:gd name="T21" fmla="*/ 439 h 2205"/>
                  <a:gd name="T22" fmla="*/ 28 w 2202"/>
                  <a:gd name="T23" fmla="*/ 264 h 2205"/>
                  <a:gd name="T24" fmla="*/ 361 w 2202"/>
                  <a:gd name="T25" fmla="*/ 264 h 2205"/>
                  <a:gd name="T26" fmla="*/ 361 w 2202"/>
                  <a:gd name="T27" fmla="*/ 0 h 2205"/>
                  <a:gd name="T28" fmla="*/ 684 w 2202"/>
                  <a:gd name="T29" fmla="*/ 0 h 2205"/>
                  <a:gd name="T30" fmla="*/ 684 w 2202"/>
                  <a:gd name="T31" fmla="*/ 264 h 2205"/>
                  <a:gd name="T32" fmla="*/ 939 w 2202"/>
                  <a:gd name="T33" fmla="*/ 264 h 2205"/>
                  <a:gd name="T34" fmla="*/ 939 w 2202"/>
                  <a:gd name="T35" fmla="*/ 439 h 2205"/>
                  <a:gd name="T36" fmla="*/ 939 w 2202"/>
                  <a:gd name="T37" fmla="*/ 661 h 2205"/>
                  <a:gd name="T38" fmla="*/ 939 w 2202"/>
                  <a:gd name="T39" fmla="*/ 1686 h 2205"/>
                  <a:gd name="T40" fmla="*/ 735 w 2202"/>
                  <a:gd name="T41" fmla="*/ 1686 h 2205"/>
                  <a:gd name="T42" fmla="*/ 735 w 2202"/>
                  <a:gd name="T43" fmla="*/ 661 h 2205"/>
                  <a:gd name="T44" fmla="*/ 939 w 2202"/>
                  <a:gd name="T45" fmla="*/ 661 h 2205"/>
                  <a:gd name="T46" fmla="*/ 1022 w 2202"/>
                  <a:gd name="T47" fmla="*/ 1594 h 2205"/>
                  <a:gd name="T48" fmla="*/ 1022 w 2202"/>
                  <a:gd name="T49" fmla="*/ 42 h 2205"/>
                  <a:gd name="T50" fmla="*/ 1988 w 2202"/>
                  <a:gd name="T51" fmla="*/ 42 h 2205"/>
                  <a:gd name="T52" fmla="*/ 1988 w 2202"/>
                  <a:gd name="T53" fmla="*/ 2033 h 2205"/>
                  <a:gd name="T54" fmla="*/ 2201 w 2202"/>
                  <a:gd name="T55" fmla="*/ 2033 h 2205"/>
                  <a:gd name="T56" fmla="*/ 2201 w 2202"/>
                  <a:gd name="T57" fmla="*/ 2204 h 2205"/>
                  <a:gd name="T58" fmla="*/ 1665 w 2202"/>
                  <a:gd name="T59" fmla="*/ 2204 h 2205"/>
                  <a:gd name="T60" fmla="*/ 1665 w 2202"/>
                  <a:gd name="T61" fmla="*/ 217 h 2205"/>
                  <a:gd name="T62" fmla="*/ 1355 w 2202"/>
                  <a:gd name="T63" fmla="*/ 217 h 2205"/>
                  <a:gd name="T64" fmla="*/ 1355 w 2202"/>
                  <a:gd name="T65" fmla="*/ 1668 h 2205"/>
                  <a:gd name="T66" fmla="*/ 1198 w 2202"/>
                  <a:gd name="T67" fmla="*/ 2204 h 2205"/>
                  <a:gd name="T68" fmla="*/ 851 w 2202"/>
                  <a:gd name="T69" fmla="*/ 2204 h 2205"/>
                  <a:gd name="T70" fmla="*/ 1022 w 2202"/>
                  <a:gd name="T71" fmla="*/ 1594 h 2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202" h="2205">
                    <a:moveTo>
                      <a:pt x="0" y="2019"/>
                    </a:moveTo>
                    <a:lnTo>
                      <a:pt x="74" y="661"/>
                    </a:lnTo>
                    <a:lnTo>
                      <a:pt x="310" y="661"/>
                    </a:lnTo>
                    <a:lnTo>
                      <a:pt x="231" y="2019"/>
                    </a:lnTo>
                    <a:lnTo>
                      <a:pt x="0" y="2019"/>
                    </a:lnTo>
                    <a:close/>
                    <a:moveTo>
                      <a:pt x="939" y="439"/>
                    </a:moveTo>
                    <a:lnTo>
                      <a:pt x="684" y="439"/>
                    </a:lnTo>
                    <a:lnTo>
                      <a:pt x="684" y="2204"/>
                    </a:lnTo>
                    <a:lnTo>
                      <a:pt x="361" y="2204"/>
                    </a:lnTo>
                    <a:lnTo>
                      <a:pt x="361" y="439"/>
                    </a:lnTo>
                    <a:lnTo>
                      <a:pt x="28" y="439"/>
                    </a:lnTo>
                    <a:lnTo>
                      <a:pt x="28" y="264"/>
                    </a:lnTo>
                    <a:lnTo>
                      <a:pt x="361" y="264"/>
                    </a:lnTo>
                    <a:lnTo>
                      <a:pt x="361" y="0"/>
                    </a:lnTo>
                    <a:lnTo>
                      <a:pt x="684" y="0"/>
                    </a:lnTo>
                    <a:lnTo>
                      <a:pt x="684" y="264"/>
                    </a:lnTo>
                    <a:lnTo>
                      <a:pt x="939" y="264"/>
                    </a:lnTo>
                    <a:lnTo>
                      <a:pt x="939" y="439"/>
                    </a:lnTo>
                    <a:close/>
                    <a:moveTo>
                      <a:pt x="939" y="661"/>
                    </a:moveTo>
                    <a:lnTo>
                      <a:pt x="939" y="1686"/>
                    </a:lnTo>
                    <a:lnTo>
                      <a:pt x="735" y="1686"/>
                    </a:lnTo>
                    <a:lnTo>
                      <a:pt x="735" y="661"/>
                    </a:lnTo>
                    <a:lnTo>
                      <a:pt x="939" y="661"/>
                    </a:lnTo>
                    <a:close/>
                    <a:moveTo>
                      <a:pt x="1022" y="1594"/>
                    </a:moveTo>
                    <a:lnTo>
                      <a:pt x="1022" y="42"/>
                    </a:lnTo>
                    <a:lnTo>
                      <a:pt x="1988" y="42"/>
                    </a:lnTo>
                    <a:lnTo>
                      <a:pt x="1988" y="2033"/>
                    </a:lnTo>
                    <a:lnTo>
                      <a:pt x="2201" y="2033"/>
                    </a:lnTo>
                    <a:lnTo>
                      <a:pt x="2201" y="2204"/>
                    </a:lnTo>
                    <a:lnTo>
                      <a:pt x="1665" y="2204"/>
                    </a:lnTo>
                    <a:lnTo>
                      <a:pt x="1665" y="217"/>
                    </a:lnTo>
                    <a:lnTo>
                      <a:pt x="1355" y="217"/>
                    </a:lnTo>
                    <a:lnTo>
                      <a:pt x="1355" y="1668"/>
                    </a:lnTo>
                    <a:lnTo>
                      <a:pt x="1198" y="2204"/>
                    </a:lnTo>
                    <a:lnTo>
                      <a:pt x="851" y="2204"/>
                    </a:lnTo>
                    <a:lnTo>
                      <a:pt x="1022" y="1594"/>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6" name="Freeform 15">
                <a:extLst>
                  <a:ext uri="{FF2B5EF4-FFF2-40B4-BE49-F238E27FC236}">
                    <a16:creationId xmlns:a16="http://schemas.microsoft.com/office/drawing/2014/main" id="{939FDE59-FDA2-7D42-A573-9D861EDB611C}"/>
                  </a:ext>
                </a:extLst>
              </p:cNvPr>
              <p:cNvSpPr>
                <a:spLocks noChangeArrowheads="1"/>
              </p:cNvSpPr>
              <p:nvPr/>
            </p:nvSpPr>
            <p:spPr bwMode="auto">
              <a:xfrm>
                <a:off x="3212441" y="703958"/>
                <a:ext cx="339830" cy="358061"/>
              </a:xfrm>
              <a:custGeom>
                <a:avLst/>
                <a:gdLst>
                  <a:gd name="T0" fmla="*/ 1747 w 2053"/>
                  <a:gd name="T1" fmla="*/ 1982 h 2163"/>
                  <a:gd name="T2" fmla="*/ 1747 w 2053"/>
                  <a:gd name="T3" fmla="*/ 175 h 2163"/>
                  <a:gd name="T4" fmla="*/ 305 w 2053"/>
                  <a:gd name="T5" fmla="*/ 175 h 2163"/>
                  <a:gd name="T6" fmla="*/ 305 w 2053"/>
                  <a:gd name="T7" fmla="*/ 2162 h 2163"/>
                  <a:gd name="T8" fmla="*/ 0 w 2053"/>
                  <a:gd name="T9" fmla="*/ 2162 h 2163"/>
                  <a:gd name="T10" fmla="*/ 0 w 2053"/>
                  <a:gd name="T11" fmla="*/ 0 h 2163"/>
                  <a:gd name="T12" fmla="*/ 2052 w 2053"/>
                  <a:gd name="T13" fmla="*/ 0 h 2163"/>
                  <a:gd name="T14" fmla="*/ 2052 w 2053"/>
                  <a:gd name="T15" fmla="*/ 2162 h 2163"/>
                  <a:gd name="T16" fmla="*/ 1590 w 2053"/>
                  <a:gd name="T17" fmla="*/ 2162 h 2163"/>
                  <a:gd name="T18" fmla="*/ 1590 w 2053"/>
                  <a:gd name="T19" fmla="*/ 1982 h 2163"/>
                  <a:gd name="T20" fmla="*/ 1747 w 2053"/>
                  <a:gd name="T21" fmla="*/ 1982 h 2163"/>
                  <a:gd name="T22" fmla="*/ 791 w 2053"/>
                  <a:gd name="T23" fmla="*/ 1127 h 2163"/>
                  <a:gd name="T24" fmla="*/ 1017 w 2053"/>
                  <a:gd name="T25" fmla="*/ 1843 h 2163"/>
                  <a:gd name="T26" fmla="*/ 786 w 2053"/>
                  <a:gd name="T27" fmla="*/ 1843 h 2163"/>
                  <a:gd name="T28" fmla="*/ 680 w 2053"/>
                  <a:gd name="T29" fmla="*/ 1501 h 2163"/>
                  <a:gd name="T30" fmla="*/ 573 w 2053"/>
                  <a:gd name="T31" fmla="*/ 1843 h 2163"/>
                  <a:gd name="T32" fmla="*/ 347 w 2053"/>
                  <a:gd name="T33" fmla="*/ 1843 h 2163"/>
                  <a:gd name="T34" fmla="*/ 564 w 2053"/>
                  <a:gd name="T35" fmla="*/ 1136 h 2163"/>
                  <a:gd name="T36" fmla="*/ 338 w 2053"/>
                  <a:gd name="T37" fmla="*/ 430 h 2163"/>
                  <a:gd name="T38" fmla="*/ 569 w 2053"/>
                  <a:gd name="T39" fmla="*/ 430 h 2163"/>
                  <a:gd name="T40" fmla="*/ 675 w 2053"/>
                  <a:gd name="T41" fmla="*/ 767 h 2163"/>
                  <a:gd name="T42" fmla="*/ 777 w 2053"/>
                  <a:gd name="T43" fmla="*/ 430 h 2163"/>
                  <a:gd name="T44" fmla="*/ 1003 w 2053"/>
                  <a:gd name="T45" fmla="*/ 430 h 2163"/>
                  <a:gd name="T46" fmla="*/ 791 w 2053"/>
                  <a:gd name="T47" fmla="*/ 1127 h 2163"/>
                  <a:gd name="T48" fmla="*/ 1503 w 2053"/>
                  <a:gd name="T49" fmla="*/ 1127 h 2163"/>
                  <a:gd name="T50" fmla="*/ 1728 w 2053"/>
                  <a:gd name="T51" fmla="*/ 1843 h 2163"/>
                  <a:gd name="T52" fmla="*/ 1498 w 2053"/>
                  <a:gd name="T53" fmla="*/ 1843 h 2163"/>
                  <a:gd name="T54" fmla="*/ 1392 w 2053"/>
                  <a:gd name="T55" fmla="*/ 1501 h 2163"/>
                  <a:gd name="T56" fmla="*/ 1286 w 2053"/>
                  <a:gd name="T57" fmla="*/ 1843 h 2163"/>
                  <a:gd name="T58" fmla="*/ 1059 w 2053"/>
                  <a:gd name="T59" fmla="*/ 1843 h 2163"/>
                  <a:gd name="T60" fmla="*/ 1276 w 2053"/>
                  <a:gd name="T61" fmla="*/ 1136 h 2163"/>
                  <a:gd name="T62" fmla="*/ 1050 w 2053"/>
                  <a:gd name="T63" fmla="*/ 430 h 2163"/>
                  <a:gd name="T64" fmla="*/ 1281 w 2053"/>
                  <a:gd name="T65" fmla="*/ 430 h 2163"/>
                  <a:gd name="T66" fmla="*/ 1387 w 2053"/>
                  <a:gd name="T67" fmla="*/ 767 h 2163"/>
                  <a:gd name="T68" fmla="*/ 1489 w 2053"/>
                  <a:gd name="T69" fmla="*/ 430 h 2163"/>
                  <a:gd name="T70" fmla="*/ 1715 w 2053"/>
                  <a:gd name="T71" fmla="*/ 430 h 2163"/>
                  <a:gd name="T72" fmla="*/ 1503 w 2053"/>
                  <a:gd name="T73" fmla="*/ 1127 h 2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053" h="2163">
                    <a:moveTo>
                      <a:pt x="1747" y="1982"/>
                    </a:moveTo>
                    <a:lnTo>
                      <a:pt x="1747" y="175"/>
                    </a:lnTo>
                    <a:lnTo>
                      <a:pt x="305" y="175"/>
                    </a:lnTo>
                    <a:lnTo>
                      <a:pt x="305" y="2162"/>
                    </a:lnTo>
                    <a:lnTo>
                      <a:pt x="0" y="2162"/>
                    </a:lnTo>
                    <a:lnTo>
                      <a:pt x="0" y="0"/>
                    </a:lnTo>
                    <a:lnTo>
                      <a:pt x="2052" y="0"/>
                    </a:lnTo>
                    <a:lnTo>
                      <a:pt x="2052" y="2162"/>
                    </a:lnTo>
                    <a:lnTo>
                      <a:pt x="1590" y="2162"/>
                    </a:lnTo>
                    <a:lnTo>
                      <a:pt x="1590" y="1982"/>
                    </a:lnTo>
                    <a:lnTo>
                      <a:pt x="1747" y="1982"/>
                    </a:lnTo>
                    <a:close/>
                    <a:moveTo>
                      <a:pt x="791" y="1127"/>
                    </a:moveTo>
                    <a:lnTo>
                      <a:pt x="1017" y="1843"/>
                    </a:lnTo>
                    <a:lnTo>
                      <a:pt x="786" y="1843"/>
                    </a:lnTo>
                    <a:lnTo>
                      <a:pt x="680" y="1501"/>
                    </a:lnTo>
                    <a:lnTo>
                      <a:pt x="573" y="1843"/>
                    </a:lnTo>
                    <a:lnTo>
                      <a:pt x="347" y="1843"/>
                    </a:lnTo>
                    <a:lnTo>
                      <a:pt x="564" y="1136"/>
                    </a:lnTo>
                    <a:lnTo>
                      <a:pt x="338" y="430"/>
                    </a:lnTo>
                    <a:lnTo>
                      <a:pt x="569" y="430"/>
                    </a:lnTo>
                    <a:lnTo>
                      <a:pt x="675" y="767"/>
                    </a:lnTo>
                    <a:lnTo>
                      <a:pt x="777" y="430"/>
                    </a:lnTo>
                    <a:lnTo>
                      <a:pt x="1003" y="430"/>
                    </a:lnTo>
                    <a:lnTo>
                      <a:pt x="791" y="1127"/>
                    </a:lnTo>
                    <a:close/>
                    <a:moveTo>
                      <a:pt x="1503" y="1127"/>
                    </a:moveTo>
                    <a:lnTo>
                      <a:pt x="1728" y="1843"/>
                    </a:lnTo>
                    <a:lnTo>
                      <a:pt x="1498" y="1843"/>
                    </a:lnTo>
                    <a:lnTo>
                      <a:pt x="1392" y="1501"/>
                    </a:lnTo>
                    <a:lnTo>
                      <a:pt x="1286" y="1843"/>
                    </a:lnTo>
                    <a:lnTo>
                      <a:pt x="1059" y="1843"/>
                    </a:lnTo>
                    <a:lnTo>
                      <a:pt x="1276" y="1136"/>
                    </a:lnTo>
                    <a:lnTo>
                      <a:pt x="1050" y="430"/>
                    </a:lnTo>
                    <a:lnTo>
                      <a:pt x="1281" y="430"/>
                    </a:lnTo>
                    <a:lnTo>
                      <a:pt x="1387" y="767"/>
                    </a:lnTo>
                    <a:lnTo>
                      <a:pt x="1489" y="430"/>
                    </a:lnTo>
                    <a:lnTo>
                      <a:pt x="1715" y="430"/>
                    </a:lnTo>
                    <a:lnTo>
                      <a:pt x="1503" y="1127"/>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7" name="Freeform 16">
                <a:extLst>
                  <a:ext uri="{FF2B5EF4-FFF2-40B4-BE49-F238E27FC236}">
                    <a16:creationId xmlns:a16="http://schemas.microsoft.com/office/drawing/2014/main" id="{CC481843-8BD3-B44C-9129-7DD52746EE9B}"/>
                  </a:ext>
                </a:extLst>
              </p:cNvPr>
              <p:cNvSpPr>
                <a:spLocks noChangeArrowheads="1"/>
              </p:cNvSpPr>
              <p:nvPr/>
            </p:nvSpPr>
            <p:spPr bwMode="auto">
              <a:xfrm>
                <a:off x="3581441" y="696666"/>
                <a:ext cx="375564" cy="362437"/>
              </a:xfrm>
              <a:custGeom>
                <a:avLst/>
                <a:gdLst>
                  <a:gd name="T0" fmla="*/ 315 w 2272"/>
                  <a:gd name="T1" fmla="*/ 957 h 2191"/>
                  <a:gd name="T2" fmla="*/ 0 w 2272"/>
                  <a:gd name="T3" fmla="*/ 957 h 2191"/>
                  <a:gd name="T4" fmla="*/ 361 w 2272"/>
                  <a:gd name="T5" fmla="*/ 5 h 2191"/>
                  <a:gd name="T6" fmla="*/ 675 w 2272"/>
                  <a:gd name="T7" fmla="*/ 5 h 2191"/>
                  <a:gd name="T8" fmla="*/ 380 w 2272"/>
                  <a:gd name="T9" fmla="*/ 767 h 2191"/>
                  <a:gd name="T10" fmla="*/ 453 w 2272"/>
                  <a:gd name="T11" fmla="*/ 767 h 2191"/>
                  <a:gd name="T12" fmla="*/ 509 w 2272"/>
                  <a:gd name="T13" fmla="*/ 647 h 2191"/>
                  <a:gd name="T14" fmla="*/ 823 w 2272"/>
                  <a:gd name="T15" fmla="*/ 647 h 2191"/>
                  <a:gd name="T16" fmla="*/ 463 w 2272"/>
                  <a:gd name="T17" fmla="*/ 1492 h 2191"/>
                  <a:gd name="T18" fmla="*/ 754 w 2272"/>
                  <a:gd name="T19" fmla="*/ 1492 h 2191"/>
                  <a:gd name="T20" fmla="*/ 754 w 2272"/>
                  <a:gd name="T21" fmla="*/ 1677 h 2191"/>
                  <a:gd name="T22" fmla="*/ 366 w 2272"/>
                  <a:gd name="T23" fmla="*/ 1677 h 2191"/>
                  <a:gd name="T24" fmla="*/ 65 w 2272"/>
                  <a:gd name="T25" fmla="*/ 1677 h 2191"/>
                  <a:gd name="T26" fmla="*/ 375 w 2272"/>
                  <a:gd name="T27" fmla="*/ 957 h 2191"/>
                  <a:gd name="T28" fmla="*/ 315 w 2272"/>
                  <a:gd name="T29" fmla="*/ 957 h 2191"/>
                  <a:gd name="T30" fmla="*/ 763 w 2272"/>
                  <a:gd name="T31" fmla="*/ 1954 h 2191"/>
                  <a:gd name="T32" fmla="*/ 763 w 2272"/>
                  <a:gd name="T33" fmla="*/ 2130 h 2191"/>
                  <a:gd name="T34" fmla="*/ 84 w 2272"/>
                  <a:gd name="T35" fmla="*/ 2130 h 2191"/>
                  <a:gd name="T36" fmla="*/ 84 w 2272"/>
                  <a:gd name="T37" fmla="*/ 1954 h 2191"/>
                  <a:gd name="T38" fmla="*/ 763 w 2272"/>
                  <a:gd name="T39" fmla="*/ 1954 h 2191"/>
                  <a:gd name="T40" fmla="*/ 1831 w 2272"/>
                  <a:gd name="T41" fmla="*/ 1205 h 2191"/>
                  <a:gd name="T42" fmla="*/ 1614 w 2272"/>
                  <a:gd name="T43" fmla="*/ 994 h 2191"/>
                  <a:gd name="T44" fmla="*/ 1355 w 2272"/>
                  <a:gd name="T45" fmla="*/ 1205 h 2191"/>
                  <a:gd name="T46" fmla="*/ 884 w 2272"/>
                  <a:gd name="T47" fmla="*/ 1205 h 2191"/>
                  <a:gd name="T48" fmla="*/ 1392 w 2272"/>
                  <a:gd name="T49" fmla="*/ 781 h 2191"/>
                  <a:gd name="T50" fmla="*/ 1212 w 2272"/>
                  <a:gd name="T51" fmla="*/ 587 h 2191"/>
                  <a:gd name="T52" fmla="*/ 1179 w 2272"/>
                  <a:gd name="T53" fmla="*/ 684 h 2191"/>
                  <a:gd name="T54" fmla="*/ 842 w 2272"/>
                  <a:gd name="T55" fmla="*/ 684 h 2191"/>
                  <a:gd name="T56" fmla="*/ 1082 w 2272"/>
                  <a:gd name="T57" fmla="*/ 0 h 2191"/>
                  <a:gd name="T58" fmla="*/ 1420 w 2272"/>
                  <a:gd name="T59" fmla="*/ 0 h 2191"/>
                  <a:gd name="T60" fmla="*/ 1397 w 2272"/>
                  <a:gd name="T61" fmla="*/ 79 h 2191"/>
                  <a:gd name="T62" fmla="*/ 2174 w 2272"/>
                  <a:gd name="T63" fmla="*/ 79 h 2191"/>
                  <a:gd name="T64" fmla="*/ 2174 w 2272"/>
                  <a:gd name="T65" fmla="*/ 527 h 2191"/>
                  <a:gd name="T66" fmla="*/ 1864 w 2272"/>
                  <a:gd name="T67" fmla="*/ 795 h 2191"/>
                  <a:gd name="T68" fmla="*/ 2271 w 2272"/>
                  <a:gd name="T69" fmla="*/ 1205 h 2191"/>
                  <a:gd name="T70" fmla="*/ 1831 w 2272"/>
                  <a:gd name="T71" fmla="*/ 1205 h 2191"/>
                  <a:gd name="T72" fmla="*/ 934 w 2272"/>
                  <a:gd name="T73" fmla="*/ 2190 h 2191"/>
                  <a:gd name="T74" fmla="*/ 934 w 2272"/>
                  <a:gd name="T75" fmla="*/ 1303 h 2191"/>
                  <a:gd name="T76" fmla="*/ 2206 w 2272"/>
                  <a:gd name="T77" fmla="*/ 1303 h 2191"/>
                  <a:gd name="T78" fmla="*/ 2206 w 2272"/>
                  <a:gd name="T79" fmla="*/ 2190 h 2191"/>
                  <a:gd name="T80" fmla="*/ 934 w 2272"/>
                  <a:gd name="T81" fmla="*/ 2190 h 2191"/>
                  <a:gd name="T82" fmla="*/ 1522 w 2272"/>
                  <a:gd name="T83" fmla="*/ 467 h 2191"/>
                  <a:gd name="T84" fmla="*/ 1646 w 2272"/>
                  <a:gd name="T85" fmla="*/ 592 h 2191"/>
                  <a:gd name="T86" fmla="*/ 1892 w 2272"/>
                  <a:gd name="T87" fmla="*/ 379 h 2191"/>
                  <a:gd name="T88" fmla="*/ 1892 w 2272"/>
                  <a:gd name="T89" fmla="*/ 254 h 2191"/>
                  <a:gd name="T90" fmla="*/ 1332 w 2272"/>
                  <a:gd name="T91" fmla="*/ 254 h 2191"/>
                  <a:gd name="T92" fmla="*/ 1253 w 2272"/>
                  <a:gd name="T93" fmla="*/ 467 h 2191"/>
                  <a:gd name="T94" fmla="*/ 1522 w 2272"/>
                  <a:gd name="T95" fmla="*/ 467 h 2191"/>
                  <a:gd name="T96" fmla="*/ 1277 w 2272"/>
                  <a:gd name="T97" fmla="*/ 1478 h 2191"/>
                  <a:gd name="T98" fmla="*/ 1277 w 2272"/>
                  <a:gd name="T99" fmla="*/ 2014 h 2191"/>
                  <a:gd name="T100" fmla="*/ 1864 w 2272"/>
                  <a:gd name="T101" fmla="*/ 2014 h 2191"/>
                  <a:gd name="T102" fmla="*/ 1864 w 2272"/>
                  <a:gd name="T103" fmla="*/ 1478 h 2191"/>
                  <a:gd name="T104" fmla="*/ 1277 w 2272"/>
                  <a:gd name="T105" fmla="*/ 1478 h 2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272" h="2191">
                    <a:moveTo>
                      <a:pt x="315" y="957"/>
                    </a:moveTo>
                    <a:lnTo>
                      <a:pt x="0" y="957"/>
                    </a:lnTo>
                    <a:lnTo>
                      <a:pt x="361" y="5"/>
                    </a:lnTo>
                    <a:lnTo>
                      <a:pt x="675" y="5"/>
                    </a:lnTo>
                    <a:lnTo>
                      <a:pt x="380" y="767"/>
                    </a:lnTo>
                    <a:lnTo>
                      <a:pt x="453" y="767"/>
                    </a:lnTo>
                    <a:lnTo>
                      <a:pt x="509" y="647"/>
                    </a:lnTo>
                    <a:lnTo>
                      <a:pt x="823" y="647"/>
                    </a:lnTo>
                    <a:lnTo>
                      <a:pt x="463" y="1492"/>
                    </a:lnTo>
                    <a:lnTo>
                      <a:pt x="754" y="1492"/>
                    </a:lnTo>
                    <a:lnTo>
                      <a:pt x="754" y="1677"/>
                    </a:lnTo>
                    <a:lnTo>
                      <a:pt x="366" y="1677"/>
                    </a:lnTo>
                    <a:lnTo>
                      <a:pt x="65" y="1677"/>
                    </a:lnTo>
                    <a:lnTo>
                      <a:pt x="375" y="957"/>
                    </a:lnTo>
                    <a:lnTo>
                      <a:pt x="315" y="957"/>
                    </a:lnTo>
                    <a:close/>
                    <a:moveTo>
                      <a:pt x="763" y="1954"/>
                    </a:moveTo>
                    <a:lnTo>
                      <a:pt x="763" y="2130"/>
                    </a:lnTo>
                    <a:lnTo>
                      <a:pt x="84" y="2130"/>
                    </a:lnTo>
                    <a:lnTo>
                      <a:pt x="84" y="1954"/>
                    </a:lnTo>
                    <a:lnTo>
                      <a:pt x="763" y="1954"/>
                    </a:lnTo>
                    <a:close/>
                    <a:moveTo>
                      <a:pt x="1831" y="1205"/>
                    </a:moveTo>
                    <a:lnTo>
                      <a:pt x="1614" y="994"/>
                    </a:lnTo>
                    <a:lnTo>
                      <a:pt x="1355" y="1205"/>
                    </a:lnTo>
                    <a:lnTo>
                      <a:pt x="884" y="1205"/>
                    </a:lnTo>
                    <a:lnTo>
                      <a:pt x="1392" y="781"/>
                    </a:lnTo>
                    <a:lnTo>
                      <a:pt x="1212" y="587"/>
                    </a:lnTo>
                    <a:lnTo>
                      <a:pt x="1179" y="684"/>
                    </a:lnTo>
                    <a:lnTo>
                      <a:pt x="842" y="684"/>
                    </a:lnTo>
                    <a:lnTo>
                      <a:pt x="1082" y="0"/>
                    </a:lnTo>
                    <a:lnTo>
                      <a:pt x="1420" y="0"/>
                    </a:lnTo>
                    <a:lnTo>
                      <a:pt x="1397" y="79"/>
                    </a:lnTo>
                    <a:lnTo>
                      <a:pt x="2174" y="79"/>
                    </a:lnTo>
                    <a:lnTo>
                      <a:pt x="2174" y="527"/>
                    </a:lnTo>
                    <a:lnTo>
                      <a:pt x="1864" y="795"/>
                    </a:lnTo>
                    <a:lnTo>
                      <a:pt x="2271" y="1205"/>
                    </a:lnTo>
                    <a:lnTo>
                      <a:pt x="1831" y="1205"/>
                    </a:lnTo>
                    <a:close/>
                    <a:moveTo>
                      <a:pt x="934" y="2190"/>
                    </a:moveTo>
                    <a:lnTo>
                      <a:pt x="934" y="1303"/>
                    </a:lnTo>
                    <a:lnTo>
                      <a:pt x="2206" y="1303"/>
                    </a:lnTo>
                    <a:lnTo>
                      <a:pt x="2206" y="2190"/>
                    </a:lnTo>
                    <a:lnTo>
                      <a:pt x="934" y="2190"/>
                    </a:lnTo>
                    <a:close/>
                    <a:moveTo>
                      <a:pt x="1522" y="467"/>
                    </a:moveTo>
                    <a:lnTo>
                      <a:pt x="1646" y="592"/>
                    </a:lnTo>
                    <a:lnTo>
                      <a:pt x="1892" y="379"/>
                    </a:lnTo>
                    <a:lnTo>
                      <a:pt x="1892" y="254"/>
                    </a:lnTo>
                    <a:lnTo>
                      <a:pt x="1332" y="254"/>
                    </a:lnTo>
                    <a:lnTo>
                      <a:pt x="1253" y="467"/>
                    </a:lnTo>
                    <a:lnTo>
                      <a:pt x="1522" y="467"/>
                    </a:lnTo>
                    <a:close/>
                    <a:moveTo>
                      <a:pt x="1277" y="1478"/>
                    </a:moveTo>
                    <a:lnTo>
                      <a:pt x="1277" y="2014"/>
                    </a:lnTo>
                    <a:lnTo>
                      <a:pt x="1864" y="2014"/>
                    </a:lnTo>
                    <a:lnTo>
                      <a:pt x="1864" y="1478"/>
                    </a:lnTo>
                    <a:lnTo>
                      <a:pt x="1277" y="1478"/>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8" name="Freeform 17">
                <a:extLst>
                  <a:ext uri="{FF2B5EF4-FFF2-40B4-BE49-F238E27FC236}">
                    <a16:creationId xmlns:a16="http://schemas.microsoft.com/office/drawing/2014/main" id="{1BF5661B-2AA7-7048-834E-17B9B91BE076}"/>
                  </a:ext>
                </a:extLst>
              </p:cNvPr>
              <p:cNvSpPr>
                <a:spLocks noChangeArrowheads="1"/>
              </p:cNvSpPr>
              <p:nvPr/>
            </p:nvSpPr>
            <p:spPr bwMode="auto">
              <a:xfrm>
                <a:off x="3982528" y="697395"/>
                <a:ext cx="362437" cy="363166"/>
              </a:xfrm>
              <a:custGeom>
                <a:avLst/>
                <a:gdLst>
                  <a:gd name="T0" fmla="*/ 1244 w 2193"/>
                  <a:gd name="T1" fmla="*/ 1012 h 2195"/>
                  <a:gd name="T2" fmla="*/ 934 w 2193"/>
                  <a:gd name="T3" fmla="*/ 1589 h 2195"/>
                  <a:gd name="T4" fmla="*/ 1249 w 2193"/>
                  <a:gd name="T5" fmla="*/ 1764 h 2195"/>
                  <a:gd name="T6" fmla="*/ 925 w 2193"/>
                  <a:gd name="T7" fmla="*/ 2194 h 2195"/>
                  <a:gd name="T8" fmla="*/ 439 w 2193"/>
                  <a:gd name="T9" fmla="*/ 2032 h 2195"/>
                  <a:gd name="T10" fmla="*/ 597 w 2193"/>
                  <a:gd name="T11" fmla="*/ 1764 h 2195"/>
                  <a:gd name="T12" fmla="*/ 65 w 2193"/>
                  <a:gd name="T13" fmla="*/ 1589 h 2195"/>
                  <a:gd name="T14" fmla="*/ 856 w 2193"/>
                  <a:gd name="T15" fmla="*/ 1187 h 2195"/>
                  <a:gd name="T16" fmla="*/ 292 w 2193"/>
                  <a:gd name="T17" fmla="*/ 1455 h 2195"/>
                  <a:gd name="T18" fmla="*/ 167 w 2193"/>
                  <a:gd name="T19" fmla="*/ 1187 h 2195"/>
                  <a:gd name="T20" fmla="*/ 65 w 2193"/>
                  <a:gd name="T21" fmla="*/ 1012 h 2195"/>
                  <a:gd name="T22" fmla="*/ 361 w 2193"/>
                  <a:gd name="T23" fmla="*/ 809 h 2195"/>
                  <a:gd name="T24" fmla="*/ 56 w 2193"/>
                  <a:gd name="T25" fmla="*/ 628 h 2195"/>
                  <a:gd name="T26" fmla="*/ 366 w 2193"/>
                  <a:gd name="T27" fmla="*/ 319 h 2195"/>
                  <a:gd name="T28" fmla="*/ 125 w 2193"/>
                  <a:gd name="T29" fmla="*/ 148 h 2195"/>
                  <a:gd name="T30" fmla="*/ 366 w 2193"/>
                  <a:gd name="T31" fmla="*/ 0 h 2195"/>
                  <a:gd name="T32" fmla="*/ 680 w 2193"/>
                  <a:gd name="T33" fmla="*/ 148 h 2195"/>
                  <a:gd name="T34" fmla="*/ 934 w 2193"/>
                  <a:gd name="T35" fmla="*/ 319 h 2195"/>
                  <a:gd name="T36" fmla="*/ 680 w 2193"/>
                  <a:gd name="T37" fmla="*/ 628 h 2195"/>
                  <a:gd name="T38" fmla="*/ 1022 w 2193"/>
                  <a:gd name="T39" fmla="*/ 64 h 2195"/>
                  <a:gd name="T40" fmla="*/ 1115 w 2193"/>
                  <a:gd name="T41" fmla="*/ 628 h 2195"/>
                  <a:gd name="T42" fmla="*/ 1244 w 2193"/>
                  <a:gd name="T43" fmla="*/ 809 h 2195"/>
                  <a:gd name="T44" fmla="*/ 546 w 2193"/>
                  <a:gd name="T45" fmla="*/ 1012 h 2195"/>
                  <a:gd name="T46" fmla="*/ 1683 w 2193"/>
                  <a:gd name="T47" fmla="*/ 0 h 2195"/>
                  <a:gd name="T48" fmla="*/ 2183 w 2193"/>
                  <a:gd name="T49" fmla="*/ 115 h 2195"/>
                  <a:gd name="T50" fmla="*/ 2113 w 2193"/>
                  <a:gd name="T51" fmla="*/ 291 h 2195"/>
                  <a:gd name="T52" fmla="*/ 1868 w 2193"/>
                  <a:gd name="T53" fmla="*/ 1427 h 2195"/>
                  <a:gd name="T54" fmla="*/ 1836 w 2193"/>
                  <a:gd name="T55" fmla="*/ 2194 h 2195"/>
                  <a:gd name="T56" fmla="*/ 1535 w 2193"/>
                  <a:gd name="T57" fmla="*/ 2194 h 2195"/>
                  <a:gd name="T58" fmla="*/ 1489 w 2193"/>
                  <a:gd name="T59" fmla="*/ 1445 h 2195"/>
                  <a:gd name="T60" fmla="*/ 1632 w 2193"/>
                  <a:gd name="T61" fmla="*/ 1104 h 2195"/>
                  <a:gd name="T62" fmla="*/ 1771 w 2193"/>
                  <a:gd name="T63" fmla="*/ 291 h 2195"/>
                  <a:gd name="T64" fmla="*/ 1614 w 2193"/>
                  <a:gd name="T65" fmla="*/ 975 h 2195"/>
                  <a:gd name="T66" fmla="*/ 1360 w 2193"/>
                  <a:gd name="T67" fmla="*/ 0 h 2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93" h="2195">
                    <a:moveTo>
                      <a:pt x="546" y="1012"/>
                    </a:moveTo>
                    <a:lnTo>
                      <a:pt x="1244" y="1012"/>
                    </a:lnTo>
                    <a:lnTo>
                      <a:pt x="1244" y="1187"/>
                    </a:lnTo>
                    <a:lnTo>
                      <a:pt x="934" y="1589"/>
                    </a:lnTo>
                    <a:lnTo>
                      <a:pt x="1249" y="1589"/>
                    </a:lnTo>
                    <a:lnTo>
                      <a:pt x="1249" y="1764"/>
                    </a:lnTo>
                    <a:lnTo>
                      <a:pt x="925" y="1764"/>
                    </a:lnTo>
                    <a:lnTo>
                      <a:pt x="925" y="2194"/>
                    </a:lnTo>
                    <a:lnTo>
                      <a:pt x="439" y="2194"/>
                    </a:lnTo>
                    <a:lnTo>
                      <a:pt x="439" y="2032"/>
                    </a:lnTo>
                    <a:lnTo>
                      <a:pt x="597" y="2032"/>
                    </a:lnTo>
                    <a:lnTo>
                      <a:pt x="597" y="1764"/>
                    </a:lnTo>
                    <a:lnTo>
                      <a:pt x="65" y="1764"/>
                    </a:lnTo>
                    <a:lnTo>
                      <a:pt x="65" y="1589"/>
                    </a:lnTo>
                    <a:lnTo>
                      <a:pt x="537" y="1589"/>
                    </a:lnTo>
                    <a:lnTo>
                      <a:pt x="856" y="1187"/>
                    </a:lnTo>
                    <a:lnTo>
                      <a:pt x="453" y="1187"/>
                    </a:lnTo>
                    <a:lnTo>
                      <a:pt x="292" y="1455"/>
                    </a:lnTo>
                    <a:lnTo>
                      <a:pt x="0" y="1455"/>
                    </a:lnTo>
                    <a:lnTo>
                      <a:pt x="167" y="1187"/>
                    </a:lnTo>
                    <a:lnTo>
                      <a:pt x="65" y="1187"/>
                    </a:lnTo>
                    <a:lnTo>
                      <a:pt x="65" y="1012"/>
                    </a:lnTo>
                    <a:lnTo>
                      <a:pt x="255" y="1012"/>
                    </a:lnTo>
                    <a:lnTo>
                      <a:pt x="361" y="809"/>
                    </a:lnTo>
                    <a:lnTo>
                      <a:pt x="56" y="809"/>
                    </a:lnTo>
                    <a:lnTo>
                      <a:pt x="56" y="628"/>
                    </a:lnTo>
                    <a:lnTo>
                      <a:pt x="366" y="628"/>
                    </a:lnTo>
                    <a:lnTo>
                      <a:pt x="366" y="319"/>
                    </a:lnTo>
                    <a:lnTo>
                      <a:pt x="125" y="319"/>
                    </a:lnTo>
                    <a:lnTo>
                      <a:pt x="125" y="148"/>
                    </a:lnTo>
                    <a:lnTo>
                      <a:pt x="366" y="148"/>
                    </a:lnTo>
                    <a:lnTo>
                      <a:pt x="366" y="0"/>
                    </a:lnTo>
                    <a:lnTo>
                      <a:pt x="680" y="0"/>
                    </a:lnTo>
                    <a:lnTo>
                      <a:pt x="680" y="148"/>
                    </a:lnTo>
                    <a:lnTo>
                      <a:pt x="934" y="148"/>
                    </a:lnTo>
                    <a:lnTo>
                      <a:pt x="934" y="319"/>
                    </a:lnTo>
                    <a:lnTo>
                      <a:pt x="680" y="319"/>
                    </a:lnTo>
                    <a:lnTo>
                      <a:pt x="680" y="628"/>
                    </a:lnTo>
                    <a:lnTo>
                      <a:pt x="846" y="628"/>
                    </a:lnTo>
                    <a:lnTo>
                      <a:pt x="1022" y="64"/>
                    </a:lnTo>
                    <a:lnTo>
                      <a:pt x="1272" y="64"/>
                    </a:lnTo>
                    <a:lnTo>
                      <a:pt x="1115" y="628"/>
                    </a:lnTo>
                    <a:lnTo>
                      <a:pt x="1244" y="628"/>
                    </a:lnTo>
                    <a:lnTo>
                      <a:pt x="1244" y="809"/>
                    </a:lnTo>
                    <a:lnTo>
                      <a:pt x="652" y="809"/>
                    </a:lnTo>
                    <a:lnTo>
                      <a:pt x="546" y="1012"/>
                    </a:lnTo>
                    <a:close/>
                    <a:moveTo>
                      <a:pt x="1360" y="0"/>
                    </a:moveTo>
                    <a:lnTo>
                      <a:pt x="1683" y="0"/>
                    </a:lnTo>
                    <a:lnTo>
                      <a:pt x="1679" y="115"/>
                    </a:lnTo>
                    <a:lnTo>
                      <a:pt x="2183" y="115"/>
                    </a:lnTo>
                    <a:lnTo>
                      <a:pt x="2183" y="291"/>
                    </a:lnTo>
                    <a:lnTo>
                      <a:pt x="2113" y="291"/>
                    </a:lnTo>
                    <a:lnTo>
                      <a:pt x="2113" y="739"/>
                    </a:lnTo>
                    <a:lnTo>
                      <a:pt x="1868" y="1427"/>
                    </a:lnTo>
                    <a:lnTo>
                      <a:pt x="2192" y="2194"/>
                    </a:lnTo>
                    <a:lnTo>
                      <a:pt x="1836" y="2194"/>
                    </a:lnTo>
                    <a:lnTo>
                      <a:pt x="1683" y="1834"/>
                    </a:lnTo>
                    <a:lnTo>
                      <a:pt x="1535" y="2194"/>
                    </a:lnTo>
                    <a:lnTo>
                      <a:pt x="1175" y="2194"/>
                    </a:lnTo>
                    <a:lnTo>
                      <a:pt x="1489" y="1445"/>
                    </a:lnTo>
                    <a:lnTo>
                      <a:pt x="1355" y="1104"/>
                    </a:lnTo>
                    <a:lnTo>
                      <a:pt x="1632" y="1104"/>
                    </a:lnTo>
                    <a:lnTo>
                      <a:pt x="1771" y="698"/>
                    </a:lnTo>
                    <a:lnTo>
                      <a:pt x="1771" y="291"/>
                    </a:lnTo>
                    <a:lnTo>
                      <a:pt x="1669" y="291"/>
                    </a:lnTo>
                    <a:lnTo>
                      <a:pt x="1614" y="975"/>
                    </a:lnTo>
                    <a:lnTo>
                      <a:pt x="1281" y="975"/>
                    </a:lnTo>
                    <a:lnTo>
                      <a:pt x="1360" y="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9" name="Freeform 18">
                <a:extLst>
                  <a:ext uri="{FF2B5EF4-FFF2-40B4-BE49-F238E27FC236}">
                    <a16:creationId xmlns:a16="http://schemas.microsoft.com/office/drawing/2014/main" id="{520B1655-B78A-3F4A-ADE4-43A6AB333698}"/>
                  </a:ext>
                </a:extLst>
              </p:cNvPr>
              <p:cNvSpPr>
                <a:spLocks noChangeArrowheads="1"/>
              </p:cNvSpPr>
              <p:nvPr/>
            </p:nvSpPr>
            <p:spPr bwMode="auto">
              <a:xfrm>
                <a:off x="4374864" y="702500"/>
                <a:ext cx="369000" cy="355874"/>
              </a:xfrm>
              <a:custGeom>
                <a:avLst/>
                <a:gdLst>
                  <a:gd name="T0" fmla="*/ 1447 w 2230"/>
                  <a:gd name="T1" fmla="*/ 1118 h 2150"/>
                  <a:gd name="T2" fmla="*/ 2229 w 2230"/>
                  <a:gd name="T3" fmla="*/ 1405 h 2150"/>
                  <a:gd name="T4" fmla="*/ 1545 w 2230"/>
                  <a:gd name="T5" fmla="*/ 1405 h 2150"/>
                  <a:gd name="T6" fmla="*/ 1078 w 2230"/>
                  <a:gd name="T7" fmla="*/ 1252 h 2150"/>
                  <a:gd name="T8" fmla="*/ 652 w 2230"/>
                  <a:gd name="T9" fmla="*/ 1405 h 2150"/>
                  <a:gd name="T10" fmla="*/ 0 w 2230"/>
                  <a:gd name="T11" fmla="*/ 1405 h 2150"/>
                  <a:gd name="T12" fmla="*/ 726 w 2230"/>
                  <a:gd name="T13" fmla="*/ 1137 h 2150"/>
                  <a:gd name="T14" fmla="*/ 222 w 2230"/>
                  <a:gd name="T15" fmla="*/ 976 h 2150"/>
                  <a:gd name="T16" fmla="*/ 361 w 2230"/>
                  <a:gd name="T17" fmla="*/ 745 h 2150"/>
                  <a:gd name="T18" fmla="*/ 88 w 2230"/>
                  <a:gd name="T19" fmla="*/ 745 h 2150"/>
                  <a:gd name="T20" fmla="*/ 88 w 2230"/>
                  <a:gd name="T21" fmla="*/ 583 h 2150"/>
                  <a:gd name="T22" fmla="*/ 467 w 2230"/>
                  <a:gd name="T23" fmla="*/ 583 h 2150"/>
                  <a:gd name="T24" fmla="*/ 550 w 2230"/>
                  <a:gd name="T25" fmla="*/ 444 h 2150"/>
                  <a:gd name="T26" fmla="*/ 902 w 2230"/>
                  <a:gd name="T27" fmla="*/ 444 h 2150"/>
                  <a:gd name="T28" fmla="*/ 823 w 2230"/>
                  <a:gd name="T29" fmla="*/ 583 h 2150"/>
                  <a:gd name="T30" fmla="*/ 2146 w 2230"/>
                  <a:gd name="T31" fmla="*/ 583 h 2150"/>
                  <a:gd name="T32" fmla="*/ 2146 w 2230"/>
                  <a:gd name="T33" fmla="*/ 745 h 2150"/>
                  <a:gd name="T34" fmla="*/ 1910 w 2230"/>
                  <a:gd name="T35" fmla="*/ 745 h 2150"/>
                  <a:gd name="T36" fmla="*/ 1910 w 2230"/>
                  <a:gd name="T37" fmla="*/ 957 h 2150"/>
                  <a:gd name="T38" fmla="*/ 1447 w 2230"/>
                  <a:gd name="T39" fmla="*/ 1118 h 2150"/>
                  <a:gd name="T40" fmla="*/ 56 w 2230"/>
                  <a:gd name="T41" fmla="*/ 2126 h 2150"/>
                  <a:gd name="T42" fmla="*/ 426 w 2230"/>
                  <a:gd name="T43" fmla="*/ 1733 h 2150"/>
                  <a:gd name="T44" fmla="*/ 819 w 2230"/>
                  <a:gd name="T45" fmla="*/ 1733 h 2150"/>
                  <a:gd name="T46" fmla="*/ 463 w 2230"/>
                  <a:gd name="T47" fmla="*/ 2126 h 2150"/>
                  <a:gd name="T48" fmla="*/ 56 w 2230"/>
                  <a:gd name="T49" fmla="*/ 2126 h 2150"/>
                  <a:gd name="T50" fmla="*/ 1817 w 2230"/>
                  <a:gd name="T51" fmla="*/ 490 h 2150"/>
                  <a:gd name="T52" fmla="*/ 1817 w 2230"/>
                  <a:gd name="T53" fmla="*/ 292 h 2150"/>
                  <a:gd name="T54" fmla="*/ 412 w 2230"/>
                  <a:gd name="T55" fmla="*/ 292 h 2150"/>
                  <a:gd name="T56" fmla="*/ 412 w 2230"/>
                  <a:gd name="T57" fmla="*/ 490 h 2150"/>
                  <a:gd name="T58" fmla="*/ 88 w 2230"/>
                  <a:gd name="T59" fmla="*/ 490 h 2150"/>
                  <a:gd name="T60" fmla="*/ 88 w 2230"/>
                  <a:gd name="T61" fmla="*/ 121 h 2150"/>
                  <a:gd name="T62" fmla="*/ 925 w 2230"/>
                  <a:gd name="T63" fmla="*/ 121 h 2150"/>
                  <a:gd name="T64" fmla="*/ 925 w 2230"/>
                  <a:gd name="T65" fmla="*/ 0 h 2150"/>
                  <a:gd name="T66" fmla="*/ 1290 w 2230"/>
                  <a:gd name="T67" fmla="*/ 0 h 2150"/>
                  <a:gd name="T68" fmla="*/ 1290 w 2230"/>
                  <a:gd name="T69" fmla="*/ 121 h 2150"/>
                  <a:gd name="T70" fmla="*/ 2146 w 2230"/>
                  <a:gd name="T71" fmla="*/ 121 h 2150"/>
                  <a:gd name="T72" fmla="*/ 2146 w 2230"/>
                  <a:gd name="T73" fmla="*/ 490 h 2150"/>
                  <a:gd name="T74" fmla="*/ 1817 w 2230"/>
                  <a:gd name="T75" fmla="*/ 490 h 2150"/>
                  <a:gd name="T76" fmla="*/ 1281 w 2230"/>
                  <a:gd name="T77" fmla="*/ 1368 h 2150"/>
                  <a:gd name="T78" fmla="*/ 1281 w 2230"/>
                  <a:gd name="T79" fmla="*/ 1497 h 2150"/>
                  <a:gd name="T80" fmla="*/ 2146 w 2230"/>
                  <a:gd name="T81" fmla="*/ 1497 h 2150"/>
                  <a:gd name="T82" fmla="*/ 2146 w 2230"/>
                  <a:gd name="T83" fmla="*/ 1668 h 2150"/>
                  <a:gd name="T84" fmla="*/ 1281 w 2230"/>
                  <a:gd name="T85" fmla="*/ 1668 h 2150"/>
                  <a:gd name="T86" fmla="*/ 1281 w 2230"/>
                  <a:gd name="T87" fmla="*/ 2149 h 2150"/>
                  <a:gd name="T88" fmla="*/ 944 w 2230"/>
                  <a:gd name="T89" fmla="*/ 2149 h 2150"/>
                  <a:gd name="T90" fmla="*/ 944 w 2230"/>
                  <a:gd name="T91" fmla="*/ 1668 h 2150"/>
                  <a:gd name="T92" fmla="*/ 88 w 2230"/>
                  <a:gd name="T93" fmla="*/ 1668 h 2150"/>
                  <a:gd name="T94" fmla="*/ 88 w 2230"/>
                  <a:gd name="T95" fmla="*/ 1497 h 2150"/>
                  <a:gd name="T96" fmla="*/ 944 w 2230"/>
                  <a:gd name="T97" fmla="*/ 1497 h 2150"/>
                  <a:gd name="T98" fmla="*/ 944 w 2230"/>
                  <a:gd name="T99" fmla="*/ 1368 h 2150"/>
                  <a:gd name="T100" fmla="*/ 1281 w 2230"/>
                  <a:gd name="T101" fmla="*/ 1368 h 2150"/>
                  <a:gd name="T102" fmla="*/ 1115 w 2230"/>
                  <a:gd name="T103" fmla="*/ 999 h 2150"/>
                  <a:gd name="T104" fmla="*/ 1568 w 2230"/>
                  <a:gd name="T105" fmla="*/ 832 h 2150"/>
                  <a:gd name="T106" fmla="*/ 1568 w 2230"/>
                  <a:gd name="T107" fmla="*/ 745 h 2150"/>
                  <a:gd name="T108" fmla="*/ 726 w 2230"/>
                  <a:gd name="T109" fmla="*/ 745 h 2150"/>
                  <a:gd name="T110" fmla="*/ 675 w 2230"/>
                  <a:gd name="T111" fmla="*/ 837 h 2150"/>
                  <a:gd name="T112" fmla="*/ 1115 w 2230"/>
                  <a:gd name="T113" fmla="*/ 999 h 2150"/>
                  <a:gd name="T114" fmla="*/ 2192 w 2230"/>
                  <a:gd name="T115" fmla="*/ 2126 h 2150"/>
                  <a:gd name="T116" fmla="*/ 1776 w 2230"/>
                  <a:gd name="T117" fmla="*/ 2126 h 2150"/>
                  <a:gd name="T118" fmla="*/ 1420 w 2230"/>
                  <a:gd name="T119" fmla="*/ 1733 h 2150"/>
                  <a:gd name="T120" fmla="*/ 1827 w 2230"/>
                  <a:gd name="T121" fmla="*/ 1733 h 2150"/>
                  <a:gd name="T122" fmla="*/ 2192 w 2230"/>
                  <a:gd name="T123" fmla="*/ 2126 h 2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230" h="2150">
                    <a:moveTo>
                      <a:pt x="1447" y="1118"/>
                    </a:moveTo>
                    <a:lnTo>
                      <a:pt x="2229" y="1405"/>
                    </a:lnTo>
                    <a:lnTo>
                      <a:pt x="1545" y="1405"/>
                    </a:lnTo>
                    <a:lnTo>
                      <a:pt x="1078" y="1252"/>
                    </a:lnTo>
                    <a:lnTo>
                      <a:pt x="652" y="1405"/>
                    </a:lnTo>
                    <a:lnTo>
                      <a:pt x="0" y="1405"/>
                    </a:lnTo>
                    <a:lnTo>
                      <a:pt x="726" y="1137"/>
                    </a:lnTo>
                    <a:lnTo>
                      <a:pt x="222" y="976"/>
                    </a:lnTo>
                    <a:lnTo>
                      <a:pt x="361" y="745"/>
                    </a:lnTo>
                    <a:lnTo>
                      <a:pt x="88" y="745"/>
                    </a:lnTo>
                    <a:lnTo>
                      <a:pt x="88" y="583"/>
                    </a:lnTo>
                    <a:lnTo>
                      <a:pt x="467" y="583"/>
                    </a:lnTo>
                    <a:lnTo>
                      <a:pt x="550" y="444"/>
                    </a:lnTo>
                    <a:lnTo>
                      <a:pt x="902" y="444"/>
                    </a:lnTo>
                    <a:lnTo>
                      <a:pt x="823" y="583"/>
                    </a:lnTo>
                    <a:lnTo>
                      <a:pt x="2146" y="583"/>
                    </a:lnTo>
                    <a:lnTo>
                      <a:pt x="2146" y="745"/>
                    </a:lnTo>
                    <a:lnTo>
                      <a:pt x="1910" y="745"/>
                    </a:lnTo>
                    <a:lnTo>
                      <a:pt x="1910" y="957"/>
                    </a:lnTo>
                    <a:lnTo>
                      <a:pt x="1447" y="1118"/>
                    </a:lnTo>
                    <a:close/>
                    <a:moveTo>
                      <a:pt x="56" y="2126"/>
                    </a:moveTo>
                    <a:lnTo>
                      <a:pt x="426" y="1733"/>
                    </a:lnTo>
                    <a:lnTo>
                      <a:pt x="819" y="1733"/>
                    </a:lnTo>
                    <a:lnTo>
                      <a:pt x="463" y="2126"/>
                    </a:lnTo>
                    <a:lnTo>
                      <a:pt x="56" y="2126"/>
                    </a:lnTo>
                    <a:close/>
                    <a:moveTo>
                      <a:pt x="1817" y="490"/>
                    </a:moveTo>
                    <a:lnTo>
                      <a:pt x="1817" y="292"/>
                    </a:lnTo>
                    <a:lnTo>
                      <a:pt x="412" y="292"/>
                    </a:lnTo>
                    <a:lnTo>
                      <a:pt x="412" y="490"/>
                    </a:lnTo>
                    <a:lnTo>
                      <a:pt x="88" y="490"/>
                    </a:lnTo>
                    <a:lnTo>
                      <a:pt x="88" y="121"/>
                    </a:lnTo>
                    <a:lnTo>
                      <a:pt x="925" y="121"/>
                    </a:lnTo>
                    <a:lnTo>
                      <a:pt x="925" y="0"/>
                    </a:lnTo>
                    <a:lnTo>
                      <a:pt x="1290" y="0"/>
                    </a:lnTo>
                    <a:lnTo>
                      <a:pt x="1290" y="121"/>
                    </a:lnTo>
                    <a:lnTo>
                      <a:pt x="2146" y="121"/>
                    </a:lnTo>
                    <a:lnTo>
                      <a:pt x="2146" y="490"/>
                    </a:lnTo>
                    <a:lnTo>
                      <a:pt x="1817" y="490"/>
                    </a:lnTo>
                    <a:close/>
                    <a:moveTo>
                      <a:pt x="1281" y="1368"/>
                    </a:moveTo>
                    <a:lnTo>
                      <a:pt x="1281" y="1497"/>
                    </a:lnTo>
                    <a:lnTo>
                      <a:pt x="2146" y="1497"/>
                    </a:lnTo>
                    <a:lnTo>
                      <a:pt x="2146" y="1668"/>
                    </a:lnTo>
                    <a:lnTo>
                      <a:pt x="1281" y="1668"/>
                    </a:lnTo>
                    <a:lnTo>
                      <a:pt x="1281" y="2149"/>
                    </a:lnTo>
                    <a:lnTo>
                      <a:pt x="944" y="2149"/>
                    </a:lnTo>
                    <a:lnTo>
                      <a:pt x="944" y="1668"/>
                    </a:lnTo>
                    <a:lnTo>
                      <a:pt x="88" y="1668"/>
                    </a:lnTo>
                    <a:lnTo>
                      <a:pt x="88" y="1497"/>
                    </a:lnTo>
                    <a:lnTo>
                      <a:pt x="944" y="1497"/>
                    </a:lnTo>
                    <a:lnTo>
                      <a:pt x="944" y="1368"/>
                    </a:lnTo>
                    <a:lnTo>
                      <a:pt x="1281" y="1368"/>
                    </a:lnTo>
                    <a:close/>
                    <a:moveTo>
                      <a:pt x="1115" y="999"/>
                    </a:moveTo>
                    <a:lnTo>
                      <a:pt x="1568" y="832"/>
                    </a:lnTo>
                    <a:lnTo>
                      <a:pt x="1568" y="745"/>
                    </a:lnTo>
                    <a:lnTo>
                      <a:pt x="726" y="745"/>
                    </a:lnTo>
                    <a:lnTo>
                      <a:pt x="675" y="837"/>
                    </a:lnTo>
                    <a:lnTo>
                      <a:pt x="1115" y="999"/>
                    </a:lnTo>
                    <a:close/>
                    <a:moveTo>
                      <a:pt x="2192" y="2126"/>
                    </a:moveTo>
                    <a:lnTo>
                      <a:pt x="1776" y="2126"/>
                    </a:lnTo>
                    <a:lnTo>
                      <a:pt x="1420" y="1733"/>
                    </a:lnTo>
                    <a:lnTo>
                      <a:pt x="1827" y="1733"/>
                    </a:lnTo>
                    <a:lnTo>
                      <a:pt x="2192" y="2126"/>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0" name="Freeform 19">
                <a:extLst>
                  <a:ext uri="{FF2B5EF4-FFF2-40B4-BE49-F238E27FC236}">
                    <a16:creationId xmlns:a16="http://schemas.microsoft.com/office/drawing/2014/main" id="{DA1AB818-CE52-9C47-874D-1AE276BE9F50}"/>
                  </a:ext>
                </a:extLst>
              </p:cNvPr>
              <p:cNvSpPr>
                <a:spLocks noChangeArrowheads="1"/>
              </p:cNvSpPr>
              <p:nvPr/>
            </p:nvSpPr>
            <p:spPr bwMode="auto">
              <a:xfrm>
                <a:off x="4758449" y="696666"/>
                <a:ext cx="376293" cy="364625"/>
              </a:xfrm>
              <a:custGeom>
                <a:avLst/>
                <a:gdLst>
                  <a:gd name="T0" fmla="*/ 615 w 2276"/>
                  <a:gd name="T1" fmla="*/ 943 h 2205"/>
                  <a:gd name="T2" fmla="*/ 897 w 2276"/>
                  <a:gd name="T3" fmla="*/ 1145 h 2205"/>
                  <a:gd name="T4" fmla="*/ 897 w 2276"/>
                  <a:gd name="T5" fmla="*/ 1548 h 2205"/>
                  <a:gd name="T6" fmla="*/ 583 w 2276"/>
                  <a:gd name="T7" fmla="*/ 1330 h 2205"/>
                  <a:gd name="T8" fmla="*/ 583 w 2276"/>
                  <a:gd name="T9" fmla="*/ 2204 h 2205"/>
                  <a:gd name="T10" fmla="*/ 241 w 2276"/>
                  <a:gd name="T11" fmla="*/ 2204 h 2205"/>
                  <a:gd name="T12" fmla="*/ 241 w 2276"/>
                  <a:gd name="T13" fmla="*/ 1478 h 2205"/>
                  <a:gd name="T14" fmla="*/ 0 w 2276"/>
                  <a:gd name="T15" fmla="*/ 1478 h 2205"/>
                  <a:gd name="T16" fmla="*/ 435 w 2276"/>
                  <a:gd name="T17" fmla="*/ 439 h 2205"/>
                  <a:gd name="T18" fmla="*/ 93 w 2276"/>
                  <a:gd name="T19" fmla="*/ 439 h 2205"/>
                  <a:gd name="T20" fmla="*/ 93 w 2276"/>
                  <a:gd name="T21" fmla="*/ 264 h 2205"/>
                  <a:gd name="T22" fmla="*/ 306 w 2276"/>
                  <a:gd name="T23" fmla="*/ 264 h 2205"/>
                  <a:gd name="T24" fmla="*/ 306 w 2276"/>
                  <a:gd name="T25" fmla="*/ 0 h 2205"/>
                  <a:gd name="T26" fmla="*/ 680 w 2276"/>
                  <a:gd name="T27" fmla="*/ 0 h 2205"/>
                  <a:gd name="T28" fmla="*/ 680 w 2276"/>
                  <a:gd name="T29" fmla="*/ 264 h 2205"/>
                  <a:gd name="T30" fmla="*/ 819 w 2276"/>
                  <a:gd name="T31" fmla="*/ 264 h 2205"/>
                  <a:gd name="T32" fmla="*/ 819 w 2276"/>
                  <a:gd name="T33" fmla="*/ 439 h 2205"/>
                  <a:gd name="T34" fmla="*/ 615 w 2276"/>
                  <a:gd name="T35" fmla="*/ 943 h 2205"/>
                  <a:gd name="T36" fmla="*/ 888 w 2276"/>
                  <a:gd name="T37" fmla="*/ 726 h 2205"/>
                  <a:gd name="T38" fmla="*/ 888 w 2276"/>
                  <a:gd name="T39" fmla="*/ 550 h 2205"/>
                  <a:gd name="T40" fmla="*/ 1360 w 2276"/>
                  <a:gd name="T41" fmla="*/ 550 h 2205"/>
                  <a:gd name="T42" fmla="*/ 1360 w 2276"/>
                  <a:gd name="T43" fmla="*/ 0 h 2205"/>
                  <a:gd name="T44" fmla="*/ 1702 w 2276"/>
                  <a:gd name="T45" fmla="*/ 0 h 2205"/>
                  <a:gd name="T46" fmla="*/ 1702 w 2276"/>
                  <a:gd name="T47" fmla="*/ 550 h 2205"/>
                  <a:gd name="T48" fmla="*/ 2178 w 2276"/>
                  <a:gd name="T49" fmla="*/ 550 h 2205"/>
                  <a:gd name="T50" fmla="*/ 2178 w 2276"/>
                  <a:gd name="T51" fmla="*/ 726 h 2205"/>
                  <a:gd name="T52" fmla="*/ 1702 w 2276"/>
                  <a:gd name="T53" fmla="*/ 726 h 2205"/>
                  <a:gd name="T54" fmla="*/ 1702 w 2276"/>
                  <a:gd name="T55" fmla="*/ 1996 h 2205"/>
                  <a:gd name="T56" fmla="*/ 2275 w 2276"/>
                  <a:gd name="T57" fmla="*/ 1996 h 2205"/>
                  <a:gd name="T58" fmla="*/ 2275 w 2276"/>
                  <a:gd name="T59" fmla="*/ 2172 h 2205"/>
                  <a:gd name="T60" fmla="*/ 763 w 2276"/>
                  <a:gd name="T61" fmla="*/ 2172 h 2205"/>
                  <a:gd name="T62" fmla="*/ 763 w 2276"/>
                  <a:gd name="T63" fmla="*/ 1996 h 2205"/>
                  <a:gd name="T64" fmla="*/ 1360 w 2276"/>
                  <a:gd name="T65" fmla="*/ 1996 h 2205"/>
                  <a:gd name="T66" fmla="*/ 1360 w 2276"/>
                  <a:gd name="T67" fmla="*/ 726 h 2205"/>
                  <a:gd name="T68" fmla="*/ 888 w 2276"/>
                  <a:gd name="T69" fmla="*/ 726 h 2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276" h="2205">
                    <a:moveTo>
                      <a:pt x="615" y="943"/>
                    </a:moveTo>
                    <a:lnTo>
                      <a:pt x="897" y="1145"/>
                    </a:lnTo>
                    <a:lnTo>
                      <a:pt x="897" y="1548"/>
                    </a:lnTo>
                    <a:lnTo>
                      <a:pt x="583" y="1330"/>
                    </a:lnTo>
                    <a:lnTo>
                      <a:pt x="583" y="2204"/>
                    </a:lnTo>
                    <a:lnTo>
                      <a:pt x="241" y="2204"/>
                    </a:lnTo>
                    <a:lnTo>
                      <a:pt x="241" y="1478"/>
                    </a:lnTo>
                    <a:lnTo>
                      <a:pt x="0" y="1478"/>
                    </a:lnTo>
                    <a:lnTo>
                      <a:pt x="435" y="439"/>
                    </a:lnTo>
                    <a:lnTo>
                      <a:pt x="93" y="439"/>
                    </a:lnTo>
                    <a:lnTo>
                      <a:pt x="93" y="264"/>
                    </a:lnTo>
                    <a:lnTo>
                      <a:pt x="306" y="264"/>
                    </a:lnTo>
                    <a:lnTo>
                      <a:pt x="306" y="0"/>
                    </a:lnTo>
                    <a:lnTo>
                      <a:pt x="680" y="0"/>
                    </a:lnTo>
                    <a:lnTo>
                      <a:pt x="680" y="264"/>
                    </a:lnTo>
                    <a:lnTo>
                      <a:pt x="819" y="264"/>
                    </a:lnTo>
                    <a:lnTo>
                      <a:pt x="819" y="439"/>
                    </a:lnTo>
                    <a:lnTo>
                      <a:pt x="615" y="943"/>
                    </a:lnTo>
                    <a:close/>
                    <a:moveTo>
                      <a:pt x="888" y="726"/>
                    </a:moveTo>
                    <a:lnTo>
                      <a:pt x="888" y="550"/>
                    </a:lnTo>
                    <a:lnTo>
                      <a:pt x="1360" y="550"/>
                    </a:lnTo>
                    <a:lnTo>
                      <a:pt x="1360" y="0"/>
                    </a:lnTo>
                    <a:lnTo>
                      <a:pt x="1702" y="0"/>
                    </a:lnTo>
                    <a:lnTo>
                      <a:pt x="1702" y="550"/>
                    </a:lnTo>
                    <a:lnTo>
                      <a:pt x="2178" y="550"/>
                    </a:lnTo>
                    <a:lnTo>
                      <a:pt x="2178" y="726"/>
                    </a:lnTo>
                    <a:lnTo>
                      <a:pt x="1702" y="726"/>
                    </a:lnTo>
                    <a:lnTo>
                      <a:pt x="1702" y="1996"/>
                    </a:lnTo>
                    <a:lnTo>
                      <a:pt x="2275" y="1996"/>
                    </a:lnTo>
                    <a:lnTo>
                      <a:pt x="2275" y="2172"/>
                    </a:lnTo>
                    <a:lnTo>
                      <a:pt x="763" y="2172"/>
                    </a:lnTo>
                    <a:lnTo>
                      <a:pt x="763" y="1996"/>
                    </a:lnTo>
                    <a:lnTo>
                      <a:pt x="1360" y="1996"/>
                    </a:lnTo>
                    <a:lnTo>
                      <a:pt x="1360" y="726"/>
                    </a:lnTo>
                    <a:lnTo>
                      <a:pt x="888" y="726"/>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1" name="Freeform 20">
                <a:extLst>
                  <a:ext uri="{FF2B5EF4-FFF2-40B4-BE49-F238E27FC236}">
                    <a16:creationId xmlns:a16="http://schemas.microsoft.com/office/drawing/2014/main" id="{3CBC2DBE-EEEF-564D-8484-7063829C5E70}"/>
                  </a:ext>
                </a:extLst>
              </p:cNvPr>
              <p:cNvSpPr>
                <a:spLocks noChangeArrowheads="1"/>
              </p:cNvSpPr>
              <p:nvPr/>
            </p:nvSpPr>
            <p:spPr bwMode="auto">
              <a:xfrm>
                <a:off x="5179226" y="705417"/>
                <a:ext cx="328891" cy="352227"/>
              </a:xfrm>
              <a:custGeom>
                <a:avLst/>
                <a:gdLst>
                  <a:gd name="T0" fmla="*/ 1979 w 1990"/>
                  <a:gd name="T1" fmla="*/ 176 h 2131"/>
                  <a:gd name="T2" fmla="*/ 343 w 1990"/>
                  <a:gd name="T3" fmla="*/ 176 h 2131"/>
                  <a:gd name="T4" fmla="*/ 343 w 1990"/>
                  <a:gd name="T5" fmla="*/ 1954 h 2131"/>
                  <a:gd name="T6" fmla="*/ 1989 w 1990"/>
                  <a:gd name="T7" fmla="*/ 1954 h 2131"/>
                  <a:gd name="T8" fmla="*/ 1989 w 1990"/>
                  <a:gd name="T9" fmla="*/ 2130 h 2131"/>
                  <a:gd name="T10" fmla="*/ 0 w 1990"/>
                  <a:gd name="T11" fmla="*/ 2130 h 2131"/>
                  <a:gd name="T12" fmla="*/ 0 w 1990"/>
                  <a:gd name="T13" fmla="*/ 0 h 2131"/>
                  <a:gd name="T14" fmla="*/ 1979 w 1990"/>
                  <a:gd name="T15" fmla="*/ 0 h 2131"/>
                  <a:gd name="T16" fmla="*/ 1979 w 1990"/>
                  <a:gd name="T17" fmla="*/ 176 h 2131"/>
                  <a:gd name="T18" fmla="*/ 958 w 1990"/>
                  <a:gd name="T19" fmla="*/ 1063 h 2131"/>
                  <a:gd name="T20" fmla="*/ 421 w 1990"/>
                  <a:gd name="T21" fmla="*/ 310 h 2131"/>
                  <a:gd name="T22" fmla="*/ 847 w 1990"/>
                  <a:gd name="T23" fmla="*/ 310 h 2131"/>
                  <a:gd name="T24" fmla="*/ 1166 w 1990"/>
                  <a:gd name="T25" fmla="*/ 763 h 2131"/>
                  <a:gd name="T26" fmla="*/ 1475 w 1990"/>
                  <a:gd name="T27" fmla="*/ 310 h 2131"/>
                  <a:gd name="T28" fmla="*/ 1887 w 1990"/>
                  <a:gd name="T29" fmla="*/ 310 h 2131"/>
                  <a:gd name="T30" fmla="*/ 1378 w 1990"/>
                  <a:gd name="T31" fmla="*/ 1058 h 2131"/>
                  <a:gd name="T32" fmla="*/ 1924 w 1990"/>
                  <a:gd name="T33" fmla="*/ 1829 h 2131"/>
                  <a:gd name="T34" fmla="*/ 1508 w 1990"/>
                  <a:gd name="T35" fmla="*/ 1829 h 2131"/>
                  <a:gd name="T36" fmla="*/ 1175 w 1990"/>
                  <a:gd name="T37" fmla="*/ 1358 h 2131"/>
                  <a:gd name="T38" fmla="*/ 860 w 1990"/>
                  <a:gd name="T39" fmla="*/ 1829 h 2131"/>
                  <a:gd name="T40" fmla="*/ 440 w 1990"/>
                  <a:gd name="T41" fmla="*/ 1829 h 2131"/>
                  <a:gd name="T42" fmla="*/ 958 w 1990"/>
                  <a:gd name="T43" fmla="*/ 1063 h 2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990" h="2131">
                    <a:moveTo>
                      <a:pt x="1979" y="176"/>
                    </a:moveTo>
                    <a:lnTo>
                      <a:pt x="343" y="176"/>
                    </a:lnTo>
                    <a:lnTo>
                      <a:pt x="343" y="1954"/>
                    </a:lnTo>
                    <a:lnTo>
                      <a:pt x="1989" y="1954"/>
                    </a:lnTo>
                    <a:lnTo>
                      <a:pt x="1989" y="2130"/>
                    </a:lnTo>
                    <a:lnTo>
                      <a:pt x="0" y="2130"/>
                    </a:lnTo>
                    <a:lnTo>
                      <a:pt x="0" y="0"/>
                    </a:lnTo>
                    <a:lnTo>
                      <a:pt x="1979" y="0"/>
                    </a:lnTo>
                    <a:lnTo>
                      <a:pt x="1979" y="176"/>
                    </a:lnTo>
                    <a:close/>
                    <a:moveTo>
                      <a:pt x="958" y="1063"/>
                    </a:moveTo>
                    <a:lnTo>
                      <a:pt x="421" y="310"/>
                    </a:lnTo>
                    <a:lnTo>
                      <a:pt x="847" y="310"/>
                    </a:lnTo>
                    <a:lnTo>
                      <a:pt x="1166" y="763"/>
                    </a:lnTo>
                    <a:lnTo>
                      <a:pt x="1475" y="310"/>
                    </a:lnTo>
                    <a:lnTo>
                      <a:pt x="1887" y="310"/>
                    </a:lnTo>
                    <a:lnTo>
                      <a:pt x="1378" y="1058"/>
                    </a:lnTo>
                    <a:lnTo>
                      <a:pt x="1924" y="1829"/>
                    </a:lnTo>
                    <a:lnTo>
                      <a:pt x="1508" y="1829"/>
                    </a:lnTo>
                    <a:lnTo>
                      <a:pt x="1175" y="1358"/>
                    </a:lnTo>
                    <a:lnTo>
                      <a:pt x="860" y="1829"/>
                    </a:lnTo>
                    <a:lnTo>
                      <a:pt x="440" y="1829"/>
                    </a:lnTo>
                    <a:lnTo>
                      <a:pt x="958" y="1063"/>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dirty="0"/>
              </a:p>
            </p:txBody>
          </p:sp>
        </p:grpSp>
      </p:grpSp>
      <p:cxnSp>
        <p:nvCxnSpPr>
          <p:cNvPr id="33" name="直线连接符 32">
            <a:extLst>
              <a:ext uri="{FF2B5EF4-FFF2-40B4-BE49-F238E27FC236}">
                <a16:creationId xmlns:a16="http://schemas.microsoft.com/office/drawing/2014/main" id="{E9B9A2A5-908B-3244-B39F-9E6705AE6320}"/>
              </a:ext>
            </a:extLst>
          </p:cNvPr>
          <p:cNvCxnSpPr>
            <a:cxnSpLocks/>
          </p:cNvCxnSpPr>
          <p:nvPr userDrawn="1"/>
        </p:nvCxnSpPr>
        <p:spPr>
          <a:xfrm>
            <a:off x="9705401" y="526774"/>
            <a:ext cx="0" cy="503679"/>
          </a:xfrm>
          <a:prstGeom prst="line">
            <a:avLst/>
          </a:prstGeom>
          <a:ln w="12700" cap="rnd">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40" name="组合 39">
            <a:extLst>
              <a:ext uri="{FF2B5EF4-FFF2-40B4-BE49-F238E27FC236}">
                <a16:creationId xmlns:a16="http://schemas.microsoft.com/office/drawing/2014/main" id="{7BC00378-4A1A-AF4A-9DA5-0E40AABBEE09}"/>
              </a:ext>
            </a:extLst>
          </p:cNvPr>
          <p:cNvGrpSpPr/>
          <p:nvPr userDrawn="1"/>
        </p:nvGrpSpPr>
        <p:grpSpPr>
          <a:xfrm>
            <a:off x="715452" y="646397"/>
            <a:ext cx="403039" cy="321898"/>
            <a:chOff x="1368170" y="664579"/>
            <a:chExt cx="550582" cy="439737"/>
          </a:xfrm>
          <a:solidFill>
            <a:schemeClr val="bg1"/>
          </a:solidFill>
        </p:grpSpPr>
        <p:sp>
          <p:nvSpPr>
            <p:cNvPr id="41" name="Freeform 1">
              <a:extLst>
                <a:ext uri="{FF2B5EF4-FFF2-40B4-BE49-F238E27FC236}">
                  <a16:creationId xmlns:a16="http://schemas.microsoft.com/office/drawing/2014/main" id="{219E963A-769E-B14C-9175-00DF37C8C685}"/>
                </a:ext>
              </a:extLst>
            </p:cNvPr>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2" name="Freeform 2">
              <a:extLst>
                <a:ext uri="{FF2B5EF4-FFF2-40B4-BE49-F238E27FC236}">
                  <a16:creationId xmlns:a16="http://schemas.microsoft.com/office/drawing/2014/main" id="{935EF8B9-88D2-6C42-BF9B-2AD28DBBD77F}"/>
                </a:ext>
              </a:extLst>
            </p:cNvPr>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3" name="Freeform 3">
              <a:extLst>
                <a:ext uri="{FF2B5EF4-FFF2-40B4-BE49-F238E27FC236}">
                  <a16:creationId xmlns:a16="http://schemas.microsoft.com/office/drawing/2014/main" id="{10E28FF9-5CED-394E-AF38-301649539D3C}"/>
                </a:ext>
              </a:extLst>
            </p:cNvPr>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4" name="Freeform 4">
              <a:extLst>
                <a:ext uri="{FF2B5EF4-FFF2-40B4-BE49-F238E27FC236}">
                  <a16:creationId xmlns:a16="http://schemas.microsoft.com/office/drawing/2014/main" id="{6E5EA531-DEFC-144D-8545-1DECEBA97224}"/>
                </a:ext>
              </a:extLst>
            </p:cNvPr>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 name="Freeform 5">
              <a:extLst>
                <a:ext uri="{FF2B5EF4-FFF2-40B4-BE49-F238E27FC236}">
                  <a16:creationId xmlns:a16="http://schemas.microsoft.com/office/drawing/2014/main" id="{F39A9FAC-3BBF-CD45-BC62-06EF846D77A9}"/>
                </a:ext>
              </a:extLst>
            </p:cNvPr>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6" name="Freeform 6">
              <a:extLst>
                <a:ext uri="{FF2B5EF4-FFF2-40B4-BE49-F238E27FC236}">
                  <a16:creationId xmlns:a16="http://schemas.microsoft.com/office/drawing/2014/main" id="{4A2E4B78-1C39-A943-B2AE-B76B55EBA492}"/>
                </a:ext>
              </a:extLst>
            </p:cNvPr>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7" name="Freeform 7">
              <a:extLst>
                <a:ext uri="{FF2B5EF4-FFF2-40B4-BE49-F238E27FC236}">
                  <a16:creationId xmlns:a16="http://schemas.microsoft.com/office/drawing/2014/main" id="{E34B0E8F-7C29-3241-8B05-8DB5DF4ED827}"/>
                </a:ext>
              </a:extLst>
            </p:cNvPr>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8" name="Freeform 8">
              <a:extLst>
                <a:ext uri="{FF2B5EF4-FFF2-40B4-BE49-F238E27FC236}">
                  <a16:creationId xmlns:a16="http://schemas.microsoft.com/office/drawing/2014/main" id="{08D4B6E4-213B-E84A-9B55-3121DC89C5CA}"/>
                </a:ext>
              </a:extLst>
            </p:cNvPr>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9" name="Freeform 9">
              <a:extLst>
                <a:ext uri="{FF2B5EF4-FFF2-40B4-BE49-F238E27FC236}">
                  <a16:creationId xmlns:a16="http://schemas.microsoft.com/office/drawing/2014/main" id="{3073A429-8658-EC43-92EE-0AD58A5391AE}"/>
                </a:ext>
              </a:extLst>
            </p:cNvPr>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0" name="Freeform 10">
              <a:extLst>
                <a:ext uri="{FF2B5EF4-FFF2-40B4-BE49-F238E27FC236}">
                  <a16:creationId xmlns:a16="http://schemas.microsoft.com/office/drawing/2014/main" id="{7B9CB57C-5EF1-7045-A70B-14CD6B5A98B9}"/>
                </a:ext>
              </a:extLst>
            </p:cNvPr>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1" name="Freeform 11">
              <a:extLst>
                <a:ext uri="{FF2B5EF4-FFF2-40B4-BE49-F238E27FC236}">
                  <a16:creationId xmlns:a16="http://schemas.microsoft.com/office/drawing/2014/main" id="{9187B6AA-F9BB-264E-BDCA-C7E0AC3A676B}"/>
                </a:ext>
              </a:extLst>
            </p:cNvPr>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pic>
        <p:nvPicPr>
          <p:cNvPr id="52" name="Picture 51">
            <a:extLst>
              <a:ext uri="{FF2B5EF4-FFF2-40B4-BE49-F238E27FC236}">
                <a16:creationId xmlns:a16="http://schemas.microsoft.com/office/drawing/2014/main" id="{47A97ED5-A684-4E63-8822-9B2A826CBE94}"/>
              </a:ext>
            </a:extLst>
          </p:cNvPr>
          <p:cNvPicPr>
            <a:picLocks noChangeAspect="1"/>
          </p:cNvPicPr>
          <p:nvPr userDrawn="1"/>
        </p:nvPicPr>
        <p:blipFill>
          <a:blip r:embed="rId2"/>
          <a:stretch>
            <a:fillRect/>
          </a:stretch>
        </p:blipFill>
        <p:spPr>
          <a:xfrm>
            <a:off x="10201492" y="360786"/>
            <a:ext cx="1372094" cy="423211"/>
          </a:xfrm>
          <a:prstGeom prst="rect">
            <a:avLst/>
          </a:prstGeom>
        </p:spPr>
      </p:pic>
    </p:spTree>
    <p:extLst>
      <p:ext uri="{BB962C8B-B14F-4D97-AF65-F5344CB8AC3E}">
        <p14:creationId xmlns:p14="http://schemas.microsoft.com/office/powerpoint/2010/main" val="4872756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E113DFC-2B9E-1046-8B5B-5FDA89B52346}"/>
              </a:ext>
            </a:extLst>
          </p:cNvPr>
          <p:cNvSpPr>
            <a:spLocks noGrp="1"/>
          </p:cNvSpPr>
          <p:nvPr>
            <p:ph type="title"/>
          </p:nvPr>
        </p:nvSpPr>
        <p:spPr>
          <a:xfrm>
            <a:off x="1324184" y="365126"/>
            <a:ext cx="10031204" cy="879086"/>
          </a:xfrm>
        </p:spPr>
        <p:txBody>
          <a:bodyPr/>
          <a:lstStyle/>
          <a:p>
            <a:r>
              <a:rPr kumimoji="1" lang="zh-CN" altLang="en-US" dirty="0"/>
              <a:t>单击此处编辑母版标题样式</a:t>
            </a:r>
          </a:p>
        </p:txBody>
      </p:sp>
      <p:sp>
        <p:nvSpPr>
          <p:cNvPr id="3" name="文本占位符 2">
            <a:extLst>
              <a:ext uri="{FF2B5EF4-FFF2-40B4-BE49-F238E27FC236}">
                <a16:creationId xmlns:a16="http://schemas.microsoft.com/office/drawing/2014/main" id="{664D48E2-7007-2C43-9E31-DD29856768D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dirty="0"/>
              <a:t>单击此处编辑母版文本样式</a:t>
            </a:r>
          </a:p>
        </p:txBody>
      </p:sp>
      <p:sp>
        <p:nvSpPr>
          <p:cNvPr id="4" name="内容占位符 3">
            <a:extLst>
              <a:ext uri="{FF2B5EF4-FFF2-40B4-BE49-F238E27FC236}">
                <a16:creationId xmlns:a16="http://schemas.microsoft.com/office/drawing/2014/main" id="{A1ED6729-C3F3-7049-A57C-58FE3C205582}"/>
              </a:ext>
            </a:extLst>
          </p:cNvPr>
          <p:cNvSpPr>
            <a:spLocks noGrp="1"/>
          </p:cNvSpPr>
          <p:nvPr>
            <p:ph sz="half" idx="2"/>
          </p:nvPr>
        </p:nvSpPr>
        <p:spPr>
          <a:xfrm>
            <a:off x="839788" y="2505075"/>
            <a:ext cx="5157787" cy="3684588"/>
          </a:xfrm>
        </p:spPr>
        <p:txBody>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5" name="文本占位符 4">
            <a:extLst>
              <a:ext uri="{FF2B5EF4-FFF2-40B4-BE49-F238E27FC236}">
                <a16:creationId xmlns:a16="http://schemas.microsoft.com/office/drawing/2014/main" id="{762B1297-DB16-374F-BBBD-21C64C2926E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69E6E70B-400A-F546-AF7B-C36FDD085856}"/>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ABADACC0-37EC-9149-9D6D-CB966DF55A46}"/>
              </a:ext>
            </a:extLst>
          </p:cNvPr>
          <p:cNvSpPr>
            <a:spLocks noGrp="1"/>
          </p:cNvSpPr>
          <p:nvPr>
            <p:ph type="dt" sz="half" idx="10"/>
          </p:nvPr>
        </p:nvSpPr>
        <p:spPr/>
        <p:txBody>
          <a:bodyPr/>
          <a:lstStyle/>
          <a:p>
            <a:fld id="{242C34E1-A7B1-194A-A03F-68AF0754181E}" type="datetime1">
              <a:rPr kumimoji="1" lang="zh-CN" altLang="en-US" smtClean="0"/>
              <a:t>2024/10/18</a:t>
            </a:fld>
            <a:endParaRPr kumimoji="1" lang="zh-CN" altLang="en-US"/>
          </a:p>
        </p:txBody>
      </p:sp>
      <p:sp>
        <p:nvSpPr>
          <p:cNvPr id="8" name="页脚占位符 7">
            <a:extLst>
              <a:ext uri="{FF2B5EF4-FFF2-40B4-BE49-F238E27FC236}">
                <a16:creationId xmlns:a16="http://schemas.microsoft.com/office/drawing/2014/main" id="{C1F2C5F8-DD20-7E4C-9FB0-CD51C54A1C6A}"/>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B8D7EE40-2B94-6D4D-928E-DECF5D80840F}"/>
              </a:ext>
            </a:extLst>
          </p:cNvPr>
          <p:cNvSpPr>
            <a:spLocks noGrp="1"/>
          </p:cNvSpPr>
          <p:nvPr>
            <p:ph type="sldNum" sz="quarter" idx="12"/>
          </p:nvPr>
        </p:nvSpPr>
        <p:spPr/>
        <p:txBody>
          <a:bodyPr/>
          <a:lstStyle/>
          <a:p>
            <a:fld id="{8D4D1E41-7A09-AB4A-A4E1-09765ADA2698}" type="slidenum">
              <a:rPr kumimoji="1" lang="zh-CN" altLang="en-US" smtClean="0"/>
              <a:t>‹#›</a:t>
            </a:fld>
            <a:endParaRPr kumimoji="1" lang="zh-CN" altLang="en-US"/>
          </a:p>
        </p:txBody>
      </p:sp>
      <p:sp>
        <p:nvSpPr>
          <p:cNvPr id="10" name="矩形 9">
            <a:extLst>
              <a:ext uri="{FF2B5EF4-FFF2-40B4-BE49-F238E27FC236}">
                <a16:creationId xmlns:a16="http://schemas.microsoft.com/office/drawing/2014/main" id="{ABC5A3E3-16BE-4348-82D2-7C344E6E1F54}"/>
              </a:ext>
            </a:extLst>
          </p:cNvPr>
          <p:cNvSpPr/>
          <p:nvPr userDrawn="1"/>
        </p:nvSpPr>
        <p:spPr>
          <a:xfrm>
            <a:off x="667831" y="636554"/>
            <a:ext cx="509313" cy="498948"/>
          </a:xfrm>
          <a:prstGeom prst="rect">
            <a:avLst/>
          </a:prstGeom>
          <a:solidFill>
            <a:srgbClr val="5C30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5C307E"/>
              </a:solidFill>
            </a:endParaRPr>
          </a:p>
        </p:txBody>
      </p:sp>
      <p:cxnSp>
        <p:nvCxnSpPr>
          <p:cNvPr id="11" name="直线连接符 10">
            <a:extLst>
              <a:ext uri="{FF2B5EF4-FFF2-40B4-BE49-F238E27FC236}">
                <a16:creationId xmlns:a16="http://schemas.microsoft.com/office/drawing/2014/main" id="{EE152040-1510-FD47-8927-D0B20C5D7C27}"/>
              </a:ext>
            </a:extLst>
          </p:cNvPr>
          <p:cNvCxnSpPr>
            <a:cxnSpLocks/>
          </p:cNvCxnSpPr>
          <p:nvPr userDrawn="1"/>
        </p:nvCxnSpPr>
        <p:spPr>
          <a:xfrm>
            <a:off x="1314788" y="1244212"/>
            <a:ext cx="7295812" cy="0"/>
          </a:xfrm>
          <a:prstGeom prst="line">
            <a:avLst/>
          </a:prstGeom>
          <a:ln w="19050">
            <a:solidFill>
              <a:srgbClr val="5C307E"/>
            </a:solidFill>
          </a:ln>
        </p:spPr>
        <p:style>
          <a:lnRef idx="1">
            <a:schemeClr val="accent1"/>
          </a:lnRef>
          <a:fillRef idx="0">
            <a:schemeClr val="accent1"/>
          </a:fillRef>
          <a:effectRef idx="0">
            <a:schemeClr val="accent1"/>
          </a:effectRef>
          <a:fontRef idx="minor">
            <a:schemeClr val="tx1"/>
          </a:fontRef>
        </p:style>
      </p:cxnSp>
      <p:grpSp>
        <p:nvGrpSpPr>
          <p:cNvPr id="12" name="组合 11">
            <a:extLst>
              <a:ext uri="{FF2B5EF4-FFF2-40B4-BE49-F238E27FC236}">
                <a16:creationId xmlns:a16="http://schemas.microsoft.com/office/drawing/2014/main" id="{4F0ACF62-A174-B042-8DB8-C53C3544E64E}"/>
              </a:ext>
            </a:extLst>
          </p:cNvPr>
          <p:cNvGrpSpPr/>
          <p:nvPr userDrawn="1"/>
        </p:nvGrpSpPr>
        <p:grpSpPr>
          <a:xfrm>
            <a:off x="9849450" y="844221"/>
            <a:ext cx="1961485" cy="208345"/>
            <a:chOff x="1368170" y="1165302"/>
            <a:chExt cx="4139947" cy="439737"/>
          </a:xfrm>
        </p:grpSpPr>
        <p:grpSp>
          <p:nvGrpSpPr>
            <p:cNvPr id="13" name="组合 12">
              <a:extLst>
                <a:ext uri="{FF2B5EF4-FFF2-40B4-BE49-F238E27FC236}">
                  <a16:creationId xmlns:a16="http://schemas.microsoft.com/office/drawing/2014/main" id="{55F43CD0-928E-8C48-BA84-2461A00B51BF}"/>
                </a:ext>
              </a:extLst>
            </p:cNvPr>
            <p:cNvGrpSpPr/>
            <p:nvPr/>
          </p:nvGrpSpPr>
          <p:grpSpPr>
            <a:xfrm>
              <a:off x="1368170" y="1165302"/>
              <a:ext cx="550582" cy="439737"/>
              <a:chOff x="1368170" y="664579"/>
              <a:chExt cx="550582" cy="439737"/>
            </a:xfrm>
          </p:grpSpPr>
          <p:sp>
            <p:nvSpPr>
              <p:cNvPr id="24" name="Freeform 1">
                <a:extLst>
                  <a:ext uri="{FF2B5EF4-FFF2-40B4-BE49-F238E27FC236}">
                    <a16:creationId xmlns:a16="http://schemas.microsoft.com/office/drawing/2014/main" id="{A71C3E21-5577-FF43-AF55-EB68F1E9E333}"/>
                  </a:ext>
                </a:extLst>
              </p:cNvPr>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solidFill>
                <a:srgbClr val="D72229"/>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 name="Freeform 2">
                <a:extLst>
                  <a:ext uri="{FF2B5EF4-FFF2-40B4-BE49-F238E27FC236}">
                    <a16:creationId xmlns:a16="http://schemas.microsoft.com/office/drawing/2014/main" id="{4E023B9C-C051-EC4D-B128-585E35516408}"/>
                  </a:ext>
                </a:extLst>
              </p:cNvPr>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solidFill>
                <a:srgbClr val="DD4A16"/>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6" name="Freeform 3">
                <a:extLst>
                  <a:ext uri="{FF2B5EF4-FFF2-40B4-BE49-F238E27FC236}">
                    <a16:creationId xmlns:a16="http://schemas.microsoft.com/office/drawing/2014/main" id="{A96BECFD-148E-114F-A81C-239DCDA21535}"/>
                  </a:ext>
                </a:extLst>
              </p:cNvPr>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solidFill>
                <a:srgbClr val="EA741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 name="Freeform 4">
                <a:extLst>
                  <a:ext uri="{FF2B5EF4-FFF2-40B4-BE49-F238E27FC236}">
                    <a16:creationId xmlns:a16="http://schemas.microsoft.com/office/drawing/2014/main" id="{BE08FD99-D6A9-1A48-B3C7-5DF30AE02C75}"/>
                  </a:ext>
                </a:extLst>
              </p:cNvPr>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solidFill>
                <a:srgbClr val="F6C40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 name="Freeform 5">
                <a:extLst>
                  <a:ext uri="{FF2B5EF4-FFF2-40B4-BE49-F238E27FC236}">
                    <a16:creationId xmlns:a16="http://schemas.microsoft.com/office/drawing/2014/main" id="{102AE785-E76F-D64A-9D2A-F382B66C71AD}"/>
                  </a:ext>
                </a:extLst>
              </p:cNvPr>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solidFill>
                <a:srgbClr val="F1E827"/>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9" name="Freeform 6">
                <a:extLst>
                  <a:ext uri="{FF2B5EF4-FFF2-40B4-BE49-F238E27FC236}">
                    <a16:creationId xmlns:a16="http://schemas.microsoft.com/office/drawing/2014/main" id="{84358720-89B3-A64A-9B8C-48D27F5F1036}"/>
                  </a:ext>
                </a:extLst>
              </p:cNvPr>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solidFill>
                <a:srgbClr val="157C5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0" name="Freeform 7">
                <a:extLst>
                  <a:ext uri="{FF2B5EF4-FFF2-40B4-BE49-F238E27FC236}">
                    <a16:creationId xmlns:a16="http://schemas.microsoft.com/office/drawing/2014/main" id="{B83B2B82-7F46-174A-BEE0-30C2FA53C79F}"/>
                  </a:ext>
                </a:extLst>
              </p:cNvPr>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solidFill>
                <a:srgbClr val="049445"/>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1" name="Freeform 8">
                <a:extLst>
                  <a:ext uri="{FF2B5EF4-FFF2-40B4-BE49-F238E27FC236}">
                    <a16:creationId xmlns:a16="http://schemas.microsoft.com/office/drawing/2014/main" id="{8C09104A-EBDA-D845-AA39-8757358A97BC}"/>
                  </a:ext>
                </a:extLst>
              </p:cNvPr>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solidFill>
                <a:srgbClr val="48A838"/>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2" name="Freeform 9">
                <a:extLst>
                  <a:ext uri="{FF2B5EF4-FFF2-40B4-BE49-F238E27FC236}">
                    <a16:creationId xmlns:a16="http://schemas.microsoft.com/office/drawing/2014/main" id="{081EDB8B-17F9-4B49-9ABB-7087B3625653}"/>
                  </a:ext>
                </a:extLst>
              </p:cNvPr>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solidFill>
                <a:srgbClr val="B2CE24"/>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3" name="Freeform 10">
                <a:extLst>
                  <a:ext uri="{FF2B5EF4-FFF2-40B4-BE49-F238E27FC236}">
                    <a16:creationId xmlns:a16="http://schemas.microsoft.com/office/drawing/2014/main" id="{65C81ECF-1FAD-5D46-8BA6-B1184C567F64}"/>
                  </a:ext>
                </a:extLst>
              </p:cNvPr>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solidFill>
                <a:srgbClr val="F1E827"/>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4" name="Freeform 11">
                <a:extLst>
                  <a:ext uri="{FF2B5EF4-FFF2-40B4-BE49-F238E27FC236}">
                    <a16:creationId xmlns:a16="http://schemas.microsoft.com/office/drawing/2014/main" id="{F68D00D7-EBD9-574B-A827-73227AB29BBC}"/>
                  </a:ext>
                </a:extLst>
              </p:cNvPr>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solidFill>
                <a:srgbClr val="F1E827"/>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14" name="组合 13">
              <a:extLst>
                <a:ext uri="{FF2B5EF4-FFF2-40B4-BE49-F238E27FC236}">
                  <a16:creationId xmlns:a16="http://schemas.microsoft.com/office/drawing/2014/main" id="{43698819-AB0C-9844-B519-966DF3F2F9CD}"/>
                </a:ext>
              </a:extLst>
            </p:cNvPr>
            <p:cNvGrpSpPr/>
            <p:nvPr/>
          </p:nvGrpSpPr>
          <p:grpSpPr>
            <a:xfrm>
              <a:off x="2028870" y="1197389"/>
              <a:ext cx="3479247" cy="365353"/>
              <a:chOff x="2028870" y="696666"/>
              <a:chExt cx="3479247" cy="365353"/>
            </a:xfrm>
            <a:solidFill>
              <a:schemeClr val="bg1">
                <a:lumMod val="50000"/>
              </a:schemeClr>
            </a:solidFill>
          </p:grpSpPr>
          <p:sp>
            <p:nvSpPr>
              <p:cNvPr id="15" name="Freeform 12">
                <a:extLst>
                  <a:ext uri="{FF2B5EF4-FFF2-40B4-BE49-F238E27FC236}">
                    <a16:creationId xmlns:a16="http://schemas.microsoft.com/office/drawing/2014/main" id="{A2ADFCE2-7117-4C4F-BB07-0CA44AB2F4C1}"/>
                  </a:ext>
                </a:extLst>
              </p:cNvPr>
              <p:cNvSpPr>
                <a:spLocks noChangeArrowheads="1"/>
              </p:cNvSpPr>
              <p:nvPr/>
            </p:nvSpPr>
            <p:spPr bwMode="auto">
              <a:xfrm>
                <a:off x="2028870" y="697395"/>
                <a:ext cx="358061" cy="363166"/>
              </a:xfrm>
              <a:custGeom>
                <a:avLst/>
                <a:gdLst>
                  <a:gd name="T0" fmla="*/ 121 w 2165"/>
                  <a:gd name="T1" fmla="*/ 758 h 2195"/>
                  <a:gd name="T2" fmla="*/ 0 w 2165"/>
                  <a:gd name="T3" fmla="*/ 758 h 2195"/>
                  <a:gd name="T4" fmla="*/ 0 w 2165"/>
                  <a:gd name="T5" fmla="*/ 582 h 2195"/>
                  <a:gd name="T6" fmla="*/ 463 w 2165"/>
                  <a:gd name="T7" fmla="*/ 582 h 2195"/>
                  <a:gd name="T8" fmla="*/ 463 w 2165"/>
                  <a:gd name="T9" fmla="*/ 1982 h 2195"/>
                  <a:gd name="T10" fmla="*/ 620 w 2165"/>
                  <a:gd name="T11" fmla="*/ 1982 h 2195"/>
                  <a:gd name="T12" fmla="*/ 620 w 2165"/>
                  <a:gd name="T13" fmla="*/ 2157 h 2195"/>
                  <a:gd name="T14" fmla="*/ 121 w 2165"/>
                  <a:gd name="T15" fmla="*/ 2157 h 2195"/>
                  <a:gd name="T16" fmla="*/ 121 w 2165"/>
                  <a:gd name="T17" fmla="*/ 758 h 2195"/>
                  <a:gd name="T18" fmla="*/ 467 w 2165"/>
                  <a:gd name="T19" fmla="*/ 51 h 2195"/>
                  <a:gd name="T20" fmla="*/ 467 w 2165"/>
                  <a:gd name="T21" fmla="*/ 462 h 2195"/>
                  <a:gd name="T22" fmla="*/ 121 w 2165"/>
                  <a:gd name="T23" fmla="*/ 462 h 2195"/>
                  <a:gd name="T24" fmla="*/ 121 w 2165"/>
                  <a:gd name="T25" fmla="*/ 51 h 2195"/>
                  <a:gd name="T26" fmla="*/ 467 w 2165"/>
                  <a:gd name="T27" fmla="*/ 51 h 2195"/>
                  <a:gd name="T28" fmla="*/ 629 w 2165"/>
                  <a:gd name="T29" fmla="*/ 906 h 2195"/>
                  <a:gd name="T30" fmla="*/ 629 w 2165"/>
                  <a:gd name="T31" fmla="*/ 730 h 2195"/>
                  <a:gd name="T32" fmla="*/ 1221 w 2165"/>
                  <a:gd name="T33" fmla="*/ 730 h 2195"/>
                  <a:gd name="T34" fmla="*/ 1221 w 2165"/>
                  <a:gd name="T35" fmla="*/ 0 h 2195"/>
                  <a:gd name="T36" fmla="*/ 1563 w 2165"/>
                  <a:gd name="T37" fmla="*/ 0 h 2195"/>
                  <a:gd name="T38" fmla="*/ 1563 w 2165"/>
                  <a:gd name="T39" fmla="*/ 730 h 2195"/>
                  <a:gd name="T40" fmla="*/ 2164 w 2165"/>
                  <a:gd name="T41" fmla="*/ 730 h 2195"/>
                  <a:gd name="T42" fmla="*/ 2164 w 2165"/>
                  <a:gd name="T43" fmla="*/ 906 h 2195"/>
                  <a:gd name="T44" fmla="*/ 1563 w 2165"/>
                  <a:gd name="T45" fmla="*/ 906 h 2195"/>
                  <a:gd name="T46" fmla="*/ 1563 w 2165"/>
                  <a:gd name="T47" fmla="*/ 2194 h 2195"/>
                  <a:gd name="T48" fmla="*/ 1221 w 2165"/>
                  <a:gd name="T49" fmla="*/ 2194 h 2195"/>
                  <a:gd name="T50" fmla="*/ 1221 w 2165"/>
                  <a:gd name="T51" fmla="*/ 906 h 2195"/>
                  <a:gd name="T52" fmla="*/ 629 w 2165"/>
                  <a:gd name="T53" fmla="*/ 906 h 2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165" h="2195">
                    <a:moveTo>
                      <a:pt x="121" y="758"/>
                    </a:moveTo>
                    <a:lnTo>
                      <a:pt x="0" y="758"/>
                    </a:lnTo>
                    <a:lnTo>
                      <a:pt x="0" y="582"/>
                    </a:lnTo>
                    <a:lnTo>
                      <a:pt x="463" y="582"/>
                    </a:lnTo>
                    <a:lnTo>
                      <a:pt x="463" y="1982"/>
                    </a:lnTo>
                    <a:lnTo>
                      <a:pt x="620" y="1982"/>
                    </a:lnTo>
                    <a:lnTo>
                      <a:pt x="620" y="2157"/>
                    </a:lnTo>
                    <a:lnTo>
                      <a:pt x="121" y="2157"/>
                    </a:lnTo>
                    <a:lnTo>
                      <a:pt x="121" y="758"/>
                    </a:lnTo>
                    <a:close/>
                    <a:moveTo>
                      <a:pt x="467" y="51"/>
                    </a:moveTo>
                    <a:lnTo>
                      <a:pt x="467" y="462"/>
                    </a:lnTo>
                    <a:lnTo>
                      <a:pt x="121" y="462"/>
                    </a:lnTo>
                    <a:lnTo>
                      <a:pt x="121" y="51"/>
                    </a:lnTo>
                    <a:lnTo>
                      <a:pt x="467" y="51"/>
                    </a:lnTo>
                    <a:close/>
                    <a:moveTo>
                      <a:pt x="629" y="906"/>
                    </a:moveTo>
                    <a:lnTo>
                      <a:pt x="629" y="730"/>
                    </a:lnTo>
                    <a:lnTo>
                      <a:pt x="1221" y="730"/>
                    </a:lnTo>
                    <a:lnTo>
                      <a:pt x="1221" y="0"/>
                    </a:lnTo>
                    <a:lnTo>
                      <a:pt x="1563" y="0"/>
                    </a:lnTo>
                    <a:lnTo>
                      <a:pt x="1563" y="730"/>
                    </a:lnTo>
                    <a:lnTo>
                      <a:pt x="2164" y="730"/>
                    </a:lnTo>
                    <a:lnTo>
                      <a:pt x="2164" y="906"/>
                    </a:lnTo>
                    <a:lnTo>
                      <a:pt x="1563" y="906"/>
                    </a:lnTo>
                    <a:lnTo>
                      <a:pt x="1563" y="2194"/>
                    </a:lnTo>
                    <a:lnTo>
                      <a:pt x="1221" y="2194"/>
                    </a:lnTo>
                    <a:lnTo>
                      <a:pt x="1221" y="906"/>
                    </a:lnTo>
                    <a:lnTo>
                      <a:pt x="629" y="906"/>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6" name="Freeform 13">
                <a:extLst>
                  <a:ext uri="{FF2B5EF4-FFF2-40B4-BE49-F238E27FC236}">
                    <a16:creationId xmlns:a16="http://schemas.microsoft.com/office/drawing/2014/main" id="{27913D76-3F78-1640-8ABA-FD508552679A}"/>
                  </a:ext>
                </a:extLst>
              </p:cNvPr>
              <p:cNvSpPr>
                <a:spLocks noChangeArrowheads="1"/>
              </p:cNvSpPr>
              <p:nvPr/>
            </p:nvSpPr>
            <p:spPr bwMode="auto">
              <a:xfrm>
                <a:off x="2417559" y="696666"/>
                <a:ext cx="357332" cy="364625"/>
              </a:xfrm>
              <a:custGeom>
                <a:avLst/>
                <a:gdLst>
                  <a:gd name="T0" fmla="*/ 583 w 2161"/>
                  <a:gd name="T1" fmla="*/ 379 h 2205"/>
                  <a:gd name="T2" fmla="*/ 458 w 2161"/>
                  <a:gd name="T3" fmla="*/ 287 h 2205"/>
                  <a:gd name="T4" fmla="*/ 0 w 2161"/>
                  <a:gd name="T5" fmla="*/ 379 h 2205"/>
                  <a:gd name="T6" fmla="*/ 662 w 2161"/>
                  <a:gd name="T7" fmla="*/ 0 h 2205"/>
                  <a:gd name="T8" fmla="*/ 1087 w 2161"/>
                  <a:gd name="T9" fmla="*/ 111 h 2205"/>
                  <a:gd name="T10" fmla="*/ 916 w 2161"/>
                  <a:gd name="T11" fmla="*/ 287 h 2205"/>
                  <a:gd name="T12" fmla="*/ 675 w 2161"/>
                  <a:gd name="T13" fmla="*/ 1691 h 2205"/>
                  <a:gd name="T14" fmla="*/ 1545 w 2161"/>
                  <a:gd name="T15" fmla="*/ 1811 h 2205"/>
                  <a:gd name="T16" fmla="*/ 1887 w 2161"/>
                  <a:gd name="T17" fmla="*/ 1691 h 2205"/>
                  <a:gd name="T18" fmla="*/ 2150 w 2161"/>
                  <a:gd name="T19" fmla="*/ 1811 h 2205"/>
                  <a:gd name="T20" fmla="*/ 1887 w 2161"/>
                  <a:gd name="T21" fmla="*/ 1987 h 2205"/>
                  <a:gd name="T22" fmla="*/ 1545 w 2161"/>
                  <a:gd name="T23" fmla="*/ 2204 h 2205"/>
                  <a:gd name="T24" fmla="*/ 652 w 2161"/>
                  <a:gd name="T25" fmla="*/ 1987 h 2205"/>
                  <a:gd name="T26" fmla="*/ 144 w 2161"/>
                  <a:gd name="T27" fmla="*/ 2204 h 2205"/>
                  <a:gd name="T28" fmla="*/ 47 w 2161"/>
                  <a:gd name="T29" fmla="*/ 1987 h 2205"/>
                  <a:gd name="T30" fmla="*/ 333 w 2161"/>
                  <a:gd name="T31" fmla="*/ 1811 h 2205"/>
                  <a:gd name="T32" fmla="*/ 675 w 2161"/>
                  <a:gd name="T33" fmla="*/ 1691 h 2205"/>
                  <a:gd name="T34" fmla="*/ 2100 w 2161"/>
                  <a:gd name="T35" fmla="*/ 448 h 2205"/>
                  <a:gd name="T36" fmla="*/ 102 w 2161"/>
                  <a:gd name="T37" fmla="*/ 1622 h 2205"/>
                  <a:gd name="T38" fmla="*/ 444 w 2161"/>
                  <a:gd name="T39" fmla="*/ 781 h 2205"/>
                  <a:gd name="T40" fmla="*/ 1757 w 2161"/>
                  <a:gd name="T41" fmla="*/ 624 h 2205"/>
                  <a:gd name="T42" fmla="*/ 444 w 2161"/>
                  <a:gd name="T43" fmla="*/ 781 h 2205"/>
                  <a:gd name="T44" fmla="*/ 1757 w 2161"/>
                  <a:gd name="T45" fmla="*/ 1114 h 2205"/>
                  <a:gd name="T46" fmla="*/ 444 w 2161"/>
                  <a:gd name="T47" fmla="*/ 957 h 2205"/>
                  <a:gd name="T48" fmla="*/ 1757 w 2161"/>
                  <a:gd name="T49" fmla="*/ 1289 h 2205"/>
                  <a:gd name="T50" fmla="*/ 444 w 2161"/>
                  <a:gd name="T51" fmla="*/ 1446 h 2205"/>
                  <a:gd name="T52" fmla="*/ 1757 w 2161"/>
                  <a:gd name="T53" fmla="*/ 1289 h 2205"/>
                  <a:gd name="T54" fmla="*/ 1041 w 2161"/>
                  <a:gd name="T55" fmla="*/ 379 h 2205"/>
                  <a:gd name="T56" fmla="*/ 1688 w 2161"/>
                  <a:gd name="T57" fmla="*/ 0 h 2205"/>
                  <a:gd name="T58" fmla="*/ 2160 w 2161"/>
                  <a:gd name="T59" fmla="*/ 111 h 2205"/>
                  <a:gd name="T60" fmla="*/ 1998 w 2161"/>
                  <a:gd name="T61" fmla="*/ 287 h 2205"/>
                  <a:gd name="T62" fmla="*/ 1646 w 2161"/>
                  <a:gd name="T63" fmla="*/ 379 h 2205"/>
                  <a:gd name="T64" fmla="*/ 1508 w 2161"/>
                  <a:gd name="T65" fmla="*/ 287 h 2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161" h="2205">
                    <a:moveTo>
                      <a:pt x="990" y="379"/>
                    </a:moveTo>
                    <a:lnTo>
                      <a:pt x="583" y="379"/>
                    </a:lnTo>
                    <a:lnTo>
                      <a:pt x="509" y="287"/>
                    </a:lnTo>
                    <a:lnTo>
                      <a:pt x="458" y="287"/>
                    </a:lnTo>
                    <a:lnTo>
                      <a:pt x="389" y="379"/>
                    </a:lnTo>
                    <a:lnTo>
                      <a:pt x="0" y="379"/>
                    </a:lnTo>
                    <a:lnTo>
                      <a:pt x="273" y="0"/>
                    </a:lnTo>
                    <a:lnTo>
                      <a:pt x="662" y="0"/>
                    </a:lnTo>
                    <a:lnTo>
                      <a:pt x="592" y="111"/>
                    </a:lnTo>
                    <a:lnTo>
                      <a:pt x="1087" y="111"/>
                    </a:lnTo>
                    <a:lnTo>
                      <a:pt x="1087" y="287"/>
                    </a:lnTo>
                    <a:lnTo>
                      <a:pt x="916" y="287"/>
                    </a:lnTo>
                    <a:lnTo>
                      <a:pt x="990" y="379"/>
                    </a:lnTo>
                    <a:close/>
                    <a:moveTo>
                      <a:pt x="675" y="1691"/>
                    </a:moveTo>
                    <a:lnTo>
                      <a:pt x="675" y="1811"/>
                    </a:lnTo>
                    <a:lnTo>
                      <a:pt x="1545" y="1811"/>
                    </a:lnTo>
                    <a:lnTo>
                      <a:pt x="1545" y="1691"/>
                    </a:lnTo>
                    <a:lnTo>
                      <a:pt x="1887" y="1691"/>
                    </a:lnTo>
                    <a:lnTo>
                      <a:pt x="1887" y="1811"/>
                    </a:lnTo>
                    <a:lnTo>
                      <a:pt x="2150" y="1811"/>
                    </a:lnTo>
                    <a:lnTo>
                      <a:pt x="2150" y="1987"/>
                    </a:lnTo>
                    <a:lnTo>
                      <a:pt x="1887" y="1987"/>
                    </a:lnTo>
                    <a:lnTo>
                      <a:pt x="1887" y="2204"/>
                    </a:lnTo>
                    <a:lnTo>
                      <a:pt x="1545" y="2204"/>
                    </a:lnTo>
                    <a:lnTo>
                      <a:pt x="1545" y="1987"/>
                    </a:lnTo>
                    <a:lnTo>
                      <a:pt x="652" y="1987"/>
                    </a:lnTo>
                    <a:lnTo>
                      <a:pt x="527" y="2204"/>
                    </a:lnTo>
                    <a:lnTo>
                      <a:pt x="144" y="2204"/>
                    </a:lnTo>
                    <a:lnTo>
                      <a:pt x="282" y="1987"/>
                    </a:lnTo>
                    <a:lnTo>
                      <a:pt x="47" y="1987"/>
                    </a:lnTo>
                    <a:lnTo>
                      <a:pt x="47" y="1811"/>
                    </a:lnTo>
                    <a:lnTo>
                      <a:pt x="333" y="1811"/>
                    </a:lnTo>
                    <a:lnTo>
                      <a:pt x="333" y="1691"/>
                    </a:lnTo>
                    <a:lnTo>
                      <a:pt x="675" y="1691"/>
                    </a:lnTo>
                    <a:close/>
                    <a:moveTo>
                      <a:pt x="102" y="448"/>
                    </a:moveTo>
                    <a:lnTo>
                      <a:pt x="2100" y="448"/>
                    </a:lnTo>
                    <a:lnTo>
                      <a:pt x="2100" y="1622"/>
                    </a:lnTo>
                    <a:lnTo>
                      <a:pt x="102" y="1622"/>
                    </a:lnTo>
                    <a:lnTo>
                      <a:pt x="102" y="448"/>
                    </a:lnTo>
                    <a:close/>
                    <a:moveTo>
                      <a:pt x="444" y="781"/>
                    </a:moveTo>
                    <a:lnTo>
                      <a:pt x="1757" y="781"/>
                    </a:lnTo>
                    <a:lnTo>
                      <a:pt x="1757" y="624"/>
                    </a:lnTo>
                    <a:lnTo>
                      <a:pt x="444" y="624"/>
                    </a:lnTo>
                    <a:lnTo>
                      <a:pt x="444" y="781"/>
                    </a:lnTo>
                    <a:close/>
                    <a:moveTo>
                      <a:pt x="444" y="1114"/>
                    </a:moveTo>
                    <a:lnTo>
                      <a:pt x="1757" y="1114"/>
                    </a:lnTo>
                    <a:lnTo>
                      <a:pt x="1757" y="957"/>
                    </a:lnTo>
                    <a:lnTo>
                      <a:pt x="444" y="957"/>
                    </a:lnTo>
                    <a:lnTo>
                      <a:pt x="444" y="1114"/>
                    </a:lnTo>
                    <a:close/>
                    <a:moveTo>
                      <a:pt x="1757" y="1289"/>
                    </a:moveTo>
                    <a:lnTo>
                      <a:pt x="444" y="1289"/>
                    </a:lnTo>
                    <a:lnTo>
                      <a:pt x="444" y="1446"/>
                    </a:lnTo>
                    <a:lnTo>
                      <a:pt x="1757" y="1446"/>
                    </a:lnTo>
                    <a:lnTo>
                      <a:pt x="1757" y="1289"/>
                    </a:lnTo>
                    <a:close/>
                    <a:moveTo>
                      <a:pt x="1434" y="379"/>
                    </a:moveTo>
                    <a:lnTo>
                      <a:pt x="1041" y="379"/>
                    </a:lnTo>
                    <a:lnTo>
                      <a:pt x="1313" y="0"/>
                    </a:lnTo>
                    <a:lnTo>
                      <a:pt x="1688" y="0"/>
                    </a:lnTo>
                    <a:lnTo>
                      <a:pt x="1609" y="111"/>
                    </a:lnTo>
                    <a:lnTo>
                      <a:pt x="2160" y="111"/>
                    </a:lnTo>
                    <a:lnTo>
                      <a:pt x="2160" y="287"/>
                    </a:lnTo>
                    <a:lnTo>
                      <a:pt x="1998" y="287"/>
                    </a:lnTo>
                    <a:lnTo>
                      <a:pt x="2072" y="379"/>
                    </a:lnTo>
                    <a:lnTo>
                      <a:pt x="1646" y="379"/>
                    </a:lnTo>
                    <a:lnTo>
                      <a:pt x="1572" y="287"/>
                    </a:lnTo>
                    <a:lnTo>
                      <a:pt x="1508" y="287"/>
                    </a:lnTo>
                    <a:lnTo>
                      <a:pt x="1434" y="379"/>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7" name="Freeform 14">
                <a:extLst>
                  <a:ext uri="{FF2B5EF4-FFF2-40B4-BE49-F238E27FC236}">
                    <a16:creationId xmlns:a16="http://schemas.microsoft.com/office/drawing/2014/main" id="{0251013D-C418-594D-8185-01EB2188AA1D}"/>
                  </a:ext>
                </a:extLst>
              </p:cNvPr>
              <p:cNvSpPr>
                <a:spLocks noChangeArrowheads="1"/>
              </p:cNvSpPr>
              <p:nvPr/>
            </p:nvSpPr>
            <p:spPr bwMode="auto">
              <a:xfrm>
                <a:off x="2810625" y="696666"/>
                <a:ext cx="363895" cy="364625"/>
              </a:xfrm>
              <a:custGeom>
                <a:avLst/>
                <a:gdLst>
                  <a:gd name="T0" fmla="*/ 0 w 2202"/>
                  <a:gd name="T1" fmla="*/ 2019 h 2205"/>
                  <a:gd name="T2" fmla="*/ 74 w 2202"/>
                  <a:gd name="T3" fmla="*/ 661 h 2205"/>
                  <a:gd name="T4" fmla="*/ 310 w 2202"/>
                  <a:gd name="T5" fmla="*/ 661 h 2205"/>
                  <a:gd name="T6" fmla="*/ 231 w 2202"/>
                  <a:gd name="T7" fmla="*/ 2019 h 2205"/>
                  <a:gd name="T8" fmla="*/ 0 w 2202"/>
                  <a:gd name="T9" fmla="*/ 2019 h 2205"/>
                  <a:gd name="T10" fmla="*/ 939 w 2202"/>
                  <a:gd name="T11" fmla="*/ 439 h 2205"/>
                  <a:gd name="T12" fmla="*/ 684 w 2202"/>
                  <a:gd name="T13" fmla="*/ 439 h 2205"/>
                  <a:gd name="T14" fmla="*/ 684 w 2202"/>
                  <a:gd name="T15" fmla="*/ 2204 h 2205"/>
                  <a:gd name="T16" fmla="*/ 361 w 2202"/>
                  <a:gd name="T17" fmla="*/ 2204 h 2205"/>
                  <a:gd name="T18" fmla="*/ 361 w 2202"/>
                  <a:gd name="T19" fmla="*/ 439 h 2205"/>
                  <a:gd name="T20" fmla="*/ 28 w 2202"/>
                  <a:gd name="T21" fmla="*/ 439 h 2205"/>
                  <a:gd name="T22" fmla="*/ 28 w 2202"/>
                  <a:gd name="T23" fmla="*/ 264 h 2205"/>
                  <a:gd name="T24" fmla="*/ 361 w 2202"/>
                  <a:gd name="T25" fmla="*/ 264 h 2205"/>
                  <a:gd name="T26" fmla="*/ 361 w 2202"/>
                  <a:gd name="T27" fmla="*/ 0 h 2205"/>
                  <a:gd name="T28" fmla="*/ 684 w 2202"/>
                  <a:gd name="T29" fmla="*/ 0 h 2205"/>
                  <a:gd name="T30" fmla="*/ 684 w 2202"/>
                  <a:gd name="T31" fmla="*/ 264 h 2205"/>
                  <a:gd name="T32" fmla="*/ 939 w 2202"/>
                  <a:gd name="T33" fmla="*/ 264 h 2205"/>
                  <a:gd name="T34" fmla="*/ 939 w 2202"/>
                  <a:gd name="T35" fmla="*/ 439 h 2205"/>
                  <a:gd name="T36" fmla="*/ 939 w 2202"/>
                  <a:gd name="T37" fmla="*/ 661 h 2205"/>
                  <a:gd name="T38" fmla="*/ 939 w 2202"/>
                  <a:gd name="T39" fmla="*/ 1686 h 2205"/>
                  <a:gd name="T40" fmla="*/ 735 w 2202"/>
                  <a:gd name="T41" fmla="*/ 1686 h 2205"/>
                  <a:gd name="T42" fmla="*/ 735 w 2202"/>
                  <a:gd name="T43" fmla="*/ 661 h 2205"/>
                  <a:gd name="T44" fmla="*/ 939 w 2202"/>
                  <a:gd name="T45" fmla="*/ 661 h 2205"/>
                  <a:gd name="T46" fmla="*/ 1022 w 2202"/>
                  <a:gd name="T47" fmla="*/ 1594 h 2205"/>
                  <a:gd name="T48" fmla="*/ 1022 w 2202"/>
                  <a:gd name="T49" fmla="*/ 42 h 2205"/>
                  <a:gd name="T50" fmla="*/ 1988 w 2202"/>
                  <a:gd name="T51" fmla="*/ 42 h 2205"/>
                  <a:gd name="T52" fmla="*/ 1988 w 2202"/>
                  <a:gd name="T53" fmla="*/ 2033 h 2205"/>
                  <a:gd name="T54" fmla="*/ 2201 w 2202"/>
                  <a:gd name="T55" fmla="*/ 2033 h 2205"/>
                  <a:gd name="T56" fmla="*/ 2201 w 2202"/>
                  <a:gd name="T57" fmla="*/ 2204 h 2205"/>
                  <a:gd name="T58" fmla="*/ 1665 w 2202"/>
                  <a:gd name="T59" fmla="*/ 2204 h 2205"/>
                  <a:gd name="T60" fmla="*/ 1665 w 2202"/>
                  <a:gd name="T61" fmla="*/ 217 h 2205"/>
                  <a:gd name="T62" fmla="*/ 1355 w 2202"/>
                  <a:gd name="T63" fmla="*/ 217 h 2205"/>
                  <a:gd name="T64" fmla="*/ 1355 w 2202"/>
                  <a:gd name="T65" fmla="*/ 1668 h 2205"/>
                  <a:gd name="T66" fmla="*/ 1198 w 2202"/>
                  <a:gd name="T67" fmla="*/ 2204 h 2205"/>
                  <a:gd name="T68" fmla="*/ 851 w 2202"/>
                  <a:gd name="T69" fmla="*/ 2204 h 2205"/>
                  <a:gd name="T70" fmla="*/ 1022 w 2202"/>
                  <a:gd name="T71" fmla="*/ 1594 h 2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202" h="2205">
                    <a:moveTo>
                      <a:pt x="0" y="2019"/>
                    </a:moveTo>
                    <a:lnTo>
                      <a:pt x="74" y="661"/>
                    </a:lnTo>
                    <a:lnTo>
                      <a:pt x="310" y="661"/>
                    </a:lnTo>
                    <a:lnTo>
                      <a:pt x="231" y="2019"/>
                    </a:lnTo>
                    <a:lnTo>
                      <a:pt x="0" y="2019"/>
                    </a:lnTo>
                    <a:close/>
                    <a:moveTo>
                      <a:pt x="939" y="439"/>
                    </a:moveTo>
                    <a:lnTo>
                      <a:pt x="684" y="439"/>
                    </a:lnTo>
                    <a:lnTo>
                      <a:pt x="684" y="2204"/>
                    </a:lnTo>
                    <a:lnTo>
                      <a:pt x="361" y="2204"/>
                    </a:lnTo>
                    <a:lnTo>
                      <a:pt x="361" y="439"/>
                    </a:lnTo>
                    <a:lnTo>
                      <a:pt x="28" y="439"/>
                    </a:lnTo>
                    <a:lnTo>
                      <a:pt x="28" y="264"/>
                    </a:lnTo>
                    <a:lnTo>
                      <a:pt x="361" y="264"/>
                    </a:lnTo>
                    <a:lnTo>
                      <a:pt x="361" y="0"/>
                    </a:lnTo>
                    <a:lnTo>
                      <a:pt x="684" y="0"/>
                    </a:lnTo>
                    <a:lnTo>
                      <a:pt x="684" y="264"/>
                    </a:lnTo>
                    <a:lnTo>
                      <a:pt x="939" y="264"/>
                    </a:lnTo>
                    <a:lnTo>
                      <a:pt x="939" y="439"/>
                    </a:lnTo>
                    <a:close/>
                    <a:moveTo>
                      <a:pt x="939" y="661"/>
                    </a:moveTo>
                    <a:lnTo>
                      <a:pt x="939" y="1686"/>
                    </a:lnTo>
                    <a:lnTo>
                      <a:pt x="735" y="1686"/>
                    </a:lnTo>
                    <a:lnTo>
                      <a:pt x="735" y="661"/>
                    </a:lnTo>
                    <a:lnTo>
                      <a:pt x="939" y="661"/>
                    </a:lnTo>
                    <a:close/>
                    <a:moveTo>
                      <a:pt x="1022" y="1594"/>
                    </a:moveTo>
                    <a:lnTo>
                      <a:pt x="1022" y="42"/>
                    </a:lnTo>
                    <a:lnTo>
                      <a:pt x="1988" y="42"/>
                    </a:lnTo>
                    <a:lnTo>
                      <a:pt x="1988" y="2033"/>
                    </a:lnTo>
                    <a:lnTo>
                      <a:pt x="2201" y="2033"/>
                    </a:lnTo>
                    <a:lnTo>
                      <a:pt x="2201" y="2204"/>
                    </a:lnTo>
                    <a:lnTo>
                      <a:pt x="1665" y="2204"/>
                    </a:lnTo>
                    <a:lnTo>
                      <a:pt x="1665" y="217"/>
                    </a:lnTo>
                    <a:lnTo>
                      <a:pt x="1355" y="217"/>
                    </a:lnTo>
                    <a:lnTo>
                      <a:pt x="1355" y="1668"/>
                    </a:lnTo>
                    <a:lnTo>
                      <a:pt x="1198" y="2204"/>
                    </a:lnTo>
                    <a:lnTo>
                      <a:pt x="851" y="2204"/>
                    </a:lnTo>
                    <a:lnTo>
                      <a:pt x="1022" y="1594"/>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8" name="Freeform 15">
                <a:extLst>
                  <a:ext uri="{FF2B5EF4-FFF2-40B4-BE49-F238E27FC236}">
                    <a16:creationId xmlns:a16="http://schemas.microsoft.com/office/drawing/2014/main" id="{85DA3DCB-B0ED-4F4A-B3A2-B512686F3295}"/>
                  </a:ext>
                </a:extLst>
              </p:cNvPr>
              <p:cNvSpPr>
                <a:spLocks noChangeArrowheads="1"/>
              </p:cNvSpPr>
              <p:nvPr/>
            </p:nvSpPr>
            <p:spPr bwMode="auto">
              <a:xfrm>
                <a:off x="3212441" y="703958"/>
                <a:ext cx="339830" cy="358061"/>
              </a:xfrm>
              <a:custGeom>
                <a:avLst/>
                <a:gdLst>
                  <a:gd name="T0" fmla="*/ 1747 w 2053"/>
                  <a:gd name="T1" fmla="*/ 1982 h 2163"/>
                  <a:gd name="T2" fmla="*/ 1747 w 2053"/>
                  <a:gd name="T3" fmla="*/ 175 h 2163"/>
                  <a:gd name="T4" fmla="*/ 305 w 2053"/>
                  <a:gd name="T5" fmla="*/ 175 h 2163"/>
                  <a:gd name="T6" fmla="*/ 305 w 2053"/>
                  <a:gd name="T7" fmla="*/ 2162 h 2163"/>
                  <a:gd name="T8" fmla="*/ 0 w 2053"/>
                  <a:gd name="T9" fmla="*/ 2162 h 2163"/>
                  <a:gd name="T10" fmla="*/ 0 w 2053"/>
                  <a:gd name="T11" fmla="*/ 0 h 2163"/>
                  <a:gd name="T12" fmla="*/ 2052 w 2053"/>
                  <a:gd name="T13" fmla="*/ 0 h 2163"/>
                  <a:gd name="T14" fmla="*/ 2052 w 2053"/>
                  <a:gd name="T15" fmla="*/ 2162 h 2163"/>
                  <a:gd name="T16" fmla="*/ 1590 w 2053"/>
                  <a:gd name="T17" fmla="*/ 2162 h 2163"/>
                  <a:gd name="T18" fmla="*/ 1590 w 2053"/>
                  <a:gd name="T19" fmla="*/ 1982 h 2163"/>
                  <a:gd name="T20" fmla="*/ 1747 w 2053"/>
                  <a:gd name="T21" fmla="*/ 1982 h 2163"/>
                  <a:gd name="T22" fmla="*/ 791 w 2053"/>
                  <a:gd name="T23" fmla="*/ 1127 h 2163"/>
                  <a:gd name="T24" fmla="*/ 1017 w 2053"/>
                  <a:gd name="T25" fmla="*/ 1843 h 2163"/>
                  <a:gd name="T26" fmla="*/ 786 w 2053"/>
                  <a:gd name="T27" fmla="*/ 1843 h 2163"/>
                  <a:gd name="T28" fmla="*/ 680 w 2053"/>
                  <a:gd name="T29" fmla="*/ 1501 h 2163"/>
                  <a:gd name="T30" fmla="*/ 573 w 2053"/>
                  <a:gd name="T31" fmla="*/ 1843 h 2163"/>
                  <a:gd name="T32" fmla="*/ 347 w 2053"/>
                  <a:gd name="T33" fmla="*/ 1843 h 2163"/>
                  <a:gd name="T34" fmla="*/ 564 w 2053"/>
                  <a:gd name="T35" fmla="*/ 1136 h 2163"/>
                  <a:gd name="T36" fmla="*/ 338 w 2053"/>
                  <a:gd name="T37" fmla="*/ 430 h 2163"/>
                  <a:gd name="T38" fmla="*/ 569 w 2053"/>
                  <a:gd name="T39" fmla="*/ 430 h 2163"/>
                  <a:gd name="T40" fmla="*/ 675 w 2053"/>
                  <a:gd name="T41" fmla="*/ 767 h 2163"/>
                  <a:gd name="T42" fmla="*/ 777 w 2053"/>
                  <a:gd name="T43" fmla="*/ 430 h 2163"/>
                  <a:gd name="T44" fmla="*/ 1003 w 2053"/>
                  <a:gd name="T45" fmla="*/ 430 h 2163"/>
                  <a:gd name="T46" fmla="*/ 791 w 2053"/>
                  <a:gd name="T47" fmla="*/ 1127 h 2163"/>
                  <a:gd name="T48" fmla="*/ 1503 w 2053"/>
                  <a:gd name="T49" fmla="*/ 1127 h 2163"/>
                  <a:gd name="T50" fmla="*/ 1728 w 2053"/>
                  <a:gd name="T51" fmla="*/ 1843 h 2163"/>
                  <a:gd name="T52" fmla="*/ 1498 w 2053"/>
                  <a:gd name="T53" fmla="*/ 1843 h 2163"/>
                  <a:gd name="T54" fmla="*/ 1392 w 2053"/>
                  <a:gd name="T55" fmla="*/ 1501 h 2163"/>
                  <a:gd name="T56" fmla="*/ 1286 w 2053"/>
                  <a:gd name="T57" fmla="*/ 1843 h 2163"/>
                  <a:gd name="T58" fmla="*/ 1059 w 2053"/>
                  <a:gd name="T59" fmla="*/ 1843 h 2163"/>
                  <a:gd name="T60" fmla="*/ 1276 w 2053"/>
                  <a:gd name="T61" fmla="*/ 1136 h 2163"/>
                  <a:gd name="T62" fmla="*/ 1050 w 2053"/>
                  <a:gd name="T63" fmla="*/ 430 h 2163"/>
                  <a:gd name="T64" fmla="*/ 1281 w 2053"/>
                  <a:gd name="T65" fmla="*/ 430 h 2163"/>
                  <a:gd name="T66" fmla="*/ 1387 w 2053"/>
                  <a:gd name="T67" fmla="*/ 767 h 2163"/>
                  <a:gd name="T68" fmla="*/ 1489 w 2053"/>
                  <a:gd name="T69" fmla="*/ 430 h 2163"/>
                  <a:gd name="T70" fmla="*/ 1715 w 2053"/>
                  <a:gd name="T71" fmla="*/ 430 h 2163"/>
                  <a:gd name="T72" fmla="*/ 1503 w 2053"/>
                  <a:gd name="T73" fmla="*/ 1127 h 2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053" h="2163">
                    <a:moveTo>
                      <a:pt x="1747" y="1982"/>
                    </a:moveTo>
                    <a:lnTo>
                      <a:pt x="1747" y="175"/>
                    </a:lnTo>
                    <a:lnTo>
                      <a:pt x="305" y="175"/>
                    </a:lnTo>
                    <a:lnTo>
                      <a:pt x="305" y="2162"/>
                    </a:lnTo>
                    <a:lnTo>
                      <a:pt x="0" y="2162"/>
                    </a:lnTo>
                    <a:lnTo>
                      <a:pt x="0" y="0"/>
                    </a:lnTo>
                    <a:lnTo>
                      <a:pt x="2052" y="0"/>
                    </a:lnTo>
                    <a:lnTo>
                      <a:pt x="2052" y="2162"/>
                    </a:lnTo>
                    <a:lnTo>
                      <a:pt x="1590" y="2162"/>
                    </a:lnTo>
                    <a:lnTo>
                      <a:pt x="1590" y="1982"/>
                    </a:lnTo>
                    <a:lnTo>
                      <a:pt x="1747" y="1982"/>
                    </a:lnTo>
                    <a:close/>
                    <a:moveTo>
                      <a:pt x="791" y="1127"/>
                    </a:moveTo>
                    <a:lnTo>
                      <a:pt x="1017" y="1843"/>
                    </a:lnTo>
                    <a:lnTo>
                      <a:pt x="786" y="1843"/>
                    </a:lnTo>
                    <a:lnTo>
                      <a:pt x="680" y="1501"/>
                    </a:lnTo>
                    <a:lnTo>
                      <a:pt x="573" y="1843"/>
                    </a:lnTo>
                    <a:lnTo>
                      <a:pt x="347" y="1843"/>
                    </a:lnTo>
                    <a:lnTo>
                      <a:pt x="564" y="1136"/>
                    </a:lnTo>
                    <a:lnTo>
                      <a:pt x="338" y="430"/>
                    </a:lnTo>
                    <a:lnTo>
                      <a:pt x="569" y="430"/>
                    </a:lnTo>
                    <a:lnTo>
                      <a:pt x="675" y="767"/>
                    </a:lnTo>
                    <a:lnTo>
                      <a:pt x="777" y="430"/>
                    </a:lnTo>
                    <a:lnTo>
                      <a:pt x="1003" y="430"/>
                    </a:lnTo>
                    <a:lnTo>
                      <a:pt x="791" y="1127"/>
                    </a:lnTo>
                    <a:close/>
                    <a:moveTo>
                      <a:pt x="1503" y="1127"/>
                    </a:moveTo>
                    <a:lnTo>
                      <a:pt x="1728" y="1843"/>
                    </a:lnTo>
                    <a:lnTo>
                      <a:pt x="1498" y="1843"/>
                    </a:lnTo>
                    <a:lnTo>
                      <a:pt x="1392" y="1501"/>
                    </a:lnTo>
                    <a:lnTo>
                      <a:pt x="1286" y="1843"/>
                    </a:lnTo>
                    <a:lnTo>
                      <a:pt x="1059" y="1843"/>
                    </a:lnTo>
                    <a:lnTo>
                      <a:pt x="1276" y="1136"/>
                    </a:lnTo>
                    <a:lnTo>
                      <a:pt x="1050" y="430"/>
                    </a:lnTo>
                    <a:lnTo>
                      <a:pt x="1281" y="430"/>
                    </a:lnTo>
                    <a:lnTo>
                      <a:pt x="1387" y="767"/>
                    </a:lnTo>
                    <a:lnTo>
                      <a:pt x="1489" y="430"/>
                    </a:lnTo>
                    <a:lnTo>
                      <a:pt x="1715" y="430"/>
                    </a:lnTo>
                    <a:lnTo>
                      <a:pt x="1503" y="1127"/>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9" name="Freeform 16">
                <a:extLst>
                  <a:ext uri="{FF2B5EF4-FFF2-40B4-BE49-F238E27FC236}">
                    <a16:creationId xmlns:a16="http://schemas.microsoft.com/office/drawing/2014/main" id="{DF7B682E-6BBC-E346-9744-0008EBF2BCAF}"/>
                  </a:ext>
                </a:extLst>
              </p:cNvPr>
              <p:cNvSpPr>
                <a:spLocks noChangeArrowheads="1"/>
              </p:cNvSpPr>
              <p:nvPr/>
            </p:nvSpPr>
            <p:spPr bwMode="auto">
              <a:xfrm>
                <a:off x="3581441" y="696666"/>
                <a:ext cx="375564" cy="362437"/>
              </a:xfrm>
              <a:custGeom>
                <a:avLst/>
                <a:gdLst>
                  <a:gd name="T0" fmla="*/ 315 w 2272"/>
                  <a:gd name="T1" fmla="*/ 957 h 2191"/>
                  <a:gd name="T2" fmla="*/ 0 w 2272"/>
                  <a:gd name="T3" fmla="*/ 957 h 2191"/>
                  <a:gd name="T4" fmla="*/ 361 w 2272"/>
                  <a:gd name="T5" fmla="*/ 5 h 2191"/>
                  <a:gd name="T6" fmla="*/ 675 w 2272"/>
                  <a:gd name="T7" fmla="*/ 5 h 2191"/>
                  <a:gd name="T8" fmla="*/ 380 w 2272"/>
                  <a:gd name="T9" fmla="*/ 767 h 2191"/>
                  <a:gd name="T10" fmla="*/ 453 w 2272"/>
                  <a:gd name="T11" fmla="*/ 767 h 2191"/>
                  <a:gd name="T12" fmla="*/ 509 w 2272"/>
                  <a:gd name="T13" fmla="*/ 647 h 2191"/>
                  <a:gd name="T14" fmla="*/ 823 w 2272"/>
                  <a:gd name="T15" fmla="*/ 647 h 2191"/>
                  <a:gd name="T16" fmla="*/ 463 w 2272"/>
                  <a:gd name="T17" fmla="*/ 1492 h 2191"/>
                  <a:gd name="T18" fmla="*/ 754 w 2272"/>
                  <a:gd name="T19" fmla="*/ 1492 h 2191"/>
                  <a:gd name="T20" fmla="*/ 754 w 2272"/>
                  <a:gd name="T21" fmla="*/ 1677 h 2191"/>
                  <a:gd name="T22" fmla="*/ 366 w 2272"/>
                  <a:gd name="T23" fmla="*/ 1677 h 2191"/>
                  <a:gd name="T24" fmla="*/ 65 w 2272"/>
                  <a:gd name="T25" fmla="*/ 1677 h 2191"/>
                  <a:gd name="T26" fmla="*/ 375 w 2272"/>
                  <a:gd name="T27" fmla="*/ 957 h 2191"/>
                  <a:gd name="T28" fmla="*/ 315 w 2272"/>
                  <a:gd name="T29" fmla="*/ 957 h 2191"/>
                  <a:gd name="T30" fmla="*/ 763 w 2272"/>
                  <a:gd name="T31" fmla="*/ 1954 h 2191"/>
                  <a:gd name="T32" fmla="*/ 763 w 2272"/>
                  <a:gd name="T33" fmla="*/ 2130 h 2191"/>
                  <a:gd name="T34" fmla="*/ 84 w 2272"/>
                  <a:gd name="T35" fmla="*/ 2130 h 2191"/>
                  <a:gd name="T36" fmla="*/ 84 w 2272"/>
                  <a:gd name="T37" fmla="*/ 1954 h 2191"/>
                  <a:gd name="T38" fmla="*/ 763 w 2272"/>
                  <a:gd name="T39" fmla="*/ 1954 h 2191"/>
                  <a:gd name="T40" fmla="*/ 1831 w 2272"/>
                  <a:gd name="T41" fmla="*/ 1205 h 2191"/>
                  <a:gd name="T42" fmla="*/ 1614 w 2272"/>
                  <a:gd name="T43" fmla="*/ 994 h 2191"/>
                  <a:gd name="T44" fmla="*/ 1355 w 2272"/>
                  <a:gd name="T45" fmla="*/ 1205 h 2191"/>
                  <a:gd name="T46" fmla="*/ 884 w 2272"/>
                  <a:gd name="T47" fmla="*/ 1205 h 2191"/>
                  <a:gd name="T48" fmla="*/ 1392 w 2272"/>
                  <a:gd name="T49" fmla="*/ 781 h 2191"/>
                  <a:gd name="T50" fmla="*/ 1212 w 2272"/>
                  <a:gd name="T51" fmla="*/ 587 h 2191"/>
                  <a:gd name="T52" fmla="*/ 1179 w 2272"/>
                  <a:gd name="T53" fmla="*/ 684 h 2191"/>
                  <a:gd name="T54" fmla="*/ 842 w 2272"/>
                  <a:gd name="T55" fmla="*/ 684 h 2191"/>
                  <a:gd name="T56" fmla="*/ 1082 w 2272"/>
                  <a:gd name="T57" fmla="*/ 0 h 2191"/>
                  <a:gd name="T58" fmla="*/ 1420 w 2272"/>
                  <a:gd name="T59" fmla="*/ 0 h 2191"/>
                  <a:gd name="T60" fmla="*/ 1397 w 2272"/>
                  <a:gd name="T61" fmla="*/ 79 h 2191"/>
                  <a:gd name="T62" fmla="*/ 2174 w 2272"/>
                  <a:gd name="T63" fmla="*/ 79 h 2191"/>
                  <a:gd name="T64" fmla="*/ 2174 w 2272"/>
                  <a:gd name="T65" fmla="*/ 527 h 2191"/>
                  <a:gd name="T66" fmla="*/ 1864 w 2272"/>
                  <a:gd name="T67" fmla="*/ 795 h 2191"/>
                  <a:gd name="T68" fmla="*/ 2271 w 2272"/>
                  <a:gd name="T69" fmla="*/ 1205 h 2191"/>
                  <a:gd name="T70" fmla="*/ 1831 w 2272"/>
                  <a:gd name="T71" fmla="*/ 1205 h 2191"/>
                  <a:gd name="T72" fmla="*/ 934 w 2272"/>
                  <a:gd name="T73" fmla="*/ 2190 h 2191"/>
                  <a:gd name="T74" fmla="*/ 934 w 2272"/>
                  <a:gd name="T75" fmla="*/ 1303 h 2191"/>
                  <a:gd name="T76" fmla="*/ 2206 w 2272"/>
                  <a:gd name="T77" fmla="*/ 1303 h 2191"/>
                  <a:gd name="T78" fmla="*/ 2206 w 2272"/>
                  <a:gd name="T79" fmla="*/ 2190 h 2191"/>
                  <a:gd name="T80" fmla="*/ 934 w 2272"/>
                  <a:gd name="T81" fmla="*/ 2190 h 2191"/>
                  <a:gd name="T82" fmla="*/ 1522 w 2272"/>
                  <a:gd name="T83" fmla="*/ 467 h 2191"/>
                  <a:gd name="T84" fmla="*/ 1646 w 2272"/>
                  <a:gd name="T85" fmla="*/ 592 h 2191"/>
                  <a:gd name="T86" fmla="*/ 1892 w 2272"/>
                  <a:gd name="T87" fmla="*/ 379 h 2191"/>
                  <a:gd name="T88" fmla="*/ 1892 w 2272"/>
                  <a:gd name="T89" fmla="*/ 254 h 2191"/>
                  <a:gd name="T90" fmla="*/ 1332 w 2272"/>
                  <a:gd name="T91" fmla="*/ 254 h 2191"/>
                  <a:gd name="T92" fmla="*/ 1253 w 2272"/>
                  <a:gd name="T93" fmla="*/ 467 h 2191"/>
                  <a:gd name="T94" fmla="*/ 1522 w 2272"/>
                  <a:gd name="T95" fmla="*/ 467 h 2191"/>
                  <a:gd name="T96" fmla="*/ 1277 w 2272"/>
                  <a:gd name="T97" fmla="*/ 1478 h 2191"/>
                  <a:gd name="T98" fmla="*/ 1277 w 2272"/>
                  <a:gd name="T99" fmla="*/ 2014 h 2191"/>
                  <a:gd name="T100" fmla="*/ 1864 w 2272"/>
                  <a:gd name="T101" fmla="*/ 2014 h 2191"/>
                  <a:gd name="T102" fmla="*/ 1864 w 2272"/>
                  <a:gd name="T103" fmla="*/ 1478 h 2191"/>
                  <a:gd name="T104" fmla="*/ 1277 w 2272"/>
                  <a:gd name="T105" fmla="*/ 1478 h 2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272" h="2191">
                    <a:moveTo>
                      <a:pt x="315" y="957"/>
                    </a:moveTo>
                    <a:lnTo>
                      <a:pt x="0" y="957"/>
                    </a:lnTo>
                    <a:lnTo>
                      <a:pt x="361" y="5"/>
                    </a:lnTo>
                    <a:lnTo>
                      <a:pt x="675" y="5"/>
                    </a:lnTo>
                    <a:lnTo>
                      <a:pt x="380" y="767"/>
                    </a:lnTo>
                    <a:lnTo>
                      <a:pt x="453" y="767"/>
                    </a:lnTo>
                    <a:lnTo>
                      <a:pt x="509" y="647"/>
                    </a:lnTo>
                    <a:lnTo>
                      <a:pt x="823" y="647"/>
                    </a:lnTo>
                    <a:lnTo>
                      <a:pt x="463" y="1492"/>
                    </a:lnTo>
                    <a:lnTo>
                      <a:pt x="754" y="1492"/>
                    </a:lnTo>
                    <a:lnTo>
                      <a:pt x="754" y="1677"/>
                    </a:lnTo>
                    <a:lnTo>
                      <a:pt x="366" y="1677"/>
                    </a:lnTo>
                    <a:lnTo>
                      <a:pt x="65" y="1677"/>
                    </a:lnTo>
                    <a:lnTo>
                      <a:pt x="375" y="957"/>
                    </a:lnTo>
                    <a:lnTo>
                      <a:pt x="315" y="957"/>
                    </a:lnTo>
                    <a:close/>
                    <a:moveTo>
                      <a:pt x="763" y="1954"/>
                    </a:moveTo>
                    <a:lnTo>
                      <a:pt x="763" y="2130"/>
                    </a:lnTo>
                    <a:lnTo>
                      <a:pt x="84" y="2130"/>
                    </a:lnTo>
                    <a:lnTo>
                      <a:pt x="84" y="1954"/>
                    </a:lnTo>
                    <a:lnTo>
                      <a:pt x="763" y="1954"/>
                    </a:lnTo>
                    <a:close/>
                    <a:moveTo>
                      <a:pt x="1831" y="1205"/>
                    </a:moveTo>
                    <a:lnTo>
                      <a:pt x="1614" y="994"/>
                    </a:lnTo>
                    <a:lnTo>
                      <a:pt x="1355" y="1205"/>
                    </a:lnTo>
                    <a:lnTo>
                      <a:pt x="884" y="1205"/>
                    </a:lnTo>
                    <a:lnTo>
                      <a:pt x="1392" y="781"/>
                    </a:lnTo>
                    <a:lnTo>
                      <a:pt x="1212" y="587"/>
                    </a:lnTo>
                    <a:lnTo>
                      <a:pt x="1179" y="684"/>
                    </a:lnTo>
                    <a:lnTo>
                      <a:pt x="842" y="684"/>
                    </a:lnTo>
                    <a:lnTo>
                      <a:pt x="1082" y="0"/>
                    </a:lnTo>
                    <a:lnTo>
                      <a:pt x="1420" y="0"/>
                    </a:lnTo>
                    <a:lnTo>
                      <a:pt x="1397" y="79"/>
                    </a:lnTo>
                    <a:lnTo>
                      <a:pt x="2174" y="79"/>
                    </a:lnTo>
                    <a:lnTo>
                      <a:pt x="2174" y="527"/>
                    </a:lnTo>
                    <a:lnTo>
                      <a:pt x="1864" y="795"/>
                    </a:lnTo>
                    <a:lnTo>
                      <a:pt x="2271" y="1205"/>
                    </a:lnTo>
                    <a:lnTo>
                      <a:pt x="1831" y="1205"/>
                    </a:lnTo>
                    <a:close/>
                    <a:moveTo>
                      <a:pt x="934" y="2190"/>
                    </a:moveTo>
                    <a:lnTo>
                      <a:pt x="934" y="1303"/>
                    </a:lnTo>
                    <a:lnTo>
                      <a:pt x="2206" y="1303"/>
                    </a:lnTo>
                    <a:lnTo>
                      <a:pt x="2206" y="2190"/>
                    </a:lnTo>
                    <a:lnTo>
                      <a:pt x="934" y="2190"/>
                    </a:lnTo>
                    <a:close/>
                    <a:moveTo>
                      <a:pt x="1522" y="467"/>
                    </a:moveTo>
                    <a:lnTo>
                      <a:pt x="1646" y="592"/>
                    </a:lnTo>
                    <a:lnTo>
                      <a:pt x="1892" y="379"/>
                    </a:lnTo>
                    <a:lnTo>
                      <a:pt x="1892" y="254"/>
                    </a:lnTo>
                    <a:lnTo>
                      <a:pt x="1332" y="254"/>
                    </a:lnTo>
                    <a:lnTo>
                      <a:pt x="1253" y="467"/>
                    </a:lnTo>
                    <a:lnTo>
                      <a:pt x="1522" y="467"/>
                    </a:lnTo>
                    <a:close/>
                    <a:moveTo>
                      <a:pt x="1277" y="1478"/>
                    </a:moveTo>
                    <a:lnTo>
                      <a:pt x="1277" y="2014"/>
                    </a:lnTo>
                    <a:lnTo>
                      <a:pt x="1864" y="2014"/>
                    </a:lnTo>
                    <a:lnTo>
                      <a:pt x="1864" y="1478"/>
                    </a:lnTo>
                    <a:lnTo>
                      <a:pt x="1277" y="1478"/>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0" name="Freeform 17">
                <a:extLst>
                  <a:ext uri="{FF2B5EF4-FFF2-40B4-BE49-F238E27FC236}">
                    <a16:creationId xmlns:a16="http://schemas.microsoft.com/office/drawing/2014/main" id="{89ADDB60-01BA-DC49-8DE8-7909E412BF28}"/>
                  </a:ext>
                </a:extLst>
              </p:cNvPr>
              <p:cNvSpPr>
                <a:spLocks noChangeArrowheads="1"/>
              </p:cNvSpPr>
              <p:nvPr/>
            </p:nvSpPr>
            <p:spPr bwMode="auto">
              <a:xfrm>
                <a:off x="3982528" y="697395"/>
                <a:ext cx="362437" cy="363166"/>
              </a:xfrm>
              <a:custGeom>
                <a:avLst/>
                <a:gdLst>
                  <a:gd name="T0" fmla="*/ 1244 w 2193"/>
                  <a:gd name="T1" fmla="*/ 1012 h 2195"/>
                  <a:gd name="T2" fmla="*/ 934 w 2193"/>
                  <a:gd name="T3" fmla="*/ 1589 h 2195"/>
                  <a:gd name="T4" fmla="*/ 1249 w 2193"/>
                  <a:gd name="T5" fmla="*/ 1764 h 2195"/>
                  <a:gd name="T6" fmla="*/ 925 w 2193"/>
                  <a:gd name="T7" fmla="*/ 2194 h 2195"/>
                  <a:gd name="T8" fmla="*/ 439 w 2193"/>
                  <a:gd name="T9" fmla="*/ 2032 h 2195"/>
                  <a:gd name="T10" fmla="*/ 597 w 2193"/>
                  <a:gd name="T11" fmla="*/ 1764 h 2195"/>
                  <a:gd name="T12" fmla="*/ 65 w 2193"/>
                  <a:gd name="T13" fmla="*/ 1589 h 2195"/>
                  <a:gd name="T14" fmla="*/ 856 w 2193"/>
                  <a:gd name="T15" fmla="*/ 1187 h 2195"/>
                  <a:gd name="T16" fmla="*/ 292 w 2193"/>
                  <a:gd name="T17" fmla="*/ 1455 h 2195"/>
                  <a:gd name="T18" fmla="*/ 167 w 2193"/>
                  <a:gd name="T19" fmla="*/ 1187 h 2195"/>
                  <a:gd name="T20" fmla="*/ 65 w 2193"/>
                  <a:gd name="T21" fmla="*/ 1012 h 2195"/>
                  <a:gd name="T22" fmla="*/ 361 w 2193"/>
                  <a:gd name="T23" fmla="*/ 809 h 2195"/>
                  <a:gd name="T24" fmla="*/ 56 w 2193"/>
                  <a:gd name="T25" fmla="*/ 628 h 2195"/>
                  <a:gd name="T26" fmla="*/ 366 w 2193"/>
                  <a:gd name="T27" fmla="*/ 319 h 2195"/>
                  <a:gd name="T28" fmla="*/ 125 w 2193"/>
                  <a:gd name="T29" fmla="*/ 148 h 2195"/>
                  <a:gd name="T30" fmla="*/ 366 w 2193"/>
                  <a:gd name="T31" fmla="*/ 0 h 2195"/>
                  <a:gd name="T32" fmla="*/ 680 w 2193"/>
                  <a:gd name="T33" fmla="*/ 148 h 2195"/>
                  <a:gd name="T34" fmla="*/ 934 w 2193"/>
                  <a:gd name="T35" fmla="*/ 319 h 2195"/>
                  <a:gd name="T36" fmla="*/ 680 w 2193"/>
                  <a:gd name="T37" fmla="*/ 628 h 2195"/>
                  <a:gd name="T38" fmla="*/ 1022 w 2193"/>
                  <a:gd name="T39" fmla="*/ 64 h 2195"/>
                  <a:gd name="T40" fmla="*/ 1115 w 2193"/>
                  <a:gd name="T41" fmla="*/ 628 h 2195"/>
                  <a:gd name="T42" fmla="*/ 1244 w 2193"/>
                  <a:gd name="T43" fmla="*/ 809 h 2195"/>
                  <a:gd name="T44" fmla="*/ 546 w 2193"/>
                  <a:gd name="T45" fmla="*/ 1012 h 2195"/>
                  <a:gd name="T46" fmla="*/ 1683 w 2193"/>
                  <a:gd name="T47" fmla="*/ 0 h 2195"/>
                  <a:gd name="T48" fmla="*/ 2183 w 2193"/>
                  <a:gd name="T49" fmla="*/ 115 h 2195"/>
                  <a:gd name="T50" fmla="*/ 2113 w 2193"/>
                  <a:gd name="T51" fmla="*/ 291 h 2195"/>
                  <a:gd name="T52" fmla="*/ 1868 w 2193"/>
                  <a:gd name="T53" fmla="*/ 1427 h 2195"/>
                  <a:gd name="T54" fmla="*/ 1836 w 2193"/>
                  <a:gd name="T55" fmla="*/ 2194 h 2195"/>
                  <a:gd name="T56" fmla="*/ 1535 w 2193"/>
                  <a:gd name="T57" fmla="*/ 2194 h 2195"/>
                  <a:gd name="T58" fmla="*/ 1489 w 2193"/>
                  <a:gd name="T59" fmla="*/ 1445 h 2195"/>
                  <a:gd name="T60" fmla="*/ 1632 w 2193"/>
                  <a:gd name="T61" fmla="*/ 1104 h 2195"/>
                  <a:gd name="T62" fmla="*/ 1771 w 2193"/>
                  <a:gd name="T63" fmla="*/ 291 h 2195"/>
                  <a:gd name="T64" fmla="*/ 1614 w 2193"/>
                  <a:gd name="T65" fmla="*/ 975 h 2195"/>
                  <a:gd name="T66" fmla="*/ 1360 w 2193"/>
                  <a:gd name="T67" fmla="*/ 0 h 2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93" h="2195">
                    <a:moveTo>
                      <a:pt x="546" y="1012"/>
                    </a:moveTo>
                    <a:lnTo>
                      <a:pt x="1244" y="1012"/>
                    </a:lnTo>
                    <a:lnTo>
                      <a:pt x="1244" y="1187"/>
                    </a:lnTo>
                    <a:lnTo>
                      <a:pt x="934" y="1589"/>
                    </a:lnTo>
                    <a:lnTo>
                      <a:pt x="1249" y="1589"/>
                    </a:lnTo>
                    <a:lnTo>
                      <a:pt x="1249" y="1764"/>
                    </a:lnTo>
                    <a:lnTo>
                      <a:pt x="925" y="1764"/>
                    </a:lnTo>
                    <a:lnTo>
                      <a:pt x="925" y="2194"/>
                    </a:lnTo>
                    <a:lnTo>
                      <a:pt x="439" y="2194"/>
                    </a:lnTo>
                    <a:lnTo>
                      <a:pt x="439" y="2032"/>
                    </a:lnTo>
                    <a:lnTo>
                      <a:pt x="597" y="2032"/>
                    </a:lnTo>
                    <a:lnTo>
                      <a:pt x="597" y="1764"/>
                    </a:lnTo>
                    <a:lnTo>
                      <a:pt x="65" y="1764"/>
                    </a:lnTo>
                    <a:lnTo>
                      <a:pt x="65" y="1589"/>
                    </a:lnTo>
                    <a:lnTo>
                      <a:pt x="537" y="1589"/>
                    </a:lnTo>
                    <a:lnTo>
                      <a:pt x="856" y="1187"/>
                    </a:lnTo>
                    <a:lnTo>
                      <a:pt x="453" y="1187"/>
                    </a:lnTo>
                    <a:lnTo>
                      <a:pt x="292" y="1455"/>
                    </a:lnTo>
                    <a:lnTo>
                      <a:pt x="0" y="1455"/>
                    </a:lnTo>
                    <a:lnTo>
                      <a:pt x="167" y="1187"/>
                    </a:lnTo>
                    <a:lnTo>
                      <a:pt x="65" y="1187"/>
                    </a:lnTo>
                    <a:lnTo>
                      <a:pt x="65" y="1012"/>
                    </a:lnTo>
                    <a:lnTo>
                      <a:pt x="255" y="1012"/>
                    </a:lnTo>
                    <a:lnTo>
                      <a:pt x="361" y="809"/>
                    </a:lnTo>
                    <a:lnTo>
                      <a:pt x="56" y="809"/>
                    </a:lnTo>
                    <a:lnTo>
                      <a:pt x="56" y="628"/>
                    </a:lnTo>
                    <a:lnTo>
                      <a:pt x="366" y="628"/>
                    </a:lnTo>
                    <a:lnTo>
                      <a:pt x="366" y="319"/>
                    </a:lnTo>
                    <a:lnTo>
                      <a:pt x="125" y="319"/>
                    </a:lnTo>
                    <a:lnTo>
                      <a:pt x="125" y="148"/>
                    </a:lnTo>
                    <a:lnTo>
                      <a:pt x="366" y="148"/>
                    </a:lnTo>
                    <a:lnTo>
                      <a:pt x="366" y="0"/>
                    </a:lnTo>
                    <a:lnTo>
                      <a:pt x="680" y="0"/>
                    </a:lnTo>
                    <a:lnTo>
                      <a:pt x="680" y="148"/>
                    </a:lnTo>
                    <a:lnTo>
                      <a:pt x="934" y="148"/>
                    </a:lnTo>
                    <a:lnTo>
                      <a:pt x="934" y="319"/>
                    </a:lnTo>
                    <a:lnTo>
                      <a:pt x="680" y="319"/>
                    </a:lnTo>
                    <a:lnTo>
                      <a:pt x="680" y="628"/>
                    </a:lnTo>
                    <a:lnTo>
                      <a:pt x="846" y="628"/>
                    </a:lnTo>
                    <a:lnTo>
                      <a:pt x="1022" y="64"/>
                    </a:lnTo>
                    <a:lnTo>
                      <a:pt x="1272" y="64"/>
                    </a:lnTo>
                    <a:lnTo>
                      <a:pt x="1115" y="628"/>
                    </a:lnTo>
                    <a:lnTo>
                      <a:pt x="1244" y="628"/>
                    </a:lnTo>
                    <a:lnTo>
                      <a:pt x="1244" y="809"/>
                    </a:lnTo>
                    <a:lnTo>
                      <a:pt x="652" y="809"/>
                    </a:lnTo>
                    <a:lnTo>
                      <a:pt x="546" y="1012"/>
                    </a:lnTo>
                    <a:close/>
                    <a:moveTo>
                      <a:pt x="1360" y="0"/>
                    </a:moveTo>
                    <a:lnTo>
                      <a:pt x="1683" y="0"/>
                    </a:lnTo>
                    <a:lnTo>
                      <a:pt x="1679" y="115"/>
                    </a:lnTo>
                    <a:lnTo>
                      <a:pt x="2183" y="115"/>
                    </a:lnTo>
                    <a:lnTo>
                      <a:pt x="2183" y="291"/>
                    </a:lnTo>
                    <a:lnTo>
                      <a:pt x="2113" y="291"/>
                    </a:lnTo>
                    <a:lnTo>
                      <a:pt x="2113" y="739"/>
                    </a:lnTo>
                    <a:lnTo>
                      <a:pt x="1868" y="1427"/>
                    </a:lnTo>
                    <a:lnTo>
                      <a:pt x="2192" y="2194"/>
                    </a:lnTo>
                    <a:lnTo>
                      <a:pt x="1836" y="2194"/>
                    </a:lnTo>
                    <a:lnTo>
                      <a:pt x="1683" y="1834"/>
                    </a:lnTo>
                    <a:lnTo>
                      <a:pt x="1535" y="2194"/>
                    </a:lnTo>
                    <a:lnTo>
                      <a:pt x="1175" y="2194"/>
                    </a:lnTo>
                    <a:lnTo>
                      <a:pt x="1489" y="1445"/>
                    </a:lnTo>
                    <a:lnTo>
                      <a:pt x="1355" y="1104"/>
                    </a:lnTo>
                    <a:lnTo>
                      <a:pt x="1632" y="1104"/>
                    </a:lnTo>
                    <a:lnTo>
                      <a:pt x="1771" y="698"/>
                    </a:lnTo>
                    <a:lnTo>
                      <a:pt x="1771" y="291"/>
                    </a:lnTo>
                    <a:lnTo>
                      <a:pt x="1669" y="291"/>
                    </a:lnTo>
                    <a:lnTo>
                      <a:pt x="1614" y="975"/>
                    </a:lnTo>
                    <a:lnTo>
                      <a:pt x="1281" y="975"/>
                    </a:lnTo>
                    <a:lnTo>
                      <a:pt x="1360" y="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1" name="Freeform 18">
                <a:extLst>
                  <a:ext uri="{FF2B5EF4-FFF2-40B4-BE49-F238E27FC236}">
                    <a16:creationId xmlns:a16="http://schemas.microsoft.com/office/drawing/2014/main" id="{BADAC444-7B1E-8B4F-95E1-B15009384CAD}"/>
                  </a:ext>
                </a:extLst>
              </p:cNvPr>
              <p:cNvSpPr>
                <a:spLocks noChangeArrowheads="1"/>
              </p:cNvSpPr>
              <p:nvPr/>
            </p:nvSpPr>
            <p:spPr bwMode="auto">
              <a:xfrm>
                <a:off x="4374864" y="702500"/>
                <a:ext cx="369000" cy="355874"/>
              </a:xfrm>
              <a:custGeom>
                <a:avLst/>
                <a:gdLst>
                  <a:gd name="T0" fmla="*/ 1447 w 2230"/>
                  <a:gd name="T1" fmla="*/ 1118 h 2150"/>
                  <a:gd name="T2" fmla="*/ 2229 w 2230"/>
                  <a:gd name="T3" fmla="*/ 1405 h 2150"/>
                  <a:gd name="T4" fmla="*/ 1545 w 2230"/>
                  <a:gd name="T5" fmla="*/ 1405 h 2150"/>
                  <a:gd name="T6" fmla="*/ 1078 w 2230"/>
                  <a:gd name="T7" fmla="*/ 1252 h 2150"/>
                  <a:gd name="T8" fmla="*/ 652 w 2230"/>
                  <a:gd name="T9" fmla="*/ 1405 h 2150"/>
                  <a:gd name="T10" fmla="*/ 0 w 2230"/>
                  <a:gd name="T11" fmla="*/ 1405 h 2150"/>
                  <a:gd name="T12" fmla="*/ 726 w 2230"/>
                  <a:gd name="T13" fmla="*/ 1137 h 2150"/>
                  <a:gd name="T14" fmla="*/ 222 w 2230"/>
                  <a:gd name="T15" fmla="*/ 976 h 2150"/>
                  <a:gd name="T16" fmla="*/ 361 w 2230"/>
                  <a:gd name="T17" fmla="*/ 745 h 2150"/>
                  <a:gd name="T18" fmla="*/ 88 w 2230"/>
                  <a:gd name="T19" fmla="*/ 745 h 2150"/>
                  <a:gd name="T20" fmla="*/ 88 w 2230"/>
                  <a:gd name="T21" fmla="*/ 583 h 2150"/>
                  <a:gd name="T22" fmla="*/ 467 w 2230"/>
                  <a:gd name="T23" fmla="*/ 583 h 2150"/>
                  <a:gd name="T24" fmla="*/ 550 w 2230"/>
                  <a:gd name="T25" fmla="*/ 444 h 2150"/>
                  <a:gd name="T26" fmla="*/ 902 w 2230"/>
                  <a:gd name="T27" fmla="*/ 444 h 2150"/>
                  <a:gd name="T28" fmla="*/ 823 w 2230"/>
                  <a:gd name="T29" fmla="*/ 583 h 2150"/>
                  <a:gd name="T30" fmla="*/ 2146 w 2230"/>
                  <a:gd name="T31" fmla="*/ 583 h 2150"/>
                  <a:gd name="T32" fmla="*/ 2146 w 2230"/>
                  <a:gd name="T33" fmla="*/ 745 h 2150"/>
                  <a:gd name="T34" fmla="*/ 1910 w 2230"/>
                  <a:gd name="T35" fmla="*/ 745 h 2150"/>
                  <a:gd name="T36" fmla="*/ 1910 w 2230"/>
                  <a:gd name="T37" fmla="*/ 957 h 2150"/>
                  <a:gd name="T38" fmla="*/ 1447 w 2230"/>
                  <a:gd name="T39" fmla="*/ 1118 h 2150"/>
                  <a:gd name="T40" fmla="*/ 56 w 2230"/>
                  <a:gd name="T41" fmla="*/ 2126 h 2150"/>
                  <a:gd name="T42" fmla="*/ 426 w 2230"/>
                  <a:gd name="T43" fmla="*/ 1733 h 2150"/>
                  <a:gd name="T44" fmla="*/ 819 w 2230"/>
                  <a:gd name="T45" fmla="*/ 1733 h 2150"/>
                  <a:gd name="T46" fmla="*/ 463 w 2230"/>
                  <a:gd name="T47" fmla="*/ 2126 h 2150"/>
                  <a:gd name="T48" fmla="*/ 56 w 2230"/>
                  <a:gd name="T49" fmla="*/ 2126 h 2150"/>
                  <a:gd name="T50" fmla="*/ 1817 w 2230"/>
                  <a:gd name="T51" fmla="*/ 490 h 2150"/>
                  <a:gd name="T52" fmla="*/ 1817 w 2230"/>
                  <a:gd name="T53" fmla="*/ 292 h 2150"/>
                  <a:gd name="T54" fmla="*/ 412 w 2230"/>
                  <a:gd name="T55" fmla="*/ 292 h 2150"/>
                  <a:gd name="T56" fmla="*/ 412 w 2230"/>
                  <a:gd name="T57" fmla="*/ 490 h 2150"/>
                  <a:gd name="T58" fmla="*/ 88 w 2230"/>
                  <a:gd name="T59" fmla="*/ 490 h 2150"/>
                  <a:gd name="T60" fmla="*/ 88 w 2230"/>
                  <a:gd name="T61" fmla="*/ 121 h 2150"/>
                  <a:gd name="T62" fmla="*/ 925 w 2230"/>
                  <a:gd name="T63" fmla="*/ 121 h 2150"/>
                  <a:gd name="T64" fmla="*/ 925 w 2230"/>
                  <a:gd name="T65" fmla="*/ 0 h 2150"/>
                  <a:gd name="T66" fmla="*/ 1290 w 2230"/>
                  <a:gd name="T67" fmla="*/ 0 h 2150"/>
                  <a:gd name="T68" fmla="*/ 1290 w 2230"/>
                  <a:gd name="T69" fmla="*/ 121 h 2150"/>
                  <a:gd name="T70" fmla="*/ 2146 w 2230"/>
                  <a:gd name="T71" fmla="*/ 121 h 2150"/>
                  <a:gd name="T72" fmla="*/ 2146 w 2230"/>
                  <a:gd name="T73" fmla="*/ 490 h 2150"/>
                  <a:gd name="T74" fmla="*/ 1817 w 2230"/>
                  <a:gd name="T75" fmla="*/ 490 h 2150"/>
                  <a:gd name="T76" fmla="*/ 1281 w 2230"/>
                  <a:gd name="T77" fmla="*/ 1368 h 2150"/>
                  <a:gd name="T78" fmla="*/ 1281 w 2230"/>
                  <a:gd name="T79" fmla="*/ 1497 h 2150"/>
                  <a:gd name="T80" fmla="*/ 2146 w 2230"/>
                  <a:gd name="T81" fmla="*/ 1497 h 2150"/>
                  <a:gd name="T82" fmla="*/ 2146 w 2230"/>
                  <a:gd name="T83" fmla="*/ 1668 h 2150"/>
                  <a:gd name="T84" fmla="*/ 1281 w 2230"/>
                  <a:gd name="T85" fmla="*/ 1668 h 2150"/>
                  <a:gd name="T86" fmla="*/ 1281 w 2230"/>
                  <a:gd name="T87" fmla="*/ 2149 h 2150"/>
                  <a:gd name="T88" fmla="*/ 944 w 2230"/>
                  <a:gd name="T89" fmla="*/ 2149 h 2150"/>
                  <a:gd name="T90" fmla="*/ 944 w 2230"/>
                  <a:gd name="T91" fmla="*/ 1668 h 2150"/>
                  <a:gd name="T92" fmla="*/ 88 w 2230"/>
                  <a:gd name="T93" fmla="*/ 1668 h 2150"/>
                  <a:gd name="T94" fmla="*/ 88 w 2230"/>
                  <a:gd name="T95" fmla="*/ 1497 h 2150"/>
                  <a:gd name="T96" fmla="*/ 944 w 2230"/>
                  <a:gd name="T97" fmla="*/ 1497 h 2150"/>
                  <a:gd name="T98" fmla="*/ 944 w 2230"/>
                  <a:gd name="T99" fmla="*/ 1368 h 2150"/>
                  <a:gd name="T100" fmla="*/ 1281 w 2230"/>
                  <a:gd name="T101" fmla="*/ 1368 h 2150"/>
                  <a:gd name="T102" fmla="*/ 1115 w 2230"/>
                  <a:gd name="T103" fmla="*/ 999 h 2150"/>
                  <a:gd name="T104" fmla="*/ 1568 w 2230"/>
                  <a:gd name="T105" fmla="*/ 832 h 2150"/>
                  <a:gd name="T106" fmla="*/ 1568 w 2230"/>
                  <a:gd name="T107" fmla="*/ 745 h 2150"/>
                  <a:gd name="T108" fmla="*/ 726 w 2230"/>
                  <a:gd name="T109" fmla="*/ 745 h 2150"/>
                  <a:gd name="T110" fmla="*/ 675 w 2230"/>
                  <a:gd name="T111" fmla="*/ 837 h 2150"/>
                  <a:gd name="T112" fmla="*/ 1115 w 2230"/>
                  <a:gd name="T113" fmla="*/ 999 h 2150"/>
                  <a:gd name="T114" fmla="*/ 2192 w 2230"/>
                  <a:gd name="T115" fmla="*/ 2126 h 2150"/>
                  <a:gd name="T116" fmla="*/ 1776 w 2230"/>
                  <a:gd name="T117" fmla="*/ 2126 h 2150"/>
                  <a:gd name="T118" fmla="*/ 1420 w 2230"/>
                  <a:gd name="T119" fmla="*/ 1733 h 2150"/>
                  <a:gd name="T120" fmla="*/ 1827 w 2230"/>
                  <a:gd name="T121" fmla="*/ 1733 h 2150"/>
                  <a:gd name="T122" fmla="*/ 2192 w 2230"/>
                  <a:gd name="T123" fmla="*/ 2126 h 2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230" h="2150">
                    <a:moveTo>
                      <a:pt x="1447" y="1118"/>
                    </a:moveTo>
                    <a:lnTo>
                      <a:pt x="2229" y="1405"/>
                    </a:lnTo>
                    <a:lnTo>
                      <a:pt x="1545" y="1405"/>
                    </a:lnTo>
                    <a:lnTo>
                      <a:pt x="1078" y="1252"/>
                    </a:lnTo>
                    <a:lnTo>
                      <a:pt x="652" y="1405"/>
                    </a:lnTo>
                    <a:lnTo>
                      <a:pt x="0" y="1405"/>
                    </a:lnTo>
                    <a:lnTo>
                      <a:pt x="726" y="1137"/>
                    </a:lnTo>
                    <a:lnTo>
                      <a:pt x="222" y="976"/>
                    </a:lnTo>
                    <a:lnTo>
                      <a:pt x="361" y="745"/>
                    </a:lnTo>
                    <a:lnTo>
                      <a:pt x="88" y="745"/>
                    </a:lnTo>
                    <a:lnTo>
                      <a:pt x="88" y="583"/>
                    </a:lnTo>
                    <a:lnTo>
                      <a:pt x="467" y="583"/>
                    </a:lnTo>
                    <a:lnTo>
                      <a:pt x="550" y="444"/>
                    </a:lnTo>
                    <a:lnTo>
                      <a:pt x="902" y="444"/>
                    </a:lnTo>
                    <a:lnTo>
                      <a:pt x="823" y="583"/>
                    </a:lnTo>
                    <a:lnTo>
                      <a:pt x="2146" y="583"/>
                    </a:lnTo>
                    <a:lnTo>
                      <a:pt x="2146" y="745"/>
                    </a:lnTo>
                    <a:lnTo>
                      <a:pt x="1910" y="745"/>
                    </a:lnTo>
                    <a:lnTo>
                      <a:pt x="1910" y="957"/>
                    </a:lnTo>
                    <a:lnTo>
                      <a:pt x="1447" y="1118"/>
                    </a:lnTo>
                    <a:close/>
                    <a:moveTo>
                      <a:pt x="56" y="2126"/>
                    </a:moveTo>
                    <a:lnTo>
                      <a:pt x="426" y="1733"/>
                    </a:lnTo>
                    <a:lnTo>
                      <a:pt x="819" y="1733"/>
                    </a:lnTo>
                    <a:lnTo>
                      <a:pt x="463" y="2126"/>
                    </a:lnTo>
                    <a:lnTo>
                      <a:pt x="56" y="2126"/>
                    </a:lnTo>
                    <a:close/>
                    <a:moveTo>
                      <a:pt x="1817" y="490"/>
                    </a:moveTo>
                    <a:lnTo>
                      <a:pt x="1817" y="292"/>
                    </a:lnTo>
                    <a:lnTo>
                      <a:pt x="412" y="292"/>
                    </a:lnTo>
                    <a:lnTo>
                      <a:pt x="412" y="490"/>
                    </a:lnTo>
                    <a:lnTo>
                      <a:pt x="88" y="490"/>
                    </a:lnTo>
                    <a:lnTo>
                      <a:pt x="88" y="121"/>
                    </a:lnTo>
                    <a:lnTo>
                      <a:pt x="925" y="121"/>
                    </a:lnTo>
                    <a:lnTo>
                      <a:pt x="925" y="0"/>
                    </a:lnTo>
                    <a:lnTo>
                      <a:pt x="1290" y="0"/>
                    </a:lnTo>
                    <a:lnTo>
                      <a:pt x="1290" y="121"/>
                    </a:lnTo>
                    <a:lnTo>
                      <a:pt x="2146" y="121"/>
                    </a:lnTo>
                    <a:lnTo>
                      <a:pt x="2146" y="490"/>
                    </a:lnTo>
                    <a:lnTo>
                      <a:pt x="1817" y="490"/>
                    </a:lnTo>
                    <a:close/>
                    <a:moveTo>
                      <a:pt x="1281" y="1368"/>
                    </a:moveTo>
                    <a:lnTo>
                      <a:pt x="1281" y="1497"/>
                    </a:lnTo>
                    <a:lnTo>
                      <a:pt x="2146" y="1497"/>
                    </a:lnTo>
                    <a:lnTo>
                      <a:pt x="2146" y="1668"/>
                    </a:lnTo>
                    <a:lnTo>
                      <a:pt x="1281" y="1668"/>
                    </a:lnTo>
                    <a:lnTo>
                      <a:pt x="1281" y="2149"/>
                    </a:lnTo>
                    <a:lnTo>
                      <a:pt x="944" y="2149"/>
                    </a:lnTo>
                    <a:lnTo>
                      <a:pt x="944" y="1668"/>
                    </a:lnTo>
                    <a:lnTo>
                      <a:pt x="88" y="1668"/>
                    </a:lnTo>
                    <a:lnTo>
                      <a:pt x="88" y="1497"/>
                    </a:lnTo>
                    <a:lnTo>
                      <a:pt x="944" y="1497"/>
                    </a:lnTo>
                    <a:lnTo>
                      <a:pt x="944" y="1368"/>
                    </a:lnTo>
                    <a:lnTo>
                      <a:pt x="1281" y="1368"/>
                    </a:lnTo>
                    <a:close/>
                    <a:moveTo>
                      <a:pt x="1115" y="999"/>
                    </a:moveTo>
                    <a:lnTo>
                      <a:pt x="1568" y="832"/>
                    </a:lnTo>
                    <a:lnTo>
                      <a:pt x="1568" y="745"/>
                    </a:lnTo>
                    <a:lnTo>
                      <a:pt x="726" y="745"/>
                    </a:lnTo>
                    <a:lnTo>
                      <a:pt x="675" y="837"/>
                    </a:lnTo>
                    <a:lnTo>
                      <a:pt x="1115" y="999"/>
                    </a:lnTo>
                    <a:close/>
                    <a:moveTo>
                      <a:pt x="2192" y="2126"/>
                    </a:moveTo>
                    <a:lnTo>
                      <a:pt x="1776" y="2126"/>
                    </a:lnTo>
                    <a:lnTo>
                      <a:pt x="1420" y="1733"/>
                    </a:lnTo>
                    <a:lnTo>
                      <a:pt x="1827" y="1733"/>
                    </a:lnTo>
                    <a:lnTo>
                      <a:pt x="2192" y="2126"/>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2" name="Freeform 19">
                <a:extLst>
                  <a:ext uri="{FF2B5EF4-FFF2-40B4-BE49-F238E27FC236}">
                    <a16:creationId xmlns:a16="http://schemas.microsoft.com/office/drawing/2014/main" id="{DDEA1A75-7DDB-484D-B55F-83057427529B}"/>
                  </a:ext>
                </a:extLst>
              </p:cNvPr>
              <p:cNvSpPr>
                <a:spLocks noChangeArrowheads="1"/>
              </p:cNvSpPr>
              <p:nvPr/>
            </p:nvSpPr>
            <p:spPr bwMode="auto">
              <a:xfrm>
                <a:off x="4758449" y="696666"/>
                <a:ext cx="376293" cy="364625"/>
              </a:xfrm>
              <a:custGeom>
                <a:avLst/>
                <a:gdLst>
                  <a:gd name="T0" fmla="*/ 615 w 2276"/>
                  <a:gd name="T1" fmla="*/ 943 h 2205"/>
                  <a:gd name="T2" fmla="*/ 897 w 2276"/>
                  <a:gd name="T3" fmla="*/ 1145 h 2205"/>
                  <a:gd name="T4" fmla="*/ 897 w 2276"/>
                  <a:gd name="T5" fmla="*/ 1548 h 2205"/>
                  <a:gd name="T6" fmla="*/ 583 w 2276"/>
                  <a:gd name="T7" fmla="*/ 1330 h 2205"/>
                  <a:gd name="T8" fmla="*/ 583 w 2276"/>
                  <a:gd name="T9" fmla="*/ 2204 h 2205"/>
                  <a:gd name="T10" fmla="*/ 241 w 2276"/>
                  <a:gd name="T11" fmla="*/ 2204 h 2205"/>
                  <a:gd name="T12" fmla="*/ 241 w 2276"/>
                  <a:gd name="T13" fmla="*/ 1478 h 2205"/>
                  <a:gd name="T14" fmla="*/ 0 w 2276"/>
                  <a:gd name="T15" fmla="*/ 1478 h 2205"/>
                  <a:gd name="T16" fmla="*/ 435 w 2276"/>
                  <a:gd name="T17" fmla="*/ 439 h 2205"/>
                  <a:gd name="T18" fmla="*/ 93 w 2276"/>
                  <a:gd name="T19" fmla="*/ 439 h 2205"/>
                  <a:gd name="T20" fmla="*/ 93 w 2276"/>
                  <a:gd name="T21" fmla="*/ 264 h 2205"/>
                  <a:gd name="T22" fmla="*/ 306 w 2276"/>
                  <a:gd name="T23" fmla="*/ 264 h 2205"/>
                  <a:gd name="T24" fmla="*/ 306 w 2276"/>
                  <a:gd name="T25" fmla="*/ 0 h 2205"/>
                  <a:gd name="T26" fmla="*/ 680 w 2276"/>
                  <a:gd name="T27" fmla="*/ 0 h 2205"/>
                  <a:gd name="T28" fmla="*/ 680 w 2276"/>
                  <a:gd name="T29" fmla="*/ 264 h 2205"/>
                  <a:gd name="T30" fmla="*/ 819 w 2276"/>
                  <a:gd name="T31" fmla="*/ 264 h 2205"/>
                  <a:gd name="T32" fmla="*/ 819 w 2276"/>
                  <a:gd name="T33" fmla="*/ 439 h 2205"/>
                  <a:gd name="T34" fmla="*/ 615 w 2276"/>
                  <a:gd name="T35" fmla="*/ 943 h 2205"/>
                  <a:gd name="T36" fmla="*/ 888 w 2276"/>
                  <a:gd name="T37" fmla="*/ 726 h 2205"/>
                  <a:gd name="T38" fmla="*/ 888 w 2276"/>
                  <a:gd name="T39" fmla="*/ 550 h 2205"/>
                  <a:gd name="T40" fmla="*/ 1360 w 2276"/>
                  <a:gd name="T41" fmla="*/ 550 h 2205"/>
                  <a:gd name="T42" fmla="*/ 1360 w 2276"/>
                  <a:gd name="T43" fmla="*/ 0 h 2205"/>
                  <a:gd name="T44" fmla="*/ 1702 w 2276"/>
                  <a:gd name="T45" fmla="*/ 0 h 2205"/>
                  <a:gd name="T46" fmla="*/ 1702 w 2276"/>
                  <a:gd name="T47" fmla="*/ 550 h 2205"/>
                  <a:gd name="T48" fmla="*/ 2178 w 2276"/>
                  <a:gd name="T49" fmla="*/ 550 h 2205"/>
                  <a:gd name="T50" fmla="*/ 2178 w 2276"/>
                  <a:gd name="T51" fmla="*/ 726 h 2205"/>
                  <a:gd name="T52" fmla="*/ 1702 w 2276"/>
                  <a:gd name="T53" fmla="*/ 726 h 2205"/>
                  <a:gd name="T54" fmla="*/ 1702 w 2276"/>
                  <a:gd name="T55" fmla="*/ 1996 h 2205"/>
                  <a:gd name="T56" fmla="*/ 2275 w 2276"/>
                  <a:gd name="T57" fmla="*/ 1996 h 2205"/>
                  <a:gd name="T58" fmla="*/ 2275 w 2276"/>
                  <a:gd name="T59" fmla="*/ 2172 h 2205"/>
                  <a:gd name="T60" fmla="*/ 763 w 2276"/>
                  <a:gd name="T61" fmla="*/ 2172 h 2205"/>
                  <a:gd name="T62" fmla="*/ 763 w 2276"/>
                  <a:gd name="T63" fmla="*/ 1996 h 2205"/>
                  <a:gd name="T64" fmla="*/ 1360 w 2276"/>
                  <a:gd name="T65" fmla="*/ 1996 h 2205"/>
                  <a:gd name="T66" fmla="*/ 1360 w 2276"/>
                  <a:gd name="T67" fmla="*/ 726 h 2205"/>
                  <a:gd name="T68" fmla="*/ 888 w 2276"/>
                  <a:gd name="T69" fmla="*/ 726 h 2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276" h="2205">
                    <a:moveTo>
                      <a:pt x="615" y="943"/>
                    </a:moveTo>
                    <a:lnTo>
                      <a:pt x="897" y="1145"/>
                    </a:lnTo>
                    <a:lnTo>
                      <a:pt x="897" y="1548"/>
                    </a:lnTo>
                    <a:lnTo>
                      <a:pt x="583" y="1330"/>
                    </a:lnTo>
                    <a:lnTo>
                      <a:pt x="583" y="2204"/>
                    </a:lnTo>
                    <a:lnTo>
                      <a:pt x="241" y="2204"/>
                    </a:lnTo>
                    <a:lnTo>
                      <a:pt x="241" y="1478"/>
                    </a:lnTo>
                    <a:lnTo>
                      <a:pt x="0" y="1478"/>
                    </a:lnTo>
                    <a:lnTo>
                      <a:pt x="435" y="439"/>
                    </a:lnTo>
                    <a:lnTo>
                      <a:pt x="93" y="439"/>
                    </a:lnTo>
                    <a:lnTo>
                      <a:pt x="93" y="264"/>
                    </a:lnTo>
                    <a:lnTo>
                      <a:pt x="306" y="264"/>
                    </a:lnTo>
                    <a:lnTo>
                      <a:pt x="306" y="0"/>
                    </a:lnTo>
                    <a:lnTo>
                      <a:pt x="680" y="0"/>
                    </a:lnTo>
                    <a:lnTo>
                      <a:pt x="680" y="264"/>
                    </a:lnTo>
                    <a:lnTo>
                      <a:pt x="819" y="264"/>
                    </a:lnTo>
                    <a:lnTo>
                      <a:pt x="819" y="439"/>
                    </a:lnTo>
                    <a:lnTo>
                      <a:pt x="615" y="943"/>
                    </a:lnTo>
                    <a:close/>
                    <a:moveTo>
                      <a:pt x="888" y="726"/>
                    </a:moveTo>
                    <a:lnTo>
                      <a:pt x="888" y="550"/>
                    </a:lnTo>
                    <a:lnTo>
                      <a:pt x="1360" y="550"/>
                    </a:lnTo>
                    <a:lnTo>
                      <a:pt x="1360" y="0"/>
                    </a:lnTo>
                    <a:lnTo>
                      <a:pt x="1702" y="0"/>
                    </a:lnTo>
                    <a:lnTo>
                      <a:pt x="1702" y="550"/>
                    </a:lnTo>
                    <a:lnTo>
                      <a:pt x="2178" y="550"/>
                    </a:lnTo>
                    <a:lnTo>
                      <a:pt x="2178" y="726"/>
                    </a:lnTo>
                    <a:lnTo>
                      <a:pt x="1702" y="726"/>
                    </a:lnTo>
                    <a:lnTo>
                      <a:pt x="1702" y="1996"/>
                    </a:lnTo>
                    <a:lnTo>
                      <a:pt x="2275" y="1996"/>
                    </a:lnTo>
                    <a:lnTo>
                      <a:pt x="2275" y="2172"/>
                    </a:lnTo>
                    <a:lnTo>
                      <a:pt x="763" y="2172"/>
                    </a:lnTo>
                    <a:lnTo>
                      <a:pt x="763" y="1996"/>
                    </a:lnTo>
                    <a:lnTo>
                      <a:pt x="1360" y="1996"/>
                    </a:lnTo>
                    <a:lnTo>
                      <a:pt x="1360" y="726"/>
                    </a:lnTo>
                    <a:lnTo>
                      <a:pt x="888" y="726"/>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3" name="Freeform 20">
                <a:extLst>
                  <a:ext uri="{FF2B5EF4-FFF2-40B4-BE49-F238E27FC236}">
                    <a16:creationId xmlns:a16="http://schemas.microsoft.com/office/drawing/2014/main" id="{8BD7A1DA-D6BC-B540-8868-87444FFA8923}"/>
                  </a:ext>
                </a:extLst>
              </p:cNvPr>
              <p:cNvSpPr>
                <a:spLocks noChangeArrowheads="1"/>
              </p:cNvSpPr>
              <p:nvPr/>
            </p:nvSpPr>
            <p:spPr bwMode="auto">
              <a:xfrm>
                <a:off x="5179226" y="705417"/>
                <a:ext cx="328891" cy="352227"/>
              </a:xfrm>
              <a:custGeom>
                <a:avLst/>
                <a:gdLst>
                  <a:gd name="T0" fmla="*/ 1979 w 1990"/>
                  <a:gd name="T1" fmla="*/ 176 h 2131"/>
                  <a:gd name="T2" fmla="*/ 343 w 1990"/>
                  <a:gd name="T3" fmla="*/ 176 h 2131"/>
                  <a:gd name="T4" fmla="*/ 343 w 1990"/>
                  <a:gd name="T5" fmla="*/ 1954 h 2131"/>
                  <a:gd name="T6" fmla="*/ 1989 w 1990"/>
                  <a:gd name="T7" fmla="*/ 1954 h 2131"/>
                  <a:gd name="T8" fmla="*/ 1989 w 1990"/>
                  <a:gd name="T9" fmla="*/ 2130 h 2131"/>
                  <a:gd name="T10" fmla="*/ 0 w 1990"/>
                  <a:gd name="T11" fmla="*/ 2130 h 2131"/>
                  <a:gd name="T12" fmla="*/ 0 w 1990"/>
                  <a:gd name="T13" fmla="*/ 0 h 2131"/>
                  <a:gd name="T14" fmla="*/ 1979 w 1990"/>
                  <a:gd name="T15" fmla="*/ 0 h 2131"/>
                  <a:gd name="T16" fmla="*/ 1979 w 1990"/>
                  <a:gd name="T17" fmla="*/ 176 h 2131"/>
                  <a:gd name="T18" fmla="*/ 958 w 1990"/>
                  <a:gd name="T19" fmla="*/ 1063 h 2131"/>
                  <a:gd name="T20" fmla="*/ 421 w 1990"/>
                  <a:gd name="T21" fmla="*/ 310 h 2131"/>
                  <a:gd name="T22" fmla="*/ 847 w 1990"/>
                  <a:gd name="T23" fmla="*/ 310 h 2131"/>
                  <a:gd name="T24" fmla="*/ 1166 w 1990"/>
                  <a:gd name="T25" fmla="*/ 763 h 2131"/>
                  <a:gd name="T26" fmla="*/ 1475 w 1990"/>
                  <a:gd name="T27" fmla="*/ 310 h 2131"/>
                  <a:gd name="T28" fmla="*/ 1887 w 1990"/>
                  <a:gd name="T29" fmla="*/ 310 h 2131"/>
                  <a:gd name="T30" fmla="*/ 1378 w 1990"/>
                  <a:gd name="T31" fmla="*/ 1058 h 2131"/>
                  <a:gd name="T32" fmla="*/ 1924 w 1990"/>
                  <a:gd name="T33" fmla="*/ 1829 h 2131"/>
                  <a:gd name="T34" fmla="*/ 1508 w 1990"/>
                  <a:gd name="T35" fmla="*/ 1829 h 2131"/>
                  <a:gd name="T36" fmla="*/ 1175 w 1990"/>
                  <a:gd name="T37" fmla="*/ 1358 h 2131"/>
                  <a:gd name="T38" fmla="*/ 860 w 1990"/>
                  <a:gd name="T39" fmla="*/ 1829 h 2131"/>
                  <a:gd name="T40" fmla="*/ 440 w 1990"/>
                  <a:gd name="T41" fmla="*/ 1829 h 2131"/>
                  <a:gd name="T42" fmla="*/ 958 w 1990"/>
                  <a:gd name="T43" fmla="*/ 1063 h 2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990" h="2131">
                    <a:moveTo>
                      <a:pt x="1979" y="176"/>
                    </a:moveTo>
                    <a:lnTo>
                      <a:pt x="343" y="176"/>
                    </a:lnTo>
                    <a:lnTo>
                      <a:pt x="343" y="1954"/>
                    </a:lnTo>
                    <a:lnTo>
                      <a:pt x="1989" y="1954"/>
                    </a:lnTo>
                    <a:lnTo>
                      <a:pt x="1989" y="2130"/>
                    </a:lnTo>
                    <a:lnTo>
                      <a:pt x="0" y="2130"/>
                    </a:lnTo>
                    <a:lnTo>
                      <a:pt x="0" y="0"/>
                    </a:lnTo>
                    <a:lnTo>
                      <a:pt x="1979" y="0"/>
                    </a:lnTo>
                    <a:lnTo>
                      <a:pt x="1979" y="176"/>
                    </a:lnTo>
                    <a:close/>
                    <a:moveTo>
                      <a:pt x="958" y="1063"/>
                    </a:moveTo>
                    <a:lnTo>
                      <a:pt x="421" y="310"/>
                    </a:lnTo>
                    <a:lnTo>
                      <a:pt x="847" y="310"/>
                    </a:lnTo>
                    <a:lnTo>
                      <a:pt x="1166" y="763"/>
                    </a:lnTo>
                    <a:lnTo>
                      <a:pt x="1475" y="310"/>
                    </a:lnTo>
                    <a:lnTo>
                      <a:pt x="1887" y="310"/>
                    </a:lnTo>
                    <a:lnTo>
                      <a:pt x="1378" y="1058"/>
                    </a:lnTo>
                    <a:lnTo>
                      <a:pt x="1924" y="1829"/>
                    </a:lnTo>
                    <a:lnTo>
                      <a:pt x="1508" y="1829"/>
                    </a:lnTo>
                    <a:lnTo>
                      <a:pt x="1175" y="1358"/>
                    </a:lnTo>
                    <a:lnTo>
                      <a:pt x="860" y="1829"/>
                    </a:lnTo>
                    <a:lnTo>
                      <a:pt x="440" y="1829"/>
                    </a:lnTo>
                    <a:lnTo>
                      <a:pt x="958" y="1063"/>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dirty="0"/>
              </a:p>
            </p:txBody>
          </p:sp>
        </p:grpSp>
      </p:grpSp>
      <p:cxnSp>
        <p:nvCxnSpPr>
          <p:cNvPr id="35" name="直线连接符 34">
            <a:extLst>
              <a:ext uri="{FF2B5EF4-FFF2-40B4-BE49-F238E27FC236}">
                <a16:creationId xmlns:a16="http://schemas.microsoft.com/office/drawing/2014/main" id="{E5DF8D13-70E0-AF46-8631-B0F3419D3CFD}"/>
              </a:ext>
            </a:extLst>
          </p:cNvPr>
          <p:cNvCxnSpPr>
            <a:cxnSpLocks/>
          </p:cNvCxnSpPr>
          <p:nvPr userDrawn="1"/>
        </p:nvCxnSpPr>
        <p:spPr>
          <a:xfrm>
            <a:off x="9705401" y="526774"/>
            <a:ext cx="0" cy="503679"/>
          </a:xfrm>
          <a:prstGeom prst="line">
            <a:avLst/>
          </a:prstGeom>
          <a:ln w="12700" cap="rnd">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36" name="组合 35">
            <a:extLst>
              <a:ext uri="{FF2B5EF4-FFF2-40B4-BE49-F238E27FC236}">
                <a16:creationId xmlns:a16="http://schemas.microsoft.com/office/drawing/2014/main" id="{543783C6-3E2C-DC4A-A855-566FB9EEEA67}"/>
              </a:ext>
            </a:extLst>
          </p:cNvPr>
          <p:cNvGrpSpPr/>
          <p:nvPr userDrawn="1"/>
        </p:nvGrpSpPr>
        <p:grpSpPr>
          <a:xfrm>
            <a:off x="10332133" y="426643"/>
            <a:ext cx="927707" cy="369331"/>
            <a:chOff x="1113126" y="809213"/>
            <a:chExt cx="2133357" cy="523762"/>
          </a:xfrm>
          <a:solidFill>
            <a:schemeClr val="bg1">
              <a:lumMod val="75000"/>
            </a:schemeClr>
          </a:solidFill>
        </p:grpSpPr>
        <p:sp>
          <p:nvSpPr>
            <p:cNvPr id="37" name="椭圆 36">
              <a:extLst>
                <a:ext uri="{FF2B5EF4-FFF2-40B4-BE49-F238E27FC236}">
                  <a16:creationId xmlns:a16="http://schemas.microsoft.com/office/drawing/2014/main" id="{5C7ECC7A-FF16-554D-96D3-A65871AEE360}"/>
                </a:ext>
              </a:extLst>
            </p:cNvPr>
            <p:cNvSpPr/>
            <p:nvPr userDrawn="1"/>
          </p:nvSpPr>
          <p:spPr>
            <a:xfrm>
              <a:off x="1113126" y="809213"/>
              <a:ext cx="523762" cy="52376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8" name="椭圆 37">
              <a:extLst>
                <a:ext uri="{FF2B5EF4-FFF2-40B4-BE49-F238E27FC236}">
                  <a16:creationId xmlns:a16="http://schemas.microsoft.com/office/drawing/2014/main" id="{45D09929-F40F-B44A-9D9E-3B1511170001}"/>
                </a:ext>
              </a:extLst>
            </p:cNvPr>
            <p:cNvSpPr/>
            <p:nvPr userDrawn="1"/>
          </p:nvSpPr>
          <p:spPr>
            <a:xfrm>
              <a:off x="1649658" y="809213"/>
              <a:ext cx="523762" cy="52376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9" name="椭圆 38">
              <a:extLst>
                <a:ext uri="{FF2B5EF4-FFF2-40B4-BE49-F238E27FC236}">
                  <a16:creationId xmlns:a16="http://schemas.microsoft.com/office/drawing/2014/main" id="{2E8AAC8D-B4A7-744A-8BCA-D6B2EC213283}"/>
                </a:ext>
              </a:extLst>
            </p:cNvPr>
            <p:cNvSpPr/>
            <p:nvPr userDrawn="1"/>
          </p:nvSpPr>
          <p:spPr>
            <a:xfrm>
              <a:off x="2186190" y="809213"/>
              <a:ext cx="523762" cy="52376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0" name="椭圆 39">
              <a:extLst>
                <a:ext uri="{FF2B5EF4-FFF2-40B4-BE49-F238E27FC236}">
                  <a16:creationId xmlns:a16="http://schemas.microsoft.com/office/drawing/2014/main" id="{E6F36119-3651-4744-9931-F2472FF33170}"/>
                </a:ext>
              </a:extLst>
            </p:cNvPr>
            <p:cNvSpPr/>
            <p:nvPr userDrawn="1"/>
          </p:nvSpPr>
          <p:spPr>
            <a:xfrm>
              <a:off x="2722721" y="809213"/>
              <a:ext cx="523762" cy="52376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41" name="矩形 40">
            <a:extLst>
              <a:ext uri="{FF2B5EF4-FFF2-40B4-BE49-F238E27FC236}">
                <a16:creationId xmlns:a16="http://schemas.microsoft.com/office/drawing/2014/main" id="{429E973E-9734-4844-B936-C1D7BEBEA261}"/>
              </a:ext>
            </a:extLst>
          </p:cNvPr>
          <p:cNvSpPr/>
          <p:nvPr userDrawn="1"/>
        </p:nvSpPr>
        <p:spPr>
          <a:xfrm>
            <a:off x="10245804" y="413133"/>
            <a:ext cx="1107996" cy="369332"/>
          </a:xfrm>
          <a:prstGeom prst="rect">
            <a:avLst/>
          </a:prstGeom>
          <a:noFill/>
        </p:spPr>
        <p:txBody>
          <a:bodyPr wrap="none" lIns="91440" tIns="45720" rIns="91440" bIns="45720">
            <a:spAutoFit/>
          </a:bodyPr>
          <a:lstStyle/>
          <a:p>
            <a:pPr algn="ctr"/>
            <a:r>
              <a:rPr lang="zh-CN" altLang="en-US" sz="1800" b="1" cap="none" spc="0" dirty="0">
                <a:ln w="22225">
                  <a:noFill/>
                  <a:prstDash val="solid"/>
                </a:ln>
                <a:solidFill>
                  <a:schemeClr val="accent1">
                    <a:lumMod val="60000"/>
                    <a:lumOff val="40000"/>
                  </a:schemeClr>
                </a:solidFill>
                <a:effectLst/>
              </a:rPr>
              <a:t>我的学校</a:t>
            </a:r>
          </a:p>
        </p:txBody>
      </p:sp>
      <p:grpSp>
        <p:nvGrpSpPr>
          <p:cNvPr id="42" name="组合 41">
            <a:extLst>
              <a:ext uri="{FF2B5EF4-FFF2-40B4-BE49-F238E27FC236}">
                <a16:creationId xmlns:a16="http://schemas.microsoft.com/office/drawing/2014/main" id="{CDBA8066-7719-6E44-BBFA-1BD16F8D020F}"/>
              </a:ext>
            </a:extLst>
          </p:cNvPr>
          <p:cNvGrpSpPr/>
          <p:nvPr userDrawn="1"/>
        </p:nvGrpSpPr>
        <p:grpSpPr>
          <a:xfrm>
            <a:off x="715452" y="729525"/>
            <a:ext cx="403039" cy="321898"/>
            <a:chOff x="1368170" y="664579"/>
            <a:chExt cx="550582" cy="439737"/>
          </a:xfrm>
          <a:solidFill>
            <a:schemeClr val="bg1"/>
          </a:solidFill>
        </p:grpSpPr>
        <p:sp>
          <p:nvSpPr>
            <p:cNvPr id="43" name="Freeform 1">
              <a:extLst>
                <a:ext uri="{FF2B5EF4-FFF2-40B4-BE49-F238E27FC236}">
                  <a16:creationId xmlns:a16="http://schemas.microsoft.com/office/drawing/2014/main" id="{212F6771-1D3A-7341-902D-DA18419FA115}"/>
                </a:ext>
              </a:extLst>
            </p:cNvPr>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4" name="Freeform 2">
              <a:extLst>
                <a:ext uri="{FF2B5EF4-FFF2-40B4-BE49-F238E27FC236}">
                  <a16:creationId xmlns:a16="http://schemas.microsoft.com/office/drawing/2014/main" id="{34F083C1-A1BA-0E4E-8E89-BB4E5F340664}"/>
                </a:ext>
              </a:extLst>
            </p:cNvPr>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 name="Freeform 3">
              <a:extLst>
                <a:ext uri="{FF2B5EF4-FFF2-40B4-BE49-F238E27FC236}">
                  <a16:creationId xmlns:a16="http://schemas.microsoft.com/office/drawing/2014/main" id="{809B51FD-2ED5-BC4E-B2F3-2008069DDE46}"/>
                </a:ext>
              </a:extLst>
            </p:cNvPr>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6" name="Freeform 4">
              <a:extLst>
                <a:ext uri="{FF2B5EF4-FFF2-40B4-BE49-F238E27FC236}">
                  <a16:creationId xmlns:a16="http://schemas.microsoft.com/office/drawing/2014/main" id="{6A84B375-DC03-B642-9B1F-09A720046E55}"/>
                </a:ext>
              </a:extLst>
            </p:cNvPr>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7" name="Freeform 5">
              <a:extLst>
                <a:ext uri="{FF2B5EF4-FFF2-40B4-BE49-F238E27FC236}">
                  <a16:creationId xmlns:a16="http://schemas.microsoft.com/office/drawing/2014/main" id="{7D23448C-7F6F-DE48-AC3F-39BBE47F8B20}"/>
                </a:ext>
              </a:extLst>
            </p:cNvPr>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8" name="Freeform 6">
              <a:extLst>
                <a:ext uri="{FF2B5EF4-FFF2-40B4-BE49-F238E27FC236}">
                  <a16:creationId xmlns:a16="http://schemas.microsoft.com/office/drawing/2014/main" id="{10E8DE67-4EF3-CC43-BF30-665F02B27107}"/>
                </a:ext>
              </a:extLst>
            </p:cNvPr>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9" name="Freeform 7">
              <a:extLst>
                <a:ext uri="{FF2B5EF4-FFF2-40B4-BE49-F238E27FC236}">
                  <a16:creationId xmlns:a16="http://schemas.microsoft.com/office/drawing/2014/main" id="{0E842195-989D-0F4A-AEAD-8665C2E713FF}"/>
                </a:ext>
              </a:extLst>
            </p:cNvPr>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0" name="Freeform 8">
              <a:extLst>
                <a:ext uri="{FF2B5EF4-FFF2-40B4-BE49-F238E27FC236}">
                  <a16:creationId xmlns:a16="http://schemas.microsoft.com/office/drawing/2014/main" id="{2CCE1E61-E678-A04A-9F48-AD28EE1592DD}"/>
                </a:ext>
              </a:extLst>
            </p:cNvPr>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1" name="Freeform 9">
              <a:extLst>
                <a:ext uri="{FF2B5EF4-FFF2-40B4-BE49-F238E27FC236}">
                  <a16:creationId xmlns:a16="http://schemas.microsoft.com/office/drawing/2014/main" id="{5A553C8E-044C-554F-8CA4-756B8A1F3521}"/>
                </a:ext>
              </a:extLst>
            </p:cNvPr>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2" name="Freeform 10">
              <a:extLst>
                <a:ext uri="{FF2B5EF4-FFF2-40B4-BE49-F238E27FC236}">
                  <a16:creationId xmlns:a16="http://schemas.microsoft.com/office/drawing/2014/main" id="{B864F7F5-8239-2843-8E2F-F5D0C9E76A02}"/>
                </a:ext>
              </a:extLst>
            </p:cNvPr>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3" name="Freeform 11">
              <a:extLst>
                <a:ext uri="{FF2B5EF4-FFF2-40B4-BE49-F238E27FC236}">
                  <a16:creationId xmlns:a16="http://schemas.microsoft.com/office/drawing/2014/main" id="{2B6C79DB-0F26-A549-AD80-3197BB3F2B48}"/>
                </a:ext>
              </a:extLst>
            </p:cNvPr>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20299469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29EEFE-9034-4167-B789-35176624F776}"/>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FC9AD48E-B466-459D-AD50-CA9D3502129E}"/>
              </a:ext>
            </a:extLst>
          </p:cNvPr>
          <p:cNvSpPr>
            <a:spLocks noGrp="1"/>
          </p:cNvSpPr>
          <p:nvPr>
            <p:ph type="dt" sz="half" idx="10"/>
          </p:nvPr>
        </p:nvSpPr>
        <p:spPr/>
        <p:txBody>
          <a:bodyPr/>
          <a:lstStyle/>
          <a:p>
            <a:fld id="{7021A7F0-2857-4BB0-ABE7-FD9D4410572D}" type="datetimeFigureOut">
              <a:rPr lang="zh-CN" altLang="en-US" smtClean="0"/>
              <a:t>2024/10/18</a:t>
            </a:fld>
            <a:endParaRPr lang="zh-CN" altLang="en-US"/>
          </a:p>
        </p:txBody>
      </p:sp>
      <p:sp>
        <p:nvSpPr>
          <p:cNvPr id="4" name="页脚占位符 3">
            <a:extLst>
              <a:ext uri="{FF2B5EF4-FFF2-40B4-BE49-F238E27FC236}">
                <a16:creationId xmlns:a16="http://schemas.microsoft.com/office/drawing/2014/main" id="{F43F4001-94F9-4CC7-B8B8-931FC160C101}"/>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D28E8CE3-181A-4320-8BC2-69DAD7DE5F5A}"/>
              </a:ext>
            </a:extLst>
          </p:cNvPr>
          <p:cNvSpPr>
            <a:spLocks noGrp="1"/>
          </p:cNvSpPr>
          <p:nvPr>
            <p:ph type="sldNum" sz="quarter" idx="12"/>
          </p:nvPr>
        </p:nvSpPr>
        <p:spPr/>
        <p:txBody>
          <a:bodyPr/>
          <a:lstStyle/>
          <a:p>
            <a:fld id="{FC560244-FBFA-42FA-A5DC-C392AF1883C8}" type="slidenum">
              <a:rPr lang="zh-CN" altLang="en-US" smtClean="0"/>
              <a:t>‹#›</a:t>
            </a:fld>
            <a:endParaRPr lang="zh-CN" altLang="en-US"/>
          </a:p>
        </p:txBody>
      </p:sp>
    </p:spTree>
    <p:extLst>
      <p:ext uri="{BB962C8B-B14F-4D97-AF65-F5344CB8AC3E}">
        <p14:creationId xmlns:p14="http://schemas.microsoft.com/office/powerpoint/2010/main" val="8662297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2"/>
          <p:cNvSpPr>
            <a:spLocks noGrp="1" noChangeArrowheads="1"/>
          </p:cNvSpPr>
          <p:nvPr>
            <p:ph type="ftr" sz="quarter" idx="10"/>
          </p:nvPr>
        </p:nvSpPr>
        <p:spPr>
          <a:ln/>
        </p:spPr>
        <p:txBody>
          <a:bodyPr/>
          <a:lstStyle>
            <a:lvl1pPr>
              <a:defRPr/>
            </a:lvl1pPr>
          </a:lstStyle>
          <a:p>
            <a:pPr>
              <a:defRPr/>
            </a:pPr>
            <a:r>
              <a:rPr lang="en-US" altLang="zh-CN"/>
              <a:t>Computer Network</a:t>
            </a:r>
          </a:p>
        </p:txBody>
      </p:sp>
      <p:sp>
        <p:nvSpPr>
          <p:cNvPr id="3" name="Rectangle 3"/>
          <p:cNvSpPr>
            <a:spLocks noGrp="1" noChangeArrowheads="1"/>
          </p:cNvSpPr>
          <p:nvPr>
            <p:ph type="sldNum" sz="quarter" idx="11"/>
          </p:nvPr>
        </p:nvSpPr>
        <p:spPr>
          <a:ln/>
        </p:spPr>
        <p:txBody>
          <a:bodyPr/>
          <a:lstStyle>
            <a:lvl1pPr>
              <a:defRPr/>
            </a:lvl1pPr>
          </a:lstStyle>
          <a:p>
            <a:pPr>
              <a:defRPr/>
            </a:pPr>
            <a:fld id="{2AAF93DC-1AF2-40C5-A519-3C53F0141A12}" type="slidenum">
              <a:rPr lang="en-US" altLang="zh-CN"/>
              <a:pPr>
                <a:defRPr/>
              </a:pPr>
              <a:t>‹#›</a:t>
            </a:fld>
            <a:endParaRPr lang="en-US" altLang="zh-CN"/>
          </a:p>
        </p:txBody>
      </p:sp>
      <p:sp>
        <p:nvSpPr>
          <p:cNvPr id="4" name="Rectangle 16"/>
          <p:cNvSpPr>
            <a:spLocks noGrp="1" noChangeArrowheads="1"/>
          </p:cNvSpPr>
          <p:nvPr>
            <p:ph type="dt" sz="half" idx="12"/>
          </p:nvPr>
        </p:nvSpPr>
        <p:spPr>
          <a:ln/>
        </p:spPr>
        <p:txBody>
          <a:bodyPr/>
          <a:lstStyle>
            <a:lvl1pPr>
              <a:defRPr/>
            </a:lvl1pPr>
          </a:lstStyle>
          <a:p>
            <a:pPr>
              <a:defRPr/>
            </a:pPr>
            <a:fld id="{F745FD7F-E1E7-4727-BD24-89E1126485D5}" type="datetime1">
              <a:rPr lang="zh-CN" altLang="en-US"/>
              <a:pPr>
                <a:defRPr/>
              </a:pPr>
              <a:t>2024/10/18</a:t>
            </a:fld>
            <a:endParaRPr lang="en-US" altLang="zh-CN"/>
          </a:p>
        </p:txBody>
      </p:sp>
    </p:spTree>
    <p:extLst>
      <p:ext uri="{BB962C8B-B14F-4D97-AF65-F5344CB8AC3E}">
        <p14:creationId xmlns:p14="http://schemas.microsoft.com/office/powerpoint/2010/main" val="2752115680"/>
      </p:ext>
    </p:extLst>
  </p:cSld>
  <p:clrMapOvr>
    <a:masterClrMapping/>
  </p:clrMapOvr>
  <p:transition spd="slow">
    <p:pull dir="ru"/>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2AAAA80D-F069-DE49-8F34-B637A12CB530}"/>
              </a:ext>
            </a:extLst>
          </p:cNvPr>
          <p:cNvSpPr>
            <a:spLocks noGrp="1"/>
          </p:cNvSpPr>
          <p:nvPr>
            <p:ph type="title"/>
          </p:nvPr>
        </p:nvSpPr>
        <p:spPr>
          <a:xfrm>
            <a:off x="1307508" y="365126"/>
            <a:ext cx="8220812" cy="879086"/>
          </a:xfrm>
          <a:prstGeom prst="rect">
            <a:avLst/>
          </a:prstGeom>
        </p:spPr>
        <p:txBody>
          <a:bodyPr vert="horz" lIns="91440" tIns="45720" rIns="91440" bIns="45720" rtlCol="0" anchor="ctr">
            <a:normAutofit/>
          </a:bodyPr>
          <a:lstStyle/>
          <a:p>
            <a:r>
              <a:rPr kumimoji="1" lang="zh-CN" altLang="en-US" dirty="0"/>
              <a:t>单击此处编辑母版标题样式</a:t>
            </a:r>
          </a:p>
        </p:txBody>
      </p:sp>
      <p:sp>
        <p:nvSpPr>
          <p:cNvPr id="3" name="文本占位符 2">
            <a:extLst>
              <a:ext uri="{FF2B5EF4-FFF2-40B4-BE49-F238E27FC236}">
                <a16:creationId xmlns:a16="http://schemas.microsoft.com/office/drawing/2014/main" id="{A2AAAE3F-F071-E445-8B18-8EAF3979328E}"/>
              </a:ext>
            </a:extLst>
          </p:cNvPr>
          <p:cNvSpPr>
            <a:spLocks noGrp="1"/>
          </p:cNvSpPr>
          <p:nvPr>
            <p:ph type="body" idx="1"/>
          </p:nvPr>
        </p:nvSpPr>
        <p:spPr>
          <a:xfrm>
            <a:off x="838200" y="1590270"/>
            <a:ext cx="10515600" cy="4586694"/>
          </a:xfrm>
          <a:prstGeom prst="rect">
            <a:avLst/>
          </a:prstGeom>
        </p:spPr>
        <p:txBody>
          <a:bodyPr vert="horz" lIns="91440" tIns="45720" rIns="91440" bIns="45720" rtlCol="0">
            <a:normAutofit/>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日期占位符 3">
            <a:extLst>
              <a:ext uri="{FF2B5EF4-FFF2-40B4-BE49-F238E27FC236}">
                <a16:creationId xmlns:a16="http://schemas.microsoft.com/office/drawing/2014/main" id="{91E21652-6A28-F54F-98C2-D24C55AD3ED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Microsoft YaHei" panose="020B0503020204020204" pitchFamily="34" charset="-122"/>
                <a:ea typeface="Microsoft YaHei" panose="020B0503020204020204" pitchFamily="34" charset="-122"/>
              </a:defRPr>
            </a:lvl1pPr>
          </a:lstStyle>
          <a:p>
            <a:fld id="{E00C8306-BE8F-E24C-B25D-A6E484FA7A8C}" type="datetime1">
              <a:rPr kumimoji="1" lang="zh-CN" altLang="en-US" smtClean="0"/>
              <a:t>2024/10/18</a:t>
            </a:fld>
            <a:endParaRPr kumimoji="1" lang="zh-CN" altLang="en-US"/>
          </a:p>
        </p:txBody>
      </p:sp>
      <p:sp>
        <p:nvSpPr>
          <p:cNvPr id="5" name="页脚占位符 4">
            <a:extLst>
              <a:ext uri="{FF2B5EF4-FFF2-40B4-BE49-F238E27FC236}">
                <a16:creationId xmlns:a16="http://schemas.microsoft.com/office/drawing/2014/main" id="{DCB9D617-AB6E-774C-A385-AAFEFB9272A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Microsoft YaHei" panose="020B0503020204020204" pitchFamily="34" charset="-122"/>
                <a:ea typeface="Microsoft YaHei" panose="020B0503020204020204" pitchFamily="34" charset="-122"/>
              </a:defRPr>
            </a:lvl1pPr>
          </a:lstStyle>
          <a:p>
            <a:endParaRPr kumimoji="1" lang="zh-CN" altLang="en-US"/>
          </a:p>
        </p:txBody>
      </p:sp>
      <p:sp>
        <p:nvSpPr>
          <p:cNvPr id="6" name="灯片编号占位符 5">
            <a:extLst>
              <a:ext uri="{FF2B5EF4-FFF2-40B4-BE49-F238E27FC236}">
                <a16:creationId xmlns:a16="http://schemas.microsoft.com/office/drawing/2014/main" id="{7F17F525-3365-224F-AAA7-E3B9B30119F2}"/>
              </a:ext>
            </a:extLst>
          </p:cNvPr>
          <p:cNvSpPr>
            <a:spLocks noGrp="1"/>
          </p:cNvSpPr>
          <p:nvPr>
            <p:ph type="sldNum" sz="quarter" idx="4"/>
          </p:nvPr>
        </p:nvSpPr>
        <p:spPr>
          <a:xfrm>
            <a:off x="8610600" y="6356350"/>
            <a:ext cx="3319670" cy="365125"/>
          </a:xfrm>
          <a:prstGeom prst="rect">
            <a:avLst/>
          </a:prstGeom>
        </p:spPr>
        <p:txBody>
          <a:bodyPr vert="horz" lIns="91440" tIns="45720" rIns="91440" bIns="45720" rtlCol="0" anchor="ctr"/>
          <a:lstStyle>
            <a:lvl1pPr algn="r">
              <a:defRPr sz="1200">
                <a:solidFill>
                  <a:schemeClr val="tx1">
                    <a:tint val="75000"/>
                  </a:schemeClr>
                </a:solidFill>
                <a:latin typeface="Microsoft YaHei" panose="020B0503020204020204" pitchFamily="34" charset="-122"/>
                <a:ea typeface="Microsoft YaHei" panose="020B0503020204020204" pitchFamily="34" charset="-122"/>
              </a:defRPr>
            </a:lvl1pPr>
          </a:lstStyle>
          <a:p>
            <a:fld id="{8D4D1E41-7A09-AB4A-A4E1-09765ADA2698}" type="slidenum">
              <a:rPr kumimoji="1" lang="zh-CN" altLang="en-US" smtClean="0"/>
              <a:pPr/>
              <a:t>‹#›</a:t>
            </a:fld>
            <a:endParaRPr kumimoji="1" lang="zh-CN" altLang="en-US"/>
          </a:p>
        </p:txBody>
      </p:sp>
    </p:spTree>
    <p:extLst>
      <p:ext uri="{BB962C8B-B14F-4D97-AF65-F5344CB8AC3E}">
        <p14:creationId xmlns:p14="http://schemas.microsoft.com/office/powerpoint/2010/main" val="22665348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hdr="0" ftr="0" dt="0"/>
  <p:txStyles>
    <p:titleStyle>
      <a:lvl1pPr algn="l" defTabSz="914400" rtl="0" eaLnBrk="1" latinLnBrk="0" hangingPunct="1">
        <a:lnSpc>
          <a:spcPct val="90000"/>
        </a:lnSpc>
        <a:spcBef>
          <a:spcPct val="0"/>
        </a:spcBef>
        <a:buNone/>
        <a:defRPr sz="4400" kern="1200">
          <a:solidFill>
            <a:schemeClr val="tx1"/>
          </a:solidFill>
          <a:latin typeface="Microsoft YaHei" panose="020B0503020204020204" pitchFamily="34" charset="-122"/>
          <a:ea typeface="Microsoft YaHei" panose="020B0503020204020204" pitchFamily="34" charset="-122"/>
          <a:cs typeface="+mj-cs"/>
        </a:defRPr>
      </a:lvl1pPr>
    </p:titleStyle>
    <p:bodyStyle>
      <a:lvl1pPr marL="228600" indent="-228600" algn="l" defTabSz="914400" rtl="0" eaLnBrk="1" latinLnBrk="0" hangingPunct="1">
        <a:lnSpc>
          <a:spcPct val="100000"/>
        </a:lnSpc>
        <a:spcBef>
          <a:spcPts val="600"/>
        </a:spcBef>
        <a:buFont typeface="Arial" panose="020B0604020202020204" pitchFamily="34" charset="0"/>
        <a:buChar char="•"/>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hyperlink" Target="https://en.wikipedia.org/wiki/Session_layer" TargetMode="External"/><Relationship Id="rId13" Type="http://schemas.openxmlformats.org/officeDocument/2006/relationships/hyperlink" Target="https://en.wikipedia.org/wiki/Data_link_layer" TargetMode="External"/><Relationship Id="rId3" Type="http://schemas.openxmlformats.org/officeDocument/2006/relationships/hyperlink" Target="https://en.wikipedia.org/wiki/OSI_model#cite_note-20" TargetMode="External"/><Relationship Id="rId7" Type="http://schemas.openxmlformats.org/officeDocument/2006/relationships/hyperlink" Target="https://en.wikipedia.org/wiki/Presentation_layer" TargetMode="External"/><Relationship Id="rId12" Type="http://schemas.openxmlformats.org/officeDocument/2006/relationships/hyperlink" Target="https://en.wikipedia.org/wiki/Network_packet" TargetMode="External"/><Relationship Id="rId2" Type="http://schemas.openxmlformats.org/officeDocument/2006/relationships/hyperlink" Target="https://en.wikipedia.org/wiki/Protocol_data_unit" TargetMode="External"/><Relationship Id="rId1" Type="http://schemas.openxmlformats.org/officeDocument/2006/relationships/slideLayout" Target="../slideLayouts/slideLayout7.xml"/><Relationship Id="rId6" Type="http://schemas.openxmlformats.org/officeDocument/2006/relationships/hyperlink" Target="https://en.wikipedia.org/wiki/API" TargetMode="External"/><Relationship Id="rId11" Type="http://schemas.openxmlformats.org/officeDocument/2006/relationships/hyperlink" Target="https://en.wikipedia.org/wiki/Network_layer" TargetMode="External"/><Relationship Id="rId5" Type="http://schemas.openxmlformats.org/officeDocument/2006/relationships/hyperlink" Target="https://en.wikipedia.org/wiki/Data_(computing)" TargetMode="External"/><Relationship Id="rId15" Type="http://schemas.openxmlformats.org/officeDocument/2006/relationships/hyperlink" Target="https://en.wikipedia.org/wiki/Physical_layer" TargetMode="External"/><Relationship Id="rId10" Type="http://schemas.openxmlformats.org/officeDocument/2006/relationships/hyperlink" Target="https://en.wikipedia.org/wiki/Transport_layer" TargetMode="External"/><Relationship Id="rId4" Type="http://schemas.openxmlformats.org/officeDocument/2006/relationships/hyperlink" Target="https://en.wikipedia.org/wiki/Application_layer" TargetMode="External"/><Relationship Id="rId9" Type="http://schemas.openxmlformats.org/officeDocument/2006/relationships/hyperlink" Target="https://en.wikipedia.org/wiki/Session_(computer_science)" TargetMode="External"/><Relationship Id="rId14" Type="http://schemas.openxmlformats.org/officeDocument/2006/relationships/hyperlink" Target="https://en.wikipedia.org/wiki/Frame_(networking)"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4.emf"/></Relationships>
</file>

<file path=ppt/slides/_rels/slide5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6.xml"/><Relationship Id="rId1" Type="http://schemas.openxmlformats.org/officeDocument/2006/relationships/vmlDrawing" Target="../drawings/vmlDrawing2.vml"/><Relationship Id="rId4" Type="http://schemas.openxmlformats.org/officeDocument/2006/relationships/image" Target="../media/image17.emf"/></Relationships>
</file>

<file path=ppt/slides/_rels/slide6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6.xml"/><Relationship Id="rId1" Type="http://schemas.openxmlformats.org/officeDocument/2006/relationships/vmlDrawing" Target="../drawings/vmlDrawing3.vml"/><Relationship Id="rId4" Type="http://schemas.openxmlformats.org/officeDocument/2006/relationships/image" Target="../media/image17.emf"/></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18.emf"/></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7.xml"/><Relationship Id="rId1" Type="http://schemas.openxmlformats.org/officeDocument/2006/relationships/vmlDrawing" Target="../drawings/vmlDrawing5.vml"/><Relationship Id="rId4" Type="http://schemas.openxmlformats.org/officeDocument/2006/relationships/image" Target="../media/image28.emf"/></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7.xml"/><Relationship Id="rId1" Type="http://schemas.openxmlformats.org/officeDocument/2006/relationships/vmlDrawing" Target="../drawings/vmlDrawing6.vml"/><Relationship Id="rId4" Type="http://schemas.openxmlformats.org/officeDocument/2006/relationships/image" Target="../media/image31.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7.vml"/><Relationship Id="rId5" Type="http://schemas.openxmlformats.org/officeDocument/2006/relationships/image" Target="../media/image52.png"/><Relationship Id="rId4" Type="http://schemas.openxmlformats.org/officeDocument/2006/relationships/image" Target="../media/image51.emf"/></Relationships>
</file>

<file path=ppt/slides/_rels/slide11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7.xml"/><Relationship Id="rId1" Type="http://schemas.openxmlformats.org/officeDocument/2006/relationships/vmlDrawing" Target="../drawings/vmlDrawing8.vml"/><Relationship Id="rId4" Type="http://schemas.openxmlformats.org/officeDocument/2006/relationships/image" Target="../media/image53.emf"/></Relationships>
</file>

<file path=ppt/slides/_rels/slide117.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BF4557-9C48-9D4D-A8AC-E1BCC4493B84}"/>
              </a:ext>
            </a:extLst>
          </p:cNvPr>
          <p:cNvSpPr>
            <a:spLocks noGrp="1"/>
          </p:cNvSpPr>
          <p:nvPr>
            <p:ph type="ctrTitle"/>
          </p:nvPr>
        </p:nvSpPr>
        <p:spPr>
          <a:xfrm>
            <a:off x="1524000" y="891254"/>
            <a:ext cx="9144000" cy="2002674"/>
          </a:xfrm>
        </p:spPr>
        <p:txBody>
          <a:bodyPr/>
          <a:lstStyle/>
          <a:p>
            <a:r>
              <a:rPr kumimoji="1" lang="zh-CN" altLang="en-US" dirty="0"/>
              <a:t>第三章 数据据链路层基础</a:t>
            </a:r>
          </a:p>
        </p:txBody>
      </p:sp>
      <p:sp>
        <p:nvSpPr>
          <p:cNvPr id="3" name="副标题 2">
            <a:extLst>
              <a:ext uri="{FF2B5EF4-FFF2-40B4-BE49-F238E27FC236}">
                <a16:creationId xmlns:a16="http://schemas.microsoft.com/office/drawing/2014/main" id="{1BAADDAC-3DB3-ED4C-BCFE-CFA6839907EE}"/>
              </a:ext>
            </a:extLst>
          </p:cNvPr>
          <p:cNvSpPr>
            <a:spLocks noGrp="1"/>
          </p:cNvSpPr>
          <p:nvPr>
            <p:ph type="subTitle" idx="1"/>
          </p:nvPr>
        </p:nvSpPr>
        <p:spPr>
          <a:xfrm>
            <a:off x="1524000" y="3727942"/>
            <a:ext cx="9144000" cy="1657977"/>
          </a:xfrm>
        </p:spPr>
        <p:txBody>
          <a:bodyPr>
            <a:normAutofit/>
          </a:bodyPr>
          <a:lstStyle/>
          <a:p>
            <a:pPr>
              <a:lnSpc>
                <a:spcPct val="150000"/>
              </a:lnSpc>
            </a:pPr>
            <a:r>
              <a:rPr kumimoji="1" lang="zh-CN" altLang="en-US" sz="3200" dirty="0"/>
              <a:t>授课</a:t>
            </a:r>
            <a:r>
              <a:rPr kumimoji="1" lang="zh-CN" altLang="en-US" sz="3200"/>
              <a:t>教师：邢焕来</a:t>
            </a:r>
            <a:endParaRPr kumimoji="1" lang="en-US" altLang="zh-CN" sz="3200" dirty="0"/>
          </a:p>
        </p:txBody>
      </p:sp>
      <p:sp>
        <p:nvSpPr>
          <p:cNvPr id="4" name="TextBox 3">
            <a:extLst>
              <a:ext uri="{FF2B5EF4-FFF2-40B4-BE49-F238E27FC236}">
                <a16:creationId xmlns:a16="http://schemas.microsoft.com/office/drawing/2014/main" id="{5229C29C-2FA3-175D-3F47-A2BD565B9084}"/>
              </a:ext>
            </a:extLst>
          </p:cNvPr>
          <p:cNvSpPr txBox="1"/>
          <p:nvPr/>
        </p:nvSpPr>
        <p:spPr>
          <a:xfrm>
            <a:off x="2914651" y="6177069"/>
            <a:ext cx="7143749" cy="369332"/>
          </a:xfrm>
          <a:prstGeom prst="rect">
            <a:avLst/>
          </a:prstGeom>
          <a:noFill/>
        </p:spPr>
        <p:txBody>
          <a:bodyPr wrap="square">
            <a:spAutoFit/>
          </a:bodyPr>
          <a:lstStyle/>
          <a:p>
            <a:r>
              <a:rPr kumimoji="1" lang="zh-CN" altLang="en-US" dirty="0"/>
              <a:t>主要内容来自：计算机网络教案社区，版权归原作者所有，有增删改</a:t>
            </a:r>
            <a:endParaRPr lang="en-CN" dirty="0"/>
          </a:p>
        </p:txBody>
      </p:sp>
    </p:spTree>
    <p:extLst>
      <p:ext uri="{BB962C8B-B14F-4D97-AF65-F5344CB8AC3E}">
        <p14:creationId xmlns:p14="http://schemas.microsoft.com/office/powerpoint/2010/main" val="7360579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DCC7AC-475E-1E4C-8CD6-1AECBEC28035}"/>
              </a:ext>
            </a:extLst>
          </p:cNvPr>
          <p:cNvSpPr>
            <a:spLocks noGrp="1"/>
          </p:cNvSpPr>
          <p:nvPr>
            <p:ph type="title"/>
          </p:nvPr>
        </p:nvSpPr>
        <p:spPr/>
        <p:txBody>
          <a:bodyPr/>
          <a:lstStyle/>
          <a:p>
            <a:r>
              <a:rPr lang="zh-CN" altLang="en-US" dirty="0"/>
              <a:t>本章目标</a:t>
            </a:r>
            <a:endParaRPr kumimoji="1" lang="zh-CN" altLang="en-US" dirty="0"/>
          </a:p>
        </p:txBody>
      </p:sp>
      <p:sp>
        <p:nvSpPr>
          <p:cNvPr id="3" name="内容占位符 2">
            <a:extLst>
              <a:ext uri="{FF2B5EF4-FFF2-40B4-BE49-F238E27FC236}">
                <a16:creationId xmlns:a16="http://schemas.microsoft.com/office/drawing/2014/main" id="{ED1732F0-50F7-8947-81D6-CBBAE8232DE9}"/>
              </a:ext>
            </a:extLst>
          </p:cNvPr>
          <p:cNvSpPr>
            <a:spLocks noGrp="1"/>
          </p:cNvSpPr>
          <p:nvPr>
            <p:ph idx="1"/>
          </p:nvPr>
        </p:nvSpPr>
        <p:spPr/>
        <p:txBody>
          <a:bodyPr>
            <a:normAutofit/>
          </a:bodyPr>
          <a:lstStyle/>
          <a:p>
            <a:pPr>
              <a:lnSpc>
                <a:spcPct val="130000"/>
              </a:lnSpc>
            </a:pPr>
            <a:r>
              <a:rPr kumimoji="1" lang="zh-CN" altLang="en-US" sz="2600" dirty="0"/>
              <a:t>了解数据链路层在网络体系结构中的位置及基本功能和服务</a:t>
            </a:r>
          </a:p>
          <a:p>
            <a:pPr>
              <a:lnSpc>
                <a:spcPct val="130000"/>
              </a:lnSpc>
            </a:pPr>
            <a:r>
              <a:rPr kumimoji="1" lang="zh-CN" altLang="en-US" sz="2600" dirty="0">
                <a:solidFill>
                  <a:srgbClr val="C00000"/>
                </a:solidFill>
              </a:rPr>
              <a:t>掌握差错检测和纠正的基本原理和典型的编码方法（核心内容）</a:t>
            </a:r>
          </a:p>
          <a:p>
            <a:pPr>
              <a:lnSpc>
                <a:spcPct val="130000"/>
              </a:lnSpc>
            </a:pPr>
            <a:r>
              <a:rPr kumimoji="1" lang="zh-CN" altLang="en-US" sz="2600" dirty="0">
                <a:solidFill>
                  <a:srgbClr val="C00000"/>
                </a:solidFill>
              </a:rPr>
              <a:t>掌握无错信道和有错信道上停等协议的设计和实现方法（核心内容）</a:t>
            </a:r>
          </a:p>
          <a:p>
            <a:pPr>
              <a:lnSpc>
                <a:spcPct val="130000"/>
              </a:lnSpc>
            </a:pPr>
            <a:r>
              <a:rPr lang="zh-CN" altLang="en-US" sz="2600" dirty="0"/>
              <a:t>理解</a:t>
            </a:r>
            <a:r>
              <a:rPr lang="zh-CN" altLang="zh-CN" sz="2600" dirty="0"/>
              <a:t>停等协议的性能问题及滑动窗口协议</a:t>
            </a:r>
            <a:r>
              <a:rPr lang="zh-CN" altLang="en-US" sz="2600" dirty="0"/>
              <a:t>的</a:t>
            </a:r>
            <a:r>
              <a:rPr lang="zh-CN" altLang="zh-CN" sz="2600" dirty="0"/>
              <a:t>基本思想</a:t>
            </a:r>
            <a:endParaRPr lang="en-US" altLang="zh-CN" sz="2600" dirty="0"/>
          </a:p>
          <a:p>
            <a:pPr>
              <a:lnSpc>
                <a:spcPct val="130000"/>
              </a:lnSpc>
            </a:pPr>
            <a:r>
              <a:rPr kumimoji="1" lang="zh-CN" altLang="en-US" sz="2600" dirty="0">
                <a:solidFill>
                  <a:srgbClr val="C00000"/>
                </a:solidFill>
              </a:rPr>
              <a:t>掌握</a:t>
            </a:r>
            <a:r>
              <a:rPr kumimoji="1" lang="zh-CN" altLang="zh-CN" sz="2600" dirty="0">
                <a:solidFill>
                  <a:srgbClr val="C00000"/>
                </a:solidFill>
              </a:rPr>
              <a:t>回退</a:t>
            </a:r>
            <a:r>
              <a:rPr kumimoji="1" lang="en-US" altLang="zh-CN" sz="2600" dirty="0">
                <a:solidFill>
                  <a:srgbClr val="C00000"/>
                </a:solidFill>
              </a:rPr>
              <a:t>N</a:t>
            </a:r>
            <a:r>
              <a:rPr kumimoji="1" lang="zh-CN" altLang="en-US" sz="2600" dirty="0">
                <a:solidFill>
                  <a:srgbClr val="C00000"/>
                </a:solidFill>
              </a:rPr>
              <a:t>和选择重传两种典型滑动窗口协议的工作机制（核心内容）</a:t>
            </a:r>
          </a:p>
          <a:p>
            <a:pPr>
              <a:lnSpc>
                <a:spcPct val="130000"/>
              </a:lnSpc>
            </a:pPr>
            <a:r>
              <a:rPr lang="zh-CN" altLang="en-US" sz="2600" dirty="0"/>
              <a:t>了解</a:t>
            </a:r>
            <a:r>
              <a:rPr lang="zh-CN" altLang="zh-CN" sz="2600" dirty="0"/>
              <a:t>点到点链路层协议</a:t>
            </a:r>
            <a:r>
              <a:rPr lang="en-US" altLang="zh-CN" sz="2600" dirty="0"/>
              <a:t>PPP</a:t>
            </a:r>
            <a:r>
              <a:rPr lang="zh-CN" altLang="en-US" sz="2600" dirty="0"/>
              <a:t>与</a:t>
            </a:r>
            <a:r>
              <a:rPr lang="en-US" altLang="zh-CN" sz="2600" dirty="0" err="1"/>
              <a:t>PPPoE</a:t>
            </a:r>
            <a:endParaRPr lang="en-US" altLang="zh-CN" sz="2600" dirty="0"/>
          </a:p>
        </p:txBody>
      </p:sp>
      <p:sp>
        <p:nvSpPr>
          <p:cNvPr id="4" name="灯片编号占位符 3">
            <a:extLst>
              <a:ext uri="{FF2B5EF4-FFF2-40B4-BE49-F238E27FC236}">
                <a16:creationId xmlns:a16="http://schemas.microsoft.com/office/drawing/2014/main" id="{B09265E6-1613-5248-876E-1FC70865DEDD}"/>
              </a:ext>
            </a:extLst>
          </p:cNvPr>
          <p:cNvSpPr>
            <a:spLocks noGrp="1"/>
          </p:cNvSpPr>
          <p:nvPr>
            <p:ph type="sldNum" sz="quarter" idx="12"/>
          </p:nvPr>
        </p:nvSpPr>
        <p:spPr/>
        <p:txBody>
          <a:bodyPr/>
          <a:lstStyle/>
          <a:p>
            <a:fld id="{8D4D1E41-7A09-AB4A-A4E1-09765ADA2698}" type="slidenum">
              <a:rPr kumimoji="1" lang="zh-CN" altLang="en-US" smtClean="0"/>
              <a:t>2</a:t>
            </a:fld>
            <a:endParaRPr kumimoji="1" lang="zh-CN" altLang="en-US" dirty="0"/>
          </a:p>
        </p:txBody>
      </p:sp>
    </p:spTree>
    <p:extLst>
      <p:ext uri="{BB962C8B-B14F-4D97-AF65-F5344CB8AC3E}">
        <p14:creationId xmlns:p14="http://schemas.microsoft.com/office/powerpoint/2010/main" val="31416991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3"/>
          <p:cNvSpPr>
            <a:spLocks noGrp="1"/>
          </p:cNvSpPr>
          <p:nvPr>
            <p:ph type="ftr" sz="quarter" idx="10"/>
          </p:nvPr>
        </p:nvSpPr>
        <p:spPr/>
        <p:txBody>
          <a:bodyPr/>
          <a:lstStyle/>
          <a:p>
            <a:pPr>
              <a:defRPr/>
            </a:pPr>
            <a:r>
              <a:rPr lang="en-US" altLang="zh-CN"/>
              <a:t>Computer Network</a:t>
            </a:r>
          </a:p>
        </p:txBody>
      </p:sp>
      <p:sp>
        <p:nvSpPr>
          <p:cNvPr id="9219" name="灯片编号占位符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D14DD85B-61AE-4611-A13E-475DE10FFB1E}" type="slidenum">
              <a:rPr lang="en-US" altLang="zh-CN" sz="1200">
                <a:latin typeface="Arial Black" panose="020B0A04020102020204" pitchFamily="34" charset="0"/>
              </a:rPr>
              <a:pPr>
                <a:spcBef>
                  <a:spcPct val="0"/>
                </a:spcBef>
                <a:buClrTx/>
                <a:buSzTx/>
                <a:buFontTx/>
                <a:buNone/>
              </a:pPr>
              <a:t>3</a:t>
            </a:fld>
            <a:endParaRPr lang="en-US" altLang="zh-CN" sz="1200">
              <a:latin typeface="Arial Black" panose="020B0A04020102020204" pitchFamily="34" charset="0"/>
            </a:endParaRPr>
          </a:p>
        </p:txBody>
      </p:sp>
      <p:sp>
        <p:nvSpPr>
          <p:cNvPr id="7" name="日期占位符 5"/>
          <p:cNvSpPr>
            <a:spLocks noGrp="1"/>
          </p:cNvSpPr>
          <p:nvPr>
            <p:ph type="dt" sz="quarter" idx="12"/>
          </p:nvPr>
        </p:nvSpPr>
        <p:spPr/>
        <p:txBody>
          <a:bodyPr/>
          <a:lstStyle/>
          <a:p>
            <a:pPr>
              <a:defRPr/>
            </a:pPr>
            <a:fld id="{98187C2B-2CB6-40FA-B599-48522DDED6B8}" type="datetime1">
              <a:rPr lang="zh-CN" altLang="en-US"/>
              <a:pPr>
                <a:defRPr/>
              </a:pPr>
              <a:t>2024/10/18</a:t>
            </a:fld>
            <a:endParaRPr lang="en-US" altLang="zh-CN"/>
          </a:p>
        </p:txBody>
      </p:sp>
      <p:sp>
        <p:nvSpPr>
          <p:cNvPr id="831491" name="Text Box 3"/>
          <p:cNvSpPr txBox="1">
            <a:spLocks noChangeArrowheads="1"/>
          </p:cNvSpPr>
          <p:nvPr/>
        </p:nvSpPr>
        <p:spPr bwMode="auto">
          <a:xfrm>
            <a:off x="2424114" y="1624013"/>
            <a:ext cx="6948487" cy="476250"/>
          </a:xfrm>
          <a:prstGeom prst="rect">
            <a:avLst/>
          </a:prstGeom>
          <a:noFill/>
          <a:ln>
            <a:noFill/>
          </a:ln>
          <a:effectLst/>
        </p:spPr>
        <p:txBody>
          <a:bodyPr>
            <a:spAutoFit/>
          </a:bodyPr>
          <a:lstStyle/>
          <a:p>
            <a:pPr eaLnBrk="1" hangingPunct="1">
              <a:lnSpc>
                <a:spcPct val="90000"/>
              </a:lnSpc>
              <a:spcBef>
                <a:spcPct val="50000"/>
              </a:spcBef>
              <a:buClr>
                <a:schemeClr val="tx1"/>
              </a:buClr>
              <a:buSzPct val="80000"/>
              <a:buFont typeface="Wingdings" pitchFamily="2" charset="2"/>
              <a:buNone/>
              <a:defRPr/>
            </a:pPr>
            <a:r>
              <a:rPr kumimoji="1" lang="en-US" altLang="zh-CN" sz="2800" dirty="0">
                <a:solidFill>
                  <a:srgbClr val="FF0000"/>
                </a:solidFill>
                <a:effectLst>
                  <a:outerShdw blurRad="38100" dist="38100" dir="2700000" algn="tl">
                    <a:srgbClr val="C0C0C0"/>
                  </a:outerShdw>
                </a:effectLst>
                <a:latin typeface="Verdana" pitchFamily="34" charset="0"/>
              </a:rPr>
              <a:t>OSI</a:t>
            </a:r>
            <a:r>
              <a:rPr kumimoji="1" lang="zh-CN" altLang="en-US" sz="2800" b="1" dirty="0">
                <a:solidFill>
                  <a:srgbClr val="0000FF"/>
                </a:solidFill>
                <a:effectLst>
                  <a:outerShdw blurRad="38100" dist="38100" dir="2700000" algn="tl">
                    <a:srgbClr val="C0C0C0"/>
                  </a:outerShdw>
                </a:effectLst>
                <a:latin typeface="Verdana" pitchFamily="34" charset="0"/>
              </a:rPr>
              <a:t>数据链路层的作用</a:t>
            </a:r>
            <a:r>
              <a:rPr kumimoji="1" lang="zh-CN" altLang="en-US" sz="2800" dirty="0">
                <a:solidFill>
                  <a:srgbClr val="0000FF"/>
                </a:solidFill>
                <a:effectLst>
                  <a:outerShdw blurRad="38100" dist="38100" dir="2700000" algn="tl">
                    <a:srgbClr val="C0C0C0"/>
                  </a:outerShdw>
                </a:effectLst>
                <a:latin typeface="Verdana" pitchFamily="34" charset="0"/>
                <a:ea typeface="宋体" pitchFamily="2" charset="-122"/>
              </a:rPr>
              <a:t>：</a:t>
            </a:r>
            <a:r>
              <a:rPr kumimoji="1" lang="zh-CN" altLang="en-US" sz="2400" b="1" dirty="0">
                <a:effectLst>
                  <a:outerShdw blurRad="38100" dist="38100" dir="2700000" algn="tl">
                    <a:srgbClr val="C0C0C0"/>
                  </a:outerShdw>
                </a:effectLst>
                <a:latin typeface="Verdana" pitchFamily="34" charset="0"/>
              </a:rPr>
              <a:t>点到点的可靠传输</a:t>
            </a:r>
          </a:p>
        </p:txBody>
      </p:sp>
      <p:pic>
        <p:nvPicPr>
          <p:cNvPr id="2" name="图片 1"/>
          <p:cNvPicPr>
            <a:picLocks noChangeAspect="1"/>
          </p:cNvPicPr>
          <p:nvPr/>
        </p:nvPicPr>
        <p:blipFill>
          <a:blip r:embed="rId3"/>
          <a:stretch>
            <a:fillRect/>
          </a:stretch>
        </p:blipFill>
        <p:spPr>
          <a:xfrm>
            <a:off x="1751172" y="2332832"/>
            <a:ext cx="8719211" cy="3760464"/>
          </a:xfrm>
          <a:prstGeom prst="rect">
            <a:avLst/>
          </a:prstGeom>
        </p:spPr>
      </p:pic>
      <p:sp>
        <p:nvSpPr>
          <p:cNvPr id="4" name="Title 3">
            <a:extLst>
              <a:ext uri="{FF2B5EF4-FFF2-40B4-BE49-F238E27FC236}">
                <a16:creationId xmlns:a16="http://schemas.microsoft.com/office/drawing/2014/main" id="{5C5BEFB7-64F1-2A59-7F8B-334C6EE7276C}"/>
              </a:ext>
            </a:extLst>
          </p:cNvPr>
          <p:cNvSpPr>
            <a:spLocks noGrp="1"/>
          </p:cNvSpPr>
          <p:nvPr>
            <p:ph type="title"/>
          </p:nvPr>
        </p:nvSpPr>
        <p:spPr/>
        <p:txBody>
          <a:bodyPr/>
          <a:lstStyle/>
          <a:p>
            <a:endParaRPr lang="en-CN" dirty="0"/>
          </a:p>
        </p:txBody>
      </p:sp>
    </p:spTree>
  </p:cSld>
  <p:clrMapOvr>
    <a:masterClrMapping/>
  </p:clrMapOvr>
  <p:transition>
    <p:random/>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1"/>
          <p:cNvSpPr>
            <a:spLocks noGrp="1"/>
          </p:cNvSpPr>
          <p:nvPr>
            <p:ph type="ftr" sz="quarter" idx="10"/>
          </p:nvPr>
        </p:nvSpPr>
        <p:spPr/>
        <p:txBody>
          <a:bodyPr/>
          <a:lstStyle/>
          <a:p>
            <a:pPr>
              <a:defRPr/>
            </a:pPr>
            <a:r>
              <a:rPr lang="en-US" altLang="zh-CN"/>
              <a:t>Computer Network</a:t>
            </a:r>
          </a:p>
        </p:txBody>
      </p:sp>
      <p:sp>
        <p:nvSpPr>
          <p:cNvPr id="11267" name="灯片编号占位符 2"/>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AF19DA75-CBDB-4343-8A8B-8FBECB6609EC}" type="slidenum">
              <a:rPr lang="en-US" altLang="zh-CN" sz="1200">
                <a:latin typeface="Arial Black" panose="020B0A04020102020204" pitchFamily="34" charset="0"/>
              </a:rPr>
              <a:pPr>
                <a:spcBef>
                  <a:spcPct val="0"/>
                </a:spcBef>
                <a:buClrTx/>
                <a:buSzTx/>
                <a:buFontTx/>
                <a:buNone/>
              </a:pPr>
              <a:t>4</a:t>
            </a:fld>
            <a:endParaRPr lang="en-US" altLang="zh-CN" sz="1200">
              <a:latin typeface="Arial Black" panose="020B0A04020102020204" pitchFamily="34" charset="0"/>
            </a:endParaRPr>
          </a:p>
        </p:txBody>
      </p:sp>
      <p:sp>
        <p:nvSpPr>
          <p:cNvPr id="6" name="日期占位符 3"/>
          <p:cNvSpPr>
            <a:spLocks noGrp="1"/>
          </p:cNvSpPr>
          <p:nvPr>
            <p:ph type="dt" sz="quarter" idx="12"/>
          </p:nvPr>
        </p:nvSpPr>
        <p:spPr/>
        <p:txBody>
          <a:bodyPr/>
          <a:lstStyle/>
          <a:p>
            <a:pPr>
              <a:defRPr/>
            </a:pPr>
            <a:fld id="{F75AF8A1-95CB-4462-BF0C-CF3F4BB1ECA8}" type="datetime1">
              <a:rPr lang="zh-CN" altLang="en-US"/>
              <a:pPr>
                <a:defRPr/>
              </a:pPr>
              <a:t>2024/10/18</a:t>
            </a:fld>
            <a:endParaRPr lang="en-US" altLang="zh-CN"/>
          </a:p>
        </p:txBody>
      </p:sp>
      <p:sp>
        <p:nvSpPr>
          <p:cNvPr id="833538" name="Rectangle 2"/>
          <p:cNvSpPr>
            <a:spLocks noChangeArrowheads="1"/>
          </p:cNvSpPr>
          <p:nvPr/>
        </p:nvSpPr>
        <p:spPr bwMode="auto">
          <a:xfrm>
            <a:off x="2209801" y="1536700"/>
            <a:ext cx="7847013" cy="4413250"/>
          </a:xfrm>
          <a:prstGeom prst="rect">
            <a:avLst/>
          </a:prstGeom>
          <a:noFill/>
          <a:ln>
            <a:noFill/>
          </a:ln>
          <a:effectLst/>
        </p:spPr>
        <p:txBody>
          <a:bodyPr>
            <a:spAutoFit/>
          </a:bodyPr>
          <a:lstStyle/>
          <a:p>
            <a:pPr eaLnBrk="1" hangingPunct="1">
              <a:lnSpc>
                <a:spcPct val="120000"/>
              </a:lnSpc>
              <a:spcBef>
                <a:spcPct val="15000"/>
              </a:spcBef>
              <a:buClr>
                <a:schemeClr val="tx1"/>
              </a:buClr>
              <a:buSzPct val="80000"/>
              <a:buFont typeface="Wingdings" pitchFamily="2" charset="2"/>
              <a:buNone/>
              <a:defRPr/>
            </a:pPr>
            <a:r>
              <a:rPr kumimoji="1" lang="en-US" altLang="zh-CN" sz="2400" b="1" dirty="0">
                <a:solidFill>
                  <a:srgbClr val="0000FF"/>
                </a:solidFill>
                <a:latin typeface="Verdana" pitchFamily="34" charset="0"/>
              </a:rPr>
              <a:t>     </a:t>
            </a:r>
            <a:r>
              <a:rPr kumimoji="1" lang="en-US" altLang="zh-CN" sz="2400" dirty="0">
                <a:latin typeface="Verdana" pitchFamily="34" charset="0"/>
              </a:rPr>
              <a:t>OSI</a:t>
            </a:r>
            <a:r>
              <a:rPr kumimoji="1" lang="zh-CN" altLang="en-US" sz="2400" b="1" dirty="0">
                <a:latin typeface="Verdana" pitchFamily="34" charset="0"/>
              </a:rPr>
              <a:t>数据链路层协议，</a:t>
            </a:r>
            <a:r>
              <a:rPr kumimoji="1" lang="zh-CN" altLang="en-US" sz="2400" b="1" dirty="0">
                <a:solidFill>
                  <a:srgbClr val="0000FF"/>
                </a:solidFill>
                <a:latin typeface="Verdana" pitchFamily="34" charset="0"/>
              </a:rPr>
              <a:t>在不可靠的物理链路上实现可靠的传输</a:t>
            </a:r>
            <a:r>
              <a:rPr lang="en-US" altLang="zh-CN" sz="2400" dirty="0">
                <a:solidFill>
                  <a:srgbClr val="FF3300"/>
                </a:solidFill>
                <a:effectLst>
                  <a:outerShdw blurRad="38100" dist="38100" dir="2700000" algn="tl">
                    <a:srgbClr val="C0C0C0"/>
                  </a:outerShdw>
                </a:effectLst>
                <a:latin typeface="Arial" charset="0"/>
              </a:rPr>
              <a:t>(</a:t>
            </a:r>
            <a:r>
              <a:rPr lang="zh-CN" altLang="en-US" sz="2400" dirty="0">
                <a:solidFill>
                  <a:srgbClr val="FF3300"/>
                </a:solidFill>
                <a:effectLst>
                  <a:outerShdw blurRad="38100" dist="38100" dir="2700000" algn="tl">
                    <a:srgbClr val="C0C0C0"/>
                  </a:outerShdw>
                </a:effectLst>
                <a:latin typeface="Arial" charset="0"/>
              </a:rPr>
              <a:t>无差错、无丢失、无重复、按顺序</a:t>
            </a:r>
            <a:r>
              <a:rPr lang="en-US" altLang="zh-CN" sz="2400" dirty="0">
                <a:solidFill>
                  <a:srgbClr val="FF3300"/>
                </a:solidFill>
                <a:effectLst>
                  <a:outerShdw blurRad="38100" dist="38100" dir="2700000" algn="tl">
                    <a:srgbClr val="C0C0C0"/>
                  </a:outerShdw>
                </a:effectLst>
                <a:latin typeface="Arial" charset="0"/>
              </a:rPr>
              <a:t>)</a:t>
            </a:r>
            <a:r>
              <a:rPr kumimoji="1" lang="en-US" altLang="zh-CN" dirty="0">
                <a:latin typeface="Arial" charset="0"/>
              </a:rPr>
              <a:t> </a:t>
            </a:r>
            <a:r>
              <a:rPr kumimoji="1" lang="en-US" altLang="zh-CN" sz="2400" b="1" dirty="0">
                <a:solidFill>
                  <a:srgbClr val="0000FF"/>
                </a:solidFill>
                <a:latin typeface="Verdana" pitchFamily="34" charset="0"/>
              </a:rPr>
              <a:t>:</a:t>
            </a:r>
            <a:endParaRPr kumimoji="1" lang="zh-CN" altLang="en-US" sz="2400" b="1" dirty="0">
              <a:solidFill>
                <a:srgbClr val="0000FF"/>
              </a:solidFill>
              <a:latin typeface="Verdana" pitchFamily="34" charset="0"/>
            </a:endParaRPr>
          </a:p>
          <a:p>
            <a:pPr marL="342900" indent="-342900" eaLnBrk="1" hangingPunct="1">
              <a:lnSpc>
                <a:spcPct val="120000"/>
              </a:lnSpc>
              <a:spcBef>
                <a:spcPct val="15000"/>
              </a:spcBef>
              <a:buClr>
                <a:schemeClr val="tx1"/>
              </a:buClr>
              <a:buSzPct val="80000"/>
              <a:buFont typeface="Wingdings" panose="05000000000000000000" pitchFamily="2" charset="2"/>
              <a:buChar char="ü"/>
              <a:defRPr/>
            </a:pPr>
            <a:r>
              <a:rPr kumimoji="1" lang="zh-CN" altLang="en-US" sz="2400" b="1" dirty="0">
                <a:latin typeface="Verdana" pitchFamily="34" charset="0"/>
              </a:rPr>
              <a:t> </a:t>
            </a:r>
            <a:r>
              <a:rPr kumimoji="1" lang="zh-CN" altLang="en-US" sz="2400" b="1" dirty="0">
                <a:solidFill>
                  <a:srgbClr val="0000FF"/>
                </a:solidFill>
                <a:latin typeface="Verdana" pitchFamily="34" charset="0"/>
              </a:rPr>
              <a:t>数据成帧</a:t>
            </a:r>
            <a:r>
              <a:rPr kumimoji="1" lang="zh-CN" altLang="en-US" sz="2400" dirty="0">
                <a:solidFill>
                  <a:srgbClr val="0000FF"/>
                </a:solidFill>
                <a:latin typeface="Verdana" pitchFamily="34" charset="0"/>
              </a:rPr>
              <a:t>：</a:t>
            </a:r>
            <a:r>
              <a:rPr kumimoji="1" lang="zh-CN" altLang="en-US" sz="2400" dirty="0">
                <a:latin typeface="Verdana" pitchFamily="34" charset="0"/>
              </a:rPr>
              <a:t>传输单位：帧；帧同步</a:t>
            </a:r>
          </a:p>
          <a:p>
            <a:pPr marL="342900" indent="-342900" eaLnBrk="1" hangingPunct="1">
              <a:lnSpc>
                <a:spcPct val="120000"/>
              </a:lnSpc>
              <a:spcBef>
                <a:spcPct val="15000"/>
              </a:spcBef>
              <a:buClr>
                <a:schemeClr val="tx1"/>
              </a:buClr>
              <a:buSzPct val="80000"/>
              <a:buFont typeface="Wingdings" panose="05000000000000000000" pitchFamily="2" charset="2"/>
              <a:buChar char="ü"/>
              <a:defRPr/>
            </a:pPr>
            <a:r>
              <a:rPr kumimoji="1" lang="zh-CN" altLang="en-US" sz="2400" b="1" dirty="0">
                <a:latin typeface="Verdana" pitchFamily="34" charset="0"/>
              </a:rPr>
              <a:t> </a:t>
            </a:r>
            <a:r>
              <a:rPr kumimoji="1" lang="zh-CN" altLang="en-US" sz="2400" b="1" dirty="0">
                <a:solidFill>
                  <a:srgbClr val="0000FF"/>
                </a:solidFill>
                <a:latin typeface="Verdana" pitchFamily="34" charset="0"/>
              </a:rPr>
              <a:t>差错控制</a:t>
            </a:r>
            <a:r>
              <a:rPr kumimoji="1" lang="zh-CN" altLang="en-US" sz="2400" dirty="0">
                <a:solidFill>
                  <a:srgbClr val="0000FF"/>
                </a:solidFill>
                <a:latin typeface="Verdana" pitchFamily="34" charset="0"/>
              </a:rPr>
              <a:t>：</a:t>
            </a:r>
            <a:r>
              <a:rPr kumimoji="1" lang="zh-CN" altLang="en-US" sz="2400" dirty="0">
                <a:latin typeface="Verdana" pitchFamily="34" charset="0"/>
              </a:rPr>
              <a:t>纠错；检错   </a:t>
            </a:r>
          </a:p>
          <a:p>
            <a:pPr marL="342900" indent="-342900" eaLnBrk="1" hangingPunct="1">
              <a:lnSpc>
                <a:spcPct val="120000"/>
              </a:lnSpc>
              <a:spcBef>
                <a:spcPct val="15000"/>
              </a:spcBef>
              <a:buClr>
                <a:schemeClr val="tx1"/>
              </a:buClr>
              <a:buSzPct val="80000"/>
              <a:buFont typeface="Wingdings" panose="05000000000000000000" pitchFamily="2" charset="2"/>
              <a:buChar char="ü"/>
              <a:defRPr/>
            </a:pPr>
            <a:r>
              <a:rPr kumimoji="1" lang="zh-CN" altLang="en-US" sz="2400" b="1" dirty="0">
                <a:latin typeface="Verdana" pitchFamily="34" charset="0"/>
              </a:rPr>
              <a:t> </a:t>
            </a:r>
            <a:r>
              <a:rPr kumimoji="1" lang="zh-CN" altLang="en-US" sz="2400" b="1" dirty="0">
                <a:solidFill>
                  <a:srgbClr val="0000FF"/>
                </a:solidFill>
                <a:latin typeface="Verdana" pitchFamily="34" charset="0"/>
              </a:rPr>
              <a:t>流量控制</a:t>
            </a:r>
            <a:r>
              <a:rPr kumimoji="1" lang="zh-CN" altLang="en-US" sz="2400" dirty="0">
                <a:solidFill>
                  <a:srgbClr val="0000FF"/>
                </a:solidFill>
                <a:latin typeface="Verdana" pitchFamily="34" charset="0"/>
              </a:rPr>
              <a:t>：</a:t>
            </a:r>
            <a:r>
              <a:rPr kumimoji="1" lang="zh-CN" altLang="en-US" sz="2400" dirty="0">
                <a:latin typeface="Verdana" pitchFamily="34" charset="0"/>
              </a:rPr>
              <a:t>收、发方速率适配   </a:t>
            </a:r>
          </a:p>
          <a:p>
            <a:pPr marL="342900" indent="-342900" eaLnBrk="1" hangingPunct="1">
              <a:lnSpc>
                <a:spcPct val="120000"/>
              </a:lnSpc>
              <a:spcBef>
                <a:spcPct val="15000"/>
              </a:spcBef>
              <a:buClr>
                <a:schemeClr val="tx1"/>
              </a:buClr>
              <a:buSzPct val="80000"/>
              <a:buFont typeface="Wingdings" panose="05000000000000000000" pitchFamily="2" charset="2"/>
              <a:buChar char="ü"/>
              <a:defRPr/>
            </a:pPr>
            <a:r>
              <a:rPr kumimoji="1" lang="zh-CN" altLang="en-US" sz="2400" b="1" dirty="0">
                <a:solidFill>
                  <a:srgbClr val="0000FF"/>
                </a:solidFill>
                <a:latin typeface="Verdana" pitchFamily="34" charset="0"/>
              </a:rPr>
              <a:t> 透明传输</a:t>
            </a:r>
            <a:r>
              <a:rPr kumimoji="1" lang="zh-CN" altLang="en-US" sz="2400" dirty="0">
                <a:latin typeface="Verdana" pitchFamily="34" charset="0"/>
              </a:rPr>
              <a:t>：无论上层什么数据，链路层都可同样传输</a:t>
            </a:r>
          </a:p>
          <a:p>
            <a:pPr marL="342900" indent="-342900" eaLnBrk="1" hangingPunct="1">
              <a:lnSpc>
                <a:spcPct val="120000"/>
              </a:lnSpc>
              <a:spcBef>
                <a:spcPct val="15000"/>
              </a:spcBef>
              <a:buClr>
                <a:schemeClr val="tx1"/>
              </a:buClr>
              <a:buSzPct val="80000"/>
              <a:buFont typeface="Wingdings" panose="05000000000000000000" pitchFamily="2" charset="2"/>
              <a:buChar char="ü"/>
              <a:defRPr/>
            </a:pPr>
            <a:r>
              <a:rPr kumimoji="1" lang="zh-CN" altLang="en-US" sz="2400" b="1" dirty="0">
                <a:latin typeface="Verdana" pitchFamily="34" charset="0"/>
              </a:rPr>
              <a:t> </a:t>
            </a:r>
            <a:r>
              <a:rPr kumimoji="1" lang="zh-CN" altLang="en-US" sz="2400" b="1" dirty="0">
                <a:solidFill>
                  <a:srgbClr val="0000FF"/>
                </a:solidFill>
                <a:latin typeface="Verdana" pitchFamily="34" charset="0"/>
              </a:rPr>
              <a:t>链路控制</a:t>
            </a:r>
            <a:r>
              <a:rPr kumimoji="1" lang="zh-CN" altLang="en-US" sz="2400" dirty="0">
                <a:solidFill>
                  <a:srgbClr val="0000FF"/>
                </a:solidFill>
                <a:latin typeface="Verdana" pitchFamily="34" charset="0"/>
              </a:rPr>
              <a:t>：</a:t>
            </a:r>
            <a:r>
              <a:rPr kumimoji="1" lang="zh-CN" altLang="en-US" sz="2400" dirty="0">
                <a:latin typeface="Verdana" pitchFamily="34" charset="0"/>
              </a:rPr>
              <a:t>收发方确认对方是否准备好；数据链路的建立、维持、释放   </a:t>
            </a:r>
          </a:p>
          <a:p>
            <a:pPr marL="342900" indent="-342900" eaLnBrk="1" hangingPunct="1">
              <a:lnSpc>
                <a:spcPct val="120000"/>
              </a:lnSpc>
              <a:spcBef>
                <a:spcPct val="15000"/>
              </a:spcBef>
              <a:buClr>
                <a:schemeClr val="tx1"/>
              </a:buClr>
              <a:buSzPct val="80000"/>
              <a:buFont typeface="Wingdings" panose="05000000000000000000" pitchFamily="2" charset="2"/>
              <a:buChar char="ü"/>
              <a:defRPr/>
            </a:pPr>
            <a:r>
              <a:rPr kumimoji="1" lang="zh-CN" altLang="en-US" sz="2400" b="1" dirty="0">
                <a:solidFill>
                  <a:srgbClr val="0000FF"/>
                </a:solidFill>
                <a:latin typeface="Verdana" pitchFamily="34" charset="0"/>
              </a:rPr>
              <a:t> 寻址：</a:t>
            </a:r>
            <a:r>
              <a:rPr kumimoji="1" lang="en-US" altLang="zh-CN" sz="2400" dirty="0">
                <a:latin typeface="Verdana" pitchFamily="34" charset="0"/>
              </a:rPr>
              <a:t>MAC</a:t>
            </a:r>
            <a:r>
              <a:rPr kumimoji="1" lang="zh-CN" altLang="en-US" sz="2400" dirty="0">
                <a:latin typeface="Verdana" pitchFamily="34" charset="0"/>
              </a:rPr>
              <a:t>地址 </a:t>
            </a:r>
          </a:p>
        </p:txBody>
      </p:sp>
      <p:sp>
        <p:nvSpPr>
          <p:cNvPr id="11270" name="Text Box 3"/>
          <p:cNvSpPr txBox="1">
            <a:spLocks noChangeArrowheads="1"/>
          </p:cNvSpPr>
          <p:nvPr/>
        </p:nvSpPr>
        <p:spPr bwMode="auto">
          <a:xfrm>
            <a:off x="2057401" y="838201"/>
            <a:ext cx="4183063"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ct val="50000"/>
              </a:spcBef>
              <a:buClr>
                <a:schemeClr val="tx1"/>
              </a:buClr>
              <a:buSzPct val="80000"/>
              <a:buFont typeface="Wingdings" panose="05000000000000000000" pitchFamily="2" charset="2"/>
              <a:buNone/>
            </a:pPr>
            <a:r>
              <a:rPr kumimoji="1" lang="zh-CN" altLang="en-US" b="1" dirty="0">
                <a:solidFill>
                  <a:srgbClr val="0000FF"/>
                </a:solidFill>
                <a:latin typeface="Arial Unicode MS" panose="020B0604020202020204" pitchFamily="34" charset="-122"/>
                <a:ea typeface="楷体_GB2312" pitchFamily="49" charset="-122"/>
              </a:rPr>
              <a:t>数据链路层的功能</a:t>
            </a:r>
            <a:r>
              <a:rPr kumimoji="1" lang="zh-CN" altLang="en-US" dirty="0">
                <a:solidFill>
                  <a:srgbClr val="0000FF"/>
                </a:solidFill>
                <a:latin typeface="Arial Unicode MS" panose="020B0604020202020204" pitchFamily="34" charset="-122"/>
                <a:ea typeface="楷体_GB2312" pitchFamily="49" charset="-122"/>
              </a:rPr>
              <a:t>：</a:t>
            </a:r>
          </a:p>
        </p:txBody>
      </p:sp>
    </p:spTree>
  </p:cSld>
  <p:clrMapOvr>
    <a:masterClrMapping/>
  </p:clrMapOvr>
  <p:transition>
    <p:random/>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1"/>
          <p:cNvSpPr>
            <a:spLocks noGrp="1"/>
          </p:cNvSpPr>
          <p:nvPr>
            <p:ph type="ftr" sz="quarter" idx="10"/>
          </p:nvPr>
        </p:nvSpPr>
        <p:spPr/>
        <p:txBody>
          <a:bodyPr/>
          <a:lstStyle/>
          <a:p>
            <a:pPr>
              <a:defRPr/>
            </a:pPr>
            <a:r>
              <a:rPr lang="en-US" altLang="zh-CN"/>
              <a:t>Computer Network</a:t>
            </a:r>
          </a:p>
        </p:txBody>
      </p:sp>
      <p:sp>
        <p:nvSpPr>
          <p:cNvPr id="11267" name="灯片编号占位符 2"/>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AF19DA75-CBDB-4343-8A8B-8FBECB6609EC}" type="slidenum">
              <a:rPr lang="en-US" altLang="zh-CN" sz="1200">
                <a:latin typeface="Arial Black" panose="020B0A04020102020204" pitchFamily="34" charset="0"/>
              </a:rPr>
              <a:pPr>
                <a:spcBef>
                  <a:spcPct val="0"/>
                </a:spcBef>
                <a:buClrTx/>
                <a:buSzTx/>
                <a:buFontTx/>
                <a:buNone/>
              </a:pPr>
              <a:t>5</a:t>
            </a:fld>
            <a:endParaRPr lang="en-US" altLang="zh-CN" sz="1200">
              <a:latin typeface="Arial Black" panose="020B0A04020102020204" pitchFamily="34" charset="0"/>
            </a:endParaRPr>
          </a:p>
        </p:txBody>
      </p:sp>
      <p:sp>
        <p:nvSpPr>
          <p:cNvPr id="6" name="日期占位符 3"/>
          <p:cNvSpPr>
            <a:spLocks noGrp="1"/>
          </p:cNvSpPr>
          <p:nvPr>
            <p:ph type="dt" sz="quarter" idx="12"/>
          </p:nvPr>
        </p:nvSpPr>
        <p:spPr/>
        <p:txBody>
          <a:bodyPr/>
          <a:lstStyle/>
          <a:p>
            <a:pPr>
              <a:defRPr/>
            </a:pPr>
            <a:fld id="{F75AF8A1-95CB-4462-BF0C-CF3F4BB1ECA8}" type="datetime1">
              <a:rPr lang="zh-CN" altLang="en-US"/>
              <a:pPr>
                <a:defRPr/>
              </a:pPr>
              <a:t>2024/10/18</a:t>
            </a:fld>
            <a:endParaRPr lang="en-US" altLang="zh-CN"/>
          </a:p>
        </p:txBody>
      </p:sp>
      <p:sp>
        <p:nvSpPr>
          <p:cNvPr id="833538" name="Rectangle 2"/>
          <p:cNvSpPr>
            <a:spLocks noChangeArrowheads="1"/>
          </p:cNvSpPr>
          <p:nvPr/>
        </p:nvSpPr>
        <p:spPr bwMode="auto">
          <a:xfrm>
            <a:off x="2209801" y="1536700"/>
            <a:ext cx="7847013" cy="4413250"/>
          </a:xfrm>
          <a:prstGeom prst="rect">
            <a:avLst/>
          </a:prstGeom>
          <a:noFill/>
          <a:ln>
            <a:noFill/>
          </a:ln>
          <a:effectLst/>
        </p:spPr>
        <p:txBody>
          <a:bodyPr>
            <a:spAutoFit/>
          </a:bodyPr>
          <a:lstStyle/>
          <a:p>
            <a:pPr eaLnBrk="1" hangingPunct="1">
              <a:lnSpc>
                <a:spcPct val="120000"/>
              </a:lnSpc>
              <a:spcBef>
                <a:spcPct val="15000"/>
              </a:spcBef>
              <a:buClr>
                <a:schemeClr val="tx1"/>
              </a:buClr>
              <a:buSzPct val="80000"/>
              <a:buFont typeface="Wingdings" pitchFamily="2" charset="2"/>
              <a:buNone/>
              <a:defRPr/>
            </a:pPr>
            <a:r>
              <a:rPr kumimoji="1" lang="en-US" altLang="zh-CN" sz="2400" b="1" dirty="0">
                <a:solidFill>
                  <a:srgbClr val="0000FF"/>
                </a:solidFill>
                <a:latin typeface="Verdana" pitchFamily="34" charset="0"/>
              </a:rPr>
              <a:t>     </a:t>
            </a:r>
            <a:r>
              <a:rPr kumimoji="1" lang="en-US" altLang="zh-CN" sz="2400" dirty="0">
                <a:latin typeface="Verdana" pitchFamily="34" charset="0"/>
              </a:rPr>
              <a:t>OSI</a:t>
            </a:r>
            <a:r>
              <a:rPr kumimoji="1" lang="zh-CN" altLang="en-US" sz="2400" b="1" dirty="0">
                <a:latin typeface="Verdana" pitchFamily="34" charset="0"/>
              </a:rPr>
              <a:t>数据链路层协议，</a:t>
            </a:r>
            <a:r>
              <a:rPr kumimoji="1" lang="zh-CN" altLang="en-US" sz="2400" b="1" dirty="0">
                <a:solidFill>
                  <a:srgbClr val="0000FF"/>
                </a:solidFill>
                <a:latin typeface="Verdana" pitchFamily="34" charset="0"/>
              </a:rPr>
              <a:t>在不可靠的物理链路上实现可靠的传输</a:t>
            </a:r>
            <a:r>
              <a:rPr lang="en-US" altLang="zh-CN" sz="2400" dirty="0">
                <a:solidFill>
                  <a:srgbClr val="FF3300"/>
                </a:solidFill>
                <a:effectLst>
                  <a:outerShdw blurRad="38100" dist="38100" dir="2700000" algn="tl">
                    <a:srgbClr val="C0C0C0"/>
                  </a:outerShdw>
                </a:effectLst>
                <a:latin typeface="Arial" charset="0"/>
              </a:rPr>
              <a:t>(</a:t>
            </a:r>
            <a:r>
              <a:rPr lang="zh-CN" altLang="en-US" sz="2400" dirty="0">
                <a:solidFill>
                  <a:srgbClr val="FF3300"/>
                </a:solidFill>
                <a:effectLst>
                  <a:outerShdw blurRad="38100" dist="38100" dir="2700000" algn="tl">
                    <a:srgbClr val="C0C0C0"/>
                  </a:outerShdw>
                </a:effectLst>
                <a:latin typeface="Arial" charset="0"/>
              </a:rPr>
              <a:t>无差错、</a:t>
            </a:r>
            <a:r>
              <a:rPr lang="zh-CN" altLang="en-US" sz="2400" dirty="0">
                <a:solidFill>
                  <a:srgbClr val="FF0000"/>
                </a:solidFill>
                <a:effectLst>
                  <a:outerShdw blurRad="38100" dist="38100" dir="2700000" algn="tl">
                    <a:srgbClr val="C0C0C0"/>
                  </a:outerShdw>
                </a:effectLst>
                <a:latin typeface="Arial" charset="0"/>
              </a:rPr>
              <a:t>无丢失</a:t>
            </a:r>
            <a:r>
              <a:rPr lang="zh-CN" altLang="en-US" sz="2400" dirty="0">
                <a:solidFill>
                  <a:srgbClr val="FF3300"/>
                </a:solidFill>
                <a:effectLst>
                  <a:outerShdw blurRad="38100" dist="38100" dir="2700000" algn="tl">
                    <a:srgbClr val="C0C0C0"/>
                  </a:outerShdw>
                </a:effectLst>
                <a:latin typeface="Arial" charset="0"/>
              </a:rPr>
              <a:t>、无重复、按顺序</a:t>
            </a:r>
            <a:r>
              <a:rPr lang="en-US" altLang="zh-CN" sz="2400" dirty="0">
                <a:solidFill>
                  <a:srgbClr val="FF3300"/>
                </a:solidFill>
                <a:effectLst>
                  <a:outerShdw blurRad="38100" dist="38100" dir="2700000" algn="tl">
                    <a:srgbClr val="C0C0C0"/>
                  </a:outerShdw>
                </a:effectLst>
                <a:latin typeface="Arial" charset="0"/>
              </a:rPr>
              <a:t>)</a:t>
            </a:r>
            <a:r>
              <a:rPr kumimoji="1" lang="en-US" altLang="zh-CN" dirty="0">
                <a:latin typeface="Arial" charset="0"/>
              </a:rPr>
              <a:t> </a:t>
            </a:r>
            <a:r>
              <a:rPr kumimoji="1" lang="en-US" altLang="zh-CN" sz="2400" b="1" dirty="0">
                <a:solidFill>
                  <a:srgbClr val="0000FF"/>
                </a:solidFill>
                <a:latin typeface="Verdana" pitchFamily="34" charset="0"/>
              </a:rPr>
              <a:t>:</a:t>
            </a:r>
            <a:endParaRPr kumimoji="1" lang="zh-CN" altLang="en-US" sz="2400" b="1" dirty="0">
              <a:solidFill>
                <a:srgbClr val="0000FF"/>
              </a:solidFill>
              <a:latin typeface="Verdana" pitchFamily="34" charset="0"/>
            </a:endParaRPr>
          </a:p>
          <a:p>
            <a:pPr marL="342900" indent="-342900" eaLnBrk="1" hangingPunct="1">
              <a:lnSpc>
                <a:spcPct val="120000"/>
              </a:lnSpc>
              <a:spcBef>
                <a:spcPct val="15000"/>
              </a:spcBef>
              <a:buClr>
                <a:schemeClr val="tx1"/>
              </a:buClr>
              <a:buSzPct val="80000"/>
              <a:buFont typeface="Wingdings" panose="05000000000000000000" pitchFamily="2" charset="2"/>
              <a:buChar char="ü"/>
              <a:defRPr/>
            </a:pPr>
            <a:r>
              <a:rPr kumimoji="1" lang="zh-CN" altLang="en-US" sz="2400" b="1" dirty="0">
                <a:latin typeface="Verdana" pitchFamily="34" charset="0"/>
              </a:rPr>
              <a:t> </a:t>
            </a:r>
            <a:r>
              <a:rPr kumimoji="1" lang="zh-CN" altLang="en-US" sz="2400" b="1" dirty="0">
                <a:solidFill>
                  <a:srgbClr val="0000FF"/>
                </a:solidFill>
                <a:latin typeface="Verdana" pitchFamily="34" charset="0"/>
              </a:rPr>
              <a:t>数据成帧</a:t>
            </a:r>
            <a:r>
              <a:rPr kumimoji="1" lang="zh-CN" altLang="en-US" sz="2400" dirty="0">
                <a:solidFill>
                  <a:srgbClr val="0000FF"/>
                </a:solidFill>
                <a:latin typeface="Verdana" pitchFamily="34" charset="0"/>
              </a:rPr>
              <a:t>：</a:t>
            </a:r>
            <a:r>
              <a:rPr kumimoji="1" lang="zh-CN" altLang="en-US" sz="2400" dirty="0">
                <a:latin typeface="Verdana" pitchFamily="34" charset="0"/>
              </a:rPr>
              <a:t>传输单位：帧；帧同步</a:t>
            </a:r>
          </a:p>
          <a:p>
            <a:pPr marL="342900" indent="-342900" eaLnBrk="1" hangingPunct="1">
              <a:lnSpc>
                <a:spcPct val="120000"/>
              </a:lnSpc>
              <a:spcBef>
                <a:spcPct val="15000"/>
              </a:spcBef>
              <a:buClr>
                <a:schemeClr val="tx1"/>
              </a:buClr>
              <a:buSzPct val="80000"/>
              <a:buFont typeface="Wingdings" panose="05000000000000000000" pitchFamily="2" charset="2"/>
              <a:buChar char="ü"/>
              <a:defRPr/>
            </a:pPr>
            <a:r>
              <a:rPr kumimoji="1" lang="zh-CN" altLang="en-US" sz="2400" b="1" dirty="0">
                <a:latin typeface="Verdana" pitchFamily="34" charset="0"/>
              </a:rPr>
              <a:t> </a:t>
            </a:r>
            <a:r>
              <a:rPr kumimoji="1" lang="zh-CN" altLang="en-US" sz="2400" b="1" dirty="0">
                <a:solidFill>
                  <a:srgbClr val="0000FF"/>
                </a:solidFill>
                <a:latin typeface="Verdana" pitchFamily="34" charset="0"/>
              </a:rPr>
              <a:t>差错控制</a:t>
            </a:r>
            <a:r>
              <a:rPr kumimoji="1" lang="zh-CN" altLang="en-US" sz="2400" dirty="0">
                <a:solidFill>
                  <a:srgbClr val="0000FF"/>
                </a:solidFill>
                <a:latin typeface="Verdana" pitchFamily="34" charset="0"/>
              </a:rPr>
              <a:t>：</a:t>
            </a:r>
            <a:r>
              <a:rPr kumimoji="1" lang="zh-CN" altLang="en-US" sz="2400" dirty="0">
                <a:latin typeface="Verdana" pitchFamily="34" charset="0"/>
              </a:rPr>
              <a:t>纠错；检错   </a:t>
            </a:r>
          </a:p>
          <a:p>
            <a:pPr marL="342900" indent="-342900" eaLnBrk="1" hangingPunct="1">
              <a:lnSpc>
                <a:spcPct val="120000"/>
              </a:lnSpc>
              <a:spcBef>
                <a:spcPct val="15000"/>
              </a:spcBef>
              <a:buClr>
                <a:schemeClr val="tx1"/>
              </a:buClr>
              <a:buSzPct val="80000"/>
              <a:buFont typeface="Wingdings" panose="05000000000000000000" pitchFamily="2" charset="2"/>
              <a:buChar char="ü"/>
              <a:defRPr/>
            </a:pPr>
            <a:r>
              <a:rPr kumimoji="1" lang="zh-CN" altLang="en-US" sz="2400" b="1" dirty="0">
                <a:latin typeface="Verdana" pitchFamily="34" charset="0"/>
              </a:rPr>
              <a:t> </a:t>
            </a:r>
            <a:r>
              <a:rPr kumimoji="1" lang="zh-CN" altLang="en-US" sz="2400" b="1" dirty="0">
                <a:solidFill>
                  <a:srgbClr val="0000FF"/>
                </a:solidFill>
                <a:latin typeface="Verdana" pitchFamily="34" charset="0"/>
              </a:rPr>
              <a:t>流量控制</a:t>
            </a:r>
            <a:r>
              <a:rPr kumimoji="1" lang="zh-CN" altLang="en-US" sz="2400" dirty="0">
                <a:solidFill>
                  <a:srgbClr val="0000FF"/>
                </a:solidFill>
                <a:latin typeface="Verdana" pitchFamily="34" charset="0"/>
              </a:rPr>
              <a:t>：</a:t>
            </a:r>
            <a:r>
              <a:rPr kumimoji="1" lang="zh-CN" altLang="en-US" sz="2400" dirty="0">
                <a:latin typeface="Verdana" pitchFamily="34" charset="0"/>
              </a:rPr>
              <a:t>收、发方速率适配   </a:t>
            </a:r>
          </a:p>
          <a:p>
            <a:pPr marL="342900" indent="-342900" eaLnBrk="1" hangingPunct="1">
              <a:lnSpc>
                <a:spcPct val="120000"/>
              </a:lnSpc>
              <a:spcBef>
                <a:spcPct val="15000"/>
              </a:spcBef>
              <a:buClr>
                <a:schemeClr val="tx1"/>
              </a:buClr>
              <a:buSzPct val="80000"/>
              <a:buFont typeface="Wingdings" panose="05000000000000000000" pitchFamily="2" charset="2"/>
              <a:buChar char="ü"/>
              <a:defRPr/>
            </a:pPr>
            <a:r>
              <a:rPr kumimoji="1" lang="zh-CN" altLang="en-US" sz="2400" b="1" dirty="0">
                <a:solidFill>
                  <a:srgbClr val="0000FF"/>
                </a:solidFill>
                <a:latin typeface="Verdana" pitchFamily="34" charset="0"/>
              </a:rPr>
              <a:t> 透明传输</a:t>
            </a:r>
            <a:r>
              <a:rPr kumimoji="1" lang="zh-CN" altLang="en-US" sz="2400" dirty="0">
                <a:latin typeface="Verdana" pitchFamily="34" charset="0"/>
              </a:rPr>
              <a:t>：无论上层什么数据，链路层都可同样传输</a:t>
            </a:r>
          </a:p>
          <a:p>
            <a:pPr marL="342900" indent="-342900" eaLnBrk="1" hangingPunct="1">
              <a:lnSpc>
                <a:spcPct val="120000"/>
              </a:lnSpc>
              <a:spcBef>
                <a:spcPct val="15000"/>
              </a:spcBef>
              <a:buClr>
                <a:schemeClr val="tx1"/>
              </a:buClr>
              <a:buSzPct val="80000"/>
              <a:buFont typeface="Wingdings" panose="05000000000000000000" pitchFamily="2" charset="2"/>
              <a:buChar char="ü"/>
              <a:defRPr/>
            </a:pPr>
            <a:r>
              <a:rPr kumimoji="1" lang="zh-CN" altLang="en-US" sz="2400" b="1" dirty="0">
                <a:latin typeface="Verdana" pitchFamily="34" charset="0"/>
              </a:rPr>
              <a:t> </a:t>
            </a:r>
            <a:r>
              <a:rPr kumimoji="1" lang="zh-CN" altLang="en-US" sz="2400" b="1" dirty="0">
                <a:solidFill>
                  <a:srgbClr val="0000FF"/>
                </a:solidFill>
                <a:latin typeface="Verdana" pitchFamily="34" charset="0"/>
              </a:rPr>
              <a:t>链路控制</a:t>
            </a:r>
            <a:r>
              <a:rPr kumimoji="1" lang="zh-CN" altLang="en-US" sz="2400" dirty="0">
                <a:solidFill>
                  <a:srgbClr val="0000FF"/>
                </a:solidFill>
                <a:latin typeface="Verdana" pitchFamily="34" charset="0"/>
              </a:rPr>
              <a:t>：</a:t>
            </a:r>
            <a:r>
              <a:rPr kumimoji="1" lang="zh-CN" altLang="en-US" sz="2400" dirty="0">
                <a:latin typeface="Verdana" pitchFamily="34" charset="0"/>
              </a:rPr>
              <a:t>收发方确认对方是否准备好；数据链路的建立、维持、释放   </a:t>
            </a:r>
          </a:p>
          <a:p>
            <a:pPr marL="342900" indent="-342900" eaLnBrk="1" hangingPunct="1">
              <a:lnSpc>
                <a:spcPct val="120000"/>
              </a:lnSpc>
              <a:spcBef>
                <a:spcPct val="15000"/>
              </a:spcBef>
              <a:buClr>
                <a:schemeClr val="tx1"/>
              </a:buClr>
              <a:buSzPct val="80000"/>
              <a:buFont typeface="Wingdings" panose="05000000000000000000" pitchFamily="2" charset="2"/>
              <a:buChar char="ü"/>
              <a:defRPr/>
            </a:pPr>
            <a:r>
              <a:rPr kumimoji="1" lang="zh-CN" altLang="en-US" sz="2400" b="1" dirty="0">
                <a:solidFill>
                  <a:srgbClr val="0000FF"/>
                </a:solidFill>
                <a:latin typeface="Verdana" pitchFamily="34" charset="0"/>
              </a:rPr>
              <a:t> 寻址：</a:t>
            </a:r>
            <a:r>
              <a:rPr kumimoji="1" lang="en-US" altLang="zh-CN" sz="2400" dirty="0">
                <a:latin typeface="Verdana" pitchFamily="34" charset="0"/>
              </a:rPr>
              <a:t>MAC</a:t>
            </a:r>
            <a:r>
              <a:rPr kumimoji="1" lang="zh-CN" altLang="en-US" sz="2400" dirty="0">
                <a:latin typeface="Verdana" pitchFamily="34" charset="0"/>
              </a:rPr>
              <a:t>地址 </a:t>
            </a:r>
          </a:p>
        </p:txBody>
      </p:sp>
      <p:sp>
        <p:nvSpPr>
          <p:cNvPr id="11270" name="Text Box 3"/>
          <p:cNvSpPr txBox="1">
            <a:spLocks noChangeArrowheads="1"/>
          </p:cNvSpPr>
          <p:nvPr/>
        </p:nvSpPr>
        <p:spPr bwMode="auto">
          <a:xfrm>
            <a:off x="2057401" y="838201"/>
            <a:ext cx="4183063"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ct val="50000"/>
              </a:spcBef>
              <a:buClr>
                <a:schemeClr val="tx1"/>
              </a:buClr>
              <a:buSzPct val="80000"/>
              <a:buFont typeface="Wingdings" panose="05000000000000000000" pitchFamily="2" charset="2"/>
              <a:buNone/>
            </a:pPr>
            <a:r>
              <a:rPr kumimoji="1" lang="zh-CN" altLang="en-US" b="1" dirty="0">
                <a:solidFill>
                  <a:srgbClr val="0000FF"/>
                </a:solidFill>
                <a:latin typeface="Arial Unicode MS" panose="020B0604020202020204" pitchFamily="34" charset="-122"/>
                <a:ea typeface="楷体_GB2312" pitchFamily="49" charset="-122"/>
              </a:rPr>
              <a:t>数据链路层的功能</a:t>
            </a:r>
            <a:r>
              <a:rPr kumimoji="1" lang="zh-CN" altLang="en-US" dirty="0">
                <a:solidFill>
                  <a:srgbClr val="0000FF"/>
                </a:solidFill>
                <a:latin typeface="Arial Unicode MS" panose="020B0604020202020204" pitchFamily="34" charset="-122"/>
                <a:ea typeface="楷体_GB2312" pitchFamily="49" charset="-122"/>
              </a:rPr>
              <a:t>：</a:t>
            </a:r>
          </a:p>
        </p:txBody>
      </p:sp>
      <p:sp>
        <p:nvSpPr>
          <p:cNvPr id="3" name="圆角矩形标注 2"/>
          <p:cNvSpPr/>
          <p:nvPr/>
        </p:nvSpPr>
        <p:spPr bwMode="auto">
          <a:xfrm>
            <a:off x="7327716" y="2681263"/>
            <a:ext cx="3322712" cy="1225868"/>
          </a:xfrm>
          <a:prstGeom prst="wedgeRoundRectCallout">
            <a:avLst>
              <a:gd name="adj1" fmla="val -22023"/>
              <a:gd name="adj2" fmla="val -68559"/>
              <a:gd name="adj3" fmla="val 16667"/>
            </a:avLst>
          </a:prstGeom>
          <a:noFill/>
          <a:ln w="28575" cap="flat" cmpd="sng" algn="ctr">
            <a:solidFill>
              <a:srgbClr val="FF3300"/>
            </a:solidFill>
            <a:prstDash val="solid"/>
            <a:round/>
            <a:headEnd type="none" w="med" len="med"/>
            <a:tailEnd type="triangle" w="med" len="med"/>
          </a:ln>
          <a:effectLst/>
        </p:spPr>
        <p:txBody>
          <a:bodyPr vert="horz" wrap="square" lIns="0" tIns="0" rIns="0" bIns="0" numCol="1" rtlCol="0" anchor="t" anchorCtr="0" compatLnSpc="1">
            <a:prstTxWarp prst="textNoShape">
              <a:avLst/>
            </a:prstTxWarp>
            <a:spAutoFit/>
          </a:bodyPr>
          <a:lstStyle/>
          <a:p>
            <a:pPr algn="ctr" eaLnBrk="1" hangingPunct="1">
              <a:spcBef>
                <a:spcPct val="50000"/>
              </a:spcBef>
            </a:pPr>
            <a:r>
              <a:rPr lang="zh-CN" altLang="en-US" sz="1800" dirty="0">
                <a:solidFill>
                  <a:srgbClr val="FF0000"/>
                </a:solidFill>
                <a:latin typeface="Arial" charset="0"/>
              </a:rPr>
              <a:t>注意，关于“可靠”，这是</a:t>
            </a:r>
            <a:r>
              <a:rPr lang="en-US" altLang="zh-CN" sz="1800" dirty="0">
                <a:solidFill>
                  <a:srgbClr val="FF0000"/>
                </a:solidFill>
                <a:latin typeface="Arial" charset="0"/>
              </a:rPr>
              <a:t>OSI</a:t>
            </a:r>
            <a:r>
              <a:rPr lang="zh-CN" altLang="en-US" sz="1800" dirty="0">
                <a:solidFill>
                  <a:srgbClr val="FF0000"/>
                </a:solidFill>
                <a:latin typeface="Arial" charset="0"/>
              </a:rPr>
              <a:t>模型中的要求，实际网络中的数据链路层并不一定保证这一点。</a:t>
            </a:r>
            <a:r>
              <a:rPr lang="en-US" altLang="zh-CN" sz="1800" dirty="0">
                <a:solidFill>
                  <a:srgbClr val="FF0000"/>
                </a:solidFill>
                <a:latin typeface="Arial" charset="0"/>
              </a:rPr>
              <a:t>e.g., 802.3 vs 802.11</a:t>
            </a:r>
          </a:p>
        </p:txBody>
      </p:sp>
      <p:sp>
        <p:nvSpPr>
          <p:cNvPr id="5" name="Rectangle 4">
            <a:extLst>
              <a:ext uri="{FF2B5EF4-FFF2-40B4-BE49-F238E27FC236}">
                <a16:creationId xmlns:a16="http://schemas.microsoft.com/office/drawing/2014/main" id="{B363FF01-2280-284A-A978-E6361A897AA4}"/>
              </a:ext>
            </a:extLst>
          </p:cNvPr>
          <p:cNvSpPr/>
          <p:nvPr/>
        </p:nvSpPr>
        <p:spPr bwMode="auto">
          <a:xfrm>
            <a:off x="2057401" y="1536700"/>
            <a:ext cx="8503095" cy="1028204"/>
          </a:xfrm>
          <a:prstGeom prst="rect">
            <a:avLst/>
          </a:prstGeom>
          <a:noFill/>
          <a:ln w="9525" cap="flat" cmpd="sng" algn="ctr">
            <a:solidFill>
              <a:srgbClr val="FF0000"/>
            </a:solidFill>
            <a:prstDash val="solid"/>
            <a:round/>
            <a:headEnd type="none" w="med" len="med"/>
            <a:tailEnd type="triangle" w="med" len="med"/>
          </a:ln>
          <a:effectLst/>
        </p:spPr>
        <p:txBody>
          <a:bodyPr vert="horz" wrap="square" lIns="0" tIns="0" rIns="0" bIns="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en-CN" sz="2000" b="0" i="0" u="none" strike="noStrike" cap="none" normalizeH="0" baseline="0">
              <a:ln>
                <a:noFill/>
              </a:ln>
              <a:solidFill>
                <a:schemeClr val="tx1"/>
              </a:solidFill>
              <a:effectLst/>
              <a:latin typeface="Arial" charset="0"/>
              <a:ea typeface="楷体_GB2312" pitchFamily="49" charset="-122"/>
            </a:endParaRPr>
          </a:p>
        </p:txBody>
      </p:sp>
    </p:spTree>
    <p:extLst>
      <p:ext uri="{BB962C8B-B14F-4D97-AF65-F5344CB8AC3E}">
        <p14:creationId xmlns:p14="http://schemas.microsoft.com/office/powerpoint/2010/main" val="3108007453"/>
      </p:ext>
    </p:extLst>
  </p:cSld>
  <p:clrMapOvr>
    <a:masterClrMapping/>
  </p:clrMapOvr>
  <p:transition>
    <p:rand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a:defRPr/>
            </a:pPr>
            <a:r>
              <a:rPr lang="en-US" altLang="zh-CN"/>
              <a:t>Computer Network</a:t>
            </a:r>
          </a:p>
        </p:txBody>
      </p:sp>
      <p:sp>
        <p:nvSpPr>
          <p:cNvPr id="3" name="灯片编号占位符 2"/>
          <p:cNvSpPr>
            <a:spLocks noGrp="1"/>
          </p:cNvSpPr>
          <p:nvPr>
            <p:ph type="sldNum" sz="quarter" idx="11"/>
          </p:nvPr>
        </p:nvSpPr>
        <p:spPr/>
        <p:txBody>
          <a:bodyPr/>
          <a:lstStyle/>
          <a:p>
            <a:pPr>
              <a:defRPr/>
            </a:pPr>
            <a:fld id="{2AAF93DC-1AF2-40C5-A519-3C53F0141A12}" type="slidenum">
              <a:rPr lang="en-US" altLang="zh-CN" smtClean="0"/>
              <a:pPr>
                <a:defRPr/>
              </a:pPr>
              <a:t>6</a:t>
            </a:fld>
            <a:endParaRPr lang="en-US" altLang="zh-CN"/>
          </a:p>
        </p:txBody>
      </p:sp>
      <p:sp>
        <p:nvSpPr>
          <p:cNvPr id="4" name="日期占位符 3"/>
          <p:cNvSpPr>
            <a:spLocks noGrp="1"/>
          </p:cNvSpPr>
          <p:nvPr>
            <p:ph type="dt" sz="half" idx="12"/>
          </p:nvPr>
        </p:nvSpPr>
        <p:spPr/>
        <p:txBody>
          <a:bodyPr/>
          <a:lstStyle/>
          <a:p>
            <a:pPr>
              <a:defRPr/>
            </a:pPr>
            <a:fld id="{F745FD7F-E1E7-4727-BD24-89E1126485D5}" type="datetime1">
              <a:rPr lang="zh-CN" altLang="en-US" smtClean="0"/>
              <a:pPr>
                <a:defRPr/>
              </a:pPr>
              <a:t>2024/10/18</a:t>
            </a:fld>
            <a:endParaRPr lang="en-US" altLang="zh-CN"/>
          </a:p>
        </p:txBody>
      </p:sp>
      <p:graphicFrame>
        <p:nvGraphicFramePr>
          <p:cNvPr id="9" name="表格 8"/>
          <p:cNvGraphicFramePr>
            <a:graphicFrameLocks noGrp="1"/>
          </p:cNvGraphicFramePr>
          <p:nvPr/>
        </p:nvGraphicFramePr>
        <p:xfrm>
          <a:off x="1055440" y="1196752"/>
          <a:ext cx="10009114" cy="5038390"/>
        </p:xfrm>
        <a:graphic>
          <a:graphicData uri="http://schemas.openxmlformats.org/drawingml/2006/table">
            <a:tbl>
              <a:tblPr>
                <a:tableStyleId>{5940675A-B579-460E-94D1-54222C63F5DA}</a:tableStyleId>
              </a:tblPr>
              <a:tblGrid>
                <a:gridCol w="901721">
                  <a:extLst>
                    <a:ext uri="{9D8B030D-6E8A-4147-A177-3AD203B41FA5}">
                      <a16:colId xmlns:a16="http://schemas.microsoft.com/office/drawing/2014/main" val="3553720420"/>
                    </a:ext>
                  </a:extLst>
                </a:gridCol>
                <a:gridCol w="450862">
                  <a:extLst>
                    <a:ext uri="{9D8B030D-6E8A-4147-A177-3AD203B41FA5}">
                      <a16:colId xmlns:a16="http://schemas.microsoft.com/office/drawing/2014/main" val="131048341"/>
                    </a:ext>
                  </a:extLst>
                </a:gridCol>
                <a:gridCol w="1442756">
                  <a:extLst>
                    <a:ext uri="{9D8B030D-6E8A-4147-A177-3AD203B41FA5}">
                      <a16:colId xmlns:a16="http://schemas.microsoft.com/office/drawing/2014/main" val="1216982479"/>
                    </a:ext>
                  </a:extLst>
                </a:gridCol>
                <a:gridCol w="1532928">
                  <a:extLst>
                    <a:ext uri="{9D8B030D-6E8A-4147-A177-3AD203B41FA5}">
                      <a16:colId xmlns:a16="http://schemas.microsoft.com/office/drawing/2014/main" val="968669068"/>
                    </a:ext>
                  </a:extLst>
                </a:gridCol>
                <a:gridCol w="5680847">
                  <a:extLst>
                    <a:ext uri="{9D8B030D-6E8A-4147-A177-3AD203B41FA5}">
                      <a16:colId xmlns:a16="http://schemas.microsoft.com/office/drawing/2014/main" val="1090667539"/>
                    </a:ext>
                  </a:extLst>
                </a:gridCol>
              </a:tblGrid>
              <a:tr h="80556">
                <a:tc gridSpan="3">
                  <a:txBody>
                    <a:bodyPr/>
                    <a:lstStyle/>
                    <a:p>
                      <a:pPr algn="ctr" fontAlgn="ctr"/>
                      <a:r>
                        <a:rPr lang="en-US" sz="1600" u="none" strike="noStrike">
                          <a:effectLst/>
                        </a:rPr>
                        <a:t>Layer</a:t>
                      </a:r>
                      <a:endParaRPr lang="en-US" sz="1600" b="1" i="0" u="none" strike="noStrike">
                        <a:solidFill>
                          <a:srgbClr val="202122"/>
                        </a:solidFill>
                        <a:effectLst/>
                        <a:latin typeface="Arial" panose="020B0604020202020204" pitchFamily="34" charset="0"/>
                        <a:ea typeface="宋体" panose="02010600030101010101" pitchFamily="2" charset="-122"/>
                      </a:endParaRPr>
                    </a:p>
                  </a:txBody>
                  <a:tcPr marL="1910" marR="1910" marT="1910" marB="0" anchor="ctr"/>
                </a:tc>
                <a:tc hMerge="1">
                  <a:txBody>
                    <a:bodyPr/>
                    <a:lstStyle/>
                    <a:p>
                      <a:endParaRPr lang="en-US"/>
                    </a:p>
                  </a:txBody>
                  <a:tcPr/>
                </a:tc>
                <a:tc hMerge="1">
                  <a:txBody>
                    <a:bodyPr/>
                    <a:lstStyle/>
                    <a:p>
                      <a:endParaRPr lang="en-US"/>
                    </a:p>
                  </a:txBody>
                  <a:tcPr/>
                </a:tc>
                <a:tc>
                  <a:txBody>
                    <a:bodyPr/>
                    <a:lstStyle/>
                    <a:p>
                      <a:pPr algn="ctr" fontAlgn="ctr"/>
                      <a:r>
                        <a:rPr lang="en-US" sz="1600" u="none" strike="noStrike">
                          <a:effectLst/>
                          <a:hlinkClick r:id="rId2" tooltip="https://en.wikipedia.org/wiki/Protocol_data_unit"/>
                        </a:rPr>
                        <a:t>Protocol data unit (PDU)</a:t>
                      </a:r>
                      <a:endParaRPr lang="en-US" sz="1600" b="1" i="0" u="none" strike="noStrike">
                        <a:solidFill>
                          <a:srgbClr val="0645AD"/>
                        </a:solidFill>
                        <a:effectLst/>
                        <a:latin typeface="Arial" panose="020B0604020202020204" pitchFamily="34" charset="0"/>
                        <a:ea typeface="宋体" panose="02010600030101010101" pitchFamily="2" charset="-122"/>
                      </a:endParaRPr>
                    </a:p>
                  </a:txBody>
                  <a:tcPr marL="1910" marR="1910" marT="1910" marB="0" anchor="ctr"/>
                </a:tc>
                <a:tc>
                  <a:txBody>
                    <a:bodyPr/>
                    <a:lstStyle/>
                    <a:p>
                      <a:pPr algn="ctr" fontAlgn="ctr"/>
                      <a:r>
                        <a:rPr lang="en-US" sz="1600" u="none" strike="noStrike">
                          <a:effectLst/>
                          <a:hlinkClick r:id="rId3"/>
                        </a:rPr>
                        <a:t>Function[20]</a:t>
                      </a:r>
                      <a:endParaRPr lang="en-US" sz="1600" b="1" i="0" u="none" strike="noStrike">
                        <a:solidFill>
                          <a:srgbClr val="202122"/>
                        </a:solidFill>
                        <a:effectLst/>
                        <a:latin typeface="Arial" panose="020B0604020202020204" pitchFamily="34" charset="0"/>
                        <a:ea typeface="宋体" panose="02010600030101010101" pitchFamily="2" charset="-122"/>
                      </a:endParaRPr>
                    </a:p>
                  </a:txBody>
                  <a:tcPr marL="1910" marR="1910" marT="1910" marB="0" anchor="ctr"/>
                </a:tc>
                <a:extLst>
                  <a:ext uri="{0D108BD9-81ED-4DB2-BD59-A6C34878D82A}">
                    <a16:rowId xmlns:a16="http://schemas.microsoft.com/office/drawing/2014/main" val="572017274"/>
                  </a:ext>
                </a:extLst>
              </a:tr>
              <a:tr h="400237">
                <a:tc rowSpan="4">
                  <a:txBody>
                    <a:bodyPr/>
                    <a:lstStyle/>
                    <a:p>
                      <a:pPr algn="ctr" fontAlgn="ctr"/>
                      <a:r>
                        <a:rPr lang="en-US" sz="1600" u="none" strike="noStrike" dirty="0">
                          <a:effectLst/>
                        </a:rPr>
                        <a:t>Host</a:t>
                      </a:r>
                      <a:endParaRPr lang="en-US" sz="1600" b="1" i="0" u="none" strike="noStrike" dirty="0">
                        <a:solidFill>
                          <a:srgbClr val="202122"/>
                        </a:solidFill>
                        <a:effectLst/>
                        <a:latin typeface="Arial" panose="020B0604020202020204" pitchFamily="34" charset="0"/>
                        <a:ea typeface="宋体" panose="02010600030101010101" pitchFamily="2" charset="-122"/>
                      </a:endParaRPr>
                    </a:p>
                    <a:p>
                      <a:pPr algn="ctr" fontAlgn="ctr"/>
                      <a:r>
                        <a:rPr lang="en-US" sz="1600" u="none" strike="noStrike" dirty="0">
                          <a:effectLst/>
                        </a:rPr>
                        <a:t>layers</a:t>
                      </a:r>
                      <a:endParaRPr lang="en-US" sz="1600" b="1" i="0" u="none" strike="noStrike" dirty="0">
                        <a:solidFill>
                          <a:srgbClr val="202122"/>
                        </a:solidFill>
                        <a:effectLst/>
                        <a:latin typeface="Arial" panose="020B0604020202020204" pitchFamily="34" charset="0"/>
                        <a:ea typeface="宋体" panose="02010600030101010101" pitchFamily="2" charset="-122"/>
                      </a:endParaRPr>
                    </a:p>
                  </a:txBody>
                  <a:tcPr marL="1910" marR="1910" marT="1910" marB="0" anchor="ctr"/>
                </a:tc>
                <a:tc>
                  <a:txBody>
                    <a:bodyPr/>
                    <a:lstStyle/>
                    <a:p>
                      <a:pPr algn="r" fontAlgn="ctr"/>
                      <a:r>
                        <a:rPr lang="en-US" sz="1600" u="none" strike="noStrike">
                          <a:effectLst/>
                        </a:rPr>
                        <a:t>7</a:t>
                      </a:r>
                      <a:endParaRPr lang="en-US" sz="1600" b="0" i="0" u="none" strike="noStrike">
                        <a:solidFill>
                          <a:srgbClr val="202122"/>
                        </a:solidFill>
                        <a:effectLst/>
                        <a:latin typeface="Arial" panose="020B0604020202020204" pitchFamily="34" charset="0"/>
                        <a:ea typeface="宋体" panose="02010600030101010101" pitchFamily="2" charset="-122"/>
                      </a:endParaRPr>
                    </a:p>
                  </a:txBody>
                  <a:tcPr marL="1910" marR="1910" marT="1910" marB="0" anchor="ctr"/>
                </a:tc>
                <a:tc>
                  <a:txBody>
                    <a:bodyPr/>
                    <a:lstStyle/>
                    <a:p>
                      <a:pPr algn="l" fontAlgn="ctr"/>
                      <a:r>
                        <a:rPr lang="en-US" sz="1600" u="none" strike="noStrike">
                          <a:effectLst/>
                          <a:hlinkClick r:id="rId4" tooltip="https://en.wikipedia.org/wiki/Application_layer"/>
                        </a:rPr>
                        <a:t>Application</a:t>
                      </a:r>
                      <a:endParaRPr lang="en-US" sz="1600" b="0" i="0" u="none" strike="noStrike">
                        <a:solidFill>
                          <a:srgbClr val="0645AD"/>
                        </a:solidFill>
                        <a:effectLst/>
                        <a:latin typeface="Arial" panose="020B0604020202020204" pitchFamily="34" charset="0"/>
                        <a:ea typeface="宋体" panose="02010600030101010101" pitchFamily="2" charset="-122"/>
                      </a:endParaRPr>
                    </a:p>
                  </a:txBody>
                  <a:tcPr marL="1910" marR="1910" marT="1910" marB="0" anchor="ctr"/>
                </a:tc>
                <a:tc rowSpan="3">
                  <a:txBody>
                    <a:bodyPr/>
                    <a:lstStyle/>
                    <a:p>
                      <a:pPr algn="l" fontAlgn="ctr"/>
                      <a:r>
                        <a:rPr lang="en-US" sz="1600" u="none" strike="noStrike" dirty="0">
                          <a:effectLst/>
                          <a:hlinkClick r:id="rId5" tooltip="https://en.wikipedia.org/wiki/Data_(computing)"/>
                        </a:rPr>
                        <a:t>Data</a:t>
                      </a:r>
                      <a:endParaRPr lang="en-US" sz="1600" b="0" i="0" u="none" strike="noStrike" dirty="0">
                        <a:solidFill>
                          <a:srgbClr val="0645AD"/>
                        </a:solidFill>
                        <a:effectLst/>
                        <a:latin typeface="Arial" panose="020B0604020202020204" pitchFamily="34" charset="0"/>
                        <a:ea typeface="宋体" panose="02010600030101010101" pitchFamily="2" charset="-122"/>
                      </a:endParaRPr>
                    </a:p>
                  </a:txBody>
                  <a:tcPr marL="1910" marR="1910" marT="1910" marB="0" anchor="ctr"/>
                </a:tc>
                <a:tc>
                  <a:txBody>
                    <a:bodyPr/>
                    <a:lstStyle/>
                    <a:p>
                      <a:pPr algn="l" fontAlgn="ctr"/>
                      <a:r>
                        <a:rPr lang="en-US" sz="1600" u="none" strike="noStrike">
                          <a:effectLst/>
                          <a:hlinkClick r:id="rId6" tooltip="https://en.wikipedia.org/wiki/API"/>
                        </a:rPr>
                        <a:t>High-level APIs, including resource sharing, remote file access</a:t>
                      </a:r>
                      <a:endParaRPr lang="en-US" sz="1600" b="0" i="0" u="none" strike="noStrike">
                        <a:solidFill>
                          <a:srgbClr val="202122"/>
                        </a:solidFill>
                        <a:effectLst/>
                        <a:latin typeface="Arial" panose="020B0604020202020204" pitchFamily="34" charset="0"/>
                        <a:ea typeface="宋体" panose="02010600030101010101" pitchFamily="2" charset="-122"/>
                      </a:endParaRPr>
                    </a:p>
                  </a:txBody>
                  <a:tcPr marL="1910" marR="1910" marT="1910" marB="0" anchor="ctr"/>
                </a:tc>
                <a:extLst>
                  <a:ext uri="{0D108BD9-81ED-4DB2-BD59-A6C34878D82A}">
                    <a16:rowId xmlns:a16="http://schemas.microsoft.com/office/drawing/2014/main" val="1660315054"/>
                  </a:ext>
                </a:extLst>
              </a:tr>
              <a:tr h="925131">
                <a:tc vMerge="1">
                  <a:txBody>
                    <a:bodyPr/>
                    <a:lstStyle/>
                    <a:p>
                      <a:pPr algn="ctr" fontAlgn="ctr"/>
                      <a:endParaRPr lang="en-US" sz="1200" b="1" i="0" u="none" strike="noStrike" dirty="0">
                        <a:solidFill>
                          <a:srgbClr val="202122"/>
                        </a:solidFill>
                        <a:effectLst/>
                        <a:latin typeface="Arial" panose="020B0604020202020204" pitchFamily="34" charset="0"/>
                        <a:ea typeface="宋体" panose="02010600030101010101" pitchFamily="2" charset="-122"/>
                      </a:endParaRPr>
                    </a:p>
                  </a:txBody>
                  <a:tcPr marL="1910" marR="1910" marT="1910" marB="0" anchor="ctr"/>
                </a:tc>
                <a:tc>
                  <a:txBody>
                    <a:bodyPr/>
                    <a:lstStyle/>
                    <a:p>
                      <a:pPr algn="r" fontAlgn="ctr"/>
                      <a:r>
                        <a:rPr lang="en-US" sz="1600" u="none" strike="noStrike">
                          <a:effectLst/>
                        </a:rPr>
                        <a:t>6</a:t>
                      </a:r>
                      <a:endParaRPr lang="en-US" sz="1600" b="0" i="0" u="none" strike="noStrike">
                        <a:solidFill>
                          <a:srgbClr val="202122"/>
                        </a:solidFill>
                        <a:effectLst/>
                        <a:latin typeface="Arial" panose="020B0604020202020204" pitchFamily="34" charset="0"/>
                        <a:ea typeface="宋体" panose="02010600030101010101" pitchFamily="2" charset="-122"/>
                      </a:endParaRPr>
                    </a:p>
                  </a:txBody>
                  <a:tcPr marL="1910" marR="1910" marT="1910" marB="0" anchor="ctr"/>
                </a:tc>
                <a:tc>
                  <a:txBody>
                    <a:bodyPr/>
                    <a:lstStyle/>
                    <a:p>
                      <a:pPr algn="l" fontAlgn="ctr"/>
                      <a:r>
                        <a:rPr lang="en-US" sz="1600" u="none" strike="noStrike" dirty="0">
                          <a:effectLst/>
                          <a:hlinkClick r:id="rId7" tooltip="https://en.wikipedia.org/wiki/Presentation_layer"/>
                        </a:rPr>
                        <a:t>Presentation</a:t>
                      </a:r>
                      <a:endParaRPr lang="en-US" sz="1600" b="0" i="0" u="none" strike="noStrike" dirty="0">
                        <a:solidFill>
                          <a:srgbClr val="0645AD"/>
                        </a:solidFill>
                        <a:effectLst/>
                        <a:latin typeface="Arial" panose="020B0604020202020204" pitchFamily="34" charset="0"/>
                        <a:ea typeface="宋体" panose="02010600030101010101" pitchFamily="2" charset="-122"/>
                      </a:endParaRPr>
                    </a:p>
                  </a:txBody>
                  <a:tcPr marL="1910" marR="1910" marT="1910" marB="0" anchor="ctr"/>
                </a:tc>
                <a:tc vMerge="1">
                  <a:txBody>
                    <a:bodyPr/>
                    <a:lstStyle/>
                    <a:p>
                      <a:endParaRPr lang="en-US"/>
                    </a:p>
                  </a:txBody>
                  <a:tcPr/>
                </a:tc>
                <a:tc>
                  <a:txBody>
                    <a:bodyPr/>
                    <a:lstStyle/>
                    <a:p>
                      <a:pPr algn="l" fontAlgn="ctr"/>
                      <a:r>
                        <a:rPr lang="en-US" sz="1600" u="none" strike="noStrike">
                          <a:effectLst/>
                        </a:rPr>
                        <a:t>Translation of data between a networking service and an application; including character encoding, data compression and encryption/decryption</a:t>
                      </a:r>
                      <a:endParaRPr lang="en-US" sz="1600" b="0" i="0" u="none" strike="noStrike">
                        <a:solidFill>
                          <a:srgbClr val="202122"/>
                        </a:solidFill>
                        <a:effectLst/>
                        <a:latin typeface="Arial" panose="020B0604020202020204" pitchFamily="34" charset="0"/>
                        <a:ea typeface="宋体" panose="02010600030101010101" pitchFamily="2" charset="-122"/>
                      </a:endParaRPr>
                    </a:p>
                  </a:txBody>
                  <a:tcPr marL="1910" marR="1910" marT="1910" marB="0" anchor="ctr"/>
                </a:tc>
                <a:extLst>
                  <a:ext uri="{0D108BD9-81ED-4DB2-BD59-A6C34878D82A}">
                    <a16:rowId xmlns:a16="http://schemas.microsoft.com/office/drawing/2014/main" val="3010893802"/>
                  </a:ext>
                </a:extLst>
              </a:tr>
              <a:tr h="925131">
                <a:tc vMerge="1">
                  <a:txBody>
                    <a:bodyPr/>
                    <a:lstStyle/>
                    <a:p>
                      <a:pPr algn="l" fontAlgn="ctr"/>
                      <a:endParaRPr lang="en-US" sz="1200" b="0" i="0" u="none" strike="noStrike" dirty="0">
                        <a:solidFill>
                          <a:srgbClr val="000000"/>
                        </a:solidFill>
                        <a:effectLst/>
                        <a:latin typeface="宋体" panose="02010600030101010101" pitchFamily="2" charset="-122"/>
                        <a:ea typeface="宋体" panose="02010600030101010101" pitchFamily="2" charset="-122"/>
                      </a:endParaRPr>
                    </a:p>
                  </a:txBody>
                  <a:tcPr marL="1910" marR="1910" marT="1910" marB="0" anchor="ctr"/>
                </a:tc>
                <a:tc>
                  <a:txBody>
                    <a:bodyPr/>
                    <a:lstStyle/>
                    <a:p>
                      <a:pPr algn="r" fontAlgn="ctr"/>
                      <a:r>
                        <a:rPr lang="en-US" sz="1600" u="none" strike="noStrike" dirty="0">
                          <a:effectLst/>
                        </a:rPr>
                        <a:t>5</a:t>
                      </a:r>
                      <a:endParaRPr lang="en-US" sz="1600" b="0" i="0" u="none" strike="noStrike" dirty="0">
                        <a:solidFill>
                          <a:srgbClr val="202122"/>
                        </a:solidFill>
                        <a:effectLst/>
                        <a:latin typeface="Arial" panose="020B0604020202020204" pitchFamily="34" charset="0"/>
                        <a:ea typeface="宋体" panose="02010600030101010101" pitchFamily="2" charset="-122"/>
                      </a:endParaRPr>
                    </a:p>
                  </a:txBody>
                  <a:tcPr marL="1910" marR="1910" marT="1910" marB="0" anchor="ctr"/>
                </a:tc>
                <a:tc>
                  <a:txBody>
                    <a:bodyPr/>
                    <a:lstStyle/>
                    <a:p>
                      <a:pPr algn="l" fontAlgn="ctr"/>
                      <a:r>
                        <a:rPr lang="en-US" sz="1600" u="none" strike="noStrike">
                          <a:effectLst/>
                          <a:hlinkClick r:id="rId8" tooltip="https://en.wikipedia.org/wiki/Session_layer"/>
                        </a:rPr>
                        <a:t>Session</a:t>
                      </a:r>
                      <a:endParaRPr lang="en-US" sz="1600" b="0" i="0" u="none" strike="noStrike">
                        <a:solidFill>
                          <a:srgbClr val="0645AD"/>
                        </a:solidFill>
                        <a:effectLst/>
                        <a:latin typeface="Arial" panose="020B0604020202020204" pitchFamily="34" charset="0"/>
                        <a:ea typeface="宋体" panose="02010600030101010101" pitchFamily="2" charset="-122"/>
                      </a:endParaRPr>
                    </a:p>
                  </a:txBody>
                  <a:tcPr marL="1910" marR="1910" marT="1910" marB="0" anchor="ctr"/>
                </a:tc>
                <a:tc vMerge="1">
                  <a:txBody>
                    <a:bodyPr/>
                    <a:lstStyle/>
                    <a:p>
                      <a:endParaRPr lang="en-US"/>
                    </a:p>
                  </a:txBody>
                  <a:tcPr/>
                </a:tc>
                <a:tc>
                  <a:txBody>
                    <a:bodyPr/>
                    <a:lstStyle/>
                    <a:p>
                      <a:pPr algn="l" fontAlgn="ctr"/>
                      <a:r>
                        <a:rPr lang="en-US" sz="1600" u="none" strike="noStrike">
                          <a:effectLst/>
                          <a:hlinkClick r:id="rId9" tooltip="https://en.wikipedia.org/wiki/Session_(computer_science)"/>
                        </a:rPr>
                        <a:t>Managing communication sessions, i.e., continuous exchange of information in the form of multiple back-and-forth transmissions between two nodes</a:t>
                      </a:r>
                      <a:endParaRPr lang="en-US" sz="1600" b="0" i="0" u="none" strike="noStrike">
                        <a:solidFill>
                          <a:srgbClr val="202122"/>
                        </a:solidFill>
                        <a:effectLst/>
                        <a:latin typeface="Arial" panose="020B0604020202020204" pitchFamily="34" charset="0"/>
                        <a:ea typeface="宋体" panose="02010600030101010101" pitchFamily="2" charset="-122"/>
                      </a:endParaRPr>
                    </a:p>
                  </a:txBody>
                  <a:tcPr marL="1910" marR="1910" marT="1910" marB="0" anchor="ctr"/>
                </a:tc>
                <a:extLst>
                  <a:ext uri="{0D108BD9-81ED-4DB2-BD59-A6C34878D82A}">
                    <a16:rowId xmlns:a16="http://schemas.microsoft.com/office/drawing/2014/main" val="799883976"/>
                  </a:ext>
                </a:extLst>
              </a:tr>
              <a:tr h="749371">
                <a:tc vMerge="1">
                  <a:txBody>
                    <a:bodyPr/>
                    <a:lstStyle/>
                    <a:p>
                      <a:pPr algn="l" fontAlgn="ctr"/>
                      <a:endParaRPr lang="en-US" sz="1200" b="0" i="0" u="none" strike="noStrike" dirty="0">
                        <a:solidFill>
                          <a:srgbClr val="000000"/>
                        </a:solidFill>
                        <a:effectLst/>
                        <a:latin typeface="宋体" panose="02010600030101010101" pitchFamily="2" charset="-122"/>
                        <a:ea typeface="宋体" panose="02010600030101010101" pitchFamily="2" charset="-122"/>
                      </a:endParaRPr>
                    </a:p>
                  </a:txBody>
                  <a:tcPr marL="1910" marR="1910" marT="1910" marB="0" anchor="ctr"/>
                </a:tc>
                <a:tc>
                  <a:txBody>
                    <a:bodyPr/>
                    <a:lstStyle/>
                    <a:p>
                      <a:pPr algn="r" fontAlgn="ctr"/>
                      <a:r>
                        <a:rPr lang="en-US" sz="1600" u="none" strike="noStrike">
                          <a:effectLst/>
                        </a:rPr>
                        <a:t>4</a:t>
                      </a:r>
                      <a:endParaRPr lang="en-US" sz="1600" b="0" i="0" u="none" strike="noStrike">
                        <a:solidFill>
                          <a:srgbClr val="202122"/>
                        </a:solidFill>
                        <a:effectLst/>
                        <a:latin typeface="Arial" panose="020B0604020202020204" pitchFamily="34" charset="0"/>
                        <a:ea typeface="宋体" panose="02010600030101010101" pitchFamily="2" charset="-122"/>
                      </a:endParaRPr>
                    </a:p>
                  </a:txBody>
                  <a:tcPr marL="1910" marR="1910" marT="1910" marB="0" anchor="ctr"/>
                </a:tc>
                <a:tc>
                  <a:txBody>
                    <a:bodyPr/>
                    <a:lstStyle/>
                    <a:p>
                      <a:pPr algn="l" fontAlgn="ctr"/>
                      <a:r>
                        <a:rPr lang="en-US" sz="1600" u="none" strike="noStrike" dirty="0">
                          <a:effectLst/>
                          <a:hlinkClick r:id="rId10" tooltip="https://en.wikipedia.org/wiki/Transport_layer"/>
                        </a:rPr>
                        <a:t>Transport</a:t>
                      </a:r>
                      <a:endParaRPr lang="en-US" sz="1600" b="0" i="0" u="none" strike="noStrike" dirty="0">
                        <a:solidFill>
                          <a:srgbClr val="0645AD"/>
                        </a:solidFill>
                        <a:effectLst/>
                        <a:latin typeface="Arial" panose="020B0604020202020204" pitchFamily="34" charset="0"/>
                        <a:ea typeface="宋体" panose="02010600030101010101" pitchFamily="2" charset="-122"/>
                      </a:endParaRPr>
                    </a:p>
                  </a:txBody>
                  <a:tcPr marL="1910" marR="1910" marT="1910" marB="0" anchor="ctr"/>
                </a:tc>
                <a:tc>
                  <a:txBody>
                    <a:bodyPr/>
                    <a:lstStyle/>
                    <a:p>
                      <a:pPr algn="l" fontAlgn="ctr"/>
                      <a:r>
                        <a:rPr lang="en-US" sz="1600" u="none" strike="noStrike">
                          <a:effectLst/>
                        </a:rPr>
                        <a:t>Segment, Datagram</a:t>
                      </a:r>
                      <a:endParaRPr lang="en-US" sz="1600" b="0" i="0" u="none" strike="noStrike">
                        <a:solidFill>
                          <a:srgbClr val="0645AD"/>
                        </a:solidFill>
                        <a:effectLst/>
                        <a:latin typeface="Arial" panose="020B0604020202020204" pitchFamily="34" charset="0"/>
                        <a:ea typeface="宋体" panose="02010600030101010101" pitchFamily="2" charset="-122"/>
                      </a:endParaRPr>
                    </a:p>
                  </a:txBody>
                  <a:tcPr marL="1910" marR="1910" marT="1910" marB="0" anchor="ctr"/>
                </a:tc>
                <a:tc>
                  <a:txBody>
                    <a:bodyPr/>
                    <a:lstStyle/>
                    <a:p>
                      <a:pPr algn="l" fontAlgn="ctr"/>
                      <a:r>
                        <a:rPr lang="en-US" sz="1600" u="none" strike="noStrike">
                          <a:effectLst/>
                        </a:rPr>
                        <a:t>Reliable transmission of data segments between points on a network, including segmentation, acknowledgement and multiplexing</a:t>
                      </a:r>
                      <a:endParaRPr lang="en-US" sz="1600" b="0" i="0" u="none" strike="noStrike">
                        <a:solidFill>
                          <a:srgbClr val="202122"/>
                        </a:solidFill>
                        <a:effectLst/>
                        <a:latin typeface="Arial" panose="020B0604020202020204" pitchFamily="34" charset="0"/>
                        <a:ea typeface="宋体" panose="02010600030101010101" pitchFamily="2" charset="-122"/>
                      </a:endParaRPr>
                    </a:p>
                  </a:txBody>
                  <a:tcPr marL="1910" marR="1910" marT="1910" marB="0" anchor="ctr"/>
                </a:tc>
                <a:extLst>
                  <a:ext uri="{0D108BD9-81ED-4DB2-BD59-A6C34878D82A}">
                    <a16:rowId xmlns:a16="http://schemas.microsoft.com/office/drawing/2014/main" val="3330674480"/>
                  </a:ext>
                </a:extLst>
              </a:tr>
              <a:tr h="529670">
                <a:tc rowSpan="3">
                  <a:txBody>
                    <a:bodyPr/>
                    <a:lstStyle/>
                    <a:p>
                      <a:pPr algn="ctr" fontAlgn="ctr"/>
                      <a:r>
                        <a:rPr lang="en-US" sz="1600" u="none" strike="noStrike" dirty="0">
                          <a:effectLst/>
                        </a:rPr>
                        <a:t>Media</a:t>
                      </a:r>
                      <a:endParaRPr lang="en-US" sz="1600" b="1" i="0" u="none" strike="noStrike" dirty="0">
                        <a:solidFill>
                          <a:srgbClr val="202122"/>
                        </a:solidFill>
                        <a:effectLst/>
                        <a:latin typeface="Arial" panose="020B0604020202020204" pitchFamily="34" charset="0"/>
                        <a:ea typeface="宋体" panose="02010600030101010101" pitchFamily="2" charset="-122"/>
                      </a:endParaRPr>
                    </a:p>
                    <a:p>
                      <a:pPr algn="ctr" fontAlgn="ctr"/>
                      <a:r>
                        <a:rPr lang="en-US" sz="1600" u="none" strike="noStrike" dirty="0">
                          <a:effectLst/>
                        </a:rPr>
                        <a:t>layers</a:t>
                      </a:r>
                      <a:endParaRPr lang="en-US" sz="1600" b="1" i="0" u="none" strike="noStrike" dirty="0">
                        <a:solidFill>
                          <a:srgbClr val="202122"/>
                        </a:solidFill>
                        <a:effectLst/>
                        <a:latin typeface="Arial" panose="020B0604020202020204" pitchFamily="34" charset="0"/>
                        <a:ea typeface="宋体" panose="02010600030101010101" pitchFamily="2" charset="-122"/>
                      </a:endParaRPr>
                    </a:p>
                  </a:txBody>
                  <a:tcPr marL="1910" marR="1910" marT="1910" marB="0" anchor="ctr"/>
                </a:tc>
                <a:tc>
                  <a:txBody>
                    <a:bodyPr/>
                    <a:lstStyle/>
                    <a:p>
                      <a:pPr algn="r" fontAlgn="ctr"/>
                      <a:r>
                        <a:rPr lang="en-US" sz="1600" u="none" strike="noStrike">
                          <a:effectLst/>
                        </a:rPr>
                        <a:t>3</a:t>
                      </a:r>
                      <a:endParaRPr lang="en-US" sz="1600" b="0" i="0" u="none" strike="noStrike">
                        <a:solidFill>
                          <a:srgbClr val="202122"/>
                        </a:solidFill>
                        <a:effectLst/>
                        <a:latin typeface="Arial" panose="020B0604020202020204" pitchFamily="34" charset="0"/>
                        <a:ea typeface="宋体" panose="02010600030101010101" pitchFamily="2" charset="-122"/>
                      </a:endParaRPr>
                    </a:p>
                  </a:txBody>
                  <a:tcPr marL="1910" marR="1910" marT="1910" marB="0" anchor="ctr"/>
                </a:tc>
                <a:tc>
                  <a:txBody>
                    <a:bodyPr/>
                    <a:lstStyle/>
                    <a:p>
                      <a:pPr algn="l" fontAlgn="ctr"/>
                      <a:r>
                        <a:rPr lang="en-US" sz="1600" u="none" strike="noStrike">
                          <a:effectLst/>
                          <a:hlinkClick r:id="rId11" tooltip="https://en.wikipedia.org/wiki/Network_layer"/>
                        </a:rPr>
                        <a:t>Network</a:t>
                      </a:r>
                      <a:endParaRPr lang="en-US" sz="1600" b="0" i="0" u="none" strike="noStrike">
                        <a:solidFill>
                          <a:srgbClr val="0645AD"/>
                        </a:solidFill>
                        <a:effectLst/>
                        <a:latin typeface="Arial" panose="020B0604020202020204" pitchFamily="34" charset="0"/>
                        <a:ea typeface="宋体" panose="02010600030101010101" pitchFamily="2" charset="-122"/>
                      </a:endParaRPr>
                    </a:p>
                  </a:txBody>
                  <a:tcPr marL="1910" marR="1910" marT="1910" marB="0" anchor="ctr"/>
                </a:tc>
                <a:tc>
                  <a:txBody>
                    <a:bodyPr/>
                    <a:lstStyle/>
                    <a:p>
                      <a:pPr algn="l" fontAlgn="ctr"/>
                      <a:r>
                        <a:rPr lang="en-US" sz="1600" u="none" strike="noStrike">
                          <a:effectLst/>
                          <a:hlinkClick r:id="rId12" tooltip="https://en.wikipedia.org/wiki/Network_packet"/>
                        </a:rPr>
                        <a:t>Packet</a:t>
                      </a:r>
                      <a:endParaRPr lang="en-US" sz="1600" b="0" i="0" u="none" strike="noStrike">
                        <a:solidFill>
                          <a:srgbClr val="0645AD"/>
                        </a:solidFill>
                        <a:effectLst/>
                        <a:latin typeface="Arial" panose="020B0604020202020204" pitchFamily="34" charset="0"/>
                        <a:ea typeface="宋体" panose="02010600030101010101" pitchFamily="2" charset="-122"/>
                      </a:endParaRPr>
                    </a:p>
                  </a:txBody>
                  <a:tcPr marL="1910" marR="1910" marT="1910" marB="0" anchor="ctr"/>
                </a:tc>
                <a:tc>
                  <a:txBody>
                    <a:bodyPr/>
                    <a:lstStyle/>
                    <a:p>
                      <a:pPr algn="l" fontAlgn="ctr"/>
                      <a:r>
                        <a:rPr lang="en-US" sz="1600" u="none" strike="noStrike">
                          <a:effectLst/>
                        </a:rPr>
                        <a:t>Structuring and managing a multi-node network, including addressing, routing and traffic control</a:t>
                      </a:r>
                      <a:endParaRPr lang="en-US" sz="1600" b="0" i="0" u="none" strike="noStrike">
                        <a:solidFill>
                          <a:srgbClr val="202122"/>
                        </a:solidFill>
                        <a:effectLst/>
                        <a:latin typeface="Arial" panose="020B0604020202020204" pitchFamily="34" charset="0"/>
                        <a:ea typeface="宋体" panose="02010600030101010101" pitchFamily="2" charset="-122"/>
                      </a:endParaRPr>
                    </a:p>
                  </a:txBody>
                  <a:tcPr marL="1910" marR="1910" marT="1910" marB="0" anchor="ctr"/>
                </a:tc>
                <a:extLst>
                  <a:ext uri="{0D108BD9-81ED-4DB2-BD59-A6C34878D82A}">
                    <a16:rowId xmlns:a16="http://schemas.microsoft.com/office/drawing/2014/main" val="1343596246"/>
                  </a:ext>
                </a:extLst>
              </a:tr>
              <a:tr h="529670">
                <a:tc vMerge="1">
                  <a:txBody>
                    <a:bodyPr/>
                    <a:lstStyle/>
                    <a:p>
                      <a:pPr algn="ctr" fontAlgn="ctr"/>
                      <a:endParaRPr lang="en-US" sz="1200" b="1" i="0" u="none" strike="noStrike" dirty="0">
                        <a:solidFill>
                          <a:srgbClr val="202122"/>
                        </a:solidFill>
                        <a:effectLst/>
                        <a:latin typeface="Arial" panose="020B0604020202020204" pitchFamily="34" charset="0"/>
                        <a:ea typeface="宋体" panose="02010600030101010101" pitchFamily="2" charset="-122"/>
                      </a:endParaRPr>
                    </a:p>
                  </a:txBody>
                  <a:tcPr marL="1910" marR="1910" marT="1910" marB="0" anchor="ctr"/>
                </a:tc>
                <a:tc>
                  <a:txBody>
                    <a:bodyPr/>
                    <a:lstStyle/>
                    <a:p>
                      <a:pPr algn="r" fontAlgn="ctr"/>
                      <a:r>
                        <a:rPr lang="en-US" sz="1600" u="none" strike="noStrike">
                          <a:effectLst/>
                        </a:rPr>
                        <a:t>2</a:t>
                      </a:r>
                      <a:endParaRPr lang="en-US" sz="1600" b="0" i="0" u="none" strike="noStrike">
                        <a:solidFill>
                          <a:srgbClr val="202122"/>
                        </a:solidFill>
                        <a:effectLst/>
                        <a:latin typeface="Arial" panose="020B0604020202020204" pitchFamily="34" charset="0"/>
                        <a:ea typeface="宋体" panose="02010600030101010101" pitchFamily="2" charset="-122"/>
                      </a:endParaRPr>
                    </a:p>
                  </a:txBody>
                  <a:tcPr marL="1910" marR="1910" marT="1910" marB="0" anchor="ctr"/>
                </a:tc>
                <a:tc>
                  <a:txBody>
                    <a:bodyPr/>
                    <a:lstStyle/>
                    <a:p>
                      <a:pPr algn="l" fontAlgn="ctr"/>
                      <a:r>
                        <a:rPr lang="en-US" sz="1600" u="none" strike="noStrike">
                          <a:effectLst/>
                          <a:hlinkClick r:id="rId13" tooltip="https://en.wikipedia.org/wiki/Data_link_layer"/>
                        </a:rPr>
                        <a:t>Data link</a:t>
                      </a:r>
                      <a:endParaRPr lang="en-US" sz="1600" b="0" i="0" u="none" strike="noStrike">
                        <a:solidFill>
                          <a:srgbClr val="0645AD"/>
                        </a:solidFill>
                        <a:effectLst/>
                        <a:latin typeface="Arial" panose="020B0604020202020204" pitchFamily="34" charset="0"/>
                        <a:ea typeface="宋体" panose="02010600030101010101" pitchFamily="2" charset="-122"/>
                      </a:endParaRPr>
                    </a:p>
                  </a:txBody>
                  <a:tcPr marL="1910" marR="1910" marT="1910" marB="0" anchor="ctr"/>
                </a:tc>
                <a:tc>
                  <a:txBody>
                    <a:bodyPr/>
                    <a:lstStyle/>
                    <a:p>
                      <a:pPr algn="l" fontAlgn="ctr"/>
                      <a:r>
                        <a:rPr lang="en-US" sz="1600" u="none" strike="noStrike">
                          <a:effectLst/>
                          <a:hlinkClick r:id="rId14" tooltip="https://en.wikipedia.org/wiki/Frame_(networking)"/>
                        </a:rPr>
                        <a:t>Frame</a:t>
                      </a:r>
                      <a:endParaRPr lang="en-US" sz="1600" b="0" i="0" u="none" strike="noStrike">
                        <a:solidFill>
                          <a:srgbClr val="0645AD"/>
                        </a:solidFill>
                        <a:effectLst/>
                        <a:latin typeface="Arial" panose="020B0604020202020204" pitchFamily="34" charset="0"/>
                        <a:ea typeface="宋体" panose="02010600030101010101" pitchFamily="2" charset="-122"/>
                      </a:endParaRPr>
                    </a:p>
                  </a:txBody>
                  <a:tcPr marL="1910" marR="1910" marT="1910" marB="0" anchor="ctr"/>
                </a:tc>
                <a:tc>
                  <a:txBody>
                    <a:bodyPr/>
                    <a:lstStyle/>
                    <a:p>
                      <a:pPr algn="l" fontAlgn="ctr"/>
                      <a:r>
                        <a:rPr lang="en-US" sz="1600" u="none" strike="noStrike">
                          <a:effectLst/>
                        </a:rPr>
                        <a:t>Reliable transmission of data frames between two nodes connected by a physical layer</a:t>
                      </a:r>
                      <a:endParaRPr lang="en-US" sz="1600" b="0" i="0" u="none" strike="noStrike">
                        <a:solidFill>
                          <a:srgbClr val="202122"/>
                        </a:solidFill>
                        <a:effectLst/>
                        <a:latin typeface="Arial" panose="020B0604020202020204" pitchFamily="34" charset="0"/>
                        <a:ea typeface="宋体" panose="02010600030101010101" pitchFamily="2" charset="-122"/>
                      </a:endParaRPr>
                    </a:p>
                  </a:txBody>
                  <a:tcPr marL="1910" marR="1910" marT="1910" marB="0" anchor="ctr"/>
                </a:tc>
                <a:extLst>
                  <a:ext uri="{0D108BD9-81ED-4DB2-BD59-A6C34878D82A}">
                    <a16:rowId xmlns:a16="http://schemas.microsoft.com/office/drawing/2014/main" val="3591594142"/>
                  </a:ext>
                </a:extLst>
              </a:tr>
              <a:tr h="441790">
                <a:tc vMerge="1">
                  <a:txBody>
                    <a:bodyPr/>
                    <a:lstStyle/>
                    <a:p>
                      <a:pPr algn="l" fontAlgn="ctr"/>
                      <a:endParaRPr lang="en-US" sz="1200" b="0" i="0" u="none" strike="noStrike" dirty="0">
                        <a:solidFill>
                          <a:srgbClr val="000000"/>
                        </a:solidFill>
                        <a:effectLst/>
                        <a:latin typeface="宋体" panose="02010600030101010101" pitchFamily="2" charset="-122"/>
                        <a:ea typeface="宋体" panose="02010600030101010101" pitchFamily="2" charset="-122"/>
                      </a:endParaRPr>
                    </a:p>
                  </a:txBody>
                  <a:tcPr marL="1910" marR="1910" marT="1910" marB="0" anchor="ctr"/>
                </a:tc>
                <a:tc>
                  <a:txBody>
                    <a:bodyPr/>
                    <a:lstStyle/>
                    <a:p>
                      <a:pPr algn="r" fontAlgn="ctr"/>
                      <a:r>
                        <a:rPr lang="en-US" sz="1600" u="none" strike="noStrike">
                          <a:effectLst/>
                        </a:rPr>
                        <a:t>1</a:t>
                      </a:r>
                      <a:endParaRPr lang="en-US" sz="1600" b="0" i="0" u="none" strike="noStrike">
                        <a:solidFill>
                          <a:srgbClr val="202122"/>
                        </a:solidFill>
                        <a:effectLst/>
                        <a:latin typeface="Arial" panose="020B0604020202020204" pitchFamily="34" charset="0"/>
                        <a:ea typeface="宋体" panose="02010600030101010101" pitchFamily="2" charset="-122"/>
                      </a:endParaRPr>
                    </a:p>
                  </a:txBody>
                  <a:tcPr marL="1910" marR="1910" marT="1910" marB="0" anchor="ctr"/>
                </a:tc>
                <a:tc>
                  <a:txBody>
                    <a:bodyPr/>
                    <a:lstStyle/>
                    <a:p>
                      <a:pPr algn="l" fontAlgn="ctr"/>
                      <a:r>
                        <a:rPr lang="en-US" sz="1600" u="none" strike="noStrike">
                          <a:effectLst/>
                          <a:hlinkClick r:id="rId15" tooltip="https://en.wikipedia.org/wiki/Physical_layer"/>
                        </a:rPr>
                        <a:t>Physical</a:t>
                      </a:r>
                      <a:endParaRPr lang="en-US" sz="1600" b="0" i="0" u="none" strike="noStrike">
                        <a:solidFill>
                          <a:srgbClr val="0645AD"/>
                        </a:solidFill>
                        <a:effectLst/>
                        <a:latin typeface="Arial" panose="020B0604020202020204" pitchFamily="34" charset="0"/>
                        <a:ea typeface="宋体" panose="02010600030101010101" pitchFamily="2" charset="-122"/>
                      </a:endParaRPr>
                    </a:p>
                  </a:txBody>
                  <a:tcPr marL="1910" marR="1910" marT="1910" marB="0" anchor="ctr"/>
                </a:tc>
                <a:tc>
                  <a:txBody>
                    <a:bodyPr/>
                    <a:lstStyle/>
                    <a:p>
                      <a:pPr algn="l" fontAlgn="ctr"/>
                      <a:r>
                        <a:rPr lang="en-US" sz="1600" u="none" strike="noStrike">
                          <a:effectLst/>
                        </a:rPr>
                        <a:t>Bit, Symbol</a:t>
                      </a:r>
                      <a:endParaRPr lang="en-US" sz="1600" b="0" i="0" u="none" strike="noStrike">
                        <a:solidFill>
                          <a:srgbClr val="0645AD"/>
                        </a:solidFill>
                        <a:effectLst/>
                        <a:latin typeface="Arial" panose="020B0604020202020204" pitchFamily="34" charset="0"/>
                        <a:ea typeface="宋体" panose="02010600030101010101" pitchFamily="2" charset="-122"/>
                      </a:endParaRPr>
                    </a:p>
                  </a:txBody>
                  <a:tcPr marL="1910" marR="1910" marT="1910" marB="0" anchor="ctr"/>
                </a:tc>
                <a:tc>
                  <a:txBody>
                    <a:bodyPr/>
                    <a:lstStyle/>
                    <a:p>
                      <a:pPr algn="l" fontAlgn="ctr"/>
                      <a:r>
                        <a:rPr lang="en-US" sz="1600" u="none" strike="noStrike" dirty="0">
                          <a:effectLst/>
                        </a:rPr>
                        <a:t>Transmission and reception of raw bit streams over a physical medium</a:t>
                      </a:r>
                      <a:endParaRPr lang="en-US" sz="1600" b="0" i="0" u="none" strike="noStrike" dirty="0">
                        <a:solidFill>
                          <a:srgbClr val="202122"/>
                        </a:solidFill>
                        <a:effectLst/>
                        <a:latin typeface="Arial" panose="020B0604020202020204" pitchFamily="34" charset="0"/>
                        <a:ea typeface="宋体" panose="02010600030101010101" pitchFamily="2" charset="-122"/>
                      </a:endParaRPr>
                    </a:p>
                  </a:txBody>
                  <a:tcPr marL="1910" marR="1910" marT="1910" marB="0" anchor="ctr"/>
                </a:tc>
                <a:extLst>
                  <a:ext uri="{0D108BD9-81ED-4DB2-BD59-A6C34878D82A}">
                    <a16:rowId xmlns:a16="http://schemas.microsoft.com/office/drawing/2014/main" val="1533530836"/>
                  </a:ext>
                </a:extLst>
              </a:tr>
            </a:tbl>
          </a:graphicData>
        </a:graphic>
      </p:graphicFrame>
      <p:sp>
        <p:nvSpPr>
          <p:cNvPr id="10" name="矩形 9"/>
          <p:cNvSpPr/>
          <p:nvPr/>
        </p:nvSpPr>
        <p:spPr>
          <a:xfrm>
            <a:off x="4088904" y="311608"/>
            <a:ext cx="4572000" cy="400110"/>
          </a:xfrm>
          <a:prstGeom prst="rect">
            <a:avLst/>
          </a:prstGeom>
        </p:spPr>
        <p:txBody>
          <a:bodyPr>
            <a:spAutoFit/>
          </a:bodyPr>
          <a:lstStyle/>
          <a:p>
            <a:r>
              <a:rPr lang="en-US" sz="2000" dirty="0">
                <a:highlight>
                  <a:srgbClr val="FFFF00"/>
                </a:highlight>
              </a:rPr>
              <a:t>OSI model</a:t>
            </a:r>
          </a:p>
        </p:txBody>
      </p:sp>
    </p:spTree>
    <p:extLst>
      <p:ext uri="{BB962C8B-B14F-4D97-AF65-F5344CB8AC3E}">
        <p14:creationId xmlns:p14="http://schemas.microsoft.com/office/powerpoint/2010/main" val="3720620439"/>
      </p:ext>
    </p:extLst>
  </p:cSld>
  <p:clrMapOvr>
    <a:masterClrMapping/>
  </p:clrMapOvr>
  <p:transition spd="slow">
    <p:pull dir="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DCC7AC-475E-1E4C-8CD6-1AECBEC28035}"/>
              </a:ext>
            </a:extLst>
          </p:cNvPr>
          <p:cNvSpPr>
            <a:spLocks noGrp="1"/>
          </p:cNvSpPr>
          <p:nvPr>
            <p:ph type="title"/>
          </p:nvPr>
        </p:nvSpPr>
        <p:spPr/>
        <p:txBody>
          <a:bodyPr/>
          <a:lstStyle/>
          <a:p>
            <a:r>
              <a:rPr lang="zh-CN" altLang="en-US" dirty="0"/>
              <a:t>本章内容</a:t>
            </a:r>
            <a:endParaRPr kumimoji="1" lang="zh-CN" altLang="en-US" dirty="0"/>
          </a:p>
        </p:txBody>
      </p:sp>
      <p:sp>
        <p:nvSpPr>
          <p:cNvPr id="3" name="内容占位符 2">
            <a:extLst>
              <a:ext uri="{FF2B5EF4-FFF2-40B4-BE49-F238E27FC236}">
                <a16:creationId xmlns:a16="http://schemas.microsoft.com/office/drawing/2014/main" id="{ED1732F0-50F7-8947-81D6-CBBAE8232DE9}"/>
              </a:ext>
            </a:extLst>
          </p:cNvPr>
          <p:cNvSpPr>
            <a:spLocks noGrp="1"/>
          </p:cNvSpPr>
          <p:nvPr>
            <p:ph idx="1"/>
          </p:nvPr>
        </p:nvSpPr>
        <p:spPr/>
        <p:txBody>
          <a:bodyPr>
            <a:normAutofit/>
          </a:bodyPr>
          <a:lstStyle/>
          <a:p>
            <a:pPr marL="0" indent="0">
              <a:lnSpc>
                <a:spcPct val="130000"/>
              </a:lnSpc>
              <a:buNone/>
            </a:pPr>
            <a:r>
              <a:rPr kumimoji="1" lang="en-US" altLang="zh-CN" dirty="0">
                <a:solidFill>
                  <a:srgbClr val="C00000"/>
                </a:solidFill>
              </a:rPr>
              <a:t>3.1 </a:t>
            </a:r>
            <a:r>
              <a:rPr kumimoji="1" lang="zh-CN" altLang="zh-CN" dirty="0">
                <a:solidFill>
                  <a:srgbClr val="C00000"/>
                </a:solidFill>
              </a:rPr>
              <a:t>数据链路层的设计问题</a:t>
            </a:r>
            <a:endParaRPr kumimoji="1" lang="en-US" altLang="zh-CN" dirty="0">
              <a:solidFill>
                <a:srgbClr val="C00000"/>
              </a:solidFill>
            </a:endParaRPr>
          </a:p>
          <a:p>
            <a:pPr marL="0" indent="0">
              <a:lnSpc>
                <a:spcPct val="130000"/>
              </a:lnSpc>
              <a:buNone/>
            </a:pPr>
            <a:r>
              <a:rPr kumimoji="1" lang="en-US" altLang="zh-CN" dirty="0"/>
              <a:t>3.2 </a:t>
            </a:r>
            <a:r>
              <a:rPr kumimoji="1" lang="zh-CN" altLang="zh-CN" dirty="0"/>
              <a:t>差错检测和纠正</a:t>
            </a:r>
            <a:endParaRPr kumimoji="1" lang="en-US" altLang="zh-CN" dirty="0"/>
          </a:p>
          <a:p>
            <a:pPr marL="0" indent="0">
              <a:lnSpc>
                <a:spcPct val="130000"/>
              </a:lnSpc>
              <a:buNone/>
            </a:pPr>
            <a:r>
              <a:rPr kumimoji="1" lang="en-US" altLang="zh-CN" dirty="0"/>
              <a:t>3.3 </a:t>
            </a:r>
            <a:r>
              <a:rPr kumimoji="1" lang="zh-CN" altLang="zh-CN" dirty="0"/>
              <a:t>基本的数据链路层协议</a:t>
            </a:r>
            <a:endParaRPr kumimoji="1" lang="zh-CN" altLang="en-US" dirty="0"/>
          </a:p>
          <a:p>
            <a:pPr marL="0" indent="0">
              <a:lnSpc>
                <a:spcPct val="130000"/>
              </a:lnSpc>
              <a:buNone/>
            </a:pPr>
            <a:r>
              <a:rPr kumimoji="1" lang="en-US" altLang="zh-CN" dirty="0"/>
              <a:t>3.4 </a:t>
            </a:r>
            <a:r>
              <a:rPr kumimoji="1" lang="zh-CN" altLang="zh-CN" dirty="0"/>
              <a:t>滑动窗口协议</a:t>
            </a:r>
            <a:endParaRPr kumimoji="1" lang="zh-CN" altLang="en-US" dirty="0"/>
          </a:p>
          <a:p>
            <a:pPr marL="0" indent="0">
              <a:lnSpc>
                <a:spcPct val="130000"/>
              </a:lnSpc>
              <a:buNone/>
            </a:pPr>
            <a:r>
              <a:rPr kumimoji="1" lang="en-US" altLang="zh-CN" dirty="0"/>
              <a:t>3.5 </a:t>
            </a:r>
            <a:r>
              <a:rPr kumimoji="1" lang="zh-CN" altLang="zh-CN" dirty="0"/>
              <a:t>数据链路协议实例</a:t>
            </a:r>
          </a:p>
        </p:txBody>
      </p:sp>
      <p:sp>
        <p:nvSpPr>
          <p:cNvPr id="4" name="灯片编号占位符 3">
            <a:extLst>
              <a:ext uri="{FF2B5EF4-FFF2-40B4-BE49-F238E27FC236}">
                <a16:creationId xmlns:a16="http://schemas.microsoft.com/office/drawing/2014/main" id="{B09265E6-1613-5248-876E-1FC70865DEDD}"/>
              </a:ext>
            </a:extLst>
          </p:cNvPr>
          <p:cNvSpPr>
            <a:spLocks noGrp="1"/>
          </p:cNvSpPr>
          <p:nvPr>
            <p:ph type="sldNum" sz="quarter" idx="12"/>
          </p:nvPr>
        </p:nvSpPr>
        <p:spPr/>
        <p:txBody>
          <a:bodyPr/>
          <a:lstStyle/>
          <a:p>
            <a:fld id="{8D4D1E41-7A09-AB4A-A4E1-09765ADA2698}" type="slidenum">
              <a:rPr kumimoji="1" lang="zh-CN" altLang="en-US" smtClean="0"/>
              <a:t>7</a:t>
            </a:fld>
            <a:endParaRPr kumimoji="1" lang="zh-CN" altLang="en-US" dirty="0"/>
          </a:p>
        </p:txBody>
      </p:sp>
      <p:sp>
        <p:nvSpPr>
          <p:cNvPr id="5" name="矩形标注 4">
            <a:extLst>
              <a:ext uri="{FF2B5EF4-FFF2-40B4-BE49-F238E27FC236}">
                <a16:creationId xmlns:a16="http://schemas.microsoft.com/office/drawing/2014/main" id="{E4BFCB96-0FA1-7740-8F94-683CEFB67F89}"/>
              </a:ext>
            </a:extLst>
          </p:cNvPr>
          <p:cNvSpPr/>
          <p:nvPr/>
        </p:nvSpPr>
        <p:spPr>
          <a:xfrm>
            <a:off x="6096000" y="1510758"/>
            <a:ext cx="4768770" cy="3317541"/>
          </a:xfrm>
          <a:prstGeom prst="wedgeRectCallout">
            <a:avLst>
              <a:gd name="adj1" fmla="val -70353"/>
              <a:gd name="adj2" fmla="val -39343"/>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587375" lvl="0" indent="-438150">
              <a:lnSpc>
                <a:spcPct val="130000"/>
              </a:lnSpc>
              <a:spcBef>
                <a:spcPts val="600"/>
              </a:spcBef>
              <a:buFont typeface="+mj-lt"/>
              <a:buAutoNum type="arabicPeriod"/>
            </a:pPr>
            <a:r>
              <a:rPr lang="zh-CN" altLang="en-US" sz="2400" dirty="0">
                <a:solidFill>
                  <a:schemeClr val="tx1"/>
                </a:solidFill>
                <a:latin typeface="Microsoft YaHei" panose="020B0503020204020204" pitchFamily="34" charset="-122"/>
                <a:ea typeface="Microsoft YaHei" panose="020B0503020204020204" pitchFamily="34" charset="-122"/>
              </a:rPr>
              <a:t>数据链路层在协议栈中的位置</a:t>
            </a:r>
            <a:endParaRPr lang="en-US" altLang="zh-CN" sz="2400" dirty="0">
              <a:solidFill>
                <a:schemeClr val="tx1"/>
              </a:solidFill>
              <a:latin typeface="Microsoft YaHei" panose="020B0503020204020204" pitchFamily="34" charset="-122"/>
              <a:ea typeface="Microsoft YaHei" panose="020B0503020204020204" pitchFamily="34" charset="-122"/>
            </a:endParaRPr>
          </a:p>
          <a:p>
            <a:pPr marL="587375" lvl="0" indent="-438150">
              <a:lnSpc>
                <a:spcPct val="130000"/>
              </a:lnSpc>
              <a:spcBef>
                <a:spcPts val="600"/>
              </a:spcBef>
              <a:buFont typeface="+mj-lt"/>
              <a:buAutoNum type="arabicPeriod"/>
            </a:pPr>
            <a:r>
              <a:rPr lang="zh-CN" altLang="en-US" sz="2400" dirty="0">
                <a:solidFill>
                  <a:schemeClr val="tx1"/>
                </a:solidFill>
                <a:latin typeface="Microsoft YaHei" panose="020B0503020204020204" pitchFamily="34" charset="-122"/>
                <a:ea typeface="Microsoft YaHei" panose="020B0503020204020204" pitchFamily="34" charset="-122"/>
              </a:rPr>
              <a:t>数据链路层的功能</a:t>
            </a:r>
            <a:endParaRPr lang="en-US" altLang="zh-CN" sz="2400" dirty="0">
              <a:solidFill>
                <a:schemeClr val="tx1"/>
              </a:solidFill>
              <a:latin typeface="Microsoft YaHei" panose="020B0503020204020204" pitchFamily="34" charset="-122"/>
              <a:ea typeface="Microsoft YaHei" panose="020B0503020204020204" pitchFamily="34" charset="-122"/>
            </a:endParaRPr>
          </a:p>
          <a:p>
            <a:pPr marL="587375" lvl="0" indent="-438150">
              <a:lnSpc>
                <a:spcPct val="130000"/>
              </a:lnSpc>
              <a:spcBef>
                <a:spcPts val="600"/>
              </a:spcBef>
              <a:buFont typeface="+mj-lt"/>
              <a:buAutoNum type="arabicPeriod"/>
            </a:pPr>
            <a:r>
              <a:rPr lang="zh-CN" altLang="en-US" sz="2400" dirty="0">
                <a:solidFill>
                  <a:schemeClr val="tx1"/>
                </a:solidFill>
                <a:latin typeface="Microsoft YaHei" panose="020B0503020204020204" pitchFamily="34" charset="-122"/>
                <a:ea typeface="Microsoft YaHei" panose="020B0503020204020204" pitchFamily="34" charset="-122"/>
              </a:rPr>
              <a:t>数据链路层提供的服务</a:t>
            </a:r>
            <a:endParaRPr lang="en-US" altLang="zh-CN" sz="2400" dirty="0">
              <a:solidFill>
                <a:schemeClr val="tx1"/>
              </a:solidFill>
              <a:latin typeface="Microsoft YaHei" panose="020B0503020204020204" pitchFamily="34" charset="-122"/>
              <a:ea typeface="Microsoft YaHei" panose="020B0503020204020204" pitchFamily="34" charset="-122"/>
            </a:endParaRPr>
          </a:p>
          <a:p>
            <a:pPr marL="587375" lvl="0" indent="-438150">
              <a:lnSpc>
                <a:spcPct val="130000"/>
              </a:lnSpc>
              <a:spcBef>
                <a:spcPts val="600"/>
              </a:spcBef>
              <a:buFont typeface="+mj-lt"/>
              <a:buAutoNum type="arabicPeriod"/>
            </a:pPr>
            <a:r>
              <a:rPr lang="zh-CN" altLang="en-US" sz="2400" dirty="0">
                <a:solidFill>
                  <a:schemeClr val="tx1"/>
                </a:solidFill>
                <a:latin typeface="Microsoft YaHei" panose="020B0503020204020204" pitchFamily="34" charset="-122"/>
                <a:ea typeface="Microsoft YaHei" panose="020B0503020204020204" pitchFamily="34" charset="-122"/>
              </a:rPr>
              <a:t>成帧</a:t>
            </a:r>
            <a:endParaRPr lang="en-US" altLang="zh-CN" sz="2400" dirty="0">
              <a:solidFill>
                <a:schemeClr val="tx1"/>
              </a:solidFill>
              <a:latin typeface="Microsoft YaHei" panose="020B0503020204020204" pitchFamily="34" charset="-122"/>
              <a:ea typeface="Microsoft YaHei" panose="020B0503020204020204" pitchFamily="34" charset="-122"/>
            </a:endParaRPr>
          </a:p>
          <a:p>
            <a:pPr marL="587375" lvl="0" indent="-438150">
              <a:lnSpc>
                <a:spcPct val="130000"/>
              </a:lnSpc>
              <a:spcBef>
                <a:spcPts val="600"/>
              </a:spcBef>
              <a:buFont typeface="+mj-lt"/>
              <a:buAutoNum type="arabicPeriod"/>
            </a:pPr>
            <a:r>
              <a:rPr lang="zh-CN" altLang="en-US" sz="2400" dirty="0">
                <a:solidFill>
                  <a:schemeClr val="tx1"/>
                </a:solidFill>
                <a:latin typeface="Microsoft YaHei" panose="020B0503020204020204" pitchFamily="34" charset="-122"/>
                <a:ea typeface="Microsoft YaHei" panose="020B0503020204020204" pitchFamily="34" charset="-122"/>
              </a:rPr>
              <a:t>差错控制</a:t>
            </a:r>
            <a:endParaRPr lang="en-US" altLang="zh-CN" sz="2400" dirty="0">
              <a:solidFill>
                <a:schemeClr val="tx1"/>
              </a:solidFill>
              <a:latin typeface="Microsoft YaHei" panose="020B0503020204020204" pitchFamily="34" charset="-122"/>
              <a:ea typeface="Microsoft YaHei" panose="020B0503020204020204" pitchFamily="34" charset="-122"/>
            </a:endParaRPr>
          </a:p>
          <a:p>
            <a:pPr marL="587375" lvl="0" indent="-438150">
              <a:lnSpc>
                <a:spcPct val="130000"/>
              </a:lnSpc>
              <a:spcBef>
                <a:spcPts val="600"/>
              </a:spcBef>
              <a:buFont typeface="+mj-lt"/>
              <a:buAutoNum type="arabicPeriod"/>
            </a:pPr>
            <a:r>
              <a:rPr lang="zh-CN" altLang="en-US" sz="2400" dirty="0">
                <a:solidFill>
                  <a:schemeClr val="tx1"/>
                </a:solidFill>
                <a:latin typeface="Microsoft YaHei" panose="020B0503020204020204" pitchFamily="34" charset="-122"/>
                <a:ea typeface="Microsoft YaHei" panose="020B0503020204020204" pitchFamily="34" charset="-122"/>
              </a:rPr>
              <a:t>流量控制</a:t>
            </a:r>
            <a:endParaRPr kumimoji="1" lang="zh-CN" altLang="en-US" sz="2400" dirty="0">
              <a:solidFill>
                <a:prstClr val="black"/>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063138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C6EA34-7531-4A69-9C6E-7BC12B632FB9}"/>
              </a:ext>
            </a:extLst>
          </p:cNvPr>
          <p:cNvSpPr>
            <a:spLocks noGrp="1"/>
          </p:cNvSpPr>
          <p:nvPr>
            <p:ph type="title"/>
          </p:nvPr>
        </p:nvSpPr>
        <p:spPr/>
        <p:txBody>
          <a:bodyPr>
            <a:normAutofit/>
          </a:bodyPr>
          <a:lstStyle/>
          <a:p>
            <a:r>
              <a:rPr lang="zh-CN" altLang="en-US" dirty="0"/>
              <a:t>数据链路层在协议栈中的位置</a:t>
            </a:r>
          </a:p>
        </p:txBody>
      </p:sp>
      <p:sp>
        <p:nvSpPr>
          <p:cNvPr id="4" name="灯片编号占位符 3">
            <a:extLst>
              <a:ext uri="{FF2B5EF4-FFF2-40B4-BE49-F238E27FC236}">
                <a16:creationId xmlns:a16="http://schemas.microsoft.com/office/drawing/2014/main" id="{ABEF5E08-B5D5-4163-94DD-389AB17A6E00}"/>
              </a:ext>
            </a:extLst>
          </p:cNvPr>
          <p:cNvSpPr>
            <a:spLocks noGrp="1"/>
          </p:cNvSpPr>
          <p:nvPr>
            <p:ph type="sldNum" sz="quarter" idx="12"/>
          </p:nvPr>
        </p:nvSpPr>
        <p:spPr/>
        <p:txBody>
          <a:bodyPr/>
          <a:lstStyle/>
          <a:p>
            <a:fld id="{8D4D1E41-7A09-AB4A-A4E1-09765ADA2698}" type="slidenum">
              <a:rPr kumimoji="1" lang="zh-CN" altLang="en-US" smtClean="0"/>
              <a:t>8</a:t>
            </a:fld>
            <a:endParaRPr kumimoji="1" lang="zh-CN" altLang="en-US" dirty="0"/>
          </a:p>
        </p:txBody>
      </p:sp>
      <p:sp>
        <p:nvSpPr>
          <p:cNvPr id="5" name="文本框 4">
            <a:extLst>
              <a:ext uri="{FF2B5EF4-FFF2-40B4-BE49-F238E27FC236}">
                <a16:creationId xmlns:a16="http://schemas.microsoft.com/office/drawing/2014/main" id="{D85AE27D-2B45-4927-BA6B-739CFD3E5204}"/>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3.1 </a:t>
            </a:r>
            <a:r>
              <a:rPr lang="zh-CN" altLang="zh-CN" dirty="0">
                <a:solidFill>
                  <a:schemeClr val="bg1">
                    <a:lumMod val="65000"/>
                  </a:schemeClr>
                </a:solidFill>
                <a:latin typeface="微软雅黑" panose="020B0503020204020204" pitchFamily="34" charset="-122"/>
                <a:ea typeface="微软雅黑" panose="020B0503020204020204" pitchFamily="34" charset="-122"/>
              </a:rPr>
              <a:t>数据链路层的设计问题</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grpSp>
        <p:nvGrpSpPr>
          <p:cNvPr id="7" name="组合 6"/>
          <p:cNvGrpSpPr/>
          <p:nvPr/>
        </p:nvGrpSpPr>
        <p:grpSpPr>
          <a:xfrm>
            <a:off x="2997335" y="3017185"/>
            <a:ext cx="3849451" cy="3263718"/>
            <a:chOff x="4332600" y="2496402"/>
            <a:chExt cx="3454707" cy="3263718"/>
          </a:xfrm>
          <a:solidFill>
            <a:schemeClr val="accent5">
              <a:lumMod val="20000"/>
              <a:lumOff val="80000"/>
            </a:schemeClr>
          </a:solidFill>
        </p:grpSpPr>
        <p:sp>
          <p:nvSpPr>
            <p:cNvPr id="8" name="Rectangle 6"/>
            <p:cNvSpPr>
              <a:spLocks noChangeArrowheads="1"/>
            </p:cNvSpPr>
            <p:nvPr/>
          </p:nvSpPr>
          <p:spPr bwMode="auto">
            <a:xfrm>
              <a:off x="4332600" y="2496402"/>
              <a:ext cx="3454707" cy="431800"/>
            </a:xfrm>
            <a:prstGeom prst="rect">
              <a:avLst/>
            </a:prstGeom>
            <a:grpFill/>
            <a:ln w="19050">
              <a:solidFill>
                <a:schemeClr val="accent5">
                  <a:lumMod val="20000"/>
                  <a:lumOff val="80000"/>
                </a:schemeClr>
              </a:solidFill>
              <a:miter lim="800000"/>
              <a:headEnd/>
              <a:tailEnd/>
            </a:ln>
            <a:effectLst/>
            <a:scene3d>
              <a:camera prst="orthographicFront"/>
              <a:lightRig rig="threePt" dir="t"/>
            </a:scene3d>
            <a:sp3d>
              <a:bevelT/>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marL="182563"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应用层（</a:t>
              </a: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AL)</a:t>
              </a:r>
              <a:endParaRPr kumimoji="0" lang="zh-CN" altLang="en-US"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9" name="Rectangle 7"/>
            <p:cNvSpPr>
              <a:spLocks noChangeArrowheads="1"/>
            </p:cNvSpPr>
            <p:nvPr/>
          </p:nvSpPr>
          <p:spPr bwMode="auto">
            <a:xfrm>
              <a:off x="4332600" y="2928202"/>
              <a:ext cx="3454707" cy="431800"/>
            </a:xfrm>
            <a:prstGeom prst="rect">
              <a:avLst/>
            </a:prstGeom>
            <a:grpFill/>
            <a:ln w="19050">
              <a:solidFill>
                <a:schemeClr val="accent5">
                  <a:lumMod val="20000"/>
                  <a:lumOff val="80000"/>
                </a:schemeClr>
              </a:solidFill>
              <a:miter lim="800000"/>
              <a:headEnd/>
              <a:tailEnd/>
            </a:ln>
            <a:effectLst/>
            <a:scene3d>
              <a:camera prst="orthographicFront"/>
              <a:lightRig rig="threePt" dir="t"/>
            </a:scene3d>
            <a:sp3d>
              <a:bevelT/>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marL="182563"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传输层（</a:t>
              </a: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TL)</a:t>
              </a:r>
              <a:endParaRPr kumimoji="0" lang="zh-CN" altLang="en-US"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0" name="Rectangle 8"/>
            <p:cNvSpPr>
              <a:spLocks noChangeArrowheads="1"/>
            </p:cNvSpPr>
            <p:nvPr/>
          </p:nvSpPr>
          <p:spPr bwMode="auto">
            <a:xfrm>
              <a:off x="4332600" y="3360002"/>
              <a:ext cx="3454707" cy="431800"/>
            </a:xfrm>
            <a:prstGeom prst="rect">
              <a:avLst/>
            </a:prstGeom>
            <a:grpFill/>
            <a:ln w="19050">
              <a:solidFill>
                <a:schemeClr val="accent5">
                  <a:lumMod val="20000"/>
                  <a:lumOff val="80000"/>
                </a:schemeClr>
              </a:solidFill>
              <a:miter lim="800000"/>
              <a:headEnd/>
              <a:tailEnd/>
            </a:ln>
            <a:effectLst/>
            <a:scene3d>
              <a:camera prst="orthographicFront"/>
              <a:lightRig rig="threePt" dir="t"/>
            </a:scene3d>
            <a:sp3d>
              <a:bevelT/>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marL="182563"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网络层（</a:t>
              </a: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NL</a:t>
              </a:r>
              <a:r>
                <a:rPr kumimoji="0" lang="zh-CN" altLang="en-US"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p>
          </p:txBody>
        </p:sp>
        <p:sp>
          <p:nvSpPr>
            <p:cNvPr id="13" name="Rectangle 11"/>
            <p:cNvSpPr>
              <a:spLocks noChangeArrowheads="1"/>
            </p:cNvSpPr>
            <p:nvPr/>
          </p:nvSpPr>
          <p:spPr bwMode="auto">
            <a:xfrm>
              <a:off x="4332600" y="4656990"/>
              <a:ext cx="3454707" cy="431800"/>
            </a:xfrm>
            <a:prstGeom prst="rect">
              <a:avLst/>
            </a:prstGeom>
            <a:grpFill/>
            <a:ln w="19050">
              <a:solidFill>
                <a:schemeClr val="accent5">
                  <a:lumMod val="20000"/>
                  <a:lumOff val="80000"/>
                </a:schemeClr>
              </a:solidFill>
              <a:miter lim="800000"/>
              <a:headEnd/>
              <a:tailEnd/>
            </a:ln>
            <a:effectLst/>
            <a:scene3d>
              <a:camera prst="orthographicFront"/>
              <a:lightRig rig="threePt" dir="t"/>
            </a:scene3d>
            <a:sp3d>
              <a:bevelT/>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marL="182563" algn="ctr"/>
              <a:r>
                <a:rPr lang="zh-CN" altLang="en-US" sz="2000" kern="0" dirty="0">
                  <a:solidFill>
                    <a:prstClr val="black"/>
                  </a:solidFill>
                  <a:latin typeface="微软雅黑" panose="020B0503020204020204" pitchFamily="34" charset="-122"/>
                  <a:ea typeface="微软雅黑" panose="020B0503020204020204" pitchFamily="34" charset="-122"/>
                </a:rPr>
                <a:t>物理层（</a:t>
              </a:r>
              <a:r>
                <a:rPr lang="en-US" altLang="zh-CN" sz="2000" kern="0" dirty="0">
                  <a:solidFill>
                    <a:prstClr val="black"/>
                  </a:solidFill>
                  <a:latin typeface="微软雅黑" panose="020B0503020204020204" pitchFamily="34" charset="-122"/>
                  <a:ea typeface="微软雅黑" panose="020B0503020204020204" pitchFamily="34" charset="-122"/>
                </a:rPr>
                <a:t>PHL</a:t>
              </a:r>
              <a:r>
                <a:rPr lang="zh-CN" altLang="en-US" sz="2000" kern="0" dirty="0">
                  <a:solidFill>
                    <a:prstClr val="black"/>
                  </a:solidFill>
                  <a:latin typeface="微软雅黑" panose="020B0503020204020204" pitchFamily="34" charset="-122"/>
                  <a:ea typeface="微软雅黑" panose="020B0503020204020204" pitchFamily="34" charset="-122"/>
                </a:rPr>
                <a:t>）</a:t>
              </a:r>
            </a:p>
          </p:txBody>
        </p:sp>
        <p:sp>
          <p:nvSpPr>
            <p:cNvPr id="14" name="矩形 13"/>
            <p:cNvSpPr/>
            <p:nvPr/>
          </p:nvSpPr>
          <p:spPr>
            <a:xfrm>
              <a:off x="4741682" y="5360010"/>
              <a:ext cx="2611225" cy="400110"/>
            </a:xfrm>
            <a:prstGeom prst="rect">
              <a:avLst/>
            </a:prstGeom>
            <a:noFill/>
            <a:ln>
              <a:noFill/>
            </a:ln>
          </p:spPr>
          <p:txBody>
            <a:bodyPr wrap="square">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zh-CN" altLang="en-US" sz="2000"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参考协议栈</a:t>
              </a:r>
            </a:p>
          </p:txBody>
        </p:sp>
      </p:grpSp>
      <p:sp>
        <p:nvSpPr>
          <p:cNvPr id="16" name="Rectangle 9"/>
          <p:cNvSpPr>
            <a:spLocks noChangeArrowheads="1"/>
          </p:cNvSpPr>
          <p:nvPr/>
        </p:nvSpPr>
        <p:spPr bwMode="auto">
          <a:xfrm>
            <a:off x="6846786" y="4313378"/>
            <a:ext cx="2794580" cy="444376"/>
          </a:xfrm>
          <a:prstGeom prst="rect">
            <a:avLst/>
          </a:prstGeom>
          <a:solidFill>
            <a:schemeClr val="accent2">
              <a:lumMod val="40000"/>
              <a:lumOff val="60000"/>
            </a:schemeClr>
          </a:solidFill>
          <a:ln w="1905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none" lIns="0" tIns="0" rIns="0" bIns="0" anchor="ctr"/>
          <a:lstStyle/>
          <a:p>
            <a:pPr marL="182563" algn="ctr">
              <a:defRPr/>
            </a:pPr>
            <a:r>
              <a:rPr lang="zh-CN" altLang="en-US" sz="2000" kern="0" dirty="0">
                <a:solidFill>
                  <a:prstClr val="black"/>
                </a:solidFill>
                <a:latin typeface="微软雅黑" panose="020B0503020204020204" pitchFamily="34" charset="-122"/>
                <a:ea typeface="微软雅黑" panose="020B0503020204020204" pitchFamily="34" charset="-122"/>
              </a:rPr>
              <a:t>逻辑链路控制 </a:t>
            </a:r>
            <a:r>
              <a:rPr lang="en-US" altLang="zh-CN" sz="2000" kern="0" dirty="0">
                <a:solidFill>
                  <a:prstClr val="black"/>
                </a:solidFill>
                <a:latin typeface="微软雅黑" panose="020B0503020204020204" pitchFamily="34" charset="-122"/>
                <a:ea typeface="微软雅黑" panose="020B0503020204020204" pitchFamily="34" charset="-122"/>
              </a:rPr>
              <a:t>(LLC)</a:t>
            </a:r>
            <a:endParaRPr lang="zh-CN" altLang="en-US" sz="2000" kern="0" dirty="0">
              <a:solidFill>
                <a:prstClr val="black"/>
              </a:solidFill>
              <a:latin typeface="微软雅黑" panose="020B0503020204020204" pitchFamily="34" charset="-122"/>
              <a:ea typeface="微软雅黑" panose="020B0503020204020204" pitchFamily="34" charset="-122"/>
            </a:endParaRPr>
          </a:p>
        </p:txBody>
      </p:sp>
      <p:sp>
        <p:nvSpPr>
          <p:cNvPr id="17" name="Rectangle 10"/>
          <p:cNvSpPr>
            <a:spLocks noChangeArrowheads="1"/>
          </p:cNvSpPr>
          <p:nvPr/>
        </p:nvSpPr>
        <p:spPr bwMode="auto">
          <a:xfrm>
            <a:off x="6846787" y="4745178"/>
            <a:ext cx="2794580" cy="445169"/>
          </a:xfrm>
          <a:prstGeom prst="rect">
            <a:avLst/>
          </a:prstGeom>
          <a:solidFill>
            <a:schemeClr val="accent2">
              <a:lumMod val="40000"/>
              <a:lumOff val="60000"/>
            </a:schemeClr>
          </a:solidFill>
          <a:ln w="1905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none" lIns="0" tIns="0" rIns="0" bIns="0" anchor="ctr"/>
          <a:lstStyle/>
          <a:p>
            <a:pPr marL="182563" algn="ctr"/>
            <a:r>
              <a:rPr lang="zh-CN" altLang="en-US" sz="2000" kern="0" dirty="0">
                <a:solidFill>
                  <a:prstClr val="black"/>
                </a:solidFill>
                <a:latin typeface="微软雅黑" panose="020B0503020204020204" pitchFamily="34" charset="-122"/>
                <a:ea typeface="微软雅黑" panose="020B0503020204020204" pitchFamily="34" charset="-122"/>
              </a:rPr>
              <a:t>介质访问控制 </a:t>
            </a:r>
            <a:r>
              <a:rPr lang="en-US" altLang="zh-CN" sz="2000" kern="0" dirty="0">
                <a:solidFill>
                  <a:prstClr val="black"/>
                </a:solidFill>
                <a:latin typeface="微软雅黑" panose="020B0503020204020204" pitchFamily="34" charset="-122"/>
                <a:ea typeface="微软雅黑" panose="020B0503020204020204" pitchFamily="34" charset="-122"/>
              </a:rPr>
              <a:t>(MAC)</a:t>
            </a:r>
            <a:endParaRPr lang="zh-CN" altLang="en-US" sz="2000" kern="0" dirty="0">
              <a:solidFill>
                <a:prstClr val="black"/>
              </a:solidFill>
              <a:latin typeface="微软雅黑" panose="020B0503020204020204" pitchFamily="34" charset="-122"/>
              <a:ea typeface="微软雅黑" panose="020B0503020204020204" pitchFamily="34" charset="-122"/>
            </a:endParaRPr>
          </a:p>
        </p:txBody>
      </p:sp>
      <p:sp>
        <p:nvSpPr>
          <p:cNvPr id="19" name="Rectangle 8"/>
          <p:cNvSpPr>
            <a:spLocks noChangeArrowheads="1"/>
          </p:cNvSpPr>
          <p:nvPr/>
        </p:nvSpPr>
        <p:spPr bwMode="auto">
          <a:xfrm>
            <a:off x="2997335" y="4313378"/>
            <a:ext cx="3849451" cy="864395"/>
          </a:xfrm>
          <a:prstGeom prst="rect">
            <a:avLst/>
          </a:prstGeom>
          <a:solidFill>
            <a:schemeClr val="accent2">
              <a:lumMod val="40000"/>
              <a:lumOff val="60000"/>
            </a:schemeClr>
          </a:solidFill>
          <a:ln w="19050">
            <a:solidFill>
              <a:schemeClr val="accent5">
                <a:lumMod val="20000"/>
                <a:lumOff val="80000"/>
              </a:schemeClr>
            </a:solidFill>
            <a:miter lim="800000"/>
            <a:headEnd/>
            <a:tailEnd/>
          </a:ln>
          <a:effectLst/>
          <a:scene3d>
            <a:camera prst="orthographicFront"/>
            <a:lightRig rig="threePt" dir="t"/>
          </a:scene3d>
          <a:sp3d>
            <a:bevelT/>
          </a:sp3d>
        </p:spPr>
        <p:txBody>
          <a:bodyPr wrap="none" lIns="0" tIns="0" rIns="0" bIns="0" anchor="ctr"/>
          <a:lstStyle/>
          <a:p>
            <a:pPr marL="182563" algn="ctr"/>
            <a:r>
              <a:rPr lang="zh-CN" altLang="en-US" sz="2000" kern="0" dirty="0">
                <a:solidFill>
                  <a:prstClr val="black"/>
                </a:solidFill>
                <a:latin typeface="微软雅黑" panose="020B0503020204020204" pitchFamily="34" charset="-122"/>
                <a:ea typeface="微软雅黑" panose="020B0503020204020204" pitchFamily="34" charset="-122"/>
              </a:rPr>
              <a:t>数据链路层（</a:t>
            </a:r>
            <a:r>
              <a:rPr lang="en-US" altLang="zh-CN" sz="2000" kern="0" dirty="0">
                <a:solidFill>
                  <a:prstClr val="black"/>
                </a:solidFill>
                <a:latin typeface="微软雅黑" panose="020B0503020204020204" pitchFamily="34" charset="-122"/>
                <a:ea typeface="微软雅黑" panose="020B0503020204020204" pitchFamily="34" charset="-122"/>
              </a:rPr>
              <a:t>DLL</a:t>
            </a:r>
            <a:r>
              <a:rPr lang="zh-CN" altLang="en-US" sz="2000" kern="0" dirty="0">
                <a:solidFill>
                  <a:prstClr val="black"/>
                </a:solidFill>
                <a:latin typeface="微软雅黑" panose="020B0503020204020204" pitchFamily="34" charset="-122"/>
                <a:ea typeface="微软雅黑" panose="020B0503020204020204" pitchFamily="34" charset="-122"/>
              </a:rPr>
              <a:t>）</a:t>
            </a:r>
          </a:p>
        </p:txBody>
      </p:sp>
      <p:sp>
        <p:nvSpPr>
          <p:cNvPr id="22" name="椭圆形标注 21"/>
          <p:cNvSpPr/>
          <p:nvPr/>
        </p:nvSpPr>
        <p:spPr>
          <a:xfrm>
            <a:off x="7525042" y="2926026"/>
            <a:ext cx="1987626" cy="950825"/>
          </a:xfrm>
          <a:prstGeom prst="wedgeEllipseCallout">
            <a:avLst>
              <a:gd name="adj1" fmla="val -39044"/>
              <a:gd name="adj2" fmla="val 109510"/>
            </a:avLst>
          </a:prstGeom>
          <a:solidFill>
            <a:schemeClr val="accent5">
              <a:lumMod val="20000"/>
              <a:lumOff val="80000"/>
            </a:schemeClr>
          </a:solidFill>
          <a:ln w="19050">
            <a:solidFill>
              <a:schemeClr val="accent5">
                <a:lumMod val="20000"/>
                <a:lumOff val="80000"/>
              </a:schemeClr>
            </a:solidFill>
            <a:miter lim="800000"/>
            <a:headEnd/>
            <a:tailEnd/>
          </a:ln>
          <a:effectLst/>
          <a:scene3d>
            <a:camera prst="orthographicFront"/>
            <a:lightRig rig="threePt" dir="t"/>
          </a:scene3d>
          <a:sp3d>
            <a:bevelT/>
          </a:sp3d>
        </p:spPr>
        <p:txBody>
          <a:bodyPr wrap="none" lIns="0" tIns="0" rIns="0" bIns="0" anchor="ctr"/>
          <a:lstStyle/>
          <a:p>
            <a:pPr marR="0" lvl="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局域网的</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R="0" lvl="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数据链路层</a:t>
            </a:r>
          </a:p>
        </p:txBody>
      </p:sp>
      <p:sp>
        <p:nvSpPr>
          <p:cNvPr id="24" name="内容占位符 2">
            <a:extLst>
              <a:ext uri="{FF2B5EF4-FFF2-40B4-BE49-F238E27FC236}">
                <a16:creationId xmlns:a16="http://schemas.microsoft.com/office/drawing/2014/main" id="{BFCD87D3-E36B-467C-9F20-43EA3F5B383E}"/>
              </a:ext>
            </a:extLst>
          </p:cNvPr>
          <p:cNvSpPr>
            <a:spLocks noGrp="1"/>
          </p:cNvSpPr>
          <p:nvPr>
            <p:ph idx="1"/>
          </p:nvPr>
        </p:nvSpPr>
        <p:spPr>
          <a:xfrm>
            <a:off x="838200" y="1510758"/>
            <a:ext cx="10515600" cy="1190878"/>
          </a:xfrm>
        </p:spPr>
        <p:txBody>
          <a:bodyPr>
            <a:normAutofit/>
          </a:bodyPr>
          <a:lstStyle/>
          <a:p>
            <a:pPr>
              <a:lnSpc>
                <a:spcPts val="3800"/>
              </a:lnSpc>
            </a:pPr>
            <a:r>
              <a:rPr lang="zh-CN" altLang="en-US" dirty="0"/>
              <a:t>向下：利用物理层提供的位流服务</a:t>
            </a:r>
            <a:endParaRPr lang="en-US" altLang="zh-CN" dirty="0"/>
          </a:p>
          <a:p>
            <a:pPr>
              <a:lnSpc>
                <a:spcPts val="3800"/>
              </a:lnSpc>
            </a:pPr>
            <a:r>
              <a:rPr lang="zh-CN" altLang="en-US" dirty="0"/>
              <a:t>向上：向网络层提供</a:t>
            </a:r>
            <a:r>
              <a:rPr lang="zh-CN" altLang="en-US" dirty="0">
                <a:solidFill>
                  <a:srgbClr val="7030A0"/>
                </a:solidFill>
              </a:rPr>
              <a:t>明确的 </a:t>
            </a:r>
            <a:r>
              <a:rPr lang="en-US" altLang="zh-CN" dirty="0"/>
              <a:t>(well-defined) </a:t>
            </a:r>
            <a:r>
              <a:rPr lang="zh-CN" altLang="en-US" dirty="0">
                <a:solidFill>
                  <a:srgbClr val="7030A0"/>
                </a:solidFill>
              </a:rPr>
              <a:t>服务接口</a:t>
            </a:r>
            <a:endParaRPr lang="en-US" altLang="zh-CN" dirty="0">
              <a:solidFill>
                <a:srgbClr val="7030A0"/>
              </a:solidFill>
            </a:endParaRPr>
          </a:p>
          <a:p>
            <a:pPr marL="0" indent="0">
              <a:lnSpc>
                <a:spcPts val="3800"/>
              </a:lnSpc>
              <a:buNone/>
            </a:pPr>
            <a:endParaRPr lang="en-US" altLang="zh-CN" dirty="0"/>
          </a:p>
        </p:txBody>
      </p:sp>
    </p:spTree>
    <p:extLst>
      <p:ext uri="{BB962C8B-B14F-4D97-AF65-F5344CB8AC3E}">
        <p14:creationId xmlns:p14="http://schemas.microsoft.com/office/powerpoint/2010/main" val="32075424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C6EA34-7531-4A69-9C6E-7BC12B632FB9}"/>
              </a:ext>
            </a:extLst>
          </p:cNvPr>
          <p:cNvSpPr>
            <a:spLocks noGrp="1"/>
          </p:cNvSpPr>
          <p:nvPr>
            <p:ph type="title"/>
          </p:nvPr>
        </p:nvSpPr>
        <p:spPr/>
        <p:txBody>
          <a:bodyPr/>
          <a:lstStyle/>
          <a:p>
            <a:r>
              <a:rPr lang="zh-CN" altLang="en-US" dirty="0"/>
              <a:t>数据链路层的功能</a:t>
            </a:r>
          </a:p>
        </p:txBody>
      </p:sp>
      <p:sp>
        <p:nvSpPr>
          <p:cNvPr id="3" name="内容占位符 2">
            <a:extLst>
              <a:ext uri="{FF2B5EF4-FFF2-40B4-BE49-F238E27FC236}">
                <a16:creationId xmlns:a16="http://schemas.microsoft.com/office/drawing/2014/main" id="{BFCD87D3-E36B-467C-9F20-43EA3F5B383E}"/>
              </a:ext>
            </a:extLst>
          </p:cNvPr>
          <p:cNvSpPr>
            <a:spLocks noGrp="1"/>
          </p:cNvSpPr>
          <p:nvPr>
            <p:ph idx="1"/>
          </p:nvPr>
        </p:nvSpPr>
        <p:spPr>
          <a:xfrm>
            <a:off x="838200" y="1510757"/>
            <a:ext cx="10515600" cy="4585243"/>
          </a:xfrm>
        </p:spPr>
        <p:txBody>
          <a:bodyPr>
            <a:normAutofit/>
          </a:bodyPr>
          <a:lstStyle/>
          <a:p>
            <a:pPr>
              <a:lnSpc>
                <a:spcPts val="3800"/>
              </a:lnSpc>
            </a:pPr>
            <a:r>
              <a:rPr lang="zh-CN" altLang="en-US" b="1" dirty="0"/>
              <a:t>成帧 （</a:t>
            </a:r>
            <a:r>
              <a:rPr lang="en-US" altLang="zh-CN" b="1" dirty="0"/>
              <a:t>Framing</a:t>
            </a:r>
            <a:r>
              <a:rPr lang="zh-CN" altLang="en-US" b="1" dirty="0"/>
              <a:t>）</a:t>
            </a:r>
            <a:endParaRPr lang="en-US" altLang="zh-CN" b="1" dirty="0"/>
          </a:p>
          <a:p>
            <a:pPr lvl="1">
              <a:lnSpc>
                <a:spcPts val="3800"/>
              </a:lnSpc>
            </a:pPr>
            <a:r>
              <a:rPr lang="zh-CN" altLang="en-US" dirty="0"/>
              <a:t>将比特流划分成</a:t>
            </a:r>
            <a:r>
              <a:rPr lang="zh-CN" altLang="en-US" dirty="0">
                <a:solidFill>
                  <a:srgbClr val="C00000"/>
                </a:solidFill>
              </a:rPr>
              <a:t>“帧”</a:t>
            </a:r>
            <a:r>
              <a:rPr lang="zh-CN" altLang="en-US" dirty="0"/>
              <a:t>的主要目的是为了检测和纠正物理层在比特传输中可能出现的错误，数据链路层功能需借助</a:t>
            </a:r>
            <a:r>
              <a:rPr lang="zh-CN" altLang="en-US" dirty="0">
                <a:solidFill>
                  <a:srgbClr val="C00000"/>
                </a:solidFill>
              </a:rPr>
              <a:t>“帧”</a:t>
            </a:r>
            <a:r>
              <a:rPr lang="zh-CN" altLang="en-US" dirty="0"/>
              <a:t>的各个域来实现</a:t>
            </a:r>
            <a:endParaRPr lang="en-US" altLang="zh-CN" dirty="0"/>
          </a:p>
          <a:p>
            <a:pPr>
              <a:lnSpc>
                <a:spcPts val="3800"/>
              </a:lnSpc>
            </a:pPr>
            <a:r>
              <a:rPr lang="zh-CN" altLang="en-US" b="1" dirty="0"/>
              <a:t>差错控制 （</a:t>
            </a:r>
            <a:r>
              <a:rPr lang="en-US" altLang="zh-CN" b="1" dirty="0"/>
              <a:t>Error Control</a:t>
            </a:r>
            <a:r>
              <a:rPr lang="zh-CN" altLang="en-US" b="1" dirty="0"/>
              <a:t>）</a:t>
            </a:r>
            <a:endParaRPr lang="en-US" altLang="zh-CN" b="1" dirty="0"/>
          </a:p>
          <a:p>
            <a:pPr lvl="1">
              <a:lnSpc>
                <a:spcPts val="3800"/>
              </a:lnSpc>
            </a:pPr>
            <a:r>
              <a:rPr lang="zh-CN" altLang="en-US" dirty="0"/>
              <a:t>处理传输中出现的</a:t>
            </a:r>
            <a:r>
              <a:rPr lang="zh-CN" altLang="en-US" dirty="0">
                <a:solidFill>
                  <a:srgbClr val="7030A0"/>
                </a:solidFill>
              </a:rPr>
              <a:t>差错</a:t>
            </a:r>
            <a:r>
              <a:rPr lang="zh-CN" altLang="en-US" dirty="0"/>
              <a:t>，如位错误、丢失等</a:t>
            </a:r>
            <a:endParaRPr lang="en-US" altLang="zh-CN" dirty="0"/>
          </a:p>
          <a:p>
            <a:pPr>
              <a:lnSpc>
                <a:spcPts val="3800"/>
              </a:lnSpc>
            </a:pPr>
            <a:r>
              <a:rPr lang="zh-CN" altLang="en-US" b="1" dirty="0"/>
              <a:t>流量控制 （</a:t>
            </a:r>
            <a:r>
              <a:rPr lang="en-US" altLang="zh-CN" b="1" dirty="0"/>
              <a:t>Flow Control</a:t>
            </a:r>
            <a:r>
              <a:rPr lang="zh-CN" altLang="en-US" b="1" dirty="0"/>
              <a:t>）</a:t>
            </a:r>
            <a:endParaRPr lang="en-US" altLang="zh-CN" b="1" dirty="0"/>
          </a:p>
          <a:p>
            <a:pPr lvl="1">
              <a:lnSpc>
                <a:spcPts val="3800"/>
              </a:lnSpc>
            </a:pPr>
            <a:r>
              <a:rPr lang="zh-CN" altLang="en-US" dirty="0"/>
              <a:t>确保发送方的</a:t>
            </a:r>
            <a:r>
              <a:rPr lang="zh-CN" altLang="en-US" dirty="0">
                <a:solidFill>
                  <a:srgbClr val="7030A0"/>
                </a:solidFill>
              </a:rPr>
              <a:t>发送速率</a:t>
            </a:r>
            <a:r>
              <a:rPr lang="zh-CN" altLang="en-US" dirty="0"/>
              <a:t>，不大于接收方的处理速率</a:t>
            </a:r>
            <a:endParaRPr lang="en-US" altLang="zh-CN" dirty="0"/>
          </a:p>
          <a:p>
            <a:pPr lvl="2" indent="-341313">
              <a:lnSpc>
                <a:spcPts val="3800"/>
              </a:lnSpc>
              <a:buFont typeface="Microsoft YaHei" panose="020B0503020204020204" pitchFamily="34" charset="-122"/>
              <a:buChar char="−"/>
            </a:pPr>
            <a:r>
              <a:rPr lang="zh-CN" altLang="en-US" dirty="0"/>
              <a:t>避免接收缓冲区溢出</a:t>
            </a:r>
          </a:p>
        </p:txBody>
      </p:sp>
      <p:sp>
        <p:nvSpPr>
          <p:cNvPr id="4" name="灯片编号占位符 3">
            <a:extLst>
              <a:ext uri="{FF2B5EF4-FFF2-40B4-BE49-F238E27FC236}">
                <a16:creationId xmlns:a16="http://schemas.microsoft.com/office/drawing/2014/main" id="{ABEF5E08-B5D5-4163-94DD-389AB17A6E00}"/>
              </a:ext>
            </a:extLst>
          </p:cNvPr>
          <p:cNvSpPr>
            <a:spLocks noGrp="1"/>
          </p:cNvSpPr>
          <p:nvPr>
            <p:ph type="sldNum" sz="quarter" idx="12"/>
          </p:nvPr>
        </p:nvSpPr>
        <p:spPr/>
        <p:txBody>
          <a:bodyPr/>
          <a:lstStyle/>
          <a:p>
            <a:fld id="{8D4D1E41-7A09-AB4A-A4E1-09765ADA2698}" type="slidenum">
              <a:rPr kumimoji="1" lang="zh-CN" altLang="en-US" smtClean="0"/>
              <a:t>9</a:t>
            </a:fld>
            <a:endParaRPr kumimoji="1" lang="zh-CN" altLang="en-US" dirty="0"/>
          </a:p>
        </p:txBody>
      </p:sp>
      <p:sp>
        <p:nvSpPr>
          <p:cNvPr id="5" name="文本框 4">
            <a:extLst>
              <a:ext uri="{FF2B5EF4-FFF2-40B4-BE49-F238E27FC236}">
                <a16:creationId xmlns:a16="http://schemas.microsoft.com/office/drawing/2014/main" id="{D85AE27D-2B45-4927-BA6B-739CFD3E5204}"/>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3.1 </a:t>
            </a:r>
            <a:r>
              <a:rPr lang="zh-CN" altLang="zh-CN" dirty="0">
                <a:solidFill>
                  <a:schemeClr val="bg1">
                    <a:lumMod val="65000"/>
                  </a:schemeClr>
                </a:solidFill>
                <a:latin typeface="微软雅黑" panose="020B0503020204020204" pitchFamily="34" charset="-122"/>
                <a:ea typeface="微软雅黑" panose="020B0503020204020204" pitchFamily="34" charset="-122"/>
              </a:rPr>
              <a:t>数据链路层的设计问题</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628660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数据链路层提供的服务</a:t>
            </a:r>
          </a:p>
        </p:txBody>
      </p:sp>
      <p:sp>
        <p:nvSpPr>
          <p:cNvPr id="3" name="内容占位符 2"/>
          <p:cNvSpPr>
            <a:spLocks noGrp="1"/>
          </p:cNvSpPr>
          <p:nvPr>
            <p:ph idx="1"/>
          </p:nvPr>
        </p:nvSpPr>
        <p:spPr/>
        <p:txBody>
          <a:bodyPr>
            <a:normAutofit fontScale="92500" lnSpcReduction="10000"/>
          </a:bodyPr>
          <a:lstStyle/>
          <a:p>
            <a:r>
              <a:rPr lang="zh-CN" altLang="en-US" b="1" dirty="0">
                <a:solidFill>
                  <a:srgbClr val="5B307E"/>
                </a:solidFill>
              </a:rPr>
              <a:t>无确认 无连接 </a:t>
            </a:r>
            <a:r>
              <a:rPr lang="zh-CN" altLang="en-US" b="1" dirty="0"/>
              <a:t>服务（</a:t>
            </a:r>
            <a:r>
              <a:rPr lang="en-US" altLang="zh-CN" b="1" dirty="0">
                <a:solidFill>
                  <a:srgbClr val="00B0F0"/>
                </a:solidFill>
              </a:rPr>
              <a:t> </a:t>
            </a:r>
            <a:r>
              <a:rPr lang="en-US" altLang="zh-CN" b="1" dirty="0">
                <a:solidFill>
                  <a:srgbClr val="7030A0"/>
                </a:solidFill>
              </a:rPr>
              <a:t>Unack</a:t>
            </a:r>
            <a:r>
              <a:rPr lang="en-US" altLang="zh-CN" b="1" dirty="0"/>
              <a:t>nowledged connection</a:t>
            </a:r>
            <a:r>
              <a:rPr lang="en-US" altLang="zh-CN" b="1" dirty="0">
                <a:solidFill>
                  <a:srgbClr val="7030A0"/>
                </a:solidFill>
              </a:rPr>
              <a:t>less</a:t>
            </a:r>
            <a:r>
              <a:rPr lang="en-US" altLang="zh-CN" b="1" dirty="0"/>
              <a:t> </a:t>
            </a:r>
            <a:r>
              <a:rPr lang="zh-CN" altLang="en-US" b="1" dirty="0"/>
              <a:t>）</a:t>
            </a:r>
            <a:endParaRPr lang="en-US" altLang="zh-CN" b="1" dirty="0"/>
          </a:p>
          <a:p>
            <a:pPr lvl="1"/>
            <a:r>
              <a:rPr lang="zh-CN" altLang="en-US" dirty="0"/>
              <a:t>接收方不对收到的帧进行确认</a:t>
            </a:r>
            <a:endParaRPr lang="en-US" altLang="zh-CN" dirty="0"/>
          </a:p>
          <a:p>
            <a:pPr lvl="1"/>
            <a:r>
              <a:rPr lang="zh-CN" altLang="en-US" dirty="0"/>
              <a:t>适用场景：误码率低的可靠信道；实时通信；</a:t>
            </a:r>
            <a:endParaRPr lang="en-US" altLang="zh-CN" dirty="0"/>
          </a:p>
          <a:p>
            <a:pPr lvl="1"/>
            <a:r>
              <a:rPr lang="zh-CN" altLang="en-US" dirty="0"/>
              <a:t>网络实例：以太网</a:t>
            </a:r>
            <a:endParaRPr lang="en-US" altLang="zh-CN" dirty="0"/>
          </a:p>
          <a:p>
            <a:pPr>
              <a:spcBef>
                <a:spcPts val="2400"/>
              </a:spcBef>
            </a:pPr>
            <a:r>
              <a:rPr lang="zh-CN" altLang="en-US" b="1" dirty="0">
                <a:solidFill>
                  <a:srgbClr val="C00000"/>
                </a:solidFill>
              </a:rPr>
              <a:t>有确认 </a:t>
            </a:r>
            <a:r>
              <a:rPr lang="zh-CN" altLang="en-US" b="1" dirty="0">
                <a:solidFill>
                  <a:srgbClr val="7030A0"/>
                </a:solidFill>
              </a:rPr>
              <a:t>无连接 </a:t>
            </a:r>
            <a:r>
              <a:rPr lang="zh-CN" altLang="en-US" b="1" dirty="0"/>
              <a:t>服务（</a:t>
            </a:r>
            <a:r>
              <a:rPr lang="en-US" altLang="zh-CN" b="1" dirty="0">
                <a:solidFill>
                  <a:srgbClr val="00B0F0"/>
                </a:solidFill>
              </a:rPr>
              <a:t> </a:t>
            </a:r>
            <a:r>
              <a:rPr lang="en-US" altLang="zh-CN" b="1" dirty="0">
                <a:solidFill>
                  <a:srgbClr val="C00000"/>
                </a:solidFill>
              </a:rPr>
              <a:t>Ack</a:t>
            </a:r>
            <a:r>
              <a:rPr lang="en-US" altLang="zh-CN" b="1" dirty="0"/>
              <a:t>nowledged connection</a:t>
            </a:r>
            <a:r>
              <a:rPr lang="en-US" altLang="zh-CN" b="1" dirty="0">
                <a:solidFill>
                  <a:srgbClr val="7030A0"/>
                </a:solidFill>
              </a:rPr>
              <a:t>less</a:t>
            </a:r>
            <a:r>
              <a:rPr lang="en-US" altLang="zh-CN" b="1" dirty="0"/>
              <a:t> </a:t>
            </a:r>
            <a:r>
              <a:rPr lang="zh-CN" altLang="en-US" b="1" dirty="0"/>
              <a:t>）</a:t>
            </a:r>
            <a:endParaRPr lang="en-US" altLang="zh-CN" b="1" dirty="0"/>
          </a:p>
          <a:p>
            <a:pPr lvl="1"/>
            <a:r>
              <a:rPr lang="zh-CN" altLang="en-US" dirty="0"/>
              <a:t>每一帧都得到单独的确认</a:t>
            </a:r>
            <a:endParaRPr lang="en-US" altLang="zh-CN" dirty="0"/>
          </a:p>
          <a:p>
            <a:pPr lvl="1"/>
            <a:r>
              <a:rPr lang="zh-CN" altLang="en-US" dirty="0"/>
              <a:t>适用场景：不可靠的信道（无线信道）</a:t>
            </a:r>
            <a:endParaRPr lang="en-US" altLang="zh-CN" dirty="0"/>
          </a:p>
          <a:p>
            <a:pPr lvl="1"/>
            <a:r>
              <a:rPr lang="zh-CN" altLang="en-US" dirty="0"/>
              <a:t>网络实例：</a:t>
            </a:r>
            <a:r>
              <a:rPr lang="en-US" altLang="zh-CN" dirty="0"/>
              <a:t>802.11</a:t>
            </a:r>
          </a:p>
          <a:p>
            <a:pPr>
              <a:spcBef>
                <a:spcPts val="2400"/>
              </a:spcBef>
            </a:pPr>
            <a:r>
              <a:rPr lang="zh-CN" altLang="en-US" b="1" dirty="0">
                <a:solidFill>
                  <a:srgbClr val="C00000"/>
                </a:solidFill>
              </a:rPr>
              <a:t>有确认 有连接 </a:t>
            </a:r>
            <a:r>
              <a:rPr lang="zh-CN" altLang="en-US" b="1" dirty="0"/>
              <a:t>服务（</a:t>
            </a:r>
            <a:r>
              <a:rPr lang="en-US" altLang="zh-CN" b="1" dirty="0">
                <a:solidFill>
                  <a:srgbClr val="00B0F0"/>
                </a:solidFill>
              </a:rPr>
              <a:t> </a:t>
            </a:r>
            <a:r>
              <a:rPr lang="en-US" altLang="zh-CN" b="1" dirty="0">
                <a:solidFill>
                  <a:srgbClr val="C00000"/>
                </a:solidFill>
              </a:rPr>
              <a:t>Ack</a:t>
            </a:r>
            <a:r>
              <a:rPr lang="en-US" altLang="zh-CN" b="1" dirty="0"/>
              <a:t>nowledged connection-</a:t>
            </a:r>
            <a:r>
              <a:rPr lang="en-US" altLang="zh-CN" b="1" dirty="0">
                <a:solidFill>
                  <a:srgbClr val="C00000"/>
                </a:solidFill>
              </a:rPr>
              <a:t>oriented</a:t>
            </a:r>
            <a:r>
              <a:rPr lang="en-US" altLang="zh-CN" b="1" dirty="0"/>
              <a:t> </a:t>
            </a:r>
            <a:r>
              <a:rPr lang="zh-CN" altLang="en-US" b="1" dirty="0"/>
              <a:t>）</a:t>
            </a:r>
            <a:endParaRPr lang="en-US" altLang="zh-CN" b="1" dirty="0"/>
          </a:p>
          <a:p>
            <a:pPr lvl="1"/>
            <a:r>
              <a:rPr lang="zh-CN" altLang="en-US" dirty="0"/>
              <a:t>适用场景：长延迟的不可靠信道</a:t>
            </a: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6" name="文本框 5">
            <a:extLst>
              <a:ext uri="{FF2B5EF4-FFF2-40B4-BE49-F238E27FC236}">
                <a16:creationId xmlns:a16="http://schemas.microsoft.com/office/drawing/2014/main" id="{67A3B61C-D604-4BFD-AA28-724BDA145F08}"/>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3.1 </a:t>
            </a:r>
            <a:r>
              <a:rPr lang="zh-CN" altLang="zh-CN" dirty="0">
                <a:solidFill>
                  <a:schemeClr val="bg1">
                    <a:lumMod val="65000"/>
                  </a:schemeClr>
                </a:solidFill>
                <a:latin typeface="微软雅黑" panose="020B0503020204020204" pitchFamily="34" charset="-122"/>
                <a:ea typeface="微软雅黑" panose="020B0503020204020204" pitchFamily="34" charset="-122"/>
              </a:rPr>
              <a:t>数据链路层的设计问题</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37612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wipe(left)">
                                      <p:cBhvr>
                                        <p:cTn id="7" dur="500"/>
                                        <p:tgtEl>
                                          <p:spTgt spid="3">
                                            <p:txEl>
                                              <p:pRg st="4" end="4"/>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5" end="5"/>
                                            </p:txEl>
                                          </p:spTgt>
                                        </p:tgtEl>
                                        <p:attrNameLst>
                                          <p:attrName>style.visibility</p:attrName>
                                        </p:attrNameLst>
                                      </p:cBhvr>
                                      <p:to>
                                        <p:strVal val="visible"/>
                                      </p:to>
                                    </p:set>
                                    <p:animEffect transition="in" filter="wipe(left)">
                                      <p:cBhvr>
                                        <p:cTn id="10" dur="500"/>
                                        <p:tgtEl>
                                          <p:spTgt spid="3">
                                            <p:txEl>
                                              <p:pRg st="5" end="5"/>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animEffect transition="in" filter="wipe(left)">
                                      <p:cBhvr>
                                        <p:cTn id="13" dur="500"/>
                                        <p:tgtEl>
                                          <p:spTgt spid="3">
                                            <p:txEl>
                                              <p:pRg st="6" end="6"/>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3">
                                            <p:txEl>
                                              <p:pRg st="7" end="7"/>
                                            </p:txEl>
                                          </p:spTgt>
                                        </p:tgtEl>
                                        <p:attrNameLst>
                                          <p:attrName>style.visibility</p:attrName>
                                        </p:attrNameLst>
                                      </p:cBhvr>
                                      <p:to>
                                        <p:strVal val="visible"/>
                                      </p:to>
                                    </p:set>
                                    <p:animEffect transition="in" filter="wipe(left)">
                                      <p:cBhvr>
                                        <p:cTn id="16" dur="500"/>
                                        <p:tgtEl>
                                          <p:spTgt spid="3">
                                            <p:txEl>
                                              <p:pRg st="7" end="7"/>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animEffect transition="in" filter="wipe(left)">
                                      <p:cBhvr>
                                        <p:cTn id="21" dur="500"/>
                                        <p:tgtEl>
                                          <p:spTgt spid="3">
                                            <p:txEl>
                                              <p:pRg st="8" end="8"/>
                                            </p:txEl>
                                          </p:spTgt>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3">
                                            <p:txEl>
                                              <p:pRg st="9" end="9"/>
                                            </p:txEl>
                                          </p:spTgt>
                                        </p:tgtEl>
                                        <p:attrNameLst>
                                          <p:attrName>style.visibility</p:attrName>
                                        </p:attrNameLst>
                                      </p:cBhvr>
                                      <p:to>
                                        <p:strVal val="visible"/>
                                      </p:to>
                                    </p:set>
                                    <p:animEffect transition="in" filter="wipe(left)">
                                      <p:cBhvr>
                                        <p:cTn id="24"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成帧（</a:t>
            </a:r>
            <a:r>
              <a:rPr lang="en-US" altLang="zh-CN" dirty="0"/>
              <a:t>Framing</a:t>
            </a:r>
            <a:r>
              <a:rPr lang="zh-CN" altLang="en-US" dirty="0"/>
              <a:t>）</a:t>
            </a:r>
          </a:p>
        </p:txBody>
      </p:sp>
      <p:sp>
        <p:nvSpPr>
          <p:cNvPr id="3" name="内容占位符 2"/>
          <p:cNvSpPr>
            <a:spLocks noGrp="1"/>
          </p:cNvSpPr>
          <p:nvPr>
            <p:ph idx="1"/>
          </p:nvPr>
        </p:nvSpPr>
        <p:spPr>
          <a:xfrm>
            <a:off x="838200" y="1510758"/>
            <a:ext cx="10515600" cy="581089"/>
          </a:xfrm>
        </p:spPr>
        <p:txBody>
          <a:bodyPr/>
          <a:lstStyle/>
          <a:p>
            <a:r>
              <a:rPr lang="zh-CN" altLang="en-US" dirty="0"/>
              <a:t>分组 </a:t>
            </a:r>
            <a:r>
              <a:rPr lang="en-US" altLang="zh-CN" dirty="0"/>
              <a:t>(packet)</a:t>
            </a:r>
            <a:r>
              <a:rPr lang="zh-CN" altLang="en-US" dirty="0"/>
              <a:t> 与 帧</a:t>
            </a:r>
            <a:r>
              <a:rPr lang="en-US" altLang="zh-CN" dirty="0"/>
              <a:t>(frame)</a:t>
            </a:r>
            <a:r>
              <a:rPr lang="zh-CN" altLang="en-US" dirty="0"/>
              <a:t>的关系</a:t>
            </a:r>
            <a:endParaRPr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6" name="文本框 5">
            <a:extLst>
              <a:ext uri="{FF2B5EF4-FFF2-40B4-BE49-F238E27FC236}">
                <a16:creationId xmlns:a16="http://schemas.microsoft.com/office/drawing/2014/main" id="{A90BAEBE-C2E5-49DC-89F1-E700B708FC09}"/>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3.1 </a:t>
            </a:r>
            <a:r>
              <a:rPr lang="zh-CN" altLang="zh-CN" dirty="0">
                <a:solidFill>
                  <a:schemeClr val="bg1">
                    <a:lumMod val="65000"/>
                  </a:schemeClr>
                </a:solidFill>
                <a:latin typeface="微软雅黑" panose="020B0503020204020204" pitchFamily="34" charset="-122"/>
                <a:ea typeface="微软雅黑" panose="020B0503020204020204" pitchFamily="34" charset="-122"/>
              </a:rPr>
              <a:t>数据链路层的设计问题</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grpSp>
        <p:nvGrpSpPr>
          <p:cNvPr id="7" name="组合 6"/>
          <p:cNvGrpSpPr/>
          <p:nvPr/>
        </p:nvGrpSpPr>
        <p:grpSpPr>
          <a:xfrm>
            <a:off x="1049486" y="2514867"/>
            <a:ext cx="9368375" cy="3072223"/>
            <a:chOff x="818984" y="1963972"/>
            <a:chExt cx="9368375" cy="3072223"/>
          </a:xfrm>
        </p:grpSpPr>
        <p:sp>
          <p:nvSpPr>
            <p:cNvPr id="8" name="Rectangle 6"/>
            <p:cNvSpPr>
              <a:spLocks noChangeArrowheads="1"/>
            </p:cNvSpPr>
            <p:nvPr/>
          </p:nvSpPr>
          <p:spPr bwMode="auto">
            <a:xfrm>
              <a:off x="818984" y="3727641"/>
              <a:ext cx="9368375" cy="837187"/>
            </a:xfrm>
            <a:prstGeom prst="rect">
              <a:avLst/>
            </a:prstGeom>
            <a:noFill/>
            <a:ln w="9525">
              <a:solidFill>
                <a:srgbClr val="FF0000"/>
              </a:solidFill>
              <a:prstDash val="dash"/>
              <a:miter lim="800000"/>
              <a:headEnd/>
              <a:tailEnd/>
            </a:ln>
            <a:effectLst/>
          </p:spPr>
          <p:txBody>
            <a:bodyPr wrap="none" anchor="ctr" anchorCtr="0"/>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数据链路层</a:t>
              </a:r>
            </a:p>
          </p:txBody>
        </p:sp>
        <p:sp>
          <p:nvSpPr>
            <p:cNvPr id="9" name="Rectangle 6"/>
            <p:cNvSpPr>
              <a:spLocks noChangeArrowheads="1"/>
            </p:cNvSpPr>
            <p:nvPr/>
          </p:nvSpPr>
          <p:spPr bwMode="auto">
            <a:xfrm>
              <a:off x="818984" y="2983966"/>
              <a:ext cx="9368375" cy="743675"/>
            </a:xfrm>
            <a:prstGeom prst="rect">
              <a:avLst/>
            </a:prstGeom>
            <a:noFill/>
            <a:ln w="9525">
              <a:solidFill>
                <a:srgbClr val="FF0000"/>
              </a:solidFill>
              <a:prstDash val="dash"/>
              <a:miter lim="800000"/>
              <a:headEnd/>
              <a:tailEnd/>
            </a:ln>
            <a:effectLst/>
          </p:spPr>
          <p:txBody>
            <a:bodyPr wrap="none" anchor="ctr" anchorCtr="0"/>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000" b="0" i="0" u="none" strike="noStrike" kern="0" cap="none" spc="0" normalizeH="0" baseline="0" noProof="0" dirty="0">
                  <a:ln>
                    <a:noFill/>
                  </a:ln>
                  <a:solidFill>
                    <a:srgbClr val="CC3300"/>
                  </a:solidFill>
                  <a:effectLst/>
                  <a:uLnTx/>
                  <a:uFillTx/>
                  <a:latin typeface="微软雅黑" panose="020B0503020204020204" pitchFamily="34" charset="-122"/>
                  <a:ea typeface="微软雅黑" panose="020B0503020204020204" pitchFamily="34" charset="-122"/>
                  <a:cs typeface="+mn-cs"/>
                </a:rPr>
                <a:t>网络层</a:t>
              </a:r>
            </a:p>
          </p:txBody>
        </p:sp>
        <p:sp>
          <p:nvSpPr>
            <p:cNvPr id="10" name="圆角矩形 9"/>
            <p:cNvSpPr/>
            <p:nvPr/>
          </p:nvSpPr>
          <p:spPr bwMode="auto">
            <a:xfrm>
              <a:off x="3328597" y="3136891"/>
              <a:ext cx="1296144" cy="360040"/>
            </a:xfrm>
            <a:prstGeom prst="roundRect">
              <a:avLst>
                <a:gd name="adj" fmla="val 0"/>
              </a:avLst>
            </a:prstGeom>
            <a:solidFill>
              <a:schemeClr val="accent5">
                <a:lumMod val="20000"/>
                <a:lumOff val="80000"/>
              </a:schemeClr>
            </a:solidFill>
            <a:ln w="12700"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wrap="square" lIns="0" tIns="0" rIns="0" bIns="0" numCol="1" rtlCol="0" anchor="ctr" anchorCtr="0" compatLnSpc="1">
              <a:prstTxWarp prst="textNoShape">
                <a:avLst/>
              </a:prstTxWarp>
              <a:no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zh-CN" altLang="en-US"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Segoe UI" pitchFamily="34" charset="0"/>
                </a:rPr>
                <a:t>分组</a:t>
              </a:r>
            </a:p>
          </p:txBody>
        </p:sp>
        <p:sp>
          <p:nvSpPr>
            <p:cNvPr id="11" name="圆角矩形 10"/>
            <p:cNvSpPr/>
            <p:nvPr/>
          </p:nvSpPr>
          <p:spPr bwMode="auto">
            <a:xfrm>
              <a:off x="2410495" y="1963972"/>
              <a:ext cx="3132348" cy="2784191"/>
            </a:xfrm>
            <a:prstGeom prst="roundRect">
              <a:avLst>
                <a:gd name="adj" fmla="val 4101"/>
              </a:avLst>
            </a:prstGeom>
            <a:noFill/>
            <a:ln w="19050" cap="flat" cmpd="sng" algn="ctr">
              <a:solidFill>
                <a:schemeClr val="accent5">
                  <a:lumMod val="40000"/>
                  <a:lumOff val="60000"/>
                </a:schemeClr>
              </a:solidFill>
              <a:prstDash val="solid"/>
              <a:round/>
              <a:headEnd type="none" w="med" len="med"/>
              <a:tailEnd type="none" w="med" len="med"/>
            </a:ln>
            <a:effectLst>
              <a:glow rad="63500">
                <a:schemeClr val="accent1">
                  <a:satMod val="175000"/>
                  <a:alpha val="40000"/>
                </a:schemeClr>
              </a:glow>
            </a:effectLst>
          </p:spPr>
          <p:txBody>
            <a:bodyPr vert="horz" wrap="square" lIns="0" tIns="0" rIns="0" bIns="0" numCol="1" rtlCol="0" anchor="t" anchorCtr="0" compatLnSpc="1">
              <a:prstTxWarp prst="textNoShape">
                <a:avLst/>
              </a:prstTxWarp>
              <a:no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zh-CN" altLang="en-US"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Segoe UI" pitchFamily="34" charset="0"/>
                </a:rPr>
                <a:t>发送方</a:t>
              </a:r>
            </a:p>
          </p:txBody>
        </p:sp>
        <p:sp>
          <p:nvSpPr>
            <p:cNvPr id="12" name="圆角矩形 11"/>
            <p:cNvSpPr/>
            <p:nvPr/>
          </p:nvSpPr>
          <p:spPr bwMode="auto">
            <a:xfrm>
              <a:off x="2554511" y="3992079"/>
              <a:ext cx="756084" cy="360040"/>
            </a:xfrm>
            <a:prstGeom prst="roundRect">
              <a:avLst>
                <a:gd name="adj" fmla="val 0"/>
              </a:avLst>
            </a:prstGeom>
            <a:solidFill>
              <a:schemeClr val="accent5">
                <a:lumMod val="20000"/>
                <a:lumOff val="80000"/>
              </a:schemeClr>
            </a:solidFill>
            <a:ln w="12700"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wrap="square" lIns="0" tIns="0" rIns="0" bIns="0" numCol="1" rtlCol="0" anchor="ctr" anchorCtr="0" compatLnSpc="1">
              <a:prstTxWarp prst="textNoShape">
                <a:avLst/>
              </a:prstTxWarp>
              <a:no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zh-CN" altLang="en-US"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Segoe UI" pitchFamily="34" charset="0"/>
                </a:rPr>
                <a:t>头标</a:t>
              </a:r>
            </a:p>
          </p:txBody>
        </p:sp>
        <p:sp>
          <p:nvSpPr>
            <p:cNvPr id="13" name="圆角矩形 12"/>
            <p:cNvSpPr/>
            <p:nvPr/>
          </p:nvSpPr>
          <p:spPr bwMode="auto">
            <a:xfrm>
              <a:off x="4606739" y="3992079"/>
              <a:ext cx="756084" cy="360040"/>
            </a:xfrm>
            <a:prstGeom prst="roundRect">
              <a:avLst>
                <a:gd name="adj" fmla="val 0"/>
              </a:avLst>
            </a:prstGeom>
            <a:solidFill>
              <a:schemeClr val="accent5">
                <a:lumMod val="20000"/>
                <a:lumOff val="80000"/>
              </a:schemeClr>
            </a:solidFill>
            <a:ln w="12700"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wrap="square" lIns="0" tIns="0" rIns="0" bIns="0" numCol="1" rtlCol="0" anchor="ctr" anchorCtr="0" compatLnSpc="1">
              <a:prstTxWarp prst="textNoShape">
                <a:avLst/>
              </a:prstTxWarp>
              <a:no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zh-CN" altLang="en-US"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Segoe UI" pitchFamily="34" charset="0"/>
                </a:rPr>
                <a:t>尾标</a:t>
              </a:r>
            </a:p>
          </p:txBody>
        </p:sp>
        <p:sp>
          <p:nvSpPr>
            <p:cNvPr id="14" name="圆角矩形 13"/>
            <p:cNvSpPr/>
            <p:nvPr/>
          </p:nvSpPr>
          <p:spPr bwMode="auto">
            <a:xfrm>
              <a:off x="7758406" y="3136891"/>
              <a:ext cx="1296144" cy="360040"/>
            </a:xfrm>
            <a:prstGeom prst="roundRect">
              <a:avLst>
                <a:gd name="adj" fmla="val 0"/>
              </a:avLst>
            </a:prstGeom>
            <a:solidFill>
              <a:schemeClr val="accent5">
                <a:lumMod val="20000"/>
                <a:lumOff val="80000"/>
              </a:schemeClr>
            </a:solidFill>
            <a:ln w="12700"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wrap="square" lIns="0" tIns="0" rIns="0" bIns="0" numCol="1" rtlCol="0" anchor="ctr" anchorCtr="0" compatLnSpc="1">
              <a:prstTxWarp prst="textNoShape">
                <a:avLst/>
              </a:prstTxWarp>
              <a:no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zh-CN" altLang="en-US"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Segoe UI" pitchFamily="34" charset="0"/>
                </a:rPr>
                <a:t>分组</a:t>
              </a:r>
            </a:p>
          </p:txBody>
        </p:sp>
        <p:sp>
          <p:nvSpPr>
            <p:cNvPr id="15" name="圆角矩形 14"/>
            <p:cNvSpPr/>
            <p:nvPr/>
          </p:nvSpPr>
          <p:spPr bwMode="auto">
            <a:xfrm>
              <a:off x="6838987" y="1963972"/>
              <a:ext cx="3132348" cy="2793099"/>
            </a:xfrm>
            <a:prstGeom prst="roundRect">
              <a:avLst>
                <a:gd name="adj" fmla="val 4101"/>
              </a:avLst>
            </a:prstGeom>
            <a:noFill/>
            <a:ln w="19050" cap="flat" cmpd="sng" algn="ctr">
              <a:solidFill>
                <a:schemeClr val="accent5">
                  <a:lumMod val="40000"/>
                  <a:lumOff val="60000"/>
                </a:schemeClr>
              </a:solidFill>
              <a:prstDash val="solid"/>
              <a:round/>
              <a:headEnd type="none" w="med" len="med"/>
              <a:tailEnd type="none" w="med" len="med"/>
            </a:ln>
            <a:effectLst>
              <a:glow rad="63500">
                <a:schemeClr val="accent1">
                  <a:satMod val="175000"/>
                  <a:alpha val="40000"/>
                </a:schemeClr>
              </a:glow>
            </a:effectLst>
          </p:spPr>
          <p:txBody>
            <a:bodyPr vert="horz" wrap="square" lIns="0" tIns="0" rIns="0" bIns="0" numCol="1" rtlCol="0" anchor="t" anchorCtr="0" compatLnSpc="1">
              <a:prstTxWarp prst="textNoShape">
                <a:avLst/>
              </a:prstTxWarp>
              <a:noAutofit/>
            </a:bodyPr>
            <a:lstStyle/>
            <a:p>
              <a:pPr algn="ctr" fontAlgn="base">
                <a:spcBef>
                  <a:spcPct val="50000"/>
                </a:spcBef>
                <a:spcAft>
                  <a:spcPct val="0"/>
                </a:spcAft>
              </a:pPr>
              <a:r>
                <a:rPr kumimoji="1" lang="zh-CN" altLang="en-US" sz="2000" kern="0" dirty="0">
                  <a:solidFill>
                    <a:prstClr val="black"/>
                  </a:solidFill>
                  <a:latin typeface="微软雅黑" panose="020B0503020204020204" pitchFamily="34" charset="-122"/>
                  <a:ea typeface="微软雅黑" panose="020B0503020204020204" pitchFamily="34" charset="-122"/>
                  <a:cs typeface="Segoe UI" pitchFamily="34" charset="0"/>
                </a:rPr>
                <a:t>接收方</a:t>
              </a:r>
            </a:p>
          </p:txBody>
        </p:sp>
        <p:sp>
          <p:nvSpPr>
            <p:cNvPr id="16" name="圆角矩形 15"/>
            <p:cNvSpPr/>
            <p:nvPr/>
          </p:nvSpPr>
          <p:spPr bwMode="auto">
            <a:xfrm>
              <a:off x="6983003" y="4000987"/>
              <a:ext cx="756084" cy="360040"/>
            </a:xfrm>
            <a:prstGeom prst="roundRect">
              <a:avLst>
                <a:gd name="adj" fmla="val 0"/>
              </a:avLst>
            </a:prstGeom>
            <a:solidFill>
              <a:schemeClr val="accent5">
                <a:lumMod val="20000"/>
                <a:lumOff val="80000"/>
              </a:schemeClr>
            </a:solidFill>
            <a:ln w="12700"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wrap="square" lIns="0" tIns="0" rIns="0" bIns="0" numCol="1" rtlCol="0" anchor="ctr" anchorCtr="0" compatLnSpc="1">
              <a:prstTxWarp prst="textNoShape">
                <a:avLst/>
              </a:prstTxWarp>
              <a:no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zh-CN" altLang="en-US"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Segoe UI" pitchFamily="34" charset="0"/>
                </a:rPr>
                <a:t>头标</a:t>
              </a:r>
            </a:p>
          </p:txBody>
        </p:sp>
        <p:sp>
          <p:nvSpPr>
            <p:cNvPr id="17" name="圆角矩形 16"/>
            <p:cNvSpPr/>
            <p:nvPr/>
          </p:nvSpPr>
          <p:spPr bwMode="auto">
            <a:xfrm>
              <a:off x="9035231" y="4000987"/>
              <a:ext cx="756084" cy="360040"/>
            </a:xfrm>
            <a:prstGeom prst="roundRect">
              <a:avLst>
                <a:gd name="adj" fmla="val 0"/>
              </a:avLst>
            </a:prstGeom>
            <a:solidFill>
              <a:schemeClr val="accent5">
                <a:lumMod val="20000"/>
                <a:lumOff val="80000"/>
              </a:schemeClr>
            </a:solidFill>
            <a:ln w="12700"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wrap="square" lIns="0" tIns="0" rIns="0" bIns="0" numCol="1" rtlCol="0" anchor="ctr" anchorCtr="0" compatLnSpc="1">
              <a:prstTxWarp prst="textNoShape">
                <a:avLst/>
              </a:prstTxWarp>
              <a:no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zh-CN" altLang="en-US"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Segoe UI" pitchFamily="34" charset="0"/>
                </a:rPr>
                <a:t>尾标</a:t>
              </a:r>
            </a:p>
          </p:txBody>
        </p:sp>
        <p:cxnSp>
          <p:nvCxnSpPr>
            <p:cNvPr id="18" name="直接箭头连接符 17"/>
            <p:cNvCxnSpPr/>
            <p:nvPr/>
          </p:nvCxnSpPr>
          <p:spPr bwMode="auto">
            <a:xfrm>
              <a:off x="3976669" y="3488023"/>
              <a:ext cx="0" cy="487651"/>
            </a:xfrm>
            <a:prstGeom prst="straightConnector1">
              <a:avLst/>
            </a:prstGeom>
            <a:solidFill>
              <a:srgbClr val="00E4A8"/>
            </a:solidFill>
            <a:ln w="12700" cap="flat" cmpd="sng" algn="ctr">
              <a:solidFill>
                <a:srgbClr val="00B050"/>
              </a:solidFill>
              <a:prstDash val="solid"/>
              <a:round/>
              <a:headEnd type="none" w="med" len="med"/>
              <a:tailEnd type="triangle" w="med" len="lg"/>
            </a:ln>
            <a:effectLst>
              <a:glow rad="63500">
                <a:schemeClr val="accent1">
                  <a:satMod val="175000"/>
                  <a:alpha val="40000"/>
                </a:schemeClr>
              </a:glow>
              <a:outerShdw dist="35921" dir="2700000" algn="ctr" rotWithShape="0">
                <a:schemeClr val="bg2"/>
              </a:outerShdw>
            </a:effectLst>
          </p:spPr>
        </p:cxnSp>
        <p:cxnSp>
          <p:nvCxnSpPr>
            <p:cNvPr id="19" name="直接箭头连接符 18"/>
            <p:cNvCxnSpPr/>
            <p:nvPr/>
          </p:nvCxnSpPr>
          <p:spPr bwMode="auto">
            <a:xfrm flipV="1">
              <a:off x="8409955" y="3496931"/>
              <a:ext cx="0" cy="509741"/>
            </a:xfrm>
            <a:prstGeom prst="straightConnector1">
              <a:avLst/>
            </a:prstGeom>
            <a:solidFill>
              <a:srgbClr val="00E4A8"/>
            </a:solidFill>
            <a:ln w="12700" cap="flat" cmpd="sng" algn="ctr">
              <a:solidFill>
                <a:srgbClr val="00B050"/>
              </a:solidFill>
              <a:prstDash val="solid"/>
              <a:round/>
              <a:headEnd type="none" w="med" len="med"/>
              <a:tailEnd type="triangle" w="med" len="lg"/>
            </a:ln>
            <a:effectLst>
              <a:glow rad="63500">
                <a:schemeClr val="accent1">
                  <a:satMod val="175000"/>
                  <a:alpha val="40000"/>
                </a:schemeClr>
              </a:glow>
              <a:outerShdw dist="35921" dir="2700000" algn="ctr" rotWithShape="0">
                <a:schemeClr val="bg2"/>
              </a:outerShdw>
            </a:effectLst>
          </p:spPr>
        </p:cxnSp>
        <p:cxnSp>
          <p:nvCxnSpPr>
            <p:cNvPr id="20" name="直接箭头连接符 19"/>
            <p:cNvCxnSpPr/>
            <p:nvPr/>
          </p:nvCxnSpPr>
          <p:spPr bwMode="auto">
            <a:xfrm>
              <a:off x="3958667" y="4352119"/>
              <a:ext cx="0" cy="684076"/>
            </a:xfrm>
            <a:prstGeom prst="straightConnector1">
              <a:avLst/>
            </a:prstGeom>
            <a:solidFill>
              <a:srgbClr val="00E4A8"/>
            </a:solidFill>
            <a:ln w="12700" cap="flat" cmpd="sng" algn="ctr">
              <a:solidFill>
                <a:srgbClr val="00B050"/>
              </a:solidFill>
              <a:prstDash val="solid"/>
              <a:round/>
              <a:headEnd type="none" w="med" len="med"/>
              <a:tailEnd type="triangle" w="med" len="lg"/>
            </a:ln>
            <a:effectLst>
              <a:glow rad="63500">
                <a:schemeClr val="accent1">
                  <a:satMod val="175000"/>
                  <a:alpha val="40000"/>
                </a:schemeClr>
              </a:glow>
              <a:outerShdw dist="35921" dir="2700000" algn="ctr" rotWithShape="0">
                <a:schemeClr val="bg2"/>
              </a:outerShdw>
            </a:effectLst>
          </p:spPr>
        </p:cxnSp>
        <p:cxnSp>
          <p:nvCxnSpPr>
            <p:cNvPr id="21" name="直接箭头连接符 20"/>
            <p:cNvCxnSpPr/>
            <p:nvPr/>
          </p:nvCxnSpPr>
          <p:spPr bwMode="auto">
            <a:xfrm flipV="1">
              <a:off x="8406478" y="4352119"/>
              <a:ext cx="0" cy="684076"/>
            </a:xfrm>
            <a:prstGeom prst="straightConnector1">
              <a:avLst/>
            </a:prstGeom>
            <a:solidFill>
              <a:srgbClr val="00E4A8"/>
            </a:solidFill>
            <a:ln w="12700" cap="flat" cmpd="sng" algn="ctr">
              <a:solidFill>
                <a:srgbClr val="00B050"/>
              </a:solidFill>
              <a:prstDash val="solid"/>
              <a:round/>
              <a:headEnd type="none" w="med" len="med"/>
              <a:tailEnd type="triangle" w="med" len="lg"/>
            </a:ln>
            <a:effectLst>
              <a:glow rad="63500">
                <a:schemeClr val="accent1">
                  <a:satMod val="175000"/>
                  <a:alpha val="40000"/>
                </a:schemeClr>
              </a:glow>
              <a:outerShdw dist="35921" dir="2700000" algn="ctr" rotWithShape="0">
                <a:schemeClr val="bg2"/>
              </a:outerShdw>
            </a:effectLst>
          </p:spPr>
        </p:cxnSp>
        <p:cxnSp>
          <p:nvCxnSpPr>
            <p:cNvPr id="22" name="直接连接符 21"/>
            <p:cNvCxnSpPr/>
            <p:nvPr/>
          </p:nvCxnSpPr>
          <p:spPr bwMode="auto">
            <a:xfrm>
              <a:off x="3958667" y="5036195"/>
              <a:ext cx="4447811" cy="0"/>
            </a:xfrm>
            <a:prstGeom prst="line">
              <a:avLst/>
            </a:prstGeom>
            <a:solidFill>
              <a:srgbClr val="00E4A8"/>
            </a:solidFill>
            <a:ln w="12700" cap="flat" cmpd="sng" algn="ctr">
              <a:solidFill>
                <a:srgbClr val="00B050"/>
              </a:solidFill>
              <a:prstDash val="solid"/>
              <a:round/>
              <a:headEnd type="none" w="med" len="med"/>
              <a:tailEnd type="triangle" w="med" len="lg"/>
            </a:ln>
            <a:effectLst>
              <a:glow rad="63500">
                <a:schemeClr val="accent1">
                  <a:satMod val="175000"/>
                  <a:alpha val="40000"/>
                </a:schemeClr>
              </a:glow>
              <a:outerShdw dist="35921" dir="2700000" algn="ctr" rotWithShape="0">
                <a:schemeClr val="bg2"/>
              </a:outerShdw>
            </a:effectLst>
          </p:spPr>
        </p:cxnSp>
        <p:sp>
          <p:nvSpPr>
            <p:cNvPr id="23" name="圆角矩形标注 22"/>
            <p:cNvSpPr/>
            <p:nvPr/>
          </p:nvSpPr>
          <p:spPr bwMode="auto">
            <a:xfrm>
              <a:off x="5686859" y="3848333"/>
              <a:ext cx="876558" cy="413569"/>
            </a:xfrm>
            <a:prstGeom prst="wedgeRoundRectCallout">
              <a:avLst>
                <a:gd name="adj1" fmla="val -81097"/>
                <a:gd name="adj2" fmla="val 52321"/>
                <a:gd name="adj3" fmla="val 16667"/>
              </a:avLst>
            </a:prstGeom>
            <a:solidFill>
              <a:schemeClr val="accent5">
                <a:lumMod val="20000"/>
                <a:lumOff val="80000"/>
              </a:schemeClr>
            </a:solidFill>
            <a:ln w="12700" cap="flat" cmpd="sng" algn="ctr">
              <a:noFill/>
              <a:prstDash val="solid"/>
              <a:round/>
              <a:headEnd type="none" w="med" len="med"/>
              <a:tailEnd type="none" w="med" len="med"/>
            </a:ln>
            <a:effectLst/>
            <a:scene3d>
              <a:camera prst="orthographicFront">
                <a:rot lat="0" lon="0" rev="0"/>
              </a:camera>
              <a:lightRig rig="chilly" dir="t">
                <a:rot lat="0" lon="0" rev="18480000"/>
              </a:lightRig>
            </a:scene3d>
            <a:sp3d prstMaterial="clear">
              <a:bevelT h="63500"/>
            </a:sp3d>
          </p:spPr>
          <p:txBody>
            <a:bodyPr vert="horz" wrap="square" lIns="0" tIns="0" rIns="0" bIns="0" numCol="1" rtlCol="0" anchor="ctr" anchorCtr="0" compatLnSpc="1">
              <a:prstTxWarp prst="textNoShape">
                <a:avLst/>
              </a:prstTxWarp>
              <a:no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zh-CN" altLang="en-US"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Segoe UI" pitchFamily="34" charset="0"/>
                </a:rPr>
                <a:t>帧</a:t>
              </a:r>
            </a:p>
          </p:txBody>
        </p:sp>
        <p:sp>
          <p:nvSpPr>
            <p:cNvPr id="24" name="圆角矩形 23"/>
            <p:cNvSpPr/>
            <p:nvPr/>
          </p:nvSpPr>
          <p:spPr bwMode="auto">
            <a:xfrm>
              <a:off x="3310595" y="3992079"/>
              <a:ext cx="1296144" cy="360040"/>
            </a:xfrm>
            <a:prstGeom prst="roundRect">
              <a:avLst>
                <a:gd name="adj" fmla="val 0"/>
              </a:avLst>
            </a:prstGeom>
            <a:solidFill>
              <a:schemeClr val="accent5">
                <a:lumMod val="20000"/>
                <a:lumOff val="80000"/>
              </a:schemeClr>
            </a:solidFill>
            <a:ln w="12700"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wrap="square" lIns="0" tIns="0" rIns="0" bIns="0" numCol="1" rtlCol="0" anchor="ctr" anchorCtr="0" compatLnSpc="1">
              <a:prstTxWarp prst="textNoShape">
                <a:avLst/>
              </a:prstTxWarp>
              <a:no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zh-CN" altLang="en-US"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Segoe UI" pitchFamily="34" charset="0"/>
                </a:rPr>
                <a:t>有效载荷</a:t>
              </a:r>
            </a:p>
          </p:txBody>
        </p:sp>
        <p:sp>
          <p:nvSpPr>
            <p:cNvPr id="25" name="圆角矩形 24"/>
            <p:cNvSpPr/>
            <p:nvPr/>
          </p:nvSpPr>
          <p:spPr bwMode="auto">
            <a:xfrm>
              <a:off x="7739087" y="4000987"/>
              <a:ext cx="1296144" cy="360040"/>
            </a:xfrm>
            <a:prstGeom prst="roundRect">
              <a:avLst>
                <a:gd name="adj" fmla="val 0"/>
              </a:avLst>
            </a:prstGeom>
            <a:solidFill>
              <a:schemeClr val="accent5">
                <a:lumMod val="20000"/>
                <a:lumOff val="80000"/>
              </a:schemeClr>
            </a:solidFill>
            <a:ln w="12700"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wrap="square" lIns="0" tIns="0" rIns="0" bIns="0" numCol="1" rtlCol="0" anchor="ctr" anchorCtr="0" compatLnSpc="1">
              <a:prstTxWarp prst="textNoShape">
                <a:avLst/>
              </a:prstTxWarp>
              <a:no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zh-CN" altLang="en-US"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Segoe UI" pitchFamily="34" charset="0"/>
                </a:rPr>
                <a:t>有效载荷</a:t>
              </a:r>
            </a:p>
          </p:txBody>
        </p:sp>
      </p:grpSp>
    </p:spTree>
    <p:extLst>
      <p:ext uri="{BB962C8B-B14F-4D97-AF65-F5344CB8AC3E}">
        <p14:creationId xmlns:p14="http://schemas.microsoft.com/office/powerpoint/2010/main" val="21667727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成帧（</a:t>
            </a:r>
            <a:r>
              <a:rPr lang="en-US" altLang="zh-CN" dirty="0"/>
              <a:t>Framing</a:t>
            </a:r>
            <a:r>
              <a:rPr lang="zh-CN" altLang="en-US" dirty="0"/>
              <a:t>）</a:t>
            </a:r>
          </a:p>
        </p:txBody>
      </p:sp>
      <p:sp>
        <p:nvSpPr>
          <p:cNvPr id="3" name="内容占位符 2"/>
          <p:cNvSpPr>
            <a:spLocks noGrp="1"/>
          </p:cNvSpPr>
          <p:nvPr>
            <p:ph idx="1"/>
          </p:nvPr>
        </p:nvSpPr>
        <p:spPr>
          <a:xfrm>
            <a:off x="838200" y="2313711"/>
            <a:ext cx="10515600" cy="3963180"/>
          </a:xfrm>
        </p:spPr>
        <p:txBody>
          <a:bodyPr>
            <a:normAutofit fontScale="77500" lnSpcReduction="20000"/>
          </a:bodyPr>
          <a:lstStyle/>
          <a:p>
            <a:pPr>
              <a:lnSpc>
                <a:spcPct val="160000"/>
              </a:lnSpc>
              <a:spcBef>
                <a:spcPts val="0"/>
              </a:spcBef>
            </a:pPr>
            <a:r>
              <a:rPr lang="zh-CN" altLang="en-US" dirty="0">
                <a:solidFill>
                  <a:srgbClr val="C00000"/>
                </a:solidFill>
              </a:rPr>
              <a:t>关键问题：如何标识一个帧的开始？</a:t>
            </a:r>
            <a:endParaRPr lang="en-US" altLang="zh-CN" dirty="0">
              <a:solidFill>
                <a:srgbClr val="C00000"/>
              </a:solidFill>
            </a:endParaRPr>
          </a:p>
          <a:p>
            <a:pPr lvl="1">
              <a:lnSpc>
                <a:spcPct val="160000"/>
              </a:lnSpc>
              <a:spcBef>
                <a:spcPts val="0"/>
              </a:spcBef>
            </a:pPr>
            <a:r>
              <a:rPr lang="zh-CN" altLang="en-US" dirty="0"/>
              <a:t>接收方必须能从物理层接收的比特流中明确区分出一帧的开始和结束，这个问题被称为帧同步或帧定界</a:t>
            </a:r>
            <a:endParaRPr lang="en-US" altLang="zh-CN" dirty="0"/>
          </a:p>
          <a:p>
            <a:pPr lvl="1">
              <a:lnSpc>
                <a:spcPct val="160000"/>
              </a:lnSpc>
              <a:spcBef>
                <a:spcPts val="0"/>
              </a:spcBef>
            </a:pPr>
            <a:r>
              <a:rPr lang="zh-CN" altLang="en-US" dirty="0"/>
              <a:t>关键：选择何种</a:t>
            </a:r>
            <a:r>
              <a:rPr lang="zh-CN" altLang="en-US" dirty="0">
                <a:solidFill>
                  <a:srgbClr val="7030A0"/>
                </a:solidFill>
              </a:rPr>
              <a:t>定界符</a:t>
            </a:r>
            <a:r>
              <a:rPr lang="zh-CN" altLang="en-US" dirty="0"/>
              <a:t>？定界符出现在数据部分如何处理？</a:t>
            </a:r>
            <a:endParaRPr lang="en-US" altLang="zh-CN" dirty="0"/>
          </a:p>
          <a:p>
            <a:pPr>
              <a:lnSpc>
                <a:spcPct val="160000"/>
              </a:lnSpc>
              <a:spcBef>
                <a:spcPts val="0"/>
              </a:spcBef>
            </a:pPr>
            <a:r>
              <a:rPr lang="zh-CN" altLang="en-US" dirty="0"/>
              <a:t>成帧（</a:t>
            </a:r>
            <a:r>
              <a:rPr lang="en-US" altLang="zh-CN" dirty="0"/>
              <a:t>framing</a:t>
            </a:r>
            <a:r>
              <a:rPr lang="zh-CN" altLang="en-US" dirty="0"/>
              <a:t>）的方式</a:t>
            </a:r>
            <a:endParaRPr lang="en-US" altLang="zh-CN" dirty="0"/>
          </a:p>
          <a:p>
            <a:pPr lvl="1">
              <a:lnSpc>
                <a:spcPct val="160000"/>
              </a:lnSpc>
              <a:spcBef>
                <a:spcPts val="0"/>
              </a:spcBef>
            </a:pPr>
            <a:r>
              <a:rPr lang="zh-CN" altLang="en-US" dirty="0"/>
              <a:t>字节计数法（</a:t>
            </a:r>
            <a:r>
              <a:rPr lang="en-US" altLang="zh-CN" dirty="0"/>
              <a:t> Byte count </a:t>
            </a:r>
            <a:r>
              <a:rPr lang="zh-CN" altLang="en-US" dirty="0"/>
              <a:t>）</a:t>
            </a:r>
            <a:endParaRPr lang="en-US" altLang="zh-CN" dirty="0"/>
          </a:p>
          <a:p>
            <a:pPr lvl="1">
              <a:lnSpc>
                <a:spcPct val="160000"/>
              </a:lnSpc>
              <a:spcBef>
                <a:spcPts val="0"/>
              </a:spcBef>
            </a:pPr>
            <a:r>
              <a:rPr lang="zh-CN" altLang="en-US" dirty="0"/>
              <a:t>带</a:t>
            </a:r>
            <a:r>
              <a:rPr lang="zh-CN" altLang="en-US" dirty="0">
                <a:solidFill>
                  <a:srgbClr val="C00000"/>
                </a:solidFill>
              </a:rPr>
              <a:t>字节</a:t>
            </a:r>
            <a:r>
              <a:rPr lang="zh-CN" altLang="en-US" dirty="0"/>
              <a:t>填充的</a:t>
            </a:r>
            <a:r>
              <a:rPr lang="zh-CN" altLang="en-US" dirty="0">
                <a:solidFill>
                  <a:srgbClr val="7030A0"/>
                </a:solidFill>
              </a:rPr>
              <a:t>定界符</a:t>
            </a:r>
            <a:r>
              <a:rPr lang="zh-CN" altLang="en-US" dirty="0"/>
              <a:t>法（</a:t>
            </a:r>
            <a:r>
              <a:rPr lang="en-US" altLang="zh-CN" dirty="0"/>
              <a:t> </a:t>
            </a:r>
            <a:r>
              <a:rPr lang="en-US" altLang="zh-CN" dirty="0">
                <a:solidFill>
                  <a:srgbClr val="7030A0"/>
                </a:solidFill>
              </a:rPr>
              <a:t>Flag</a:t>
            </a:r>
            <a:r>
              <a:rPr lang="en-US" altLang="zh-CN" dirty="0"/>
              <a:t> bytes with </a:t>
            </a:r>
            <a:r>
              <a:rPr lang="en-US" altLang="zh-CN" dirty="0">
                <a:solidFill>
                  <a:srgbClr val="C00000"/>
                </a:solidFill>
              </a:rPr>
              <a:t>byte</a:t>
            </a:r>
            <a:r>
              <a:rPr lang="en-US" altLang="zh-CN" dirty="0"/>
              <a:t> stuffing </a:t>
            </a:r>
            <a:r>
              <a:rPr lang="zh-CN" altLang="en-US" dirty="0"/>
              <a:t>）</a:t>
            </a:r>
          </a:p>
          <a:p>
            <a:pPr lvl="1">
              <a:lnSpc>
                <a:spcPct val="160000"/>
              </a:lnSpc>
              <a:spcBef>
                <a:spcPts val="0"/>
              </a:spcBef>
            </a:pPr>
            <a:r>
              <a:rPr lang="zh-CN" altLang="en-US" dirty="0"/>
              <a:t>带</a:t>
            </a:r>
            <a:r>
              <a:rPr lang="zh-CN" altLang="en-US" dirty="0">
                <a:solidFill>
                  <a:srgbClr val="C00000"/>
                </a:solidFill>
              </a:rPr>
              <a:t>比特</a:t>
            </a:r>
            <a:r>
              <a:rPr lang="zh-CN" altLang="en-US" dirty="0"/>
              <a:t>填充的</a:t>
            </a:r>
            <a:r>
              <a:rPr lang="zh-CN" altLang="en-US" dirty="0">
                <a:solidFill>
                  <a:srgbClr val="7030A0"/>
                </a:solidFill>
              </a:rPr>
              <a:t>定界符</a:t>
            </a:r>
            <a:r>
              <a:rPr lang="zh-CN" altLang="en-US" dirty="0"/>
              <a:t>法（</a:t>
            </a:r>
            <a:r>
              <a:rPr lang="en-US" altLang="zh-CN" dirty="0"/>
              <a:t> </a:t>
            </a:r>
            <a:r>
              <a:rPr lang="en-US" altLang="zh-CN" dirty="0">
                <a:solidFill>
                  <a:srgbClr val="7030A0"/>
                </a:solidFill>
              </a:rPr>
              <a:t>Flag</a:t>
            </a:r>
            <a:r>
              <a:rPr lang="en-US" altLang="zh-CN" dirty="0"/>
              <a:t> bits with </a:t>
            </a:r>
            <a:r>
              <a:rPr lang="en-US" altLang="zh-CN" dirty="0">
                <a:solidFill>
                  <a:srgbClr val="C00000"/>
                </a:solidFill>
              </a:rPr>
              <a:t>bit</a:t>
            </a:r>
            <a:r>
              <a:rPr lang="en-US" altLang="zh-CN" dirty="0"/>
              <a:t> stuffing </a:t>
            </a:r>
            <a:r>
              <a:rPr lang="zh-CN" altLang="en-US" dirty="0"/>
              <a:t>）</a:t>
            </a:r>
          </a:p>
          <a:p>
            <a:pPr lvl="1">
              <a:lnSpc>
                <a:spcPct val="160000"/>
              </a:lnSpc>
              <a:spcBef>
                <a:spcPts val="0"/>
              </a:spcBef>
            </a:pPr>
            <a:r>
              <a:rPr lang="zh-CN" altLang="en-US" dirty="0">
                <a:solidFill>
                  <a:srgbClr val="7030A0"/>
                </a:solidFill>
              </a:rPr>
              <a:t>物理层</a:t>
            </a:r>
            <a:r>
              <a:rPr lang="zh-CN" altLang="en-US" dirty="0"/>
              <a:t>编码违例（</a:t>
            </a:r>
            <a:r>
              <a:rPr lang="en-US" altLang="zh-CN" dirty="0"/>
              <a:t> Physical layer coding violations </a:t>
            </a:r>
            <a:r>
              <a:rPr lang="zh-CN" altLang="en-US" dirty="0"/>
              <a:t>）</a:t>
            </a: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6" name="文本框 5">
            <a:extLst>
              <a:ext uri="{FF2B5EF4-FFF2-40B4-BE49-F238E27FC236}">
                <a16:creationId xmlns:a16="http://schemas.microsoft.com/office/drawing/2014/main" id="{A90BAEBE-C2E5-49DC-89F1-E700B708FC09}"/>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3.1 </a:t>
            </a:r>
            <a:r>
              <a:rPr lang="zh-CN" altLang="zh-CN" dirty="0">
                <a:solidFill>
                  <a:schemeClr val="bg1">
                    <a:lumMod val="65000"/>
                  </a:schemeClr>
                </a:solidFill>
                <a:latin typeface="微软雅黑" panose="020B0503020204020204" pitchFamily="34" charset="-122"/>
                <a:ea typeface="微软雅黑" panose="020B0503020204020204" pitchFamily="34" charset="-122"/>
              </a:rPr>
              <a:t>数据链路层的设计问题</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7" name="TextBox 6">
            <a:extLst>
              <a:ext uri="{FF2B5EF4-FFF2-40B4-BE49-F238E27FC236}">
                <a16:creationId xmlns:a16="http://schemas.microsoft.com/office/drawing/2014/main" id="{8270F496-9949-DEE1-B240-ADC76EB8E6EC}"/>
              </a:ext>
            </a:extLst>
          </p:cNvPr>
          <p:cNvSpPr txBox="1"/>
          <p:nvPr/>
        </p:nvSpPr>
        <p:spPr>
          <a:xfrm>
            <a:off x="858979" y="1426396"/>
            <a:ext cx="8572356" cy="830997"/>
          </a:xfrm>
          <a:prstGeom prst="rect">
            <a:avLst/>
          </a:prstGeom>
          <a:noFill/>
        </p:spPr>
        <p:txBody>
          <a:bodyPr wrap="square">
            <a:spAutoFit/>
          </a:bodyPr>
          <a:lstStyle/>
          <a:p>
            <a:pPr eaLnBrk="1" hangingPunct="1">
              <a:buSzPct val="90000"/>
              <a:buFont typeface="Wingdings" panose="05000000000000000000" pitchFamily="2" charset="2"/>
              <a:buChar char="§"/>
              <a:defRPr/>
            </a:pPr>
            <a:r>
              <a:rPr lang="zh-CN" altLang="en-US" sz="2400" b="1" dirty="0">
                <a:solidFill>
                  <a:srgbClr val="0000FF"/>
                </a:solidFill>
                <a:latin typeface="Verdana" pitchFamily="34" charset="0"/>
                <a:ea typeface="楷体_GB2312" pitchFamily="49" charset="-122"/>
              </a:rPr>
              <a:t>帧定界问题 </a:t>
            </a:r>
            <a:r>
              <a:rPr lang="en-US" altLang="zh-CN" sz="2400" dirty="0">
                <a:latin typeface="Verdana" pitchFamily="34" charset="0"/>
                <a:ea typeface="楷体_GB2312" pitchFamily="49" charset="-122"/>
              </a:rPr>
              <a:t>(</a:t>
            </a:r>
            <a:r>
              <a:rPr lang="zh-CN" altLang="en-US" sz="2400" dirty="0">
                <a:latin typeface="Verdana" pitchFamily="34" charset="0"/>
                <a:ea typeface="楷体_GB2312" pitchFamily="49" charset="-122"/>
              </a:rPr>
              <a:t>比特流分成帧</a:t>
            </a:r>
            <a:r>
              <a:rPr lang="en-US" altLang="zh-CN" sz="2400" dirty="0">
                <a:latin typeface="Verdana" pitchFamily="34" charset="0"/>
                <a:ea typeface="楷体_GB2312" pitchFamily="49" charset="-122"/>
              </a:rPr>
              <a:t>)</a:t>
            </a:r>
            <a:r>
              <a:rPr lang="zh-CN" altLang="en-US" sz="2400" dirty="0">
                <a:latin typeface="Verdana" pitchFamily="34" charset="0"/>
                <a:ea typeface="楷体_GB2312" pitchFamily="49" charset="-122"/>
              </a:rPr>
              <a:t>；</a:t>
            </a:r>
          </a:p>
          <a:p>
            <a:pPr eaLnBrk="1" hangingPunct="1">
              <a:buSzPct val="90000"/>
              <a:buFont typeface="Wingdings" panose="05000000000000000000" pitchFamily="2" charset="2"/>
              <a:buChar char="§"/>
              <a:defRPr/>
            </a:pPr>
            <a:r>
              <a:rPr lang="zh-CN" altLang="en-US" sz="2400" b="1" dirty="0">
                <a:solidFill>
                  <a:srgbClr val="0000FF"/>
                </a:solidFill>
                <a:latin typeface="Verdana" pitchFamily="34" charset="0"/>
                <a:ea typeface="楷体_GB2312" pitchFamily="49" charset="-122"/>
              </a:rPr>
              <a:t>透明传输问题 </a:t>
            </a:r>
            <a:r>
              <a:rPr lang="en-US" altLang="zh-CN" sz="2400" dirty="0">
                <a:solidFill>
                  <a:schemeClr val="tx2"/>
                </a:solidFill>
                <a:latin typeface="Verdana" pitchFamily="34" charset="0"/>
                <a:ea typeface="楷体_GB2312" pitchFamily="49" charset="-122"/>
              </a:rPr>
              <a:t>(</a:t>
            </a:r>
            <a:r>
              <a:rPr lang="zh-CN" altLang="en-US" sz="2400" dirty="0">
                <a:solidFill>
                  <a:schemeClr val="tx2"/>
                </a:solidFill>
                <a:latin typeface="Verdana" pitchFamily="34" charset="0"/>
                <a:ea typeface="楷体_GB2312" pitchFamily="49" charset="-122"/>
              </a:rPr>
              <a:t>任何字符都可以传输</a:t>
            </a:r>
            <a:r>
              <a:rPr lang="en-US" altLang="zh-CN" sz="2400" dirty="0">
                <a:solidFill>
                  <a:schemeClr val="tx2"/>
                </a:solidFill>
                <a:latin typeface="Verdana" pitchFamily="34" charset="0"/>
                <a:ea typeface="楷体_GB2312" pitchFamily="49" charset="-122"/>
              </a:rPr>
              <a:t>)</a:t>
            </a:r>
            <a:r>
              <a:rPr lang="zh-CN" altLang="en-US" sz="2400" dirty="0">
                <a:solidFill>
                  <a:schemeClr val="tx2"/>
                </a:solidFill>
                <a:latin typeface="Verdana" pitchFamily="34" charset="0"/>
                <a:ea typeface="楷体_GB2312" pitchFamily="49" charset="-122"/>
              </a:rPr>
              <a:t>；</a:t>
            </a:r>
            <a:endParaRPr lang="en-CN" sz="2400" dirty="0"/>
          </a:p>
        </p:txBody>
      </p:sp>
    </p:spTree>
    <p:extLst>
      <p:ext uri="{BB962C8B-B14F-4D97-AF65-F5344CB8AC3E}">
        <p14:creationId xmlns:p14="http://schemas.microsoft.com/office/powerpoint/2010/main" val="16388814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成帧（</a:t>
            </a:r>
            <a:r>
              <a:rPr lang="en-US" altLang="zh-CN" dirty="0"/>
              <a:t>Framing</a:t>
            </a:r>
            <a:r>
              <a:rPr lang="zh-CN" altLang="en-US" dirty="0"/>
              <a:t>）</a:t>
            </a:r>
          </a:p>
        </p:txBody>
      </p:sp>
      <p:sp>
        <p:nvSpPr>
          <p:cNvPr id="3" name="内容占位符 2"/>
          <p:cNvSpPr>
            <a:spLocks noGrp="1"/>
          </p:cNvSpPr>
          <p:nvPr>
            <p:ph idx="1"/>
          </p:nvPr>
        </p:nvSpPr>
        <p:spPr/>
        <p:txBody>
          <a:bodyPr/>
          <a:lstStyle/>
          <a:p>
            <a:pPr>
              <a:spcBef>
                <a:spcPts val="1200"/>
              </a:spcBef>
            </a:pPr>
            <a:r>
              <a:rPr lang="zh-CN" altLang="en-US" dirty="0">
                <a:solidFill>
                  <a:srgbClr val="C00000"/>
                </a:solidFill>
              </a:rPr>
              <a:t>字节计数法</a:t>
            </a:r>
            <a:r>
              <a:rPr lang="zh-CN" altLang="en-US" dirty="0"/>
              <a:t>：无差错传输的情形</a:t>
            </a: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6" name="文本框 5">
            <a:extLst>
              <a:ext uri="{FF2B5EF4-FFF2-40B4-BE49-F238E27FC236}">
                <a16:creationId xmlns:a16="http://schemas.microsoft.com/office/drawing/2014/main" id="{A90BAEBE-C2E5-49DC-89F1-E700B708FC09}"/>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3.1 </a:t>
            </a:r>
            <a:r>
              <a:rPr lang="zh-CN" altLang="zh-CN" dirty="0">
                <a:solidFill>
                  <a:schemeClr val="bg1">
                    <a:lumMod val="65000"/>
                  </a:schemeClr>
                </a:solidFill>
                <a:latin typeface="微软雅黑" panose="020B0503020204020204" pitchFamily="34" charset="-122"/>
                <a:ea typeface="微软雅黑" panose="020B0503020204020204" pitchFamily="34" charset="-122"/>
              </a:rPr>
              <a:t>数据链路层的设计问题</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grpSp>
        <p:nvGrpSpPr>
          <p:cNvPr id="7" name="组合 6"/>
          <p:cNvGrpSpPr/>
          <p:nvPr/>
        </p:nvGrpSpPr>
        <p:grpSpPr>
          <a:xfrm>
            <a:off x="1883750" y="3755963"/>
            <a:ext cx="1594449" cy="995523"/>
            <a:chOff x="1628570" y="3387255"/>
            <a:chExt cx="1594449" cy="995523"/>
          </a:xfrm>
        </p:grpSpPr>
        <p:sp>
          <p:nvSpPr>
            <p:cNvPr id="8" name="左大括号 7"/>
            <p:cNvSpPr/>
            <p:nvPr/>
          </p:nvSpPr>
          <p:spPr>
            <a:xfrm rot="16200000">
              <a:off x="2346283" y="2669542"/>
              <a:ext cx="159024" cy="1594449"/>
            </a:xfrm>
            <a:prstGeom prst="leftBrace">
              <a:avLst>
                <a:gd name="adj1" fmla="val 95127"/>
                <a:gd name="adj2" fmla="val 50000"/>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9" name="矩形 8"/>
            <p:cNvSpPr/>
            <p:nvPr/>
          </p:nvSpPr>
          <p:spPr>
            <a:xfrm>
              <a:off x="1950271" y="3674892"/>
              <a:ext cx="951048" cy="707886"/>
            </a:xfrm>
            <a:prstGeom prst="rect">
              <a:avLst/>
            </a:prstGeom>
            <a:noFill/>
            <a:ln>
              <a:noFill/>
            </a:ln>
          </p:spPr>
          <p:txBody>
            <a:bodyPr wrap="square">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第</a:t>
              </a:r>
              <a:r>
                <a:rPr kumimoji="1"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帧</a:t>
              </a:r>
              <a:endParaRPr kumimoji="1"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base" latinLnBrk="0" hangingPunct="1">
                <a:lnSpc>
                  <a:spcPct val="100000"/>
                </a:lnSpc>
                <a:spcBef>
                  <a:spcPts val="0"/>
                </a:spcBef>
                <a:spcAft>
                  <a:spcPct val="0"/>
                </a:spcAft>
                <a:buClrTx/>
                <a:buSzTx/>
                <a:buFontTx/>
                <a:buNone/>
                <a:tabLst/>
                <a:defRPr/>
              </a:pPr>
              <a:r>
                <a:rPr kumimoji="1" lang="en-US" altLang="zh-CN"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5</a:t>
              </a: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字节</a:t>
              </a:r>
            </a:p>
          </p:txBody>
        </p:sp>
      </p:grpSp>
      <p:grpSp>
        <p:nvGrpSpPr>
          <p:cNvPr id="10" name="组合 9"/>
          <p:cNvGrpSpPr/>
          <p:nvPr/>
        </p:nvGrpSpPr>
        <p:grpSpPr>
          <a:xfrm>
            <a:off x="3478200" y="3755963"/>
            <a:ext cx="1594449" cy="995523"/>
            <a:chOff x="3223020" y="3387255"/>
            <a:chExt cx="1594449" cy="995523"/>
          </a:xfrm>
        </p:grpSpPr>
        <p:sp>
          <p:nvSpPr>
            <p:cNvPr id="11" name="左大括号 10"/>
            <p:cNvSpPr/>
            <p:nvPr/>
          </p:nvSpPr>
          <p:spPr>
            <a:xfrm rot="16200000">
              <a:off x="3940733" y="2669542"/>
              <a:ext cx="159024" cy="1594449"/>
            </a:xfrm>
            <a:prstGeom prst="leftBrace">
              <a:avLst>
                <a:gd name="adj1" fmla="val 95127"/>
                <a:gd name="adj2" fmla="val 50000"/>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2" name="矩形 11"/>
            <p:cNvSpPr/>
            <p:nvPr/>
          </p:nvSpPr>
          <p:spPr>
            <a:xfrm>
              <a:off x="3544721" y="3674892"/>
              <a:ext cx="951048" cy="707886"/>
            </a:xfrm>
            <a:prstGeom prst="rect">
              <a:avLst/>
            </a:prstGeom>
            <a:noFill/>
            <a:ln>
              <a:noFill/>
            </a:ln>
          </p:spPr>
          <p:txBody>
            <a:bodyPr wrap="square">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第</a:t>
              </a:r>
              <a:r>
                <a:rPr kumimoji="1"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a:t>
              </a: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帧</a:t>
              </a:r>
              <a:endParaRPr kumimoji="1"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base" latinLnBrk="0" hangingPunct="1">
                <a:lnSpc>
                  <a:spcPct val="100000"/>
                </a:lnSpc>
                <a:spcBef>
                  <a:spcPts val="0"/>
                </a:spcBef>
                <a:spcAft>
                  <a:spcPct val="0"/>
                </a:spcAft>
                <a:buClrTx/>
                <a:buSzTx/>
                <a:buFontTx/>
                <a:buNone/>
                <a:tabLst/>
                <a:defRPr/>
              </a:pPr>
              <a:r>
                <a:rPr kumimoji="1" lang="en-US" altLang="zh-CN"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5</a:t>
              </a: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字节</a:t>
              </a:r>
            </a:p>
          </p:txBody>
        </p:sp>
      </p:grpSp>
      <p:grpSp>
        <p:nvGrpSpPr>
          <p:cNvPr id="13" name="组合 12"/>
          <p:cNvGrpSpPr/>
          <p:nvPr/>
        </p:nvGrpSpPr>
        <p:grpSpPr>
          <a:xfrm>
            <a:off x="5072650" y="3755963"/>
            <a:ext cx="2549057" cy="997132"/>
            <a:chOff x="4817470" y="3387255"/>
            <a:chExt cx="2549057" cy="997132"/>
          </a:xfrm>
        </p:grpSpPr>
        <p:sp>
          <p:nvSpPr>
            <p:cNvPr id="14" name="左大括号 13"/>
            <p:cNvSpPr/>
            <p:nvPr/>
          </p:nvSpPr>
          <p:spPr>
            <a:xfrm rot="16200000">
              <a:off x="6012487" y="2192238"/>
              <a:ext cx="159023" cy="2549057"/>
            </a:xfrm>
            <a:prstGeom prst="leftBrace">
              <a:avLst>
                <a:gd name="adj1" fmla="val 95127"/>
                <a:gd name="adj2" fmla="val 50000"/>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 name="矩形 14"/>
            <p:cNvSpPr/>
            <p:nvPr/>
          </p:nvSpPr>
          <p:spPr>
            <a:xfrm>
              <a:off x="5612074" y="3676501"/>
              <a:ext cx="951048" cy="707886"/>
            </a:xfrm>
            <a:prstGeom prst="rect">
              <a:avLst/>
            </a:prstGeom>
            <a:noFill/>
            <a:ln>
              <a:noFill/>
            </a:ln>
          </p:spPr>
          <p:txBody>
            <a:bodyPr wrap="square">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第</a:t>
              </a:r>
              <a:r>
                <a:rPr kumimoji="1"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3</a:t>
              </a: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帧</a:t>
              </a:r>
              <a:endParaRPr kumimoji="1"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base" latinLnBrk="0" hangingPunct="1">
                <a:lnSpc>
                  <a:spcPct val="100000"/>
                </a:lnSpc>
                <a:spcBef>
                  <a:spcPts val="0"/>
                </a:spcBef>
                <a:spcAft>
                  <a:spcPct val="0"/>
                </a:spcAft>
                <a:buClrTx/>
                <a:buSzTx/>
                <a:buFontTx/>
                <a:buNone/>
                <a:tabLst/>
                <a:defRPr/>
              </a:pPr>
              <a:r>
                <a:rPr kumimoji="1" lang="en-US" altLang="zh-CN"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8</a:t>
              </a: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字节</a:t>
              </a:r>
            </a:p>
          </p:txBody>
        </p:sp>
      </p:grpSp>
      <p:grpSp>
        <p:nvGrpSpPr>
          <p:cNvPr id="16" name="组合 15"/>
          <p:cNvGrpSpPr/>
          <p:nvPr/>
        </p:nvGrpSpPr>
        <p:grpSpPr>
          <a:xfrm>
            <a:off x="7609714" y="3759181"/>
            <a:ext cx="1925519" cy="990138"/>
            <a:chOff x="7354534" y="3390473"/>
            <a:chExt cx="1925519" cy="990138"/>
          </a:xfrm>
        </p:grpSpPr>
        <p:sp>
          <p:nvSpPr>
            <p:cNvPr id="17" name="左大括号 16"/>
            <p:cNvSpPr/>
            <p:nvPr/>
          </p:nvSpPr>
          <p:spPr>
            <a:xfrm rot="16200000">
              <a:off x="8237782" y="2507225"/>
              <a:ext cx="159023" cy="1925519"/>
            </a:xfrm>
            <a:prstGeom prst="leftBrace">
              <a:avLst>
                <a:gd name="adj1" fmla="val 95127"/>
                <a:gd name="adj2" fmla="val 50000"/>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 name="矩形 17"/>
            <p:cNvSpPr/>
            <p:nvPr/>
          </p:nvSpPr>
          <p:spPr>
            <a:xfrm>
              <a:off x="7841769" y="3672725"/>
              <a:ext cx="951048" cy="707886"/>
            </a:xfrm>
            <a:prstGeom prst="rect">
              <a:avLst/>
            </a:prstGeom>
            <a:noFill/>
            <a:ln>
              <a:noFill/>
            </a:ln>
          </p:spPr>
          <p:txBody>
            <a:bodyPr wrap="square">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第</a:t>
              </a:r>
              <a:r>
                <a:rPr kumimoji="1"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4</a:t>
              </a: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帧</a:t>
              </a:r>
              <a:endParaRPr kumimoji="1"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base" latinLnBrk="0" hangingPunct="1">
                <a:lnSpc>
                  <a:spcPct val="100000"/>
                </a:lnSpc>
                <a:spcBef>
                  <a:spcPts val="0"/>
                </a:spcBef>
                <a:spcAft>
                  <a:spcPct val="0"/>
                </a:spcAft>
                <a:buClrTx/>
                <a:buSzTx/>
                <a:buFontTx/>
                <a:buNone/>
                <a:tabLst/>
                <a:defRPr/>
              </a:pPr>
              <a:r>
                <a:rPr kumimoji="1" lang="en-US" altLang="zh-CN"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6</a:t>
              </a: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字节</a:t>
              </a:r>
            </a:p>
          </p:txBody>
        </p:sp>
      </p:grpSp>
      <p:grpSp>
        <p:nvGrpSpPr>
          <p:cNvPr id="19" name="组合 18"/>
          <p:cNvGrpSpPr/>
          <p:nvPr/>
        </p:nvGrpSpPr>
        <p:grpSpPr>
          <a:xfrm>
            <a:off x="1883750" y="3338395"/>
            <a:ext cx="7657848" cy="287344"/>
            <a:chOff x="1465472" y="2463488"/>
            <a:chExt cx="7657848" cy="287344"/>
          </a:xfrm>
          <a:solidFill>
            <a:schemeClr val="bg1">
              <a:lumMod val="95000"/>
            </a:schemeClr>
          </a:solidFill>
          <a:scene3d>
            <a:camera prst="orthographicFront">
              <a:rot lat="0" lon="0" rev="0"/>
            </a:camera>
            <a:lightRig rig="soft" dir="t">
              <a:rot lat="0" lon="0" rev="0"/>
            </a:lightRig>
          </a:scene3d>
        </p:grpSpPr>
        <p:sp>
          <p:nvSpPr>
            <p:cNvPr id="20" name="Rectangle 44"/>
            <p:cNvSpPr>
              <a:spLocks noChangeArrowheads="1"/>
            </p:cNvSpPr>
            <p:nvPr/>
          </p:nvSpPr>
          <p:spPr bwMode="auto">
            <a:xfrm>
              <a:off x="1465472"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5</a:t>
              </a:r>
            </a:p>
          </p:txBody>
        </p:sp>
        <p:sp>
          <p:nvSpPr>
            <p:cNvPr id="21" name="Rectangle 44"/>
            <p:cNvSpPr>
              <a:spLocks noChangeArrowheads="1"/>
            </p:cNvSpPr>
            <p:nvPr/>
          </p:nvSpPr>
          <p:spPr bwMode="auto">
            <a:xfrm>
              <a:off x="1784549"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22" name="Rectangle 44"/>
            <p:cNvSpPr>
              <a:spLocks noChangeArrowheads="1"/>
            </p:cNvSpPr>
            <p:nvPr/>
          </p:nvSpPr>
          <p:spPr bwMode="auto">
            <a:xfrm>
              <a:off x="2103626"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a:t>
              </a:r>
            </a:p>
          </p:txBody>
        </p:sp>
        <p:sp>
          <p:nvSpPr>
            <p:cNvPr id="23" name="Rectangle 44"/>
            <p:cNvSpPr>
              <a:spLocks noChangeArrowheads="1"/>
            </p:cNvSpPr>
            <p:nvPr/>
          </p:nvSpPr>
          <p:spPr bwMode="auto">
            <a:xfrm>
              <a:off x="2422703"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3</a:t>
              </a:r>
            </a:p>
          </p:txBody>
        </p:sp>
        <p:sp>
          <p:nvSpPr>
            <p:cNvPr id="24" name="Rectangle 44"/>
            <p:cNvSpPr>
              <a:spLocks noChangeArrowheads="1"/>
            </p:cNvSpPr>
            <p:nvPr/>
          </p:nvSpPr>
          <p:spPr bwMode="auto">
            <a:xfrm>
              <a:off x="2741780"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4</a:t>
              </a:r>
            </a:p>
          </p:txBody>
        </p:sp>
        <p:sp>
          <p:nvSpPr>
            <p:cNvPr id="25" name="Rectangle 44"/>
            <p:cNvSpPr>
              <a:spLocks noChangeArrowheads="1"/>
            </p:cNvSpPr>
            <p:nvPr/>
          </p:nvSpPr>
          <p:spPr bwMode="auto">
            <a:xfrm>
              <a:off x="3060857"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5</a:t>
              </a:r>
            </a:p>
          </p:txBody>
        </p:sp>
        <p:sp>
          <p:nvSpPr>
            <p:cNvPr id="26" name="Rectangle 44"/>
            <p:cNvSpPr>
              <a:spLocks noChangeArrowheads="1"/>
            </p:cNvSpPr>
            <p:nvPr/>
          </p:nvSpPr>
          <p:spPr bwMode="auto">
            <a:xfrm>
              <a:off x="3379934"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27" name="Rectangle 44"/>
            <p:cNvSpPr>
              <a:spLocks noChangeArrowheads="1"/>
            </p:cNvSpPr>
            <p:nvPr/>
          </p:nvSpPr>
          <p:spPr bwMode="auto">
            <a:xfrm>
              <a:off x="3699011"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a:t>
              </a:r>
            </a:p>
          </p:txBody>
        </p:sp>
        <p:sp>
          <p:nvSpPr>
            <p:cNvPr id="28" name="Rectangle 44"/>
            <p:cNvSpPr>
              <a:spLocks noChangeArrowheads="1"/>
            </p:cNvSpPr>
            <p:nvPr/>
          </p:nvSpPr>
          <p:spPr bwMode="auto">
            <a:xfrm>
              <a:off x="4018088"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3</a:t>
              </a:r>
            </a:p>
          </p:txBody>
        </p:sp>
        <p:sp>
          <p:nvSpPr>
            <p:cNvPr id="29" name="Rectangle 44"/>
            <p:cNvSpPr>
              <a:spLocks noChangeArrowheads="1"/>
            </p:cNvSpPr>
            <p:nvPr/>
          </p:nvSpPr>
          <p:spPr bwMode="auto">
            <a:xfrm>
              <a:off x="4337165"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4</a:t>
              </a:r>
            </a:p>
          </p:txBody>
        </p:sp>
        <p:sp>
          <p:nvSpPr>
            <p:cNvPr id="30" name="Rectangle 44"/>
            <p:cNvSpPr>
              <a:spLocks noChangeArrowheads="1"/>
            </p:cNvSpPr>
            <p:nvPr/>
          </p:nvSpPr>
          <p:spPr bwMode="auto">
            <a:xfrm>
              <a:off x="4656242"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8</a:t>
              </a:r>
            </a:p>
          </p:txBody>
        </p:sp>
        <p:sp>
          <p:nvSpPr>
            <p:cNvPr id="31" name="Rectangle 44"/>
            <p:cNvSpPr>
              <a:spLocks noChangeArrowheads="1"/>
            </p:cNvSpPr>
            <p:nvPr/>
          </p:nvSpPr>
          <p:spPr bwMode="auto">
            <a:xfrm>
              <a:off x="4975319"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32" name="Rectangle 44"/>
            <p:cNvSpPr>
              <a:spLocks noChangeArrowheads="1"/>
            </p:cNvSpPr>
            <p:nvPr/>
          </p:nvSpPr>
          <p:spPr bwMode="auto">
            <a:xfrm>
              <a:off x="5294396"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a:t>
              </a:r>
            </a:p>
          </p:txBody>
        </p:sp>
        <p:sp>
          <p:nvSpPr>
            <p:cNvPr id="33" name="Rectangle 44"/>
            <p:cNvSpPr>
              <a:spLocks noChangeArrowheads="1"/>
            </p:cNvSpPr>
            <p:nvPr/>
          </p:nvSpPr>
          <p:spPr bwMode="auto">
            <a:xfrm>
              <a:off x="5613473"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3</a:t>
              </a:r>
            </a:p>
          </p:txBody>
        </p:sp>
        <p:sp>
          <p:nvSpPr>
            <p:cNvPr id="34" name="Rectangle 44"/>
            <p:cNvSpPr>
              <a:spLocks noChangeArrowheads="1"/>
            </p:cNvSpPr>
            <p:nvPr/>
          </p:nvSpPr>
          <p:spPr bwMode="auto">
            <a:xfrm>
              <a:off x="5932550"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4</a:t>
              </a:r>
            </a:p>
          </p:txBody>
        </p:sp>
        <p:sp>
          <p:nvSpPr>
            <p:cNvPr id="35" name="Rectangle 44"/>
            <p:cNvSpPr>
              <a:spLocks noChangeArrowheads="1"/>
            </p:cNvSpPr>
            <p:nvPr/>
          </p:nvSpPr>
          <p:spPr bwMode="auto">
            <a:xfrm>
              <a:off x="6251627"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5</a:t>
              </a:r>
            </a:p>
          </p:txBody>
        </p:sp>
        <p:sp>
          <p:nvSpPr>
            <p:cNvPr id="36" name="Rectangle 44"/>
            <p:cNvSpPr>
              <a:spLocks noChangeArrowheads="1"/>
            </p:cNvSpPr>
            <p:nvPr/>
          </p:nvSpPr>
          <p:spPr bwMode="auto">
            <a:xfrm>
              <a:off x="6570704"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6</a:t>
              </a:r>
            </a:p>
          </p:txBody>
        </p:sp>
        <p:sp>
          <p:nvSpPr>
            <p:cNvPr id="37" name="Rectangle 44"/>
            <p:cNvSpPr>
              <a:spLocks noChangeArrowheads="1"/>
            </p:cNvSpPr>
            <p:nvPr/>
          </p:nvSpPr>
          <p:spPr bwMode="auto">
            <a:xfrm>
              <a:off x="6889781"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7</a:t>
              </a:r>
            </a:p>
          </p:txBody>
        </p:sp>
        <p:sp>
          <p:nvSpPr>
            <p:cNvPr id="38" name="Rectangle 44"/>
            <p:cNvSpPr>
              <a:spLocks noChangeArrowheads="1"/>
            </p:cNvSpPr>
            <p:nvPr/>
          </p:nvSpPr>
          <p:spPr bwMode="auto">
            <a:xfrm>
              <a:off x="7208858"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6</a:t>
              </a:r>
            </a:p>
          </p:txBody>
        </p:sp>
        <p:sp>
          <p:nvSpPr>
            <p:cNvPr id="39" name="Rectangle 44"/>
            <p:cNvSpPr>
              <a:spLocks noChangeArrowheads="1"/>
            </p:cNvSpPr>
            <p:nvPr/>
          </p:nvSpPr>
          <p:spPr bwMode="auto">
            <a:xfrm>
              <a:off x="7527935"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40" name="Rectangle 44"/>
            <p:cNvSpPr>
              <a:spLocks noChangeArrowheads="1"/>
            </p:cNvSpPr>
            <p:nvPr/>
          </p:nvSpPr>
          <p:spPr bwMode="auto">
            <a:xfrm>
              <a:off x="7847012"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a:t>
              </a:r>
            </a:p>
          </p:txBody>
        </p:sp>
        <p:sp>
          <p:nvSpPr>
            <p:cNvPr id="41" name="Rectangle 44"/>
            <p:cNvSpPr>
              <a:spLocks noChangeArrowheads="1"/>
            </p:cNvSpPr>
            <p:nvPr/>
          </p:nvSpPr>
          <p:spPr bwMode="auto">
            <a:xfrm>
              <a:off x="8166089"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3</a:t>
              </a:r>
            </a:p>
          </p:txBody>
        </p:sp>
        <p:sp>
          <p:nvSpPr>
            <p:cNvPr id="42" name="Rectangle 44"/>
            <p:cNvSpPr>
              <a:spLocks noChangeArrowheads="1"/>
            </p:cNvSpPr>
            <p:nvPr/>
          </p:nvSpPr>
          <p:spPr bwMode="auto">
            <a:xfrm>
              <a:off x="8485166"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4</a:t>
              </a:r>
            </a:p>
          </p:txBody>
        </p:sp>
        <p:sp>
          <p:nvSpPr>
            <p:cNvPr id="43" name="Rectangle 44"/>
            <p:cNvSpPr>
              <a:spLocks noChangeArrowheads="1"/>
            </p:cNvSpPr>
            <p:nvPr/>
          </p:nvSpPr>
          <p:spPr bwMode="auto">
            <a:xfrm>
              <a:off x="8804243"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5</a:t>
              </a:r>
            </a:p>
          </p:txBody>
        </p:sp>
      </p:grpSp>
      <p:sp>
        <p:nvSpPr>
          <p:cNvPr id="44" name="任意多边形 43"/>
          <p:cNvSpPr/>
          <p:nvPr/>
        </p:nvSpPr>
        <p:spPr>
          <a:xfrm>
            <a:off x="3639473" y="2581936"/>
            <a:ext cx="1288068" cy="672479"/>
          </a:xfrm>
          <a:custGeom>
            <a:avLst/>
            <a:gdLst>
              <a:gd name="connsiteX0" fmla="*/ 0 w 2554664"/>
              <a:gd name="connsiteY0" fmla="*/ 311096 h 320523"/>
              <a:gd name="connsiteX1" fmla="*/ 1244338 w 2554664"/>
              <a:gd name="connsiteY1" fmla="*/ 11 h 320523"/>
              <a:gd name="connsiteX2" fmla="*/ 2554664 w 2554664"/>
              <a:gd name="connsiteY2" fmla="*/ 320523 h 320523"/>
            </a:gdLst>
            <a:ahLst/>
            <a:cxnLst>
              <a:cxn ang="0">
                <a:pos x="connsiteX0" y="connsiteY0"/>
              </a:cxn>
              <a:cxn ang="0">
                <a:pos x="connsiteX1" y="connsiteY1"/>
              </a:cxn>
              <a:cxn ang="0">
                <a:pos x="connsiteX2" y="connsiteY2"/>
              </a:cxn>
            </a:cxnLst>
            <a:rect l="l" t="t" r="r" b="b"/>
            <a:pathLst>
              <a:path w="2554664" h="320523">
                <a:moveTo>
                  <a:pt x="0" y="311096"/>
                </a:moveTo>
                <a:cubicBezTo>
                  <a:pt x="409280" y="154768"/>
                  <a:pt x="818561" y="-1560"/>
                  <a:pt x="1244338" y="11"/>
                </a:cubicBezTo>
                <a:cubicBezTo>
                  <a:pt x="1670115" y="1582"/>
                  <a:pt x="2112389" y="161052"/>
                  <a:pt x="2554664" y="320523"/>
                </a:cubicBezTo>
              </a:path>
            </a:pathLst>
          </a:custGeom>
          <a:noFill/>
          <a:ln w="19050">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45" name="任意多边形 44"/>
          <p:cNvSpPr/>
          <p:nvPr/>
        </p:nvSpPr>
        <p:spPr>
          <a:xfrm>
            <a:off x="5254394" y="2581936"/>
            <a:ext cx="2230080" cy="672479"/>
          </a:xfrm>
          <a:custGeom>
            <a:avLst/>
            <a:gdLst>
              <a:gd name="connsiteX0" fmla="*/ 0 w 2554664"/>
              <a:gd name="connsiteY0" fmla="*/ 311096 h 320523"/>
              <a:gd name="connsiteX1" fmla="*/ 1244338 w 2554664"/>
              <a:gd name="connsiteY1" fmla="*/ 11 h 320523"/>
              <a:gd name="connsiteX2" fmla="*/ 2554664 w 2554664"/>
              <a:gd name="connsiteY2" fmla="*/ 320523 h 320523"/>
            </a:gdLst>
            <a:ahLst/>
            <a:cxnLst>
              <a:cxn ang="0">
                <a:pos x="connsiteX0" y="connsiteY0"/>
              </a:cxn>
              <a:cxn ang="0">
                <a:pos x="connsiteX1" y="connsiteY1"/>
              </a:cxn>
              <a:cxn ang="0">
                <a:pos x="connsiteX2" y="connsiteY2"/>
              </a:cxn>
            </a:cxnLst>
            <a:rect l="l" t="t" r="r" b="b"/>
            <a:pathLst>
              <a:path w="2554664" h="320523">
                <a:moveTo>
                  <a:pt x="0" y="311096"/>
                </a:moveTo>
                <a:cubicBezTo>
                  <a:pt x="409280" y="154768"/>
                  <a:pt x="818561" y="-1560"/>
                  <a:pt x="1244338" y="11"/>
                </a:cubicBezTo>
                <a:cubicBezTo>
                  <a:pt x="1670115" y="1582"/>
                  <a:pt x="2112389" y="161052"/>
                  <a:pt x="2554664" y="320523"/>
                </a:cubicBezTo>
              </a:path>
            </a:pathLst>
          </a:custGeom>
          <a:noFill/>
          <a:ln w="19050">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46" name="任意多边形 45"/>
          <p:cNvSpPr/>
          <p:nvPr/>
        </p:nvSpPr>
        <p:spPr>
          <a:xfrm>
            <a:off x="7780775" y="2581935"/>
            <a:ext cx="1600232" cy="672479"/>
          </a:xfrm>
          <a:custGeom>
            <a:avLst/>
            <a:gdLst>
              <a:gd name="connsiteX0" fmla="*/ 0 w 2554664"/>
              <a:gd name="connsiteY0" fmla="*/ 311096 h 320523"/>
              <a:gd name="connsiteX1" fmla="*/ 1244338 w 2554664"/>
              <a:gd name="connsiteY1" fmla="*/ 11 h 320523"/>
              <a:gd name="connsiteX2" fmla="*/ 2554664 w 2554664"/>
              <a:gd name="connsiteY2" fmla="*/ 320523 h 320523"/>
            </a:gdLst>
            <a:ahLst/>
            <a:cxnLst>
              <a:cxn ang="0">
                <a:pos x="connsiteX0" y="connsiteY0"/>
              </a:cxn>
              <a:cxn ang="0">
                <a:pos x="connsiteX1" y="connsiteY1"/>
              </a:cxn>
              <a:cxn ang="0">
                <a:pos x="connsiteX2" y="connsiteY2"/>
              </a:cxn>
            </a:cxnLst>
            <a:rect l="l" t="t" r="r" b="b"/>
            <a:pathLst>
              <a:path w="2554664" h="320523">
                <a:moveTo>
                  <a:pt x="0" y="311096"/>
                </a:moveTo>
                <a:cubicBezTo>
                  <a:pt x="409280" y="154768"/>
                  <a:pt x="818561" y="-1560"/>
                  <a:pt x="1244338" y="11"/>
                </a:cubicBezTo>
                <a:cubicBezTo>
                  <a:pt x="1670115" y="1582"/>
                  <a:pt x="2112389" y="161052"/>
                  <a:pt x="2554664" y="320523"/>
                </a:cubicBezTo>
              </a:path>
            </a:pathLst>
          </a:custGeom>
          <a:noFill/>
          <a:ln w="19050">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47" name="任意多边形 46"/>
          <p:cNvSpPr/>
          <p:nvPr/>
        </p:nvSpPr>
        <p:spPr>
          <a:xfrm>
            <a:off x="2043289" y="2581933"/>
            <a:ext cx="1284051" cy="672479"/>
          </a:xfrm>
          <a:custGeom>
            <a:avLst/>
            <a:gdLst>
              <a:gd name="connsiteX0" fmla="*/ 0 w 2554664"/>
              <a:gd name="connsiteY0" fmla="*/ 311096 h 320523"/>
              <a:gd name="connsiteX1" fmla="*/ 1244338 w 2554664"/>
              <a:gd name="connsiteY1" fmla="*/ 11 h 320523"/>
              <a:gd name="connsiteX2" fmla="*/ 2554664 w 2554664"/>
              <a:gd name="connsiteY2" fmla="*/ 320523 h 320523"/>
            </a:gdLst>
            <a:ahLst/>
            <a:cxnLst>
              <a:cxn ang="0">
                <a:pos x="connsiteX0" y="connsiteY0"/>
              </a:cxn>
              <a:cxn ang="0">
                <a:pos x="connsiteX1" y="connsiteY1"/>
              </a:cxn>
              <a:cxn ang="0">
                <a:pos x="connsiteX2" y="connsiteY2"/>
              </a:cxn>
            </a:cxnLst>
            <a:rect l="l" t="t" r="r" b="b"/>
            <a:pathLst>
              <a:path w="2554664" h="320523">
                <a:moveTo>
                  <a:pt x="0" y="311096"/>
                </a:moveTo>
                <a:cubicBezTo>
                  <a:pt x="409280" y="154768"/>
                  <a:pt x="818561" y="-1560"/>
                  <a:pt x="1244338" y="11"/>
                </a:cubicBezTo>
                <a:cubicBezTo>
                  <a:pt x="1670115" y="1582"/>
                  <a:pt x="2112389" y="161052"/>
                  <a:pt x="2554664" y="320523"/>
                </a:cubicBezTo>
              </a:path>
            </a:pathLst>
          </a:custGeom>
          <a:noFill/>
          <a:ln w="19050">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5" name="文本框 4"/>
          <p:cNvSpPr txBox="1"/>
          <p:nvPr/>
        </p:nvSpPr>
        <p:spPr>
          <a:xfrm>
            <a:off x="2521436" y="5404955"/>
            <a:ext cx="6541546" cy="461665"/>
          </a:xfrm>
          <a:prstGeom prst="rect">
            <a:avLst/>
          </a:prstGeom>
          <a:solidFill>
            <a:schemeClr val="accent5">
              <a:lumMod val="20000"/>
              <a:lumOff val="80000"/>
            </a:schemeClr>
          </a:solidFill>
          <a:ln>
            <a:solidFill>
              <a:srgbClr val="C00000"/>
            </a:solidFill>
          </a:ln>
        </p:spPr>
        <p:txBody>
          <a:bodyPr wrap="square" rtlCol="0">
            <a:spAutoFit/>
          </a:bodyPr>
          <a:lstStyle/>
          <a:p>
            <a:r>
              <a:rPr lang="zh-CN" altLang="en-US" sz="2400" dirty="0"/>
              <a:t>问题：如果某个计数字节出错会发生什么情况？</a:t>
            </a:r>
          </a:p>
        </p:txBody>
      </p:sp>
    </p:spTree>
    <p:extLst>
      <p:ext uri="{BB962C8B-B14F-4D97-AF65-F5344CB8AC3E}">
        <p14:creationId xmlns:p14="http://schemas.microsoft.com/office/powerpoint/2010/main" val="3248244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blinds(horizontal)">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up)">
                                      <p:cBhvr>
                                        <p:cTn id="12" dur="500"/>
                                        <p:tgtEl>
                                          <p:spTgt spid="7"/>
                                        </p:tgtEl>
                                      </p:cBhvr>
                                    </p:animEffect>
                                  </p:childTnLst>
                                </p:cTn>
                              </p:par>
                            </p:childTnLst>
                          </p:cTn>
                        </p:par>
                        <p:par>
                          <p:cTn id="13" fill="hold">
                            <p:stCondLst>
                              <p:cond delay="500"/>
                            </p:stCondLst>
                            <p:childTnLst>
                              <p:par>
                                <p:cTn id="14" presetID="22" presetClass="entr" presetSubtype="1" fill="hold"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wipe(up)">
                                      <p:cBhvr>
                                        <p:cTn id="16" dur="500"/>
                                        <p:tgtEl>
                                          <p:spTgt spid="10"/>
                                        </p:tgtEl>
                                      </p:cBhvr>
                                    </p:animEffect>
                                  </p:childTnLst>
                                </p:cTn>
                              </p:par>
                            </p:childTnLst>
                          </p:cTn>
                        </p:par>
                        <p:par>
                          <p:cTn id="17" fill="hold">
                            <p:stCondLst>
                              <p:cond delay="1000"/>
                            </p:stCondLst>
                            <p:childTnLst>
                              <p:par>
                                <p:cTn id="18" presetID="22" presetClass="entr" presetSubtype="1" fill="hold" nodeType="after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wipe(up)">
                                      <p:cBhvr>
                                        <p:cTn id="20" dur="500"/>
                                        <p:tgtEl>
                                          <p:spTgt spid="13"/>
                                        </p:tgtEl>
                                      </p:cBhvr>
                                    </p:animEffect>
                                  </p:childTnLst>
                                </p:cTn>
                              </p:par>
                            </p:childTnLst>
                          </p:cTn>
                        </p:par>
                        <p:par>
                          <p:cTn id="21" fill="hold">
                            <p:stCondLst>
                              <p:cond delay="1500"/>
                            </p:stCondLst>
                            <p:childTnLst>
                              <p:par>
                                <p:cTn id="22" presetID="22" presetClass="entr" presetSubtype="1" fill="hold" nodeType="after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wipe(up)">
                                      <p:cBhvr>
                                        <p:cTn id="24" dur="50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47"/>
                                        </p:tgtEl>
                                        <p:attrNameLst>
                                          <p:attrName>style.visibility</p:attrName>
                                        </p:attrNameLst>
                                      </p:cBhvr>
                                      <p:to>
                                        <p:strVal val="visible"/>
                                      </p:to>
                                    </p:set>
                                    <p:animEffect transition="in" filter="wipe(left)">
                                      <p:cBhvr>
                                        <p:cTn id="29" dur="500"/>
                                        <p:tgtEl>
                                          <p:spTgt spid="47"/>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44"/>
                                        </p:tgtEl>
                                        <p:attrNameLst>
                                          <p:attrName>style.visibility</p:attrName>
                                        </p:attrNameLst>
                                      </p:cBhvr>
                                      <p:to>
                                        <p:strVal val="visible"/>
                                      </p:to>
                                    </p:set>
                                    <p:animEffect transition="in" filter="wipe(left)">
                                      <p:cBhvr>
                                        <p:cTn id="34" dur="500"/>
                                        <p:tgtEl>
                                          <p:spTgt spid="44"/>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45"/>
                                        </p:tgtEl>
                                        <p:attrNameLst>
                                          <p:attrName>style.visibility</p:attrName>
                                        </p:attrNameLst>
                                      </p:cBhvr>
                                      <p:to>
                                        <p:strVal val="visible"/>
                                      </p:to>
                                    </p:set>
                                    <p:animEffect transition="in" filter="wipe(left)">
                                      <p:cBhvr>
                                        <p:cTn id="39" dur="500"/>
                                        <p:tgtEl>
                                          <p:spTgt spid="45"/>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46"/>
                                        </p:tgtEl>
                                        <p:attrNameLst>
                                          <p:attrName>style.visibility</p:attrName>
                                        </p:attrNameLst>
                                      </p:cBhvr>
                                      <p:to>
                                        <p:strVal val="visible"/>
                                      </p:to>
                                    </p:set>
                                    <p:animEffect transition="in" filter="wipe(left)">
                                      <p:cBhvr>
                                        <p:cTn id="44" dur="500"/>
                                        <p:tgtEl>
                                          <p:spTgt spid="46"/>
                                        </p:tgtEl>
                                      </p:cBhvr>
                                    </p:animEffec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P spid="45" grpId="0" animBg="1"/>
      <p:bldP spid="46" grpId="0" animBg="1"/>
      <p:bldP spid="47" grpId="0" animBg="1"/>
      <p:bldP spid="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成帧（</a:t>
            </a:r>
            <a:r>
              <a:rPr lang="en-US" altLang="zh-CN" dirty="0"/>
              <a:t>Framing</a:t>
            </a:r>
            <a:r>
              <a:rPr lang="zh-CN" altLang="en-US" dirty="0"/>
              <a:t>）</a:t>
            </a:r>
          </a:p>
        </p:txBody>
      </p:sp>
      <p:sp>
        <p:nvSpPr>
          <p:cNvPr id="3" name="内容占位符 2"/>
          <p:cNvSpPr>
            <a:spLocks noGrp="1"/>
          </p:cNvSpPr>
          <p:nvPr>
            <p:ph idx="1"/>
          </p:nvPr>
        </p:nvSpPr>
        <p:spPr/>
        <p:txBody>
          <a:bodyPr/>
          <a:lstStyle/>
          <a:p>
            <a:pPr>
              <a:spcBef>
                <a:spcPts val="1200"/>
              </a:spcBef>
            </a:pPr>
            <a:r>
              <a:rPr lang="zh-CN" altLang="en-US" dirty="0">
                <a:solidFill>
                  <a:srgbClr val="C00000"/>
                </a:solidFill>
              </a:rPr>
              <a:t>字节计数法：</a:t>
            </a:r>
            <a:r>
              <a:rPr lang="zh-CN" altLang="en-US" dirty="0"/>
              <a:t>出现了一个字节</a:t>
            </a:r>
            <a:r>
              <a:rPr lang="zh-CN" altLang="en-US" dirty="0">
                <a:solidFill>
                  <a:srgbClr val="C00000"/>
                </a:solidFill>
              </a:rPr>
              <a:t>差错</a:t>
            </a:r>
            <a:r>
              <a:rPr lang="zh-CN" altLang="en-US" dirty="0"/>
              <a:t>的情形</a:t>
            </a: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6" name="文本框 5">
            <a:extLst>
              <a:ext uri="{FF2B5EF4-FFF2-40B4-BE49-F238E27FC236}">
                <a16:creationId xmlns:a16="http://schemas.microsoft.com/office/drawing/2014/main" id="{A90BAEBE-C2E5-49DC-89F1-E700B708FC09}"/>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3.1 </a:t>
            </a:r>
            <a:r>
              <a:rPr lang="zh-CN" altLang="zh-CN" dirty="0">
                <a:solidFill>
                  <a:schemeClr val="bg1">
                    <a:lumMod val="65000"/>
                  </a:schemeClr>
                </a:solidFill>
                <a:latin typeface="微软雅黑" panose="020B0503020204020204" pitchFamily="34" charset="-122"/>
                <a:ea typeface="微软雅黑" panose="020B0503020204020204" pitchFamily="34" charset="-122"/>
              </a:rPr>
              <a:t>数据链路层的设计问题</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grpSp>
        <p:nvGrpSpPr>
          <p:cNvPr id="48" name="组合 47"/>
          <p:cNvGrpSpPr/>
          <p:nvPr/>
        </p:nvGrpSpPr>
        <p:grpSpPr>
          <a:xfrm>
            <a:off x="1807610" y="4017047"/>
            <a:ext cx="1594449" cy="995523"/>
            <a:chOff x="1628570" y="3387255"/>
            <a:chExt cx="1594449" cy="995523"/>
          </a:xfrm>
        </p:grpSpPr>
        <p:sp>
          <p:nvSpPr>
            <p:cNvPr id="49" name="左大括号 48"/>
            <p:cNvSpPr/>
            <p:nvPr/>
          </p:nvSpPr>
          <p:spPr>
            <a:xfrm rot="16200000">
              <a:off x="2346283" y="2669542"/>
              <a:ext cx="159024" cy="1594449"/>
            </a:xfrm>
            <a:prstGeom prst="leftBrace">
              <a:avLst>
                <a:gd name="adj1" fmla="val 95127"/>
                <a:gd name="adj2" fmla="val 50000"/>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0" name="矩形 49"/>
            <p:cNvSpPr/>
            <p:nvPr/>
          </p:nvSpPr>
          <p:spPr>
            <a:xfrm>
              <a:off x="1950271" y="3674892"/>
              <a:ext cx="951048" cy="707886"/>
            </a:xfrm>
            <a:prstGeom prst="rect">
              <a:avLst/>
            </a:prstGeom>
            <a:noFill/>
            <a:ln>
              <a:noFill/>
            </a:ln>
          </p:spPr>
          <p:txBody>
            <a:bodyPr wrap="square">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第</a:t>
              </a:r>
              <a:r>
                <a:rPr kumimoji="1"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帧</a:t>
              </a:r>
              <a:endParaRPr kumimoji="1"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base" latinLnBrk="0" hangingPunct="1">
                <a:lnSpc>
                  <a:spcPct val="100000"/>
                </a:lnSpc>
                <a:spcBef>
                  <a:spcPts val="0"/>
                </a:spcBef>
                <a:spcAft>
                  <a:spcPct val="0"/>
                </a:spcAft>
                <a:buClrTx/>
                <a:buSzTx/>
                <a:buFontTx/>
                <a:buNone/>
                <a:tabLst/>
                <a:defRPr/>
              </a:pPr>
              <a:r>
                <a:rPr kumimoji="1" lang="en-US" altLang="zh-CN"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5</a:t>
              </a: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字节</a:t>
              </a:r>
            </a:p>
          </p:txBody>
        </p:sp>
      </p:grpSp>
      <p:grpSp>
        <p:nvGrpSpPr>
          <p:cNvPr id="51" name="组合 50"/>
          <p:cNvGrpSpPr/>
          <p:nvPr/>
        </p:nvGrpSpPr>
        <p:grpSpPr>
          <a:xfrm>
            <a:off x="3402060" y="4017047"/>
            <a:ext cx="1594450" cy="995523"/>
            <a:chOff x="3223020" y="3387255"/>
            <a:chExt cx="1594450" cy="995523"/>
          </a:xfrm>
        </p:grpSpPr>
        <p:sp>
          <p:nvSpPr>
            <p:cNvPr id="52" name="左大括号 51"/>
            <p:cNvSpPr/>
            <p:nvPr/>
          </p:nvSpPr>
          <p:spPr>
            <a:xfrm rot="16200000">
              <a:off x="3940733" y="2669542"/>
              <a:ext cx="159024" cy="1594449"/>
            </a:xfrm>
            <a:prstGeom prst="leftBrace">
              <a:avLst>
                <a:gd name="adj1" fmla="val 95127"/>
                <a:gd name="adj2" fmla="val 50000"/>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3" name="矩形 52"/>
            <p:cNvSpPr/>
            <p:nvPr/>
          </p:nvSpPr>
          <p:spPr>
            <a:xfrm>
              <a:off x="3223020" y="3674892"/>
              <a:ext cx="1594450" cy="707886"/>
            </a:xfrm>
            <a:prstGeom prst="rect">
              <a:avLst/>
            </a:prstGeom>
            <a:noFill/>
            <a:ln>
              <a:noFill/>
            </a:ln>
          </p:spPr>
          <p:txBody>
            <a:bodyPr wrap="square">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第</a:t>
              </a:r>
              <a:r>
                <a:rPr kumimoji="1"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a:t>
              </a: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帧</a:t>
              </a:r>
              <a:endParaRPr kumimoji="1"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base" latinLnBrk="0" hangingPunct="1">
                <a:lnSpc>
                  <a:spcPct val="100000"/>
                </a:lnSpc>
                <a:spcBef>
                  <a:spcPts val="0"/>
                </a:spcBef>
                <a:spcAft>
                  <a:spcPct val="0"/>
                </a:spcAft>
                <a:buClrTx/>
                <a:buSzTx/>
                <a:buFontTx/>
                <a:buNone/>
                <a:tabLst/>
                <a:defRPr/>
              </a:pPr>
              <a:r>
                <a:rPr kumimoji="1" lang="zh-CN" altLang="en-US" sz="2000" b="0" i="0" u="none" strike="noStrike" kern="120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出现差错</a:t>
              </a:r>
            </a:p>
          </p:txBody>
        </p:sp>
      </p:grpSp>
      <p:grpSp>
        <p:nvGrpSpPr>
          <p:cNvPr id="54" name="组合 53"/>
          <p:cNvGrpSpPr/>
          <p:nvPr/>
        </p:nvGrpSpPr>
        <p:grpSpPr>
          <a:xfrm>
            <a:off x="4996510" y="4017047"/>
            <a:ext cx="2549057" cy="997132"/>
            <a:chOff x="4817470" y="3387255"/>
            <a:chExt cx="2549057" cy="997132"/>
          </a:xfrm>
        </p:grpSpPr>
        <p:sp>
          <p:nvSpPr>
            <p:cNvPr id="55" name="左大括号 54"/>
            <p:cNvSpPr/>
            <p:nvPr/>
          </p:nvSpPr>
          <p:spPr>
            <a:xfrm rot="16200000">
              <a:off x="6012487" y="2192238"/>
              <a:ext cx="159023" cy="2549057"/>
            </a:xfrm>
            <a:prstGeom prst="leftBrace">
              <a:avLst>
                <a:gd name="adj1" fmla="val 95127"/>
                <a:gd name="adj2" fmla="val 50000"/>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6" name="矩形 55"/>
            <p:cNvSpPr/>
            <p:nvPr/>
          </p:nvSpPr>
          <p:spPr>
            <a:xfrm>
              <a:off x="5612074" y="3676501"/>
              <a:ext cx="951048" cy="707886"/>
            </a:xfrm>
            <a:prstGeom prst="rect">
              <a:avLst/>
            </a:prstGeom>
            <a:noFill/>
            <a:ln>
              <a:noFill/>
            </a:ln>
          </p:spPr>
          <p:txBody>
            <a:bodyPr wrap="square">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第</a:t>
              </a:r>
              <a:r>
                <a:rPr kumimoji="1"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3</a:t>
              </a: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帧</a:t>
              </a:r>
              <a:endParaRPr kumimoji="1"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base" latinLnBrk="0" hangingPunct="1">
                <a:lnSpc>
                  <a:spcPct val="100000"/>
                </a:lnSpc>
                <a:spcBef>
                  <a:spcPts val="0"/>
                </a:spcBef>
                <a:spcAft>
                  <a:spcPct val="0"/>
                </a:spcAft>
                <a:buClrTx/>
                <a:buSzTx/>
                <a:buFontTx/>
                <a:buNone/>
                <a:tabLst/>
                <a:defRPr/>
              </a:pPr>
              <a:r>
                <a:rPr kumimoji="1" lang="en-US" altLang="zh-CN"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8</a:t>
              </a: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字节</a:t>
              </a:r>
            </a:p>
          </p:txBody>
        </p:sp>
      </p:grpSp>
      <p:grpSp>
        <p:nvGrpSpPr>
          <p:cNvPr id="57" name="组合 56"/>
          <p:cNvGrpSpPr/>
          <p:nvPr/>
        </p:nvGrpSpPr>
        <p:grpSpPr>
          <a:xfrm>
            <a:off x="7533574" y="4020265"/>
            <a:ext cx="1925519" cy="990138"/>
            <a:chOff x="7354534" y="3390473"/>
            <a:chExt cx="1925519" cy="990138"/>
          </a:xfrm>
        </p:grpSpPr>
        <p:sp>
          <p:nvSpPr>
            <p:cNvPr id="58" name="左大括号 57"/>
            <p:cNvSpPr/>
            <p:nvPr/>
          </p:nvSpPr>
          <p:spPr>
            <a:xfrm rot="16200000">
              <a:off x="8237782" y="2507225"/>
              <a:ext cx="159023" cy="1925519"/>
            </a:xfrm>
            <a:prstGeom prst="leftBrace">
              <a:avLst>
                <a:gd name="adj1" fmla="val 95127"/>
                <a:gd name="adj2" fmla="val 50000"/>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9" name="矩形 58"/>
            <p:cNvSpPr/>
            <p:nvPr/>
          </p:nvSpPr>
          <p:spPr>
            <a:xfrm>
              <a:off x="7841769" y="3672725"/>
              <a:ext cx="951048" cy="707886"/>
            </a:xfrm>
            <a:prstGeom prst="rect">
              <a:avLst/>
            </a:prstGeom>
            <a:noFill/>
            <a:ln>
              <a:noFill/>
            </a:ln>
          </p:spPr>
          <p:txBody>
            <a:bodyPr wrap="square">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第</a:t>
              </a:r>
              <a:r>
                <a:rPr kumimoji="1"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4</a:t>
              </a: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帧</a:t>
              </a:r>
              <a:endParaRPr kumimoji="1"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base" latinLnBrk="0" hangingPunct="1">
                <a:lnSpc>
                  <a:spcPct val="100000"/>
                </a:lnSpc>
                <a:spcBef>
                  <a:spcPts val="0"/>
                </a:spcBef>
                <a:spcAft>
                  <a:spcPct val="0"/>
                </a:spcAft>
                <a:buClrTx/>
                <a:buSzTx/>
                <a:buFontTx/>
                <a:buNone/>
                <a:tabLst/>
                <a:defRPr/>
              </a:pPr>
              <a:r>
                <a:rPr kumimoji="1" lang="en-US" altLang="zh-CN"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6</a:t>
              </a: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字节</a:t>
              </a:r>
            </a:p>
          </p:txBody>
        </p:sp>
      </p:grpSp>
      <p:grpSp>
        <p:nvGrpSpPr>
          <p:cNvPr id="60" name="组合 59"/>
          <p:cNvGrpSpPr/>
          <p:nvPr/>
        </p:nvGrpSpPr>
        <p:grpSpPr>
          <a:xfrm>
            <a:off x="1807610" y="3599479"/>
            <a:ext cx="7657848" cy="287344"/>
            <a:chOff x="1465472" y="2463488"/>
            <a:chExt cx="7657848" cy="287344"/>
          </a:xfrm>
          <a:solidFill>
            <a:schemeClr val="bg1">
              <a:lumMod val="95000"/>
            </a:schemeClr>
          </a:solidFill>
          <a:scene3d>
            <a:camera prst="orthographicFront">
              <a:rot lat="0" lon="0" rev="0"/>
            </a:camera>
            <a:lightRig rig="soft" dir="t">
              <a:rot lat="0" lon="0" rev="0"/>
            </a:lightRig>
          </a:scene3d>
        </p:grpSpPr>
        <p:sp>
          <p:nvSpPr>
            <p:cNvPr id="61" name="Rectangle 44"/>
            <p:cNvSpPr>
              <a:spLocks noChangeArrowheads="1"/>
            </p:cNvSpPr>
            <p:nvPr/>
          </p:nvSpPr>
          <p:spPr bwMode="auto">
            <a:xfrm>
              <a:off x="1465472"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5</a:t>
              </a:r>
            </a:p>
          </p:txBody>
        </p:sp>
        <p:sp>
          <p:nvSpPr>
            <p:cNvPr id="62" name="Rectangle 44"/>
            <p:cNvSpPr>
              <a:spLocks noChangeArrowheads="1"/>
            </p:cNvSpPr>
            <p:nvPr/>
          </p:nvSpPr>
          <p:spPr bwMode="auto">
            <a:xfrm>
              <a:off x="1784549"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63" name="Rectangle 44"/>
            <p:cNvSpPr>
              <a:spLocks noChangeArrowheads="1"/>
            </p:cNvSpPr>
            <p:nvPr/>
          </p:nvSpPr>
          <p:spPr bwMode="auto">
            <a:xfrm>
              <a:off x="2103626"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a:t>
              </a:r>
            </a:p>
          </p:txBody>
        </p:sp>
        <p:sp>
          <p:nvSpPr>
            <p:cNvPr id="64" name="Rectangle 44"/>
            <p:cNvSpPr>
              <a:spLocks noChangeArrowheads="1"/>
            </p:cNvSpPr>
            <p:nvPr/>
          </p:nvSpPr>
          <p:spPr bwMode="auto">
            <a:xfrm>
              <a:off x="2422703"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3</a:t>
              </a:r>
            </a:p>
          </p:txBody>
        </p:sp>
        <p:sp>
          <p:nvSpPr>
            <p:cNvPr id="65" name="Rectangle 44"/>
            <p:cNvSpPr>
              <a:spLocks noChangeArrowheads="1"/>
            </p:cNvSpPr>
            <p:nvPr/>
          </p:nvSpPr>
          <p:spPr bwMode="auto">
            <a:xfrm>
              <a:off x="2741780"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4</a:t>
              </a:r>
            </a:p>
          </p:txBody>
        </p:sp>
        <p:sp>
          <p:nvSpPr>
            <p:cNvPr id="66" name="Rectangle 44"/>
            <p:cNvSpPr>
              <a:spLocks noChangeArrowheads="1"/>
            </p:cNvSpPr>
            <p:nvPr/>
          </p:nvSpPr>
          <p:spPr bwMode="auto">
            <a:xfrm>
              <a:off x="3060857"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8</a:t>
              </a:r>
            </a:p>
          </p:txBody>
        </p:sp>
        <p:sp>
          <p:nvSpPr>
            <p:cNvPr id="67" name="Rectangle 44"/>
            <p:cNvSpPr>
              <a:spLocks noChangeArrowheads="1"/>
            </p:cNvSpPr>
            <p:nvPr/>
          </p:nvSpPr>
          <p:spPr bwMode="auto">
            <a:xfrm>
              <a:off x="3379934"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68" name="Rectangle 44"/>
            <p:cNvSpPr>
              <a:spLocks noChangeArrowheads="1"/>
            </p:cNvSpPr>
            <p:nvPr/>
          </p:nvSpPr>
          <p:spPr bwMode="auto">
            <a:xfrm>
              <a:off x="3699011"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a:t>
              </a:r>
            </a:p>
          </p:txBody>
        </p:sp>
        <p:sp>
          <p:nvSpPr>
            <p:cNvPr id="69" name="Rectangle 44"/>
            <p:cNvSpPr>
              <a:spLocks noChangeArrowheads="1"/>
            </p:cNvSpPr>
            <p:nvPr/>
          </p:nvSpPr>
          <p:spPr bwMode="auto">
            <a:xfrm>
              <a:off x="4018088"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3</a:t>
              </a:r>
            </a:p>
          </p:txBody>
        </p:sp>
        <p:sp>
          <p:nvSpPr>
            <p:cNvPr id="70" name="Rectangle 44"/>
            <p:cNvSpPr>
              <a:spLocks noChangeArrowheads="1"/>
            </p:cNvSpPr>
            <p:nvPr/>
          </p:nvSpPr>
          <p:spPr bwMode="auto">
            <a:xfrm>
              <a:off x="4337165"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4</a:t>
              </a:r>
            </a:p>
          </p:txBody>
        </p:sp>
        <p:sp>
          <p:nvSpPr>
            <p:cNvPr id="71" name="Rectangle 44"/>
            <p:cNvSpPr>
              <a:spLocks noChangeArrowheads="1"/>
            </p:cNvSpPr>
            <p:nvPr/>
          </p:nvSpPr>
          <p:spPr bwMode="auto">
            <a:xfrm>
              <a:off x="4656242"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8</a:t>
              </a:r>
            </a:p>
          </p:txBody>
        </p:sp>
        <p:sp>
          <p:nvSpPr>
            <p:cNvPr id="72" name="Rectangle 44"/>
            <p:cNvSpPr>
              <a:spLocks noChangeArrowheads="1"/>
            </p:cNvSpPr>
            <p:nvPr/>
          </p:nvSpPr>
          <p:spPr bwMode="auto">
            <a:xfrm>
              <a:off x="4975319"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73" name="Rectangle 44"/>
            <p:cNvSpPr>
              <a:spLocks noChangeArrowheads="1"/>
            </p:cNvSpPr>
            <p:nvPr/>
          </p:nvSpPr>
          <p:spPr bwMode="auto">
            <a:xfrm>
              <a:off x="5294396"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a:t>
              </a:r>
            </a:p>
          </p:txBody>
        </p:sp>
        <p:sp>
          <p:nvSpPr>
            <p:cNvPr id="74" name="Rectangle 44"/>
            <p:cNvSpPr>
              <a:spLocks noChangeArrowheads="1"/>
            </p:cNvSpPr>
            <p:nvPr/>
          </p:nvSpPr>
          <p:spPr bwMode="auto">
            <a:xfrm>
              <a:off x="5613473"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3</a:t>
              </a:r>
            </a:p>
          </p:txBody>
        </p:sp>
        <p:sp>
          <p:nvSpPr>
            <p:cNvPr id="75" name="Rectangle 44"/>
            <p:cNvSpPr>
              <a:spLocks noChangeArrowheads="1"/>
            </p:cNvSpPr>
            <p:nvPr/>
          </p:nvSpPr>
          <p:spPr bwMode="auto">
            <a:xfrm>
              <a:off x="5932550"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4</a:t>
              </a:r>
            </a:p>
          </p:txBody>
        </p:sp>
        <p:sp>
          <p:nvSpPr>
            <p:cNvPr id="76" name="Rectangle 44"/>
            <p:cNvSpPr>
              <a:spLocks noChangeArrowheads="1"/>
            </p:cNvSpPr>
            <p:nvPr/>
          </p:nvSpPr>
          <p:spPr bwMode="auto">
            <a:xfrm>
              <a:off x="6251627"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5</a:t>
              </a:r>
            </a:p>
          </p:txBody>
        </p:sp>
        <p:sp>
          <p:nvSpPr>
            <p:cNvPr id="77" name="Rectangle 44"/>
            <p:cNvSpPr>
              <a:spLocks noChangeArrowheads="1"/>
            </p:cNvSpPr>
            <p:nvPr/>
          </p:nvSpPr>
          <p:spPr bwMode="auto">
            <a:xfrm>
              <a:off x="6570704"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6</a:t>
              </a:r>
            </a:p>
          </p:txBody>
        </p:sp>
        <p:sp>
          <p:nvSpPr>
            <p:cNvPr id="78" name="Rectangle 44"/>
            <p:cNvSpPr>
              <a:spLocks noChangeArrowheads="1"/>
            </p:cNvSpPr>
            <p:nvPr/>
          </p:nvSpPr>
          <p:spPr bwMode="auto">
            <a:xfrm>
              <a:off x="6889781"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7</a:t>
              </a:r>
            </a:p>
          </p:txBody>
        </p:sp>
        <p:sp>
          <p:nvSpPr>
            <p:cNvPr id="79" name="Rectangle 44"/>
            <p:cNvSpPr>
              <a:spLocks noChangeArrowheads="1"/>
            </p:cNvSpPr>
            <p:nvPr/>
          </p:nvSpPr>
          <p:spPr bwMode="auto">
            <a:xfrm>
              <a:off x="7208858"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6</a:t>
              </a:r>
            </a:p>
          </p:txBody>
        </p:sp>
        <p:sp>
          <p:nvSpPr>
            <p:cNvPr id="80" name="Rectangle 44"/>
            <p:cNvSpPr>
              <a:spLocks noChangeArrowheads="1"/>
            </p:cNvSpPr>
            <p:nvPr/>
          </p:nvSpPr>
          <p:spPr bwMode="auto">
            <a:xfrm>
              <a:off x="7527935"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81" name="Rectangle 44"/>
            <p:cNvSpPr>
              <a:spLocks noChangeArrowheads="1"/>
            </p:cNvSpPr>
            <p:nvPr/>
          </p:nvSpPr>
          <p:spPr bwMode="auto">
            <a:xfrm>
              <a:off x="7847012"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a:t>
              </a:r>
            </a:p>
          </p:txBody>
        </p:sp>
        <p:sp>
          <p:nvSpPr>
            <p:cNvPr id="82" name="Rectangle 44"/>
            <p:cNvSpPr>
              <a:spLocks noChangeArrowheads="1"/>
            </p:cNvSpPr>
            <p:nvPr/>
          </p:nvSpPr>
          <p:spPr bwMode="auto">
            <a:xfrm>
              <a:off x="8166089"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3</a:t>
              </a:r>
            </a:p>
          </p:txBody>
        </p:sp>
        <p:sp>
          <p:nvSpPr>
            <p:cNvPr id="83" name="Rectangle 44"/>
            <p:cNvSpPr>
              <a:spLocks noChangeArrowheads="1"/>
            </p:cNvSpPr>
            <p:nvPr/>
          </p:nvSpPr>
          <p:spPr bwMode="auto">
            <a:xfrm>
              <a:off x="8485166"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4</a:t>
              </a:r>
            </a:p>
          </p:txBody>
        </p:sp>
        <p:sp>
          <p:nvSpPr>
            <p:cNvPr id="84" name="Rectangle 44"/>
            <p:cNvSpPr>
              <a:spLocks noChangeArrowheads="1"/>
            </p:cNvSpPr>
            <p:nvPr/>
          </p:nvSpPr>
          <p:spPr bwMode="auto">
            <a:xfrm>
              <a:off x="8804243"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5</a:t>
              </a:r>
            </a:p>
          </p:txBody>
        </p:sp>
      </p:grpSp>
      <p:sp>
        <p:nvSpPr>
          <p:cNvPr id="85" name="圆角矩形 84"/>
          <p:cNvSpPr/>
          <p:nvPr/>
        </p:nvSpPr>
        <p:spPr bwMode="auto">
          <a:xfrm>
            <a:off x="3361813" y="3465189"/>
            <a:ext cx="386379" cy="486742"/>
          </a:xfrm>
          <a:prstGeom prst="roundRect">
            <a:avLst>
              <a:gd name="adj" fmla="val 28217"/>
            </a:avLst>
          </a:prstGeom>
          <a:noFill/>
          <a:ln w="15875" cap="flat" cmpd="sng" algn="ctr">
            <a:solidFill>
              <a:srgbClr val="FF0000"/>
            </a:solidFill>
            <a:prstDash val="solid"/>
            <a:round/>
            <a:headEnd type="none" w="med" len="med"/>
            <a:tailEnd type="none" w="med" len="med"/>
          </a:ln>
          <a:effectLst/>
        </p:spPr>
        <p:txBody>
          <a:bodyPr vert="horz" wrap="square" lIns="0" tIns="0" rIns="0" bIns="0" numCol="1" rtlCol="0" anchor="t" anchorCtr="0" compatLnSpc="1">
            <a:prstTxWarp prst="textNoShape">
              <a:avLst/>
            </a:prstTxWarp>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Times New Roman" pitchFamily="18" charset="0"/>
              <a:ea typeface="楷体" pitchFamily="49" charset="-122"/>
              <a:cs typeface="+mn-cs"/>
            </a:endParaRPr>
          </a:p>
        </p:txBody>
      </p:sp>
      <p:sp>
        <p:nvSpPr>
          <p:cNvPr id="86" name="任意多边形 85"/>
          <p:cNvSpPr/>
          <p:nvPr/>
        </p:nvSpPr>
        <p:spPr>
          <a:xfrm>
            <a:off x="3563332" y="2843020"/>
            <a:ext cx="2227782" cy="672479"/>
          </a:xfrm>
          <a:custGeom>
            <a:avLst/>
            <a:gdLst>
              <a:gd name="connsiteX0" fmla="*/ 0 w 2554664"/>
              <a:gd name="connsiteY0" fmla="*/ 311096 h 320523"/>
              <a:gd name="connsiteX1" fmla="*/ 1244338 w 2554664"/>
              <a:gd name="connsiteY1" fmla="*/ 11 h 320523"/>
              <a:gd name="connsiteX2" fmla="*/ 2554664 w 2554664"/>
              <a:gd name="connsiteY2" fmla="*/ 320523 h 320523"/>
            </a:gdLst>
            <a:ahLst/>
            <a:cxnLst>
              <a:cxn ang="0">
                <a:pos x="connsiteX0" y="connsiteY0"/>
              </a:cxn>
              <a:cxn ang="0">
                <a:pos x="connsiteX1" y="connsiteY1"/>
              </a:cxn>
              <a:cxn ang="0">
                <a:pos x="connsiteX2" y="connsiteY2"/>
              </a:cxn>
            </a:cxnLst>
            <a:rect l="l" t="t" r="r" b="b"/>
            <a:pathLst>
              <a:path w="2554664" h="320523">
                <a:moveTo>
                  <a:pt x="0" y="311096"/>
                </a:moveTo>
                <a:cubicBezTo>
                  <a:pt x="409280" y="154768"/>
                  <a:pt x="818561" y="-1560"/>
                  <a:pt x="1244338" y="11"/>
                </a:cubicBezTo>
                <a:cubicBezTo>
                  <a:pt x="1670115" y="1582"/>
                  <a:pt x="2112389" y="161052"/>
                  <a:pt x="2554664" y="320523"/>
                </a:cubicBezTo>
              </a:path>
            </a:pathLst>
          </a:custGeom>
          <a:noFill/>
          <a:ln w="19050">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87" name="任意多边形 86"/>
          <p:cNvSpPr/>
          <p:nvPr/>
        </p:nvSpPr>
        <p:spPr>
          <a:xfrm>
            <a:off x="6086174" y="2843020"/>
            <a:ext cx="655988" cy="672479"/>
          </a:xfrm>
          <a:custGeom>
            <a:avLst/>
            <a:gdLst>
              <a:gd name="connsiteX0" fmla="*/ 0 w 2554664"/>
              <a:gd name="connsiteY0" fmla="*/ 311096 h 320523"/>
              <a:gd name="connsiteX1" fmla="*/ 1244338 w 2554664"/>
              <a:gd name="connsiteY1" fmla="*/ 11 h 320523"/>
              <a:gd name="connsiteX2" fmla="*/ 2554664 w 2554664"/>
              <a:gd name="connsiteY2" fmla="*/ 320523 h 320523"/>
            </a:gdLst>
            <a:ahLst/>
            <a:cxnLst>
              <a:cxn ang="0">
                <a:pos x="connsiteX0" y="connsiteY0"/>
              </a:cxn>
              <a:cxn ang="0">
                <a:pos x="connsiteX1" y="connsiteY1"/>
              </a:cxn>
              <a:cxn ang="0">
                <a:pos x="connsiteX2" y="connsiteY2"/>
              </a:cxn>
            </a:cxnLst>
            <a:rect l="l" t="t" r="r" b="b"/>
            <a:pathLst>
              <a:path w="2554664" h="320523">
                <a:moveTo>
                  <a:pt x="0" y="311096"/>
                </a:moveTo>
                <a:cubicBezTo>
                  <a:pt x="409280" y="154768"/>
                  <a:pt x="818561" y="-1560"/>
                  <a:pt x="1244338" y="11"/>
                </a:cubicBezTo>
                <a:cubicBezTo>
                  <a:pt x="1670115" y="1582"/>
                  <a:pt x="2112389" y="161052"/>
                  <a:pt x="2554664" y="320523"/>
                </a:cubicBezTo>
              </a:path>
            </a:pathLst>
          </a:custGeom>
          <a:noFill/>
          <a:ln w="19050">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88" name="任意多边形 87"/>
          <p:cNvSpPr/>
          <p:nvPr/>
        </p:nvSpPr>
        <p:spPr>
          <a:xfrm>
            <a:off x="7093441" y="2843019"/>
            <a:ext cx="1517159" cy="672479"/>
          </a:xfrm>
          <a:custGeom>
            <a:avLst/>
            <a:gdLst>
              <a:gd name="connsiteX0" fmla="*/ 0 w 2554664"/>
              <a:gd name="connsiteY0" fmla="*/ 311096 h 320523"/>
              <a:gd name="connsiteX1" fmla="*/ 1244338 w 2554664"/>
              <a:gd name="connsiteY1" fmla="*/ 11 h 320523"/>
              <a:gd name="connsiteX2" fmla="*/ 2554664 w 2554664"/>
              <a:gd name="connsiteY2" fmla="*/ 320523 h 320523"/>
            </a:gdLst>
            <a:ahLst/>
            <a:cxnLst>
              <a:cxn ang="0">
                <a:pos x="connsiteX0" y="connsiteY0"/>
              </a:cxn>
              <a:cxn ang="0">
                <a:pos x="connsiteX1" y="connsiteY1"/>
              </a:cxn>
              <a:cxn ang="0">
                <a:pos x="connsiteX2" y="connsiteY2"/>
              </a:cxn>
            </a:cxnLst>
            <a:rect l="l" t="t" r="r" b="b"/>
            <a:pathLst>
              <a:path w="2554664" h="320523">
                <a:moveTo>
                  <a:pt x="0" y="311096"/>
                </a:moveTo>
                <a:cubicBezTo>
                  <a:pt x="409280" y="154768"/>
                  <a:pt x="818561" y="-1560"/>
                  <a:pt x="1244338" y="11"/>
                </a:cubicBezTo>
                <a:cubicBezTo>
                  <a:pt x="1670115" y="1582"/>
                  <a:pt x="2112389" y="161052"/>
                  <a:pt x="2554664" y="320523"/>
                </a:cubicBezTo>
              </a:path>
            </a:pathLst>
          </a:custGeom>
          <a:noFill/>
          <a:ln w="19050">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89" name="任意多边形 88"/>
          <p:cNvSpPr/>
          <p:nvPr/>
        </p:nvSpPr>
        <p:spPr>
          <a:xfrm>
            <a:off x="9050210" y="2843018"/>
            <a:ext cx="872169" cy="672479"/>
          </a:xfrm>
          <a:custGeom>
            <a:avLst/>
            <a:gdLst>
              <a:gd name="connsiteX0" fmla="*/ 0 w 2554664"/>
              <a:gd name="connsiteY0" fmla="*/ 311096 h 320523"/>
              <a:gd name="connsiteX1" fmla="*/ 1244338 w 2554664"/>
              <a:gd name="connsiteY1" fmla="*/ 11 h 320523"/>
              <a:gd name="connsiteX2" fmla="*/ 2554664 w 2554664"/>
              <a:gd name="connsiteY2" fmla="*/ 320523 h 320523"/>
            </a:gdLst>
            <a:ahLst/>
            <a:cxnLst>
              <a:cxn ang="0">
                <a:pos x="connsiteX0" y="connsiteY0"/>
              </a:cxn>
              <a:cxn ang="0">
                <a:pos x="connsiteX1" y="connsiteY1"/>
              </a:cxn>
              <a:cxn ang="0">
                <a:pos x="connsiteX2" y="connsiteY2"/>
              </a:cxn>
            </a:cxnLst>
            <a:rect l="l" t="t" r="r" b="b"/>
            <a:pathLst>
              <a:path w="2554664" h="320523">
                <a:moveTo>
                  <a:pt x="0" y="311096"/>
                </a:moveTo>
                <a:cubicBezTo>
                  <a:pt x="409280" y="154768"/>
                  <a:pt x="818561" y="-1560"/>
                  <a:pt x="1244338" y="11"/>
                </a:cubicBezTo>
                <a:cubicBezTo>
                  <a:pt x="1670115" y="1582"/>
                  <a:pt x="2112389" y="161052"/>
                  <a:pt x="2554664" y="320523"/>
                </a:cubicBezTo>
              </a:path>
            </a:pathLst>
          </a:custGeom>
          <a:noFill/>
          <a:ln w="19050">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90" name="矩形 89"/>
          <p:cNvSpPr/>
          <p:nvPr/>
        </p:nvSpPr>
        <p:spPr>
          <a:xfrm>
            <a:off x="4519764" y="5560045"/>
            <a:ext cx="5954272" cy="461665"/>
          </a:xfrm>
          <a:prstGeom prst="rect">
            <a:avLst/>
          </a:prstGeom>
          <a:noFill/>
          <a:ln>
            <a:noFill/>
          </a:ln>
        </p:spPr>
        <p:txBody>
          <a:bodyPr wrap="square">
            <a:spAutoFit/>
          </a:bodyPr>
          <a:lstStyle/>
          <a:p>
            <a:pPr lvl="0" algn="ctr" fontAlgn="base">
              <a:spcBef>
                <a:spcPct val="50000"/>
              </a:spcBef>
              <a:spcAft>
                <a:spcPct val="0"/>
              </a:spcAft>
              <a:defRPr/>
            </a:pPr>
            <a:r>
              <a:rPr kumimoji="1" lang="zh-CN" altLang="en-US" sz="24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破坏了帧的边界，</a:t>
            </a:r>
            <a:r>
              <a:rPr kumimoji="1" lang="zh-CN" altLang="en-US" sz="2400" dirty="0">
                <a:solidFill>
                  <a:srgbClr val="C00000"/>
                </a:solidFill>
                <a:latin typeface="微软雅黑" panose="020B0503020204020204" pitchFamily="34" charset="-122"/>
                <a:ea typeface="微软雅黑" panose="020B0503020204020204" pitchFamily="34" charset="-122"/>
              </a:rPr>
              <a:t>导致一连串帧的错误</a:t>
            </a:r>
          </a:p>
        </p:txBody>
      </p:sp>
      <p:sp>
        <p:nvSpPr>
          <p:cNvPr id="91" name="任意多边形 90"/>
          <p:cNvSpPr/>
          <p:nvPr/>
        </p:nvSpPr>
        <p:spPr>
          <a:xfrm>
            <a:off x="1967148" y="2843017"/>
            <a:ext cx="1250185" cy="672479"/>
          </a:xfrm>
          <a:custGeom>
            <a:avLst/>
            <a:gdLst>
              <a:gd name="connsiteX0" fmla="*/ 0 w 2554664"/>
              <a:gd name="connsiteY0" fmla="*/ 311096 h 320523"/>
              <a:gd name="connsiteX1" fmla="*/ 1244338 w 2554664"/>
              <a:gd name="connsiteY1" fmla="*/ 11 h 320523"/>
              <a:gd name="connsiteX2" fmla="*/ 2554664 w 2554664"/>
              <a:gd name="connsiteY2" fmla="*/ 320523 h 320523"/>
            </a:gdLst>
            <a:ahLst/>
            <a:cxnLst>
              <a:cxn ang="0">
                <a:pos x="connsiteX0" y="connsiteY0"/>
              </a:cxn>
              <a:cxn ang="0">
                <a:pos x="connsiteX1" y="connsiteY1"/>
              </a:cxn>
              <a:cxn ang="0">
                <a:pos x="connsiteX2" y="connsiteY2"/>
              </a:cxn>
            </a:cxnLst>
            <a:rect l="l" t="t" r="r" b="b"/>
            <a:pathLst>
              <a:path w="2554664" h="320523">
                <a:moveTo>
                  <a:pt x="0" y="311096"/>
                </a:moveTo>
                <a:cubicBezTo>
                  <a:pt x="409280" y="154768"/>
                  <a:pt x="818561" y="-1560"/>
                  <a:pt x="1244338" y="11"/>
                </a:cubicBezTo>
                <a:cubicBezTo>
                  <a:pt x="1670115" y="1582"/>
                  <a:pt x="2112389" y="161052"/>
                  <a:pt x="2554664" y="320523"/>
                </a:cubicBezTo>
              </a:path>
            </a:pathLst>
          </a:custGeom>
          <a:noFill/>
          <a:ln w="19050">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902374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1"/>
                                        </p:tgtEl>
                                        <p:attrNameLst>
                                          <p:attrName>style.visibility</p:attrName>
                                        </p:attrNameLst>
                                      </p:cBhvr>
                                      <p:to>
                                        <p:strVal val="visible"/>
                                      </p:to>
                                    </p:set>
                                    <p:animEffect transition="in" filter="wipe(left)">
                                      <p:cBhvr>
                                        <p:cTn id="7" dur="500"/>
                                        <p:tgtEl>
                                          <p:spTgt spid="9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6"/>
                                        </p:tgtEl>
                                        <p:attrNameLst>
                                          <p:attrName>style.visibility</p:attrName>
                                        </p:attrNameLst>
                                      </p:cBhvr>
                                      <p:to>
                                        <p:strVal val="visible"/>
                                      </p:to>
                                    </p:set>
                                    <p:animEffect transition="in" filter="wipe(left)">
                                      <p:cBhvr>
                                        <p:cTn id="12" dur="500"/>
                                        <p:tgtEl>
                                          <p:spTgt spid="8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7"/>
                                        </p:tgtEl>
                                        <p:attrNameLst>
                                          <p:attrName>style.visibility</p:attrName>
                                        </p:attrNameLst>
                                      </p:cBhvr>
                                      <p:to>
                                        <p:strVal val="visible"/>
                                      </p:to>
                                    </p:set>
                                    <p:animEffect transition="in" filter="wipe(left)">
                                      <p:cBhvr>
                                        <p:cTn id="17" dur="500"/>
                                        <p:tgtEl>
                                          <p:spTgt spid="8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8"/>
                                        </p:tgtEl>
                                        <p:attrNameLst>
                                          <p:attrName>style.visibility</p:attrName>
                                        </p:attrNameLst>
                                      </p:cBhvr>
                                      <p:to>
                                        <p:strVal val="visible"/>
                                      </p:to>
                                    </p:set>
                                    <p:animEffect transition="in" filter="wipe(left)">
                                      <p:cBhvr>
                                        <p:cTn id="22" dur="500"/>
                                        <p:tgtEl>
                                          <p:spTgt spid="8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9"/>
                                        </p:tgtEl>
                                        <p:attrNameLst>
                                          <p:attrName>style.visibility</p:attrName>
                                        </p:attrNameLst>
                                      </p:cBhvr>
                                      <p:to>
                                        <p:strVal val="visible"/>
                                      </p:to>
                                    </p:set>
                                    <p:animEffect transition="in" filter="wipe(left)">
                                      <p:cBhvr>
                                        <p:cTn id="27" dur="500"/>
                                        <p:tgtEl>
                                          <p:spTgt spid="89"/>
                                        </p:tgtEl>
                                      </p:cBhvr>
                                    </p:animEffect>
                                  </p:childTnLst>
                                </p:cTn>
                              </p:par>
                            </p:childTnLst>
                          </p:cTn>
                        </p:par>
                        <p:par>
                          <p:cTn id="28" fill="hold">
                            <p:stCondLst>
                              <p:cond delay="500"/>
                            </p:stCondLst>
                            <p:childTnLst>
                              <p:par>
                                <p:cTn id="29" presetID="22" presetClass="entr" presetSubtype="8" fill="hold" grpId="0" nodeType="afterEffect">
                                  <p:stCondLst>
                                    <p:cond delay="0"/>
                                  </p:stCondLst>
                                  <p:childTnLst>
                                    <p:set>
                                      <p:cBhvr>
                                        <p:cTn id="30" dur="1" fill="hold">
                                          <p:stCondLst>
                                            <p:cond delay="0"/>
                                          </p:stCondLst>
                                        </p:cTn>
                                        <p:tgtEl>
                                          <p:spTgt spid="90"/>
                                        </p:tgtEl>
                                        <p:attrNameLst>
                                          <p:attrName>style.visibility</p:attrName>
                                        </p:attrNameLst>
                                      </p:cBhvr>
                                      <p:to>
                                        <p:strVal val="visible"/>
                                      </p:to>
                                    </p:set>
                                    <p:animEffect transition="in" filter="wipe(left)">
                                      <p:cBhvr>
                                        <p:cTn id="31" dur="500"/>
                                        <p:tgtEl>
                                          <p:spTgt spid="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 grpId="0" animBg="1"/>
      <p:bldP spid="87" grpId="0" animBg="1"/>
      <p:bldP spid="88" grpId="0" animBg="1"/>
      <p:bldP spid="89" grpId="0" animBg="1"/>
      <p:bldP spid="90" grpId="0"/>
      <p:bldP spid="91"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F00F5E-281F-D6D2-815B-9ADFD4A7DF50}"/>
              </a:ext>
            </a:extLst>
          </p:cNvPr>
          <p:cNvSpPr>
            <a:spLocks noGrp="1"/>
          </p:cNvSpPr>
          <p:nvPr>
            <p:ph type="title"/>
          </p:nvPr>
        </p:nvSpPr>
        <p:spPr/>
        <p:txBody>
          <a:bodyPr/>
          <a:lstStyle/>
          <a:p>
            <a:r>
              <a:rPr lang="zh-CN" altLang="en-US" dirty="0"/>
              <a:t>成帧（</a:t>
            </a:r>
            <a:r>
              <a:rPr lang="en-US" altLang="zh-CN" dirty="0"/>
              <a:t>Framing</a:t>
            </a:r>
            <a:r>
              <a:rPr lang="zh-CN" altLang="en-US" dirty="0"/>
              <a:t>）</a:t>
            </a:r>
            <a:endParaRPr lang="en-CN" dirty="0"/>
          </a:p>
        </p:txBody>
      </p:sp>
      <p:sp>
        <p:nvSpPr>
          <p:cNvPr id="4" name="Slide Number Placeholder 3">
            <a:extLst>
              <a:ext uri="{FF2B5EF4-FFF2-40B4-BE49-F238E27FC236}">
                <a16:creationId xmlns:a16="http://schemas.microsoft.com/office/drawing/2014/main" id="{E4E9E76A-5A27-FE79-8592-50685FE1B648}"/>
              </a:ext>
            </a:extLst>
          </p:cNvPr>
          <p:cNvSpPr>
            <a:spLocks noGrp="1"/>
          </p:cNvSpPr>
          <p:nvPr>
            <p:ph type="sldNum" sz="quarter" idx="12"/>
          </p:nvPr>
        </p:nvSpPr>
        <p:spPr/>
        <p:txBody>
          <a:bodyPr/>
          <a:lstStyle/>
          <a:p>
            <a:fld id="{8D4D1E41-7A09-AB4A-A4E1-09765ADA2698}" type="slidenum">
              <a:rPr kumimoji="1" lang="zh-CN" altLang="en-US" smtClean="0"/>
              <a:t>15</a:t>
            </a:fld>
            <a:endParaRPr kumimoji="1" lang="zh-CN" altLang="en-US" dirty="0"/>
          </a:p>
        </p:txBody>
      </p:sp>
      <p:sp>
        <p:nvSpPr>
          <p:cNvPr id="5" name="Rectangle 3">
            <a:extLst>
              <a:ext uri="{FF2B5EF4-FFF2-40B4-BE49-F238E27FC236}">
                <a16:creationId xmlns:a16="http://schemas.microsoft.com/office/drawing/2014/main" id="{C35B19BB-509A-012F-DA20-C1D4AD6A8EC8}"/>
              </a:ext>
            </a:extLst>
          </p:cNvPr>
          <p:cNvSpPr txBox="1">
            <a:spLocks noChangeArrowheads="1"/>
          </p:cNvSpPr>
          <p:nvPr/>
        </p:nvSpPr>
        <p:spPr>
          <a:xfrm>
            <a:off x="2944093" y="1537857"/>
            <a:ext cx="8142288" cy="2743200"/>
          </a:xfrm>
          <a:prstGeom prst="rect">
            <a:avLst/>
          </a:prstGeom>
        </p:spPr>
        <p:txBody>
          <a:bodyPr vert="horz" lIns="91440" tIns="45720" rIns="91440" bIns="45720" rtlCol="0">
            <a:normAutofit lnSpcReduction="10000"/>
          </a:bodyPr>
          <a:lstStyle>
            <a:lvl1pPr marL="360363" indent="-360363" algn="l" defTabSz="914400" rtl="0" eaLnBrk="1" latinLnBrk="0" hangingPunct="1">
              <a:lnSpc>
                <a:spcPct val="100000"/>
              </a:lnSpc>
              <a:spcBef>
                <a:spcPts val="600"/>
              </a:spcBef>
              <a:buFont typeface="Wingdings" pitchFamily="2" charset="2"/>
              <a:buChar char="Ø"/>
              <a:tabLst/>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SzPct val="90000"/>
              <a:buFont typeface="Wingdings" pitchFamily="2" charset="2"/>
              <a:buChar char="§"/>
              <a:defRPr/>
            </a:pPr>
            <a:r>
              <a:rPr lang="en-US" altLang="zh-CN" sz="2400">
                <a:latin typeface="Verdana" pitchFamily="34" charset="0"/>
                <a:ea typeface="楷体_GB2312" pitchFamily="49" charset="-122"/>
              </a:rPr>
              <a:t>ASCII</a:t>
            </a:r>
            <a:r>
              <a:rPr lang="zh-CN" altLang="en-US" sz="2400">
                <a:latin typeface="Verdana" pitchFamily="34" charset="0"/>
                <a:ea typeface="楷体_GB2312" pitchFamily="49" charset="-122"/>
              </a:rPr>
              <a:t>字符：帧头</a:t>
            </a:r>
            <a:r>
              <a:rPr lang="en-US" altLang="zh-CN" sz="2400">
                <a:solidFill>
                  <a:srgbClr val="0000FF"/>
                </a:solidFill>
                <a:latin typeface="Verdana" pitchFamily="34" charset="0"/>
                <a:ea typeface="楷体_GB2312" pitchFamily="49" charset="-122"/>
              </a:rPr>
              <a:t>DLE STX</a:t>
            </a:r>
            <a:r>
              <a:rPr lang="zh-CN" altLang="en-US" sz="2400">
                <a:latin typeface="Verdana" pitchFamily="34" charset="0"/>
                <a:ea typeface="楷体_GB2312" pitchFamily="49" charset="-122"/>
              </a:rPr>
              <a:t>，帧尾</a:t>
            </a:r>
            <a:r>
              <a:rPr lang="en-US" altLang="zh-CN" sz="2400">
                <a:solidFill>
                  <a:srgbClr val="0000FF"/>
                </a:solidFill>
                <a:latin typeface="Verdana" pitchFamily="34" charset="0"/>
                <a:ea typeface="楷体_GB2312" pitchFamily="49" charset="-122"/>
              </a:rPr>
              <a:t>DLE ETX</a:t>
            </a:r>
          </a:p>
          <a:p>
            <a:pPr lvl="1" algn="just">
              <a:buSzPct val="90000"/>
              <a:buFont typeface="Wingdings" panose="05000000000000000000" pitchFamily="2" charset="2"/>
              <a:buChar char="§"/>
              <a:defRPr/>
            </a:pPr>
            <a:r>
              <a:rPr lang="en-US" altLang="zh-CN" sz="2000">
                <a:latin typeface="Verdana" pitchFamily="34" charset="0"/>
                <a:ea typeface="楷体_GB2312" pitchFamily="49" charset="-122"/>
              </a:rPr>
              <a:t>DLE (Data Link Escape); </a:t>
            </a:r>
          </a:p>
          <a:p>
            <a:pPr lvl="1" algn="just">
              <a:buSzPct val="90000"/>
              <a:buFont typeface="Wingdings" panose="05000000000000000000" pitchFamily="2" charset="2"/>
              <a:buChar char="§"/>
              <a:defRPr/>
            </a:pPr>
            <a:r>
              <a:rPr lang="en-US" altLang="zh-CN" sz="2000">
                <a:latin typeface="Verdana" pitchFamily="34" charset="0"/>
                <a:ea typeface="楷体_GB2312" pitchFamily="49" charset="-122"/>
              </a:rPr>
              <a:t>STX (Start of Text); </a:t>
            </a:r>
          </a:p>
          <a:p>
            <a:pPr lvl="1" algn="just">
              <a:buSzPct val="90000"/>
              <a:buFont typeface="Wingdings" panose="05000000000000000000" pitchFamily="2" charset="2"/>
              <a:buChar char="§"/>
              <a:defRPr/>
            </a:pPr>
            <a:r>
              <a:rPr lang="en-US" altLang="zh-CN" sz="2000">
                <a:latin typeface="Verdana" pitchFamily="34" charset="0"/>
                <a:ea typeface="楷体_GB2312" pitchFamily="49" charset="-122"/>
              </a:rPr>
              <a:t>EXT (End of Text)</a:t>
            </a:r>
          </a:p>
          <a:p>
            <a:pPr>
              <a:buSzPct val="90000"/>
              <a:buFont typeface="Wingdings" pitchFamily="2" charset="2"/>
              <a:buChar char="§"/>
              <a:defRPr/>
            </a:pPr>
            <a:r>
              <a:rPr lang="zh-CN" altLang="en-US" sz="2400">
                <a:latin typeface="Verdana" pitchFamily="34" charset="0"/>
                <a:ea typeface="楷体_GB2312" pitchFamily="49" charset="-122"/>
              </a:rPr>
              <a:t>如果字符中出现</a:t>
            </a:r>
            <a:r>
              <a:rPr lang="en-US" altLang="zh-CN" sz="2400">
                <a:latin typeface="Verdana" pitchFamily="34" charset="0"/>
                <a:ea typeface="楷体_GB2312" pitchFamily="49" charset="-122"/>
              </a:rPr>
              <a:t>DLE</a:t>
            </a:r>
            <a:r>
              <a:rPr lang="zh-CN" altLang="en-US" sz="2400">
                <a:latin typeface="Verdana" pitchFamily="34" charset="0"/>
                <a:ea typeface="楷体_GB2312" pitchFamily="49" charset="-122"/>
              </a:rPr>
              <a:t>，就添一个</a:t>
            </a:r>
            <a:r>
              <a:rPr lang="en-US" altLang="zh-CN" sz="2400">
                <a:latin typeface="Verdana" pitchFamily="34" charset="0"/>
                <a:ea typeface="楷体_GB2312" pitchFamily="49" charset="-122"/>
              </a:rPr>
              <a:t>DLE</a:t>
            </a:r>
            <a:r>
              <a:rPr lang="zh-CN" altLang="en-US" sz="2400">
                <a:latin typeface="Verdana" pitchFamily="34" charset="0"/>
                <a:ea typeface="楷体_GB2312" pitchFamily="49" charset="-122"/>
              </a:rPr>
              <a:t>，称为</a:t>
            </a:r>
            <a:r>
              <a:rPr lang="zh-CN" altLang="en-US" sz="2400" b="1">
                <a:solidFill>
                  <a:srgbClr val="FF66FF"/>
                </a:solidFill>
                <a:effectLst>
                  <a:outerShdw blurRad="38100" dist="38100" dir="2700000" algn="tl">
                    <a:srgbClr val="C0C0C0"/>
                  </a:outerShdw>
                </a:effectLst>
                <a:latin typeface="Verdana" pitchFamily="34" charset="0"/>
                <a:ea typeface="楷体_GB2312" pitchFamily="49" charset="-122"/>
              </a:rPr>
              <a:t>字符填充</a:t>
            </a:r>
            <a:r>
              <a:rPr lang="zh-CN" altLang="en-US" sz="2400">
                <a:latin typeface="Verdana" pitchFamily="34" charset="0"/>
                <a:ea typeface="楷体_GB2312" pitchFamily="49" charset="-122"/>
              </a:rPr>
              <a:t>。</a:t>
            </a:r>
          </a:p>
          <a:p>
            <a:pPr>
              <a:buSzPct val="90000"/>
              <a:buFont typeface="Wingdings" pitchFamily="2" charset="2"/>
              <a:buChar char="§"/>
              <a:defRPr/>
            </a:pPr>
            <a:r>
              <a:rPr lang="zh-CN" altLang="en-US" sz="2400">
                <a:latin typeface="Verdana" pitchFamily="34" charset="0"/>
                <a:ea typeface="楷体_GB2312" pitchFamily="49" charset="-122"/>
              </a:rPr>
              <a:t>缺点：完全依赖</a:t>
            </a:r>
            <a:r>
              <a:rPr lang="en-US" altLang="zh-CN" sz="2400">
                <a:latin typeface="Verdana" pitchFamily="34" charset="0"/>
                <a:ea typeface="楷体_GB2312" pitchFamily="49" charset="-122"/>
              </a:rPr>
              <a:t>8</a:t>
            </a:r>
            <a:r>
              <a:rPr lang="zh-CN" altLang="en-US" sz="2400">
                <a:latin typeface="Verdana" pitchFamily="34" charset="0"/>
                <a:ea typeface="楷体_GB2312" pitchFamily="49" charset="-122"/>
              </a:rPr>
              <a:t>位字符，特别是</a:t>
            </a:r>
            <a:r>
              <a:rPr lang="en-US" altLang="zh-CN" sz="2400">
                <a:latin typeface="Verdana" pitchFamily="34" charset="0"/>
                <a:ea typeface="楷体_GB2312" pitchFamily="49" charset="-122"/>
              </a:rPr>
              <a:t>ASCII</a:t>
            </a:r>
            <a:r>
              <a:rPr lang="zh-CN" altLang="en-US" sz="2400">
                <a:latin typeface="Verdana" pitchFamily="34" charset="0"/>
                <a:ea typeface="楷体_GB2312" pitchFamily="49" charset="-122"/>
              </a:rPr>
              <a:t>字符。</a:t>
            </a:r>
          </a:p>
          <a:p>
            <a:pPr>
              <a:buSzPct val="90000"/>
              <a:buFont typeface="Wingdings" pitchFamily="2" charset="2"/>
              <a:buNone/>
              <a:defRPr/>
            </a:pPr>
            <a:r>
              <a:rPr lang="zh-CN" altLang="en-US" sz="2400" b="1">
                <a:solidFill>
                  <a:srgbClr val="0000FF"/>
                </a:solidFill>
                <a:latin typeface="Verdana" pitchFamily="34" charset="0"/>
                <a:ea typeface="楷体_GB2312" pitchFamily="49" charset="-122"/>
              </a:rPr>
              <a:t>    </a:t>
            </a:r>
            <a:endParaRPr lang="zh-CN" altLang="en-US" sz="2400" b="1" dirty="0">
              <a:solidFill>
                <a:srgbClr val="0000FF"/>
              </a:solidFill>
              <a:latin typeface="Verdana" pitchFamily="34" charset="0"/>
              <a:ea typeface="楷体_GB2312" pitchFamily="49" charset="-122"/>
            </a:endParaRPr>
          </a:p>
        </p:txBody>
      </p:sp>
      <p:graphicFrame>
        <p:nvGraphicFramePr>
          <p:cNvPr id="6" name="Group 4">
            <a:extLst>
              <a:ext uri="{FF2B5EF4-FFF2-40B4-BE49-F238E27FC236}">
                <a16:creationId xmlns:a16="http://schemas.microsoft.com/office/drawing/2014/main" id="{53BADCAE-D3DE-1D9F-C55F-3A61501B45AB}"/>
              </a:ext>
            </a:extLst>
          </p:cNvPr>
          <p:cNvGraphicFramePr>
            <a:graphicFrameLocks noGrp="1"/>
          </p:cNvGraphicFramePr>
          <p:nvPr>
            <p:extLst>
              <p:ext uri="{D42A27DB-BD31-4B8C-83A1-F6EECF244321}">
                <p14:modId xmlns:p14="http://schemas.microsoft.com/office/powerpoint/2010/main" val="2304009197"/>
              </p:ext>
            </p:extLst>
          </p:nvPr>
        </p:nvGraphicFramePr>
        <p:xfrm>
          <a:off x="6391455" y="4241429"/>
          <a:ext cx="3429000" cy="457200"/>
        </p:xfrm>
        <a:graphic>
          <a:graphicData uri="http://schemas.openxmlformats.org/drawingml/2006/table">
            <a:tbl>
              <a:tblPr/>
              <a:tblGrid>
                <a:gridCol w="900113">
                  <a:extLst>
                    <a:ext uri="{9D8B030D-6E8A-4147-A177-3AD203B41FA5}">
                      <a16:colId xmlns:a16="http://schemas.microsoft.com/office/drawing/2014/main" val="20000"/>
                    </a:ext>
                  </a:extLst>
                </a:gridCol>
                <a:gridCol w="900112">
                  <a:extLst>
                    <a:ext uri="{9D8B030D-6E8A-4147-A177-3AD203B41FA5}">
                      <a16:colId xmlns:a16="http://schemas.microsoft.com/office/drawing/2014/main" val="20001"/>
                    </a:ext>
                  </a:extLst>
                </a:gridCol>
                <a:gridCol w="900113">
                  <a:extLst>
                    <a:ext uri="{9D8B030D-6E8A-4147-A177-3AD203B41FA5}">
                      <a16:colId xmlns:a16="http://schemas.microsoft.com/office/drawing/2014/main" val="20002"/>
                    </a:ext>
                  </a:extLst>
                </a:gridCol>
                <a:gridCol w="728662">
                  <a:extLst>
                    <a:ext uri="{9D8B030D-6E8A-4147-A177-3AD203B41FA5}">
                      <a16:colId xmlns:a16="http://schemas.microsoft.com/office/drawing/2014/main" val="20003"/>
                    </a:ext>
                  </a:extLst>
                </a:gridCol>
              </a:tblGrid>
              <a:tr h="457200">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pattFill prst="pct20">
                      <a:fgClr>
                        <a:schemeClr val="accent1"/>
                      </a:fgClr>
                      <a:bgClr>
                        <a:schemeClr val="bg1"/>
                      </a:bgClr>
                    </a:patt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DLE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pattFill prst="pct20">
                      <a:fgClr>
                        <a:schemeClr val="accent1"/>
                      </a:fgClr>
                      <a:bgClr>
                        <a:schemeClr val="bg1"/>
                      </a:bgClr>
                    </a:patt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pattFill prst="pct20">
                      <a:fgClr>
                        <a:schemeClr val="accent1"/>
                      </a:fgClr>
                      <a:bgClr>
                        <a:schemeClr val="bg1"/>
                      </a:bgClr>
                    </a:patt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C</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pattFill prst="pct20">
                      <a:fgClr>
                        <a:schemeClr val="accent1"/>
                      </a:fgClr>
                      <a:bgClr>
                        <a:schemeClr val="bg1"/>
                      </a:bgClr>
                    </a:pattFill>
                  </a:tcPr>
                </a:tc>
                <a:extLst>
                  <a:ext uri="{0D108BD9-81ED-4DB2-BD59-A6C34878D82A}">
                    <a16:rowId xmlns:a16="http://schemas.microsoft.com/office/drawing/2014/main" val="10000"/>
                  </a:ext>
                </a:extLst>
              </a:tr>
            </a:tbl>
          </a:graphicData>
        </a:graphic>
      </p:graphicFrame>
      <p:sp>
        <p:nvSpPr>
          <p:cNvPr id="7" name="Text Box 16">
            <a:extLst>
              <a:ext uri="{FF2B5EF4-FFF2-40B4-BE49-F238E27FC236}">
                <a16:creationId xmlns:a16="http://schemas.microsoft.com/office/drawing/2014/main" id="{07108419-F45B-2CE9-FF09-D1EF76BF9C86}"/>
              </a:ext>
            </a:extLst>
          </p:cNvPr>
          <p:cNvSpPr txBox="1">
            <a:spLocks noChangeArrowheads="1"/>
          </p:cNvSpPr>
          <p:nvPr/>
        </p:nvSpPr>
        <p:spPr bwMode="auto">
          <a:xfrm>
            <a:off x="3035328" y="4186249"/>
            <a:ext cx="2448123"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ct val="50000"/>
              </a:spcBef>
              <a:buClr>
                <a:schemeClr val="tx1"/>
              </a:buClr>
              <a:buSzPct val="80000"/>
              <a:buNone/>
            </a:pPr>
            <a:r>
              <a:rPr lang="zh-CN" altLang="en-US" sz="2400" b="1" dirty="0">
                <a:solidFill>
                  <a:srgbClr val="0000FF"/>
                </a:solidFill>
                <a:latin typeface="Verdana" pitchFamily="34" charset="0"/>
                <a:ea typeface="楷体_GB2312" pitchFamily="49" charset="-122"/>
              </a:rPr>
              <a:t>例：</a:t>
            </a:r>
            <a:r>
              <a:rPr kumimoji="1" lang="zh-CN" altLang="en-US" sz="2400" dirty="0">
                <a:latin typeface="楷体_GB2312" pitchFamily="49" charset="-122"/>
                <a:ea typeface="楷体_GB2312" pitchFamily="49" charset="-122"/>
              </a:rPr>
              <a:t>网络层发出：</a:t>
            </a:r>
          </a:p>
        </p:txBody>
      </p:sp>
      <p:sp>
        <p:nvSpPr>
          <p:cNvPr id="8" name="Text Box 17">
            <a:extLst>
              <a:ext uri="{FF2B5EF4-FFF2-40B4-BE49-F238E27FC236}">
                <a16:creationId xmlns:a16="http://schemas.microsoft.com/office/drawing/2014/main" id="{F5E0895C-F0F8-339B-03C9-B6433CCD50D1}"/>
              </a:ext>
            </a:extLst>
          </p:cNvPr>
          <p:cNvSpPr txBox="1">
            <a:spLocks noChangeArrowheads="1"/>
          </p:cNvSpPr>
          <p:nvPr/>
        </p:nvSpPr>
        <p:spPr bwMode="auto">
          <a:xfrm>
            <a:off x="3611391" y="4724847"/>
            <a:ext cx="3162300" cy="42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ct val="50000"/>
              </a:spcBef>
              <a:buClr>
                <a:schemeClr val="tx1"/>
              </a:buClr>
              <a:buSzPct val="80000"/>
              <a:buFont typeface="Wingdings" panose="05000000000000000000" pitchFamily="2" charset="2"/>
              <a:buNone/>
            </a:pPr>
            <a:r>
              <a:rPr kumimoji="1" lang="zh-CN" altLang="en-US" sz="2400" dirty="0">
                <a:latin typeface="楷体_GB2312" pitchFamily="49" charset="-122"/>
                <a:ea typeface="楷体_GB2312" pitchFamily="49" charset="-122"/>
              </a:rPr>
              <a:t>经数据链路层填充：</a:t>
            </a:r>
          </a:p>
        </p:txBody>
      </p:sp>
      <p:sp>
        <p:nvSpPr>
          <p:cNvPr id="9" name="Text Box 18">
            <a:extLst>
              <a:ext uri="{FF2B5EF4-FFF2-40B4-BE49-F238E27FC236}">
                <a16:creationId xmlns:a16="http://schemas.microsoft.com/office/drawing/2014/main" id="{123A0592-38F7-B08B-912B-F11CE4FA5447}"/>
              </a:ext>
            </a:extLst>
          </p:cNvPr>
          <p:cNvSpPr txBox="1">
            <a:spLocks noChangeArrowheads="1"/>
          </p:cNvSpPr>
          <p:nvPr/>
        </p:nvSpPr>
        <p:spPr bwMode="auto">
          <a:xfrm>
            <a:off x="3611392" y="6090057"/>
            <a:ext cx="3095625" cy="42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ct val="50000"/>
              </a:spcBef>
              <a:buClr>
                <a:schemeClr val="tx1"/>
              </a:buClr>
              <a:buSzPct val="80000"/>
              <a:buFont typeface="Wingdings" panose="05000000000000000000" pitchFamily="2" charset="2"/>
              <a:buNone/>
            </a:pPr>
            <a:r>
              <a:rPr kumimoji="1" lang="zh-CN" altLang="en-US" sz="2400" dirty="0">
                <a:latin typeface="楷体_GB2312" pitchFamily="49" charset="-122"/>
                <a:ea typeface="楷体_GB2312" pitchFamily="49" charset="-122"/>
              </a:rPr>
              <a:t>传给接收方网络层：</a:t>
            </a:r>
          </a:p>
        </p:txBody>
      </p:sp>
      <p:graphicFrame>
        <p:nvGraphicFramePr>
          <p:cNvPr id="10" name="Group 19">
            <a:extLst>
              <a:ext uri="{FF2B5EF4-FFF2-40B4-BE49-F238E27FC236}">
                <a16:creationId xmlns:a16="http://schemas.microsoft.com/office/drawing/2014/main" id="{987A8C9E-7D03-6B8E-7EEC-D894DA7B5AB0}"/>
              </a:ext>
            </a:extLst>
          </p:cNvPr>
          <p:cNvGraphicFramePr>
            <a:graphicFrameLocks noGrp="1"/>
          </p:cNvGraphicFramePr>
          <p:nvPr>
            <p:extLst>
              <p:ext uri="{D42A27DB-BD31-4B8C-83A1-F6EECF244321}">
                <p14:modId xmlns:p14="http://schemas.microsoft.com/office/powerpoint/2010/main" val="3737221945"/>
              </p:ext>
            </p:extLst>
          </p:nvPr>
        </p:nvGraphicFramePr>
        <p:xfrm>
          <a:off x="6391455" y="6071799"/>
          <a:ext cx="3429000" cy="457200"/>
        </p:xfrm>
        <a:graphic>
          <a:graphicData uri="http://schemas.openxmlformats.org/drawingml/2006/table">
            <a:tbl>
              <a:tblPr/>
              <a:tblGrid>
                <a:gridCol w="900113">
                  <a:extLst>
                    <a:ext uri="{9D8B030D-6E8A-4147-A177-3AD203B41FA5}">
                      <a16:colId xmlns:a16="http://schemas.microsoft.com/office/drawing/2014/main" val="20000"/>
                    </a:ext>
                  </a:extLst>
                </a:gridCol>
                <a:gridCol w="900112">
                  <a:extLst>
                    <a:ext uri="{9D8B030D-6E8A-4147-A177-3AD203B41FA5}">
                      <a16:colId xmlns:a16="http://schemas.microsoft.com/office/drawing/2014/main" val="20001"/>
                    </a:ext>
                  </a:extLst>
                </a:gridCol>
                <a:gridCol w="900113">
                  <a:extLst>
                    <a:ext uri="{9D8B030D-6E8A-4147-A177-3AD203B41FA5}">
                      <a16:colId xmlns:a16="http://schemas.microsoft.com/office/drawing/2014/main" val="20002"/>
                    </a:ext>
                  </a:extLst>
                </a:gridCol>
                <a:gridCol w="728662">
                  <a:extLst>
                    <a:ext uri="{9D8B030D-6E8A-4147-A177-3AD203B41FA5}">
                      <a16:colId xmlns:a16="http://schemas.microsoft.com/office/drawing/2014/main" val="20003"/>
                    </a:ext>
                  </a:extLst>
                </a:gridCol>
              </a:tblGrid>
              <a:tr h="381000">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pattFill prst="pct20">
                      <a:fgClr>
                        <a:schemeClr val="accent1"/>
                      </a:fgClr>
                      <a:bgClr>
                        <a:schemeClr val="bg1"/>
                      </a:bgClr>
                    </a:patt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DLE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pattFill prst="pct20">
                      <a:fgClr>
                        <a:schemeClr val="accent1"/>
                      </a:fgClr>
                      <a:bgClr>
                        <a:schemeClr val="bg1"/>
                      </a:bgClr>
                    </a:patt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pattFill prst="pct20">
                      <a:fgClr>
                        <a:schemeClr val="accent1"/>
                      </a:fgClr>
                      <a:bgClr>
                        <a:schemeClr val="bg1"/>
                      </a:bgClr>
                    </a:patt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C</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pattFill prst="pct20">
                      <a:fgClr>
                        <a:schemeClr val="accent1"/>
                      </a:fgClr>
                      <a:bgClr>
                        <a:schemeClr val="bg1"/>
                      </a:bgClr>
                    </a:pattFill>
                  </a:tcPr>
                </a:tc>
                <a:extLst>
                  <a:ext uri="{0D108BD9-81ED-4DB2-BD59-A6C34878D82A}">
                    <a16:rowId xmlns:a16="http://schemas.microsoft.com/office/drawing/2014/main" val="10000"/>
                  </a:ext>
                </a:extLst>
              </a:tr>
            </a:tbl>
          </a:graphicData>
        </a:graphic>
      </p:graphicFrame>
      <p:graphicFrame>
        <p:nvGraphicFramePr>
          <p:cNvPr id="11" name="Group 31">
            <a:extLst>
              <a:ext uri="{FF2B5EF4-FFF2-40B4-BE49-F238E27FC236}">
                <a16:creationId xmlns:a16="http://schemas.microsoft.com/office/drawing/2014/main" id="{9773F5C7-D118-541B-B285-5C281B2D4E17}"/>
              </a:ext>
            </a:extLst>
          </p:cNvPr>
          <p:cNvGraphicFramePr>
            <a:graphicFrameLocks noGrp="1"/>
          </p:cNvGraphicFramePr>
          <p:nvPr>
            <p:extLst>
              <p:ext uri="{D42A27DB-BD31-4B8C-83A1-F6EECF244321}">
                <p14:modId xmlns:p14="http://schemas.microsoft.com/office/powerpoint/2010/main" val="1738848552"/>
              </p:ext>
            </p:extLst>
          </p:nvPr>
        </p:nvGraphicFramePr>
        <p:xfrm>
          <a:off x="3742333" y="5259398"/>
          <a:ext cx="7239000" cy="504528"/>
        </p:xfrm>
        <a:graphic>
          <a:graphicData uri="http://schemas.openxmlformats.org/drawingml/2006/table">
            <a:tbl>
              <a:tblPr/>
              <a:tblGrid>
                <a:gridCol w="804863">
                  <a:extLst>
                    <a:ext uri="{9D8B030D-6E8A-4147-A177-3AD203B41FA5}">
                      <a16:colId xmlns:a16="http://schemas.microsoft.com/office/drawing/2014/main" val="20000"/>
                    </a:ext>
                  </a:extLst>
                </a:gridCol>
                <a:gridCol w="803275">
                  <a:extLst>
                    <a:ext uri="{9D8B030D-6E8A-4147-A177-3AD203B41FA5}">
                      <a16:colId xmlns:a16="http://schemas.microsoft.com/office/drawing/2014/main" val="20001"/>
                    </a:ext>
                  </a:extLst>
                </a:gridCol>
                <a:gridCol w="804862">
                  <a:extLst>
                    <a:ext uri="{9D8B030D-6E8A-4147-A177-3AD203B41FA5}">
                      <a16:colId xmlns:a16="http://schemas.microsoft.com/office/drawing/2014/main" val="20002"/>
                    </a:ext>
                  </a:extLst>
                </a:gridCol>
                <a:gridCol w="804863">
                  <a:extLst>
                    <a:ext uri="{9D8B030D-6E8A-4147-A177-3AD203B41FA5}">
                      <a16:colId xmlns:a16="http://schemas.microsoft.com/office/drawing/2014/main" val="20003"/>
                    </a:ext>
                  </a:extLst>
                </a:gridCol>
                <a:gridCol w="803275">
                  <a:extLst>
                    <a:ext uri="{9D8B030D-6E8A-4147-A177-3AD203B41FA5}">
                      <a16:colId xmlns:a16="http://schemas.microsoft.com/office/drawing/2014/main" val="20004"/>
                    </a:ext>
                  </a:extLst>
                </a:gridCol>
                <a:gridCol w="804862">
                  <a:extLst>
                    <a:ext uri="{9D8B030D-6E8A-4147-A177-3AD203B41FA5}">
                      <a16:colId xmlns:a16="http://schemas.microsoft.com/office/drawing/2014/main" val="20005"/>
                    </a:ext>
                  </a:extLst>
                </a:gridCol>
                <a:gridCol w="804863">
                  <a:extLst>
                    <a:ext uri="{9D8B030D-6E8A-4147-A177-3AD203B41FA5}">
                      <a16:colId xmlns:a16="http://schemas.microsoft.com/office/drawing/2014/main" val="20006"/>
                    </a:ext>
                  </a:extLst>
                </a:gridCol>
                <a:gridCol w="803275">
                  <a:extLst>
                    <a:ext uri="{9D8B030D-6E8A-4147-A177-3AD203B41FA5}">
                      <a16:colId xmlns:a16="http://schemas.microsoft.com/office/drawing/2014/main" val="20007"/>
                    </a:ext>
                  </a:extLst>
                </a:gridCol>
                <a:gridCol w="804862">
                  <a:extLst>
                    <a:ext uri="{9D8B030D-6E8A-4147-A177-3AD203B41FA5}">
                      <a16:colId xmlns:a16="http://schemas.microsoft.com/office/drawing/2014/main" val="20008"/>
                    </a:ext>
                  </a:extLst>
                </a:gridCol>
              </a:tblGrid>
              <a:tr h="504528">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zh-CN" sz="2400" b="0" i="0" u="none" strike="noStrike" cap="none" normalizeH="0" baseline="0">
                          <a:ln>
                            <a:noFill/>
                          </a:ln>
                          <a:solidFill>
                            <a:srgbClr val="0000FF"/>
                          </a:solidFill>
                          <a:effectLst/>
                          <a:latin typeface="Times New Roman" panose="02020603050405020304" pitchFamily="18" charset="0"/>
                          <a:ea typeface="宋体" panose="02010600030101010101" pitchFamily="2" charset="-122"/>
                        </a:rPr>
                        <a:t>DLE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pattFill prst="dotDmnd">
                      <a:fgClr>
                        <a:schemeClr val="accent1"/>
                      </a:fgClr>
                      <a:bgClr>
                        <a:schemeClr val="bg1"/>
                      </a:bgClr>
                    </a:patt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zh-CN" sz="2400" b="0" i="0" u="none" strike="noStrike" cap="none" normalizeH="0" baseline="0" dirty="0">
                          <a:ln>
                            <a:noFill/>
                          </a:ln>
                          <a:solidFill>
                            <a:srgbClr val="0000FF"/>
                          </a:solidFill>
                          <a:effectLst/>
                          <a:latin typeface="Times New Roman" panose="02020603050405020304" pitchFamily="18" charset="0"/>
                          <a:ea typeface="宋体" panose="02010600030101010101" pitchFamily="2" charset="-122"/>
                        </a:rPr>
                        <a:t>STX</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pattFill prst="dotDmnd">
                      <a:fgClr>
                        <a:schemeClr val="accent1"/>
                      </a:fgClr>
                      <a:bgClr>
                        <a:schemeClr val="bg1"/>
                      </a:bgClr>
                    </a:patt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pattFill prst="dotDmnd">
                      <a:fgClr>
                        <a:schemeClr val="accent1"/>
                      </a:fgClr>
                      <a:bgClr>
                        <a:schemeClr val="bg1"/>
                      </a:bgClr>
                    </a:patt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zh-CN" sz="2400" b="0" i="0" u="none" strike="noStrike" cap="none" normalizeH="0" baseline="0">
                          <a:ln>
                            <a:noFill/>
                          </a:ln>
                          <a:solidFill>
                            <a:srgbClr val="0000FF"/>
                          </a:solidFill>
                          <a:effectLst/>
                          <a:latin typeface="Times New Roman" panose="02020603050405020304" pitchFamily="18" charset="0"/>
                          <a:ea typeface="宋体" panose="02010600030101010101" pitchFamily="2" charset="-122"/>
                        </a:rPr>
                        <a:t>DLE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pattFill prst="dotDmnd">
                      <a:fgClr>
                        <a:schemeClr val="accent1"/>
                      </a:fgClr>
                      <a:bgClr>
                        <a:schemeClr val="bg1"/>
                      </a:bgClr>
                    </a:patt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DLE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pattFill prst="dotDmnd">
                      <a:fgClr>
                        <a:schemeClr val="accent1"/>
                      </a:fgClr>
                      <a:bgClr>
                        <a:schemeClr val="bg1"/>
                      </a:bgClr>
                    </a:patt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pattFill prst="dotDmnd">
                      <a:fgClr>
                        <a:schemeClr val="accent1"/>
                      </a:fgClr>
                      <a:bgClr>
                        <a:schemeClr val="bg1"/>
                      </a:bgClr>
                    </a:patt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pattFill prst="dotDmnd">
                      <a:fgClr>
                        <a:schemeClr val="accent1"/>
                      </a:fgClr>
                      <a:bgClr>
                        <a:schemeClr val="bg1"/>
                      </a:bgClr>
                    </a:patt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zh-CN" sz="2400" b="0" i="0" u="none" strike="noStrike" cap="none" normalizeH="0" baseline="0">
                          <a:ln>
                            <a:noFill/>
                          </a:ln>
                          <a:solidFill>
                            <a:srgbClr val="0000FF"/>
                          </a:solidFill>
                          <a:effectLst/>
                          <a:latin typeface="Times New Roman" panose="02020603050405020304" pitchFamily="18" charset="0"/>
                          <a:ea typeface="宋体" panose="02010600030101010101" pitchFamily="2" charset="-122"/>
                        </a:rPr>
                        <a:t>DLE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pattFill prst="dotDmnd">
                      <a:fgClr>
                        <a:schemeClr val="accent1"/>
                      </a:fgClr>
                      <a:bgClr>
                        <a:schemeClr val="bg1"/>
                      </a:bgClr>
                    </a:patt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zh-CN" sz="2400" b="0" i="0" u="none" strike="noStrike" cap="none" normalizeH="0" baseline="0" dirty="0">
                          <a:ln>
                            <a:noFill/>
                          </a:ln>
                          <a:solidFill>
                            <a:srgbClr val="0000FF"/>
                          </a:solidFill>
                          <a:effectLst/>
                          <a:latin typeface="Times New Roman" panose="02020603050405020304" pitchFamily="18" charset="0"/>
                          <a:ea typeface="宋体" panose="02010600030101010101" pitchFamily="2" charset="-122"/>
                        </a:rPr>
                        <a:t>ETX</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pattFill prst="dotDmnd">
                      <a:fgClr>
                        <a:schemeClr val="accent1"/>
                      </a:fgClr>
                      <a:bgClr>
                        <a:schemeClr val="bg1"/>
                      </a:bgClr>
                    </a:pattFill>
                  </a:tcPr>
                </a:tc>
                <a:extLst>
                  <a:ext uri="{0D108BD9-81ED-4DB2-BD59-A6C34878D82A}">
                    <a16:rowId xmlns:a16="http://schemas.microsoft.com/office/drawing/2014/main" val="10000"/>
                  </a:ext>
                </a:extLst>
              </a:tr>
            </a:tbl>
          </a:graphicData>
        </a:graphic>
      </p:graphicFrame>
      <p:sp>
        <p:nvSpPr>
          <p:cNvPr id="12" name="圆角矩形标注 1">
            <a:extLst>
              <a:ext uri="{FF2B5EF4-FFF2-40B4-BE49-F238E27FC236}">
                <a16:creationId xmlns:a16="http://schemas.microsoft.com/office/drawing/2014/main" id="{DB55F907-2A61-665C-9FBA-86A81BA4D307}"/>
              </a:ext>
            </a:extLst>
          </p:cNvPr>
          <p:cNvSpPr/>
          <p:nvPr/>
        </p:nvSpPr>
        <p:spPr bwMode="auto">
          <a:xfrm>
            <a:off x="7774781" y="2258582"/>
            <a:ext cx="2727050" cy="681038"/>
          </a:xfrm>
          <a:prstGeom prst="wedgeRoundRectCallout">
            <a:avLst>
              <a:gd name="adj1" fmla="val -39303"/>
              <a:gd name="adj2" fmla="val 83299"/>
              <a:gd name="adj3" fmla="val 16667"/>
            </a:avLst>
          </a:prstGeom>
          <a:noFill/>
          <a:ln w="9525" cap="flat" cmpd="sng" algn="ctr">
            <a:solidFill>
              <a:srgbClr val="FF3300"/>
            </a:solidFill>
            <a:prstDash val="solid"/>
            <a:round/>
            <a:headEnd type="none" w="med" len="med"/>
            <a:tailEnd type="triangle" w="med" len="med"/>
          </a:ln>
          <a:effectLst/>
        </p:spPr>
        <p:txBody>
          <a:bodyPr vert="horz" wrap="square" lIns="0" tIns="0" rIns="0" bIns="0" numCol="1" rtlCol="0" anchor="t" anchorCtr="0" compatLnSpc="1">
            <a:prstTxWarp prst="textNoShape">
              <a:avLst/>
            </a:prstTxWarp>
            <a:spAutoFit/>
          </a:bodyPr>
          <a:lstStyle/>
          <a:p>
            <a:pPr algn="ctr" eaLnBrk="1" hangingPunct="1">
              <a:spcBef>
                <a:spcPct val="50000"/>
              </a:spcBef>
            </a:pPr>
            <a:r>
              <a:rPr lang="zh-CN" altLang="en-US" dirty="0">
                <a:solidFill>
                  <a:srgbClr val="FF0000"/>
                </a:solidFill>
                <a:latin typeface="Arial" charset="0"/>
              </a:rPr>
              <a:t>联想：</a:t>
            </a:r>
            <a:br>
              <a:rPr lang="en-US" altLang="zh-CN" dirty="0">
                <a:solidFill>
                  <a:srgbClr val="FF0000"/>
                </a:solidFill>
                <a:latin typeface="Arial" charset="0"/>
              </a:rPr>
            </a:br>
            <a:r>
              <a:rPr lang="en-US" altLang="zh-CN" dirty="0">
                <a:solidFill>
                  <a:srgbClr val="FF0000"/>
                </a:solidFill>
                <a:latin typeface="Arial" charset="0"/>
              </a:rPr>
              <a:t>C</a:t>
            </a:r>
            <a:r>
              <a:rPr lang="zh-CN" altLang="en-US" dirty="0">
                <a:solidFill>
                  <a:srgbClr val="FF0000"/>
                </a:solidFill>
                <a:latin typeface="Arial" charset="0"/>
              </a:rPr>
              <a:t>语言中</a:t>
            </a:r>
            <a:r>
              <a:rPr lang="en-US" altLang="zh-CN" dirty="0">
                <a:solidFill>
                  <a:srgbClr val="FF0000"/>
                </a:solidFill>
                <a:latin typeface="Arial" charset="0"/>
              </a:rPr>
              <a:t>“\”</a:t>
            </a:r>
            <a:r>
              <a:rPr lang="zh-CN" altLang="en-US" dirty="0">
                <a:solidFill>
                  <a:srgbClr val="FF0000"/>
                </a:solidFill>
                <a:latin typeface="Arial" charset="0"/>
              </a:rPr>
              <a:t>字符的表示</a:t>
            </a:r>
            <a:endParaRPr lang="en-US" dirty="0">
              <a:solidFill>
                <a:srgbClr val="FF0000"/>
              </a:solidFill>
              <a:latin typeface="Arial" charset="0"/>
            </a:endParaRPr>
          </a:p>
        </p:txBody>
      </p:sp>
      <p:sp>
        <p:nvSpPr>
          <p:cNvPr id="16" name="内容占位符 2">
            <a:extLst>
              <a:ext uri="{FF2B5EF4-FFF2-40B4-BE49-F238E27FC236}">
                <a16:creationId xmlns:a16="http://schemas.microsoft.com/office/drawing/2014/main" id="{B138D5C2-7E63-5B57-818E-F593D4F351A3}"/>
              </a:ext>
            </a:extLst>
          </p:cNvPr>
          <p:cNvSpPr>
            <a:spLocks noGrp="1"/>
          </p:cNvSpPr>
          <p:nvPr>
            <p:ph idx="1"/>
          </p:nvPr>
        </p:nvSpPr>
        <p:spPr>
          <a:xfrm>
            <a:off x="498764" y="1510758"/>
            <a:ext cx="2341418" cy="4128042"/>
          </a:xfrm>
        </p:spPr>
        <p:txBody>
          <a:bodyPr/>
          <a:lstStyle/>
          <a:p>
            <a:pPr>
              <a:lnSpc>
                <a:spcPts val="3600"/>
              </a:lnSpc>
            </a:pPr>
            <a:r>
              <a:rPr lang="zh-CN" altLang="en-US" dirty="0">
                <a:solidFill>
                  <a:srgbClr val="C00000"/>
                </a:solidFill>
              </a:rPr>
              <a:t>带字节填充的定界符法</a:t>
            </a:r>
            <a:endParaRPr lang="en-US" altLang="zh-CN" dirty="0">
              <a:solidFill>
                <a:srgbClr val="C00000"/>
              </a:solidFill>
            </a:endParaRPr>
          </a:p>
          <a:p>
            <a:pPr marL="457200" lvl="1" indent="0">
              <a:buNone/>
            </a:pPr>
            <a:endParaRPr lang="en-US" altLang="zh-CN" dirty="0"/>
          </a:p>
        </p:txBody>
      </p:sp>
    </p:spTree>
    <p:extLst>
      <p:ext uri="{BB962C8B-B14F-4D97-AF65-F5344CB8AC3E}">
        <p14:creationId xmlns:p14="http://schemas.microsoft.com/office/powerpoint/2010/main" val="10714880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日期占位符 5"/>
          <p:cNvSpPr>
            <a:spLocks noGrp="1"/>
          </p:cNvSpPr>
          <p:nvPr>
            <p:ph type="dt" sz="quarter" idx="12"/>
          </p:nvPr>
        </p:nvSpPr>
        <p:spPr>
          <a:xfrm>
            <a:off x="8610600" y="6730425"/>
            <a:ext cx="3319670" cy="365125"/>
          </a:xfrm>
        </p:spPr>
        <p:txBody>
          <a:bodyPr/>
          <a:lstStyle/>
          <a:p>
            <a:pPr>
              <a:defRPr/>
            </a:pPr>
            <a:fld id="{89E51B3B-758B-4F70-9038-8A0C5A441FC6}" type="datetime1">
              <a:rPr lang="zh-CN" altLang="en-US"/>
              <a:pPr>
                <a:defRPr/>
              </a:pPr>
              <a:t>2024/10/18</a:t>
            </a:fld>
            <a:endParaRPr lang="en-US" altLang="zh-CN"/>
          </a:p>
        </p:txBody>
      </p:sp>
      <p:sp>
        <p:nvSpPr>
          <p:cNvPr id="837635" name="Rectangle 3"/>
          <p:cNvSpPr>
            <a:spLocks noGrp="1" noChangeArrowheads="1"/>
          </p:cNvSpPr>
          <p:nvPr>
            <p:ph type="body" idx="1"/>
          </p:nvPr>
        </p:nvSpPr>
        <p:spPr>
          <a:xfrm>
            <a:off x="1828800" y="1440875"/>
            <a:ext cx="10210800" cy="2217738"/>
          </a:xfrm>
        </p:spPr>
        <p:txBody>
          <a:bodyPr>
            <a:normAutofit/>
          </a:bodyPr>
          <a:lstStyle/>
          <a:p>
            <a:pPr eaLnBrk="1" hangingPunct="1">
              <a:lnSpc>
                <a:spcPct val="115000"/>
              </a:lnSpc>
              <a:buSzPct val="90000"/>
              <a:buFont typeface="Wingdings" panose="05000000000000000000" pitchFamily="2" charset="2"/>
              <a:buChar char="§"/>
              <a:defRPr/>
            </a:pPr>
            <a:r>
              <a:rPr lang="zh-CN" altLang="en-US" sz="2400" dirty="0">
                <a:latin typeface="Verdana" pitchFamily="34" charset="0"/>
                <a:ea typeface="楷体_GB2312" pitchFamily="49" charset="-122"/>
              </a:rPr>
              <a:t>典型代表是</a:t>
            </a:r>
            <a:r>
              <a:rPr lang="en-US" altLang="zh-CN" sz="2400" dirty="0">
                <a:latin typeface="Verdana" pitchFamily="34" charset="0"/>
                <a:ea typeface="楷体_GB2312" pitchFamily="49" charset="-122"/>
              </a:rPr>
              <a:t>IBM</a:t>
            </a:r>
            <a:r>
              <a:rPr lang="zh-CN" altLang="en-US" sz="2400" dirty="0">
                <a:latin typeface="Verdana" pitchFamily="34" charset="0"/>
                <a:ea typeface="楷体_GB2312" pitchFamily="49" charset="-122"/>
              </a:rPr>
              <a:t>二进制同步通信协议</a:t>
            </a:r>
            <a:r>
              <a:rPr lang="en-US" altLang="zh-CN" sz="2400" dirty="0">
                <a:latin typeface="Verdana" pitchFamily="34" charset="0"/>
                <a:ea typeface="楷体_GB2312" pitchFamily="49" charset="-122"/>
              </a:rPr>
              <a:t>(BSC)</a:t>
            </a:r>
            <a:r>
              <a:rPr lang="zh-CN" altLang="en-US" sz="2400" dirty="0">
                <a:latin typeface="Verdana" pitchFamily="34" charset="0"/>
                <a:ea typeface="楷体_GB2312" pitchFamily="49" charset="-122"/>
              </a:rPr>
              <a:t>。</a:t>
            </a:r>
            <a:endParaRPr lang="en-US" altLang="zh-CN" sz="2400" dirty="0">
              <a:latin typeface="Verdana" pitchFamily="34" charset="0"/>
              <a:ea typeface="楷体_GB2312" pitchFamily="49" charset="-122"/>
            </a:endParaRPr>
          </a:p>
          <a:p>
            <a:pPr eaLnBrk="1" hangingPunct="1">
              <a:lnSpc>
                <a:spcPct val="115000"/>
              </a:lnSpc>
              <a:buSzPct val="90000"/>
              <a:buFont typeface="Wingdings" panose="05000000000000000000" pitchFamily="2" charset="2"/>
              <a:buChar char="§"/>
              <a:defRPr/>
            </a:pPr>
            <a:r>
              <a:rPr lang="zh-CN" altLang="en-US" sz="2400" dirty="0">
                <a:latin typeface="Verdana" pitchFamily="34" charset="0"/>
                <a:ea typeface="楷体_GB2312" pitchFamily="49" charset="-122"/>
              </a:rPr>
              <a:t>特点是一次传送若干个字符组成的数据块而非一个字符，并规定</a:t>
            </a:r>
            <a:r>
              <a:rPr lang="en-US" altLang="zh-CN" sz="2400" dirty="0">
                <a:latin typeface="Verdana" pitchFamily="34" charset="0"/>
                <a:ea typeface="楷体_GB2312" pitchFamily="49" charset="-122"/>
              </a:rPr>
              <a:t>10</a:t>
            </a:r>
            <a:r>
              <a:rPr lang="zh-CN" altLang="en-US" sz="2400" dirty="0">
                <a:latin typeface="Verdana" pitchFamily="34" charset="0"/>
                <a:ea typeface="楷体_GB2312" pitchFamily="49" charset="-122"/>
              </a:rPr>
              <a:t>个字符作为该数据块的开头与结束标志及整个传输过程的控制信息</a:t>
            </a:r>
            <a:r>
              <a:rPr lang="en-US" altLang="zh-CN" sz="2400" dirty="0">
                <a:latin typeface="Verdana" pitchFamily="34" charset="0"/>
                <a:ea typeface="楷体_GB2312" pitchFamily="49" charset="-122"/>
              </a:rPr>
              <a:t>(</a:t>
            </a:r>
            <a:r>
              <a:rPr lang="zh-CN" altLang="en-US" sz="2400" dirty="0">
                <a:latin typeface="Verdana" pitchFamily="34" charset="0"/>
                <a:ea typeface="楷体_GB2312" pitchFamily="49" charset="-122"/>
              </a:rPr>
              <a:t>通信控制字</a:t>
            </a:r>
            <a:r>
              <a:rPr lang="en-US" altLang="zh-CN" sz="2400" dirty="0">
                <a:latin typeface="Verdana" pitchFamily="34" charset="0"/>
                <a:ea typeface="楷体_GB2312" pitchFamily="49" charset="-122"/>
              </a:rPr>
              <a:t>)</a:t>
            </a:r>
            <a:r>
              <a:rPr lang="zh-CN" altLang="en-US" sz="2400" dirty="0">
                <a:latin typeface="Verdana" pitchFamily="34" charset="0"/>
                <a:ea typeface="楷体_GB2312" pitchFamily="49" charset="-122"/>
              </a:rPr>
              <a:t>。由于被传送的数据块是</a:t>
            </a:r>
            <a:r>
              <a:rPr lang="zh-CN" altLang="en-US" sz="2400" dirty="0">
                <a:solidFill>
                  <a:srgbClr val="0000FF"/>
                </a:solidFill>
                <a:effectLst>
                  <a:outerShdw blurRad="38100" dist="38100" dir="2700000" algn="tl">
                    <a:srgbClr val="C0C0C0"/>
                  </a:outerShdw>
                </a:effectLst>
                <a:latin typeface="Verdana" pitchFamily="34" charset="0"/>
                <a:ea typeface="楷体_GB2312" pitchFamily="49" charset="-122"/>
              </a:rPr>
              <a:t>由字符组成</a:t>
            </a:r>
            <a:r>
              <a:rPr lang="zh-CN" altLang="en-US" sz="2400" dirty="0">
                <a:latin typeface="Verdana" pitchFamily="34" charset="0"/>
                <a:ea typeface="楷体_GB2312" pitchFamily="49" charset="-122"/>
              </a:rPr>
              <a:t>，故被称作</a:t>
            </a:r>
            <a:r>
              <a:rPr lang="zh-CN" altLang="en-US" sz="2400" dirty="0">
                <a:solidFill>
                  <a:srgbClr val="FF3300"/>
                </a:solidFill>
                <a:effectLst>
                  <a:outerShdw blurRad="38100" dist="38100" dir="2700000" algn="tl">
                    <a:srgbClr val="000000">
                      <a:alpha val="43137"/>
                    </a:srgbClr>
                  </a:outerShdw>
                </a:effectLst>
                <a:latin typeface="Verdana" pitchFamily="34" charset="0"/>
                <a:ea typeface="楷体_GB2312" pitchFamily="49" charset="-122"/>
              </a:rPr>
              <a:t>面向字符的协议</a:t>
            </a:r>
            <a:r>
              <a:rPr lang="zh-CN" altLang="en-US" sz="2400" dirty="0">
                <a:latin typeface="Verdana" pitchFamily="34" charset="0"/>
                <a:ea typeface="楷体_GB2312" pitchFamily="49" charset="-122"/>
              </a:rPr>
              <a:t>。</a:t>
            </a:r>
          </a:p>
        </p:txBody>
      </p:sp>
      <p:graphicFrame>
        <p:nvGraphicFramePr>
          <p:cNvPr id="2" name="表格 1"/>
          <p:cNvGraphicFramePr>
            <a:graphicFrameLocks noGrp="1"/>
          </p:cNvGraphicFramePr>
          <p:nvPr>
            <p:extLst>
              <p:ext uri="{D42A27DB-BD31-4B8C-83A1-F6EECF244321}">
                <p14:modId xmlns:p14="http://schemas.microsoft.com/office/powerpoint/2010/main" val="4238324590"/>
              </p:ext>
            </p:extLst>
          </p:nvPr>
        </p:nvGraphicFramePr>
        <p:xfrm>
          <a:off x="5634236" y="3379385"/>
          <a:ext cx="5038327" cy="3017520"/>
        </p:xfrm>
        <a:graphic>
          <a:graphicData uri="http://schemas.openxmlformats.org/drawingml/2006/table">
            <a:tbl>
              <a:tblPr firstRow="1" firstCol="1" bandRow="1"/>
              <a:tblGrid>
                <a:gridCol w="3309109">
                  <a:extLst>
                    <a:ext uri="{9D8B030D-6E8A-4147-A177-3AD203B41FA5}">
                      <a16:colId xmlns:a16="http://schemas.microsoft.com/office/drawing/2014/main" val="20000"/>
                    </a:ext>
                  </a:extLst>
                </a:gridCol>
                <a:gridCol w="860542">
                  <a:extLst>
                    <a:ext uri="{9D8B030D-6E8A-4147-A177-3AD203B41FA5}">
                      <a16:colId xmlns:a16="http://schemas.microsoft.com/office/drawing/2014/main" val="20001"/>
                    </a:ext>
                  </a:extLst>
                </a:gridCol>
                <a:gridCol w="868676">
                  <a:extLst>
                    <a:ext uri="{9D8B030D-6E8A-4147-A177-3AD203B41FA5}">
                      <a16:colId xmlns:a16="http://schemas.microsoft.com/office/drawing/2014/main" val="20002"/>
                    </a:ext>
                  </a:extLst>
                </a:gridCol>
              </a:tblGrid>
              <a:tr h="274320">
                <a:tc>
                  <a:txBody>
                    <a:bodyPr/>
                    <a:lstStyle/>
                    <a:p>
                      <a:pPr algn="ctr">
                        <a:lnSpc>
                          <a:spcPts val="1800"/>
                        </a:lnSpc>
                        <a:spcAft>
                          <a:spcPts val="0"/>
                        </a:spcAft>
                      </a:pPr>
                      <a:r>
                        <a:rPr lang="zh-CN" sz="1400" b="1" kern="100" dirty="0">
                          <a:solidFill>
                            <a:srgbClr val="FF0000"/>
                          </a:solidFill>
                          <a:effectLst/>
                          <a:latin typeface="Times New Roman"/>
                          <a:ea typeface="宋体"/>
                          <a:cs typeface="Times New Roman"/>
                        </a:rPr>
                        <a:t>符号名称</a:t>
                      </a:r>
                      <a:endParaRPr lang="zh-CN" sz="1400" b="1" kern="100" dirty="0">
                        <a:solidFill>
                          <a:srgbClr val="FF0000"/>
                        </a:solidFill>
                        <a:effectLst/>
                        <a:latin typeface="Calibri"/>
                        <a:ea typeface="宋体"/>
                        <a:cs typeface="Times New Roman"/>
                      </a:endParaRPr>
                    </a:p>
                  </a:txBody>
                  <a:tcPr marL="68586" marR="6858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b="1" kern="100" dirty="0">
                          <a:solidFill>
                            <a:srgbClr val="FF0000"/>
                          </a:solidFill>
                          <a:effectLst/>
                          <a:latin typeface="Times New Roman"/>
                          <a:ea typeface="宋体"/>
                          <a:cs typeface="Times New Roman"/>
                        </a:rPr>
                        <a:t>十进制</a:t>
                      </a:r>
                      <a:endParaRPr lang="zh-CN" sz="1400" b="1" kern="100" dirty="0">
                        <a:solidFill>
                          <a:srgbClr val="FF0000"/>
                        </a:solidFill>
                        <a:effectLst/>
                        <a:latin typeface="Calibri"/>
                        <a:ea typeface="宋体"/>
                        <a:cs typeface="Times New Roman"/>
                      </a:endParaRPr>
                    </a:p>
                  </a:txBody>
                  <a:tcPr marL="68586" marR="6858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b="1" kern="100" dirty="0">
                          <a:solidFill>
                            <a:srgbClr val="FF0000"/>
                          </a:solidFill>
                          <a:effectLst/>
                          <a:latin typeface="Times New Roman"/>
                          <a:ea typeface="宋体"/>
                          <a:cs typeface="Times New Roman"/>
                        </a:rPr>
                        <a:t>十六进制</a:t>
                      </a:r>
                      <a:endParaRPr lang="zh-CN" sz="1400" b="1" kern="100" dirty="0">
                        <a:solidFill>
                          <a:srgbClr val="FF0000"/>
                        </a:solidFill>
                        <a:effectLst/>
                        <a:latin typeface="Calibri"/>
                        <a:ea typeface="宋体"/>
                        <a:cs typeface="Times New Roman"/>
                      </a:endParaRPr>
                    </a:p>
                  </a:txBody>
                  <a:tcPr marL="68586" marR="6858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74320">
                <a:tc>
                  <a:txBody>
                    <a:bodyPr/>
                    <a:lstStyle/>
                    <a:p>
                      <a:pPr algn="just">
                        <a:lnSpc>
                          <a:spcPts val="1800"/>
                        </a:lnSpc>
                        <a:spcAft>
                          <a:spcPts val="0"/>
                        </a:spcAft>
                      </a:pPr>
                      <a:r>
                        <a:rPr lang="en-US" sz="1400" kern="100" dirty="0">
                          <a:effectLst/>
                          <a:latin typeface="Times New Roman"/>
                          <a:ea typeface="宋体"/>
                          <a:cs typeface="Times New Roman"/>
                        </a:rPr>
                        <a:t>SOH</a:t>
                      </a:r>
                      <a:r>
                        <a:rPr lang="zh-CN" sz="1400" kern="100" dirty="0">
                          <a:effectLst/>
                          <a:latin typeface="Times New Roman"/>
                          <a:ea typeface="宋体"/>
                          <a:cs typeface="Times New Roman"/>
                        </a:rPr>
                        <a:t>（</a:t>
                      </a:r>
                      <a:r>
                        <a:rPr lang="en-US" sz="1400" kern="0" dirty="0">
                          <a:effectLst/>
                          <a:latin typeface="Times New Roman"/>
                          <a:ea typeface="宋体"/>
                          <a:cs typeface="Times New Roman"/>
                        </a:rPr>
                        <a:t>start of headline </a:t>
                      </a:r>
                      <a:r>
                        <a:rPr lang="zh-CN" sz="1400" kern="0" dirty="0">
                          <a:effectLst/>
                          <a:latin typeface="Times New Roman"/>
                          <a:ea typeface="宋体"/>
                          <a:cs typeface="Times New Roman"/>
                        </a:rPr>
                        <a:t>标题开始）</a:t>
                      </a:r>
                      <a:endParaRPr lang="zh-CN" sz="1400" kern="100" dirty="0">
                        <a:effectLst/>
                        <a:latin typeface="Calibri"/>
                        <a:ea typeface="宋体"/>
                        <a:cs typeface="Times New Roman"/>
                      </a:endParaRPr>
                    </a:p>
                  </a:txBody>
                  <a:tcPr marL="68586" marR="6858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effectLst/>
                          <a:latin typeface="Times New Roman"/>
                          <a:ea typeface="宋体"/>
                          <a:cs typeface="Times New Roman"/>
                        </a:rPr>
                        <a:t>1</a:t>
                      </a:r>
                      <a:endParaRPr lang="zh-CN" sz="1400" kern="100">
                        <a:effectLst/>
                        <a:latin typeface="Calibri"/>
                        <a:ea typeface="宋体"/>
                        <a:cs typeface="Times New Roman"/>
                      </a:endParaRPr>
                    </a:p>
                  </a:txBody>
                  <a:tcPr marL="68586" marR="6858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effectLst/>
                          <a:latin typeface="Times New Roman"/>
                          <a:ea typeface="宋体"/>
                          <a:cs typeface="Times New Roman"/>
                        </a:rPr>
                        <a:t>01</a:t>
                      </a:r>
                      <a:endParaRPr lang="zh-CN" sz="1400" kern="100">
                        <a:effectLst/>
                        <a:latin typeface="Calibri"/>
                        <a:ea typeface="宋体"/>
                        <a:cs typeface="Times New Roman"/>
                      </a:endParaRPr>
                    </a:p>
                  </a:txBody>
                  <a:tcPr marL="68586" marR="6858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74320">
                <a:tc>
                  <a:txBody>
                    <a:bodyPr/>
                    <a:lstStyle/>
                    <a:p>
                      <a:pPr algn="just">
                        <a:lnSpc>
                          <a:spcPts val="1800"/>
                        </a:lnSpc>
                        <a:spcAft>
                          <a:spcPts val="0"/>
                        </a:spcAft>
                      </a:pPr>
                      <a:r>
                        <a:rPr lang="en-US" sz="1400" kern="100">
                          <a:effectLst/>
                          <a:latin typeface="Times New Roman"/>
                          <a:ea typeface="宋体"/>
                          <a:cs typeface="Times New Roman"/>
                        </a:rPr>
                        <a:t>STX</a:t>
                      </a:r>
                      <a:r>
                        <a:rPr lang="zh-CN" sz="1400" kern="100">
                          <a:effectLst/>
                          <a:latin typeface="Times New Roman"/>
                          <a:ea typeface="宋体"/>
                          <a:cs typeface="Times New Roman"/>
                        </a:rPr>
                        <a:t>（</a:t>
                      </a:r>
                      <a:r>
                        <a:rPr lang="en-US" sz="1400" kern="0">
                          <a:effectLst/>
                          <a:latin typeface="Times New Roman"/>
                          <a:ea typeface="宋体"/>
                          <a:cs typeface="Times New Roman"/>
                        </a:rPr>
                        <a:t>start of text </a:t>
                      </a:r>
                      <a:r>
                        <a:rPr lang="zh-CN" sz="1400" kern="0">
                          <a:effectLst/>
                          <a:latin typeface="Times New Roman"/>
                          <a:ea typeface="宋体"/>
                          <a:cs typeface="Times New Roman"/>
                        </a:rPr>
                        <a:t>正文开始）</a:t>
                      </a:r>
                      <a:endParaRPr lang="zh-CN" sz="1400" kern="100">
                        <a:effectLst/>
                        <a:latin typeface="Calibri"/>
                        <a:ea typeface="宋体"/>
                        <a:cs typeface="Times New Roman"/>
                      </a:endParaRPr>
                    </a:p>
                  </a:txBody>
                  <a:tcPr marL="68586" marR="6858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effectLst/>
                          <a:latin typeface="Times New Roman"/>
                          <a:ea typeface="宋体"/>
                          <a:cs typeface="Times New Roman"/>
                        </a:rPr>
                        <a:t>2</a:t>
                      </a:r>
                      <a:endParaRPr lang="zh-CN" sz="1400" kern="100">
                        <a:effectLst/>
                        <a:latin typeface="Calibri"/>
                        <a:ea typeface="宋体"/>
                        <a:cs typeface="Times New Roman"/>
                      </a:endParaRPr>
                    </a:p>
                  </a:txBody>
                  <a:tcPr marL="68586" marR="6858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effectLst/>
                          <a:latin typeface="Times New Roman"/>
                          <a:ea typeface="宋体"/>
                          <a:cs typeface="Times New Roman"/>
                        </a:rPr>
                        <a:t>02</a:t>
                      </a:r>
                      <a:endParaRPr lang="zh-CN" sz="1400" kern="100">
                        <a:effectLst/>
                        <a:latin typeface="Calibri"/>
                        <a:ea typeface="宋体"/>
                        <a:cs typeface="Times New Roman"/>
                      </a:endParaRPr>
                    </a:p>
                  </a:txBody>
                  <a:tcPr marL="68586" marR="6858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74320">
                <a:tc>
                  <a:txBody>
                    <a:bodyPr/>
                    <a:lstStyle/>
                    <a:p>
                      <a:pPr algn="just">
                        <a:lnSpc>
                          <a:spcPts val="1800"/>
                        </a:lnSpc>
                        <a:spcAft>
                          <a:spcPts val="0"/>
                        </a:spcAft>
                      </a:pPr>
                      <a:r>
                        <a:rPr lang="en-US" sz="1400" kern="100" dirty="0">
                          <a:effectLst/>
                          <a:latin typeface="Times New Roman"/>
                          <a:ea typeface="宋体"/>
                          <a:cs typeface="Times New Roman"/>
                        </a:rPr>
                        <a:t>ETX</a:t>
                      </a:r>
                      <a:r>
                        <a:rPr lang="zh-CN" sz="1400" kern="100" dirty="0">
                          <a:effectLst/>
                          <a:latin typeface="Times New Roman"/>
                          <a:ea typeface="宋体"/>
                          <a:cs typeface="Times New Roman"/>
                        </a:rPr>
                        <a:t>（</a:t>
                      </a:r>
                      <a:r>
                        <a:rPr lang="en-US" sz="1400" kern="0" dirty="0">
                          <a:effectLst/>
                          <a:latin typeface="Times New Roman"/>
                          <a:ea typeface="宋体"/>
                          <a:cs typeface="Times New Roman"/>
                        </a:rPr>
                        <a:t>end of text </a:t>
                      </a:r>
                      <a:r>
                        <a:rPr lang="zh-CN" sz="1400" kern="0" dirty="0">
                          <a:effectLst/>
                          <a:latin typeface="Times New Roman"/>
                          <a:ea typeface="宋体"/>
                          <a:cs typeface="Times New Roman"/>
                        </a:rPr>
                        <a:t>正文结束）</a:t>
                      </a:r>
                      <a:endParaRPr lang="zh-CN" sz="1400" kern="100" dirty="0">
                        <a:effectLst/>
                        <a:latin typeface="Calibri"/>
                        <a:ea typeface="宋体"/>
                        <a:cs typeface="Times New Roman"/>
                      </a:endParaRPr>
                    </a:p>
                  </a:txBody>
                  <a:tcPr marL="68586" marR="6858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effectLst/>
                          <a:latin typeface="Times New Roman"/>
                          <a:ea typeface="宋体"/>
                          <a:cs typeface="Times New Roman"/>
                        </a:rPr>
                        <a:t>3</a:t>
                      </a:r>
                      <a:endParaRPr lang="zh-CN" sz="1400" kern="100">
                        <a:effectLst/>
                        <a:latin typeface="Calibri"/>
                        <a:ea typeface="宋体"/>
                        <a:cs typeface="Times New Roman"/>
                      </a:endParaRPr>
                    </a:p>
                  </a:txBody>
                  <a:tcPr marL="68586" marR="6858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dirty="0">
                          <a:effectLst/>
                          <a:latin typeface="Times New Roman"/>
                          <a:ea typeface="宋体"/>
                          <a:cs typeface="Times New Roman"/>
                        </a:rPr>
                        <a:t>03</a:t>
                      </a:r>
                      <a:endParaRPr lang="zh-CN" sz="1400" kern="100" dirty="0">
                        <a:effectLst/>
                        <a:latin typeface="Calibri"/>
                        <a:ea typeface="宋体"/>
                        <a:cs typeface="Times New Roman"/>
                      </a:endParaRPr>
                    </a:p>
                  </a:txBody>
                  <a:tcPr marL="68586" marR="6858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74320">
                <a:tc>
                  <a:txBody>
                    <a:bodyPr/>
                    <a:lstStyle/>
                    <a:p>
                      <a:pPr algn="just">
                        <a:lnSpc>
                          <a:spcPts val="1800"/>
                        </a:lnSpc>
                        <a:spcAft>
                          <a:spcPts val="0"/>
                        </a:spcAft>
                      </a:pPr>
                      <a:r>
                        <a:rPr lang="en-US" sz="1400" kern="100" dirty="0">
                          <a:effectLst/>
                          <a:latin typeface="Times New Roman"/>
                          <a:ea typeface="宋体"/>
                          <a:cs typeface="Times New Roman"/>
                        </a:rPr>
                        <a:t>EOT</a:t>
                      </a:r>
                      <a:r>
                        <a:rPr lang="zh-CN" sz="1400" kern="100" dirty="0">
                          <a:effectLst/>
                          <a:latin typeface="Times New Roman"/>
                          <a:ea typeface="宋体"/>
                          <a:cs typeface="Times New Roman"/>
                        </a:rPr>
                        <a:t>（</a:t>
                      </a:r>
                      <a:r>
                        <a:rPr lang="en-US" sz="1400" kern="0" dirty="0">
                          <a:effectLst/>
                          <a:latin typeface="Times New Roman"/>
                          <a:ea typeface="宋体"/>
                          <a:cs typeface="Times New Roman"/>
                        </a:rPr>
                        <a:t>end of transmission</a:t>
                      </a:r>
                      <a:r>
                        <a:rPr lang="zh-CN" sz="1400" kern="0" dirty="0">
                          <a:effectLst/>
                          <a:latin typeface="Times New Roman"/>
                          <a:ea typeface="宋体"/>
                          <a:cs typeface="Times New Roman"/>
                        </a:rPr>
                        <a:t>传输结束）</a:t>
                      </a:r>
                      <a:endParaRPr lang="zh-CN" sz="1400" kern="100" dirty="0">
                        <a:effectLst/>
                        <a:latin typeface="Calibri"/>
                        <a:ea typeface="宋体"/>
                        <a:cs typeface="Times New Roman"/>
                      </a:endParaRPr>
                    </a:p>
                  </a:txBody>
                  <a:tcPr marL="68586" marR="6858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effectLst/>
                          <a:latin typeface="Times New Roman"/>
                          <a:ea typeface="宋体"/>
                          <a:cs typeface="Times New Roman"/>
                        </a:rPr>
                        <a:t>4</a:t>
                      </a:r>
                      <a:endParaRPr lang="zh-CN" sz="1400" kern="100">
                        <a:effectLst/>
                        <a:latin typeface="Calibri"/>
                        <a:ea typeface="宋体"/>
                        <a:cs typeface="Times New Roman"/>
                      </a:endParaRPr>
                    </a:p>
                  </a:txBody>
                  <a:tcPr marL="68586" marR="6858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effectLst/>
                          <a:latin typeface="Times New Roman"/>
                          <a:ea typeface="宋体"/>
                          <a:cs typeface="Times New Roman"/>
                        </a:rPr>
                        <a:t>04</a:t>
                      </a:r>
                      <a:endParaRPr lang="zh-CN" sz="1400" kern="100">
                        <a:effectLst/>
                        <a:latin typeface="Calibri"/>
                        <a:ea typeface="宋体"/>
                        <a:cs typeface="Times New Roman"/>
                      </a:endParaRPr>
                    </a:p>
                  </a:txBody>
                  <a:tcPr marL="68586" marR="6858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274320">
                <a:tc>
                  <a:txBody>
                    <a:bodyPr/>
                    <a:lstStyle/>
                    <a:p>
                      <a:pPr algn="just">
                        <a:lnSpc>
                          <a:spcPts val="1800"/>
                        </a:lnSpc>
                        <a:spcAft>
                          <a:spcPts val="0"/>
                        </a:spcAft>
                      </a:pPr>
                      <a:r>
                        <a:rPr lang="en-US" sz="1400" kern="100" dirty="0">
                          <a:effectLst/>
                          <a:latin typeface="Times New Roman"/>
                          <a:ea typeface="宋体"/>
                          <a:cs typeface="Times New Roman"/>
                        </a:rPr>
                        <a:t>ENQ</a:t>
                      </a:r>
                      <a:r>
                        <a:rPr lang="zh-CN" sz="1400" kern="100" dirty="0">
                          <a:effectLst/>
                          <a:latin typeface="Times New Roman"/>
                          <a:ea typeface="宋体"/>
                          <a:cs typeface="Times New Roman"/>
                        </a:rPr>
                        <a:t>（</a:t>
                      </a:r>
                      <a:r>
                        <a:rPr lang="en-US" sz="1400" kern="0" dirty="0">
                          <a:effectLst/>
                          <a:latin typeface="Times New Roman"/>
                          <a:ea typeface="宋体"/>
                          <a:cs typeface="Times New Roman"/>
                        </a:rPr>
                        <a:t>enquiry </a:t>
                      </a:r>
                      <a:r>
                        <a:rPr lang="zh-CN" sz="1400" kern="0" dirty="0">
                          <a:effectLst/>
                          <a:latin typeface="Times New Roman"/>
                          <a:ea typeface="宋体"/>
                          <a:cs typeface="Times New Roman"/>
                        </a:rPr>
                        <a:t>请求）</a:t>
                      </a:r>
                      <a:endParaRPr lang="zh-CN" sz="1400" kern="100" dirty="0">
                        <a:effectLst/>
                        <a:latin typeface="Calibri"/>
                        <a:ea typeface="宋体"/>
                        <a:cs typeface="Times New Roman"/>
                      </a:endParaRPr>
                    </a:p>
                  </a:txBody>
                  <a:tcPr marL="68586" marR="6858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dirty="0">
                          <a:effectLst/>
                          <a:latin typeface="Times New Roman"/>
                          <a:ea typeface="宋体"/>
                          <a:cs typeface="Times New Roman"/>
                        </a:rPr>
                        <a:t>5</a:t>
                      </a:r>
                      <a:endParaRPr lang="zh-CN" sz="1400" kern="100" dirty="0">
                        <a:effectLst/>
                        <a:latin typeface="Calibri"/>
                        <a:ea typeface="宋体"/>
                        <a:cs typeface="Times New Roman"/>
                      </a:endParaRPr>
                    </a:p>
                  </a:txBody>
                  <a:tcPr marL="68586" marR="6858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effectLst/>
                          <a:latin typeface="Times New Roman"/>
                          <a:ea typeface="宋体"/>
                          <a:cs typeface="Times New Roman"/>
                        </a:rPr>
                        <a:t>05</a:t>
                      </a:r>
                      <a:endParaRPr lang="zh-CN" sz="1400" kern="100">
                        <a:effectLst/>
                        <a:latin typeface="Calibri"/>
                        <a:ea typeface="宋体"/>
                        <a:cs typeface="Times New Roman"/>
                      </a:endParaRPr>
                    </a:p>
                  </a:txBody>
                  <a:tcPr marL="68586" marR="6858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274320">
                <a:tc>
                  <a:txBody>
                    <a:bodyPr/>
                    <a:lstStyle/>
                    <a:p>
                      <a:pPr algn="just">
                        <a:lnSpc>
                          <a:spcPts val="1800"/>
                        </a:lnSpc>
                        <a:spcAft>
                          <a:spcPts val="0"/>
                        </a:spcAft>
                      </a:pPr>
                      <a:r>
                        <a:rPr lang="en-US" sz="1400" kern="100" dirty="0">
                          <a:effectLst/>
                          <a:latin typeface="Times New Roman"/>
                          <a:ea typeface="宋体"/>
                          <a:cs typeface="Times New Roman"/>
                        </a:rPr>
                        <a:t>ACK</a:t>
                      </a:r>
                      <a:r>
                        <a:rPr lang="zh-CN" sz="1400" kern="100" dirty="0">
                          <a:effectLst/>
                          <a:latin typeface="Times New Roman"/>
                          <a:ea typeface="宋体"/>
                          <a:cs typeface="Times New Roman"/>
                        </a:rPr>
                        <a:t>（</a:t>
                      </a:r>
                      <a:r>
                        <a:rPr lang="en-US" sz="1400" kern="0" dirty="0">
                          <a:effectLst/>
                          <a:latin typeface="Times New Roman"/>
                          <a:ea typeface="宋体"/>
                          <a:cs typeface="Times New Roman"/>
                        </a:rPr>
                        <a:t>acknowledge </a:t>
                      </a:r>
                      <a:r>
                        <a:rPr lang="zh-CN" sz="1400" kern="0" dirty="0">
                          <a:effectLst/>
                          <a:latin typeface="Times New Roman"/>
                          <a:ea typeface="宋体"/>
                          <a:cs typeface="Times New Roman"/>
                        </a:rPr>
                        <a:t>收到通知）</a:t>
                      </a:r>
                      <a:endParaRPr lang="zh-CN" sz="1400" kern="100" dirty="0">
                        <a:effectLst/>
                        <a:latin typeface="Calibri"/>
                        <a:ea typeface="宋体"/>
                        <a:cs typeface="Times New Roman"/>
                      </a:endParaRPr>
                    </a:p>
                  </a:txBody>
                  <a:tcPr marL="68586" marR="6858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dirty="0">
                          <a:effectLst/>
                          <a:latin typeface="Times New Roman"/>
                          <a:ea typeface="宋体"/>
                          <a:cs typeface="Times New Roman"/>
                        </a:rPr>
                        <a:t>6</a:t>
                      </a:r>
                      <a:endParaRPr lang="zh-CN" sz="1400" kern="100" dirty="0">
                        <a:effectLst/>
                        <a:latin typeface="Calibri"/>
                        <a:ea typeface="宋体"/>
                        <a:cs typeface="Times New Roman"/>
                      </a:endParaRPr>
                    </a:p>
                  </a:txBody>
                  <a:tcPr marL="68586" marR="6858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effectLst/>
                          <a:latin typeface="Times New Roman"/>
                          <a:ea typeface="宋体"/>
                          <a:cs typeface="Times New Roman"/>
                        </a:rPr>
                        <a:t>06</a:t>
                      </a:r>
                      <a:endParaRPr lang="zh-CN" sz="1400" kern="100">
                        <a:effectLst/>
                        <a:latin typeface="Calibri"/>
                        <a:ea typeface="宋体"/>
                        <a:cs typeface="Times New Roman"/>
                      </a:endParaRPr>
                    </a:p>
                  </a:txBody>
                  <a:tcPr marL="68586" marR="6858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274320">
                <a:tc>
                  <a:txBody>
                    <a:bodyPr/>
                    <a:lstStyle/>
                    <a:p>
                      <a:pPr algn="just">
                        <a:spcAft>
                          <a:spcPts val="0"/>
                        </a:spcAft>
                      </a:pPr>
                      <a:r>
                        <a:rPr lang="en-US" sz="1400" kern="100">
                          <a:effectLst/>
                          <a:latin typeface="Times New Roman"/>
                          <a:ea typeface="宋体"/>
                          <a:cs typeface="Times New Roman"/>
                        </a:rPr>
                        <a:t>DLE</a:t>
                      </a:r>
                      <a:r>
                        <a:rPr lang="zh-CN" sz="1400" kern="100">
                          <a:effectLst/>
                          <a:latin typeface="Times New Roman"/>
                          <a:ea typeface="宋体"/>
                          <a:cs typeface="Times New Roman"/>
                        </a:rPr>
                        <a:t>（</a:t>
                      </a:r>
                      <a:r>
                        <a:rPr lang="en-US" sz="1400" kern="100">
                          <a:effectLst/>
                          <a:latin typeface="Times New Roman"/>
                          <a:ea typeface="宋体"/>
                          <a:cs typeface="Times New Roman"/>
                        </a:rPr>
                        <a:t>data link escape </a:t>
                      </a:r>
                      <a:r>
                        <a:rPr lang="zh-CN" sz="1400" kern="100">
                          <a:effectLst/>
                          <a:latin typeface="Times New Roman"/>
                          <a:ea typeface="宋体"/>
                          <a:cs typeface="Times New Roman"/>
                        </a:rPr>
                        <a:t>数据链路转义）</a:t>
                      </a:r>
                      <a:endParaRPr lang="zh-CN" sz="1400" kern="100">
                        <a:effectLst/>
                        <a:latin typeface="Calibri"/>
                        <a:ea typeface="宋体"/>
                        <a:cs typeface="Times New Roman"/>
                      </a:endParaRPr>
                    </a:p>
                  </a:txBody>
                  <a:tcPr marL="68586" marR="6858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dirty="0">
                          <a:effectLst/>
                          <a:latin typeface="Times New Roman"/>
                          <a:ea typeface="宋体"/>
                          <a:cs typeface="Times New Roman"/>
                        </a:rPr>
                        <a:t>16</a:t>
                      </a:r>
                      <a:endParaRPr lang="zh-CN" sz="1400" kern="100" dirty="0">
                        <a:effectLst/>
                        <a:latin typeface="Calibri"/>
                        <a:ea typeface="宋体"/>
                        <a:cs typeface="Times New Roman"/>
                      </a:endParaRPr>
                    </a:p>
                  </a:txBody>
                  <a:tcPr marL="68586" marR="6858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effectLst/>
                          <a:latin typeface="Times New Roman"/>
                          <a:ea typeface="宋体"/>
                          <a:cs typeface="Times New Roman"/>
                        </a:rPr>
                        <a:t>10</a:t>
                      </a:r>
                      <a:endParaRPr lang="zh-CN" sz="1400" kern="100">
                        <a:effectLst/>
                        <a:latin typeface="Calibri"/>
                        <a:ea typeface="宋体"/>
                        <a:cs typeface="Times New Roman"/>
                      </a:endParaRPr>
                    </a:p>
                  </a:txBody>
                  <a:tcPr marL="68586" marR="6858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274320">
                <a:tc>
                  <a:txBody>
                    <a:bodyPr/>
                    <a:lstStyle/>
                    <a:p>
                      <a:pPr algn="just">
                        <a:lnSpc>
                          <a:spcPts val="1800"/>
                        </a:lnSpc>
                        <a:spcAft>
                          <a:spcPts val="0"/>
                        </a:spcAft>
                      </a:pPr>
                      <a:r>
                        <a:rPr lang="en-US" sz="1400" kern="100">
                          <a:effectLst/>
                          <a:latin typeface="Times New Roman"/>
                          <a:ea typeface="宋体"/>
                          <a:cs typeface="Times New Roman"/>
                        </a:rPr>
                        <a:t>NAK</a:t>
                      </a:r>
                      <a:r>
                        <a:rPr lang="zh-CN" sz="1400" kern="100">
                          <a:effectLst/>
                          <a:latin typeface="Times New Roman"/>
                          <a:ea typeface="宋体"/>
                          <a:cs typeface="Times New Roman"/>
                        </a:rPr>
                        <a:t>（</a:t>
                      </a:r>
                      <a:r>
                        <a:rPr lang="en-US" sz="1400" kern="0">
                          <a:effectLst/>
                          <a:latin typeface="Times New Roman"/>
                          <a:ea typeface="宋体"/>
                          <a:cs typeface="Times New Roman"/>
                        </a:rPr>
                        <a:t>negative acknowledge </a:t>
                      </a:r>
                      <a:r>
                        <a:rPr lang="zh-CN" sz="1400" kern="0">
                          <a:effectLst/>
                          <a:latin typeface="Times New Roman"/>
                          <a:ea typeface="宋体"/>
                          <a:cs typeface="Times New Roman"/>
                        </a:rPr>
                        <a:t>拒绝接收）</a:t>
                      </a:r>
                      <a:endParaRPr lang="zh-CN" sz="1400" kern="100">
                        <a:effectLst/>
                        <a:latin typeface="Calibri"/>
                        <a:ea typeface="宋体"/>
                        <a:cs typeface="Times New Roman"/>
                      </a:endParaRPr>
                    </a:p>
                  </a:txBody>
                  <a:tcPr marL="68586" marR="6858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dirty="0">
                          <a:effectLst/>
                          <a:latin typeface="Times New Roman"/>
                          <a:ea typeface="宋体"/>
                          <a:cs typeface="Times New Roman"/>
                        </a:rPr>
                        <a:t>21</a:t>
                      </a:r>
                      <a:endParaRPr lang="zh-CN" sz="1400" kern="100" dirty="0">
                        <a:effectLst/>
                        <a:latin typeface="Calibri"/>
                        <a:ea typeface="宋体"/>
                        <a:cs typeface="Times New Roman"/>
                      </a:endParaRPr>
                    </a:p>
                  </a:txBody>
                  <a:tcPr marL="68586" marR="6858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effectLst/>
                          <a:latin typeface="Times New Roman"/>
                          <a:ea typeface="宋体"/>
                          <a:cs typeface="Times New Roman"/>
                        </a:rPr>
                        <a:t>15</a:t>
                      </a:r>
                      <a:endParaRPr lang="zh-CN" sz="1400" kern="100">
                        <a:effectLst/>
                        <a:latin typeface="Calibri"/>
                        <a:ea typeface="宋体"/>
                        <a:cs typeface="Times New Roman"/>
                      </a:endParaRPr>
                    </a:p>
                  </a:txBody>
                  <a:tcPr marL="68586" marR="6858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274320">
                <a:tc>
                  <a:txBody>
                    <a:bodyPr/>
                    <a:lstStyle/>
                    <a:p>
                      <a:pPr algn="just">
                        <a:spcAft>
                          <a:spcPts val="0"/>
                        </a:spcAft>
                      </a:pPr>
                      <a:r>
                        <a:rPr lang="en-US" sz="1400" kern="100" dirty="0">
                          <a:effectLst/>
                          <a:latin typeface="Times New Roman"/>
                          <a:ea typeface="宋体"/>
                          <a:cs typeface="Times New Roman"/>
                        </a:rPr>
                        <a:t>SYN</a:t>
                      </a:r>
                      <a:r>
                        <a:rPr lang="zh-CN" sz="1400" kern="100" dirty="0">
                          <a:effectLst/>
                          <a:latin typeface="Times New Roman"/>
                          <a:ea typeface="宋体"/>
                          <a:cs typeface="Times New Roman"/>
                        </a:rPr>
                        <a:t>（</a:t>
                      </a:r>
                      <a:r>
                        <a:rPr lang="en-US" sz="1400" kern="100" dirty="0">
                          <a:effectLst/>
                          <a:latin typeface="Times New Roman"/>
                          <a:ea typeface="宋体"/>
                          <a:cs typeface="Times New Roman"/>
                        </a:rPr>
                        <a:t>(synchronous idle </a:t>
                      </a:r>
                      <a:r>
                        <a:rPr lang="zh-CN" sz="1400" kern="100" dirty="0">
                          <a:effectLst/>
                          <a:latin typeface="Times New Roman"/>
                          <a:ea typeface="宋体"/>
                          <a:cs typeface="Times New Roman"/>
                        </a:rPr>
                        <a:t>同步空闲）</a:t>
                      </a:r>
                      <a:endParaRPr lang="zh-CN" sz="1400" kern="100" dirty="0">
                        <a:effectLst/>
                        <a:latin typeface="Calibri"/>
                        <a:ea typeface="宋体"/>
                        <a:cs typeface="Times New Roman"/>
                      </a:endParaRPr>
                    </a:p>
                  </a:txBody>
                  <a:tcPr marL="68586" marR="6858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dirty="0">
                          <a:effectLst/>
                          <a:latin typeface="Times New Roman"/>
                          <a:ea typeface="宋体"/>
                          <a:cs typeface="Times New Roman"/>
                        </a:rPr>
                        <a:t>22</a:t>
                      </a:r>
                      <a:endParaRPr lang="zh-CN" sz="1400" kern="100" dirty="0">
                        <a:effectLst/>
                        <a:latin typeface="Calibri"/>
                        <a:ea typeface="宋体"/>
                        <a:cs typeface="Times New Roman"/>
                      </a:endParaRPr>
                    </a:p>
                  </a:txBody>
                  <a:tcPr marL="68586" marR="6858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dirty="0">
                          <a:effectLst/>
                          <a:latin typeface="Times New Roman"/>
                          <a:ea typeface="宋体"/>
                          <a:cs typeface="Times New Roman"/>
                        </a:rPr>
                        <a:t>16</a:t>
                      </a:r>
                      <a:endParaRPr lang="zh-CN" sz="1400" kern="100" dirty="0">
                        <a:effectLst/>
                        <a:latin typeface="Calibri"/>
                        <a:ea typeface="宋体"/>
                        <a:cs typeface="Times New Roman"/>
                      </a:endParaRPr>
                    </a:p>
                  </a:txBody>
                  <a:tcPr marL="68586" marR="6858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274320">
                <a:tc>
                  <a:txBody>
                    <a:bodyPr/>
                    <a:lstStyle/>
                    <a:p>
                      <a:pPr algn="just">
                        <a:lnSpc>
                          <a:spcPts val="1800"/>
                        </a:lnSpc>
                        <a:spcAft>
                          <a:spcPts val="0"/>
                        </a:spcAft>
                      </a:pPr>
                      <a:r>
                        <a:rPr lang="en-US" sz="1400" kern="100" dirty="0">
                          <a:effectLst/>
                          <a:latin typeface="Times New Roman"/>
                          <a:ea typeface="宋体"/>
                          <a:cs typeface="Times New Roman"/>
                        </a:rPr>
                        <a:t>ETB</a:t>
                      </a:r>
                      <a:r>
                        <a:rPr lang="zh-CN" sz="1400" kern="100" dirty="0">
                          <a:effectLst/>
                          <a:latin typeface="Times New Roman"/>
                          <a:ea typeface="宋体"/>
                          <a:cs typeface="Times New Roman"/>
                        </a:rPr>
                        <a:t>（</a:t>
                      </a:r>
                      <a:r>
                        <a:rPr lang="en-US" sz="1400" kern="0" dirty="0">
                          <a:effectLst/>
                          <a:latin typeface="Times New Roman"/>
                          <a:ea typeface="宋体"/>
                          <a:cs typeface="Times New Roman"/>
                        </a:rPr>
                        <a:t>end of trans. block </a:t>
                      </a:r>
                      <a:r>
                        <a:rPr lang="zh-CN" sz="1400" kern="0" dirty="0">
                          <a:effectLst/>
                          <a:latin typeface="Times New Roman"/>
                          <a:ea typeface="宋体"/>
                          <a:cs typeface="Times New Roman"/>
                        </a:rPr>
                        <a:t>传输块结束）</a:t>
                      </a:r>
                      <a:endParaRPr lang="zh-CN" sz="1400" kern="100" dirty="0">
                        <a:effectLst/>
                        <a:latin typeface="Calibri"/>
                        <a:ea typeface="宋体"/>
                        <a:cs typeface="Times New Roman"/>
                      </a:endParaRPr>
                    </a:p>
                  </a:txBody>
                  <a:tcPr marL="68586" marR="6858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effectLst/>
                          <a:latin typeface="Times New Roman"/>
                          <a:ea typeface="宋体"/>
                          <a:cs typeface="Times New Roman"/>
                        </a:rPr>
                        <a:t>23</a:t>
                      </a:r>
                      <a:endParaRPr lang="zh-CN" sz="1400" kern="100">
                        <a:effectLst/>
                        <a:latin typeface="Calibri"/>
                        <a:ea typeface="宋体"/>
                        <a:cs typeface="Times New Roman"/>
                      </a:endParaRPr>
                    </a:p>
                  </a:txBody>
                  <a:tcPr marL="68586" marR="6858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dirty="0">
                          <a:effectLst/>
                          <a:latin typeface="Times New Roman"/>
                          <a:ea typeface="宋体"/>
                          <a:cs typeface="Times New Roman"/>
                        </a:rPr>
                        <a:t>17</a:t>
                      </a:r>
                      <a:endParaRPr lang="zh-CN" sz="1400" kern="100" dirty="0">
                        <a:effectLst/>
                        <a:latin typeface="Calibri"/>
                        <a:ea typeface="宋体"/>
                        <a:cs typeface="Times New Roman"/>
                      </a:endParaRPr>
                    </a:p>
                  </a:txBody>
                  <a:tcPr marL="68586" marR="6858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
        <p:nvSpPr>
          <p:cNvPr id="15417" name="矩形 2"/>
          <p:cNvSpPr>
            <a:spLocks noChangeArrowheads="1"/>
          </p:cNvSpPr>
          <p:nvPr/>
        </p:nvSpPr>
        <p:spPr bwMode="auto">
          <a:xfrm>
            <a:off x="2135188" y="3888800"/>
            <a:ext cx="2665412" cy="941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15000"/>
              </a:lnSpc>
              <a:spcBef>
                <a:spcPct val="50000"/>
              </a:spcBef>
              <a:buClrTx/>
              <a:buSzPct val="90000"/>
              <a:buFont typeface="Wingdings" panose="05000000000000000000" pitchFamily="2" charset="2"/>
              <a:buChar char="§"/>
            </a:pPr>
            <a:r>
              <a:rPr lang="zh-CN" altLang="en-US" sz="2400" dirty="0">
                <a:solidFill>
                  <a:srgbClr val="0000FF"/>
                </a:solidFill>
                <a:latin typeface="Verdana" panose="020B0604030504040204" pitchFamily="34" charset="0"/>
                <a:ea typeface="楷体_GB2312" pitchFamily="49" charset="-122"/>
              </a:rPr>
              <a:t> 相关控制字符的</a:t>
            </a:r>
            <a:r>
              <a:rPr lang="en-US" altLang="zh-CN" sz="2400" dirty="0">
                <a:solidFill>
                  <a:srgbClr val="0000FF"/>
                </a:solidFill>
                <a:latin typeface="Verdana" panose="020B0604030504040204" pitchFamily="34" charset="0"/>
                <a:ea typeface="楷体_GB2312" pitchFamily="49" charset="-122"/>
              </a:rPr>
              <a:t>ASCII</a:t>
            </a:r>
            <a:r>
              <a:rPr lang="zh-CN" altLang="en-US" sz="2400" dirty="0">
                <a:solidFill>
                  <a:srgbClr val="0000FF"/>
                </a:solidFill>
                <a:latin typeface="Verdana" panose="020B0604030504040204" pitchFamily="34" charset="0"/>
                <a:ea typeface="楷体_GB2312" pitchFamily="49" charset="-122"/>
              </a:rPr>
              <a:t>定义</a:t>
            </a:r>
            <a:r>
              <a:rPr lang="zh-CN" altLang="en-US" sz="2400" dirty="0">
                <a:latin typeface="Verdana" panose="020B0604030504040204" pitchFamily="34" charset="0"/>
                <a:ea typeface="楷体_GB2312" pitchFamily="49" charset="-122"/>
              </a:rPr>
              <a:t>：</a:t>
            </a:r>
          </a:p>
        </p:txBody>
      </p:sp>
      <p:sp>
        <p:nvSpPr>
          <p:cNvPr id="4" name="Title 3">
            <a:extLst>
              <a:ext uri="{FF2B5EF4-FFF2-40B4-BE49-F238E27FC236}">
                <a16:creationId xmlns:a16="http://schemas.microsoft.com/office/drawing/2014/main" id="{54483407-E6D2-E995-6323-D0E01F542B0E}"/>
              </a:ext>
            </a:extLst>
          </p:cNvPr>
          <p:cNvSpPr>
            <a:spLocks noGrp="1"/>
          </p:cNvSpPr>
          <p:nvPr>
            <p:ph type="title"/>
          </p:nvPr>
        </p:nvSpPr>
        <p:spPr/>
        <p:txBody>
          <a:bodyPr/>
          <a:lstStyle/>
          <a:p>
            <a:r>
              <a:rPr lang="zh-CN" altLang="en-US" dirty="0"/>
              <a:t>成帧（</a:t>
            </a:r>
            <a:r>
              <a:rPr lang="en-US" altLang="zh-CN" dirty="0"/>
              <a:t>Framing</a:t>
            </a:r>
            <a:r>
              <a:rPr lang="zh-CN" altLang="en-US" dirty="0"/>
              <a:t>）</a:t>
            </a:r>
            <a:endParaRPr lang="en-CN" dirty="0"/>
          </a:p>
        </p:txBody>
      </p:sp>
    </p:spTree>
    <p:extLst>
      <p:ext uri="{BB962C8B-B14F-4D97-AF65-F5344CB8AC3E}">
        <p14:creationId xmlns:p14="http://schemas.microsoft.com/office/powerpoint/2010/main" val="279679224"/>
      </p:ext>
    </p:extLst>
  </p:cSld>
  <p:clrMapOvr>
    <a:masterClrMapping/>
  </p:clrMapOvr>
  <p:transition>
    <p:random/>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Computer Network</a:t>
            </a:r>
          </a:p>
        </p:txBody>
      </p:sp>
      <p:sp>
        <p:nvSpPr>
          <p:cNvPr id="16387" name="灯片编号占位符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3CA489E3-FB5D-4E31-A01E-FE3C434B9C04}" type="slidenum">
              <a:rPr lang="en-US" altLang="zh-CN" sz="1200">
                <a:latin typeface="Arial Black" panose="020B0A04020102020204" pitchFamily="34" charset="0"/>
              </a:rPr>
              <a:pPr>
                <a:spcBef>
                  <a:spcPct val="0"/>
                </a:spcBef>
                <a:buClrTx/>
                <a:buSzTx/>
                <a:buFontTx/>
                <a:buNone/>
              </a:pPr>
              <a:t>17</a:t>
            </a:fld>
            <a:endParaRPr lang="en-US" altLang="zh-CN" sz="1200">
              <a:latin typeface="Arial Black" panose="020B0A04020102020204" pitchFamily="34" charset="0"/>
            </a:endParaRPr>
          </a:p>
        </p:txBody>
      </p:sp>
      <p:sp>
        <p:nvSpPr>
          <p:cNvPr id="6" name="日期占位符 5"/>
          <p:cNvSpPr>
            <a:spLocks noGrp="1"/>
          </p:cNvSpPr>
          <p:nvPr>
            <p:ph type="dt" sz="quarter" idx="12"/>
          </p:nvPr>
        </p:nvSpPr>
        <p:spPr/>
        <p:txBody>
          <a:bodyPr/>
          <a:lstStyle/>
          <a:p>
            <a:pPr>
              <a:defRPr/>
            </a:pPr>
            <a:fld id="{100BD884-D45D-4C95-95D6-C700520D6AA6}" type="datetime1">
              <a:rPr lang="zh-CN" altLang="en-US" smtClean="0"/>
              <a:pPr>
                <a:defRPr/>
              </a:pPr>
              <a:t>2024/10/18</a:t>
            </a:fld>
            <a:endParaRPr lang="en-US" altLang="zh-CN"/>
          </a:p>
        </p:txBody>
      </p:sp>
      <p:pic>
        <p:nvPicPr>
          <p:cNvPr id="16389"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55800" y="1255713"/>
            <a:ext cx="8280400" cy="560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2" name="Title 3">
            <a:extLst>
              <a:ext uri="{FF2B5EF4-FFF2-40B4-BE49-F238E27FC236}">
                <a16:creationId xmlns:a16="http://schemas.microsoft.com/office/drawing/2014/main" id="{C5941E74-F17D-0C49-6ADD-CBE1783B6170}"/>
              </a:ext>
            </a:extLst>
          </p:cNvPr>
          <p:cNvSpPr>
            <a:spLocks noGrp="1"/>
          </p:cNvSpPr>
          <p:nvPr>
            <p:ph type="title"/>
          </p:nvPr>
        </p:nvSpPr>
        <p:spPr>
          <a:xfrm>
            <a:off x="1307508" y="365126"/>
            <a:ext cx="8220812" cy="879086"/>
          </a:xfrm>
        </p:spPr>
        <p:txBody>
          <a:bodyPr/>
          <a:lstStyle/>
          <a:p>
            <a:r>
              <a:rPr lang="zh-CN" altLang="en-US" dirty="0"/>
              <a:t>成帧（</a:t>
            </a:r>
            <a:r>
              <a:rPr lang="en-US" altLang="zh-CN" dirty="0"/>
              <a:t>Framing</a:t>
            </a:r>
            <a:r>
              <a:rPr lang="zh-CN" altLang="en-US" dirty="0"/>
              <a:t>）</a:t>
            </a:r>
            <a:endParaRPr lang="en-CN" dirty="0"/>
          </a:p>
        </p:txBody>
      </p:sp>
    </p:spTree>
    <p:extLst>
      <p:ext uri="{BB962C8B-B14F-4D97-AF65-F5344CB8AC3E}">
        <p14:creationId xmlns:p14="http://schemas.microsoft.com/office/powerpoint/2010/main" val="13226108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成帧（</a:t>
            </a:r>
            <a:r>
              <a:rPr lang="en-US" altLang="zh-CN" dirty="0"/>
              <a:t>Framing</a:t>
            </a:r>
            <a:r>
              <a:rPr lang="zh-CN" altLang="en-US" dirty="0"/>
              <a:t>）</a:t>
            </a:r>
          </a:p>
        </p:txBody>
      </p:sp>
      <p:sp>
        <p:nvSpPr>
          <p:cNvPr id="3" name="内容占位符 2"/>
          <p:cNvSpPr>
            <a:spLocks noGrp="1"/>
          </p:cNvSpPr>
          <p:nvPr>
            <p:ph idx="1"/>
          </p:nvPr>
        </p:nvSpPr>
        <p:spPr/>
        <p:txBody>
          <a:bodyPr/>
          <a:lstStyle/>
          <a:p>
            <a:pPr>
              <a:lnSpc>
                <a:spcPts val="3600"/>
              </a:lnSpc>
              <a:spcBef>
                <a:spcPts val="1200"/>
              </a:spcBef>
            </a:pPr>
            <a:r>
              <a:rPr lang="zh-CN" altLang="en-US" dirty="0">
                <a:solidFill>
                  <a:srgbClr val="C00000"/>
                </a:solidFill>
              </a:rPr>
              <a:t>带</a:t>
            </a:r>
            <a:r>
              <a:rPr lang="zh-CN" altLang="en-US" b="1" dirty="0">
                <a:solidFill>
                  <a:srgbClr val="C00000"/>
                </a:solidFill>
              </a:rPr>
              <a:t>比特</a:t>
            </a:r>
            <a:r>
              <a:rPr lang="zh-CN" altLang="en-US" dirty="0">
                <a:solidFill>
                  <a:srgbClr val="C00000"/>
                </a:solidFill>
              </a:rPr>
              <a:t>填充的定界符法</a:t>
            </a:r>
            <a:endParaRPr lang="en-US" altLang="zh-CN" dirty="0">
              <a:solidFill>
                <a:srgbClr val="C00000"/>
              </a:solidFill>
            </a:endParaRPr>
          </a:p>
          <a:p>
            <a:pPr lvl="1">
              <a:lnSpc>
                <a:spcPts val="3600"/>
              </a:lnSpc>
              <a:spcBef>
                <a:spcPts val="1200"/>
              </a:spcBef>
            </a:pPr>
            <a:r>
              <a:rPr lang="zh-CN" altLang="en-US" dirty="0"/>
              <a:t>定界符：两个</a:t>
            </a:r>
            <a:r>
              <a:rPr lang="en-US" altLang="zh-CN" dirty="0"/>
              <a:t>0</a:t>
            </a:r>
            <a:r>
              <a:rPr lang="zh-CN" altLang="en-US" dirty="0"/>
              <a:t>比特之间，连续</a:t>
            </a:r>
            <a:r>
              <a:rPr lang="en-US" altLang="zh-CN" dirty="0"/>
              <a:t>6</a:t>
            </a:r>
            <a:r>
              <a:rPr lang="zh-CN" altLang="en-US" dirty="0"/>
              <a:t>个</a:t>
            </a:r>
            <a:r>
              <a:rPr lang="en-US" altLang="zh-CN" dirty="0"/>
              <a:t>1</a:t>
            </a:r>
            <a:r>
              <a:rPr lang="zh-CN" altLang="en-US" dirty="0"/>
              <a:t>比特，即</a:t>
            </a:r>
            <a:r>
              <a:rPr lang="en-US" altLang="zh-CN" dirty="0">
                <a:solidFill>
                  <a:srgbClr val="C00000"/>
                </a:solidFill>
              </a:rPr>
              <a:t>01111110</a:t>
            </a:r>
            <a:r>
              <a:rPr lang="zh-CN" altLang="en-US" dirty="0"/>
              <a:t>，</a:t>
            </a:r>
            <a:r>
              <a:rPr lang="en-US" altLang="zh-CN" dirty="0"/>
              <a:t>0x7E</a:t>
            </a:r>
            <a:endParaRPr lang="zh-CN" altLang="en-US" dirty="0"/>
          </a:p>
          <a:p>
            <a:pPr marL="457200" lvl="1" indent="0">
              <a:lnSpc>
                <a:spcPts val="3600"/>
              </a:lnSpc>
              <a:buNone/>
            </a:pPr>
            <a:endParaRPr lang="en-US" altLang="zh-CN" dirty="0"/>
          </a:p>
          <a:p>
            <a:pPr marL="457200" lvl="1" indent="0">
              <a:buNone/>
            </a:pPr>
            <a:endParaRPr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6" name="文本框 5">
            <a:extLst>
              <a:ext uri="{FF2B5EF4-FFF2-40B4-BE49-F238E27FC236}">
                <a16:creationId xmlns:a16="http://schemas.microsoft.com/office/drawing/2014/main" id="{A90BAEBE-C2E5-49DC-89F1-E700B708FC09}"/>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3.1 </a:t>
            </a:r>
            <a:r>
              <a:rPr lang="zh-CN" altLang="zh-CN" dirty="0">
                <a:solidFill>
                  <a:schemeClr val="bg1">
                    <a:lumMod val="65000"/>
                  </a:schemeClr>
                </a:solidFill>
                <a:latin typeface="微软雅黑" panose="020B0503020204020204" pitchFamily="34" charset="-122"/>
                <a:ea typeface="微软雅黑" panose="020B0503020204020204" pitchFamily="34" charset="-122"/>
              </a:rPr>
              <a:t>数据链路层的设计问题</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grpSp>
        <p:nvGrpSpPr>
          <p:cNvPr id="18" name="组合 17"/>
          <p:cNvGrpSpPr/>
          <p:nvPr/>
        </p:nvGrpSpPr>
        <p:grpSpPr>
          <a:xfrm>
            <a:off x="2351627" y="3546296"/>
            <a:ext cx="7657848" cy="287344"/>
            <a:chOff x="1465472" y="2463488"/>
            <a:chExt cx="7657848" cy="287344"/>
          </a:xfrm>
          <a:solidFill>
            <a:schemeClr val="bg1">
              <a:lumMod val="95000"/>
            </a:schemeClr>
          </a:solidFill>
          <a:scene3d>
            <a:camera prst="orthographicFront">
              <a:rot lat="0" lon="0" rev="0"/>
            </a:camera>
            <a:lightRig rig="soft" dir="t">
              <a:rot lat="0" lon="0" rev="0"/>
            </a:lightRig>
          </a:scene3d>
        </p:grpSpPr>
        <p:sp>
          <p:nvSpPr>
            <p:cNvPr id="19" name="Rectangle 44"/>
            <p:cNvSpPr>
              <a:spLocks noChangeArrowheads="1"/>
            </p:cNvSpPr>
            <p:nvPr/>
          </p:nvSpPr>
          <p:spPr bwMode="auto">
            <a:xfrm>
              <a:off x="1465472"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20" name="Rectangle 44"/>
            <p:cNvSpPr>
              <a:spLocks noChangeArrowheads="1"/>
            </p:cNvSpPr>
            <p:nvPr/>
          </p:nvSpPr>
          <p:spPr bwMode="auto">
            <a:xfrm>
              <a:off x="1784549"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21" name="Rectangle 44"/>
            <p:cNvSpPr>
              <a:spLocks noChangeArrowheads="1"/>
            </p:cNvSpPr>
            <p:nvPr/>
          </p:nvSpPr>
          <p:spPr bwMode="auto">
            <a:xfrm>
              <a:off x="2103626"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22" name="Rectangle 44"/>
            <p:cNvSpPr>
              <a:spLocks noChangeArrowheads="1"/>
            </p:cNvSpPr>
            <p:nvPr/>
          </p:nvSpPr>
          <p:spPr bwMode="auto">
            <a:xfrm>
              <a:off x="2422703"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23" name="Rectangle 44"/>
            <p:cNvSpPr>
              <a:spLocks noChangeArrowheads="1"/>
            </p:cNvSpPr>
            <p:nvPr/>
          </p:nvSpPr>
          <p:spPr bwMode="auto">
            <a:xfrm>
              <a:off x="2741780"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24" name="Rectangle 44"/>
            <p:cNvSpPr>
              <a:spLocks noChangeArrowheads="1"/>
            </p:cNvSpPr>
            <p:nvPr/>
          </p:nvSpPr>
          <p:spPr bwMode="auto">
            <a:xfrm>
              <a:off x="3060857"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0</a:t>
              </a:r>
            </a:p>
          </p:txBody>
        </p:sp>
        <p:sp>
          <p:nvSpPr>
            <p:cNvPr id="25" name="Rectangle 44"/>
            <p:cNvSpPr>
              <a:spLocks noChangeArrowheads="1"/>
            </p:cNvSpPr>
            <p:nvPr/>
          </p:nvSpPr>
          <p:spPr bwMode="auto">
            <a:xfrm>
              <a:off x="3379934"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1</a:t>
              </a:r>
            </a:p>
          </p:txBody>
        </p:sp>
        <p:sp>
          <p:nvSpPr>
            <p:cNvPr id="26" name="Rectangle 44"/>
            <p:cNvSpPr>
              <a:spLocks noChangeArrowheads="1"/>
            </p:cNvSpPr>
            <p:nvPr/>
          </p:nvSpPr>
          <p:spPr bwMode="auto">
            <a:xfrm>
              <a:off x="3699011"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1</a:t>
              </a:r>
            </a:p>
          </p:txBody>
        </p:sp>
        <p:sp>
          <p:nvSpPr>
            <p:cNvPr id="27" name="Rectangle 44"/>
            <p:cNvSpPr>
              <a:spLocks noChangeArrowheads="1"/>
            </p:cNvSpPr>
            <p:nvPr/>
          </p:nvSpPr>
          <p:spPr bwMode="auto">
            <a:xfrm>
              <a:off x="4018088"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1</a:t>
              </a:r>
            </a:p>
          </p:txBody>
        </p:sp>
        <p:sp>
          <p:nvSpPr>
            <p:cNvPr id="28" name="Rectangle 44"/>
            <p:cNvSpPr>
              <a:spLocks noChangeArrowheads="1"/>
            </p:cNvSpPr>
            <p:nvPr/>
          </p:nvSpPr>
          <p:spPr bwMode="auto">
            <a:xfrm>
              <a:off x="4337165"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1</a:t>
              </a:r>
            </a:p>
          </p:txBody>
        </p:sp>
        <p:sp>
          <p:nvSpPr>
            <p:cNvPr id="29" name="Rectangle 44"/>
            <p:cNvSpPr>
              <a:spLocks noChangeArrowheads="1"/>
            </p:cNvSpPr>
            <p:nvPr/>
          </p:nvSpPr>
          <p:spPr bwMode="auto">
            <a:xfrm>
              <a:off x="4656242"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1</a:t>
              </a:r>
            </a:p>
          </p:txBody>
        </p:sp>
        <p:sp>
          <p:nvSpPr>
            <p:cNvPr id="30" name="Rectangle 44"/>
            <p:cNvSpPr>
              <a:spLocks noChangeArrowheads="1"/>
            </p:cNvSpPr>
            <p:nvPr/>
          </p:nvSpPr>
          <p:spPr bwMode="auto">
            <a:xfrm>
              <a:off x="4975319"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1</a:t>
              </a:r>
            </a:p>
          </p:txBody>
        </p:sp>
        <p:sp>
          <p:nvSpPr>
            <p:cNvPr id="31" name="Rectangle 44"/>
            <p:cNvSpPr>
              <a:spLocks noChangeArrowheads="1"/>
            </p:cNvSpPr>
            <p:nvPr/>
          </p:nvSpPr>
          <p:spPr bwMode="auto">
            <a:xfrm>
              <a:off x="5294396"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0</a:t>
              </a:r>
            </a:p>
          </p:txBody>
        </p:sp>
        <p:sp>
          <p:nvSpPr>
            <p:cNvPr id="32" name="Rectangle 44"/>
            <p:cNvSpPr>
              <a:spLocks noChangeArrowheads="1"/>
            </p:cNvSpPr>
            <p:nvPr/>
          </p:nvSpPr>
          <p:spPr bwMode="auto">
            <a:xfrm>
              <a:off x="5613473"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33" name="Rectangle 44"/>
            <p:cNvSpPr>
              <a:spLocks noChangeArrowheads="1"/>
            </p:cNvSpPr>
            <p:nvPr/>
          </p:nvSpPr>
          <p:spPr bwMode="auto">
            <a:xfrm>
              <a:off x="5932550"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34" name="Rectangle 44"/>
            <p:cNvSpPr>
              <a:spLocks noChangeArrowheads="1"/>
            </p:cNvSpPr>
            <p:nvPr/>
          </p:nvSpPr>
          <p:spPr bwMode="auto">
            <a:xfrm>
              <a:off x="6251627"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35" name="Rectangle 44"/>
            <p:cNvSpPr>
              <a:spLocks noChangeArrowheads="1"/>
            </p:cNvSpPr>
            <p:nvPr/>
          </p:nvSpPr>
          <p:spPr bwMode="auto">
            <a:xfrm>
              <a:off x="6570704"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36" name="Rectangle 44"/>
            <p:cNvSpPr>
              <a:spLocks noChangeArrowheads="1"/>
            </p:cNvSpPr>
            <p:nvPr/>
          </p:nvSpPr>
          <p:spPr bwMode="auto">
            <a:xfrm>
              <a:off x="6889781"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37" name="Rectangle 44"/>
            <p:cNvSpPr>
              <a:spLocks noChangeArrowheads="1"/>
            </p:cNvSpPr>
            <p:nvPr/>
          </p:nvSpPr>
          <p:spPr bwMode="auto">
            <a:xfrm>
              <a:off x="7208858"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38" name="Rectangle 44"/>
            <p:cNvSpPr>
              <a:spLocks noChangeArrowheads="1"/>
            </p:cNvSpPr>
            <p:nvPr/>
          </p:nvSpPr>
          <p:spPr bwMode="auto">
            <a:xfrm>
              <a:off x="7527935"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39" name="Rectangle 44"/>
            <p:cNvSpPr>
              <a:spLocks noChangeArrowheads="1"/>
            </p:cNvSpPr>
            <p:nvPr/>
          </p:nvSpPr>
          <p:spPr bwMode="auto">
            <a:xfrm>
              <a:off x="7847012"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40" name="Rectangle 44"/>
            <p:cNvSpPr>
              <a:spLocks noChangeArrowheads="1"/>
            </p:cNvSpPr>
            <p:nvPr/>
          </p:nvSpPr>
          <p:spPr bwMode="auto">
            <a:xfrm>
              <a:off x="8166089"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41" name="Rectangle 44"/>
            <p:cNvSpPr>
              <a:spLocks noChangeArrowheads="1"/>
            </p:cNvSpPr>
            <p:nvPr/>
          </p:nvSpPr>
          <p:spPr bwMode="auto">
            <a:xfrm>
              <a:off x="8485166"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42" name="Rectangle 44"/>
            <p:cNvSpPr>
              <a:spLocks noChangeArrowheads="1"/>
            </p:cNvSpPr>
            <p:nvPr/>
          </p:nvSpPr>
          <p:spPr bwMode="auto">
            <a:xfrm>
              <a:off x="8804243"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grpSp>
      <p:grpSp>
        <p:nvGrpSpPr>
          <p:cNvPr id="43" name="组合 42"/>
          <p:cNvGrpSpPr/>
          <p:nvPr/>
        </p:nvGrpSpPr>
        <p:grpSpPr>
          <a:xfrm>
            <a:off x="4050788" y="4040037"/>
            <a:ext cx="2375557" cy="770327"/>
            <a:chOff x="4242062" y="3880284"/>
            <a:chExt cx="2375557" cy="770327"/>
          </a:xfrm>
        </p:grpSpPr>
        <p:sp>
          <p:nvSpPr>
            <p:cNvPr id="44" name="左大括号 43"/>
            <p:cNvSpPr/>
            <p:nvPr/>
          </p:nvSpPr>
          <p:spPr>
            <a:xfrm rot="16200000">
              <a:off x="5347931" y="2774415"/>
              <a:ext cx="163819" cy="2375557"/>
            </a:xfrm>
            <a:prstGeom prst="leftBrace">
              <a:avLst>
                <a:gd name="adj1" fmla="val 95127"/>
                <a:gd name="adj2" fmla="val 50000"/>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5" name="矩形 44"/>
            <p:cNvSpPr/>
            <p:nvPr/>
          </p:nvSpPr>
          <p:spPr>
            <a:xfrm>
              <a:off x="4696282" y="4250501"/>
              <a:ext cx="1436623" cy="400110"/>
            </a:xfrm>
            <a:prstGeom prst="rect">
              <a:avLst/>
            </a:prstGeom>
            <a:noFill/>
            <a:ln>
              <a:noFill/>
            </a:ln>
          </p:spPr>
          <p:txBody>
            <a:bodyPr wrap="square">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zh-CN" altLang="en-US"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定界符</a:t>
              </a:r>
            </a:p>
          </p:txBody>
        </p:sp>
      </p:grpSp>
      <p:grpSp>
        <p:nvGrpSpPr>
          <p:cNvPr id="46" name="组合 45"/>
          <p:cNvGrpSpPr/>
          <p:nvPr/>
        </p:nvGrpSpPr>
        <p:grpSpPr>
          <a:xfrm>
            <a:off x="1307508" y="4040038"/>
            <a:ext cx="2552617" cy="764096"/>
            <a:chOff x="1498782" y="3880285"/>
            <a:chExt cx="2552617" cy="764096"/>
          </a:xfrm>
        </p:grpSpPr>
        <p:sp>
          <p:nvSpPr>
            <p:cNvPr id="47" name="左大括号 46"/>
            <p:cNvSpPr/>
            <p:nvPr/>
          </p:nvSpPr>
          <p:spPr>
            <a:xfrm rot="16200000">
              <a:off x="2693181" y="2685886"/>
              <a:ext cx="163819" cy="2552617"/>
            </a:xfrm>
            <a:prstGeom prst="leftBrace">
              <a:avLst>
                <a:gd name="adj1" fmla="val 95127"/>
                <a:gd name="adj2" fmla="val 50000"/>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8" name="矩形 47"/>
            <p:cNvSpPr/>
            <p:nvPr/>
          </p:nvSpPr>
          <p:spPr>
            <a:xfrm>
              <a:off x="2056778" y="4244271"/>
              <a:ext cx="1436623" cy="400110"/>
            </a:xfrm>
            <a:prstGeom prst="rect">
              <a:avLst/>
            </a:prstGeom>
            <a:noFill/>
            <a:ln>
              <a:noFill/>
            </a:ln>
          </p:spPr>
          <p:txBody>
            <a:bodyPr wrap="square">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zh-CN" altLang="en-US" sz="2000"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上一帧</a:t>
              </a:r>
            </a:p>
          </p:txBody>
        </p:sp>
      </p:grpSp>
      <p:grpSp>
        <p:nvGrpSpPr>
          <p:cNvPr id="49" name="组合 48"/>
          <p:cNvGrpSpPr/>
          <p:nvPr/>
        </p:nvGrpSpPr>
        <p:grpSpPr>
          <a:xfrm>
            <a:off x="6588157" y="4044103"/>
            <a:ext cx="4438466" cy="766261"/>
            <a:chOff x="6779431" y="3884350"/>
            <a:chExt cx="4438466" cy="766261"/>
          </a:xfrm>
        </p:grpSpPr>
        <p:sp>
          <p:nvSpPr>
            <p:cNvPr id="50" name="左大括号 49"/>
            <p:cNvSpPr/>
            <p:nvPr/>
          </p:nvSpPr>
          <p:spPr>
            <a:xfrm rot="16200000">
              <a:off x="8916754" y="1747027"/>
              <a:ext cx="163819" cy="4438466"/>
            </a:xfrm>
            <a:prstGeom prst="leftBrace">
              <a:avLst>
                <a:gd name="adj1" fmla="val 95127"/>
                <a:gd name="adj2" fmla="val 50000"/>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1" name="矩形 50"/>
            <p:cNvSpPr/>
            <p:nvPr/>
          </p:nvSpPr>
          <p:spPr>
            <a:xfrm>
              <a:off x="8276860" y="4250501"/>
              <a:ext cx="1436623" cy="400110"/>
            </a:xfrm>
            <a:prstGeom prst="rect">
              <a:avLst/>
            </a:prstGeom>
            <a:noFill/>
            <a:ln>
              <a:noFill/>
            </a:ln>
          </p:spPr>
          <p:txBody>
            <a:bodyPr wrap="square">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zh-CN" altLang="en-US" sz="2000"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下一帧</a:t>
              </a:r>
            </a:p>
          </p:txBody>
        </p:sp>
      </p:grpSp>
      <p:sp>
        <p:nvSpPr>
          <p:cNvPr id="53" name="文本框 52"/>
          <p:cNvSpPr txBox="1"/>
          <p:nvPr/>
        </p:nvSpPr>
        <p:spPr>
          <a:xfrm>
            <a:off x="1865504" y="5501483"/>
            <a:ext cx="8913332" cy="430887"/>
          </a:xfrm>
          <a:prstGeom prst="rect">
            <a:avLst/>
          </a:prstGeom>
          <a:solidFill>
            <a:schemeClr val="accent4">
              <a:lumMod val="20000"/>
              <a:lumOff val="80000"/>
            </a:schemeClr>
          </a:solidFill>
          <a:ln>
            <a:solidFill>
              <a:schemeClr val="accent4">
                <a:lumMod val="20000"/>
                <a:lumOff val="80000"/>
              </a:schemeClr>
            </a:solidFill>
          </a:ln>
        </p:spPr>
        <p:txBody>
          <a:bodyPr wrap="square" rtlCol="0">
            <a:spAutoFit/>
          </a:bodyPr>
          <a:lstStyle/>
          <a:p>
            <a:pPr algn="ctr"/>
            <a:r>
              <a:rPr lang="zh-CN" altLang="en-US" sz="2200" dirty="0">
                <a:latin typeface="微软雅黑" panose="020B0503020204020204" pitchFamily="34" charset="-122"/>
                <a:ea typeface="微软雅黑" panose="020B0503020204020204" pitchFamily="34" charset="-122"/>
              </a:rPr>
              <a:t>问题：如果有效载荷部分包含与“</a:t>
            </a:r>
            <a:r>
              <a:rPr lang="zh-CN" altLang="en-US" sz="2200" dirty="0">
                <a:solidFill>
                  <a:srgbClr val="C00000"/>
                </a:solidFill>
                <a:latin typeface="微软雅黑" panose="020B0503020204020204" pitchFamily="34" charset="-122"/>
                <a:ea typeface="微软雅黑" panose="020B0503020204020204" pitchFamily="34" charset="-122"/>
              </a:rPr>
              <a:t>定界符</a:t>
            </a:r>
            <a:r>
              <a:rPr lang="zh-CN" altLang="en-US" sz="2200" dirty="0">
                <a:latin typeface="微软雅黑" panose="020B0503020204020204" pitchFamily="34" charset="-122"/>
                <a:ea typeface="微软雅黑" panose="020B0503020204020204" pitchFamily="34" charset="-122"/>
              </a:rPr>
              <a:t>”相同的位组合如何解决？</a:t>
            </a:r>
          </a:p>
        </p:txBody>
      </p:sp>
    </p:spTree>
    <p:extLst>
      <p:ext uri="{BB962C8B-B14F-4D97-AF65-F5344CB8AC3E}">
        <p14:creationId xmlns:p14="http://schemas.microsoft.com/office/powerpoint/2010/main" val="245569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3"/>
                                        </p:tgtEl>
                                        <p:attrNameLst>
                                          <p:attrName>style.visibility</p:attrName>
                                        </p:attrNameLst>
                                      </p:cBhvr>
                                      <p:to>
                                        <p:strVal val="visible"/>
                                      </p:to>
                                    </p:set>
                                    <p:animEffect transition="in" filter="blinds(horizontal)">
                                      <p:cBhvr>
                                        <p:cTn id="12" dur="500"/>
                                        <p:tgtEl>
                                          <p:spTgt spid="4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6"/>
                                        </p:tgtEl>
                                        <p:attrNameLst>
                                          <p:attrName>style.visibility</p:attrName>
                                        </p:attrNameLst>
                                      </p:cBhvr>
                                      <p:to>
                                        <p:strVal val="visible"/>
                                      </p:to>
                                    </p:set>
                                    <p:animEffect transition="in" filter="blinds(horizontal)">
                                      <p:cBhvr>
                                        <p:cTn id="17" dur="500"/>
                                        <p:tgtEl>
                                          <p:spTgt spid="46"/>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9"/>
                                        </p:tgtEl>
                                        <p:attrNameLst>
                                          <p:attrName>style.visibility</p:attrName>
                                        </p:attrNameLst>
                                      </p:cBhvr>
                                      <p:to>
                                        <p:strVal val="visible"/>
                                      </p:to>
                                    </p:set>
                                    <p:animEffect transition="in" filter="blinds(horizontal)">
                                      <p:cBhvr>
                                        <p:cTn id="22" dur="500"/>
                                        <p:tgtEl>
                                          <p:spTgt spid="49"/>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成帧（</a:t>
            </a:r>
            <a:r>
              <a:rPr lang="en-US" altLang="zh-CN" dirty="0"/>
              <a:t>Framing</a:t>
            </a:r>
            <a:r>
              <a:rPr lang="zh-CN" altLang="en-US" dirty="0"/>
              <a:t>）</a:t>
            </a:r>
          </a:p>
        </p:txBody>
      </p:sp>
      <p:sp>
        <p:nvSpPr>
          <p:cNvPr id="3" name="内容占位符 2"/>
          <p:cNvSpPr>
            <a:spLocks noGrp="1"/>
          </p:cNvSpPr>
          <p:nvPr>
            <p:ph idx="1"/>
          </p:nvPr>
        </p:nvSpPr>
        <p:spPr/>
        <p:txBody>
          <a:bodyPr/>
          <a:lstStyle/>
          <a:p>
            <a:pPr>
              <a:lnSpc>
                <a:spcPts val="3600"/>
              </a:lnSpc>
              <a:spcBef>
                <a:spcPts val="1200"/>
              </a:spcBef>
            </a:pPr>
            <a:r>
              <a:rPr lang="zh-CN" altLang="en-US" dirty="0">
                <a:solidFill>
                  <a:srgbClr val="C00000"/>
                </a:solidFill>
              </a:rPr>
              <a:t>带</a:t>
            </a:r>
            <a:r>
              <a:rPr lang="zh-CN" altLang="en-US" b="1" dirty="0">
                <a:solidFill>
                  <a:srgbClr val="C00000"/>
                </a:solidFill>
              </a:rPr>
              <a:t>比特</a:t>
            </a:r>
            <a:r>
              <a:rPr lang="zh-CN" altLang="en-US" dirty="0">
                <a:solidFill>
                  <a:srgbClr val="C00000"/>
                </a:solidFill>
              </a:rPr>
              <a:t>填充的定界符法：</a:t>
            </a:r>
            <a:r>
              <a:rPr lang="zh-CN" altLang="en-US" dirty="0"/>
              <a:t>发送方检查有效载荷</a:t>
            </a:r>
            <a:endParaRPr lang="en-US" altLang="zh-CN" dirty="0"/>
          </a:p>
          <a:p>
            <a:pPr lvl="1">
              <a:lnSpc>
                <a:spcPts val="3600"/>
              </a:lnSpc>
              <a:spcBef>
                <a:spcPts val="1200"/>
              </a:spcBef>
            </a:pPr>
            <a:r>
              <a:rPr lang="zh-CN" altLang="en-US" dirty="0"/>
              <a:t>若在</a:t>
            </a:r>
            <a:r>
              <a:rPr lang="zh-CN" altLang="en-US" dirty="0">
                <a:solidFill>
                  <a:srgbClr val="7030A0"/>
                </a:solidFill>
              </a:rPr>
              <a:t>有效载荷</a:t>
            </a:r>
            <a:r>
              <a:rPr lang="zh-CN" altLang="en-US" dirty="0"/>
              <a:t>中出现</a:t>
            </a:r>
            <a:r>
              <a:rPr lang="zh-CN" altLang="en-US" dirty="0">
                <a:solidFill>
                  <a:srgbClr val="C00000"/>
                </a:solidFill>
              </a:rPr>
              <a:t>连续</a:t>
            </a:r>
            <a:r>
              <a:rPr lang="en-US" altLang="zh-CN" dirty="0">
                <a:solidFill>
                  <a:srgbClr val="C00000"/>
                </a:solidFill>
              </a:rPr>
              <a:t>5</a:t>
            </a:r>
            <a:r>
              <a:rPr lang="zh-CN" altLang="en-US" dirty="0">
                <a:solidFill>
                  <a:srgbClr val="C00000"/>
                </a:solidFill>
              </a:rPr>
              <a:t>个</a:t>
            </a:r>
            <a:r>
              <a:rPr lang="en-US" altLang="zh-CN" dirty="0">
                <a:solidFill>
                  <a:srgbClr val="C00000"/>
                </a:solidFill>
              </a:rPr>
              <a:t>1</a:t>
            </a:r>
            <a:r>
              <a:rPr lang="zh-CN" altLang="en-US" dirty="0"/>
              <a:t>比特，则直接</a:t>
            </a:r>
            <a:r>
              <a:rPr lang="zh-CN" altLang="en-US" dirty="0">
                <a:solidFill>
                  <a:srgbClr val="C00000"/>
                </a:solidFill>
              </a:rPr>
              <a:t>插入</a:t>
            </a:r>
            <a:r>
              <a:rPr lang="en-US" altLang="zh-CN" dirty="0">
                <a:solidFill>
                  <a:srgbClr val="C00000"/>
                </a:solidFill>
              </a:rPr>
              <a:t>1</a:t>
            </a:r>
            <a:r>
              <a:rPr lang="zh-CN" altLang="en-US" dirty="0">
                <a:solidFill>
                  <a:srgbClr val="C00000"/>
                </a:solidFill>
              </a:rPr>
              <a:t>个</a:t>
            </a:r>
            <a:r>
              <a:rPr lang="en-US" altLang="zh-CN" dirty="0">
                <a:solidFill>
                  <a:srgbClr val="C00000"/>
                </a:solidFill>
              </a:rPr>
              <a:t>0</a:t>
            </a:r>
            <a:r>
              <a:rPr lang="zh-CN" altLang="en-US" dirty="0"/>
              <a:t>比特</a:t>
            </a:r>
          </a:p>
          <a:p>
            <a:pPr marL="457200" lvl="1" indent="0">
              <a:lnSpc>
                <a:spcPts val="3600"/>
              </a:lnSpc>
              <a:buNone/>
            </a:pPr>
            <a:endParaRPr lang="en-US" altLang="zh-CN" dirty="0"/>
          </a:p>
          <a:p>
            <a:pPr marL="457200" lvl="1" indent="0">
              <a:buNone/>
            </a:pPr>
            <a:endParaRPr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6" name="文本框 5">
            <a:extLst>
              <a:ext uri="{FF2B5EF4-FFF2-40B4-BE49-F238E27FC236}">
                <a16:creationId xmlns:a16="http://schemas.microsoft.com/office/drawing/2014/main" id="{A90BAEBE-C2E5-49DC-89F1-E700B708FC09}"/>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3.1 </a:t>
            </a:r>
            <a:r>
              <a:rPr lang="zh-CN" altLang="zh-CN" dirty="0">
                <a:solidFill>
                  <a:schemeClr val="bg1">
                    <a:lumMod val="65000"/>
                  </a:schemeClr>
                </a:solidFill>
                <a:latin typeface="微软雅黑" panose="020B0503020204020204" pitchFamily="34" charset="-122"/>
                <a:ea typeface="微软雅黑" panose="020B0503020204020204" pitchFamily="34" charset="-122"/>
              </a:rPr>
              <a:t>数据链路层的设计问题</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grpSp>
        <p:nvGrpSpPr>
          <p:cNvPr id="52" name="组合 51"/>
          <p:cNvGrpSpPr/>
          <p:nvPr/>
        </p:nvGrpSpPr>
        <p:grpSpPr>
          <a:xfrm>
            <a:off x="2702440" y="3535103"/>
            <a:ext cx="7657848" cy="287344"/>
            <a:chOff x="1465472" y="2463488"/>
            <a:chExt cx="7657848" cy="287344"/>
          </a:xfrm>
          <a:solidFill>
            <a:schemeClr val="bg1">
              <a:lumMod val="95000"/>
            </a:schemeClr>
          </a:solidFill>
          <a:scene3d>
            <a:camera prst="orthographicFront">
              <a:rot lat="0" lon="0" rev="0"/>
            </a:camera>
            <a:lightRig rig="soft" dir="t">
              <a:rot lat="0" lon="0" rev="0"/>
            </a:lightRig>
          </a:scene3d>
        </p:grpSpPr>
        <p:sp>
          <p:nvSpPr>
            <p:cNvPr id="53" name="Rectangle 44"/>
            <p:cNvSpPr>
              <a:spLocks noChangeArrowheads="1"/>
            </p:cNvSpPr>
            <p:nvPr/>
          </p:nvSpPr>
          <p:spPr bwMode="auto">
            <a:xfrm>
              <a:off x="1465472"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54" name="Rectangle 44"/>
            <p:cNvSpPr>
              <a:spLocks noChangeArrowheads="1"/>
            </p:cNvSpPr>
            <p:nvPr/>
          </p:nvSpPr>
          <p:spPr bwMode="auto">
            <a:xfrm>
              <a:off x="1784549"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55" name="Rectangle 44"/>
            <p:cNvSpPr>
              <a:spLocks noChangeArrowheads="1"/>
            </p:cNvSpPr>
            <p:nvPr/>
          </p:nvSpPr>
          <p:spPr bwMode="auto">
            <a:xfrm>
              <a:off x="2103626"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56" name="Rectangle 44"/>
            <p:cNvSpPr>
              <a:spLocks noChangeArrowheads="1"/>
            </p:cNvSpPr>
            <p:nvPr/>
          </p:nvSpPr>
          <p:spPr bwMode="auto">
            <a:xfrm>
              <a:off x="2422703"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57" name="Rectangle 44"/>
            <p:cNvSpPr>
              <a:spLocks noChangeArrowheads="1"/>
            </p:cNvSpPr>
            <p:nvPr/>
          </p:nvSpPr>
          <p:spPr bwMode="auto">
            <a:xfrm>
              <a:off x="2741780"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58" name="Rectangle 44"/>
            <p:cNvSpPr>
              <a:spLocks noChangeArrowheads="1"/>
            </p:cNvSpPr>
            <p:nvPr/>
          </p:nvSpPr>
          <p:spPr bwMode="auto">
            <a:xfrm>
              <a:off x="3060857"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59" name="Rectangle 44"/>
            <p:cNvSpPr>
              <a:spLocks noChangeArrowheads="1"/>
            </p:cNvSpPr>
            <p:nvPr/>
          </p:nvSpPr>
          <p:spPr bwMode="auto">
            <a:xfrm>
              <a:off x="3379934"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60" name="Rectangle 44"/>
            <p:cNvSpPr>
              <a:spLocks noChangeArrowheads="1"/>
            </p:cNvSpPr>
            <p:nvPr/>
          </p:nvSpPr>
          <p:spPr bwMode="auto">
            <a:xfrm>
              <a:off x="3699011"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61" name="Rectangle 44"/>
            <p:cNvSpPr>
              <a:spLocks noChangeArrowheads="1"/>
            </p:cNvSpPr>
            <p:nvPr/>
          </p:nvSpPr>
          <p:spPr bwMode="auto">
            <a:xfrm>
              <a:off x="4018088"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62" name="Rectangle 44"/>
            <p:cNvSpPr>
              <a:spLocks noChangeArrowheads="1"/>
            </p:cNvSpPr>
            <p:nvPr/>
          </p:nvSpPr>
          <p:spPr bwMode="auto">
            <a:xfrm>
              <a:off x="4337165"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63" name="Rectangle 44"/>
            <p:cNvSpPr>
              <a:spLocks noChangeArrowheads="1"/>
            </p:cNvSpPr>
            <p:nvPr/>
          </p:nvSpPr>
          <p:spPr bwMode="auto">
            <a:xfrm>
              <a:off x="4656242"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64" name="Rectangle 44"/>
            <p:cNvSpPr>
              <a:spLocks noChangeArrowheads="1"/>
            </p:cNvSpPr>
            <p:nvPr/>
          </p:nvSpPr>
          <p:spPr bwMode="auto">
            <a:xfrm>
              <a:off x="4975319"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65" name="Rectangle 44"/>
            <p:cNvSpPr>
              <a:spLocks noChangeArrowheads="1"/>
            </p:cNvSpPr>
            <p:nvPr/>
          </p:nvSpPr>
          <p:spPr bwMode="auto">
            <a:xfrm>
              <a:off x="5294396"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66" name="Rectangle 44"/>
            <p:cNvSpPr>
              <a:spLocks noChangeArrowheads="1"/>
            </p:cNvSpPr>
            <p:nvPr/>
          </p:nvSpPr>
          <p:spPr bwMode="auto">
            <a:xfrm>
              <a:off x="5613473"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67" name="Rectangle 44"/>
            <p:cNvSpPr>
              <a:spLocks noChangeArrowheads="1"/>
            </p:cNvSpPr>
            <p:nvPr/>
          </p:nvSpPr>
          <p:spPr bwMode="auto">
            <a:xfrm>
              <a:off x="5932550"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68" name="Rectangle 44"/>
            <p:cNvSpPr>
              <a:spLocks noChangeArrowheads="1"/>
            </p:cNvSpPr>
            <p:nvPr/>
          </p:nvSpPr>
          <p:spPr bwMode="auto">
            <a:xfrm>
              <a:off x="6251627"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69" name="Rectangle 44"/>
            <p:cNvSpPr>
              <a:spLocks noChangeArrowheads="1"/>
            </p:cNvSpPr>
            <p:nvPr/>
          </p:nvSpPr>
          <p:spPr bwMode="auto">
            <a:xfrm>
              <a:off x="6570704"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70" name="Rectangle 44"/>
            <p:cNvSpPr>
              <a:spLocks noChangeArrowheads="1"/>
            </p:cNvSpPr>
            <p:nvPr/>
          </p:nvSpPr>
          <p:spPr bwMode="auto">
            <a:xfrm>
              <a:off x="6889781"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71" name="Rectangle 44"/>
            <p:cNvSpPr>
              <a:spLocks noChangeArrowheads="1"/>
            </p:cNvSpPr>
            <p:nvPr/>
          </p:nvSpPr>
          <p:spPr bwMode="auto">
            <a:xfrm>
              <a:off x="7208858"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72" name="Rectangle 44"/>
            <p:cNvSpPr>
              <a:spLocks noChangeArrowheads="1"/>
            </p:cNvSpPr>
            <p:nvPr/>
          </p:nvSpPr>
          <p:spPr bwMode="auto">
            <a:xfrm>
              <a:off x="7527935"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73" name="Rectangle 44"/>
            <p:cNvSpPr>
              <a:spLocks noChangeArrowheads="1"/>
            </p:cNvSpPr>
            <p:nvPr/>
          </p:nvSpPr>
          <p:spPr bwMode="auto">
            <a:xfrm>
              <a:off x="7847012"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74" name="Rectangle 44"/>
            <p:cNvSpPr>
              <a:spLocks noChangeArrowheads="1"/>
            </p:cNvSpPr>
            <p:nvPr/>
          </p:nvSpPr>
          <p:spPr bwMode="auto">
            <a:xfrm>
              <a:off x="8166089"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75" name="Rectangle 44"/>
            <p:cNvSpPr>
              <a:spLocks noChangeArrowheads="1"/>
            </p:cNvSpPr>
            <p:nvPr/>
          </p:nvSpPr>
          <p:spPr bwMode="auto">
            <a:xfrm>
              <a:off x="8485166"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76" name="Rectangle 44"/>
            <p:cNvSpPr>
              <a:spLocks noChangeArrowheads="1"/>
            </p:cNvSpPr>
            <p:nvPr/>
          </p:nvSpPr>
          <p:spPr bwMode="auto">
            <a:xfrm>
              <a:off x="8804243"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grpSp>
      <p:sp>
        <p:nvSpPr>
          <p:cNvPr id="77" name="矩形 76"/>
          <p:cNvSpPr/>
          <p:nvPr/>
        </p:nvSpPr>
        <p:spPr>
          <a:xfrm>
            <a:off x="1092734" y="3478717"/>
            <a:ext cx="1450168" cy="400110"/>
          </a:xfrm>
          <a:prstGeom prst="rect">
            <a:avLst/>
          </a:prstGeom>
          <a:noFill/>
          <a:ln>
            <a:noFill/>
          </a:ln>
        </p:spPr>
        <p:txBody>
          <a:bodyPr wrap="square">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原始载荷</a:t>
            </a:r>
          </a:p>
        </p:txBody>
      </p:sp>
      <p:sp>
        <p:nvSpPr>
          <p:cNvPr id="78" name="矩形 77"/>
          <p:cNvSpPr/>
          <p:nvPr/>
        </p:nvSpPr>
        <p:spPr>
          <a:xfrm>
            <a:off x="1092734" y="4336557"/>
            <a:ext cx="1450168" cy="400110"/>
          </a:xfrm>
          <a:prstGeom prst="rect">
            <a:avLst/>
          </a:prstGeom>
          <a:noFill/>
          <a:ln>
            <a:noFill/>
          </a:ln>
        </p:spPr>
        <p:txBody>
          <a:bodyPr wrap="square">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载荷填充</a:t>
            </a:r>
          </a:p>
        </p:txBody>
      </p:sp>
      <p:grpSp>
        <p:nvGrpSpPr>
          <p:cNvPr id="79" name="组合 78"/>
          <p:cNvGrpSpPr/>
          <p:nvPr/>
        </p:nvGrpSpPr>
        <p:grpSpPr>
          <a:xfrm>
            <a:off x="2702440" y="4392943"/>
            <a:ext cx="1914462" cy="287338"/>
            <a:chOff x="2861978" y="3678775"/>
            <a:chExt cx="1914462" cy="287338"/>
          </a:xfrm>
          <a:solidFill>
            <a:schemeClr val="bg1">
              <a:lumMod val="95000"/>
            </a:schemeClr>
          </a:solidFill>
          <a:scene3d>
            <a:camera prst="orthographicFront">
              <a:rot lat="0" lon="0" rev="0"/>
            </a:camera>
            <a:lightRig rig="soft" dir="t">
              <a:rot lat="0" lon="0" rev="0"/>
            </a:lightRig>
          </a:scene3d>
        </p:grpSpPr>
        <p:sp>
          <p:nvSpPr>
            <p:cNvPr id="80" name="Rectangle 44"/>
            <p:cNvSpPr>
              <a:spLocks noChangeArrowheads="1"/>
            </p:cNvSpPr>
            <p:nvPr/>
          </p:nvSpPr>
          <p:spPr bwMode="auto">
            <a:xfrm>
              <a:off x="2861978" y="3678775"/>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81" name="Rectangle 44"/>
            <p:cNvSpPr>
              <a:spLocks noChangeArrowheads="1"/>
            </p:cNvSpPr>
            <p:nvPr/>
          </p:nvSpPr>
          <p:spPr bwMode="auto">
            <a:xfrm>
              <a:off x="3181055" y="3678775"/>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82" name="Rectangle 44"/>
            <p:cNvSpPr>
              <a:spLocks noChangeArrowheads="1"/>
            </p:cNvSpPr>
            <p:nvPr/>
          </p:nvSpPr>
          <p:spPr bwMode="auto">
            <a:xfrm>
              <a:off x="3500132" y="3678775"/>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83" name="Rectangle 44"/>
            <p:cNvSpPr>
              <a:spLocks noChangeArrowheads="1"/>
            </p:cNvSpPr>
            <p:nvPr/>
          </p:nvSpPr>
          <p:spPr bwMode="auto">
            <a:xfrm>
              <a:off x="3819209" y="3678775"/>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84" name="Rectangle 44"/>
            <p:cNvSpPr>
              <a:spLocks noChangeArrowheads="1"/>
            </p:cNvSpPr>
            <p:nvPr/>
          </p:nvSpPr>
          <p:spPr bwMode="auto">
            <a:xfrm>
              <a:off x="4138286" y="3678775"/>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85" name="Rectangle 44"/>
            <p:cNvSpPr>
              <a:spLocks noChangeArrowheads="1"/>
            </p:cNvSpPr>
            <p:nvPr/>
          </p:nvSpPr>
          <p:spPr bwMode="auto">
            <a:xfrm>
              <a:off x="4457363" y="3678775"/>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grpSp>
      <p:cxnSp>
        <p:nvCxnSpPr>
          <p:cNvPr id="86" name="直接箭头连接符 85"/>
          <p:cNvCxnSpPr/>
          <p:nvPr/>
        </p:nvCxnSpPr>
        <p:spPr>
          <a:xfrm>
            <a:off x="4616902" y="3822447"/>
            <a:ext cx="159539" cy="514110"/>
          </a:xfrm>
          <a:prstGeom prst="straightConnector1">
            <a:avLst/>
          </a:prstGeom>
          <a:ln w="19050">
            <a:solidFill>
              <a:srgbClr val="C0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87" name="Rectangle 44"/>
          <p:cNvSpPr>
            <a:spLocks noChangeArrowheads="1"/>
          </p:cNvSpPr>
          <p:nvPr/>
        </p:nvSpPr>
        <p:spPr bwMode="auto">
          <a:xfrm>
            <a:off x="4616902" y="4392943"/>
            <a:ext cx="319077" cy="287338"/>
          </a:xfrm>
          <a:prstGeom prst="rect">
            <a:avLst/>
          </a:prstGeom>
          <a:solidFill>
            <a:schemeClr val="bg1">
              <a:lumMod val="95000"/>
            </a:schemeClr>
          </a:solidFill>
          <a:ln w="1270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0</a:t>
            </a:r>
          </a:p>
        </p:txBody>
      </p:sp>
      <p:grpSp>
        <p:nvGrpSpPr>
          <p:cNvPr id="88" name="组合 87"/>
          <p:cNvGrpSpPr/>
          <p:nvPr/>
        </p:nvGrpSpPr>
        <p:grpSpPr>
          <a:xfrm>
            <a:off x="4935979" y="4392943"/>
            <a:ext cx="1914462" cy="287344"/>
            <a:chOff x="5095517" y="3678775"/>
            <a:chExt cx="1914462" cy="287344"/>
          </a:xfrm>
          <a:solidFill>
            <a:schemeClr val="bg1">
              <a:lumMod val="95000"/>
            </a:schemeClr>
          </a:solidFill>
          <a:scene3d>
            <a:camera prst="orthographicFront">
              <a:rot lat="0" lon="0" rev="0"/>
            </a:camera>
            <a:lightRig rig="soft" dir="t">
              <a:rot lat="0" lon="0" rev="0"/>
            </a:lightRig>
          </a:scene3d>
        </p:grpSpPr>
        <p:sp>
          <p:nvSpPr>
            <p:cNvPr id="89" name="Rectangle 44"/>
            <p:cNvSpPr>
              <a:spLocks noChangeArrowheads="1"/>
            </p:cNvSpPr>
            <p:nvPr/>
          </p:nvSpPr>
          <p:spPr bwMode="auto">
            <a:xfrm>
              <a:off x="5095517" y="3678775"/>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90" name="Rectangle 44"/>
            <p:cNvSpPr>
              <a:spLocks noChangeArrowheads="1"/>
            </p:cNvSpPr>
            <p:nvPr/>
          </p:nvSpPr>
          <p:spPr bwMode="auto">
            <a:xfrm>
              <a:off x="5414594" y="3678775"/>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91" name="Rectangle 44"/>
            <p:cNvSpPr>
              <a:spLocks noChangeArrowheads="1"/>
            </p:cNvSpPr>
            <p:nvPr/>
          </p:nvSpPr>
          <p:spPr bwMode="auto">
            <a:xfrm>
              <a:off x="5733671" y="3678775"/>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92" name="Rectangle 44"/>
            <p:cNvSpPr>
              <a:spLocks noChangeArrowheads="1"/>
            </p:cNvSpPr>
            <p:nvPr/>
          </p:nvSpPr>
          <p:spPr bwMode="auto">
            <a:xfrm>
              <a:off x="6052748" y="3678781"/>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93" name="Rectangle 44"/>
            <p:cNvSpPr>
              <a:spLocks noChangeArrowheads="1"/>
            </p:cNvSpPr>
            <p:nvPr/>
          </p:nvSpPr>
          <p:spPr bwMode="auto">
            <a:xfrm>
              <a:off x="6371825" y="3678781"/>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94" name="Rectangle 44"/>
            <p:cNvSpPr>
              <a:spLocks noChangeArrowheads="1"/>
            </p:cNvSpPr>
            <p:nvPr/>
          </p:nvSpPr>
          <p:spPr bwMode="auto">
            <a:xfrm>
              <a:off x="6690902" y="3678781"/>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grpSp>
      <p:cxnSp>
        <p:nvCxnSpPr>
          <p:cNvPr id="95" name="直接箭头连接符 94"/>
          <p:cNvCxnSpPr/>
          <p:nvPr/>
        </p:nvCxnSpPr>
        <p:spPr>
          <a:xfrm>
            <a:off x="6531363" y="3822447"/>
            <a:ext cx="397338" cy="514110"/>
          </a:xfrm>
          <a:prstGeom prst="straightConnector1">
            <a:avLst/>
          </a:prstGeom>
          <a:ln w="19050">
            <a:solidFill>
              <a:srgbClr val="C0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96" name="Rectangle 44"/>
          <p:cNvSpPr>
            <a:spLocks noChangeArrowheads="1"/>
          </p:cNvSpPr>
          <p:nvPr/>
        </p:nvSpPr>
        <p:spPr bwMode="auto">
          <a:xfrm>
            <a:off x="6850441" y="4392949"/>
            <a:ext cx="319077" cy="287338"/>
          </a:xfrm>
          <a:prstGeom prst="rect">
            <a:avLst/>
          </a:prstGeom>
          <a:solidFill>
            <a:schemeClr val="bg1">
              <a:lumMod val="95000"/>
            </a:schemeClr>
          </a:solidFill>
          <a:ln w="1270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0</a:t>
            </a:r>
          </a:p>
        </p:txBody>
      </p:sp>
      <p:grpSp>
        <p:nvGrpSpPr>
          <p:cNvPr id="97" name="组合 96"/>
          <p:cNvGrpSpPr/>
          <p:nvPr/>
        </p:nvGrpSpPr>
        <p:grpSpPr>
          <a:xfrm>
            <a:off x="7169518" y="4392949"/>
            <a:ext cx="3828922" cy="287338"/>
            <a:chOff x="7329056" y="3678781"/>
            <a:chExt cx="3828922" cy="287338"/>
          </a:xfrm>
          <a:solidFill>
            <a:schemeClr val="bg1">
              <a:lumMod val="95000"/>
            </a:schemeClr>
          </a:solidFill>
          <a:scene3d>
            <a:camera prst="orthographicFront">
              <a:rot lat="0" lon="0" rev="0"/>
            </a:camera>
            <a:lightRig rig="soft" dir="t">
              <a:rot lat="0" lon="0" rev="0"/>
            </a:lightRig>
          </a:scene3d>
        </p:grpSpPr>
        <p:sp>
          <p:nvSpPr>
            <p:cNvPr id="98" name="Rectangle 44"/>
            <p:cNvSpPr>
              <a:spLocks noChangeArrowheads="1"/>
            </p:cNvSpPr>
            <p:nvPr/>
          </p:nvSpPr>
          <p:spPr bwMode="auto">
            <a:xfrm>
              <a:off x="7329056" y="3678781"/>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99" name="Rectangle 44"/>
            <p:cNvSpPr>
              <a:spLocks noChangeArrowheads="1"/>
            </p:cNvSpPr>
            <p:nvPr/>
          </p:nvSpPr>
          <p:spPr bwMode="auto">
            <a:xfrm>
              <a:off x="7648133" y="3678781"/>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100" name="Rectangle 44"/>
            <p:cNvSpPr>
              <a:spLocks noChangeArrowheads="1"/>
            </p:cNvSpPr>
            <p:nvPr/>
          </p:nvSpPr>
          <p:spPr bwMode="auto">
            <a:xfrm>
              <a:off x="7967210" y="3678781"/>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101" name="Rectangle 44"/>
            <p:cNvSpPr>
              <a:spLocks noChangeArrowheads="1"/>
            </p:cNvSpPr>
            <p:nvPr/>
          </p:nvSpPr>
          <p:spPr bwMode="auto">
            <a:xfrm>
              <a:off x="8286287" y="3678781"/>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102" name="Rectangle 44"/>
            <p:cNvSpPr>
              <a:spLocks noChangeArrowheads="1"/>
            </p:cNvSpPr>
            <p:nvPr/>
          </p:nvSpPr>
          <p:spPr bwMode="auto">
            <a:xfrm>
              <a:off x="8605364" y="3678781"/>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103" name="Rectangle 44"/>
            <p:cNvSpPr>
              <a:spLocks noChangeArrowheads="1"/>
            </p:cNvSpPr>
            <p:nvPr/>
          </p:nvSpPr>
          <p:spPr bwMode="auto">
            <a:xfrm>
              <a:off x="8924441" y="3678781"/>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104" name="Rectangle 44"/>
            <p:cNvSpPr>
              <a:spLocks noChangeArrowheads="1"/>
            </p:cNvSpPr>
            <p:nvPr/>
          </p:nvSpPr>
          <p:spPr bwMode="auto">
            <a:xfrm>
              <a:off x="9243518" y="3678781"/>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105" name="Rectangle 44"/>
            <p:cNvSpPr>
              <a:spLocks noChangeArrowheads="1"/>
            </p:cNvSpPr>
            <p:nvPr/>
          </p:nvSpPr>
          <p:spPr bwMode="auto">
            <a:xfrm>
              <a:off x="10200747" y="3678781"/>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106" name="Rectangle 44"/>
            <p:cNvSpPr>
              <a:spLocks noChangeArrowheads="1"/>
            </p:cNvSpPr>
            <p:nvPr/>
          </p:nvSpPr>
          <p:spPr bwMode="auto">
            <a:xfrm>
              <a:off x="10519824" y="3678781"/>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107" name="Rectangle 44"/>
            <p:cNvSpPr>
              <a:spLocks noChangeArrowheads="1"/>
            </p:cNvSpPr>
            <p:nvPr/>
          </p:nvSpPr>
          <p:spPr bwMode="auto">
            <a:xfrm>
              <a:off x="10838901" y="3678781"/>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108" name="Rectangle 44"/>
            <p:cNvSpPr>
              <a:spLocks noChangeArrowheads="1"/>
            </p:cNvSpPr>
            <p:nvPr/>
          </p:nvSpPr>
          <p:spPr bwMode="auto">
            <a:xfrm>
              <a:off x="9562595" y="3678781"/>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109" name="Rectangle 44"/>
            <p:cNvSpPr>
              <a:spLocks noChangeArrowheads="1"/>
            </p:cNvSpPr>
            <p:nvPr/>
          </p:nvSpPr>
          <p:spPr bwMode="auto">
            <a:xfrm>
              <a:off x="9881672" y="3678781"/>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grpSp>
      <p:cxnSp>
        <p:nvCxnSpPr>
          <p:cNvPr id="110" name="直接箭头连接符 109"/>
          <p:cNvCxnSpPr/>
          <p:nvPr/>
        </p:nvCxnSpPr>
        <p:spPr>
          <a:xfrm>
            <a:off x="2702440" y="3953933"/>
            <a:ext cx="1914462" cy="0"/>
          </a:xfrm>
          <a:prstGeom prst="straightConnector1">
            <a:avLst/>
          </a:prstGeom>
          <a:ln w="19050">
            <a:solidFill>
              <a:srgbClr val="C0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11" name="直接箭头连接符 110"/>
          <p:cNvCxnSpPr/>
          <p:nvPr/>
        </p:nvCxnSpPr>
        <p:spPr>
          <a:xfrm>
            <a:off x="4696671" y="3953933"/>
            <a:ext cx="1834692" cy="0"/>
          </a:xfrm>
          <a:prstGeom prst="straightConnector1">
            <a:avLst/>
          </a:prstGeom>
          <a:ln w="19050">
            <a:solidFill>
              <a:srgbClr val="C0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12" name="直接箭头连接符 111"/>
          <p:cNvCxnSpPr/>
          <p:nvPr/>
        </p:nvCxnSpPr>
        <p:spPr>
          <a:xfrm>
            <a:off x="6690902" y="3953933"/>
            <a:ext cx="3669384" cy="0"/>
          </a:xfrm>
          <a:prstGeom prst="straightConnector1">
            <a:avLst/>
          </a:prstGeom>
          <a:ln w="19050">
            <a:solidFill>
              <a:srgbClr val="C0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4817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7"/>
                                        </p:tgtEl>
                                        <p:attrNameLst>
                                          <p:attrName>style.visibility</p:attrName>
                                        </p:attrNameLst>
                                      </p:cBhvr>
                                      <p:to>
                                        <p:strVal val="visible"/>
                                      </p:to>
                                    </p:set>
                                    <p:animEffect transition="in" filter="wipe(left)">
                                      <p:cBhvr>
                                        <p:cTn id="7" dur="500"/>
                                        <p:tgtEl>
                                          <p:spTgt spid="77"/>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52"/>
                                        </p:tgtEl>
                                        <p:attrNameLst>
                                          <p:attrName>style.visibility</p:attrName>
                                        </p:attrNameLst>
                                      </p:cBhvr>
                                      <p:to>
                                        <p:strVal val="visible"/>
                                      </p:to>
                                    </p:set>
                                    <p:animEffect transition="in" filter="wipe(left)">
                                      <p:cBhvr>
                                        <p:cTn id="11" dur="500"/>
                                        <p:tgtEl>
                                          <p:spTgt spid="5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78"/>
                                        </p:tgtEl>
                                        <p:attrNameLst>
                                          <p:attrName>style.visibility</p:attrName>
                                        </p:attrNameLst>
                                      </p:cBhvr>
                                      <p:to>
                                        <p:strVal val="visible"/>
                                      </p:to>
                                    </p:set>
                                    <p:animEffect transition="in" filter="wipe(left)">
                                      <p:cBhvr>
                                        <p:cTn id="16" dur="500"/>
                                        <p:tgtEl>
                                          <p:spTgt spid="78"/>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110"/>
                                        </p:tgtEl>
                                        <p:attrNameLst>
                                          <p:attrName>style.visibility</p:attrName>
                                        </p:attrNameLst>
                                      </p:cBhvr>
                                      <p:to>
                                        <p:strVal val="visible"/>
                                      </p:to>
                                    </p:set>
                                    <p:animEffect transition="in" filter="wipe(left)">
                                      <p:cBhvr>
                                        <p:cTn id="21" dur="500"/>
                                        <p:tgtEl>
                                          <p:spTgt spid="110"/>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79"/>
                                        </p:tgtEl>
                                        <p:attrNameLst>
                                          <p:attrName>style.visibility</p:attrName>
                                        </p:attrNameLst>
                                      </p:cBhvr>
                                      <p:to>
                                        <p:strVal val="visible"/>
                                      </p:to>
                                    </p:set>
                                    <p:animEffect transition="in" filter="wipe(left)">
                                      <p:cBhvr>
                                        <p:cTn id="26" dur="500"/>
                                        <p:tgtEl>
                                          <p:spTgt spid="79"/>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86"/>
                                        </p:tgtEl>
                                        <p:attrNameLst>
                                          <p:attrName>style.visibility</p:attrName>
                                        </p:attrNameLst>
                                      </p:cBhvr>
                                      <p:to>
                                        <p:strVal val="visible"/>
                                      </p:to>
                                    </p:set>
                                    <p:animEffect transition="in" filter="wipe(up)">
                                      <p:cBhvr>
                                        <p:cTn id="31" dur="500"/>
                                        <p:tgtEl>
                                          <p:spTgt spid="86"/>
                                        </p:tgtEl>
                                      </p:cBhvr>
                                    </p:animEffect>
                                  </p:childTnLst>
                                </p:cTn>
                              </p:par>
                            </p:childTnLst>
                          </p:cTn>
                        </p:par>
                        <p:par>
                          <p:cTn id="32" fill="hold">
                            <p:stCondLst>
                              <p:cond delay="500"/>
                            </p:stCondLst>
                            <p:childTnLst>
                              <p:par>
                                <p:cTn id="33" presetID="1" presetClass="entr" presetSubtype="0" fill="hold" grpId="0" nodeType="afterEffect">
                                  <p:stCondLst>
                                    <p:cond delay="0"/>
                                  </p:stCondLst>
                                  <p:childTnLst>
                                    <p:set>
                                      <p:cBhvr>
                                        <p:cTn id="34" dur="1" fill="hold">
                                          <p:stCondLst>
                                            <p:cond delay="0"/>
                                          </p:stCondLst>
                                        </p:cTn>
                                        <p:tgtEl>
                                          <p:spTgt spid="8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111"/>
                                        </p:tgtEl>
                                        <p:attrNameLst>
                                          <p:attrName>style.visibility</p:attrName>
                                        </p:attrNameLst>
                                      </p:cBhvr>
                                      <p:to>
                                        <p:strVal val="visible"/>
                                      </p:to>
                                    </p:set>
                                    <p:animEffect transition="in" filter="wipe(left)">
                                      <p:cBhvr>
                                        <p:cTn id="39" dur="500"/>
                                        <p:tgtEl>
                                          <p:spTgt spid="111"/>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88"/>
                                        </p:tgtEl>
                                        <p:attrNameLst>
                                          <p:attrName>style.visibility</p:attrName>
                                        </p:attrNameLst>
                                      </p:cBhvr>
                                      <p:to>
                                        <p:strVal val="visible"/>
                                      </p:to>
                                    </p:set>
                                    <p:animEffect transition="in" filter="wipe(left)">
                                      <p:cBhvr>
                                        <p:cTn id="44" dur="500"/>
                                        <p:tgtEl>
                                          <p:spTgt spid="88"/>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1" fill="hold" nodeType="clickEffect">
                                  <p:stCondLst>
                                    <p:cond delay="0"/>
                                  </p:stCondLst>
                                  <p:childTnLst>
                                    <p:set>
                                      <p:cBhvr>
                                        <p:cTn id="48" dur="1" fill="hold">
                                          <p:stCondLst>
                                            <p:cond delay="0"/>
                                          </p:stCondLst>
                                        </p:cTn>
                                        <p:tgtEl>
                                          <p:spTgt spid="95"/>
                                        </p:tgtEl>
                                        <p:attrNameLst>
                                          <p:attrName>style.visibility</p:attrName>
                                        </p:attrNameLst>
                                      </p:cBhvr>
                                      <p:to>
                                        <p:strVal val="visible"/>
                                      </p:to>
                                    </p:set>
                                    <p:animEffect transition="in" filter="wipe(up)">
                                      <p:cBhvr>
                                        <p:cTn id="49" dur="500"/>
                                        <p:tgtEl>
                                          <p:spTgt spid="95"/>
                                        </p:tgtEl>
                                      </p:cBhvr>
                                    </p:animEffect>
                                  </p:childTnLst>
                                </p:cTn>
                              </p:par>
                            </p:childTnLst>
                          </p:cTn>
                        </p:par>
                        <p:par>
                          <p:cTn id="50" fill="hold">
                            <p:stCondLst>
                              <p:cond delay="500"/>
                            </p:stCondLst>
                            <p:childTnLst>
                              <p:par>
                                <p:cTn id="51" presetID="1" presetClass="entr" presetSubtype="0" fill="hold" grpId="0" nodeType="afterEffect">
                                  <p:stCondLst>
                                    <p:cond delay="0"/>
                                  </p:stCondLst>
                                  <p:childTnLst>
                                    <p:set>
                                      <p:cBhvr>
                                        <p:cTn id="52" dur="1" fill="hold">
                                          <p:stCondLst>
                                            <p:cond delay="0"/>
                                          </p:stCondLst>
                                        </p:cTn>
                                        <p:tgtEl>
                                          <p:spTgt spid="96"/>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112"/>
                                        </p:tgtEl>
                                        <p:attrNameLst>
                                          <p:attrName>style.visibility</p:attrName>
                                        </p:attrNameLst>
                                      </p:cBhvr>
                                      <p:to>
                                        <p:strVal val="visible"/>
                                      </p:to>
                                    </p:set>
                                    <p:animEffect transition="in" filter="wipe(left)">
                                      <p:cBhvr>
                                        <p:cTn id="57" dur="500"/>
                                        <p:tgtEl>
                                          <p:spTgt spid="112"/>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97"/>
                                        </p:tgtEl>
                                        <p:attrNameLst>
                                          <p:attrName>style.visibility</p:attrName>
                                        </p:attrNameLst>
                                      </p:cBhvr>
                                      <p:to>
                                        <p:strVal val="visible"/>
                                      </p:to>
                                    </p:set>
                                    <p:animEffect transition="in" filter="wipe(left)">
                                      <p:cBhvr>
                                        <p:cTn id="62" dur="500"/>
                                        <p:tgtEl>
                                          <p:spTgt spid="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 grpId="0"/>
      <p:bldP spid="78" grpId="0"/>
      <p:bldP spid="87" grpId="0" animBg="1"/>
      <p:bldP spid="9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成帧（</a:t>
            </a:r>
            <a:r>
              <a:rPr lang="en-US" altLang="zh-CN" dirty="0"/>
              <a:t>Framing</a:t>
            </a:r>
            <a:r>
              <a:rPr lang="zh-CN" altLang="en-US" dirty="0"/>
              <a:t>）</a:t>
            </a:r>
          </a:p>
        </p:txBody>
      </p:sp>
      <p:sp>
        <p:nvSpPr>
          <p:cNvPr id="3" name="内容占位符 2"/>
          <p:cNvSpPr>
            <a:spLocks noGrp="1"/>
          </p:cNvSpPr>
          <p:nvPr>
            <p:ph idx="1"/>
          </p:nvPr>
        </p:nvSpPr>
        <p:spPr/>
        <p:txBody>
          <a:bodyPr/>
          <a:lstStyle/>
          <a:p>
            <a:pPr>
              <a:lnSpc>
                <a:spcPts val="3600"/>
              </a:lnSpc>
            </a:pPr>
            <a:r>
              <a:rPr lang="zh-CN" altLang="en-US" dirty="0">
                <a:solidFill>
                  <a:srgbClr val="C00000"/>
                </a:solidFill>
              </a:rPr>
              <a:t>带</a:t>
            </a:r>
            <a:r>
              <a:rPr lang="zh-CN" altLang="en-US" b="1" dirty="0">
                <a:solidFill>
                  <a:srgbClr val="C00000"/>
                </a:solidFill>
              </a:rPr>
              <a:t>比特</a:t>
            </a:r>
            <a:r>
              <a:rPr lang="zh-CN" altLang="en-US" dirty="0">
                <a:solidFill>
                  <a:srgbClr val="C00000"/>
                </a:solidFill>
              </a:rPr>
              <a:t>填充的定界符法：</a:t>
            </a:r>
            <a:r>
              <a:rPr lang="zh-CN" altLang="en-US" dirty="0"/>
              <a:t>接收方的处理</a:t>
            </a:r>
            <a:endParaRPr lang="en-US" altLang="zh-CN" dirty="0"/>
          </a:p>
          <a:p>
            <a:pPr lvl="1">
              <a:lnSpc>
                <a:spcPts val="3600"/>
              </a:lnSpc>
            </a:pPr>
            <a:r>
              <a:rPr lang="zh-CN" altLang="en-US" dirty="0"/>
              <a:t>若出现</a:t>
            </a:r>
            <a:r>
              <a:rPr lang="zh-CN" altLang="en-US" dirty="0">
                <a:solidFill>
                  <a:srgbClr val="7030A0"/>
                </a:solidFill>
              </a:rPr>
              <a:t>连续</a:t>
            </a:r>
            <a:r>
              <a:rPr lang="en-US" altLang="zh-CN" dirty="0">
                <a:solidFill>
                  <a:srgbClr val="7030A0"/>
                </a:solidFill>
              </a:rPr>
              <a:t>5</a:t>
            </a:r>
            <a:r>
              <a:rPr lang="zh-CN" altLang="en-US" dirty="0">
                <a:solidFill>
                  <a:srgbClr val="7030A0"/>
                </a:solidFill>
              </a:rPr>
              <a:t>个</a:t>
            </a:r>
            <a:r>
              <a:rPr lang="en-US" altLang="zh-CN" dirty="0">
                <a:solidFill>
                  <a:srgbClr val="7030A0"/>
                </a:solidFill>
              </a:rPr>
              <a:t>1</a:t>
            </a:r>
            <a:r>
              <a:rPr lang="zh-CN" altLang="en-US" dirty="0"/>
              <a:t>比特</a:t>
            </a:r>
            <a:endParaRPr lang="en-US" altLang="zh-CN" dirty="0"/>
          </a:p>
          <a:p>
            <a:pPr lvl="2">
              <a:lnSpc>
                <a:spcPts val="3600"/>
              </a:lnSpc>
              <a:spcBef>
                <a:spcPts val="0"/>
              </a:spcBef>
              <a:buFont typeface="Microsoft YaHei" panose="020B0503020204020204" pitchFamily="34" charset="-122"/>
              <a:buChar char="−"/>
            </a:pPr>
            <a:r>
              <a:rPr lang="zh-CN" altLang="en-US" dirty="0"/>
              <a:t>若下一比特为</a:t>
            </a:r>
            <a:r>
              <a:rPr lang="en-US" altLang="zh-CN" dirty="0">
                <a:solidFill>
                  <a:srgbClr val="C00000"/>
                </a:solidFill>
              </a:rPr>
              <a:t>0</a:t>
            </a:r>
            <a:r>
              <a:rPr lang="zh-CN" altLang="en-US" dirty="0"/>
              <a:t>，则为</a:t>
            </a:r>
            <a:r>
              <a:rPr lang="zh-CN" altLang="en-US" dirty="0">
                <a:solidFill>
                  <a:srgbClr val="7030A0"/>
                </a:solidFill>
              </a:rPr>
              <a:t>有效载荷</a:t>
            </a:r>
            <a:r>
              <a:rPr lang="zh-CN" altLang="en-US" dirty="0"/>
              <a:t>，直接</a:t>
            </a:r>
            <a:r>
              <a:rPr lang="zh-CN" altLang="en-US" dirty="0">
                <a:solidFill>
                  <a:srgbClr val="7030A0"/>
                </a:solidFill>
              </a:rPr>
              <a:t>丢弃</a:t>
            </a:r>
            <a:r>
              <a:rPr lang="en-US" altLang="zh-CN" dirty="0">
                <a:solidFill>
                  <a:srgbClr val="7030A0"/>
                </a:solidFill>
              </a:rPr>
              <a:t>0</a:t>
            </a:r>
            <a:r>
              <a:rPr lang="zh-CN" altLang="en-US" dirty="0"/>
              <a:t>比特</a:t>
            </a:r>
            <a:endParaRPr lang="en-US" altLang="zh-CN" dirty="0"/>
          </a:p>
          <a:p>
            <a:pPr lvl="2">
              <a:lnSpc>
                <a:spcPts val="3600"/>
              </a:lnSpc>
              <a:spcBef>
                <a:spcPts val="0"/>
              </a:spcBef>
              <a:buFont typeface="Microsoft YaHei" panose="020B0503020204020204" pitchFamily="34" charset="-122"/>
              <a:buChar char="−"/>
            </a:pPr>
            <a:r>
              <a:rPr lang="zh-CN" altLang="en-US" dirty="0"/>
              <a:t>若下一比特为</a:t>
            </a:r>
            <a:r>
              <a:rPr lang="en-US" altLang="zh-CN" dirty="0">
                <a:solidFill>
                  <a:srgbClr val="C00000"/>
                </a:solidFill>
              </a:rPr>
              <a:t>1</a:t>
            </a:r>
            <a:r>
              <a:rPr lang="zh-CN" altLang="en-US" dirty="0"/>
              <a:t>，则连同后一比特的</a:t>
            </a:r>
            <a:r>
              <a:rPr lang="en-US" altLang="zh-CN" dirty="0"/>
              <a:t>0</a:t>
            </a:r>
            <a:r>
              <a:rPr lang="zh-CN" altLang="en-US" dirty="0"/>
              <a:t>，构成</a:t>
            </a:r>
            <a:r>
              <a:rPr lang="zh-CN" altLang="en-US" dirty="0">
                <a:solidFill>
                  <a:srgbClr val="7030A0"/>
                </a:solidFill>
              </a:rPr>
              <a:t>定界符，</a:t>
            </a:r>
            <a:r>
              <a:rPr lang="zh-CN" altLang="en-US" dirty="0"/>
              <a:t>一帧结束</a:t>
            </a:r>
          </a:p>
          <a:p>
            <a:pPr marL="457200" lvl="1" indent="0">
              <a:buNone/>
            </a:pPr>
            <a:endParaRPr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6" name="文本框 5">
            <a:extLst>
              <a:ext uri="{FF2B5EF4-FFF2-40B4-BE49-F238E27FC236}">
                <a16:creationId xmlns:a16="http://schemas.microsoft.com/office/drawing/2014/main" id="{A90BAEBE-C2E5-49DC-89F1-E700B708FC09}"/>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3.1 </a:t>
            </a:r>
            <a:r>
              <a:rPr lang="zh-CN" altLang="zh-CN" dirty="0">
                <a:solidFill>
                  <a:schemeClr val="bg1">
                    <a:lumMod val="65000"/>
                  </a:schemeClr>
                </a:solidFill>
                <a:latin typeface="微软雅黑" panose="020B0503020204020204" pitchFamily="34" charset="-122"/>
                <a:ea typeface="微软雅黑" panose="020B0503020204020204" pitchFamily="34" charset="-122"/>
              </a:rPr>
              <a:t>数据链路层的设计问题</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113" name="Rectangle 44"/>
          <p:cNvSpPr>
            <a:spLocks noChangeArrowheads="1"/>
          </p:cNvSpPr>
          <p:nvPr/>
        </p:nvSpPr>
        <p:spPr bwMode="auto">
          <a:xfrm>
            <a:off x="7015215" y="4554313"/>
            <a:ext cx="319077" cy="287338"/>
          </a:xfrm>
          <a:prstGeom prst="rect">
            <a:avLst/>
          </a:prstGeom>
          <a:solidFill>
            <a:schemeClr val="bg1">
              <a:lumMod val="95000"/>
            </a:schemeClr>
          </a:solidFill>
          <a:ln w="1270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0</a:t>
            </a:r>
          </a:p>
        </p:txBody>
      </p:sp>
      <p:sp>
        <p:nvSpPr>
          <p:cNvPr id="114" name="Rectangle 44"/>
          <p:cNvSpPr>
            <a:spLocks noChangeArrowheads="1"/>
          </p:cNvSpPr>
          <p:nvPr/>
        </p:nvSpPr>
        <p:spPr bwMode="auto">
          <a:xfrm>
            <a:off x="4781676" y="4554307"/>
            <a:ext cx="319077" cy="287338"/>
          </a:xfrm>
          <a:prstGeom prst="rect">
            <a:avLst/>
          </a:prstGeom>
          <a:solidFill>
            <a:schemeClr val="bg1">
              <a:lumMod val="95000"/>
            </a:schemeClr>
          </a:solidFill>
          <a:ln w="1270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0</a:t>
            </a:r>
          </a:p>
        </p:txBody>
      </p:sp>
      <p:grpSp>
        <p:nvGrpSpPr>
          <p:cNvPr id="115" name="组合 114"/>
          <p:cNvGrpSpPr/>
          <p:nvPr/>
        </p:nvGrpSpPr>
        <p:grpSpPr>
          <a:xfrm>
            <a:off x="2867214" y="5537993"/>
            <a:ext cx="1914462" cy="287338"/>
            <a:chOff x="3131931" y="5275314"/>
            <a:chExt cx="1914462" cy="287338"/>
          </a:xfrm>
          <a:solidFill>
            <a:schemeClr val="bg1">
              <a:lumMod val="95000"/>
            </a:schemeClr>
          </a:solidFill>
          <a:scene3d>
            <a:camera prst="orthographicFront">
              <a:rot lat="0" lon="0" rev="0"/>
            </a:camera>
            <a:lightRig rig="soft" dir="t">
              <a:rot lat="0" lon="0" rev="0"/>
            </a:lightRig>
          </a:scene3d>
        </p:grpSpPr>
        <p:sp>
          <p:nvSpPr>
            <p:cNvPr id="116" name="Rectangle 44"/>
            <p:cNvSpPr>
              <a:spLocks noChangeArrowheads="1"/>
            </p:cNvSpPr>
            <p:nvPr/>
          </p:nvSpPr>
          <p:spPr bwMode="auto">
            <a:xfrm>
              <a:off x="3131931" y="527531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0</a:t>
              </a:r>
            </a:p>
          </p:txBody>
        </p:sp>
        <p:sp>
          <p:nvSpPr>
            <p:cNvPr id="117" name="Rectangle 44"/>
            <p:cNvSpPr>
              <a:spLocks noChangeArrowheads="1"/>
            </p:cNvSpPr>
            <p:nvPr/>
          </p:nvSpPr>
          <p:spPr bwMode="auto">
            <a:xfrm>
              <a:off x="3451008" y="527531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1</a:t>
              </a:r>
            </a:p>
          </p:txBody>
        </p:sp>
        <p:sp>
          <p:nvSpPr>
            <p:cNvPr id="118" name="Rectangle 44"/>
            <p:cNvSpPr>
              <a:spLocks noChangeArrowheads="1"/>
            </p:cNvSpPr>
            <p:nvPr/>
          </p:nvSpPr>
          <p:spPr bwMode="auto">
            <a:xfrm>
              <a:off x="3770085" y="527531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1</a:t>
              </a:r>
            </a:p>
          </p:txBody>
        </p:sp>
        <p:sp>
          <p:nvSpPr>
            <p:cNvPr id="119" name="Rectangle 44"/>
            <p:cNvSpPr>
              <a:spLocks noChangeArrowheads="1"/>
            </p:cNvSpPr>
            <p:nvPr/>
          </p:nvSpPr>
          <p:spPr bwMode="auto">
            <a:xfrm>
              <a:off x="4089162" y="527531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1</a:t>
              </a:r>
            </a:p>
          </p:txBody>
        </p:sp>
        <p:sp>
          <p:nvSpPr>
            <p:cNvPr id="120" name="Rectangle 44"/>
            <p:cNvSpPr>
              <a:spLocks noChangeArrowheads="1"/>
            </p:cNvSpPr>
            <p:nvPr/>
          </p:nvSpPr>
          <p:spPr bwMode="auto">
            <a:xfrm>
              <a:off x="4408239" y="527531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1</a:t>
              </a:r>
            </a:p>
          </p:txBody>
        </p:sp>
        <p:sp>
          <p:nvSpPr>
            <p:cNvPr id="121" name="Rectangle 44"/>
            <p:cNvSpPr>
              <a:spLocks noChangeArrowheads="1"/>
            </p:cNvSpPr>
            <p:nvPr/>
          </p:nvSpPr>
          <p:spPr bwMode="auto">
            <a:xfrm>
              <a:off x="4727316" y="527531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1</a:t>
              </a:r>
            </a:p>
          </p:txBody>
        </p:sp>
      </p:grpSp>
      <p:grpSp>
        <p:nvGrpSpPr>
          <p:cNvPr id="122" name="组合 121"/>
          <p:cNvGrpSpPr/>
          <p:nvPr/>
        </p:nvGrpSpPr>
        <p:grpSpPr>
          <a:xfrm>
            <a:off x="4781676" y="5537993"/>
            <a:ext cx="1914462" cy="287344"/>
            <a:chOff x="5046393" y="5275314"/>
            <a:chExt cx="1914462" cy="287344"/>
          </a:xfrm>
          <a:solidFill>
            <a:schemeClr val="bg1">
              <a:lumMod val="95000"/>
            </a:schemeClr>
          </a:solidFill>
          <a:scene3d>
            <a:camera prst="orthographicFront">
              <a:rot lat="0" lon="0" rev="0"/>
            </a:camera>
            <a:lightRig rig="soft" dir="t">
              <a:rot lat="0" lon="0" rev="0"/>
            </a:lightRig>
          </a:scene3d>
        </p:grpSpPr>
        <p:sp>
          <p:nvSpPr>
            <p:cNvPr id="123" name="Rectangle 44"/>
            <p:cNvSpPr>
              <a:spLocks noChangeArrowheads="1"/>
            </p:cNvSpPr>
            <p:nvPr/>
          </p:nvSpPr>
          <p:spPr bwMode="auto">
            <a:xfrm>
              <a:off x="5046393" y="527531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0</a:t>
              </a:r>
            </a:p>
          </p:txBody>
        </p:sp>
        <p:sp>
          <p:nvSpPr>
            <p:cNvPr id="124" name="Rectangle 44"/>
            <p:cNvSpPr>
              <a:spLocks noChangeArrowheads="1"/>
            </p:cNvSpPr>
            <p:nvPr/>
          </p:nvSpPr>
          <p:spPr bwMode="auto">
            <a:xfrm>
              <a:off x="5365470" y="527531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1</a:t>
              </a:r>
            </a:p>
          </p:txBody>
        </p:sp>
        <p:sp>
          <p:nvSpPr>
            <p:cNvPr id="125" name="Rectangle 44"/>
            <p:cNvSpPr>
              <a:spLocks noChangeArrowheads="1"/>
            </p:cNvSpPr>
            <p:nvPr/>
          </p:nvSpPr>
          <p:spPr bwMode="auto">
            <a:xfrm>
              <a:off x="5684547" y="527531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1</a:t>
              </a:r>
            </a:p>
          </p:txBody>
        </p:sp>
        <p:sp>
          <p:nvSpPr>
            <p:cNvPr id="126" name="Rectangle 44"/>
            <p:cNvSpPr>
              <a:spLocks noChangeArrowheads="1"/>
            </p:cNvSpPr>
            <p:nvPr/>
          </p:nvSpPr>
          <p:spPr bwMode="auto">
            <a:xfrm>
              <a:off x="6003624" y="527531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1</a:t>
              </a:r>
            </a:p>
          </p:txBody>
        </p:sp>
        <p:sp>
          <p:nvSpPr>
            <p:cNvPr id="127" name="Rectangle 44"/>
            <p:cNvSpPr>
              <a:spLocks noChangeArrowheads="1"/>
            </p:cNvSpPr>
            <p:nvPr/>
          </p:nvSpPr>
          <p:spPr bwMode="auto">
            <a:xfrm>
              <a:off x="6322701" y="5275320"/>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1</a:t>
              </a:r>
            </a:p>
          </p:txBody>
        </p:sp>
        <p:sp>
          <p:nvSpPr>
            <p:cNvPr id="128" name="Rectangle 44"/>
            <p:cNvSpPr>
              <a:spLocks noChangeArrowheads="1"/>
            </p:cNvSpPr>
            <p:nvPr/>
          </p:nvSpPr>
          <p:spPr bwMode="auto">
            <a:xfrm>
              <a:off x="6641778" y="5275320"/>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1</a:t>
              </a:r>
            </a:p>
          </p:txBody>
        </p:sp>
      </p:grpSp>
      <p:grpSp>
        <p:nvGrpSpPr>
          <p:cNvPr id="129" name="组合 128"/>
          <p:cNvGrpSpPr/>
          <p:nvPr/>
        </p:nvGrpSpPr>
        <p:grpSpPr>
          <a:xfrm>
            <a:off x="6696138" y="5537999"/>
            <a:ext cx="3828924" cy="287338"/>
            <a:chOff x="6960855" y="5275320"/>
            <a:chExt cx="3828924" cy="287338"/>
          </a:xfrm>
          <a:solidFill>
            <a:schemeClr val="bg1">
              <a:lumMod val="95000"/>
            </a:schemeClr>
          </a:solidFill>
          <a:scene3d>
            <a:camera prst="orthographicFront">
              <a:rot lat="0" lon="0" rev="0"/>
            </a:camera>
            <a:lightRig rig="soft" dir="t">
              <a:rot lat="0" lon="0" rev="0"/>
            </a:lightRig>
          </a:scene3d>
        </p:grpSpPr>
        <p:sp>
          <p:nvSpPr>
            <p:cNvPr id="130" name="Rectangle 44"/>
            <p:cNvSpPr>
              <a:spLocks noChangeArrowheads="1"/>
            </p:cNvSpPr>
            <p:nvPr/>
          </p:nvSpPr>
          <p:spPr bwMode="auto">
            <a:xfrm>
              <a:off x="6960855" y="5275320"/>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131" name="Rectangle 44"/>
            <p:cNvSpPr>
              <a:spLocks noChangeArrowheads="1"/>
            </p:cNvSpPr>
            <p:nvPr/>
          </p:nvSpPr>
          <p:spPr bwMode="auto">
            <a:xfrm>
              <a:off x="7279932" y="5275320"/>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132" name="Rectangle 44"/>
            <p:cNvSpPr>
              <a:spLocks noChangeArrowheads="1"/>
            </p:cNvSpPr>
            <p:nvPr/>
          </p:nvSpPr>
          <p:spPr bwMode="auto">
            <a:xfrm>
              <a:off x="7599009" y="5275320"/>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133" name="Rectangle 44"/>
            <p:cNvSpPr>
              <a:spLocks noChangeArrowheads="1"/>
            </p:cNvSpPr>
            <p:nvPr/>
          </p:nvSpPr>
          <p:spPr bwMode="auto">
            <a:xfrm>
              <a:off x="7918086" y="5275320"/>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134" name="Rectangle 44"/>
            <p:cNvSpPr>
              <a:spLocks noChangeArrowheads="1"/>
            </p:cNvSpPr>
            <p:nvPr/>
          </p:nvSpPr>
          <p:spPr bwMode="auto">
            <a:xfrm>
              <a:off x="8237163" y="5275320"/>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135" name="Rectangle 44"/>
            <p:cNvSpPr>
              <a:spLocks noChangeArrowheads="1"/>
            </p:cNvSpPr>
            <p:nvPr/>
          </p:nvSpPr>
          <p:spPr bwMode="auto">
            <a:xfrm>
              <a:off x="8556240" y="5275320"/>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136" name="Rectangle 44"/>
            <p:cNvSpPr>
              <a:spLocks noChangeArrowheads="1"/>
            </p:cNvSpPr>
            <p:nvPr/>
          </p:nvSpPr>
          <p:spPr bwMode="auto">
            <a:xfrm>
              <a:off x="8875317" y="5275320"/>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137" name="Rectangle 44"/>
            <p:cNvSpPr>
              <a:spLocks noChangeArrowheads="1"/>
            </p:cNvSpPr>
            <p:nvPr/>
          </p:nvSpPr>
          <p:spPr bwMode="auto">
            <a:xfrm>
              <a:off x="9194394" y="5275320"/>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138" name="Rectangle 44"/>
            <p:cNvSpPr>
              <a:spLocks noChangeArrowheads="1"/>
            </p:cNvSpPr>
            <p:nvPr/>
          </p:nvSpPr>
          <p:spPr bwMode="auto">
            <a:xfrm>
              <a:off x="9513471" y="5275320"/>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139" name="Rectangle 44"/>
            <p:cNvSpPr>
              <a:spLocks noChangeArrowheads="1"/>
            </p:cNvSpPr>
            <p:nvPr/>
          </p:nvSpPr>
          <p:spPr bwMode="auto">
            <a:xfrm>
              <a:off x="9832548" y="5275320"/>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140" name="Rectangle 44"/>
            <p:cNvSpPr>
              <a:spLocks noChangeArrowheads="1"/>
            </p:cNvSpPr>
            <p:nvPr/>
          </p:nvSpPr>
          <p:spPr bwMode="auto">
            <a:xfrm>
              <a:off x="10151625" y="5275320"/>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141" name="Rectangle 44"/>
            <p:cNvSpPr>
              <a:spLocks noChangeArrowheads="1"/>
            </p:cNvSpPr>
            <p:nvPr/>
          </p:nvSpPr>
          <p:spPr bwMode="auto">
            <a:xfrm>
              <a:off x="10470702" y="5275320"/>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grpSp>
      <p:sp>
        <p:nvSpPr>
          <p:cNvPr id="142" name="矩形 141"/>
          <p:cNvSpPr/>
          <p:nvPr/>
        </p:nvSpPr>
        <p:spPr>
          <a:xfrm>
            <a:off x="1042791" y="5481607"/>
            <a:ext cx="1715708" cy="400110"/>
          </a:xfrm>
          <a:prstGeom prst="rect">
            <a:avLst/>
          </a:prstGeom>
          <a:noFill/>
          <a:ln>
            <a:noFill/>
          </a:ln>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处理后的载荷</a:t>
            </a:r>
          </a:p>
        </p:txBody>
      </p:sp>
      <p:sp>
        <p:nvSpPr>
          <p:cNvPr id="143" name="矩形 142"/>
          <p:cNvSpPr/>
          <p:nvPr/>
        </p:nvSpPr>
        <p:spPr>
          <a:xfrm>
            <a:off x="1042791" y="4497921"/>
            <a:ext cx="1824422" cy="400110"/>
          </a:xfrm>
          <a:prstGeom prst="rect">
            <a:avLst/>
          </a:prstGeom>
          <a:noFill/>
          <a:ln>
            <a:noFill/>
          </a:ln>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收到的比特流</a:t>
            </a:r>
          </a:p>
        </p:txBody>
      </p:sp>
      <p:grpSp>
        <p:nvGrpSpPr>
          <p:cNvPr id="144" name="组合 143"/>
          <p:cNvGrpSpPr/>
          <p:nvPr/>
        </p:nvGrpSpPr>
        <p:grpSpPr>
          <a:xfrm>
            <a:off x="2867214" y="4554307"/>
            <a:ext cx="1914462" cy="287338"/>
            <a:chOff x="2861978" y="3678775"/>
            <a:chExt cx="1914462" cy="287338"/>
          </a:xfrm>
          <a:solidFill>
            <a:schemeClr val="bg1">
              <a:lumMod val="95000"/>
            </a:schemeClr>
          </a:solidFill>
          <a:scene3d>
            <a:camera prst="orthographicFront">
              <a:rot lat="0" lon="0" rev="0"/>
            </a:camera>
            <a:lightRig rig="soft" dir="t">
              <a:rot lat="0" lon="0" rev="0"/>
            </a:lightRig>
          </a:scene3d>
        </p:grpSpPr>
        <p:sp>
          <p:nvSpPr>
            <p:cNvPr id="145" name="Rectangle 44"/>
            <p:cNvSpPr>
              <a:spLocks noChangeArrowheads="1"/>
            </p:cNvSpPr>
            <p:nvPr/>
          </p:nvSpPr>
          <p:spPr bwMode="auto">
            <a:xfrm>
              <a:off x="2861978" y="3678775"/>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0</a:t>
              </a:r>
            </a:p>
          </p:txBody>
        </p:sp>
        <p:sp>
          <p:nvSpPr>
            <p:cNvPr id="146" name="Rectangle 44"/>
            <p:cNvSpPr>
              <a:spLocks noChangeArrowheads="1"/>
            </p:cNvSpPr>
            <p:nvPr/>
          </p:nvSpPr>
          <p:spPr bwMode="auto">
            <a:xfrm>
              <a:off x="3181055" y="3678775"/>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1</a:t>
              </a:r>
            </a:p>
          </p:txBody>
        </p:sp>
        <p:sp>
          <p:nvSpPr>
            <p:cNvPr id="147" name="Rectangle 44"/>
            <p:cNvSpPr>
              <a:spLocks noChangeArrowheads="1"/>
            </p:cNvSpPr>
            <p:nvPr/>
          </p:nvSpPr>
          <p:spPr bwMode="auto">
            <a:xfrm>
              <a:off x="3500132" y="3678775"/>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1</a:t>
              </a:r>
            </a:p>
          </p:txBody>
        </p:sp>
        <p:sp>
          <p:nvSpPr>
            <p:cNvPr id="148" name="Rectangle 44"/>
            <p:cNvSpPr>
              <a:spLocks noChangeArrowheads="1"/>
            </p:cNvSpPr>
            <p:nvPr/>
          </p:nvSpPr>
          <p:spPr bwMode="auto">
            <a:xfrm>
              <a:off x="3819209" y="3678775"/>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1</a:t>
              </a:r>
            </a:p>
          </p:txBody>
        </p:sp>
        <p:sp>
          <p:nvSpPr>
            <p:cNvPr id="149" name="Rectangle 44"/>
            <p:cNvSpPr>
              <a:spLocks noChangeArrowheads="1"/>
            </p:cNvSpPr>
            <p:nvPr/>
          </p:nvSpPr>
          <p:spPr bwMode="auto">
            <a:xfrm>
              <a:off x="4138286" y="3678775"/>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1</a:t>
              </a:r>
            </a:p>
          </p:txBody>
        </p:sp>
        <p:sp>
          <p:nvSpPr>
            <p:cNvPr id="150" name="Rectangle 44"/>
            <p:cNvSpPr>
              <a:spLocks noChangeArrowheads="1"/>
            </p:cNvSpPr>
            <p:nvPr/>
          </p:nvSpPr>
          <p:spPr bwMode="auto">
            <a:xfrm>
              <a:off x="4457363" y="3678775"/>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1</a:t>
              </a:r>
            </a:p>
          </p:txBody>
        </p:sp>
      </p:grpSp>
      <p:grpSp>
        <p:nvGrpSpPr>
          <p:cNvPr id="151" name="组合 150"/>
          <p:cNvGrpSpPr/>
          <p:nvPr/>
        </p:nvGrpSpPr>
        <p:grpSpPr>
          <a:xfrm>
            <a:off x="5100753" y="4554307"/>
            <a:ext cx="1914462" cy="287344"/>
            <a:chOff x="5095517" y="3678775"/>
            <a:chExt cx="1914462" cy="287344"/>
          </a:xfrm>
          <a:solidFill>
            <a:schemeClr val="bg1">
              <a:lumMod val="95000"/>
            </a:schemeClr>
          </a:solidFill>
          <a:scene3d>
            <a:camera prst="orthographicFront">
              <a:rot lat="0" lon="0" rev="0"/>
            </a:camera>
            <a:lightRig rig="soft" dir="t">
              <a:rot lat="0" lon="0" rev="0"/>
            </a:lightRig>
          </a:scene3d>
        </p:grpSpPr>
        <p:sp>
          <p:nvSpPr>
            <p:cNvPr id="152" name="Rectangle 44"/>
            <p:cNvSpPr>
              <a:spLocks noChangeArrowheads="1"/>
            </p:cNvSpPr>
            <p:nvPr/>
          </p:nvSpPr>
          <p:spPr bwMode="auto">
            <a:xfrm>
              <a:off x="5095517" y="3678775"/>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0</a:t>
              </a:r>
            </a:p>
          </p:txBody>
        </p:sp>
        <p:sp>
          <p:nvSpPr>
            <p:cNvPr id="153" name="Rectangle 44"/>
            <p:cNvSpPr>
              <a:spLocks noChangeArrowheads="1"/>
            </p:cNvSpPr>
            <p:nvPr/>
          </p:nvSpPr>
          <p:spPr bwMode="auto">
            <a:xfrm>
              <a:off x="5414594" y="3678775"/>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1</a:t>
              </a:r>
            </a:p>
          </p:txBody>
        </p:sp>
        <p:sp>
          <p:nvSpPr>
            <p:cNvPr id="154" name="Rectangle 44"/>
            <p:cNvSpPr>
              <a:spLocks noChangeArrowheads="1"/>
            </p:cNvSpPr>
            <p:nvPr/>
          </p:nvSpPr>
          <p:spPr bwMode="auto">
            <a:xfrm>
              <a:off x="5733671" y="3678775"/>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1</a:t>
              </a:r>
            </a:p>
          </p:txBody>
        </p:sp>
        <p:sp>
          <p:nvSpPr>
            <p:cNvPr id="155" name="Rectangle 44"/>
            <p:cNvSpPr>
              <a:spLocks noChangeArrowheads="1"/>
            </p:cNvSpPr>
            <p:nvPr/>
          </p:nvSpPr>
          <p:spPr bwMode="auto">
            <a:xfrm>
              <a:off x="6052748" y="3678781"/>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1</a:t>
              </a:r>
            </a:p>
          </p:txBody>
        </p:sp>
        <p:sp>
          <p:nvSpPr>
            <p:cNvPr id="156" name="Rectangle 44"/>
            <p:cNvSpPr>
              <a:spLocks noChangeArrowheads="1"/>
            </p:cNvSpPr>
            <p:nvPr/>
          </p:nvSpPr>
          <p:spPr bwMode="auto">
            <a:xfrm>
              <a:off x="6371825" y="3678781"/>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1</a:t>
              </a:r>
            </a:p>
          </p:txBody>
        </p:sp>
        <p:sp>
          <p:nvSpPr>
            <p:cNvPr id="157" name="Rectangle 44"/>
            <p:cNvSpPr>
              <a:spLocks noChangeArrowheads="1"/>
            </p:cNvSpPr>
            <p:nvPr/>
          </p:nvSpPr>
          <p:spPr bwMode="auto">
            <a:xfrm>
              <a:off x="6690902" y="3678781"/>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1</a:t>
              </a:r>
            </a:p>
          </p:txBody>
        </p:sp>
      </p:grpSp>
      <p:grpSp>
        <p:nvGrpSpPr>
          <p:cNvPr id="158" name="组合 157"/>
          <p:cNvGrpSpPr/>
          <p:nvPr/>
        </p:nvGrpSpPr>
        <p:grpSpPr>
          <a:xfrm>
            <a:off x="7334292" y="4554313"/>
            <a:ext cx="3828922" cy="287338"/>
            <a:chOff x="7329056" y="3678781"/>
            <a:chExt cx="3828922" cy="287338"/>
          </a:xfrm>
          <a:solidFill>
            <a:schemeClr val="bg1">
              <a:lumMod val="95000"/>
            </a:schemeClr>
          </a:solidFill>
          <a:scene3d>
            <a:camera prst="orthographicFront">
              <a:rot lat="0" lon="0" rev="0"/>
            </a:camera>
            <a:lightRig rig="soft" dir="t">
              <a:rot lat="0" lon="0" rev="0"/>
            </a:lightRig>
          </a:scene3d>
        </p:grpSpPr>
        <p:sp>
          <p:nvSpPr>
            <p:cNvPr id="159" name="Rectangle 44"/>
            <p:cNvSpPr>
              <a:spLocks noChangeArrowheads="1"/>
            </p:cNvSpPr>
            <p:nvPr/>
          </p:nvSpPr>
          <p:spPr bwMode="auto">
            <a:xfrm>
              <a:off x="7329056" y="3678781"/>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160" name="Rectangle 44"/>
            <p:cNvSpPr>
              <a:spLocks noChangeArrowheads="1"/>
            </p:cNvSpPr>
            <p:nvPr/>
          </p:nvSpPr>
          <p:spPr bwMode="auto">
            <a:xfrm>
              <a:off x="7648133" y="3678781"/>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161" name="Rectangle 44"/>
            <p:cNvSpPr>
              <a:spLocks noChangeArrowheads="1"/>
            </p:cNvSpPr>
            <p:nvPr/>
          </p:nvSpPr>
          <p:spPr bwMode="auto">
            <a:xfrm>
              <a:off x="7967210" y="3678781"/>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162" name="Rectangle 44"/>
            <p:cNvSpPr>
              <a:spLocks noChangeArrowheads="1"/>
            </p:cNvSpPr>
            <p:nvPr/>
          </p:nvSpPr>
          <p:spPr bwMode="auto">
            <a:xfrm>
              <a:off x="8286287" y="3678781"/>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163" name="Rectangle 44"/>
            <p:cNvSpPr>
              <a:spLocks noChangeArrowheads="1"/>
            </p:cNvSpPr>
            <p:nvPr/>
          </p:nvSpPr>
          <p:spPr bwMode="auto">
            <a:xfrm>
              <a:off x="8605364" y="3678781"/>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164" name="Rectangle 44"/>
            <p:cNvSpPr>
              <a:spLocks noChangeArrowheads="1"/>
            </p:cNvSpPr>
            <p:nvPr/>
          </p:nvSpPr>
          <p:spPr bwMode="auto">
            <a:xfrm>
              <a:off x="8924441" y="3678781"/>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165" name="Rectangle 44"/>
            <p:cNvSpPr>
              <a:spLocks noChangeArrowheads="1"/>
            </p:cNvSpPr>
            <p:nvPr/>
          </p:nvSpPr>
          <p:spPr bwMode="auto">
            <a:xfrm>
              <a:off x="9243518" y="3678781"/>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166" name="Rectangle 44"/>
            <p:cNvSpPr>
              <a:spLocks noChangeArrowheads="1"/>
            </p:cNvSpPr>
            <p:nvPr/>
          </p:nvSpPr>
          <p:spPr bwMode="auto">
            <a:xfrm>
              <a:off x="10200747" y="3678781"/>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167" name="Rectangle 44"/>
            <p:cNvSpPr>
              <a:spLocks noChangeArrowheads="1"/>
            </p:cNvSpPr>
            <p:nvPr/>
          </p:nvSpPr>
          <p:spPr bwMode="auto">
            <a:xfrm>
              <a:off x="10519824" y="3678781"/>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168" name="Rectangle 44"/>
            <p:cNvSpPr>
              <a:spLocks noChangeArrowheads="1"/>
            </p:cNvSpPr>
            <p:nvPr/>
          </p:nvSpPr>
          <p:spPr bwMode="auto">
            <a:xfrm>
              <a:off x="10838901" y="3678781"/>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169" name="Rectangle 44"/>
            <p:cNvSpPr>
              <a:spLocks noChangeArrowheads="1"/>
            </p:cNvSpPr>
            <p:nvPr/>
          </p:nvSpPr>
          <p:spPr bwMode="auto">
            <a:xfrm>
              <a:off x="9562595" y="3678781"/>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170" name="Rectangle 44"/>
            <p:cNvSpPr>
              <a:spLocks noChangeArrowheads="1"/>
            </p:cNvSpPr>
            <p:nvPr/>
          </p:nvSpPr>
          <p:spPr bwMode="auto">
            <a:xfrm>
              <a:off x="9881672" y="3678781"/>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grpSp>
      <p:cxnSp>
        <p:nvCxnSpPr>
          <p:cNvPr id="171" name="直接箭头连接符 170"/>
          <p:cNvCxnSpPr>
            <a:endCxn id="114" idx="0"/>
          </p:cNvCxnSpPr>
          <p:nvPr/>
        </p:nvCxnSpPr>
        <p:spPr>
          <a:xfrm flipH="1">
            <a:off x="4941215" y="3983811"/>
            <a:ext cx="159538" cy="570496"/>
          </a:xfrm>
          <a:prstGeom prst="straightConnector1">
            <a:avLst/>
          </a:prstGeom>
          <a:ln w="19050">
            <a:solidFill>
              <a:srgbClr val="C0000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172" name="矩形 171"/>
          <p:cNvSpPr/>
          <p:nvPr/>
        </p:nvSpPr>
        <p:spPr>
          <a:xfrm>
            <a:off x="5100753" y="3668352"/>
            <a:ext cx="697627" cy="400110"/>
          </a:xfrm>
          <a:prstGeom prst="rect">
            <a:avLst/>
          </a:prstGeom>
          <a:noFill/>
          <a:ln>
            <a:noFill/>
          </a:ln>
        </p:spPr>
        <p:txBody>
          <a:bodyPr wrap="non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丢弃</a:t>
            </a:r>
          </a:p>
        </p:txBody>
      </p:sp>
      <p:cxnSp>
        <p:nvCxnSpPr>
          <p:cNvPr id="173" name="直接箭头连接符 172"/>
          <p:cNvCxnSpPr>
            <a:endCxn id="113" idx="0"/>
          </p:cNvCxnSpPr>
          <p:nvPr/>
        </p:nvCxnSpPr>
        <p:spPr>
          <a:xfrm flipH="1">
            <a:off x="7174754" y="4053574"/>
            <a:ext cx="159538" cy="500739"/>
          </a:xfrm>
          <a:prstGeom prst="straightConnector1">
            <a:avLst/>
          </a:prstGeom>
          <a:ln w="19050">
            <a:solidFill>
              <a:srgbClr val="C0000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174" name="矩形 173"/>
          <p:cNvSpPr/>
          <p:nvPr/>
        </p:nvSpPr>
        <p:spPr>
          <a:xfrm>
            <a:off x="7391484" y="3668352"/>
            <a:ext cx="697627" cy="400110"/>
          </a:xfrm>
          <a:prstGeom prst="rect">
            <a:avLst/>
          </a:prstGeom>
          <a:noFill/>
          <a:ln>
            <a:noFill/>
          </a:ln>
        </p:spPr>
        <p:txBody>
          <a:bodyPr wrap="non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丢弃</a:t>
            </a:r>
          </a:p>
        </p:txBody>
      </p:sp>
      <p:sp>
        <p:nvSpPr>
          <p:cNvPr id="175" name="Line 78"/>
          <p:cNvSpPr>
            <a:spLocks noChangeShapeType="1"/>
          </p:cNvSpPr>
          <p:nvPr/>
        </p:nvSpPr>
        <p:spPr bwMode="auto">
          <a:xfrm flipH="1">
            <a:off x="4941213" y="4869766"/>
            <a:ext cx="281807" cy="668234"/>
          </a:xfrm>
          <a:prstGeom prst="line">
            <a:avLst/>
          </a:prstGeom>
          <a:noFill/>
          <a:ln w="19050">
            <a:solidFill>
              <a:srgbClr val="C0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solidFill>
              <a:effectLst/>
              <a:uLnTx/>
              <a:uFillTx/>
              <a:latin typeface="Calibri" pitchFamily="34" charset="0"/>
              <a:ea typeface="等线" panose="02010600030101010101" pitchFamily="2" charset="-122"/>
              <a:cs typeface="Calibri" pitchFamily="34" charset="0"/>
            </a:endParaRPr>
          </a:p>
        </p:txBody>
      </p:sp>
      <p:sp>
        <p:nvSpPr>
          <p:cNvPr id="176" name="Line 78"/>
          <p:cNvSpPr>
            <a:spLocks noChangeShapeType="1"/>
          </p:cNvSpPr>
          <p:nvPr/>
        </p:nvSpPr>
        <p:spPr bwMode="auto">
          <a:xfrm flipH="1">
            <a:off x="6855674" y="4898031"/>
            <a:ext cx="550059" cy="639962"/>
          </a:xfrm>
          <a:prstGeom prst="line">
            <a:avLst/>
          </a:prstGeom>
          <a:noFill/>
          <a:ln w="19050">
            <a:solidFill>
              <a:srgbClr val="C0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solidFill>
              <a:effectLst/>
              <a:uLnTx/>
              <a:uFillTx/>
              <a:latin typeface="Calibri" pitchFamily="34" charset="0"/>
              <a:ea typeface="等线" panose="02010600030101010101" pitchFamily="2" charset="-122"/>
              <a:cs typeface="Calibri" pitchFamily="34" charset="0"/>
            </a:endParaRPr>
          </a:p>
        </p:txBody>
      </p:sp>
      <p:cxnSp>
        <p:nvCxnSpPr>
          <p:cNvPr id="177" name="直接箭头连接符 176"/>
          <p:cNvCxnSpPr/>
          <p:nvPr/>
        </p:nvCxnSpPr>
        <p:spPr>
          <a:xfrm>
            <a:off x="2867215" y="4994409"/>
            <a:ext cx="1914461" cy="0"/>
          </a:xfrm>
          <a:prstGeom prst="straightConnector1">
            <a:avLst/>
          </a:prstGeom>
          <a:ln w="19050">
            <a:solidFill>
              <a:srgbClr val="C0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78" name="直接箭头连接符 177"/>
          <p:cNvCxnSpPr/>
          <p:nvPr/>
        </p:nvCxnSpPr>
        <p:spPr>
          <a:xfrm>
            <a:off x="5174506" y="4994409"/>
            <a:ext cx="1840709" cy="0"/>
          </a:xfrm>
          <a:prstGeom prst="straightConnector1">
            <a:avLst/>
          </a:prstGeom>
          <a:ln w="19050">
            <a:solidFill>
              <a:srgbClr val="C0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79" name="直接箭头连接符 178"/>
          <p:cNvCxnSpPr/>
          <p:nvPr/>
        </p:nvCxnSpPr>
        <p:spPr>
          <a:xfrm>
            <a:off x="7391484" y="4994409"/>
            <a:ext cx="3669384" cy="0"/>
          </a:xfrm>
          <a:prstGeom prst="straightConnector1">
            <a:avLst/>
          </a:prstGeom>
          <a:ln w="19050">
            <a:solidFill>
              <a:srgbClr val="C0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59FFB8AF-5BBA-A6D3-21F7-407D11AAB490}"/>
              </a:ext>
            </a:extLst>
          </p:cNvPr>
          <p:cNvSpPr txBox="1"/>
          <p:nvPr/>
        </p:nvSpPr>
        <p:spPr>
          <a:xfrm>
            <a:off x="8291523" y="1970707"/>
            <a:ext cx="3545621" cy="830997"/>
          </a:xfrm>
          <a:prstGeom prst="rect">
            <a:avLst/>
          </a:prstGeom>
          <a:noFill/>
        </p:spPr>
        <p:txBody>
          <a:bodyPr wrap="square">
            <a:spAutoFit/>
          </a:bodyPr>
          <a:lstStyle/>
          <a:p>
            <a:pPr marL="457200" lvl="1" indent="0">
              <a:buNone/>
            </a:pPr>
            <a:r>
              <a:rPr lang="zh-CN" altLang="en-US" sz="2400" dirty="0">
                <a:highlight>
                  <a:srgbClr val="FFFF00"/>
                </a:highlight>
                <a:latin typeface="+mn-ea"/>
              </a:rPr>
              <a:t>若出现</a:t>
            </a:r>
            <a:r>
              <a:rPr lang="zh-CN" altLang="en-US" sz="2400" dirty="0">
                <a:solidFill>
                  <a:srgbClr val="7030A0"/>
                </a:solidFill>
                <a:highlight>
                  <a:srgbClr val="FFFF00"/>
                </a:highlight>
                <a:latin typeface="+mn-ea"/>
              </a:rPr>
              <a:t>连续</a:t>
            </a:r>
            <a:r>
              <a:rPr lang="en-US" altLang="zh-CN" sz="2400" dirty="0">
                <a:solidFill>
                  <a:srgbClr val="7030A0"/>
                </a:solidFill>
                <a:highlight>
                  <a:srgbClr val="FFFF00"/>
                </a:highlight>
                <a:latin typeface="+mn-ea"/>
              </a:rPr>
              <a:t>5</a:t>
            </a:r>
            <a:r>
              <a:rPr lang="zh-CN" altLang="en-US" sz="2400" dirty="0">
                <a:solidFill>
                  <a:srgbClr val="7030A0"/>
                </a:solidFill>
                <a:highlight>
                  <a:srgbClr val="FFFF00"/>
                </a:highlight>
                <a:latin typeface="+mn-ea"/>
              </a:rPr>
              <a:t>个</a:t>
            </a:r>
            <a:r>
              <a:rPr lang="en-US" altLang="zh-CN" sz="2400" dirty="0">
                <a:solidFill>
                  <a:srgbClr val="7030A0"/>
                </a:solidFill>
                <a:highlight>
                  <a:srgbClr val="FFFF00"/>
                </a:highlight>
                <a:latin typeface="+mn-ea"/>
              </a:rPr>
              <a:t>1</a:t>
            </a:r>
            <a:r>
              <a:rPr lang="zh-CN" altLang="en-US" sz="2400" dirty="0">
                <a:highlight>
                  <a:srgbClr val="FFFF00"/>
                </a:highlight>
                <a:latin typeface="+mn-ea"/>
              </a:rPr>
              <a:t>比特，则去掉后面的一个“</a:t>
            </a:r>
            <a:r>
              <a:rPr lang="en-US" altLang="zh-CN" sz="2400" dirty="0">
                <a:highlight>
                  <a:srgbClr val="FFFF00"/>
                </a:highlight>
                <a:latin typeface="+mn-ea"/>
              </a:rPr>
              <a:t>0”</a:t>
            </a:r>
          </a:p>
        </p:txBody>
      </p:sp>
    </p:spTree>
    <p:extLst>
      <p:ext uri="{BB962C8B-B14F-4D97-AF65-F5344CB8AC3E}">
        <p14:creationId xmlns:p14="http://schemas.microsoft.com/office/powerpoint/2010/main" val="2996317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3"/>
                                        </p:tgtEl>
                                        <p:attrNameLst>
                                          <p:attrName>style.visibility</p:attrName>
                                        </p:attrNameLst>
                                      </p:cBhvr>
                                      <p:to>
                                        <p:strVal val="visible"/>
                                      </p:to>
                                    </p:set>
                                    <p:animEffect transition="in" filter="wipe(left)">
                                      <p:cBhvr>
                                        <p:cTn id="7" dur="500"/>
                                        <p:tgtEl>
                                          <p:spTgt spid="14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44"/>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151"/>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158"/>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114"/>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113"/>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42"/>
                                        </p:tgtEl>
                                        <p:attrNameLst>
                                          <p:attrName>style.visibility</p:attrName>
                                        </p:attrNameLst>
                                      </p:cBhvr>
                                      <p:to>
                                        <p:strVal val="visible"/>
                                      </p:to>
                                    </p:set>
                                    <p:animEffect transition="in" filter="wipe(left)">
                                      <p:cBhvr>
                                        <p:cTn id="24" dur="500"/>
                                        <p:tgtEl>
                                          <p:spTgt spid="142"/>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177"/>
                                        </p:tgtEl>
                                        <p:attrNameLst>
                                          <p:attrName>style.visibility</p:attrName>
                                        </p:attrNameLst>
                                      </p:cBhvr>
                                      <p:to>
                                        <p:strVal val="visible"/>
                                      </p:to>
                                    </p:set>
                                    <p:animEffect transition="in" filter="wipe(left)">
                                      <p:cBhvr>
                                        <p:cTn id="29" dur="500"/>
                                        <p:tgtEl>
                                          <p:spTgt spid="177"/>
                                        </p:tgtEl>
                                      </p:cBhvr>
                                    </p:animEffect>
                                  </p:childTnLst>
                                  <p:subTnLst>
                                    <p:set>
                                      <p:cBhvr override="childStyle">
                                        <p:cTn dur="1" fill="hold" display="0" masterRel="nextClick" afterEffect="1"/>
                                        <p:tgtEl>
                                          <p:spTgt spid="177"/>
                                        </p:tgtEl>
                                        <p:attrNameLst>
                                          <p:attrName>style.visibility</p:attrName>
                                        </p:attrNameLst>
                                      </p:cBhvr>
                                      <p:to>
                                        <p:strVal val="hidden"/>
                                      </p:to>
                                    </p:set>
                                  </p:subTnLst>
                                </p:cTn>
                              </p:par>
                            </p:childTnLst>
                          </p:cTn>
                        </p:par>
                      </p:childTnLst>
                    </p:cTn>
                  </p:par>
                  <p:par>
                    <p:cTn id="30" fill="hold">
                      <p:stCondLst>
                        <p:cond delay="indefinite"/>
                      </p:stCondLst>
                      <p:childTnLst>
                        <p:par>
                          <p:cTn id="31" fill="hold">
                            <p:stCondLst>
                              <p:cond delay="0"/>
                            </p:stCondLst>
                            <p:childTnLst>
                              <p:par>
                                <p:cTn id="32" presetID="14" presetClass="entr" presetSubtype="10" fill="hold" grpId="1" nodeType="clickEffect">
                                  <p:stCondLst>
                                    <p:cond delay="0"/>
                                  </p:stCondLst>
                                  <p:childTnLst>
                                    <p:set>
                                      <p:cBhvr>
                                        <p:cTn id="33" dur="1" fill="hold">
                                          <p:stCondLst>
                                            <p:cond delay="0"/>
                                          </p:stCondLst>
                                        </p:cTn>
                                        <p:tgtEl>
                                          <p:spTgt spid="114"/>
                                        </p:tgtEl>
                                        <p:attrNameLst>
                                          <p:attrName>style.visibility</p:attrName>
                                        </p:attrNameLst>
                                      </p:cBhvr>
                                      <p:to>
                                        <p:strVal val="visible"/>
                                      </p:to>
                                    </p:set>
                                    <p:animEffect transition="in" filter="randombar(horizontal)">
                                      <p:cBhvr>
                                        <p:cTn id="34" dur="500"/>
                                        <p:tgtEl>
                                          <p:spTgt spid="114"/>
                                        </p:tgtEl>
                                      </p:cBhvr>
                                    </p:animEffect>
                                  </p:childTnLst>
                                  <p:subTnLst>
                                    <p:animClr clrSpc="rgb" dir="cw">
                                      <p:cBhvr override="childStyle">
                                        <p:cTn dur="1" fill="hold" display="0" masterRel="nextClick" afterEffect="1"/>
                                        <p:tgtEl>
                                          <p:spTgt spid="114"/>
                                        </p:tgtEl>
                                        <p:attrNameLst>
                                          <p:attrName>ppt_c</p:attrName>
                                        </p:attrNameLst>
                                      </p:cBhvr>
                                      <p:to>
                                        <a:schemeClr val="bg1"/>
                                      </p:to>
                                    </p:animClr>
                                  </p:subTnLst>
                                </p:cTn>
                              </p:par>
                              <p:par>
                                <p:cTn id="35" presetID="14" presetClass="entr" presetSubtype="10" fill="hold" nodeType="withEffect">
                                  <p:stCondLst>
                                    <p:cond delay="0"/>
                                  </p:stCondLst>
                                  <p:childTnLst>
                                    <p:set>
                                      <p:cBhvr>
                                        <p:cTn id="36" dur="1" fill="hold">
                                          <p:stCondLst>
                                            <p:cond delay="0"/>
                                          </p:stCondLst>
                                        </p:cTn>
                                        <p:tgtEl>
                                          <p:spTgt spid="171"/>
                                        </p:tgtEl>
                                        <p:attrNameLst>
                                          <p:attrName>style.visibility</p:attrName>
                                        </p:attrNameLst>
                                      </p:cBhvr>
                                      <p:to>
                                        <p:strVal val="visible"/>
                                      </p:to>
                                    </p:set>
                                    <p:animEffect transition="in" filter="randombar(horizontal)">
                                      <p:cBhvr>
                                        <p:cTn id="37" dur="500"/>
                                        <p:tgtEl>
                                          <p:spTgt spid="171"/>
                                        </p:tgtEl>
                                      </p:cBhvr>
                                    </p:animEffect>
                                  </p:childTnLst>
                                  <p:subTnLst>
                                    <p:animClr clrSpc="rgb" dir="cw">
                                      <p:cBhvr override="childStyle">
                                        <p:cTn dur="1" fill="hold" display="0" masterRel="nextClick" afterEffect="1"/>
                                        <p:tgtEl>
                                          <p:spTgt spid="171"/>
                                        </p:tgtEl>
                                        <p:attrNameLst>
                                          <p:attrName>ppt_c</p:attrName>
                                        </p:attrNameLst>
                                      </p:cBhvr>
                                      <p:to>
                                        <a:schemeClr val="bg1"/>
                                      </p:to>
                                    </p:animClr>
                                  </p:subTnLst>
                                </p:cTn>
                              </p:par>
                              <p:par>
                                <p:cTn id="38" presetID="14" presetClass="entr" presetSubtype="10" fill="hold" grpId="0" nodeType="withEffect">
                                  <p:stCondLst>
                                    <p:cond delay="0"/>
                                  </p:stCondLst>
                                  <p:childTnLst>
                                    <p:set>
                                      <p:cBhvr>
                                        <p:cTn id="39" dur="1" fill="hold">
                                          <p:stCondLst>
                                            <p:cond delay="0"/>
                                          </p:stCondLst>
                                        </p:cTn>
                                        <p:tgtEl>
                                          <p:spTgt spid="172"/>
                                        </p:tgtEl>
                                        <p:attrNameLst>
                                          <p:attrName>style.visibility</p:attrName>
                                        </p:attrNameLst>
                                      </p:cBhvr>
                                      <p:to>
                                        <p:strVal val="visible"/>
                                      </p:to>
                                    </p:set>
                                    <p:animEffect transition="in" filter="randombar(horizontal)">
                                      <p:cBhvr>
                                        <p:cTn id="40" dur="500"/>
                                        <p:tgtEl>
                                          <p:spTgt spid="172"/>
                                        </p:tgtEl>
                                      </p:cBhvr>
                                    </p:animEffect>
                                  </p:childTnLst>
                                  <p:subTnLst>
                                    <p:animClr clrSpc="rgb" dir="cw">
                                      <p:cBhvr override="childStyle">
                                        <p:cTn dur="1" fill="hold" display="0" masterRel="nextClick" afterEffect="1"/>
                                        <p:tgtEl>
                                          <p:spTgt spid="172"/>
                                        </p:tgtEl>
                                        <p:attrNameLst>
                                          <p:attrName>ppt_c</p:attrName>
                                        </p:attrNameLst>
                                      </p:cBhvr>
                                      <p:to>
                                        <a:schemeClr val="bg1"/>
                                      </p:to>
                                    </p:animClr>
                                  </p:sub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115"/>
                                        </p:tgtEl>
                                        <p:attrNameLst>
                                          <p:attrName>style.visibility</p:attrName>
                                        </p:attrNameLst>
                                      </p:cBhvr>
                                      <p:to>
                                        <p:strVal val="visible"/>
                                      </p:to>
                                    </p:set>
                                    <p:animEffect transition="in" filter="wipe(left)">
                                      <p:cBhvr>
                                        <p:cTn id="45" dur="500"/>
                                        <p:tgtEl>
                                          <p:spTgt spid="115"/>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178"/>
                                        </p:tgtEl>
                                        <p:attrNameLst>
                                          <p:attrName>style.visibility</p:attrName>
                                        </p:attrNameLst>
                                      </p:cBhvr>
                                      <p:to>
                                        <p:strVal val="visible"/>
                                      </p:to>
                                    </p:set>
                                    <p:animEffect transition="in" filter="wipe(left)">
                                      <p:cBhvr>
                                        <p:cTn id="50" dur="500"/>
                                        <p:tgtEl>
                                          <p:spTgt spid="178"/>
                                        </p:tgtEl>
                                      </p:cBhvr>
                                    </p:animEffect>
                                  </p:childTnLst>
                                  <p:subTnLst>
                                    <p:set>
                                      <p:cBhvr override="childStyle">
                                        <p:cTn dur="1" fill="hold" display="0" masterRel="nextClick" afterEffect="1"/>
                                        <p:tgtEl>
                                          <p:spTgt spid="178"/>
                                        </p:tgtEl>
                                        <p:attrNameLst>
                                          <p:attrName>style.visibility</p:attrName>
                                        </p:attrNameLst>
                                      </p:cBhvr>
                                      <p:to>
                                        <p:strVal val="hidden"/>
                                      </p:to>
                                    </p:set>
                                  </p:subTnLst>
                                </p:cTn>
                              </p:par>
                            </p:childTnLst>
                          </p:cTn>
                        </p:par>
                      </p:childTnLst>
                    </p:cTn>
                  </p:par>
                  <p:par>
                    <p:cTn id="51" fill="hold">
                      <p:stCondLst>
                        <p:cond delay="indefinite"/>
                      </p:stCondLst>
                      <p:childTnLst>
                        <p:par>
                          <p:cTn id="52" fill="hold">
                            <p:stCondLst>
                              <p:cond delay="0"/>
                            </p:stCondLst>
                            <p:childTnLst>
                              <p:par>
                                <p:cTn id="53" presetID="14" presetClass="entr" presetSubtype="10" fill="hold" grpId="1" nodeType="clickEffect">
                                  <p:stCondLst>
                                    <p:cond delay="0"/>
                                  </p:stCondLst>
                                  <p:childTnLst>
                                    <p:set>
                                      <p:cBhvr>
                                        <p:cTn id="54" dur="1" fill="hold">
                                          <p:stCondLst>
                                            <p:cond delay="0"/>
                                          </p:stCondLst>
                                        </p:cTn>
                                        <p:tgtEl>
                                          <p:spTgt spid="113"/>
                                        </p:tgtEl>
                                        <p:attrNameLst>
                                          <p:attrName>style.visibility</p:attrName>
                                        </p:attrNameLst>
                                      </p:cBhvr>
                                      <p:to>
                                        <p:strVal val="visible"/>
                                      </p:to>
                                    </p:set>
                                    <p:animEffect transition="in" filter="randombar(horizontal)">
                                      <p:cBhvr>
                                        <p:cTn id="55" dur="500"/>
                                        <p:tgtEl>
                                          <p:spTgt spid="113"/>
                                        </p:tgtEl>
                                      </p:cBhvr>
                                    </p:animEffect>
                                  </p:childTnLst>
                                  <p:subTnLst>
                                    <p:animClr clrSpc="rgb" dir="cw">
                                      <p:cBhvr override="childStyle">
                                        <p:cTn dur="1" fill="hold" display="0" masterRel="nextClick" afterEffect="1"/>
                                        <p:tgtEl>
                                          <p:spTgt spid="113"/>
                                        </p:tgtEl>
                                        <p:attrNameLst>
                                          <p:attrName>ppt_c</p:attrName>
                                        </p:attrNameLst>
                                      </p:cBhvr>
                                      <p:to>
                                        <a:schemeClr val="bg1"/>
                                      </p:to>
                                    </p:animClr>
                                  </p:subTnLst>
                                </p:cTn>
                              </p:par>
                              <p:par>
                                <p:cTn id="56" presetID="14" presetClass="entr" presetSubtype="10" fill="hold" nodeType="withEffect">
                                  <p:stCondLst>
                                    <p:cond delay="0"/>
                                  </p:stCondLst>
                                  <p:childTnLst>
                                    <p:set>
                                      <p:cBhvr>
                                        <p:cTn id="57" dur="1" fill="hold">
                                          <p:stCondLst>
                                            <p:cond delay="0"/>
                                          </p:stCondLst>
                                        </p:cTn>
                                        <p:tgtEl>
                                          <p:spTgt spid="173"/>
                                        </p:tgtEl>
                                        <p:attrNameLst>
                                          <p:attrName>style.visibility</p:attrName>
                                        </p:attrNameLst>
                                      </p:cBhvr>
                                      <p:to>
                                        <p:strVal val="visible"/>
                                      </p:to>
                                    </p:set>
                                    <p:animEffect transition="in" filter="randombar(horizontal)">
                                      <p:cBhvr>
                                        <p:cTn id="58" dur="500"/>
                                        <p:tgtEl>
                                          <p:spTgt spid="173"/>
                                        </p:tgtEl>
                                      </p:cBhvr>
                                    </p:animEffect>
                                  </p:childTnLst>
                                  <p:subTnLst>
                                    <p:animClr clrSpc="rgb" dir="cw">
                                      <p:cBhvr override="childStyle">
                                        <p:cTn dur="1" fill="hold" display="0" masterRel="nextClick" afterEffect="1"/>
                                        <p:tgtEl>
                                          <p:spTgt spid="173"/>
                                        </p:tgtEl>
                                        <p:attrNameLst>
                                          <p:attrName>ppt_c</p:attrName>
                                        </p:attrNameLst>
                                      </p:cBhvr>
                                      <p:to>
                                        <a:schemeClr val="bg1"/>
                                      </p:to>
                                    </p:animClr>
                                  </p:subTnLst>
                                </p:cTn>
                              </p:par>
                              <p:par>
                                <p:cTn id="59" presetID="14" presetClass="entr" presetSubtype="10" fill="hold" grpId="0" nodeType="withEffect">
                                  <p:stCondLst>
                                    <p:cond delay="0"/>
                                  </p:stCondLst>
                                  <p:childTnLst>
                                    <p:set>
                                      <p:cBhvr>
                                        <p:cTn id="60" dur="1" fill="hold">
                                          <p:stCondLst>
                                            <p:cond delay="0"/>
                                          </p:stCondLst>
                                        </p:cTn>
                                        <p:tgtEl>
                                          <p:spTgt spid="174"/>
                                        </p:tgtEl>
                                        <p:attrNameLst>
                                          <p:attrName>style.visibility</p:attrName>
                                        </p:attrNameLst>
                                      </p:cBhvr>
                                      <p:to>
                                        <p:strVal val="visible"/>
                                      </p:to>
                                    </p:set>
                                    <p:animEffect transition="in" filter="randombar(horizontal)">
                                      <p:cBhvr>
                                        <p:cTn id="61" dur="500"/>
                                        <p:tgtEl>
                                          <p:spTgt spid="174"/>
                                        </p:tgtEl>
                                      </p:cBhvr>
                                    </p:animEffect>
                                  </p:childTnLst>
                                  <p:subTnLst>
                                    <p:animClr clrSpc="rgb" dir="cw">
                                      <p:cBhvr override="childStyle">
                                        <p:cTn dur="1" fill="hold" display="0" masterRel="nextClick" afterEffect="1"/>
                                        <p:tgtEl>
                                          <p:spTgt spid="174"/>
                                        </p:tgtEl>
                                        <p:attrNameLst>
                                          <p:attrName>ppt_c</p:attrName>
                                        </p:attrNameLst>
                                      </p:cBhvr>
                                      <p:to>
                                        <a:schemeClr val="bg1"/>
                                      </p:to>
                                    </p:animClr>
                                  </p:subTnLst>
                                </p:cTn>
                              </p:par>
                            </p:childTnLst>
                          </p:cTn>
                        </p:par>
                      </p:childTnLst>
                    </p:cTn>
                  </p:par>
                  <p:par>
                    <p:cTn id="62" fill="hold">
                      <p:stCondLst>
                        <p:cond delay="indefinite"/>
                      </p:stCondLst>
                      <p:childTnLst>
                        <p:par>
                          <p:cTn id="63" fill="hold">
                            <p:stCondLst>
                              <p:cond delay="0"/>
                            </p:stCondLst>
                            <p:childTnLst>
                              <p:par>
                                <p:cTn id="64" presetID="22" presetClass="entr" presetSubtype="1" fill="hold" grpId="0" nodeType="clickEffect">
                                  <p:stCondLst>
                                    <p:cond delay="0"/>
                                  </p:stCondLst>
                                  <p:childTnLst>
                                    <p:set>
                                      <p:cBhvr>
                                        <p:cTn id="65" dur="1" fill="hold">
                                          <p:stCondLst>
                                            <p:cond delay="0"/>
                                          </p:stCondLst>
                                        </p:cTn>
                                        <p:tgtEl>
                                          <p:spTgt spid="175"/>
                                        </p:tgtEl>
                                        <p:attrNameLst>
                                          <p:attrName>style.visibility</p:attrName>
                                        </p:attrNameLst>
                                      </p:cBhvr>
                                      <p:to>
                                        <p:strVal val="visible"/>
                                      </p:to>
                                    </p:set>
                                    <p:animEffect transition="in" filter="wipe(up)">
                                      <p:cBhvr>
                                        <p:cTn id="66" dur="500"/>
                                        <p:tgtEl>
                                          <p:spTgt spid="175"/>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nodeType="clickEffect">
                                  <p:stCondLst>
                                    <p:cond delay="0"/>
                                  </p:stCondLst>
                                  <p:childTnLst>
                                    <p:set>
                                      <p:cBhvr>
                                        <p:cTn id="70" dur="1" fill="hold">
                                          <p:stCondLst>
                                            <p:cond delay="0"/>
                                          </p:stCondLst>
                                        </p:cTn>
                                        <p:tgtEl>
                                          <p:spTgt spid="122"/>
                                        </p:tgtEl>
                                        <p:attrNameLst>
                                          <p:attrName>style.visibility</p:attrName>
                                        </p:attrNameLst>
                                      </p:cBhvr>
                                      <p:to>
                                        <p:strVal val="visible"/>
                                      </p:to>
                                    </p:set>
                                    <p:animEffect transition="in" filter="wipe(left)">
                                      <p:cBhvr>
                                        <p:cTn id="71" dur="500"/>
                                        <p:tgtEl>
                                          <p:spTgt spid="122"/>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nodeType="clickEffect">
                                  <p:stCondLst>
                                    <p:cond delay="0"/>
                                  </p:stCondLst>
                                  <p:childTnLst>
                                    <p:set>
                                      <p:cBhvr>
                                        <p:cTn id="75" dur="1" fill="hold">
                                          <p:stCondLst>
                                            <p:cond delay="0"/>
                                          </p:stCondLst>
                                        </p:cTn>
                                        <p:tgtEl>
                                          <p:spTgt spid="179"/>
                                        </p:tgtEl>
                                        <p:attrNameLst>
                                          <p:attrName>style.visibility</p:attrName>
                                        </p:attrNameLst>
                                      </p:cBhvr>
                                      <p:to>
                                        <p:strVal val="visible"/>
                                      </p:to>
                                    </p:set>
                                    <p:animEffect transition="in" filter="wipe(left)">
                                      <p:cBhvr>
                                        <p:cTn id="76" dur="500"/>
                                        <p:tgtEl>
                                          <p:spTgt spid="179"/>
                                        </p:tgtEl>
                                      </p:cBhvr>
                                    </p:animEffect>
                                  </p:childTnLst>
                                  <p:subTnLst>
                                    <p:set>
                                      <p:cBhvr override="childStyle">
                                        <p:cTn dur="1" fill="hold" display="0" masterRel="nextClick" afterEffect="1"/>
                                        <p:tgtEl>
                                          <p:spTgt spid="179"/>
                                        </p:tgtEl>
                                        <p:attrNameLst>
                                          <p:attrName>style.visibility</p:attrName>
                                        </p:attrNameLst>
                                      </p:cBhvr>
                                      <p:to>
                                        <p:strVal val="hidden"/>
                                      </p:to>
                                    </p:set>
                                  </p:subTnLst>
                                </p:cTn>
                              </p:par>
                            </p:childTnLst>
                          </p:cTn>
                        </p:par>
                      </p:childTnLst>
                    </p:cTn>
                  </p:par>
                  <p:par>
                    <p:cTn id="77" fill="hold">
                      <p:stCondLst>
                        <p:cond delay="indefinite"/>
                      </p:stCondLst>
                      <p:childTnLst>
                        <p:par>
                          <p:cTn id="78" fill="hold">
                            <p:stCondLst>
                              <p:cond delay="0"/>
                            </p:stCondLst>
                            <p:childTnLst>
                              <p:par>
                                <p:cTn id="79" presetID="22" presetClass="entr" presetSubtype="1" fill="hold" grpId="0" nodeType="clickEffect">
                                  <p:stCondLst>
                                    <p:cond delay="0"/>
                                  </p:stCondLst>
                                  <p:childTnLst>
                                    <p:set>
                                      <p:cBhvr>
                                        <p:cTn id="80" dur="1" fill="hold">
                                          <p:stCondLst>
                                            <p:cond delay="0"/>
                                          </p:stCondLst>
                                        </p:cTn>
                                        <p:tgtEl>
                                          <p:spTgt spid="176"/>
                                        </p:tgtEl>
                                        <p:attrNameLst>
                                          <p:attrName>style.visibility</p:attrName>
                                        </p:attrNameLst>
                                      </p:cBhvr>
                                      <p:to>
                                        <p:strVal val="visible"/>
                                      </p:to>
                                    </p:set>
                                    <p:animEffect transition="in" filter="wipe(up)">
                                      <p:cBhvr>
                                        <p:cTn id="81" dur="500"/>
                                        <p:tgtEl>
                                          <p:spTgt spid="176"/>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nodeType="clickEffect">
                                  <p:stCondLst>
                                    <p:cond delay="0"/>
                                  </p:stCondLst>
                                  <p:childTnLst>
                                    <p:set>
                                      <p:cBhvr>
                                        <p:cTn id="85" dur="1" fill="hold">
                                          <p:stCondLst>
                                            <p:cond delay="0"/>
                                          </p:stCondLst>
                                        </p:cTn>
                                        <p:tgtEl>
                                          <p:spTgt spid="129"/>
                                        </p:tgtEl>
                                        <p:attrNameLst>
                                          <p:attrName>style.visibility</p:attrName>
                                        </p:attrNameLst>
                                      </p:cBhvr>
                                      <p:to>
                                        <p:strVal val="visible"/>
                                      </p:to>
                                    </p:set>
                                    <p:animEffect transition="in" filter="wipe(left)">
                                      <p:cBhvr>
                                        <p:cTn id="86" dur="500"/>
                                        <p:tgtEl>
                                          <p:spTgt spid="1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 grpId="0" animBg="1"/>
      <p:bldP spid="113" grpId="1" animBg="1"/>
      <p:bldP spid="114" grpId="0" animBg="1"/>
      <p:bldP spid="114" grpId="1" animBg="1"/>
      <p:bldP spid="142" grpId="0"/>
      <p:bldP spid="143" grpId="0"/>
      <p:bldP spid="172" grpId="0"/>
      <p:bldP spid="174" grpId="0"/>
      <p:bldP spid="175" grpId="0" animBg="1"/>
      <p:bldP spid="176"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成帧（</a:t>
            </a:r>
            <a:r>
              <a:rPr lang="en-US" altLang="zh-CN" dirty="0"/>
              <a:t>Framing</a:t>
            </a:r>
            <a:r>
              <a:rPr lang="zh-CN" altLang="en-US" dirty="0"/>
              <a:t>）</a:t>
            </a:r>
          </a:p>
        </p:txBody>
      </p:sp>
      <p:sp>
        <p:nvSpPr>
          <p:cNvPr id="3" name="内容占位符 2"/>
          <p:cNvSpPr>
            <a:spLocks noGrp="1"/>
          </p:cNvSpPr>
          <p:nvPr>
            <p:ph idx="1"/>
          </p:nvPr>
        </p:nvSpPr>
        <p:spPr>
          <a:xfrm>
            <a:off x="631065" y="1371601"/>
            <a:ext cx="10998557" cy="5063124"/>
          </a:xfrm>
        </p:spPr>
        <p:txBody>
          <a:bodyPr>
            <a:normAutofit fontScale="92500"/>
          </a:bodyPr>
          <a:lstStyle/>
          <a:p>
            <a:pPr>
              <a:lnSpc>
                <a:spcPts val="2800"/>
              </a:lnSpc>
            </a:pPr>
            <a:r>
              <a:rPr lang="zh-CN" altLang="en-US" dirty="0">
                <a:solidFill>
                  <a:srgbClr val="C00000"/>
                </a:solidFill>
              </a:rPr>
              <a:t>物理层编码违例：</a:t>
            </a:r>
            <a:endParaRPr lang="en-US" altLang="zh-CN" dirty="0">
              <a:solidFill>
                <a:srgbClr val="C00000"/>
              </a:solidFill>
            </a:endParaRPr>
          </a:p>
          <a:p>
            <a:pPr lvl="1">
              <a:lnSpc>
                <a:spcPts val="2800"/>
              </a:lnSpc>
            </a:pPr>
            <a:r>
              <a:rPr lang="zh-CN" altLang="en-US" b="1" dirty="0"/>
              <a:t>核心思想：选择的定界符不会在数据部分出现</a:t>
            </a:r>
            <a:endParaRPr lang="en-US" altLang="zh-CN" b="1" dirty="0"/>
          </a:p>
          <a:p>
            <a:pPr lvl="1">
              <a:lnSpc>
                <a:spcPts val="2800"/>
              </a:lnSpc>
              <a:spcBef>
                <a:spcPts val="1200"/>
              </a:spcBef>
            </a:pPr>
            <a:r>
              <a:rPr lang="en-US" altLang="zh-CN" dirty="0"/>
              <a:t>4B/5B</a:t>
            </a:r>
            <a:r>
              <a:rPr lang="zh-CN" altLang="en-US" dirty="0"/>
              <a:t>编码方案</a:t>
            </a:r>
            <a:endParaRPr lang="en-US" altLang="zh-CN" dirty="0"/>
          </a:p>
          <a:p>
            <a:pPr lvl="2">
              <a:lnSpc>
                <a:spcPts val="2800"/>
              </a:lnSpc>
              <a:buFont typeface="Microsoft YaHei" panose="020B0503020204020204" pitchFamily="34" charset="-122"/>
              <a:buChar char="−"/>
            </a:pPr>
            <a:r>
              <a:rPr lang="en-US" altLang="zh-CN" sz="2100" dirty="0"/>
              <a:t>4</a:t>
            </a:r>
            <a:r>
              <a:rPr lang="zh-CN" altLang="en-US" sz="2100" dirty="0"/>
              <a:t>比特数据映射成</a:t>
            </a:r>
            <a:r>
              <a:rPr lang="en-US" altLang="zh-CN" sz="2100" dirty="0">
                <a:solidFill>
                  <a:srgbClr val="7030A0"/>
                </a:solidFill>
              </a:rPr>
              <a:t>5</a:t>
            </a:r>
            <a:r>
              <a:rPr lang="zh-CN" altLang="en-US" sz="2100" dirty="0">
                <a:solidFill>
                  <a:srgbClr val="7030A0"/>
                </a:solidFill>
              </a:rPr>
              <a:t>比特编码，</a:t>
            </a:r>
            <a:r>
              <a:rPr lang="zh-CN" altLang="en-US" dirty="0"/>
              <a:t>剩余的一半码字（</a:t>
            </a:r>
            <a:r>
              <a:rPr lang="en-US" altLang="zh-CN" dirty="0"/>
              <a:t>16</a:t>
            </a:r>
            <a:r>
              <a:rPr lang="zh-CN" altLang="en-US" dirty="0"/>
              <a:t>个码字）未使用，可以用做帧定界符</a:t>
            </a:r>
            <a:endParaRPr lang="en-US" altLang="zh-CN" dirty="0"/>
          </a:p>
          <a:p>
            <a:pPr lvl="2">
              <a:lnSpc>
                <a:spcPts val="2800"/>
              </a:lnSpc>
              <a:buFont typeface="Microsoft YaHei" panose="020B0503020204020204" pitchFamily="34" charset="-122"/>
              <a:buChar char="−"/>
            </a:pPr>
            <a:r>
              <a:rPr lang="zh-CN" altLang="en-US" dirty="0"/>
              <a:t>例如：</a:t>
            </a:r>
            <a:r>
              <a:rPr lang="en-US" altLang="zh-CN" dirty="0"/>
              <a:t> 00110</a:t>
            </a:r>
            <a:r>
              <a:rPr lang="zh-CN" altLang="en-US" dirty="0"/>
              <a:t>组合不包含在</a:t>
            </a:r>
            <a:r>
              <a:rPr lang="en-US" altLang="zh-CN" dirty="0"/>
              <a:t>4B/5B</a:t>
            </a:r>
            <a:r>
              <a:rPr lang="zh-CN" altLang="en-US" dirty="0"/>
              <a:t>编码中，可做帧定界符</a:t>
            </a:r>
            <a:endParaRPr lang="en-US" altLang="zh-CN" dirty="0"/>
          </a:p>
          <a:p>
            <a:pPr lvl="1">
              <a:lnSpc>
                <a:spcPts val="2800"/>
              </a:lnSpc>
              <a:spcBef>
                <a:spcPts val="1200"/>
              </a:spcBef>
            </a:pPr>
            <a:r>
              <a:rPr lang="zh-CN" altLang="en-US" dirty="0"/>
              <a:t>前导码</a:t>
            </a:r>
            <a:endParaRPr lang="en-US" altLang="zh-CN" dirty="0"/>
          </a:p>
          <a:p>
            <a:pPr lvl="2">
              <a:lnSpc>
                <a:spcPts val="2800"/>
              </a:lnSpc>
              <a:buFont typeface="Microsoft YaHei" panose="020B0503020204020204" pitchFamily="34" charset="-122"/>
              <a:buChar char="−"/>
            </a:pPr>
            <a:r>
              <a:rPr lang="zh-CN" altLang="en-US" dirty="0"/>
              <a:t>存在很长的 </a:t>
            </a:r>
            <a:r>
              <a:rPr lang="zh-CN" altLang="en-US" dirty="0">
                <a:solidFill>
                  <a:srgbClr val="7030A0"/>
                </a:solidFill>
              </a:rPr>
              <a:t>前导码</a:t>
            </a:r>
            <a:r>
              <a:rPr lang="zh-CN" altLang="en-US" dirty="0"/>
              <a:t>（</a:t>
            </a:r>
            <a:r>
              <a:rPr lang="en-US" altLang="zh-CN" dirty="0"/>
              <a:t>preamble</a:t>
            </a:r>
            <a:r>
              <a:rPr lang="zh-CN" altLang="en-US" dirty="0"/>
              <a:t>），可以用作定界符</a:t>
            </a:r>
            <a:endParaRPr lang="en-US" altLang="zh-CN" dirty="0"/>
          </a:p>
          <a:p>
            <a:pPr lvl="2">
              <a:lnSpc>
                <a:spcPts val="2800"/>
              </a:lnSpc>
              <a:buFont typeface="Microsoft YaHei" panose="020B0503020204020204" pitchFamily="34" charset="-122"/>
              <a:buChar char="−"/>
            </a:pPr>
            <a:r>
              <a:rPr lang="zh-CN" altLang="en-US" dirty="0"/>
              <a:t>例如：传统以太网、</a:t>
            </a:r>
            <a:r>
              <a:rPr lang="en-US" altLang="zh-CN" dirty="0"/>
              <a:t>802.11</a:t>
            </a:r>
          </a:p>
          <a:p>
            <a:pPr lvl="1">
              <a:lnSpc>
                <a:spcPts val="2800"/>
              </a:lnSpc>
              <a:spcBef>
                <a:spcPts val="1200"/>
              </a:spcBef>
            </a:pPr>
            <a:r>
              <a:rPr lang="zh-CN" altLang="en-US" dirty="0"/>
              <a:t>曼切斯特编码 </a:t>
            </a:r>
            <a:r>
              <a:rPr lang="en-US" altLang="zh-CN" dirty="0"/>
              <a:t>/ </a:t>
            </a:r>
            <a:r>
              <a:rPr lang="zh-CN" altLang="en-US" dirty="0"/>
              <a:t>差分曼切斯特编码</a:t>
            </a:r>
            <a:endParaRPr lang="en-US" altLang="zh-CN" dirty="0"/>
          </a:p>
          <a:p>
            <a:pPr lvl="2">
              <a:lnSpc>
                <a:spcPts val="2800"/>
              </a:lnSpc>
              <a:buFont typeface="Microsoft YaHei" panose="020B0503020204020204" pitchFamily="34" charset="-122"/>
              <a:buChar char="−"/>
            </a:pPr>
            <a:r>
              <a:rPr lang="zh-CN" altLang="en-US" dirty="0"/>
              <a:t>正常的信号在周期</a:t>
            </a:r>
            <a:r>
              <a:rPr lang="zh-CN" altLang="en-US" sz="2100" dirty="0">
                <a:solidFill>
                  <a:srgbClr val="7030A0"/>
                </a:solidFill>
              </a:rPr>
              <a:t>中间有跳变</a:t>
            </a:r>
            <a:r>
              <a:rPr lang="zh-CN" altLang="en-US" dirty="0"/>
              <a:t>，持续的高电平（或低电平）为违例码，可以用作定界符</a:t>
            </a:r>
            <a:endParaRPr lang="en-US" altLang="zh-CN" dirty="0"/>
          </a:p>
          <a:p>
            <a:pPr lvl="2">
              <a:lnSpc>
                <a:spcPts val="2800"/>
              </a:lnSpc>
              <a:buFont typeface="Microsoft YaHei" panose="020B0503020204020204" pitchFamily="34" charset="-122"/>
              <a:buChar char="−"/>
            </a:pPr>
            <a:r>
              <a:rPr lang="zh-CN" altLang="en-US" dirty="0"/>
              <a:t>例如：</a:t>
            </a:r>
            <a:r>
              <a:rPr lang="en-US" altLang="zh-CN" dirty="0"/>
              <a:t>802.5</a:t>
            </a:r>
            <a:r>
              <a:rPr lang="zh-CN" altLang="en-US" dirty="0"/>
              <a:t>令牌环网</a:t>
            </a:r>
            <a:endParaRPr lang="en-US" altLang="zh-CN" dirty="0"/>
          </a:p>
          <a:p>
            <a:pPr marL="457200" lvl="1" indent="0">
              <a:buNone/>
            </a:pPr>
            <a:endParaRPr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6" name="文本框 5">
            <a:extLst>
              <a:ext uri="{FF2B5EF4-FFF2-40B4-BE49-F238E27FC236}">
                <a16:creationId xmlns:a16="http://schemas.microsoft.com/office/drawing/2014/main" id="{A90BAEBE-C2E5-49DC-89F1-E700B708FC09}"/>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3.1 </a:t>
            </a:r>
            <a:r>
              <a:rPr lang="zh-CN" altLang="zh-CN" dirty="0">
                <a:solidFill>
                  <a:schemeClr val="bg1">
                    <a:lumMod val="65000"/>
                  </a:schemeClr>
                </a:solidFill>
                <a:latin typeface="微软雅黑" panose="020B0503020204020204" pitchFamily="34" charset="-122"/>
                <a:ea typeface="微软雅黑" panose="020B0503020204020204" pitchFamily="34" charset="-122"/>
              </a:rPr>
              <a:t>数据链路层的设计问题</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4411679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差错控制</a:t>
            </a:r>
          </a:p>
        </p:txBody>
      </p:sp>
      <p:sp>
        <p:nvSpPr>
          <p:cNvPr id="3" name="内容占位符 2"/>
          <p:cNvSpPr>
            <a:spLocks noGrp="1"/>
          </p:cNvSpPr>
          <p:nvPr>
            <p:ph idx="1"/>
          </p:nvPr>
        </p:nvSpPr>
        <p:spPr/>
        <p:txBody>
          <a:bodyPr>
            <a:normAutofit/>
          </a:bodyPr>
          <a:lstStyle/>
          <a:p>
            <a:r>
              <a:rPr lang="zh-CN" altLang="en-US" dirty="0"/>
              <a:t>链路层存在的一个问题：</a:t>
            </a:r>
            <a:r>
              <a:rPr lang="zh-CN" altLang="en-US" dirty="0">
                <a:solidFill>
                  <a:srgbClr val="C00000"/>
                </a:solidFill>
              </a:rPr>
              <a:t>信道的噪声导致数据传输问题</a:t>
            </a:r>
            <a:endParaRPr lang="en-US" altLang="zh-CN" dirty="0">
              <a:solidFill>
                <a:srgbClr val="C00000"/>
              </a:solidFill>
            </a:endParaRPr>
          </a:p>
          <a:p>
            <a:pPr lvl="1"/>
            <a:r>
              <a:rPr lang="zh-CN" altLang="en-US" dirty="0"/>
              <a:t>差错（</a:t>
            </a:r>
            <a:r>
              <a:rPr lang="en-US" altLang="zh-CN" dirty="0"/>
              <a:t> incorrect </a:t>
            </a:r>
            <a:r>
              <a:rPr lang="zh-CN" altLang="en-US" dirty="0"/>
              <a:t>）：数据发生错误</a:t>
            </a:r>
            <a:endParaRPr lang="en-US" altLang="zh-CN" dirty="0"/>
          </a:p>
          <a:p>
            <a:pPr lvl="1"/>
            <a:r>
              <a:rPr lang="zh-CN" altLang="en-US" dirty="0"/>
              <a:t>丢失（</a:t>
            </a:r>
            <a:r>
              <a:rPr lang="en-US" altLang="zh-CN" dirty="0"/>
              <a:t> lost </a:t>
            </a:r>
            <a:r>
              <a:rPr lang="zh-CN" altLang="en-US" dirty="0"/>
              <a:t>）：接收方未收到</a:t>
            </a:r>
            <a:endParaRPr lang="en-US" altLang="zh-CN" dirty="0"/>
          </a:p>
          <a:p>
            <a:pPr lvl="1"/>
            <a:r>
              <a:rPr lang="zh-CN" altLang="en-US" dirty="0">
                <a:solidFill>
                  <a:srgbClr val="7030A0"/>
                </a:solidFill>
              </a:rPr>
              <a:t>乱序（</a:t>
            </a:r>
            <a:r>
              <a:rPr lang="en-US" altLang="zh-CN" dirty="0">
                <a:solidFill>
                  <a:srgbClr val="7030A0"/>
                </a:solidFill>
              </a:rPr>
              <a:t>out of order</a:t>
            </a:r>
            <a:r>
              <a:rPr lang="zh-CN" altLang="en-US" dirty="0">
                <a:solidFill>
                  <a:srgbClr val="7030A0"/>
                </a:solidFill>
              </a:rPr>
              <a:t>）：先发后到，后发先到</a:t>
            </a:r>
            <a:endParaRPr lang="en-US" altLang="zh-CN" dirty="0">
              <a:solidFill>
                <a:srgbClr val="7030A0"/>
              </a:solidFill>
            </a:endParaRPr>
          </a:p>
          <a:p>
            <a:pPr lvl="1"/>
            <a:r>
              <a:rPr lang="zh-CN" altLang="en-US" dirty="0"/>
              <a:t>重复（</a:t>
            </a:r>
            <a:r>
              <a:rPr lang="en-US" altLang="zh-CN" dirty="0"/>
              <a:t>repeatedly delivery</a:t>
            </a:r>
            <a:r>
              <a:rPr lang="zh-CN" altLang="en-US" dirty="0"/>
              <a:t>）：一次发送，多次接收</a:t>
            </a:r>
            <a:endParaRPr lang="en-US" altLang="zh-CN" dirty="0"/>
          </a:p>
          <a:p>
            <a:pPr>
              <a:spcBef>
                <a:spcPts val="2400"/>
              </a:spcBef>
            </a:pPr>
            <a:r>
              <a:rPr lang="zh-CN" altLang="en-US" dirty="0"/>
              <a:t>解决方案：</a:t>
            </a:r>
            <a:r>
              <a:rPr lang="zh-CN" altLang="en-US" dirty="0">
                <a:solidFill>
                  <a:srgbClr val="C00000"/>
                </a:solidFill>
              </a:rPr>
              <a:t>差错检测与纠正、确认重传</a:t>
            </a:r>
            <a:endParaRPr lang="en-US" altLang="zh-CN" dirty="0">
              <a:solidFill>
                <a:srgbClr val="C00000"/>
              </a:solidFill>
            </a:endParaRPr>
          </a:p>
          <a:p>
            <a:pPr lvl="1"/>
            <a:r>
              <a:rPr lang="zh-CN" altLang="en-US" dirty="0"/>
              <a:t>确认：</a:t>
            </a:r>
            <a:r>
              <a:rPr lang="zh-CN" altLang="en-US" dirty="0">
                <a:solidFill>
                  <a:srgbClr val="7030A0"/>
                </a:solidFill>
              </a:rPr>
              <a:t>接收方</a:t>
            </a:r>
            <a:r>
              <a:rPr lang="zh-CN" altLang="en-US" dirty="0"/>
              <a:t>校验数据（差错校验），并给发送方应答，防止</a:t>
            </a:r>
            <a:r>
              <a:rPr lang="zh-CN" altLang="en-US" dirty="0">
                <a:solidFill>
                  <a:srgbClr val="7030A0"/>
                </a:solidFill>
              </a:rPr>
              <a:t>差错</a:t>
            </a:r>
            <a:endParaRPr lang="en-US" altLang="zh-CN" dirty="0"/>
          </a:p>
          <a:p>
            <a:pPr lvl="1"/>
            <a:r>
              <a:rPr lang="zh-CN" altLang="en-US" dirty="0"/>
              <a:t>定时器：</a:t>
            </a:r>
            <a:r>
              <a:rPr lang="zh-CN" altLang="en-US" dirty="0">
                <a:solidFill>
                  <a:srgbClr val="7030A0"/>
                </a:solidFill>
              </a:rPr>
              <a:t>发送方</a:t>
            </a:r>
            <a:r>
              <a:rPr lang="zh-CN" altLang="en-US" dirty="0"/>
              <a:t>启动定时器，防止</a:t>
            </a:r>
            <a:r>
              <a:rPr lang="zh-CN" altLang="en-US" dirty="0">
                <a:solidFill>
                  <a:srgbClr val="7030A0"/>
                </a:solidFill>
              </a:rPr>
              <a:t>丢失</a:t>
            </a:r>
            <a:endParaRPr lang="en-US" altLang="zh-CN" dirty="0"/>
          </a:p>
          <a:p>
            <a:pPr lvl="1"/>
            <a:r>
              <a:rPr lang="zh-CN" altLang="en-US" dirty="0"/>
              <a:t>顺序号：</a:t>
            </a:r>
            <a:r>
              <a:rPr lang="zh-CN" altLang="en-US" dirty="0">
                <a:solidFill>
                  <a:srgbClr val="7030A0"/>
                </a:solidFill>
              </a:rPr>
              <a:t>接收方</a:t>
            </a:r>
            <a:r>
              <a:rPr lang="zh-CN" altLang="en-US" dirty="0"/>
              <a:t>检查序号，防止</a:t>
            </a:r>
            <a:r>
              <a:rPr lang="zh-CN" altLang="en-US" dirty="0">
                <a:solidFill>
                  <a:srgbClr val="7030A0"/>
                </a:solidFill>
              </a:rPr>
              <a:t>乱序</a:t>
            </a:r>
            <a:r>
              <a:rPr lang="zh-CN" altLang="en-US" dirty="0"/>
              <a:t>递交、</a:t>
            </a:r>
            <a:r>
              <a:rPr lang="zh-CN" altLang="en-US" dirty="0">
                <a:solidFill>
                  <a:srgbClr val="7030A0"/>
                </a:solidFill>
              </a:rPr>
              <a:t>重复</a:t>
            </a:r>
            <a:r>
              <a:rPr lang="zh-CN" altLang="en-US" dirty="0"/>
              <a:t>递交</a:t>
            </a: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6" name="文本框 5">
            <a:extLst>
              <a:ext uri="{FF2B5EF4-FFF2-40B4-BE49-F238E27FC236}">
                <a16:creationId xmlns:a16="http://schemas.microsoft.com/office/drawing/2014/main" id="{082CC463-A981-4E7E-8F03-FAA795786BD7}"/>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3.1 </a:t>
            </a:r>
            <a:r>
              <a:rPr lang="zh-CN" altLang="zh-CN" dirty="0">
                <a:solidFill>
                  <a:schemeClr val="bg1">
                    <a:lumMod val="65000"/>
                  </a:schemeClr>
                </a:solidFill>
                <a:latin typeface="微软雅黑" panose="020B0503020204020204" pitchFamily="34" charset="-122"/>
                <a:ea typeface="微软雅黑" panose="020B0503020204020204" pitchFamily="34" charset="-122"/>
              </a:rPr>
              <a:t>数据链路层的设计问题</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512869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wipe(left)">
                                      <p:cBhvr>
                                        <p:cTn id="7" dur="500"/>
                                        <p:tgtEl>
                                          <p:spTgt spid="3">
                                            <p:txEl>
                                              <p:pRg st="5" end="5"/>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6" end="6"/>
                                            </p:txEl>
                                          </p:spTgt>
                                        </p:tgtEl>
                                        <p:attrNameLst>
                                          <p:attrName>style.visibility</p:attrName>
                                        </p:attrNameLst>
                                      </p:cBhvr>
                                      <p:to>
                                        <p:strVal val="visible"/>
                                      </p:to>
                                    </p:set>
                                    <p:animEffect transition="in" filter="wipe(left)">
                                      <p:cBhvr>
                                        <p:cTn id="10" dur="500"/>
                                        <p:tgtEl>
                                          <p:spTgt spid="3">
                                            <p:txEl>
                                              <p:pRg st="6" end="6"/>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animEffect transition="in" filter="wipe(left)">
                                      <p:cBhvr>
                                        <p:cTn id="13" dur="500"/>
                                        <p:tgtEl>
                                          <p:spTgt spid="3">
                                            <p:txEl>
                                              <p:pRg st="7" end="7"/>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3">
                                            <p:txEl>
                                              <p:pRg st="8" end="8"/>
                                            </p:txEl>
                                          </p:spTgt>
                                        </p:tgtEl>
                                        <p:attrNameLst>
                                          <p:attrName>style.visibility</p:attrName>
                                        </p:attrNameLst>
                                      </p:cBhvr>
                                      <p:to>
                                        <p:strVal val="visible"/>
                                      </p:to>
                                    </p:set>
                                    <p:animEffect transition="in" filter="wipe(left)">
                                      <p:cBhvr>
                                        <p:cTn id="16"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流量控制</a:t>
            </a:r>
          </a:p>
        </p:txBody>
      </p:sp>
      <p:sp>
        <p:nvSpPr>
          <p:cNvPr id="3" name="内容占位符 2"/>
          <p:cNvSpPr>
            <a:spLocks noGrp="1"/>
          </p:cNvSpPr>
          <p:nvPr>
            <p:ph idx="1"/>
          </p:nvPr>
        </p:nvSpPr>
        <p:spPr/>
        <p:txBody>
          <a:bodyPr/>
          <a:lstStyle/>
          <a:p>
            <a:pPr>
              <a:lnSpc>
                <a:spcPts val="3600"/>
              </a:lnSpc>
            </a:pPr>
            <a:r>
              <a:rPr lang="zh-CN" altLang="en-US" dirty="0"/>
              <a:t>链路层存在的另一个问题：</a:t>
            </a:r>
            <a:r>
              <a:rPr lang="zh-CN" altLang="en-US" dirty="0">
                <a:solidFill>
                  <a:srgbClr val="C00000"/>
                </a:solidFill>
              </a:rPr>
              <a:t>接收方的处理速率</a:t>
            </a:r>
          </a:p>
          <a:p>
            <a:pPr lvl="1">
              <a:lnSpc>
                <a:spcPts val="3600"/>
              </a:lnSpc>
            </a:pPr>
            <a:r>
              <a:rPr lang="zh-CN" altLang="en-US" dirty="0"/>
              <a:t>接收方的接收缓冲区溢出</a:t>
            </a:r>
            <a:endParaRPr lang="en-US" altLang="zh-CN" dirty="0"/>
          </a:p>
          <a:p>
            <a:pPr>
              <a:lnSpc>
                <a:spcPts val="3600"/>
              </a:lnSpc>
            </a:pPr>
            <a:r>
              <a:rPr lang="zh-CN" altLang="en-US" dirty="0"/>
              <a:t>解决方案</a:t>
            </a:r>
            <a:endParaRPr lang="en-US" altLang="zh-CN" dirty="0"/>
          </a:p>
          <a:p>
            <a:pPr lvl="1">
              <a:lnSpc>
                <a:spcPts val="3600"/>
              </a:lnSpc>
            </a:pPr>
            <a:r>
              <a:rPr lang="zh-CN" altLang="en-US" dirty="0"/>
              <a:t>基于</a:t>
            </a:r>
            <a:r>
              <a:rPr lang="zh-CN" altLang="en-US" dirty="0">
                <a:solidFill>
                  <a:srgbClr val="7030A0"/>
                </a:solidFill>
              </a:rPr>
              <a:t>反馈 </a:t>
            </a:r>
            <a:r>
              <a:rPr lang="en-US" altLang="zh-CN" dirty="0"/>
              <a:t>(feedback-based) </a:t>
            </a:r>
            <a:r>
              <a:rPr lang="zh-CN" altLang="en-US" dirty="0"/>
              <a:t>的流量控制</a:t>
            </a:r>
            <a:endParaRPr lang="en-US" altLang="zh-CN" dirty="0"/>
          </a:p>
          <a:p>
            <a:pPr lvl="2">
              <a:lnSpc>
                <a:spcPts val="3600"/>
              </a:lnSpc>
            </a:pPr>
            <a:r>
              <a:rPr lang="zh-CN" altLang="en-US" dirty="0"/>
              <a:t>接收方反馈，发送方调整发送速率</a:t>
            </a:r>
            <a:endParaRPr lang="en-US" altLang="zh-CN" dirty="0"/>
          </a:p>
          <a:p>
            <a:pPr lvl="1">
              <a:lnSpc>
                <a:spcPts val="3600"/>
              </a:lnSpc>
            </a:pPr>
            <a:r>
              <a:rPr lang="zh-CN" altLang="en-US" dirty="0"/>
              <a:t>基于</a:t>
            </a:r>
            <a:r>
              <a:rPr lang="zh-CN" altLang="en-US" dirty="0">
                <a:solidFill>
                  <a:srgbClr val="7030A0"/>
                </a:solidFill>
              </a:rPr>
              <a:t>速率 </a:t>
            </a:r>
            <a:r>
              <a:rPr lang="en-US" altLang="zh-CN" dirty="0"/>
              <a:t>(rate-based) </a:t>
            </a:r>
            <a:r>
              <a:rPr lang="zh-CN" altLang="en-US" dirty="0"/>
              <a:t>的流量控制</a:t>
            </a:r>
            <a:endParaRPr lang="en-US" altLang="zh-CN" dirty="0"/>
          </a:p>
          <a:p>
            <a:pPr lvl="2">
              <a:lnSpc>
                <a:spcPts val="3600"/>
              </a:lnSpc>
            </a:pPr>
            <a:r>
              <a:rPr lang="zh-CN" altLang="en-US" dirty="0"/>
              <a:t>发送方根据内建机制，自行限速</a:t>
            </a: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5" name="箭头: 五边形 11">
            <a:extLst>
              <a:ext uri="{FF2B5EF4-FFF2-40B4-BE49-F238E27FC236}">
                <a16:creationId xmlns:a16="http://schemas.microsoft.com/office/drawing/2014/main" id="{2BF60C56-09D2-A547-8988-85CEB207AAE3}"/>
              </a:ext>
            </a:extLst>
          </p:cNvPr>
          <p:cNvSpPr/>
          <p:nvPr/>
        </p:nvSpPr>
        <p:spPr>
          <a:xfrm>
            <a:off x="9759737" y="10566"/>
            <a:ext cx="2432263" cy="354560"/>
          </a:xfrm>
          <a:prstGeom prst="homePlate">
            <a:avLst/>
          </a:prstGeom>
          <a:solidFill>
            <a:schemeClr val="bg1"/>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2000" dirty="0">
                <a:solidFill>
                  <a:srgbClr val="C00000"/>
                </a:solidFill>
                <a:latin typeface="微软雅黑" panose="020B0503020204020204" pitchFamily="34" charset="-122"/>
                <a:ea typeface="微软雅黑" panose="020B0503020204020204" pitchFamily="34" charset="-122"/>
              </a:rPr>
              <a:t>面临的问题</a:t>
            </a:r>
          </a:p>
        </p:txBody>
      </p:sp>
      <p:sp>
        <p:nvSpPr>
          <p:cNvPr id="6" name="文本框 5">
            <a:extLst>
              <a:ext uri="{FF2B5EF4-FFF2-40B4-BE49-F238E27FC236}">
                <a16:creationId xmlns:a16="http://schemas.microsoft.com/office/drawing/2014/main" id="{FC885773-595E-4A57-B0E6-C80D215F2674}"/>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3.1 </a:t>
            </a:r>
            <a:r>
              <a:rPr lang="zh-CN" altLang="zh-CN" dirty="0">
                <a:solidFill>
                  <a:schemeClr val="bg1">
                    <a:lumMod val="65000"/>
                  </a:schemeClr>
                </a:solidFill>
                <a:latin typeface="微软雅黑" panose="020B0503020204020204" pitchFamily="34" charset="-122"/>
                <a:ea typeface="微软雅黑" panose="020B0503020204020204" pitchFamily="34" charset="-122"/>
              </a:rPr>
              <a:t>数据链路层的设计问题</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161930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wipe(left)">
                                      <p:cBhvr>
                                        <p:cTn id="7" dur="500"/>
                                        <p:tgtEl>
                                          <p:spTgt spid="3">
                                            <p:txEl>
                                              <p:pRg st="2" end="2"/>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wipe(left)">
                                      <p:cBhvr>
                                        <p:cTn id="10" dur="500"/>
                                        <p:tgtEl>
                                          <p:spTgt spid="3">
                                            <p:txEl>
                                              <p:pRg st="3" end="3"/>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wipe(left)">
                                      <p:cBhvr>
                                        <p:cTn id="13" dur="500"/>
                                        <p:tgtEl>
                                          <p:spTgt spid="3">
                                            <p:txEl>
                                              <p:pRg st="4" end="4"/>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3">
                                            <p:txEl>
                                              <p:pRg st="5" end="5"/>
                                            </p:txEl>
                                          </p:spTgt>
                                        </p:tgtEl>
                                        <p:attrNameLst>
                                          <p:attrName>style.visibility</p:attrName>
                                        </p:attrNameLst>
                                      </p:cBhvr>
                                      <p:to>
                                        <p:strVal val="visible"/>
                                      </p:to>
                                    </p:set>
                                    <p:animEffect transition="in" filter="wipe(left)">
                                      <p:cBhvr>
                                        <p:cTn id="16" dur="500"/>
                                        <p:tgtEl>
                                          <p:spTgt spid="3">
                                            <p:txEl>
                                              <p:pRg st="5" end="5"/>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Effect transition="in" filter="wipe(left)">
                                      <p:cBhvr>
                                        <p:cTn id="19"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DCC7AC-475E-1E4C-8CD6-1AECBEC28035}"/>
              </a:ext>
            </a:extLst>
          </p:cNvPr>
          <p:cNvSpPr>
            <a:spLocks noGrp="1"/>
          </p:cNvSpPr>
          <p:nvPr>
            <p:ph type="title"/>
          </p:nvPr>
        </p:nvSpPr>
        <p:spPr/>
        <p:txBody>
          <a:bodyPr/>
          <a:lstStyle/>
          <a:p>
            <a:r>
              <a:rPr lang="zh-CN" altLang="en-US" dirty="0"/>
              <a:t>本章内容</a:t>
            </a:r>
            <a:endParaRPr kumimoji="1" lang="zh-CN" altLang="en-US" dirty="0"/>
          </a:p>
        </p:txBody>
      </p:sp>
      <p:sp>
        <p:nvSpPr>
          <p:cNvPr id="3" name="内容占位符 2">
            <a:extLst>
              <a:ext uri="{FF2B5EF4-FFF2-40B4-BE49-F238E27FC236}">
                <a16:creationId xmlns:a16="http://schemas.microsoft.com/office/drawing/2014/main" id="{ED1732F0-50F7-8947-81D6-CBBAE8232DE9}"/>
              </a:ext>
            </a:extLst>
          </p:cNvPr>
          <p:cNvSpPr>
            <a:spLocks noGrp="1"/>
          </p:cNvSpPr>
          <p:nvPr>
            <p:ph idx="1"/>
          </p:nvPr>
        </p:nvSpPr>
        <p:spPr/>
        <p:txBody>
          <a:bodyPr>
            <a:normAutofit/>
          </a:bodyPr>
          <a:lstStyle/>
          <a:p>
            <a:pPr marL="0" indent="0">
              <a:lnSpc>
                <a:spcPct val="130000"/>
              </a:lnSpc>
              <a:buNone/>
            </a:pPr>
            <a:r>
              <a:rPr kumimoji="1" lang="en-US" altLang="zh-CN" dirty="0"/>
              <a:t>3.1 </a:t>
            </a:r>
            <a:r>
              <a:rPr kumimoji="1" lang="zh-CN" altLang="zh-CN" dirty="0"/>
              <a:t>数据链路层的设计问题</a:t>
            </a:r>
            <a:endParaRPr kumimoji="1" lang="en-US" altLang="zh-CN" dirty="0"/>
          </a:p>
          <a:p>
            <a:pPr marL="0" indent="0">
              <a:lnSpc>
                <a:spcPct val="130000"/>
              </a:lnSpc>
              <a:buNone/>
            </a:pPr>
            <a:r>
              <a:rPr kumimoji="1" lang="en-US" altLang="zh-CN" dirty="0">
                <a:solidFill>
                  <a:srgbClr val="C00000"/>
                </a:solidFill>
              </a:rPr>
              <a:t>3.2 </a:t>
            </a:r>
            <a:r>
              <a:rPr kumimoji="1" lang="zh-CN" altLang="zh-CN" dirty="0">
                <a:solidFill>
                  <a:srgbClr val="C00000"/>
                </a:solidFill>
              </a:rPr>
              <a:t>差错检测和纠正</a:t>
            </a:r>
            <a:endParaRPr kumimoji="1" lang="en-US" altLang="zh-CN" dirty="0">
              <a:solidFill>
                <a:srgbClr val="C00000"/>
              </a:solidFill>
            </a:endParaRPr>
          </a:p>
          <a:p>
            <a:pPr marL="0" indent="0">
              <a:lnSpc>
                <a:spcPct val="130000"/>
              </a:lnSpc>
              <a:buNone/>
            </a:pPr>
            <a:r>
              <a:rPr kumimoji="1" lang="en-US" altLang="zh-CN" dirty="0"/>
              <a:t>3.3 </a:t>
            </a:r>
            <a:r>
              <a:rPr kumimoji="1" lang="zh-CN" altLang="zh-CN" dirty="0"/>
              <a:t>基本的数据链路层协议</a:t>
            </a:r>
            <a:endParaRPr kumimoji="1" lang="zh-CN" altLang="en-US" dirty="0"/>
          </a:p>
          <a:p>
            <a:pPr marL="0" indent="0">
              <a:lnSpc>
                <a:spcPct val="130000"/>
              </a:lnSpc>
              <a:buNone/>
            </a:pPr>
            <a:r>
              <a:rPr kumimoji="1" lang="en-US" altLang="zh-CN" dirty="0"/>
              <a:t>3.4 </a:t>
            </a:r>
            <a:r>
              <a:rPr kumimoji="1" lang="zh-CN" altLang="zh-CN" dirty="0"/>
              <a:t>滑动窗口协议</a:t>
            </a:r>
            <a:endParaRPr kumimoji="1" lang="zh-CN" altLang="en-US" dirty="0"/>
          </a:p>
          <a:p>
            <a:pPr marL="0" indent="0">
              <a:lnSpc>
                <a:spcPct val="130000"/>
              </a:lnSpc>
              <a:buNone/>
            </a:pPr>
            <a:r>
              <a:rPr kumimoji="1" lang="en-US" altLang="zh-CN" dirty="0"/>
              <a:t>3.5 </a:t>
            </a:r>
            <a:r>
              <a:rPr kumimoji="1" lang="zh-CN" altLang="zh-CN" dirty="0"/>
              <a:t>数据链路协议实例</a:t>
            </a:r>
          </a:p>
        </p:txBody>
      </p:sp>
      <p:sp>
        <p:nvSpPr>
          <p:cNvPr id="4" name="灯片编号占位符 3">
            <a:extLst>
              <a:ext uri="{FF2B5EF4-FFF2-40B4-BE49-F238E27FC236}">
                <a16:creationId xmlns:a16="http://schemas.microsoft.com/office/drawing/2014/main" id="{B09265E6-1613-5248-876E-1FC70865DEDD}"/>
              </a:ext>
            </a:extLst>
          </p:cNvPr>
          <p:cNvSpPr>
            <a:spLocks noGrp="1"/>
          </p:cNvSpPr>
          <p:nvPr>
            <p:ph type="sldNum" sz="quarter" idx="12"/>
          </p:nvPr>
        </p:nvSpPr>
        <p:spPr/>
        <p:txBody>
          <a:bodyPr/>
          <a:lstStyle/>
          <a:p>
            <a:fld id="{8D4D1E41-7A09-AB4A-A4E1-09765ADA2698}" type="slidenum">
              <a:rPr kumimoji="1" lang="zh-CN" altLang="en-US" smtClean="0"/>
              <a:t>24</a:t>
            </a:fld>
            <a:endParaRPr kumimoji="1" lang="zh-CN" altLang="en-US" dirty="0"/>
          </a:p>
        </p:txBody>
      </p:sp>
      <p:sp>
        <p:nvSpPr>
          <p:cNvPr id="5" name="矩形标注 4">
            <a:extLst>
              <a:ext uri="{FF2B5EF4-FFF2-40B4-BE49-F238E27FC236}">
                <a16:creationId xmlns:a16="http://schemas.microsoft.com/office/drawing/2014/main" id="{E4BFCB96-0FA1-7740-8F94-683CEFB67F89}"/>
              </a:ext>
            </a:extLst>
          </p:cNvPr>
          <p:cNvSpPr/>
          <p:nvPr/>
        </p:nvSpPr>
        <p:spPr>
          <a:xfrm>
            <a:off x="5764996" y="2133600"/>
            <a:ext cx="4768770" cy="1669143"/>
          </a:xfrm>
          <a:prstGeom prst="wedgeRectCallout">
            <a:avLst>
              <a:gd name="adj1" fmla="val -84124"/>
              <a:gd name="adj2" fmla="val -30530"/>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587375" lvl="0" indent="-438150">
              <a:lnSpc>
                <a:spcPct val="130000"/>
              </a:lnSpc>
              <a:spcBef>
                <a:spcPts val="600"/>
              </a:spcBef>
              <a:buFont typeface="+mj-lt"/>
              <a:buAutoNum type="arabicPeriod"/>
            </a:pPr>
            <a:r>
              <a:rPr lang="zh-CN" altLang="en-US" sz="2400" dirty="0">
                <a:solidFill>
                  <a:schemeClr val="tx1"/>
                </a:solidFill>
                <a:latin typeface="Microsoft YaHei" panose="020B0503020204020204" pitchFamily="34" charset="-122"/>
                <a:ea typeface="Microsoft YaHei" panose="020B0503020204020204" pitchFamily="34" charset="-122"/>
              </a:rPr>
              <a:t>差错检测与纠正概述</a:t>
            </a:r>
            <a:endParaRPr lang="en-US" altLang="zh-CN" sz="2400" dirty="0">
              <a:solidFill>
                <a:schemeClr val="tx1"/>
              </a:solidFill>
              <a:latin typeface="Microsoft YaHei" panose="020B0503020204020204" pitchFamily="34" charset="-122"/>
              <a:ea typeface="Microsoft YaHei" panose="020B0503020204020204" pitchFamily="34" charset="-122"/>
            </a:endParaRPr>
          </a:p>
          <a:p>
            <a:pPr marL="587375" lvl="0" indent="-438150">
              <a:lnSpc>
                <a:spcPct val="130000"/>
              </a:lnSpc>
              <a:spcBef>
                <a:spcPts val="600"/>
              </a:spcBef>
              <a:buFont typeface="+mj-lt"/>
              <a:buAutoNum type="arabicPeriod"/>
            </a:pPr>
            <a:r>
              <a:rPr lang="zh-CN" altLang="en-US" sz="2400" dirty="0">
                <a:solidFill>
                  <a:schemeClr val="tx1"/>
                </a:solidFill>
                <a:latin typeface="Microsoft YaHei" panose="020B0503020204020204" pitchFamily="34" charset="-122"/>
                <a:ea typeface="Microsoft YaHei" panose="020B0503020204020204" pitchFamily="34" charset="-122"/>
              </a:rPr>
              <a:t>典型的纠错码</a:t>
            </a:r>
            <a:endParaRPr lang="en-US" altLang="zh-CN" sz="2400" dirty="0">
              <a:solidFill>
                <a:schemeClr val="tx1"/>
              </a:solidFill>
              <a:latin typeface="Microsoft YaHei" panose="020B0503020204020204" pitchFamily="34" charset="-122"/>
              <a:ea typeface="Microsoft YaHei" panose="020B0503020204020204" pitchFamily="34" charset="-122"/>
            </a:endParaRPr>
          </a:p>
          <a:p>
            <a:pPr marL="587375" lvl="0" indent="-438150">
              <a:lnSpc>
                <a:spcPct val="130000"/>
              </a:lnSpc>
              <a:spcBef>
                <a:spcPts val="600"/>
              </a:spcBef>
              <a:buFont typeface="+mj-lt"/>
              <a:buAutoNum type="arabicPeriod"/>
            </a:pPr>
            <a:r>
              <a:rPr lang="zh-CN" altLang="en-US" sz="2400" dirty="0">
                <a:solidFill>
                  <a:schemeClr val="tx1"/>
                </a:solidFill>
                <a:latin typeface="Microsoft YaHei" panose="020B0503020204020204" pitchFamily="34" charset="-122"/>
                <a:ea typeface="Microsoft YaHei" panose="020B0503020204020204" pitchFamily="34" charset="-122"/>
              </a:rPr>
              <a:t>典型的检错码</a:t>
            </a:r>
            <a:endParaRPr lang="en-US" altLang="zh-CN" sz="2400" dirty="0">
              <a:solidFill>
                <a:schemeClr val="tx1"/>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0274895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E1895B5-04A1-03E9-22A5-A8ED9E8F9B17}"/>
              </a:ext>
            </a:extLst>
          </p:cNvPr>
          <p:cNvSpPr>
            <a:spLocks noGrp="1"/>
          </p:cNvSpPr>
          <p:nvPr>
            <p:ph type="title"/>
          </p:nvPr>
        </p:nvSpPr>
        <p:spPr/>
        <p:txBody>
          <a:bodyPr/>
          <a:lstStyle/>
          <a:p>
            <a:r>
              <a:rPr lang="zh-CN" altLang="en-US" sz="4400" dirty="0">
                <a:solidFill>
                  <a:srgbClr val="0000FF"/>
                </a:solidFill>
                <a:effectLst>
                  <a:outerShdw blurRad="38100" dist="38100" dir="2700000" algn="tl">
                    <a:srgbClr val="C0C0C0"/>
                  </a:outerShdw>
                </a:effectLst>
                <a:latin typeface="楷体_GB2312" pitchFamily="49" charset="-122"/>
                <a:ea typeface="楷体_GB2312" pitchFamily="49" charset="-122"/>
              </a:rPr>
              <a:t>差错原因</a:t>
            </a:r>
            <a:endParaRPr lang="en-CN" dirty="0"/>
          </a:p>
        </p:txBody>
      </p:sp>
      <p:sp>
        <p:nvSpPr>
          <p:cNvPr id="4" name="Slide Number Placeholder 3">
            <a:extLst>
              <a:ext uri="{FF2B5EF4-FFF2-40B4-BE49-F238E27FC236}">
                <a16:creationId xmlns:a16="http://schemas.microsoft.com/office/drawing/2014/main" id="{267BCC8C-F240-D3AB-8254-43C98379D9B0}"/>
              </a:ext>
            </a:extLst>
          </p:cNvPr>
          <p:cNvSpPr>
            <a:spLocks noGrp="1"/>
          </p:cNvSpPr>
          <p:nvPr>
            <p:ph type="sldNum" sz="quarter" idx="12"/>
          </p:nvPr>
        </p:nvSpPr>
        <p:spPr/>
        <p:txBody>
          <a:bodyPr/>
          <a:lstStyle/>
          <a:p>
            <a:fld id="{8D4D1E41-7A09-AB4A-A4E1-09765ADA2698}" type="slidenum">
              <a:rPr kumimoji="1" lang="zh-CN" altLang="en-US" smtClean="0"/>
              <a:t>25</a:t>
            </a:fld>
            <a:endParaRPr kumimoji="1" lang="zh-CN" altLang="en-US" dirty="0"/>
          </a:p>
        </p:txBody>
      </p:sp>
      <p:sp>
        <p:nvSpPr>
          <p:cNvPr id="5" name="Rectangle 3">
            <a:extLst>
              <a:ext uri="{FF2B5EF4-FFF2-40B4-BE49-F238E27FC236}">
                <a16:creationId xmlns:a16="http://schemas.microsoft.com/office/drawing/2014/main" id="{A6B5E2A1-A3EC-9DE7-6136-C4FD8AB3082A}"/>
              </a:ext>
            </a:extLst>
          </p:cNvPr>
          <p:cNvSpPr txBox="1">
            <a:spLocks noChangeArrowheads="1"/>
          </p:cNvSpPr>
          <p:nvPr/>
        </p:nvSpPr>
        <p:spPr>
          <a:xfrm>
            <a:off x="609600" y="1484783"/>
            <a:ext cx="11233248" cy="4871567"/>
          </a:xfrm>
          <a:prstGeom prst="rect">
            <a:avLst/>
          </a:prstGeom>
        </p:spPr>
        <p:txBody>
          <a:bodyPr vert="horz" lIns="91440" tIns="45720" rIns="91440" bIns="45720" rtlCol="0">
            <a:normAutofit/>
          </a:bodyPr>
          <a:lstStyle>
            <a:lvl1pPr marL="360363" indent="-360363" algn="l" defTabSz="914400" rtl="0" eaLnBrk="1" latinLnBrk="0" hangingPunct="1">
              <a:lnSpc>
                <a:spcPct val="100000"/>
              </a:lnSpc>
              <a:spcBef>
                <a:spcPts val="600"/>
              </a:spcBef>
              <a:buFont typeface="Wingdings" pitchFamily="2" charset="2"/>
              <a:buChar char="Ø"/>
              <a:tabLst/>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ct val="15000"/>
              </a:spcBef>
              <a:buSzPct val="90000"/>
              <a:buFont typeface="Wingdings" pitchFamily="2" charset="2"/>
              <a:buChar char="§"/>
              <a:defRPr/>
            </a:pPr>
            <a:r>
              <a:rPr lang="zh-CN" altLang="en-US" sz="2000" b="1" dirty="0">
                <a:solidFill>
                  <a:srgbClr val="0000FF"/>
                </a:solidFill>
                <a:latin typeface="楷体_GB2312" pitchFamily="49" charset="-122"/>
                <a:ea typeface="楷体_GB2312" pitchFamily="49" charset="-122"/>
              </a:rPr>
              <a:t>噪声干扰：</a:t>
            </a:r>
          </a:p>
          <a:p>
            <a:pPr lvl="1">
              <a:spcBef>
                <a:spcPct val="15000"/>
              </a:spcBef>
              <a:buFont typeface="Wingdings" panose="05000000000000000000" pitchFamily="2" charset="2"/>
              <a:buChar char="Ø"/>
              <a:defRPr/>
            </a:pPr>
            <a:r>
              <a:rPr lang="zh-CN" altLang="en-US" sz="2000" dirty="0">
                <a:latin typeface="楷体_GB2312" pitchFamily="49" charset="-122"/>
                <a:ea typeface="楷体_GB2312" pitchFamily="49" charset="-122"/>
              </a:rPr>
              <a:t>随机热噪声：导体电子运动引起，时刻存在，幅度较小，强度与频率无关，频谱很宽。</a:t>
            </a:r>
          </a:p>
          <a:p>
            <a:pPr lvl="1">
              <a:spcBef>
                <a:spcPct val="15000"/>
              </a:spcBef>
              <a:buFont typeface="Wingdings" panose="05000000000000000000" pitchFamily="2" charset="2"/>
              <a:buChar char="Ø"/>
              <a:defRPr/>
            </a:pPr>
            <a:r>
              <a:rPr lang="zh-CN" altLang="en-US" sz="2000" dirty="0">
                <a:latin typeface="楷体_GB2312" pitchFamily="49" charset="-122"/>
                <a:ea typeface="楷体_GB2312" pitchFamily="49" charset="-122"/>
              </a:rPr>
              <a:t>冲击噪声：引起差错的主要原因</a:t>
            </a:r>
            <a:r>
              <a:rPr lang="en-US" altLang="zh-CN" sz="2000" dirty="0">
                <a:latin typeface="楷体_GB2312" pitchFamily="49" charset="-122"/>
                <a:ea typeface="楷体_GB2312" pitchFamily="49" charset="-122"/>
              </a:rPr>
              <a:t>,</a:t>
            </a:r>
            <a:r>
              <a:rPr lang="zh-CN" altLang="en-US" sz="2000" dirty="0">
                <a:latin typeface="楷体_GB2312" pitchFamily="49" charset="-122"/>
                <a:ea typeface="楷体_GB2312" pitchFamily="49" charset="-122"/>
              </a:rPr>
              <a:t>引起相邻数据突发性错。</a:t>
            </a:r>
          </a:p>
          <a:p>
            <a:pPr>
              <a:spcBef>
                <a:spcPct val="15000"/>
              </a:spcBef>
              <a:buSzPct val="90000"/>
              <a:buFont typeface="Wingdings" pitchFamily="2" charset="2"/>
              <a:buChar char="§"/>
              <a:defRPr/>
            </a:pPr>
            <a:r>
              <a:rPr lang="zh-CN" altLang="en-US" sz="2000" b="1" dirty="0">
                <a:solidFill>
                  <a:srgbClr val="0000FF"/>
                </a:solidFill>
                <a:latin typeface="楷体_GB2312" pitchFamily="49" charset="-122"/>
                <a:ea typeface="楷体_GB2312" pitchFamily="49" charset="-122"/>
              </a:rPr>
              <a:t>数据处理引起：</a:t>
            </a:r>
            <a:endParaRPr lang="zh-CN" altLang="en-US" sz="2000" dirty="0">
              <a:latin typeface="楷体_GB2312" pitchFamily="49" charset="-122"/>
              <a:ea typeface="楷体_GB2312" pitchFamily="49" charset="-122"/>
            </a:endParaRPr>
          </a:p>
          <a:p>
            <a:pPr lvl="1">
              <a:spcBef>
                <a:spcPct val="15000"/>
              </a:spcBef>
              <a:buFont typeface="Wingdings" panose="05000000000000000000" pitchFamily="2" charset="2"/>
              <a:buChar char="Ø"/>
              <a:defRPr/>
            </a:pPr>
            <a:r>
              <a:rPr lang="zh-CN" altLang="en-US" sz="2000" dirty="0">
                <a:latin typeface="楷体_GB2312" pitchFamily="49" charset="-122"/>
                <a:ea typeface="楷体_GB2312" pitchFamily="49" charset="-122"/>
              </a:rPr>
              <a:t>调制、解调</a:t>
            </a:r>
            <a:endParaRPr lang="en-US" altLang="zh-CN" sz="2000" dirty="0">
              <a:latin typeface="楷体_GB2312" pitchFamily="49" charset="-122"/>
              <a:ea typeface="楷体_GB2312" pitchFamily="49" charset="-122"/>
            </a:endParaRPr>
          </a:p>
          <a:p>
            <a:pPr>
              <a:buSzPct val="90000"/>
              <a:buFont typeface="Wingdings" pitchFamily="2" charset="2"/>
              <a:buChar char="§"/>
              <a:defRPr/>
            </a:pPr>
            <a:r>
              <a:rPr lang="en-US" altLang="zh-CN" b="1" dirty="0">
                <a:solidFill>
                  <a:srgbClr val="0000FF"/>
                </a:solidFill>
                <a:latin typeface="楷体_GB2312" pitchFamily="49" charset="-122"/>
              </a:rPr>
              <a:t> </a:t>
            </a:r>
            <a:r>
              <a:rPr lang="zh-CN" altLang="en-US" sz="2000" b="1" dirty="0">
                <a:solidFill>
                  <a:srgbClr val="0000FF"/>
                </a:solidFill>
                <a:latin typeface="楷体_GB2312" pitchFamily="49" charset="-122"/>
              </a:rPr>
              <a:t>信道失真：</a:t>
            </a:r>
          </a:p>
          <a:p>
            <a:pPr lvl="1">
              <a:buFont typeface="Wingdings" pitchFamily="2" charset="2"/>
              <a:buChar char="Ø"/>
              <a:defRPr/>
            </a:pPr>
            <a:r>
              <a:rPr lang="zh-CN" altLang="en-US" sz="2000" dirty="0">
                <a:solidFill>
                  <a:srgbClr val="FF0000"/>
                </a:solidFill>
                <a:latin typeface="楷体_GB2312" pitchFamily="49" charset="-122"/>
              </a:rPr>
              <a:t>色散</a:t>
            </a:r>
            <a:r>
              <a:rPr lang="en-US" altLang="zh-CN" sz="2000" dirty="0">
                <a:latin typeface="楷体_GB2312" pitchFamily="49" charset="-122"/>
              </a:rPr>
              <a:t>: </a:t>
            </a:r>
            <a:r>
              <a:rPr lang="zh-CN" altLang="en-US" sz="2000" dirty="0">
                <a:latin typeface="楷体_GB2312" pitchFamily="49" charset="-122"/>
              </a:rPr>
              <a:t>光线透过媒介中间时，因波长关系光学性质改变的一种现象。如光线射入镜片或三棱镜时，因波长的不同产生</a:t>
            </a:r>
            <a:r>
              <a:rPr lang="zh-CN" altLang="en-US" sz="2000" dirty="0">
                <a:solidFill>
                  <a:schemeClr val="hlink"/>
                </a:solidFill>
                <a:effectLst>
                  <a:outerShdw blurRad="38100" dist="38100" dir="2700000" algn="tl">
                    <a:srgbClr val="C0C0C0"/>
                  </a:outerShdw>
                </a:effectLst>
                <a:latin typeface="楷体_GB2312" pitchFamily="49" charset="-122"/>
              </a:rPr>
              <a:t>折射率</a:t>
            </a:r>
            <a:r>
              <a:rPr lang="zh-CN" altLang="en-US" sz="2000" dirty="0">
                <a:latin typeface="楷体_GB2312" pitchFamily="49" charset="-122"/>
              </a:rPr>
              <a:t>互异的现象，称之为光的</a:t>
            </a:r>
            <a:r>
              <a:rPr lang="zh-CN" altLang="en-US" sz="2000" dirty="0">
                <a:solidFill>
                  <a:srgbClr val="0000FF"/>
                </a:solidFill>
                <a:effectLst>
                  <a:outerShdw blurRad="38100" dist="38100" dir="2700000" algn="tl">
                    <a:srgbClr val="C0C0C0"/>
                  </a:outerShdw>
                </a:effectLst>
                <a:latin typeface="楷体_GB2312" pitchFamily="49" charset="-122"/>
              </a:rPr>
              <a:t>分散或色散</a:t>
            </a:r>
            <a:r>
              <a:rPr lang="zh-CN" altLang="en-US" sz="2000" dirty="0">
                <a:latin typeface="楷体_GB2312" pitchFamily="49" charset="-122"/>
              </a:rPr>
              <a:t>。光纤色散主要是因为光源不是</a:t>
            </a:r>
            <a:r>
              <a:rPr lang="zh-CN" altLang="en-US" sz="2000" dirty="0">
                <a:solidFill>
                  <a:srgbClr val="0000FF"/>
                </a:solidFill>
                <a:effectLst>
                  <a:outerShdw blurRad="38100" dist="38100" dir="2700000" algn="tl">
                    <a:srgbClr val="C0C0C0"/>
                  </a:outerShdw>
                </a:effectLst>
                <a:latin typeface="楷体_GB2312" pitchFamily="49" charset="-122"/>
              </a:rPr>
              <a:t>单色光</a:t>
            </a:r>
            <a:r>
              <a:rPr lang="zh-CN" altLang="en-US" sz="2000" dirty="0">
                <a:latin typeface="楷体_GB2312" pitchFamily="49" charset="-122"/>
              </a:rPr>
              <a:t>引起。</a:t>
            </a:r>
          </a:p>
          <a:p>
            <a:pPr lvl="1">
              <a:buFont typeface="Wingdings" pitchFamily="2" charset="2"/>
              <a:buChar char="Ø"/>
              <a:defRPr/>
            </a:pPr>
            <a:r>
              <a:rPr lang="zh-CN" altLang="en-US" sz="2000" dirty="0">
                <a:solidFill>
                  <a:srgbClr val="FF0000"/>
                </a:solidFill>
                <a:latin typeface="楷体_GB2312" pitchFamily="49" charset="-122"/>
              </a:rPr>
              <a:t>有限带宽</a:t>
            </a:r>
            <a:r>
              <a:rPr lang="en-US" altLang="zh-CN" sz="2000" dirty="0">
                <a:latin typeface="楷体_GB2312" pitchFamily="49" charset="-122"/>
              </a:rPr>
              <a:t>:</a:t>
            </a:r>
          </a:p>
          <a:p>
            <a:pPr lvl="1">
              <a:buFont typeface="Wingdings" pitchFamily="2" charset="2"/>
              <a:buChar char="Ø"/>
              <a:defRPr/>
            </a:pPr>
            <a:r>
              <a:rPr lang="zh-CN" altLang="en-US" sz="2000" dirty="0">
                <a:solidFill>
                  <a:srgbClr val="FF0000"/>
                </a:solidFill>
                <a:latin typeface="楷体_GB2312" pitchFamily="49" charset="-122"/>
              </a:rPr>
              <a:t>限幅</a:t>
            </a:r>
            <a:r>
              <a:rPr lang="en-US" altLang="zh-CN" sz="2000" dirty="0">
                <a:latin typeface="楷体_GB2312" pitchFamily="49" charset="-122"/>
              </a:rPr>
              <a:t>:</a:t>
            </a:r>
          </a:p>
          <a:p>
            <a:pPr>
              <a:buSzPct val="90000"/>
              <a:buFont typeface="Wingdings" pitchFamily="2" charset="2"/>
              <a:buChar char="§"/>
              <a:defRPr/>
            </a:pPr>
            <a:r>
              <a:rPr lang="en-US" altLang="zh-CN" sz="2000" b="1" dirty="0">
                <a:solidFill>
                  <a:srgbClr val="0000FF"/>
                </a:solidFill>
                <a:latin typeface="楷体_GB2312" pitchFamily="49" charset="-122"/>
              </a:rPr>
              <a:t> </a:t>
            </a:r>
            <a:r>
              <a:rPr lang="zh-CN" altLang="en-US" sz="2000" b="1" dirty="0">
                <a:solidFill>
                  <a:srgbClr val="0000FF"/>
                </a:solidFill>
                <a:latin typeface="楷体_GB2312" pitchFamily="49" charset="-122"/>
              </a:rPr>
              <a:t>其它原因：</a:t>
            </a:r>
          </a:p>
          <a:p>
            <a:pPr lvl="1">
              <a:buFont typeface="Wingdings" pitchFamily="2" charset="2"/>
              <a:buChar char="Ø"/>
              <a:defRPr/>
            </a:pPr>
            <a:r>
              <a:rPr lang="zh-CN" altLang="en-US" sz="2000" dirty="0">
                <a:latin typeface="楷体_GB2312" pitchFamily="49" charset="-122"/>
              </a:rPr>
              <a:t>介质连接不良，通信设备数据处理出错</a:t>
            </a:r>
            <a:r>
              <a:rPr lang="en-US" altLang="zh-CN" sz="2000" dirty="0"/>
              <a:t>……</a:t>
            </a:r>
            <a:endParaRPr lang="en-US" altLang="zh-CN" sz="2000" dirty="0">
              <a:latin typeface="楷体_GB2312" pitchFamily="49" charset="-122"/>
            </a:endParaRPr>
          </a:p>
          <a:p>
            <a:pPr lvl="1">
              <a:spcBef>
                <a:spcPct val="15000"/>
              </a:spcBef>
              <a:buFont typeface="Wingdings" panose="05000000000000000000" pitchFamily="2" charset="2"/>
              <a:buChar char="Ø"/>
              <a:defRPr/>
            </a:pPr>
            <a:endParaRPr lang="zh-CN" altLang="en-US" sz="1600" dirty="0">
              <a:latin typeface="楷体_GB2312" pitchFamily="49" charset="-122"/>
              <a:ea typeface="楷体_GB2312" pitchFamily="49" charset="-122"/>
            </a:endParaRPr>
          </a:p>
        </p:txBody>
      </p:sp>
    </p:spTree>
    <p:extLst>
      <p:ext uri="{BB962C8B-B14F-4D97-AF65-F5344CB8AC3E}">
        <p14:creationId xmlns:p14="http://schemas.microsoft.com/office/powerpoint/2010/main" val="423358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102B7142-CDD4-44B5-A425-02AE86BBDD80}"/>
              </a:ext>
            </a:extLst>
          </p:cNvPr>
          <p:cNvSpPr>
            <a:spLocks noGrp="1"/>
          </p:cNvSpPr>
          <p:nvPr>
            <p:ph type="title"/>
          </p:nvPr>
        </p:nvSpPr>
        <p:spPr/>
        <p:txBody>
          <a:bodyPr>
            <a:normAutofit/>
          </a:bodyPr>
          <a:lstStyle/>
          <a:p>
            <a:r>
              <a:rPr lang="zh-CN" altLang="en-US" sz="4400" dirty="0">
                <a:solidFill>
                  <a:srgbClr val="FF0000"/>
                </a:solidFill>
              </a:rPr>
              <a:t>差错的类型</a:t>
            </a:r>
            <a:endParaRPr lang="en-CN" dirty="0"/>
          </a:p>
        </p:txBody>
      </p:sp>
      <p:sp>
        <p:nvSpPr>
          <p:cNvPr id="4" name="Slide Number Placeholder 3">
            <a:extLst>
              <a:ext uri="{FF2B5EF4-FFF2-40B4-BE49-F238E27FC236}">
                <a16:creationId xmlns:a16="http://schemas.microsoft.com/office/drawing/2014/main" id="{6C868329-4C46-9353-EC4C-C56B21F14457}"/>
              </a:ext>
            </a:extLst>
          </p:cNvPr>
          <p:cNvSpPr>
            <a:spLocks noGrp="1"/>
          </p:cNvSpPr>
          <p:nvPr>
            <p:ph type="sldNum" sz="quarter" idx="12"/>
          </p:nvPr>
        </p:nvSpPr>
        <p:spPr/>
        <p:txBody>
          <a:bodyPr/>
          <a:lstStyle/>
          <a:p>
            <a:fld id="{8D4D1E41-7A09-AB4A-A4E1-09765ADA2698}" type="slidenum">
              <a:rPr kumimoji="1" lang="zh-CN" altLang="en-US" smtClean="0"/>
              <a:t>26</a:t>
            </a:fld>
            <a:endParaRPr kumimoji="1" lang="zh-CN" altLang="en-US" dirty="0"/>
          </a:p>
        </p:txBody>
      </p:sp>
      <p:pic>
        <p:nvPicPr>
          <p:cNvPr id="5" name="图片 6">
            <a:extLst>
              <a:ext uri="{FF2B5EF4-FFF2-40B4-BE49-F238E27FC236}">
                <a16:creationId xmlns:a16="http://schemas.microsoft.com/office/drawing/2014/main" id="{773513BA-707B-920C-03AA-A2C59E55217F}"/>
              </a:ext>
            </a:extLst>
          </p:cNvPr>
          <p:cNvPicPr>
            <a:picLocks noChangeAspect="1"/>
          </p:cNvPicPr>
          <p:nvPr/>
        </p:nvPicPr>
        <p:blipFill>
          <a:blip r:embed="rId2"/>
          <a:stretch>
            <a:fillRect/>
          </a:stretch>
        </p:blipFill>
        <p:spPr>
          <a:xfrm>
            <a:off x="1985938" y="1412776"/>
            <a:ext cx="8682062" cy="4749550"/>
          </a:xfrm>
          <a:prstGeom prst="rect">
            <a:avLst/>
          </a:prstGeom>
        </p:spPr>
      </p:pic>
    </p:spTree>
    <p:extLst>
      <p:ext uri="{BB962C8B-B14F-4D97-AF65-F5344CB8AC3E}">
        <p14:creationId xmlns:p14="http://schemas.microsoft.com/office/powerpoint/2010/main" val="20214309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差错检测和纠正概述</a:t>
            </a:r>
          </a:p>
        </p:txBody>
      </p:sp>
      <p:sp>
        <p:nvSpPr>
          <p:cNvPr id="3" name="内容占位符 2"/>
          <p:cNvSpPr>
            <a:spLocks noGrp="1"/>
          </p:cNvSpPr>
          <p:nvPr>
            <p:ph idx="1"/>
          </p:nvPr>
        </p:nvSpPr>
        <p:spPr>
          <a:xfrm>
            <a:off x="838200" y="1384300"/>
            <a:ext cx="10820400" cy="1840814"/>
          </a:xfrm>
        </p:spPr>
        <p:txBody>
          <a:bodyPr>
            <a:normAutofit/>
          </a:bodyPr>
          <a:lstStyle/>
          <a:p>
            <a:pPr>
              <a:lnSpc>
                <a:spcPct val="140000"/>
              </a:lnSpc>
            </a:pPr>
            <a:r>
              <a:rPr kumimoji="1" lang="zh-CN" altLang="en-US" dirty="0"/>
              <a:t>如何解决信道传输差错问题</a:t>
            </a:r>
            <a:endParaRPr kumimoji="1" lang="en-US" altLang="zh-CN" dirty="0"/>
          </a:p>
          <a:p>
            <a:pPr lvl="1">
              <a:lnSpc>
                <a:spcPct val="140000"/>
              </a:lnSpc>
            </a:pPr>
            <a:r>
              <a:rPr kumimoji="1" lang="zh-CN" altLang="en-US" dirty="0"/>
              <a:t>通常采用</a:t>
            </a:r>
            <a:r>
              <a:rPr kumimoji="1" lang="zh-CN" altLang="en-US" dirty="0">
                <a:solidFill>
                  <a:srgbClr val="C00000"/>
                </a:solidFill>
              </a:rPr>
              <a:t>增加冗余信息（或称校验信息）</a:t>
            </a:r>
            <a:r>
              <a:rPr kumimoji="1" lang="zh-CN" altLang="en-US" dirty="0"/>
              <a:t>的策略</a:t>
            </a:r>
            <a:endParaRPr kumimoji="1" lang="en-US" altLang="zh-CN" dirty="0"/>
          </a:p>
          <a:p>
            <a:pPr lvl="1">
              <a:lnSpc>
                <a:spcPct val="140000"/>
              </a:lnSpc>
            </a:pPr>
            <a:r>
              <a:rPr kumimoji="1" lang="zh-CN" altLang="en-US" dirty="0"/>
              <a:t>简单示例：每个比特传三份，如果每比特的三份中有一位出错，可以纠正</a:t>
            </a:r>
            <a:endParaRPr kumimoji="1" lang="en-US" altLang="zh-CN" dirty="0"/>
          </a:p>
        </p:txBody>
      </p:sp>
      <p:sp>
        <p:nvSpPr>
          <p:cNvPr id="4" name="幻灯片编号占位符 3"/>
          <p:cNvSpPr>
            <a:spLocks noGrp="1"/>
          </p:cNvSpPr>
          <p:nvPr>
            <p:ph type="sldNum" sz="quarter" idx="12"/>
          </p:nvPr>
        </p:nvSpPr>
        <p:spPr/>
        <p:txBody>
          <a:bodyPr/>
          <a:lstStyle/>
          <a:p>
            <a:fld id="{8D4D1E41-7A09-AB4A-A4E1-09765ADA2698}" type="slidenum">
              <a:rPr kumimoji="1" lang="zh-CN" altLang="en-US" smtClean="0"/>
              <a:t>27</a:t>
            </a:fld>
            <a:endParaRPr kumimoji="1" lang="zh-CN" altLang="en-US" dirty="0"/>
          </a:p>
        </p:txBody>
      </p:sp>
      <p:sp>
        <p:nvSpPr>
          <p:cNvPr id="5" name="文本框 4">
            <a:extLst>
              <a:ext uri="{FF2B5EF4-FFF2-40B4-BE49-F238E27FC236}">
                <a16:creationId xmlns:a16="http://schemas.microsoft.com/office/drawing/2014/main" id="{082CC463-A981-4E7E-8F03-FAA795786BD7}"/>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3.2 </a:t>
            </a:r>
            <a:r>
              <a:rPr lang="zh-CN" altLang="en-US" dirty="0">
                <a:solidFill>
                  <a:schemeClr val="bg1">
                    <a:lumMod val="65000"/>
                  </a:schemeClr>
                </a:solidFill>
                <a:latin typeface="微软雅黑" panose="020B0503020204020204" pitchFamily="34" charset="-122"/>
                <a:ea typeface="微软雅黑" panose="020B0503020204020204" pitchFamily="34" charset="-122"/>
              </a:rPr>
              <a:t>差错检测和纠正</a:t>
            </a:r>
          </a:p>
        </p:txBody>
      </p:sp>
      <p:graphicFrame>
        <p:nvGraphicFramePr>
          <p:cNvPr id="6" name="表格 5"/>
          <p:cNvGraphicFramePr>
            <a:graphicFrameLocks noGrp="1"/>
          </p:cNvGraphicFramePr>
          <p:nvPr/>
        </p:nvGraphicFramePr>
        <p:xfrm>
          <a:off x="2040911" y="3420271"/>
          <a:ext cx="6155520" cy="1416633"/>
        </p:xfrm>
        <a:graphic>
          <a:graphicData uri="http://schemas.openxmlformats.org/drawingml/2006/table">
            <a:tbl>
              <a:tblPr firstRow="1" bandRow="1">
                <a:tableStyleId>{5C22544A-7EE6-4342-B048-85BDC9FD1C3A}</a:tableStyleId>
              </a:tblPr>
              <a:tblGrid>
                <a:gridCol w="439680">
                  <a:extLst>
                    <a:ext uri="{9D8B030D-6E8A-4147-A177-3AD203B41FA5}">
                      <a16:colId xmlns:a16="http://schemas.microsoft.com/office/drawing/2014/main" val="2159514440"/>
                    </a:ext>
                  </a:extLst>
                </a:gridCol>
                <a:gridCol w="439680">
                  <a:extLst>
                    <a:ext uri="{9D8B030D-6E8A-4147-A177-3AD203B41FA5}">
                      <a16:colId xmlns:a16="http://schemas.microsoft.com/office/drawing/2014/main" val="566667465"/>
                    </a:ext>
                  </a:extLst>
                </a:gridCol>
                <a:gridCol w="439680">
                  <a:extLst>
                    <a:ext uri="{9D8B030D-6E8A-4147-A177-3AD203B41FA5}">
                      <a16:colId xmlns:a16="http://schemas.microsoft.com/office/drawing/2014/main" val="2631221232"/>
                    </a:ext>
                  </a:extLst>
                </a:gridCol>
                <a:gridCol w="439680">
                  <a:extLst>
                    <a:ext uri="{9D8B030D-6E8A-4147-A177-3AD203B41FA5}">
                      <a16:colId xmlns:a16="http://schemas.microsoft.com/office/drawing/2014/main" val="2659543706"/>
                    </a:ext>
                  </a:extLst>
                </a:gridCol>
                <a:gridCol w="439680">
                  <a:extLst>
                    <a:ext uri="{9D8B030D-6E8A-4147-A177-3AD203B41FA5}">
                      <a16:colId xmlns:a16="http://schemas.microsoft.com/office/drawing/2014/main" val="4149966517"/>
                    </a:ext>
                  </a:extLst>
                </a:gridCol>
                <a:gridCol w="439680">
                  <a:extLst>
                    <a:ext uri="{9D8B030D-6E8A-4147-A177-3AD203B41FA5}">
                      <a16:colId xmlns:a16="http://schemas.microsoft.com/office/drawing/2014/main" val="95372404"/>
                    </a:ext>
                  </a:extLst>
                </a:gridCol>
                <a:gridCol w="439680">
                  <a:extLst>
                    <a:ext uri="{9D8B030D-6E8A-4147-A177-3AD203B41FA5}">
                      <a16:colId xmlns:a16="http://schemas.microsoft.com/office/drawing/2014/main" val="1044709437"/>
                    </a:ext>
                  </a:extLst>
                </a:gridCol>
                <a:gridCol w="439680">
                  <a:extLst>
                    <a:ext uri="{9D8B030D-6E8A-4147-A177-3AD203B41FA5}">
                      <a16:colId xmlns:a16="http://schemas.microsoft.com/office/drawing/2014/main" val="3856979970"/>
                    </a:ext>
                  </a:extLst>
                </a:gridCol>
                <a:gridCol w="439680">
                  <a:extLst>
                    <a:ext uri="{9D8B030D-6E8A-4147-A177-3AD203B41FA5}">
                      <a16:colId xmlns:a16="http://schemas.microsoft.com/office/drawing/2014/main" val="2092690815"/>
                    </a:ext>
                  </a:extLst>
                </a:gridCol>
                <a:gridCol w="439680">
                  <a:extLst>
                    <a:ext uri="{9D8B030D-6E8A-4147-A177-3AD203B41FA5}">
                      <a16:colId xmlns:a16="http://schemas.microsoft.com/office/drawing/2014/main" val="3187205882"/>
                    </a:ext>
                  </a:extLst>
                </a:gridCol>
                <a:gridCol w="439680">
                  <a:extLst>
                    <a:ext uri="{9D8B030D-6E8A-4147-A177-3AD203B41FA5}">
                      <a16:colId xmlns:a16="http://schemas.microsoft.com/office/drawing/2014/main" val="4172268858"/>
                    </a:ext>
                  </a:extLst>
                </a:gridCol>
                <a:gridCol w="439680">
                  <a:extLst>
                    <a:ext uri="{9D8B030D-6E8A-4147-A177-3AD203B41FA5}">
                      <a16:colId xmlns:a16="http://schemas.microsoft.com/office/drawing/2014/main" val="3914894513"/>
                    </a:ext>
                  </a:extLst>
                </a:gridCol>
                <a:gridCol w="439680">
                  <a:extLst>
                    <a:ext uri="{9D8B030D-6E8A-4147-A177-3AD203B41FA5}">
                      <a16:colId xmlns:a16="http://schemas.microsoft.com/office/drawing/2014/main" val="2325384079"/>
                    </a:ext>
                  </a:extLst>
                </a:gridCol>
                <a:gridCol w="439680">
                  <a:extLst>
                    <a:ext uri="{9D8B030D-6E8A-4147-A177-3AD203B41FA5}">
                      <a16:colId xmlns:a16="http://schemas.microsoft.com/office/drawing/2014/main" val="1459483936"/>
                    </a:ext>
                  </a:extLst>
                </a:gridCol>
              </a:tblGrid>
              <a:tr h="472211">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rgbClr val="00B0F0"/>
                          </a:solidFill>
                          <a:latin typeface="微软雅黑" panose="020B0503020204020204" pitchFamily="34" charset="-122"/>
                          <a:ea typeface="微软雅黑" panose="020B0503020204020204" pitchFamily="34" charset="-122"/>
                        </a:rPr>
                        <a:t>0</a:t>
                      </a:r>
                      <a:endParaRPr lang="zh-CN" altLang="en-US" sz="2000" b="0" dirty="0">
                        <a:solidFill>
                          <a:srgbClr val="00B0F0"/>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03751117"/>
                  </a:ext>
                </a:extLst>
              </a:tr>
              <a:tr h="472211">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rgbClr val="00B0F0"/>
                          </a:solidFill>
                          <a:latin typeface="微软雅黑" panose="020B0503020204020204" pitchFamily="34" charset="-122"/>
                          <a:ea typeface="微软雅黑" panose="020B0503020204020204" pitchFamily="34" charset="-122"/>
                        </a:rPr>
                        <a:t>1</a:t>
                      </a:r>
                      <a:endParaRPr lang="zh-CN" altLang="en-US" sz="2000" b="0" dirty="0">
                        <a:solidFill>
                          <a:srgbClr val="00B0F0"/>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64392764"/>
                  </a:ext>
                </a:extLst>
              </a:tr>
              <a:tr h="472211">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90484220"/>
                  </a:ext>
                </a:extLst>
              </a:tr>
            </a:tbl>
          </a:graphicData>
        </a:graphic>
      </p:graphicFrame>
      <p:sp>
        <p:nvSpPr>
          <p:cNvPr id="7" name="矩形 6"/>
          <p:cNvSpPr/>
          <p:nvPr/>
        </p:nvSpPr>
        <p:spPr>
          <a:xfrm>
            <a:off x="2043807" y="3369617"/>
            <a:ext cx="435777" cy="150985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2477235" y="3365052"/>
            <a:ext cx="435777" cy="150985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2919127" y="3363894"/>
            <a:ext cx="435777" cy="150985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3356483" y="3365052"/>
            <a:ext cx="435777" cy="150985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3797635" y="3365052"/>
            <a:ext cx="435777" cy="150985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4227636" y="3365052"/>
            <a:ext cx="435777" cy="150985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4672552" y="3365051"/>
            <a:ext cx="430001" cy="150985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3421773" y="3963804"/>
            <a:ext cx="340262" cy="307264"/>
          </a:xfrm>
          <a:prstGeom prst="rect">
            <a:avLst/>
          </a:prstGeom>
          <a:solidFill>
            <a:schemeClr val="bg1"/>
          </a:solidFill>
        </p:spPr>
        <p:txBody>
          <a:bodyPr wrap="square" rtlCol="0" anchor="ctr">
            <a:spAutoFit/>
          </a:bodyPr>
          <a:lstStyle/>
          <a:p>
            <a:pPr algn="ctr">
              <a:lnSpc>
                <a:spcPts val="1600"/>
              </a:lnSpc>
            </a:pPr>
            <a:r>
              <a:rPr lang="en-US" altLang="zh-CN" sz="2000" dirty="0">
                <a:solidFill>
                  <a:srgbClr val="00B0F0"/>
                </a:solidFill>
                <a:latin typeface="微软雅黑" panose="020B0503020204020204" pitchFamily="34" charset="-122"/>
                <a:ea typeface="微软雅黑" panose="020B0503020204020204" pitchFamily="34" charset="-122"/>
              </a:rPr>
              <a:t>0</a:t>
            </a:r>
            <a:endParaRPr lang="zh-CN" altLang="en-US" sz="2000" dirty="0">
              <a:solidFill>
                <a:srgbClr val="00B0F0"/>
              </a:solidFill>
              <a:latin typeface="微软雅黑" panose="020B0503020204020204" pitchFamily="34" charset="-122"/>
              <a:ea typeface="微软雅黑" panose="020B0503020204020204" pitchFamily="34" charset="-122"/>
            </a:endParaRPr>
          </a:p>
        </p:txBody>
      </p:sp>
      <p:sp>
        <p:nvSpPr>
          <p:cNvPr id="15" name="文本框 14"/>
          <p:cNvSpPr txBox="1"/>
          <p:nvPr/>
        </p:nvSpPr>
        <p:spPr>
          <a:xfrm>
            <a:off x="4733610" y="3491736"/>
            <a:ext cx="340262" cy="307264"/>
          </a:xfrm>
          <a:prstGeom prst="rect">
            <a:avLst/>
          </a:prstGeom>
          <a:solidFill>
            <a:schemeClr val="bg1"/>
          </a:solidFill>
        </p:spPr>
        <p:txBody>
          <a:bodyPr wrap="square" rtlCol="0" anchor="ctr">
            <a:spAutoFit/>
          </a:bodyPr>
          <a:lstStyle/>
          <a:p>
            <a:pPr algn="ctr">
              <a:lnSpc>
                <a:spcPts val="1600"/>
              </a:lnSpc>
            </a:pPr>
            <a:r>
              <a:rPr lang="en-US" altLang="zh-CN" sz="2000" dirty="0">
                <a:solidFill>
                  <a:srgbClr val="00B0F0"/>
                </a:solidFill>
                <a:latin typeface="微软雅黑" panose="020B0503020204020204" pitchFamily="34" charset="-122"/>
                <a:ea typeface="微软雅黑" panose="020B0503020204020204" pitchFamily="34" charset="-122"/>
              </a:rPr>
              <a:t>1</a:t>
            </a:r>
            <a:endParaRPr lang="zh-CN" altLang="en-US" sz="2000" dirty="0">
              <a:solidFill>
                <a:srgbClr val="00B0F0"/>
              </a:solidFill>
              <a:latin typeface="微软雅黑" panose="020B0503020204020204" pitchFamily="34" charset="-122"/>
              <a:ea typeface="微软雅黑" panose="020B0503020204020204" pitchFamily="34" charset="-122"/>
            </a:endParaRPr>
          </a:p>
        </p:txBody>
      </p:sp>
      <p:sp>
        <p:nvSpPr>
          <p:cNvPr id="17" name="矩形 16"/>
          <p:cNvSpPr/>
          <p:nvPr/>
        </p:nvSpPr>
        <p:spPr>
          <a:xfrm>
            <a:off x="4672553" y="3369075"/>
            <a:ext cx="435304" cy="150985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3354401" y="3365461"/>
            <a:ext cx="437859" cy="150985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6" name="组合 25"/>
          <p:cNvGrpSpPr/>
          <p:nvPr/>
        </p:nvGrpSpPr>
        <p:grpSpPr>
          <a:xfrm>
            <a:off x="2043807" y="5139645"/>
            <a:ext cx="6196509" cy="1088966"/>
            <a:chOff x="2043807" y="5139645"/>
            <a:chExt cx="6196509" cy="1088966"/>
          </a:xfrm>
        </p:grpSpPr>
        <p:sp>
          <p:nvSpPr>
            <p:cNvPr id="19" name="文本框 18"/>
            <p:cNvSpPr txBox="1"/>
            <p:nvPr/>
          </p:nvSpPr>
          <p:spPr>
            <a:xfrm>
              <a:off x="2043807" y="5828501"/>
              <a:ext cx="2092857" cy="400110"/>
            </a:xfrm>
            <a:prstGeom prst="rect">
              <a:avLst/>
            </a:prstGeom>
            <a:solidFill>
              <a:srgbClr val="66CCFF"/>
            </a:solidFill>
            <a:ln>
              <a:solidFill>
                <a:srgbClr val="00B0F0"/>
              </a:solidFill>
            </a:ln>
          </p:spPr>
          <p:txBody>
            <a:bodyPr wrap="square" rtlCol="0">
              <a:spAutoFit/>
            </a:bodyPr>
            <a:lstStyle/>
            <a:p>
              <a:pPr algn="ctr"/>
              <a:r>
                <a:rPr lang="en-US" altLang="zh-CN" sz="2000" dirty="0">
                  <a:latin typeface="微软雅黑" panose="020B0503020204020204" pitchFamily="34" charset="-122"/>
                  <a:ea typeface="微软雅黑" panose="020B0503020204020204" pitchFamily="34" charset="-122"/>
                </a:rPr>
                <a:t>33.3%</a:t>
              </a:r>
              <a:endParaRPr lang="zh-CN" altLang="en-US" sz="2000" dirty="0">
                <a:latin typeface="微软雅黑" panose="020B0503020204020204" pitchFamily="34" charset="-122"/>
                <a:ea typeface="微软雅黑" panose="020B0503020204020204" pitchFamily="34" charset="-122"/>
              </a:endParaRPr>
            </a:p>
          </p:txBody>
        </p:sp>
        <p:sp>
          <p:nvSpPr>
            <p:cNvPr id="20" name="文本框 19"/>
            <p:cNvSpPr txBox="1"/>
            <p:nvPr/>
          </p:nvSpPr>
          <p:spPr>
            <a:xfrm>
              <a:off x="4136663" y="5828501"/>
              <a:ext cx="4103652" cy="400110"/>
            </a:xfrm>
            <a:prstGeom prst="rect">
              <a:avLst/>
            </a:prstGeom>
            <a:solidFill>
              <a:srgbClr val="009999"/>
            </a:solidFill>
            <a:ln>
              <a:solidFill>
                <a:srgbClr val="00B0F0"/>
              </a:solidFill>
            </a:ln>
          </p:spPr>
          <p:txBody>
            <a:bodyPr wrap="square" rtlCol="0">
              <a:spAutoFit/>
            </a:bodyPr>
            <a:lstStyle/>
            <a:p>
              <a:pPr algn="ctr"/>
              <a:r>
                <a:rPr lang="en-US" altLang="zh-CN" sz="2000" dirty="0">
                  <a:latin typeface="微软雅黑" panose="020B0503020204020204" pitchFamily="34" charset="-122"/>
                  <a:ea typeface="微软雅黑" panose="020B0503020204020204" pitchFamily="34" charset="-122"/>
                </a:rPr>
                <a:t>66.7%</a:t>
              </a:r>
              <a:endParaRPr lang="zh-CN" altLang="en-US" sz="2000" dirty="0">
                <a:latin typeface="微软雅黑" panose="020B0503020204020204" pitchFamily="34" charset="-122"/>
                <a:ea typeface="微软雅黑" panose="020B0503020204020204" pitchFamily="34" charset="-122"/>
              </a:endParaRPr>
            </a:p>
          </p:txBody>
        </p:sp>
        <p:sp>
          <p:nvSpPr>
            <p:cNvPr id="21" name="右大括号 20"/>
            <p:cNvSpPr/>
            <p:nvPr/>
          </p:nvSpPr>
          <p:spPr>
            <a:xfrm rot="16200000">
              <a:off x="2961432" y="4591352"/>
              <a:ext cx="257605" cy="2092856"/>
            </a:xfrm>
            <a:prstGeom prst="rightBrace">
              <a:avLst>
                <a:gd name="adj1" fmla="val 31916"/>
                <a:gd name="adj2" fmla="val 51618"/>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2" name="文本框 21"/>
            <p:cNvSpPr txBox="1"/>
            <p:nvPr/>
          </p:nvSpPr>
          <p:spPr>
            <a:xfrm>
              <a:off x="2348089" y="5147733"/>
              <a:ext cx="1449546" cy="400110"/>
            </a:xfrm>
            <a:prstGeom prst="rect">
              <a:avLst/>
            </a:prstGeom>
            <a:noFill/>
          </p:spPr>
          <p:txBody>
            <a:bodyPr wrap="square" rtlCol="0">
              <a:spAutoFit/>
            </a:bodyPr>
            <a:lstStyle/>
            <a:p>
              <a:pPr algn="ctr"/>
              <a:r>
                <a:rPr lang="zh-CN" altLang="en-US" sz="2000" dirty="0">
                  <a:latin typeface="微软雅黑" panose="020B0503020204020204" pitchFamily="34" charset="-122"/>
                  <a:ea typeface="微软雅黑" panose="020B0503020204020204" pitchFamily="34" charset="-122"/>
                </a:rPr>
                <a:t>原始数据</a:t>
              </a:r>
            </a:p>
          </p:txBody>
        </p:sp>
        <p:sp>
          <p:nvSpPr>
            <p:cNvPr id="23" name="右大括号 22"/>
            <p:cNvSpPr/>
            <p:nvPr/>
          </p:nvSpPr>
          <p:spPr>
            <a:xfrm rot="16200000">
              <a:off x="6073154" y="3597454"/>
              <a:ext cx="247552" cy="4086773"/>
            </a:xfrm>
            <a:prstGeom prst="rightBrace">
              <a:avLst>
                <a:gd name="adj1" fmla="val 31916"/>
                <a:gd name="adj2" fmla="val 51618"/>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4" name="文本框 23"/>
            <p:cNvSpPr txBox="1"/>
            <p:nvPr/>
          </p:nvSpPr>
          <p:spPr>
            <a:xfrm>
              <a:off x="5559778" y="5139645"/>
              <a:ext cx="1449546" cy="400110"/>
            </a:xfrm>
            <a:prstGeom prst="rect">
              <a:avLst/>
            </a:prstGeom>
            <a:noFill/>
          </p:spPr>
          <p:txBody>
            <a:bodyPr wrap="square" rtlCol="0">
              <a:spAutoFit/>
            </a:bodyPr>
            <a:lstStyle/>
            <a:p>
              <a:pPr algn="ctr"/>
              <a:r>
                <a:rPr lang="zh-CN" altLang="en-US" sz="2000" dirty="0">
                  <a:latin typeface="微软雅黑" panose="020B0503020204020204" pitchFamily="34" charset="-122"/>
                  <a:ea typeface="微软雅黑" panose="020B0503020204020204" pitchFamily="34" charset="-122"/>
                </a:rPr>
                <a:t>冗余信息</a:t>
              </a:r>
            </a:p>
          </p:txBody>
        </p:sp>
      </p:grpSp>
      <p:sp>
        <p:nvSpPr>
          <p:cNvPr id="25" name="矩形 24"/>
          <p:cNvSpPr/>
          <p:nvPr/>
        </p:nvSpPr>
        <p:spPr>
          <a:xfrm>
            <a:off x="8789667" y="3789690"/>
            <a:ext cx="3140603" cy="984885"/>
          </a:xfrm>
          <a:prstGeom prst="rect">
            <a:avLst/>
          </a:prstGeom>
        </p:spPr>
        <p:txBody>
          <a:bodyPr wrap="none">
            <a:spAutoFit/>
          </a:bodyPr>
          <a:lstStyle/>
          <a:p>
            <a:pPr>
              <a:spcBef>
                <a:spcPts val="1200"/>
              </a:spcBef>
            </a:pPr>
            <a:r>
              <a:rPr kumimoji="1" lang="zh-CN" altLang="en-US" sz="2400" dirty="0">
                <a:solidFill>
                  <a:srgbClr val="C00000"/>
                </a:solidFill>
                <a:latin typeface="微软雅黑" panose="020B0503020204020204" pitchFamily="34" charset="-122"/>
                <a:ea typeface="微软雅黑" panose="020B0503020204020204" pitchFamily="34" charset="-122"/>
              </a:rPr>
              <a:t>携带</a:t>
            </a:r>
            <a:r>
              <a:rPr kumimoji="1" lang="en-US" altLang="zh-CN" sz="2400" dirty="0">
                <a:solidFill>
                  <a:srgbClr val="C00000"/>
                </a:solidFill>
                <a:latin typeface="微软雅黑" panose="020B0503020204020204" pitchFamily="34" charset="-122"/>
                <a:ea typeface="微软雅黑" panose="020B0503020204020204" pitchFamily="34" charset="-122"/>
              </a:rPr>
              <a:t>2/3</a:t>
            </a:r>
            <a:r>
              <a:rPr kumimoji="1" lang="zh-CN" altLang="en-US" sz="2400" dirty="0">
                <a:solidFill>
                  <a:srgbClr val="C00000"/>
                </a:solidFill>
                <a:latin typeface="微软雅黑" panose="020B0503020204020204" pitchFamily="34" charset="-122"/>
                <a:ea typeface="微软雅黑" panose="020B0503020204020204" pitchFamily="34" charset="-122"/>
              </a:rPr>
              <a:t>的冗余信息！</a:t>
            </a:r>
            <a:endParaRPr kumimoji="1" lang="en-US" altLang="zh-CN" sz="2400" dirty="0">
              <a:solidFill>
                <a:srgbClr val="C00000"/>
              </a:solidFill>
              <a:latin typeface="微软雅黑" panose="020B0503020204020204" pitchFamily="34" charset="-122"/>
              <a:ea typeface="微软雅黑" panose="020B0503020204020204" pitchFamily="34" charset="-122"/>
            </a:endParaRPr>
          </a:p>
          <a:p>
            <a:pPr algn="ctr">
              <a:spcBef>
                <a:spcPts val="1200"/>
              </a:spcBef>
            </a:pPr>
            <a:r>
              <a:rPr kumimoji="1" lang="zh-CN" altLang="en-US" sz="2400" dirty="0">
                <a:solidFill>
                  <a:srgbClr val="C00000"/>
                </a:solidFill>
                <a:latin typeface="微软雅黑" panose="020B0503020204020204" pitchFamily="34" charset="-122"/>
                <a:ea typeface="微软雅黑" panose="020B0503020204020204" pitchFamily="34" charset="-122"/>
              </a:rPr>
              <a:t>冗余信息量大！</a:t>
            </a:r>
            <a:endParaRPr lang="zh-CN" altLang="en-US" sz="240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977349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left)">
                                      <p:cBhvr>
                                        <p:cTn id="11" dur="500"/>
                                        <p:tgtEl>
                                          <p:spTgt spid="7"/>
                                        </p:tgtEl>
                                      </p:cBhvr>
                                    </p:animEffect>
                                  </p:childTnLst>
                                  <p:subTnLst>
                                    <p:set>
                                      <p:cBhvr override="childStyle">
                                        <p:cTn dur="1" fill="hold" display="0" masterRel="nextClick" afterEffect="1"/>
                                        <p:tgtEl>
                                          <p:spTgt spid="7"/>
                                        </p:tgtEl>
                                        <p:attrNameLst>
                                          <p:attrName>style.visibility</p:attrName>
                                        </p:attrNameLst>
                                      </p:cBhvr>
                                      <p:to>
                                        <p:strVal val="hidden"/>
                                      </p:to>
                                    </p:set>
                                  </p:sub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wipe(left)">
                                      <p:cBhvr>
                                        <p:cTn id="16" dur="500"/>
                                        <p:tgtEl>
                                          <p:spTgt spid="8"/>
                                        </p:tgtEl>
                                      </p:cBhvr>
                                    </p:animEffect>
                                  </p:childTnLst>
                                  <p:subTnLst>
                                    <p:set>
                                      <p:cBhvr override="childStyle">
                                        <p:cTn dur="1" fill="hold" display="0" masterRel="nextClick" afterEffect="1"/>
                                        <p:tgtEl>
                                          <p:spTgt spid="8"/>
                                        </p:tgtEl>
                                        <p:attrNameLst>
                                          <p:attrName>style.visibility</p:attrName>
                                        </p:attrNameLst>
                                      </p:cBhvr>
                                      <p:to>
                                        <p:strVal val="hidden"/>
                                      </p:to>
                                    </p:set>
                                  </p:sub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ipe(left)">
                                      <p:cBhvr>
                                        <p:cTn id="21" dur="500"/>
                                        <p:tgtEl>
                                          <p:spTgt spid="9"/>
                                        </p:tgtEl>
                                      </p:cBhvr>
                                    </p:animEffect>
                                  </p:childTnLst>
                                  <p:subTnLst>
                                    <p:set>
                                      <p:cBhvr override="childStyle">
                                        <p:cTn dur="1" fill="hold" display="0" masterRel="nextClick" afterEffect="1"/>
                                        <p:tgtEl>
                                          <p:spTgt spid="9"/>
                                        </p:tgtEl>
                                        <p:attrNameLst>
                                          <p:attrName>style.visibility</p:attrName>
                                        </p:attrNameLst>
                                      </p:cBhvr>
                                      <p:to>
                                        <p:strVal val="hidden"/>
                                      </p:to>
                                    </p:set>
                                  </p:sub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wipe(left)">
                                      <p:cBhvr>
                                        <p:cTn id="26" dur="500"/>
                                        <p:tgtEl>
                                          <p:spTgt spid="10"/>
                                        </p:tgtEl>
                                      </p:cBhvr>
                                    </p:animEffect>
                                  </p:childTnLst>
                                  <p:subTnLst>
                                    <p:set>
                                      <p:cBhvr override="childStyle">
                                        <p:cTn dur="1" fill="hold" display="0" masterRel="nextClick" afterEffect="1"/>
                                        <p:tgtEl>
                                          <p:spTgt spid="10"/>
                                        </p:tgtEl>
                                        <p:attrNameLst>
                                          <p:attrName>style.visibility</p:attrName>
                                        </p:attrNameLst>
                                      </p:cBhvr>
                                      <p:to>
                                        <p:strVal val="hidden"/>
                                      </p:to>
                                    </p:set>
                                  </p:subTnLst>
                                </p:cTn>
                              </p:par>
                            </p:childTnLst>
                          </p:cTn>
                        </p:par>
                        <p:par>
                          <p:cTn id="27" fill="hold">
                            <p:stCondLst>
                              <p:cond delay="500"/>
                            </p:stCondLst>
                            <p:childTnLst>
                              <p:par>
                                <p:cTn id="28" presetID="45" presetClass="entr" presetSubtype="0" fill="hold" grpId="0" nodeType="afterEffect">
                                  <p:stCondLst>
                                    <p:cond delay="0"/>
                                  </p:stCondLst>
                                  <p:iterate type="lt">
                                    <p:tmPct val="10000"/>
                                  </p:iterate>
                                  <p:childTnLst>
                                    <p:set>
                                      <p:cBhvr>
                                        <p:cTn id="29" dur="1" fill="hold">
                                          <p:stCondLst>
                                            <p:cond delay="0"/>
                                          </p:stCondLst>
                                        </p:cTn>
                                        <p:tgtEl>
                                          <p:spTgt spid="14"/>
                                        </p:tgtEl>
                                        <p:attrNameLst>
                                          <p:attrName>style.visibility</p:attrName>
                                        </p:attrNameLst>
                                      </p:cBhvr>
                                      <p:to>
                                        <p:strVal val="visible"/>
                                      </p:to>
                                    </p:set>
                                    <p:animEffect transition="in" filter="fade">
                                      <p:cBhvr>
                                        <p:cTn id="30" dur="5000"/>
                                        <p:tgtEl>
                                          <p:spTgt spid="14"/>
                                        </p:tgtEl>
                                      </p:cBhvr>
                                    </p:animEffect>
                                    <p:anim calcmode="lin" valueType="num">
                                      <p:cBhvr>
                                        <p:cTn id="31" dur="5000" fill="hold"/>
                                        <p:tgtEl>
                                          <p:spTgt spid="14"/>
                                        </p:tgtEl>
                                        <p:attrNameLst>
                                          <p:attrName>ppt_w</p:attrName>
                                        </p:attrNameLst>
                                      </p:cBhvr>
                                      <p:tavLst>
                                        <p:tav tm="0" fmla="#ppt_w*sin(2.5*pi*$)">
                                          <p:val>
                                            <p:fltVal val="0"/>
                                          </p:val>
                                        </p:tav>
                                        <p:tav tm="100000">
                                          <p:val>
                                            <p:fltVal val="1"/>
                                          </p:val>
                                        </p:tav>
                                      </p:tavLst>
                                    </p:anim>
                                    <p:anim calcmode="lin" valueType="num">
                                      <p:cBhvr>
                                        <p:cTn id="32" dur="5000" fill="hold"/>
                                        <p:tgtEl>
                                          <p:spTgt spid="14"/>
                                        </p:tgtEl>
                                        <p:attrNameLst>
                                          <p:attrName>ppt_h</p:attrName>
                                        </p:attrNameLst>
                                      </p:cBhvr>
                                      <p:tavLst>
                                        <p:tav tm="0">
                                          <p:val>
                                            <p:strVal val="#ppt_h"/>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wipe(left)">
                                      <p:cBhvr>
                                        <p:cTn id="41" dur="500"/>
                                        <p:tgtEl>
                                          <p:spTgt spid="11"/>
                                        </p:tgtEl>
                                      </p:cBhvr>
                                    </p:animEffect>
                                  </p:childTnLst>
                                  <p:subTnLst>
                                    <p:set>
                                      <p:cBhvr override="childStyle">
                                        <p:cTn dur="1" fill="hold" display="0" masterRel="nextClick" afterEffect="1"/>
                                        <p:tgtEl>
                                          <p:spTgt spid="11"/>
                                        </p:tgtEl>
                                        <p:attrNameLst>
                                          <p:attrName>style.visibility</p:attrName>
                                        </p:attrNameLst>
                                      </p:cBhvr>
                                      <p:to>
                                        <p:strVal val="hidden"/>
                                      </p:to>
                                    </p:set>
                                  </p:sub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wipe(left)">
                                      <p:cBhvr>
                                        <p:cTn id="46" dur="500"/>
                                        <p:tgtEl>
                                          <p:spTgt spid="12"/>
                                        </p:tgtEl>
                                      </p:cBhvr>
                                    </p:animEffect>
                                  </p:childTnLst>
                                  <p:subTnLst>
                                    <p:set>
                                      <p:cBhvr override="childStyle">
                                        <p:cTn dur="1" fill="hold" display="0" masterRel="nextClick" afterEffect="1"/>
                                        <p:tgtEl>
                                          <p:spTgt spid="12"/>
                                        </p:tgtEl>
                                        <p:attrNameLst>
                                          <p:attrName>style.visibility</p:attrName>
                                        </p:attrNameLst>
                                      </p:cBhvr>
                                      <p:to>
                                        <p:strVal val="hidden"/>
                                      </p:to>
                                    </p:set>
                                  </p:sub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13"/>
                                        </p:tgtEl>
                                        <p:attrNameLst>
                                          <p:attrName>style.visibility</p:attrName>
                                        </p:attrNameLst>
                                      </p:cBhvr>
                                      <p:to>
                                        <p:strVal val="visible"/>
                                      </p:to>
                                    </p:set>
                                    <p:animEffect transition="in" filter="wipe(left)">
                                      <p:cBhvr>
                                        <p:cTn id="51" dur="400"/>
                                        <p:tgtEl>
                                          <p:spTgt spid="13"/>
                                        </p:tgtEl>
                                      </p:cBhvr>
                                    </p:animEffect>
                                  </p:childTnLst>
                                  <p:subTnLst>
                                    <p:set>
                                      <p:cBhvr override="childStyle">
                                        <p:cTn dur="1" fill="hold" display="0" masterRel="nextClick" afterEffect="1"/>
                                        <p:tgtEl>
                                          <p:spTgt spid="13"/>
                                        </p:tgtEl>
                                        <p:attrNameLst>
                                          <p:attrName>style.visibility</p:attrName>
                                        </p:attrNameLst>
                                      </p:cBhvr>
                                      <p:to>
                                        <p:strVal val="hidden"/>
                                      </p:to>
                                    </p:set>
                                  </p:subTnLst>
                                </p:cTn>
                              </p:par>
                            </p:childTnLst>
                          </p:cTn>
                        </p:par>
                        <p:par>
                          <p:cTn id="52" fill="hold">
                            <p:stCondLst>
                              <p:cond delay="400"/>
                            </p:stCondLst>
                            <p:childTnLst>
                              <p:par>
                                <p:cTn id="53" presetID="45" presetClass="entr" presetSubtype="0" fill="hold" grpId="0" nodeType="afterEffect">
                                  <p:stCondLst>
                                    <p:cond delay="0"/>
                                  </p:stCondLst>
                                  <p:iterate type="lt">
                                    <p:tmPct val="10000"/>
                                  </p:iterate>
                                  <p:childTnLst>
                                    <p:set>
                                      <p:cBhvr>
                                        <p:cTn id="54" dur="1" fill="hold">
                                          <p:stCondLst>
                                            <p:cond delay="0"/>
                                          </p:stCondLst>
                                        </p:cTn>
                                        <p:tgtEl>
                                          <p:spTgt spid="15"/>
                                        </p:tgtEl>
                                        <p:attrNameLst>
                                          <p:attrName>style.visibility</p:attrName>
                                        </p:attrNameLst>
                                      </p:cBhvr>
                                      <p:to>
                                        <p:strVal val="visible"/>
                                      </p:to>
                                    </p:set>
                                    <p:animEffect transition="in" filter="fade">
                                      <p:cBhvr>
                                        <p:cTn id="55" dur="5000"/>
                                        <p:tgtEl>
                                          <p:spTgt spid="15"/>
                                        </p:tgtEl>
                                      </p:cBhvr>
                                    </p:animEffect>
                                    <p:anim calcmode="lin" valueType="num">
                                      <p:cBhvr>
                                        <p:cTn id="56" dur="5000" fill="hold"/>
                                        <p:tgtEl>
                                          <p:spTgt spid="15"/>
                                        </p:tgtEl>
                                        <p:attrNameLst>
                                          <p:attrName>ppt_w</p:attrName>
                                        </p:attrNameLst>
                                      </p:cBhvr>
                                      <p:tavLst>
                                        <p:tav tm="0" fmla="#ppt_w*sin(2.5*pi*$)">
                                          <p:val>
                                            <p:fltVal val="0"/>
                                          </p:val>
                                        </p:tav>
                                        <p:tav tm="100000">
                                          <p:val>
                                            <p:fltVal val="1"/>
                                          </p:val>
                                        </p:tav>
                                      </p:tavLst>
                                    </p:anim>
                                    <p:anim calcmode="lin" valueType="num">
                                      <p:cBhvr>
                                        <p:cTn id="57" dur="5000" fill="hold"/>
                                        <p:tgtEl>
                                          <p:spTgt spid="15"/>
                                        </p:tgtEl>
                                        <p:attrNameLst>
                                          <p:attrName>ppt_h</p:attrName>
                                        </p:attrNameLst>
                                      </p:cBhvr>
                                      <p:tavLst>
                                        <p:tav tm="0">
                                          <p:val>
                                            <p:strVal val="#ppt_h"/>
                                          </p:val>
                                        </p:tav>
                                        <p:tav tm="100000">
                                          <p:val>
                                            <p:strVal val="#ppt_h"/>
                                          </p:val>
                                        </p:tav>
                                      </p:tavLst>
                                    </p:anim>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17"/>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nodeType="clickEffect">
                                  <p:stCondLst>
                                    <p:cond delay="0"/>
                                  </p:stCondLst>
                                  <p:childTnLst>
                                    <p:set>
                                      <p:cBhvr>
                                        <p:cTn id="65" dur="1" fill="hold">
                                          <p:stCondLst>
                                            <p:cond delay="0"/>
                                          </p:stCondLst>
                                        </p:cTn>
                                        <p:tgtEl>
                                          <p:spTgt spid="26"/>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6" presetClass="entr" presetSubtype="16" fill="hold" grpId="0" nodeType="clickEffect">
                                  <p:stCondLst>
                                    <p:cond delay="0"/>
                                  </p:stCondLst>
                                  <p:childTnLst>
                                    <p:set>
                                      <p:cBhvr>
                                        <p:cTn id="69" dur="1" fill="hold">
                                          <p:stCondLst>
                                            <p:cond delay="0"/>
                                          </p:stCondLst>
                                        </p:cTn>
                                        <p:tgtEl>
                                          <p:spTgt spid="25"/>
                                        </p:tgtEl>
                                        <p:attrNameLst>
                                          <p:attrName>style.visibility</p:attrName>
                                        </p:attrNameLst>
                                      </p:cBhvr>
                                      <p:to>
                                        <p:strVal val="visible"/>
                                      </p:to>
                                    </p:set>
                                    <p:animEffect transition="in" filter="circle(in)">
                                      <p:cBhvr>
                                        <p:cTn id="70" dur="20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7" grpId="0" animBg="1"/>
      <p:bldP spid="18" grpId="0" animBg="1"/>
      <p:bldP spid="2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差错检测和纠正概述</a:t>
            </a:r>
          </a:p>
        </p:txBody>
      </p:sp>
      <p:sp>
        <p:nvSpPr>
          <p:cNvPr id="3" name="内容占位符 2"/>
          <p:cNvSpPr>
            <a:spLocks noGrp="1"/>
          </p:cNvSpPr>
          <p:nvPr>
            <p:ph idx="1"/>
          </p:nvPr>
        </p:nvSpPr>
        <p:spPr>
          <a:xfrm>
            <a:off x="838199" y="1343891"/>
            <a:ext cx="10709031" cy="4753561"/>
          </a:xfrm>
        </p:spPr>
        <p:txBody>
          <a:bodyPr>
            <a:normAutofit fontScale="92500"/>
          </a:bodyPr>
          <a:lstStyle/>
          <a:p>
            <a:pPr>
              <a:lnSpc>
                <a:spcPct val="140000"/>
              </a:lnSpc>
            </a:pPr>
            <a:r>
              <a:rPr kumimoji="1" lang="zh-CN" altLang="en-US" dirty="0">
                <a:solidFill>
                  <a:srgbClr val="C00000"/>
                </a:solidFill>
              </a:rPr>
              <a:t>目标：</a:t>
            </a:r>
            <a:r>
              <a:rPr kumimoji="1" lang="zh-CN" altLang="en-US" dirty="0"/>
              <a:t>保证一定差错检测和纠错能力的前提下，如何减少冗余信息量？</a:t>
            </a:r>
            <a:endParaRPr lang="zh-CN" altLang="en-US" dirty="0"/>
          </a:p>
          <a:p>
            <a:pPr>
              <a:lnSpc>
                <a:spcPct val="140000"/>
              </a:lnSpc>
            </a:pPr>
            <a:r>
              <a:rPr kumimoji="1" lang="zh-CN" altLang="en-US" dirty="0">
                <a:solidFill>
                  <a:srgbClr val="C00000"/>
                </a:solidFill>
              </a:rPr>
              <a:t>考虑的问题</a:t>
            </a:r>
            <a:endParaRPr kumimoji="1" lang="en-US" altLang="zh-CN" dirty="0">
              <a:solidFill>
                <a:srgbClr val="C00000"/>
              </a:solidFill>
            </a:endParaRPr>
          </a:p>
          <a:p>
            <a:pPr lvl="1">
              <a:lnSpc>
                <a:spcPct val="140000"/>
              </a:lnSpc>
            </a:pPr>
            <a:r>
              <a:rPr kumimoji="1" lang="zh-CN" altLang="en-US" dirty="0"/>
              <a:t>信道的特征和传输需求</a:t>
            </a:r>
            <a:endParaRPr kumimoji="1" lang="en-US" altLang="zh-CN" dirty="0"/>
          </a:p>
          <a:p>
            <a:pPr lvl="1">
              <a:lnSpc>
                <a:spcPct val="140000"/>
              </a:lnSpc>
            </a:pPr>
            <a:r>
              <a:rPr kumimoji="1" lang="zh-CN" altLang="en-US" dirty="0"/>
              <a:t>冗余信息的计算方法、携带的冗余信息量</a:t>
            </a:r>
            <a:endParaRPr kumimoji="1" lang="en-US" altLang="zh-CN" dirty="0"/>
          </a:p>
          <a:p>
            <a:pPr lvl="1">
              <a:lnSpc>
                <a:spcPct val="140000"/>
              </a:lnSpc>
            </a:pPr>
            <a:r>
              <a:rPr kumimoji="1" lang="zh-CN" altLang="en-US" dirty="0"/>
              <a:t>计算的复杂度等</a:t>
            </a:r>
            <a:endParaRPr kumimoji="1" lang="en-US" altLang="zh-CN" dirty="0"/>
          </a:p>
          <a:p>
            <a:pPr>
              <a:lnSpc>
                <a:spcPct val="140000"/>
              </a:lnSpc>
            </a:pPr>
            <a:r>
              <a:rPr kumimoji="1" lang="zh-CN" altLang="en-US" dirty="0">
                <a:solidFill>
                  <a:srgbClr val="C00000"/>
                </a:solidFill>
              </a:rPr>
              <a:t>两种主要策略</a:t>
            </a:r>
            <a:endParaRPr kumimoji="1" lang="en-US" altLang="zh-CN" dirty="0">
              <a:solidFill>
                <a:srgbClr val="C00000"/>
              </a:solidFill>
            </a:endParaRPr>
          </a:p>
          <a:p>
            <a:pPr lvl="1">
              <a:lnSpc>
                <a:spcPct val="140000"/>
              </a:lnSpc>
            </a:pPr>
            <a:r>
              <a:rPr kumimoji="1" lang="zh-CN" altLang="en-US" dirty="0"/>
              <a:t>检错码（</a:t>
            </a:r>
            <a:r>
              <a:rPr kumimoji="1" lang="en-US" altLang="zh-CN" dirty="0"/>
              <a:t>error-detecting code</a:t>
            </a:r>
            <a:r>
              <a:rPr kumimoji="1" lang="zh-CN" altLang="en-US" dirty="0"/>
              <a:t>）</a:t>
            </a:r>
            <a:endParaRPr kumimoji="1" lang="en-US" altLang="zh-CN" dirty="0">
              <a:solidFill>
                <a:srgbClr val="C00000"/>
              </a:solidFill>
            </a:endParaRPr>
          </a:p>
          <a:p>
            <a:pPr lvl="1">
              <a:lnSpc>
                <a:spcPct val="140000"/>
              </a:lnSpc>
            </a:pPr>
            <a:r>
              <a:rPr kumimoji="1" lang="zh-CN" altLang="en-US" dirty="0"/>
              <a:t>纠错码（</a:t>
            </a:r>
            <a:r>
              <a:rPr kumimoji="1" lang="en-US" altLang="zh-CN" dirty="0"/>
              <a:t>error-correcting code)</a:t>
            </a:r>
          </a:p>
        </p:txBody>
      </p:sp>
      <p:sp>
        <p:nvSpPr>
          <p:cNvPr id="4" name="幻灯片编号占位符 3"/>
          <p:cNvSpPr>
            <a:spLocks noGrp="1"/>
          </p:cNvSpPr>
          <p:nvPr>
            <p:ph type="sldNum" sz="quarter" idx="12"/>
          </p:nvPr>
        </p:nvSpPr>
        <p:spPr/>
        <p:txBody>
          <a:bodyPr/>
          <a:lstStyle/>
          <a:p>
            <a:fld id="{8D4D1E41-7A09-AB4A-A4E1-09765ADA2698}" type="slidenum">
              <a:rPr kumimoji="1" lang="zh-CN" altLang="en-US" smtClean="0"/>
              <a:t>28</a:t>
            </a:fld>
            <a:endParaRPr kumimoji="1" lang="zh-CN" altLang="en-US" dirty="0"/>
          </a:p>
        </p:txBody>
      </p:sp>
      <p:sp>
        <p:nvSpPr>
          <p:cNvPr id="5" name="文本框 4">
            <a:extLst>
              <a:ext uri="{FF2B5EF4-FFF2-40B4-BE49-F238E27FC236}">
                <a16:creationId xmlns:a16="http://schemas.microsoft.com/office/drawing/2014/main" id="{082CC463-A981-4E7E-8F03-FAA795786BD7}"/>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3.2 </a:t>
            </a:r>
            <a:r>
              <a:rPr lang="zh-CN" altLang="en-US" dirty="0">
                <a:solidFill>
                  <a:schemeClr val="bg1">
                    <a:lumMod val="65000"/>
                  </a:schemeClr>
                </a:solidFill>
                <a:latin typeface="微软雅黑" panose="020B0503020204020204" pitchFamily="34" charset="-122"/>
                <a:ea typeface="微软雅黑" panose="020B0503020204020204" pitchFamily="34" charset="-122"/>
              </a:rPr>
              <a:t>差错检测和纠正</a:t>
            </a:r>
          </a:p>
        </p:txBody>
      </p:sp>
    </p:spTree>
    <p:extLst>
      <p:ext uri="{BB962C8B-B14F-4D97-AF65-F5344CB8AC3E}">
        <p14:creationId xmlns:p14="http://schemas.microsoft.com/office/powerpoint/2010/main" val="36327116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差错检测和纠正概述</a:t>
            </a:r>
          </a:p>
        </p:txBody>
      </p:sp>
      <p:sp>
        <p:nvSpPr>
          <p:cNvPr id="3" name="内容占位符 2"/>
          <p:cNvSpPr>
            <a:spLocks noGrp="1"/>
          </p:cNvSpPr>
          <p:nvPr>
            <p:ph idx="1"/>
          </p:nvPr>
        </p:nvSpPr>
        <p:spPr>
          <a:xfrm>
            <a:off x="838200" y="1409700"/>
            <a:ext cx="10515600" cy="4687752"/>
          </a:xfrm>
        </p:spPr>
        <p:txBody>
          <a:bodyPr>
            <a:normAutofit/>
          </a:bodyPr>
          <a:lstStyle/>
          <a:p>
            <a:pPr>
              <a:lnSpc>
                <a:spcPct val="140000"/>
              </a:lnSpc>
            </a:pPr>
            <a:r>
              <a:rPr kumimoji="1" lang="zh-CN" altLang="en-US" dirty="0"/>
              <a:t>检错码（</a:t>
            </a:r>
            <a:r>
              <a:rPr kumimoji="1" lang="en-US" altLang="zh-CN" dirty="0"/>
              <a:t>error-detecting code</a:t>
            </a:r>
            <a:r>
              <a:rPr kumimoji="1" lang="zh-CN" altLang="en-US" dirty="0"/>
              <a:t>）</a:t>
            </a:r>
            <a:endParaRPr kumimoji="1" lang="en-US" altLang="zh-CN" dirty="0"/>
          </a:p>
          <a:p>
            <a:pPr lvl="1">
              <a:lnSpc>
                <a:spcPct val="140000"/>
              </a:lnSpc>
            </a:pPr>
            <a:r>
              <a:rPr kumimoji="1" lang="zh-CN" altLang="en-US" dirty="0"/>
              <a:t>在被发送的数据块中，包含一些冗余信息，但这些信息只能使接收方推断是否发生错误，但不能推断哪位发生错误，接收方可以请求发送方重传数据</a:t>
            </a:r>
            <a:endParaRPr kumimoji="1" lang="en-US" altLang="zh-CN" dirty="0"/>
          </a:p>
          <a:p>
            <a:pPr lvl="1">
              <a:lnSpc>
                <a:spcPct val="140000"/>
              </a:lnSpc>
            </a:pPr>
            <a:r>
              <a:rPr kumimoji="1" lang="zh-CN" altLang="en-US" dirty="0"/>
              <a:t>主要用在高可靠、误码率较低的信道上，例如光纤链路</a:t>
            </a:r>
            <a:endParaRPr kumimoji="1" lang="en-US" altLang="zh-CN" dirty="0"/>
          </a:p>
          <a:p>
            <a:pPr lvl="1">
              <a:lnSpc>
                <a:spcPct val="140000"/>
              </a:lnSpc>
            </a:pPr>
            <a:r>
              <a:rPr kumimoji="1" lang="zh-CN" altLang="en-US" dirty="0"/>
              <a:t>偶尔发生的差错，可以通过重传解决差错问题</a:t>
            </a:r>
            <a:endParaRPr kumimoji="1" lang="en-US" altLang="zh-CN" dirty="0"/>
          </a:p>
          <a:p>
            <a:pPr lvl="1">
              <a:lnSpc>
                <a:spcPct val="140000"/>
              </a:lnSpc>
            </a:pPr>
            <a:endParaRPr kumimoji="1" lang="zh-CN" altLang="en-US" dirty="0"/>
          </a:p>
        </p:txBody>
      </p:sp>
      <p:sp>
        <p:nvSpPr>
          <p:cNvPr id="4" name="幻灯片编号占位符 3"/>
          <p:cNvSpPr>
            <a:spLocks noGrp="1"/>
          </p:cNvSpPr>
          <p:nvPr>
            <p:ph type="sldNum" sz="quarter" idx="12"/>
          </p:nvPr>
        </p:nvSpPr>
        <p:spPr/>
        <p:txBody>
          <a:bodyPr/>
          <a:lstStyle/>
          <a:p>
            <a:fld id="{8D4D1E41-7A09-AB4A-A4E1-09765ADA2698}" type="slidenum">
              <a:rPr kumimoji="1" lang="zh-CN" altLang="en-US" smtClean="0"/>
              <a:t>29</a:t>
            </a:fld>
            <a:endParaRPr kumimoji="1" lang="zh-CN" altLang="en-US" dirty="0"/>
          </a:p>
        </p:txBody>
      </p:sp>
      <p:sp>
        <p:nvSpPr>
          <p:cNvPr id="5" name="文本框 4">
            <a:extLst>
              <a:ext uri="{FF2B5EF4-FFF2-40B4-BE49-F238E27FC236}">
                <a16:creationId xmlns:a16="http://schemas.microsoft.com/office/drawing/2014/main" id="{082CC463-A981-4E7E-8F03-FAA795786BD7}"/>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3.2 </a:t>
            </a:r>
            <a:r>
              <a:rPr lang="zh-CN" altLang="en-US" dirty="0">
                <a:solidFill>
                  <a:schemeClr val="bg1">
                    <a:lumMod val="65000"/>
                  </a:schemeClr>
                </a:solidFill>
                <a:latin typeface="微软雅黑" panose="020B0503020204020204" pitchFamily="34" charset="-122"/>
                <a:ea typeface="微软雅黑" panose="020B0503020204020204" pitchFamily="34" charset="-122"/>
              </a:rPr>
              <a:t>差错检测和纠正</a:t>
            </a:r>
          </a:p>
        </p:txBody>
      </p:sp>
    </p:spTree>
    <p:extLst>
      <p:ext uri="{BB962C8B-B14F-4D97-AF65-F5344CB8AC3E}">
        <p14:creationId xmlns:p14="http://schemas.microsoft.com/office/powerpoint/2010/main" val="35564285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差错检测和纠正概述</a:t>
            </a:r>
          </a:p>
        </p:txBody>
      </p:sp>
      <p:sp>
        <p:nvSpPr>
          <p:cNvPr id="3" name="内容占位符 2"/>
          <p:cNvSpPr>
            <a:spLocks noGrp="1"/>
          </p:cNvSpPr>
          <p:nvPr>
            <p:ph idx="1"/>
          </p:nvPr>
        </p:nvSpPr>
        <p:spPr>
          <a:xfrm>
            <a:off x="838200" y="1409700"/>
            <a:ext cx="10706100" cy="4687752"/>
          </a:xfrm>
        </p:spPr>
        <p:txBody>
          <a:bodyPr>
            <a:normAutofit/>
          </a:bodyPr>
          <a:lstStyle/>
          <a:p>
            <a:pPr>
              <a:lnSpc>
                <a:spcPct val="140000"/>
              </a:lnSpc>
              <a:spcBef>
                <a:spcPts val="800"/>
              </a:spcBef>
            </a:pPr>
            <a:r>
              <a:rPr kumimoji="1" lang="zh-CN" altLang="en-US" dirty="0"/>
              <a:t>纠错码（</a:t>
            </a:r>
            <a:r>
              <a:rPr kumimoji="1" lang="en-US" altLang="zh-CN" dirty="0"/>
              <a:t>error-correcting code)</a:t>
            </a:r>
          </a:p>
          <a:p>
            <a:pPr lvl="1">
              <a:lnSpc>
                <a:spcPct val="140000"/>
              </a:lnSpc>
              <a:spcBef>
                <a:spcPts val="800"/>
              </a:spcBef>
            </a:pPr>
            <a:r>
              <a:rPr lang="zh-CN" altLang="en-US" dirty="0"/>
              <a:t>发送方在每个数据块中加入足够的冗余信息，使得接收方能够判断接收到的数据是否有错，并能纠正错误（</a:t>
            </a:r>
            <a:r>
              <a:rPr lang="zh-CN" altLang="en-US" dirty="0">
                <a:solidFill>
                  <a:srgbClr val="C00000"/>
                </a:solidFill>
              </a:rPr>
              <a:t>定位出错的位置</a:t>
            </a:r>
            <a:r>
              <a:rPr lang="zh-CN" altLang="en-US" dirty="0"/>
              <a:t>）</a:t>
            </a:r>
          </a:p>
          <a:p>
            <a:pPr lvl="1">
              <a:lnSpc>
                <a:spcPct val="140000"/>
              </a:lnSpc>
              <a:spcBef>
                <a:spcPts val="800"/>
              </a:spcBef>
            </a:pPr>
            <a:r>
              <a:rPr kumimoji="1" lang="zh-CN" altLang="en-US" dirty="0"/>
              <a:t>主要用于错误发生比较频繁的信道上，如无线链路</a:t>
            </a:r>
            <a:endParaRPr kumimoji="1" lang="en-US" altLang="zh-CN" dirty="0"/>
          </a:p>
          <a:p>
            <a:pPr lvl="1">
              <a:lnSpc>
                <a:spcPct val="140000"/>
              </a:lnSpc>
              <a:spcBef>
                <a:spcPts val="800"/>
              </a:spcBef>
            </a:pPr>
            <a:r>
              <a:rPr kumimoji="1" lang="zh-CN" altLang="en-US" dirty="0"/>
              <a:t>也经常用于物理层，以及更高层（例如，实时流媒体应用和内容分发）</a:t>
            </a:r>
            <a:endParaRPr kumimoji="1" lang="en-US" altLang="zh-CN" dirty="0"/>
          </a:p>
          <a:p>
            <a:pPr lvl="1">
              <a:lnSpc>
                <a:spcPct val="140000"/>
              </a:lnSpc>
              <a:spcBef>
                <a:spcPts val="800"/>
              </a:spcBef>
            </a:pPr>
            <a:r>
              <a:rPr kumimoji="1" lang="zh-CN" altLang="en-US" dirty="0"/>
              <a:t>使用纠错码的技术通常称为</a:t>
            </a:r>
            <a:r>
              <a:rPr kumimoji="1" lang="zh-CN" altLang="en-US" dirty="0">
                <a:solidFill>
                  <a:srgbClr val="C00000"/>
                </a:solidFill>
              </a:rPr>
              <a:t>前向纠错</a:t>
            </a:r>
            <a:r>
              <a:rPr kumimoji="1" lang="zh-CN" altLang="en-US" dirty="0"/>
              <a:t>（</a:t>
            </a:r>
            <a:r>
              <a:rPr kumimoji="1" lang="en-US" altLang="zh-CN" dirty="0"/>
              <a:t>FEC</a:t>
            </a:r>
            <a:r>
              <a:rPr kumimoji="1" lang="zh-CN" altLang="en-US" dirty="0"/>
              <a:t>，</a:t>
            </a:r>
            <a:r>
              <a:rPr kumimoji="1" lang="en-US" altLang="zh-CN" dirty="0"/>
              <a:t>Forward Error Correction)</a:t>
            </a:r>
            <a:endParaRPr kumimoji="1" lang="zh-CN" altLang="en-US" dirty="0"/>
          </a:p>
        </p:txBody>
      </p:sp>
      <p:sp>
        <p:nvSpPr>
          <p:cNvPr id="4" name="幻灯片编号占位符 3"/>
          <p:cNvSpPr>
            <a:spLocks noGrp="1"/>
          </p:cNvSpPr>
          <p:nvPr>
            <p:ph type="sldNum" sz="quarter" idx="12"/>
          </p:nvPr>
        </p:nvSpPr>
        <p:spPr/>
        <p:txBody>
          <a:bodyPr/>
          <a:lstStyle/>
          <a:p>
            <a:fld id="{8D4D1E41-7A09-AB4A-A4E1-09765ADA2698}" type="slidenum">
              <a:rPr kumimoji="1" lang="zh-CN" altLang="en-US" smtClean="0"/>
              <a:t>30</a:t>
            </a:fld>
            <a:endParaRPr kumimoji="1" lang="zh-CN" altLang="en-US" dirty="0"/>
          </a:p>
        </p:txBody>
      </p:sp>
      <p:sp>
        <p:nvSpPr>
          <p:cNvPr id="5" name="文本框 4">
            <a:extLst>
              <a:ext uri="{FF2B5EF4-FFF2-40B4-BE49-F238E27FC236}">
                <a16:creationId xmlns:a16="http://schemas.microsoft.com/office/drawing/2014/main" id="{082CC463-A981-4E7E-8F03-FAA795786BD7}"/>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3.2 </a:t>
            </a:r>
            <a:r>
              <a:rPr lang="zh-CN" altLang="en-US" dirty="0">
                <a:solidFill>
                  <a:schemeClr val="bg1">
                    <a:lumMod val="65000"/>
                  </a:schemeClr>
                </a:solidFill>
                <a:latin typeface="微软雅黑" panose="020B0503020204020204" pitchFamily="34" charset="-122"/>
                <a:ea typeface="微软雅黑" panose="020B0503020204020204" pitchFamily="34" charset="-122"/>
              </a:rPr>
              <a:t>差错检测和纠正</a:t>
            </a:r>
          </a:p>
        </p:txBody>
      </p:sp>
    </p:spTree>
    <p:extLst>
      <p:ext uri="{BB962C8B-B14F-4D97-AF65-F5344CB8AC3E}">
        <p14:creationId xmlns:p14="http://schemas.microsoft.com/office/powerpoint/2010/main" val="40192384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差错检测和纠正概述</a:t>
            </a:r>
          </a:p>
        </p:txBody>
      </p:sp>
      <p:sp>
        <p:nvSpPr>
          <p:cNvPr id="3" name="内容占位符 2"/>
          <p:cNvSpPr>
            <a:spLocks noGrp="1"/>
          </p:cNvSpPr>
          <p:nvPr>
            <p:ph idx="1"/>
          </p:nvPr>
        </p:nvSpPr>
        <p:spPr>
          <a:xfrm>
            <a:off x="736979" y="1469182"/>
            <a:ext cx="10809027" cy="4923967"/>
          </a:xfrm>
        </p:spPr>
        <p:txBody>
          <a:bodyPr>
            <a:normAutofit fontScale="92500"/>
          </a:bodyPr>
          <a:lstStyle/>
          <a:p>
            <a:pPr>
              <a:lnSpc>
                <a:spcPts val="3500"/>
              </a:lnSpc>
              <a:spcBef>
                <a:spcPts val="1200"/>
              </a:spcBef>
            </a:pPr>
            <a:r>
              <a:rPr kumimoji="1" lang="zh-CN" altLang="en-US" dirty="0">
                <a:highlight>
                  <a:srgbClr val="FFFF00"/>
                </a:highlight>
              </a:rPr>
              <a:t>码字 </a:t>
            </a:r>
            <a:r>
              <a:rPr kumimoji="1" lang="en-US" altLang="zh-CN" dirty="0">
                <a:highlight>
                  <a:srgbClr val="FFFF00"/>
                </a:highlight>
              </a:rPr>
              <a:t>(code word)</a:t>
            </a:r>
            <a:r>
              <a:rPr kumimoji="1" lang="zh-CN" altLang="en-US" dirty="0"/>
              <a:t>：一个包含</a:t>
            </a:r>
            <a:r>
              <a:rPr kumimoji="1" lang="en-US" altLang="zh-CN" dirty="0"/>
              <a:t>m</a:t>
            </a:r>
            <a:r>
              <a:rPr kumimoji="1" lang="zh-CN" altLang="en-US" dirty="0"/>
              <a:t>个数据位和</a:t>
            </a:r>
            <a:r>
              <a:rPr kumimoji="1" lang="en-US" altLang="zh-CN" dirty="0"/>
              <a:t>r</a:t>
            </a:r>
            <a:r>
              <a:rPr kumimoji="1" lang="zh-CN" altLang="en-US" dirty="0"/>
              <a:t>个校验位的</a:t>
            </a:r>
            <a:r>
              <a:rPr kumimoji="1" lang="en-US" altLang="zh-CN" dirty="0"/>
              <a:t>n</a:t>
            </a:r>
            <a:r>
              <a:rPr kumimoji="1" lang="zh-CN" altLang="en-US" dirty="0"/>
              <a:t>位单元</a:t>
            </a:r>
            <a:endParaRPr kumimoji="1" lang="en-US" altLang="zh-CN" dirty="0"/>
          </a:p>
          <a:p>
            <a:pPr lvl="1">
              <a:lnSpc>
                <a:spcPts val="3500"/>
              </a:lnSpc>
            </a:pPr>
            <a:r>
              <a:rPr kumimoji="1" lang="zh-CN" altLang="en-US" dirty="0"/>
              <a:t>描述为 </a:t>
            </a:r>
            <a:r>
              <a:rPr kumimoji="1" lang="en-US" altLang="zh-CN" dirty="0"/>
              <a:t>(n, m) </a:t>
            </a:r>
            <a:r>
              <a:rPr kumimoji="1" lang="zh-CN" altLang="en-US" dirty="0"/>
              <a:t>码，</a:t>
            </a:r>
            <a:r>
              <a:rPr kumimoji="1" lang="en-US" altLang="zh-CN" dirty="0"/>
              <a:t>n=</a:t>
            </a:r>
            <a:r>
              <a:rPr kumimoji="1" lang="en-US" altLang="zh-CN" dirty="0" err="1"/>
              <a:t>m+r</a:t>
            </a:r>
            <a:endParaRPr kumimoji="1" lang="en-US" altLang="zh-CN" dirty="0"/>
          </a:p>
          <a:p>
            <a:pPr>
              <a:lnSpc>
                <a:spcPts val="3500"/>
              </a:lnSpc>
              <a:spcBef>
                <a:spcPts val="1200"/>
              </a:spcBef>
            </a:pPr>
            <a:r>
              <a:rPr kumimoji="1" lang="zh-CN" altLang="en-US" dirty="0">
                <a:highlight>
                  <a:srgbClr val="FFFF00"/>
                </a:highlight>
              </a:rPr>
              <a:t>码率 </a:t>
            </a:r>
            <a:r>
              <a:rPr kumimoji="1" lang="en-US" altLang="zh-CN" dirty="0">
                <a:highlight>
                  <a:srgbClr val="FFFF00"/>
                </a:highlight>
              </a:rPr>
              <a:t>(code rate)</a:t>
            </a:r>
            <a:r>
              <a:rPr kumimoji="1" lang="zh-CN" altLang="en-US" dirty="0"/>
              <a:t>：码字中不含冗余部分所占的比例，可以用</a:t>
            </a:r>
            <a:r>
              <a:rPr kumimoji="1" lang="en-US" altLang="zh-CN" dirty="0"/>
              <a:t>m/n</a:t>
            </a:r>
            <a:r>
              <a:rPr kumimoji="1" lang="zh-CN" altLang="en-US" dirty="0"/>
              <a:t>表示</a:t>
            </a:r>
            <a:endParaRPr kumimoji="1" lang="en-US" altLang="zh-CN" dirty="0"/>
          </a:p>
          <a:p>
            <a:pPr>
              <a:lnSpc>
                <a:spcPts val="3500"/>
              </a:lnSpc>
              <a:spcBef>
                <a:spcPts val="1200"/>
              </a:spcBef>
            </a:pPr>
            <a:r>
              <a:rPr lang="zh-CN" altLang="en-US" dirty="0">
                <a:highlight>
                  <a:srgbClr val="FFFF00"/>
                </a:highlight>
              </a:rPr>
              <a:t>海明距离 </a:t>
            </a:r>
            <a:r>
              <a:rPr kumimoji="1" lang="en-US" altLang="zh-CN" dirty="0">
                <a:highlight>
                  <a:srgbClr val="FFFF00"/>
                </a:highlight>
              </a:rPr>
              <a:t>(</a:t>
            </a:r>
            <a:r>
              <a:rPr lang="en-US" altLang="zh-CN" dirty="0">
                <a:highlight>
                  <a:srgbClr val="FFFF00"/>
                </a:highlight>
              </a:rPr>
              <a:t>Hamming distance)</a:t>
            </a:r>
            <a:r>
              <a:rPr lang="zh-CN" altLang="en-US" dirty="0"/>
              <a:t>：两个码字之间不同对应比特的数目</a:t>
            </a:r>
          </a:p>
          <a:p>
            <a:pPr lvl="1">
              <a:lnSpc>
                <a:spcPts val="3500"/>
              </a:lnSpc>
            </a:pPr>
            <a:r>
              <a:rPr lang="zh-CN" altLang="en-US" dirty="0"/>
              <a:t>例：</a:t>
            </a:r>
            <a:r>
              <a:rPr lang="en-US" altLang="zh-CN" dirty="0"/>
              <a:t>0000000000 </a:t>
            </a:r>
            <a:r>
              <a:rPr lang="zh-CN" altLang="en-US" dirty="0"/>
              <a:t>与</a:t>
            </a:r>
            <a:r>
              <a:rPr lang="en-US" altLang="zh-CN" dirty="0"/>
              <a:t>0000011111</a:t>
            </a:r>
            <a:r>
              <a:rPr lang="zh-CN" altLang="en-US" dirty="0"/>
              <a:t>的海明距离为</a:t>
            </a:r>
            <a:r>
              <a:rPr lang="en-US" altLang="zh-CN" dirty="0"/>
              <a:t>5</a:t>
            </a:r>
          </a:p>
          <a:p>
            <a:pPr lvl="1">
              <a:lnSpc>
                <a:spcPts val="3500"/>
              </a:lnSpc>
            </a:pPr>
            <a:r>
              <a:rPr lang="zh-CN" altLang="en-US" dirty="0"/>
              <a:t>如果两个码字的海明距离为</a:t>
            </a:r>
            <a:r>
              <a:rPr lang="en-US" altLang="zh-CN" dirty="0"/>
              <a:t>d</a:t>
            </a:r>
            <a:r>
              <a:rPr lang="zh-CN" altLang="en-US" dirty="0"/>
              <a:t>，则需要</a:t>
            </a:r>
            <a:r>
              <a:rPr lang="en-US" altLang="zh-CN" dirty="0"/>
              <a:t>d</a:t>
            </a:r>
            <a:r>
              <a:rPr lang="zh-CN" altLang="en-US" dirty="0"/>
              <a:t>个单比特错就可以把一个码字转换成另一个码字</a:t>
            </a:r>
          </a:p>
          <a:p>
            <a:pPr lvl="1">
              <a:lnSpc>
                <a:spcPts val="3500"/>
              </a:lnSpc>
            </a:pPr>
            <a:r>
              <a:rPr lang="zh-CN" altLang="en-US" dirty="0"/>
              <a:t>为了检查出</a:t>
            </a:r>
            <a:r>
              <a:rPr lang="en-US" altLang="zh-CN" dirty="0"/>
              <a:t>d</a:t>
            </a:r>
            <a:r>
              <a:rPr lang="zh-CN" altLang="en-US" dirty="0"/>
              <a:t>个错（比特错），可以使用海明距离为 </a:t>
            </a:r>
            <a:r>
              <a:rPr lang="en-US" altLang="zh-CN" b="1" dirty="0">
                <a:solidFill>
                  <a:srgbClr val="C00000"/>
                </a:solidFill>
              </a:rPr>
              <a:t>d+1 </a:t>
            </a:r>
            <a:r>
              <a:rPr lang="zh-CN" altLang="en-US" dirty="0"/>
              <a:t>的编码</a:t>
            </a:r>
          </a:p>
          <a:p>
            <a:pPr lvl="1">
              <a:lnSpc>
                <a:spcPts val="3500"/>
              </a:lnSpc>
            </a:pPr>
            <a:r>
              <a:rPr lang="zh-CN" altLang="en-US" dirty="0"/>
              <a:t>为了纠正</a:t>
            </a:r>
            <a:r>
              <a:rPr lang="en-US" altLang="zh-CN" dirty="0"/>
              <a:t>d</a:t>
            </a:r>
            <a:r>
              <a:rPr lang="zh-CN" altLang="en-US" dirty="0"/>
              <a:t>个错，可以使用海明距离为 </a:t>
            </a:r>
            <a:r>
              <a:rPr lang="en-US" altLang="zh-CN" b="1" dirty="0">
                <a:solidFill>
                  <a:srgbClr val="C00000"/>
                </a:solidFill>
              </a:rPr>
              <a:t>2d+1 </a:t>
            </a:r>
            <a:r>
              <a:rPr lang="zh-CN" altLang="en-US" dirty="0"/>
              <a:t>的编码</a:t>
            </a:r>
          </a:p>
          <a:p>
            <a:pPr>
              <a:lnSpc>
                <a:spcPts val="3800"/>
              </a:lnSpc>
            </a:pPr>
            <a:endParaRPr kumimoji="1" lang="en-US" altLang="zh-CN" dirty="0"/>
          </a:p>
          <a:p>
            <a:pPr>
              <a:lnSpc>
                <a:spcPts val="3800"/>
              </a:lnSpc>
            </a:pPr>
            <a:endParaRPr lang="zh-CN" altLang="en-US" dirty="0"/>
          </a:p>
        </p:txBody>
      </p:sp>
      <p:sp>
        <p:nvSpPr>
          <p:cNvPr id="4" name="幻灯片编号占位符 3"/>
          <p:cNvSpPr>
            <a:spLocks noGrp="1"/>
          </p:cNvSpPr>
          <p:nvPr>
            <p:ph type="sldNum" sz="quarter" idx="12"/>
          </p:nvPr>
        </p:nvSpPr>
        <p:spPr/>
        <p:txBody>
          <a:bodyPr/>
          <a:lstStyle/>
          <a:p>
            <a:fld id="{8D4D1E41-7A09-AB4A-A4E1-09765ADA2698}" type="slidenum">
              <a:rPr kumimoji="1" lang="zh-CN" altLang="en-US" smtClean="0"/>
              <a:t>31</a:t>
            </a:fld>
            <a:endParaRPr kumimoji="1" lang="zh-CN" altLang="en-US" dirty="0"/>
          </a:p>
        </p:txBody>
      </p:sp>
      <p:sp>
        <p:nvSpPr>
          <p:cNvPr id="5" name="文本框 4">
            <a:extLst>
              <a:ext uri="{FF2B5EF4-FFF2-40B4-BE49-F238E27FC236}">
                <a16:creationId xmlns:a16="http://schemas.microsoft.com/office/drawing/2014/main" id="{082CC463-A981-4E7E-8F03-FAA795786BD7}"/>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3.2 </a:t>
            </a:r>
            <a:r>
              <a:rPr lang="zh-CN" altLang="en-US" dirty="0">
                <a:solidFill>
                  <a:schemeClr val="bg1">
                    <a:lumMod val="65000"/>
                  </a:schemeClr>
                </a:solidFill>
                <a:latin typeface="微软雅黑" panose="020B0503020204020204" pitchFamily="34" charset="-122"/>
                <a:ea typeface="微软雅黑" panose="020B0503020204020204" pitchFamily="34" charset="-122"/>
              </a:rPr>
              <a:t>差错检测和纠正</a:t>
            </a:r>
          </a:p>
        </p:txBody>
      </p:sp>
      <p:sp>
        <p:nvSpPr>
          <p:cNvPr id="6" name="文本框 5">
            <a:extLst>
              <a:ext uri="{FF2B5EF4-FFF2-40B4-BE49-F238E27FC236}">
                <a16:creationId xmlns:a16="http://schemas.microsoft.com/office/drawing/2014/main" id="{0AF35379-6DE8-43C5-A6FD-98ABA367A3B2}"/>
              </a:ext>
            </a:extLst>
          </p:cNvPr>
          <p:cNvSpPr txBox="1"/>
          <p:nvPr/>
        </p:nvSpPr>
        <p:spPr>
          <a:xfrm>
            <a:off x="1948837" y="6411392"/>
            <a:ext cx="8257844" cy="369332"/>
          </a:xfrm>
          <a:prstGeom prst="rect">
            <a:avLst/>
          </a:prstGeom>
          <a:noFill/>
        </p:spPr>
        <p:txBody>
          <a:bodyPr wrap="square" rtlCol="0">
            <a:spAutoFit/>
          </a:bodyPr>
          <a:lstStyle/>
          <a:p>
            <a:pPr algn="ctr"/>
            <a:r>
              <a:rPr lang="zh-CN" altLang="en-US" dirty="0">
                <a:latin typeface="微软雅黑" panose="020B0503020204020204" pitchFamily="34" charset="-122"/>
                <a:ea typeface="微软雅黑" panose="020B0503020204020204" pitchFamily="34" charset="-122"/>
              </a:rPr>
              <a:t>引自：清华大学崔勇老师提供的讲稿</a:t>
            </a:r>
          </a:p>
        </p:txBody>
      </p:sp>
    </p:spTree>
    <p:extLst>
      <p:ext uri="{BB962C8B-B14F-4D97-AF65-F5344CB8AC3E}">
        <p14:creationId xmlns:p14="http://schemas.microsoft.com/office/powerpoint/2010/main" val="2179503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EBF0D9-A96A-66F6-4275-5A46AB0CCFE4}"/>
              </a:ext>
            </a:extLst>
          </p:cNvPr>
          <p:cNvSpPr>
            <a:spLocks noGrp="1"/>
          </p:cNvSpPr>
          <p:nvPr>
            <p:ph type="title"/>
          </p:nvPr>
        </p:nvSpPr>
        <p:spPr/>
        <p:txBody>
          <a:bodyPr/>
          <a:lstStyle/>
          <a:p>
            <a:r>
              <a:rPr lang="en-CN" dirty="0"/>
              <a:t>思考题</a:t>
            </a:r>
          </a:p>
        </p:txBody>
      </p:sp>
      <p:sp>
        <p:nvSpPr>
          <p:cNvPr id="3" name="Content Placeholder 2">
            <a:extLst>
              <a:ext uri="{FF2B5EF4-FFF2-40B4-BE49-F238E27FC236}">
                <a16:creationId xmlns:a16="http://schemas.microsoft.com/office/drawing/2014/main" id="{960C602C-061C-32E7-6D33-C64E61B1C838}"/>
              </a:ext>
            </a:extLst>
          </p:cNvPr>
          <p:cNvSpPr>
            <a:spLocks noGrp="1"/>
          </p:cNvSpPr>
          <p:nvPr>
            <p:ph idx="1"/>
          </p:nvPr>
        </p:nvSpPr>
        <p:spPr>
          <a:xfrm>
            <a:off x="838200" y="1510758"/>
            <a:ext cx="10515600" cy="1163169"/>
          </a:xfrm>
        </p:spPr>
        <p:txBody>
          <a:bodyPr/>
          <a:lstStyle/>
          <a:p>
            <a:pPr marL="0" indent="0">
              <a:buNone/>
            </a:pPr>
            <a:r>
              <a:rPr lang="zh-CN" altLang="en-US" dirty="0"/>
              <a:t>为了检查出</a:t>
            </a:r>
            <a:r>
              <a:rPr lang="en-US" altLang="zh-CN" dirty="0"/>
              <a:t>d</a:t>
            </a:r>
            <a:r>
              <a:rPr lang="zh-CN" altLang="en-US" dirty="0"/>
              <a:t>个错（比特错），可以使用海明距离为 </a:t>
            </a:r>
            <a:r>
              <a:rPr lang="en-US" altLang="zh-CN" b="1" dirty="0">
                <a:solidFill>
                  <a:srgbClr val="C00000"/>
                </a:solidFill>
              </a:rPr>
              <a:t>d+1 </a:t>
            </a:r>
            <a:r>
              <a:rPr lang="zh-CN" altLang="en-US" dirty="0"/>
              <a:t>的编码？</a:t>
            </a:r>
            <a:endParaRPr lang="en-CN" dirty="0"/>
          </a:p>
        </p:txBody>
      </p:sp>
      <p:sp>
        <p:nvSpPr>
          <p:cNvPr id="4" name="Slide Number Placeholder 3">
            <a:extLst>
              <a:ext uri="{FF2B5EF4-FFF2-40B4-BE49-F238E27FC236}">
                <a16:creationId xmlns:a16="http://schemas.microsoft.com/office/drawing/2014/main" id="{DFDD3A6D-9A66-A838-DBBD-D0D795D33B0C}"/>
              </a:ext>
            </a:extLst>
          </p:cNvPr>
          <p:cNvSpPr>
            <a:spLocks noGrp="1"/>
          </p:cNvSpPr>
          <p:nvPr>
            <p:ph type="sldNum" sz="quarter" idx="12"/>
          </p:nvPr>
        </p:nvSpPr>
        <p:spPr/>
        <p:txBody>
          <a:bodyPr/>
          <a:lstStyle/>
          <a:p>
            <a:fld id="{8D4D1E41-7A09-AB4A-A4E1-09765ADA2698}" type="slidenum">
              <a:rPr kumimoji="1" lang="zh-CN" altLang="en-US" smtClean="0"/>
              <a:t>32</a:t>
            </a:fld>
            <a:endParaRPr kumimoji="1" lang="zh-CN" altLang="en-US" dirty="0"/>
          </a:p>
        </p:txBody>
      </p:sp>
    </p:spTree>
    <p:extLst>
      <p:ext uri="{BB962C8B-B14F-4D97-AF65-F5344CB8AC3E}">
        <p14:creationId xmlns:p14="http://schemas.microsoft.com/office/powerpoint/2010/main" val="4721604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EBF0D9-A96A-66F6-4275-5A46AB0CCFE4}"/>
              </a:ext>
            </a:extLst>
          </p:cNvPr>
          <p:cNvSpPr>
            <a:spLocks noGrp="1"/>
          </p:cNvSpPr>
          <p:nvPr>
            <p:ph type="title"/>
          </p:nvPr>
        </p:nvSpPr>
        <p:spPr/>
        <p:txBody>
          <a:bodyPr/>
          <a:lstStyle/>
          <a:p>
            <a:r>
              <a:rPr lang="en-CN" dirty="0"/>
              <a:t>思考题</a:t>
            </a:r>
          </a:p>
        </p:txBody>
      </p:sp>
      <p:sp>
        <p:nvSpPr>
          <p:cNvPr id="3" name="Content Placeholder 2">
            <a:extLst>
              <a:ext uri="{FF2B5EF4-FFF2-40B4-BE49-F238E27FC236}">
                <a16:creationId xmlns:a16="http://schemas.microsoft.com/office/drawing/2014/main" id="{960C602C-061C-32E7-6D33-C64E61B1C838}"/>
              </a:ext>
            </a:extLst>
          </p:cNvPr>
          <p:cNvSpPr>
            <a:spLocks noGrp="1"/>
          </p:cNvSpPr>
          <p:nvPr>
            <p:ph idx="1"/>
          </p:nvPr>
        </p:nvSpPr>
        <p:spPr>
          <a:xfrm>
            <a:off x="838200" y="1510758"/>
            <a:ext cx="10515600" cy="1163169"/>
          </a:xfrm>
        </p:spPr>
        <p:txBody>
          <a:bodyPr/>
          <a:lstStyle/>
          <a:p>
            <a:pPr marL="0" indent="0">
              <a:buNone/>
            </a:pPr>
            <a:r>
              <a:rPr lang="zh-CN" altLang="en-US" dirty="0"/>
              <a:t>为了检查出</a:t>
            </a:r>
            <a:r>
              <a:rPr lang="en-US" altLang="zh-CN" dirty="0"/>
              <a:t>d</a:t>
            </a:r>
            <a:r>
              <a:rPr lang="zh-CN" altLang="en-US" dirty="0"/>
              <a:t>个错（比特错），可以使用海明距离为 </a:t>
            </a:r>
            <a:r>
              <a:rPr lang="en-US" altLang="zh-CN" b="1" dirty="0">
                <a:solidFill>
                  <a:srgbClr val="C00000"/>
                </a:solidFill>
              </a:rPr>
              <a:t>d+1 </a:t>
            </a:r>
            <a:r>
              <a:rPr lang="zh-CN" altLang="en-US" dirty="0"/>
              <a:t>的编码？</a:t>
            </a:r>
            <a:endParaRPr lang="en-CN" dirty="0"/>
          </a:p>
        </p:txBody>
      </p:sp>
      <p:sp>
        <p:nvSpPr>
          <p:cNvPr id="4" name="Slide Number Placeholder 3">
            <a:extLst>
              <a:ext uri="{FF2B5EF4-FFF2-40B4-BE49-F238E27FC236}">
                <a16:creationId xmlns:a16="http://schemas.microsoft.com/office/drawing/2014/main" id="{DFDD3A6D-9A66-A838-DBBD-D0D795D33B0C}"/>
              </a:ext>
            </a:extLst>
          </p:cNvPr>
          <p:cNvSpPr>
            <a:spLocks noGrp="1"/>
          </p:cNvSpPr>
          <p:nvPr>
            <p:ph type="sldNum" sz="quarter" idx="12"/>
          </p:nvPr>
        </p:nvSpPr>
        <p:spPr/>
        <p:txBody>
          <a:bodyPr/>
          <a:lstStyle/>
          <a:p>
            <a:fld id="{8D4D1E41-7A09-AB4A-A4E1-09765ADA2698}" type="slidenum">
              <a:rPr kumimoji="1" lang="zh-CN" altLang="en-US" smtClean="0"/>
              <a:t>33</a:t>
            </a:fld>
            <a:endParaRPr kumimoji="1" lang="zh-CN" altLang="en-US" dirty="0"/>
          </a:p>
        </p:txBody>
      </p:sp>
      <p:pic>
        <p:nvPicPr>
          <p:cNvPr id="5" name="图片 6">
            <a:extLst>
              <a:ext uri="{FF2B5EF4-FFF2-40B4-BE49-F238E27FC236}">
                <a16:creationId xmlns:a16="http://schemas.microsoft.com/office/drawing/2014/main" id="{6C2FDF8D-0B4C-8EA3-FB37-CA5D1A516995}"/>
              </a:ext>
            </a:extLst>
          </p:cNvPr>
          <p:cNvPicPr>
            <a:picLocks noChangeAspect="1"/>
          </p:cNvPicPr>
          <p:nvPr/>
        </p:nvPicPr>
        <p:blipFill rotWithShape="1">
          <a:blip r:embed="rId2"/>
          <a:srcRect l="3583"/>
          <a:stretch/>
        </p:blipFill>
        <p:spPr>
          <a:xfrm>
            <a:off x="2313953" y="2117182"/>
            <a:ext cx="8922959" cy="4421730"/>
          </a:xfrm>
          <a:prstGeom prst="rect">
            <a:avLst/>
          </a:prstGeom>
        </p:spPr>
      </p:pic>
    </p:spTree>
    <p:extLst>
      <p:ext uri="{BB962C8B-B14F-4D97-AF65-F5344CB8AC3E}">
        <p14:creationId xmlns:p14="http://schemas.microsoft.com/office/powerpoint/2010/main" val="36760655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EBF0D9-A96A-66F6-4275-5A46AB0CCFE4}"/>
              </a:ext>
            </a:extLst>
          </p:cNvPr>
          <p:cNvSpPr>
            <a:spLocks noGrp="1"/>
          </p:cNvSpPr>
          <p:nvPr>
            <p:ph type="title"/>
          </p:nvPr>
        </p:nvSpPr>
        <p:spPr/>
        <p:txBody>
          <a:bodyPr/>
          <a:lstStyle/>
          <a:p>
            <a:r>
              <a:rPr lang="en-CN" dirty="0"/>
              <a:t>思考题</a:t>
            </a:r>
          </a:p>
        </p:txBody>
      </p:sp>
      <p:sp>
        <p:nvSpPr>
          <p:cNvPr id="3" name="Content Placeholder 2">
            <a:extLst>
              <a:ext uri="{FF2B5EF4-FFF2-40B4-BE49-F238E27FC236}">
                <a16:creationId xmlns:a16="http://schemas.microsoft.com/office/drawing/2014/main" id="{960C602C-061C-32E7-6D33-C64E61B1C838}"/>
              </a:ext>
            </a:extLst>
          </p:cNvPr>
          <p:cNvSpPr>
            <a:spLocks noGrp="1"/>
          </p:cNvSpPr>
          <p:nvPr>
            <p:ph idx="1"/>
          </p:nvPr>
        </p:nvSpPr>
        <p:spPr>
          <a:xfrm>
            <a:off x="838200" y="1510758"/>
            <a:ext cx="10515600" cy="1163169"/>
          </a:xfrm>
        </p:spPr>
        <p:txBody>
          <a:bodyPr/>
          <a:lstStyle/>
          <a:p>
            <a:pPr marL="0" indent="0">
              <a:buNone/>
            </a:pPr>
            <a:r>
              <a:rPr lang="zh-CN" altLang="en-US" dirty="0"/>
              <a:t>为了纠正</a:t>
            </a:r>
            <a:r>
              <a:rPr lang="en-US" altLang="zh-CN" dirty="0"/>
              <a:t>d</a:t>
            </a:r>
            <a:r>
              <a:rPr lang="zh-CN" altLang="en-US" dirty="0"/>
              <a:t>个错，可以使用海明距离为 </a:t>
            </a:r>
            <a:r>
              <a:rPr lang="en-US" altLang="zh-CN" dirty="0"/>
              <a:t>2d+1 </a:t>
            </a:r>
            <a:r>
              <a:rPr lang="zh-CN" altLang="en-US" dirty="0"/>
              <a:t>的编码？</a:t>
            </a:r>
          </a:p>
          <a:p>
            <a:pPr marL="0" indent="0">
              <a:buNone/>
            </a:pPr>
            <a:endParaRPr lang="zh-CN" altLang="en-US" dirty="0"/>
          </a:p>
        </p:txBody>
      </p:sp>
      <p:sp>
        <p:nvSpPr>
          <p:cNvPr id="4" name="Slide Number Placeholder 3">
            <a:extLst>
              <a:ext uri="{FF2B5EF4-FFF2-40B4-BE49-F238E27FC236}">
                <a16:creationId xmlns:a16="http://schemas.microsoft.com/office/drawing/2014/main" id="{DFDD3A6D-9A66-A838-DBBD-D0D795D33B0C}"/>
              </a:ext>
            </a:extLst>
          </p:cNvPr>
          <p:cNvSpPr>
            <a:spLocks noGrp="1"/>
          </p:cNvSpPr>
          <p:nvPr>
            <p:ph type="sldNum" sz="quarter" idx="12"/>
          </p:nvPr>
        </p:nvSpPr>
        <p:spPr/>
        <p:txBody>
          <a:bodyPr/>
          <a:lstStyle/>
          <a:p>
            <a:fld id="{8D4D1E41-7A09-AB4A-A4E1-09765ADA2698}" type="slidenum">
              <a:rPr kumimoji="1" lang="zh-CN" altLang="en-US" smtClean="0"/>
              <a:t>34</a:t>
            </a:fld>
            <a:endParaRPr kumimoji="1" lang="zh-CN" altLang="en-US" dirty="0"/>
          </a:p>
        </p:txBody>
      </p:sp>
    </p:spTree>
    <p:extLst>
      <p:ext uri="{BB962C8B-B14F-4D97-AF65-F5344CB8AC3E}">
        <p14:creationId xmlns:p14="http://schemas.microsoft.com/office/powerpoint/2010/main" val="5686344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EBF0D9-A96A-66F6-4275-5A46AB0CCFE4}"/>
              </a:ext>
            </a:extLst>
          </p:cNvPr>
          <p:cNvSpPr>
            <a:spLocks noGrp="1"/>
          </p:cNvSpPr>
          <p:nvPr>
            <p:ph type="title"/>
          </p:nvPr>
        </p:nvSpPr>
        <p:spPr/>
        <p:txBody>
          <a:bodyPr/>
          <a:lstStyle/>
          <a:p>
            <a:r>
              <a:rPr lang="en-CN" dirty="0"/>
              <a:t>思考题</a:t>
            </a:r>
          </a:p>
        </p:txBody>
      </p:sp>
      <p:sp>
        <p:nvSpPr>
          <p:cNvPr id="3" name="Content Placeholder 2">
            <a:extLst>
              <a:ext uri="{FF2B5EF4-FFF2-40B4-BE49-F238E27FC236}">
                <a16:creationId xmlns:a16="http://schemas.microsoft.com/office/drawing/2014/main" id="{960C602C-061C-32E7-6D33-C64E61B1C838}"/>
              </a:ext>
            </a:extLst>
          </p:cNvPr>
          <p:cNvSpPr>
            <a:spLocks noGrp="1"/>
          </p:cNvSpPr>
          <p:nvPr>
            <p:ph idx="1"/>
          </p:nvPr>
        </p:nvSpPr>
        <p:spPr>
          <a:xfrm>
            <a:off x="838200" y="1510758"/>
            <a:ext cx="10515600" cy="1163169"/>
          </a:xfrm>
        </p:spPr>
        <p:txBody>
          <a:bodyPr/>
          <a:lstStyle/>
          <a:p>
            <a:pPr marL="0" indent="0">
              <a:buNone/>
            </a:pPr>
            <a:r>
              <a:rPr lang="zh-CN" altLang="en-US" dirty="0"/>
              <a:t>为了纠正</a:t>
            </a:r>
            <a:r>
              <a:rPr lang="en-US" altLang="zh-CN" dirty="0"/>
              <a:t>d</a:t>
            </a:r>
            <a:r>
              <a:rPr lang="zh-CN" altLang="en-US" dirty="0"/>
              <a:t>个错，可以使用海明距离为 </a:t>
            </a:r>
            <a:r>
              <a:rPr lang="en-US" altLang="zh-CN" dirty="0"/>
              <a:t>2d+1 </a:t>
            </a:r>
            <a:r>
              <a:rPr lang="zh-CN" altLang="en-US" dirty="0"/>
              <a:t>的编码？</a:t>
            </a:r>
          </a:p>
          <a:p>
            <a:pPr marL="0" indent="0">
              <a:buNone/>
            </a:pPr>
            <a:endParaRPr lang="zh-CN" altLang="en-US" dirty="0"/>
          </a:p>
        </p:txBody>
      </p:sp>
      <p:sp>
        <p:nvSpPr>
          <p:cNvPr id="4" name="Slide Number Placeholder 3">
            <a:extLst>
              <a:ext uri="{FF2B5EF4-FFF2-40B4-BE49-F238E27FC236}">
                <a16:creationId xmlns:a16="http://schemas.microsoft.com/office/drawing/2014/main" id="{DFDD3A6D-9A66-A838-DBBD-D0D795D33B0C}"/>
              </a:ext>
            </a:extLst>
          </p:cNvPr>
          <p:cNvSpPr>
            <a:spLocks noGrp="1"/>
          </p:cNvSpPr>
          <p:nvPr>
            <p:ph type="sldNum" sz="quarter" idx="12"/>
          </p:nvPr>
        </p:nvSpPr>
        <p:spPr/>
        <p:txBody>
          <a:bodyPr/>
          <a:lstStyle/>
          <a:p>
            <a:fld id="{8D4D1E41-7A09-AB4A-A4E1-09765ADA2698}" type="slidenum">
              <a:rPr kumimoji="1" lang="zh-CN" altLang="en-US" smtClean="0"/>
              <a:t>35</a:t>
            </a:fld>
            <a:endParaRPr kumimoji="1" lang="zh-CN" altLang="en-US" dirty="0"/>
          </a:p>
        </p:txBody>
      </p:sp>
      <p:pic>
        <p:nvPicPr>
          <p:cNvPr id="5" name="图片 4">
            <a:extLst>
              <a:ext uri="{FF2B5EF4-FFF2-40B4-BE49-F238E27FC236}">
                <a16:creationId xmlns:a16="http://schemas.microsoft.com/office/drawing/2014/main" id="{9D1D3A18-C9B9-67AA-BE1B-050A8F96DB85}"/>
              </a:ext>
            </a:extLst>
          </p:cNvPr>
          <p:cNvPicPr>
            <a:picLocks noChangeAspect="1"/>
          </p:cNvPicPr>
          <p:nvPr/>
        </p:nvPicPr>
        <p:blipFill>
          <a:blip r:embed="rId2"/>
          <a:stretch>
            <a:fillRect/>
          </a:stretch>
        </p:blipFill>
        <p:spPr>
          <a:xfrm>
            <a:off x="1536737" y="2238124"/>
            <a:ext cx="9118526" cy="4483351"/>
          </a:xfrm>
          <a:prstGeom prst="rect">
            <a:avLst/>
          </a:prstGeom>
        </p:spPr>
      </p:pic>
    </p:spTree>
    <p:extLst>
      <p:ext uri="{BB962C8B-B14F-4D97-AF65-F5344CB8AC3E}">
        <p14:creationId xmlns:p14="http://schemas.microsoft.com/office/powerpoint/2010/main" val="404157016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差错检测和纠正概述</a:t>
            </a:r>
          </a:p>
        </p:txBody>
      </p:sp>
      <p:sp>
        <p:nvSpPr>
          <p:cNvPr id="3" name="内容占位符 2"/>
          <p:cNvSpPr>
            <a:spLocks noGrp="1"/>
          </p:cNvSpPr>
          <p:nvPr>
            <p:ph idx="1"/>
          </p:nvPr>
        </p:nvSpPr>
        <p:spPr>
          <a:xfrm>
            <a:off x="736979" y="1469182"/>
            <a:ext cx="10699845" cy="4923967"/>
          </a:xfrm>
        </p:spPr>
        <p:txBody>
          <a:bodyPr>
            <a:normAutofit/>
          </a:bodyPr>
          <a:lstStyle/>
          <a:p>
            <a:pPr>
              <a:lnSpc>
                <a:spcPts val="3500"/>
              </a:lnSpc>
              <a:spcBef>
                <a:spcPts val="1200"/>
              </a:spcBef>
            </a:pPr>
            <a:r>
              <a:rPr kumimoji="1" lang="zh-CN" altLang="en-US" dirty="0"/>
              <a:t>例如：</a:t>
            </a:r>
            <a:endParaRPr kumimoji="1" lang="en-US" altLang="zh-CN" dirty="0"/>
          </a:p>
          <a:p>
            <a:pPr lvl="1">
              <a:lnSpc>
                <a:spcPts val="3500"/>
              </a:lnSpc>
              <a:spcBef>
                <a:spcPts val="1200"/>
              </a:spcBef>
            </a:pPr>
            <a:r>
              <a:rPr kumimoji="1" lang="zh-CN" altLang="en-US" dirty="0"/>
              <a:t>一个只有</a:t>
            </a:r>
            <a:r>
              <a:rPr kumimoji="1" lang="en-US" altLang="zh-CN" dirty="0"/>
              <a:t>4</a:t>
            </a:r>
            <a:r>
              <a:rPr kumimoji="1" lang="zh-CN" altLang="en-US" dirty="0"/>
              <a:t>个有效码字的编码方案：</a:t>
            </a:r>
            <a:br>
              <a:rPr kumimoji="1" lang="en-US" altLang="zh-CN" dirty="0"/>
            </a:br>
            <a:r>
              <a:rPr kumimoji="1" lang="en-US" altLang="zh-CN" dirty="0"/>
              <a:t>0000000000, 0000011111, 1111100000, 1111111111</a:t>
            </a:r>
          </a:p>
          <a:p>
            <a:pPr lvl="1">
              <a:lnSpc>
                <a:spcPts val="3500"/>
              </a:lnSpc>
              <a:spcBef>
                <a:spcPts val="1200"/>
              </a:spcBef>
            </a:pPr>
            <a:r>
              <a:rPr kumimoji="1" lang="zh-CN" altLang="en-US" dirty="0"/>
              <a:t>海明距离为</a:t>
            </a:r>
            <a:r>
              <a:rPr kumimoji="1" lang="en-US" altLang="zh-CN" dirty="0"/>
              <a:t>5</a:t>
            </a:r>
            <a:r>
              <a:rPr kumimoji="1" lang="zh-CN" altLang="en-US" dirty="0"/>
              <a:t>，可以检测</a:t>
            </a:r>
            <a:r>
              <a:rPr kumimoji="1" lang="en-US" altLang="zh-CN" dirty="0"/>
              <a:t>4</a:t>
            </a:r>
            <a:r>
              <a:rPr kumimoji="1" lang="zh-CN" altLang="en-US" dirty="0"/>
              <a:t>位错，纠正</a:t>
            </a:r>
            <a:r>
              <a:rPr kumimoji="1" lang="en-US" altLang="zh-CN" dirty="0"/>
              <a:t>2</a:t>
            </a:r>
            <a:r>
              <a:rPr kumimoji="1" lang="zh-CN" altLang="en-US" dirty="0"/>
              <a:t>位错</a:t>
            </a:r>
            <a:endParaRPr kumimoji="1" lang="en-US" altLang="zh-CN" dirty="0"/>
          </a:p>
          <a:p>
            <a:pPr lvl="1">
              <a:lnSpc>
                <a:spcPts val="3500"/>
              </a:lnSpc>
              <a:spcBef>
                <a:spcPts val="1200"/>
              </a:spcBef>
            </a:pPr>
            <a:r>
              <a:rPr kumimoji="1" lang="zh-CN" altLang="en-US" dirty="0"/>
              <a:t>如果已知只有</a:t>
            </a:r>
            <a:r>
              <a:rPr kumimoji="1" lang="en-US" altLang="zh-CN" dirty="0"/>
              <a:t>1</a:t>
            </a:r>
            <a:r>
              <a:rPr kumimoji="1" lang="zh-CN" altLang="en-US" dirty="0"/>
              <a:t>位或</a:t>
            </a:r>
            <a:r>
              <a:rPr kumimoji="1" lang="en-US" altLang="zh-CN" dirty="0"/>
              <a:t>2</a:t>
            </a:r>
            <a:r>
              <a:rPr kumimoji="1" lang="zh-CN" altLang="en-US" dirty="0"/>
              <a:t>位错误，接收方接收</a:t>
            </a:r>
            <a:r>
              <a:rPr kumimoji="1" lang="en-US" altLang="zh-CN" dirty="0"/>
              <a:t>0000000111</a:t>
            </a:r>
          </a:p>
          <a:p>
            <a:pPr lvl="2" indent="-338138">
              <a:lnSpc>
                <a:spcPts val="3500"/>
              </a:lnSpc>
              <a:spcBef>
                <a:spcPts val="1200"/>
              </a:spcBef>
              <a:buFont typeface="微软雅黑" panose="020B0503020204020204" pitchFamily="34" charset="-122"/>
              <a:buChar char="−"/>
            </a:pPr>
            <a:r>
              <a:rPr kumimoji="1" lang="zh-CN" altLang="en-US" dirty="0"/>
              <a:t>则可知原码字为：</a:t>
            </a:r>
            <a:r>
              <a:rPr kumimoji="1" lang="en-US" altLang="zh-CN" dirty="0"/>
              <a:t>0000011111</a:t>
            </a:r>
          </a:p>
          <a:p>
            <a:pPr lvl="1">
              <a:lnSpc>
                <a:spcPts val="3500"/>
              </a:lnSpc>
              <a:spcBef>
                <a:spcPts val="1200"/>
              </a:spcBef>
            </a:pPr>
            <a:r>
              <a:rPr kumimoji="1" lang="zh-CN" altLang="en-US" dirty="0"/>
              <a:t>如果发生</a:t>
            </a:r>
            <a:r>
              <a:rPr kumimoji="1" lang="en-US" altLang="zh-CN" dirty="0"/>
              <a:t>3</a:t>
            </a:r>
            <a:r>
              <a:rPr kumimoji="1" lang="zh-CN" altLang="en-US" dirty="0"/>
              <a:t>位错误，例如</a:t>
            </a:r>
            <a:r>
              <a:rPr kumimoji="1" lang="en-US" altLang="zh-CN" dirty="0"/>
              <a:t>0000000000</a:t>
            </a:r>
            <a:r>
              <a:rPr kumimoji="1" lang="zh-CN" altLang="en-US" dirty="0"/>
              <a:t>变成</a:t>
            </a:r>
            <a:r>
              <a:rPr kumimoji="1" lang="en-US" altLang="zh-CN" dirty="0"/>
              <a:t>0000000111</a:t>
            </a:r>
            <a:r>
              <a:rPr kumimoji="1" lang="zh-CN" altLang="en-US" dirty="0"/>
              <a:t>，接收方无法纠正错误，但可以检测出错误</a:t>
            </a:r>
            <a:endParaRPr kumimoji="1" lang="en-US" altLang="zh-CN" dirty="0"/>
          </a:p>
        </p:txBody>
      </p:sp>
      <p:sp>
        <p:nvSpPr>
          <p:cNvPr id="4" name="幻灯片编号占位符 3"/>
          <p:cNvSpPr>
            <a:spLocks noGrp="1"/>
          </p:cNvSpPr>
          <p:nvPr>
            <p:ph type="sldNum" sz="quarter" idx="12"/>
          </p:nvPr>
        </p:nvSpPr>
        <p:spPr/>
        <p:txBody>
          <a:bodyPr/>
          <a:lstStyle/>
          <a:p>
            <a:fld id="{8D4D1E41-7A09-AB4A-A4E1-09765ADA2698}" type="slidenum">
              <a:rPr kumimoji="1" lang="zh-CN" altLang="en-US" smtClean="0"/>
              <a:t>36</a:t>
            </a:fld>
            <a:endParaRPr kumimoji="1" lang="zh-CN" altLang="en-US" dirty="0"/>
          </a:p>
        </p:txBody>
      </p:sp>
      <p:sp>
        <p:nvSpPr>
          <p:cNvPr id="5" name="文本框 4">
            <a:extLst>
              <a:ext uri="{FF2B5EF4-FFF2-40B4-BE49-F238E27FC236}">
                <a16:creationId xmlns:a16="http://schemas.microsoft.com/office/drawing/2014/main" id="{082CC463-A981-4E7E-8F03-FAA795786BD7}"/>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3.2 </a:t>
            </a:r>
            <a:r>
              <a:rPr lang="zh-CN" altLang="en-US" dirty="0">
                <a:solidFill>
                  <a:schemeClr val="bg1">
                    <a:lumMod val="65000"/>
                  </a:schemeClr>
                </a:solidFill>
                <a:latin typeface="微软雅黑" panose="020B0503020204020204" pitchFamily="34" charset="-122"/>
                <a:ea typeface="微软雅黑" panose="020B0503020204020204" pitchFamily="34" charset="-122"/>
              </a:rPr>
              <a:t>差错检测和纠正</a:t>
            </a:r>
          </a:p>
        </p:txBody>
      </p:sp>
    </p:spTree>
    <p:extLst>
      <p:ext uri="{BB962C8B-B14F-4D97-AF65-F5344CB8AC3E}">
        <p14:creationId xmlns:p14="http://schemas.microsoft.com/office/powerpoint/2010/main" val="77714624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3BFAC71-C984-8778-8FF9-86135B14937A}"/>
              </a:ext>
            </a:extLst>
          </p:cNvPr>
          <p:cNvSpPr>
            <a:spLocks noGrp="1"/>
          </p:cNvSpPr>
          <p:nvPr>
            <p:ph type="title"/>
          </p:nvPr>
        </p:nvSpPr>
        <p:spPr/>
        <p:txBody>
          <a:bodyPr/>
          <a:lstStyle/>
          <a:p>
            <a:endParaRPr lang="en-CN"/>
          </a:p>
        </p:txBody>
      </p:sp>
      <p:sp>
        <p:nvSpPr>
          <p:cNvPr id="4" name="Slide Number Placeholder 3">
            <a:extLst>
              <a:ext uri="{FF2B5EF4-FFF2-40B4-BE49-F238E27FC236}">
                <a16:creationId xmlns:a16="http://schemas.microsoft.com/office/drawing/2014/main" id="{45F17669-5256-45E9-2668-03EB8C0D8899}"/>
              </a:ext>
            </a:extLst>
          </p:cNvPr>
          <p:cNvSpPr>
            <a:spLocks noGrp="1"/>
          </p:cNvSpPr>
          <p:nvPr>
            <p:ph type="sldNum" sz="quarter" idx="12"/>
          </p:nvPr>
        </p:nvSpPr>
        <p:spPr/>
        <p:txBody>
          <a:bodyPr/>
          <a:lstStyle/>
          <a:p>
            <a:fld id="{8D4D1E41-7A09-AB4A-A4E1-09765ADA2698}" type="slidenum">
              <a:rPr kumimoji="1" lang="zh-CN" altLang="en-US" smtClean="0"/>
              <a:t>37</a:t>
            </a:fld>
            <a:endParaRPr kumimoji="1" lang="zh-CN" altLang="en-US" dirty="0"/>
          </a:p>
        </p:txBody>
      </p:sp>
      <p:pic>
        <p:nvPicPr>
          <p:cNvPr id="5" name="图片 4">
            <a:extLst>
              <a:ext uri="{FF2B5EF4-FFF2-40B4-BE49-F238E27FC236}">
                <a16:creationId xmlns:a16="http://schemas.microsoft.com/office/drawing/2014/main" id="{95B44786-6A29-76AB-49AE-7FC15E0313F0}"/>
              </a:ext>
            </a:extLst>
          </p:cNvPr>
          <p:cNvPicPr>
            <a:picLocks noChangeAspect="1"/>
          </p:cNvPicPr>
          <p:nvPr/>
        </p:nvPicPr>
        <p:blipFill>
          <a:blip r:embed="rId2"/>
          <a:stretch>
            <a:fillRect/>
          </a:stretch>
        </p:blipFill>
        <p:spPr>
          <a:xfrm>
            <a:off x="1631505" y="1628800"/>
            <a:ext cx="8635178" cy="4173102"/>
          </a:xfrm>
          <a:prstGeom prst="rect">
            <a:avLst/>
          </a:prstGeom>
        </p:spPr>
      </p:pic>
    </p:spTree>
    <p:extLst>
      <p:ext uri="{BB962C8B-B14F-4D97-AF65-F5344CB8AC3E}">
        <p14:creationId xmlns:p14="http://schemas.microsoft.com/office/powerpoint/2010/main" val="27531315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p:cNvSpPr>
            <a:spLocks noGrp="1" noChangeArrowheads="1"/>
          </p:cNvSpPr>
          <p:nvPr>
            <p:ph type="title"/>
          </p:nvPr>
        </p:nvSpPr>
        <p:spPr/>
        <p:txBody>
          <a:bodyPr/>
          <a:lstStyle/>
          <a:p>
            <a:pPr eaLnBrk="1" hangingPunct="1"/>
            <a:r>
              <a:rPr kumimoji="0" lang="zh-CN" altLang="en-US" dirty="0">
                <a:latin typeface="宋体" panose="02010600030101010101" pitchFamily="2" charset="-122"/>
              </a:rPr>
              <a:t>典型检错码</a:t>
            </a:r>
          </a:p>
        </p:txBody>
      </p:sp>
      <p:sp>
        <p:nvSpPr>
          <p:cNvPr id="52226" name="Rectangle 3"/>
          <p:cNvSpPr>
            <a:spLocks noGrp="1" noChangeArrowheads="1"/>
          </p:cNvSpPr>
          <p:nvPr>
            <p:ph type="body" idx="1"/>
          </p:nvPr>
        </p:nvSpPr>
        <p:spPr>
          <a:xfrm>
            <a:off x="838200" y="1510758"/>
            <a:ext cx="10310870" cy="4372684"/>
          </a:xfrm>
        </p:spPr>
        <p:txBody>
          <a:bodyPr>
            <a:normAutofit/>
          </a:bodyPr>
          <a:lstStyle/>
          <a:p>
            <a:pPr>
              <a:lnSpc>
                <a:spcPts val="4300"/>
              </a:lnSpc>
              <a:spcBef>
                <a:spcPts val="1200"/>
              </a:spcBef>
            </a:pPr>
            <a:r>
              <a:rPr lang="zh-CN" altLang="en-US" dirty="0">
                <a:sym typeface="Symbol" panose="05050102010706020507" pitchFamily="18" charset="2"/>
              </a:rPr>
              <a:t>常用的检错码包括：</a:t>
            </a:r>
            <a:endParaRPr lang="en-US" altLang="zh-CN" dirty="0">
              <a:sym typeface="Symbol" panose="05050102010706020507" pitchFamily="18" charset="2"/>
            </a:endParaRPr>
          </a:p>
          <a:p>
            <a:pPr lvl="1">
              <a:lnSpc>
                <a:spcPts val="4300"/>
              </a:lnSpc>
              <a:spcBef>
                <a:spcPts val="1200"/>
              </a:spcBef>
            </a:pPr>
            <a:r>
              <a:rPr lang="zh-CN" altLang="en-US" dirty="0">
                <a:solidFill>
                  <a:srgbClr val="C00000"/>
                </a:solidFill>
                <a:sym typeface="Symbol" panose="05050102010706020507" pitchFamily="18" charset="2"/>
              </a:rPr>
              <a:t>奇偶检验</a:t>
            </a:r>
            <a:r>
              <a:rPr lang="zh-CN" altLang="en-US" dirty="0">
                <a:sym typeface="Symbol" panose="05050102010706020507" pitchFamily="18" charset="2"/>
              </a:rPr>
              <a:t> </a:t>
            </a:r>
            <a:r>
              <a:rPr lang="en-US" altLang="zh-CN" dirty="0">
                <a:sym typeface="Symbol" panose="05050102010706020507" pitchFamily="18" charset="2"/>
              </a:rPr>
              <a:t>(</a:t>
            </a:r>
            <a:r>
              <a:rPr lang="en-US" altLang="zh-CN" dirty="0"/>
              <a:t>Parity Check</a:t>
            </a:r>
            <a:r>
              <a:rPr lang="en-US" altLang="zh-CN" dirty="0">
                <a:sym typeface="Symbol" panose="05050102010706020507" pitchFamily="18" charset="2"/>
              </a:rPr>
              <a:t>)</a:t>
            </a:r>
            <a:r>
              <a:rPr lang="zh-CN" altLang="en-US" dirty="0">
                <a:sym typeface="Symbol" panose="05050102010706020507" pitchFamily="18" charset="2"/>
              </a:rPr>
              <a:t>：</a:t>
            </a:r>
            <a:r>
              <a:rPr lang="en-US" altLang="zh-CN" dirty="0">
                <a:sym typeface="Symbol" panose="05050102010706020507" pitchFamily="18" charset="2"/>
              </a:rPr>
              <a:t>1</a:t>
            </a:r>
            <a:r>
              <a:rPr lang="zh-CN" altLang="en-US" dirty="0">
                <a:sym typeface="Symbol" panose="05050102010706020507" pitchFamily="18" charset="2"/>
              </a:rPr>
              <a:t>位奇偶校验是最简单、最基础的检错码</a:t>
            </a:r>
            <a:endParaRPr lang="en-US" altLang="zh-CN" dirty="0">
              <a:sym typeface="Symbol" panose="05050102010706020507" pitchFamily="18" charset="2"/>
            </a:endParaRPr>
          </a:p>
          <a:p>
            <a:pPr lvl="1">
              <a:lnSpc>
                <a:spcPts val="4300"/>
              </a:lnSpc>
              <a:spcBef>
                <a:spcPts val="1200"/>
              </a:spcBef>
            </a:pPr>
            <a:r>
              <a:rPr lang="zh-CN" altLang="en-US" dirty="0">
                <a:solidFill>
                  <a:srgbClr val="C00000"/>
                </a:solidFill>
                <a:sym typeface="Symbol" panose="05050102010706020507" pitchFamily="18" charset="2"/>
              </a:rPr>
              <a:t>校验和</a:t>
            </a:r>
            <a:r>
              <a:rPr lang="en-US" altLang="zh-CN" dirty="0">
                <a:sym typeface="Symbol" panose="05050102010706020507" pitchFamily="18" charset="2"/>
              </a:rPr>
              <a:t> (Checksum)</a:t>
            </a:r>
            <a:r>
              <a:rPr lang="zh-CN" altLang="en-US" dirty="0">
                <a:sym typeface="Symbol" panose="05050102010706020507" pitchFamily="18" charset="2"/>
              </a:rPr>
              <a:t>：主要用于</a:t>
            </a:r>
            <a:r>
              <a:rPr lang="en-US" altLang="zh-CN" dirty="0">
                <a:sym typeface="Symbol" panose="05050102010706020507" pitchFamily="18" charset="2"/>
              </a:rPr>
              <a:t>TCP/IP</a:t>
            </a:r>
            <a:r>
              <a:rPr lang="zh-CN" altLang="en-US" dirty="0">
                <a:sym typeface="Symbol" panose="05050102010706020507" pitchFamily="18" charset="2"/>
              </a:rPr>
              <a:t>体系中的</a:t>
            </a:r>
            <a:r>
              <a:rPr lang="zh-CN" altLang="en-US" dirty="0">
                <a:highlight>
                  <a:srgbClr val="FFFF00"/>
                </a:highlight>
                <a:sym typeface="Symbol" panose="05050102010706020507" pitchFamily="18" charset="2"/>
              </a:rPr>
              <a:t>网络层和传输层</a:t>
            </a:r>
            <a:endParaRPr lang="en-US" altLang="zh-CN" dirty="0">
              <a:highlight>
                <a:srgbClr val="FFFF00"/>
              </a:highlight>
              <a:sym typeface="Symbol" panose="05050102010706020507" pitchFamily="18" charset="2"/>
            </a:endParaRPr>
          </a:p>
          <a:p>
            <a:pPr lvl="1">
              <a:lnSpc>
                <a:spcPts val="4300"/>
              </a:lnSpc>
              <a:spcBef>
                <a:spcPts val="1200"/>
              </a:spcBef>
            </a:pPr>
            <a:r>
              <a:rPr lang="zh-CN" altLang="en-US" dirty="0">
                <a:solidFill>
                  <a:srgbClr val="C00000"/>
                </a:solidFill>
                <a:sym typeface="Symbol" panose="05050102010706020507" pitchFamily="18" charset="2"/>
              </a:rPr>
              <a:t>循环冗余校验 </a:t>
            </a:r>
            <a:r>
              <a:rPr lang="en-US" altLang="zh-CN" dirty="0">
                <a:sym typeface="Symbol" panose="05050102010706020507" pitchFamily="18" charset="2"/>
              </a:rPr>
              <a:t>(</a:t>
            </a:r>
            <a:r>
              <a:rPr lang="en-US" altLang="zh-CN" dirty="0"/>
              <a:t>Cyclic Redundancy Check</a:t>
            </a:r>
            <a:r>
              <a:rPr lang="zh-CN" altLang="en-US" dirty="0"/>
              <a:t>，</a:t>
            </a:r>
            <a:r>
              <a:rPr lang="en-US" altLang="zh-CN" dirty="0"/>
              <a:t>CRC)</a:t>
            </a:r>
            <a:r>
              <a:rPr lang="zh-CN" altLang="en-US" dirty="0"/>
              <a:t>：</a:t>
            </a:r>
            <a:r>
              <a:rPr lang="zh-CN" altLang="en-US" dirty="0">
                <a:highlight>
                  <a:srgbClr val="FFFF00"/>
                </a:highlight>
              </a:rPr>
              <a:t>数据链路层</a:t>
            </a:r>
            <a:r>
              <a:rPr lang="zh-CN" altLang="en-US" dirty="0"/>
              <a:t>广泛使用的校验方法</a:t>
            </a:r>
            <a:endParaRPr lang="en-US" altLang="zh-CN" dirty="0">
              <a:sym typeface="Symbol" panose="05050102010706020507" pitchFamily="18" charset="2"/>
            </a:endParaRPr>
          </a:p>
          <a:p>
            <a:pPr marL="457200" lvl="1" indent="0">
              <a:lnSpc>
                <a:spcPts val="3800"/>
              </a:lnSpc>
              <a:buNone/>
            </a:pPr>
            <a:endParaRPr lang="zh-CN" altLang="en-US" dirty="0">
              <a:sym typeface="Symbol" panose="05050102010706020507" pitchFamily="18" charset="2"/>
            </a:endParaRPr>
          </a:p>
        </p:txBody>
      </p:sp>
      <p:sp>
        <p:nvSpPr>
          <p:cNvPr id="4" name="文本框 3">
            <a:extLst>
              <a:ext uri="{FF2B5EF4-FFF2-40B4-BE49-F238E27FC236}">
                <a16:creationId xmlns:a16="http://schemas.microsoft.com/office/drawing/2014/main" id="{082CC463-A981-4E7E-8F03-FAA795786BD7}"/>
              </a:ext>
            </a:extLst>
          </p:cNvPr>
          <p:cNvSpPr txBox="1"/>
          <p:nvPr/>
        </p:nvSpPr>
        <p:spPr>
          <a:xfrm>
            <a:off x="102036" y="6434725"/>
            <a:ext cx="3051654"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3.2 </a:t>
            </a:r>
            <a:r>
              <a:rPr lang="zh-CN" altLang="en-US" dirty="0">
                <a:solidFill>
                  <a:schemeClr val="bg1">
                    <a:lumMod val="65000"/>
                  </a:schemeClr>
                </a:solidFill>
                <a:latin typeface="微软雅黑" panose="020B0503020204020204" pitchFamily="34" charset="-122"/>
                <a:ea typeface="微软雅黑" panose="020B0503020204020204" pitchFamily="34" charset="-122"/>
              </a:rPr>
              <a:t>差错检测和纠正</a:t>
            </a:r>
          </a:p>
        </p:txBody>
      </p:sp>
    </p:spTree>
    <p:extLst>
      <p:ext uri="{BB962C8B-B14F-4D97-AF65-F5344CB8AC3E}">
        <p14:creationId xmlns:p14="http://schemas.microsoft.com/office/powerpoint/2010/main" val="392920148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宋体" panose="02010600030101010101" pitchFamily="2" charset="-122"/>
              </a:rPr>
              <a:t>典型检错码</a:t>
            </a:r>
            <a:r>
              <a:rPr kumimoji="1" lang="en-US" altLang="zh-CN" sz="3200" dirty="0"/>
              <a:t>—</a:t>
            </a:r>
            <a:r>
              <a:rPr kumimoji="1" lang="zh-CN" altLang="en-US" sz="3200" dirty="0">
                <a:solidFill>
                  <a:schemeClr val="accent1">
                    <a:lumMod val="75000"/>
                  </a:schemeClr>
                </a:solidFill>
              </a:rPr>
              <a:t>奇偶校验</a:t>
            </a:r>
            <a:endParaRPr kumimoji="1" lang="zh-CN" altLang="en-US" sz="3200" dirty="0"/>
          </a:p>
        </p:txBody>
      </p:sp>
      <p:sp>
        <p:nvSpPr>
          <p:cNvPr id="3" name="内容占位符 2"/>
          <p:cNvSpPr>
            <a:spLocks noGrp="1"/>
          </p:cNvSpPr>
          <p:nvPr>
            <p:ph idx="1"/>
          </p:nvPr>
        </p:nvSpPr>
        <p:spPr>
          <a:xfrm>
            <a:off x="838200" y="1384300"/>
            <a:ext cx="10617200" cy="594625"/>
          </a:xfrm>
        </p:spPr>
        <p:txBody>
          <a:bodyPr>
            <a:noAutofit/>
          </a:bodyPr>
          <a:lstStyle/>
          <a:p>
            <a:pPr>
              <a:lnSpc>
                <a:spcPts val="3800"/>
              </a:lnSpc>
            </a:pPr>
            <a:r>
              <a:rPr kumimoji="1" lang="en-US" altLang="zh-CN" dirty="0"/>
              <a:t>1</a:t>
            </a:r>
            <a:r>
              <a:rPr kumimoji="1" lang="zh-CN" altLang="en-US" dirty="0"/>
              <a:t>位奇偶校验：增加</a:t>
            </a:r>
            <a:r>
              <a:rPr kumimoji="1" lang="en-US" altLang="zh-CN" dirty="0"/>
              <a:t>1</a:t>
            </a:r>
            <a:r>
              <a:rPr kumimoji="1" lang="zh-CN" altLang="en-US" dirty="0"/>
              <a:t>位校验位，</a:t>
            </a:r>
            <a:r>
              <a:rPr lang="zh-CN" altLang="en-US" dirty="0">
                <a:solidFill>
                  <a:srgbClr val="C00000"/>
                </a:solidFill>
              </a:rPr>
              <a:t>可以检查奇数位错误</a:t>
            </a:r>
            <a:endParaRPr kumimoji="1" lang="en-US" altLang="zh-CN" dirty="0">
              <a:solidFill>
                <a:srgbClr val="C00000"/>
              </a:solidFill>
            </a:endParaRPr>
          </a:p>
        </p:txBody>
      </p:sp>
      <p:sp>
        <p:nvSpPr>
          <p:cNvPr id="4" name="幻灯片编号占位符 3"/>
          <p:cNvSpPr>
            <a:spLocks noGrp="1"/>
          </p:cNvSpPr>
          <p:nvPr>
            <p:ph type="sldNum" sz="quarter" idx="12"/>
          </p:nvPr>
        </p:nvSpPr>
        <p:spPr/>
        <p:txBody>
          <a:bodyPr/>
          <a:lstStyle/>
          <a:p>
            <a:fld id="{8D4D1E41-7A09-AB4A-A4E1-09765ADA2698}" type="slidenum">
              <a:rPr kumimoji="1" lang="zh-CN" altLang="en-US" smtClean="0"/>
              <a:t>39</a:t>
            </a:fld>
            <a:endParaRPr kumimoji="1" lang="zh-CN" altLang="en-US" dirty="0"/>
          </a:p>
        </p:txBody>
      </p:sp>
      <p:sp>
        <p:nvSpPr>
          <p:cNvPr id="5" name="文本框 4">
            <a:extLst>
              <a:ext uri="{FF2B5EF4-FFF2-40B4-BE49-F238E27FC236}">
                <a16:creationId xmlns:a16="http://schemas.microsoft.com/office/drawing/2014/main" id="{082CC463-A981-4E7E-8F03-FAA795786BD7}"/>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3.2 </a:t>
            </a:r>
            <a:r>
              <a:rPr lang="zh-CN" altLang="en-US" dirty="0">
                <a:solidFill>
                  <a:schemeClr val="bg1">
                    <a:lumMod val="65000"/>
                  </a:schemeClr>
                </a:solidFill>
                <a:latin typeface="微软雅黑" panose="020B0503020204020204" pitchFamily="34" charset="-122"/>
                <a:ea typeface="微软雅黑" panose="020B0503020204020204" pitchFamily="34" charset="-122"/>
              </a:rPr>
              <a:t>差错检测和纠正</a:t>
            </a:r>
          </a:p>
        </p:txBody>
      </p:sp>
      <p:graphicFrame>
        <p:nvGraphicFramePr>
          <p:cNvPr id="10" name="表格 9"/>
          <p:cNvGraphicFramePr>
            <a:graphicFrameLocks noGrp="1"/>
          </p:cNvGraphicFramePr>
          <p:nvPr/>
        </p:nvGraphicFramePr>
        <p:xfrm>
          <a:off x="2228815" y="2815083"/>
          <a:ext cx="3680664" cy="472211"/>
        </p:xfrm>
        <a:graphic>
          <a:graphicData uri="http://schemas.openxmlformats.org/drawingml/2006/table">
            <a:tbl>
              <a:tblPr firstRow="1" bandRow="1">
                <a:tableStyleId>{5C22544A-7EE6-4342-B048-85BDC9FD1C3A}</a:tableStyleId>
              </a:tblPr>
              <a:tblGrid>
                <a:gridCol w="460083">
                  <a:extLst>
                    <a:ext uri="{9D8B030D-6E8A-4147-A177-3AD203B41FA5}">
                      <a16:colId xmlns:a16="http://schemas.microsoft.com/office/drawing/2014/main" val="3044174629"/>
                    </a:ext>
                  </a:extLst>
                </a:gridCol>
                <a:gridCol w="460083">
                  <a:extLst>
                    <a:ext uri="{9D8B030D-6E8A-4147-A177-3AD203B41FA5}">
                      <a16:colId xmlns:a16="http://schemas.microsoft.com/office/drawing/2014/main" val="2089325296"/>
                    </a:ext>
                  </a:extLst>
                </a:gridCol>
                <a:gridCol w="460083">
                  <a:extLst>
                    <a:ext uri="{9D8B030D-6E8A-4147-A177-3AD203B41FA5}">
                      <a16:colId xmlns:a16="http://schemas.microsoft.com/office/drawing/2014/main" val="3979609783"/>
                    </a:ext>
                  </a:extLst>
                </a:gridCol>
                <a:gridCol w="460083">
                  <a:extLst>
                    <a:ext uri="{9D8B030D-6E8A-4147-A177-3AD203B41FA5}">
                      <a16:colId xmlns:a16="http://schemas.microsoft.com/office/drawing/2014/main" val="1270467655"/>
                    </a:ext>
                  </a:extLst>
                </a:gridCol>
                <a:gridCol w="460083">
                  <a:extLst>
                    <a:ext uri="{9D8B030D-6E8A-4147-A177-3AD203B41FA5}">
                      <a16:colId xmlns:a16="http://schemas.microsoft.com/office/drawing/2014/main" val="3229848189"/>
                    </a:ext>
                  </a:extLst>
                </a:gridCol>
                <a:gridCol w="460083">
                  <a:extLst>
                    <a:ext uri="{9D8B030D-6E8A-4147-A177-3AD203B41FA5}">
                      <a16:colId xmlns:a16="http://schemas.microsoft.com/office/drawing/2014/main" val="647982207"/>
                    </a:ext>
                  </a:extLst>
                </a:gridCol>
                <a:gridCol w="460083">
                  <a:extLst>
                    <a:ext uri="{9D8B030D-6E8A-4147-A177-3AD203B41FA5}">
                      <a16:colId xmlns:a16="http://schemas.microsoft.com/office/drawing/2014/main" val="614755695"/>
                    </a:ext>
                  </a:extLst>
                </a:gridCol>
                <a:gridCol w="460083">
                  <a:extLst>
                    <a:ext uri="{9D8B030D-6E8A-4147-A177-3AD203B41FA5}">
                      <a16:colId xmlns:a16="http://schemas.microsoft.com/office/drawing/2014/main" val="3059093890"/>
                    </a:ext>
                  </a:extLst>
                </a:gridCol>
              </a:tblGrid>
              <a:tr h="472211">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6416494"/>
                  </a:ext>
                </a:extLst>
              </a:tr>
            </a:tbl>
          </a:graphicData>
        </a:graphic>
      </p:graphicFrame>
      <p:sp>
        <p:nvSpPr>
          <p:cNvPr id="11" name="文本框 10"/>
          <p:cNvSpPr txBox="1"/>
          <p:nvPr/>
        </p:nvSpPr>
        <p:spPr>
          <a:xfrm>
            <a:off x="5490073" y="2926495"/>
            <a:ext cx="340262" cy="307264"/>
          </a:xfrm>
          <a:prstGeom prst="rect">
            <a:avLst/>
          </a:prstGeom>
          <a:solidFill>
            <a:schemeClr val="bg1"/>
          </a:solidFill>
        </p:spPr>
        <p:txBody>
          <a:bodyPr wrap="square" rtlCol="0" anchor="ctr">
            <a:spAutoFit/>
          </a:bodyPr>
          <a:lstStyle/>
          <a:p>
            <a:pPr algn="ctr">
              <a:lnSpc>
                <a:spcPts val="1600"/>
              </a:lnSpc>
            </a:pPr>
            <a:r>
              <a:rPr lang="en-US" altLang="zh-CN" sz="2000" dirty="0">
                <a:solidFill>
                  <a:srgbClr val="FF0000"/>
                </a:solidFill>
                <a:latin typeface="微软雅黑" panose="020B0503020204020204" pitchFamily="34" charset="-122"/>
                <a:ea typeface="微软雅黑" panose="020B0503020204020204" pitchFamily="34" charset="-122"/>
              </a:rPr>
              <a:t>0</a:t>
            </a:r>
            <a:endParaRPr lang="zh-CN" altLang="en-US" sz="2000" dirty="0">
              <a:solidFill>
                <a:srgbClr val="FF0000"/>
              </a:solidFill>
              <a:latin typeface="微软雅黑" panose="020B0503020204020204" pitchFamily="34" charset="-122"/>
              <a:ea typeface="微软雅黑" panose="020B0503020204020204" pitchFamily="34" charset="-122"/>
            </a:endParaRPr>
          </a:p>
        </p:txBody>
      </p:sp>
      <p:graphicFrame>
        <p:nvGraphicFramePr>
          <p:cNvPr id="13" name="表格 12"/>
          <p:cNvGraphicFramePr>
            <a:graphicFrameLocks noGrp="1"/>
          </p:cNvGraphicFramePr>
          <p:nvPr/>
        </p:nvGraphicFramePr>
        <p:xfrm>
          <a:off x="2228815" y="4871884"/>
          <a:ext cx="3680664" cy="472211"/>
        </p:xfrm>
        <a:graphic>
          <a:graphicData uri="http://schemas.openxmlformats.org/drawingml/2006/table">
            <a:tbl>
              <a:tblPr firstRow="1" bandRow="1">
                <a:tableStyleId>{5C22544A-7EE6-4342-B048-85BDC9FD1C3A}</a:tableStyleId>
              </a:tblPr>
              <a:tblGrid>
                <a:gridCol w="460083">
                  <a:extLst>
                    <a:ext uri="{9D8B030D-6E8A-4147-A177-3AD203B41FA5}">
                      <a16:colId xmlns:a16="http://schemas.microsoft.com/office/drawing/2014/main" val="3044174629"/>
                    </a:ext>
                  </a:extLst>
                </a:gridCol>
                <a:gridCol w="460083">
                  <a:extLst>
                    <a:ext uri="{9D8B030D-6E8A-4147-A177-3AD203B41FA5}">
                      <a16:colId xmlns:a16="http://schemas.microsoft.com/office/drawing/2014/main" val="2089325296"/>
                    </a:ext>
                  </a:extLst>
                </a:gridCol>
                <a:gridCol w="460083">
                  <a:extLst>
                    <a:ext uri="{9D8B030D-6E8A-4147-A177-3AD203B41FA5}">
                      <a16:colId xmlns:a16="http://schemas.microsoft.com/office/drawing/2014/main" val="3979609783"/>
                    </a:ext>
                  </a:extLst>
                </a:gridCol>
                <a:gridCol w="460083">
                  <a:extLst>
                    <a:ext uri="{9D8B030D-6E8A-4147-A177-3AD203B41FA5}">
                      <a16:colId xmlns:a16="http://schemas.microsoft.com/office/drawing/2014/main" val="1270467655"/>
                    </a:ext>
                  </a:extLst>
                </a:gridCol>
                <a:gridCol w="460083">
                  <a:extLst>
                    <a:ext uri="{9D8B030D-6E8A-4147-A177-3AD203B41FA5}">
                      <a16:colId xmlns:a16="http://schemas.microsoft.com/office/drawing/2014/main" val="3229848189"/>
                    </a:ext>
                  </a:extLst>
                </a:gridCol>
                <a:gridCol w="460083">
                  <a:extLst>
                    <a:ext uri="{9D8B030D-6E8A-4147-A177-3AD203B41FA5}">
                      <a16:colId xmlns:a16="http://schemas.microsoft.com/office/drawing/2014/main" val="647982207"/>
                    </a:ext>
                  </a:extLst>
                </a:gridCol>
                <a:gridCol w="460083">
                  <a:extLst>
                    <a:ext uri="{9D8B030D-6E8A-4147-A177-3AD203B41FA5}">
                      <a16:colId xmlns:a16="http://schemas.microsoft.com/office/drawing/2014/main" val="614755695"/>
                    </a:ext>
                  </a:extLst>
                </a:gridCol>
                <a:gridCol w="460083">
                  <a:extLst>
                    <a:ext uri="{9D8B030D-6E8A-4147-A177-3AD203B41FA5}">
                      <a16:colId xmlns:a16="http://schemas.microsoft.com/office/drawing/2014/main" val="3059093890"/>
                    </a:ext>
                  </a:extLst>
                </a:gridCol>
              </a:tblGrid>
              <a:tr h="472211">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6416494"/>
                  </a:ext>
                </a:extLst>
              </a:tr>
            </a:tbl>
          </a:graphicData>
        </a:graphic>
      </p:graphicFrame>
      <p:sp>
        <p:nvSpPr>
          <p:cNvPr id="14" name="文本框 13"/>
          <p:cNvSpPr txBox="1"/>
          <p:nvPr/>
        </p:nvSpPr>
        <p:spPr>
          <a:xfrm>
            <a:off x="5490073" y="4983296"/>
            <a:ext cx="340262" cy="307264"/>
          </a:xfrm>
          <a:prstGeom prst="rect">
            <a:avLst/>
          </a:prstGeom>
          <a:solidFill>
            <a:schemeClr val="bg1"/>
          </a:solidFill>
        </p:spPr>
        <p:txBody>
          <a:bodyPr wrap="square" rtlCol="0" anchor="ctr">
            <a:spAutoFit/>
          </a:bodyPr>
          <a:lstStyle/>
          <a:p>
            <a:pPr algn="ctr">
              <a:lnSpc>
                <a:spcPts val="1600"/>
              </a:lnSpc>
            </a:pPr>
            <a:r>
              <a:rPr lang="en-US" altLang="zh-CN" sz="2000" dirty="0">
                <a:solidFill>
                  <a:srgbClr val="FF0000"/>
                </a:solidFill>
                <a:latin typeface="微软雅黑" panose="020B0503020204020204" pitchFamily="34" charset="-122"/>
                <a:ea typeface="微软雅黑" panose="020B0503020204020204" pitchFamily="34" charset="-122"/>
              </a:rPr>
              <a:t>1</a:t>
            </a:r>
            <a:endParaRPr lang="zh-CN" altLang="en-US" sz="2000" dirty="0">
              <a:solidFill>
                <a:srgbClr val="FF0000"/>
              </a:solidFill>
              <a:latin typeface="微软雅黑" panose="020B0503020204020204" pitchFamily="34" charset="-122"/>
              <a:ea typeface="微软雅黑" panose="020B0503020204020204" pitchFamily="34" charset="-122"/>
            </a:endParaRPr>
          </a:p>
        </p:txBody>
      </p:sp>
      <p:sp>
        <p:nvSpPr>
          <p:cNvPr id="15" name="内容占位符 2"/>
          <p:cNvSpPr txBox="1">
            <a:spLocks/>
          </p:cNvSpPr>
          <p:nvPr/>
        </p:nvSpPr>
        <p:spPr>
          <a:xfrm>
            <a:off x="799439" y="2046626"/>
            <a:ext cx="10617200" cy="618328"/>
          </a:xfrm>
          <a:prstGeom prst="rect">
            <a:avLst/>
          </a:prstGeom>
        </p:spPr>
        <p:txBody>
          <a:bodyPr vert="horz" lIns="91440" tIns="45720" rIns="91440" bIns="45720" rtlCol="0">
            <a:noAutofit/>
          </a:bodyPr>
          <a:lstStyle>
            <a:lvl1pPr marL="360363" indent="-360363" algn="l" defTabSz="914400" rtl="0" eaLnBrk="1" latinLnBrk="0" hangingPunct="1">
              <a:lnSpc>
                <a:spcPct val="100000"/>
              </a:lnSpc>
              <a:spcBef>
                <a:spcPts val="600"/>
              </a:spcBef>
              <a:buFont typeface="Wingdings" pitchFamily="2" charset="2"/>
              <a:buChar char="Ø"/>
              <a:tabLst/>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ts val="3800"/>
              </a:lnSpc>
            </a:pPr>
            <a:r>
              <a:rPr kumimoji="1" lang="zh-CN" altLang="en-US" dirty="0"/>
              <a:t>偶校验：保证</a:t>
            </a:r>
            <a:r>
              <a:rPr kumimoji="1" lang="en-US" altLang="zh-CN" dirty="0"/>
              <a:t>1</a:t>
            </a:r>
            <a:r>
              <a:rPr kumimoji="1" lang="zh-CN" altLang="en-US" dirty="0"/>
              <a:t>的个数为偶数个，例如：</a:t>
            </a:r>
            <a:endParaRPr kumimoji="1" lang="en-US" altLang="zh-CN" dirty="0"/>
          </a:p>
        </p:txBody>
      </p:sp>
      <p:sp>
        <p:nvSpPr>
          <p:cNvPr id="17" name="内容占位符 2"/>
          <p:cNvSpPr txBox="1">
            <a:spLocks/>
          </p:cNvSpPr>
          <p:nvPr/>
        </p:nvSpPr>
        <p:spPr>
          <a:xfrm>
            <a:off x="809767" y="4110483"/>
            <a:ext cx="10617200" cy="571710"/>
          </a:xfrm>
          <a:prstGeom prst="rect">
            <a:avLst/>
          </a:prstGeom>
        </p:spPr>
        <p:txBody>
          <a:bodyPr vert="horz" lIns="91440" tIns="45720" rIns="91440" bIns="45720" rtlCol="0">
            <a:noAutofit/>
          </a:bodyPr>
          <a:lstStyle>
            <a:lvl1pPr marL="360363" indent="-360363" algn="l" defTabSz="914400" rtl="0" eaLnBrk="1" latinLnBrk="0" hangingPunct="1">
              <a:lnSpc>
                <a:spcPct val="100000"/>
              </a:lnSpc>
              <a:spcBef>
                <a:spcPts val="600"/>
              </a:spcBef>
              <a:buFont typeface="Wingdings" pitchFamily="2" charset="2"/>
              <a:buChar char="Ø"/>
              <a:tabLst/>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ts val="3800"/>
              </a:lnSpc>
            </a:pPr>
            <a:r>
              <a:rPr kumimoji="1" lang="zh-CN" altLang="en-US" dirty="0"/>
              <a:t>奇校验：保证</a:t>
            </a:r>
            <a:r>
              <a:rPr kumimoji="1" lang="en-US" altLang="zh-CN" dirty="0"/>
              <a:t>1</a:t>
            </a:r>
            <a:r>
              <a:rPr kumimoji="1" lang="zh-CN" altLang="en-US" dirty="0"/>
              <a:t>的个数为奇数个，例如：</a:t>
            </a:r>
            <a:endParaRPr kumimoji="1" lang="en-US" altLang="zh-CN" dirty="0"/>
          </a:p>
        </p:txBody>
      </p:sp>
      <p:grpSp>
        <p:nvGrpSpPr>
          <p:cNvPr id="31" name="组合 30"/>
          <p:cNvGrpSpPr/>
          <p:nvPr/>
        </p:nvGrpSpPr>
        <p:grpSpPr>
          <a:xfrm>
            <a:off x="2228814" y="3343933"/>
            <a:ext cx="4156163" cy="781137"/>
            <a:chOff x="2228814" y="3343933"/>
            <a:chExt cx="4156163" cy="781137"/>
          </a:xfrm>
        </p:grpSpPr>
        <p:sp>
          <p:nvSpPr>
            <p:cNvPr id="21" name="右大括号 20"/>
            <p:cNvSpPr/>
            <p:nvPr/>
          </p:nvSpPr>
          <p:spPr>
            <a:xfrm rot="16200000" flipH="1">
              <a:off x="3650532" y="1922216"/>
              <a:ext cx="318616" cy="3162051"/>
            </a:xfrm>
            <a:prstGeom prst="rightBrace">
              <a:avLst>
                <a:gd name="adj1" fmla="val 31916"/>
                <a:gd name="adj2" fmla="val 51618"/>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2" name="文本框 21"/>
            <p:cNvSpPr txBox="1"/>
            <p:nvPr/>
          </p:nvSpPr>
          <p:spPr>
            <a:xfrm>
              <a:off x="3126011" y="3724262"/>
              <a:ext cx="1449546" cy="400110"/>
            </a:xfrm>
            <a:prstGeom prst="rect">
              <a:avLst/>
            </a:prstGeom>
            <a:noFill/>
          </p:spPr>
          <p:txBody>
            <a:bodyPr wrap="square" rtlCol="0">
              <a:spAutoFit/>
            </a:bodyPr>
            <a:lstStyle/>
            <a:p>
              <a:pPr algn="ctr"/>
              <a:r>
                <a:rPr lang="zh-CN" altLang="en-US" sz="2000" dirty="0">
                  <a:latin typeface="微软雅黑" panose="020B0503020204020204" pitchFamily="34" charset="-122"/>
                  <a:ea typeface="微软雅黑" panose="020B0503020204020204" pitchFamily="34" charset="-122"/>
                </a:rPr>
                <a:t>数据位</a:t>
              </a:r>
            </a:p>
          </p:txBody>
        </p:sp>
        <p:cxnSp>
          <p:nvCxnSpPr>
            <p:cNvPr id="26" name="直接箭头连接符 25"/>
            <p:cNvCxnSpPr/>
            <p:nvPr/>
          </p:nvCxnSpPr>
          <p:spPr>
            <a:xfrm flipV="1">
              <a:off x="5660204" y="3343933"/>
              <a:ext cx="0" cy="3186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a:xfrm>
              <a:off x="4935431" y="3724960"/>
              <a:ext cx="1449546" cy="400110"/>
            </a:xfrm>
            <a:prstGeom prst="rect">
              <a:avLst/>
            </a:prstGeom>
            <a:noFill/>
          </p:spPr>
          <p:txBody>
            <a:bodyPr wrap="square" rtlCol="0">
              <a:spAutoFit/>
            </a:bodyPr>
            <a:lstStyle/>
            <a:p>
              <a:pPr algn="ctr"/>
              <a:r>
                <a:rPr lang="zh-CN" altLang="en-US" sz="2000" dirty="0">
                  <a:latin typeface="微软雅黑" panose="020B0503020204020204" pitchFamily="34" charset="-122"/>
                  <a:ea typeface="微软雅黑" panose="020B0503020204020204" pitchFamily="34" charset="-122"/>
                </a:rPr>
                <a:t>校验位</a:t>
              </a:r>
            </a:p>
          </p:txBody>
        </p:sp>
      </p:grpSp>
      <p:grpSp>
        <p:nvGrpSpPr>
          <p:cNvPr id="32" name="组合 31"/>
          <p:cNvGrpSpPr/>
          <p:nvPr/>
        </p:nvGrpSpPr>
        <p:grpSpPr>
          <a:xfrm>
            <a:off x="2269758" y="5389018"/>
            <a:ext cx="4115219" cy="793532"/>
            <a:chOff x="2269758" y="5389018"/>
            <a:chExt cx="4115219" cy="793532"/>
          </a:xfrm>
        </p:grpSpPr>
        <p:sp>
          <p:nvSpPr>
            <p:cNvPr id="18" name="右大括号 17"/>
            <p:cNvSpPr/>
            <p:nvPr/>
          </p:nvSpPr>
          <p:spPr>
            <a:xfrm rot="16200000" flipH="1">
              <a:off x="3691476" y="3980056"/>
              <a:ext cx="318616" cy="3162051"/>
            </a:xfrm>
            <a:prstGeom prst="rightBrace">
              <a:avLst>
                <a:gd name="adj1" fmla="val 31916"/>
                <a:gd name="adj2" fmla="val 51618"/>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0" name="文本框 19"/>
            <p:cNvSpPr txBox="1"/>
            <p:nvPr/>
          </p:nvSpPr>
          <p:spPr>
            <a:xfrm>
              <a:off x="3166955" y="5782440"/>
              <a:ext cx="1449546" cy="400110"/>
            </a:xfrm>
            <a:prstGeom prst="rect">
              <a:avLst/>
            </a:prstGeom>
            <a:noFill/>
          </p:spPr>
          <p:txBody>
            <a:bodyPr wrap="square" rtlCol="0">
              <a:spAutoFit/>
            </a:bodyPr>
            <a:lstStyle/>
            <a:p>
              <a:pPr algn="ctr"/>
              <a:r>
                <a:rPr lang="zh-CN" altLang="en-US" sz="2000" dirty="0">
                  <a:latin typeface="微软雅黑" panose="020B0503020204020204" pitchFamily="34" charset="-122"/>
                  <a:ea typeface="微软雅黑" panose="020B0503020204020204" pitchFamily="34" charset="-122"/>
                </a:rPr>
                <a:t>数据位</a:t>
              </a:r>
            </a:p>
          </p:txBody>
        </p:sp>
        <p:cxnSp>
          <p:nvCxnSpPr>
            <p:cNvPr id="29" name="直接箭头连接符 28"/>
            <p:cNvCxnSpPr/>
            <p:nvPr/>
          </p:nvCxnSpPr>
          <p:spPr>
            <a:xfrm flipV="1">
              <a:off x="5660204" y="5389018"/>
              <a:ext cx="0" cy="3186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文本框 29"/>
            <p:cNvSpPr txBox="1"/>
            <p:nvPr/>
          </p:nvSpPr>
          <p:spPr>
            <a:xfrm>
              <a:off x="4935431" y="5770045"/>
              <a:ext cx="1449546" cy="400110"/>
            </a:xfrm>
            <a:prstGeom prst="rect">
              <a:avLst/>
            </a:prstGeom>
            <a:noFill/>
          </p:spPr>
          <p:txBody>
            <a:bodyPr wrap="square" rtlCol="0">
              <a:spAutoFit/>
            </a:bodyPr>
            <a:lstStyle/>
            <a:p>
              <a:pPr algn="ctr"/>
              <a:r>
                <a:rPr lang="zh-CN" altLang="en-US" sz="2000" dirty="0">
                  <a:latin typeface="微软雅黑" panose="020B0503020204020204" pitchFamily="34" charset="-122"/>
                  <a:ea typeface="微软雅黑" panose="020B0503020204020204" pitchFamily="34" charset="-122"/>
                </a:rPr>
                <a:t>校验位</a:t>
              </a:r>
            </a:p>
          </p:txBody>
        </p:sp>
      </p:grpSp>
      <p:sp>
        <p:nvSpPr>
          <p:cNvPr id="33" name="文本框 32"/>
          <p:cNvSpPr txBox="1"/>
          <p:nvPr/>
        </p:nvSpPr>
        <p:spPr>
          <a:xfrm>
            <a:off x="7707110" y="3311778"/>
            <a:ext cx="3844542" cy="1027333"/>
          </a:xfrm>
          <a:prstGeom prst="rect">
            <a:avLst/>
          </a:prstGeom>
          <a:noFill/>
          <a:ln>
            <a:solidFill>
              <a:srgbClr val="00B0F0"/>
            </a:solidFill>
          </a:ln>
        </p:spPr>
        <p:txBody>
          <a:bodyPr wrap="square" rtlCol="0" anchor="ctr">
            <a:spAutoFit/>
          </a:bodyPr>
          <a:lstStyle/>
          <a:p>
            <a:pPr algn="ctr">
              <a:lnSpc>
                <a:spcPts val="3800"/>
              </a:lnSpc>
            </a:pPr>
            <a:r>
              <a:rPr lang="zh-CN" altLang="en-US" sz="2400" dirty="0">
                <a:solidFill>
                  <a:srgbClr val="C00000"/>
                </a:solidFill>
              </a:rPr>
              <a:t>考虑二维奇偶校验，是否可以进行纠错？</a:t>
            </a:r>
            <a:endParaRPr lang="en-US" altLang="zh-CN" sz="2400" dirty="0">
              <a:solidFill>
                <a:srgbClr val="C00000"/>
              </a:solidFill>
            </a:endParaRPr>
          </a:p>
        </p:txBody>
      </p:sp>
    </p:spTree>
    <p:extLst>
      <p:ext uri="{BB962C8B-B14F-4D97-AF65-F5344CB8AC3E}">
        <p14:creationId xmlns:p14="http://schemas.microsoft.com/office/powerpoint/2010/main" val="3488044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500" fill="hold"/>
                                        <p:tgtEl>
                                          <p:spTgt spid="11"/>
                                        </p:tgtEl>
                                        <p:attrNameLst>
                                          <p:attrName>ppt_x</p:attrName>
                                        </p:attrNameLst>
                                      </p:cBhvr>
                                      <p:tavLst>
                                        <p:tav tm="0">
                                          <p:val>
                                            <p:strVal val="1+#ppt_w/2"/>
                                          </p:val>
                                        </p:tav>
                                        <p:tav tm="100000">
                                          <p:val>
                                            <p:strVal val="#ppt_x"/>
                                          </p:val>
                                        </p:tav>
                                      </p:tavLst>
                                    </p:anim>
                                    <p:anim calcmode="lin" valueType="num">
                                      <p:cBhvr additive="base">
                                        <p:cTn id="18"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 presetClass="entr" presetSubtype="2" fill="hold" grpId="0" nodeType="clickEffect">
                                  <p:stCondLst>
                                    <p:cond delay="0"/>
                                  </p:stCondLst>
                                  <p:childTnLst>
                                    <p:set>
                                      <p:cBhvr>
                                        <p:cTn id="32" dur="1" fill="hold">
                                          <p:stCondLst>
                                            <p:cond delay="0"/>
                                          </p:stCondLst>
                                        </p:cTn>
                                        <p:tgtEl>
                                          <p:spTgt spid="14"/>
                                        </p:tgtEl>
                                        <p:attrNameLst>
                                          <p:attrName>style.visibility</p:attrName>
                                        </p:attrNameLst>
                                      </p:cBhvr>
                                      <p:to>
                                        <p:strVal val="visible"/>
                                      </p:to>
                                    </p:set>
                                    <p:anim calcmode="lin" valueType="num">
                                      <p:cBhvr additive="base">
                                        <p:cTn id="33" dur="500" fill="hold"/>
                                        <p:tgtEl>
                                          <p:spTgt spid="14"/>
                                        </p:tgtEl>
                                        <p:attrNameLst>
                                          <p:attrName>ppt_x</p:attrName>
                                        </p:attrNameLst>
                                      </p:cBhvr>
                                      <p:tavLst>
                                        <p:tav tm="0">
                                          <p:val>
                                            <p:strVal val="1+#ppt_w/2"/>
                                          </p:val>
                                        </p:tav>
                                        <p:tav tm="100000">
                                          <p:val>
                                            <p:strVal val="#ppt_x"/>
                                          </p:val>
                                        </p:tav>
                                      </p:tavLst>
                                    </p:anim>
                                    <p:anim calcmode="lin" valueType="num">
                                      <p:cBhvr additive="base">
                                        <p:cTn id="34" dur="5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6" presetClass="entr" presetSubtype="16" fill="hold" grpId="0" nodeType="clickEffect">
                                  <p:stCondLst>
                                    <p:cond delay="0"/>
                                  </p:stCondLst>
                                  <p:childTnLst>
                                    <p:set>
                                      <p:cBhvr>
                                        <p:cTn id="38" dur="1" fill="hold">
                                          <p:stCondLst>
                                            <p:cond delay="0"/>
                                          </p:stCondLst>
                                        </p:cTn>
                                        <p:tgtEl>
                                          <p:spTgt spid="33"/>
                                        </p:tgtEl>
                                        <p:attrNameLst>
                                          <p:attrName>style.visibility</p:attrName>
                                        </p:attrNameLst>
                                      </p:cBhvr>
                                      <p:to>
                                        <p:strVal val="visible"/>
                                      </p:to>
                                    </p:set>
                                    <p:animEffect transition="in" filter="circle(in)">
                                      <p:cBhvr>
                                        <p:cTn id="39" dur="20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4" grpId="0" animBg="1"/>
      <p:bldP spid="15" grpId="0"/>
      <p:bldP spid="17" grpId="0"/>
      <p:bldP spid="33"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latin typeface="宋体" panose="02010600030101010101" pitchFamily="2" charset="-122"/>
              </a:rPr>
              <a:t>典型检错码</a:t>
            </a:r>
            <a:r>
              <a:rPr kumimoji="1" lang="en-US" altLang="zh-CN" sz="3200" dirty="0">
                <a:solidFill>
                  <a:schemeClr val="accent1">
                    <a:lumMod val="75000"/>
                  </a:schemeClr>
                </a:solidFill>
              </a:rPr>
              <a:t>—</a:t>
            </a:r>
            <a:r>
              <a:rPr kumimoji="1" lang="zh-CN" altLang="en-US" sz="3200" dirty="0">
                <a:solidFill>
                  <a:schemeClr val="accent1">
                    <a:lumMod val="75000"/>
                  </a:schemeClr>
                </a:solidFill>
              </a:rPr>
              <a:t>校验和</a:t>
            </a:r>
          </a:p>
        </p:txBody>
      </p:sp>
      <p:sp>
        <p:nvSpPr>
          <p:cNvPr id="3" name="内容占位符 2"/>
          <p:cNvSpPr>
            <a:spLocks noGrp="1"/>
          </p:cNvSpPr>
          <p:nvPr>
            <p:ph idx="1"/>
          </p:nvPr>
        </p:nvSpPr>
        <p:spPr>
          <a:xfrm>
            <a:off x="838200" y="1275680"/>
            <a:ext cx="10591800" cy="687668"/>
          </a:xfrm>
        </p:spPr>
        <p:txBody>
          <a:bodyPr>
            <a:normAutofit/>
          </a:bodyPr>
          <a:lstStyle/>
          <a:p>
            <a:pPr>
              <a:lnSpc>
                <a:spcPct val="150000"/>
              </a:lnSpc>
            </a:pPr>
            <a:r>
              <a:rPr kumimoji="1" lang="en-US" altLang="zh-CN" dirty="0"/>
              <a:t>TCP/IP</a:t>
            </a:r>
            <a:r>
              <a:rPr kumimoji="1" lang="zh-CN" altLang="en-US" dirty="0"/>
              <a:t>体系中主要采用的校验方法</a:t>
            </a:r>
            <a:endParaRPr kumimoji="1" lang="en-US" altLang="zh-CN" dirty="0"/>
          </a:p>
        </p:txBody>
      </p:sp>
      <p:sp>
        <p:nvSpPr>
          <p:cNvPr id="5" name="文本框 4">
            <a:extLst>
              <a:ext uri="{FF2B5EF4-FFF2-40B4-BE49-F238E27FC236}">
                <a16:creationId xmlns:a16="http://schemas.microsoft.com/office/drawing/2014/main" id="{082CC463-A981-4E7E-8F03-FAA795786BD7}"/>
              </a:ext>
            </a:extLst>
          </p:cNvPr>
          <p:cNvSpPr txBox="1"/>
          <p:nvPr/>
        </p:nvSpPr>
        <p:spPr>
          <a:xfrm>
            <a:off x="102036" y="6434725"/>
            <a:ext cx="3051654"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3.2 </a:t>
            </a:r>
            <a:r>
              <a:rPr lang="zh-CN" altLang="en-US" dirty="0">
                <a:solidFill>
                  <a:schemeClr val="bg1">
                    <a:lumMod val="65000"/>
                  </a:schemeClr>
                </a:solidFill>
                <a:latin typeface="微软雅黑" panose="020B0503020204020204" pitchFamily="34" charset="-122"/>
                <a:ea typeface="微软雅黑" panose="020B0503020204020204" pitchFamily="34" charset="-122"/>
              </a:rPr>
              <a:t>差错检测和纠正</a:t>
            </a:r>
          </a:p>
        </p:txBody>
      </p:sp>
      <p:grpSp>
        <p:nvGrpSpPr>
          <p:cNvPr id="4" name="组合 3"/>
          <p:cNvGrpSpPr/>
          <p:nvPr/>
        </p:nvGrpSpPr>
        <p:grpSpPr>
          <a:xfrm>
            <a:off x="961542" y="3669534"/>
            <a:ext cx="4306081" cy="2369880"/>
            <a:chOff x="2744714" y="3986470"/>
            <a:chExt cx="4306081" cy="2369880"/>
          </a:xfrm>
        </p:grpSpPr>
        <p:sp>
          <p:nvSpPr>
            <p:cNvPr id="7" name="Text Box 4">
              <a:extLst>
                <a:ext uri="{FF2B5EF4-FFF2-40B4-BE49-F238E27FC236}">
                  <a16:creationId xmlns:a16="http://schemas.microsoft.com/office/drawing/2014/main" id="{9B174DB8-1FC8-4F43-94D7-56E51904FE8D}"/>
                </a:ext>
              </a:extLst>
            </p:cNvPr>
            <p:cNvSpPr txBox="1">
              <a:spLocks noChangeArrowheads="1"/>
            </p:cNvSpPr>
            <p:nvPr/>
          </p:nvSpPr>
          <p:spPr bwMode="auto">
            <a:xfrm>
              <a:off x="2820914" y="3986470"/>
              <a:ext cx="4229881" cy="236988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type="none" w="sm" len="me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l">
                <a:defRPr/>
              </a:pPr>
              <a:r>
                <a:rPr lang="en-US" sz="2000" b="1" dirty="0">
                  <a:solidFill>
                    <a:schemeClr val="bg1"/>
                  </a:solidFill>
                  <a:latin typeface="微软雅黑" panose="020B0503020204020204" pitchFamily="34" charset="-122"/>
                  <a:ea typeface="微软雅黑" panose="020B0503020204020204" pitchFamily="34" charset="-122"/>
                </a:rPr>
                <a:t>1</a:t>
              </a:r>
              <a:r>
                <a:rPr lang="en-US" sz="2000" b="1" dirty="0">
                  <a:latin typeface="微软雅黑" panose="020B0503020204020204" pitchFamily="34" charset="-122"/>
                  <a:ea typeface="微软雅黑" panose="020B0503020204020204" pitchFamily="34" charset="-122"/>
                </a:rPr>
                <a:t>  1 1 1 0 0 1 1 0 0 1 1 0 0 1 1 0</a:t>
              </a:r>
            </a:p>
            <a:p>
              <a:pPr algn="l">
                <a:defRPr/>
              </a:pPr>
              <a:r>
                <a:rPr lang="en-US" sz="2000" b="1" dirty="0">
                  <a:solidFill>
                    <a:schemeClr val="bg1"/>
                  </a:solidFill>
                  <a:latin typeface="微软雅黑" panose="020B0503020204020204" pitchFamily="34" charset="-122"/>
                  <a:ea typeface="微软雅黑" panose="020B0503020204020204" pitchFamily="34" charset="-122"/>
                </a:rPr>
                <a:t>1</a:t>
              </a:r>
              <a:r>
                <a:rPr lang="en-US" sz="2000" b="1" dirty="0">
                  <a:latin typeface="微软雅黑" panose="020B0503020204020204" pitchFamily="34" charset="-122"/>
                  <a:ea typeface="微软雅黑" panose="020B0503020204020204" pitchFamily="34" charset="-122"/>
                </a:rPr>
                <a:t>  1 1 0 1 0 1 0 1 0 1 0 1 0 1 0 1</a:t>
              </a:r>
            </a:p>
            <a:p>
              <a:pPr algn="l">
                <a:lnSpc>
                  <a:spcPct val="120000"/>
                </a:lnSpc>
                <a:defRPr/>
              </a:pPr>
              <a:endParaRPr lang="en-US" sz="2000" b="1" dirty="0">
                <a:latin typeface="微软雅黑" panose="020B0503020204020204" pitchFamily="34" charset="-122"/>
                <a:ea typeface="微软雅黑" panose="020B0503020204020204" pitchFamily="34" charset="-122"/>
              </a:endParaRPr>
            </a:p>
            <a:p>
              <a:pPr algn="l">
                <a:defRPr/>
              </a:pPr>
              <a:r>
                <a:rPr lang="en-US" sz="2000" b="1" dirty="0">
                  <a:latin typeface="微软雅黑" panose="020B0503020204020204" pitchFamily="34" charset="-122"/>
                  <a:ea typeface="微软雅黑" panose="020B0503020204020204" pitchFamily="34" charset="-122"/>
                </a:rPr>
                <a:t>1  1 0 1 1 1 0 1 1 1 0 1 1 1 0 1 1</a:t>
              </a:r>
            </a:p>
            <a:p>
              <a:pPr algn="l">
                <a:lnSpc>
                  <a:spcPct val="120000"/>
                </a:lnSpc>
                <a:defRPr/>
              </a:pPr>
              <a:endParaRPr lang="en-US" sz="2000" b="1" dirty="0">
                <a:latin typeface="微软雅黑" panose="020B0503020204020204" pitchFamily="34" charset="-122"/>
                <a:ea typeface="微软雅黑" panose="020B0503020204020204" pitchFamily="34" charset="-122"/>
              </a:endParaRPr>
            </a:p>
            <a:p>
              <a:pPr algn="l">
                <a:defRPr/>
              </a:pPr>
              <a:r>
                <a:rPr lang="en-US" sz="2000" b="1" dirty="0">
                  <a:solidFill>
                    <a:schemeClr val="bg1"/>
                  </a:solidFill>
                  <a:latin typeface="微软雅黑" panose="020B0503020204020204" pitchFamily="34" charset="-122"/>
                  <a:ea typeface="微软雅黑" panose="020B0503020204020204" pitchFamily="34" charset="-122"/>
                </a:rPr>
                <a:t>1</a:t>
              </a:r>
              <a:r>
                <a:rPr lang="en-US" sz="2000" b="1" dirty="0">
                  <a:latin typeface="微软雅黑" panose="020B0503020204020204" pitchFamily="34" charset="-122"/>
                  <a:ea typeface="微软雅黑" panose="020B0503020204020204" pitchFamily="34" charset="-122"/>
                </a:rPr>
                <a:t>  1 0 1 1 1 0 1 1 1 0 1 1 1 1 0 0</a:t>
              </a:r>
            </a:p>
            <a:p>
              <a:pPr algn="l">
                <a:defRPr/>
              </a:pPr>
              <a:r>
                <a:rPr lang="en-US" sz="2000" b="1" dirty="0">
                  <a:solidFill>
                    <a:schemeClr val="bg1"/>
                  </a:solidFill>
                  <a:latin typeface="微软雅黑" panose="020B0503020204020204" pitchFamily="34" charset="-122"/>
                  <a:ea typeface="微软雅黑" panose="020B0503020204020204" pitchFamily="34" charset="-122"/>
                </a:rPr>
                <a:t>1</a:t>
              </a:r>
              <a:r>
                <a:rPr lang="en-US" sz="2000" b="1" dirty="0">
                  <a:latin typeface="微软雅黑" panose="020B0503020204020204" pitchFamily="34" charset="-122"/>
                  <a:ea typeface="微软雅黑" panose="020B0503020204020204" pitchFamily="34" charset="-122"/>
                </a:rPr>
                <a:t>  </a:t>
              </a:r>
              <a:r>
                <a:rPr lang="en-US" sz="2000" b="1" dirty="0">
                  <a:solidFill>
                    <a:srgbClr val="C00000"/>
                  </a:solidFill>
                  <a:latin typeface="微软雅黑" panose="020B0503020204020204" pitchFamily="34" charset="-122"/>
                  <a:ea typeface="微软雅黑" panose="020B0503020204020204" pitchFamily="34" charset="-122"/>
                </a:rPr>
                <a:t>0 1 0 0 0 1 0 0 0 1 0 0 0 0 1 1</a:t>
              </a:r>
              <a:endParaRPr lang="en-US" sz="2400" b="1" dirty="0">
                <a:solidFill>
                  <a:srgbClr val="C00000"/>
                </a:solidFill>
                <a:latin typeface="微软雅黑" panose="020B0503020204020204" pitchFamily="34" charset="-122"/>
                <a:ea typeface="微软雅黑" panose="020B0503020204020204" pitchFamily="34" charset="-122"/>
              </a:endParaRPr>
            </a:p>
          </p:txBody>
        </p:sp>
        <p:sp>
          <p:nvSpPr>
            <p:cNvPr id="8" name="Line 5">
              <a:extLst>
                <a:ext uri="{FF2B5EF4-FFF2-40B4-BE49-F238E27FC236}">
                  <a16:creationId xmlns:a16="http://schemas.microsoft.com/office/drawing/2014/main" id="{6B7A5157-C9C5-4E69-8774-15BDEE99D5F1}"/>
                </a:ext>
              </a:extLst>
            </p:cNvPr>
            <p:cNvSpPr>
              <a:spLocks noChangeShapeType="1"/>
            </p:cNvSpPr>
            <p:nvPr/>
          </p:nvSpPr>
          <p:spPr bwMode="auto">
            <a:xfrm flipH="1">
              <a:off x="2744714" y="4813558"/>
              <a:ext cx="4206929" cy="0"/>
            </a:xfrm>
            <a:prstGeom prst="line">
              <a:avLst/>
            </a:prstGeom>
            <a:noFill/>
            <a:ln w="12700">
              <a:solidFill>
                <a:schemeClr val="tx1"/>
              </a:solidFill>
              <a:round/>
              <a:headEnd type="none" w="sm"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微软雅黑" panose="020B0503020204020204" pitchFamily="34" charset="-122"/>
                <a:ea typeface="微软雅黑" panose="020B0503020204020204" pitchFamily="34" charset="-122"/>
              </a:endParaRPr>
            </a:p>
          </p:txBody>
        </p:sp>
        <p:sp>
          <p:nvSpPr>
            <p:cNvPr id="9" name="Oval 6">
              <a:extLst>
                <a:ext uri="{FF2B5EF4-FFF2-40B4-BE49-F238E27FC236}">
                  <a16:creationId xmlns:a16="http://schemas.microsoft.com/office/drawing/2014/main" id="{C349E8C1-FB8C-4DD2-937E-921290DDF5A3}"/>
                </a:ext>
              </a:extLst>
            </p:cNvPr>
            <p:cNvSpPr>
              <a:spLocks noChangeArrowheads="1"/>
            </p:cNvSpPr>
            <p:nvPr/>
          </p:nvSpPr>
          <p:spPr bwMode="auto">
            <a:xfrm>
              <a:off x="2820913" y="4989770"/>
              <a:ext cx="309415" cy="304800"/>
            </a:xfrm>
            <a:prstGeom prst="ellipse">
              <a:avLst/>
            </a:prstGeom>
            <a:noFill/>
            <a:ln w="9525">
              <a:solidFill>
                <a:srgbClr val="FF0000"/>
              </a:solidFill>
              <a:round/>
              <a:headEnd type="none" w="sm" len="me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微软雅黑" panose="020B0503020204020204" pitchFamily="34" charset="-122"/>
                <a:ea typeface="微软雅黑" panose="020B0503020204020204" pitchFamily="34" charset="-122"/>
              </a:endParaRPr>
            </a:p>
          </p:txBody>
        </p:sp>
        <p:sp>
          <p:nvSpPr>
            <p:cNvPr id="10" name="Line 10">
              <a:extLst>
                <a:ext uri="{FF2B5EF4-FFF2-40B4-BE49-F238E27FC236}">
                  <a16:creationId xmlns:a16="http://schemas.microsoft.com/office/drawing/2014/main" id="{C0DA2F60-A56E-43BE-9FFD-D3F55F76073C}"/>
                </a:ext>
              </a:extLst>
            </p:cNvPr>
            <p:cNvSpPr>
              <a:spLocks noChangeShapeType="1"/>
            </p:cNvSpPr>
            <p:nvPr/>
          </p:nvSpPr>
          <p:spPr bwMode="auto">
            <a:xfrm flipH="1">
              <a:off x="2744714" y="5532695"/>
              <a:ext cx="4206929" cy="0"/>
            </a:xfrm>
            <a:prstGeom prst="line">
              <a:avLst/>
            </a:prstGeom>
            <a:noFill/>
            <a:ln w="12700">
              <a:solidFill>
                <a:schemeClr val="tx1"/>
              </a:solidFill>
              <a:round/>
              <a:headEnd type="none" w="sm"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微软雅黑" panose="020B0503020204020204" pitchFamily="34" charset="-122"/>
                <a:ea typeface="微软雅黑" panose="020B0503020204020204" pitchFamily="34" charset="-122"/>
              </a:endParaRPr>
            </a:p>
          </p:txBody>
        </p:sp>
        <p:sp>
          <p:nvSpPr>
            <p:cNvPr id="11" name="Freeform 11">
              <a:extLst>
                <a:ext uri="{FF2B5EF4-FFF2-40B4-BE49-F238E27FC236}">
                  <a16:creationId xmlns:a16="http://schemas.microsoft.com/office/drawing/2014/main" id="{6818F98D-5E8C-4EBE-BF6A-BCEDC9012BFB}"/>
                </a:ext>
              </a:extLst>
            </p:cNvPr>
            <p:cNvSpPr>
              <a:spLocks/>
            </p:cNvSpPr>
            <p:nvPr/>
          </p:nvSpPr>
          <p:spPr bwMode="auto">
            <a:xfrm>
              <a:off x="2982839" y="5296159"/>
              <a:ext cx="3836602" cy="76786"/>
            </a:xfrm>
            <a:custGeom>
              <a:avLst/>
              <a:gdLst>
                <a:gd name="T0" fmla="*/ 0 w 3788"/>
                <a:gd name="T1" fmla="*/ 0 h 58"/>
                <a:gd name="T2" fmla="*/ 0 w 3788"/>
                <a:gd name="T3" fmla="*/ 2147483647 h 58"/>
                <a:gd name="T4" fmla="*/ 2147483647 w 3788"/>
                <a:gd name="T5" fmla="*/ 2147483647 h 58"/>
                <a:gd name="T6" fmla="*/ 0 60000 65536"/>
                <a:gd name="T7" fmla="*/ 0 60000 65536"/>
                <a:gd name="T8" fmla="*/ 0 60000 65536"/>
              </a:gdLst>
              <a:ahLst/>
              <a:cxnLst>
                <a:cxn ang="T6">
                  <a:pos x="T0" y="T1"/>
                </a:cxn>
                <a:cxn ang="T7">
                  <a:pos x="T2" y="T3"/>
                </a:cxn>
                <a:cxn ang="T8">
                  <a:pos x="T4" y="T5"/>
                </a:cxn>
              </a:cxnLst>
              <a:rect l="0" t="0" r="r" b="b"/>
              <a:pathLst>
                <a:path w="3788" h="58">
                  <a:moveTo>
                    <a:pt x="0" y="0"/>
                  </a:moveTo>
                  <a:lnTo>
                    <a:pt x="0" y="58"/>
                  </a:lnTo>
                  <a:lnTo>
                    <a:pt x="3788" y="58"/>
                  </a:lnTo>
                </a:path>
              </a:pathLst>
            </a:custGeom>
            <a:noFill/>
            <a:ln w="9525" cap="flat" cmpd="sng">
              <a:solidFill>
                <a:srgbClr val="FF0000"/>
              </a:solidFill>
              <a:prstDash val="solid"/>
              <a:round/>
              <a:headEnd type="none" w="sm" len="med"/>
              <a:tailEnd type="stealth"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grpSp>
      <p:sp>
        <p:nvSpPr>
          <p:cNvPr id="12" name="灯片编号占位符 3"/>
          <p:cNvSpPr>
            <a:spLocks noGrp="1"/>
          </p:cNvSpPr>
          <p:nvPr>
            <p:ph type="sldNum" sz="quarter" idx="12"/>
          </p:nvPr>
        </p:nvSpPr>
        <p:spPr>
          <a:xfrm>
            <a:off x="8610600" y="6356350"/>
            <a:ext cx="331967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6" name="矩形 5"/>
          <p:cNvSpPr/>
          <p:nvPr/>
        </p:nvSpPr>
        <p:spPr>
          <a:xfrm>
            <a:off x="464361" y="1974594"/>
            <a:ext cx="6042774" cy="1631216"/>
          </a:xfrm>
          <a:prstGeom prst="rect">
            <a:avLst/>
          </a:prstGeom>
          <a:ln>
            <a:solidFill>
              <a:schemeClr val="accent1"/>
            </a:solidFill>
          </a:ln>
        </p:spPr>
        <p:txBody>
          <a:bodyPr wrap="square">
            <a:spAutoFit/>
          </a:bodyPr>
          <a:lstStyle/>
          <a:p>
            <a:pPr algn="l"/>
            <a:r>
              <a:rPr lang="zh-CN" altLang="en-US" sz="2000" dirty="0">
                <a:solidFill>
                  <a:srgbClr val="C00000"/>
                </a:solidFill>
                <a:latin typeface="Microsoft YaHei" charset="0"/>
                <a:ea typeface="Microsoft YaHei" charset="0"/>
                <a:cs typeface="Microsoft YaHei" charset="0"/>
              </a:rPr>
              <a:t>发送方</a:t>
            </a:r>
            <a:r>
              <a:rPr lang="zh-CN" altLang="en-US" sz="2000" dirty="0">
                <a:latin typeface="Microsoft YaHei" charset="0"/>
                <a:ea typeface="Microsoft YaHei" charset="0"/>
                <a:cs typeface="Microsoft YaHei" charset="0"/>
              </a:rPr>
              <a:t>：</a:t>
            </a:r>
            <a:endParaRPr lang="en-US" altLang="zh-CN" sz="2000" b="0" i="0" dirty="0">
              <a:solidFill>
                <a:srgbClr val="000000"/>
              </a:solidFill>
              <a:effectLst/>
              <a:latin typeface="+mn-ea"/>
            </a:endParaRPr>
          </a:p>
          <a:p>
            <a:pPr marL="342900" indent="-342900" algn="l">
              <a:buFont typeface="Arial" panose="020B0604020202020204" pitchFamily="34" charset="0"/>
              <a:buChar char="•"/>
            </a:pPr>
            <a:r>
              <a:rPr lang="zh-CN" altLang="en-US" sz="2000" b="0" i="0" dirty="0">
                <a:solidFill>
                  <a:srgbClr val="000000"/>
                </a:solidFill>
                <a:effectLst/>
                <a:latin typeface="+mn-ea"/>
              </a:rPr>
              <a:t>对每</a:t>
            </a:r>
            <a:r>
              <a:rPr lang="en-US" altLang="zh-CN" sz="2000" b="0" i="0" dirty="0">
                <a:solidFill>
                  <a:srgbClr val="000000"/>
                </a:solidFill>
                <a:effectLst/>
                <a:latin typeface="+mn-ea"/>
              </a:rPr>
              <a:t>16</a:t>
            </a:r>
            <a:r>
              <a:rPr lang="en-US" sz="2000" b="0" i="0" dirty="0">
                <a:solidFill>
                  <a:srgbClr val="000000"/>
                </a:solidFill>
                <a:effectLst/>
                <a:latin typeface="+mn-ea"/>
              </a:rPr>
              <a:t>bit</a:t>
            </a:r>
            <a:r>
              <a:rPr lang="zh-CN" altLang="en-US" sz="2000" b="0" i="0" dirty="0">
                <a:solidFill>
                  <a:srgbClr val="000000"/>
                </a:solidFill>
                <a:effectLst/>
                <a:latin typeface="+mn-ea"/>
              </a:rPr>
              <a:t>进行二进制求和；如果和的高</a:t>
            </a:r>
            <a:r>
              <a:rPr lang="en-US" altLang="zh-CN" sz="2000" b="0" i="0" dirty="0">
                <a:solidFill>
                  <a:srgbClr val="000000"/>
                </a:solidFill>
                <a:effectLst/>
                <a:latin typeface="+mn-ea"/>
              </a:rPr>
              <a:t>16</a:t>
            </a:r>
            <a:r>
              <a:rPr lang="en-US" sz="2000" b="0" i="0" dirty="0">
                <a:solidFill>
                  <a:srgbClr val="000000"/>
                </a:solidFill>
                <a:effectLst/>
                <a:latin typeface="+mn-ea"/>
              </a:rPr>
              <a:t>bit</a:t>
            </a:r>
            <a:r>
              <a:rPr lang="zh-CN" altLang="en-US" sz="2000" b="0" i="0" dirty="0">
                <a:solidFill>
                  <a:srgbClr val="000000"/>
                </a:solidFill>
                <a:effectLst/>
                <a:latin typeface="+mn-ea"/>
              </a:rPr>
              <a:t>不为</a:t>
            </a:r>
            <a:r>
              <a:rPr lang="en-US" altLang="zh-CN" sz="2000" b="0" i="0" dirty="0">
                <a:solidFill>
                  <a:srgbClr val="000000"/>
                </a:solidFill>
                <a:effectLst/>
                <a:latin typeface="+mn-ea"/>
              </a:rPr>
              <a:t>0</a:t>
            </a:r>
            <a:r>
              <a:rPr lang="zh-CN" altLang="en-US" sz="2000" b="0" i="0" dirty="0">
                <a:solidFill>
                  <a:srgbClr val="000000"/>
                </a:solidFill>
                <a:effectLst/>
                <a:latin typeface="+mn-ea"/>
              </a:rPr>
              <a:t>，则将和的高</a:t>
            </a:r>
            <a:r>
              <a:rPr lang="en-US" altLang="zh-CN" sz="2000" b="0" i="0" dirty="0">
                <a:solidFill>
                  <a:srgbClr val="000000"/>
                </a:solidFill>
                <a:effectLst/>
                <a:latin typeface="+mn-ea"/>
              </a:rPr>
              <a:t>16</a:t>
            </a:r>
            <a:r>
              <a:rPr lang="en-US" sz="2000" b="0" i="0" dirty="0">
                <a:solidFill>
                  <a:srgbClr val="000000"/>
                </a:solidFill>
                <a:effectLst/>
                <a:latin typeface="+mn-ea"/>
              </a:rPr>
              <a:t>bit</a:t>
            </a:r>
            <a:r>
              <a:rPr lang="zh-CN" altLang="en-US" sz="2000" b="0" i="0" dirty="0">
                <a:solidFill>
                  <a:srgbClr val="000000"/>
                </a:solidFill>
                <a:effectLst/>
                <a:latin typeface="+mn-ea"/>
              </a:rPr>
              <a:t>和低</a:t>
            </a:r>
            <a:r>
              <a:rPr lang="en-US" altLang="zh-CN" sz="2000" b="0" i="0" dirty="0">
                <a:solidFill>
                  <a:srgbClr val="000000"/>
                </a:solidFill>
                <a:effectLst/>
                <a:latin typeface="+mn-ea"/>
              </a:rPr>
              <a:t>16</a:t>
            </a:r>
            <a:r>
              <a:rPr lang="en-US" sz="2000" b="0" i="0" dirty="0">
                <a:solidFill>
                  <a:srgbClr val="000000"/>
                </a:solidFill>
                <a:effectLst/>
                <a:latin typeface="+mn-ea"/>
              </a:rPr>
              <a:t>bit</a:t>
            </a:r>
            <a:r>
              <a:rPr lang="zh-CN" altLang="en-US" sz="2000" b="0" i="0" dirty="0">
                <a:solidFill>
                  <a:srgbClr val="000000"/>
                </a:solidFill>
                <a:effectLst/>
                <a:latin typeface="+mn-ea"/>
              </a:rPr>
              <a:t>反复相加，直到和的高</a:t>
            </a:r>
            <a:r>
              <a:rPr lang="en-US" altLang="zh-CN" sz="2000" b="0" i="0" dirty="0">
                <a:solidFill>
                  <a:srgbClr val="000000"/>
                </a:solidFill>
                <a:effectLst/>
                <a:latin typeface="+mn-ea"/>
              </a:rPr>
              <a:t>16</a:t>
            </a:r>
            <a:r>
              <a:rPr lang="en-US" sz="2000" b="0" i="0" dirty="0">
                <a:solidFill>
                  <a:srgbClr val="000000"/>
                </a:solidFill>
                <a:effectLst/>
                <a:latin typeface="+mn-ea"/>
              </a:rPr>
              <a:t>bit</a:t>
            </a:r>
            <a:r>
              <a:rPr lang="zh-CN" altLang="en-US" sz="2000" b="0" i="0" dirty="0">
                <a:solidFill>
                  <a:srgbClr val="000000"/>
                </a:solidFill>
                <a:effectLst/>
                <a:latin typeface="+mn-ea"/>
              </a:rPr>
              <a:t>为</a:t>
            </a:r>
            <a:r>
              <a:rPr lang="en-US" altLang="zh-CN" sz="2000" b="0" i="0" dirty="0">
                <a:solidFill>
                  <a:srgbClr val="000000"/>
                </a:solidFill>
                <a:effectLst/>
                <a:latin typeface="+mn-ea"/>
              </a:rPr>
              <a:t>0</a:t>
            </a:r>
            <a:r>
              <a:rPr lang="zh-CN" altLang="en-US" sz="2000" b="0" i="0" dirty="0">
                <a:solidFill>
                  <a:srgbClr val="000000"/>
                </a:solidFill>
                <a:effectLst/>
                <a:latin typeface="+mn-ea"/>
              </a:rPr>
              <a:t>，从而获得一个</a:t>
            </a:r>
            <a:r>
              <a:rPr lang="en-US" altLang="zh-CN" sz="2000" b="0" i="0" dirty="0">
                <a:solidFill>
                  <a:srgbClr val="000000"/>
                </a:solidFill>
                <a:effectLst/>
                <a:latin typeface="+mn-ea"/>
              </a:rPr>
              <a:t>16</a:t>
            </a:r>
            <a:r>
              <a:rPr lang="en-US" sz="2000" b="0" i="0" dirty="0">
                <a:solidFill>
                  <a:srgbClr val="000000"/>
                </a:solidFill>
                <a:effectLst/>
                <a:latin typeface="+mn-ea"/>
              </a:rPr>
              <a:t>bit</a:t>
            </a:r>
            <a:r>
              <a:rPr lang="zh-CN" altLang="en-US" sz="2000" b="0" i="0" dirty="0">
                <a:solidFill>
                  <a:srgbClr val="000000"/>
                </a:solidFill>
                <a:effectLst/>
                <a:latin typeface="+mn-ea"/>
              </a:rPr>
              <a:t>的值；</a:t>
            </a:r>
          </a:p>
          <a:p>
            <a:pPr marL="342900" indent="-342900" algn="l">
              <a:buFont typeface="Arial" panose="020B0604020202020204" pitchFamily="34" charset="0"/>
              <a:buChar char="•"/>
            </a:pPr>
            <a:r>
              <a:rPr lang="zh-CN" altLang="en-US" sz="2000" b="0" i="0" dirty="0">
                <a:solidFill>
                  <a:srgbClr val="000000"/>
                </a:solidFill>
                <a:effectLst/>
                <a:latin typeface="+mn-ea"/>
              </a:rPr>
              <a:t>将该</a:t>
            </a:r>
            <a:r>
              <a:rPr lang="en-US" altLang="zh-CN" sz="2000" b="0" i="0" dirty="0">
                <a:solidFill>
                  <a:srgbClr val="000000"/>
                </a:solidFill>
                <a:effectLst/>
                <a:latin typeface="+mn-ea"/>
              </a:rPr>
              <a:t>16</a:t>
            </a:r>
            <a:r>
              <a:rPr lang="en-US" sz="2000" b="0" i="0" dirty="0">
                <a:solidFill>
                  <a:srgbClr val="000000"/>
                </a:solidFill>
                <a:effectLst/>
                <a:latin typeface="+mn-ea"/>
              </a:rPr>
              <a:t>bit</a:t>
            </a:r>
            <a:r>
              <a:rPr lang="zh-CN" altLang="en-US" sz="2000" b="0" i="0" dirty="0">
                <a:solidFill>
                  <a:srgbClr val="000000"/>
                </a:solidFill>
                <a:effectLst/>
                <a:latin typeface="+mn-ea"/>
              </a:rPr>
              <a:t>的值取反，存入校验和字段，一起发送</a:t>
            </a:r>
          </a:p>
        </p:txBody>
      </p:sp>
      <p:sp>
        <p:nvSpPr>
          <p:cNvPr id="13" name="矩形 12"/>
          <p:cNvSpPr/>
          <p:nvPr/>
        </p:nvSpPr>
        <p:spPr>
          <a:xfrm>
            <a:off x="6872231" y="2121989"/>
            <a:ext cx="3924300" cy="1323439"/>
          </a:xfrm>
          <a:prstGeom prst="rect">
            <a:avLst/>
          </a:prstGeom>
          <a:ln>
            <a:solidFill>
              <a:schemeClr val="accent1"/>
            </a:solidFill>
          </a:ln>
        </p:spPr>
        <p:txBody>
          <a:bodyPr wrap="square">
            <a:spAutoFit/>
          </a:bodyPr>
          <a:lstStyle/>
          <a:p>
            <a:pPr>
              <a:lnSpc>
                <a:spcPts val="3200"/>
              </a:lnSpc>
            </a:pPr>
            <a:r>
              <a:rPr lang="zh-CN" altLang="en-US" sz="2200" dirty="0">
                <a:solidFill>
                  <a:srgbClr val="C00000"/>
                </a:solidFill>
                <a:latin typeface="Microsoft YaHei" charset="0"/>
                <a:ea typeface="Microsoft YaHei" charset="0"/>
                <a:cs typeface="Microsoft YaHei" charset="0"/>
              </a:rPr>
              <a:t>接收方</a:t>
            </a:r>
            <a:r>
              <a:rPr lang="zh-CN" altLang="en-US" sz="2200" dirty="0">
                <a:latin typeface="Microsoft YaHei" charset="0"/>
                <a:ea typeface="Microsoft YaHei" charset="0"/>
                <a:cs typeface="Microsoft YaHei" charset="0"/>
              </a:rPr>
              <a:t>：进行 </a:t>
            </a:r>
            <a:r>
              <a:rPr lang="en-US" altLang="zh-CN" sz="2200" dirty="0">
                <a:latin typeface="Microsoft YaHei" charset="0"/>
                <a:ea typeface="Microsoft YaHei" charset="0"/>
                <a:cs typeface="Microsoft YaHei" charset="0"/>
              </a:rPr>
              <a:t>16 </a:t>
            </a:r>
            <a:r>
              <a:rPr lang="zh-CN" altLang="en-US" sz="2200" dirty="0">
                <a:latin typeface="Microsoft YaHei" charset="0"/>
                <a:ea typeface="Microsoft YaHei" charset="0"/>
                <a:cs typeface="Microsoft YaHei" charset="0"/>
              </a:rPr>
              <a:t>位二进制补码求和运算（包含校验和），结果非全</a:t>
            </a:r>
            <a:r>
              <a:rPr lang="en-US" altLang="zh-CN" sz="2200" dirty="0">
                <a:latin typeface="Microsoft YaHei" charset="0"/>
                <a:ea typeface="Microsoft YaHei" charset="0"/>
                <a:cs typeface="Microsoft YaHei" charset="0"/>
              </a:rPr>
              <a:t>1</a:t>
            </a:r>
            <a:r>
              <a:rPr lang="zh-CN" altLang="en-US" sz="2200" dirty="0">
                <a:latin typeface="Microsoft YaHei" charset="0"/>
                <a:ea typeface="Microsoft YaHei" charset="0"/>
                <a:cs typeface="Microsoft YaHei" charset="0"/>
              </a:rPr>
              <a:t>，则检测到错误</a:t>
            </a:r>
            <a:endParaRPr lang="en-US" altLang="zh-CN" sz="2200" dirty="0">
              <a:latin typeface="Microsoft YaHei" charset="0"/>
              <a:ea typeface="Microsoft YaHei" charset="0"/>
              <a:cs typeface="Microsoft YaHei" charset="0"/>
            </a:endParaRPr>
          </a:p>
        </p:txBody>
      </p:sp>
      <p:sp>
        <p:nvSpPr>
          <p:cNvPr id="14" name="文本框 13"/>
          <p:cNvSpPr txBox="1"/>
          <p:nvPr/>
        </p:nvSpPr>
        <p:spPr>
          <a:xfrm>
            <a:off x="226764" y="5559701"/>
            <a:ext cx="1222872" cy="430887"/>
          </a:xfrm>
          <a:prstGeom prst="rect">
            <a:avLst/>
          </a:prstGeom>
          <a:noFill/>
        </p:spPr>
        <p:txBody>
          <a:bodyPr wrap="square" rtlCol="0">
            <a:spAutoFit/>
          </a:bodyPr>
          <a:lstStyle/>
          <a:p>
            <a:pPr algn="ctr"/>
            <a:r>
              <a:rPr lang="zh-CN" altLang="en-US" sz="2200" dirty="0">
                <a:solidFill>
                  <a:schemeClr val="accent1">
                    <a:lumMod val="75000"/>
                  </a:schemeClr>
                </a:solidFill>
                <a:latin typeface="微软雅黑" panose="020B0503020204020204" pitchFamily="34" charset="-122"/>
                <a:ea typeface="微软雅黑" panose="020B0503020204020204" pitchFamily="34" charset="-122"/>
              </a:rPr>
              <a:t>校验和</a:t>
            </a:r>
          </a:p>
        </p:txBody>
      </p:sp>
      <p:sp>
        <p:nvSpPr>
          <p:cNvPr id="15" name="文本框 14"/>
          <p:cNvSpPr txBox="1"/>
          <p:nvPr/>
        </p:nvSpPr>
        <p:spPr>
          <a:xfrm>
            <a:off x="226764" y="3837041"/>
            <a:ext cx="1222872" cy="430887"/>
          </a:xfrm>
          <a:prstGeom prst="rect">
            <a:avLst/>
          </a:prstGeom>
          <a:noFill/>
        </p:spPr>
        <p:txBody>
          <a:bodyPr wrap="square" rtlCol="0">
            <a:spAutoFit/>
          </a:bodyPr>
          <a:lstStyle/>
          <a:p>
            <a:pPr algn="ctr"/>
            <a:r>
              <a:rPr lang="zh-CN" altLang="en-US" sz="2200" dirty="0">
                <a:solidFill>
                  <a:schemeClr val="accent1">
                    <a:lumMod val="75000"/>
                  </a:schemeClr>
                </a:solidFill>
                <a:latin typeface="微软雅黑" panose="020B0503020204020204" pitchFamily="34" charset="-122"/>
                <a:ea typeface="微软雅黑" panose="020B0503020204020204" pitchFamily="34" charset="-122"/>
              </a:rPr>
              <a:t>数据</a:t>
            </a:r>
          </a:p>
        </p:txBody>
      </p:sp>
      <p:grpSp>
        <p:nvGrpSpPr>
          <p:cNvPr id="16" name="组合 15"/>
          <p:cNvGrpSpPr/>
          <p:nvPr/>
        </p:nvGrpSpPr>
        <p:grpSpPr>
          <a:xfrm>
            <a:off x="6490450" y="3693915"/>
            <a:ext cx="4306081" cy="2693045"/>
            <a:chOff x="2744714" y="3986470"/>
            <a:chExt cx="4306081" cy="2693045"/>
          </a:xfrm>
        </p:grpSpPr>
        <p:sp>
          <p:nvSpPr>
            <p:cNvPr id="17" name="Text Box 4">
              <a:extLst>
                <a:ext uri="{FF2B5EF4-FFF2-40B4-BE49-F238E27FC236}">
                  <a16:creationId xmlns:a16="http://schemas.microsoft.com/office/drawing/2014/main" id="{9B174DB8-1FC8-4F43-94D7-56E51904FE8D}"/>
                </a:ext>
              </a:extLst>
            </p:cNvPr>
            <p:cNvSpPr txBox="1">
              <a:spLocks noChangeArrowheads="1"/>
            </p:cNvSpPr>
            <p:nvPr/>
          </p:nvSpPr>
          <p:spPr bwMode="auto">
            <a:xfrm>
              <a:off x="2820914" y="3986470"/>
              <a:ext cx="4229881" cy="269304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type="none" w="sm" len="me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l">
                <a:defRPr/>
              </a:pPr>
              <a:r>
                <a:rPr lang="en-US" sz="2000" b="1" dirty="0">
                  <a:solidFill>
                    <a:schemeClr val="bg1"/>
                  </a:solidFill>
                  <a:latin typeface="微软雅黑" panose="020B0503020204020204" pitchFamily="34" charset="-122"/>
                  <a:ea typeface="微软雅黑" panose="020B0503020204020204" pitchFamily="34" charset="-122"/>
                </a:rPr>
                <a:t>1</a:t>
              </a:r>
              <a:r>
                <a:rPr lang="en-US" sz="2000" b="1" dirty="0">
                  <a:latin typeface="微软雅黑" panose="020B0503020204020204" pitchFamily="34" charset="-122"/>
                  <a:ea typeface="微软雅黑" panose="020B0503020204020204" pitchFamily="34" charset="-122"/>
                </a:rPr>
                <a:t>  1 1 1 0 0 1 1 0 0 1 1 0 0 1 1 0</a:t>
              </a:r>
            </a:p>
            <a:p>
              <a:pPr algn="l">
                <a:defRPr/>
              </a:pPr>
              <a:r>
                <a:rPr lang="en-US" sz="2000" b="1" dirty="0">
                  <a:solidFill>
                    <a:schemeClr val="bg1"/>
                  </a:solidFill>
                  <a:latin typeface="微软雅黑" panose="020B0503020204020204" pitchFamily="34" charset="-122"/>
                  <a:ea typeface="微软雅黑" panose="020B0503020204020204" pitchFamily="34" charset="-122"/>
                </a:rPr>
                <a:t>1</a:t>
              </a:r>
              <a:r>
                <a:rPr lang="en-US" sz="2000" b="1" dirty="0">
                  <a:latin typeface="微软雅黑" panose="020B0503020204020204" pitchFamily="34" charset="-122"/>
                  <a:ea typeface="微软雅黑" panose="020B0503020204020204" pitchFamily="34" charset="-122"/>
                </a:rPr>
                <a:t>  1 1 0 1 0 1 0 1 0 1 0 1 0 1 0 1</a:t>
              </a:r>
            </a:p>
            <a:p>
              <a:pPr algn="l">
                <a:lnSpc>
                  <a:spcPct val="120000"/>
                </a:lnSpc>
                <a:defRPr/>
              </a:pPr>
              <a:endParaRPr lang="en-US" sz="2000" b="1" dirty="0">
                <a:latin typeface="微软雅黑" panose="020B0503020204020204" pitchFamily="34" charset="-122"/>
                <a:ea typeface="微软雅黑" panose="020B0503020204020204" pitchFamily="34" charset="-122"/>
              </a:endParaRPr>
            </a:p>
            <a:p>
              <a:pPr algn="l">
                <a:defRPr/>
              </a:pPr>
              <a:r>
                <a:rPr lang="en-US" sz="2000" b="1" dirty="0">
                  <a:latin typeface="微软雅黑" panose="020B0503020204020204" pitchFamily="34" charset="-122"/>
                  <a:ea typeface="微软雅黑" panose="020B0503020204020204" pitchFamily="34" charset="-122"/>
                </a:rPr>
                <a:t>1  1 0 1 1 1 0 1 1 1 0 1 1 1 0 1 1</a:t>
              </a:r>
            </a:p>
            <a:p>
              <a:pPr>
                <a:spcBef>
                  <a:spcPts val="1800"/>
                </a:spcBef>
                <a:defRPr/>
              </a:pPr>
              <a:r>
                <a:rPr lang="en-US" sz="2000" b="1" dirty="0">
                  <a:solidFill>
                    <a:schemeClr val="bg1"/>
                  </a:solidFill>
                  <a:latin typeface="微软雅黑" panose="020B0503020204020204" pitchFamily="34" charset="-122"/>
                  <a:ea typeface="微软雅黑" panose="020B0503020204020204" pitchFamily="34" charset="-122"/>
                </a:rPr>
                <a:t>1</a:t>
              </a:r>
              <a:r>
                <a:rPr lang="en-US" sz="2000" b="1" dirty="0">
                  <a:latin typeface="微软雅黑" panose="020B0503020204020204" pitchFamily="34" charset="-122"/>
                  <a:ea typeface="微软雅黑" panose="020B0503020204020204" pitchFamily="34" charset="-122"/>
                </a:rPr>
                <a:t>  </a:t>
              </a:r>
              <a:r>
                <a:rPr lang="en-US" altLang="zh-CN" sz="2000" b="1" dirty="0">
                  <a:solidFill>
                    <a:srgbClr val="C00000"/>
                  </a:solidFill>
                  <a:latin typeface="微软雅黑" panose="020B0503020204020204" pitchFamily="34" charset="-122"/>
                  <a:ea typeface="微软雅黑" panose="020B0503020204020204" pitchFamily="34" charset="-122"/>
                </a:rPr>
                <a:t>0 1 0 0 0 1 0 0 0 1 0 0 0 0 1 1</a:t>
              </a:r>
              <a:endParaRPr lang="en-US" altLang="zh-CN" sz="2400" b="1" dirty="0">
                <a:solidFill>
                  <a:srgbClr val="C00000"/>
                </a:solidFill>
                <a:latin typeface="微软雅黑" panose="020B0503020204020204" pitchFamily="34" charset="-122"/>
                <a:ea typeface="微软雅黑" panose="020B0503020204020204" pitchFamily="34" charset="-122"/>
              </a:endParaRPr>
            </a:p>
            <a:p>
              <a:pPr algn="l">
                <a:spcBef>
                  <a:spcPts val="1200"/>
                </a:spcBef>
                <a:defRPr/>
              </a:pPr>
              <a:r>
                <a:rPr lang="en-US" sz="2000" b="1" dirty="0">
                  <a:latin typeface="微软雅黑" panose="020B0503020204020204" pitchFamily="34" charset="-122"/>
                  <a:ea typeface="微软雅黑" panose="020B0503020204020204" pitchFamily="34" charset="-122"/>
                </a:rPr>
                <a:t>    </a:t>
              </a:r>
              <a:r>
                <a:rPr lang="en-US" sz="2000" b="1" dirty="0">
                  <a:solidFill>
                    <a:srgbClr val="6600FF"/>
                  </a:solidFill>
                  <a:latin typeface="微软雅黑" panose="020B0503020204020204" pitchFamily="34" charset="-122"/>
                  <a:ea typeface="微软雅黑" panose="020B0503020204020204" pitchFamily="34" charset="-122"/>
                </a:rPr>
                <a:t>1 1 1 1 1 1 1 1 1 1 1 1 1 1 1 1</a:t>
              </a:r>
            </a:p>
            <a:p>
              <a:pPr algn="l">
                <a:defRPr/>
              </a:pPr>
              <a:r>
                <a:rPr lang="en-US" sz="2000" b="1" dirty="0">
                  <a:solidFill>
                    <a:schemeClr val="bg1"/>
                  </a:solidFill>
                  <a:latin typeface="微软雅黑" panose="020B0503020204020204" pitchFamily="34" charset="-122"/>
                  <a:ea typeface="微软雅黑" panose="020B0503020204020204" pitchFamily="34" charset="-122"/>
                </a:rPr>
                <a:t>1</a:t>
              </a:r>
              <a:endParaRPr lang="en-US" sz="2400" b="1" dirty="0">
                <a:solidFill>
                  <a:srgbClr val="C00000"/>
                </a:solidFill>
                <a:latin typeface="微软雅黑" panose="020B0503020204020204" pitchFamily="34" charset="-122"/>
                <a:ea typeface="微软雅黑" panose="020B0503020204020204" pitchFamily="34" charset="-122"/>
              </a:endParaRPr>
            </a:p>
          </p:txBody>
        </p:sp>
        <p:sp>
          <p:nvSpPr>
            <p:cNvPr id="18" name="Line 5">
              <a:extLst>
                <a:ext uri="{FF2B5EF4-FFF2-40B4-BE49-F238E27FC236}">
                  <a16:creationId xmlns:a16="http://schemas.microsoft.com/office/drawing/2014/main" id="{6B7A5157-C9C5-4E69-8774-15BDEE99D5F1}"/>
                </a:ext>
              </a:extLst>
            </p:cNvPr>
            <p:cNvSpPr>
              <a:spLocks noChangeShapeType="1"/>
            </p:cNvSpPr>
            <p:nvPr/>
          </p:nvSpPr>
          <p:spPr bwMode="auto">
            <a:xfrm flipH="1">
              <a:off x="2744714" y="4813558"/>
              <a:ext cx="4206929" cy="0"/>
            </a:xfrm>
            <a:prstGeom prst="line">
              <a:avLst/>
            </a:prstGeom>
            <a:noFill/>
            <a:ln w="12700">
              <a:solidFill>
                <a:schemeClr val="tx1"/>
              </a:solidFill>
              <a:round/>
              <a:headEnd type="none" w="sm"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微软雅黑" panose="020B0503020204020204" pitchFamily="34" charset="-122"/>
                <a:ea typeface="微软雅黑" panose="020B0503020204020204" pitchFamily="34" charset="-122"/>
              </a:endParaRPr>
            </a:p>
          </p:txBody>
        </p:sp>
        <p:sp>
          <p:nvSpPr>
            <p:cNvPr id="19" name="Oval 6">
              <a:extLst>
                <a:ext uri="{FF2B5EF4-FFF2-40B4-BE49-F238E27FC236}">
                  <a16:creationId xmlns:a16="http://schemas.microsoft.com/office/drawing/2014/main" id="{C349E8C1-FB8C-4DD2-937E-921290DDF5A3}"/>
                </a:ext>
              </a:extLst>
            </p:cNvPr>
            <p:cNvSpPr>
              <a:spLocks noChangeArrowheads="1"/>
            </p:cNvSpPr>
            <p:nvPr/>
          </p:nvSpPr>
          <p:spPr bwMode="auto">
            <a:xfrm>
              <a:off x="2820913" y="4989770"/>
              <a:ext cx="309415" cy="304800"/>
            </a:xfrm>
            <a:prstGeom prst="ellipse">
              <a:avLst/>
            </a:prstGeom>
            <a:noFill/>
            <a:ln w="9525">
              <a:solidFill>
                <a:srgbClr val="FF0000"/>
              </a:solidFill>
              <a:round/>
              <a:headEnd type="none" w="sm" len="me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微软雅黑" panose="020B0503020204020204" pitchFamily="34" charset="-122"/>
                <a:ea typeface="微软雅黑" panose="020B0503020204020204" pitchFamily="34" charset="-122"/>
              </a:endParaRPr>
            </a:p>
          </p:txBody>
        </p:sp>
        <p:sp>
          <p:nvSpPr>
            <p:cNvPr id="21" name="Freeform 11">
              <a:extLst>
                <a:ext uri="{FF2B5EF4-FFF2-40B4-BE49-F238E27FC236}">
                  <a16:creationId xmlns:a16="http://schemas.microsoft.com/office/drawing/2014/main" id="{6818F98D-5E8C-4EBE-BF6A-BCEDC9012BFB}"/>
                </a:ext>
              </a:extLst>
            </p:cNvPr>
            <p:cNvSpPr>
              <a:spLocks/>
            </p:cNvSpPr>
            <p:nvPr/>
          </p:nvSpPr>
          <p:spPr bwMode="auto">
            <a:xfrm>
              <a:off x="2982839" y="5296159"/>
              <a:ext cx="3836602" cy="76786"/>
            </a:xfrm>
            <a:custGeom>
              <a:avLst/>
              <a:gdLst>
                <a:gd name="T0" fmla="*/ 0 w 3788"/>
                <a:gd name="T1" fmla="*/ 0 h 58"/>
                <a:gd name="T2" fmla="*/ 0 w 3788"/>
                <a:gd name="T3" fmla="*/ 2147483647 h 58"/>
                <a:gd name="T4" fmla="*/ 2147483647 w 3788"/>
                <a:gd name="T5" fmla="*/ 2147483647 h 58"/>
                <a:gd name="T6" fmla="*/ 0 60000 65536"/>
                <a:gd name="T7" fmla="*/ 0 60000 65536"/>
                <a:gd name="T8" fmla="*/ 0 60000 65536"/>
              </a:gdLst>
              <a:ahLst/>
              <a:cxnLst>
                <a:cxn ang="T6">
                  <a:pos x="T0" y="T1"/>
                </a:cxn>
                <a:cxn ang="T7">
                  <a:pos x="T2" y="T3"/>
                </a:cxn>
                <a:cxn ang="T8">
                  <a:pos x="T4" y="T5"/>
                </a:cxn>
              </a:cxnLst>
              <a:rect l="0" t="0" r="r" b="b"/>
              <a:pathLst>
                <a:path w="3788" h="58">
                  <a:moveTo>
                    <a:pt x="0" y="0"/>
                  </a:moveTo>
                  <a:lnTo>
                    <a:pt x="0" y="58"/>
                  </a:lnTo>
                  <a:lnTo>
                    <a:pt x="3788" y="58"/>
                  </a:lnTo>
                </a:path>
              </a:pathLst>
            </a:custGeom>
            <a:noFill/>
            <a:ln w="9525" cap="flat" cmpd="sng">
              <a:solidFill>
                <a:srgbClr val="FF0000"/>
              </a:solidFill>
              <a:prstDash val="solid"/>
              <a:round/>
              <a:headEnd type="none" w="sm" len="med"/>
              <a:tailEnd type="stealth"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grpSp>
      <p:sp>
        <p:nvSpPr>
          <p:cNvPr id="22" name="Line 5">
            <a:extLst>
              <a:ext uri="{FF2B5EF4-FFF2-40B4-BE49-F238E27FC236}">
                <a16:creationId xmlns:a16="http://schemas.microsoft.com/office/drawing/2014/main" id="{6B7A5157-C9C5-4E69-8774-15BDEE99D5F1}"/>
              </a:ext>
            </a:extLst>
          </p:cNvPr>
          <p:cNvSpPr>
            <a:spLocks noChangeShapeType="1"/>
          </p:cNvSpPr>
          <p:nvPr/>
        </p:nvSpPr>
        <p:spPr bwMode="auto">
          <a:xfrm flipH="1">
            <a:off x="6507135" y="5537667"/>
            <a:ext cx="4206929" cy="0"/>
          </a:xfrm>
          <a:prstGeom prst="line">
            <a:avLst/>
          </a:prstGeom>
          <a:noFill/>
          <a:ln w="12700">
            <a:solidFill>
              <a:schemeClr val="tx1"/>
            </a:solidFill>
            <a:round/>
            <a:headEnd type="none" w="sm"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微软雅黑" panose="020B0503020204020204" pitchFamily="34" charset="-122"/>
              <a:ea typeface="微软雅黑" panose="020B0503020204020204" pitchFamily="34" charset="-122"/>
            </a:endParaRPr>
          </a:p>
        </p:txBody>
      </p:sp>
      <p:sp>
        <p:nvSpPr>
          <p:cNvPr id="23" name="文本框 22"/>
          <p:cNvSpPr txBox="1"/>
          <p:nvPr/>
        </p:nvSpPr>
        <p:spPr>
          <a:xfrm>
            <a:off x="10714064" y="3866763"/>
            <a:ext cx="1222872" cy="430887"/>
          </a:xfrm>
          <a:prstGeom prst="rect">
            <a:avLst/>
          </a:prstGeom>
          <a:noFill/>
        </p:spPr>
        <p:txBody>
          <a:bodyPr wrap="square" rtlCol="0">
            <a:spAutoFit/>
          </a:bodyPr>
          <a:lstStyle/>
          <a:p>
            <a:pPr algn="ctr"/>
            <a:r>
              <a:rPr lang="zh-CN" altLang="en-US" sz="2200" dirty="0">
                <a:solidFill>
                  <a:schemeClr val="accent1">
                    <a:lumMod val="75000"/>
                  </a:schemeClr>
                </a:solidFill>
                <a:latin typeface="微软雅黑" panose="020B0503020204020204" pitchFamily="34" charset="-122"/>
                <a:ea typeface="微软雅黑" panose="020B0503020204020204" pitchFamily="34" charset="-122"/>
              </a:rPr>
              <a:t>数据</a:t>
            </a:r>
          </a:p>
        </p:txBody>
      </p:sp>
      <p:sp>
        <p:nvSpPr>
          <p:cNvPr id="24" name="文本框 23"/>
          <p:cNvSpPr txBox="1"/>
          <p:nvPr/>
        </p:nvSpPr>
        <p:spPr>
          <a:xfrm>
            <a:off x="10714064" y="5128814"/>
            <a:ext cx="1222872" cy="430887"/>
          </a:xfrm>
          <a:prstGeom prst="rect">
            <a:avLst/>
          </a:prstGeom>
          <a:noFill/>
        </p:spPr>
        <p:txBody>
          <a:bodyPr wrap="square" rtlCol="0">
            <a:spAutoFit/>
          </a:bodyPr>
          <a:lstStyle/>
          <a:p>
            <a:pPr algn="ctr"/>
            <a:r>
              <a:rPr lang="zh-CN" altLang="en-US" sz="2200" dirty="0">
                <a:solidFill>
                  <a:schemeClr val="accent1">
                    <a:lumMod val="75000"/>
                  </a:schemeClr>
                </a:solidFill>
                <a:latin typeface="微软雅黑" panose="020B0503020204020204" pitchFamily="34" charset="-122"/>
                <a:ea typeface="微软雅黑" panose="020B0503020204020204" pitchFamily="34" charset="-122"/>
              </a:rPr>
              <a:t>校验和</a:t>
            </a:r>
          </a:p>
        </p:txBody>
      </p:sp>
      <p:sp>
        <p:nvSpPr>
          <p:cNvPr id="28" name="圆角矩形标注 27"/>
          <p:cNvSpPr/>
          <p:nvPr/>
        </p:nvSpPr>
        <p:spPr>
          <a:xfrm>
            <a:off x="5211573" y="6185705"/>
            <a:ext cx="1905320" cy="512642"/>
          </a:xfrm>
          <a:prstGeom prst="wedgeRoundRectCallout">
            <a:avLst>
              <a:gd name="adj1" fmla="val 56567"/>
              <a:gd name="adj2" fmla="val -94178"/>
              <a:gd name="adj3" fmla="val 16667"/>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00000"/>
              </a:solidFill>
            </a:endParaRPr>
          </a:p>
        </p:txBody>
      </p:sp>
      <p:sp>
        <p:nvSpPr>
          <p:cNvPr id="29" name="文本框 28"/>
          <p:cNvSpPr txBox="1"/>
          <p:nvPr/>
        </p:nvSpPr>
        <p:spPr>
          <a:xfrm>
            <a:off x="5211573" y="6227977"/>
            <a:ext cx="1905321" cy="430887"/>
          </a:xfrm>
          <a:prstGeom prst="rect">
            <a:avLst/>
          </a:prstGeom>
          <a:noFill/>
        </p:spPr>
        <p:txBody>
          <a:bodyPr wrap="square" rtlCol="0">
            <a:spAutoFit/>
          </a:bodyPr>
          <a:lstStyle/>
          <a:p>
            <a:pPr algn="ctr"/>
            <a:r>
              <a:rPr lang="zh-CN" altLang="en-US" sz="2200" dirty="0">
                <a:solidFill>
                  <a:srgbClr val="C00000"/>
                </a:solidFill>
                <a:latin typeface="微软雅黑" panose="020B0503020204020204" pitchFamily="34" charset="-122"/>
                <a:ea typeface="微软雅黑" panose="020B0503020204020204" pitchFamily="34" charset="-122"/>
              </a:rPr>
              <a:t>未检测到错误</a:t>
            </a:r>
          </a:p>
        </p:txBody>
      </p:sp>
    </p:spTree>
    <p:extLst>
      <p:ext uri="{BB962C8B-B14F-4D97-AF65-F5344CB8AC3E}">
        <p14:creationId xmlns:p14="http://schemas.microsoft.com/office/powerpoint/2010/main" val="128715540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latin typeface="宋体" panose="02010600030101010101" pitchFamily="2" charset="-122"/>
              </a:rPr>
              <a:t>典型检错码</a:t>
            </a:r>
            <a:r>
              <a:rPr kumimoji="1" lang="en-US" altLang="zh-CN" sz="3200" dirty="0">
                <a:solidFill>
                  <a:schemeClr val="accent1">
                    <a:lumMod val="75000"/>
                  </a:schemeClr>
                </a:solidFill>
              </a:rPr>
              <a:t>—</a:t>
            </a:r>
            <a:r>
              <a:rPr kumimoji="1" lang="zh-CN" altLang="en-US" sz="3200" dirty="0">
                <a:solidFill>
                  <a:schemeClr val="accent1">
                    <a:lumMod val="75000"/>
                  </a:schemeClr>
                </a:solidFill>
              </a:rPr>
              <a:t>校验和</a:t>
            </a:r>
          </a:p>
        </p:txBody>
      </p:sp>
      <p:sp>
        <p:nvSpPr>
          <p:cNvPr id="3" name="内容占位符 2"/>
          <p:cNvSpPr>
            <a:spLocks noGrp="1"/>
          </p:cNvSpPr>
          <p:nvPr>
            <p:ph idx="1"/>
          </p:nvPr>
        </p:nvSpPr>
        <p:spPr>
          <a:xfrm>
            <a:off x="838200" y="1275680"/>
            <a:ext cx="10591800" cy="687668"/>
          </a:xfrm>
        </p:spPr>
        <p:txBody>
          <a:bodyPr>
            <a:normAutofit/>
          </a:bodyPr>
          <a:lstStyle/>
          <a:p>
            <a:pPr>
              <a:lnSpc>
                <a:spcPct val="150000"/>
              </a:lnSpc>
            </a:pPr>
            <a:r>
              <a:rPr kumimoji="1" lang="en-US" altLang="zh-CN" dirty="0"/>
              <a:t>TCP/IP</a:t>
            </a:r>
            <a:r>
              <a:rPr kumimoji="1" lang="zh-CN" altLang="en-US" dirty="0"/>
              <a:t>体系中主要采用的校验方法</a:t>
            </a:r>
            <a:endParaRPr kumimoji="1" lang="en-US" altLang="zh-CN" dirty="0"/>
          </a:p>
        </p:txBody>
      </p:sp>
      <p:sp>
        <p:nvSpPr>
          <p:cNvPr id="5" name="文本框 4">
            <a:extLst>
              <a:ext uri="{FF2B5EF4-FFF2-40B4-BE49-F238E27FC236}">
                <a16:creationId xmlns:a16="http://schemas.microsoft.com/office/drawing/2014/main" id="{082CC463-A981-4E7E-8F03-FAA795786BD7}"/>
              </a:ext>
            </a:extLst>
          </p:cNvPr>
          <p:cNvSpPr txBox="1"/>
          <p:nvPr/>
        </p:nvSpPr>
        <p:spPr>
          <a:xfrm>
            <a:off x="102036" y="6434725"/>
            <a:ext cx="3051654"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3.2 </a:t>
            </a:r>
            <a:r>
              <a:rPr lang="zh-CN" altLang="en-US" dirty="0">
                <a:solidFill>
                  <a:schemeClr val="bg1">
                    <a:lumMod val="65000"/>
                  </a:schemeClr>
                </a:solidFill>
                <a:latin typeface="微软雅黑" panose="020B0503020204020204" pitchFamily="34" charset="-122"/>
                <a:ea typeface="微软雅黑" panose="020B0503020204020204" pitchFamily="34" charset="-122"/>
              </a:rPr>
              <a:t>差错检测和纠正</a:t>
            </a:r>
          </a:p>
        </p:txBody>
      </p:sp>
      <p:sp>
        <p:nvSpPr>
          <p:cNvPr id="12" name="灯片编号占位符 3"/>
          <p:cNvSpPr>
            <a:spLocks noGrp="1"/>
          </p:cNvSpPr>
          <p:nvPr>
            <p:ph type="sldNum" sz="quarter" idx="12"/>
          </p:nvPr>
        </p:nvSpPr>
        <p:spPr>
          <a:xfrm>
            <a:off x="8610600" y="6356350"/>
            <a:ext cx="331967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pic>
        <p:nvPicPr>
          <p:cNvPr id="20" name="Picture 19">
            <a:extLst>
              <a:ext uri="{FF2B5EF4-FFF2-40B4-BE49-F238E27FC236}">
                <a16:creationId xmlns:a16="http://schemas.microsoft.com/office/drawing/2014/main" id="{AFA0F6F0-3AA2-D212-24D2-3CCDC268C8B0}"/>
              </a:ext>
            </a:extLst>
          </p:cNvPr>
          <p:cNvPicPr>
            <a:picLocks noChangeAspect="1"/>
          </p:cNvPicPr>
          <p:nvPr/>
        </p:nvPicPr>
        <p:blipFill>
          <a:blip r:embed="rId3"/>
          <a:stretch>
            <a:fillRect/>
          </a:stretch>
        </p:blipFill>
        <p:spPr>
          <a:xfrm>
            <a:off x="0" y="2376016"/>
            <a:ext cx="6160367" cy="2782892"/>
          </a:xfrm>
          <a:prstGeom prst="rect">
            <a:avLst/>
          </a:prstGeom>
        </p:spPr>
      </p:pic>
      <p:pic>
        <p:nvPicPr>
          <p:cNvPr id="25" name="Picture 24">
            <a:extLst>
              <a:ext uri="{FF2B5EF4-FFF2-40B4-BE49-F238E27FC236}">
                <a16:creationId xmlns:a16="http://schemas.microsoft.com/office/drawing/2014/main" id="{0E642846-1DBD-E8BA-FDAB-E4E9415DAC9F}"/>
              </a:ext>
            </a:extLst>
          </p:cNvPr>
          <p:cNvPicPr>
            <a:picLocks noChangeAspect="1"/>
          </p:cNvPicPr>
          <p:nvPr/>
        </p:nvPicPr>
        <p:blipFill>
          <a:blip r:embed="rId4"/>
          <a:stretch>
            <a:fillRect/>
          </a:stretch>
        </p:blipFill>
        <p:spPr>
          <a:xfrm>
            <a:off x="6664030" y="2640272"/>
            <a:ext cx="5266240" cy="2518636"/>
          </a:xfrm>
          <a:prstGeom prst="rect">
            <a:avLst/>
          </a:prstGeom>
        </p:spPr>
      </p:pic>
    </p:spTree>
    <p:extLst>
      <p:ext uri="{BB962C8B-B14F-4D97-AF65-F5344CB8AC3E}">
        <p14:creationId xmlns:p14="http://schemas.microsoft.com/office/powerpoint/2010/main" val="308107950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dirty="0"/>
              <a:t>典型检错码</a:t>
            </a:r>
            <a:r>
              <a:rPr kumimoji="1" lang="en-US" altLang="zh-CN" sz="3200" dirty="0">
                <a:solidFill>
                  <a:schemeClr val="accent1">
                    <a:lumMod val="75000"/>
                  </a:schemeClr>
                </a:solidFill>
              </a:rPr>
              <a:t>—</a:t>
            </a:r>
            <a:r>
              <a:rPr kumimoji="1" lang="zh-CN" altLang="en-US" sz="3200" dirty="0">
                <a:solidFill>
                  <a:schemeClr val="accent1">
                    <a:lumMod val="75000"/>
                  </a:schemeClr>
                </a:solidFill>
              </a:rPr>
              <a:t>循环冗余校验</a:t>
            </a:r>
            <a:r>
              <a:rPr kumimoji="1" lang="en-US" altLang="zh-CN" sz="3200" dirty="0">
                <a:solidFill>
                  <a:schemeClr val="accent1">
                    <a:lumMod val="75000"/>
                  </a:schemeClr>
                </a:solidFill>
              </a:rPr>
              <a:t>CRC</a:t>
            </a:r>
            <a:endParaRPr kumimoji="1" lang="zh-CN" altLang="en-US" sz="3200" dirty="0">
              <a:solidFill>
                <a:schemeClr val="accent1">
                  <a:lumMod val="75000"/>
                </a:schemeClr>
              </a:solidFill>
            </a:endParaRPr>
          </a:p>
        </p:txBody>
      </p:sp>
      <p:sp>
        <p:nvSpPr>
          <p:cNvPr id="3" name="内容占位符 2"/>
          <p:cNvSpPr>
            <a:spLocks noGrp="1"/>
          </p:cNvSpPr>
          <p:nvPr>
            <p:ph idx="1"/>
          </p:nvPr>
        </p:nvSpPr>
        <p:spPr>
          <a:xfrm>
            <a:off x="613611" y="1313922"/>
            <a:ext cx="7496682" cy="5051093"/>
          </a:xfrm>
        </p:spPr>
        <p:txBody>
          <a:bodyPr>
            <a:normAutofit lnSpcReduction="10000"/>
          </a:bodyPr>
          <a:lstStyle/>
          <a:p>
            <a:pPr>
              <a:lnSpc>
                <a:spcPct val="150000"/>
              </a:lnSpc>
            </a:pPr>
            <a:r>
              <a:rPr kumimoji="1" lang="en-US" altLang="zh-CN" dirty="0">
                <a:latin typeface="微软雅黑" panose="020B0503020204020204" pitchFamily="34" charset="-122"/>
                <a:ea typeface="微软雅黑" panose="020B0503020204020204" pitchFamily="34" charset="-122"/>
              </a:rPr>
              <a:t>CRC</a:t>
            </a:r>
            <a:r>
              <a:rPr kumimoji="1" lang="zh-CN" altLang="en-US" dirty="0">
                <a:latin typeface="微软雅黑" panose="020B0503020204020204" pitchFamily="34" charset="-122"/>
                <a:ea typeface="微软雅黑" panose="020B0503020204020204" pitchFamily="34" charset="-122"/>
              </a:rPr>
              <a:t>校验码计算方法</a:t>
            </a:r>
          </a:p>
          <a:p>
            <a:pPr lvl="1">
              <a:lnSpc>
                <a:spcPct val="150000"/>
              </a:lnSpc>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设原始数据</a:t>
            </a:r>
            <a:r>
              <a:rPr lang="en-US" altLang="zh-CN"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D</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为</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k</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位二进制位模式</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lvl="1">
              <a:lnSpc>
                <a:spcPct val="150000"/>
              </a:lnSpc>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如果要产生</a:t>
            </a:r>
            <a:r>
              <a:rPr lang="en-US" altLang="zh-CN"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n</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位</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CRC</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校验码，事先选定一个</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n+1</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位二进制位模式</a:t>
            </a:r>
            <a:r>
              <a:rPr lang="en-US" altLang="zh-CN"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G (</a:t>
            </a:r>
            <a:r>
              <a:rPr lang="zh-CN" altLang="en-US" dirty="0">
                <a:solidFill>
                  <a:srgbClr val="C00000"/>
                </a:solidFill>
                <a:highlight>
                  <a:srgbClr val="FFFF00"/>
                </a:highlight>
                <a:latin typeface="微软雅黑" panose="020B0503020204020204" pitchFamily="34" charset="-122"/>
                <a:ea typeface="微软雅黑" panose="020B0503020204020204" pitchFamily="34" charset="-122"/>
                <a:cs typeface="Times New Roman" panose="02020603050405020304" pitchFamily="18" charset="0"/>
              </a:rPr>
              <a:t>称为生成多项式，收发双方提前商定</a:t>
            </a:r>
            <a:r>
              <a:rPr lang="en-US" altLang="zh-CN"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G</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的最高位为</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1</a:t>
            </a:r>
          </a:p>
          <a:p>
            <a:pPr lvl="1">
              <a:lnSpc>
                <a:spcPct val="150000"/>
              </a:lnSpc>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将原始数据</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D</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乘以</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2</a:t>
            </a:r>
            <a:r>
              <a:rPr lang="en-US" altLang="zh-CN" baseline="30000" dirty="0">
                <a:latin typeface="微软雅黑" panose="020B0503020204020204" pitchFamily="34" charset="-122"/>
                <a:ea typeface="微软雅黑" panose="020B0503020204020204" pitchFamily="34" charset="-122"/>
                <a:cs typeface="Times New Roman" panose="02020603050405020304" pitchFamily="18" charset="0"/>
              </a:rPr>
              <a:t>n </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（相当于在</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D</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后面添加 </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n </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个 </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0</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），产生</a:t>
            </a:r>
            <a:r>
              <a:rPr lang="en-US" altLang="zh-CN" dirty="0" err="1">
                <a:latin typeface="微软雅黑" panose="020B0503020204020204" pitchFamily="34" charset="-122"/>
                <a:ea typeface="微软雅黑" panose="020B0503020204020204" pitchFamily="34" charset="-122"/>
                <a:cs typeface="Times New Roman" panose="02020603050405020304" pitchFamily="18" charset="0"/>
              </a:rPr>
              <a:t>k+n</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位二进制位模式，用</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G</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对该位模式做模</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2</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除，得到余数</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R</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dirty="0">
                <a:highlight>
                  <a:srgbClr val="FFFF00"/>
                </a:highlight>
                <a:latin typeface="微软雅黑" panose="020B0503020204020204" pitchFamily="34" charset="-122"/>
                <a:ea typeface="微软雅黑" panose="020B0503020204020204" pitchFamily="34" charset="-122"/>
                <a:cs typeface="Times New Roman" panose="02020603050405020304" pitchFamily="18" charset="0"/>
              </a:rPr>
              <a:t>n</a:t>
            </a:r>
            <a:r>
              <a:rPr lang="zh-CN" altLang="en-US" dirty="0">
                <a:highlight>
                  <a:srgbClr val="FFFF00"/>
                </a:highlight>
                <a:latin typeface="微软雅黑" panose="020B0503020204020204" pitchFamily="34" charset="-122"/>
                <a:ea typeface="微软雅黑" panose="020B0503020204020204" pitchFamily="34" charset="-122"/>
                <a:cs typeface="Times New Roman" panose="02020603050405020304" pitchFamily="18" charset="0"/>
              </a:rPr>
              <a:t>位，不足</a:t>
            </a:r>
            <a:r>
              <a:rPr lang="en-US" altLang="zh-CN" dirty="0">
                <a:highlight>
                  <a:srgbClr val="FFFF00"/>
                </a:highlight>
                <a:latin typeface="微软雅黑" panose="020B0503020204020204" pitchFamily="34" charset="-122"/>
                <a:ea typeface="微软雅黑" panose="020B0503020204020204" pitchFamily="34" charset="-122"/>
                <a:cs typeface="Times New Roman" panose="02020603050405020304" pitchFamily="18" charset="0"/>
              </a:rPr>
              <a:t>n</a:t>
            </a:r>
            <a:r>
              <a:rPr lang="zh-CN" altLang="en-US" dirty="0">
                <a:highlight>
                  <a:srgbClr val="FFFF00"/>
                </a:highlight>
                <a:latin typeface="微软雅黑" panose="020B0503020204020204" pitchFamily="34" charset="-122"/>
                <a:ea typeface="微软雅黑" panose="020B0503020204020204" pitchFamily="34" charset="-122"/>
                <a:cs typeface="Times New Roman" panose="02020603050405020304" pitchFamily="18" charset="0"/>
              </a:rPr>
              <a:t>位前面用</a:t>
            </a:r>
            <a:r>
              <a:rPr lang="en-US" altLang="zh-CN" dirty="0">
                <a:highlight>
                  <a:srgbClr val="FFFF00"/>
                </a:highlight>
                <a:latin typeface="微软雅黑" panose="020B0503020204020204" pitchFamily="34" charset="-122"/>
                <a:ea typeface="微软雅黑" panose="020B0503020204020204" pitchFamily="34" charset="-122"/>
                <a:cs typeface="Times New Roman" panose="02020603050405020304" pitchFamily="18" charset="0"/>
              </a:rPr>
              <a:t>0</a:t>
            </a:r>
            <a:r>
              <a:rPr lang="zh-CN" altLang="en-US" dirty="0">
                <a:highlight>
                  <a:srgbClr val="FFFF00"/>
                </a:highlight>
                <a:latin typeface="微软雅黑" panose="020B0503020204020204" pitchFamily="34" charset="-122"/>
                <a:ea typeface="微软雅黑" panose="020B0503020204020204" pitchFamily="34" charset="-122"/>
                <a:cs typeface="Times New Roman" panose="02020603050405020304" pitchFamily="18" charset="0"/>
              </a:rPr>
              <a:t>补齐</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）即为</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CRC</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校验码</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文本框 4">
            <a:extLst>
              <a:ext uri="{FF2B5EF4-FFF2-40B4-BE49-F238E27FC236}">
                <a16:creationId xmlns:a16="http://schemas.microsoft.com/office/drawing/2014/main" id="{082CC463-A981-4E7E-8F03-FAA795786BD7}"/>
              </a:ext>
            </a:extLst>
          </p:cNvPr>
          <p:cNvSpPr txBox="1"/>
          <p:nvPr/>
        </p:nvSpPr>
        <p:spPr>
          <a:xfrm>
            <a:off x="102036" y="6434725"/>
            <a:ext cx="3051654"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3.2 </a:t>
            </a:r>
            <a:r>
              <a:rPr lang="zh-CN" altLang="en-US" dirty="0">
                <a:solidFill>
                  <a:schemeClr val="bg1">
                    <a:lumMod val="65000"/>
                  </a:schemeClr>
                </a:solidFill>
                <a:latin typeface="微软雅黑" panose="020B0503020204020204" pitchFamily="34" charset="-122"/>
                <a:ea typeface="微软雅黑" panose="020B0503020204020204" pitchFamily="34" charset="-122"/>
              </a:rPr>
              <a:t>差错检测和纠正</a:t>
            </a:r>
          </a:p>
        </p:txBody>
      </p:sp>
      <p:sp>
        <p:nvSpPr>
          <p:cNvPr id="12" name="矩形 11">
            <a:extLst>
              <a:ext uri="{FF2B5EF4-FFF2-40B4-BE49-F238E27FC236}">
                <a16:creationId xmlns:a16="http://schemas.microsoft.com/office/drawing/2014/main" id="{9858CA14-BFA2-4FCA-8EAC-ABDC8ED0A8E2}"/>
              </a:ext>
            </a:extLst>
          </p:cNvPr>
          <p:cNvSpPr/>
          <p:nvPr/>
        </p:nvSpPr>
        <p:spPr>
          <a:xfrm>
            <a:off x="8451310" y="1842951"/>
            <a:ext cx="2332892" cy="299698"/>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微软雅黑" pitchFamily="34" charset="-122"/>
                <a:ea typeface="微软雅黑" pitchFamily="34" charset="-122"/>
              </a:rPr>
              <a:t>原始数据</a:t>
            </a:r>
            <a:r>
              <a:rPr lang="en-US" altLang="zh-CN" sz="1400" b="1" dirty="0">
                <a:solidFill>
                  <a:schemeClr val="tx1"/>
                </a:solidFill>
                <a:latin typeface="微软雅黑" pitchFamily="34" charset="-122"/>
                <a:ea typeface="微软雅黑" pitchFamily="34" charset="-122"/>
              </a:rPr>
              <a:t>D</a:t>
            </a:r>
            <a:endParaRPr lang="zh-CN" altLang="en-US" sz="1400" b="1" dirty="0">
              <a:solidFill>
                <a:schemeClr val="tx1"/>
              </a:solidFill>
              <a:latin typeface="微软雅黑" pitchFamily="34" charset="-122"/>
              <a:ea typeface="微软雅黑" pitchFamily="34" charset="-122"/>
            </a:endParaRPr>
          </a:p>
        </p:txBody>
      </p:sp>
      <p:sp>
        <p:nvSpPr>
          <p:cNvPr id="13" name="矩形 12">
            <a:extLst>
              <a:ext uri="{FF2B5EF4-FFF2-40B4-BE49-F238E27FC236}">
                <a16:creationId xmlns:a16="http://schemas.microsoft.com/office/drawing/2014/main" id="{06692ED2-DA8B-44B2-84C0-7B27FDF38CA5}"/>
              </a:ext>
            </a:extLst>
          </p:cNvPr>
          <p:cNvSpPr/>
          <p:nvPr/>
        </p:nvSpPr>
        <p:spPr>
          <a:xfrm>
            <a:off x="10784200" y="1842951"/>
            <a:ext cx="1184033" cy="299698"/>
          </a:xfrm>
          <a:prstGeom prst="rect">
            <a:avLst/>
          </a:prstGeom>
          <a:solidFill>
            <a:schemeClr val="accent6">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chemeClr val="tx1"/>
                </a:solidFill>
                <a:latin typeface="微软雅黑" pitchFamily="34" charset="-122"/>
                <a:ea typeface="微软雅黑" pitchFamily="34" charset="-122"/>
              </a:rPr>
              <a:t>CRC </a:t>
            </a:r>
            <a:r>
              <a:rPr lang="zh-CN" altLang="en-US" sz="1400" b="1" dirty="0">
                <a:solidFill>
                  <a:schemeClr val="tx1"/>
                </a:solidFill>
                <a:latin typeface="微软雅黑" pitchFamily="34" charset="-122"/>
                <a:ea typeface="微软雅黑" pitchFamily="34" charset="-122"/>
              </a:rPr>
              <a:t>校验码</a:t>
            </a:r>
            <a:endParaRPr lang="zh-CN" altLang="en-US" sz="1400" b="1" dirty="0">
              <a:latin typeface="微软雅黑" pitchFamily="34" charset="-122"/>
              <a:ea typeface="微软雅黑" pitchFamily="34" charset="-122"/>
            </a:endParaRPr>
          </a:p>
        </p:txBody>
      </p:sp>
      <p:sp>
        <p:nvSpPr>
          <p:cNvPr id="14" name="矩形 13">
            <a:extLst>
              <a:ext uri="{FF2B5EF4-FFF2-40B4-BE49-F238E27FC236}">
                <a16:creationId xmlns:a16="http://schemas.microsoft.com/office/drawing/2014/main" id="{1FBFB15D-FA0D-40FE-B781-ABCDAD506135}"/>
              </a:ext>
            </a:extLst>
          </p:cNvPr>
          <p:cNvSpPr/>
          <p:nvPr/>
        </p:nvSpPr>
        <p:spPr>
          <a:xfrm>
            <a:off x="8451310" y="2769075"/>
            <a:ext cx="3516922" cy="299698"/>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微软雅黑" pitchFamily="34" charset="-122"/>
                <a:ea typeface="微软雅黑" pitchFamily="34" charset="-122"/>
              </a:rPr>
              <a:t>发送数据</a:t>
            </a:r>
          </a:p>
        </p:txBody>
      </p:sp>
      <p:sp>
        <p:nvSpPr>
          <p:cNvPr id="15" name="矩形 14">
            <a:extLst>
              <a:ext uri="{FF2B5EF4-FFF2-40B4-BE49-F238E27FC236}">
                <a16:creationId xmlns:a16="http://schemas.microsoft.com/office/drawing/2014/main" id="{3DA4ABF0-5381-407F-849B-1445ED7D26BA}"/>
              </a:ext>
            </a:extLst>
          </p:cNvPr>
          <p:cNvSpPr/>
          <p:nvPr/>
        </p:nvSpPr>
        <p:spPr>
          <a:xfrm>
            <a:off x="9350241" y="1568241"/>
            <a:ext cx="476413" cy="276999"/>
          </a:xfrm>
          <a:prstGeom prst="rect">
            <a:avLst/>
          </a:prstGeom>
        </p:spPr>
        <p:txBody>
          <a:bodyPr wrap="none">
            <a:spAutoFit/>
          </a:bodyPr>
          <a:lstStyle/>
          <a:p>
            <a:pPr algn="ctr"/>
            <a:r>
              <a:rPr lang="en-US" altLang="zh-CN" sz="1200" b="1" i="1" dirty="0">
                <a:latin typeface="微软雅黑" pitchFamily="34" charset="-122"/>
                <a:ea typeface="微软雅黑" pitchFamily="34" charset="-122"/>
              </a:rPr>
              <a:t>k</a:t>
            </a:r>
            <a:r>
              <a:rPr lang="en-US" altLang="zh-CN" sz="1200" b="1" dirty="0">
                <a:latin typeface="微软雅黑" pitchFamily="34" charset="-122"/>
                <a:ea typeface="微软雅黑" pitchFamily="34" charset="-122"/>
              </a:rPr>
              <a:t> </a:t>
            </a:r>
            <a:r>
              <a:rPr lang="zh-CN" altLang="en-US" sz="1200" b="1" dirty="0">
                <a:latin typeface="微软雅黑" pitchFamily="34" charset="-122"/>
                <a:ea typeface="微软雅黑" pitchFamily="34" charset="-122"/>
              </a:rPr>
              <a:t>位</a:t>
            </a:r>
          </a:p>
        </p:txBody>
      </p:sp>
      <p:sp>
        <p:nvSpPr>
          <p:cNvPr id="16" name="矩形 15">
            <a:extLst>
              <a:ext uri="{FF2B5EF4-FFF2-40B4-BE49-F238E27FC236}">
                <a16:creationId xmlns:a16="http://schemas.microsoft.com/office/drawing/2014/main" id="{25850685-C134-4B22-8B5C-4BBD70CC33A9}"/>
              </a:ext>
            </a:extLst>
          </p:cNvPr>
          <p:cNvSpPr/>
          <p:nvPr/>
        </p:nvSpPr>
        <p:spPr>
          <a:xfrm>
            <a:off x="11092970" y="1568241"/>
            <a:ext cx="484428" cy="276999"/>
          </a:xfrm>
          <a:prstGeom prst="rect">
            <a:avLst/>
          </a:prstGeom>
        </p:spPr>
        <p:txBody>
          <a:bodyPr wrap="none">
            <a:spAutoFit/>
          </a:bodyPr>
          <a:lstStyle/>
          <a:p>
            <a:pPr algn="ctr"/>
            <a:r>
              <a:rPr lang="en-US" altLang="zh-CN" sz="1200" b="1" i="1" dirty="0">
                <a:latin typeface="微软雅黑" pitchFamily="34" charset="-122"/>
                <a:ea typeface="微软雅黑" pitchFamily="34" charset="-122"/>
              </a:rPr>
              <a:t>n</a:t>
            </a:r>
            <a:r>
              <a:rPr lang="en-US" altLang="zh-CN" sz="1200" b="1" dirty="0">
                <a:latin typeface="微软雅黑" pitchFamily="34" charset="-122"/>
                <a:ea typeface="微软雅黑" pitchFamily="34" charset="-122"/>
              </a:rPr>
              <a:t> </a:t>
            </a:r>
            <a:r>
              <a:rPr lang="zh-CN" altLang="en-US" sz="1200" b="1" dirty="0">
                <a:latin typeface="微软雅黑" pitchFamily="34" charset="-122"/>
                <a:ea typeface="微软雅黑" pitchFamily="34" charset="-122"/>
              </a:rPr>
              <a:t>位</a:t>
            </a:r>
          </a:p>
        </p:txBody>
      </p:sp>
      <p:sp>
        <p:nvSpPr>
          <p:cNvPr id="17" name="下箭头 16">
            <a:extLst>
              <a:ext uri="{FF2B5EF4-FFF2-40B4-BE49-F238E27FC236}">
                <a16:creationId xmlns:a16="http://schemas.microsoft.com/office/drawing/2014/main" id="{E4974AEC-7A47-49E3-81D4-7134C607E1FD}"/>
              </a:ext>
            </a:extLst>
          </p:cNvPr>
          <p:cNvSpPr/>
          <p:nvPr/>
        </p:nvSpPr>
        <p:spPr>
          <a:xfrm>
            <a:off x="10033924" y="2248159"/>
            <a:ext cx="208780" cy="410308"/>
          </a:xfrm>
          <a:prstGeom prst="downArrow">
            <a:avLst/>
          </a:prstGeom>
          <a:solidFill>
            <a:srgbClr val="00FF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a:extLst>
              <a:ext uri="{FF2B5EF4-FFF2-40B4-BE49-F238E27FC236}">
                <a16:creationId xmlns:a16="http://schemas.microsoft.com/office/drawing/2014/main" id="{5FE51C64-2361-460D-A05C-2AD080B5042A}"/>
              </a:ext>
            </a:extLst>
          </p:cNvPr>
          <p:cNvSpPr/>
          <p:nvPr/>
        </p:nvSpPr>
        <p:spPr>
          <a:xfrm>
            <a:off x="9824364" y="3067961"/>
            <a:ext cx="785793" cy="276999"/>
          </a:xfrm>
          <a:prstGeom prst="rect">
            <a:avLst/>
          </a:prstGeom>
        </p:spPr>
        <p:txBody>
          <a:bodyPr wrap="none">
            <a:spAutoFit/>
          </a:bodyPr>
          <a:lstStyle/>
          <a:p>
            <a:pPr algn="ctr"/>
            <a:r>
              <a:rPr lang="en-US" altLang="zh-CN" sz="1200" b="1" i="1" dirty="0">
                <a:latin typeface="微软雅黑" pitchFamily="34" charset="-122"/>
                <a:ea typeface="微软雅黑" pitchFamily="34" charset="-122"/>
              </a:rPr>
              <a:t>k</a:t>
            </a:r>
            <a:r>
              <a:rPr lang="en-US" altLang="zh-CN" sz="1200" b="1" dirty="0">
                <a:latin typeface="微软雅黑" pitchFamily="34" charset="-122"/>
                <a:ea typeface="微软雅黑" pitchFamily="34" charset="-122"/>
              </a:rPr>
              <a:t> + </a:t>
            </a:r>
            <a:r>
              <a:rPr lang="en-US" altLang="zh-CN" sz="1200" b="1" i="1" dirty="0">
                <a:latin typeface="微软雅黑" pitchFamily="34" charset="-122"/>
                <a:ea typeface="微软雅黑" pitchFamily="34" charset="-122"/>
              </a:rPr>
              <a:t>n</a:t>
            </a:r>
            <a:r>
              <a:rPr lang="en-US" altLang="zh-CN" sz="1200" b="1" dirty="0">
                <a:latin typeface="微软雅黑" pitchFamily="34" charset="-122"/>
                <a:ea typeface="微软雅黑" pitchFamily="34" charset="-122"/>
              </a:rPr>
              <a:t> </a:t>
            </a:r>
            <a:r>
              <a:rPr lang="zh-CN" altLang="en-US" sz="1200" b="1" dirty="0">
                <a:latin typeface="微软雅黑" pitchFamily="34" charset="-122"/>
                <a:ea typeface="微软雅黑" pitchFamily="34" charset="-122"/>
              </a:rPr>
              <a:t>位</a:t>
            </a:r>
          </a:p>
        </p:txBody>
      </p:sp>
      <p:cxnSp>
        <p:nvCxnSpPr>
          <p:cNvPr id="19" name="直接连接符 18">
            <a:extLst>
              <a:ext uri="{FF2B5EF4-FFF2-40B4-BE49-F238E27FC236}">
                <a16:creationId xmlns:a16="http://schemas.microsoft.com/office/drawing/2014/main" id="{9BA05D17-267F-4002-9F9A-D0029EC5FB8D}"/>
              </a:ext>
            </a:extLst>
          </p:cNvPr>
          <p:cNvCxnSpPr/>
          <p:nvPr/>
        </p:nvCxnSpPr>
        <p:spPr>
          <a:xfrm>
            <a:off x="10784202" y="2769075"/>
            <a:ext cx="0" cy="299698"/>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0" name="下箭头 17">
            <a:extLst>
              <a:ext uri="{FF2B5EF4-FFF2-40B4-BE49-F238E27FC236}">
                <a16:creationId xmlns:a16="http://schemas.microsoft.com/office/drawing/2014/main" id="{CE599149-D2B2-4788-A691-2D491EC7DA99}"/>
              </a:ext>
            </a:extLst>
          </p:cNvPr>
          <p:cNvSpPr/>
          <p:nvPr/>
        </p:nvSpPr>
        <p:spPr>
          <a:xfrm>
            <a:off x="10033924" y="3391851"/>
            <a:ext cx="208780" cy="410308"/>
          </a:xfrm>
          <a:prstGeom prst="downArrow">
            <a:avLst/>
          </a:prstGeom>
          <a:solidFill>
            <a:srgbClr val="00FF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FDA25EA2-4646-438B-9424-3D907B86CD4E}"/>
              </a:ext>
            </a:extLst>
          </p:cNvPr>
          <p:cNvSpPr/>
          <p:nvPr/>
        </p:nvSpPr>
        <p:spPr>
          <a:xfrm>
            <a:off x="8658453" y="4425743"/>
            <a:ext cx="3168502" cy="826637"/>
          </a:xfrm>
          <a:prstGeom prst="rect">
            <a:avLst/>
          </a:prstGeom>
          <a:solidFill>
            <a:schemeClr val="bg1"/>
          </a:solidFill>
          <a:ln>
            <a:solidFill>
              <a:srgbClr val="00B0F0"/>
            </a:solidFill>
          </a:ln>
        </p:spPr>
        <p:txBody>
          <a:bodyPr wrap="square">
            <a:spAutoFit/>
          </a:bodyPr>
          <a:lstStyle/>
          <a:p>
            <a:pPr>
              <a:lnSpc>
                <a:spcPts val="3000"/>
              </a:lnSpc>
            </a:pP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CRC</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校验能力：能检测出少于</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n+1</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位的突发错误</a:t>
            </a:r>
            <a:endParaRPr lang="zh-CN" altLang="en-US" sz="2000" dirty="0">
              <a:latin typeface="微软雅黑" panose="020B0503020204020204" pitchFamily="34" charset="-122"/>
              <a:ea typeface="微软雅黑" panose="020B0503020204020204" pitchFamily="34" charset="-122"/>
            </a:endParaRPr>
          </a:p>
        </p:txBody>
      </p:sp>
      <p:sp>
        <p:nvSpPr>
          <p:cNvPr id="22" name="矩形 21">
            <a:extLst>
              <a:ext uri="{FF2B5EF4-FFF2-40B4-BE49-F238E27FC236}">
                <a16:creationId xmlns:a16="http://schemas.microsoft.com/office/drawing/2014/main" id="{65865E1E-7E80-4082-BA0C-D774D014E94E}"/>
              </a:ext>
            </a:extLst>
          </p:cNvPr>
          <p:cNvSpPr/>
          <p:nvPr/>
        </p:nvSpPr>
        <p:spPr>
          <a:xfrm>
            <a:off x="9049254" y="5707517"/>
            <a:ext cx="2510244" cy="477054"/>
          </a:xfrm>
          <a:prstGeom prst="rect">
            <a:avLst/>
          </a:prstGeom>
          <a:solidFill>
            <a:schemeClr val="accent5">
              <a:lumMod val="20000"/>
              <a:lumOff val="80000"/>
            </a:schemeClr>
          </a:solidFill>
          <a:ln>
            <a:solidFill>
              <a:srgbClr val="C00000"/>
            </a:solidFill>
          </a:ln>
        </p:spPr>
        <p:txBody>
          <a:bodyPr wrap="square">
            <a:spAutoFit/>
          </a:bodyPr>
          <a:lstStyle/>
          <a:p>
            <a:pPr algn="ctr">
              <a:lnSpc>
                <a:spcPts val="3000"/>
              </a:lnSpc>
            </a:pPr>
            <a:r>
              <a:rPr lang="zh-CN" altLang="en-US" sz="2000" b="1" dirty="0">
                <a:solidFill>
                  <a:srgbClr val="C00000"/>
                </a:solidFill>
                <a:latin typeface="黑体" panose="02010609060101010101" pitchFamily="49" charset="-122"/>
                <a:ea typeface="黑体" panose="02010609060101010101" pitchFamily="49" charset="-122"/>
                <a:cs typeface="Times New Roman" panose="02020603050405020304" pitchFamily="18" charset="0"/>
              </a:rPr>
              <a:t>接收端如何计算？</a:t>
            </a:r>
            <a:endParaRPr lang="zh-CN" altLang="en-US" sz="2000" b="1" dirty="0">
              <a:solidFill>
                <a:srgbClr val="C00000"/>
              </a:solidFill>
              <a:latin typeface="黑体" panose="02010609060101010101" pitchFamily="49" charset="-122"/>
              <a:ea typeface="黑体" panose="02010609060101010101" pitchFamily="49" charset="-122"/>
            </a:endParaRPr>
          </a:p>
        </p:txBody>
      </p:sp>
      <p:sp>
        <p:nvSpPr>
          <p:cNvPr id="23" name="灯片编号占位符 3"/>
          <p:cNvSpPr>
            <a:spLocks noGrp="1"/>
          </p:cNvSpPr>
          <p:nvPr>
            <p:ph type="sldNum" sz="quarter" idx="12"/>
          </p:nvPr>
        </p:nvSpPr>
        <p:spPr>
          <a:xfrm>
            <a:off x="8610600" y="6356350"/>
            <a:ext cx="331967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Tree>
    <p:extLst>
      <p:ext uri="{BB962C8B-B14F-4D97-AF65-F5344CB8AC3E}">
        <p14:creationId xmlns:p14="http://schemas.microsoft.com/office/powerpoint/2010/main" val="320793846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dirty="0"/>
              <a:t>检错码</a:t>
            </a:r>
            <a:r>
              <a:rPr kumimoji="1" lang="en-US" altLang="zh-CN" sz="3200" dirty="0">
                <a:solidFill>
                  <a:schemeClr val="accent1">
                    <a:lumMod val="75000"/>
                  </a:schemeClr>
                </a:solidFill>
              </a:rPr>
              <a:t>—</a:t>
            </a:r>
            <a:r>
              <a:rPr kumimoji="1" lang="zh-CN" altLang="en-US" sz="3200" dirty="0">
                <a:solidFill>
                  <a:schemeClr val="accent1">
                    <a:lumMod val="75000"/>
                  </a:schemeClr>
                </a:solidFill>
              </a:rPr>
              <a:t>循环冗余校验</a:t>
            </a:r>
            <a:r>
              <a:rPr kumimoji="1" lang="en-US" altLang="zh-CN" sz="3200" dirty="0">
                <a:solidFill>
                  <a:schemeClr val="accent1">
                    <a:lumMod val="75000"/>
                  </a:schemeClr>
                </a:solidFill>
              </a:rPr>
              <a:t>CRC</a:t>
            </a:r>
            <a:endParaRPr kumimoji="1" lang="zh-CN" altLang="en-US" sz="3200" dirty="0">
              <a:solidFill>
                <a:schemeClr val="accent1">
                  <a:lumMod val="75000"/>
                </a:schemeClr>
              </a:solidFill>
            </a:endParaRPr>
          </a:p>
        </p:txBody>
      </p:sp>
      <p:sp>
        <p:nvSpPr>
          <p:cNvPr id="3" name="内容占位符 2"/>
          <p:cNvSpPr>
            <a:spLocks noGrp="1"/>
          </p:cNvSpPr>
          <p:nvPr>
            <p:ph idx="1"/>
          </p:nvPr>
        </p:nvSpPr>
        <p:spPr>
          <a:xfrm>
            <a:off x="838200" y="1383632"/>
            <a:ext cx="6395814" cy="4362969"/>
          </a:xfrm>
        </p:spPr>
        <p:txBody>
          <a:bodyPr>
            <a:normAutofit/>
          </a:bodyPr>
          <a:lstStyle/>
          <a:p>
            <a:pPr>
              <a:lnSpc>
                <a:spcPts val="3600"/>
              </a:lnSpc>
              <a:spcBef>
                <a:spcPts val="1200"/>
              </a:spcBef>
            </a:pPr>
            <a:r>
              <a:rPr kumimoji="1" lang="en-US" altLang="zh-CN" dirty="0">
                <a:latin typeface="微软雅黑" panose="020B0503020204020204" pitchFamily="34" charset="-122"/>
                <a:ea typeface="微软雅黑" panose="020B0503020204020204" pitchFamily="34" charset="-122"/>
              </a:rPr>
              <a:t>CRC</a:t>
            </a:r>
            <a:r>
              <a:rPr kumimoji="1" lang="zh-CN" altLang="en-US" dirty="0">
                <a:latin typeface="微软雅黑" panose="020B0503020204020204" pitchFamily="34" charset="-122"/>
                <a:ea typeface="微软雅黑" panose="020B0503020204020204" pitchFamily="34" charset="-122"/>
              </a:rPr>
              <a:t>校验码计算示例</a:t>
            </a:r>
            <a:endParaRPr kumimoji="1" lang="en-US" altLang="zh-CN" dirty="0">
              <a:latin typeface="微软雅黑" panose="020B0503020204020204" pitchFamily="34" charset="-122"/>
              <a:ea typeface="微软雅黑" panose="020B0503020204020204" pitchFamily="34" charset="-122"/>
            </a:endParaRPr>
          </a:p>
          <a:p>
            <a:pPr lvl="1">
              <a:lnSpc>
                <a:spcPts val="3600"/>
              </a:lnSpc>
              <a:spcBef>
                <a:spcPts val="1200"/>
              </a:spcBef>
            </a:pP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D = </a:t>
            </a:r>
            <a:r>
              <a:rPr lang="en-US" altLang="zh-CN" dirty="0">
                <a:solidFill>
                  <a:srgbClr val="000099"/>
                </a:solidFill>
                <a:latin typeface="微软雅黑" panose="020B0503020204020204" pitchFamily="34" charset="-122"/>
                <a:ea typeface="微软雅黑" panose="020B0503020204020204" pitchFamily="34" charset="-122"/>
                <a:cs typeface="Times New Roman" panose="02020603050405020304" pitchFamily="18" charset="0"/>
              </a:rPr>
              <a:t>1010001101</a:t>
            </a:r>
          </a:p>
          <a:p>
            <a:pPr lvl="1">
              <a:lnSpc>
                <a:spcPts val="3600"/>
              </a:lnSpc>
              <a:spcBef>
                <a:spcPts val="1200"/>
              </a:spcBef>
            </a:pP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n = 5</a:t>
            </a:r>
          </a:p>
          <a:p>
            <a:pPr lvl="1">
              <a:lnSpc>
                <a:spcPts val="3600"/>
              </a:lnSpc>
              <a:spcBef>
                <a:spcPts val="1200"/>
              </a:spcBef>
            </a:pP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G = 110101 </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或 </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G </a:t>
            </a:r>
            <a:r>
              <a:rPr lang="en-US" altLang="zh-CN" sz="2400" dirty="0">
                <a:latin typeface="微软雅黑" panose="020B0503020204020204" pitchFamily="34" charset="-122"/>
                <a:ea typeface="微软雅黑" panose="020B0503020204020204" pitchFamily="34" charset="-122"/>
                <a:cs typeface="Times New Roman" panose="02020603050405020304" pitchFamily="18" charset="0"/>
              </a:rPr>
              <a:t>= x</a:t>
            </a:r>
            <a:r>
              <a:rPr lang="en-US" altLang="zh-CN" sz="2400" baseline="30000" dirty="0">
                <a:latin typeface="微软雅黑" panose="020B0503020204020204" pitchFamily="34" charset="-122"/>
                <a:ea typeface="微软雅黑" panose="020B0503020204020204" pitchFamily="34" charset="-122"/>
                <a:cs typeface="Times New Roman" panose="02020603050405020304" pitchFamily="18" charset="0"/>
              </a:rPr>
              <a:t>5 </a:t>
            </a:r>
            <a:r>
              <a:rPr lang="en-US" altLang="zh-CN" sz="2400" dirty="0">
                <a:latin typeface="微软雅黑" panose="020B0503020204020204" pitchFamily="34" charset="-122"/>
                <a:ea typeface="微软雅黑" panose="020B0503020204020204" pitchFamily="34" charset="-122"/>
                <a:cs typeface="Times New Roman" panose="02020603050405020304" pitchFamily="18" charset="0"/>
              </a:rPr>
              <a:t>+ x</a:t>
            </a:r>
            <a:r>
              <a:rPr lang="en-US" altLang="zh-CN" sz="2400" baseline="30000" dirty="0">
                <a:latin typeface="微软雅黑" panose="020B0503020204020204" pitchFamily="34" charset="-122"/>
                <a:ea typeface="微软雅黑" panose="020B0503020204020204" pitchFamily="34" charset="-122"/>
                <a:cs typeface="Times New Roman" panose="02020603050405020304" pitchFamily="18" charset="0"/>
              </a:rPr>
              <a:t>4 </a:t>
            </a:r>
            <a:r>
              <a:rPr lang="en-US" altLang="zh-CN" sz="2400" dirty="0">
                <a:latin typeface="微软雅黑" panose="020B0503020204020204" pitchFamily="34" charset="-122"/>
                <a:ea typeface="微软雅黑" panose="020B0503020204020204" pitchFamily="34" charset="-122"/>
                <a:cs typeface="Times New Roman" panose="02020603050405020304" pitchFamily="18" charset="0"/>
              </a:rPr>
              <a:t>+ x</a:t>
            </a:r>
            <a:r>
              <a:rPr lang="en-US" altLang="zh-CN" sz="2400" baseline="30000" dirty="0">
                <a:latin typeface="微软雅黑" panose="020B0503020204020204" pitchFamily="34" charset="-122"/>
                <a:ea typeface="微软雅黑" panose="020B0503020204020204" pitchFamily="34" charset="-122"/>
                <a:cs typeface="Times New Roman" panose="02020603050405020304" pitchFamily="18" charset="0"/>
              </a:rPr>
              <a:t>2 </a:t>
            </a:r>
            <a:r>
              <a:rPr lang="en-US" altLang="zh-CN" sz="2400" dirty="0">
                <a:latin typeface="微软雅黑" panose="020B0503020204020204" pitchFamily="34" charset="-122"/>
                <a:ea typeface="微软雅黑" panose="020B0503020204020204" pitchFamily="34" charset="-122"/>
                <a:cs typeface="Times New Roman" panose="02020603050405020304" pitchFamily="18" charset="0"/>
              </a:rPr>
              <a:t>+ 1</a:t>
            </a:r>
            <a:endParaRPr lang="en-US" altLang="zh-CN"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lvl="1">
              <a:lnSpc>
                <a:spcPts val="3600"/>
              </a:lnSpc>
              <a:spcBef>
                <a:spcPts val="1200"/>
              </a:spcBef>
            </a:pP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R = 01110</a:t>
            </a:r>
          </a:p>
          <a:p>
            <a:pPr lvl="1">
              <a:lnSpc>
                <a:spcPts val="3600"/>
              </a:lnSpc>
              <a:spcBef>
                <a:spcPts val="1200"/>
              </a:spcBef>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实际传输数据：</a:t>
            </a:r>
            <a:r>
              <a:rPr lang="en-US" altLang="zh-CN" dirty="0">
                <a:solidFill>
                  <a:srgbClr val="000099"/>
                </a:solidFill>
                <a:latin typeface="微软雅黑" panose="020B0503020204020204" pitchFamily="34" charset="-122"/>
                <a:ea typeface="微软雅黑" panose="020B0503020204020204" pitchFamily="34" charset="-122"/>
                <a:cs typeface="Times New Roman" panose="02020603050405020304" pitchFamily="18" charset="0"/>
              </a:rPr>
              <a:t>1010001101</a:t>
            </a:r>
            <a:r>
              <a:rPr lang="en-US" altLang="zh-CN"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01110</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文本框 4">
            <a:extLst>
              <a:ext uri="{FF2B5EF4-FFF2-40B4-BE49-F238E27FC236}">
                <a16:creationId xmlns:a16="http://schemas.microsoft.com/office/drawing/2014/main" id="{082CC463-A981-4E7E-8F03-FAA795786BD7}"/>
              </a:ext>
            </a:extLst>
          </p:cNvPr>
          <p:cNvSpPr txBox="1"/>
          <p:nvPr/>
        </p:nvSpPr>
        <p:spPr>
          <a:xfrm>
            <a:off x="102036" y="6434725"/>
            <a:ext cx="3051654"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3.2 </a:t>
            </a:r>
            <a:r>
              <a:rPr lang="zh-CN" altLang="en-US" dirty="0">
                <a:solidFill>
                  <a:schemeClr val="bg1">
                    <a:lumMod val="65000"/>
                  </a:schemeClr>
                </a:solidFill>
                <a:latin typeface="微软雅黑" panose="020B0503020204020204" pitchFamily="34" charset="-122"/>
                <a:ea typeface="微软雅黑" panose="020B0503020204020204" pitchFamily="34" charset="-122"/>
              </a:rPr>
              <a:t>差错检测和纠正</a:t>
            </a:r>
          </a:p>
        </p:txBody>
      </p:sp>
      <p:grpSp>
        <p:nvGrpSpPr>
          <p:cNvPr id="24" name="Group 46"/>
          <p:cNvGrpSpPr>
            <a:grpSpLocks/>
          </p:cNvGrpSpPr>
          <p:nvPr/>
        </p:nvGrpSpPr>
        <p:grpSpPr bwMode="auto">
          <a:xfrm>
            <a:off x="5389340" y="1423838"/>
            <a:ext cx="6742112" cy="4359275"/>
            <a:chOff x="720" y="1281"/>
            <a:chExt cx="4247" cy="2746"/>
          </a:xfrm>
        </p:grpSpPr>
        <p:sp>
          <p:nvSpPr>
            <p:cNvPr id="25" name="Text Box 25"/>
            <p:cNvSpPr txBox="1">
              <a:spLocks noChangeArrowheads="1"/>
            </p:cNvSpPr>
            <p:nvPr/>
          </p:nvSpPr>
          <p:spPr bwMode="auto">
            <a:xfrm>
              <a:off x="720" y="1281"/>
              <a:ext cx="4247" cy="2746"/>
            </a:xfrm>
            <a:prstGeom prst="rect">
              <a:avLst/>
            </a:prstGeom>
            <a:noFill/>
            <a:ln w="9525">
              <a:noFill/>
              <a:miter lim="800000"/>
              <a:headEnd/>
              <a:tailEnd/>
            </a:ln>
          </p:spPr>
          <p:txBody>
            <a:bodyPr>
              <a:spAutoFit/>
            </a:bodyPr>
            <a:lstStyle/>
            <a:p>
              <a:r>
                <a:rPr lang="en-US" altLang="zh-CN" sz="1000" dirty="0">
                  <a:latin typeface="Courier New" pitchFamily="49" charset="0"/>
                  <a:ea typeface="黑体" pitchFamily="2" charset="-122"/>
                </a:rPr>
                <a:t>          </a:t>
              </a:r>
              <a:r>
                <a:rPr lang="en-US" altLang="zh-CN" sz="2000" dirty="0">
                  <a:latin typeface="Courier New" pitchFamily="49" charset="0"/>
                  <a:ea typeface="黑体" pitchFamily="2" charset="-122"/>
                </a:rPr>
                <a:t>                1101010110</a:t>
              </a:r>
            </a:p>
            <a:p>
              <a:r>
                <a:rPr lang="zh-CN" altLang="zh-CN" sz="2000" dirty="0">
                  <a:latin typeface="Courier New" pitchFamily="49" charset="0"/>
                  <a:ea typeface="黑体" pitchFamily="2" charset="-122"/>
                </a:rPr>
                <a:t> </a:t>
              </a:r>
              <a:r>
                <a:rPr lang="en-US" altLang="zh-CN" sz="2000" dirty="0">
                  <a:latin typeface="Courier New" pitchFamily="49" charset="0"/>
                  <a:ea typeface="黑体" pitchFamily="2" charset="-122"/>
                </a:rPr>
                <a:t> </a:t>
              </a:r>
              <a:r>
                <a:rPr lang="en-US" altLang="zh-CN" dirty="0">
                  <a:latin typeface="Courier New" pitchFamily="49" charset="0"/>
                  <a:ea typeface="黑体" pitchFamily="2" charset="-122"/>
                </a:rPr>
                <a:t>    </a:t>
              </a:r>
              <a:r>
                <a:rPr lang="en-US" altLang="zh-CN" sz="2000" i="1" dirty="0">
                  <a:latin typeface="Courier New" pitchFamily="49" charset="0"/>
                  <a:ea typeface="黑体" pitchFamily="2" charset="-122"/>
                </a:rPr>
                <a:t>G </a:t>
              </a:r>
              <a:r>
                <a:rPr lang="en-US" altLang="zh-CN" sz="2000" dirty="0">
                  <a:latin typeface="Courier New" pitchFamily="49" charset="0"/>
                  <a:ea typeface="黑体" pitchFamily="2" charset="-122"/>
                </a:rPr>
                <a:t>→</a:t>
              </a:r>
              <a:r>
                <a:rPr lang="en-US" altLang="zh-CN" sz="1000" dirty="0">
                  <a:latin typeface="Courier New" pitchFamily="49" charset="0"/>
                  <a:ea typeface="黑体" pitchFamily="2" charset="-122"/>
                </a:rPr>
                <a:t> </a:t>
              </a:r>
              <a:r>
                <a:rPr lang="en-US" altLang="zh-CN" sz="2000" dirty="0">
                  <a:latin typeface="Courier New" pitchFamily="49" charset="0"/>
                  <a:ea typeface="黑体" pitchFamily="2" charset="-122"/>
                </a:rPr>
                <a:t>110101 1010001101</a:t>
              </a:r>
              <a:r>
                <a:rPr lang="en-US" altLang="zh-CN" sz="2000" b="1" dirty="0">
                  <a:solidFill>
                    <a:srgbClr val="00B050"/>
                  </a:solidFill>
                  <a:latin typeface="Courier New" pitchFamily="49" charset="0"/>
                  <a:ea typeface="黑体" pitchFamily="2" charset="-122"/>
                </a:rPr>
                <a:t>00000</a:t>
              </a:r>
              <a:r>
                <a:rPr lang="en-US" altLang="zh-CN" sz="1000" dirty="0">
                  <a:latin typeface="Courier New" pitchFamily="49" charset="0"/>
                  <a:ea typeface="黑体" pitchFamily="2" charset="-122"/>
                </a:rPr>
                <a:t> </a:t>
              </a:r>
              <a:r>
                <a:rPr lang="en-US" altLang="zh-CN" sz="2000" dirty="0">
                  <a:latin typeface="Courier New" pitchFamily="49" charset="0"/>
                  <a:ea typeface="黑体" pitchFamily="2" charset="-122"/>
                </a:rPr>
                <a:t>←</a:t>
              </a:r>
              <a:r>
                <a:rPr lang="en-US" altLang="zh-CN" sz="1000" dirty="0">
                  <a:latin typeface="Courier New" pitchFamily="49" charset="0"/>
                  <a:ea typeface="黑体" pitchFamily="2" charset="-122"/>
                </a:rPr>
                <a:t> </a:t>
              </a:r>
              <a:r>
                <a:rPr lang="en-US" altLang="zh-CN" sz="2000" dirty="0">
                  <a:latin typeface="Courier New" pitchFamily="49" charset="0"/>
                  <a:ea typeface="黑体" pitchFamily="2" charset="-122"/>
                </a:rPr>
                <a:t>2</a:t>
              </a:r>
              <a:r>
                <a:rPr lang="en-US" altLang="zh-CN" sz="2000" i="1" baseline="30000" dirty="0">
                  <a:latin typeface="Courier New" pitchFamily="49" charset="0"/>
                  <a:ea typeface="黑体" pitchFamily="2" charset="-122"/>
                </a:rPr>
                <a:t>n</a:t>
              </a:r>
              <a:r>
                <a:rPr lang="en-US" altLang="zh-CN" sz="2000" i="1" dirty="0">
                  <a:latin typeface="Courier New" pitchFamily="49" charset="0"/>
                  <a:ea typeface="黑体" pitchFamily="2" charset="-122"/>
                </a:rPr>
                <a:t>D</a:t>
              </a:r>
              <a:endParaRPr lang="en-US" altLang="zh-CN" sz="2000" dirty="0">
                <a:latin typeface="Courier New" pitchFamily="49" charset="0"/>
                <a:ea typeface="黑体" pitchFamily="2" charset="-122"/>
              </a:endParaRPr>
            </a:p>
            <a:p>
              <a:r>
                <a:rPr lang="en-US" altLang="zh-CN" sz="800" dirty="0">
                  <a:latin typeface="Courier New" pitchFamily="49" charset="0"/>
                  <a:ea typeface="黑体" pitchFamily="2" charset="-122"/>
                </a:rPr>
                <a:t>  </a:t>
              </a:r>
              <a:r>
                <a:rPr lang="en-US" altLang="zh-CN" sz="1000" dirty="0">
                  <a:latin typeface="Courier New" pitchFamily="49" charset="0"/>
                  <a:ea typeface="黑体" pitchFamily="2" charset="-122"/>
                </a:rPr>
                <a:t>   </a:t>
              </a:r>
              <a:r>
                <a:rPr lang="en-US" altLang="zh-CN" sz="2000" dirty="0">
                  <a:latin typeface="Courier New" pitchFamily="49" charset="0"/>
                  <a:ea typeface="黑体" pitchFamily="2" charset="-122"/>
                </a:rPr>
                <a:t>  </a:t>
              </a:r>
              <a:r>
                <a:rPr lang="en-US" altLang="zh-CN" sz="800" dirty="0">
                  <a:latin typeface="Courier New" pitchFamily="49" charset="0"/>
                  <a:ea typeface="黑体" pitchFamily="2" charset="-122"/>
                </a:rPr>
                <a:t>                           </a:t>
              </a:r>
              <a:r>
                <a:rPr lang="en-US" altLang="zh-CN" sz="2000" dirty="0">
                  <a:latin typeface="Courier New" pitchFamily="49" charset="0"/>
                  <a:ea typeface="黑体" pitchFamily="2" charset="-122"/>
                </a:rPr>
                <a:t> 110101</a:t>
              </a:r>
            </a:p>
            <a:p>
              <a:r>
                <a:rPr lang="en-US" altLang="zh-CN" sz="800" dirty="0">
                  <a:latin typeface="Courier New" pitchFamily="49" charset="0"/>
                  <a:ea typeface="黑体" pitchFamily="2" charset="-122"/>
                </a:rPr>
                <a:t>                                           </a:t>
              </a:r>
              <a:r>
                <a:rPr lang="en-US" altLang="zh-CN" sz="2000" dirty="0">
                  <a:latin typeface="Courier New" pitchFamily="49" charset="0"/>
                  <a:ea typeface="黑体" pitchFamily="2" charset="-122"/>
                </a:rPr>
                <a:t>111011</a:t>
              </a:r>
              <a:r>
                <a:rPr lang="en-US" altLang="zh-CN" sz="1000" dirty="0">
                  <a:latin typeface="Courier New" pitchFamily="49" charset="0"/>
                  <a:ea typeface="黑体" pitchFamily="2" charset="-122"/>
                </a:rPr>
                <a:t> </a:t>
              </a:r>
              <a:endParaRPr lang="en-US" altLang="zh-CN" sz="2000" dirty="0">
                <a:latin typeface="Courier New" pitchFamily="49" charset="0"/>
                <a:ea typeface="黑体" pitchFamily="2" charset="-122"/>
              </a:endParaRPr>
            </a:p>
            <a:p>
              <a:r>
                <a:rPr lang="en-US" altLang="zh-CN" sz="800" dirty="0">
                  <a:latin typeface="Courier New" pitchFamily="49" charset="0"/>
                  <a:ea typeface="黑体" pitchFamily="2" charset="-122"/>
                </a:rPr>
                <a:t>                                           </a:t>
              </a:r>
              <a:r>
                <a:rPr lang="en-US" altLang="zh-CN" sz="2000" dirty="0">
                  <a:latin typeface="Courier New" pitchFamily="49" charset="0"/>
                  <a:ea typeface="黑体" pitchFamily="2" charset="-122"/>
                </a:rPr>
                <a:t>110101</a:t>
              </a:r>
            </a:p>
            <a:p>
              <a:r>
                <a:rPr lang="en-US" altLang="zh-CN" sz="1000" dirty="0">
                  <a:latin typeface="Courier New" pitchFamily="49" charset="0"/>
                  <a:ea typeface="黑体" pitchFamily="2" charset="-122"/>
                </a:rPr>
                <a:t> </a:t>
              </a:r>
              <a:r>
                <a:rPr lang="en-US" altLang="zh-CN" sz="800" dirty="0">
                  <a:latin typeface="Courier New" pitchFamily="49" charset="0"/>
                  <a:ea typeface="黑体" pitchFamily="2" charset="-122"/>
                </a:rPr>
                <a:t>                                               </a:t>
              </a:r>
              <a:r>
                <a:rPr lang="en-US" altLang="zh-CN" sz="2000" dirty="0">
                  <a:latin typeface="Courier New" pitchFamily="49" charset="0"/>
                  <a:ea typeface="黑体" pitchFamily="2" charset="-122"/>
                </a:rPr>
                <a:t>111010</a:t>
              </a:r>
            </a:p>
            <a:p>
              <a:r>
                <a:rPr lang="en-US" altLang="zh-CN" sz="1000" dirty="0">
                  <a:latin typeface="Courier New" pitchFamily="49" charset="0"/>
                  <a:ea typeface="黑体" pitchFamily="2" charset="-122"/>
                </a:rPr>
                <a:t> </a:t>
              </a:r>
              <a:r>
                <a:rPr lang="en-US" altLang="zh-CN" sz="800" dirty="0">
                  <a:latin typeface="Courier New" pitchFamily="49" charset="0"/>
                  <a:ea typeface="黑体" pitchFamily="2" charset="-122"/>
                </a:rPr>
                <a:t>                                               </a:t>
              </a:r>
              <a:r>
                <a:rPr lang="en-US" altLang="zh-CN" sz="2000" dirty="0">
                  <a:latin typeface="Courier New" pitchFamily="49" charset="0"/>
                  <a:ea typeface="黑体" pitchFamily="2" charset="-122"/>
                </a:rPr>
                <a:t>110101</a:t>
              </a:r>
            </a:p>
            <a:p>
              <a:r>
                <a:rPr lang="en-US" altLang="zh-CN" sz="800" dirty="0">
                  <a:latin typeface="Courier New" pitchFamily="49" charset="0"/>
                  <a:ea typeface="黑体" pitchFamily="2" charset="-122"/>
                </a:rPr>
                <a:t>                                                     </a:t>
              </a:r>
              <a:r>
                <a:rPr lang="en-US" altLang="zh-CN" sz="2000" dirty="0">
                  <a:latin typeface="Courier New" pitchFamily="49" charset="0"/>
                  <a:ea typeface="黑体" pitchFamily="2" charset="-122"/>
                </a:rPr>
                <a:t>11111</a:t>
              </a:r>
              <a:r>
                <a:rPr lang="en-US" altLang="zh-CN" sz="2000" b="1" dirty="0">
                  <a:solidFill>
                    <a:srgbClr val="00B050"/>
                  </a:solidFill>
                  <a:latin typeface="Courier New" pitchFamily="49" charset="0"/>
                  <a:ea typeface="黑体" pitchFamily="2" charset="-122"/>
                </a:rPr>
                <a:t>0</a:t>
              </a:r>
            </a:p>
            <a:p>
              <a:r>
                <a:rPr lang="en-US" altLang="zh-CN" sz="800" dirty="0">
                  <a:latin typeface="Courier New" pitchFamily="49" charset="0"/>
                  <a:ea typeface="黑体" pitchFamily="2" charset="-122"/>
                </a:rPr>
                <a:t>                                                     </a:t>
              </a:r>
              <a:r>
                <a:rPr lang="en-US" altLang="zh-CN" sz="2000" dirty="0">
                  <a:latin typeface="Courier New" pitchFamily="49" charset="0"/>
                  <a:ea typeface="黑体" pitchFamily="2" charset="-122"/>
                </a:rPr>
                <a:t>110101</a:t>
              </a:r>
            </a:p>
            <a:p>
              <a:r>
                <a:rPr lang="en-US" altLang="zh-CN" sz="1000" dirty="0">
                  <a:latin typeface="Courier New" pitchFamily="49" charset="0"/>
                  <a:ea typeface="黑体" pitchFamily="2" charset="-122"/>
                </a:rPr>
                <a:t> </a:t>
              </a:r>
              <a:r>
                <a:rPr lang="en-US" altLang="zh-CN" sz="900" dirty="0">
                  <a:latin typeface="Courier New" pitchFamily="49" charset="0"/>
                  <a:ea typeface="黑体" pitchFamily="2" charset="-122"/>
                </a:rPr>
                <a:t>             </a:t>
              </a:r>
              <a:r>
                <a:rPr lang="en-US" altLang="zh-CN" sz="800" dirty="0">
                  <a:latin typeface="Courier New" pitchFamily="49" charset="0"/>
                  <a:ea typeface="黑体" pitchFamily="2" charset="-122"/>
                </a:rPr>
                <a:t>                                          </a:t>
              </a:r>
              <a:r>
                <a:rPr lang="en-US" altLang="zh-CN" sz="2000" dirty="0">
                  <a:latin typeface="Courier New" pitchFamily="49" charset="0"/>
                  <a:ea typeface="黑体" pitchFamily="2" charset="-122"/>
                </a:rPr>
                <a:t>1011</a:t>
              </a:r>
              <a:r>
                <a:rPr lang="en-US" altLang="zh-CN" sz="2000" b="1" dirty="0">
                  <a:solidFill>
                    <a:srgbClr val="00B050"/>
                  </a:solidFill>
                  <a:latin typeface="Courier New" pitchFamily="49" charset="0"/>
                  <a:ea typeface="黑体" pitchFamily="2" charset="-122"/>
                </a:rPr>
                <a:t>00</a:t>
              </a:r>
            </a:p>
            <a:p>
              <a:r>
                <a:rPr lang="en-US" altLang="zh-CN" sz="800" dirty="0">
                  <a:latin typeface="Courier New" pitchFamily="49" charset="0"/>
                  <a:ea typeface="黑体" pitchFamily="2" charset="-122"/>
                </a:rPr>
                <a:t>           </a:t>
              </a:r>
              <a:r>
                <a:rPr lang="en-US" altLang="zh-CN" sz="900" dirty="0">
                  <a:latin typeface="Courier New" pitchFamily="49" charset="0"/>
                  <a:ea typeface="黑体" pitchFamily="2" charset="-122"/>
                </a:rPr>
                <a:t>                              </a:t>
              </a:r>
              <a:r>
                <a:rPr lang="en-US" altLang="zh-CN" sz="800" dirty="0">
                  <a:latin typeface="Courier New" pitchFamily="49" charset="0"/>
                  <a:ea typeface="黑体" pitchFamily="2" charset="-122"/>
                </a:rPr>
                <a:t>            </a:t>
              </a:r>
              <a:r>
                <a:rPr lang="en-US" altLang="zh-CN" sz="900" dirty="0">
                  <a:latin typeface="Courier New" pitchFamily="49" charset="0"/>
                  <a:ea typeface="黑体" pitchFamily="2" charset="-122"/>
                </a:rPr>
                <a:t> </a:t>
              </a:r>
              <a:r>
                <a:rPr lang="en-US" altLang="zh-CN" sz="2000" dirty="0">
                  <a:latin typeface="Courier New" pitchFamily="49" charset="0"/>
                  <a:ea typeface="黑体" pitchFamily="2" charset="-122"/>
                </a:rPr>
                <a:t>110101</a:t>
              </a:r>
            </a:p>
            <a:p>
              <a:r>
                <a:rPr lang="en-US" altLang="zh-CN" sz="800" dirty="0">
                  <a:latin typeface="Courier New" pitchFamily="49" charset="0"/>
                  <a:ea typeface="黑体" pitchFamily="2" charset="-122"/>
                </a:rPr>
                <a:t>   </a:t>
              </a:r>
              <a:r>
                <a:rPr lang="en-US" altLang="zh-CN" sz="900" dirty="0">
                  <a:latin typeface="Courier New" pitchFamily="49" charset="0"/>
                  <a:ea typeface="黑体" pitchFamily="2" charset="-122"/>
                </a:rPr>
                <a:t>                                 </a:t>
              </a:r>
              <a:r>
                <a:rPr lang="en-US" altLang="zh-CN" sz="800" dirty="0">
                  <a:latin typeface="Courier New" pitchFamily="49" charset="0"/>
                  <a:ea typeface="黑体" pitchFamily="2" charset="-122"/>
                </a:rPr>
                <a:t>                    </a:t>
              </a:r>
              <a:r>
                <a:rPr lang="en-US" altLang="zh-CN" sz="2000" dirty="0">
                  <a:latin typeface="Courier New" pitchFamily="49" charset="0"/>
                  <a:ea typeface="黑体" pitchFamily="2" charset="-122"/>
                </a:rPr>
                <a:t>11001</a:t>
              </a:r>
              <a:r>
                <a:rPr lang="en-US" altLang="zh-CN" sz="2000" b="1" dirty="0">
                  <a:solidFill>
                    <a:srgbClr val="00B050"/>
                  </a:solidFill>
                  <a:latin typeface="Courier New" pitchFamily="49" charset="0"/>
                  <a:ea typeface="黑体" pitchFamily="2" charset="-122"/>
                </a:rPr>
                <a:t>0</a:t>
              </a:r>
            </a:p>
            <a:p>
              <a:r>
                <a:rPr lang="en-US" altLang="zh-CN" sz="900" dirty="0">
                  <a:latin typeface="Courier New" pitchFamily="49" charset="0"/>
                  <a:ea typeface="黑体" pitchFamily="2" charset="-122"/>
                </a:rPr>
                <a:t>                                                      </a:t>
              </a:r>
              <a:r>
                <a:rPr lang="en-US" altLang="zh-CN" sz="2000" dirty="0">
                  <a:latin typeface="Courier New" pitchFamily="49" charset="0"/>
                  <a:ea typeface="黑体" pitchFamily="2" charset="-122"/>
                </a:rPr>
                <a:t>110101</a:t>
              </a:r>
            </a:p>
            <a:p>
              <a:r>
                <a:rPr lang="en-US" altLang="zh-CN" sz="1000" dirty="0">
                  <a:latin typeface="Courier New" pitchFamily="49" charset="0"/>
                  <a:ea typeface="黑体" pitchFamily="2" charset="-122"/>
                </a:rPr>
                <a:t> </a:t>
              </a:r>
              <a:r>
                <a:rPr lang="en-US" altLang="zh-CN" sz="900" dirty="0">
                  <a:latin typeface="Courier New" pitchFamily="49" charset="0"/>
                  <a:ea typeface="黑体" pitchFamily="2" charset="-122"/>
                </a:rPr>
                <a:t>                                </a:t>
              </a:r>
              <a:r>
                <a:rPr lang="en-US" altLang="zh-CN" sz="800" dirty="0">
                  <a:latin typeface="Courier New" pitchFamily="49" charset="0"/>
                  <a:ea typeface="黑体" pitchFamily="2" charset="-122"/>
                </a:rPr>
                <a:t>                            </a:t>
              </a:r>
              <a:r>
                <a:rPr lang="en-US" altLang="zh-CN" sz="2000" dirty="0">
                  <a:latin typeface="Courier New" pitchFamily="49" charset="0"/>
                  <a:ea typeface="黑体" pitchFamily="2" charset="-122"/>
                </a:rPr>
                <a:t>0111</a:t>
              </a:r>
              <a:r>
                <a:rPr lang="en-US" altLang="zh-CN" sz="2000" b="1" dirty="0">
                  <a:solidFill>
                    <a:srgbClr val="00B050"/>
                  </a:solidFill>
                  <a:latin typeface="Courier New" pitchFamily="49" charset="0"/>
                  <a:ea typeface="黑体" pitchFamily="2" charset="-122"/>
                </a:rPr>
                <a:t>0</a:t>
              </a:r>
              <a:r>
                <a:rPr lang="en-US" altLang="zh-CN" sz="1000" dirty="0">
                  <a:latin typeface="Courier New" pitchFamily="49" charset="0"/>
                  <a:ea typeface="黑体" pitchFamily="2" charset="-122"/>
                </a:rPr>
                <a:t> </a:t>
              </a:r>
              <a:r>
                <a:rPr lang="en-US" altLang="zh-CN" sz="2000" dirty="0">
                  <a:latin typeface="Courier New" pitchFamily="49" charset="0"/>
                  <a:ea typeface="黑体" pitchFamily="2" charset="-122"/>
                </a:rPr>
                <a:t>←</a:t>
              </a:r>
              <a:r>
                <a:rPr lang="en-US" altLang="zh-CN" sz="1000" dirty="0">
                  <a:latin typeface="Courier New" pitchFamily="49" charset="0"/>
                  <a:ea typeface="黑体" pitchFamily="2" charset="-122"/>
                </a:rPr>
                <a:t> </a:t>
              </a:r>
              <a:r>
                <a:rPr lang="en-US" altLang="zh-CN" sz="2000" i="1" dirty="0">
                  <a:latin typeface="Courier New" pitchFamily="49" charset="0"/>
                  <a:ea typeface="黑体" pitchFamily="2" charset="-122"/>
                </a:rPr>
                <a:t>R</a:t>
              </a:r>
              <a:endParaRPr lang="en-US" altLang="zh-CN" sz="2000" dirty="0">
                <a:latin typeface="Courier New" pitchFamily="49" charset="0"/>
                <a:ea typeface="黑体" pitchFamily="2" charset="-122"/>
              </a:endParaRPr>
            </a:p>
          </p:txBody>
        </p:sp>
        <p:sp>
          <p:nvSpPr>
            <p:cNvPr id="26" name="Freeform 26"/>
            <p:cNvSpPr>
              <a:spLocks/>
            </p:cNvSpPr>
            <p:nvPr/>
          </p:nvSpPr>
          <p:spPr bwMode="auto">
            <a:xfrm>
              <a:off x="2274" y="1480"/>
              <a:ext cx="1513" cy="168"/>
            </a:xfrm>
            <a:custGeom>
              <a:avLst/>
              <a:gdLst>
                <a:gd name="T0" fmla="*/ 0 w 1332"/>
                <a:gd name="T1" fmla="*/ 684 h 156"/>
                <a:gd name="T2" fmla="*/ 0 w 1332"/>
                <a:gd name="T3" fmla="*/ 0 h 156"/>
                <a:gd name="T4" fmla="*/ 17033 w 1332"/>
                <a:gd name="T5" fmla="*/ 1 h 156"/>
                <a:gd name="T6" fmla="*/ 0 60000 65536"/>
                <a:gd name="T7" fmla="*/ 0 60000 65536"/>
                <a:gd name="T8" fmla="*/ 0 60000 65536"/>
                <a:gd name="T9" fmla="*/ 0 w 1332"/>
                <a:gd name="T10" fmla="*/ 0 h 156"/>
                <a:gd name="T11" fmla="*/ 1332 w 1332"/>
                <a:gd name="T12" fmla="*/ 156 h 156"/>
              </a:gdLst>
              <a:ahLst/>
              <a:cxnLst>
                <a:cxn ang="T6">
                  <a:pos x="T0" y="T1"/>
                </a:cxn>
                <a:cxn ang="T7">
                  <a:pos x="T2" y="T3"/>
                </a:cxn>
                <a:cxn ang="T8">
                  <a:pos x="T4" y="T5"/>
                </a:cxn>
              </a:cxnLst>
              <a:rect l="T9" t="T10" r="T11" b="T12"/>
              <a:pathLst>
                <a:path w="1332" h="156">
                  <a:moveTo>
                    <a:pt x="0" y="156"/>
                  </a:moveTo>
                  <a:lnTo>
                    <a:pt x="0" y="0"/>
                  </a:lnTo>
                  <a:lnTo>
                    <a:pt x="1332" y="1"/>
                  </a:lnTo>
                </a:path>
              </a:pathLst>
            </a:custGeom>
            <a:noFill/>
            <a:ln w="28575">
              <a:solidFill>
                <a:srgbClr val="333399"/>
              </a:solidFill>
              <a:round/>
              <a:headEnd/>
              <a:tailEnd/>
            </a:ln>
          </p:spPr>
          <p:txBody>
            <a:bodyPr wrap="none" anchor="ctr"/>
            <a:lstStyle/>
            <a:p>
              <a:endParaRPr lang="zh-CN" altLang="en-US"/>
            </a:p>
          </p:txBody>
        </p:sp>
        <p:sp>
          <p:nvSpPr>
            <p:cNvPr id="27" name="Freeform 27"/>
            <p:cNvSpPr>
              <a:spLocks/>
            </p:cNvSpPr>
            <p:nvPr/>
          </p:nvSpPr>
          <p:spPr bwMode="auto">
            <a:xfrm>
              <a:off x="2944" y="1679"/>
              <a:ext cx="3" cy="237"/>
            </a:xfrm>
            <a:custGeom>
              <a:avLst/>
              <a:gdLst>
                <a:gd name="T0" fmla="*/ 0 w 3"/>
                <a:gd name="T1" fmla="*/ 0 h 237"/>
                <a:gd name="T2" fmla="*/ 3 w 3"/>
                <a:gd name="T3" fmla="*/ 237 h 237"/>
                <a:gd name="T4" fmla="*/ 0 60000 65536"/>
                <a:gd name="T5" fmla="*/ 0 60000 65536"/>
                <a:gd name="T6" fmla="*/ 0 w 3"/>
                <a:gd name="T7" fmla="*/ 0 h 237"/>
                <a:gd name="T8" fmla="*/ 3 w 3"/>
                <a:gd name="T9" fmla="*/ 237 h 237"/>
              </a:gdLst>
              <a:ahLst/>
              <a:cxnLst>
                <a:cxn ang="T4">
                  <a:pos x="T0" y="T1"/>
                </a:cxn>
                <a:cxn ang="T5">
                  <a:pos x="T2" y="T3"/>
                </a:cxn>
              </a:cxnLst>
              <a:rect l="T6" t="T7" r="T8" b="T9"/>
              <a:pathLst>
                <a:path w="3" h="237">
                  <a:moveTo>
                    <a:pt x="0" y="0"/>
                  </a:moveTo>
                  <a:lnTo>
                    <a:pt x="3" y="237"/>
                  </a:lnTo>
                </a:path>
              </a:pathLst>
            </a:custGeom>
            <a:noFill/>
            <a:ln w="19050">
              <a:solidFill>
                <a:srgbClr val="FF0000"/>
              </a:solidFill>
              <a:round/>
              <a:headEnd/>
              <a:tailEnd type="triangle" w="sm" len="med"/>
            </a:ln>
          </p:spPr>
          <p:txBody>
            <a:bodyPr/>
            <a:lstStyle/>
            <a:p>
              <a:endParaRPr lang="zh-CN" altLang="en-US"/>
            </a:p>
          </p:txBody>
        </p:sp>
        <p:sp>
          <p:nvSpPr>
            <p:cNvPr id="28" name="Freeform 28"/>
            <p:cNvSpPr>
              <a:spLocks/>
            </p:cNvSpPr>
            <p:nvPr/>
          </p:nvSpPr>
          <p:spPr bwMode="auto">
            <a:xfrm>
              <a:off x="3040" y="1679"/>
              <a:ext cx="1" cy="576"/>
            </a:xfrm>
            <a:custGeom>
              <a:avLst/>
              <a:gdLst>
                <a:gd name="T0" fmla="*/ 0 w 1"/>
                <a:gd name="T1" fmla="*/ 0 h 576"/>
                <a:gd name="T2" fmla="*/ 0 w 1"/>
                <a:gd name="T3" fmla="*/ 576 h 576"/>
                <a:gd name="T4" fmla="*/ 0 60000 65536"/>
                <a:gd name="T5" fmla="*/ 0 60000 65536"/>
                <a:gd name="T6" fmla="*/ 0 w 1"/>
                <a:gd name="T7" fmla="*/ 0 h 576"/>
                <a:gd name="T8" fmla="*/ 1 w 1"/>
                <a:gd name="T9" fmla="*/ 576 h 576"/>
              </a:gdLst>
              <a:ahLst/>
              <a:cxnLst>
                <a:cxn ang="T4">
                  <a:pos x="T0" y="T1"/>
                </a:cxn>
                <a:cxn ang="T5">
                  <a:pos x="T2" y="T3"/>
                </a:cxn>
              </a:cxnLst>
              <a:rect l="T6" t="T7" r="T8" b="T9"/>
              <a:pathLst>
                <a:path w="1" h="576">
                  <a:moveTo>
                    <a:pt x="0" y="0"/>
                  </a:moveTo>
                  <a:lnTo>
                    <a:pt x="0" y="576"/>
                  </a:lnTo>
                </a:path>
              </a:pathLst>
            </a:custGeom>
            <a:noFill/>
            <a:ln w="28575">
              <a:solidFill>
                <a:srgbClr val="FF0000"/>
              </a:solidFill>
              <a:round/>
              <a:headEnd/>
              <a:tailEnd type="triangle" w="sm" len="med"/>
            </a:ln>
          </p:spPr>
          <p:txBody>
            <a:bodyPr/>
            <a:lstStyle/>
            <a:p>
              <a:endParaRPr lang="zh-CN" altLang="en-US"/>
            </a:p>
          </p:txBody>
        </p:sp>
        <p:sp>
          <p:nvSpPr>
            <p:cNvPr id="29" name="Freeform 29"/>
            <p:cNvSpPr>
              <a:spLocks/>
            </p:cNvSpPr>
            <p:nvPr/>
          </p:nvSpPr>
          <p:spPr bwMode="auto">
            <a:xfrm>
              <a:off x="3136" y="1679"/>
              <a:ext cx="8" cy="592"/>
            </a:xfrm>
            <a:custGeom>
              <a:avLst/>
              <a:gdLst>
                <a:gd name="T0" fmla="*/ 0 w 8"/>
                <a:gd name="T1" fmla="*/ 0 h 592"/>
                <a:gd name="T2" fmla="*/ 8 w 8"/>
                <a:gd name="T3" fmla="*/ 592 h 592"/>
                <a:gd name="T4" fmla="*/ 0 60000 65536"/>
                <a:gd name="T5" fmla="*/ 0 60000 65536"/>
                <a:gd name="T6" fmla="*/ 0 w 8"/>
                <a:gd name="T7" fmla="*/ 0 h 592"/>
                <a:gd name="T8" fmla="*/ 8 w 8"/>
                <a:gd name="T9" fmla="*/ 592 h 592"/>
              </a:gdLst>
              <a:ahLst/>
              <a:cxnLst>
                <a:cxn ang="T4">
                  <a:pos x="T0" y="T1"/>
                </a:cxn>
                <a:cxn ang="T5">
                  <a:pos x="T2" y="T3"/>
                </a:cxn>
              </a:cxnLst>
              <a:rect l="T6" t="T7" r="T8" b="T9"/>
              <a:pathLst>
                <a:path w="8" h="592">
                  <a:moveTo>
                    <a:pt x="0" y="0"/>
                  </a:moveTo>
                  <a:lnTo>
                    <a:pt x="8" y="592"/>
                  </a:lnTo>
                </a:path>
              </a:pathLst>
            </a:custGeom>
            <a:noFill/>
            <a:ln w="28575">
              <a:solidFill>
                <a:srgbClr val="FF0000"/>
              </a:solidFill>
              <a:round/>
              <a:headEnd/>
              <a:tailEnd type="triangle" w="sm" len="med"/>
            </a:ln>
          </p:spPr>
          <p:txBody>
            <a:bodyPr/>
            <a:lstStyle/>
            <a:p>
              <a:endParaRPr lang="zh-CN" altLang="en-US"/>
            </a:p>
          </p:txBody>
        </p:sp>
        <p:sp>
          <p:nvSpPr>
            <p:cNvPr id="30" name="Freeform 30"/>
            <p:cNvSpPr>
              <a:spLocks/>
            </p:cNvSpPr>
            <p:nvPr/>
          </p:nvSpPr>
          <p:spPr bwMode="auto">
            <a:xfrm>
              <a:off x="3224" y="1679"/>
              <a:ext cx="8" cy="992"/>
            </a:xfrm>
            <a:custGeom>
              <a:avLst/>
              <a:gdLst>
                <a:gd name="T0" fmla="*/ 0 w 8"/>
                <a:gd name="T1" fmla="*/ 0 h 992"/>
                <a:gd name="T2" fmla="*/ 8 w 8"/>
                <a:gd name="T3" fmla="*/ 992 h 992"/>
                <a:gd name="T4" fmla="*/ 0 60000 65536"/>
                <a:gd name="T5" fmla="*/ 0 60000 65536"/>
                <a:gd name="T6" fmla="*/ 0 w 8"/>
                <a:gd name="T7" fmla="*/ 0 h 992"/>
                <a:gd name="T8" fmla="*/ 8 w 8"/>
                <a:gd name="T9" fmla="*/ 992 h 992"/>
              </a:gdLst>
              <a:ahLst/>
              <a:cxnLst>
                <a:cxn ang="T4">
                  <a:pos x="T0" y="T1"/>
                </a:cxn>
                <a:cxn ang="T5">
                  <a:pos x="T2" y="T3"/>
                </a:cxn>
              </a:cxnLst>
              <a:rect l="T6" t="T7" r="T8" b="T9"/>
              <a:pathLst>
                <a:path w="8" h="992">
                  <a:moveTo>
                    <a:pt x="0" y="0"/>
                  </a:moveTo>
                  <a:lnTo>
                    <a:pt x="8" y="992"/>
                  </a:lnTo>
                </a:path>
              </a:pathLst>
            </a:custGeom>
            <a:noFill/>
            <a:ln w="28575">
              <a:solidFill>
                <a:srgbClr val="FF0000"/>
              </a:solidFill>
              <a:round/>
              <a:headEnd/>
              <a:tailEnd type="triangle" w="sm" len="med"/>
            </a:ln>
          </p:spPr>
          <p:txBody>
            <a:bodyPr/>
            <a:lstStyle/>
            <a:p>
              <a:endParaRPr lang="zh-CN" altLang="en-US"/>
            </a:p>
          </p:txBody>
        </p:sp>
        <p:sp>
          <p:nvSpPr>
            <p:cNvPr id="31" name="Freeform 31"/>
            <p:cNvSpPr>
              <a:spLocks/>
            </p:cNvSpPr>
            <p:nvPr/>
          </p:nvSpPr>
          <p:spPr bwMode="auto">
            <a:xfrm>
              <a:off x="3320" y="1679"/>
              <a:ext cx="1" cy="976"/>
            </a:xfrm>
            <a:custGeom>
              <a:avLst/>
              <a:gdLst>
                <a:gd name="T0" fmla="*/ 0 w 1"/>
                <a:gd name="T1" fmla="*/ 0 h 976"/>
                <a:gd name="T2" fmla="*/ 0 w 1"/>
                <a:gd name="T3" fmla="*/ 976 h 976"/>
                <a:gd name="T4" fmla="*/ 0 60000 65536"/>
                <a:gd name="T5" fmla="*/ 0 60000 65536"/>
                <a:gd name="T6" fmla="*/ 0 w 1"/>
                <a:gd name="T7" fmla="*/ 0 h 976"/>
                <a:gd name="T8" fmla="*/ 1 w 1"/>
                <a:gd name="T9" fmla="*/ 976 h 976"/>
              </a:gdLst>
              <a:ahLst/>
              <a:cxnLst>
                <a:cxn ang="T4">
                  <a:pos x="T0" y="T1"/>
                </a:cxn>
                <a:cxn ang="T5">
                  <a:pos x="T2" y="T3"/>
                </a:cxn>
              </a:cxnLst>
              <a:rect l="T6" t="T7" r="T8" b="T9"/>
              <a:pathLst>
                <a:path w="1" h="976">
                  <a:moveTo>
                    <a:pt x="0" y="0"/>
                  </a:moveTo>
                  <a:lnTo>
                    <a:pt x="0" y="976"/>
                  </a:lnTo>
                </a:path>
              </a:pathLst>
            </a:custGeom>
            <a:noFill/>
            <a:ln w="28575">
              <a:solidFill>
                <a:srgbClr val="FF0000"/>
              </a:solidFill>
              <a:round/>
              <a:headEnd/>
              <a:tailEnd type="triangle" w="sm" len="med"/>
            </a:ln>
          </p:spPr>
          <p:txBody>
            <a:bodyPr/>
            <a:lstStyle/>
            <a:p>
              <a:endParaRPr lang="zh-CN" altLang="en-US"/>
            </a:p>
          </p:txBody>
        </p:sp>
        <p:sp>
          <p:nvSpPr>
            <p:cNvPr id="32" name="Line 32"/>
            <p:cNvSpPr>
              <a:spLocks noChangeShapeType="1"/>
            </p:cNvSpPr>
            <p:nvPr/>
          </p:nvSpPr>
          <p:spPr bwMode="auto">
            <a:xfrm>
              <a:off x="3416" y="1679"/>
              <a:ext cx="8" cy="1342"/>
            </a:xfrm>
            <a:prstGeom prst="line">
              <a:avLst/>
            </a:prstGeom>
            <a:noFill/>
            <a:ln w="28575">
              <a:solidFill>
                <a:srgbClr val="FF0000"/>
              </a:solidFill>
              <a:round/>
              <a:headEnd/>
              <a:tailEnd type="triangle" w="sm" len="med"/>
            </a:ln>
          </p:spPr>
          <p:txBody>
            <a:bodyPr/>
            <a:lstStyle/>
            <a:p>
              <a:endParaRPr lang="zh-CN" altLang="en-US"/>
            </a:p>
          </p:txBody>
        </p:sp>
        <p:sp>
          <p:nvSpPr>
            <p:cNvPr id="33" name="Line 33"/>
            <p:cNvSpPr>
              <a:spLocks noChangeShapeType="1"/>
            </p:cNvSpPr>
            <p:nvPr/>
          </p:nvSpPr>
          <p:spPr bwMode="auto">
            <a:xfrm>
              <a:off x="3512" y="1679"/>
              <a:ext cx="3" cy="1343"/>
            </a:xfrm>
            <a:prstGeom prst="line">
              <a:avLst/>
            </a:prstGeom>
            <a:noFill/>
            <a:ln w="28575">
              <a:solidFill>
                <a:srgbClr val="FF0000"/>
              </a:solidFill>
              <a:round/>
              <a:headEnd/>
              <a:tailEnd type="triangle" w="sm" len="med"/>
            </a:ln>
          </p:spPr>
          <p:txBody>
            <a:bodyPr/>
            <a:lstStyle/>
            <a:p>
              <a:endParaRPr lang="zh-CN" altLang="en-US"/>
            </a:p>
          </p:txBody>
        </p:sp>
        <p:sp>
          <p:nvSpPr>
            <p:cNvPr id="34" name="Line 34"/>
            <p:cNvSpPr>
              <a:spLocks noChangeShapeType="1"/>
            </p:cNvSpPr>
            <p:nvPr/>
          </p:nvSpPr>
          <p:spPr bwMode="auto">
            <a:xfrm flipH="1">
              <a:off x="3606" y="1679"/>
              <a:ext cx="2" cy="1734"/>
            </a:xfrm>
            <a:prstGeom prst="line">
              <a:avLst/>
            </a:prstGeom>
            <a:noFill/>
            <a:ln w="28575">
              <a:solidFill>
                <a:srgbClr val="FF0000"/>
              </a:solidFill>
              <a:round/>
              <a:headEnd/>
              <a:tailEnd type="triangle" w="sm" len="med"/>
            </a:ln>
          </p:spPr>
          <p:txBody>
            <a:bodyPr/>
            <a:lstStyle/>
            <a:p>
              <a:endParaRPr lang="zh-CN" altLang="en-US"/>
            </a:p>
          </p:txBody>
        </p:sp>
        <p:sp>
          <p:nvSpPr>
            <p:cNvPr id="35" name="Line 35"/>
            <p:cNvSpPr>
              <a:spLocks noChangeShapeType="1"/>
            </p:cNvSpPr>
            <p:nvPr/>
          </p:nvSpPr>
          <p:spPr bwMode="auto">
            <a:xfrm flipH="1">
              <a:off x="3696" y="1679"/>
              <a:ext cx="8" cy="2114"/>
            </a:xfrm>
            <a:prstGeom prst="line">
              <a:avLst/>
            </a:prstGeom>
            <a:noFill/>
            <a:ln w="28575">
              <a:solidFill>
                <a:srgbClr val="FF0000"/>
              </a:solidFill>
              <a:round/>
              <a:headEnd/>
              <a:tailEnd type="triangle" w="sm" len="med"/>
            </a:ln>
          </p:spPr>
          <p:txBody>
            <a:bodyPr/>
            <a:lstStyle/>
            <a:p>
              <a:endParaRPr lang="zh-CN" altLang="en-US"/>
            </a:p>
          </p:txBody>
        </p:sp>
        <p:sp>
          <p:nvSpPr>
            <p:cNvPr id="36" name="Line 36"/>
            <p:cNvSpPr>
              <a:spLocks noChangeShapeType="1"/>
            </p:cNvSpPr>
            <p:nvPr/>
          </p:nvSpPr>
          <p:spPr bwMode="auto">
            <a:xfrm flipV="1">
              <a:off x="3123" y="3816"/>
              <a:ext cx="549" cy="6"/>
            </a:xfrm>
            <a:prstGeom prst="line">
              <a:avLst/>
            </a:prstGeom>
            <a:noFill/>
            <a:ln w="28575">
              <a:solidFill>
                <a:srgbClr val="333399"/>
              </a:solidFill>
              <a:round/>
              <a:headEnd/>
              <a:tailEnd/>
            </a:ln>
          </p:spPr>
          <p:txBody>
            <a:bodyPr/>
            <a:lstStyle/>
            <a:p>
              <a:endParaRPr lang="zh-CN" altLang="en-US"/>
            </a:p>
          </p:txBody>
        </p:sp>
        <p:sp>
          <p:nvSpPr>
            <p:cNvPr id="37" name="Line 37"/>
            <p:cNvSpPr>
              <a:spLocks noChangeShapeType="1"/>
            </p:cNvSpPr>
            <p:nvPr/>
          </p:nvSpPr>
          <p:spPr bwMode="auto">
            <a:xfrm flipV="1">
              <a:off x="3016" y="3430"/>
              <a:ext cx="544" cy="0"/>
            </a:xfrm>
            <a:prstGeom prst="line">
              <a:avLst/>
            </a:prstGeom>
            <a:noFill/>
            <a:ln w="28575">
              <a:solidFill>
                <a:srgbClr val="333399"/>
              </a:solidFill>
              <a:round/>
              <a:headEnd/>
              <a:tailEnd/>
            </a:ln>
          </p:spPr>
          <p:txBody>
            <a:bodyPr/>
            <a:lstStyle/>
            <a:p>
              <a:endParaRPr lang="zh-CN" altLang="en-US"/>
            </a:p>
          </p:txBody>
        </p:sp>
        <p:sp>
          <p:nvSpPr>
            <p:cNvPr id="38" name="Line 38"/>
            <p:cNvSpPr>
              <a:spLocks noChangeShapeType="1"/>
            </p:cNvSpPr>
            <p:nvPr/>
          </p:nvSpPr>
          <p:spPr bwMode="auto">
            <a:xfrm>
              <a:off x="2835" y="3038"/>
              <a:ext cx="531" cy="0"/>
            </a:xfrm>
            <a:prstGeom prst="line">
              <a:avLst/>
            </a:prstGeom>
            <a:noFill/>
            <a:ln w="28575">
              <a:solidFill>
                <a:srgbClr val="333399"/>
              </a:solidFill>
              <a:round/>
              <a:headEnd/>
              <a:tailEnd/>
            </a:ln>
          </p:spPr>
          <p:txBody>
            <a:bodyPr/>
            <a:lstStyle/>
            <a:p>
              <a:endParaRPr lang="zh-CN" altLang="en-US"/>
            </a:p>
          </p:txBody>
        </p:sp>
        <p:sp>
          <p:nvSpPr>
            <p:cNvPr id="39" name="Line 39"/>
            <p:cNvSpPr>
              <a:spLocks noChangeShapeType="1"/>
            </p:cNvSpPr>
            <p:nvPr/>
          </p:nvSpPr>
          <p:spPr bwMode="auto">
            <a:xfrm>
              <a:off x="2653" y="2659"/>
              <a:ext cx="545" cy="0"/>
            </a:xfrm>
            <a:prstGeom prst="line">
              <a:avLst/>
            </a:prstGeom>
            <a:noFill/>
            <a:ln w="28575">
              <a:solidFill>
                <a:srgbClr val="333399"/>
              </a:solidFill>
              <a:round/>
              <a:headEnd/>
              <a:tailEnd/>
            </a:ln>
          </p:spPr>
          <p:txBody>
            <a:bodyPr/>
            <a:lstStyle/>
            <a:p>
              <a:endParaRPr lang="zh-CN" altLang="en-US"/>
            </a:p>
          </p:txBody>
        </p:sp>
        <p:sp>
          <p:nvSpPr>
            <p:cNvPr id="40" name="Line 40"/>
            <p:cNvSpPr>
              <a:spLocks noChangeShapeType="1"/>
            </p:cNvSpPr>
            <p:nvPr/>
          </p:nvSpPr>
          <p:spPr bwMode="auto">
            <a:xfrm>
              <a:off x="2423" y="2272"/>
              <a:ext cx="574" cy="0"/>
            </a:xfrm>
            <a:prstGeom prst="line">
              <a:avLst/>
            </a:prstGeom>
            <a:noFill/>
            <a:ln w="28575">
              <a:solidFill>
                <a:srgbClr val="333399"/>
              </a:solidFill>
              <a:round/>
              <a:headEnd/>
              <a:tailEnd/>
            </a:ln>
          </p:spPr>
          <p:txBody>
            <a:bodyPr/>
            <a:lstStyle/>
            <a:p>
              <a:endParaRPr lang="zh-CN" altLang="en-US"/>
            </a:p>
          </p:txBody>
        </p:sp>
        <p:sp>
          <p:nvSpPr>
            <p:cNvPr id="41" name="Line 41"/>
            <p:cNvSpPr>
              <a:spLocks noChangeShapeType="1"/>
            </p:cNvSpPr>
            <p:nvPr/>
          </p:nvSpPr>
          <p:spPr bwMode="auto">
            <a:xfrm>
              <a:off x="2336" y="1888"/>
              <a:ext cx="544" cy="0"/>
            </a:xfrm>
            <a:prstGeom prst="line">
              <a:avLst/>
            </a:prstGeom>
            <a:noFill/>
            <a:ln w="28575">
              <a:solidFill>
                <a:srgbClr val="333399"/>
              </a:solidFill>
              <a:round/>
              <a:headEnd/>
              <a:tailEnd/>
            </a:ln>
          </p:spPr>
          <p:txBody>
            <a:bodyPr/>
            <a:lstStyle/>
            <a:p>
              <a:endParaRPr lang="zh-CN" altLang="en-US"/>
            </a:p>
          </p:txBody>
        </p:sp>
        <p:sp>
          <p:nvSpPr>
            <p:cNvPr id="42" name="Line 42"/>
            <p:cNvSpPr>
              <a:spLocks noChangeShapeType="1"/>
            </p:cNvSpPr>
            <p:nvPr/>
          </p:nvSpPr>
          <p:spPr bwMode="auto">
            <a:xfrm>
              <a:off x="3244" y="4004"/>
              <a:ext cx="862" cy="0"/>
            </a:xfrm>
            <a:prstGeom prst="line">
              <a:avLst/>
            </a:prstGeom>
            <a:noFill/>
            <a:ln w="76200">
              <a:solidFill>
                <a:srgbClr val="00FF00"/>
              </a:solidFill>
              <a:round/>
              <a:headEnd/>
              <a:tailEnd/>
            </a:ln>
          </p:spPr>
          <p:txBody>
            <a:bodyPr/>
            <a:lstStyle/>
            <a:p>
              <a:endParaRPr lang="zh-CN" altLang="en-US"/>
            </a:p>
          </p:txBody>
        </p:sp>
        <p:sp>
          <p:nvSpPr>
            <p:cNvPr id="43" name="Line 43"/>
            <p:cNvSpPr>
              <a:spLocks noChangeShapeType="1"/>
            </p:cNvSpPr>
            <p:nvPr/>
          </p:nvSpPr>
          <p:spPr bwMode="auto">
            <a:xfrm>
              <a:off x="3833" y="1706"/>
              <a:ext cx="363" cy="0"/>
            </a:xfrm>
            <a:prstGeom prst="line">
              <a:avLst/>
            </a:prstGeom>
            <a:noFill/>
            <a:ln w="76200">
              <a:solidFill>
                <a:srgbClr val="00FF00"/>
              </a:solidFill>
              <a:round/>
              <a:headEnd/>
              <a:tailEnd/>
            </a:ln>
          </p:spPr>
          <p:txBody>
            <a:bodyPr/>
            <a:lstStyle/>
            <a:p>
              <a:endParaRPr lang="zh-CN" altLang="en-US"/>
            </a:p>
          </p:txBody>
        </p:sp>
        <p:sp>
          <p:nvSpPr>
            <p:cNvPr id="44" name="Line 44"/>
            <p:cNvSpPr>
              <a:spLocks noChangeShapeType="1"/>
            </p:cNvSpPr>
            <p:nvPr/>
          </p:nvSpPr>
          <p:spPr bwMode="auto">
            <a:xfrm>
              <a:off x="1294" y="1706"/>
              <a:ext cx="181" cy="0"/>
            </a:xfrm>
            <a:prstGeom prst="line">
              <a:avLst/>
            </a:prstGeom>
            <a:noFill/>
            <a:ln w="76200">
              <a:solidFill>
                <a:srgbClr val="00FF00"/>
              </a:solidFill>
              <a:round/>
              <a:headEnd/>
              <a:tailEnd/>
            </a:ln>
          </p:spPr>
          <p:txBody>
            <a:bodyPr/>
            <a:lstStyle/>
            <a:p>
              <a:endParaRPr lang="zh-CN" altLang="en-US"/>
            </a:p>
          </p:txBody>
        </p:sp>
      </p:grpSp>
      <p:sp>
        <p:nvSpPr>
          <p:cNvPr id="45" name="灯片编号占位符 3"/>
          <p:cNvSpPr>
            <a:spLocks noGrp="1"/>
          </p:cNvSpPr>
          <p:nvPr>
            <p:ph type="sldNum" sz="quarter" idx="12"/>
          </p:nvPr>
        </p:nvSpPr>
        <p:spPr>
          <a:xfrm>
            <a:off x="8610600" y="6356350"/>
            <a:ext cx="331967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Tree>
    <p:extLst>
      <p:ext uri="{BB962C8B-B14F-4D97-AF65-F5344CB8AC3E}">
        <p14:creationId xmlns:p14="http://schemas.microsoft.com/office/powerpoint/2010/main" val="384690511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2"/>
          <p:cNvSpPr>
            <a:spLocks noGrp="1" noChangeArrowheads="1"/>
          </p:cNvSpPr>
          <p:nvPr>
            <p:ph type="title"/>
          </p:nvPr>
        </p:nvSpPr>
        <p:spPr/>
        <p:txBody>
          <a:bodyPr/>
          <a:lstStyle/>
          <a:p>
            <a:r>
              <a:rPr kumimoji="1" lang="zh-CN" altLang="en-US" dirty="0"/>
              <a:t>检错码</a:t>
            </a:r>
            <a:r>
              <a:rPr kumimoji="1" lang="en-US" altLang="zh-CN" sz="3200" dirty="0">
                <a:solidFill>
                  <a:schemeClr val="accent1">
                    <a:lumMod val="75000"/>
                  </a:schemeClr>
                </a:solidFill>
              </a:rPr>
              <a:t>—</a:t>
            </a:r>
            <a:r>
              <a:rPr kumimoji="1" lang="zh-CN" altLang="en-US" sz="3200" dirty="0">
                <a:solidFill>
                  <a:schemeClr val="accent1">
                    <a:lumMod val="75000"/>
                  </a:schemeClr>
                </a:solidFill>
              </a:rPr>
              <a:t>循环冗余校验</a:t>
            </a:r>
            <a:r>
              <a:rPr kumimoji="1" lang="en-US" altLang="zh-CN" sz="3200" dirty="0">
                <a:solidFill>
                  <a:schemeClr val="accent1">
                    <a:lumMod val="75000"/>
                  </a:schemeClr>
                </a:solidFill>
              </a:rPr>
              <a:t>CRC</a:t>
            </a:r>
            <a:endParaRPr kumimoji="0" lang="zh-CN" altLang="en-US" sz="3200" dirty="0">
              <a:solidFill>
                <a:schemeClr val="accent1">
                  <a:lumMod val="75000"/>
                </a:schemeClr>
              </a:solidFill>
              <a:latin typeface="宋体" panose="02010600030101010101" pitchFamily="2" charset="-122"/>
            </a:endParaRPr>
          </a:p>
        </p:txBody>
      </p:sp>
      <p:sp>
        <p:nvSpPr>
          <p:cNvPr id="61442" name="Rectangle 3"/>
          <p:cNvSpPr>
            <a:spLocks noGrp="1" noChangeArrowheads="1"/>
          </p:cNvSpPr>
          <p:nvPr>
            <p:ph type="body" idx="1"/>
          </p:nvPr>
        </p:nvSpPr>
        <p:spPr/>
        <p:txBody>
          <a:bodyPr/>
          <a:lstStyle/>
          <a:p>
            <a:pPr eaLnBrk="1" hangingPunct="1">
              <a:lnSpc>
                <a:spcPts val="4100"/>
              </a:lnSpc>
            </a:pPr>
            <a:r>
              <a:rPr lang="zh-CN" altLang="en-US" dirty="0"/>
              <a:t>四个国际标准生成多项式</a:t>
            </a:r>
          </a:p>
          <a:p>
            <a:pPr lvl="1" eaLnBrk="1" hangingPunct="1">
              <a:lnSpc>
                <a:spcPts val="4100"/>
              </a:lnSpc>
            </a:pPr>
            <a:r>
              <a:rPr lang="en-US" altLang="zh-CN" dirty="0"/>
              <a:t>CRC-12 = x</a:t>
            </a:r>
            <a:r>
              <a:rPr lang="en-US" altLang="zh-CN" baseline="30000" dirty="0"/>
              <a:t>12</a:t>
            </a:r>
            <a:r>
              <a:rPr lang="en-US" altLang="zh-CN" dirty="0"/>
              <a:t>+x</a:t>
            </a:r>
            <a:r>
              <a:rPr lang="en-US" altLang="zh-CN" baseline="30000" dirty="0"/>
              <a:t>11</a:t>
            </a:r>
            <a:r>
              <a:rPr lang="en-US" altLang="zh-CN" dirty="0"/>
              <a:t>+x</a:t>
            </a:r>
            <a:r>
              <a:rPr lang="en-US" altLang="zh-CN" baseline="30000" dirty="0"/>
              <a:t>3</a:t>
            </a:r>
            <a:r>
              <a:rPr lang="en-US" altLang="zh-CN" dirty="0"/>
              <a:t>+x</a:t>
            </a:r>
            <a:r>
              <a:rPr lang="en-US" altLang="zh-CN" baseline="30000" dirty="0"/>
              <a:t>2</a:t>
            </a:r>
            <a:r>
              <a:rPr lang="en-US" altLang="zh-CN" dirty="0"/>
              <a:t>+x+1</a:t>
            </a:r>
          </a:p>
          <a:p>
            <a:pPr lvl="1" eaLnBrk="1" hangingPunct="1">
              <a:lnSpc>
                <a:spcPts val="4100"/>
              </a:lnSpc>
            </a:pPr>
            <a:r>
              <a:rPr lang="en-US" altLang="zh-CN" dirty="0"/>
              <a:t>CRC-16 = x</a:t>
            </a:r>
            <a:r>
              <a:rPr lang="en-US" altLang="zh-CN" baseline="30000" dirty="0"/>
              <a:t>16</a:t>
            </a:r>
            <a:r>
              <a:rPr lang="en-US" altLang="zh-CN" dirty="0"/>
              <a:t>+x</a:t>
            </a:r>
            <a:r>
              <a:rPr lang="en-US" altLang="zh-CN" baseline="30000" dirty="0"/>
              <a:t>15</a:t>
            </a:r>
            <a:r>
              <a:rPr lang="en-US" altLang="zh-CN" dirty="0"/>
              <a:t>+x</a:t>
            </a:r>
            <a:r>
              <a:rPr lang="en-US" altLang="zh-CN" baseline="30000" dirty="0"/>
              <a:t>2</a:t>
            </a:r>
            <a:r>
              <a:rPr lang="en-US" altLang="zh-CN" dirty="0"/>
              <a:t>+1</a:t>
            </a:r>
          </a:p>
          <a:p>
            <a:pPr lvl="1" eaLnBrk="1" hangingPunct="1">
              <a:lnSpc>
                <a:spcPts val="4100"/>
              </a:lnSpc>
            </a:pPr>
            <a:r>
              <a:rPr lang="en-US" altLang="zh-CN" dirty="0"/>
              <a:t>CRC-CCITT = x</a:t>
            </a:r>
            <a:r>
              <a:rPr lang="en-US" altLang="zh-CN" baseline="30000" dirty="0"/>
              <a:t>16</a:t>
            </a:r>
            <a:r>
              <a:rPr lang="en-US" altLang="zh-CN" dirty="0"/>
              <a:t>+x</a:t>
            </a:r>
            <a:r>
              <a:rPr lang="en-US" altLang="zh-CN" baseline="30000" dirty="0"/>
              <a:t>12</a:t>
            </a:r>
            <a:r>
              <a:rPr lang="en-US" altLang="zh-CN" dirty="0"/>
              <a:t>+x</a:t>
            </a:r>
            <a:r>
              <a:rPr lang="en-US" altLang="zh-CN" baseline="30000" dirty="0"/>
              <a:t>5</a:t>
            </a:r>
            <a:r>
              <a:rPr lang="en-US" altLang="zh-CN" dirty="0"/>
              <a:t>+1</a:t>
            </a:r>
          </a:p>
          <a:p>
            <a:pPr lvl="1" eaLnBrk="1" hangingPunct="1">
              <a:lnSpc>
                <a:spcPts val="4100"/>
              </a:lnSpc>
            </a:pPr>
            <a:r>
              <a:rPr lang="en-US" altLang="zh-CN" dirty="0"/>
              <a:t>CRC-32 = x</a:t>
            </a:r>
            <a:r>
              <a:rPr lang="en-US" altLang="zh-CN" baseline="30000" dirty="0"/>
              <a:t>32</a:t>
            </a:r>
            <a:r>
              <a:rPr lang="en-US" altLang="zh-CN" dirty="0"/>
              <a:t>+x</a:t>
            </a:r>
            <a:r>
              <a:rPr lang="en-US" altLang="zh-CN" baseline="30000" dirty="0"/>
              <a:t>26</a:t>
            </a:r>
            <a:r>
              <a:rPr lang="en-US" altLang="zh-CN" dirty="0"/>
              <a:t>+x</a:t>
            </a:r>
            <a:r>
              <a:rPr lang="en-US" altLang="zh-CN" baseline="30000" dirty="0"/>
              <a:t>23</a:t>
            </a:r>
            <a:r>
              <a:rPr lang="en-US" altLang="zh-CN" dirty="0"/>
              <a:t>+x</a:t>
            </a:r>
            <a:r>
              <a:rPr lang="en-US" altLang="zh-CN" baseline="30000" dirty="0"/>
              <a:t>22</a:t>
            </a:r>
            <a:r>
              <a:rPr lang="en-US" altLang="zh-CN" dirty="0"/>
              <a:t>+x</a:t>
            </a:r>
            <a:r>
              <a:rPr lang="en-US" altLang="zh-CN" baseline="30000" dirty="0"/>
              <a:t>16</a:t>
            </a:r>
            <a:r>
              <a:rPr lang="en-US" altLang="zh-CN" dirty="0"/>
              <a:t>+x</a:t>
            </a:r>
            <a:r>
              <a:rPr lang="en-US" altLang="zh-CN" baseline="30000" dirty="0"/>
              <a:t>12</a:t>
            </a:r>
            <a:r>
              <a:rPr lang="en-US" altLang="zh-CN" dirty="0"/>
              <a:t>+x</a:t>
            </a:r>
            <a:r>
              <a:rPr lang="en-US" altLang="zh-CN" baseline="30000" dirty="0"/>
              <a:t>11</a:t>
            </a:r>
            <a:r>
              <a:rPr lang="en-US" altLang="zh-CN" dirty="0"/>
              <a:t>+x</a:t>
            </a:r>
            <a:r>
              <a:rPr lang="en-US" altLang="zh-CN" baseline="30000" dirty="0"/>
              <a:t>10</a:t>
            </a:r>
            <a:r>
              <a:rPr lang="en-US" altLang="zh-CN" dirty="0"/>
              <a:t>+x</a:t>
            </a:r>
            <a:r>
              <a:rPr lang="en-US" altLang="zh-CN" baseline="30000" dirty="0"/>
              <a:t>8</a:t>
            </a:r>
            <a:r>
              <a:rPr lang="en-US" altLang="zh-CN" dirty="0"/>
              <a:t>+x</a:t>
            </a:r>
            <a:r>
              <a:rPr lang="en-US" altLang="zh-CN" baseline="30000" dirty="0"/>
              <a:t>7</a:t>
            </a:r>
            <a:r>
              <a:rPr lang="en-US" altLang="zh-CN" dirty="0"/>
              <a:t>+x</a:t>
            </a:r>
            <a:r>
              <a:rPr lang="en-US" altLang="zh-CN" baseline="30000" dirty="0"/>
              <a:t>5</a:t>
            </a:r>
            <a:r>
              <a:rPr lang="en-US" altLang="zh-CN" dirty="0"/>
              <a:t>+x</a:t>
            </a:r>
            <a:r>
              <a:rPr lang="en-US" altLang="zh-CN" baseline="30000" dirty="0"/>
              <a:t>4</a:t>
            </a:r>
            <a:r>
              <a:rPr lang="en-US" altLang="zh-CN" dirty="0"/>
              <a:t>+x</a:t>
            </a:r>
            <a:r>
              <a:rPr lang="en-US" altLang="zh-CN" baseline="30000" dirty="0"/>
              <a:t>2</a:t>
            </a:r>
            <a:r>
              <a:rPr lang="en-US" altLang="zh-CN" dirty="0"/>
              <a:t>+x+1</a:t>
            </a:r>
          </a:p>
        </p:txBody>
      </p:sp>
      <p:sp>
        <p:nvSpPr>
          <p:cNvPr id="4" name="矩形 3">
            <a:extLst>
              <a:ext uri="{FF2B5EF4-FFF2-40B4-BE49-F238E27FC236}">
                <a16:creationId xmlns:a16="http://schemas.microsoft.com/office/drawing/2014/main" id="{FF4BBAB8-7444-4237-ADD3-A0704706DF79}"/>
              </a:ext>
            </a:extLst>
          </p:cNvPr>
          <p:cNvSpPr/>
          <p:nvPr/>
        </p:nvSpPr>
        <p:spPr>
          <a:xfrm>
            <a:off x="1418390" y="5057679"/>
            <a:ext cx="7467822" cy="454099"/>
          </a:xfrm>
          <a:prstGeom prst="rect">
            <a:avLst/>
          </a:prstGeom>
          <a:ln>
            <a:solidFill>
              <a:srgbClr val="00B0F0"/>
            </a:solidFill>
          </a:ln>
        </p:spPr>
        <p:txBody>
          <a:bodyPr wrap="square">
            <a:spAutoFit/>
          </a:bodyPr>
          <a:lstStyle/>
          <a:p>
            <a:pPr marL="0" lvl="1" algn="ctr">
              <a:lnSpc>
                <a:spcPts val="3000"/>
              </a:lnSpc>
              <a:spcBef>
                <a:spcPts val="600"/>
              </a:spcBef>
              <a:buClr>
                <a:srgbClr val="C00000"/>
              </a:buClr>
              <a:buSzPct val="100000"/>
            </a:pP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例如，以太网、无线局域网使用</a:t>
            </a:r>
            <a:r>
              <a:rPr lang="en-US" altLang="zh-CN" sz="2400" dirty="0">
                <a:latin typeface="微软雅黑" panose="020B0503020204020204" pitchFamily="34" charset="-122"/>
                <a:ea typeface="微软雅黑" panose="020B0503020204020204" pitchFamily="34" charset="-122"/>
                <a:cs typeface="Times New Roman" panose="02020603050405020304" pitchFamily="18" charset="0"/>
              </a:rPr>
              <a:t>CRC-32</a:t>
            </a: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生成多项式</a:t>
            </a:r>
            <a:endParaRPr lang="en-US" altLang="zh-CN" sz="24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文本框 4">
            <a:extLst>
              <a:ext uri="{FF2B5EF4-FFF2-40B4-BE49-F238E27FC236}">
                <a16:creationId xmlns:a16="http://schemas.microsoft.com/office/drawing/2014/main" id="{0AF35379-6DE8-43C5-A6FD-98ABA367A3B2}"/>
              </a:ext>
            </a:extLst>
          </p:cNvPr>
          <p:cNvSpPr txBox="1"/>
          <p:nvPr/>
        </p:nvSpPr>
        <p:spPr>
          <a:xfrm>
            <a:off x="1948837" y="6411392"/>
            <a:ext cx="8257844" cy="369332"/>
          </a:xfrm>
          <a:prstGeom prst="rect">
            <a:avLst/>
          </a:prstGeom>
          <a:noFill/>
        </p:spPr>
        <p:txBody>
          <a:bodyPr wrap="square" rtlCol="0">
            <a:spAutoFit/>
          </a:bodyPr>
          <a:lstStyle/>
          <a:p>
            <a:pPr algn="ctr"/>
            <a:r>
              <a:rPr lang="zh-CN" altLang="en-US" dirty="0">
                <a:latin typeface="微软雅黑" panose="020B0503020204020204" pitchFamily="34" charset="-122"/>
                <a:ea typeface="微软雅黑" panose="020B0503020204020204" pitchFamily="34" charset="-122"/>
              </a:rPr>
              <a:t>引自：清华大学崔勇老师提供的讲稿</a:t>
            </a:r>
          </a:p>
        </p:txBody>
      </p:sp>
      <p:sp>
        <p:nvSpPr>
          <p:cNvPr id="6" name="文本框 5">
            <a:extLst>
              <a:ext uri="{FF2B5EF4-FFF2-40B4-BE49-F238E27FC236}">
                <a16:creationId xmlns:a16="http://schemas.microsoft.com/office/drawing/2014/main" id="{082CC463-A981-4E7E-8F03-FAA795786BD7}"/>
              </a:ext>
            </a:extLst>
          </p:cNvPr>
          <p:cNvSpPr txBox="1"/>
          <p:nvPr/>
        </p:nvSpPr>
        <p:spPr>
          <a:xfrm>
            <a:off x="102036" y="6434725"/>
            <a:ext cx="3051654"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3.2 </a:t>
            </a:r>
            <a:r>
              <a:rPr lang="zh-CN" altLang="en-US" dirty="0">
                <a:solidFill>
                  <a:schemeClr val="bg1">
                    <a:lumMod val="65000"/>
                  </a:schemeClr>
                </a:solidFill>
                <a:latin typeface="微软雅黑" panose="020B0503020204020204" pitchFamily="34" charset="-122"/>
                <a:ea typeface="微软雅黑" panose="020B0503020204020204" pitchFamily="34" charset="-122"/>
              </a:rPr>
              <a:t>差错检测和纠正</a:t>
            </a:r>
          </a:p>
        </p:txBody>
      </p:sp>
    </p:spTree>
    <p:extLst>
      <p:ext uri="{BB962C8B-B14F-4D97-AF65-F5344CB8AC3E}">
        <p14:creationId xmlns:p14="http://schemas.microsoft.com/office/powerpoint/2010/main" val="364503721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C7807C7-66F4-2B06-A90F-EE460F448388}"/>
              </a:ext>
            </a:extLst>
          </p:cNvPr>
          <p:cNvSpPr>
            <a:spLocks noGrp="1"/>
          </p:cNvSpPr>
          <p:nvPr>
            <p:ph type="sldNum" sz="quarter" idx="11"/>
          </p:nvPr>
        </p:nvSpPr>
        <p:spPr/>
        <p:txBody>
          <a:bodyPr/>
          <a:lstStyle/>
          <a:p>
            <a:fld id="{8D4D1E41-7A09-AB4A-A4E1-09765ADA2698}" type="slidenum">
              <a:rPr kumimoji="1" lang="zh-CN" altLang="en-US" smtClean="0"/>
              <a:t>45</a:t>
            </a:fld>
            <a:endParaRPr kumimoji="1" lang="zh-CN" altLang="en-US" dirty="0"/>
          </a:p>
        </p:txBody>
      </p:sp>
      <p:sp>
        <p:nvSpPr>
          <p:cNvPr id="5" name="矩形 1">
            <a:extLst>
              <a:ext uri="{FF2B5EF4-FFF2-40B4-BE49-F238E27FC236}">
                <a16:creationId xmlns:a16="http://schemas.microsoft.com/office/drawing/2014/main" id="{DD33D58C-E993-CDA1-FCEF-8D2E7A1DB9FB}"/>
              </a:ext>
            </a:extLst>
          </p:cNvPr>
          <p:cNvSpPr/>
          <p:nvPr/>
        </p:nvSpPr>
        <p:spPr>
          <a:xfrm>
            <a:off x="1407747" y="1921411"/>
            <a:ext cx="9209452" cy="1979837"/>
          </a:xfrm>
          <a:prstGeom prst="rect">
            <a:avLst/>
          </a:prstGeom>
        </p:spPr>
        <p:txBody>
          <a:bodyPr wrap="square">
            <a:spAutoFit/>
          </a:bodyPr>
          <a:lstStyle/>
          <a:p>
            <a:pPr marL="342900" indent="-342900">
              <a:lnSpc>
                <a:spcPts val="3000"/>
              </a:lnSpc>
              <a:buFont typeface="Wingdings" panose="05000000000000000000" pitchFamily="2" charset="2"/>
              <a:buChar char="Ø"/>
              <a:defRPr/>
            </a:pPr>
            <a:r>
              <a:rPr lang="zh-CN" altLang="en-US" sz="2400" dirty="0">
                <a:solidFill>
                  <a:srgbClr val="00B050"/>
                </a:solidFill>
                <a:latin typeface="Times New Roman" panose="02020603050405020304" pitchFamily="18" charset="0"/>
                <a:ea typeface="Arial Unicode MS" panose="020B0604020202020204" pitchFamily="34" charset="-122"/>
                <a:cs typeface="Times New Roman" panose="02020603050405020304" pitchFamily="18" charset="0"/>
              </a:rPr>
              <a:t>特点</a:t>
            </a:r>
            <a:r>
              <a:rPr lang="zh-CN" altLang="en-US" sz="2400" dirty="0">
                <a:latin typeface="Times New Roman" panose="02020603050405020304" pitchFamily="18" charset="0"/>
                <a:ea typeface="Arial Unicode MS" panose="020B0604020202020204" pitchFamily="34" charset="-122"/>
                <a:cs typeface="Times New Roman" panose="02020603050405020304" pitchFamily="18" charset="0"/>
              </a:rPr>
              <a:t>：检错能力强，开销小，易于用编码器及检测电路实现。</a:t>
            </a:r>
            <a:endParaRPr lang="en-US" altLang="zh-CN" sz="2400" dirty="0">
              <a:latin typeface="Times New Roman" panose="02020603050405020304" pitchFamily="18" charset="0"/>
              <a:ea typeface="Arial Unicode MS" panose="020B0604020202020204" pitchFamily="34" charset="-122"/>
              <a:cs typeface="Times New Roman" panose="02020603050405020304" pitchFamily="18" charset="0"/>
            </a:endParaRPr>
          </a:p>
          <a:p>
            <a:pPr marL="342900" indent="-342900">
              <a:lnSpc>
                <a:spcPts val="3000"/>
              </a:lnSpc>
              <a:buFont typeface="Wingdings" panose="05000000000000000000" pitchFamily="2" charset="2"/>
              <a:buChar char="Ø"/>
              <a:defRPr/>
            </a:pPr>
            <a:r>
              <a:rPr lang="zh-CN" altLang="en-US" sz="2400" dirty="0">
                <a:solidFill>
                  <a:srgbClr val="00B050"/>
                </a:solidFill>
                <a:latin typeface="Times New Roman" panose="02020603050405020304" pitchFamily="18" charset="0"/>
                <a:ea typeface="Arial Unicode MS" panose="020B0604020202020204" pitchFamily="34" charset="-122"/>
                <a:cs typeface="Times New Roman" panose="02020603050405020304" pitchFamily="18" charset="0"/>
              </a:rPr>
              <a:t>检错能力</a:t>
            </a:r>
            <a:r>
              <a:rPr lang="zh-CN" altLang="en-US" sz="2400" dirty="0">
                <a:latin typeface="Times New Roman" panose="02020603050405020304" pitchFamily="18" charset="0"/>
                <a:ea typeface="Arial Unicode MS" panose="020B0604020202020204" pitchFamily="34" charset="-122"/>
                <a:cs typeface="Times New Roman" panose="02020603050405020304" pitchFamily="18" charset="0"/>
              </a:rPr>
              <a:t>：它所不能发现的错误的几率仅为</a:t>
            </a:r>
            <a:r>
              <a:rPr lang="en-US" altLang="zh-CN" sz="2400" dirty="0">
                <a:latin typeface="Times New Roman" panose="02020603050405020304" pitchFamily="18" charset="0"/>
                <a:ea typeface="Arial Unicode MS" panose="020B0604020202020204" pitchFamily="34" charset="-122"/>
                <a:cs typeface="Times New Roman" panose="02020603050405020304" pitchFamily="18" charset="0"/>
              </a:rPr>
              <a:t>0.0047%</a:t>
            </a:r>
            <a:r>
              <a:rPr lang="zh-CN" altLang="en-US" sz="2400" dirty="0">
                <a:latin typeface="Times New Roman" panose="02020603050405020304" pitchFamily="18" charset="0"/>
                <a:ea typeface="Arial Unicode MS" panose="020B0604020202020204" pitchFamily="34" charset="-122"/>
                <a:cs typeface="Times New Roman" panose="02020603050405020304" pitchFamily="18" charset="0"/>
              </a:rPr>
              <a:t>以下。</a:t>
            </a:r>
            <a:endParaRPr lang="en-US" altLang="zh-CN" sz="2400" dirty="0">
              <a:latin typeface="Times New Roman" panose="02020603050405020304" pitchFamily="18" charset="0"/>
              <a:ea typeface="Arial Unicode MS" panose="020B0604020202020204" pitchFamily="34" charset="-122"/>
              <a:cs typeface="Times New Roman" panose="02020603050405020304" pitchFamily="18" charset="0"/>
            </a:endParaRPr>
          </a:p>
          <a:p>
            <a:pPr marL="342900" indent="-342900">
              <a:lnSpc>
                <a:spcPts val="3000"/>
              </a:lnSpc>
              <a:buFont typeface="Wingdings" panose="05000000000000000000" pitchFamily="2" charset="2"/>
              <a:buChar char="Ø"/>
              <a:defRPr/>
            </a:pPr>
            <a:r>
              <a:rPr lang="zh-CN" altLang="en-US" sz="2400" dirty="0">
                <a:solidFill>
                  <a:srgbClr val="00B050"/>
                </a:solidFill>
                <a:latin typeface="Times New Roman" panose="02020603050405020304" pitchFamily="18" charset="0"/>
                <a:ea typeface="Arial Unicode MS" panose="020B0604020202020204" pitchFamily="34" charset="-122"/>
                <a:cs typeface="Times New Roman" panose="02020603050405020304" pitchFamily="18" charset="0"/>
              </a:rPr>
              <a:t>性能和开销</a:t>
            </a:r>
            <a:r>
              <a:rPr lang="zh-CN" altLang="en-US" sz="2400" dirty="0">
                <a:latin typeface="Times New Roman" panose="02020603050405020304" pitchFamily="18" charset="0"/>
                <a:ea typeface="Arial Unicode MS" panose="020B0604020202020204" pitchFamily="34" charset="-122"/>
                <a:cs typeface="Times New Roman" panose="02020603050405020304" pitchFamily="18" charset="0"/>
              </a:rPr>
              <a:t>：均远远优于奇偶校验及算术和校验等方式。</a:t>
            </a:r>
            <a:endParaRPr lang="en-US" altLang="zh-CN" sz="2400" dirty="0">
              <a:latin typeface="Times New Roman" panose="02020603050405020304" pitchFamily="18" charset="0"/>
              <a:ea typeface="Arial Unicode MS" panose="020B0604020202020204" pitchFamily="34" charset="-122"/>
              <a:cs typeface="Times New Roman" panose="02020603050405020304" pitchFamily="18" charset="0"/>
            </a:endParaRPr>
          </a:p>
          <a:p>
            <a:pPr marL="342900" indent="-342900">
              <a:lnSpc>
                <a:spcPts val="3000"/>
              </a:lnSpc>
              <a:buFont typeface="Wingdings" panose="05000000000000000000" pitchFamily="2" charset="2"/>
              <a:buChar char="Ø"/>
              <a:defRPr/>
            </a:pPr>
            <a:r>
              <a:rPr lang="zh-CN" altLang="en-US" sz="2400" dirty="0">
                <a:solidFill>
                  <a:srgbClr val="00B050"/>
                </a:solidFill>
                <a:latin typeface="Times New Roman" panose="02020603050405020304" pitchFamily="18" charset="0"/>
                <a:ea typeface="Arial Unicode MS" panose="020B0604020202020204" pitchFamily="34" charset="-122"/>
                <a:cs typeface="Times New Roman" panose="02020603050405020304" pitchFamily="18" charset="0"/>
              </a:rPr>
              <a:t>在数据存储和数据通讯领域</a:t>
            </a:r>
            <a:r>
              <a:rPr lang="en-US" altLang="zh-CN" sz="2400" dirty="0">
                <a:solidFill>
                  <a:srgbClr val="00B050"/>
                </a:solidFill>
                <a:latin typeface="Times New Roman" panose="02020603050405020304" pitchFamily="18" charset="0"/>
                <a:ea typeface="Arial Unicode MS" panose="020B0604020202020204" pitchFamily="34" charset="-122"/>
                <a:cs typeface="Times New Roman" panose="02020603050405020304" pitchFamily="18" charset="0"/>
              </a:rPr>
              <a:t>CRC</a:t>
            </a:r>
            <a:r>
              <a:rPr lang="zh-CN" altLang="en-US" sz="2400" dirty="0">
                <a:solidFill>
                  <a:srgbClr val="00B050"/>
                </a:solidFill>
                <a:latin typeface="Times New Roman" panose="02020603050405020304" pitchFamily="18" charset="0"/>
                <a:ea typeface="Arial Unicode MS" panose="020B0604020202020204" pitchFamily="34" charset="-122"/>
                <a:cs typeface="Times New Roman" panose="02020603050405020304" pitchFamily="18" charset="0"/>
              </a:rPr>
              <a:t>无处不在</a:t>
            </a:r>
            <a:r>
              <a:rPr lang="zh-CN" altLang="en-US" sz="2400" dirty="0">
                <a:latin typeface="Times New Roman" panose="02020603050405020304" pitchFamily="18" charset="0"/>
                <a:ea typeface="Arial Unicode MS" panose="020B0604020202020204" pitchFamily="34" charset="-122"/>
                <a:cs typeface="Times New Roman" panose="02020603050405020304" pitchFamily="18" charset="0"/>
              </a:rPr>
              <a:t>：</a:t>
            </a:r>
            <a:br>
              <a:rPr lang="en-US" altLang="zh-CN" sz="2400" dirty="0">
                <a:latin typeface="Times New Roman" panose="02020603050405020304" pitchFamily="18" charset="0"/>
                <a:ea typeface="Arial Unicode MS" panose="020B0604020202020204" pitchFamily="34" charset="-122"/>
                <a:cs typeface="Times New Roman" panose="02020603050405020304" pitchFamily="18" charset="0"/>
              </a:rPr>
            </a:br>
            <a:endParaRPr lang="zh-CN" altLang="en-US" sz="2000" dirty="0">
              <a:latin typeface="Times New Roman" panose="02020603050405020304" pitchFamily="18" charset="0"/>
              <a:ea typeface="Arial Unicode MS" panose="020B0604020202020204" pitchFamily="34" charset="-122"/>
              <a:cs typeface="Times New Roman" panose="02020603050405020304" pitchFamily="18" charset="0"/>
            </a:endParaRPr>
          </a:p>
        </p:txBody>
      </p:sp>
      <p:sp>
        <p:nvSpPr>
          <p:cNvPr id="6" name="矩形 6">
            <a:extLst>
              <a:ext uri="{FF2B5EF4-FFF2-40B4-BE49-F238E27FC236}">
                <a16:creationId xmlns:a16="http://schemas.microsoft.com/office/drawing/2014/main" id="{386B9E93-6E03-0A5A-A664-E91B46470C08}"/>
              </a:ext>
            </a:extLst>
          </p:cNvPr>
          <p:cNvSpPr/>
          <p:nvPr/>
        </p:nvSpPr>
        <p:spPr>
          <a:xfrm>
            <a:off x="2055332" y="4123789"/>
            <a:ext cx="8561867" cy="1596847"/>
          </a:xfrm>
          <a:prstGeom prst="rect">
            <a:avLst/>
          </a:prstGeom>
        </p:spPr>
        <p:txBody>
          <a:bodyPr wrap="square">
            <a:spAutoFit/>
          </a:bodyPr>
          <a:lstStyle/>
          <a:p>
            <a:pPr marL="457200" indent="-457200">
              <a:lnSpc>
                <a:spcPts val="3000"/>
              </a:lnSpc>
              <a:buFont typeface="Wingdings" panose="05000000000000000000" pitchFamily="2" charset="2"/>
              <a:buChar char="ü"/>
              <a:defRPr/>
            </a:pPr>
            <a:r>
              <a:rPr lang="zh-CN" altLang="en-US" sz="2000" dirty="0">
                <a:latin typeface="Times New Roman" panose="02020603050405020304" pitchFamily="18" charset="0"/>
                <a:ea typeface="Arial Unicode MS" panose="020B0604020202020204" pitchFamily="34" charset="-122"/>
                <a:cs typeface="Times New Roman" panose="02020603050405020304" pitchFamily="18" charset="0"/>
              </a:rPr>
              <a:t>著名的通讯协议</a:t>
            </a:r>
            <a:r>
              <a:rPr lang="en-US" altLang="zh-CN" sz="2000" dirty="0">
                <a:latin typeface="Times New Roman" panose="02020603050405020304" pitchFamily="18" charset="0"/>
                <a:ea typeface="Arial Unicode MS" panose="020B0604020202020204" pitchFamily="34" charset="-122"/>
                <a:cs typeface="Times New Roman" panose="02020603050405020304" pitchFamily="18" charset="0"/>
              </a:rPr>
              <a:t>X.25</a:t>
            </a:r>
            <a:r>
              <a:rPr lang="zh-CN" altLang="en-US" sz="2000" dirty="0">
                <a:latin typeface="Times New Roman" panose="02020603050405020304" pitchFamily="18" charset="0"/>
                <a:ea typeface="Arial Unicode MS" panose="020B0604020202020204" pitchFamily="34" charset="-122"/>
                <a:cs typeface="Times New Roman" panose="02020603050405020304" pitchFamily="18" charset="0"/>
              </a:rPr>
              <a:t>的</a:t>
            </a:r>
            <a:r>
              <a:rPr lang="en-US" altLang="zh-CN" sz="2000" dirty="0">
                <a:latin typeface="Times New Roman" panose="02020603050405020304" pitchFamily="18" charset="0"/>
                <a:ea typeface="Arial Unicode MS" panose="020B0604020202020204" pitchFamily="34" charset="-122"/>
                <a:cs typeface="Times New Roman" panose="02020603050405020304" pitchFamily="18" charset="0"/>
              </a:rPr>
              <a:t>FCS</a:t>
            </a:r>
            <a:r>
              <a:rPr lang="zh-CN" altLang="en-US" sz="2000" dirty="0">
                <a:latin typeface="Times New Roman" panose="02020603050405020304" pitchFamily="18" charset="0"/>
                <a:ea typeface="Arial Unicode MS" panose="020B0604020202020204" pitchFamily="34" charset="-122"/>
                <a:cs typeface="Times New Roman" panose="02020603050405020304" pitchFamily="18" charset="0"/>
              </a:rPr>
              <a:t>采用</a:t>
            </a:r>
            <a:r>
              <a:rPr lang="en-US" altLang="zh-CN" sz="2000" dirty="0">
                <a:solidFill>
                  <a:srgbClr val="FF0000"/>
                </a:solidFill>
                <a:latin typeface="Times New Roman" panose="02020603050405020304" pitchFamily="18" charset="0"/>
                <a:ea typeface="Arial Unicode MS" panose="020B0604020202020204" pitchFamily="34" charset="-122"/>
                <a:cs typeface="Times New Roman" panose="02020603050405020304" pitchFamily="18" charset="0"/>
              </a:rPr>
              <a:t>CRC-CCITT</a:t>
            </a:r>
            <a:r>
              <a:rPr lang="en-US" altLang="zh-CN" sz="2000" dirty="0">
                <a:latin typeface="Times New Roman" panose="02020603050405020304" pitchFamily="18" charset="0"/>
                <a:ea typeface="Arial Unicode MS" panose="020B0604020202020204" pitchFamily="34" charset="-122"/>
                <a:cs typeface="Times New Roman" panose="02020603050405020304" pitchFamily="18" charset="0"/>
              </a:rPr>
              <a:t>; </a:t>
            </a:r>
          </a:p>
          <a:p>
            <a:pPr marL="457200" indent="-457200">
              <a:lnSpc>
                <a:spcPts val="3000"/>
              </a:lnSpc>
              <a:buFont typeface="Wingdings" panose="05000000000000000000" pitchFamily="2" charset="2"/>
              <a:buChar char="ü"/>
              <a:defRPr/>
            </a:pPr>
            <a:r>
              <a:rPr lang="en-US" altLang="zh-CN" sz="2000" dirty="0">
                <a:latin typeface="Times New Roman" panose="02020603050405020304" pitchFamily="18" charset="0"/>
                <a:ea typeface="Arial Unicode MS" panose="020B0604020202020204" pitchFamily="34" charset="-122"/>
                <a:cs typeface="Times New Roman" panose="02020603050405020304" pitchFamily="18" charset="0"/>
              </a:rPr>
              <a:t>WinRAR</a:t>
            </a:r>
            <a:r>
              <a:rPr lang="zh-CN" altLang="en-US" sz="2000" dirty="0">
                <a:latin typeface="Times New Roman" panose="02020603050405020304" pitchFamily="18" charset="0"/>
                <a:ea typeface="Arial Unicode MS" panose="020B0604020202020204" pitchFamily="34" charset="-122"/>
                <a:cs typeface="Times New Roman" panose="02020603050405020304" pitchFamily="18" charset="0"/>
              </a:rPr>
              <a:t>、</a:t>
            </a:r>
            <a:r>
              <a:rPr lang="en-US" altLang="zh-CN" sz="2000" dirty="0">
                <a:latin typeface="Times New Roman" panose="02020603050405020304" pitchFamily="18" charset="0"/>
                <a:ea typeface="Arial Unicode MS" panose="020B0604020202020204" pitchFamily="34" charset="-122"/>
                <a:cs typeface="Times New Roman" panose="02020603050405020304" pitchFamily="18" charset="0"/>
              </a:rPr>
              <a:t>NERO</a:t>
            </a:r>
            <a:r>
              <a:rPr lang="zh-CN" altLang="en-US" sz="2000" dirty="0">
                <a:latin typeface="Times New Roman" panose="02020603050405020304" pitchFamily="18" charset="0"/>
                <a:ea typeface="Arial Unicode MS" panose="020B0604020202020204" pitchFamily="34" charset="-122"/>
                <a:cs typeface="Times New Roman" panose="02020603050405020304" pitchFamily="18" charset="0"/>
              </a:rPr>
              <a:t>、</a:t>
            </a:r>
            <a:r>
              <a:rPr lang="en-US" altLang="zh-CN" sz="2000" dirty="0">
                <a:latin typeface="Times New Roman" panose="02020603050405020304" pitchFamily="18" charset="0"/>
                <a:ea typeface="Arial Unicode MS" panose="020B0604020202020204" pitchFamily="34" charset="-122"/>
                <a:cs typeface="Times New Roman" panose="02020603050405020304" pitchFamily="18" charset="0"/>
              </a:rPr>
              <a:t>ARJ</a:t>
            </a:r>
            <a:r>
              <a:rPr lang="zh-CN" altLang="en-US" sz="2000" dirty="0">
                <a:latin typeface="Times New Roman" panose="02020603050405020304" pitchFamily="18" charset="0"/>
                <a:ea typeface="Arial Unicode MS" panose="020B0604020202020204" pitchFamily="34" charset="-122"/>
                <a:cs typeface="Times New Roman" panose="02020603050405020304" pitchFamily="18" charset="0"/>
              </a:rPr>
              <a:t>、</a:t>
            </a:r>
            <a:r>
              <a:rPr lang="en-US" altLang="zh-CN" sz="2000" dirty="0">
                <a:latin typeface="Times New Roman" panose="02020603050405020304" pitchFamily="18" charset="0"/>
                <a:ea typeface="Arial Unicode MS" panose="020B0604020202020204" pitchFamily="34" charset="-122"/>
                <a:cs typeface="Times New Roman" panose="02020603050405020304" pitchFamily="18" charset="0"/>
              </a:rPr>
              <a:t>LHA</a:t>
            </a:r>
            <a:r>
              <a:rPr lang="zh-CN" altLang="en-US" sz="2000" dirty="0">
                <a:latin typeface="Times New Roman" panose="02020603050405020304" pitchFamily="18" charset="0"/>
                <a:ea typeface="Arial Unicode MS" panose="020B0604020202020204" pitchFamily="34" charset="-122"/>
                <a:cs typeface="Times New Roman" panose="02020603050405020304" pitchFamily="18" charset="0"/>
              </a:rPr>
              <a:t>等压缩工具软件采用的是</a:t>
            </a:r>
            <a:r>
              <a:rPr lang="en-US" altLang="zh-CN" sz="2000" dirty="0">
                <a:solidFill>
                  <a:srgbClr val="FF0000"/>
                </a:solidFill>
                <a:latin typeface="Times New Roman" panose="02020603050405020304" pitchFamily="18" charset="0"/>
                <a:ea typeface="Arial Unicode MS" panose="020B0604020202020204" pitchFamily="34" charset="-122"/>
                <a:cs typeface="Times New Roman" panose="02020603050405020304" pitchFamily="18" charset="0"/>
              </a:rPr>
              <a:t>CRC-32</a:t>
            </a:r>
            <a:r>
              <a:rPr lang="en-US" altLang="zh-CN" sz="2000" dirty="0">
                <a:latin typeface="Times New Roman" panose="02020603050405020304" pitchFamily="18" charset="0"/>
                <a:ea typeface="Arial Unicode MS" panose="020B0604020202020204" pitchFamily="34" charset="-122"/>
                <a:cs typeface="Times New Roman" panose="02020603050405020304" pitchFamily="18" charset="0"/>
              </a:rPr>
              <a:t>; </a:t>
            </a:r>
          </a:p>
          <a:p>
            <a:pPr marL="457200" indent="-457200">
              <a:lnSpc>
                <a:spcPts val="3000"/>
              </a:lnSpc>
              <a:buFont typeface="Wingdings" panose="05000000000000000000" pitchFamily="2" charset="2"/>
              <a:buChar char="ü"/>
              <a:defRPr/>
            </a:pPr>
            <a:r>
              <a:rPr lang="zh-CN" altLang="en-US" sz="2000" dirty="0">
                <a:latin typeface="Times New Roman" panose="02020603050405020304" pitchFamily="18" charset="0"/>
                <a:ea typeface="Arial Unicode MS" panose="020B0604020202020204" pitchFamily="34" charset="-122"/>
                <a:cs typeface="Times New Roman" panose="02020603050405020304" pitchFamily="18" charset="0"/>
              </a:rPr>
              <a:t>磁盘驱动器读写采用</a:t>
            </a:r>
            <a:r>
              <a:rPr lang="en-US" altLang="zh-CN" sz="2000" dirty="0">
                <a:solidFill>
                  <a:srgbClr val="FF0000"/>
                </a:solidFill>
                <a:latin typeface="Times New Roman" panose="02020603050405020304" pitchFamily="18" charset="0"/>
                <a:ea typeface="Arial Unicode MS" panose="020B0604020202020204" pitchFamily="34" charset="-122"/>
                <a:cs typeface="Times New Roman" panose="02020603050405020304" pitchFamily="18" charset="0"/>
              </a:rPr>
              <a:t>CRC-16</a:t>
            </a:r>
            <a:r>
              <a:rPr lang="en-US" altLang="zh-CN" sz="2000" dirty="0">
                <a:latin typeface="Times New Roman" panose="02020603050405020304" pitchFamily="18" charset="0"/>
                <a:ea typeface="Arial Unicode MS" panose="020B0604020202020204" pitchFamily="34" charset="-122"/>
                <a:cs typeface="Times New Roman" panose="02020603050405020304" pitchFamily="18" charset="0"/>
              </a:rPr>
              <a:t>; </a:t>
            </a:r>
          </a:p>
          <a:p>
            <a:pPr marL="457200" indent="-457200">
              <a:lnSpc>
                <a:spcPts val="3000"/>
              </a:lnSpc>
              <a:buFont typeface="Wingdings" panose="05000000000000000000" pitchFamily="2" charset="2"/>
              <a:buChar char="ü"/>
              <a:defRPr/>
            </a:pPr>
            <a:r>
              <a:rPr lang="zh-CN" altLang="en-US" sz="2000" dirty="0">
                <a:latin typeface="Times New Roman" panose="02020603050405020304" pitchFamily="18" charset="0"/>
                <a:ea typeface="Arial Unicode MS" panose="020B0604020202020204" pitchFamily="34" charset="-122"/>
                <a:cs typeface="Times New Roman" panose="02020603050405020304" pitchFamily="18" charset="0"/>
              </a:rPr>
              <a:t>图像存储格式</a:t>
            </a:r>
            <a:r>
              <a:rPr lang="en-US" altLang="zh-CN" sz="2000" dirty="0">
                <a:latin typeface="Times New Roman" panose="02020603050405020304" pitchFamily="18" charset="0"/>
                <a:ea typeface="Arial Unicode MS" panose="020B0604020202020204" pitchFamily="34" charset="-122"/>
                <a:cs typeface="Times New Roman" panose="02020603050405020304" pitchFamily="18" charset="0"/>
              </a:rPr>
              <a:t>GIF</a:t>
            </a:r>
            <a:r>
              <a:rPr lang="zh-CN" altLang="en-US" sz="2000" dirty="0">
                <a:latin typeface="Times New Roman" panose="02020603050405020304" pitchFamily="18" charset="0"/>
                <a:ea typeface="Arial Unicode MS" panose="020B0604020202020204" pitchFamily="34" charset="-122"/>
                <a:cs typeface="Times New Roman" panose="02020603050405020304" pitchFamily="18" charset="0"/>
              </a:rPr>
              <a:t>、</a:t>
            </a:r>
            <a:r>
              <a:rPr lang="en-US" altLang="zh-CN" sz="2000" dirty="0">
                <a:latin typeface="Times New Roman" panose="02020603050405020304" pitchFamily="18" charset="0"/>
                <a:ea typeface="Arial Unicode MS" panose="020B0604020202020204" pitchFamily="34" charset="-122"/>
                <a:cs typeface="Times New Roman" panose="02020603050405020304" pitchFamily="18" charset="0"/>
              </a:rPr>
              <a:t>TIFF</a:t>
            </a:r>
            <a:r>
              <a:rPr lang="zh-CN" altLang="en-US" sz="2000" dirty="0">
                <a:latin typeface="Times New Roman" panose="02020603050405020304" pitchFamily="18" charset="0"/>
                <a:ea typeface="Arial Unicode MS" panose="020B0604020202020204" pitchFamily="34" charset="-122"/>
                <a:cs typeface="Times New Roman" panose="02020603050405020304" pitchFamily="18" charset="0"/>
              </a:rPr>
              <a:t>等也都用</a:t>
            </a:r>
            <a:r>
              <a:rPr lang="en-US" altLang="zh-CN" sz="2000" dirty="0">
                <a:latin typeface="Times New Roman" panose="02020603050405020304" pitchFamily="18" charset="0"/>
                <a:ea typeface="Arial Unicode MS" panose="020B0604020202020204" pitchFamily="34" charset="-122"/>
                <a:cs typeface="Times New Roman" panose="02020603050405020304" pitchFamily="18" charset="0"/>
              </a:rPr>
              <a:t>CRC</a:t>
            </a:r>
            <a:r>
              <a:rPr lang="zh-CN" altLang="en-US" sz="2000" dirty="0">
                <a:latin typeface="Times New Roman" panose="02020603050405020304" pitchFamily="18" charset="0"/>
                <a:ea typeface="Arial Unicode MS" panose="020B0604020202020204" pitchFamily="34" charset="-122"/>
                <a:cs typeface="Times New Roman" panose="02020603050405020304" pitchFamily="18" charset="0"/>
              </a:rPr>
              <a:t>作为检错手段。</a:t>
            </a:r>
          </a:p>
        </p:txBody>
      </p:sp>
    </p:spTree>
    <p:extLst>
      <p:ext uri="{BB962C8B-B14F-4D97-AF65-F5344CB8AC3E}">
        <p14:creationId xmlns:p14="http://schemas.microsoft.com/office/powerpoint/2010/main" val="1075839098"/>
      </p:ext>
    </p:extLst>
  </p:cSld>
  <p:clrMapOvr>
    <a:masterClrMapping/>
  </p:clrMapOvr>
  <p:transition spd="slow">
    <p:pull dir="ru"/>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8A87C55-34A6-DB52-D2AF-228323C5047B}"/>
              </a:ext>
            </a:extLst>
          </p:cNvPr>
          <p:cNvSpPr>
            <a:spLocks noGrp="1"/>
          </p:cNvSpPr>
          <p:nvPr>
            <p:ph type="sldNum" sz="quarter" idx="11"/>
          </p:nvPr>
        </p:nvSpPr>
        <p:spPr/>
        <p:txBody>
          <a:bodyPr/>
          <a:lstStyle/>
          <a:p>
            <a:fld id="{8D4D1E41-7A09-AB4A-A4E1-09765ADA2698}" type="slidenum">
              <a:rPr kumimoji="1" lang="zh-CN" altLang="en-US" smtClean="0"/>
              <a:t>46</a:t>
            </a:fld>
            <a:endParaRPr kumimoji="1" lang="zh-CN" altLang="en-US" dirty="0"/>
          </a:p>
        </p:txBody>
      </p:sp>
      <p:sp>
        <p:nvSpPr>
          <p:cNvPr id="5" name="文本框 4">
            <a:extLst>
              <a:ext uri="{FF2B5EF4-FFF2-40B4-BE49-F238E27FC236}">
                <a16:creationId xmlns:a16="http://schemas.microsoft.com/office/drawing/2014/main" id="{D6A93B16-1E91-615E-62CC-59BBC182B16D}"/>
              </a:ext>
            </a:extLst>
          </p:cNvPr>
          <p:cNvSpPr txBox="1"/>
          <p:nvPr/>
        </p:nvSpPr>
        <p:spPr>
          <a:xfrm>
            <a:off x="1842356" y="1124744"/>
            <a:ext cx="8507288" cy="1301318"/>
          </a:xfrm>
          <a:prstGeom prst="rect">
            <a:avLst/>
          </a:prstGeom>
          <a:noFill/>
        </p:spPr>
        <p:txBody>
          <a:bodyPr wrap="square" rtlCol="0">
            <a:spAutoFit/>
          </a:bodyPr>
          <a:lstStyle/>
          <a:p>
            <a:pPr algn="ctr">
              <a:lnSpc>
                <a:spcPct val="150000"/>
              </a:lnSpc>
            </a:pPr>
            <a:r>
              <a:rPr lang="zh-CN" altLang="en-US" sz="2800" dirty="0">
                <a:solidFill>
                  <a:srgbClr val="FF0000"/>
                </a:solidFill>
              </a:rPr>
              <a:t>思考：</a:t>
            </a:r>
            <a:endParaRPr lang="en-US" altLang="zh-CN" sz="2800" dirty="0">
              <a:solidFill>
                <a:srgbClr val="FF0000"/>
              </a:solidFill>
            </a:endParaRPr>
          </a:p>
          <a:p>
            <a:pPr algn="ctr">
              <a:lnSpc>
                <a:spcPct val="150000"/>
              </a:lnSpc>
            </a:pPr>
            <a:r>
              <a:rPr lang="zh-CN" altLang="en-US" sz="2800" dirty="0">
                <a:solidFill>
                  <a:srgbClr val="FF0000"/>
                </a:solidFill>
              </a:rPr>
              <a:t>循环冗余校验码，能够检查出多少位错误？</a:t>
            </a:r>
          </a:p>
        </p:txBody>
      </p:sp>
    </p:spTree>
    <p:extLst>
      <p:ext uri="{BB962C8B-B14F-4D97-AF65-F5344CB8AC3E}">
        <p14:creationId xmlns:p14="http://schemas.microsoft.com/office/powerpoint/2010/main" val="2152467194"/>
      </p:ext>
    </p:extLst>
  </p:cSld>
  <p:clrMapOvr>
    <a:masterClrMapping/>
  </p:clrMapOvr>
  <p:transition spd="slow">
    <p:pull dir="ru"/>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8A87C55-34A6-DB52-D2AF-228323C5047B}"/>
              </a:ext>
            </a:extLst>
          </p:cNvPr>
          <p:cNvSpPr>
            <a:spLocks noGrp="1"/>
          </p:cNvSpPr>
          <p:nvPr>
            <p:ph type="sldNum" sz="quarter" idx="11"/>
          </p:nvPr>
        </p:nvSpPr>
        <p:spPr/>
        <p:txBody>
          <a:bodyPr/>
          <a:lstStyle/>
          <a:p>
            <a:fld id="{8D4D1E41-7A09-AB4A-A4E1-09765ADA2698}" type="slidenum">
              <a:rPr kumimoji="1" lang="zh-CN" altLang="en-US" smtClean="0"/>
              <a:t>47</a:t>
            </a:fld>
            <a:endParaRPr kumimoji="1" lang="zh-CN" altLang="en-US" dirty="0"/>
          </a:p>
        </p:txBody>
      </p:sp>
      <p:sp>
        <p:nvSpPr>
          <p:cNvPr id="5" name="文本框 4">
            <a:extLst>
              <a:ext uri="{FF2B5EF4-FFF2-40B4-BE49-F238E27FC236}">
                <a16:creationId xmlns:a16="http://schemas.microsoft.com/office/drawing/2014/main" id="{D6A93B16-1E91-615E-62CC-59BBC182B16D}"/>
              </a:ext>
            </a:extLst>
          </p:cNvPr>
          <p:cNvSpPr txBox="1"/>
          <p:nvPr/>
        </p:nvSpPr>
        <p:spPr>
          <a:xfrm>
            <a:off x="1842356" y="1124744"/>
            <a:ext cx="8507288" cy="1301318"/>
          </a:xfrm>
          <a:prstGeom prst="rect">
            <a:avLst/>
          </a:prstGeom>
          <a:noFill/>
        </p:spPr>
        <p:txBody>
          <a:bodyPr wrap="square" rtlCol="0">
            <a:spAutoFit/>
          </a:bodyPr>
          <a:lstStyle/>
          <a:p>
            <a:pPr algn="ctr">
              <a:lnSpc>
                <a:spcPct val="150000"/>
              </a:lnSpc>
            </a:pPr>
            <a:r>
              <a:rPr lang="zh-CN" altLang="en-US" sz="2800" dirty="0">
                <a:solidFill>
                  <a:srgbClr val="FF0000"/>
                </a:solidFill>
              </a:rPr>
              <a:t>思考：</a:t>
            </a:r>
            <a:endParaRPr lang="en-US" altLang="zh-CN" sz="2800" dirty="0">
              <a:solidFill>
                <a:srgbClr val="FF0000"/>
              </a:solidFill>
            </a:endParaRPr>
          </a:p>
          <a:p>
            <a:pPr algn="ctr">
              <a:lnSpc>
                <a:spcPct val="150000"/>
              </a:lnSpc>
            </a:pPr>
            <a:r>
              <a:rPr lang="zh-CN" altLang="en-US" sz="2800" dirty="0">
                <a:solidFill>
                  <a:srgbClr val="FF0000"/>
                </a:solidFill>
              </a:rPr>
              <a:t>循环冗余校验码，能够检查出多少位错误？</a:t>
            </a:r>
          </a:p>
        </p:txBody>
      </p:sp>
      <p:sp>
        <p:nvSpPr>
          <p:cNvPr id="6" name="文本框 5">
            <a:extLst>
              <a:ext uri="{FF2B5EF4-FFF2-40B4-BE49-F238E27FC236}">
                <a16:creationId xmlns:a16="http://schemas.microsoft.com/office/drawing/2014/main" id="{BA18E230-2A4A-CBB5-CBD4-702CB4247A0B}"/>
              </a:ext>
            </a:extLst>
          </p:cNvPr>
          <p:cNvSpPr txBox="1"/>
          <p:nvPr/>
        </p:nvSpPr>
        <p:spPr>
          <a:xfrm>
            <a:off x="1775521" y="2636912"/>
            <a:ext cx="8640959" cy="3344570"/>
          </a:xfrm>
          <a:prstGeom prst="rect">
            <a:avLst/>
          </a:prstGeom>
          <a:noFill/>
        </p:spPr>
        <p:txBody>
          <a:bodyPr wrap="square" rtlCol="0">
            <a:spAutoFit/>
          </a:bodyPr>
          <a:lstStyle/>
          <a:p>
            <a:pPr marL="342900" indent="-342900">
              <a:lnSpc>
                <a:spcPct val="150000"/>
              </a:lnSpc>
              <a:buFont typeface="Wingdings" panose="05000000000000000000" pitchFamily="2" charset="2"/>
              <a:buChar char="q"/>
            </a:pPr>
            <a:r>
              <a:rPr lang="en-US" altLang="zh-CN" sz="2400" dirty="0"/>
              <a:t>CRC</a:t>
            </a:r>
            <a:r>
              <a:rPr lang="zh-CN" altLang="en-US" sz="2400" dirty="0"/>
              <a:t>的错误检测能力依赖于关键多项式的阶次以及所使用的特定关键多项式。</a:t>
            </a:r>
            <a:endParaRPr lang="en-US" altLang="zh-CN" sz="2400" dirty="0"/>
          </a:p>
          <a:p>
            <a:pPr marL="342900" indent="-342900">
              <a:lnSpc>
                <a:spcPct val="150000"/>
              </a:lnSpc>
              <a:buFont typeface="Wingdings" panose="05000000000000000000" pitchFamily="2" charset="2"/>
              <a:buChar char="q"/>
            </a:pPr>
            <a:r>
              <a:rPr lang="zh-CN" altLang="en-US" sz="2400" dirty="0"/>
              <a:t>误码多项式</a:t>
            </a:r>
            <a:r>
              <a:rPr lang="en-US" altLang="zh-CN" sz="2400" dirty="0"/>
              <a:t>E(x)</a:t>
            </a:r>
            <a:r>
              <a:rPr lang="zh-CN" altLang="en-US" sz="2400" dirty="0"/>
              <a:t>。</a:t>
            </a:r>
            <a:r>
              <a:rPr lang="en-US" altLang="zh-CN" sz="2400" dirty="0"/>
              <a:t>E(x)</a:t>
            </a:r>
            <a:r>
              <a:rPr lang="zh-CN" altLang="en-US" sz="2400" dirty="0"/>
              <a:t>是接收到的消息码字与正确消息码字的异或结果。</a:t>
            </a:r>
            <a:endParaRPr lang="en-US" altLang="zh-CN" sz="2400" dirty="0"/>
          </a:p>
          <a:p>
            <a:pPr marL="342900" indent="-342900">
              <a:lnSpc>
                <a:spcPct val="150000"/>
              </a:lnSpc>
              <a:buFont typeface="Wingdings" panose="05000000000000000000" pitchFamily="2" charset="2"/>
              <a:buChar char="q"/>
            </a:pPr>
            <a:r>
              <a:rPr lang="zh-CN" altLang="en-US" sz="2400" dirty="0"/>
              <a:t>当且仅当误码多项式能够被</a:t>
            </a:r>
            <a:r>
              <a:rPr lang="en-US" altLang="zh-CN" sz="2400" dirty="0"/>
              <a:t>CRC</a:t>
            </a:r>
            <a:r>
              <a:rPr lang="zh-CN" altLang="en-US" sz="2400" dirty="0"/>
              <a:t>多项式整除的时候</a:t>
            </a:r>
            <a:r>
              <a:rPr lang="en-US" altLang="zh-CN" sz="2400" dirty="0"/>
              <a:t>CRC</a:t>
            </a:r>
            <a:r>
              <a:rPr lang="zh-CN" altLang="en-US" sz="2400" dirty="0"/>
              <a:t>算法无法检查到错误。</a:t>
            </a:r>
            <a:endParaRPr lang="en-US" sz="2400" dirty="0"/>
          </a:p>
        </p:txBody>
      </p:sp>
    </p:spTree>
    <p:extLst>
      <p:ext uri="{BB962C8B-B14F-4D97-AF65-F5344CB8AC3E}">
        <p14:creationId xmlns:p14="http://schemas.microsoft.com/office/powerpoint/2010/main" val="636933933"/>
      </p:ext>
    </p:extLst>
  </p:cSld>
  <p:clrMapOvr>
    <a:masterClrMapping/>
  </p:clrMapOvr>
  <p:transition spd="slow">
    <p:pull dir="ru"/>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a:defRPr/>
            </a:pPr>
            <a:r>
              <a:rPr lang="en-US" altLang="zh-CN"/>
              <a:t>Computer Network</a:t>
            </a:r>
          </a:p>
        </p:txBody>
      </p:sp>
      <p:sp>
        <p:nvSpPr>
          <p:cNvPr id="3" name="灯片编号占位符 2"/>
          <p:cNvSpPr>
            <a:spLocks noGrp="1"/>
          </p:cNvSpPr>
          <p:nvPr>
            <p:ph type="sldNum" sz="quarter" idx="11"/>
          </p:nvPr>
        </p:nvSpPr>
        <p:spPr/>
        <p:txBody>
          <a:bodyPr/>
          <a:lstStyle/>
          <a:p>
            <a:pPr>
              <a:defRPr/>
            </a:pPr>
            <a:fld id="{2AAF93DC-1AF2-40C5-A519-3C53F0141A12}" type="slidenum">
              <a:rPr lang="en-US" altLang="zh-CN" smtClean="0"/>
              <a:pPr>
                <a:defRPr/>
              </a:pPr>
              <a:t>48</a:t>
            </a:fld>
            <a:endParaRPr lang="en-US" altLang="zh-CN"/>
          </a:p>
        </p:txBody>
      </p:sp>
      <p:sp>
        <p:nvSpPr>
          <p:cNvPr id="4" name="日期占位符 3"/>
          <p:cNvSpPr>
            <a:spLocks noGrp="1"/>
          </p:cNvSpPr>
          <p:nvPr>
            <p:ph type="dt" sz="half" idx="12"/>
          </p:nvPr>
        </p:nvSpPr>
        <p:spPr/>
        <p:txBody>
          <a:bodyPr/>
          <a:lstStyle/>
          <a:p>
            <a:pPr>
              <a:defRPr/>
            </a:pPr>
            <a:fld id="{F745FD7F-E1E7-4727-BD24-89E1126485D5}" type="datetime1">
              <a:rPr lang="zh-CN" altLang="en-US" smtClean="0"/>
              <a:pPr>
                <a:defRPr/>
              </a:pPr>
              <a:t>2024/10/18</a:t>
            </a:fld>
            <a:endParaRPr lang="en-US" altLang="zh-CN"/>
          </a:p>
        </p:txBody>
      </p:sp>
      <p:sp>
        <p:nvSpPr>
          <p:cNvPr id="8" name="文本框 7"/>
          <p:cNvSpPr txBox="1"/>
          <p:nvPr/>
        </p:nvSpPr>
        <p:spPr>
          <a:xfrm>
            <a:off x="2639616" y="980728"/>
            <a:ext cx="1261884" cy="523220"/>
          </a:xfrm>
          <a:prstGeom prst="rect">
            <a:avLst/>
          </a:prstGeom>
          <a:noFill/>
        </p:spPr>
        <p:txBody>
          <a:bodyPr wrap="none" rtlCol="0">
            <a:spAutoFit/>
          </a:bodyPr>
          <a:lstStyle/>
          <a:p>
            <a:r>
              <a:rPr lang="zh-CN" altLang="en-US" sz="2800" dirty="0">
                <a:solidFill>
                  <a:srgbClr val="FF0000"/>
                </a:solidFill>
              </a:rPr>
              <a:t>课练：</a:t>
            </a:r>
            <a:endParaRPr lang="en-US" sz="2800" dirty="0">
              <a:solidFill>
                <a:srgbClr val="FF0000"/>
              </a:solidFill>
            </a:endParaRPr>
          </a:p>
        </p:txBody>
      </p:sp>
      <p:pic>
        <p:nvPicPr>
          <p:cNvPr id="7" name="图片 6"/>
          <p:cNvPicPr>
            <a:picLocks noChangeAspect="1"/>
          </p:cNvPicPr>
          <p:nvPr/>
        </p:nvPicPr>
        <p:blipFill rotWithShape="1">
          <a:blip r:embed="rId2"/>
          <a:srcRect b="60317"/>
          <a:stretch/>
        </p:blipFill>
        <p:spPr>
          <a:xfrm>
            <a:off x="1635777" y="2033020"/>
            <a:ext cx="8920447" cy="1107949"/>
          </a:xfrm>
          <a:prstGeom prst="rect">
            <a:avLst/>
          </a:prstGeom>
        </p:spPr>
      </p:pic>
    </p:spTree>
    <p:extLst>
      <p:ext uri="{BB962C8B-B14F-4D97-AF65-F5344CB8AC3E}">
        <p14:creationId xmlns:p14="http://schemas.microsoft.com/office/powerpoint/2010/main" val="362826981"/>
      </p:ext>
    </p:extLst>
  </p:cSld>
  <p:clrMapOvr>
    <a:masterClrMapping/>
  </p:clrMapOvr>
  <p:transition spd="slow">
    <p:pull dir="ru"/>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a:defRPr/>
            </a:pPr>
            <a:r>
              <a:rPr lang="en-US" altLang="zh-CN"/>
              <a:t>Computer Network</a:t>
            </a:r>
          </a:p>
        </p:txBody>
      </p:sp>
      <p:sp>
        <p:nvSpPr>
          <p:cNvPr id="3" name="灯片编号占位符 2"/>
          <p:cNvSpPr>
            <a:spLocks noGrp="1"/>
          </p:cNvSpPr>
          <p:nvPr>
            <p:ph type="sldNum" sz="quarter" idx="11"/>
          </p:nvPr>
        </p:nvSpPr>
        <p:spPr/>
        <p:txBody>
          <a:bodyPr/>
          <a:lstStyle/>
          <a:p>
            <a:pPr>
              <a:defRPr/>
            </a:pPr>
            <a:fld id="{2AAF93DC-1AF2-40C5-A519-3C53F0141A12}" type="slidenum">
              <a:rPr lang="en-US" altLang="zh-CN" smtClean="0"/>
              <a:pPr>
                <a:defRPr/>
              </a:pPr>
              <a:t>49</a:t>
            </a:fld>
            <a:endParaRPr lang="en-US" altLang="zh-CN"/>
          </a:p>
        </p:txBody>
      </p:sp>
      <p:sp>
        <p:nvSpPr>
          <p:cNvPr id="4" name="日期占位符 3"/>
          <p:cNvSpPr>
            <a:spLocks noGrp="1"/>
          </p:cNvSpPr>
          <p:nvPr>
            <p:ph type="dt" sz="half" idx="12"/>
          </p:nvPr>
        </p:nvSpPr>
        <p:spPr/>
        <p:txBody>
          <a:bodyPr/>
          <a:lstStyle/>
          <a:p>
            <a:pPr>
              <a:defRPr/>
            </a:pPr>
            <a:fld id="{F745FD7F-E1E7-4727-BD24-89E1126485D5}" type="datetime1">
              <a:rPr lang="zh-CN" altLang="en-US" smtClean="0"/>
              <a:pPr>
                <a:defRPr/>
              </a:pPr>
              <a:t>2024/10/18</a:t>
            </a:fld>
            <a:endParaRPr lang="en-US" altLang="zh-CN"/>
          </a:p>
        </p:txBody>
      </p:sp>
      <p:pic>
        <p:nvPicPr>
          <p:cNvPr id="5" name="图片 4"/>
          <p:cNvPicPr>
            <a:picLocks noChangeAspect="1"/>
          </p:cNvPicPr>
          <p:nvPr/>
        </p:nvPicPr>
        <p:blipFill>
          <a:blip r:embed="rId2"/>
          <a:stretch>
            <a:fillRect/>
          </a:stretch>
        </p:blipFill>
        <p:spPr>
          <a:xfrm>
            <a:off x="1635777" y="2033020"/>
            <a:ext cx="8920447" cy="2791961"/>
          </a:xfrm>
          <a:prstGeom prst="rect">
            <a:avLst/>
          </a:prstGeom>
        </p:spPr>
      </p:pic>
      <p:sp>
        <p:nvSpPr>
          <p:cNvPr id="6" name="文本框 5"/>
          <p:cNvSpPr txBox="1"/>
          <p:nvPr/>
        </p:nvSpPr>
        <p:spPr>
          <a:xfrm>
            <a:off x="2639616" y="980728"/>
            <a:ext cx="1261884" cy="523220"/>
          </a:xfrm>
          <a:prstGeom prst="rect">
            <a:avLst/>
          </a:prstGeom>
          <a:noFill/>
        </p:spPr>
        <p:txBody>
          <a:bodyPr wrap="none" rtlCol="0">
            <a:spAutoFit/>
          </a:bodyPr>
          <a:lstStyle/>
          <a:p>
            <a:r>
              <a:rPr lang="zh-CN" altLang="en-US" sz="2800" dirty="0">
                <a:solidFill>
                  <a:srgbClr val="FF0000"/>
                </a:solidFill>
              </a:rPr>
              <a:t>课练：</a:t>
            </a:r>
            <a:endParaRPr lang="en-US" sz="2800" dirty="0">
              <a:solidFill>
                <a:srgbClr val="FF0000"/>
              </a:solidFill>
            </a:endParaRPr>
          </a:p>
        </p:txBody>
      </p:sp>
    </p:spTree>
    <p:extLst>
      <p:ext uri="{BB962C8B-B14F-4D97-AF65-F5344CB8AC3E}">
        <p14:creationId xmlns:p14="http://schemas.microsoft.com/office/powerpoint/2010/main" val="3350537107"/>
      </p:ext>
    </p:extLst>
  </p:cSld>
  <p:clrMapOvr>
    <a:masterClrMapping/>
  </p:clrMapOvr>
  <p:transition spd="slow">
    <p:pull dir="ru"/>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a:defRPr/>
            </a:pPr>
            <a:r>
              <a:rPr lang="en-US" altLang="zh-CN"/>
              <a:t>Computer Network</a:t>
            </a:r>
          </a:p>
        </p:txBody>
      </p:sp>
      <p:sp>
        <p:nvSpPr>
          <p:cNvPr id="3" name="灯片编号占位符 2"/>
          <p:cNvSpPr>
            <a:spLocks noGrp="1"/>
          </p:cNvSpPr>
          <p:nvPr>
            <p:ph type="sldNum" sz="quarter" idx="11"/>
          </p:nvPr>
        </p:nvSpPr>
        <p:spPr/>
        <p:txBody>
          <a:bodyPr/>
          <a:lstStyle/>
          <a:p>
            <a:pPr>
              <a:defRPr/>
            </a:pPr>
            <a:fld id="{2AAF93DC-1AF2-40C5-A519-3C53F0141A12}" type="slidenum">
              <a:rPr lang="en-US" altLang="zh-CN" smtClean="0"/>
              <a:pPr>
                <a:defRPr/>
              </a:pPr>
              <a:t>50</a:t>
            </a:fld>
            <a:endParaRPr lang="en-US" altLang="zh-CN"/>
          </a:p>
        </p:txBody>
      </p:sp>
      <p:sp>
        <p:nvSpPr>
          <p:cNvPr id="4" name="日期占位符 3"/>
          <p:cNvSpPr>
            <a:spLocks noGrp="1"/>
          </p:cNvSpPr>
          <p:nvPr>
            <p:ph type="dt" sz="half" idx="12"/>
          </p:nvPr>
        </p:nvSpPr>
        <p:spPr/>
        <p:txBody>
          <a:bodyPr/>
          <a:lstStyle/>
          <a:p>
            <a:pPr>
              <a:defRPr/>
            </a:pPr>
            <a:fld id="{F745FD7F-E1E7-4727-BD24-89E1126485D5}" type="datetime1">
              <a:rPr lang="zh-CN" altLang="en-US" smtClean="0"/>
              <a:pPr>
                <a:defRPr/>
              </a:pPr>
              <a:t>2024/10/18</a:t>
            </a:fld>
            <a:endParaRPr lang="en-US" altLang="zh-CN"/>
          </a:p>
        </p:txBody>
      </p:sp>
      <p:pic>
        <p:nvPicPr>
          <p:cNvPr id="5" name="图片 4"/>
          <p:cNvPicPr>
            <a:picLocks noChangeAspect="1"/>
          </p:cNvPicPr>
          <p:nvPr/>
        </p:nvPicPr>
        <p:blipFill>
          <a:blip r:embed="rId2"/>
          <a:stretch>
            <a:fillRect/>
          </a:stretch>
        </p:blipFill>
        <p:spPr>
          <a:xfrm>
            <a:off x="1703513" y="1471549"/>
            <a:ext cx="8823603" cy="4307651"/>
          </a:xfrm>
          <a:prstGeom prst="rect">
            <a:avLst/>
          </a:prstGeom>
        </p:spPr>
      </p:pic>
      <p:sp>
        <p:nvSpPr>
          <p:cNvPr id="6" name="文本框 5"/>
          <p:cNvSpPr txBox="1"/>
          <p:nvPr/>
        </p:nvSpPr>
        <p:spPr>
          <a:xfrm>
            <a:off x="2639616" y="980728"/>
            <a:ext cx="1261884" cy="523220"/>
          </a:xfrm>
          <a:prstGeom prst="rect">
            <a:avLst/>
          </a:prstGeom>
          <a:noFill/>
        </p:spPr>
        <p:txBody>
          <a:bodyPr wrap="none" rtlCol="0">
            <a:spAutoFit/>
          </a:bodyPr>
          <a:lstStyle/>
          <a:p>
            <a:r>
              <a:rPr lang="zh-CN" altLang="en-US" sz="2800" dirty="0">
                <a:solidFill>
                  <a:srgbClr val="FF0000"/>
                </a:solidFill>
              </a:rPr>
              <a:t>课练：</a:t>
            </a:r>
            <a:endParaRPr lang="en-US" sz="2800" dirty="0">
              <a:solidFill>
                <a:srgbClr val="FF0000"/>
              </a:solidFill>
            </a:endParaRPr>
          </a:p>
        </p:txBody>
      </p:sp>
    </p:spTree>
    <p:extLst>
      <p:ext uri="{BB962C8B-B14F-4D97-AF65-F5344CB8AC3E}">
        <p14:creationId xmlns:p14="http://schemas.microsoft.com/office/powerpoint/2010/main" val="2937585539"/>
      </p:ext>
    </p:extLst>
  </p:cSld>
  <p:clrMapOvr>
    <a:masterClrMapping/>
  </p:clrMapOvr>
  <p:transition spd="slow">
    <p:pull dir="ru"/>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a:defRPr/>
            </a:pPr>
            <a:r>
              <a:rPr lang="en-US" altLang="zh-CN"/>
              <a:t>Computer Network</a:t>
            </a:r>
          </a:p>
        </p:txBody>
      </p:sp>
      <p:sp>
        <p:nvSpPr>
          <p:cNvPr id="3" name="灯片编号占位符 2"/>
          <p:cNvSpPr>
            <a:spLocks noGrp="1"/>
          </p:cNvSpPr>
          <p:nvPr>
            <p:ph type="sldNum" sz="quarter" idx="11"/>
          </p:nvPr>
        </p:nvSpPr>
        <p:spPr/>
        <p:txBody>
          <a:bodyPr/>
          <a:lstStyle/>
          <a:p>
            <a:pPr>
              <a:defRPr/>
            </a:pPr>
            <a:fld id="{2AAF93DC-1AF2-40C5-A519-3C53F0141A12}" type="slidenum">
              <a:rPr lang="en-US" altLang="zh-CN" smtClean="0"/>
              <a:pPr>
                <a:defRPr/>
              </a:pPr>
              <a:t>51</a:t>
            </a:fld>
            <a:endParaRPr lang="en-US" altLang="zh-CN"/>
          </a:p>
        </p:txBody>
      </p:sp>
      <p:sp>
        <p:nvSpPr>
          <p:cNvPr id="4" name="日期占位符 3"/>
          <p:cNvSpPr>
            <a:spLocks noGrp="1"/>
          </p:cNvSpPr>
          <p:nvPr>
            <p:ph type="dt" sz="half" idx="12"/>
          </p:nvPr>
        </p:nvSpPr>
        <p:spPr/>
        <p:txBody>
          <a:bodyPr/>
          <a:lstStyle/>
          <a:p>
            <a:pPr>
              <a:defRPr/>
            </a:pPr>
            <a:fld id="{F745FD7F-E1E7-4727-BD24-89E1126485D5}" type="datetime1">
              <a:rPr lang="zh-CN" altLang="en-US" smtClean="0"/>
              <a:pPr>
                <a:defRPr/>
              </a:pPr>
              <a:t>2024/10/18</a:t>
            </a:fld>
            <a:endParaRPr lang="en-US" altLang="zh-CN"/>
          </a:p>
        </p:txBody>
      </p:sp>
      <p:pic>
        <p:nvPicPr>
          <p:cNvPr id="5" name="图片 4"/>
          <p:cNvPicPr>
            <a:picLocks noChangeAspect="1"/>
          </p:cNvPicPr>
          <p:nvPr/>
        </p:nvPicPr>
        <p:blipFill>
          <a:blip r:embed="rId2"/>
          <a:stretch>
            <a:fillRect/>
          </a:stretch>
        </p:blipFill>
        <p:spPr>
          <a:xfrm>
            <a:off x="1546810" y="1425154"/>
            <a:ext cx="9157703" cy="4164086"/>
          </a:xfrm>
          <a:prstGeom prst="rect">
            <a:avLst/>
          </a:prstGeom>
        </p:spPr>
      </p:pic>
      <p:sp>
        <p:nvSpPr>
          <p:cNvPr id="6" name="文本框 5"/>
          <p:cNvSpPr txBox="1"/>
          <p:nvPr/>
        </p:nvSpPr>
        <p:spPr>
          <a:xfrm>
            <a:off x="2639616" y="980728"/>
            <a:ext cx="1261884" cy="523220"/>
          </a:xfrm>
          <a:prstGeom prst="rect">
            <a:avLst/>
          </a:prstGeom>
          <a:noFill/>
        </p:spPr>
        <p:txBody>
          <a:bodyPr wrap="none" rtlCol="0">
            <a:spAutoFit/>
          </a:bodyPr>
          <a:lstStyle/>
          <a:p>
            <a:r>
              <a:rPr lang="zh-CN" altLang="en-US" sz="2800" dirty="0">
                <a:solidFill>
                  <a:srgbClr val="FF0000"/>
                </a:solidFill>
              </a:rPr>
              <a:t>课练：</a:t>
            </a:r>
            <a:endParaRPr lang="en-US" sz="2800" dirty="0">
              <a:solidFill>
                <a:srgbClr val="FF0000"/>
              </a:solidFill>
            </a:endParaRPr>
          </a:p>
        </p:txBody>
      </p:sp>
    </p:spTree>
    <p:extLst>
      <p:ext uri="{BB962C8B-B14F-4D97-AF65-F5344CB8AC3E}">
        <p14:creationId xmlns:p14="http://schemas.microsoft.com/office/powerpoint/2010/main" val="4134555696"/>
      </p:ext>
    </p:extLst>
  </p:cSld>
  <p:clrMapOvr>
    <a:masterClrMapping/>
  </p:clrMapOvr>
  <p:transition spd="slow">
    <p:pull dir="ru"/>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典型纠错码</a:t>
            </a:r>
            <a:endParaRPr kumimoji="1" lang="zh-CN" altLang="en-US" sz="3200" dirty="0"/>
          </a:p>
        </p:txBody>
      </p:sp>
      <p:sp>
        <p:nvSpPr>
          <p:cNvPr id="3" name="内容占位符 2"/>
          <p:cNvSpPr>
            <a:spLocks noGrp="1"/>
          </p:cNvSpPr>
          <p:nvPr>
            <p:ph idx="1"/>
          </p:nvPr>
        </p:nvSpPr>
        <p:spPr>
          <a:xfrm>
            <a:off x="838200" y="1384300"/>
            <a:ext cx="10617200" cy="1788391"/>
          </a:xfrm>
        </p:spPr>
        <p:txBody>
          <a:bodyPr>
            <a:noAutofit/>
          </a:bodyPr>
          <a:lstStyle/>
          <a:p>
            <a:pPr>
              <a:lnSpc>
                <a:spcPts val="3600"/>
              </a:lnSpc>
            </a:pPr>
            <a:r>
              <a:rPr lang="zh-CN" altLang="en-US" dirty="0"/>
              <a:t>设计纠错码</a:t>
            </a:r>
          </a:p>
          <a:p>
            <a:pPr lvl="1">
              <a:lnSpc>
                <a:spcPts val="3600"/>
              </a:lnSpc>
            </a:pPr>
            <a:r>
              <a:rPr lang="zh-CN" altLang="en-US" dirty="0"/>
              <a:t>要求：</a:t>
            </a:r>
            <a:r>
              <a:rPr lang="en-US" altLang="zh-CN" dirty="0"/>
              <a:t>m</a:t>
            </a:r>
            <a:r>
              <a:rPr lang="zh-CN" altLang="zh-CN" dirty="0"/>
              <a:t>个信息位，</a:t>
            </a:r>
            <a:r>
              <a:rPr lang="en-US" altLang="zh-CN" dirty="0"/>
              <a:t>r</a:t>
            </a:r>
            <a:r>
              <a:rPr lang="zh-CN" altLang="zh-CN" dirty="0"/>
              <a:t>个校验位，纠正单比特错</a:t>
            </a:r>
            <a:endParaRPr lang="zh-CN" altLang="en-US" dirty="0"/>
          </a:p>
          <a:p>
            <a:pPr marL="806450" lvl="2" indent="0">
              <a:lnSpc>
                <a:spcPts val="3400"/>
              </a:lnSpc>
              <a:buNone/>
            </a:pPr>
            <a:endParaRPr lang="en-US" altLang="zh-CN" dirty="0"/>
          </a:p>
        </p:txBody>
      </p:sp>
      <p:sp>
        <p:nvSpPr>
          <p:cNvPr id="4" name="幻灯片编号占位符 3"/>
          <p:cNvSpPr>
            <a:spLocks noGrp="1"/>
          </p:cNvSpPr>
          <p:nvPr>
            <p:ph type="sldNum" sz="quarter" idx="12"/>
          </p:nvPr>
        </p:nvSpPr>
        <p:spPr/>
        <p:txBody>
          <a:bodyPr/>
          <a:lstStyle/>
          <a:p>
            <a:fld id="{8D4D1E41-7A09-AB4A-A4E1-09765ADA2698}" type="slidenum">
              <a:rPr kumimoji="1" lang="zh-CN" altLang="en-US" smtClean="0"/>
              <a:t>52</a:t>
            </a:fld>
            <a:endParaRPr kumimoji="1" lang="zh-CN" altLang="en-US" dirty="0"/>
          </a:p>
        </p:txBody>
      </p:sp>
      <p:sp>
        <p:nvSpPr>
          <p:cNvPr id="5" name="文本框 4">
            <a:extLst>
              <a:ext uri="{FF2B5EF4-FFF2-40B4-BE49-F238E27FC236}">
                <a16:creationId xmlns:a16="http://schemas.microsoft.com/office/drawing/2014/main" id="{082CC463-A981-4E7E-8F03-FAA795786BD7}"/>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3.2 </a:t>
            </a:r>
            <a:r>
              <a:rPr lang="zh-CN" altLang="en-US" dirty="0">
                <a:solidFill>
                  <a:schemeClr val="bg1">
                    <a:lumMod val="65000"/>
                  </a:schemeClr>
                </a:solidFill>
                <a:latin typeface="微软雅黑" panose="020B0503020204020204" pitchFamily="34" charset="-122"/>
                <a:ea typeface="微软雅黑" panose="020B0503020204020204" pitchFamily="34" charset="-122"/>
              </a:rPr>
              <a:t>差错检测和纠正</a:t>
            </a:r>
          </a:p>
        </p:txBody>
      </p:sp>
      <p:sp>
        <p:nvSpPr>
          <p:cNvPr id="6" name="文本框 5">
            <a:extLst>
              <a:ext uri="{FF2B5EF4-FFF2-40B4-BE49-F238E27FC236}">
                <a16:creationId xmlns:a16="http://schemas.microsoft.com/office/drawing/2014/main" id="{0AF35379-6DE8-43C5-A6FD-98ABA367A3B2}"/>
              </a:ext>
            </a:extLst>
          </p:cNvPr>
          <p:cNvSpPr txBox="1"/>
          <p:nvPr/>
        </p:nvSpPr>
        <p:spPr>
          <a:xfrm>
            <a:off x="1948837" y="6411392"/>
            <a:ext cx="8257844" cy="369332"/>
          </a:xfrm>
          <a:prstGeom prst="rect">
            <a:avLst/>
          </a:prstGeom>
          <a:noFill/>
        </p:spPr>
        <p:txBody>
          <a:bodyPr wrap="square" rtlCol="0">
            <a:spAutoFit/>
          </a:bodyPr>
          <a:lstStyle/>
          <a:p>
            <a:pPr algn="ctr"/>
            <a:r>
              <a:rPr lang="zh-CN" altLang="en-US" dirty="0">
                <a:latin typeface="微软雅黑" panose="020B0503020204020204" pitchFamily="34" charset="-122"/>
                <a:ea typeface="微软雅黑" panose="020B0503020204020204" pitchFamily="34" charset="-122"/>
              </a:rPr>
              <a:t>引自：清华大学崔勇老师提供的讲稿</a:t>
            </a:r>
          </a:p>
        </p:txBody>
      </p:sp>
      <p:sp>
        <p:nvSpPr>
          <p:cNvPr id="7" name="标题 1">
            <a:extLst>
              <a:ext uri="{FF2B5EF4-FFF2-40B4-BE49-F238E27FC236}">
                <a16:creationId xmlns:a16="http://schemas.microsoft.com/office/drawing/2014/main" id="{EE0EB84D-6D93-D18C-3B7E-6E32AEA2BDC1}"/>
              </a:ext>
            </a:extLst>
          </p:cNvPr>
          <p:cNvSpPr txBox="1">
            <a:spLocks/>
          </p:cNvSpPr>
          <p:nvPr/>
        </p:nvSpPr>
        <p:spPr>
          <a:xfrm>
            <a:off x="838200" y="3862508"/>
            <a:ext cx="9368481" cy="803275"/>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000" kern="1200">
                <a:solidFill>
                  <a:schemeClr val="tx1"/>
                </a:solidFill>
                <a:latin typeface="Microsoft YaHei" panose="020B0503020204020204" pitchFamily="34" charset="-122"/>
                <a:ea typeface="Microsoft YaHei" panose="020B0503020204020204" pitchFamily="34" charset="-122"/>
                <a:cs typeface="+mj-cs"/>
              </a:defRPr>
            </a:lvl1pPr>
          </a:lstStyle>
          <a:p>
            <a:pPr>
              <a:lnSpc>
                <a:spcPct val="120000"/>
              </a:lnSpc>
            </a:pPr>
            <a:r>
              <a:rPr lang="zh-CN" altLang="en-US" sz="2400" dirty="0">
                <a:solidFill>
                  <a:srgbClr val="FF0000"/>
                </a:solidFill>
              </a:rPr>
              <a:t>思考：要传输的数据有</a:t>
            </a:r>
            <a:r>
              <a:rPr lang="en-US" altLang="zh-CN" sz="2400" dirty="0">
                <a:solidFill>
                  <a:srgbClr val="FF0000"/>
                </a:solidFill>
              </a:rPr>
              <a:t>m</a:t>
            </a:r>
            <a:r>
              <a:rPr lang="zh-CN" altLang="en-US" sz="2400" dirty="0">
                <a:solidFill>
                  <a:srgbClr val="FF0000"/>
                </a:solidFill>
              </a:rPr>
              <a:t>位，冗余位</a:t>
            </a:r>
            <a:r>
              <a:rPr lang="en-US" altLang="zh-CN" sz="2400" dirty="0">
                <a:solidFill>
                  <a:srgbClr val="FF0000"/>
                </a:solidFill>
              </a:rPr>
              <a:t>r</a:t>
            </a:r>
            <a:r>
              <a:rPr lang="zh-CN" altLang="en-US" sz="2400" dirty="0">
                <a:solidFill>
                  <a:srgbClr val="FF0000"/>
                </a:solidFill>
              </a:rPr>
              <a:t>至少是多少，才能纠正</a:t>
            </a:r>
            <a:r>
              <a:rPr lang="en-US" altLang="zh-CN" sz="2400" dirty="0">
                <a:solidFill>
                  <a:srgbClr val="FF0000"/>
                </a:solidFill>
              </a:rPr>
              <a:t>1</a:t>
            </a:r>
            <a:r>
              <a:rPr lang="zh-CN" altLang="en-US" sz="2400" dirty="0">
                <a:solidFill>
                  <a:srgbClr val="FF0000"/>
                </a:solidFill>
              </a:rPr>
              <a:t>为错误？</a:t>
            </a:r>
            <a:endParaRPr lang="en-US" sz="2400" dirty="0">
              <a:solidFill>
                <a:srgbClr val="FF0000"/>
              </a:solidFill>
            </a:endParaRPr>
          </a:p>
        </p:txBody>
      </p:sp>
    </p:spTree>
    <p:extLst>
      <p:ext uri="{BB962C8B-B14F-4D97-AF65-F5344CB8AC3E}">
        <p14:creationId xmlns:p14="http://schemas.microsoft.com/office/powerpoint/2010/main" val="391386038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典型纠错码</a:t>
            </a:r>
            <a:endParaRPr kumimoji="1" lang="zh-CN" altLang="en-US" sz="3200" dirty="0"/>
          </a:p>
        </p:txBody>
      </p:sp>
      <p:sp>
        <p:nvSpPr>
          <p:cNvPr id="3" name="内容占位符 2"/>
          <p:cNvSpPr>
            <a:spLocks noGrp="1"/>
          </p:cNvSpPr>
          <p:nvPr>
            <p:ph idx="1"/>
          </p:nvPr>
        </p:nvSpPr>
        <p:spPr>
          <a:xfrm>
            <a:off x="838200" y="1384300"/>
            <a:ext cx="10617200" cy="4419600"/>
          </a:xfrm>
        </p:spPr>
        <p:txBody>
          <a:bodyPr>
            <a:noAutofit/>
          </a:bodyPr>
          <a:lstStyle/>
          <a:p>
            <a:pPr>
              <a:lnSpc>
                <a:spcPts val="3600"/>
              </a:lnSpc>
            </a:pPr>
            <a:r>
              <a:rPr lang="zh-CN" altLang="en-US" dirty="0"/>
              <a:t>设计纠错码</a:t>
            </a:r>
          </a:p>
          <a:p>
            <a:pPr lvl="1">
              <a:lnSpc>
                <a:spcPts val="3600"/>
              </a:lnSpc>
            </a:pPr>
            <a:r>
              <a:rPr lang="zh-CN" altLang="en-US" dirty="0"/>
              <a:t>要求：</a:t>
            </a:r>
            <a:r>
              <a:rPr lang="en-US" altLang="zh-CN" dirty="0"/>
              <a:t>m</a:t>
            </a:r>
            <a:r>
              <a:rPr lang="zh-CN" altLang="zh-CN" dirty="0"/>
              <a:t>个信息位，</a:t>
            </a:r>
            <a:r>
              <a:rPr lang="en-US" altLang="zh-CN" dirty="0"/>
              <a:t>r</a:t>
            </a:r>
            <a:r>
              <a:rPr lang="zh-CN" altLang="zh-CN" dirty="0"/>
              <a:t>个校验位，纠正单比特错</a:t>
            </a:r>
            <a:endParaRPr lang="zh-CN" altLang="en-US" dirty="0"/>
          </a:p>
          <a:p>
            <a:pPr lvl="1">
              <a:lnSpc>
                <a:spcPts val="3600"/>
              </a:lnSpc>
            </a:pPr>
            <a:r>
              <a:rPr lang="zh-CN" altLang="zh-CN" dirty="0"/>
              <a:t>对2</a:t>
            </a:r>
            <a:r>
              <a:rPr lang="en-US" altLang="zh-CN" baseline="30000" dirty="0"/>
              <a:t>m</a:t>
            </a:r>
            <a:r>
              <a:rPr lang="zh-CN" altLang="zh-CN" dirty="0"/>
              <a:t>个有效信息中任何一个，有</a:t>
            </a:r>
            <a:r>
              <a:rPr lang="en-US" altLang="zh-CN" dirty="0"/>
              <a:t>n</a:t>
            </a:r>
            <a:r>
              <a:rPr lang="zh-CN" altLang="zh-CN" dirty="0"/>
              <a:t>个与其距离为1的无效码字</a:t>
            </a:r>
            <a:r>
              <a:rPr lang="zh-CN" altLang="en-US" dirty="0"/>
              <a:t>：</a:t>
            </a:r>
            <a:endParaRPr lang="en-US" altLang="zh-CN" dirty="0"/>
          </a:p>
          <a:p>
            <a:pPr lvl="2" indent="-336550">
              <a:lnSpc>
                <a:spcPts val="3600"/>
              </a:lnSpc>
              <a:buFont typeface="微软雅黑" panose="020B0503020204020204" pitchFamily="34" charset="-122"/>
              <a:buChar char="−"/>
            </a:pPr>
            <a:r>
              <a:rPr lang="zh-CN" altLang="en-US" dirty="0"/>
              <a:t>可以考虑将该信息对应的合法码字的</a:t>
            </a:r>
            <a:r>
              <a:rPr lang="en-US" altLang="zh-CN" dirty="0"/>
              <a:t>n</a:t>
            </a:r>
            <a:r>
              <a:rPr lang="zh-CN" altLang="en-US" dirty="0"/>
              <a:t>位逐个取反，得到</a:t>
            </a:r>
            <a:r>
              <a:rPr lang="en-US" altLang="zh-CN" dirty="0"/>
              <a:t>n</a:t>
            </a:r>
            <a:r>
              <a:rPr lang="zh-CN" altLang="en-US" dirty="0"/>
              <a:t>个距离为</a:t>
            </a:r>
            <a:r>
              <a:rPr lang="en-US" altLang="zh-CN" dirty="0"/>
              <a:t>1</a:t>
            </a:r>
            <a:r>
              <a:rPr lang="zh-CN" altLang="en-US" dirty="0"/>
              <a:t>的非法码字，需要</a:t>
            </a:r>
            <a:r>
              <a:rPr lang="en-US" altLang="zh-CN" dirty="0"/>
              <a:t>n+1</a:t>
            </a:r>
            <a:r>
              <a:rPr lang="zh-CN" altLang="en-US" dirty="0"/>
              <a:t>个位模式来标识</a:t>
            </a:r>
            <a:endParaRPr lang="en-US" altLang="zh-CN" dirty="0"/>
          </a:p>
          <a:p>
            <a:pPr marL="692150" lvl="1" indent="-342900">
              <a:lnSpc>
                <a:spcPts val="3600"/>
              </a:lnSpc>
            </a:pPr>
            <a:r>
              <a:rPr lang="zh-CN" altLang="zh-CN" dirty="0"/>
              <a:t>因此有</a:t>
            </a:r>
            <a:r>
              <a:rPr lang="zh-CN" altLang="en-US" dirty="0"/>
              <a:t>：</a:t>
            </a:r>
            <a:r>
              <a:rPr lang="en-US" altLang="zh-CN" dirty="0"/>
              <a:t>(n + 1) 2</a:t>
            </a:r>
            <a:r>
              <a:rPr lang="en-US" altLang="zh-CN" baseline="30000" dirty="0"/>
              <a:t>m</a:t>
            </a:r>
            <a:r>
              <a:rPr lang="en-US" altLang="zh-CN" dirty="0"/>
              <a:t> </a:t>
            </a:r>
            <a:r>
              <a:rPr lang="en-US" altLang="zh-CN" dirty="0">
                <a:sym typeface="Symbol" panose="05050102010706020507" pitchFamily="18" charset="2"/>
              </a:rPr>
              <a:t> 2</a:t>
            </a:r>
            <a:r>
              <a:rPr lang="en-US" altLang="zh-CN" baseline="30000" dirty="0">
                <a:sym typeface="Symbol" panose="05050102010706020507" pitchFamily="18" charset="2"/>
              </a:rPr>
              <a:t>n</a:t>
            </a:r>
          </a:p>
          <a:p>
            <a:pPr marL="692150" lvl="1" indent="-342900">
              <a:lnSpc>
                <a:spcPts val="3600"/>
              </a:lnSpc>
            </a:pPr>
            <a:r>
              <a:rPr lang="zh-CN" altLang="en-US" dirty="0">
                <a:sym typeface="Symbol" panose="05050102010706020507" pitchFamily="18" charset="2"/>
              </a:rPr>
              <a:t>利用 </a:t>
            </a:r>
            <a:r>
              <a:rPr lang="en-US" altLang="zh-CN" dirty="0">
                <a:sym typeface="Symbol" panose="05050102010706020507" pitchFamily="18" charset="2"/>
              </a:rPr>
              <a:t>n = m + r</a:t>
            </a:r>
            <a:r>
              <a:rPr lang="zh-CN" altLang="en-US" dirty="0">
                <a:sym typeface="Symbol" panose="05050102010706020507" pitchFamily="18" charset="2"/>
              </a:rPr>
              <a:t>，得到 </a:t>
            </a:r>
            <a:r>
              <a:rPr lang="en-US" altLang="zh-CN" dirty="0">
                <a:highlight>
                  <a:srgbClr val="FFFF00"/>
                </a:highlight>
                <a:sym typeface="Symbol" panose="05050102010706020507" pitchFamily="18" charset="2"/>
              </a:rPr>
              <a:t>(m + r + 1)  2</a:t>
            </a:r>
            <a:r>
              <a:rPr lang="en-US" altLang="zh-CN" baseline="30000" dirty="0">
                <a:highlight>
                  <a:srgbClr val="FFFF00"/>
                </a:highlight>
                <a:sym typeface="Symbol" panose="05050102010706020507" pitchFamily="18" charset="2"/>
              </a:rPr>
              <a:t>r</a:t>
            </a:r>
            <a:endParaRPr lang="en-US" altLang="zh-CN" dirty="0">
              <a:highlight>
                <a:srgbClr val="FFFF00"/>
              </a:highlight>
              <a:sym typeface="Symbol" panose="05050102010706020507" pitchFamily="18" charset="2"/>
            </a:endParaRPr>
          </a:p>
          <a:p>
            <a:pPr marL="692150" lvl="1" indent="-342900">
              <a:lnSpc>
                <a:spcPts val="3600"/>
              </a:lnSpc>
            </a:pPr>
            <a:r>
              <a:rPr lang="zh-CN" altLang="en-US" dirty="0">
                <a:sym typeface="Symbol" panose="05050102010706020507" pitchFamily="18" charset="2"/>
              </a:rPr>
              <a:t>在给定</a:t>
            </a:r>
            <a:r>
              <a:rPr lang="en-US" altLang="zh-CN" dirty="0">
                <a:sym typeface="Symbol" panose="05050102010706020507" pitchFamily="18" charset="2"/>
              </a:rPr>
              <a:t>m</a:t>
            </a:r>
            <a:r>
              <a:rPr lang="zh-CN" altLang="en-US" dirty="0">
                <a:sym typeface="Symbol" panose="05050102010706020507" pitchFamily="18" charset="2"/>
              </a:rPr>
              <a:t>的情况下，利用该式可以得出纠正单比特错误校验位数的下界</a:t>
            </a:r>
            <a:endParaRPr lang="zh-CN" altLang="en-US" dirty="0"/>
          </a:p>
          <a:p>
            <a:pPr lvl="2" indent="-336550">
              <a:lnSpc>
                <a:spcPts val="3400"/>
              </a:lnSpc>
              <a:buFont typeface="微软雅黑" panose="020B0503020204020204" pitchFamily="34" charset="-122"/>
              <a:buChar char="−"/>
            </a:pPr>
            <a:endParaRPr lang="en-US" altLang="zh-CN" dirty="0"/>
          </a:p>
        </p:txBody>
      </p:sp>
      <p:sp>
        <p:nvSpPr>
          <p:cNvPr id="4" name="幻灯片编号占位符 3"/>
          <p:cNvSpPr>
            <a:spLocks noGrp="1"/>
          </p:cNvSpPr>
          <p:nvPr>
            <p:ph type="sldNum" sz="quarter" idx="12"/>
          </p:nvPr>
        </p:nvSpPr>
        <p:spPr/>
        <p:txBody>
          <a:bodyPr/>
          <a:lstStyle/>
          <a:p>
            <a:fld id="{8D4D1E41-7A09-AB4A-A4E1-09765ADA2698}" type="slidenum">
              <a:rPr kumimoji="1" lang="zh-CN" altLang="en-US" smtClean="0"/>
              <a:t>53</a:t>
            </a:fld>
            <a:endParaRPr kumimoji="1" lang="zh-CN" altLang="en-US" dirty="0"/>
          </a:p>
        </p:txBody>
      </p:sp>
      <p:sp>
        <p:nvSpPr>
          <p:cNvPr id="5" name="文本框 4">
            <a:extLst>
              <a:ext uri="{FF2B5EF4-FFF2-40B4-BE49-F238E27FC236}">
                <a16:creationId xmlns:a16="http://schemas.microsoft.com/office/drawing/2014/main" id="{082CC463-A981-4E7E-8F03-FAA795786BD7}"/>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3.2 </a:t>
            </a:r>
            <a:r>
              <a:rPr lang="zh-CN" altLang="en-US" dirty="0">
                <a:solidFill>
                  <a:schemeClr val="bg1">
                    <a:lumMod val="65000"/>
                  </a:schemeClr>
                </a:solidFill>
                <a:latin typeface="微软雅黑" panose="020B0503020204020204" pitchFamily="34" charset="-122"/>
                <a:ea typeface="微软雅黑" panose="020B0503020204020204" pitchFamily="34" charset="-122"/>
              </a:rPr>
              <a:t>差错检测和纠正</a:t>
            </a:r>
          </a:p>
        </p:txBody>
      </p:sp>
      <p:sp>
        <p:nvSpPr>
          <p:cNvPr id="6" name="文本框 5">
            <a:extLst>
              <a:ext uri="{FF2B5EF4-FFF2-40B4-BE49-F238E27FC236}">
                <a16:creationId xmlns:a16="http://schemas.microsoft.com/office/drawing/2014/main" id="{0AF35379-6DE8-43C5-A6FD-98ABA367A3B2}"/>
              </a:ext>
            </a:extLst>
          </p:cNvPr>
          <p:cNvSpPr txBox="1"/>
          <p:nvPr/>
        </p:nvSpPr>
        <p:spPr>
          <a:xfrm>
            <a:off x="1948837" y="6411392"/>
            <a:ext cx="8257844" cy="369332"/>
          </a:xfrm>
          <a:prstGeom prst="rect">
            <a:avLst/>
          </a:prstGeom>
          <a:noFill/>
        </p:spPr>
        <p:txBody>
          <a:bodyPr wrap="square" rtlCol="0">
            <a:spAutoFit/>
          </a:bodyPr>
          <a:lstStyle/>
          <a:p>
            <a:pPr algn="ctr"/>
            <a:r>
              <a:rPr lang="zh-CN" altLang="en-US" dirty="0">
                <a:latin typeface="微软雅黑" panose="020B0503020204020204" pitchFamily="34" charset="-122"/>
                <a:ea typeface="微软雅黑" panose="020B0503020204020204" pitchFamily="34" charset="-122"/>
              </a:rPr>
              <a:t>引自：清华大学崔勇老师提供的讲稿</a:t>
            </a:r>
          </a:p>
        </p:txBody>
      </p:sp>
    </p:spTree>
    <p:extLst>
      <p:ext uri="{BB962C8B-B14F-4D97-AF65-F5344CB8AC3E}">
        <p14:creationId xmlns:p14="http://schemas.microsoft.com/office/powerpoint/2010/main" val="192585943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en-US"/>
          </a:p>
        </p:txBody>
      </p:sp>
      <p:sp>
        <p:nvSpPr>
          <p:cNvPr id="3" name="内容占位符 2"/>
          <p:cNvSpPr>
            <a:spLocks noGrp="1"/>
          </p:cNvSpPr>
          <p:nvPr>
            <p:ph idx="1"/>
          </p:nvPr>
        </p:nvSpPr>
        <p:spPr>
          <a:xfrm>
            <a:off x="1551709" y="2780693"/>
            <a:ext cx="8885459" cy="1296615"/>
          </a:xfrm>
        </p:spPr>
        <p:txBody>
          <a:bodyPr>
            <a:normAutofit fontScale="92500"/>
          </a:bodyPr>
          <a:lstStyle/>
          <a:p>
            <a:pPr marL="0" indent="0">
              <a:buNone/>
            </a:pPr>
            <a:r>
              <a:rPr lang="zh-CN" altLang="en-US" dirty="0">
                <a:solidFill>
                  <a:srgbClr val="FF0000"/>
                </a:solidFill>
              </a:rPr>
              <a:t>课练：</a:t>
            </a:r>
            <a:endParaRPr lang="en-US" altLang="zh-CN" dirty="0">
              <a:solidFill>
                <a:srgbClr val="FF0000"/>
              </a:solidFill>
            </a:endParaRPr>
          </a:p>
          <a:p>
            <a:pPr marL="0" indent="0">
              <a:buNone/>
            </a:pPr>
            <a:r>
              <a:rPr lang="en-US" altLang="zh-CN" dirty="0">
                <a:solidFill>
                  <a:srgbClr val="FF0000"/>
                </a:solidFill>
              </a:rPr>
              <a:t>r=1</a:t>
            </a:r>
            <a:r>
              <a:rPr lang="zh-CN" altLang="en-US" dirty="0">
                <a:solidFill>
                  <a:srgbClr val="FF0000"/>
                </a:solidFill>
              </a:rPr>
              <a:t>、</a:t>
            </a:r>
            <a:r>
              <a:rPr lang="en-US" altLang="zh-CN" dirty="0">
                <a:solidFill>
                  <a:srgbClr val="FF0000"/>
                </a:solidFill>
              </a:rPr>
              <a:t>2</a:t>
            </a:r>
            <a:r>
              <a:rPr lang="zh-CN" altLang="en-US" dirty="0">
                <a:solidFill>
                  <a:srgbClr val="FF0000"/>
                </a:solidFill>
              </a:rPr>
              <a:t>、</a:t>
            </a:r>
            <a:r>
              <a:rPr lang="en-US" altLang="zh-CN" dirty="0">
                <a:solidFill>
                  <a:srgbClr val="FF0000"/>
                </a:solidFill>
              </a:rPr>
              <a:t>3</a:t>
            </a:r>
            <a:r>
              <a:rPr lang="zh-CN" altLang="en-US" dirty="0">
                <a:solidFill>
                  <a:srgbClr val="FF0000"/>
                </a:solidFill>
              </a:rPr>
              <a:t>、</a:t>
            </a:r>
            <a:r>
              <a:rPr lang="en-US" altLang="zh-CN" dirty="0">
                <a:solidFill>
                  <a:srgbClr val="FF0000"/>
                </a:solidFill>
              </a:rPr>
              <a:t>4</a:t>
            </a:r>
            <a:r>
              <a:rPr lang="zh-CN" altLang="en-US" dirty="0">
                <a:solidFill>
                  <a:srgbClr val="FF0000"/>
                </a:solidFill>
              </a:rPr>
              <a:t>、</a:t>
            </a:r>
            <a:r>
              <a:rPr lang="en-US" altLang="zh-CN" dirty="0">
                <a:solidFill>
                  <a:srgbClr val="FF0000"/>
                </a:solidFill>
              </a:rPr>
              <a:t>5</a:t>
            </a:r>
            <a:r>
              <a:rPr lang="zh-CN" altLang="en-US" dirty="0">
                <a:solidFill>
                  <a:srgbClr val="FF0000"/>
                </a:solidFill>
              </a:rPr>
              <a:t>、</a:t>
            </a:r>
            <a:r>
              <a:rPr lang="en-US" altLang="zh-CN" dirty="0">
                <a:solidFill>
                  <a:srgbClr val="FF0000"/>
                </a:solidFill>
              </a:rPr>
              <a:t>6… </a:t>
            </a:r>
            <a:r>
              <a:rPr lang="zh-CN" altLang="en-US" dirty="0">
                <a:solidFill>
                  <a:srgbClr val="FF0000"/>
                </a:solidFill>
              </a:rPr>
              <a:t>分别能纠正多长码字中的单个错误？</a:t>
            </a:r>
            <a:endParaRPr lang="en-US" altLang="zh-CN" dirty="0">
              <a:solidFill>
                <a:srgbClr val="FF0000"/>
              </a:solidFill>
            </a:endParaRPr>
          </a:p>
          <a:p>
            <a:pPr marL="0" indent="0">
              <a:buNone/>
            </a:pPr>
            <a:endParaRPr lang="en-US" altLang="zh-CN" dirty="0">
              <a:solidFill>
                <a:srgbClr val="FF0000"/>
              </a:solidFill>
            </a:endParaRPr>
          </a:p>
        </p:txBody>
      </p:sp>
      <p:sp>
        <p:nvSpPr>
          <p:cNvPr id="4" name="页脚占位符 3"/>
          <p:cNvSpPr>
            <a:spLocks noGrp="1"/>
          </p:cNvSpPr>
          <p:nvPr>
            <p:ph type="ftr" sz="quarter" idx="10"/>
          </p:nvPr>
        </p:nvSpPr>
        <p:spPr/>
        <p:txBody>
          <a:bodyPr/>
          <a:lstStyle/>
          <a:p>
            <a:pPr>
              <a:defRPr/>
            </a:pPr>
            <a:r>
              <a:rPr lang="en-US" altLang="zh-CN"/>
              <a:t>Computer Network</a:t>
            </a:r>
          </a:p>
        </p:txBody>
      </p:sp>
      <p:sp>
        <p:nvSpPr>
          <p:cNvPr id="5" name="灯片编号占位符 4"/>
          <p:cNvSpPr>
            <a:spLocks noGrp="1"/>
          </p:cNvSpPr>
          <p:nvPr>
            <p:ph type="sldNum" sz="quarter" idx="11"/>
          </p:nvPr>
        </p:nvSpPr>
        <p:spPr/>
        <p:txBody>
          <a:bodyPr/>
          <a:lstStyle/>
          <a:p>
            <a:pPr>
              <a:defRPr/>
            </a:pPr>
            <a:fld id="{8ADB66EE-6F9B-4BDF-8D47-5965EC809606}" type="slidenum">
              <a:rPr lang="en-US" altLang="zh-CN" smtClean="0"/>
              <a:pPr>
                <a:defRPr/>
              </a:pPr>
              <a:t>54</a:t>
            </a:fld>
            <a:endParaRPr lang="en-US" altLang="zh-CN"/>
          </a:p>
        </p:txBody>
      </p:sp>
      <p:sp>
        <p:nvSpPr>
          <p:cNvPr id="6" name="日期占位符 5"/>
          <p:cNvSpPr>
            <a:spLocks noGrp="1"/>
          </p:cNvSpPr>
          <p:nvPr>
            <p:ph type="dt" sz="half" idx="12"/>
          </p:nvPr>
        </p:nvSpPr>
        <p:spPr/>
        <p:txBody>
          <a:bodyPr/>
          <a:lstStyle/>
          <a:p>
            <a:pPr>
              <a:defRPr/>
            </a:pPr>
            <a:fld id="{9F3F7983-BD93-4701-BA16-3BC805069EE1}" type="datetime1">
              <a:rPr lang="zh-CN" altLang="en-US" smtClean="0"/>
              <a:pPr>
                <a:defRPr/>
              </a:pPr>
              <a:t>2024/10/18</a:t>
            </a:fld>
            <a:endParaRPr lang="en-US" altLang="zh-CN"/>
          </a:p>
        </p:txBody>
      </p:sp>
    </p:spTree>
    <p:extLst>
      <p:ext uri="{BB962C8B-B14F-4D97-AF65-F5344CB8AC3E}">
        <p14:creationId xmlns:p14="http://schemas.microsoft.com/office/powerpoint/2010/main" val="263678645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en-US"/>
          </a:p>
        </p:txBody>
      </p:sp>
      <p:sp>
        <p:nvSpPr>
          <p:cNvPr id="3" name="页脚占位符 2"/>
          <p:cNvSpPr>
            <a:spLocks noGrp="1"/>
          </p:cNvSpPr>
          <p:nvPr>
            <p:ph type="ftr" sz="quarter" idx="10"/>
          </p:nvPr>
        </p:nvSpPr>
        <p:spPr/>
        <p:txBody>
          <a:bodyPr/>
          <a:lstStyle/>
          <a:p>
            <a:pPr>
              <a:defRPr/>
            </a:pPr>
            <a:r>
              <a:rPr lang="en-US" altLang="zh-CN"/>
              <a:t>Computer Network</a:t>
            </a:r>
          </a:p>
        </p:txBody>
      </p:sp>
      <p:sp>
        <p:nvSpPr>
          <p:cNvPr id="4" name="灯片编号占位符 3"/>
          <p:cNvSpPr>
            <a:spLocks noGrp="1"/>
          </p:cNvSpPr>
          <p:nvPr>
            <p:ph type="sldNum" sz="quarter" idx="11"/>
          </p:nvPr>
        </p:nvSpPr>
        <p:spPr/>
        <p:txBody>
          <a:bodyPr/>
          <a:lstStyle/>
          <a:p>
            <a:pPr>
              <a:defRPr/>
            </a:pPr>
            <a:fld id="{DF8DEF6E-0B00-4609-97FA-5DF125261ACD}" type="slidenum">
              <a:rPr lang="en-US" altLang="zh-CN" smtClean="0"/>
              <a:pPr>
                <a:defRPr/>
              </a:pPr>
              <a:t>55</a:t>
            </a:fld>
            <a:endParaRPr lang="en-US" altLang="zh-CN"/>
          </a:p>
        </p:txBody>
      </p:sp>
      <p:sp>
        <p:nvSpPr>
          <p:cNvPr id="5" name="日期占位符 4"/>
          <p:cNvSpPr>
            <a:spLocks noGrp="1"/>
          </p:cNvSpPr>
          <p:nvPr>
            <p:ph type="dt" sz="half" idx="12"/>
          </p:nvPr>
        </p:nvSpPr>
        <p:spPr/>
        <p:txBody>
          <a:bodyPr/>
          <a:lstStyle/>
          <a:p>
            <a:pPr>
              <a:defRPr/>
            </a:pPr>
            <a:fld id="{3448096D-4C4A-4251-8D73-B45B9D0D4728}" type="datetime1">
              <a:rPr lang="zh-CN" altLang="en-US" smtClean="0"/>
              <a:pPr>
                <a:defRPr/>
              </a:pPr>
              <a:t>2024/10/18</a:t>
            </a:fld>
            <a:endParaRPr lang="en-US" altLang="zh-CN"/>
          </a:p>
        </p:txBody>
      </p:sp>
      <p:pic>
        <p:nvPicPr>
          <p:cNvPr id="6" name="图片 5"/>
          <p:cNvPicPr>
            <a:picLocks noChangeAspect="1"/>
          </p:cNvPicPr>
          <p:nvPr/>
        </p:nvPicPr>
        <p:blipFill>
          <a:blip r:embed="rId2"/>
          <a:stretch>
            <a:fillRect/>
          </a:stretch>
        </p:blipFill>
        <p:spPr>
          <a:xfrm>
            <a:off x="1894462" y="1412776"/>
            <a:ext cx="8403077" cy="4924638"/>
          </a:xfrm>
          <a:prstGeom prst="rect">
            <a:avLst/>
          </a:prstGeom>
        </p:spPr>
      </p:pic>
    </p:spTree>
    <p:extLst>
      <p:ext uri="{BB962C8B-B14F-4D97-AF65-F5344CB8AC3E}">
        <p14:creationId xmlns:p14="http://schemas.microsoft.com/office/powerpoint/2010/main" val="113851414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典型纠错码</a:t>
            </a:r>
            <a:r>
              <a:rPr kumimoji="1" lang="en-US" altLang="zh-CN" sz="3200" dirty="0"/>
              <a:t>—</a:t>
            </a:r>
            <a:r>
              <a:rPr kumimoji="1" lang="zh-CN" altLang="en-US" sz="3200" dirty="0">
                <a:solidFill>
                  <a:schemeClr val="accent1">
                    <a:lumMod val="75000"/>
                  </a:schemeClr>
                </a:solidFill>
              </a:rPr>
              <a:t>海明码</a:t>
            </a:r>
          </a:p>
        </p:txBody>
      </p:sp>
      <p:sp>
        <p:nvSpPr>
          <p:cNvPr id="3" name="内容占位符 2"/>
          <p:cNvSpPr>
            <a:spLocks noGrp="1"/>
          </p:cNvSpPr>
          <p:nvPr>
            <p:ph idx="1"/>
          </p:nvPr>
        </p:nvSpPr>
        <p:spPr>
          <a:xfrm>
            <a:off x="838200" y="1292340"/>
            <a:ext cx="10515600" cy="4736320"/>
          </a:xfrm>
        </p:spPr>
        <p:txBody>
          <a:bodyPr>
            <a:noAutofit/>
          </a:bodyPr>
          <a:lstStyle/>
          <a:p>
            <a:pPr>
              <a:lnSpc>
                <a:spcPct val="150000"/>
              </a:lnSpc>
            </a:pPr>
            <a:r>
              <a:rPr kumimoji="1" lang="zh-CN" altLang="en-US" sz="2600" dirty="0">
                <a:solidFill>
                  <a:srgbClr val="C00000"/>
                </a:solidFill>
              </a:rPr>
              <a:t>目标</a:t>
            </a:r>
            <a:r>
              <a:rPr kumimoji="1" lang="zh-CN" altLang="en-US" sz="2600" dirty="0"/>
              <a:t>：</a:t>
            </a:r>
            <a:r>
              <a:rPr kumimoji="1" lang="zh-CN" altLang="en-US" sz="2600" dirty="0">
                <a:solidFill>
                  <a:schemeClr val="accent1">
                    <a:lumMod val="75000"/>
                  </a:schemeClr>
                </a:solidFill>
              </a:rPr>
              <a:t>以</a:t>
            </a:r>
            <a:r>
              <a:rPr lang="zh-CN" altLang="en-US" sz="2600" dirty="0">
                <a:solidFill>
                  <a:schemeClr val="accent1">
                    <a:lumMod val="75000"/>
                  </a:schemeClr>
                </a:solidFill>
              </a:rPr>
              <a:t>奇偶校验为基础，如何找到出错位置，提供</a:t>
            </a:r>
            <a:r>
              <a:rPr lang="en-US" altLang="zh-CN" sz="2600" dirty="0">
                <a:solidFill>
                  <a:schemeClr val="accent1">
                    <a:lumMod val="75000"/>
                  </a:schemeClr>
                </a:solidFill>
              </a:rPr>
              <a:t>1</a:t>
            </a:r>
            <a:r>
              <a:rPr lang="zh-CN" altLang="en-US" sz="2600" dirty="0">
                <a:solidFill>
                  <a:schemeClr val="accent1">
                    <a:lumMod val="75000"/>
                  </a:schemeClr>
                </a:solidFill>
              </a:rPr>
              <a:t>位纠错能力</a:t>
            </a:r>
            <a:endParaRPr kumimoji="1" lang="en-US" altLang="zh-CN" sz="2600" dirty="0">
              <a:solidFill>
                <a:schemeClr val="accent1">
                  <a:lumMod val="75000"/>
                </a:schemeClr>
              </a:solidFill>
            </a:endParaRPr>
          </a:p>
          <a:p>
            <a:pPr>
              <a:lnSpc>
                <a:spcPct val="150000"/>
              </a:lnSpc>
            </a:pPr>
            <a:r>
              <a:rPr kumimoji="1" lang="zh-CN" altLang="en-US" sz="2600" dirty="0"/>
              <a:t>理解海明码编码过程，以 </a:t>
            </a:r>
            <a:r>
              <a:rPr kumimoji="1" lang="en-US" altLang="zh-CN" sz="2600" dirty="0"/>
              <a:t>(15, 11)</a:t>
            </a:r>
            <a:r>
              <a:rPr kumimoji="1" lang="zh-CN" altLang="en-US" sz="2600" dirty="0"/>
              <a:t>海明码为例</a:t>
            </a:r>
            <a:endParaRPr kumimoji="1" lang="en-US" altLang="zh-CN" sz="2600" dirty="0"/>
          </a:p>
          <a:p>
            <a:pPr lvl="1">
              <a:lnSpc>
                <a:spcPct val="150000"/>
              </a:lnSpc>
            </a:pPr>
            <a:r>
              <a:rPr kumimoji="1" lang="zh-CN" altLang="en-US" sz="2200" dirty="0"/>
              <a:t>例如：</a:t>
            </a:r>
            <a:r>
              <a:rPr kumimoji="1" lang="en-US" altLang="zh-CN" sz="2200" dirty="0"/>
              <a:t>11</a:t>
            </a:r>
            <a:r>
              <a:rPr kumimoji="1" lang="zh-CN" altLang="en-US" sz="2200" dirty="0"/>
              <a:t>比特的数据</a:t>
            </a:r>
            <a:r>
              <a:rPr kumimoji="1" lang="en-US" altLang="zh-CN" sz="2200" dirty="0">
                <a:solidFill>
                  <a:srgbClr val="C00000"/>
                </a:solidFill>
              </a:rPr>
              <a:t>01011001101</a:t>
            </a:r>
          </a:p>
          <a:p>
            <a:pPr lvl="1">
              <a:lnSpc>
                <a:spcPct val="150000"/>
              </a:lnSpc>
            </a:pPr>
            <a:r>
              <a:rPr kumimoji="1" lang="en-US" altLang="zh-CN" sz="2200" dirty="0"/>
              <a:t>11</a:t>
            </a:r>
            <a:r>
              <a:rPr kumimoji="1" lang="zh-CN" altLang="en-US" sz="2200" dirty="0"/>
              <a:t>比特数据按顺序放入数据位</a:t>
            </a:r>
            <a:endParaRPr kumimoji="1" lang="en-US" altLang="zh-CN" sz="2200" dirty="0"/>
          </a:p>
          <a:p>
            <a:pPr lvl="1">
              <a:lnSpc>
                <a:spcPct val="150000"/>
              </a:lnSpc>
            </a:pPr>
            <a:r>
              <a:rPr kumimoji="1" lang="zh-CN" altLang="en-US" dirty="0">
                <a:solidFill>
                  <a:srgbClr val="C00000"/>
                </a:solidFill>
              </a:rPr>
              <a:t>校验位：</a:t>
            </a:r>
            <a:r>
              <a:rPr kumimoji="1" lang="en-US" altLang="zh-CN" dirty="0"/>
              <a:t>2</a:t>
            </a:r>
            <a:r>
              <a:rPr kumimoji="1" lang="zh-CN" altLang="en-US" dirty="0"/>
              <a:t>的幂次方位（记为</a:t>
            </a:r>
            <a:r>
              <a:rPr kumimoji="1" lang="en-US" altLang="zh-CN" dirty="0"/>
              <a:t>p1, p2, p4, p8</a:t>
            </a:r>
            <a:r>
              <a:rPr kumimoji="1" lang="zh-CN" altLang="en-US" dirty="0"/>
              <a:t>）</a:t>
            </a:r>
            <a:endParaRPr kumimoji="1" lang="en-US" altLang="zh-CN" dirty="0"/>
          </a:p>
          <a:p>
            <a:pPr lvl="1">
              <a:lnSpc>
                <a:spcPct val="150000"/>
              </a:lnSpc>
            </a:pPr>
            <a:r>
              <a:rPr kumimoji="1" lang="zh-CN" altLang="en-US" sz="2200" dirty="0"/>
              <a:t>每个校验位对数据位的子集做校验，缩小定位错误的范围</a:t>
            </a:r>
            <a:endParaRPr kumimoji="1" lang="en-US" altLang="zh-CN" sz="2200" dirty="0"/>
          </a:p>
          <a:p>
            <a:pPr lvl="1">
              <a:lnSpc>
                <a:spcPct val="150000"/>
              </a:lnSpc>
            </a:pPr>
            <a:r>
              <a:rPr kumimoji="1" lang="zh-CN" altLang="en-US" sz="2200" dirty="0">
                <a:solidFill>
                  <a:srgbClr val="C00000"/>
                </a:solidFill>
              </a:rPr>
              <a:t>问题：每个校验位如何计算？</a:t>
            </a:r>
            <a:endParaRPr kumimoji="1" lang="en-US" altLang="zh-CN" sz="2200" dirty="0">
              <a:solidFill>
                <a:srgbClr val="C00000"/>
              </a:solidFill>
            </a:endParaRPr>
          </a:p>
          <a:p>
            <a:pPr lvl="1">
              <a:lnSpc>
                <a:spcPct val="150000"/>
              </a:lnSpc>
            </a:pPr>
            <a:r>
              <a:rPr kumimoji="1" lang="zh-CN" altLang="en-US" sz="2200" dirty="0"/>
              <a:t>海明码缺省为偶校验（也可以使用奇校验）</a:t>
            </a:r>
            <a:endParaRPr kumimoji="1" lang="en-US" altLang="zh-CN" sz="2200" dirty="0"/>
          </a:p>
          <a:p>
            <a:pPr lvl="1">
              <a:lnSpc>
                <a:spcPct val="150000"/>
              </a:lnSpc>
            </a:pPr>
            <a:endParaRPr kumimoji="1" lang="en-US" altLang="zh-CN" sz="2200" dirty="0">
              <a:solidFill>
                <a:srgbClr val="C00000"/>
              </a:solidFill>
            </a:endParaRPr>
          </a:p>
        </p:txBody>
      </p:sp>
      <p:sp>
        <p:nvSpPr>
          <p:cNvPr id="4" name="幻灯片编号占位符 3"/>
          <p:cNvSpPr>
            <a:spLocks noGrp="1"/>
          </p:cNvSpPr>
          <p:nvPr>
            <p:ph type="sldNum" sz="quarter" idx="12"/>
          </p:nvPr>
        </p:nvSpPr>
        <p:spPr/>
        <p:txBody>
          <a:bodyPr/>
          <a:lstStyle/>
          <a:p>
            <a:fld id="{8D4D1E41-7A09-AB4A-A4E1-09765ADA2698}" type="slidenum">
              <a:rPr kumimoji="1" lang="zh-CN" altLang="en-US" smtClean="0"/>
              <a:t>56</a:t>
            </a:fld>
            <a:endParaRPr kumimoji="1" lang="zh-CN" altLang="en-US" dirty="0"/>
          </a:p>
        </p:txBody>
      </p:sp>
      <p:sp>
        <p:nvSpPr>
          <p:cNvPr id="5" name="文本框 4">
            <a:extLst>
              <a:ext uri="{FF2B5EF4-FFF2-40B4-BE49-F238E27FC236}">
                <a16:creationId xmlns:a16="http://schemas.microsoft.com/office/drawing/2014/main" id="{082CC463-A981-4E7E-8F03-FAA795786BD7}"/>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3.2 </a:t>
            </a:r>
            <a:r>
              <a:rPr lang="zh-CN" altLang="en-US" dirty="0">
                <a:solidFill>
                  <a:schemeClr val="bg1">
                    <a:lumMod val="65000"/>
                  </a:schemeClr>
                </a:solidFill>
                <a:latin typeface="微软雅黑" panose="020B0503020204020204" pitchFamily="34" charset="-122"/>
                <a:ea typeface="微软雅黑" panose="020B0503020204020204" pitchFamily="34" charset="-122"/>
              </a:rPr>
              <a:t>差错检测和纠正</a:t>
            </a:r>
          </a:p>
        </p:txBody>
      </p:sp>
      <p:sp>
        <p:nvSpPr>
          <p:cNvPr id="43" name="矩形 42"/>
          <p:cNvSpPr/>
          <p:nvPr/>
        </p:nvSpPr>
        <p:spPr>
          <a:xfrm>
            <a:off x="9008032" y="5009781"/>
            <a:ext cx="225984" cy="228600"/>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文本框 43"/>
          <p:cNvSpPr txBox="1"/>
          <p:nvPr/>
        </p:nvSpPr>
        <p:spPr>
          <a:xfrm>
            <a:off x="9148894" y="4939415"/>
            <a:ext cx="955209" cy="369332"/>
          </a:xfrm>
          <a:prstGeom prst="rect">
            <a:avLst/>
          </a:prstGeom>
          <a:noFill/>
        </p:spPr>
        <p:txBody>
          <a:bodyPr wrap="square" rtlCol="0">
            <a:spAutoFit/>
          </a:bodyPr>
          <a:lstStyle/>
          <a:p>
            <a:pPr algn="ctr"/>
            <a:r>
              <a:rPr lang="zh-CN" altLang="en-US" dirty="0"/>
              <a:t>校验位</a:t>
            </a:r>
          </a:p>
        </p:txBody>
      </p:sp>
      <p:sp>
        <p:nvSpPr>
          <p:cNvPr id="45" name="矩形 44"/>
          <p:cNvSpPr/>
          <p:nvPr/>
        </p:nvSpPr>
        <p:spPr>
          <a:xfrm>
            <a:off x="10175777" y="5009781"/>
            <a:ext cx="225984" cy="2286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框 45"/>
          <p:cNvSpPr txBox="1"/>
          <p:nvPr/>
        </p:nvSpPr>
        <p:spPr>
          <a:xfrm>
            <a:off x="10328153" y="4939415"/>
            <a:ext cx="955209" cy="369332"/>
          </a:xfrm>
          <a:prstGeom prst="rect">
            <a:avLst/>
          </a:prstGeom>
          <a:noFill/>
        </p:spPr>
        <p:txBody>
          <a:bodyPr wrap="square" rtlCol="0">
            <a:spAutoFit/>
          </a:bodyPr>
          <a:lstStyle/>
          <a:p>
            <a:pPr algn="ctr"/>
            <a:r>
              <a:rPr lang="zh-CN" altLang="en-US" dirty="0"/>
              <a:t>数据位</a:t>
            </a:r>
          </a:p>
        </p:txBody>
      </p:sp>
      <p:sp>
        <p:nvSpPr>
          <p:cNvPr id="47" name="文本框 46"/>
          <p:cNvSpPr txBox="1"/>
          <p:nvPr/>
        </p:nvSpPr>
        <p:spPr>
          <a:xfrm>
            <a:off x="8410938" y="5376196"/>
            <a:ext cx="3370198" cy="369332"/>
          </a:xfrm>
          <a:prstGeom prst="rect">
            <a:avLst/>
          </a:prstGeom>
          <a:noFill/>
        </p:spPr>
        <p:txBody>
          <a:bodyPr wrap="square" rtlCol="0">
            <a:spAutoFit/>
          </a:bodyPr>
          <a:lstStyle/>
          <a:p>
            <a:pPr algn="ctr"/>
            <a:r>
              <a:rPr lang="zh-CN" altLang="en-US" dirty="0"/>
              <a:t>右下角数字为码字中位序号</a:t>
            </a:r>
          </a:p>
        </p:txBody>
      </p:sp>
      <p:graphicFrame>
        <p:nvGraphicFramePr>
          <p:cNvPr id="49" name="表格 48"/>
          <p:cNvGraphicFramePr>
            <a:graphicFrameLocks noGrp="1"/>
          </p:cNvGraphicFramePr>
          <p:nvPr/>
        </p:nvGraphicFramePr>
        <p:xfrm>
          <a:off x="9090064" y="3365677"/>
          <a:ext cx="460029" cy="1218177"/>
        </p:xfrm>
        <a:graphic>
          <a:graphicData uri="http://schemas.openxmlformats.org/drawingml/2006/table">
            <a:tbl>
              <a:tblPr firstRow="1" bandRow="1">
                <a:tableStyleId>{5C22544A-7EE6-4342-B048-85BDC9FD1C3A}</a:tableStyleId>
              </a:tblPr>
              <a:tblGrid>
                <a:gridCol w="460029">
                  <a:extLst>
                    <a:ext uri="{9D8B030D-6E8A-4147-A177-3AD203B41FA5}">
                      <a16:colId xmlns:a16="http://schemas.microsoft.com/office/drawing/2014/main" val="2136314205"/>
                    </a:ext>
                  </a:extLst>
                </a:gridCol>
              </a:tblGrid>
              <a:tr h="406059">
                <a:tc>
                  <a:txBody>
                    <a:bodyPr/>
                    <a:lstStyle/>
                    <a:p>
                      <a:pPr marL="0" algn="ctr" defTabSz="914400" rtl="0" eaLnBrk="1" latinLnBrk="0" hangingPunct="1"/>
                      <a:endParaRPr lang="zh-CN" altLang="en-US" sz="1800" b="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7789111"/>
                  </a:ext>
                </a:extLst>
              </a:tr>
              <a:tr h="406059">
                <a:tc>
                  <a:txBody>
                    <a:bodyPr/>
                    <a:lstStyle/>
                    <a:p>
                      <a:pPr marL="0" algn="ctr" defTabSz="914400" rtl="0" eaLnBrk="1" latinLnBrk="0" hangingPunct="1"/>
                      <a:endParaRPr lang="zh-CN" altLang="en-US" sz="1800" b="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236322729"/>
                  </a:ext>
                </a:extLst>
              </a:tr>
              <a:tr h="406059">
                <a:tc>
                  <a:txBody>
                    <a:bodyPr/>
                    <a:lstStyle/>
                    <a:p>
                      <a:pPr marL="0" algn="ctr" defTabSz="914400" rtl="0" eaLnBrk="1" latinLnBrk="0" hangingPunct="1"/>
                      <a:r>
                        <a:rPr lang="en-US" altLang="zh-CN" sz="1800" b="0" kern="1200" dirty="0">
                          <a:solidFill>
                            <a:schemeClr val="tx1"/>
                          </a:solidFill>
                          <a:latin typeface="微软雅黑" panose="020B0503020204020204" pitchFamily="34" charset="-122"/>
                          <a:ea typeface="微软雅黑" panose="020B0503020204020204" pitchFamily="34" charset="-122"/>
                          <a:cs typeface="+mn-cs"/>
                        </a:rPr>
                        <a:t>1</a:t>
                      </a:r>
                      <a:endParaRPr lang="zh-CN" altLang="en-US" sz="1800" b="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5908191"/>
                  </a:ext>
                </a:extLst>
              </a:tr>
            </a:tbl>
          </a:graphicData>
        </a:graphic>
      </p:graphicFrame>
      <p:graphicFrame>
        <p:nvGraphicFramePr>
          <p:cNvPr id="50" name="表格 49"/>
          <p:cNvGraphicFramePr>
            <a:graphicFrameLocks noGrp="1"/>
          </p:cNvGraphicFramePr>
          <p:nvPr/>
        </p:nvGraphicFramePr>
        <p:xfrm>
          <a:off x="9550093" y="2953908"/>
          <a:ext cx="1426536" cy="1630128"/>
        </p:xfrm>
        <a:graphic>
          <a:graphicData uri="http://schemas.openxmlformats.org/drawingml/2006/table">
            <a:tbl>
              <a:tblPr firstRow="1" bandRow="1">
                <a:tableStyleId>{5C22544A-7EE6-4342-B048-85BDC9FD1C3A}</a:tableStyleId>
              </a:tblPr>
              <a:tblGrid>
                <a:gridCol w="475512">
                  <a:extLst>
                    <a:ext uri="{9D8B030D-6E8A-4147-A177-3AD203B41FA5}">
                      <a16:colId xmlns:a16="http://schemas.microsoft.com/office/drawing/2014/main" val="1559130576"/>
                    </a:ext>
                  </a:extLst>
                </a:gridCol>
                <a:gridCol w="475512">
                  <a:extLst>
                    <a:ext uri="{9D8B030D-6E8A-4147-A177-3AD203B41FA5}">
                      <a16:colId xmlns:a16="http://schemas.microsoft.com/office/drawing/2014/main" val="3004369747"/>
                    </a:ext>
                  </a:extLst>
                </a:gridCol>
                <a:gridCol w="475512">
                  <a:extLst>
                    <a:ext uri="{9D8B030D-6E8A-4147-A177-3AD203B41FA5}">
                      <a16:colId xmlns:a16="http://schemas.microsoft.com/office/drawing/2014/main" val="4047528689"/>
                    </a:ext>
                  </a:extLst>
                </a:gridCol>
              </a:tblGrid>
              <a:tr h="407532">
                <a:tc>
                  <a:txBody>
                    <a:bodyPr/>
                    <a:lstStyle/>
                    <a:p>
                      <a:pPr algn="ct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5657000"/>
                  </a:ext>
                </a:extLst>
              </a:tr>
              <a:tr h="407532">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6922387"/>
                  </a:ext>
                </a:extLst>
              </a:tr>
              <a:tr h="407532">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4031242"/>
                  </a:ext>
                </a:extLst>
              </a:tr>
              <a:tr h="407532">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11962773"/>
                  </a:ext>
                </a:extLst>
              </a:tr>
            </a:tbl>
          </a:graphicData>
        </a:graphic>
      </p:graphicFrame>
      <p:sp>
        <p:nvSpPr>
          <p:cNvPr id="51" name="文本框 50"/>
          <p:cNvSpPr txBox="1"/>
          <p:nvPr/>
        </p:nvSpPr>
        <p:spPr>
          <a:xfrm>
            <a:off x="9779175" y="3203191"/>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52" name="文本框 51"/>
          <p:cNvSpPr txBox="1"/>
          <p:nvPr/>
        </p:nvSpPr>
        <p:spPr>
          <a:xfrm>
            <a:off x="10265509" y="3192672"/>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2</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53" name="文本框 52"/>
          <p:cNvSpPr txBox="1"/>
          <p:nvPr/>
        </p:nvSpPr>
        <p:spPr>
          <a:xfrm>
            <a:off x="10726512" y="3192671"/>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3</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54" name="文本框 53"/>
          <p:cNvSpPr txBox="1"/>
          <p:nvPr/>
        </p:nvSpPr>
        <p:spPr>
          <a:xfrm>
            <a:off x="9314739" y="3604672"/>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4</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55" name="文本框 54"/>
          <p:cNvSpPr txBox="1"/>
          <p:nvPr/>
        </p:nvSpPr>
        <p:spPr>
          <a:xfrm>
            <a:off x="9779174" y="3598991"/>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5</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56" name="文本框 55"/>
          <p:cNvSpPr txBox="1"/>
          <p:nvPr/>
        </p:nvSpPr>
        <p:spPr>
          <a:xfrm>
            <a:off x="10260132" y="3598991"/>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6</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57" name="文本框 56"/>
          <p:cNvSpPr txBox="1"/>
          <p:nvPr/>
        </p:nvSpPr>
        <p:spPr>
          <a:xfrm>
            <a:off x="10726512" y="3592640"/>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7</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58" name="文本框 57"/>
          <p:cNvSpPr txBox="1"/>
          <p:nvPr/>
        </p:nvSpPr>
        <p:spPr>
          <a:xfrm>
            <a:off x="9314739" y="4001140"/>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8</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59" name="文本框 58"/>
          <p:cNvSpPr txBox="1"/>
          <p:nvPr/>
        </p:nvSpPr>
        <p:spPr>
          <a:xfrm>
            <a:off x="9777620" y="3994774"/>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9</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60" name="文本框 59"/>
          <p:cNvSpPr txBox="1"/>
          <p:nvPr/>
        </p:nvSpPr>
        <p:spPr>
          <a:xfrm>
            <a:off x="10222032" y="4000948"/>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10</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61" name="文本框 60"/>
          <p:cNvSpPr txBox="1"/>
          <p:nvPr/>
        </p:nvSpPr>
        <p:spPr>
          <a:xfrm>
            <a:off x="10716663" y="4004299"/>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11</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62" name="文本框 61"/>
          <p:cNvSpPr txBox="1"/>
          <p:nvPr/>
        </p:nvSpPr>
        <p:spPr>
          <a:xfrm>
            <a:off x="9270733" y="4399630"/>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12</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63" name="文本框 62"/>
          <p:cNvSpPr txBox="1"/>
          <p:nvPr/>
        </p:nvSpPr>
        <p:spPr>
          <a:xfrm>
            <a:off x="9746314" y="4405987"/>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13</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64" name="文本框 63"/>
          <p:cNvSpPr txBox="1"/>
          <p:nvPr/>
        </p:nvSpPr>
        <p:spPr>
          <a:xfrm>
            <a:off x="10228382" y="4393376"/>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14</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65" name="文本框 64"/>
          <p:cNvSpPr txBox="1"/>
          <p:nvPr/>
        </p:nvSpPr>
        <p:spPr>
          <a:xfrm>
            <a:off x="10703963" y="4394758"/>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15</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90598487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Computer Network</a:t>
            </a:r>
          </a:p>
        </p:txBody>
      </p:sp>
      <p:sp>
        <p:nvSpPr>
          <p:cNvPr id="24579" name="灯片编号占位符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EB630472-F32D-4F63-AC0C-7766CD1D8297}" type="slidenum">
              <a:rPr lang="en-US" altLang="zh-CN" sz="1200">
                <a:latin typeface="Arial Black" panose="020B0A04020102020204" pitchFamily="34" charset="0"/>
              </a:rPr>
              <a:pPr>
                <a:spcBef>
                  <a:spcPct val="0"/>
                </a:spcBef>
                <a:buClrTx/>
                <a:buSzTx/>
                <a:buFontTx/>
                <a:buNone/>
              </a:pPr>
              <a:t>57</a:t>
            </a:fld>
            <a:endParaRPr lang="en-US" altLang="zh-CN" sz="1200">
              <a:latin typeface="Arial Black" panose="020B0A04020102020204" pitchFamily="34" charset="0"/>
            </a:endParaRPr>
          </a:p>
        </p:txBody>
      </p:sp>
      <p:sp>
        <p:nvSpPr>
          <p:cNvPr id="6" name="日期占位符 5"/>
          <p:cNvSpPr>
            <a:spLocks noGrp="1"/>
          </p:cNvSpPr>
          <p:nvPr>
            <p:ph type="dt" sz="quarter" idx="12"/>
          </p:nvPr>
        </p:nvSpPr>
        <p:spPr/>
        <p:txBody>
          <a:bodyPr/>
          <a:lstStyle/>
          <a:p>
            <a:pPr>
              <a:defRPr/>
            </a:pPr>
            <a:fld id="{D1C9C373-2E1E-417A-B39D-35DF17D290D5}" type="datetime1">
              <a:rPr lang="zh-CN" altLang="en-US"/>
              <a:pPr>
                <a:defRPr/>
              </a:pPr>
              <a:t>2024/10/18</a:t>
            </a:fld>
            <a:endParaRPr lang="en-US" altLang="zh-CN"/>
          </a:p>
        </p:txBody>
      </p:sp>
      <p:sp>
        <p:nvSpPr>
          <p:cNvPr id="24582" name="Rectangle 3"/>
          <p:cNvSpPr>
            <a:spLocks noGrp="1" noChangeArrowheads="1"/>
          </p:cNvSpPr>
          <p:nvPr>
            <p:ph type="body" idx="1"/>
          </p:nvPr>
        </p:nvSpPr>
        <p:spPr>
          <a:xfrm>
            <a:off x="2381250" y="1556792"/>
            <a:ext cx="7467600" cy="4114800"/>
          </a:xfrm>
        </p:spPr>
        <p:txBody>
          <a:bodyPr/>
          <a:lstStyle/>
          <a:p>
            <a:pPr eaLnBrk="1" hangingPunct="1">
              <a:lnSpc>
                <a:spcPct val="115000"/>
              </a:lnSpc>
              <a:buSzPct val="90000"/>
              <a:buFont typeface="Wingdings" panose="05000000000000000000" pitchFamily="2" charset="2"/>
              <a:buChar char="§"/>
            </a:pPr>
            <a:r>
              <a:rPr lang="zh-CN" altLang="en-US" sz="2400" dirty="0">
                <a:latin typeface="Verdana" panose="020B0604030504040204" pitchFamily="34" charset="0"/>
                <a:ea typeface="楷体_GB2312" pitchFamily="49" charset="-122"/>
              </a:rPr>
              <a:t>能纠一位错</a:t>
            </a:r>
          </a:p>
          <a:p>
            <a:pPr eaLnBrk="1" hangingPunct="1">
              <a:lnSpc>
                <a:spcPct val="115000"/>
              </a:lnSpc>
              <a:buSzPct val="90000"/>
              <a:buFont typeface="Wingdings" panose="05000000000000000000" pitchFamily="2" charset="2"/>
              <a:buChar char="§"/>
            </a:pPr>
            <a:r>
              <a:rPr lang="zh-CN" altLang="en-US" sz="2400" dirty="0">
                <a:latin typeface="Verdana" panose="020B0604030504040204" pitchFamily="34" charset="0"/>
                <a:ea typeface="楷体_GB2312" pitchFamily="49" charset="-122"/>
              </a:rPr>
              <a:t>编码形式：</a:t>
            </a:r>
          </a:p>
          <a:p>
            <a:pPr eaLnBrk="1" hangingPunct="1">
              <a:lnSpc>
                <a:spcPct val="115000"/>
              </a:lnSpc>
              <a:buFont typeface="Wingdings" panose="05000000000000000000" pitchFamily="2" charset="2"/>
              <a:buNone/>
            </a:pPr>
            <a:r>
              <a:rPr lang="zh-CN" altLang="en-US" sz="2400" dirty="0">
                <a:latin typeface="Verdana" panose="020B0604030504040204" pitchFamily="34" charset="0"/>
                <a:ea typeface="楷体_GB2312" pitchFamily="49" charset="-122"/>
              </a:rPr>
              <a:t>	</a:t>
            </a:r>
            <a:r>
              <a:rPr lang="en-US" altLang="zh-CN" sz="2400" dirty="0">
                <a:solidFill>
                  <a:srgbClr val="0000FF"/>
                </a:solidFill>
                <a:latin typeface="Verdana" panose="020B0604030504040204" pitchFamily="34" charset="0"/>
                <a:ea typeface="楷体_GB2312" pitchFamily="49" charset="-122"/>
              </a:rPr>
              <a:t>r</a:t>
            </a:r>
            <a:r>
              <a:rPr lang="en-US" altLang="zh-CN" sz="2400" baseline="-30000" dirty="0">
                <a:solidFill>
                  <a:srgbClr val="0000FF"/>
                </a:solidFill>
                <a:latin typeface="Verdana" panose="020B0604030504040204" pitchFamily="34" charset="0"/>
                <a:ea typeface="楷体_GB2312" pitchFamily="49" charset="-122"/>
              </a:rPr>
              <a:t>1  </a:t>
            </a:r>
            <a:r>
              <a:rPr lang="en-US" altLang="zh-CN" sz="2400" dirty="0">
                <a:solidFill>
                  <a:srgbClr val="0000FF"/>
                </a:solidFill>
                <a:latin typeface="Verdana" panose="020B0604030504040204" pitchFamily="34" charset="0"/>
                <a:ea typeface="楷体_GB2312" pitchFamily="49" charset="-122"/>
              </a:rPr>
              <a:t>r</a:t>
            </a:r>
            <a:r>
              <a:rPr lang="en-US" altLang="zh-CN" sz="2400" baseline="-30000" dirty="0">
                <a:solidFill>
                  <a:srgbClr val="0000FF"/>
                </a:solidFill>
                <a:latin typeface="Verdana" panose="020B0604030504040204" pitchFamily="34" charset="0"/>
                <a:ea typeface="楷体_GB2312" pitchFamily="49" charset="-122"/>
              </a:rPr>
              <a:t>2</a:t>
            </a:r>
            <a:r>
              <a:rPr lang="en-US" altLang="zh-CN" sz="2400" baseline="-30000" dirty="0">
                <a:latin typeface="Verdana" panose="020B0604030504040204" pitchFamily="34" charset="0"/>
                <a:ea typeface="楷体_GB2312" pitchFamily="49" charset="-122"/>
              </a:rPr>
              <a:t>  </a:t>
            </a:r>
            <a:r>
              <a:rPr lang="en-US" altLang="zh-CN" sz="2400" dirty="0">
                <a:latin typeface="Verdana" panose="020B0604030504040204" pitchFamily="34" charset="0"/>
                <a:ea typeface="楷体_GB2312" pitchFamily="49" charset="-122"/>
              </a:rPr>
              <a:t>m</a:t>
            </a:r>
            <a:r>
              <a:rPr lang="en-US" altLang="zh-CN" sz="2400" baseline="-30000" dirty="0">
                <a:latin typeface="Verdana" panose="020B0604030504040204" pitchFamily="34" charset="0"/>
                <a:ea typeface="楷体_GB2312" pitchFamily="49" charset="-122"/>
              </a:rPr>
              <a:t>3  </a:t>
            </a:r>
            <a:r>
              <a:rPr lang="en-US" altLang="zh-CN" sz="2400" dirty="0">
                <a:solidFill>
                  <a:srgbClr val="0000FF"/>
                </a:solidFill>
                <a:latin typeface="Verdana" panose="020B0604030504040204" pitchFamily="34" charset="0"/>
                <a:ea typeface="楷体_GB2312" pitchFamily="49" charset="-122"/>
              </a:rPr>
              <a:t>r</a:t>
            </a:r>
            <a:r>
              <a:rPr lang="en-US" altLang="zh-CN" sz="2400" baseline="-30000" dirty="0">
                <a:solidFill>
                  <a:srgbClr val="0000FF"/>
                </a:solidFill>
                <a:latin typeface="Verdana" panose="020B0604030504040204" pitchFamily="34" charset="0"/>
                <a:ea typeface="楷体_GB2312" pitchFamily="49" charset="-122"/>
              </a:rPr>
              <a:t>4</a:t>
            </a:r>
            <a:r>
              <a:rPr lang="en-US" altLang="zh-CN" sz="2400" baseline="-30000" dirty="0">
                <a:latin typeface="Verdana" panose="020B0604030504040204" pitchFamily="34" charset="0"/>
                <a:ea typeface="楷体_GB2312" pitchFamily="49" charset="-122"/>
              </a:rPr>
              <a:t>  </a:t>
            </a:r>
            <a:r>
              <a:rPr lang="en-US" altLang="zh-CN" sz="2400" dirty="0">
                <a:latin typeface="Verdana" panose="020B0604030504040204" pitchFamily="34" charset="0"/>
                <a:ea typeface="楷体_GB2312" pitchFamily="49" charset="-122"/>
              </a:rPr>
              <a:t>m</a:t>
            </a:r>
            <a:r>
              <a:rPr lang="en-US" altLang="zh-CN" sz="2400" baseline="-30000" dirty="0">
                <a:latin typeface="Verdana" panose="020B0604030504040204" pitchFamily="34" charset="0"/>
                <a:ea typeface="楷体_GB2312" pitchFamily="49" charset="-122"/>
              </a:rPr>
              <a:t>5  </a:t>
            </a:r>
            <a:r>
              <a:rPr lang="en-US" altLang="zh-CN" sz="2400" dirty="0">
                <a:latin typeface="Verdana" panose="020B0604030504040204" pitchFamily="34" charset="0"/>
                <a:ea typeface="楷体_GB2312" pitchFamily="49" charset="-122"/>
              </a:rPr>
              <a:t>m</a:t>
            </a:r>
            <a:r>
              <a:rPr lang="en-US" altLang="zh-CN" sz="2400" baseline="-30000" dirty="0">
                <a:latin typeface="Verdana" panose="020B0604030504040204" pitchFamily="34" charset="0"/>
                <a:ea typeface="楷体_GB2312" pitchFamily="49" charset="-122"/>
              </a:rPr>
              <a:t>6  </a:t>
            </a:r>
            <a:r>
              <a:rPr lang="en-US" altLang="zh-CN" sz="2400" dirty="0">
                <a:latin typeface="Verdana" panose="020B0604030504040204" pitchFamily="34" charset="0"/>
                <a:ea typeface="楷体_GB2312" pitchFamily="49" charset="-122"/>
              </a:rPr>
              <a:t>m</a:t>
            </a:r>
            <a:r>
              <a:rPr lang="en-US" altLang="zh-CN" sz="2400" baseline="-30000" dirty="0">
                <a:latin typeface="Verdana" panose="020B0604030504040204" pitchFamily="34" charset="0"/>
                <a:ea typeface="楷体_GB2312" pitchFamily="49" charset="-122"/>
              </a:rPr>
              <a:t>7 </a:t>
            </a:r>
            <a:r>
              <a:rPr lang="en-US" altLang="zh-CN" sz="2400" baseline="-30000" dirty="0">
                <a:solidFill>
                  <a:srgbClr val="0000FF"/>
                </a:solidFill>
                <a:latin typeface="Verdana" panose="020B0604030504040204" pitchFamily="34" charset="0"/>
                <a:ea typeface="楷体_GB2312" pitchFamily="49" charset="-122"/>
              </a:rPr>
              <a:t> </a:t>
            </a:r>
            <a:r>
              <a:rPr lang="en-US" altLang="zh-CN" sz="2400" dirty="0">
                <a:solidFill>
                  <a:srgbClr val="0000FF"/>
                </a:solidFill>
                <a:latin typeface="Verdana" panose="020B0604030504040204" pitchFamily="34" charset="0"/>
                <a:ea typeface="楷体_GB2312" pitchFamily="49" charset="-122"/>
              </a:rPr>
              <a:t>r</a:t>
            </a:r>
            <a:r>
              <a:rPr lang="en-US" altLang="zh-CN" sz="2400" baseline="-30000" dirty="0">
                <a:solidFill>
                  <a:srgbClr val="0000FF"/>
                </a:solidFill>
                <a:latin typeface="Verdana" panose="020B0604030504040204" pitchFamily="34" charset="0"/>
                <a:ea typeface="楷体_GB2312" pitchFamily="49" charset="-122"/>
              </a:rPr>
              <a:t>8</a:t>
            </a:r>
            <a:r>
              <a:rPr lang="en-US" altLang="zh-CN" sz="2400" dirty="0">
                <a:latin typeface="Verdana" panose="020B0604030504040204" pitchFamily="34" charset="0"/>
                <a:ea typeface="楷体_GB2312" pitchFamily="49" charset="-122"/>
              </a:rPr>
              <a:t>  m</a:t>
            </a:r>
            <a:r>
              <a:rPr lang="en-US" altLang="zh-CN" sz="2400" baseline="-30000" dirty="0">
                <a:latin typeface="Verdana" panose="020B0604030504040204" pitchFamily="34" charset="0"/>
                <a:ea typeface="楷体_GB2312" pitchFamily="49" charset="-122"/>
              </a:rPr>
              <a:t>9</a:t>
            </a:r>
            <a:r>
              <a:rPr lang="en-US" altLang="zh-CN" sz="2400" dirty="0">
                <a:latin typeface="Verdana" panose="020B0604030504040204" pitchFamily="34" charset="0"/>
                <a:ea typeface="楷体_GB2312" pitchFamily="49" charset="-122"/>
              </a:rPr>
              <a:t> m</a:t>
            </a:r>
            <a:r>
              <a:rPr lang="en-US" altLang="zh-CN" sz="2400" baseline="-30000" dirty="0">
                <a:latin typeface="Verdana" panose="020B0604030504040204" pitchFamily="34" charset="0"/>
                <a:ea typeface="楷体_GB2312" pitchFamily="49" charset="-122"/>
              </a:rPr>
              <a:t>10</a:t>
            </a:r>
            <a:r>
              <a:rPr lang="en-US" altLang="zh-CN" sz="2400" dirty="0">
                <a:latin typeface="Verdana" panose="020B0604030504040204" pitchFamily="34" charset="0"/>
                <a:ea typeface="楷体_GB2312" pitchFamily="49" charset="-122"/>
              </a:rPr>
              <a:t> m</a:t>
            </a:r>
            <a:r>
              <a:rPr lang="en-US" altLang="zh-CN" sz="2400" baseline="-30000" dirty="0">
                <a:latin typeface="Verdana" panose="020B0604030504040204" pitchFamily="34" charset="0"/>
                <a:ea typeface="楷体_GB2312" pitchFamily="49" charset="-122"/>
              </a:rPr>
              <a:t>11  </a:t>
            </a:r>
            <a:r>
              <a:rPr lang="en-US" altLang="zh-CN" sz="2400" dirty="0">
                <a:latin typeface="Verdana" panose="020B0604030504040204" pitchFamily="34" charset="0"/>
                <a:ea typeface="楷体_GB2312" pitchFamily="49" charset="-122"/>
              </a:rPr>
              <a:t>...</a:t>
            </a:r>
          </a:p>
          <a:p>
            <a:pPr eaLnBrk="1" hangingPunct="1">
              <a:lnSpc>
                <a:spcPct val="115000"/>
              </a:lnSpc>
            </a:pPr>
            <a:endParaRPr lang="en-US" altLang="zh-CN" sz="2400" dirty="0">
              <a:latin typeface="Verdana" panose="020B0604030504040204" pitchFamily="34" charset="0"/>
              <a:ea typeface="楷体_GB2312" pitchFamily="49" charset="-122"/>
            </a:endParaRPr>
          </a:p>
          <a:p>
            <a:pPr eaLnBrk="1" hangingPunct="1">
              <a:lnSpc>
                <a:spcPct val="115000"/>
              </a:lnSpc>
              <a:buClr>
                <a:schemeClr val="tx1"/>
              </a:buClr>
              <a:buFont typeface="Wingdings" panose="05000000000000000000" pitchFamily="2" charset="2"/>
              <a:buChar char="Ø"/>
            </a:pPr>
            <a:r>
              <a:rPr lang="en-US" altLang="zh-CN" sz="2400" dirty="0">
                <a:latin typeface="Verdana" panose="020B0604030504040204" pitchFamily="34" charset="0"/>
                <a:ea typeface="楷体_GB2312" pitchFamily="49" charset="-122"/>
              </a:rPr>
              <a:t>r</a:t>
            </a:r>
            <a:r>
              <a:rPr lang="zh-CN" altLang="en-US" sz="2400" dirty="0">
                <a:latin typeface="Verdana" panose="020B0604030504040204" pitchFamily="34" charset="0"/>
                <a:ea typeface="楷体_GB2312" pitchFamily="49" charset="-122"/>
              </a:rPr>
              <a:t>为效验位，其下标为</a:t>
            </a:r>
            <a:r>
              <a:rPr lang="en-US" altLang="zh-CN" sz="2400" dirty="0">
                <a:latin typeface="Verdana" panose="020B0604030504040204" pitchFamily="34" charset="0"/>
                <a:ea typeface="楷体_GB2312" pitchFamily="49" charset="-122"/>
              </a:rPr>
              <a:t>2</a:t>
            </a:r>
            <a:r>
              <a:rPr lang="zh-CN" altLang="en-US" sz="2400" dirty="0">
                <a:latin typeface="Verdana" panose="020B0604030504040204" pitchFamily="34" charset="0"/>
                <a:ea typeface="楷体_GB2312" pitchFamily="49" charset="-122"/>
              </a:rPr>
              <a:t>的整次幂的位。</a:t>
            </a:r>
          </a:p>
          <a:p>
            <a:pPr algn="just" eaLnBrk="1" hangingPunct="1">
              <a:lnSpc>
                <a:spcPct val="115000"/>
              </a:lnSpc>
              <a:buClr>
                <a:schemeClr val="tx1"/>
              </a:buClr>
              <a:buFont typeface="Wingdings" panose="05000000000000000000" pitchFamily="2" charset="2"/>
              <a:buChar char="Ø"/>
            </a:pPr>
            <a:r>
              <a:rPr lang="en-US" altLang="zh-CN" sz="2400" dirty="0">
                <a:latin typeface="Verdana" panose="020B0604030504040204" pitchFamily="34" charset="0"/>
                <a:ea typeface="楷体_GB2312" pitchFamily="49" charset="-122"/>
              </a:rPr>
              <a:t>m</a:t>
            </a:r>
            <a:r>
              <a:rPr lang="zh-CN" altLang="en-US" sz="2400" dirty="0">
                <a:latin typeface="Verdana" panose="020B0604030504040204" pitchFamily="34" charset="0"/>
                <a:ea typeface="楷体_GB2312" pitchFamily="49" charset="-122"/>
              </a:rPr>
              <a:t>信息位，其下标为</a:t>
            </a:r>
            <a:r>
              <a:rPr lang="en-US" altLang="zh-CN" sz="2400" dirty="0">
                <a:latin typeface="Verdana" panose="020B0604030504040204" pitchFamily="34" charset="0"/>
                <a:ea typeface="楷体_GB2312" pitchFamily="49" charset="-122"/>
              </a:rPr>
              <a:t>2</a:t>
            </a:r>
            <a:r>
              <a:rPr lang="zh-CN" altLang="en-US" sz="2400" dirty="0">
                <a:latin typeface="Verdana" panose="020B0604030504040204" pitchFamily="34" charset="0"/>
                <a:ea typeface="楷体_GB2312" pitchFamily="49" charset="-122"/>
              </a:rPr>
              <a:t>的非整次幂的位。</a:t>
            </a:r>
          </a:p>
          <a:p>
            <a:pPr algn="just" eaLnBrk="1" hangingPunct="1">
              <a:lnSpc>
                <a:spcPct val="115000"/>
              </a:lnSpc>
              <a:buClr>
                <a:schemeClr val="tx1"/>
              </a:buClr>
              <a:buFont typeface="Wingdings" panose="05000000000000000000" pitchFamily="2" charset="2"/>
              <a:buChar char="Ø"/>
            </a:pPr>
            <a:r>
              <a:rPr lang="zh-CN" altLang="en-US" sz="2400" dirty="0">
                <a:latin typeface="Verdana" panose="020B0604030504040204" pitchFamily="34" charset="0"/>
                <a:ea typeface="楷体_GB2312" pitchFamily="49" charset="-122"/>
              </a:rPr>
              <a:t>信息位第</a:t>
            </a:r>
            <a:r>
              <a:rPr lang="en-US" altLang="zh-CN" sz="2400" dirty="0">
                <a:latin typeface="Verdana" panose="020B0604030504040204" pitchFamily="34" charset="0"/>
                <a:ea typeface="楷体_GB2312" pitchFamily="49" charset="-122"/>
              </a:rPr>
              <a:t>k</a:t>
            </a:r>
            <a:r>
              <a:rPr lang="zh-CN" altLang="en-US" sz="2400" dirty="0">
                <a:latin typeface="Verdana" panose="020B0604030504040204" pitchFamily="34" charset="0"/>
                <a:ea typeface="楷体_GB2312" pitchFamily="49" charset="-122"/>
              </a:rPr>
              <a:t>位，和相应</a:t>
            </a:r>
            <a:r>
              <a:rPr lang="en-US" altLang="zh-CN" sz="2400" dirty="0">
                <a:latin typeface="Verdana" panose="020B0604030504040204" pitchFamily="34" charset="0"/>
                <a:ea typeface="楷体_GB2312" pitchFamily="49" charset="-122"/>
              </a:rPr>
              <a:t>2</a:t>
            </a:r>
            <a:r>
              <a:rPr lang="zh-CN" altLang="en-US" sz="2400" dirty="0">
                <a:latin typeface="Verdana" panose="020B0604030504040204" pitchFamily="34" charset="0"/>
                <a:ea typeface="楷体_GB2312" pitchFamily="49" charset="-122"/>
              </a:rPr>
              <a:t>的整次幂的校验位有关。</a:t>
            </a:r>
          </a:p>
        </p:txBody>
      </p:sp>
      <p:sp>
        <p:nvSpPr>
          <p:cNvPr id="7" name="Title 6">
            <a:extLst>
              <a:ext uri="{FF2B5EF4-FFF2-40B4-BE49-F238E27FC236}">
                <a16:creationId xmlns:a16="http://schemas.microsoft.com/office/drawing/2014/main" id="{8CC4B42F-AF3D-2F2E-6B30-CAAE9DBED7E8}"/>
              </a:ext>
            </a:extLst>
          </p:cNvPr>
          <p:cNvSpPr>
            <a:spLocks noGrp="1"/>
          </p:cNvSpPr>
          <p:nvPr>
            <p:ph type="title"/>
          </p:nvPr>
        </p:nvSpPr>
        <p:spPr/>
        <p:txBody>
          <a:bodyPr/>
          <a:lstStyle/>
          <a:p>
            <a:r>
              <a:rPr kumimoji="1" lang="zh-CN" altLang="en-US" dirty="0"/>
              <a:t>典型纠错码</a:t>
            </a:r>
            <a:r>
              <a:rPr kumimoji="1" lang="en-US" altLang="zh-CN" sz="3200" dirty="0"/>
              <a:t>—</a:t>
            </a:r>
            <a:r>
              <a:rPr kumimoji="1" lang="zh-CN" altLang="en-US" sz="3200" dirty="0">
                <a:solidFill>
                  <a:schemeClr val="accent1">
                    <a:lumMod val="75000"/>
                  </a:schemeClr>
                </a:solidFill>
              </a:rPr>
              <a:t>海明码</a:t>
            </a:r>
            <a:endParaRPr lang="en-CN" dirty="0"/>
          </a:p>
        </p:txBody>
      </p:sp>
    </p:spTree>
  </p:cSld>
  <p:clrMapOvr>
    <a:masterClrMapping/>
  </p:clrMapOvr>
  <p:transition>
    <p:random/>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页脚占位符 3"/>
          <p:cNvSpPr>
            <a:spLocks noGrp="1"/>
          </p:cNvSpPr>
          <p:nvPr>
            <p:ph type="ftr" sz="quarter" idx="10"/>
          </p:nvPr>
        </p:nvSpPr>
        <p:spPr/>
        <p:txBody>
          <a:bodyPr/>
          <a:lstStyle/>
          <a:p>
            <a:pPr>
              <a:defRPr/>
            </a:pPr>
            <a:r>
              <a:rPr lang="en-US" altLang="zh-CN"/>
              <a:t>Computer Network</a:t>
            </a:r>
          </a:p>
        </p:txBody>
      </p:sp>
      <p:sp>
        <p:nvSpPr>
          <p:cNvPr id="25603" name="灯片编号占位符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49BCC87A-8404-442C-B1FB-1CDF8977C040}" type="slidenum">
              <a:rPr lang="en-US" altLang="zh-CN" sz="1200">
                <a:latin typeface="Arial Black" panose="020B0A04020102020204" pitchFamily="34" charset="0"/>
              </a:rPr>
              <a:pPr>
                <a:spcBef>
                  <a:spcPct val="0"/>
                </a:spcBef>
                <a:buClrTx/>
                <a:buSzTx/>
                <a:buFontTx/>
                <a:buNone/>
              </a:pPr>
              <a:t>58</a:t>
            </a:fld>
            <a:endParaRPr lang="en-US" altLang="zh-CN" sz="1200">
              <a:latin typeface="Arial Black" panose="020B0A04020102020204" pitchFamily="34" charset="0"/>
            </a:endParaRPr>
          </a:p>
        </p:txBody>
      </p:sp>
      <p:sp>
        <p:nvSpPr>
          <p:cNvPr id="8" name="日期占位符 5"/>
          <p:cNvSpPr>
            <a:spLocks noGrp="1"/>
          </p:cNvSpPr>
          <p:nvPr>
            <p:ph type="dt" sz="quarter" idx="12"/>
          </p:nvPr>
        </p:nvSpPr>
        <p:spPr/>
        <p:txBody>
          <a:bodyPr/>
          <a:lstStyle/>
          <a:p>
            <a:pPr>
              <a:defRPr/>
            </a:pPr>
            <a:fld id="{569BA861-AE3B-41F6-9985-9FDBDB7ACDFC}" type="datetime1">
              <a:rPr lang="zh-CN" altLang="en-US"/>
              <a:pPr>
                <a:defRPr/>
              </a:pPr>
              <a:t>2024/10/18</a:t>
            </a:fld>
            <a:endParaRPr lang="en-US" altLang="zh-CN"/>
          </a:p>
        </p:txBody>
      </p:sp>
      <p:sp>
        <p:nvSpPr>
          <p:cNvPr id="845826" name="Rectangle 2"/>
          <p:cNvSpPr>
            <a:spLocks noGrp="1" noChangeArrowheads="1"/>
          </p:cNvSpPr>
          <p:nvPr>
            <p:ph type="title"/>
          </p:nvPr>
        </p:nvSpPr>
        <p:spPr>
          <a:xfrm>
            <a:off x="2209800" y="685800"/>
            <a:ext cx="6096000" cy="533400"/>
          </a:xfrm>
        </p:spPr>
        <p:txBody>
          <a:bodyPr/>
          <a:lstStyle/>
          <a:p>
            <a:pPr eaLnBrk="1" hangingPunct="1">
              <a:defRPr/>
            </a:pPr>
            <a:r>
              <a:rPr lang="zh-CN" altLang="en-US" sz="2400" b="1" dirty="0">
                <a:solidFill>
                  <a:srgbClr val="FF0000"/>
                </a:solidFill>
                <a:latin typeface="楷体_GB2312" pitchFamily="49" charset="-122"/>
              </a:rPr>
              <a:t>例：</a:t>
            </a:r>
          </a:p>
        </p:txBody>
      </p:sp>
      <p:sp>
        <p:nvSpPr>
          <p:cNvPr id="25606" name="Rectangle 3"/>
          <p:cNvSpPr>
            <a:spLocks noGrp="1" noChangeArrowheads="1"/>
          </p:cNvSpPr>
          <p:nvPr>
            <p:ph type="body" idx="1"/>
          </p:nvPr>
        </p:nvSpPr>
        <p:spPr>
          <a:xfrm>
            <a:off x="2286000" y="1295400"/>
            <a:ext cx="3505200" cy="2209800"/>
          </a:xfrm>
        </p:spPr>
        <p:txBody>
          <a:bodyPr/>
          <a:lstStyle/>
          <a:p>
            <a:pPr eaLnBrk="1" hangingPunct="1">
              <a:buSzPct val="90000"/>
              <a:buFont typeface="Wingdings" panose="05000000000000000000" pitchFamily="2" charset="2"/>
              <a:buChar char="§"/>
            </a:pPr>
            <a:r>
              <a:rPr lang="en-US" altLang="zh-CN" sz="2400" dirty="0">
                <a:latin typeface="Verdana" panose="020B0604030504040204" pitchFamily="34" charset="0"/>
                <a:ea typeface="楷体_GB2312" pitchFamily="49" charset="-122"/>
              </a:rPr>
              <a:t>m</a:t>
            </a:r>
            <a:r>
              <a:rPr lang="en-US" altLang="zh-CN" sz="2400" baseline="-30000" dirty="0">
                <a:latin typeface="Verdana" panose="020B0604030504040204" pitchFamily="34" charset="0"/>
                <a:ea typeface="楷体_GB2312" pitchFamily="49" charset="-122"/>
              </a:rPr>
              <a:t>3 </a:t>
            </a:r>
            <a:r>
              <a:rPr lang="zh-CN" altLang="en-US" sz="2400" dirty="0">
                <a:latin typeface="Verdana" panose="020B0604030504040204" pitchFamily="34" charset="0"/>
                <a:ea typeface="楷体_GB2312" pitchFamily="49" charset="-122"/>
              </a:rPr>
              <a:t>和</a:t>
            </a:r>
            <a:r>
              <a:rPr lang="en-US" altLang="zh-CN" sz="2400" dirty="0">
                <a:latin typeface="Verdana" panose="020B0604030504040204" pitchFamily="34" charset="0"/>
                <a:ea typeface="楷体_GB2312" pitchFamily="49" charset="-122"/>
              </a:rPr>
              <a:t>r</a:t>
            </a:r>
            <a:r>
              <a:rPr lang="en-US" altLang="zh-CN" sz="2400" baseline="-30000" dirty="0">
                <a:latin typeface="Verdana" panose="020B0604030504040204" pitchFamily="34" charset="0"/>
                <a:ea typeface="楷体_GB2312" pitchFamily="49" charset="-122"/>
              </a:rPr>
              <a:t>1 </a:t>
            </a:r>
            <a:r>
              <a:rPr lang="en-US" altLang="zh-CN" sz="2400" dirty="0">
                <a:latin typeface="Verdana" panose="020B0604030504040204" pitchFamily="34" charset="0"/>
                <a:ea typeface="楷体_GB2312" pitchFamily="49" charset="-122"/>
              </a:rPr>
              <a:t>, r</a:t>
            </a:r>
            <a:r>
              <a:rPr lang="en-US" altLang="zh-CN" sz="2400" baseline="-30000" dirty="0">
                <a:latin typeface="Verdana" panose="020B0604030504040204" pitchFamily="34" charset="0"/>
                <a:ea typeface="楷体_GB2312" pitchFamily="49" charset="-122"/>
              </a:rPr>
              <a:t>2</a:t>
            </a:r>
            <a:r>
              <a:rPr lang="en-US" altLang="zh-CN" sz="2400" dirty="0">
                <a:latin typeface="Verdana" panose="020B0604030504040204" pitchFamily="34" charset="0"/>
                <a:ea typeface="楷体_GB2312" pitchFamily="49" charset="-122"/>
              </a:rPr>
              <a:t> </a:t>
            </a:r>
            <a:r>
              <a:rPr lang="zh-CN" altLang="en-US" sz="2400" dirty="0">
                <a:latin typeface="Verdana" panose="020B0604030504040204" pitchFamily="34" charset="0"/>
                <a:ea typeface="楷体_GB2312" pitchFamily="49" charset="-122"/>
              </a:rPr>
              <a:t>有关 </a:t>
            </a:r>
          </a:p>
          <a:p>
            <a:pPr eaLnBrk="1" hangingPunct="1">
              <a:buSzPct val="90000"/>
              <a:buFont typeface="Wingdings" panose="05000000000000000000" pitchFamily="2" charset="2"/>
              <a:buChar char="§"/>
            </a:pPr>
            <a:r>
              <a:rPr lang="en-US" altLang="zh-CN" sz="2400" dirty="0">
                <a:latin typeface="Verdana" panose="020B0604030504040204" pitchFamily="34" charset="0"/>
                <a:ea typeface="楷体_GB2312" pitchFamily="49" charset="-122"/>
              </a:rPr>
              <a:t>m</a:t>
            </a:r>
            <a:r>
              <a:rPr lang="en-US" altLang="zh-CN" sz="2400" baseline="-30000" dirty="0">
                <a:latin typeface="Verdana" panose="020B0604030504040204" pitchFamily="34" charset="0"/>
                <a:ea typeface="楷体_GB2312" pitchFamily="49" charset="-122"/>
              </a:rPr>
              <a:t>5 </a:t>
            </a:r>
            <a:r>
              <a:rPr lang="zh-CN" altLang="en-US" sz="2400" dirty="0">
                <a:latin typeface="Verdana" panose="020B0604030504040204" pitchFamily="34" charset="0"/>
                <a:ea typeface="楷体_GB2312" pitchFamily="49" charset="-122"/>
              </a:rPr>
              <a:t>和</a:t>
            </a:r>
            <a:r>
              <a:rPr lang="en-US" altLang="zh-CN" sz="2400" dirty="0">
                <a:latin typeface="Verdana" panose="020B0604030504040204" pitchFamily="34" charset="0"/>
                <a:ea typeface="楷体_GB2312" pitchFamily="49" charset="-122"/>
              </a:rPr>
              <a:t>r</a:t>
            </a:r>
            <a:r>
              <a:rPr lang="en-US" altLang="zh-CN" sz="2400" baseline="-30000" dirty="0">
                <a:latin typeface="Verdana" panose="020B0604030504040204" pitchFamily="34" charset="0"/>
                <a:ea typeface="楷体_GB2312" pitchFamily="49" charset="-122"/>
              </a:rPr>
              <a:t>1 </a:t>
            </a:r>
            <a:r>
              <a:rPr lang="en-US" altLang="zh-CN" sz="2400" dirty="0">
                <a:latin typeface="Verdana" panose="020B0604030504040204" pitchFamily="34" charset="0"/>
                <a:ea typeface="楷体_GB2312" pitchFamily="49" charset="-122"/>
              </a:rPr>
              <a:t>, r</a:t>
            </a:r>
            <a:r>
              <a:rPr lang="en-US" altLang="zh-CN" sz="2400" baseline="-30000" dirty="0">
                <a:latin typeface="Verdana" panose="020B0604030504040204" pitchFamily="34" charset="0"/>
                <a:ea typeface="楷体_GB2312" pitchFamily="49" charset="-122"/>
              </a:rPr>
              <a:t>4 </a:t>
            </a:r>
            <a:r>
              <a:rPr lang="zh-CN" altLang="en-US" sz="2400" dirty="0">
                <a:latin typeface="Verdana" panose="020B0604030504040204" pitchFamily="34" charset="0"/>
                <a:ea typeface="楷体_GB2312" pitchFamily="49" charset="-122"/>
              </a:rPr>
              <a:t>有关</a:t>
            </a:r>
          </a:p>
          <a:p>
            <a:pPr eaLnBrk="1" hangingPunct="1">
              <a:buSzPct val="90000"/>
              <a:buFont typeface="Wingdings" panose="05000000000000000000" pitchFamily="2" charset="2"/>
              <a:buChar char="§"/>
            </a:pPr>
            <a:r>
              <a:rPr lang="en-US" altLang="zh-CN" sz="2400" dirty="0">
                <a:latin typeface="Verdana" panose="020B0604030504040204" pitchFamily="34" charset="0"/>
                <a:ea typeface="楷体_GB2312" pitchFamily="49" charset="-122"/>
              </a:rPr>
              <a:t>m</a:t>
            </a:r>
            <a:r>
              <a:rPr lang="en-US" altLang="zh-CN" sz="2400" baseline="-30000" dirty="0">
                <a:latin typeface="Verdana" panose="020B0604030504040204" pitchFamily="34" charset="0"/>
                <a:ea typeface="楷体_GB2312" pitchFamily="49" charset="-122"/>
              </a:rPr>
              <a:t>6 </a:t>
            </a:r>
            <a:r>
              <a:rPr lang="zh-CN" altLang="en-US" sz="2400" dirty="0">
                <a:latin typeface="Verdana" panose="020B0604030504040204" pitchFamily="34" charset="0"/>
                <a:ea typeface="楷体_GB2312" pitchFamily="49" charset="-122"/>
              </a:rPr>
              <a:t>和</a:t>
            </a:r>
            <a:r>
              <a:rPr lang="en-US" altLang="zh-CN" sz="2400" dirty="0">
                <a:latin typeface="Verdana" panose="020B0604030504040204" pitchFamily="34" charset="0"/>
                <a:ea typeface="楷体_GB2312" pitchFamily="49" charset="-122"/>
              </a:rPr>
              <a:t>r</a:t>
            </a:r>
            <a:r>
              <a:rPr lang="en-US" altLang="zh-CN" sz="2400" baseline="-30000" dirty="0">
                <a:latin typeface="Verdana" panose="020B0604030504040204" pitchFamily="34" charset="0"/>
                <a:ea typeface="楷体_GB2312" pitchFamily="49" charset="-122"/>
              </a:rPr>
              <a:t>2 </a:t>
            </a:r>
            <a:r>
              <a:rPr lang="en-US" altLang="zh-CN" sz="2400" dirty="0">
                <a:latin typeface="Verdana" panose="020B0604030504040204" pitchFamily="34" charset="0"/>
                <a:ea typeface="楷体_GB2312" pitchFamily="49" charset="-122"/>
              </a:rPr>
              <a:t>, r</a:t>
            </a:r>
            <a:r>
              <a:rPr lang="en-US" altLang="zh-CN" sz="2400" baseline="-30000" dirty="0">
                <a:latin typeface="Verdana" panose="020B0604030504040204" pitchFamily="34" charset="0"/>
                <a:ea typeface="楷体_GB2312" pitchFamily="49" charset="-122"/>
              </a:rPr>
              <a:t>4</a:t>
            </a:r>
            <a:r>
              <a:rPr lang="zh-CN" altLang="en-US" sz="2400" dirty="0">
                <a:latin typeface="Verdana" panose="020B0604030504040204" pitchFamily="34" charset="0"/>
                <a:ea typeface="楷体_GB2312" pitchFamily="49" charset="-122"/>
              </a:rPr>
              <a:t>有关</a:t>
            </a:r>
          </a:p>
          <a:p>
            <a:pPr eaLnBrk="1" hangingPunct="1">
              <a:buSzPct val="90000"/>
              <a:buFont typeface="Wingdings" panose="05000000000000000000" pitchFamily="2" charset="2"/>
              <a:buChar char="§"/>
            </a:pPr>
            <a:r>
              <a:rPr lang="en-US" altLang="zh-CN" sz="2400" dirty="0">
                <a:latin typeface="Verdana" panose="020B0604030504040204" pitchFamily="34" charset="0"/>
                <a:ea typeface="楷体_GB2312" pitchFamily="49" charset="-122"/>
              </a:rPr>
              <a:t>m</a:t>
            </a:r>
            <a:r>
              <a:rPr lang="en-US" altLang="zh-CN" sz="2400" baseline="-30000" dirty="0">
                <a:latin typeface="Verdana" panose="020B0604030504040204" pitchFamily="34" charset="0"/>
                <a:ea typeface="楷体_GB2312" pitchFamily="49" charset="-122"/>
              </a:rPr>
              <a:t>7 </a:t>
            </a:r>
            <a:r>
              <a:rPr lang="zh-CN" altLang="en-US" sz="2400" dirty="0">
                <a:latin typeface="Verdana" panose="020B0604030504040204" pitchFamily="34" charset="0"/>
                <a:ea typeface="楷体_GB2312" pitchFamily="49" charset="-122"/>
              </a:rPr>
              <a:t>和</a:t>
            </a:r>
            <a:r>
              <a:rPr lang="en-US" altLang="zh-CN" sz="2400" dirty="0">
                <a:latin typeface="Verdana" panose="020B0604030504040204" pitchFamily="34" charset="0"/>
                <a:ea typeface="楷体_GB2312" pitchFamily="49" charset="-122"/>
              </a:rPr>
              <a:t>r</a:t>
            </a:r>
            <a:r>
              <a:rPr lang="en-US" altLang="zh-CN" sz="2400" baseline="-30000" dirty="0">
                <a:latin typeface="Verdana" panose="020B0604030504040204" pitchFamily="34" charset="0"/>
                <a:ea typeface="楷体_GB2312" pitchFamily="49" charset="-122"/>
              </a:rPr>
              <a:t>1 </a:t>
            </a:r>
            <a:r>
              <a:rPr lang="en-US" altLang="zh-CN" sz="2400" dirty="0">
                <a:latin typeface="Verdana" panose="020B0604030504040204" pitchFamily="34" charset="0"/>
                <a:ea typeface="楷体_GB2312" pitchFamily="49" charset="-122"/>
              </a:rPr>
              <a:t>, r</a:t>
            </a:r>
            <a:r>
              <a:rPr lang="en-US" altLang="zh-CN" sz="2400" baseline="-30000" dirty="0">
                <a:latin typeface="Verdana" panose="020B0604030504040204" pitchFamily="34" charset="0"/>
                <a:ea typeface="楷体_GB2312" pitchFamily="49" charset="-122"/>
              </a:rPr>
              <a:t>2 </a:t>
            </a:r>
            <a:r>
              <a:rPr lang="en-US" altLang="zh-CN" sz="2400" dirty="0">
                <a:latin typeface="Verdana" panose="020B0604030504040204" pitchFamily="34" charset="0"/>
                <a:ea typeface="楷体_GB2312" pitchFamily="49" charset="-122"/>
              </a:rPr>
              <a:t>,</a:t>
            </a:r>
            <a:r>
              <a:rPr lang="zh-CN" altLang="en-US" sz="2400" dirty="0">
                <a:latin typeface="Verdana" panose="020B0604030504040204" pitchFamily="34" charset="0"/>
                <a:ea typeface="楷体_GB2312" pitchFamily="49" charset="-122"/>
              </a:rPr>
              <a:t> </a:t>
            </a:r>
            <a:r>
              <a:rPr lang="en-US" altLang="zh-CN" sz="2400" dirty="0">
                <a:latin typeface="Verdana" panose="020B0604030504040204" pitchFamily="34" charset="0"/>
                <a:ea typeface="楷体_GB2312" pitchFamily="49" charset="-122"/>
              </a:rPr>
              <a:t>r</a:t>
            </a:r>
            <a:r>
              <a:rPr lang="en-US" altLang="zh-CN" sz="2400" baseline="-30000" dirty="0">
                <a:latin typeface="Verdana" panose="020B0604030504040204" pitchFamily="34" charset="0"/>
                <a:ea typeface="楷体_GB2312" pitchFamily="49" charset="-122"/>
              </a:rPr>
              <a:t>4</a:t>
            </a:r>
            <a:r>
              <a:rPr lang="zh-CN" altLang="en-US" sz="2400" dirty="0">
                <a:latin typeface="Verdana" panose="020B0604030504040204" pitchFamily="34" charset="0"/>
                <a:ea typeface="楷体_GB2312" pitchFamily="49" charset="-122"/>
              </a:rPr>
              <a:t>有关</a:t>
            </a:r>
          </a:p>
        </p:txBody>
      </p:sp>
      <p:graphicFrame>
        <p:nvGraphicFramePr>
          <p:cNvPr id="25607" name="Object 4"/>
          <p:cNvGraphicFramePr>
            <a:graphicFrameLocks noChangeAspect="1"/>
          </p:cNvGraphicFramePr>
          <p:nvPr/>
        </p:nvGraphicFramePr>
        <p:xfrm>
          <a:off x="5995737" y="1420813"/>
          <a:ext cx="3421336" cy="1671637"/>
        </p:xfrm>
        <a:graphic>
          <a:graphicData uri="http://schemas.openxmlformats.org/presentationml/2006/ole">
            <mc:AlternateContent xmlns:mc="http://schemas.openxmlformats.org/markup-compatibility/2006">
              <mc:Choice xmlns:v="urn:schemas-microsoft-com:vml" Requires="v">
                <p:oleObj spid="_x0000_s1029" name="Equation" r:id="rId3" imgW="1130040" imgH="685800" progId="Equation.DSMT4">
                  <p:embed/>
                </p:oleObj>
              </mc:Choice>
              <mc:Fallback>
                <p:oleObj name="Equation" r:id="rId3" imgW="1130040" imgH="685800" progId="Equation.DSMT4">
                  <p:embed/>
                  <p:pic>
                    <p:nvPicPr>
                      <p:cNvPr id="25607"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95737" y="1420813"/>
                        <a:ext cx="3421336" cy="1671637"/>
                      </a:xfrm>
                      <a:prstGeom prst="rect">
                        <a:avLst/>
                      </a:prstGeom>
                      <a:solidFill>
                        <a:schemeClr val="accent1"/>
                      </a:solidFill>
                      <a:ln w="9525">
                        <a:solidFill>
                          <a:schemeClr val="bg1"/>
                        </a:solidFill>
                        <a:miter lim="800000"/>
                        <a:headEnd/>
                        <a:tailEnd/>
                      </a:ln>
                    </p:spPr>
                  </p:pic>
                </p:oleObj>
              </mc:Fallback>
            </mc:AlternateContent>
          </a:graphicData>
        </a:graphic>
      </p:graphicFrame>
      <p:sp>
        <p:nvSpPr>
          <p:cNvPr id="845829" name="Text Box 5"/>
          <p:cNvSpPr txBox="1">
            <a:spLocks noChangeArrowheads="1"/>
          </p:cNvSpPr>
          <p:nvPr/>
        </p:nvSpPr>
        <p:spPr bwMode="auto">
          <a:xfrm>
            <a:off x="2209801" y="3763963"/>
            <a:ext cx="7199313" cy="2308324"/>
          </a:xfrm>
          <a:prstGeom prst="rect">
            <a:avLst/>
          </a:prstGeom>
          <a:noFill/>
          <a:ln>
            <a:noFill/>
          </a:ln>
          <a:effectLst/>
        </p:spPr>
        <p:txBody>
          <a:bodyPr>
            <a:spAutoFit/>
          </a:bodyPr>
          <a:lstStyle/>
          <a:p>
            <a:pPr eaLnBrk="1" hangingPunct="1">
              <a:lnSpc>
                <a:spcPct val="110000"/>
              </a:lnSpc>
              <a:spcBef>
                <a:spcPct val="50000"/>
              </a:spcBef>
              <a:buClr>
                <a:schemeClr val="tx1"/>
              </a:buClr>
              <a:buSzPct val="80000"/>
              <a:buFont typeface="Wingdings" pitchFamily="2" charset="2"/>
              <a:buNone/>
              <a:defRPr/>
            </a:pPr>
            <a:r>
              <a:rPr kumimoji="1" lang="zh-CN" altLang="en-US" sz="2400" dirty="0">
                <a:solidFill>
                  <a:srgbClr val="0000FF"/>
                </a:solidFill>
                <a:effectLst>
                  <a:outerShdw blurRad="38100" dist="38100" dir="2700000" algn="tl">
                    <a:srgbClr val="C0C0C0"/>
                  </a:outerShdw>
                </a:effectLst>
                <a:latin typeface="Verdana" pitchFamily="34" charset="0"/>
              </a:rPr>
              <a:t>例：</a:t>
            </a:r>
            <a:r>
              <a:rPr kumimoji="1" lang="zh-CN" altLang="en-US" sz="2400" dirty="0">
                <a:effectLst>
                  <a:outerShdw blurRad="38100" dist="38100" dir="2700000" algn="tl">
                    <a:srgbClr val="C0C0C0"/>
                  </a:outerShdw>
                </a:effectLst>
                <a:latin typeface="Verdana" pitchFamily="34" charset="0"/>
              </a:rPr>
              <a:t>对</a:t>
            </a:r>
            <a:r>
              <a:rPr kumimoji="1" lang="en-US" altLang="zh-CN" sz="2400" dirty="0">
                <a:effectLst>
                  <a:outerShdw blurRad="38100" dist="38100" dir="2700000" algn="tl">
                    <a:srgbClr val="C0C0C0"/>
                  </a:outerShdw>
                </a:effectLst>
                <a:latin typeface="Verdana" pitchFamily="34" charset="0"/>
              </a:rPr>
              <a:t>0010</a:t>
            </a:r>
            <a:r>
              <a:rPr kumimoji="1" lang="zh-CN" altLang="en-US" sz="2400" dirty="0">
                <a:effectLst>
                  <a:outerShdw blurRad="38100" dist="38100" dir="2700000" algn="tl">
                    <a:srgbClr val="C0C0C0"/>
                  </a:outerShdw>
                </a:effectLst>
                <a:latin typeface="Verdana" pitchFamily="34" charset="0"/>
              </a:rPr>
              <a:t>求汉明码。                  </a:t>
            </a:r>
            <a:endParaRPr kumimoji="1" lang="en-US" altLang="zh-CN" sz="2400" dirty="0">
              <a:effectLst>
                <a:outerShdw blurRad="38100" dist="38100" dir="2700000" algn="tl">
                  <a:srgbClr val="C0C0C0"/>
                </a:outerShdw>
              </a:effectLst>
              <a:latin typeface="Verdana" pitchFamily="34" charset="0"/>
            </a:endParaRPr>
          </a:p>
          <a:p>
            <a:pPr eaLnBrk="1" hangingPunct="1">
              <a:lnSpc>
                <a:spcPct val="110000"/>
              </a:lnSpc>
              <a:spcBef>
                <a:spcPct val="50000"/>
              </a:spcBef>
              <a:buClr>
                <a:schemeClr val="tx1"/>
              </a:buClr>
              <a:buSzPct val="80000"/>
              <a:buFont typeface="Wingdings" pitchFamily="2" charset="2"/>
              <a:buNone/>
              <a:defRPr/>
            </a:pPr>
            <a:r>
              <a:rPr kumimoji="1" lang="zh-CN" altLang="en-US" sz="2400" dirty="0">
                <a:effectLst>
                  <a:outerShdw blurRad="38100" dist="38100" dir="2700000" algn="tl">
                    <a:srgbClr val="C0C0C0"/>
                  </a:outerShdw>
                </a:effectLst>
                <a:latin typeface="Verdana" pitchFamily="34" charset="0"/>
              </a:rPr>
              <a:t>解：</a:t>
            </a:r>
            <a:r>
              <a:rPr kumimoji="1" lang="en-US" altLang="zh-CN" sz="2400" dirty="0">
                <a:latin typeface="Verdana" pitchFamily="34" charset="0"/>
              </a:rPr>
              <a:t>m</a:t>
            </a:r>
            <a:r>
              <a:rPr kumimoji="1" lang="en-US" altLang="zh-CN" sz="2400" baseline="-30000" dirty="0">
                <a:latin typeface="Verdana" pitchFamily="34" charset="0"/>
              </a:rPr>
              <a:t>3 </a:t>
            </a:r>
            <a:r>
              <a:rPr kumimoji="1" lang="en-US" altLang="zh-CN" sz="2400" dirty="0">
                <a:latin typeface="Verdana" pitchFamily="34" charset="0"/>
              </a:rPr>
              <a:t>m</a:t>
            </a:r>
            <a:r>
              <a:rPr kumimoji="1" lang="en-US" altLang="zh-CN" sz="2400" baseline="-30000" dirty="0">
                <a:latin typeface="Verdana" pitchFamily="34" charset="0"/>
              </a:rPr>
              <a:t>5 </a:t>
            </a:r>
            <a:r>
              <a:rPr kumimoji="1" lang="en-US" altLang="zh-CN" sz="2400" dirty="0">
                <a:latin typeface="Verdana" pitchFamily="34" charset="0"/>
              </a:rPr>
              <a:t>m</a:t>
            </a:r>
            <a:r>
              <a:rPr kumimoji="1" lang="en-US" altLang="zh-CN" sz="2400" baseline="-30000" dirty="0">
                <a:latin typeface="Verdana" pitchFamily="34" charset="0"/>
              </a:rPr>
              <a:t>6 </a:t>
            </a:r>
            <a:r>
              <a:rPr kumimoji="1" lang="en-US" altLang="zh-CN" sz="2400" dirty="0">
                <a:latin typeface="Verdana" pitchFamily="34" charset="0"/>
              </a:rPr>
              <a:t>m</a:t>
            </a:r>
            <a:r>
              <a:rPr kumimoji="1" lang="en-US" altLang="zh-CN" sz="2400" baseline="-30000" dirty="0">
                <a:latin typeface="Verdana" pitchFamily="34" charset="0"/>
              </a:rPr>
              <a:t>7 </a:t>
            </a:r>
            <a:endParaRPr kumimoji="1" lang="en-US" altLang="zh-CN" sz="2400" dirty="0">
              <a:effectLst>
                <a:outerShdw blurRad="38100" dist="38100" dir="2700000" algn="tl">
                  <a:srgbClr val="C0C0C0"/>
                </a:outerShdw>
              </a:effectLst>
              <a:latin typeface="Verdana" pitchFamily="34" charset="0"/>
            </a:endParaRPr>
          </a:p>
          <a:p>
            <a:pPr eaLnBrk="1" hangingPunct="1">
              <a:lnSpc>
                <a:spcPct val="110000"/>
              </a:lnSpc>
              <a:defRPr/>
            </a:pPr>
            <a:r>
              <a:rPr kumimoji="1" lang="en-US" altLang="zh-CN" sz="2400" dirty="0">
                <a:latin typeface="Verdana" pitchFamily="34" charset="0"/>
              </a:rPr>
              <a:t>      0   0    1   0</a:t>
            </a:r>
            <a:endParaRPr kumimoji="1" lang="en-US" altLang="zh-CN" sz="2400" dirty="0">
              <a:effectLst>
                <a:outerShdw blurRad="38100" dist="38100" dir="2700000" algn="tl">
                  <a:srgbClr val="C0C0C0"/>
                </a:outerShdw>
              </a:effectLst>
              <a:latin typeface="Verdana" pitchFamily="34" charset="0"/>
            </a:endParaRPr>
          </a:p>
          <a:p>
            <a:pPr eaLnBrk="1" hangingPunct="1">
              <a:lnSpc>
                <a:spcPct val="110000"/>
              </a:lnSpc>
              <a:defRPr/>
            </a:pPr>
            <a:r>
              <a:rPr kumimoji="1" lang="en-US" altLang="zh-CN" sz="2400" dirty="0">
                <a:effectLst>
                  <a:outerShdw blurRad="38100" dist="38100" dir="2700000" algn="tl">
                    <a:srgbClr val="C0C0C0"/>
                  </a:outerShdw>
                </a:effectLst>
                <a:latin typeface="Verdana" pitchFamily="34" charset="0"/>
              </a:rPr>
              <a:t>    </a:t>
            </a:r>
            <a:r>
              <a:rPr kumimoji="1" lang="en-US" altLang="zh-CN" sz="2400" dirty="0">
                <a:latin typeface="Verdana" pitchFamily="34" charset="0"/>
              </a:rPr>
              <a:t>r</a:t>
            </a:r>
            <a:r>
              <a:rPr kumimoji="1" lang="en-US" altLang="zh-CN" sz="2400" baseline="-30000" dirty="0">
                <a:latin typeface="Verdana" pitchFamily="34" charset="0"/>
              </a:rPr>
              <a:t>1 </a:t>
            </a:r>
            <a:r>
              <a:rPr kumimoji="1" lang="en-US" altLang="zh-CN" sz="2400" dirty="0">
                <a:latin typeface="Verdana" pitchFamily="34" charset="0"/>
              </a:rPr>
              <a:t>r</a:t>
            </a:r>
            <a:r>
              <a:rPr kumimoji="1" lang="en-US" altLang="zh-CN" sz="2400" baseline="-30000" dirty="0">
                <a:latin typeface="Verdana" pitchFamily="34" charset="0"/>
              </a:rPr>
              <a:t>2 </a:t>
            </a:r>
            <a:r>
              <a:rPr kumimoji="1" lang="en-US" altLang="zh-CN" sz="2400" dirty="0">
                <a:latin typeface="Verdana" pitchFamily="34" charset="0"/>
              </a:rPr>
              <a:t>m</a:t>
            </a:r>
            <a:r>
              <a:rPr kumimoji="1" lang="en-US" altLang="zh-CN" sz="2400" baseline="-30000" dirty="0">
                <a:latin typeface="Verdana" pitchFamily="34" charset="0"/>
              </a:rPr>
              <a:t>3 </a:t>
            </a:r>
            <a:r>
              <a:rPr kumimoji="1" lang="en-US" altLang="zh-CN" sz="2400" dirty="0">
                <a:latin typeface="Verdana" pitchFamily="34" charset="0"/>
              </a:rPr>
              <a:t>r</a:t>
            </a:r>
            <a:r>
              <a:rPr kumimoji="1" lang="en-US" altLang="zh-CN" sz="2400" baseline="-30000" dirty="0">
                <a:latin typeface="Verdana" pitchFamily="34" charset="0"/>
              </a:rPr>
              <a:t>4 </a:t>
            </a:r>
            <a:r>
              <a:rPr kumimoji="1" lang="en-US" altLang="zh-CN" sz="2400" dirty="0">
                <a:latin typeface="Verdana" pitchFamily="34" charset="0"/>
              </a:rPr>
              <a:t>m</a:t>
            </a:r>
            <a:r>
              <a:rPr kumimoji="1" lang="en-US" altLang="zh-CN" sz="2400" baseline="-30000" dirty="0">
                <a:latin typeface="Verdana" pitchFamily="34" charset="0"/>
              </a:rPr>
              <a:t>5 </a:t>
            </a:r>
            <a:r>
              <a:rPr kumimoji="1" lang="en-US" altLang="zh-CN" sz="2400" dirty="0">
                <a:latin typeface="Verdana" pitchFamily="34" charset="0"/>
              </a:rPr>
              <a:t>m</a:t>
            </a:r>
            <a:r>
              <a:rPr kumimoji="1" lang="en-US" altLang="zh-CN" sz="2400" baseline="-30000" dirty="0">
                <a:latin typeface="Verdana" pitchFamily="34" charset="0"/>
              </a:rPr>
              <a:t>6 </a:t>
            </a:r>
            <a:r>
              <a:rPr kumimoji="1" lang="en-US" altLang="zh-CN" sz="2400" dirty="0">
                <a:latin typeface="Verdana" pitchFamily="34" charset="0"/>
              </a:rPr>
              <a:t>m</a:t>
            </a:r>
            <a:r>
              <a:rPr kumimoji="1" lang="en-US" altLang="zh-CN" sz="2400" baseline="-30000" dirty="0">
                <a:latin typeface="Verdana" pitchFamily="34" charset="0"/>
              </a:rPr>
              <a:t>7 </a:t>
            </a:r>
            <a:endParaRPr kumimoji="1" lang="en-US" altLang="zh-CN" sz="2400" dirty="0">
              <a:effectLst>
                <a:outerShdw blurRad="38100" dist="38100" dir="2700000" algn="tl">
                  <a:srgbClr val="C0C0C0"/>
                </a:outerShdw>
              </a:effectLst>
              <a:latin typeface="Verdana" pitchFamily="34" charset="0"/>
            </a:endParaRPr>
          </a:p>
          <a:p>
            <a:pPr eaLnBrk="1" hangingPunct="1">
              <a:lnSpc>
                <a:spcPct val="110000"/>
              </a:lnSpc>
              <a:defRPr/>
            </a:pPr>
            <a:r>
              <a:rPr kumimoji="1" lang="en-US" altLang="zh-CN" sz="2400" dirty="0">
                <a:latin typeface="Verdana" pitchFamily="34" charset="0"/>
              </a:rPr>
              <a:t>    0  1  0  1  0   1   0</a:t>
            </a:r>
          </a:p>
        </p:txBody>
      </p:sp>
      <p:sp>
        <p:nvSpPr>
          <p:cNvPr id="2" name="文本框 1"/>
          <p:cNvSpPr txBox="1"/>
          <p:nvPr/>
        </p:nvSpPr>
        <p:spPr>
          <a:xfrm>
            <a:off x="3143673" y="836712"/>
            <a:ext cx="2749471" cy="400110"/>
          </a:xfrm>
          <a:prstGeom prst="rect">
            <a:avLst/>
          </a:prstGeom>
          <a:noFill/>
        </p:spPr>
        <p:txBody>
          <a:bodyPr wrap="none" rtlCol="0">
            <a:spAutoFit/>
          </a:bodyPr>
          <a:lstStyle/>
          <a:p>
            <a:r>
              <a:rPr lang="zh-CN" altLang="en-US" dirty="0">
                <a:solidFill>
                  <a:srgbClr val="FF0000"/>
                </a:solidFill>
              </a:rPr>
              <a:t>（下标的二进制表达）</a:t>
            </a:r>
            <a:endParaRPr lang="en-US" dirty="0">
              <a:solidFill>
                <a:srgbClr val="FF0000"/>
              </a:solidFill>
            </a:endParaRPr>
          </a:p>
        </p:txBody>
      </p:sp>
      <p:sp>
        <p:nvSpPr>
          <p:cNvPr id="4" name="矩形 3"/>
          <p:cNvSpPr/>
          <p:nvPr/>
        </p:nvSpPr>
        <p:spPr>
          <a:xfrm>
            <a:off x="3060005" y="6052463"/>
            <a:ext cx="954107" cy="405688"/>
          </a:xfrm>
          <a:prstGeom prst="rect">
            <a:avLst/>
          </a:prstGeom>
        </p:spPr>
        <p:txBody>
          <a:bodyPr wrap="none">
            <a:spAutoFit/>
          </a:bodyPr>
          <a:lstStyle/>
          <a:p>
            <a:pPr eaLnBrk="1" hangingPunct="1">
              <a:lnSpc>
                <a:spcPct val="110000"/>
              </a:lnSpc>
              <a:spcBef>
                <a:spcPct val="50000"/>
              </a:spcBef>
              <a:buClr>
                <a:schemeClr val="tx1"/>
              </a:buClr>
              <a:buSzPct val="80000"/>
              <a:buFont typeface="Wingdings" pitchFamily="2" charset="2"/>
              <a:buNone/>
              <a:defRPr/>
            </a:pPr>
            <a:r>
              <a:rPr kumimoji="1" lang="zh-CN" altLang="en-US" dirty="0">
                <a:solidFill>
                  <a:srgbClr val="FF3300"/>
                </a:solidFill>
                <a:effectLst>
                  <a:outerShdw blurRad="38100" dist="38100" dir="2700000" algn="tl">
                    <a:srgbClr val="C0C0C0"/>
                  </a:outerShdw>
                </a:effectLst>
                <a:latin typeface="Verdana" pitchFamily="34" charset="0"/>
              </a:rPr>
              <a:t>偶校验</a:t>
            </a:r>
          </a:p>
        </p:txBody>
      </p:sp>
    </p:spTree>
  </p:cSld>
  <p:clrMapOvr>
    <a:masterClrMapping/>
  </p:clrMapOvr>
  <p:transition>
    <p:random/>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Computer Network</a:t>
            </a:r>
          </a:p>
        </p:txBody>
      </p:sp>
      <p:sp>
        <p:nvSpPr>
          <p:cNvPr id="5" name="灯片编号占位符 4"/>
          <p:cNvSpPr>
            <a:spLocks noGrp="1"/>
          </p:cNvSpPr>
          <p:nvPr>
            <p:ph type="sldNum" sz="quarter" idx="11"/>
          </p:nvPr>
        </p:nvSpPr>
        <p:spPr/>
        <p:txBody>
          <a:bodyPr/>
          <a:lstStyle/>
          <a:p>
            <a:pPr>
              <a:defRPr/>
            </a:pPr>
            <a:fld id="{8ADB66EE-6F9B-4BDF-8D47-5965EC809606}" type="slidenum">
              <a:rPr lang="en-US" altLang="zh-CN" smtClean="0"/>
              <a:pPr>
                <a:defRPr/>
              </a:pPr>
              <a:t>59</a:t>
            </a:fld>
            <a:endParaRPr lang="en-US" altLang="zh-CN"/>
          </a:p>
        </p:txBody>
      </p:sp>
      <p:sp>
        <p:nvSpPr>
          <p:cNvPr id="6" name="日期占位符 5"/>
          <p:cNvSpPr>
            <a:spLocks noGrp="1"/>
          </p:cNvSpPr>
          <p:nvPr>
            <p:ph type="dt" sz="half" idx="12"/>
          </p:nvPr>
        </p:nvSpPr>
        <p:spPr/>
        <p:txBody>
          <a:bodyPr/>
          <a:lstStyle/>
          <a:p>
            <a:pPr>
              <a:defRPr/>
            </a:pPr>
            <a:fld id="{9F3F7983-BD93-4701-BA16-3BC805069EE1}" type="datetime1">
              <a:rPr lang="zh-CN" altLang="en-US" smtClean="0"/>
              <a:pPr>
                <a:defRPr/>
              </a:pPr>
              <a:t>2024/10/18</a:t>
            </a:fld>
            <a:endParaRPr lang="en-US" altLang="zh-CN"/>
          </a:p>
        </p:txBody>
      </p:sp>
      <p:pic>
        <p:nvPicPr>
          <p:cNvPr id="8" name="图片 7"/>
          <p:cNvPicPr>
            <a:picLocks noChangeAspect="1"/>
          </p:cNvPicPr>
          <p:nvPr/>
        </p:nvPicPr>
        <p:blipFill rotWithShape="1">
          <a:blip r:embed="rId2"/>
          <a:srcRect l="2750"/>
          <a:stretch/>
        </p:blipFill>
        <p:spPr>
          <a:xfrm>
            <a:off x="2999656" y="1"/>
            <a:ext cx="6029745" cy="3545561"/>
          </a:xfrm>
          <a:prstGeom prst="rect">
            <a:avLst/>
          </a:prstGeom>
        </p:spPr>
      </p:pic>
      <p:pic>
        <p:nvPicPr>
          <p:cNvPr id="9" name="图片 8"/>
          <p:cNvPicPr>
            <a:picLocks noChangeAspect="1"/>
          </p:cNvPicPr>
          <p:nvPr/>
        </p:nvPicPr>
        <p:blipFill>
          <a:blip r:embed="rId3"/>
          <a:stretch>
            <a:fillRect/>
          </a:stretch>
        </p:blipFill>
        <p:spPr>
          <a:xfrm>
            <a:off x="2876573" y="3356993"/>
            <a:ext cx="6313888" cy="3438763"/>
          </a:xfrm>
          <a:prstGeom prst="rect">
            <a:avLst/>
          </a:prstGeom>
        </p:spPr>
      </p:pic>
    </p:spTree>
    <p:extLst>
      <p:ext uri="{BB962C8B-B14F-4D97-AF65-F5344CB8AC3E}">
        <p14:creationId xmlns:p14="http://schemas.microsoft.com/office/powerpoint/2010/main" val="3005020057"/>
      </p:ext>
    </p:extLst>
  </p:cSld>
  <p:clrMapOvr>
    <a:masterClrMapping/>
  </p:clrMapOvr>
  <p:transition spd="slow">
    <p:pull dir="ru"/>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典型纠错码</a:t>
            </a:r>
            <a:r>
              <a:rPr kumimoji="1" lang="en-US" altLang="zh-CN" sz="3200" dirty="0"/>
              <a:t>—</a:t>
            </a:r>
            <a:r>
              <a:rPr kumimoji="1" lang="zh-CN" altLang="en-US" sz="3200" dirty="0">
                <a:solidFill>
                  <a:schemeClr val="accent1">
                    <a:lumMod val="75000"/>
                  </a:schemeClr>
                </a:solidFill>
              </a:rPr>
              <a:t>海明码</a:t>
            </a:r>
          </a:p>
        </p:txBody>
      </p:sp>
      <p:sp>
        <p:nvSpPr>
          <p:cNvPr id="3" name="内容占位符 2"/>
          <p:cNvSpPr>
            <a:spLocks noGrp="1"/>
          </p:cNvSpPr>
          <p:nvPr>
            <p:ph idx="1"/>
          </p:nvPr>
        </p:nvSpPr>
        <p:spPr>
          <a:xfrm>
            <a:off x="838200" y="1292340"/>
            <a:ext cx="10515600" cy="1562825"/>
          </a:xfrm>
        </p:spPr>
        <p:txBody>
          <a:bodyPr>
            <a:noAutofit/>
          </a:bodyPr>
          <a:lstStyle/>
          <a:p>
            <a:pPr>
              <a:lnSpc>
                <a:spcPct val="150000"/>
              </a:lnSpc>
            </a:pPr>
            <a:r>
              <a:rPr kumimoji="1" lang="zh-CN" altLang="en-US" sz="2600" dirty="0"/>
              <a:t>码字的发送与接收</a:t>
            </a:r>
            <a:endParaRPr kumimoji="1" lang="en-US" altLang="zh-CN" sz="2600" dirty="0"/>
          </a:p>
          <a:p>
            <a:pPr lvl="1">
              <a:lnSpc>
                <a:spcPct val="150000"/>
              </a:lnSpc>
            </a:pPr>
            <a:r>
              <a:rPr kumimoji="1" lang="zh-CN" altLang="en-US" sz="2200" dirty="0"/>
              <a:t>如果发送过程中第</a:t>
            </a:r>
            <a:r>
              <a:rPr kumimoji="1" lang="en-US" altLang="zh-CN" sz="2200" dirty="0"/>
              <a:t>7</a:t>
            </a:r>
            <a:r>
              <a:rPr kumimoji="1" lang="zh-CN" altLang="en-US" sz="2200" dirty="0"/>
              <a:t>位出现差错，如何定位错误？</a:t>
            </a:r>
            <a:endParaRPr kumimoji="1" lang="en-US" altLang="zh-CN" sz="2200" dirty="0"/>
          </a:p>
        </p:txBody>
      </p:sp>
      <p:sp>
        <p:nvSpPr>
          <p:cNvPr id="4" name="幻灯片编号占位符 3"/>
          <p:cNvSpPr>
            <a:spLocks noGrp="1"/>
          </p:cNvSpPr>
          <p:nvPr>
            <p:ph type="sldNum" sz="quarter" idx="12"/>
          </p:nvPr>
        </p:nvSpPr>
        <p:spPr/>
        <p:txBody>
          <a:bodyPr/>
          <a:lstStyle/>
          <a:p>
            <a:fld id="{8D4D1E41-7A09-AB4A-A4E1-09765ADA2698}" type="slidenum">
              <a:rPr kumimoji="1" lang="zh-CN" altLang="en-US" smtClean="0"/>
              <a:t>60</a:t>
            </a:fld>
            <a:endParaRPr kumimoji="1" lang="zh-CN" altLang="en-US" dirty="0"/>
          </a:p>
        </p:txBody>
      </p:sp>
      <p:sp>
        <p:nvSpPr>
          <p:cNvPr id="5" name="文本框 4">
            <a:extLst>
              <a:ext uri="{FF2B5EF4-FFF2-40B4-BE49-F238E27FC236}">
                <a16:creationId xmlns:a16="http://schemas.microsoft.com/office/drawing/2014/main" id="{082CC463-A981-4E7E-8F03-FAA795786BD7}"/>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3.2 </a:t>
            </a:r>
            <a:r>
              <a:rPr lang="zh-CN" altLang="en-US" dirty="0">
                <a:solidFill>
                  <a:schemeClr val="bg1">
                    <a:lumMod val="65000"/>
                  </a:schemeClr>
                </a:solidFill>
                <a:latin typeface="微软雅黑" panose="020B0503020204020204" pitchFamily="34" charset="-122"/>
                <a:ea typeface="微软雅黑" panose="020B0503020204020204" pitchFamily="34" charset="-122"/>
              </a:rPr>
              <a:t>差错检测和纠正</a:t>
            </a:r>
          </a:p>
        </p:txBody>
      </p:sp>
      <p:graphicFrame>
        <p:nvGraphicFramePr>
          <p:cNvPr id="124" name="表格 123"/>
          <p:cNvGraphicFramePr>
            <a:graphicFrameLocks noGrp="1"/>
          </p:cNvGraphicFramePr>
          <p:nvPr/>
        </p:nvGraphicFramePr>
        <p:xfrm>
          <a:off x="1491651" y="3407613"/>
          <a:ext cx="460029" cy="1218177"/>
        </p:xfrm>
        <a:graphic>
          <a:graphicData uri="http://schemas.openxmlformats.org/drawingml/2006/table">
            <a:tbl>
              <a:tblPr firstRow="1" bandRow="1">
                <a:tableStyleId>{5C22544A-7EE6-4342-B048-85BDC9FD1C3A}</a:tableStyleId>
              </a:tblPr>
              <a:tblGrid>
                <a:gridCol w="460029">
                  <a:extLst>
                    <a:ext uri="{9D8B030D-6E8A-4147-A177-3AD203B41FA5}">
                      <a16:colId xmlns:a16="http://schemas.microsoft.com/office/drawing/2014/main" val="2136314205"/>
                    </a:ext>
                  </a:extLst>
                </a:gridCol>
              </a:tblGrid>
              <a:tr h="406059">
                <a:tc>
                  <a:txBody>
                    <a:bodyPr/>
                    <a:lstStyle/>
                    <a:p>
                      <a:pPr marL="0" algn="ctr" defTabSz="914400" rtl="0" eaLnBrk="1" latinLnBrk="0" hangingPunct="1"/>
                      <a:r>
                        <a:rPr lang="en-US" altLang="zh-CN" sz="1800" b="1" kern="1200" dirty="0">
                          <a:solidFill>
                            <a:srgbClr val="C00000"/>
                          </a:solidFill>
                          <a:latin typeface="微软雅黑" panose="020B0503020204020204" pitchFamily="34" charset="-122"/>
                          <a:ea typeface="微软雅黑" panose="020B0503020204020204" pitchFamily="34" charset="-122"/>
                          <a:cs typeface="+mn-cs"/>
                        </a:rPr>
                        <a:t>1</a:t>
                      </a:r>
                      <a:endParaRPr lang="zh-CN" altLang="en-US" sz="1800" b="1" kern="1200" dirty="0">
                        <a:solidFill>
                          <a:srgbClr val="C00000"/>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7789111"/>
                  </a:ext>
                </a:extLst>
              </a:tr>
              <a:tr h="406059">
                <a:tc>
                  <a:txBody>
                    <a:bodyPr/>
                    <a:lstStyle/>
                    <a:p>
                      <a:pPr marL="0" algn="ctr" defTabSz="914400" rtl="0" eaLnBrk="1" latinLnBrk="0" hangingPunct="1"/>
                      <a:r>
                        <a:rPr lang="en-US" altLang="zh-CN" sz="1800" b="1" kern="1200" dirty="0">
                          <a:solidFill>
                            <a:srgbClr val="C00000"/>
                          </a:solidFill>
                          <a:latin typeface="微软雅黑" panose="020B0503020204020204" pitchFamily="34" charset="-122"/>
                          <a:ea typeface="微软雅黑" panose="020B0503020204020204" pitchFamily="34" charset="-122"/>
                          <a:cs typeface="+mn-cs"/>
                        </a:rPr>
                        <a:t>0</a:t>
                      </a:r>
                      <a:endParaRPr lang="zh-CN" altLang="en-US" sz="1800" b="1" kern="1200" dirty="0">
                        <a:solidFill>
                          <a:srgbClr val="C00000"/>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236322729"/>
                  </a:ext>
                </a:extLst>
              </a:tr>
              <a:tr h="406059">
                <a:tc>
                  <a:txBody>
                    <a:bodyPr/>
                    <a:lstStyle/>
                    <a:p>
                      <a:pPr marL="0" algn="ctr" defTabSz="914400" rtl="0" eaLnBrk="1" latinLnBrk="0" hangingPunct="1"/>
                      <a:r>
                        <a:rPr lang="en-US" altLang="zh-CN" sz="1800" b="0" kern="1200" dirty="0">
                          <a:solidFill>
                            <a:schemeClr val="tx1"/>
                          </a:solidFill>
                          <a:latin typeface="微软雅黑" panose="020B0503020204020204" pitchFamily="34" charset="-122"/>
                          <a:ea typeface="微软雅黑" panose="020B0503020204020204" pitchFamily="34" charset="-122"/>
                          <a:cs typeface="+mn-cs"/>
                        </a:rPr>
                        <a:t>1</a:t>
                      </a:r>
                      <a:endParaRPr lang="zh-CN" altLang="en-US" sz="1800" b="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5908191"/>
                  </a:ext>
                </a:extLst>
              </a:tr>
            </a:tbl>
          </a:graphicData>
        </a:graphic>
      </p:graphicFrame>
      <p:graphicFrame>
        <p:nvGraphicFramePr>
          <p:cNvPr id="126" name="表格 125"/>
          <p:cNvGraphicFramePr>
            <a:graphicFrameLocks noGrp="1"/>
          </p:cNvGraphicFramePr>
          <p:nvPr/>
        </p:nvGraphicFramePr>
        <p:xfrm>
          <a:off x="1951680" y="2995844"/>
          <a:ext cx="1426536" cy="1630128"/>
        </p:xfrm>
        <a:graphic>
          <a:graphicData uri="http://schemas.openxmlformats.org/drawingml/2006/table">
            <a:tbl>
              <a:tblPr firstRow="1" bandRow="1">
                <a:tableStyleId>{5C22544A-7EE6-4342-B048-85BDC9FD1C3A}</a:tableStyleId>
              </a:tblPr>
              <a:tblGrid>
                <a:gridCol w="475512">
                  <a:extLst>
                    <a:ext uri="{9D8B030D-6E8A-4147-A177-3AD203B41FA5}">
                      <a16:colId xmlns:a16="http://schemas.microsoft.com/office/drawing/2014/main" val="1559130576"/>
                    </a:ext>
                  </a:extLst>
                </a:gridCol>
                <a:gridCol w="475512">
                  <a:extLst>
                    <a:ext uri="{9D8B030D-6E8A-4147-A177-3AD203B41FA5}">
                      <a16:colId xmlns:a16="http://schemas.microsoft.com/office/drawing/2014/main" val="3004369747"/>
                    </a:ext>
                  </a:extLst>
                </a:gridCol>
                <a:gridCol w="475512">
                  <a:extLst>
                    <a:ext uri="{9D8B030D-6E8A-4147-A177-3AD203B41FA5}">
                      <a16:colId xmlns:a16="http://schemas.microsoft.com/office/drawing/2014/main" val="4047528689"/>
                    </a:ext>
                  </a:extLst>
                </a:gridCol>
              </a:tblGrid>
              <a:tr h="407532">
                <a:tc>
                  <a:txBody>
                    <a:bodyPr/>
                    <a:lstStyle/>
                    <a:p>
                      <a:pPr algn="ctr"/>
                      <a:r>
                        <a:rPr lang="en-US" altLang="zh-CN" b="1" dirty="0">
                          <a:solidFill>
                            <a:srgbClr val="C00000"/>
                          </a:solidFill>
                          <a:latin typeface="微软雅黑" panose="020B0503020204020204" pitchFamily="34" charset="-122"/>
                          <a:ea typeface="微软雅黑" panose="020B0503020204020204" pitchFamily="34" charset="-122"/>
                        </a:rPr>
                        <a:t>1</a:t>
                      </a:r>
                      <a:endParaRPr lang="zh-CN" altLang="en-US" b="1" dirty="0">
                        <a:solidFill>
                          <a:srgbClr val="C00000"/>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altLang="zh-CN" b="1" dirty="0">
                          <a:solidFill>
                            <a:srgbClr val="C00000"/>
                          </a:solidFill>
                          <a:latin typeface="微软雅黑" panose="020B0503020204020204" pitchFamily="34" charset="-122"/>
                          <a:ea typeface="微软雅黑" panose="020B0503020204020204" pitchFamily="34" charset="-122"/>
                        </a:rPr>
                        <a:t>0</a:t>
                      </a:r>
                      <a:endParaRPr lang="zh-CN" altLang="en-US" b="1" dirty="0">
                        <a:solidFill>
                          <a:srgbClr val="C00000"/>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5657000"/>
                  </a:ext>
                </a:extLst>
              </a:tr>
              <a:tr h="407532">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6922387"/>
                  </a:ext>
                </a:extLst>
              </a:tr>
              <a:tr h="407532">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4031242"/>
                  </a:ext>
                </a:extLst>
              </a:tr>
              <a:tr h="407532">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11962773"/>
                  </a:ext>
                </a:extLst>
              </a:tr>
            </a:tbl>
          </a:graphicData>
        </a:graphic>
      </p:graphicFrame>
      <p:sp>
        <p:nvSpPr>
          <p:cNvPr id="127" name="文本框 126"/>
          <p:cNvSpPr txBox="1"/>
          <p:nvPr/>
        </p:nvSpPr>
        <p:spPr>
          <a:xfrm>
            <a:off x="2180762" y="3245127"/>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28" name="文本框 127"/>
          <p:cNvSpPr txBox="1"/>
          <p:nvPr/>
        </p:nvSpPr>
        <p:spPr>
          <a:xfrm>
            <a:off x="2667096" y="3234608"/>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2</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37" name="文本框 136"/>
          <p:cNvSpPr txBox="1"/>
          <p:nvPr/>
        </p:nvSpPr>
        <p:spPr>
          <a:xfrm>
            <a:off x="3128099" y="3234607"/>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3</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43" name="文本框 142"/>
          <p:cNvSpPr txBox="1"/>
          <p:nvPr/>
        </p:nvSpPr>
        <p:spPr>
          <a:xfrm>
            <a:off x="1716326" y="3646608"/>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4</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46" name="文本框 145"/>
          <p:cNvSpPr txBox="1"/>
          <p:nvPr/>
        </p:nvSpPr>
        <p:spPr>
          <a:xfrm>
            <a:off x="2180761" y="3640927"/>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5</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52" name="文本框 151"/>
          <p:cNvSpPr txBox="1"/>
          <p:nvPr/>
        </p:nvSpPr>
        <p:spPr>
          <a:xfrm>
            <a:off x="2661719" y="3640927"/>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6</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53" name="文本框 152"/>
          <p:cNvSpPr txBox="1"/>
          <p:nvPr/>
        </p:nvSpPr>
        <p:spPr>
          <a:xfrm>
            <a:off x="3128099" y="3634576"/>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7</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54" name="文本框 153"/>
          <p:cNvSpPr txBox="1"/>
          <p:nvPr/>
        </p:nvSpPr>
        <p:spPr>
          <a:xfrm>
            <a:off x="1716326" y="4043076"/>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8</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55" name="文本框 154"/>
          <p:cNvSpPr txBox="1"/>
          <p:nvPr/>
        </p:nvSpPr>
        <p:spPr>
          <a:xfrm>
            <a:off x="2179207" y="4036710"/>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9</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56" name="文本框 155"/>
          <p:cNvSpPr txBox="1"/>
          <p:nvPr/>
        </p:nvSpPr>
        <p:spPr>
          <a:xfrm>
            <a:off x="2623619" y="4042884"/>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10</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57" name="文本框 156"/>
          <p:cNvSpPr txBox="1"/>
          <p:nvPr/>
        </p:nvSpPr>
        <p:spPr>
          <a:xfrm>
            <a:off x="3118250" y="4046235"/>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11</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58" name="文本框 157"/>
          <p:cNvSpPr txBox="1"/>
          <p:nvPr/>
        </p:nvSpPr>
        <p:spPr>
          <a:xfrm>
            <a:off x="1672320" y="4441566"/>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12</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59" name="文本框 158"/>
          <p:cNvSpPr txBox="1"/>
          <p:nvPr/>
        </p:nvSpPr>
        <p:spPr>
          <a:xfrm>
            <a:off x="2147901" y="4447923"/>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13</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60" name="文本框 159"/>
          <p:cNvSpPr txBox="1"/>
          <p:nvPr/>
        </p:nvSpPr>
        <p:spPr>
          <a:xfrm>
            <a:off x="2629969" y="4435312"/>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14</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61" name="文本框 160"/>
          <p:cNvSpPr txBox="1"/>
          <p:nvPr/>
        </p:nvSpPr>
        <p:spPr>
          <a:xfrm>
            <a:off x="3105550" y="4436694"/>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15</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62" name="矩形 161"/>
          <p:cNvSpPr/>
          <p:nvPr/>
        </p:nvSpPr>
        <p:spPr>
          <a:xfrm>
            <a:off x="1346975" y="5047848"/>
            <a:ext cx="225984" cy="228600"/>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3" name="文本框 162"/>
          <p:cNvSpPr txBox="1"/>
          <p:nvPr/>
        </p:nvSpPr>
        <p:spPr>
          <a:xfrm>
            <a:off x="1487837" y="4977482"/>
            <a:ext cx="955209" cy="369332"/>
          </a:xfrm>
          <a:prstGeom prst="rect">
            <a:avLst/>
          </a:prstGeom>
          <a:noFill/>
        </p:spPr>
        <p:txBody>
          <a:bodyPr wrap="square" rtlCol="0">
            <a:spAutoFit/>
          </a:bodyPr>
          <a:lstStyle/>
          <a:p>
            <a:pPr algn="ctr"/>
            <a:r>
              <a:rPr lang="zh-CN" altLang="en-US" dirty="0"/>
              <a:t>校验位</a:t>
            </a:r>
          </a:p>
        </p:txBody>
      </p:sp>
      <p:sp>
        <p:nvSpPr>
          <p:cNvPr id="164" name="矩形 163"/>
          <p:cNvSpPr/>
          <p:nvPr/>
        </p:nvSpPr>
        <p:spPr>
          <a:xfrm>
            <a:off x="2514720" y="5047848"/>
            <a:ext cx="225984" cy="2286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5" name="文本框 164"/>
          <p:cNvSpPr txBox="1"/>
          <p:nvPr/>
        </p:nvSpPr>
        <p:spPr>
          <a:xfrm>
            <a:off x="2667096" y="4977482"/>
            <a:ext cx="955209" cy="369332"/>
          </a:xfrm>
          <a:prstGeom prst="rect">
            <a:avLst/>
          </a:prstGeom>
          <a:noFill/>
        </p:spPr>
        <p:txBody>
          <a:bodyPr wrap="square" rtlCol="0">
            <a:spAutoFit/>
          </a:bodyPr>
          <a:lstStyle/>
          <a:p>
            <a:pPr algn="ctr"/>
            <a:r>
              <a:rPr lang="zh-CN" altLang="en-US" dirty="0"/>
              <a:t>数据位</a:t>
            </a:r>
          </a:p>
        </p:txBody>
      </p:sp>
      <p:sp>
        <p:nvSpPr>
          <p:cNvPr id="7" name="右箭头 6"/>
          <p:cNvSpPr/>
          <p:nvPr/>
        </p:nvSpPr>
        <p:spPr>
          <a:xfrm>
            <a:off x="3838245" y="3726863"/>
            <a:ext cx="3875964" cy="19745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3" name="矩形 182"/>
          <p:cNvSpPr/>
          <p:nvPr/>
        </p:nvSpPr>
        <p:spPr>
          <a:xfrm>
            <a:off x="8023133" y="5081505"/>
            <a:ext cx="225984" cy="228600"/>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4" name="文本框 183"/>
          <p:cNvSpPr txBox="1"/>
          <p:nvPr/>
        </p:nvSpPr>
        <p:spPr>
          <a:xfrm>
            <a:off x="8163995" y="5011139"/>
            <a:ext cx="955209" cy="369332"/>
          </a:xfrm>
          <a:prstGeom prst="rect">
            <a:avLst/>
          </a:prstGeom>
          <a:noFill/>
        </p:spPr>
        <p:txBody>
          <a:bodyPr wrap="square" rtlCol="0">
            <a:spAutoFit/>
          </a:bodyPr>
          <a:lstStyle/>
          <a:p>
            <a:pPr algn="ctr"/>
            <a:r>
              <a:rPr lang="zh-CN" altLang="en-US" dirty="0"/>
              <a:t>校验位</a:t>
            </a:r>
          </a:p>
        </p:txBody>
      </p:sp>
      <p:sp>
        <p:nvSpPr>
          <p:cNvPr id="185" name="矩形 184"/>
          <p:cNvSpPr/>
          <p:nvPr/>
        </p:nvSpPr>
        <p:spPr>
          <a:xfrm>
            <a:off x="9190878" y="5081505"/>
            <a:ext cx="225984" cy="2286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6" name="文本框 185"/>
          <p:cNvSpPr txBox="1"/>
          <p:nvPr/>
        </p:nvSpPr>
        <p:spPr>
          <a:xfrm>
            <a:off x="9343254" y="5011139"/>
            <a:ext cx="955209" cy="369332"/>
          </a:xfrm>
          <a:prstGeom prst="rect">
            <a:avLst/>
          </a:prstGeom>
          <a:noFill/>
        </p:spPr>
        <p:txBody>
          <a:bodyPr wrap="square" rtlCol="0">
            <a:spAutoFit/>
          </a:bodyPr>
          <a:lstStyle/>
          <a:p>
            <a:pPr algn="ctr"/>
            <a:r>
              <a:rPr lang="zh-CN" altLang="en-US" dirty="0"/>
              <a:t>数据位</a:t>
            </a:r>
          </a:p>
        </p:txBody>
      </p:sp>
      <p:sp>
        <p:nvSpPr>
          <p:cNvPr id="9" name="文本框 8"/>
          <p:cNvSpPr txBox="1"/>
          <p:nvPr/>
        </p:nvSpPr>
        <p:spPr>
          <a:xfrm>
            <a:off x="3838245" y="3245387"/>
            <a:ext cx="3763558" cy="461665"/>
          </a:xfrm>
          <a:prstGeom prst="rect">
            <a:avLst/>
          </a:prstGeom>
          <a:noFill/>
        </p:spPr>
        <p:txBody>
          <a:bodyPr wrap="square" rtlCol="0">
            <a:spAutoFit/>
          </a:bodyPr>
          <a:lstStyle/>
          <a:p>
            <a:pPr algn="ctr"/>
            <a:r>
              <a:rPr lang="en-US" altLang="zh-CN" sz="2400" dirty="0">
                <a:latin typeface="微软雅黑" panose="020B0503020204020204" pitchFamily="34" charset="-122"/>
                <a:ea typeface="微软雅黑" panose="020B0503020204020204" pitchFamily="34" charset="-122"/>
              </a:rPr>
              <a:t>101100111010001</a:t>
            </a:r>
            <a:endParaRPr lang="zh-CN" altLang="en-US" sz="2400" dirty="0">
              <a:latin typeface="微软雅黑" panose="020B0503020204020204" pitchFamily="34" charset="-122"/>
              <a:ea typeface="微软雅黑" panose="020B0503020204020204" pitchFamily="34" charset="-122"/>
            </a:endParaRPr>
          </a:p>
        </p:txBody>
      </p:sp>
      <p:graphicFrame>
        <p:nvGraphicFramePr>
          <p:cNvPr id="187" name="表格 186"/>
          <p:cNvGraphicFramePr>
            <a:graphicFrameLocks noGrp="1"/>
          </p:cNvGraphicFramePr>
          <p:nvPr/>
        </p:nvGraphicFramePr>
        <p:xfrm>
          <a:off x="8123454" y="3403001"/>
          <a:ext cx="460029" cy="1218177"/>
        </p:xfrm>
        <a:graphic>
          <a:graphicData uri="http://schemas.openxmlformats.org/drawingml/2006/table">
            <a:tbl>
              <a:tblPr firstRow="1" bandRow="1">
                <a:tableStyleId>{5C22544A-7EE6-4342-B048-85BDC9FD1C3A}</a:tableStyleId>
              </a:tblPr>
              <a:tblGrid>
                <a:gridCol w="460029">
                  <a:extLst>
                    <a:ext uri="{9D8B030D-6E8A-4147-A177-3AD203B41FA5}">
                      <a16:colId xmlns:a16="http://schemas.microsoft.com/office/drawing/2014/main" val="2136314205"/>
                    </a:ext>
                  </a:extLst>
                </a:gridCol>
              </a:tblGrid>
              <a:tr h="406059">
                <a:tc>
                  <a:txBody>
                    <a:bodyPr/>
                    <a:lstStyle/>
                    <a:p>
                      <a:pPr marL="0" algn="ctr" defTabSz="914400" rtl="0" eaLnBrk="1" latinLnBrk="0" hangingPunct="1"/>
                      <a:r>
                        <a:rPr lang="en-US" altLang="zh-CN" sz="1800" b="1" kern="1200" dirty="0">
                          <a:solidFill>
                            <a:srgbClr val="C00000"/>
                          </a:solidFill>
                          <a:latin typeface="微软雅黑" panose="020B0503020204020204" pitchFamily="34" charset="-122"/>
                          <a:ea typeface="微软雅黑" panose="020B0503020204020204" pitchFamily="34" charset="-122"/>
                          <a:cs typeface="+mn-cs"/>
                        </a:rPr>
                        <a:t>1</a:t>
                      </a:r>
                      <a:endParaRPr lang="zh-CN" altLang="en-US" sz="1800" b="1" kern="1200" dirty="0">
                        <a:solidFill>
                          <a:srgbClr val="C00000"/>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7789111"/>
                  </a:ext>
                </a:extLst>
              </a:tr>
              <a:tr h="406059">
                <a:tc>
                  <a:txBody>
                    <a:bodyPr/>
                    <a:lstStyle/>
                    <a:p>
                      <a:pPr marL="0" algn="ctr" defTabSz="914400" rtl="0" eaLnBrk="1" latinLnBrk="0" hangingPunct="1"/>
                      <a:r>
                        <a:rPr lang="en-US" altLang="zh-CN" sz="1800" b="1" kern="1200" dirty="0">
                          <a:solidFill>
                            <a:srgbClr val="C00000"/>
                          </a:solidFill>
                          <a:latin typeface="微软雅黑" panose="020B0503020204020204" pitchFamily="34" charset="-122"/>
                          <a:ea typeface="微软雅黑" panose="020B0503020204020204" pitchFamily="34" charset="-122"/>
                          <a:cs typeface="+mn-cs"/>
                        </a:rPr>
                        <a:t>0</a:t>
                      </a:r>
                      <a:endParaRPr lang="zh-CN" altLang="en-US" sz="1800" b="1" kern="1200" dirty="0">
                        <a:solidFill>
                          <a:srgbClr val="C00000"/>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236322729"/>
                  </a:ext>
                </a:extLst>
              </a:tr>
              <a:tr h="406059">
                <a:tc>
                  <a:txBody>
                    <a:bodyPr/>
                    <a:lstStyle/>
                    <a:p>
                      <a:pPr marL="0" algn="ctr" defTabSz="914400" rtl="0" eaLnBrk="1" latinLnBrk="0" hangingPunct="1"/>
                      <a:r>
                        <a:rPr lang="en-US" altLang="zh-CN" sz="1800" b="0" kern="1200" dirty="0">
                          <a:solidFill>
                            <a:schemeClr val="tx1"/>
                          </a:solidFill>
                          <a:latin typeface="微软雅黑" panose="020B0503020204020204" pitchFamily="34" charset="-122"/>
                          <a:ea typeface="微软雅黑" panose="020B0503020204020204" pitchFamily="34" charset="-122"/>
                          <a:cs typeface="+mn-cs"/>
                        </a:rPr>
                        <a:t>1</a:t>
                      </a:r>
                      <a:endParaRPr lang="zh-CN" altLang="en-US" sz="1800" b="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5908191"/>
                  </a:ext>
                </a:extLst>
              </a:tr>
            </a:tbl>
          </a:graphicData>
        </a:graphic>
      </p:graphicFrame>
      <p:graphicFrame>
        <p:nvGraphicFramePr>
          <p:cNvPr id="188" name="表格 187"/>
          <p:cNvGraphicFramePr>
            <a:graphicFrameLocks noGrp="1"/>
          </p:cNvGraphicFramePr>
          <p:nvPr/>
        </p:nvGraphicFramePr>
        <p:xfrm>
          <a:off x="8583483" y="2991232"/>
          <a:ext cx="1426536" cy="1630128"/>
        </p:xfrm>
        <a:graphic>
          <a:graphicData uri="http://schemas.openxmlformats.org/drawingml/2006/table">
            <a:tbl>
              <a:tblPr firstRow="1" bandRow="1">
                <a:tableStyleId>{5C22544A-7EE6-4342-B048-85BDC9FD1C3A}</a:tableStyleId>
              </a:tblPr>
              <a:tblGrid>
                <a:gridCol w="475512">
                  <a:extLst>
                    <a:ext uri="{9D8B030D-6E8A-4147-A177-3AD203B41FA5}">
                      <a16:colId xmlns:a16="http://schemas.microsoft.com/office/drawing/2014/main" val="1559130576"/>
                    </a:ext>
                  </a:extLst>
                </a:gridCol>
                <a:gridCol w="475512">
                  <a:extLst>
                    <a:ext uri="{9D8B030D-6E8A-4147-A177-3AD203B41FA5}">
                      <a16:colId xmlns:a16="http://schemas.microsoft.com/office/drawing/2014/main" val="3004369747"/>
                    </a:ext>
                  </a:extLst>
                </a:gridCol>
                <a:gridCol w="475512">
                  <a:extLst>
                    <a:ext uri="{9D8B030D-6E8A-4147-A177-3AD203B41FA5}">
                      <a16:colId xmlns:a16="http://schemas.microsoft.com/office/drawing/2014/main" val="4047528689"/>
                    </a:ext>
                  </a:extLst>
                </a:gridCol>
              </a:tblGrid>
              <a:tr h="407532">
                <a:tc>
                  <a:txBody>
                    <a:bodyPr/>
                    <a:lstStyle/>
                    <a:p>
                      <a:pPr algn="ctr"/>
                      <a:r>
                        <a:rPr lang="en-US" altLang="zh-CN" b="1" dirty="0">
                          <a:solidFill>
                            <a:srgbClr val="C00000"/>
                          </a:solidFill>
                          <a:latin typeface="微软雅黑" panose="020B0503020204020204" pitchFamily="34" charset="-122"/>
                          <a:ea typeface="微软雅黑" panose="020B0503020204020204" pitchFamily="34" charset="-122"/>
                        </a:rPr>
                        <a:t>1</a:t>
                      </a:r>
                      <a:endParaRPr lang="zh-CN" altLang="en-US" b="1" dirty="0">
                        <a:solidFill>
                          <a:srgbClr val="C00000"/>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altLang="zh-CN" b="1" dirty="0">
                          <a:solidFill>
                            <a:srgbClr val="C00000"/>
                          </a:solidFill>
                          <a:latin typeface="微软雅黑" panose="020B0503020204020204" pitchFamily="34" charset="-122"/>
                          <a:ea typeface="微软雅黑" panose="020B0503020204020204" pitchFamily="34" charset="-122"/>
                        </a:rPr>
                        <a:t>0</a:t>
                      </a:r>
                      <a:endParaRPr lang="zh-CN" altLang="en-US" b="1" dirty="0">
                        <a:solidFill>
                          <a:srgbClr val="C00000"/>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5657000"/>
                  </a:ext>
                </a:extLst>
              </a:tr>
              <a:tr h="407532">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1" dirty="0">
                          <a:solidFill>
                            <a:srgbClr val="FF0000"/>
                          </a:solidFill>
                          <a:latin typeface="微软雅黑" panose="020B0503020204020204" pitchFamily="34" charset="-122"/>
                          <a:ea typeface="微软雅黑" panose="020B0503020204020204" pitchFamily="34" charset="-122"/>
                        </a:rPr>
                        <a:t>0</a:t>
                      </a:r>
                      <a:endParaRPr lang="zh-CN" altLang="en-US" b="1" dirty="0">
                        <a:solidFill>
                          <a:srgbClr val="FF0000"/>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6922387"/>
                  </a:ext>
                </a:extLst>
              </a:tr>
              <a:tr h="407532">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4031242"/>
                  </a:ext>
                </a:extLst>
              </a:tr>
              <a:tr h="407532">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11962773"/>
                  </a:ext>
                </a:extLst>
              </a:tr>
            </a:tbl>
          </a:graphicData>
        </a:graphic>
      </p:graphicFrame>
      <p:sp>
        <p:nvSpPr>
          <p:cNvPr id="189" name="文本框 188"/>
          <p:cNvSpPr txBox="1"/>
          <p:nvPr/>
        </p:nvSpPr>
        <p:spPr>
          <a:xfrm>
            <a:off x="8812565" y="3240515"/>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90" name="文本框 189"/>
          <p:cNvSpPr txBox="1"/>
          <p:nvPr/>
        </p:nvSpPr>
        <p:spPr>
          <a:xfrm>
            <a:off x="9298899" y="3229996"/>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2</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91" name="文本框 190"/>
          <p:cNvSpPr txBox="1"/>
          <p:nvPr/>
        </p:nvSpPr>
        <p:spPr>
          <a:xfrm>
            <a:off x="9759902" y="3229995"/>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3</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92" name="文本框 191"/>
          <p:cNvSpPr txBox="1"/>
          <p:nvPr/>
        </p:nvSpPr>
        <p:spPr>
          <a:xfrm>
            <a:off x="8348129" y="3641996"/>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4</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93" name="文本框 192"/>
          <p:cNvSpPr txBox="1"/>
          <p:nvPr/>
        </p:nvSpPr>
        <p:spPr>
          <a:xfrm>
            <a:off x="8812564" y="3636315"/>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5</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94" name="文本框 193"/>
          <p:cNvSpPr txBox="1"/>
          <p:nvPr/>
        </p:nvSpPr>
        <p:spPr>
          <a:xfrm>
            <a:off x="9293522" y="3636315"/>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6</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95" name="文本框 194"/>
          <p:cNvSpPr txBox="1"/>
          <p:nvPr/>
        </p:nvSpPr>
        <p:spPr>
          <a:xfrm>
            <a:off x="9759902" y="3629964"/>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7</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96" name="文本框 195"/>
          <p:cNvSpPr txBox="1"/>
          <p:nvPr/>
        </p:nvSpPr>
        <p:spPr>
          <a:xfrm>
            <a:off x="8348129" y="4038464"/>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8</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97" name="文本框 196"/>
          <p:cNvSpPr txBox="1"/>
          <p:nvPr/>
        </p:nvSpPr>
        <p:spPr>
          <a:xfrm>
            <a:off x="8811010" y="4032098"/>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9</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98" name="文本框 197"/>
          <p:cNvSpPr txBox="1"/>
          <p:nvPr/>
        </p:nvSpPr>
        <p:spPr>
          <a:xfrm>
            <a:off x="9255422" y="4038272"/>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10</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99" name="文本框 198"/>
          <p:cNvSpPr txBox="1"/>
          <p:nvPr/>
        </p:nvSpPr>
        <p:spPr>
          <a:xfrm>
            <a:off x="9750053" y="4041623"/>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11</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200" name="文本框 199"/>
          <p:cNvSpPr txBox="1"/>
          <p:nvPr/>
        </p:nvSpPr>
        <p:spPr>
          <a:xfrm>
            <a:off x="8304123" y="4436954"/>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12</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201" name="文本框 200"/>
          <p:cNvSpPr txBox="1"/>
          <p:nvPr/>
        </p:nvSpPr>
        <p:spPr>
          <a:xfrm>
            <a:off x="8779704" y="4443311"/>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13</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202" name="文本框 201"/>
          <p:cNvSpPr txBox="1"/>
          <p:nvPr/>
        </p:nvSpPr>
        <p:spPr>
          <a:xfrm>
            <a:off x="9261772" y="4430700"/>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14</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203" name="文本框 202"/>
          <p:cNvSpPr txBox="1"/>
          <p:nvPr/>
        </p:nvSpPr>
        <p:spPr>
          <a:xfrm>
            <a:off x="9737353" y="4432082"/>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15</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204" name="文本框 203"/>
          <p:cNvSpPr txBox="1"/>
          <p:nvPr/>
        </p:nvSpPr>
        <p:spPr>
          <a:xfrm>
            <a:off x="1845141" y="5515675"/>
            <a:ext cx="1109034" cy="461665"/>
          </a:xfrm>
          <a:prstGeom prst="rect">
            <a:avLst/>
          </a:prstGeom>
          <a:noFill/>
        </p:spPr>
        <p:txBody>
          <a:bodyPr wrap="square" rtlCol="0">
            <a:spAutoFit/>
          </a:bodyPr>
          <a:lstStyle/>
          <a:p>
            <a:pPr algn="ctr"/>
            <a:r>
              <a:rPr lang="zh-CN" altLang="en-US" sz="2400" dirty="0"/>
              <a:t>发送方</a:t>
            </a:r>
          </a:p>
        </p:txBody>
      </p:sp>
      <p:sp>
        <p:nvSpPr>
          <p:cNvPr id="12" name="任意多边形 11"/>
          <p:cNvSpPr/>
          <p:nvPr/>
        </p:nvSpPr>
        <p:spPr>
          <a:xfrm>
            <a:off x="5305926" y="3112121"/>
            <a:ext cx="1070821" cy="1231279"/>
          </a:xfrm>
          <a:custGeom>
            <a:avLst/>
            <a:gdLst>
              <a:gd name="connsiteX0" fmla="*/ 0 w 1070821"/>
              <a:gd name="connsiteY0" fmla="*/ 1038774 h 1231279"/>
              <a:gd name="connsiteX1" fmla="*/ 12032 w 1070821"/>
              <a:gd name="connsiteY1" fmla="*/ 653763 h 1231279"/>
              <a:gd name="connsiteX2" fmla="*/ 48127 w 1070821"/>
              <a:gd name="connsiteY2" fmla="*/ 629700 h 1231279"/>
              <a:gd name="connsiteX3" fmla="*/ 72190 w 1070821"/>
              <a:gd name="connsiteY3" fmla="*/ 689858 h 1231279"/>
              <a:gd name="connsiteX4" fmla="*/ 96253 w 1070821"/>
              <a:gd name="connsiteY4" fmla="*/ 834237 h 1231279"/>
              <a:gd name="connsiteX5" fmla="*/ 108285 w 1070821"/>
              <a:gd name="connsiteY5" fmla="*/ 870332 h 1231279"/>
              <a:gd name="connsiteX6" fmla="*/ 132348 w 1070821"/>
              <a:gd name="connsiteY6" fmla="*/ 990647 h 1231279"/>
              <a:gd name="connsiteX7" fmla="*/ 156411 w 1070821"/>
              <a:gd name="connsiteY7" fmla="*/ 954553 h 1231279"/>
              <a:gd name="connsiteX8" fmla="*/ 168442 w 1070821"/>
              <a:gd name="connsiteY8" fmla="*/ 906426 h 1231279"/>
              <a:gd name="connsiteX9" fmla="*/ 192506 w 1070821"/>
              <a:gd name="connsiteY9" fmla="*/ 858300 h 1231279"/>
              <a:gd name="connsiteX10" fmla="*/ 204537 w 1070821"/>
              <a:gd name="connsiteY10" fmla="*/ 786111 h 1231279"/>
              <a:gd name="connsiteX11" fmla="*/ 228600 w 1070821"/>
              <a:gd name="connsiteY11" fmla="*/ 725953 h 1231279"/>
              <a:gd name="connsiteX12" fmla="*/ 264695 w 1070821"/>
              <a:gd name="connsiteY12" fmla="*/ 605637 h 1231279"/>
              <a:gd name="connsiteX13" fmla="*/ 288758 w 1070821"/>
              <a:gd name="connsiteY13" fmla="*/ 533447 h 1231279"/>
              <a:gd name="connsiteX14" fmla="*/ 300790 w 1070821"/>
              <a:gd name="connsiteY14" fmla="*/ 497353 h 1231279"/>
              <a:gd name="connsiteX15" fmla="*/ 324853 w 1070821"/>
              <a:gd name="connsiteY15" fmla="*/ 581574 h 1231279"/>
              <a:gd name="connsiteX16" fmla="*/ 348916 w 1070821"/>
              <a:gd name="connsiteY16" fmla="*/ 653763 h 1231279"/>
              <a:gd name="connsiteX17" fmla="*/ 385011 w 1070821"/>
              <a:gd name="connsiteY17" fmla="*/ 810174 h 1231279"/>
              <a:gd name="connsiteX18" fmla="*/ 421106 w 1070821"/>
              <a:gd name="connsiteY18" fmla="*/ 978616 h 1231279"/>
              <a:gd name="connsiteX19" fmla="*/ 433137 w 1070821"/>
              <a:gd name="connsiteY19" fmla="*/ 1038774 h 1231279"/>
              <a:gd name="connsiteX20" fmla="*/ 457200 w 1070821"/>
              <a:gd name="connsiteY20" fmla="*/ 1122995 h 1231279"/>
              <a:gd name="connsiteX21" fmla="*/ 469232 w 1070821"/>
              <a:gd name="connsiteY21" fmla="*/ 208595 h 1231279"/>
              <a:gd name="connsiteX22" fmla="*/ 481263 w 1070821"/>
              <a:gd name="connsiteY22" fmla="*/ 4058 h 1231279"/>
              <a:gd name="connsiteX23" fmla="*/ 493295 w 1070821"/>
              <a:gd name="connsiteY23" fmla="*/ 64216 h 1231279"/>
              <a:gd name="connsiteX24" fmla="*/ 541421 w 1070821"/>
              <a:gd name="connsiteY24" fmla="*/ 232658 h 1231279"/>
              <a:gd name="connsiteX25" fmla="*/ 553453 w 1070821"/>
              <a:gd name="connsiteY25" fmla="*/ 304847 h 1231279"/>
              <a:gd name="connsiteX26" fmla="*/ 565485 w 1070821"/>
              <a:gd name="connsiteY26" fmla="*/ 340942 h 1231279"/>
              <a:gd name="connsiteX27" fmla="*/ 589548 w 1070821"/>
              <a:gd name="connsiteY27" fmla="*/ 437195 h 1231279"/>
              <a:gd name="connsiteX28" fmla="*/ 637674 w 1070821"/>
              <a:gd name="connsiteY28" fmla="*/ 581574 h 1231279"/>
              <a:gd name="connsiteX29" fmla="*/ 709863 w 1070821"/>
              <a:gd name="connsiteY29" fmla="*/ 822205 h 1231279"/>
              <a:gd name="connsiteX30" fmla="*/ 721895 w 1070821"/>
              <a:gd name="connsiteY30" fmla="*/ 870332 h 1231279"/>
              <a:gd name="connsiteX31" fmla="*/ 745958 w 1070821"/>
              <a:gd name="connsiteY31" fmla="*/ 930490 h 1231279"/>
              <a:gd name="connsiteX32" fmla="*/ 770021 w 1070821"/>
              <a:gd name="connsiteY32" fmla="*/ 1002679 h 1231279"/>
              <a:gd name="connsiteX33" fmla="*/ 806116 w 1070821"/>
              <a:gd name="connsiteY33" fmla="*/ 1110963 h 1231279"/>
              <a:gd name="connsiteX34" fmla="*/ 818148 w 1070821"/>
              <a:gd name="connsiteY34" fmla="*/ 1147058 h 1231279"/>
              <a:gd name="connsiteX35" fmla="*/ 830179 w 1070821"/>
              <a:gd name="connsiteY35" fmla="*/ 1183153 h 1231279"/>
              <a:gd name="connsiteX36" fmla="*/ 842211 w 1070821"/>
              <a:gd name="connsiteY36" fmla="*/ 617668 h 1231279"/>
              <a:gd name="connsiteX37" fmla="*/ 854242 w 1070821"/>
              <a:gd name="connsiteY37" fmla="*/ 545479 h 1231279"/>
              <a:gd name="connsiteX38" fmla="*/ 866274 w 1070821"/>
              <a:gd name="connsiteY38" fmla="*/ 593605 h 1231279"/>
              <a:gd name="connsiteX39" fmla="*/ 902369 w 1070821"/>
              <a:gd name="connsiteY39" fmla="*/ 713921 h 1231279"/>
              <a:gd name="connsiteX40" fmla="*/ 914400 w 1070821"/>
              <a:gd name="connsiteY40" fmla="*/ 774079 h 1231279"/>
              <a:gd name="connsiteX41" fmla="*/ 938463 w 1070821"/>
              <a:gd name="connsiteY41" fmla="*/ 810174 h 1231279"/>
              <a:gd name="connsiteX42" fmla="*/ 950495 w 1070821"/>
              <a:gd name="connsiteY42" fmla="*/ 882363 h 1231279"/>
              <a:gd name="connsiteX43" fmla="*/ 986590 w 1070821"/>
              <a:gd name="connsiteY43" fmla="*/ 942521 h 1231279"/>
              <a:gd name="connsiteX44" fmla="*/ 1046748 w 1070821"/>
              <a:gd name="connsiteY44" fmla="*/ 1147058 h 1231279"/>
              <a:gd name="connsiteX45" fmla="*/ 1070811 w 1070821"/>
              <a:gd name="connsiteY45" fmla="*/ 1231279 h 1231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1070821" h="1231279">
                <a:moveTo>
                  <a:pt x="0" y="1038774"/>
                </a:moveTo>
                <a:cubicBezTo>
                  <a:pt x="4011" y="910437"/>
                  <a:pt x="4910" y="781965"/>
                  <a:pt x="12032" y="653763"/>
                </a:cubicBezTo>
                <a:cubicBezTo>
                  <a:pt x="15922" y="583740"/>
                  <a:pt x="19842" y="601416"/>
                  <a:pt x="48127" y="629700"/>
                </a:cubicBezTo>
                <a:cubicBezTo>
                  <a:pt x="56148" y="649753"/>
                  <a:pt x="67243" y="668835"/>
                  <a:pt x="72190" y="689858"/>
                </a:cubicBezTo>
                <a:cubicBezTo>
                  <a:pt x="83365" y="737351"/>
                  <a:pt x="80824" y="787951"/>
                  <a:pt x="96253" y="834237"/>
                </a:cubicBezTo>
                <a:cubicBezTo>
                  <a:pt x="100264" y="846269"/>
                  <a:pt x="105433" y="857974"/>
                  <a:pt x="108285" y="870332"/>
                </a:cubicBezTo>
                <a:cubicBezTo>
                  <a:pt x="117482" y="910184"/>
                  <a:pt x="132348" y="990647"/>
                  <a:pt x="132348" y="990647"/>
                </a:cubicBezTo>
                <a:cubicBezTo>
                  <a:pt x="140369" y="978616"/>
                  <a:pt x="150715" y="967844"/>
                  <a:pt x="156411" y="954553"/>
                </a:cubicBezTo>
                <a:cubicBezTo>
                  <a:pt x="162925" y="939354"/>
                  <a:pt x="162636" y="921909"/>
                  <a:pt x="168442" y="906426"/>
                </a:cubicBezTo>
                <a:cubicBezTo>
                  <a:pt x="174740" y="889632"/>
                  <a:pt x="184485" y="874342"/>
                  <a:pt x="192506" y="858300"/>
                </a:cubicBezTo>
                <a:cubicBezTo>
                  <a:pt x="196516" y="834237"/>
                  <a:pt x="198118" y="809646"/>
                  <a:pt x="204537" y="786111"/>
                </a:cubicBezTo>
                <a:cubicBezTo>
                  <a:pt x="210220" y="765275"/>
                  <a:pt x="221219" y="746250"/>
                  <a:pt x="228600" y="725953"/>
                </a:cubicBezTo>
                <a:cubicBezTo>
                  <a:pt x="277211" y="592272"/>
                  <a:pt x="233917" y="708230"/>
                  <a:pt x="264695" y="605637"/>
                </a:cubicBezTo>
                <a:cubicBezTo>
                  <a:pt x="271984" y="581342"/>
                  <a:pt x="280737" y="557510"/>
                  <a:pt x="288758" y="533447"/>
                </a:cubicBezTo>
                <a:lnTo>
                  <a:pt x="300790" y="497353"/>
                </a:lnTo>
                <a:cubicBezTo>
                  <a:pt x="341228" y="618672"/>
                  <a:pt x="279523" y="430475"/>
                  <a:pt x="324853" y="581574"/>
                </a:cubicBezTo>
                <a:cubicBezTo>
                  <a:pt x="332142" y="605869"/>
                  <a:pt x="342764" y="629156"/>
                  <a:pt x="348916" y="653763"/>
                </a:cubicBezTo>
                <a:cubicBezTo>
                  <a:pt x="402014" y="866157"/>
                  <a:pt x="351813" y="710582"/>
                  <a:pt x="385011" y="810174"/>
                </a:cubicBezTo>
                <a:cubicBezTo>
                  <a:pt x="406913" y="985395"/>
                  <a:pt x="381542" y="833547"/>
                  <a:pt x="421106" y="978616"/>
                </a:cubicBezTo>
                <a:cubicBezTo>
                  <a:pt x="426487" y="998345"/>
                  <a:pt x="428701" y="1018811"/>
                  <a:pt x="433137" y="1038774"/>
                </a:cubicBezTo>
                <a:cubicBezTo>
                  <a:pt x="443207" y="1084088"/>
                  <a:pt x="443804" y="1082806"/>
                  <a:pt x="457200" y="1122995"/>
                </a:cubicBezTo>
                <a:cubicBezTo>
                  <a:pt x="461211" y="818195"/>
                  <a:pt x="462678" y="513351"/>
                  <a:pt x="469232" y="208595"/>
                </a:cubicBezTo>
                <a:cubicBezTo>
                  <a:pt x="470700" y="140314"/>
                  <a:pt x="470035" y="71426"/>
                  <a:pt x="481263" y="4058"/>
                </a:cubicBezTo>
                <a:cubicBezTo>
                  <a:pt x="484625" y="-16114"/>
                  <a:pt x="488091" y="44440"/>
                  <a:pt x="493295" y="64216"/>
                </a:cubicBezTo>
                <a:cubicBezTo>
                  <a:pt x="508156" y="120687"/>
                  <a:pt x="531821" y="175058"/>
                  <a:pt x="541421" y="232658"/>
                </a:cubicBezTo>
                <a:cubicBezTo>
                  <a:pt x="545432" y="256721"/>
                  <a:pt x="548161" y="281033"/>
                  <a:pt x="553453" y="304847"/>
                </a:cubicBezTo>
                <a:cubicBezTo>
                  <a:pt x="556204" y="317227"/>
                  <a:pt x="562148" y="328706"/>
                  <a:pt x="565485" y="340942"/>
                </a:cubicBezTo>
                <a:cubicBezTo>
                  <a:pt x="574187" y="372848"/>
                  <a:pt x="580045" y="405518"/>
                  <a:pt x="589548" y="437195"/>
                </a:cubicBezTo>
                <a:cubicBezTo>
                  <a:pt x="604125" y="485785"/>
                  <a:pt x="625370" y="532359"/>
                  <a:pt x="637674" y="581574"/>
                </a:cubicBezTo>
                <a:cubicBezTo>
                  <a:pt x="707903" y="862490"/>
                  <a:pt x="638513" y="608155"/>
                  <a:pt x="709863" y="822205"/>
                </a:cubicBezTo>
                <a:cubicBezTo>
                  <a:pt x="715092" y="837893"/>
                  <a:pt x="716666" y="854644"/>
                  <a:pt x="721895" y="870332"/>
                </a:cubicBezTo>
                <a:cubicBezTo>
                  <a:pt x="728725" y="890821"/>
                  <a:pt x="738577" y="910193"/>
                  <a:pt x="745958" y="930490"/>
                </a:cubicBezTo>
                <a:cubicBezTo>
                  <a:pt x="754626" y="954328"/>
                  <a:pt x="762000" y="978616"/>
                  <a:pt x="770021" y="1002679"/>
                </a:cubicBezTo>
                <a:lnTo>
                  <a:pt x="806116" y="1110963"/>
                </a:lnTo>
                <a:lnTo>
                  <a:pt x="818148" y="1147058"/>
                </a:lnTo>
                <a:lnTo>
                  <a:pt x="830179" y="1183153"/>
                </a:lnTo>
                <a:cubicBezTo>
                  <a:pt x="834190" y="994658"/>
                  <a:pt x="835101" y="806072"/>
                  <a:pt x="842211" y="617668"/>
                </a:cubicBezTo>
                <a:cubicBezTo>
                  <a:pt x="843131" y="593290"/>
                  <a:pt x="836992" y="562729"/>
                  <a:pt x="854242" y="545479"/>
                </a:cubicBezTo>
                <a:cubicBezTo>
                  <a:pt x="865935" y="533786"/>
                  <a:pt x="862687" y="577463"/>
                  <a:pt x="866274" y="593605"/>
                </a:cubicBezTo>
                <a:cubicBezTo>
                  <a:pt x="886609" y="685109"/>
                  <a:pt x="866416" y="624037"/>
                  <a:pt x="902369" y="713921"/>
                </a:cubicBezTo>
                <a:cubicBezTo>
                  <a:pt x="906379" y="733974"/>
                  <a:pt x="907220" y="754931"/>
                  <a:pt x="914400" y="774079"/>
                </a:cubicBezTo>
                <a:cubicBezTo>
                  <a:pt x="919477" y="787619"/>
                  <a:pt x="933890" y="796456"/>
                  <a:pt x="938463" y="810174"/>
                </a:cubicBezTo>
                <a:cubicBezTo>
                  <a:pt x="946177" y="833317"/>
                  <a:pt x="942158" y="859437"/>
                  <a:pt x="950495" y="882363"/>
                </a:cubicBezTo>
                <a:cubicBezTo>
                  <a:pt x="958487" y="904340"/>
                  <a:pt x="977378" y="921027"/>
                  <a:pt x="986590" y="942521"/>
                </a:cubicBezTo>
                <a:cubicBezTo>
                  <a:pt x="1022957" y="1027376"/>
                  <a:pt x="1022312" y="1061531"/>
                  <a:pt x="1046748" y="1147058"/>
                </a:cubicBezTo>
                <a:cubicBezTo>
                  <a:pt x="1072079" y="1235718"/>
                  <a:pt x="1070811" y="1191880"/>
                  <a:pt x="1070811" y="1231279"/>
                </a:cubicBezTo>
              </a:path>
            </a:pathLst>
          </a:custGeom>
          <a:ln w="12700"/>
        </p:spPr>
        <p:style>
          <a:lnRef idx="1">
            <a:schemeClr val="accent2"/>
          </a:lnRef>
          <a:fillRef idx="0">
            <a:schemeClr val="accent2"/>
          </a:fillRef>
          <a:effectRef idx="0">
            <a:schemeClr val="accent2"/>
          </a:effectRef>
          <a:fontRef idx="minor">
            <a:schemeClr val="tx1"/>
          </a:fontRef>
        </p:style>
        <p:txBody>
          <a:bodyPr rtlCol="0" anchor="ctr"/>
          <a:lstStyle/>
          <a:p>
            <a:pPr algn="ctr"/>
            <a:endParaRPr lang="zh-CN" altLang="en-US"/>
          </a:p>
        </p:txBody>
      </p:sp>
      <p:sp>
        <p:nvSpPr>
          <p:cNvPr id="205" name="文本框 204"/>
          <p:cNvSpPr txBox="1"/>
          <p:nvPr/>
        </p:nvSpPr>
        <p:spPr>
          <a:xfrm>
            <a:off x="8605551" y="5460916"/>
            <a:ext cx="1109034" cy="461665"/>
          </a:xfrm>
          <a:prstGeom prst="rect">
            <a:avLst/>
          </a:prstGeom>
          <a:noFill/>
        </p:spPr>
        <p:txBody>
          <a:bodyPr wrap="square" rtlCol="0">
            <a:spAutoFit/>
          </a:bodyPr>
          <a:lstStyle/>
          <a:p>
            <a:pPr algn="ctr"/>
            <a:r>
              <a:rPr lang="zh-CN" altLang="en-US" sz="2400" dirty="0"/>
              <a:t>接收方</a:t>
            </a:r>
          </a:p>
        </p:txBody>
      </p:sp>
    </p:spTree>
    <p:extLst>
      <p:ext uri="{BB962C8B-B14F-4D97-AF65-F5344CB8AC3E}">
        <p14:creationId xmlns:p14="http://schemas.microsoft.com/office/powerpoint/2010/main" val="84012419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Computer Network</a:t>
            </a:r>
          </a:p>
        </p:txBody>
      </p:sp>
      <p:sp>
        <p:nvSpPr>
          <p:cNvPr id="26627" name="灯片编号占位符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89EE86E1-7A99-420A-BECF-7486BC93C9D4}" type="slidenum">
              <a:rPr lang="en-US" altLang="zh-CN" sz="1200">
                <a:latin typeface="Arial Black" panose="020B0A04020102020204" pitchFamily="34" charset="0"/>
              </a:rPr>
              <a:pPr>
                <a:spcBef>
                  <a:spcPct val="0"/>
                </a:spcBef>
                <a:buClrTx/>
                <a:buSzTx/>
                <a:buFontTx/>
                <a:buNone/>
              </a:pPr>
              <a:t>61</a:t>
            </a:fld>
            <a:endParaRPr lang="en-US" altLang="zh-CN" sz="1200">
              <a:latin typeface="Arial Black" panose="020B0A04020102020204" pitchFamily="34" charset="0"/>
            </a:endParaRPr>
          </a:p>
        </p:txBody>
      </p:sp>
      <p:sp>
        <p:nvSpPr>
          <p:cNvPr id="6" name="日期占位符 5"/>
          <p:cNvSpPr>
            <a:spLocks noGrp="1"/>
          </p:cNvSpPr>
          <p:nvPr>
            <p:ph type="dt" sz="half" idx="12"/>
          </p:nvPr>
        </p:nvSpPr>
        <p:spPr/>
        <p:txBody>
          <a:bodyPr/>
          <a:lstStyle/>
          <a:p>
            <a:pPr>
              <a:defRPr/>
            </a:pPr>
            <a:fld id="{60CACEC6-7906-4A6B-B6CE-37FBC8F1F3EA}" type="datetime1">
              <a:rPr lang="zh-CN" altLang="en-US"/>
              <a:pPr>
                <a:defRPr/>
              </a:pPr>
              <a:t>2024/10/18</a:t>
            </a:fld>
            <a:endParaRPr lang="en-US" altLang="zh-CN"/>
          </a:p>
        </p:txBody>
      </p:sp>
      <p:sp>
        <p:nvSpPr>
          <p:cNvPr id="846850" name="Rectangle 2"/>
          <p:cNvSpPr>
            <a:spLocks noGrp="1" noChangeArrowheads="1"/>
          </p:cNvSpPr>
          <p:nvPr>
            <p:ph type="title" idx="4294967295"/>
          </p:nvPr>
        </p:nvSpPr>
        <p:spPr>
          <a:xfrm>
            <a:off x="4705350" y="914400"/>
            <a:ext cx="7486650" cy="428625"/>
          </a:xfrm>
        </p:spPr>
        <p:txBody>
          <a:bodyPr/>
          <a:lstStyle/>
          <a:p>
            <a:pPr eaLnBrk="1" hangingPunct="1">
              <a:defRPr/>
            </a:pPr>
            <a:r>
              <a:rPr lang="zh-CN" altLang="en-US" sz="2400" b="1">
                <a:solidFill>
                  <a:srgbClr val="0000FF"/>
                </a:solidFill>
              </a:rPr>
              <a:t>处理方式：</a:t>
            </a:r>
          </a:p>
        </p:txBody>
      </p:sp>
      <p:sp>
        <p:nvSpPr>
          <p:cNvPr id="26630" name="Rectangle 3"/>
          <p:cNvSpPr>
            <a:spLocks noGrp="1" noChangeArrowheads="1"/>
          </p:cNvSpPr>
          <p:nvPr>
            <p:ph type="body" idx="4294967295"/>
          </p:nvPr>
        </p:nvSpPr>
        <p:spPr>
          <a:xfrm>
            <a:off x="1634838" y="1524000"/>
            <a:ext cx="6324600" cy="4191000"/>
          </a:xfrm>
        </p:spPr>
        <p:txBody>
          <a:bodyPr/>
          <a:lstStyle/>
          <a:p>
            <a:pPr eaLnBrk="1" hangingPunct="1">
              <a:lnSpc>
                <a:spcPct val="115000"/>
              </a:lnSpc>
              <a:buFont typeface="Wingdings" panose="05000000000000000000" pitchFamily="2" charset="2"/>
              <a:buNone/>
            </a:pPr>
            <a:r>
              <a:rPr lang="en-US" altLang="zh-CN" sz="2400" b="1" dirty="0">
                <a:latin typeface="Verdana" panose="020B0604030504040204" pitchFamily="34" charset="0"/>
                <a:ea typeface="楷体_GB2312" pitchFamily="49" charset="-122"/>
              </a:rPr>
              <a:t>	</a:t>
            </a:r>
            <a:r>
              <a:rPr lang="zh-CN" altLang="en-US" sz="2400" b="1" dirty="0">
                <a:solidFill>
                  <a:srgbClr val="0000FF"/>
                </a:solidFill>
                <a:latin typeface="Verdana" panose="020B0604030504040204" pitchFamily="34" charset="0"/>
                <a:ea typeface="楷体_GB2312" pitchFamily="49" charset="-122"/>
              </a:rPr>
              <a:t>发方：</a:t>
            </a:r>
          </a:p>
          <a:p>
            <a:pPr eaLnBrk="1" hangingPunct="1">
              <a:lnSpc>
                <a:spcPct val="115000"/>
              </a:lnSpc>
              <a:buSzPct val="90000"/>
              <a:buFont typeface="Wingdings" panose="05000000000000000000" pitchFamily="2" charset="2"/>
              <a:buChar char="§"/>
            </a:pPr>
            <a:r>
              <a:rPr lang="zh-CN" altLang="en-US" sz="2400" dirty="0">
                <a:latin typeface="Verdana" panose="020B0604030504040204" pitchFamily="34" charset="0"/>
                <a:ea typeface="楷体_GB2312" pitchFamily="49" charset="-122"/>
              </a:rPr>
              <a:t>编码：</a:t>
            </a:r>
            <a:r>
              <a:rPr lang="en-US" altLang="zh-CN" sz="2400" dirty="0" err="1">
                <a:latin typeface="Verdana" panose="020B0604030504040204" pitchFamily="34" charset="0"/>
                <a:ea typeface="楷体_GB2312" pitchFamily="49" charset="-122"/>
              </a:rPr>
              <a:t>r</a:t>
            </a:r>
            <a:r>
              <a:rPr lang="en-US" altLang="zh-CN" sz="2400" baseline="-30000" dirty="0" err="1">
                <a:latin typeface="Verdana" panose="020B0604030504040204" pitchFamily="34" charset="0"/>
                <a:ea typeface="楷体_GB2312" pitchFamily="49" charset="-122"/>
              </a:rPr>
              <a:t>i</a:t>
            </a:r>
            <a:r>
              <a:rPr lang="en-US" altLang="zh-CN" sz="2400" dirty="0">
                <a:latin typeface="Verdana" panose="020B0604030504040204" pitchFamily="34" charset="0"/>
                <a:ea typeface="楷体_GB2312" pitchFamily="49" charset="-122"/>
              </a:rPr>
              <a:t> = </a:t>
            </a:r>
            <a:r>
              <a:rPr lang="zh-CN" altLang="en-US" sz="2400" dirty="0">
                <a:latin typeface="Verdana" panose="020B0604030504040204" pitchFamily="34" charset="0"/>
                <a:ea typeface="楷体_GB2312" pitchFamily="49" charset="-122"/>
              </a:rPr>
              <a:t>各相关信息位的异或</a:t>
            </a:r>
          </a:p>
          <a:p>
            <a:pPr eaLnBrk="1" hangingPunct="1">
              <a:lnSpc>
                <a:spcPct val="115000"/>
              </a:lnSpc>
            </a:pPr>
            <a:endParaRPr lang="zh-CN" altLang="en-US" sz="2400" dirty="0">
              <a:latin typeface="Verdana" panose="020B0604030504040204" pitchFamily="34" charset="0"/>
              <a:ea typeface="楷体_GB2312" pitchFamily="49" charset="-122"/>
            </a:endParaRPr>
          </a:p>
          <a:p>
            <a:pPr eaLnBrk="1" hangingPunct="1">
              <a:lnSpc>
                <a:spcPct val="115000"/>
              </a:lnSpc>
              <a:buFont typeface="Wingdings" panose="05000000000000000000" pitchFamily="2" charset="2"/>
              <a:buNone/>
            </a:pPr>
            <a:r>
              <a:rPr lang="zh-CN" altLang="en-US" sz="2400" dirty="0">
                <a:latin typeface="Verdana" panose="020B0604030504040204" pitchFamily="34" charset="0"/>
                <a:ea typeface="楷体_GB2312" pitchFamily="49" charset="-122"/>
              </a:rPr>
              <a:t>	</a:t>
            </a:r>
            <a:r>
              <a:rPr lang="zh-CN" altLang="en-US" sz="2400" b="1" dirty="0">
                <a:solidFill>
                  <a:srgbClr val="0000FF"/>
                </a:solidFill>
                <a:latin typeface="Verdana" panose="020B0604030504040204" pitchFamily="34" charset="0"/>
                <a:ea typeface="楷体_GB2312" pitchFamily="49" charset="-122"/>
              </a:rPr>
              <a:t>收方：</a:t>
            </a:r>
          </a:p>
          <a:p>
            <a:pPr eaLnBrk="1" hangingPunct="1">
              <a:lnSpc>
                <a:spcPct val="115000"/>
              </a:lnSpc>
              <a:buSzPct val="90000"/>
              <a:buFont typeface="Wingdings" panose="05000000000000000000" pitchFamily="2" charset="2"/>
              <a:buChar char="§"/>
            </a:pPr>
            <a:r>
              <a:rPr lang="zh-CN" altLang="en-US" sz="2400" dirty="0">
                <a:latin typeface="Verdana" panose="020B0604030504040204" pitchFamily="34" charset="0"/>
                <a:ea typeface="楷体_GB2312" pitchFamily="49" charset="-122"/>
              </a:rPr>
              <a:t>解码：设</a:t>
            </a:r>
            <a:r>
              <a:rPr lang="en-US" altLang="zh-CN" sz="2400" dirty="0">
                <a:latin typeface="Verdana" panose="020B0604030504040204" pitchFamily="34" charset="0"/>
                <a:ea typeface="楷体_GB2312" pitchFamily="49" charset="-122"/>
              </a:rPr>
              <a:t>C=0</a:t>
            </a:r>
            <a:r>
              <a:rPr lang="zh-CN" altLang="en-US" sz="2400" dirty="0">
                <a:latin typeface="Verdana" panose="020B0604030504040204" pitchFamily="34" charset="0"/>
                <a:ea typeface="楷体_GB2312" pitchFamily="49" charset="-122"/>
              </a:rPr>
              <a:t>，</a:t>
            </a:r>
          </a:p>
          <a:p>
            <a:pPr lvl="1" eaLnBrk="1" hangingPunct="1">
              <a:lnSpc>
                <a:spcPct val="115000"/>
              </a:lnSpc>
              <a:buFont typeface="Wingdings" panose="05000000000000000000" pitchFamily="2" charset="2"/>
              <a:buChar char="Ø"/>
            </a:pPr>
            <a:r>
              <a:rPr lang="en-US" altLang="zh-CN" sz="2400" dirty="0" err="1">
                <a:latin typeface="Verdana" panose="020B0604030504040204" pitchFamily="34" charset="0"/>
                <a:ea typeface="楷体_GB2312" pitchFamily="49" charset="-122"/>
              </a:rPr>
              <a:t>r</a:t>
            </a:r>
            <a:r>
              <a:rPr lang="en-US" altLang="zh-CN" sz="2400" baseline="-30000" dirty="0" err="1">
                <a:latin typeface="Verdana" panose="020B0604030504040204" pitchFamily="34" charset="0"/>
                <a:ea typeface="楷体_GB2312" pitchFamily="49" charset="-122"/>
              </a:rPr>
              <a:t>i</a:t>
            </a:r>
            <a:r>
              <a:rPr lang="zh-CN" altLang="en-US" sz="2400" dirty="0">
                <a:latin typeface="Verdana" panose="020B0604030504040204" pitchFamily="34" charset="0"/>
                <a:ea typeface="楷体_GB2312" pitchFamily="49" charset="-122"/>
              </a:rPr>
              <a:t>与相关信息位的异或为</a:t>
            </a:r>
            <a:r>
              <a:rPr lang="en-US" altLang="zh-CN" sz="2400" dirty="0">
                <a:latin typeface="Verdana" panose="020B0604030504040204" pitchFamily="34" charset="0"/>
                <a:ea typeface="楷体_GB2312" pitchFamily="49" charset="-122"/>
              </a:rPr>
              <a:t>0</a:t>
            </a:r>
            <a:r>
              <a:rPr lang="zh-CN" altLang="en-US" sz="2400" dirty="0">
                <a:latin typeface="Verdana" panose="020B0604030504040204" pitchFamily="34" charset="0"/>
                <a:ea typeface="楷体_GB2312" pitchFamily="49" charset="-122"/>
              </a:rPr>
              <a:t>，</a:t>
            </a:r>
            <a:r>
              <a:rPr lang="en-US" altLang="zh-CN" sz="2400" dirty="0">
                <a:latin typeface="Verdana" panose="020B0604030504040204" pitchFamily="34" charset="0"/>
                <a:ea typeface="楷体_GB2312" pitchFamily="49" charset="-122"/>
              </a:rPr>
              <a:t>C+=0</a:t>
            </a:r>
          </a:p>
          <a:p>
            <a:pPr lvl="1" eaLnBrk="1" hangingPunct="1">
              <a:lnSpc>
                <a:spcPct val="115000"/>
              </a:lnSpc>
              <a:buFont typeface="Wingdings" panose="05000000000000000000" pitchFamily="2" charset="2"/>
              <a:buChar char="Ø"/>
            </a:pPr>
            <a:r>
              <a:rPr lang="en-US" altLang="zh-CN" sz="2400" dirty="0" err="1">
                <a:latin typeface="Verdana" panose="020B0604030504040204" pitchFamily="34" charset="0"/>
                <a:ea typeface="楷体_GB2312" pitchFamily="49" charset="-122"/>
              </a:rPr>
              <a:t>r</a:t>
            </a:r>
            <a:r>
              <a:rPr lang="en-US" altLang="zh-CN" sz="2400" baseline="-30000" dirty="0" err="1">
                <a:latin typeface="Verdana" panose="020B0604030504040204" pitchFamily="34" charset="0"/>
                <a:ea typeface="楷体_GB2312" pitchFamily="49" charset="-122"/>
              </a:rPr>
              <a:t>i</a:t>
            </a:r>
            <a:r>
              <a:rPr lang="zh-CN" altLang="en-US" sz="2400" dirty="0">
                <a:latin typeface="Verdana" panose="020B0604030504040204" pitchFamily="34" charset="0"/>
                <a:ea typeface="楷体_GB2312" pitchFamily="49" charset="-122"/>
              </a:rPr>
              <a:t>与相关信息位的异或为</a:t>
            </a:r>
            <a:r>
              <a:rPr lang="en-US" altLang="zh-CN" sz="2400" dirty="0">
                <a:latin typeface="Verdana" panose="020B0604030504040204" pitchFamily="34" charset="0"/>
                <a:ea typeface="楷体_GB2312" pitchFamily="49" charset="-122"/>
              </a:rPr>
              <a:t>1</a:t>
            </a:r>
            <a:r>
              <a:rPr lang="zh-CN" altLang="en-US" sz="2400" dirty="0">
                <a:latin typeface="Verdana" panose="020B0604030504040204" pitchFamily="34" charset="0"/>
                <a:ea typeface="楷体_GB2312" pitchFamily="49" charset="-122"/>
              </a:rPr>
              <a:t>，</a:t>
            </a:r>
            <a:r>
              <a:rPr lang="en-US" altLang="zh-CN" sz="2400" dirty="0">
                <a:latin typeface="Verdana" panose="020B0604030504040204" pitchFamily="34" charset="0"/>
                <a:ea typeface="楷体_GB2312" pitchFamily="49" charset="-122"/>
              </a:rPr>
              <a:t>C+=</a:t>
            </a:r>
            <a:r>
              <a:rPr lang="en-US" altLang="zh-CN" sz="2400" dirty="0" err="1">
                <a:latin typeface="Verdana" panose="020B0604030504040204" pitchFamily="34" charset="0"/>
                <a:ea typeface="楷体_GB2312" pitchFamily="49" charset="-122"/>
              </a:rPr>
              <a:t>i</a:t>
            </a:r>
            <a:r>
              <a:rPr lang="en-US" altLang="zh-CN" sz="2400" dirty="0">
                <a:latin typeface="Verdana" panose="020B0604030504040204" pitchFamily="34" charset="0"/>
                <a:ea typeface="楷体_GB2312" pitchFamily="49" charset="-122"/>
              </a:rPr>
              <a:t>  </a:t>
            </a:r>
          </a:p>
          <a:p>
            <a:pPr lvl="1" eaLnBrk="1" hangingPunct="1">
              <a:lnSpc>
                <a:spcPct val="115000"/>
              </a:lnSpc>
              <a:buFont typeface="Wingdings" panose="05000000000000000000" pitchFamily="2" charset="2"/>
              <a:buChar char="Ø"/>
            </a:pPr>
            <a:r>
              <a:rPr lang="en-US" altLang="zh-CN" sz="2400" dirty="0">
                <a:latin typeface="Verdana" panose="020B0604030504040204" pitchFamily="34" charset="0"/>
                <a:ea typeface="楷体_GB2312" pitchFamily="49" charset="-122"/>
              </a:rPr>
              <a:t>C</a:t>
            </a:r>
            <a:r>
              <a:rPr lang="zh-CN" altLang="en-US" sz="2400" dirty="0">
                <a:latin typeface="Verdana" panose="020B0604030504040204" pitchFamily="34" charset="0"/>
                <a:ea typeface="楷体_GB2312" pitchFamily="49" charset="-122"/>
              </a:rPr>
              <a:t>为出错位置。</a:t>
            </a:r>
          </a:p>
        </p:txBody>
      </p:sp>
    </p:spTree>
  </p:cSld>
  <p:clrMapOvr>
    <a:masterClrMapping/>
  </p:clrMapOvr>
  <p:transition>
    <p:random/>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7874" name="Rectangle 2"/>
          <p:cNvSpPr>
            <a:spLocks noGrp="1" noChangeArrowheads="1"/>
          </p:cNvSpPr>
          <p:nvPr>
            <p:ph type="title"/>
          </p:nvPr>
        </p:nvSpPr>
        <p:spPr>
          <a:xfrm>
            <a:off x="387927" y="365126"/>
            <a:ext cx="10099964" cy="879086"/>
          </a:xfrm>
        </p:spPr>
        <p:txBody>
          <a:bodyPr/>
          <a:lstStyle/>
          <a:p>
            <a:pPr eaLnBrk="1" hangingPunct="1">
              <a:lnSpc>
                <a:spcPct val="110000"/>
              </a:lnSpc>
              <a:defRPr/>
            </a:pPr>
            <a:r>
              <a:rPr lang="zh-CN" altLang="en-US" sz="2400" b="1" dirty="0">
                <a:solidFill>
                  <a:srgbClr val="FF0000"/>
                </a:solidFill>
              </a:rPr>
              <a:t>例：</a:t>
            </a:r>
            <a:r>
              <a:rPr lang="zh-CN" altLang="en-US" sz="2400" dirty="0">
                <a:solidFill>
                  <a:srgbClr val="0000FF"/>
                </a:solidFill>
              </a:rPr>
              <a:t>若汉明码为</a:t>
            </a:r>
            <a:r>
              <a:rPr lang="en-US" altLang="zh-CN" sz="2400" dirty="0">
                <a:solidFill>
                  <a:srgbClr val="0000FF"/>
                </a:solidFill>
              </a:rPr>
              <a:t>1101101</a:t>
            </a:r>
            <a:r>
              <a:rPr lang="zh-CN" altLang="en-US" sz="2400" dirty="0">
                <a:solidFill>
                  <a:srgbClr val="0000FF"/>
                </a:solidFill>
              </a:rPr>
              <a:t>，判定是否有错，并错在何处？</a:t>
            </a:r>
            <a:r>
              <a:rPr lang="en-US" altLang="zh-CN" sz="2400" dirty="0">
                <a:solidFill>
                  <a:srgbClr val="0000FF"/>
                </a:solidFill>
              </a:rPr>
              <a:t>(</a:t>
            </a:r>
            <a:r>
              <a:rPr lang="zh-CN" altLang="en-US" sz="2400" dirty="0">
                <a:solidFill>
                  <a:srgbClr val="0000FF"/>
                </a:solidFill>
              </a:rPr>
              <a:t>写出原正确码</a:t>
            </a:r>
            <a:r>
              <a:rPr lang="en-US" altLang="zh-CN" sz="2400" dirty="0">
                <a:solidFill>
                  <a:srgbClr val="0000FF"/>
                </a:solidFill>
              </a:rPr>
              <a:t>)</a:t>
            </a:r>
          </a:p>
        </p:txBody>
      </p:sp>
      <p:sp>
        <p:nvSpPr>
          <p:cNvPr id="7" name="日期占位符 5"/>
          <p:cNvSpPr>
            <a:spLocks noGrp="1"/>
          </p:cNvSpPr>
          <p:nvPr>
            <p:ph type="dt" sz="half" idx="10"/>
          </p:nvPr>
        </p:nvSpPr>
        <p:spPr/>
        <p:txBody>
          <a:bodyPr/>
          <a:lstStyle/>
          <a:p>
            <a:pPr>
              <a:defRPr/>
            </a:pPr>
            <a:fld id="{05E261D6-1AC5-42EB-8E1A-E02AE390A790}" type="datetime1">
              <a:rPr lang="zh-CN" altLang="en-US"/>
              <a:pPr>
                <a:defRPr/>
              </a:pPr>
              <a:t>2024/10/18</a:t>
            </a:fld>
            <a:endParaRPr lang="en-US" altLang="zh-CN"/>
          </a:p>
        </p:txBody>
      </p:sp>
      <p:sp>
        <p:nvSpPr>
          <p:cNvPr id="5" name="页脚占位符 3"/>
          <p:cNvSpPr>
            <a:spLocks noGrp="1"/>
          </p:cNvSpPr>
          <p:nvPr>
            <p:ph type="ftr" sz="quarter" idx="11"/>
          </p:nvPr>
        </p:nvSpPr>
        <p:spPr/>
        <p:txBody>
          <a:bodyPr/>
          <a:lstStyle/>
          <a:p>
            <a:pPr>
              <a:defRPr/>
            </a:pPr>
            <a:r>
              <a:rPr lang="en-US" altLang="zh-CN"/>
              <a:t>Computer Network</a:t>
            </a:r>
          </a:p>
        </p:txBody>
      </p:sp>
      <p:sp>
        <p:nvSpPr>
          <p:cNvPr id="27651" name="灯片编号占位符 4"/>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A8418D3E-B07B-4979-917B-AD1BB1A56D65}" type="slidenum">
              <a:rPr lang="en-US" altLang="zh-CN" sz="1200">
                <a:latin typeface="Arial Black" panose="020B0A04020102020204" pitchFamily="34" charset="0"/>
              </a:rPr>
              <a:pPr>
                <a:spcBef>
                  <a:spcPct val="0"/>
                </a:spcBef>
                <a:buClrTx/>
                <a:buSzTx/>
                <a:buFontTx/>
                <a:buNone/>
              </a:pPr>
              <a:t>62</a:t>
            </a:fld>
            <a:endParaRPr lang="en-US" altLang="zh-CN" sz="1200">
              <a:latin typeface="Arial Black" panose="020B0A04020102020204" pitchFamily="34" charset="0"/>
            </a:endParaRPr>
          </a:p>
        </p:txBody>
      </p:sp>
      <p:graphicFrame>
        <p:nvGraphicFramePr>
          <p:cNvPr id="27655" name="Object 4"/>
          <p:cNvGraphicFramePr>
            <a:graphicFrameLocks noChangeAspect="1"/>
          </p:cNvGraphicFramePr>
          <p:nvPr/>
        </p:nvGraphicFramePr>
        <p:xfrm>
          <a:off x="6816080" y="1731964"/>
          <a:ext cx="3001912" cy="1489075"/>
        </p:xfrm>
        <a:graphic>
          <a:graphicData uri="http://schemas.openxmlformats.org/presentationml/2006/ole">
            <mc:AlternateContent xmlns:mc="http://schemas.openxmlformats.org/markup-compatibility/2006">
              <mc:Choice xmlns:v="urn:schemas-microsoft-com:vml" Requires="v">
                <p:oleObj spid="_x0000_s2053" name="Equation" r:id="rId3" imgW="1143000" imgH="685800" progId="Equation.DSMT4">
                  <p:embed/>
                </p:oleObj>
              </mc:Choice>
              <mc:Fallback>
                <p:oleObj name="Equation" r:id="rId3" imgW="1143000" imgH="685800" progId="Equation.DSMT4">
                  <p:embed/>
                  <p:pic>
                    <p:nvPicPr>
                      <p:cNvPr id="27655"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16080" y="1731964"/>
                        <a:ext cx="3001912" cy="1489075"/>
                      </a:xfrm>
                      <a:prstGeom prst="rect">
                        <a:avLst/>
                      </a:prstGeom>
                      <a:solidFill>
                        <a:schemeClr val="accent1"/>
                      </a:solidFill>
                      <a:ln>
                        <a:noFill/>
                      </a:ln>
                    </p:spPr>
                  </p:pic>
                </p:oleObj>
              </mc:Fallback>
            </mc:AlternateContent>
          </a:graphicData>
        </a:graphic>
      </p:graphicFrame>
    </p:spTree>
  </p:cSld>
  <p:clrMapOvr>
    <a:masterClrMapping/>
  </p:clrMapOvr>
  <p:transition>
    <p:random/>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7874" name="Rectangle 2"/>
          <p:cNvSpPr>
            <a:spLocks noGrp="1" noChangeArrowheads="1"/>
          </p:cNvSpPr>
          <p:nvPr>
            <p:ph type="title"/>
          </p:nvPr>
        </p:nvSpPr>
        <p:spPr>
          <a:xfrm>
            <a:off x="387927" y="365126"/>
            <a:ext cx="10099964" cy="879086"/>
          </a:xfrm>
        </p:spPr>
        <p:txBody>
          <a:bodyPr/>
          <a:lstStyle/>
          <a:p>
            <a:pPr eaLnBrk="1" hangingPunct="1">
              <a:lnSpc>
                <a:spcPct val="110000"/>
              </a:lnSpc>
              <a:defRPr/>
            </a:pPr>
            <a:r>
              <a:rPr lang="zh-CN" altLang="en-US" sz="2400" b="1" dirty="0">
                <a:solidFill>
                  <a:srgbClr val="FF0000"/>
                </a:solidFill>
              </a:rPr>
              <a:t>例：</a:t>
            </a:r>
            <a:r>
              <a:rPr lang="zh-CN" altLang="en-US" sz="2400" dirty="0">
                <a:solidFill>
                  <a:srgbClr val="0000FF"/>
                </a:solidFill>
              </a:rPr>
              <a:t>若汉明码为</a:t>
            </a:r>
            <a:r>
              <a:rPr lang="en-US" altLang="zh-CN" sz="2400" dirty="0">
                <a:solidFill>
                  <a:srgbClr val="0000FF"/>
                </a:solidFill>
              </a:rPr>
              <a:t>1101101</a:t>
            </a:r>
            <a:r>
              <a:rPr lang="zh-CN" altLang="en-US" sz="2400" dirty="0">
                <a:solidFill>
                  <a:srgbClr val="0000FF"/>
                </a:solidFill>
              </a:rPr>
              <a:t>，判定是否有错，并错在何处？</a:t>
            </a:r>
            <a:r>
              <a:rPr lang="en-US" altLang="zh-CN" sz="2400" dirty="0">
                <a:solidFill>
                  <a:srgbClr val="0000FF"/>
                </a:solidFill>
              </a:rPr>
              <a:t>(</a:t>
            </a:r>
            <a:r>
              <a:rPr lang="zh-CN" altLang="en-US" sz="2400" dirty="0">
                <a:solidFill>
                  <a:srgbClr val="0000FF"/>
                </a:solidFill>
              </a:rPr>
              <a:t>写出原正确码</a:t>
            </a:r>
            <a:r>
              <a:rPr lang="en-US" altLang="zh-CN" sz="2400" dirty="0">
                <a:solidFill>
                  <a:srgbClr val="0000FF"/>
                </a:solidFill>
              </a:rPr>
              <a:t>)</a:t>
            </a:r>
          </a:p>
        </p:txBody>
      </p:sp>
      <p:sp>
        <p:nvSpPr>
          <p:cNvPr id="7" name="日期占位符 5"/>
          <p:cNvSpPr>
            <a:spLocks noGrp="1"/>
          </p:cNvSpPr>
          <p:nvPr>
            <p:ph type="dt" sz="half" idx="10"/>
          </p:nvPr>
        </p:nvSpPr>
        <p:spPr/>
        <p:txBody>
          <a:bodyPr/>
          <a:lstStyle/>
          <a:p>
            <a:pPr>
              <a:defRPr/>
            </a:pPr>
            <a:fld id="{05E261D6-1AC5-42EB-8E1A-E02AE390A790}" type="datetime1">
              <a:rPr lang="zh-CN" altLang="en-US"/>
              <a:pPr>
                <a:defRPr/>
              </a:pPr>
              <a:t>2024/10/18</a:t>
            </a:fld>
            <a:endParaRPr lang="en-US" altLang="zh-CN"/>
          </a:p>
        </p:txBody>
      </p:sp>
      <p:sp>
        <p:nvSpPr>
          <p:cNvPr id="5" name="页脚占位符 3"/>
          <p:cNvSpPr>
            <a:spLocks noGrp="1"/>
          </p:cNvSpPr>
          <p:nvPr>
            <p:ph type="ftr" sz="quarter" idx="11"/>
          </p:nvPr>
        </p:nvSpPr>
        <p:spPr/>
        <p:txBody>
          <a:bodyPr/>
          <a:lstStyle/>
          <a:p>
            <a:pPr>
              <a:defRPr/>
            </a:pPr>
            <a:r>
              <a:rPr lang="en-US" altLang="zh-CN"/>
              <a:t>Computer Network</a:t>
            </a:r>
          </a:p>
        </p:txBody>
      </p:sp>
      <p:sp>
        <p:nvSpPr>
          <p:cNvPr id="27651" name="灯片编号占位符 4"/>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A8418D3E-B07B-4979-917B-AD1BB1A56D65}" type="slidenum">
              <a:rPr lang="en-US" altLang="zh-CN" sz="1200">
                <a:latin typeface="Arial Black" panose="020B0A04020102020204" pitchFamily="34" charset="0"/>
              </a:rPr>
              <a:pPr>
                <a:spcBef>
                  <a:spcPct val="0"/>
                </a:spcBef>
                <a:buClrTx/>
                <a:buSzTx/>
                <a:buFontTx/>
                <a:buNone/>
              </a:pPr>
              <a:t>63</a:t>
            </a:fld>
            <a:endParaRPr lang="en-US" altLang="zh-CN" sz="1200">
              <a:latin typeface="Arial Black" panose="020B0A04020102020204" pitchFamily="34" charset="0"/>
            </a:endParaRPr>
          </a:p>
        </p:txBody>
      </p:sp>
      <p:sp>
        <p:nvSpPr>
          <p:cNvPr id="847875" name="Rectangle 3"/>
          <p:cNvSpPr>
            <a:spLocks noGrp="1" noChangeArrowheads="1"/>
          </p:cNvSpPr>
          <p:nvPr>
            <p:ph idx="4294967295"/>
          </p:nvPr>
        </p:nvSpPr>
        <p:spPr>
          <a:xfrm>
            <a:off x="1524000" y="2348345"/>
            <a:ext cx="6629400" cy="3657600"/>
          </a:xfrm>
        </p:spPr>
        <p:txBody>
          <a:bodyPr/>
          <a:lstStyle/>
          <a:p>
            <a:pPr eaLnBrk="1" hangingPunct="1">
              <a:lnSpc>
                <a:spcPct val="120000"/>
              </a:lnSpc>
              <a:buFont typeface="Wingdings" panose="05000000000000000000" pitchFamily="2" charset="2"/>
              <a:buNone/>
              <a:defRPr/>
            </a:pPr>
            <a:r>
              <a:rPr lang="zh-CN" altLang="en-US" sz="2400" dirty="0">
                <a:latin typeface="Verdana" pitchFamily="34" charset="0"/>
                <a:ea typeface="楷体_GB2312" pitchFamily="49" charset="-122"/>
              </a:rPr>
              <a:t>解：</a:t>
            </a:r>
            <a:r>
              <a:rPr lang="en-US" altLang="zh-CN" sz="2400" dirty="0">
                <a:latin typeface="Verdana" pitchFamily="34" charset="0"/>
                <a:ea typeface="楷体_GB2312" pitchFamily="49" charset="-122"/>
              </a:rPr>
              <a:t>r</a:t>
            </a:r>
            <a:r>
              <a:rPr lang="en-US" altLang="zh-CN" sz="2400" baseline="-30000" dirty="0">
                <a:latin typeface="Verdana" pitchFamily="34" charset="0"/>
                <a:ea typeface="楷体_GB2312" pitchFamily="49" charset="-122"/>
              </a:rPr>
              <a:t>1  </a:t>
            </a:r>
            <a:r>
              <a:rPr lang="en-US" altLang="zh-CN" sz="2400" dirty="0">
                <a:latin typeface="Verdana" pitchFamily="34" charset="0"/>
                <a:ea typeface="楷体_GB2312" pitchFamily="49" charset="-122"/>
              </a:rPr>
              <a:t>r</a:t>
            </a:r>
            <a:r>
              <a:rPr lang="en-US" altLang="zh-CN" sz="2400" baseline="-30000" dirty="0">
                <a:latin typeface="Verdana" pitchFamily="34" charset="0"/>
                <a:ea typeface="楷体_GB2312" pitchFamily="49" charset="-122"/>
              </a:rPr>
              <a:t>2  </a:t>
            </a:r>
            <a:r>
              <a:rPr lang="en-US" altLang="zh-CN" sz="2400" dirty="0">
                <a:latin typeface="Verdana" pitchFamily="34" charset="0"/>
                <a:ea typeface="楷体_GB2312" pitchFamily="49" charset="-122"/>
              </a:rPr>
              <a:t>m</a:t>
            </a:r>
            <a:r>
              <a:rPr lang="en-US" altLang="zh-CN" sz="2400" baseline="-30000" dirty="0">
                <a:latin typeface="Verdana" pitchFamily="34" charset="0"/>
                <a:ea typeface="楷体_GB2312" pitchFamily="49" charset="-122"/>
              </a:rPr>
              <a:t>3  </a:t>
            </a:r>
            <a:r>
              <a:rPr lang="en-US" altLang="zh-CN" sz="2400" dirty="0">
                <a:latin typeface="Verdana" pitchFamily="34" charset="0"/>
                <a:ea typeface="楷体_GB2312" pitchFamily="49" charset="-122"/>
              </a:rPr>
              <a:t>r</a:t>
            </a:r>
            <a:r>
              <a:rPr lang="en-US" altLang="zh-CN" sz="2400" baseline="-30000" dirty="0">
                <a:latin typeface="Verdana" pitchFamily="34" charset="0"/>
                <a:ea typeface="楷体_GB2312" pitchFamily="49" charset="-122"/>
              </a:rPr>
              <a:t>4  </a:t>
            </a:r>
            <a:r>
              <a:rPr lang="en-US" altLang="zh-CN" sz="2400" dirty="0">
                <a:latin typeface="Verdana" pitchFamily="34" charset="0"/>
                <a:ea typeface="楷体_GB2312" pitchFamily="49" charset="-122"/>
              </a:rPr>
              <a:t>m</a:t>
            </a:r>
            <a:r>
              <a:rPr lang="en-US" altLang="zh-CN" sz="2400" baseline="-30000" dirty="0">
                <a:latin typeface="Verdana" pitchFamily="34" charset="0"/>
                <a:ea typeface="楷体_GB2312" pitchFamily="49" charset="-122"/>
              </a:rPr>
              <a:t>5  </a:t>
            </a:r>
            <a:r>
              <a:rPr lang="en-US" altLang="zh-CN" sz="2400" dirty="0">
                <a:latin typeface="Verdana" pitchFamily="34" charset="0"/>
                <a:ea typeface="楷体_GB2312" pitchFamily="49" charset="-122"/>
              </a:rPr>
              <a:t>m</a:t>
            </a:r>
            <a:r>
              <a:rPr lang="en-US" altLang="zh-CN" sz="2400" baseline="-30000" dirty="0">
                <a:latin typeface="Verdana" pitchFamily="34" charset="0"/>
                <a:ea typeface="楷体_GB2312" pitchFamily="49" charset="-122"/>
              </a:rPr>
              <a:t>6  </a:t>
            </a:r>
            <a:r>
              <a:rPr lang="en-US" altLang="zh-CN" sz="2400" dirty="0">
                <a:latin typeface="Verdana" pitchFamily="34" charset="0"/>
                <a:ea typeface="楷体_GB2312" pitchFamily="49" charset="-122"/>
              </a:rPr>
              <a:t>m</a:t>
            </a:r>
            <a:r>
              <a:rPr lang="en-US" altLang="zh-CN" sz="2400" baseline="-30000" dirty="0">
                <a:latin typeface="Verdana" pitchFamily="34" charset="0"/>
                <a:ea typeface="楷体_GB2312" pitchFamily="49" charset="-122"/>
              </a:rPr>
              <a:t>7 </a:t>
            </a:r>
            <a:endParaRPr lang="en-US" altLang="zh-CN" sz="2400" dirty="0">
              <a:effectLst>
                <a:outerShdw blurRad="38100" dist="38100" dir="2700000" algn="tl">
                  <a:srgbClr val="C0C0C0"/>
                </a:outerShdw>
              </a:effectLst>
              <a:latin typeface="Verdana" pitchFamily="34" charset="0"/>
              <a:ea typeface="楷体_GB2312" pitchFamily="49" charset="-122"/>
            </a:endParaRPr>
          </a:p>
          <a:p>
            <a:pPr eaLnBrk="1" hangingPunct="1">
              <a:lnSpc>
                <a:spcPct val="120000"/>
              </a:lnSpc>
              <a:spcBef>
                <a:spcPct val="0"/>
              </a:spcBef>
              <a:buClrTx/>
              <a:buSzTx/>
              <a:buFontTx/>
              <a:buNone/>
              <a:defRPr/>
            </a:pPr>
            <a:r>
              <a:rPr lang="en-US" altLang="zh-CN" sz="2400" b="1" dirty="0">
                <a:latin typeface="Verdana" pitchFamily="34" charset="0"/>
                <a:ea typeface="楷体_GB2312" pitchFamily="49" charset="-122"/>
              </a:rPr>
              <a:t>      </a:t>
            </a:r>
            <a:r>
              <a:rPr lang="en-US" altLang="zh-CN" sz="2400" dirty="0">
                <a:latin typeface="Verdana" pitchFamily="34" charset="0"/>
                <a:ea typeface="楷体_GB2312" pitchFamily="49" charset="-122"/>
              </a:rPr>
              <a:t>1  1  0   1   1   0    1</a:t>
            </a:r>
          </a:p>
          <a:p>
            <a:pPr eaLnBrk="1" hangingPunct="1">
              <a:buSzPct val="90000"/>
              <a:buFont typeface="Wingdings" panose="05000000000000000000" pitchFamily="2" charset="2"/>
              <a:buChar char="§"/>
              <a:defRPr/>
            </a:pPr>
            <a:r>
              <a:rPr lang="zh-CN" altLang="en-US" sz="2400" dirty="0">
                <a:latin typeface="Verdana" pitchFamily="34" charset="0"/>
                <a:ea typeface="楷体_GB2312" pitchFamily="49" charset="-122"/>
              </a:rPr>
              <a:t>初始  </a:t>
            </a:r>
            <a:r>
              <a:rPr lang="en-US" altLang="zh-CN" sz="2400" dirty="0">
                <a:latin typeface="Verdana" pitchFamily="34" charset="0"/>
                <a:ea typeface="楷体_GB2312" pitchFamily="49" charset="-122"/>
              </a:rPr>
              <a:t>C=0 </a:t>
            </a:r>
          </a:p>
          <a:p>
            <a:pPr eaLnBrk="1" hangingPunct="1">
              <a:buSzPct val="90000"/>
              <a:buFont typeface="Wingdings" panose="05000000000000000000" pitchFamily="2" charset="2"/>
              <a:buChar char="§"/>
              <a:defRPr/>
            </a:pPr>
            <a:r>
              <a:rPr lang="en-US" altLang="zh-CN" sz="2400" dirty="0" err="1">
                <a:latin typeface="Verdana" pitchFamily="34" charset="0"/>
                <a:ea typeface="楷体_GB2312" pitchFamily="49" charset="-122"/>
              </a:rPr>
              <a:t>i</a:t>
            </a:r>
            <a:r>
              <a:rPr lang="en-US" altLang="zh-CN" sz="2400" dirty="0">
                <a:latin typeface="Verdana" pitchFamily="34" charset="0"/>
                <a:ea typeface="楷体_GB2312" pitchFamily="49" charset="-122"/>
              </a:rPr>
              <a:t> = 1</a:t>
            </a:r>
            <a:r>
              <a:rPr lang="zh-CN" altLang="en-US" sz="2400" dirty="0">
                <a:latin typeface="Verdana" pitchFamily="34" charset="0"/>
                <a:ea typeface="楷体_GB2312" pitchFamily="49" charset="-122"/>
              </a:rPr>
              <a:t>，异或为</a:t>
            </a:r>
            <a:r>
              <a:rPr lang="en-US" altLang="zh-CN" sz="2400" dirty="0">
                <a:latin typeface="Verdana" pitchFamily="34" charset="0"/>
                <a:ea typeface="楷体_GB2312" pitchFamily="49" charset="-122"/>
              </a:rPr>
              <a:t>1</a:t>
            </a:r>
            <a:r>
              <a:rPr lang="zh-CN" altLang="en-US" sz="2400" dirty="0">
                <a:latin typeface="Verdana" pitchFamily="34" charset="0"/>
                <a:ea typeface="楷体_GB2312" pitchFamily="49" charset="-122"/>
              </a:rPr>
              <a:t>，</a:t>
            </a:r>
            <a:r>
              <a:rPr lang="en-US" altLang="zh-CN" sz="2400" dirty="0">
                <a:latin typeface="Verdana" pitchFamily="34" charset="0"/>
                <a:ea typeface="楷体_GB2312" pitchFamily="49" charset="-122"/>
              </a:rPr>
              <a:t>C+= </a:t>
            </a:r>
            <a:r>
              <a:rPr lang="en-US" altLang="zh-CN" sz="2400" dirty="0" err="1">
                <a:latin typeface="Verdana" pitchFamily="34" charset="0"/>
                <a:ea typeface="楷体_GB2312" pitchFamily="49" charset="-122"/>
              </a:rPr>
              <a:t>i</a:t>
            </a:r>
            <a:r>
              <a:rPr lang="en-US" altLang="zh-CN" sz="2400" dirty="0">
                <a:latin typeface="Verdana" pitchFamily="34" charset="0"/>
                <a:ea typeface="楷体_GB2312" pitchFamily="49" charset="-122"/>
              </a:rPr>
              <a:t> , C=1</a:t>
            </a:r>
          </a:p>
          <a:p>
            <a:pPr eaLnBrk="1" hangingPunct="1">
              <a:buSzPct val="90000"/>
              <a:buFont typeface="Wingdings" panose="05000000000000000000" pitchFamily="2" charset="2"/>
              <a:buChar char="§"/>
              <a:defRPr/>
            </a:pPr>
            <a:r>
              <a:rPr lang="en-US" altLang="zh-CN" sz="2400" dirty="0" err="1">
                <a:latin typeface="Verdana" pitchFamily="34" charset="0"/>
                <a:ea typeface="楷体_GB2312" pitchFamily="49" charset="-122"/>
              </a:rPr>
              <a:t>i</a:t>
            </a:r>
            <a:r>
              <a:rPr lang="en-US" altLang="zh-CN" sz="2400" dirty="0">
                <a:latin typeface="Verdana" pitchFamily="34" charset="0"/>
                <a:ea typeface="楷体_GB2312" pitchFamily="49" charset="-122"/>
              </a:rPr>
              <a:t> = 2</a:t>
            </a:r>
            <a:r>
              <a:rPr lang="zh-CN" altLang="en-US" sz="2400" dirty="0">
                <a:latin typeface="Verdana" pitchFamily="34" charset="0"/>
                <a:ea typeface="楷体_GB2312" pitchFamily="49" charset="-122"/>
              </a:rPr>
              <a:t>，异或为</a:t>
            </a:r>
            <a:r>
              <a:rPr lang="en-US" altLang="zh-CN" sz="2400" dirty="0">
                <a:latin typeface="Verdana" pitchFamily="34" charset="0"/>
                <a:ea typeface="楷体_GB2312" pitchFamily="49" charset="-122"/>
              </a:rPr>
              <a:t>0</a:t>
            </a:r>
            <a:r>
              <a:rPr lang="zh-CN" altLang="en-US" sz="2400" dirty="0">
                <a:latin typeface="Verdana" pitchFamily="34" charset="0"/>
                <a:ea typeface="楷体_GB2312" pitchFamily="49" charset="-122"/>
              </a:rPr>
              <a:t>，</a:t>
            </a:r>
            <a:r>
              <a:rPr lang="en-US" altLang="zh-CN" sz="2400" dirty="0">
                <a:latin typeface="Verdana" pitchFamily="34" charset="0"/>
                <a:ea typeface="楷体_GB2312" pitchFamily="49" charset="-122"/>
              </a:rPr>
              <a:t>C+= 0 , C=1+0=1</a:t>
            </a:r>
          </a:p>
          <a:p>
            <a:pPr eaLnBrk="1" hangingPunct="1">
              <a:buSzPct val="90000"/>
              <a:buFont typeface="Wingdings" panose="05000000000000000000" pitchFamily="2" charset="2"/>
              <a:buChar char="§"/>
              <a:defRPr/>
            </a:pPr>
            <a:r>
              <a:rPr lang="en-US" altLang="zh-CN" sz="2400" dirty="0" err="1">
                <a:latin typeface="Verdana" pitchFamily="34" charset="0"/>
                <a:ea typeface="楷体_GB2312" pitchFamily="49" charset="-122"/>
              </a:rPr>
              <a:t>i</a:t>
            </a:r>
            <a:r>
              <a:rPr lang="en-US" altLang="zh-CN" sz="2400" dirty="0">
                <a:latin typeface="Verdana" pitchFamily="34" charset="0"/>
                <a:ea typeface="楷体_GB2312" pitchFamily="49" charset="-122"/>
              </a:rPr>
              <a:t> = 4</a:t>
            </a:r>
            <a:r>
              <a:rPr lang="zh-CN" altLang="en-US" sz="2400" dirty="0">
                <a:latin typeface="Verdana" pitchFamily="34" charset="0"/>
                <a:ea typeface="楷体_GB2312" pitchFamily="49" charset="-122"/>
              </a:rPr>
              <a:t>，异或为</a:t>
            </a:r>
            <a:r>
              <a:rPr lang="en-US" altLang="zh-CN" sz="2400" dirty="0">
                <a:latin typeface="Verdana" pitchFamily="34" charset="0"/>
                <a:ea typeface="楷体_GB2312" pitchFamily="49" charset="-122"/>
              </a:rPr>
              <a:t>1</a:t>
            </a:r>
            <a:r>
              <a:rPr lang="zh-CN" altLang="en-US" sz="2400" dirty="0">
                <a:latin typeface="Verdana" pitchFamily="34" charset="0"/>
                <a:ea typeface="楷体_GB2312" pitchFamily="49" charset="-122"/>
              </a:rPr>
              <a:t>，</a:t>
            </a:r>
            <a:r>
              <a:rPr lang="en-US" altLang="zh-CN" sz="2400" dirty="0">
                <a:latin typeface="Verdana" pitchFamily="34" charset="0"/>
                <a:ea typeface="楷体_GB2312" pitchFamily="49" charset="-122"/>
              </a:rPr>
              <a:t>C+= </a:t>
            </a:r>
            <a:r>
              <a:rPr lang="en-US" altLang="zh-CN" sz="2400" dirty="0" err="1">
                <a:latin typeface="Verdana" pitchFamily="34" charset="0"/>
                <a:ea typeface="楷体_GB2312" pitchFamily="49" charset="-122"/>
              </a:rPr>
              <a:t>i</a:t>
            </a:r>
            <a:r>
              <a:rPr lang="en-US" altLang="zh-CN" sz="2400" dirty="0">
                <a:latin typeface="Verdana" pitchFamily="34" charset="0"/>
                <a:ea typeface="楷体_GB2312" pitchFamily="49" charset="-122"/>
              </a:rPr>
              <a:t> , C=1+4=5</a:t>
            </a:r>
          </a:p>
          <a:p>
            <a:pPr eaLnBrk="1" hangingPunct="1">
              <a:buSzPct val="90000"/>
              <a:buFont typeface="Wingdings" panose="05000000000000000000" pitchFamily="2" charset="2"/>
              <a:buChar char="§"/>
              <a:defRPr/>
            </a:pPr>
            <a:r>
              <a:rPr lang="zh-CN" altLang="en-US" sz="2400" dirty="0">
                <a:latin typeface="Verdana" pitchFamily="34" charset="0"/>
                <a:ea typeface="楷体_GB2312" pitchFamily="49" charset="-122"/>
              </a:rPr>
              <a:t>出错位为</a:t>
            </a:r>
            <a:r>
              <a:rPr lang="en-US" altLang="zh-CN" sz="2400" dirty="0">
                <a:latin typeface="Verdana" pitchFamily="34" charset="0"/>
                <a:ea typeface="楷体_GB2312" pitchFamily="49" charset="-122"/>
              </a:rPr>
              <a:t>m</a:t>
            </a:r>
            <a:r>
              <a:rPr lang="en-US" altLang="zh-CN" sz="2400" baseline="-30000" dirty="0">
                <a:latin typeface="Verdana" pitchFamily="34" charset="0"/>
                <a:ea typeface="楷体_GB2312" pitchFamily="49" charset="-122"/>
              </a:rPr>
              <a:t>5</a:t>
            </a:r>
            <a:r>
              <a:rPr lang="zh-CN" altLang="en-US" sz="2400" dirty="0">
                <a:latin typeface="Verdana" pitchFamily="34" charset="0"/>
                <a:ea typeface="楷体_GB2312" pitchFamily="49" charset="-122"/>
              </a:rPr>
              <a:t>位</a:t>
            </a:r>
          </a:p>
          <a:p>
            <a:pPr eaLnBrk="1" hangingPunct="1">
              <a:buSzPct val="90000"/>
              <a:buFont typeface="Wingdings" panose="05000000000000000000" pitchFamily="2" charset="2"/>
              <a:buChar char="§"/>
              <a:defRPr/>
            </a:pPr>
            <a:r>
              <a:rPr lang="zh-CN" altLang="en-US" sz="2400" dirty="0">
                <a:latin typeface="Verdana" pitchFamily="34" charset="0"/>
                <a:ea typeface="楷体_GB2312" pitchFamily="49" charset="-122"/>
              </a:rPr>
              <a:t>即：原正确码为</a:t>
            </a:r>
            <a:r>
              <a:rPr lang="en-US" altLang="zh-CN" sz="2400" dirty="0">
                <a:latin typeface="Verdana" pitchFamily="34" charset="0"/>
                <a:ea typeface="楷体_GB2312" pitchFamily="49" charset="-122"/>
              </a:rPr>
              <a:t>1101001</a:t>
            </a:r>
          </a:p>
        </p:txBody>
      </p:sp>
      <p:graphicFrame>
        <p:nvGraphicFramePr>
          <p:cNvPr id="27655" name="Object 4"/>
          <p:cNvGraphicFramePr>
            <a:graphicFrameLocks noChangeAspect="1"/>
          </p:cNvGraphicFramePr>
          <p:nvPr/>
        </p:nvGraphicFramePr>
        <p:xfrm>
          <a:off x="6816080" y="1731964"/>
          <a:ext cx="3001912" cy="1489075"/>
        </p:xfrm>
        <a:graphic>
          <a:graphicData uri="http://schemas.openxmlformats.org/presentationml/2006/ole">
            <mc:AlternateContent xmlns:mc="http://schemas.openxmlformats.org/markup-compatibility/2006">
              <mc:Choice xmlns:v="urn:schemas-microsoft-com:vml" Requires="v">
                <p:oleObj spid="_x0000_s3077" name="Equation" r:id="rId3" imgW="1143000" imgH="685800" progId="Equation.DSMT4">
                  <p:embed/>
                </p:oleObj>
              </mc:Choice>
              <mc:Fallback>
                <p:oleObj name="Equation" r:id="rId3" imgW="1143000" imgH="685800" progId="Equation.DSMT4">
                  <p:embed/>
                  <p:pic>
                    <p:nvPicPr>
                      <p:cNvPr id="27655"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16080" y="1731964"/>
                        <a:ext cx="3001912" cy="1489075"/>
                      </a:xfrm>
                      <a:prstGeom prst="rect">
                        <a:avLst/>
                      </a:prstGeom>
                      <a:solidFill>
                        <a:schemeClr val="accent1"/>
                      </a:solidFill>
                      <a:ln>
                        <a:noFill/>
                      </a:ln>
                    </p:spPr>
                  </p:pic>
                </p:oleObj>
              </mc:Fallback>
            </mc:AlternateContent>
          </a:graphicData>
        </a:graphic>
      </p:graphicFrame>
    </p:spTree>
    <p:extLst>
      <p:ext uri="{BB962C8B-B14F-4D97-AF65-F5344CB8AC3E}">
        <p14:creationId xmlns:p14="http://schemas.microsoft.com/office/powerpoint/2010/main" val="2103092969"/>
      </p:ext>
    </p:extLst>
  </p:cSld>
  <p:clrMapOvr>
    <a:masterClrMapping/>
  </p:clrMapOvr>
  <p:transition>
    <p:random/>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Computer Network</a:t>
            </a:r>
          </a:p>
        </p:txBody>
      </p:sp>
      <p:sp>
        <p:nvSpPr>
          <p:cNvPr id="28675" name="灯片编号占位符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8973FF6F-F26F-41B9-8E05-0042E16929F4}" type="slidenum">
              <a:rPr lang="en-US" altLang="zh-CN" sz="1200">
                <a:latin typeface="Arial Black" panose="020B0A04020102020204" pitchFamily="34" charset="0"/>
              </a:rPr>
              <a:pPr>
                <a:spcBef>
                  <a:spcPct val="0"/>
                </a:spcBef>
                <a:buClrTx/>
                <a:buSzTx/>
                <a:buFontTx/>
                <a:buNone/>
              </a:pPr>
              <a:t>64</a:t>
            </a:fld>
            <a:endParaRPr lang="en-US" altLang="zh-CN" sz="1200">
              <a:latin typeface="Arial Black" panose="020B0A04020102020204" pitchFamily="34" charset="0"/>
            </a:endParaRPr>
          </a:p>
        </p:txBody>
      </p:sp>
      <p:sp>
        <p:nvSpPr>
          <p:cNvPr id="6" name="日期占位符 5"/>
          <p:cNvSpPr>
            <a:spLocks noGrp="1"/>
          </p:cNvSpPr>
          <p:nvPr>
            <p:ph type="dt" sz="quarter" idx="12"/>
          </p:nvPr>
        </p:nvSpPr>
        <p:spPr/>
        <p:txBody>
          <a:bodyPr/>
          <a:lstStyle/>
          <a:p>
            <a:pPr>
              <a:defRPr/>
            </a:pPr>
            <a:fld id="{94DA50E6-9C5D-447D-B213-8422544B7BB7}" type="datetime1">
              <a:rPr lang="zh-CN" altLang="en-US"/>
              <a:pPr>
                <a:defRPr/>
              </a:pPr>
              <a:t>2024/10/18</a:t>
            </a:fld>
            <a:endParaRPr lang="en-US" altLang="zh-CN"/>
          </a:p>
        </p:txBody>
      </p:sp>
      <p:sp>
        <p:nvSpPr>
          <p:cNvPr id="28677" name="Rectangle 2"/>
          <p:cNvSpPr>
            <a:spLocks noGrp="1" noChangeArrowheads="1"/>
          </p:cNvSpPr>
          <p:nvPr>
            <p:ph type="title"/>
          </p:nvPr>
        </p:nvSpPr>
        <p:spPr>
          <a:xfrm>
            <a:off x="2137792" y="555625"/>
            <a:ext cx="7772400" cy="609600"/>
          </a:xfrm>
        </p:spPr>
        <p:txBody>
          <a:bodyPr/>
          <a:lstStyle/>
          <a:p>
            <a:pPr eaLnBrk="1" hangingPunct="1"/>
            <a:r>
              <a:rPr lang="zh-CN" altLang="en-US" sz="2400" b="1" dirty="0">
                <a:solidFill>
                  <a:srgbClr val="0000FF"/>
                </a:solidFill>
                <a:effectLst/>
              </a:rPr>
              <a:t>海明码的应用</a:t>
            </a:r>
          </a:p>
        </p:txBody>
      </p:sp>
      <p:sp>
        <p:nvSpPr>
          <p:cNvPr id="28678" name="Rectangle 3"/>
          <p:cNvSpPr>
            <a:spLocks noGrp="1" noChangeArrowheads="1"/>
          </p:cNvSpPr>
          <p:nvPr>
            <p:ph idx="1"/>
          </p:nvPr>
        </p:nvSpPr>
        <p:spPr>
          <a:xfrm>
            <a:off x="1919536" y="2057400"/>
            <a:ext cx="8208912" cy="3124200"/>
          </a:xfrm>
        </p:spPr>
        <p:txBody>
          <a:bodyPr/>
          <a:lstStyle/>
          <a:p>
            <a:pPr eaLnBrk="1" hangingPunct="1">
              <a:lnSpc>
                <a:spcPct val="120000"/>
              </a:lnSpc>
              <a:buSzPct val="90000"/>
              <a:buFont typeface="Wingdings" panose="05000000000000000000" pitchFamily="2" charset="2"/>
              <a:buChar char="§"/>
            </a:pPr>
            <a:r>
              <a:rPr lang="zh-CN" altLang="en-US" sz="2400" dirty="0">
                <a:latin typeface="Verdana" panose="020B0604030504040204" pitchFamily="34" charset="0"/>
                <a:ea typeface="楷体_GB2312" pitchFamily="49" charset="-122"/>
              </a:rPr>
              <a:t>用汉明码纠正</a:t>
            </a:r>
            <a:r>
              <a:rPr lang="zh-CN" altLang="en-US" sz="2400" b="1" dirty="0">
                <a:solidFill>
                  <a:srgbClr val="0000FF"/>
                </a:solidFill>
                <a:latin typeface="Verdana" panose="020B0604030504040204" pitchFamily="34" charset="0"/>
                <a:ea typeface="楷体_GB2312" pitchFamily="49" charset="-122"/>
              </a:rPr>
              <a:t>非突发性错</a:t>
            </a:r>
          </a:p>
          <a:p>
            <a:pPr eaLnBrk="1" hangingPunct="1">
              <a:lnSpc>
                <a:spcPct val="120000"/>
              </a:lnSpc>
              <a:buFont typeface="Wingdings" panose="05000000000000000000" pitchFamily="2" charset="2"/>
              <a:buNone/>
            </a:pPr>
            <a:r>
              <a:rPr lang="zh-CN" altLang="en-US" sz="2400" dirty="0">
                <a:latin typeface="Verdana" panose="020B0604030504040204" pitchFamily="34" charset="0"/>
                <a:ea typeface="楷体_GB2312" pitchFamily="49" charset="-122"/>
              </a:rPr>
              <a:t>	将总信息分为</a:t>
            </a:r>
            <a:r>
              <a:rPr lang="en-US" altLang="zh-CN" sz="2400" dirty="0">
                <a:latin typeface="Verdana" panose="020B0604030504040204" pitchFamily="34" charset="0"/>
                <a:ea typeface="楷体_GB2312" pitchFamily="49" charset="-122"/>
              </a:rPr>
              <a:t>K</a:t>
            </a:r>
            <a:r>
              <a:rPr lang="zh-CN" altLang="en-US" sz="2400" dirty="0">
                <a:latin typeface="Verdana" panose="020B0604030504040204" pitchFamily="34" charset="0"/>
                <a:ea typeface="楷体_GB2312" pitchFamily="49" charset="-122"/>
              </a:rPr>
              <a:t>组，每组进行汉明编码，共能纠正</a:t>
            </a:r>
            <a:r>
              <a:rPr lang="en-US" altLang="zh-CN" sz="2400" dirty="0">
                <a:latin typeface="Verdana" panose="020B0604030504040204" pitchFamily="34" charset="0"/>
                <a:ea typeface="楷体_GB2312" pitchFamily="49" charset="-122"/>
              </a:rPr>
              <a:t>K</a:t>
            </a:r>
            <a:r>
              <a:rPr lang="zh-CN" altLang="en-US" sz="2400" dirty="0">
                <a:latin typeface="Verdana" panose="020B0604030504040204" pitchFamily="34" charset="0"/>
                <a:ea typeface="楷体_GB2312" pitchFamily="49" charset="-122"/>
              </a:rPr>
              <a:t>位错。</a:t>
            </a:r>
          </a:p>
          <a:p>
            <a:pPr eaLnBrk="1" hangingPunct="1">
              <a:lnSpc>
                <a:spcPct val="120000"/>
              </a:lnSpc>
              <a:buSzPct val="90000"/>
              <a:buFont typeface="Wingdings" panose="05000000000000000000" pitchFamily="2" charset="2"/>
              <a:buChar char="§"/>
            </a:pPr>
            <a:r>
              <a:rPr lang="zh-CN" altLang="en-US" sz="2400" dirty="0">
                <a:latin typeface="Verdana" panose="020B0604030504040204" pitchFamily="34" charset="0"/>
                <a:ea typeface="楷体_GB2312" pitchFamily="49" charset="-122"/>
              </a:rPr>
              <a:t>用汉明码纠正</a:t>
            </a:r>
            <a:r>
              <a:rPr lang="zh-CN" altLang="en-US" sz="2400" dirty="0">
                <a:highlight>
                  <a:srgbClr val="FFFF00"/>
                </a:highlight>
                <a:latin typeface="Verdana" panose="020B0604030504040204" pitchFamily="34" charset="0"/>
                <a:ea typeface="楷体_GB2312" pitchFamily="49" charset="-122"/>
              </a:rPr>
              <a:t>突发性错</a:t>
            </a:r>
          </a:p>
          <a:p>
            <a:pPr eaLnBrk="1" hangingPunct="1">
              <a:lnSpc>
                <a:spcPct val="120000"/>
              </a:lnSpc>
              <a:buFont typeface="Wingdings" panose="05000000000000000000" pitchFamily="2" charset="2"/>
              <a:buNone/>
            </a:pPr>
            <a:r>
              <a:rPr lang="zh-CN" altLang="en-US" sz="2400" dirty="0">
                <a:latin typeface="Verdana" panose="020B0604030504040204" pitchFamily="34" charset="0"/>
                <a:ea typeface="楷体_GB2312" pitchFamily="49" charset="-122"/>
              </a:rPr>
              <a:t>   将信息分为</a:t>
            </a:r>
            <a:r>
              <a:rPr lang="en-US" altLang="zh-CN" sz="2400" dirty="0">
                <a:latin typeface="Verdana" panose="020B0604030504040204" pitchFamily="34" charset="0"/>
                <a:ea typeface="楷体_GB2312" pitchFamily="49" charset="-122"/>
              </a:rPr>
              <a:t>K</a:t>
            </a:r>
            <a:r>
              <a:rPr lang="zh-CN" altLang="en-US" sz="2400" dirty="0">
                <a:latin typeface="Verdana" panose="020B0604030504040204" pitchFamily="34" charset="0"/>
                <a:ea typeface="楷体_GB2312" pitchFamily="49" charset="-122"/>
              </a:rPr>
              <a:t>行</a:t>
            </a:r>
            <a:r>
              <a:rPr lang="en-US" altLang="zh-CN" sz="2400" dirty="0">
                <a:latin typeface="Verdana" panose="020B0604030504040204" pitchFamily="34" charset="0"/>
                <a:ea typeface="楷体_GB2312" pitchFamily="49" charset="-122"/>
              </a:rPr>
              <a:t>N</a:t>
            </a:r>
            <a:r>
              <a:rPr lang="zh-CN" altLang="en-US" sz="2400" dirty="0">
                <a:latin typeface="Verdana" panose="020B0604030504040204" pitchFamily="34" charset="0"/>
                <a:ea typeface="楷体_GB2312" pitchFamily="49" charset="-122"/>
              </a:rPr>
              <a:t>列，对每行进行汉明编码，恢复长度最多为</a:t>
            </a:r>
            <a:r>
              <a:rPr lang="en-US" altLang="zh-CN" sz="2400" dirty="0">
                <a:latin typeface="Verdana" panose="020B0604030504040204" pitchFamily="34" charset="0"/>
                <a:ea typeface="楷体_GB2312" pitchFamily="49" charset="-122"/>
              </a:rPr>
              <a:t>K</a:t>
            </a:r>
            <a:r>
              <a:rPr lang="zh-CN" altLang="en-US" sz="2400" dirty="0">
                <a:latin typeface="Verdana" panose="020B0604030504040204" pitchFamily="34" charset="0"/>
                <a:ea typeface="楷体_GB2312" pitchFamily="49" charset="-122"/>
              </a:rPr>
              <a:t>的突发性错。</a:t>
            </a:r>
          </a:p>
        </p:txBody>
      </p:sp>
    </p:spTree>
  </p:cSld>
  <p:clrMapOvr>
    <a:masterClrMapping/>
  </p:clrMapOvr>
  <p:transition>
    <p:random/>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页脚占位符 3"/>
          <p:cNvSpPr>
            <a:spLocks noGrp="1"/>
          </p:cNvSpPr>
          <p:nvPr>
            <p:ph type="ftr" sz="quarter" idx="10"/>
          </p:nvPr>
        </p:nvSpPr>
        <p:spPr/>
        <p:txBody>
          <a:bodyPr/>
          <a:lstStyle/>
          <a:p>
            <a:pPr>
              <a:defRPr/>
            </a:pPr>
            <a:r>
              <a:rPr lang="en-US" altLang="zh-CN"/>
              <a:t>Computer Network</a:t>
            </a:r>
          </a:p>
        </p:txBody>
      </p:sp>
      <p:sp>
        <p:nvSpPr>
          <p:cNvPr id="29699" name="灯片编号占位符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7123F7FC-51FA-4A7D-ACB2-9E699FEEFC1D}" type="slidenum">
              <a:rPr lang="en-US" altLang="zh-CN" sz="1200">
                <a:latin typeface="Arial Black" panose="020B0A04020102020204" pitchFamily="34" charset="0"/>
              </a:rPr>
              <a:pPr>
                <a:spcBef>
                  <a:spcPct val="0"/>
                </a:spcBef>
                <a:buClrTx/>
                <a:buSzTx/>
                <a:buFontTx/>
                <a:buNone/>
              </a:pPr>
              <a:t>65</a:t>
            </a:fld>
            <a:endParaRPr lang="en-US" altLang="zh-CN" sz="1200">
              <a:latin typeface="Arial Black" panose="020B0A04020102020204" pitchFamily="34" charset="0"/>
            </a:endParaRPr>
          </a:p>
        </p:txBody>
      </p:sp>
      <p:sp>
        <p:nvSpPr>
          <p:cNvPr id="10" name="日期占位符 5"/>
          <p:cNvSpPr>
            <a:spLocks noGrp="1"/>
          </p:cNvSpPr>
          <p:nvPr>
            <p:ph type="dt" sz="quarter" idx="12"/>
          </p:nvPr>
        </p:nvSpPr>
        <p:spPr/>
        <p:txBody>
          <a:bodyPr/>
          <a:lstStyle/>
          <a:p>
            <a:pPr>
              <a:defRPr/>
            </a:pPr>
            <a:fld id="{FC3B03F6-F29A-4A94-BCF0-13F7004B8DAA}" type="datetime1">
              <a:rPr lang="zh-CN" altLang="en-US"/>
              <a:pPr>
                <a:defRPr/>
              </a:pPr>
              <a:t>2024/10/18</a:t>
            </a:fld>
            <a:endParaRPr lang="en-US" altLang="zh-CN"/>
          </a:p>
        </p:txBody>
      </p:sp>
      <p:sp>
        <p:nvSpPr>
          <p:cNvPr id="849922" name="Rectangle 2"/>
          <p:cNvSpPr>
            <a:spLocks noGrp="1" noChangeArrowheads="1"/>
          </p:cNvSpPr>
          <p:nvPr>
            <p:ph type="title"/>
          </p:nvPr>
        </p:nvSpPr>
        <p:spPr>
          <a:xfrm>
            <a:off x="2209800" y="685800"/>
            <a:ext cx="7162800" cy="482600"/>
          </a:xfrm>
        </p:spPr>
        <p:txBody>
          <a:bodyPr/>
          <a:lstStyle/>
          <a:p>
            <a:pPr eaLnBrk="1" hangingPunct="1">
              <a:defRPr/>
            </a:pPr>
            <a:r>
              <a:rPr lang="zh-CN" altLang="en-US" sz="2400" b="1" dirty="0">
                <a:solidFill>
                  <a:srgbClr val="0000FF"/>
                </a:solidFill>
                <a:latin typeface="宋体" pitchFamily="2" charset="-122"/>
              </a:rPr>
              <a:t>用</a:t>
            </a:r>
            <a:r>
              <a:rPr lang="zh-CN" altLang="en-US" sz="2400" b="1" dirty="0">
                <a:solidFill>
                  <a:srgbClr val="0000FF"/>
                </a:solidFill>
                <a:effectLst/>
              </a:rPr>
              <a:t>海</a:t>
            </a:r>
            <a:r>
              <a:rPr lang="zh-CN" altLang="en-US" sz="2400" b="1" dirty="0">
                <a:solidFill>
                  <a:srgbClr val="0000FF"/>
                </a:solidFill>
                <a:latin typeface="宋体" pitchFamily="2" charset="-122"/>
              </a:rPr>
              <a:t>明码纠正突发性错：</a:t>
            </a:r>
          </a:p>
        </p:txBody>
      </p:sp>
      <p:sp>
        <p:nvSpPr>
          <p:cNvPr id="29702" name="Rectangle 3"/>
          <p:cNvSpPr>
            <a:spLocks noGrp="1" noChangeArrowheads="1"/>
          </p:cNvSpPr>
          <p:nvPr>
            <p:ph type="body" idx="1"/>
          </p:nvPr>
        </p:nvSpPr>
        <p:spPr>
          <a:xfrm>
            <a:off x="2133600" y="1295400"/>
            <a:ext cx="7924800" cy="2209800"/>
          </a:xfrm>
        </p:spPr>
        <p:txBody>
          <a:bodyPr/>
          <a:lstStyle/>
          <a:p>
            <a:pPr eaLnBrk="1" hangingPunct="1">
              <a:lnSpc>
                <a:spcPct val="105000"/>
              </a:lnSpc>
              <a:buSzPct val="90000"/>
              <a:buFont typeface="Wingdings" panose="05000000000000000000" pitchFamily="2" charset="2"/>
              <a:buChar char="§"/>
              <a:defRPr/>
            </a:pPr>
            <a:r>
              <a:rPr lang="en-US" altLang="zh-CN" sz="2400" kern="100" spc="-100" dirty="0">
                <a:latin typeface="Verdana" panose="020B0604030504040204" pitchFamily="34" charset="0"/>
                <a:ea typeface="楷体_GB2312" pitchFamily="49" charset="-122"/>
              </a:rPr>
              <a:t>k</a:t>
            </a:r>
            <a:r>
              <a:rPr lang="zh-CN" altLang="en-US" sz="2400" kern="100" spc="-100" dirty="0">
                <a:latin typeface="Verdana" panose="020B0604030504040204" pitchFamily="34" charset="0"/>
                <a:ea typeface="楷体_GB2312" pitchFamily="49" charset="-122"/>
              </a:rPr>
              <a:t>个码字组成一个矩阵，一行一个码字</a:t>
            </a:r>
            <a:r>
              <a:rPr lang="en-US" altLang="zh-CN" sz="2400" kern="100" spc="-100" dirty="0">
                <a:latin typeface="Verdana" panose="020B0604030504040204" pitchFamily="34" charset="0"/>
                <a:ea typeface="楷体_GB2312" pitchFamily="49" charset="-122"/>
              </a:rPr>
              <a:t>(</a:t>
            </a:r>
            <a:r>
              <a:rPr lang="zh-CN" altLang="en-US" sz="2400" kern="100" spc="-100" dirty="0">
                <a:latin typeface="Verdana" panose="020B0604030504040204" pitchFamily="34" charset="0"/>
                <a:ea typeface="楷体_GB2312" pitchFamily="49" charset="-122"/>
              </a:rPr>
              <a:t>大小为</a:t>
            </a:r>
            <a:r>
              <a:rPr lang="en-US" altLang="zh-CN" sz="2400" kern="100" spc="-100" dirty="0">
                <a:latin typeface="Verdana" panose="020B0604030504040204" pitchFamily="34" charset="0"/>
                <a:ea typeface="楷体_GB2312" pitchFamily="49" charset="-122"/>
              </a:rPr>
              <a:t>n)</a:t>
            </a:r>
            <a:r>
              <a:rPr lang="zh-CN" altLang="en-US" sz="2400" kern="100" spc="-100" dirty="0">
                <a:latin typeface="Verdana" panose="020B0604030504040204" pitchFamily="34" charset="0"/>
                <a:ea typeface="楷体_GB2312" pitchFamily="49" charset="-122"/>
              </a:rPr>
              <a:t>，每行都采用海明码。</a:t>
            </a:r>
          </a:p>
          <a:p>
            <a:pPr eaLnBrk="1" hangingPunct="1">
              <a:lnSpc>
                <a:spcPct val="105000"/>
              </a:lnSpc>
              <a:buSzPct val="90000"/>
              <a:buFont typeface="Wingdings" panose="05000000000000000000" pitchFamily="2" charset="2"/>
              <a:buChar char="§"/>
              <a:defRPr/>
            </a:pPr>
            <a:r>
              <a:rPr lang="zh-CN" altLang="en-US" sz="2400" kern="100" spc="-100" dirty="0">
                <a:latin typeface="Verdana" panose="020B0604030504040204" pitchFamily="34" charset="0"/>
                <a:ea typeface="楷体_GB2312" pitchFamily="49" charset="-122"/>
              </a:rPr>
              <a:t>从左开始每次发送一列，帧到达接收方重组成矩阵。</a:t>
            </a:r>
          </a:p>
          <a:p>
            <a:pPr eaLnBrk="1" hangingPunct="1">
              <a:lnSpc>
                <a:spcPct val="105000"/>
              </a:lnSpc>
              <a:buSzPct val="90000"/>
              <a:buFont typeface="Wingdings" panose="05000000000000000000" pitchFamily="2" charset="2"/>
              <a:buChar char="§"/>
              <a:defRPr/>
            </a:pPr>
            <a:r>
              <a:rPr lang="zh-CN" altLang="en-US" sz="2400" kern="100" spc="-100" dirty="0">
                <a:latin typeface="Verdana" panose="020B0604030504040204" pitchFamily="34" charset="0"/>
                <a:ea typeface="楷体_GB2312" pitchFamily="49" charset="-122"/>
              </a:rPr>
              <a:t>如果有</a:t>
            </a:r>
            <a:r>
              <a:rPr lang="en-US" altLang="zh-CN" sz="2400" kern="100" spc="-100" dirty="0">
                <a:latin typeface="Verdana" panose="020B0604030504040204" pitchFamily="34" charset="0"/>
                <a:ea typeface="楷体_GB2312" pitchFamily="49" charset="-122"/>
              </a:rPr>
              <a:t>k</a:t>
            </a:r>
            <a:r>
              <a:rPr lang="zh-CN" altLang="en-US" sz="2400" kern="100" spc="-100" dirty="0">
                <a:latin typeface="Verdana" panose="020B0604030504040204" pitchFamily="34" charset="0"/>
                <a:ea typeface="楷体_GB2312" pitchFamily="49" charset="-122"/>
              </a:rPr>
              <a:t>位连续发生突发错误，则每个码字中只用一位发生错误，可用海明码纠正。</a:t>
            </a:r>
          </a:p>
        </p:txBody>
      </p:sp>
      <p:grpSp>
        <p:nvGrpSpPr>
          <p:cNvPr id="29703" name="Group 4"/>
          <p:cNvGrpSpPr>
            <a:grpSpLocks/>
          </p:cNvGrpSpPr>
          <p:nvPr/>
        </p:nvGrpSpPr>
        <p:grpSpPr bwMode="auto">
          <a:xfrm>
            <a:off x="3503614" y="3873501"/>
            <a:ext cx="701675" cy="2003425"/>
            <a:chOff x="1222" y="2544"/>
            <a:chExt cx="458" cy="1488"/>
          </a:xfrm>
        </p:grpSpPr>
        <p:sp>
          <p:nvSpPr>
            <p:cNvPr id="29731" name="Text Box 6"/>
            <p:cNvSpPr txBox="1">
              <a:spLocks noChangeArrowheads="1"/>
            </p:cNvSpPr>
            <p:nvPr/>
          </p:nvSpPr>
          <p:spPr bwMode="auto">
            <a:xfrm>
              <a:off x="1222" y="2688"/>
              <a:ext cx="301" cy="1251"/>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vert="eaVert">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ct val="50000"/>
                </a:spcBef>
                <a:buClr>
                  <a:schemeClr val="tx1"/>
                </a:buClr>
                <a:buSzPct val="80000"/>
                <a:buFont typeface="Wingdings" panose="05000000000000000000" pitchFamily="2" charset="2"/>
                <a:buNone/>
              </a:pPr>
              <a:r>
                <a:rPr kumimoji="1" lang="zh-CN" altLang="en-US" sz="2000">
                  <a:latin typeface="Times New Roman" panose="02020603050405020304" pitchFamily="18" charset="0"/>
                  <a:ea typeface="楷体_GB2312" pitchFamily="49" charset="-122"/>
                </a:rPr>
                <a:t>位传输顺序</a:t>
              </a:r>
            </a:p>
          </p:txBody>
        </p:sp>
        <p:sp>
          <p:nvSpPr>
            <p:cNvPr id="29732" name="Line 7"/>
            <p:cNvSpPr>
              <a:spLocks noChangeShapeType="1"/>
            </p:cNvSpPr>
            <p:nvPr/>
          </p:nvSpPr>
          <p:spPr bwMode="auto">
            <a:xfrm>
              <a:off x="1680" y="2544"/>
              <a:ext cx="0" cy="1488"/>
            </a:xfrm>
            <a:prstGeom prst="line">
              <a:avLst/>
            </a:prstGeom>
            <a:noFill/>
            <a:ln w="1905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grpSp>
      <p:graphicFrame>
        <p:nvGraphicFramePr>
          <p:cNvPr id="2" name="表格 1"/>
          <p:cNvGraphicFramePr>
            <a:graphicFrameLocks noGrp="1"/>
          </p:cNvGraphicFramePr>
          <p:nvPr/>
        </p:nvGraphicFramePr>
        <p:xfrm>
          <a:off x="4727575" y="3773489"/>
          <a:ext cx="4016376" cy="2176461"/>
        </p:xfrm>
        <a:graphic>
          <a:graphicData uri="http://schemas.openxmlformats.org/drawingml/2006/table">
            <a:tbl>
              <a:tblPr>
                <a:tableStyleId>{5C22544A-7EE6-4342-B048-85BDC9FD1C3A}</a:tableStyleId>
              </a:tblPr>
              <a:tblGrid>
                <a:gridCol w="1004094">
                  <a:extLst>
                    <a:ext uri="{9D8B030D-6E8A-4147-A177-3AD203B41FA5}">
                      <a16:colId xmlns:a16="http://schemas.microsoft.com/office/drawing/2014/main" val="20000"/>
                    </a:ext>
                  </a:extLst>
                </a:gridCol>
                <a:gridCol w="1004094">
                  <a:extLst>
                    <a:ext uri="{9D8B030D-6E8A-4147-A177-3AD203B41FA5}">
                      <a16:colId xmlns:a16="http://schemas.microsoft.com/office/drawing/2014/main" val="20001"/>
                    </a:ext>
                  </a:extLst>
                </a:gridCol>
                <a:gridCol w="1004094">
                  <a:extLst>
                    <a:ext uri="{9D8B030D-6E8A-4147-A177-3AD203B41FA5}">
                      <a16:colId xmlns:a16="http://schemas.microsoft.com/office/drawing/2014/main" val="20002"/>
                    </a:ext>
                  </a:extLst>
                </a:gridCol>
                <a:gridCol w="1004094">
                  <a:extLst>
                    <a:ext uri="{9D8B030D-6E8A-4147-A177-3AD203B41FA5}">
                      <a16:colId xmlns:a16="http://schemas.microsoft.com/office/drawing/2014/main" val="20003"/>
                    </a:ext>
                  </a:extLst>
                </a:gridCol>
              </a:tblGrid>
              <a:tr h="545544">
                <a:tc>
                  <a:txBody>
                    <a:bodyPr/>
                    <a:lstStyle/>
                    <a:p>
                      <a:pPr algn="ctr">
                        <a:spcAft>
                          <a:spcPts val="0"/>
                        </a:spcAft>
                      </a:pPr>
                      <a:r>
                        <a:rPr lang="en-US" sz="2000" kern="100" dirty="0">
                          <a:effectLst/>
                        </a:rPr>
                        <a:t>m</a:t>
                      </a:r>
                      <a:r>
                        <a:rPr lang="en-US" sz="2000" kern="100" baseline="-25000" dirty="0">
                          <a:effectLst/>
                        </a:rPr>
                        <a:t>11</a:t>
                      </a:r>
                      <a:endParaRPr lang="zh-CN" sz="1100" kern="100" dirty="0">
                        <a:effectLst/>
                        <a:latin typeface="Times New Roman" panose="02020603050405020304" pitchFamily="18" charset="0"/>
                        <a:ea typeface="宋体" panose="02010600030101010101" pitchFamily="2" charset="-122"/>
                      </a:endParaRPr>
                    </a:p>
                  </a:txBody>
                  <a:tcPr marL="68591" marR="68591" marT="0" marB="0" anchor="ctr"/>
                </a:tc>
                <a:tc>
                  <a:txBody>
                    <a:bodyPr/>
                    <a:lstStyle/>
                    <a:p>
                      <a:pPr algn="ctr">
                        <a:spcAft>
                          <a:spcPts val="0"/>
                        </a:spcAft>
                      </a:pPr>
                      <a:r>
                        <a:rPr lang="en-US" sz="2000" kern="100" dirty="0">
                          <a:effectLst/>
                        </a:rPr>
                        <a:t>m</a:t>
                      </a:r>
                      <a:r>
                        <a:rPr lang="en-US" sz="2000" kern="100" baseline="-25000" dirty="0">
                          <a:effectLst/>
                        </a:rPr>
                        <a:t>12</a:t>
                      </a:r>
                      <a:endParaRPr lang="zh-CN" sz="1100" kern="100" dirty="0">
                        <a:effectLst/>
                        <a:latin typeface="Times New Roman" panose="02020603050405020304" pitchFamily="18" charset="0"/>
                        <a:ea typeface="宋体" panose="02010600030101010101" pitchFamily="2" charset="-122"/>
                      </a:endParaRPr>
                    </a:p>
                  </a:txBody>
                  <a:tcPr marL="68591" marR="68591" marT="0" marB="0" anchor="ctr"/>
                </a:tc>
                <a:tc>
                  <a:txBody>
                    <a:bodyPr/>
                    <a:lstStyle/>
                    <a:p>
                      <a:pPr algn="ctr">
                        <a:spcAft>
                          <a:spcPts val="0"/>
                        </a:spcAft>
                      </a:pPr>
                      <a:r>
                        <a:rPr lang="en-US" sz="2000" kern="100">
                          <a:effectLst/>
                        </a:rPr>
                        <a:t>……</a:t>
                      </a:r>
                      <a:endParaRPr lang="zh-CN" sz="1100" kern="100">
                        <a:effectLst/>
                        <a:latin typeface="Times New Roman" panose="02020603050405020304" pitchFamily="18" charset="0"/>
                        <a:ea typeface="宋体" panose="02010600030101010101" pitchFamily="2" charset="-122"/>
                      </a:endParaRPr>
                    </a:p>
                  </a:txBody>
                  <a:tcPr marL="68591" marR="68591" marT="0" marB="0" anchor="ctr"/>
                </a:tc>
                <a:tc>
                  <a:txBody>
                    <a:bodyPr/>
                    <a:lstStyle/>
                    <a:p>
                      <a:pPr algn="ctr">
                        <a:spcAft>
                          <a:spcPts val="0"/>
                        </a:spcAft>
                      </a:pPr>
                      <a:r>
                        <a:rPr lang="en-US" sz="2000" kern="100">
                          <a:effectLst/>
                        </a:rPr>
                        <a:t>m</a:t>
                      </a:r>
                      <a:r>
                        <a:rPr lang="en-US" sz="2000" kern="100" baseline="-25000">
                          <a:effectLst/>
                        </a:rPr>
                        <a:t>1n</a:t>
                      </a:r>
                      <a:endParaRPr lang="zh-CN" sz="1100" kern="100">
                        <a:effectLst/>
                        <a:latin typeface="Times New Roman" panose="02020603050405020304" pitchFamily="18" charset="0"/>
                        <a:ea typeface="宋体" panose="02010600030101010101" pitchFamily="2" charset="-122"/>
                      </a:endParaRPr>
                    </a:p>
                  </a:txBody>
                  <a:tcPr marL="68591" marR="68591" marT="0" marB="0" anchor="ctr"/>
                </a:tc>
                <a:extLst>
                  <a:ext uri="{0D108BD9-81ED-4DB2-BD59-A6C34878D82A}">
                    <a16:rowId xmlns:a16="http://schemas.microsoft.com/office/drawing/2014/main" val="10000"/>
                  </a:ext>
                </a:extLst>
              </a:tr>
              <a:tr h="543639">
                <a:tc>
                  <a:txBody>
                    <a:bodyPr/>
                    <a:lstStyle/>
                    <a:p>
                      <a:pPr algn="ctr">
                        <a:spcAft>
                          <a:spcPts val="0"/>
                        </a:spcAft>
                      </a:pPr>
                      <a:r>
                        <a:rPr lang="en-US" sz="2000" kern="100">
                          <a:effectLst/>
                        </a:rPr>
                        <a:t>m</a:t>
                      </a:r>
                      <a:r>
                        <a:rPr lang="en-US" sz="2000" kern="100" baseline="-25000">
                          <a:effectLst/>
                        </a:rPr>
                        <a:t>21</a:t>
                      </a:r>
                      <a:endParaRPr lang="zh-CN" sz="1100" kern="100">
                        <a:effectLst/>
                        <a:latin typeface="Times New Roman" panose="02020603050405020304" pitchFamily="18" charset="0"/>
                        <a:ea typeface="宋体" panose="02010600030101010101" pitchFamily="2" charset="-122"/>
                      </a:endParaRPr>
                    </a:p>
                  </a:txBody>
                  <a:tcPr marL="68591" marR="68591" marT="0" marB="0" anchor="ctr"/>
                </a:tc>
                <a:tc>
                  <a:txBody>
                    <a:bodyPr/>
                    <a:lstStyle/>
                    <a:p>
                      <a:pPr algn="ctr">
                        <a:spcAft>
                          <a:spcPts val="0"/>
                        </a:spcAft>
                      </a:pPr>
                      <a:r>
                        <a:rPr lang="en-US" sz="2000" kern="100" dirty="0">
                          <a:effectLst/>
                        </a:rPr>
                        <a:t>m</a:t>
                      </a:r>
                      <a:r>
                        <a:rPr lang="en-US" sz="2000" kern="100" baseline="-25000" dirty="0">
                          <a:effectLst/>
                        </a:rPr>
                        <a:t>22</a:t>
                      </a:r>
                      <a:endParaRPr lang="zh-CN" sz="1100" kern="100" dirty="0">
                        <a:effectLst/>
                        <a:latin typeface="Times New Roman" panose="02020603050405020304" pitchFamily="18" charset="0"/>
                        <a:ea typeface="宋体" panose="02010600030101010101" pitchFamily="2" charset="-122"/>
                      </a:endParaRPr>
                    </a:p>
                  </a:txBody>
                  <a:tcPr marL="68591" marR="68591" marT="0" marB="0" anchor="ctr"/>
                </a:tc>
                <a:tc>
                  <a:txBody>
                    <a:bodyPr/>
                    <a:lstStyle/>
                    <a:p>
                      <a:pPr algn="ctr">
                        <a:spcAft>
                          <a:spcPts val="0"/>
                        </a:spcAft>
                      </a:pPr>
                      <a:r>
                        <a:rPr lang="en-US" sz="2000" kern="100">
                          <a:effectLst/>
                        </a:rPr>
                        <a:t>……</a:t>
                      </a:r>
                      <a:endParaRPr lang="zh-CN" sz="1100" kern="100">
                        <a:effectLst/>
                        <a:latin typeface="Times New Roman" panose="02020603050405020304" pitchFamily="18" charset="0"/>
                        <a:ea typeface="宋体" panose="02010600030101010101" pitchFamily="2" charset="-122"/>
                      </a:endParaRPr>
                    </a:p>
                  </a:txBody>
                  <a:tcPr marL="68591" marR="68591" marT="0" marB="0" anchor="ctr"/>
                </a:tc>
                <a:tc>
                  <a:txBody>
                    <a:bodyPr/>
                    <a:lstStyle/>
                    <a:p>
                      <a:pPr algn="ctr">
                        <a:spcAft>
                          <a:spcPts val="0"/>
                        </a:spcAft>
                      </a:pPr>
                      <a:r>
                        <a:rPr lang="en-US" sz="2000" kern="100">
                          <a:effectLst/>
                        </a:rPr>
                        <a:t>m</a:t>
                      </a:r>
                      <a:r>
                        <a:rPr lang="en-US" sz="2000" kern="100" baseline="-25000">
                          <a:effectLst/>
                        </a:rPr>
                        <a:t>2n</a:t>
                      </a:r>
                      <a:endParaRPr lang="zh-CN" sz="1100" kern="100">
                        <a:effectLst/>
                        <a:latin typeface="Times New Roman" panose="02020603050405020304" pitchFamily="18" charset="0"/>
                        <a:ea typeface="宋体" panose="02010600030101010101" pitchFamily="2" charset="-122"/>
                      </a:endParaRPr>
                    </a:p>
                  </a:txBody>
                  <a:tcPr marL="68591" marR="68591" marT="0" marB="0" anchor="ctr"/>
                </a:tc>
                <a:extLst>
                  <a:ext uri="{0D108BD9-81ED-4DB2-BD59-A6C34878D82A}">
                    <a16:rowId xmlns:a16="http://schemas.microsoft.com/office/drawing/2014/main" val="10001"/>
                  </a:ext>
                </a:extLst>
              </a:tr>
              <a:tr h="543639">
                <a:tc>
                  <a:txBody>
                    <a:bodyPr/>
                    <a:lstStyle/>
                    <a:p>
                      <a:pPr algn="ctr">
                        <a:spcAft>
                          <a:spcPts val="0"/>
                        </a:spcAft>
                      </a:pPr>
                      <a:r>
                        <a:rPr lang="en-US" sz="2000" kern="100">
                          <a:effectLst/>
                        </a:rPr>
                        <a:t>……</a:t>
                      </a:r>
                      <a:endParaRPr lang="zh-CN" sz="1100" kern="100">
                        <a:effectLst/>
                        <a:latin typeface="Times New Roman" panose="02020603050405020304" pitchFamily="18" charset="0"/>
                        <a:ea typeface="宋体" panose="02010600030101010101" pitchFamily="2" charset="-122"/>
                      </a:endParaRPr>
                    </a:p>
                  </a:txBody>
                  <a:tcPr marL="68591" marR="68591" marT="0" marB="0" anchor="ctr"/>
                </a:tc>
                <a:tc>
                  <a:txBody>
                    <a:bodyPr/>
                    <a:lstStyle/>
                    <a:p>
                      <a:pPr algn="ctr">
                        <a:spcAft>
                          <a:spcPts val="0"/>
                        </a:spcAft>
                      </a:pPr>
                      <a:r>
                        <a:rPr lang="en-US" sz="2000" kern="100">
                          <a:effectLst/>
                        </a:rPr>
                        <a:t> </a:t>
                      </a:r>
                      <a:endParaRPr lang="zh-CN" sz="1100" kern="100">
                        <a:effectLst/>
                        <a:latin typeface="Times New Roman" panose="02020603050405020304" pitchFamily="18" charset="0"/>
                        <a:ea typeface="宋体" panose="02010600030101010101" pitchFamily="2" charset="-122"/>
                      </a:endParaRPr>
                    </a:p>
                  </a:txBody>
                  <a:tcPr marL="68591" marR="68591" marT="0" marB="0" anchor="ctr"/>
                </a:tc>
                <a:tc>
                  <a:txBody>
                    <a:bodyPr/>
                    <a:lstStyle/>
                    <a:p>
                      <a:pPr algn="ctr">
                        <a:spcAft>
                          <a:spcPts val="0"/>
                        </a:spcAft>
                      </a:pPr>
                      <a:r>
                        <a:rPr lang="en-US" sz="2000" kern="100">
                          <a:effectLst/>
                        </a:rPr>
                        <a:t> </a:t>
                      </a:r>
                      <a:endParaRPr lang="zh-CN" sz="1100" kern="100">
                        <a:effectLst/>
                        <a:latin typeface="Times New Roman" panose="02020603050405020304" pitchFamily="18" charset="0"/>
                        <a:ea typeface="宋体" panose="02010600030101010101" pitchFamily="2" charset="-122"/>
                      </a:endParaRPr>
                    </a:p>
                  </a:txBody>
                  <a:tcPr marL="68591" marR="68591" marT="0" marB="0" anchor="ctr"/>
                </a:tc>
                <a:tc>
                  <a:txBody>
                    <a:bodyPr/>
                    <a:lstStyle/>
                    <a:p>
                      <a:pPr algn="ctr">
                        <a:spcAft>
                          <a:spcPts val="0"/>
                        </a:spcAft>
                      </a:pPr>
                      <a:r>
                        <a:rPr lang="en-US" sz="2000" kern="100">
                          <a:effectLst/>
                        </a:rPr>
                        <a:t> </a:t>
                      </a:r>
                      <a:endParaRPr lang="zh-CN" sz="1100" kern="100">
                        <a:effectLst/>
                        <a:latin typeface="Times New Roman" panose="02020603050405020304" pitchFamily="18" charset="0"/>
                        <a:ea typeface="宋体" panose="02010600030101010101" pitchFamily="2" charset="-122"/>
                      </a:endParaRPr>
                    </a:p>
                  </a:txBody>
                  <a:tcPr marL="68591" marR="68591" marT="0" marB="0" anchor="ctr"/>
                </a:tc>
                <a:extLst>
                  <a:ext uri="{0D108BD9-81ED-4DB2-BD59-A6C34878D82A}">
                    <a16:rowId xmlns:a16="http://schemas.microsoft.com/office/drawing/2014/main" val="10002"/>
                  </a:ext>
                </a:extLst>
              </a:tr>
              <a:tr h="543639">
                <a:tc>
                  <a:txBody>
                    <a:bodyPr/>
                    <a:lstStyle/>
                    <a:p>
                      <a:pPr algn="ctr">
                        <a:spcAft>
                          <a:spcPts val="0"/>
                        </a:spcAft>
                      </a:pPr>
                      <a:r>
                        <a:rPr lang="en-US" sz="2000" kern="100">
                          <a:effectLst/>
                        </a:rPr>
                        <a:t>m</a:t>
                      </a:r>
                      <a:r>
                        <a:rPr lang="en-US" sz="2000" kern="100" baseline="-25000">
                          <a:effectLst/>
                        </a:rPr>
                        <a:t>k1</a:t>
                      </a:r>
                      <a:endParaRPr lang="zh-CN" sz="1100" kern="100">
                        <a:effectLst/>
                        <a:latin typeface="Times New Roman" panose="02020603050405020304" pitchFamily="18" charset="0"/>
                        <a:ea typeface="宋体" panose="02010600030101010101" pitchFamily="2" charset="-122"/>
                      </a:endParaRPr>
                    </a:p>
                  </a:txBody>
                  <a:tcPr marL="68591" marR="68591" marT="0" marB="0" anchor="ctr"/>
                </a:tc>
                <a:tc>
                  <a:txBody>
                    <a:bodyPr/>
                    <a:lstStyle/>
                    <a:p>
                      <a:pPr algn="ctr">
                        <a:spcAft>
                          <a:spcPts val="0"/>
                        </a:spcAft>
                      </a:pPr>
                      <a:r>
                        <a:rPr lang="en-US" sz="2000" kern="100">
                          <a:effectLst/>
                        </a:rPr>
                        <a:t>m</a:t>
                      </a:r>
                      <a:r>
                        <a:rPr lang="en-US" sz="2000" kern="100" baseline="-25000">
                          <a:effectLst/>
                        </a:rPr>
                        <a:t>k2</a:t>
                      </a:r>
                      <a:endParaRPr lang="zh-CN" sz="1100" kern="100">
                        <a:effectLst/>
                        <a:latin typeface="Times New Roman" panose="02020603050405020304" pitchFamily="18" charset="0"/>
                        <a:ea typeface="宋体" panose="02010600030101010101" pitchFamily="2" charset="-122"/>
                      </a:endParaRPr>
                    </a:p>
                  </a:txBody>
                  <a:tcPr marL="68591" marR="68591" marT="0" marB="0" anchor="ctr"/>
                </a:tc>
                <a:tc>
                  <a:txBody>
                    <a:bodyPr/>
                    <a:lstStyle/>
                    <a:p>
                      <a:pPr algn="ctr">
                        <a:spcAft>
                          <a:spcPts val="0"/>
                        </a:spcAft>
                      </a:pPr>
                      <a:r>
                        <a:rPr lang="en-US" sz="2000" kern="100">
                          <a:effectLst/>
                        </a:rPr>
                        <a:t>……</a:t>
                      </a:r>
                      <a:endParaRPr lang="zh-CN" sz="1100" kern="100">
                        <a:effectLst/>
                        <a:latin typeface="Times New Roman" panose="02020603050405020304" pitchFamily="18" charset="0"/>
                        <a:ea typeface="宋体" panose="02010600030101010101" pitchFamily="2" charset="-122"/>
                      </a:endParaRPr>
                    </a:p>
                  </a:txBody>
                  <a:tcPr marL="68591" marR="68591" marT="0" marB="0" anchor="ctr"/>
                </a:tc>
                <a:tc>
                  <a:txBody>
                    <a:bodyPr/>
                    <a:lstStyle/>
                    <a:p>
                      <a:pPr algn="ctr">
                        <a:spcAft>
                          <a:spcPts val="0"/>
                        </a:spcAft>
                      </a:pPr>
                      <a:r>
                        <a:rPr lang="en-US" sz="2000" kern="100" dirty="0" err="1">
                          <a:effectLst/>
                        </a:rPr>
                        <a:t>m</a:t>
                      </a:r>
                      <a:r>
                        <a:rPr lang="en-US" sz="2000" kern="100" baseline="-25000" dirty="0" err="1">
                          <a:effectLst/>
                        </a:rPr>
                        <a:t>kn</a:t>
                      </a:r>
                      <a:endParaRPr lang="zh-CN" sz="1100" kern="100" dirty="0">
                        <a:effectLst/>
                        <a:latin typeface="Times New Roman" panose="02020603050405020304" pitchFamily="18" charset="0"/>
                        <a:ea typeface="宋体" panose="02010600030101010101" pitchFamily="2" charset="-122"/>
                      </a:endParaRPr>
                    </a:p>
                  </a:txBody>
                  <a:tcPr marL="68591" marR="68591" marT="0" marB="0" anchor="ctr"/>
                </a:tc>
                <a:extLst>
                  <a:ext uri="{0D108BD9-81ED-4DB2-BD59-A6C34878D82A}">
                    <a16:rowId xmlns:a16="http://schemas.microsoft.com/office/drawing/2014/main" val="10003"/>
                  </a:ext>
                </a:extLst>
              </a:tr>
            </a:tbl>
          </a:graphicData>
        </a:graphic>
      </p:graphicFrame>
    </p:spTree>
  </p:cSld>
  <p:clrMapOvr>
    <a:masterClrMapping/>
  </p:clrMapOvr>
  <p:transition>
    <p:random/>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页脚占位符 3"/>
          <p:cNvSpPr>
            <a:spLocks noGrp="1"/>
          </p:cNvSpPr>
          <p:nvPr>
            <p:ph type="ftr" sz="quarter" idx="10"/>
          </p:nvPr>
        </p:nvSpPr>
        <p:spPr/>
        <p:txBody>
          <a:bodyPr/>
          <a:lstStyle/>
          <a:p>
            <a:pPr>
              <a:defRPr/>
            </a:pPr>
            <a:r>
              <a:rPr lang="en-US" altLang="zh-CN"/>
              <a:t>Computer Network</a:t>
            </a:r>
          </a:p>
        </p:txBody>
      </p:sp>
      <p:sp>
        <p:nvSpPr>
          <p:cNvPr id="30723" name="灯片编号占位符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2B6BEF50-3CC2-40C7-BB42-4AB0A62E58A8}" type="slidenum">
              <a:rPr lang="en-US" altLang="zh-CN" sz="1200">
                <a:latin typeface="Arial Black" panose="020B0A04020102020204" pitchFamily="34" charset="0"/>
              </a:rPr>
              <a:pPr>
                <a:spcBef>
                  <a:spcPct val="0"/>
                </a:spcBef>
                <a:buClrTx/>
                <a:buSzTx/>
                <a:buFontTx/>
                <a:buNone/>
              </a:pPr>
              <a:t>66</a:t>
            </a:fld>
            <a:endParaRPr lang="en-US" altLang="zh-CN" sz="1200">
              <a:latin typeface="Arial Black" panose="020B0A04020102020204" pitchFamily="34" charset="0"/>
            </a:endParaRPr>
          </a:p>
        </p:txBody>
      </p:sp>
      <p:sp>
        <p:nvSpPr>
          <p:cNvPr id="10" name="日期占位符 5"/>
          <p:cNvSpPr>
            <a:spLocks noGrp="1"/>
          </p:cNvSpPr>
          <p:nvPr>
            <p:ph type="dt" sz="quarter" idx="12"/>
          </p:nvPr>
        </p:nvSpPr>
        <p:spPr/>
        <p:txBody>
          <a:bodyPr/>
          <a:lstStyle/>
          <a:p>
            <a:pPr>
              <a:defRPr/>
            </a:pPr>
            <a:fld id="{7A0A6B3C-8641-43D5-89D0-3A965F034D72}" type="datetime1">
              <a:rPr lang="zh-CN" altLang="en-US"/>
              <a:pPr>
                <a:defRPr/>
              </a:pPr>
              <a:t>2024/10/18</a:t>
            </a:fld>
            <a:endParaRPr lang="en-US" altLang="zh-CN"/>
          </a:p>
        </p:txBody>
      </p:sp>
      <p:sp>
        <p:nvSpPr>
          <p:cNvPr id="850946" name="Rectangle 2"/>
          <p:cNvSpPr>
            <a:spLocks noGrp="1" noChangeArrowheads="1"/>
          </p:cNvSpPr>
          <p:nvPr>
            <p:ph type="title"/>
          </p:nvPr>
        </p:nvSpPr>
        <p:spPr>
          <a:xfrm>
            <a:off x="1740025" y="260648"/>
            <a:ext cx="1828800" cy="609600"/>
          </a:xfrm>
        </p:spPr>
        <p:txBody>
          <a:bodyPr/>
          <a:lstStyle/>
          <a:p>
            <a:pPr eaLnBrk="1" hangingPunct="1">
              <a:defRPr/>
            </a:pPr>
            <a:r>
              <a:rPr lang="zh-CN" altLang="en-US" sz="3200" b="1" dirty="0">
                <a:solidFill>
                  <a:srgbClr val="FF0000"/>
                </a:solidFill>
                <a:latin typeface="楷体_GB2312" pitchFamily="49" charset="-122"/>
              </a:rPr>
              <a:t>例</a:t>
            </a:r>
            <a:r>
              <a:rPr lang="en-US" altLang="zh-CN" sz="3200" b="1" dirty="0">
                <a:solidFill>
                  <a:srgbClr val="FF0000"/>
                </a:solidFill>
                <a:latin typeface="楷体_GB2312" pitchFamily="49" charset="-122"/>
              </a:rPr>
              <a:t>:</a:t>
            </a:r>
          </a:p>
        </p:txBody>
      </p:sp>
      <p:sp>
        <p:nvSpPr>
          <p:cNvPr id="850947" name="Rectangle 3"/>
          <p:cNvSpPr>
            <a:spLocks noGrp="1" noChangeArrowheads="1"/>
          </p:cNvSpPr>
          <p:nvPr>
            <p:ph type="body" idx="1"/>
          </p:nvPr>
        </p:nvSpPr>
        <p:spPr>
          <a:xfrm>
            <a:off x="2438400" y="2101552"/>
            <a:ext cx="6781800" cy="4495800"/>
          </a:xfrm>
        </p:spPr>
        <p:txBody>
          <a:bodyPr/>
          <a:lstStyle/>
          <a:p>
            <a:pPr eaLnBrk="1" hangingPunct="1">
              <a:buFont typeface="Wingdings" panose="05000000000000000000" pitchFamily="2" charset="2"/>
              <a:buNone/>
              <a:defRPr/>
            </a:pPr>
            <a:endParaRPr lang="en-US" altLang="zh-CN" sz="2400" dirty="0"/>
          </a:p>
          <a:p>
            <a:pPr eaLnBrk="1" hangingPunct="1">
              <a:buFont typeface="Wingdings" panose="05000000000000000000" pitchFamily="2" charset="2"/>
              <a:buNone/>
              <a:defRPr/>
            </a:pPr>
            <a:r>
              <a:rPr lang="zh-CN" altLang="en-US" sz="2400" b="1" dirty="0">
                <a:solidFill>
                  <a:srgbClr val="0000FF"/>
                </a:solidFill>
                <a:effectLst>
                  <a:outerShdw blurRad="38100" dist="38100" dir="2700000" algn="tl">
                    <a:srgbClr val="C0C0C0"/>
                  </a:outerShdw>
                </a:effectLst>
                <a:latin typeface="楷体_GB2312" pitchFamily="49" charset="-122"/>
                <a:ea typeface="楷体_GB2312" pitchFamily="49" charset="-122"/>
              </a:rPr>
              <a:t>字符   </a:t>
            </a:r>
            <a:r>
              <a:rPr lang="en-US" altLang="zh-CN" sz="2400" dirty="0">
                <a:solidFill>
                  <a:srgbClr val="0000FF"/>
                </a:solidFill>
                <a:effectLst>
                  <a:outerShdw blurRad="38100" dist="38100" dir="2700000" algn="tl">
                    <a:srgbClr val="C0C0C0"/>
                  </a:outerShdw>
                </a:effectLst>
                <a:latin typeface="Verdana" pitchFamily="34" charset="0"/>
                <a:ea typeface="楷体_GB2312" pitchFamily="49" charset="-122"/>
              </a:rPr>
              <a:t>ASCII </a:t>
            </a:r>
            <a:r>
              <a:rPr lang="en-US" altLang="zh-CN" sz="2400" b="1" dirty="0">
                <a:solidFill>
                  <a:srgbClr val="0000FF"/>
                </a:solidFill>
                <a:effectLst>
                  <a:outerShdw blurRad="38100" dist="38100" dir="2700000" algn="tl">
                    <a:srgbClr val="C0C0C0"/>
                  </a:outerShdw>
                </a:effectLst>
                <a:latin typeface="楷体_GB2312" pitchFamily="49" charset="-122"/>
                <a:ea typeface="楷体_GB2312" pitchFamily="49" charset="-122"/>
              </a:rPr>
              <a:t>           </a:t>
            </a:r>
            <a:r>
              <a:rPr lang="zh-CN" altLang="en-US" sz="2400" b="1" dirty="0">
                <a:solidFill>
                  <a:srgbClr val="0000FF"/>
                </a:solidFill>
                <a:effectLst>
                  <a:outerShdw blurRad="38100" dist="38100" dir="2700000" algn="tl">
                    <a:srgbClr val="C0C0C0"/>
                  </a:outerShdw>
                </a:effectLst>
                <a:latin typeface="楷体_GB2312" pitchFamily="49" charset="-122"/>
                <a:ea typeface="楷体_GB2312" pitchFamily="49" charset="-122"/>
              </a:rPr>
              <a:t>校验位</a:t>
            </a:r>
          </a:p>
          <a:p>
            <a:pPr eaLnBrk="1" hangingPunct="1">
              <a:buFont typeface="Wingdings" panose="05000000000000000000" pitchFamily="2" charset="2"/>
              <a:buNone/>
              <a:defRPr/>
            </a:pPr>
            <a:r>
              <a:rPr lang="en-US" altLang="zh-CN" sz="2400" dirty="0"/>
              <a:t>H        1001000              00110010000</a:t>
            </a:r>
          </a:p>
          <a:p>
            <a:pPr eaLnBrk="1" hangingPunct="1">
              <a:buFont typeface="Wingdings" panose="05000000000000000000" pitchFamily="2" charset="2"/>
              <a:buNone/>
              <a:defRPr/>
            </a:pPr>
            <a:r>
              <a:rPr lang="en-US" altLang="zh-CN" sz="2400" dirty="0"/>
              <a:t>a         1100001              10111001001</a:t>
            </a:r>
          </a:p>
          <a:p>
            <a:pPr eaLnBrk="1" hangingPunct="1">
              <a:buFont typeface="Wingdings" panose="05000000000000000000" pitchFamily="2" charset="2"/>
              <a:buNone/>
              <a:defRPr/>
            </a:pPr>
            <a:r>
              <a:rPr lang="en-US" altLang="zh-CN" sz="2400" dirty="0"/>
              <a:t>m        1101101              11101010101</a:t>
            </a:r>
          </a:p>
          <a:p>
            <a:pPr eaLnBrk="1" hangingPunct="1">
              <a:buFont typeface="Wingdings" panose="05000000000000000000" pitchFamily="2" charset="2"/>
              <a:buNone/>
              <a:defRPr/>
            </a:pPr>
            <a:r>
              <a:rPr lang="en-US" altLang="zh-CN" sz="2400" dirty="0"/>
              <a:t>m        1101101              11101010101</a:t>
            </a:r>
          </a:p>
          <a:p>
            <a:pPr eaLnBrk="1" hangingPunct="1">
              <a:buFont typeface="Wingdings" panose="05000000000000000000" pitchFamily="2" charset="2"/>
              <a:buNone/>
              <a:defRPr/>
            </a:pPr>
            <a:r>
              <a:rPr lang="en-US" altLang="zh-CN" sz="2400" dirty="0"/>
              <a:t> </a:t>
            </a:r>
            <a:r>
              <a:rPr lang="en-US" altLang="zh-CN" sz="2400" dirty="0" err="1"/>
              <a:t>i</a:t>
            </a:r>
            <a:r>
              <a:rPr lang="en-US" altLang="zh-CN" sz="2400" dirty="0"/>
              <a:t>         1101001              01101011001</a:t>
            </a:r>
          </a:p>
          <a:p>
            <a:pPr eaLnBrk="1" hangingPunct="1">
              <a:buFont typeface="Wingdings" panose="05000000000000000000" pitchFamily="2" charset="2"/>
              <a:buNone/>
              <a:defRPr/>
            </a:pPr>
            <a:r>
              <a:rPr lang="en-US" altLang="zh-CN" sz="2400" dirty="0"/>
              <a:t>n         1101110              01101010110</a:t>
            </a:r>
          </a:p>
          <a:p>
            <a:pPr eaLnBrk="1" hangingPunct="1">
              <a:buFont typeface="Wingdings" panose="05000000000000000000" pitchFamily="2" charset="2"/>
              <a:buNone/>
              <a:defRPr/>
            </a:pPr>
            <a:r>
              <a:rPr lang="en-US" altLang="zh-CN" sz="2400" dirty="0"/>
              <a:t>g         1100111              11111001111</a:t>
            </a:r>
          </a:p>
          <a:p>
            <a:pPr eaLnBrk="1" hangingPunct="1">
              <a:buFont typeface="Wingdings" panose="05000000000000000000" pitchFamily="2" charset="2"/>
              <a:buNone/>
              <a:defRPr/>
            </a:pPr>
            <a:r>
              <a:rPr lang="en-US" altLang="zh-CN" sz="2400" b="1" dirty="0"/>
              <a:t>           </a:t>
            </a:r>
          </a:p>
        </p:txBody>
      </p:sp>
      <p:grpSp>
        <p:nvGrpSpPr>
          <p:cNvPr id="30727" name="Group 4"/>
          <p:cNvGrpSpPr>
            <a:grpSpLocks/>
          </p:cNvGrpSpPr>
          <p:nvPr/>
        </p:nvGrpSpPr>
        <p:grpSpPr bwMode="auto">
          <a:xfrm>
            <a:off x="5101406" y="2852936"/>
            <a:ext cx="490538" cy="3200400"/>
            <a:chOff x="2400" y="1728"/>
            <a:chExt cx="270" cy="2352"/>
          </a:xfrm>
        </p:grpSpPr>
        <p:sp>
          <p:nvSpPr>
            <p:cNvPr id="30729" name="Line 5"/>
            <p:cNvSpPr>
              <a:spLocks noChangeShapeType="1"/>
            </p:cNvSpPr>
            <p:nvPr/>
          </p:nvSpPr>
          <p:spPr bwMode="auto">
            <a:xfrm>
              <a:off x="2670" y="1728"/>
              <a:ext cx="0" cy="2352"/>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30" name="Text Box 6"/>
            <p:cNvSpPr txBox="1">
              <a:spLocks noChangeArrowheads="1"/>
            </p:cNvSpPr>
            <p:nvPr/>
          </p:nvSpPr>
          <p:spPr bwMode="auto">
            <a:xfrm>
              <a:off x="2400" y="1761"/>
              <a:ext cx="243" cy="2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000" b="1">
                  <a:latin typeface="Times New Roman" panose="02020603050405020304" pitchFamily="18" charset="0"/>
                  <a:ea typeface="楷体_GB2312" pitchFamily="49" charset="-122"/>
                </a:rPr>
                <a:t>位</a:t>
              </a:r>
            </a:p>
            <a:p>
              <a:pPr eaLnBrk="1" hangingPunct="1">
                <a:spcBef>
                  <a:spcPct val="0"/>
                </a:spcBef>
                <a:buClrTx/>
                <a:buSzTx/>
                <a:buFontTx/>
                <a:buNone/>
              </a:pPr>
              <a:endParaRPr kumimoji="1" lang="zh-CN" altLang="en-US" sz="2000" b="1">
                <a:latin typeface="Times New Roman" panose="02020603050405020304" pitchFamily="18" charset="0"/>
                <a:ea typeface="楷体_GB2312" pitchFamily="49" charset="-122"/>
              </a:endParaRPr>
            </a:p>
            <a:p>
              <a:pPr eaLnBrk="1" hangingPunct="1">
                <a:spcBef>
                  <a:spcPct val="0"/>
                </a:spcBef>
                <a:buClrTx/>
                <a:buSzTx/>
                <a:buFontTx/>
                <a:buNone/>
              </a:pPr>
              <a:r>
                <a:rPr kumimoji="1" lang="zh-CN" altLang="en-US" sz="2000" b="1">
                  <a:latin typeface="Times New Roman" panose="02020603050405020304" pitchFamily="18" charset="0"/>
                  <a:ea typeface="楷体_GB2312" pitchFamily="49" charset="-122"/>
                </a:rPr>
                <a:t>传</a:t>
              </a:r>
            </a:p>
            <a:p>
              <a:pPr eaLnBrk="1" hangingPunct="1">
                <a:spcBef>
                  <a:spcPct val="0"/>
                </a:spcBef>
                <a:buClrTx/>
                <a:buSzTx/>
                <a:buFontTx/>
                <a:buNone/>
              </a:pPr>
              <a:endParaRPr kumimoji="1" lang="zh-CN" altLang="en-US" sz="2000" b="1">
                <a:latin typeface="Times New Roman" panose="02020603050405020304" pitchFamily="18" charset="0"/>
                <a:ea typeface="楷体_GB2312" pitchFamily="49" charset="-122"/>
              </a:endParaRPr>
            </a:p>
            <a:p>
              <a:pPr eaLnBrk="1" hangingPunct="1">
                <a:spcBef>
                  <a:spcPct val="0"/>
                </a:spcBef>
                <a:buClrTx/>
                <a:buSzTx/>
                <a:buFontTx/>
                <a:buNone/>
              </a:pPr>
              <a:r>
                <a:rPr kumimoji="1" lang="zh-CN" altLang="en-US" sz="2000" b="1">
                  <a:latin typeface="Times New Roman" panose="02020603050405020304" pitchFamily="18" charset="0"/>
                  <a:ea typeface="楷体_GB2312" pitchFamily="49" charset="-122"/>
                </a:rPr>
                <a:t>输</a:t>
              </a:r>
            </a:p>
            <a:p>
              <a:pPr eaLnBrk="1" hangingPunct="1">
                <a:spcBef>
                  <a:spcPct val="0"/>
                </a:spcBef>
                <a:buClrTx/>
                <a:buSzTx/>
                <a:buFontTx/>
                <a:buNone/>
              </a:pPr>
              <a:endParaRPr kumimoji="1" lang="zh-CN" altLang="en-US" sz="2000" b="1">
                <a:latin typeface="Times New Roman" panose="02020603050405020304" pitchFamily="18" charset="0"/>
                <a:ea typeface="楷体_GB2312" pitchFamily="49" charset="-122"/>
              </a:endParaRPr>
            </a:p>
            <a:p>
              <a:pPr eaLnBrk="1" hangingPunct="1">
                <a:spcBef>
                  <a:spcPct val="0"/>
                </a:spcBef>
                <a:buClrTx/>
                <a:buSzTx/>
                <a:buFontTx/>
                <a:buNone/>
              </a:pPr>
              <a:r>
                <a:rPr kumimoji="1" lang="zh-CN" altLang="en-US" sz="2000" b="1">
                  <a:latin typeface="Times New Roman" panose="02020603050405020304" pitchFamily="18" charset="0"/>
                  <a:ea typeface="楷体_GB2312" pitchFamily="49" charset="-122"/>
                </a:rPr>
                <a:t>顺</a:t>
              </a:r>
            </a:p>
            <a:p>
              <a:pPr eaLnBrk="1" hangingPunct="1">
                <a:spcBef>
                  <a:spcPct val="0"/>
                </a:spcBef>
                <a:buClrTx/>
                <a:buSzTx/>
                <a:buFontTx/>
                <a:buNone/>
              </a:pPr>
              <a:endParaRPr kumimoji="1" lang="zh-CN" altLang="en-US" sz="2000" b="1">
                <a:latin typeface="Times New Roman" panose="02020603050405020304" pitchFamily="18" charset="0"/>
                <a:ea typeface="楷体_GB2312" pitchFamily="49" charset="-122"/>
              </a:endParaRPr>
            </a:p>
            <a:p>
              <a:pPr eaLnBrk="1" hangingPunct="1">
                <a:spcBef>
                  <a:spcPct val="0"/>
                </a:spcBef>
                <a:buClrTx/>
                <a:buSzTx/>
                <a:buFontTx/>
                <a:buNone/>
              </a:pPr>
              <a:r>
                <a:rPr kumimoji="1" lang="zh-CN" altLang="en-US" sz="2000" b="1">
                  <a:latin typeface="Times New Roman" panose="02020603050405020304" pitchFamily="18" charset="0"/>
                  <a:ea typeface="楷体_GB2312" pitchFamily="49" charset="-122"/>
                </a:rPr>
                <a:t>序</a:t>
              </a:r>
            </a:p>
          </p:txBody>
        </p:sp>
      </p:grpSp>
      <p:graphicFrame>
        <p:nvGraphicFramePr>
          <p:cNvPr id="30728" name="Object 7"/>
          <p:cNvGraphicFramePr>
            <a:graphicFrameLocks noChangeAspect="1"/>
          </p:cNvGraphicFramePr>
          <p:nvPr/>
        </p:nvGraphicFramePr>
        <p:xfrm>
          <a:off x="6528049" y="764705"/>
          <a:ext cx="2903537" cy="1509713"/>
        </p:xfrm>
        <a:graphic>
          <a:graphicData uri="http://schemas.openxmlformats.org/presentationml/2006/ole">
            <mc:AlternateContent xmlns:mc="http://schemas.openxmlformats.org/markup-compatibility/2006">
              <mc:Choice xmlns:v="urn:schemas-microsoft-com:vml" Requires="v">
                <p:oleObj spid="_x0000_s4101" name="Equation" r:id="rId3" imgW="1143000" imgH="685800" progId="Equation.DSMT4">
                  <p:embed/>
                </p:oleObj>
              </mc:Choice>
              <mc:Fallback>
                <p:oleObj name="Equation" r:id="rId3" imgW="1143000" imgH="685800" progId="Equation.DSMT4">
                  <p:embed/>
                  <p:pic>
                    <p:nvPicPr>
                      <p:cNvPr id="30728"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28049" y="764705"/>
                        <a:ext cx="2903537" cy="1509713"/>
                      </a:xfrm>
                      <a:prstGeom prst="rect">
                        <a:avLst/>
                      </a:prstGeom>
                      <a:solidFill>
                        <a:schemeClr val="accent1"/>
                      </a:solidFill>
                      <a:ln>
                        <a:noFill/>
                      </a:ln>
                    </p:spPr>
                  </p:pic>
                </p:oleObj>
              </mc:Fallback>
            </mc:AlternateContent>
          </a:graphicData>
        </a:graphic>
      </p:graphicFrame>
      <p:sp>
        <p:nvSpPr>
          <p:cNvPr id="2" name="文本框 1"/>
          <p:cNvSpPr txBox="1"/>
          <p:nvPr/>
        </p:nvSpPr>
        <p:spPr>
          <a:xfrm>
            <a:off x="8275340" y="2863112"/>
            <a:ext cx="1440160" cy="955903"/>
          </a:xfrm>
          <a:prstGeom prst="rect">
            <a:avLst/>
          </a:prstGeom>
          <a:noFill/>
        </p:spPr>
        <p:txBody>
          <a:bodyPr wrap="square" rtlCol="0">
            <a:spAutoFit/>
          </a:bodyPr>
          <a:lstStyle/>
          <a:p>
            <a:pPr algn="ctr">
              <a:lnSpc>
                <a:spcPct val="150000"/>
              </a:lnSpc>
            </a:pPr>
            <a:r>
              <a:rPr lang="zh-CN" altLang="en-US" b="1" dirty="0">
                <a:solidFill>
                  <a:srgbClr val="FF0000"/>
                </a:solidFill>
              </a:rPr>
              <a:t>水平校验</a:t>
            </a:r>
            <a:endParaRPr lang="en-US" altLang="zh-CN" b="1" dirty="0">
              <a:solidFill>
                <a:srgbClr val="FF0000"/>
              </a:solidFill>
            </a:endParaRPr>
          </a:p>
          <a:p>
            <a:pPr algn="ctr">
              <a:lnSpc>
                <a:spcPct val="150000"/>
              </a:lnSpc>
            </a:pPr>
            <a:r>
              <a:rPr lang="zh-CN" altLang="en-US" b="1" dirty="0">
                <a:solidFill>
                  <a:srgbClr val="FF0000"/>
                </a:solidFill>
              </a:rPr>
              <a:t>垂直发送</a:t>
            </a:r>
          </a:p>
        </p:txBody>
      </p:sp>
    </p:spTree>
  </p:cSld>
  <p:clrMapOvr>
    <a:masterClrMapping/>
  </p:clrMapOvr>
  <p:transition>
    <p:random/>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典型纠错码</a:t>
            </a:r>
            <a:r>
              <a:rPr kumimoji="1" lang="en-US" altLang="zh-CN" sz="3200" dirty="0"/>
              <a:t>—</a:t>
            </a:r>
            <a:r>
              <a:rPr kumimoji="1" lang="zh-CN" altLang="en-US" sz="3200" dirty="0">
                <a:solidFill>
                  <a:schemeClr val="accent1">
                    <a:lumMod val="75000"/>
                  </a:schemeClr>
                </a:solidFill>
              </a:rPr>
              <a:t>海明码（小结）</a:t>
            </a:r>
          </a:p>
        </p:txBody>
      </p:sp>
      <p:sp>
        <p:nvSpPr>
          <p:cNvPr id="3" name="内容占位符 2"/>
          <p:cNvSpPr>
            <a:spLocks noGrp="1"/>
          </p:cNvSpPr>
          <p:nvPr>
            <p:ph idx="1"/>
          </p:nvPr>
        </p:nvSpPr>
        <p:spPr>
          <a:xfrm>
            <a:off x="838200" y="1383632"/>
            <a:ext cx="10515600" cy="4872789"/>
          </a:xfrm>
        </p:spPr>
        <p:txBody>
          <a:bodyPr>
            <a:noAutofit/>
          </a:bodyPr>
          <a:lstStyle/>
          <a:p>
            <a:pPr>
              <a:lnSpc>
                <a:spcPts val="3300"/>
              </a:lnSpc>
            </a:pPr>
            <a:r>
              <a:rPr lang="zh-CN" altLang="en-US" sz="2600" dirty="0">
                <a:sym typeface="Symbol" panose="05050102010706020507" pitchFamily="18" charset="2"/>
              </a:rPr>
              <a:t>海明码纠正的实现过程</a:t>
            </a:r>
          </a:p>
          <a:p>
            <a:pPr lvl="1">
              <a:lnSpc>
                <a:spcPts val="3300"/>
              </a:lnSpc>
            </a:pPr>
            <a:r>
              <a:rPr lang="zh-CN" altLang="en-US" sz="2200" dirty="0"/>
              <a:t>每个码字到来前，接收方计数器清零</a:t>
            </a:r>
          </a:p>
          <a:p>
            <a:pPr lvl="1">
              <a:lnSpc>
                <a:spcPts val="3300"/>
              </a:lnSpc>
            </a:pPr>
            <a:r>
              <a:rPr lang="zh-CN" altLang="en-US" sz="2200" dirty="0"/>
              <a:t>接收方检查每个校验位</a:t>
            </a:r>
            <a:r>
              <a:rPr lang="en-US" altLang="zh-CN" sz="2200" dirty="0"/>
              <a:t>k (k = 1, 2, 4 …)</a:t>
            </a:r>
            <a:r>
              <a:rPr lang="zh-CN" altLang="en-US" sz="2200" dirty="0"/>
              <a:t>的奇偶值是否正确（每组运算）</a:t>
            </a:r>
          </a:p>
          <a:p>
            <a:pPr lvl="1">
              <a:lnSpc>
                <a:spcPts val="3300"/>
              </a:lnSpc>
            </a:pPr>
            <a:r>
              <a:rPr lang="zh-CN" altLang="en-US" sz="2200" dirty="0"/>
              <a:t>若 </a:t>
            </a:r>
            <a:r>
              <a:rPr lang="en-US" altLang="zh-CN" sz="2200" dirty="0" err="1"/>
              <a:t>pk</a:t>
            </a:r>
            <a:r>
              <a:rPr lang="en-US" altLang="zh-CN" sz="2200" dirty="0"/>
              <a:t> </a:t>
            </a:r>
            <a:r>
              <a:rPr lang="zh-CN" altLang="en-US" sz="2200" dirty="0"/>
              <a:t>奇偶值不对，计数器加 </a:t>
            </a:r>
            <a:r>
              <a:rPr lang="en-US" altLang="zh-CN" sz="2200" dirty="0"/>
              <a:t>k</a:t>
            </a:r>
          </a:p>
          <a:p>
            <a:pPr lvl="1">
              <a:lnSpc>
                <a:spcPts val="3300"/>
              </a:lnSpc>
            </a:pPr>
            <a:r>
              <a:rPr lang="zh-CN" altLang="en-US" sz="2200" dirty="0"/>
              <a:t>所有校验位检查完后，若计数器值为</a:t>
            </a:r>
            <a:r>
              <a:rPr lang="en-US" altLang="zh-CN" sz="2200" dirty="0"/>
              <a:t>0</a:t>
            </a:r>
            <a:r>
              <a:rPr lang="zh-CN" altLang="en-US" sz="2200" dirty="0"/>
              <a:t>，则码字有效；若计数器值为 </a:t>
            </a:r>
            <a:r>
              <a:rPr lang="en-US" altLang="zh-CN" sz="2200" dirty="0"/>
              <a:t>j</a:t>
            </a:r>
            <a:r>
              <a:rPr lang="zh-CN" altLang="en-US" sz="2200" dirty="0"/>
              <a:t>，则第 </a:t>
            </a:r>
            <a:r>
              <a:rPr lang="en-US" altLang="zh-CN" sz="2200" dirty="0"/>
              <a:t>j </a:t>
            </a:r>
            <a:r>
              <a:rPr lang="zh-CN" altLang="en-US" sz="2200" dirty="0"/>
              <a:t>位出错。例：若校验位</a:t>
            </a:r>
            <a:r>
              <a:rPr lang="en-US" altLang="zh-CN" sz="2200" dirty="0"/>
              <a:t>p1</a:t>
            </a:r>
            <a:r>
              <a:rPr lang="zh-CN" altLang="en-US" sz="2200" dirty="0"/>
              <a:t>、</a:t>
            </a:r>
            <a:r>
              <a:rPr lang="en-US" altLang="zh-CN" sz="2200" dirty="0"/>
              <a:t>p2</a:t>
            </a:r>
            <a:r>
              <a:rPr lang="zh-CN" altLang="en-US" sz="2200" dirty="0"/>
              <a:t>、</a:t>
            </a:r>
            <a:r>
              <a:rPr lang="en-US" altLang="zh-CN" sz="2200" dirty="0"/>
              <a:t>p8</a:t>
            </a:r>
            <a:r>
              <a:rPr lang="zh-CN" altLang="en-US" sz="2200" dirty="0"/>
              <a:t>出错，则第</a:t>
            </a:r>
            <a:r>
              <a:rPr lang="en-US" altLang="zh-CN" sz="2200" dirty="0"/>
              <a:t>11</a:t>
            </a:r>
            <a:r>
              <a:rPr lang="zh-CN" altLang="en-US" sz="2200" dirty="0"/>
              <a:t>位变反</a:t>
            </a:r>
          </a:p>
          <a:p>
            <a:pPr>
              <a:lnSpc>
                <a:spcPts val="3300"/>
              </a:lnSpc>
              <a:spcBef>
                <a:spcPts val="1200"/>
              </a:spcBef>
            </a:pPr>
            <a:r>
              <a:rPr lang="zh-CN" altLang="en-US" sz="2600" dirty="0"/>
              <a:t>使用海明码纠正突发错误</a:t>
            </a:r>
          </a:p>
          <a:p>
            <a:pPr lvl="1">
              <a:lnSpc>
                <a:spcPts val="3300"/>
              </a:lnSpc>
            </a:pPr>
            <a:r>
              <a:rPr lang="zh-CN" altLang="en-US" sz="2200" dirty="0"/>
              <a:t>可采用</a:t>
            </a:r>
            <a:r>
              <a:rPr lang="en-US" altLang="zh-CN" sz="2200" dirty="0"/>
              <a:t>k</a:t>
            </a:r>
            <a:r>
              <a:rPr lang="zh-CN" altLang="en-US" sz="2200" dirty="0"/>
              <a:t>个码字（</a:t>
            </a:r>
            <a:r>
              <a:rPr lang="en-US" altLang="zh-CN" sz="2200" dirty="0"/>
              <a:t>n = m + r</a:t>
            </a:r>
            <a:r>
              <a:rPr lang="zh-CN" altLang="en-US" sz="2200" dirty="0"/>
              <a:t>）</a:t>
            </a:r>
            <a:r>
              <a:rPr lang="zh-CN" altLang="zh-CN" sz="2200" dirty="0"/>
              <a:t>组成</a:t>
            </a:r>
            <a:r>
              <a:rPr lang="zh-CN" altLang="en-US" sz="2200" dirty="0"/>
              <a:t> </a:t>
            </a:r>
            <a:r>
              <a:rPr lang="en-US" altLang="zh-CN" sz="2200" dirty="0"/>
              <a:t>k </a:t>
            </a:r>
            <a:r>
              <a:rPr lang="en-US" altLang="zh-CN" sz="2200" dirty="0">
                <a:sym typeface="Symbol" panose="05050102010706020507" pitchFamily="18" charset="2"/>
              </a:rPr>
              <a:t> n </a:t>
            </a:r>
            <a:r>
              <a:rPr lang="zh-CN" altLang="en-US" sz="2200" dirty="0">
                <a:sym typeface="Symbol" panose="05050102010706020507" pitchFamily="18" charset="2"/>
              </a:rPr>
              <a:t>矩阵，按列发送，接收方恢复成</a:t>
            </a:r>
            <a:r>
              <a:rPr lang="zh-CN" altLang="en-US" sz="2200" dirty="0"/>
              <a:t> </a:t>
            </a:r>
            <a:r>
              <a:rPr lang="en-US" altLang="zh-CN" sz="2200" dirty="0"/>
              <a:t>k </a:t>
            </a:r>
            <a:r>
              <a:rPr lang="en-US" altLang="zh-CN" sz="2200" dirty="0">
                <a:sym typeface="Symbol" panose="05050102010706020507" pitchFamily="18" charset="2"/>
              </a:rPr>
              <a:t> n </a:t>
            </a:r>
            <a:r>
              <a:rPr lang="zh-CN" altLang="en-US" sz="2200" dirty="0">
                <a:sym typeface="Symbol" panose="05050102010706020507" pitchFamily="18" charset="2"/>
              </a:rPr>
              <a:t>矩阵</a:t>
            </a:r>
          </a:p>
          <a:p>
            <a:pPr lvl="1">
              <a:lnSpc>
                <a:spcPts val="3300"/>
              </a:lnSpc>
            </a:pPr>
            <a:r>
              <a:rPr lang="en-US" altLang="zh-CN" sz="2200" dirty="0" err="1">
                <a:sym typeface="Symbol" panose="05050102010706020507" pitchFamily="18" charset="2"/>
              </a:rPr>
              <a:t>kr</a:t>
            </a:r>
            <a:r>
              <a:rPr lang="zh-CN" altLang="zh-CN" sz="2200" dirty="0">
                <a:sym typeface="Symbol" panose="05050102010706020507" pitchFamily="18" charset="2"/>
              </a:rPr>
              <a:t>个校验位，</a:t>
            </a:r>
            <a:r>
              <a:rPr lang="en-US" altLang="zh-CN" sz="2200" dirty="0">
                <a:sym typeface="Symbol" panose="05050102010706020507" pitchFamily="18" charset="2"/>
              </a:rPr>
              <a:t>km</a:t>
            </a:r>
            <a:r>
              <a:rPr lang="zh-CN" altLang="zh-CN" sz="2200" dirty="0">
                <a:sym typeface="Symbol" panose="05050102010706020507" pitchFamily="18" charset="2"/>
              </a:rPr>
              <a:t>个数据位，可纠正最多为</a:t>
            </a:r>
            <a:r>
              <a:rPr lang="en-US" altLang="zh-CN" sz="2200" dirty="0">
                <a:sym typeface="Symbol" panose="05050102010706020507" pitchFamily="18" charset="2"/>
              </a:rPr>
              <a:t>k</a:t>
            </a:r>
            <a:r>
              <a:rPr lang="zh-CN" altLang="zh-CN" sz="2200" dirty="0">
                <a:sym typeface="Symbol" panose="05050102010706020507" pitchFamily="18" charset="2"/>
              </a:rPr>
              <a:t>个的突发性连续比特错</a:t>
            </a:r>
            <a:endParaRPr lang="zh-CN" altLang="en-US" sz="2200" dirty="0"/>
          </a:p>
        </p:txBody>
      </p:sp>
      <p:sp>
        <p:nvSpPr>
          <p:cNvPr id="4" name="幻灯片编号占位符 3"/>
          <p:cNvSpPr>
            <a:spLocks noGrp="1"/>
          </p:cNvSpPr>
          <p:nvPr>
            <p:ph type="sldNum" sz="quarter" idx="12"/>
          </p:nvPr>
        </p:nvSpPr>
        <p:spPr/>
        <p:txBody>
          <a:bodyPr/>
          <a:lstStyle/>
          <a:p>
            <a:fld id="{8D4D1E41-7A09-AB4A-A4E1-09765ADA2698}" type="slidenum">
              <a:rPr kumimoji="1" lang="zh-CN" altLang="en-US" smtClean="0"/>
              <a:t>67</a:t>
            </a:fld>
            <a:endParaRPr kumimoji="1" lang="zh-CN" altLang="en-US" dirty="0"/>
          </a:p>
        </p:txBody>
      </p:sp>
      <p:sp>
        <p:nvSpPr>
          <p:cNvPr id="5" name="文本框 4">
            <a:extLst>
              <a:ext uri="{FF2B5EF4-FFF2-40B4-BE49-F238E27FC236}">
                <a16:creationId xmlns:a16="http://schemas.microsoft.com/office/drawing/2014/main" id="{082CC463-A981-4E7E-8F03-FAA795786BD7}"/>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3.2 </a:t>
            </a:r>
            <a:r>
              <a:rPr lang="zh-CN" altLang="en-US" dirty="0">
                <a:solidFill>
                  <a:schemeClr val="bg1">
                    <a:lumMod val="65000"/>
                  </a:schemeClr>
                </a:solidFill>
                <a:latin typeface="微软雅黑" panose="020B0503020204020204" pitchFamily="34" charset="-122"/>
                <a:ea typeface="微软雅黑" panose="020B0503020204020204" pitchFamily="34" charset="-122"/>
              </a:rPr>
              <a:t>差错检测和纠正</a:t>
            </a:r>
          </a:p>
        </p:txBody>
      </p:sp>
      <p:sp>
        <p:nvSpPr>
          <p:cNvPr id="6" name="文本框 5">
            <a:extLst>
              <a:ext uri="{FF2B5EF4-FFF2-40B4-BE49-F238E27FC236}">
                <a16:creationId xmlns:a16="http://schemas.microsoft.com/office/drawing/2014/main" id="{0AF35379-6DE8-43C5-A6FD-98ABA367A3B2}"/>
              </a:ext>
            </a:extLst>
          </p:cNvPr>
          <p:cNvSpPr txBox="1"/>
          <p:nvPr/>
        </p:nvSpPr>
        <p:spPr>
          <a:xfrm>
            <a:off x="1948837" y="6411392"/>
            <a:ext cx="8257844" cy="369332"/>
          </a:xfrm>
          <a:prstGeom prst="rect">
            <a:avLst/>
          </a:prstGeom>
          <a:noFill/>
        </p:spPr>
        <p:txBody>
          <a:bodyPr wrap="square" rtlCol="0">
            <a:spAutoFit/>
          </a:bodyPr>
          <a:lstStyle/>
          <a:p>
            <a:pPr algn="ctr"/>
            <a:r>
              <a:rPr lang="zh-CN" altLang="en-US" dirty="0">
                <a:latin typeface="微软雅黑" panose="020B0503020204020204" pitchFamily="34" charset="-122"/>
                <a:ea typeface="微软雅黑" panose="020B0503020204020204" pitchFamily="34" charset="-122"/>
              </a:rPr>
              <a:t>引自：清华大学崔勇老师提供的讲稿</a:t>
            </a:r>
          </a:p>
        </p:txBody>
      </p:sp>
    </p:spTree>
    <p:extLst>
      <p:ext uri="{BB962C8B-B14F-4D97-AF65-F5344CB8AC3E}">
        <p14:creationId xmlns:p14="http://schemas.microsoft.com/office/powerpoint/2010/main" val="70353048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DCC7AC-475E-1E4C-8CD6-1AECBEC28035}"/>
              </a:ext>
            </a:extLst>
          </p:cNvPr>
          <p:cNvSpPr>
            <a:spLocks noGrp="1"/>
          </p:cNvSpPr>
          <p:nvPr>
            <p:ph type="title"/>
          </p:nvPr>
        </p:nvSpPr>
        <p:spPr/>
        <p:txBody>
          <a:bodyPr/>
          <a:lstStyle/>
          <a:p>
            <a:r>
              <a:rPr lang="zh-CN" altLang="en-US" dirty="0"/>
              <a:t>本章内容</a:t>
            </a:r>
            <a:endParaRPr kumimoji="1" lang="zh-CN" altLang="en-US" dirty="0"/>
          </a:p>
        </p:txBody>
      </p:sp>
      <p:sp>
        <p:nvSpPr>
          <p:cNvPr id="3" name="内容占位符 2">
            <a:extLst>
              <a:ext uri="{FF2B5EF4-FFF2-40B4-BE49-F238E27FC236}">
                <a16:creationId xmlns:a16="http://schemas.microsoft.com/office/drawing/2014/main" id="{ED1732F0-50F7-8947-81D6-CBBAE8232DE9}"/>
              </a:ext>
            </a:extLst>
          </p:cNvPr>
          <p:cNvSpPr>
            <a:spLocks noGrp="1"/>
          </p:cNvSpPr>
          <p:nvPr>
            <p:ph idx="1"/>
          </p:nvPr>
        </p:nvSpPr>
        <p:spPr/>
        <p:txBody>
          <a:bodyPr>
            <a:normAutofit/>
          </a:bodyPr>
          <a:lstStyle/>
          <a:p>
            <a:pPr marL="0" indent="0">
              <a:lnSpc>
                <a:spcPct val="130000"/>
              </a:lnSpc>
              <a:buNone/>
            </a:pPr>
            <a:r>
              <a:rPr kumimoji="1" lang="en-US" altLang="zh-CN" dirty="0"/>
              <a:t>3.1 </a:t>
            </a:r>
            <a:r>
              <a:rPr kumimoji="1" lang="zh-CN" altLang="zh-CN" dirty="0"/>
              <a:t>数据链路层的设计问题</a:t>
            </a:r>
            <a:endParaRPr kumimoji="1" lang="en-US" altLang="zh-CN" dirty="0"/>
          </a:p>
          <a:p>
            <a:pPr marL="0" indent="0">
              <a:lnSpc>
                <a:spcPct val="130000"/>
              </a:lnSpc>
              <a:buNone/>
            </a:pPr>
            <a:r>
              <a:rPr kumimoji="1" lang="en-US" altLang="zh-CN" dirty="0"/>
              <a:t>3.2 </a:t>
            </a:r>
            <a:r>
              <a:rPr kumimoji="1" lang="zh-CN" altLang="zh-CN" dirty="0"/>
              <a:t>差错检测和纠正</a:t>
            </a:r>
            <a:endParaRPr kumimoji="1" lang="en-US" altLang="zh-CN" dirty="0"/>
          </a:p>
          <a:p>
            <a:pPr marL="0" indent="0">
              <a:lnSpc>
                <a:spcPct val="130000"/>
              </a:lnSpc>
              <a:buNone/>
            </a:pPr>
            <a:r>
              <a:rPr kumimoji="1" lang="en-US" altLang="zh-CN" dirty="0">
                <a:solidFill>
                  <a:srgbClr val="C00000"/>
                </a:solidFill>
              </a:rPr>
              <a:t>3.3 </a:t>
            </a:r>
            <a:r>
              <a:rPr kumimoji="1" lang="zh-CN" altLang="zh-CN" dirty="0">
                <a:solidFill>
                  <a:srgbClr val="C00000"/>
                </a:solidFill>
              </a:rPr>
              <a:t>基本的数据链路层协议</a:t>
            </a:r>
            <a:endParaRPr kumimoji="1" lang="zh-CN" altLang="en-US" dirty="0">
              <a:solidFill>
                <a:srgbClr val="C00000"/>
              </a:solidFill>
            </a:endParaRPr>
          </a:p>
          <a:p>
            <a:pPr marL="0" indent="0">
              <a:lnSpc>
                <a:spcPct val="130000"/>
              </a:lnSpc>
              <a:buNone/>
            </a:pPr>
            <a:r>
              <a:rPr kumimoji="1" lang="en-US" altLang="zh-CN" dirty="0"/>
              <a:t>3.4 </a:t>
            </a:r>
            <a:r>
              <a:rPr kumimoji="1" lang="zh-CN" altLang="zh-CN" dirty="0"/>
              <a:t>滑动窗口协议</a:t>
            </a:r>
            <a:endParaRPr kumimoji="1" lang="zh-CN" altLang="en-US" dirty="0"/>
          </a:p>
          <a:p>
            <a:pPr marL="0" indent="0">
              <a:lnSpc>
                <a:spcPct val="130000"/>
              </a:lnSpc>
              <a:buNone/>
            </a:pPr>
            <a:r>
              <a:rPr kumimoji="1" lang="en-US" altLang="zh-CN" dirty="0"/>
              <a:t>3.5 </a:t>
            </a:r>
            <a:r>
              <a:rPr kumimoji="1" lang="zh-CN" altLang="zh-CN" dirty="0"/>
              <a:t>数据链路协议实例</a:t>
            </a:r>
          </a:p>
        </p:txBody>
      </p:sp>
      <p:sp>
        <p:nvSpPr>
          <p:cNvPr id="4" name="灯片编号占位符 3">
            <a:extLst>
              <a:ext uri="{FF2B5EF4-FFF2-40B4-BE49-F238E27FC236}">
                <a16:creationId xmlns:a16="http://schemas.microsoft.com/office/drawing/2014/main" id="{B09265E6-1613-5248-876E-1FC70865DEDD}"/>
              </a:ext>
            </a:extLst>
          </p:cNvPr>
          <p:cNvSpPr>
            <a:spLocks noGrp="1"/>
          </p:cNvSpPr>
          <p:nvPr>
            <p:ph type="sldNum" sz="quarter" idx="12"/>
          </p:nvPr>
        </p:nvSpPr>
        <p:spPr/>
        <p:txBody>
          <a:bodyPr/>
          <a:lstStyle/>
          <a:p>
            <a:fld id="{8D4D1E41-7A09-AB4A-A4E1-09765ADA2698}" type="slidenum">
              <a:rPr kumimoji="1" lang="zh-CN" altLang="en-US" smtClean="0"/>
              <a:t>68</a:t>
            </a:fld>
            <a:endParaRPr kumimoji="1" lang="zh-CN" altLang="en-US" dirty="0"/>
          </a:p>
        </p:txBody>
      </p:sp>
      <p:sp>
        <p:nvSpPr>
          <p:cNvPr id="5" name="矩形标注 4">
            <a:extLst>
              <a:ext uri="{FF2B5EF4-FFF2-40B4-BE49-F238E27FC236}">
                <a16:creationId xmlns:a16="http://schemas.microsoft.com/office/drawing/2014/main" id="{E4BFCB96-0FA1-7740-8F94-683CEFB67F89}"/>
              </a:ext>
            </a:extLst>
          </p:cNvPr>
          <p:cNvSpPr/>
          <p:nvPr/>
        </p:nvSpPr>
        <p:spPr>
          <a:xfrm>
            <a:off x="6226215" y="2145334"/>
            <a:ext cx="4768770" cy="2138567"/>
          </a:xfrm>
          <a:prstGeom prst="wedgeRectCallout">
            <a:avLst>
              <a:gd name="adj1" fmla="val -73121"/>
              <a:gd name="adj2" fmla="val -2267"/>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Bef>
                <a:spcPts val="1200"/>
              </a:spcBef>
            </a:pPr>
            <a:r>
              <a:rPr lang="en-US" altLang="zh-CN" sz="2400" dirty="0">
                <a:solidFill>
                  <a:schemeClr val="tx1"/>
                </a:solidFill>
                <a:latin typeface="微软雅黑" panose="020B0503020204020204" pitchFamily="34" charset="-122"/>
                <a:ea typeface="微软雅黑" panose="020B0503020204020204" pitchFamily="34" charset="-122"/>
              </a:rPr>
              <a:t>1. </a:t>
            </a:r>
            <a:r>
              <a:rPr lang="zh-CN" altLang="en-US" sz="2400" dirty="0">
                <a:solidFill>
                  <a:schemeClr val="tx1"/>
                </a:solidFill>
                <a:latin typeface="微软雅黑" panose="020B0503020204020204" pitchFamily="34" charset="-122"/>
                <a:ea typeface="微软雅黑" panose="020B0503020204020204" pitchFamily="34" charset="-122"/>
              </a:rPr>
              <a:t>定义与假设</a:t>
            </a:r>
            <a:endParaRPr lang="en-US" altLang="zh-CN" sz="2400" dirty="0">
              <a:solidFill>
                <a:schemeClr val="tx1"/>
              </a:solidFill>
              <a:latin typeface="微软雅黑" panose="020B0503020204020204" pitchFamily="34" charset="-122"/>
              <a:ea typeface="微软雅黑" panose="020B0503020204020204" pitchFamily="34" charset="-122"/>
            </a:endParaRPr>
          </a:p>
          <a:p>
            <a:pPr>
              <a:spcBef>
                <a:spcPts val="1200"/>
              </a:spcBef>
            </a:pPr>
            <a:r>
              <a:rPr lang="en-US" altLang="zh-CN" sz="2400" dirty="0">
                <a:solidFill>
                  <a:schemeClr val="tx1"/>
                </a:solidFill>
                <a:latin typeface="微软雅黑" panose="020B0503020204020204" pitchFamily="34" charset="-122"/>
                <a:ea typeface="微软雅黑" panose="020B0503020204020204" pitchFamily="34" charset="-122"/>
                <a:sym typeface="+mn-ea"/>
              </a:rPr>
              <a:t>2. </a:t>
            </a:r>
            <a:r>
              <a:rPr lang="en-US" altLang="zh-CN" sz="2400" dirty="0" err="1">
                <a:solidFill>
                  <a:schemeClr val="tx1"/>
                </a:solidFill>
                <a:latin typeface="微软雅黑" panose="020B0503020204020204" pitchFamily="34" charset="-122"/>
                <a:ea typeface="微软雅黑" panose="020B0503020204020204" pitchFamily="34" charset="-122"/>
                <a:sym typeface="+mn-ea"/>
              </a:rPr>
              <a:t>乌托邦式单工协议</a:t>
            </a:r>
            <a:endParaRPr lang="en-US" altLang="zh-CN" sz="2400" dirty="0">
              <a:solidFill>
                <a:schemeClr val="tx1"/>
              </a:solidFill>
              <a:latin typeface="微软雅黑" panose="020B0503020204020204" pitchFamily="34" charset="-122"/>
              <a:ea typeface="微软雅黑" panose="020B0503020204020204" pitchFamily="34" charset="-122"/>
            </a:endParaRPr>
          </a:p>
          <a:p>
            <a:pPr>
              <a:spcBef>
                <a:spcPts val="1200"/>
              </a:spcBef>
            </a:pPr>
            <a:r>
              <a:rPr lang="en-US" altLang="zh-CN" sz="2400" dirty="0">
                <a:solidFill>
                  <a:schemeClr val="tx1"/>
                </a:solidFill>
                <a:latin typeface="微软雅黑" panose="020B0503020204020204" pitchFamily="34" charset="-122"/>
                <a:ea typeface="微软雅黑" panose="020B0503020204020204" pitchFamily="34" charset="-122"/>
                <a:sym typeface="+mn-ea"/>
              </a:rPr>
              <a:t>3. </a:t>
            </a:r>
            <a:r>
              <a:rPr lang="zh-CN" altLang="en-US" sz="2400" dirty="0">
                <a:solidFill>
                  <a:schemeClr val="tx1"/>
                </a:solidFill>
                <a:latin typeface="微软雅黑" panose="020B0503020204020204" pitchFamily="34" charset="-122"/>
                <a:ea typeface="微软雅黑" panose="020B0503020204020204" pitchFamily="34" charset="-122"/>
                <a:sym typeface="+mn-ea"/>
              </a:rPr>
              <a:t>无错信道单工停止</a:t>
            </a:r>
            <a:r>
              <a:rPr lang="en-US" altLang="zh-CN" sz="2400" dirty="0">
                <a:solidFill>
                  <a:schemeClr val="tx1"/>
                </a:solidFill>
                <a:latin typeface="微软雅黑" panose="020B0503020204020204" pitchFamily="34" charset="-122"/>
                <a:ea typeface="微软雅黑" panose="020B0503020204020204" pitchFamily="34" charset="-122"/>
                <a:sym typeface="+mn-ea"/>
              </a:rPr>
              <a:t>-</a:t>
            </a:r>
            <a:r>
              <a:rPr lang="zh-CN" altLang="en-US" sz="2400" dirty="0">
                <a:solidFill>
                  <a:schemeClr val="tx1"/>
                </a:solidFill>
                <a:latin typeface="微软雅黑" panose="020B0503020204020204" pitchFamily="34" charset="-122"/>
                <a:ea typeface="微软雅黑" panose="020B0503020204020204" pitchFamily="34" charset="-122"/>
                <a:sym typeface="+mn-ea"/>
              </a:rPr>
              <a:t>等待协议</a:t>
            </a:r>
            <a:endParaRPr lang="en-US" altLang="zh-CN" sz="2400" dirty="0">
              <a:solidFill>
                <a:schemeClr val="tx1"/>
              </a:solidFill>
              <a:latin typeface="微软雅黑" panose="020B0503020204020204" pitchFamily="34" charset="-122"/>
              <a:ea typeface="微软雅黑" panose="020B0503020204020204" pitchFamily="34" charset="-122"/>
            </a:endParaRPr>
          </a:p>
          <a:p>
            <a:pPr>
              <a:spcBef>
                <a:spcPts val="1200"/>
              </a:spcBef>
            </a:pPr>
            <a:r>
              <a:rPr lang="en-US" altLang="zh-CN" sz="2400" dirty="0">
                <a:solidFill>
                  <a:schemeClr val="tx1"/>
                </a:solidFill>
                <a:latin typeface="微软雅黑" panose="020B0503020204020204" pitchFamily="34" charset="-122"/>
                <a:ea typeface="微软雅黑" panose="020B0503020204020204" pitchFamily="34" charset="-122"/>
                <a:sym typeface="+mn-ea"/>
              </a:rPr>
              <a:t>4. </a:t>
            </a:r>
            <a:r>
              <a:rPr lang="zh-CN" altLang="en-US" sz="2400" dirty="0">
                <a:solidFill>
                  <a:schemeClr val="tx1"/>
                </a:solidFill>
                <a:latin typeface="微软雅黑" panose="020B0503020204020204" pitchFamily="34" charset="-122"/>
                <a:ea typeface="微软雅黑" panose="020B0503020204020204" pitchFamily="34" charset="-122"/>
                <a:sym typeface="+mn-ea"/>
              </a:rPr>
              <a:t>有错信道单工停止</a:t>
            </a:r>
            <a:r>
              <a:rPr lang="en-US" altLang="zh-CN" sz="2400" dirty="0">
                <a:solidFill>
                  <a:schemeClr val="tx1"/>
                </a:solidFill>
                <a:latin typeface="微软雅黑" panose="020B0503020204020204" pitchFamily="34" charset="-122"/>
                <a:ea typeface="微软雅黑" panose="020B0503020204020204" pitchFamily="34" charset="-122"/>
                <a:sym typeface="+mn-ea"/>
              </a:rPr>
              <a:t>-</a:t>
            </a:r>
            <a:r>
              <a:rPr lang="zh-CN" altLang="en-US" sz="2400" dirty="0">
                <a:solidFill>
                  <a:schemeClr val="tx1"/>
                </a:solidFill>
                <a:latin typeface="微软雅黑" panose="020B0503020204020204" pitchFamily="34" charset="-122"/>
                <a:ea typeface="微软雅黑" panose="020B0503020204020204" pitchFamily="34" charset="-122"/>
                <a:sym typeface="+mn-ea"/>
              </a:rPr>
              <a:t>等待协议</a:t>
            </a:r>
            <a:endParaRPr lang="en-US" altLang="zh-CN" sz="2400" dirty="0">
              <a:solidFill>
                <a:schemeClr val="tx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48200219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ltLang="zh-CN" sz="3600" dirty="0" err="1"/>
              <a:t>物理层</a:t>
            </a:r>
            <a:r>
              <a:rPr lang="zh-CN" altLang="en-US" sz="3600" dirty="0"/>
              <a:t>、数据链路层和网络层的实现</a:t>
            </a:r>
            <a:endParaRPr lang="en-US" sz="3600" dirty="0"/>
          </a:p>
        </p:txBody>
      </p:sp>
      <p:sp>
        <p:nvSpPr>
          <p:cNvPr id="3" name="Content Placeholder 2"/>
          <p:cNvSpPr>
            <a:spLocks noGrp="1"/>
          </p:cNvSpPr>
          <p:nvPr>
            <p:ph idx="1"/>
          </p:nvPr>
        </p:nvSpPr>
        <p:spPr>
          <a:xfrm>
            <a:off x="838201" y="1510757"/>
            <a:ext cx="5069206" cy="4313845"/>
          </a:xfrm>
        </p:spPr>
        <p:txBody>
          <a:bodyPr>
            <a:normAutofit/>
          </a:bodyPr>
          <a:lstStyle/>
          <a:p>
            <a:pPr>
              <a:lnSpc>
                <a:spcPct val="120000"/>
              </a:lnSpc>
              <a:spcBef>
                <a:spcPts val="1200"/>
              </a:spcBef>
            </a:pPr>
            <a:r>
              <a:rPr lang="en-US" altLang="zh-CN" sz="2600" dirty="0" err="1"/>
              <a:t>物理层进程和某些数据链路层进程运行在专用硬件上</a:t>
            </a:r>
            <a:r>
              <a:rPr lang="zh-CN" altLang="en-US" sz="2600" dirty="0"/>
              <a:t>（网络接口卡）</a:t>
            </a:r>
            <a:endParaRPr lang="en-US" altLang="zh-CN" sz="2600" dirty="0"/>
          </a:p>
          <a:p>
            <a:pPr>
              <a:lnSpc>
                <a:spcPct val="120000"/>
              </a:lnSpc>
              <a:spcBef>
                <a:spcPts val="1200"/>
              </a:spcBef>
            </a:pPr>
            <a:r>
              <a:rPr lang="zh-CN" altLang="en-US" sz="2600" dirty="0"/>
              <a:t>数据链路层进程的其他部分和网络层进程作为操作系统的一部分运行在</a:t>
            </a:r>
            <a:r>
              <a:rPr lang="en-US" altLang="zh-CN" sz="2600" dirty="0"/>
              <a:t>CPU</a:t>
            </a:r>
            <a:r>
              <a:rPr lang="zh-CN" altLang="en-US" sz="2600" dirty="0"/>
              <a:t>上，数据链路层进程的软件通常以设备驱动的形式存在</a:t>
            </a:r>
            <a:endParaRPr lang="en-US" altLang="zh-CN" sz="2600" dirty="0"/>
          </a:p>
          <a:p>
            <a:pPr>
              <a:lnSpc>
                <a:spcPct val="120000"/>
              </a:lnSpc>
            </a:pPr>
            <a:endParaRPr lang="en-US" dirty="0"/>
          </a:p>
        </p:txBody>
      </p:sp>
      <p:sp>
        <p:nvSpPr>
          <p:cNvPr id="4" name="Slide Number Placeholder 3"/>
          <p:cNvSpPr>
            <a:spLocks noGrp="1"/>
          </p:cNvSpPr>
          <p:nvPr>
            <p:ph type="sldNum" sz="quarter" idx="12"/>
          </p:nvPr>
        </p:nvSpPr>
        <p:spPr/>
        <p:txBody>
          <a:bodyPr/>
          <a:lstStyle/>
          <a:p>
            <a:fld id="{8D4D1E41-7A09-AB4A-A4E1-09765ADA2698}" type="slidenum">
              <a:rPr kumimoji="1" lang="zh-CN" altLang="en-US" smtClean="0"/>
              <a:t>69</a:t>
            </a:fld>
            <a:endParaRPr kumimoji="1" lang="zh-CN" altLang="en-US" dirty="0"/>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20141" y="1844409"/>
            <a:ext cx="6171859" cy="3454100"/>
          </a:xfrm>
          <a:prstGeom prst="rect">
            <a:avLst/>
          </a:prstGeom>
          <a:noFill/>
          <a:ln>
            <a:noFill/>
          </a:ln>
        </p:spPr>
      </p:pic>
      <p:sp>
        <p:nvSpPr>
          <p:cNvPr id="7" name="文本框 6"/>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3.3 </a:t>
            </a:r>
            <a:r>
              <a:rPr lang="zh-CN" altLang="en-US" dirty="0">
                <a:solidFill>
                  <a:schemeClr val="bg1">
                    <a:lumMod val="65000"/>
                  </a:schemeClr>
                </a:solidFill>
                <a:latin typeface="微软雅黑" panose="020B0503020204020204" pitchFamily="34" charset="-122"/>
                <a:ea typeface="微软雅黑" panose="020B0503020204020204" pitchFamily="34" charset="-122"/>
              </a:rPr>
              <a:t>基本的数据链路层协议</a:t>
            </a:r>
          </a:p>
        </p:txBody>
      </p:sp>
      <p:sp>
        <p:nvSpPr>
          <p:cNvPr id="8" name="Content Placeholder 2"/>
          <p:cNvSpPr txBox="1">
            <a:spLocks/>
          </p:cNvSpPr>
          <p:nvPr/>
        </p:nvSpPr>
        <p:spPr>
          <a:xfrm>
            <a:off x="838200" y="2204580"/>
            <a:ext cx="4890151" cy="3892871"/>
          </a:xfrm>
          <a:prstGeom prst="rect">
            <a:avLst/>
          </a:prstGeom>
        </p:spPr>
        <p:txBody>
          <a:bodyPr vert="horz" lIns="91440" tIns="45720" rIns="91440" bIns="45720" rtlCol="0">
            <a:normAutofit/>
          </a:bodyPr>
          <a:lstStyle>
            <a:lvl1pPr marL="360363" indent="-360363" algn="l" defTabSz="914400" rtl="0" eaLnBrk="1" latinLnBrk="0" hangingPunct="1">
              <a:lnSpc>
                <a:spcPct val="100000"/>
              </a:lnSpc>
              <a:spcBef>
                <a:spcPts val="600"/>
              </a:spcBef>
              <a:buFont typeface="Wingdings" pitchFamily="2" charset="2"/>
              <a:buChar char="Ø"/>
              <a:tabLst/>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20000"/>
              </a:lnSpc>
              <a:spcBef>
                <a:spcPts val="1200"/>
              </a:spcBef>
            </a:pPr>
            <a:endParaRPr lang="en-US" altLang="zh-CN" sz="22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Computer Network</a:t>
            </a:r>
          </a:p>
        </p:txBody>
      </p:sp>
      <p:sp>
        <p:nvSpPr>
          <p:cNvPr id="5" name="灯片编号占位符 4"/>
          <p:cNvSpPr>
            <a:spLocks noGrp="1"/>
          </p:cNvSpPr>
          <p:nvPr>
            <p:ph type="sldNum" sz="quarter" idx="11"/>
          </p:nvPr>
        </p:nvSpPr>
        <p:spPr/>
        <p:txBody>
          <a:bodyPr/>
          <a:lstStyle/>
          <a:p>
            <a:pPr>
              <a:defRPr/>
            </a:pPr>
            <a:fld id="{8ADB66EE-6F9B-4BDF-8D47-5965EC809606}" type="slidenum">
              <a:rPr lang="en-US" altLang="zh-CN" smtClean="0"/>
              <a:pPr>
                <a:defRPr/>
              </a:pPr>
              <a:t>70</a:t>
            </a:fld>
            <a:endParaRPr lang="en-US" altLang="zh-CN"/>
          </a:p>
        </p:txBody>
      </p:sp>
      <p:sp>
        <p:nvSpPr>
          <p:cNvPr id="6" name="日期占位符 5"/>
          <p:cNvSpPr>
            <a:spLocks noGrp="1"/>
          </p:cNvSpPr>
          <p:nvPr>
            <p:ph type="dt" sz="half" idx="12"/>
          </p:nvPr>
        </p:nvSpPr>
        <p:spPr/>
        <p:txBody>
          <a:bodyPr/>
          <a:lstStyle/>
          <a:p>
            <a:pPr>
              <a:defRPr/>
            </a:pPr>
            <a:fld id="{9F3F7983-BD93-4701-BA16-3BC805069EE1}" type="datetime1">
              <a:rPr lang="zh-CN" altLang="en-US" smtClean="0"/>
              <a:pPr>
                <a:defRPr/>
              </a:pPr>
              <a:t>2024/10/18</a:t>
            </a:fld>
            <a:endParaRPr lang="en-US" altLang="zh-CN"/>
          </a:p>
        </p:txBody>
      </p:sp>
      <p:pic>
        <p:nvPicPr>
          <p:cNvPr id="7" name="图片 6"/>
          <p:cNvPicPr>
            <a:picLocks noChangeAspect="1"/>
          </p:cNvPicPr>
          <p:nvPr/>
        </p:nvPicPr>
        <p:blipFill rotWithShape="1">
          <a:blip r:embed="rId2"/>
          <a:srcRect r="9936"/>
          <a:stretch/>
        </p:blipFill>
        <p:spPr>
          <a:xfrm>
            <a:off x="1739516" y="400781"/>
            <a:ext cx="8712968" cy="4887600"/>
          </a:xfrm>
          <a:prstGeom prst="rect">
            <a:avLst/>
          </a:prstGeom>
        </p:spPr>
      </p:pic>
      <p:sp>
        <p:nvSpPr>
          <p:cNvPr id="9" name="文本框 8"/>
          <p:cNvSpPr txBox="1"/>
          <p:nvPr/>
        </p:nvSpPr>
        <p:spPr>
          <a:xfrm>
            <a:off x="4173038" y="5445225"/>
            <a:ext cx="3845925" cy="646331"/>
          </a:xfrm>
          <a:prstGeom prst="rect">
            <a:avLst/>
          </a:prstGeom>
          <a:noFill/>
        </p:spPr>
        <p:txBody>
          <a:bodyPr wrap="none" rtlCol="0">
            <a:spAutoFit/>
          </a:bodyPr>
          <a:lstStyle/>
          <a:p>
            <a:r>
              <a:rPr lang="en-US" altLang="zh-CN" sz="3600" b="1" u="sng" dirty="0">
                <a:solidFill>
                  <a:srgbClr val="FF0000"/>
                </a:solidFill>
                <a:latin typeface="Georgia" panose="02040502050405020303" pitchFamily="18" charset="0"/>
              </a:rPr>
              <a:t>3.3 </a:t>
            </a:r>
            <a:r>
              <a:rPr lang="zh-CN" altLang="en-US" sz="3600" b="1" u="sng" dirty="0">
                <a:solidFill>
                  <a:srgbClr val="FF0000"/>
                </a:solidFill>
                <a:latin typeface="Georgia" panose="02040502050405020303" pitchFamily="18" charset="0"/>
              </a:rPr>
              <a:t>停止等待协议</a:t>
            </a:r>
            <a:endParaRPr lang="en-US" sz="3600" u="sng" dirty="0"/>
          </a:p>
        </p:txBody>
      </p:sp>
    </p:spTree>
    <p:extLst>
      <p:ext uri="{BB962C8B-B14F-4D97-AF65-F5344CB8AC3E}">
        <p14:creationId xmlns:p14="http://schemas.microsoft.com/office/powerpoint/2010/main" val="3385270609"/>
      </p:ext>
    </p:extLst>
  </p:cSld>
  <p:clrMapOvr>
    <a:masterClrMapping/>
  </p:clrMapOvr>
  <p:transition spd="slow">
    <p:pull dir="ru"/>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a:defRPr/>
            </a:pPr>
            <a:r>
              <a:rPr lang="en-US" altLang="zh-CN"/>
              <a:t>Computer Network</a:t>
            </a:r>
          </a:p>
        </p:txBody>
      </p:sp>
      <p:sp>
        <p:nvSpPr>
          <p:cNvPr id="3" name="灯片编号占位符 2"/>
          <p:cNvSpPr>
            <a:spLocks noGrp="1"/>
          </p:cNvSpPr>
          <p:nvPr>
            <p:ph type="sldNum" sz="quarter" idx="11"/>
          </p:nvPr>
        </p:nvSpPr>
        <p:spPr/>
        <p:txBody>
          <a:bodyPr/>
          <a:lstStyle/>
          <a:p>
            <a:pPr>
              <a:defRPr/>
            </a:pPr>
            <a:fld id="{2AAF93DC-1AF2-40C5-A519-3C53F0141A12}" type="slidenum">
              <a:rPr lang="en-US" altLang="zh-CN" smtClean="0"/>
              <a:pPr>
                <a:defRPr/>
              </a:pPr>
              <a:t>71</a:t>
            </a:fld>
            <a:endParaRPr lang="en-US" altLang="zh-CN"/>
          </a:p>
        </p:txBody>
      </p:sp>
      <p:sp>
        <p:nvSpPr>
          <p:cNvPr id="4" name="日期占位符 3"/>
          <p:cNvSpPr>
            <a:spLocks noGrp="1"/>
          </p:cNvSpPr>
          <p:nvPr>
            <p:ph type="dt" sz="half" idx="12"/>
          </p:nvPr>
        </p:nvSpPr>
        <p:spPr/>
        <p:txBody>
          <a:bodyPr/>
          <a:lstStyle/>
          <a:p>
            <a:pPr>
              <a:defRPr/>
            </a:pPr>
            <a:fld id="{F745FD7F-E1E7-4727-BD24-89E1126485D5}" type="datetime1">
              <a:rPr lang="zh-CN" altLang="en-US" smtClean="0"/>
              <a:pPr>
                <a:defRPr/>
              </a:pPr>
              <a:t>2024/10/18</a:t>
            </a:fld>
            <a:endParaRPr lang="en-US" altLang="zh-CN"/>
          </a:p>
        </p:txBody>
      </p:sp>
      <p:pic>
        <p:nvPicPr>
          <p:cNvPr id="5" name="图片 4"/>
          <p:cNvPicPr>
            <a:picLocks noChangeAspect="1"/>
          </p:cNvPicPr>
          <p:nvPr/>
        </p:nvPicPr>
        <p:blipFill rotWithShape="1">
          <a:blip r:embed="rId2"/>
          <a:srcRect r="25315"/>
          <a:stretch/>
        </p:blipFill>
        <p:spPr>
          <a:xfrm>
            <a:off x="2063552" y="260648"/>
            <a:ext cx="7571184" cy="5360534"/>
          </a:xfrm>
          <a:prstGeom prst="rect">
            <a:avLst/>
          </a:prstGeom>
        </p:spPr>
      </p:pic>
      <p:sp>
        <p:nvSpPr>
          <p:cNvPr id="6" name="文本框 5"/>
          <p:cNvSpPr txBox="1"/>
          <p:nvPr/>
        </p:nvSpPr>
        <p:spPr>
          <a:xfrm>
            <a:off x="3879695" y="5445225"/>
            <a:ext cx="3938899" cy="646331"/>
          </a:xfrm>
          <a:prstGeom prst="rect">
            <a:avLst/>
          </a:prstGeom>
          <a:noFill/>
        </p:spPr>
        <p:txBody>
          <a:bodyPr wrap="none" rtlCol="0">
            <a:spAutoFit/>
          </a:bodyPr>
          <a:lstStyle/>
          <a:p>
            <a:r>
              <a:rPr lang="en-US" altLang="zh-CN" sz="3600" b="1" dirty="0">
                <a:solidFill>
                  <a:srgbClr val="0000FF"/>
                </a:solidFill>
                <a:latin typeface="Georgia" panose="02040502050405020303" pitchFamily="18" charset="0"/>
              </a:rPr>
              <a:t> </a:t>
            </a:r>
            <a:r>
              <a:rPr lang="en-US" altLang="zh-CN" sz="3600" b="1" dirty="0">
                <a:solidFill>
                  <a:srgbClr val="FF0000"/>
                </a:solidFill>
                <a:latin typeface="Georgia" panose="02040502050405020303" pitchFamily="18" charset="0"/>
              </a:rPr>
              <a:t>3.4 </a:t>
            </a:r>
            <a:r>
              <a:rPr lang="zh-CN" altLang="en-US" sz="3600" b="1" dirty="0">
                <a:solidFill>
                  <a:srgbClr val="FF0000"/>
                </a:solidFill>
                <a:latin typeface="Georgia" panose="02040502050405020303" pitchFamily="18" charset="0"/>
              </a:rPr>
              <a:t>滑动窗口协议</a:t>
            </a:r>
            <a:endParaRPr lang="en-US" sz="3600" u="sng" dirty="0"/>
          </a:p>
        </p:txBody>
      </p:sp>
    </p:spTree>
    <p:extLst>
      <p:ext uri="{BB962C8B-B14F-4D97-AF65-F5344CB8AC3E}">
        <p14:creationId xmlns:p14="http://schemas.microsoft.com/office/powerpoint/2010/main" val="4069151070"/>
      </p:ext>
    </p:extLst>
  </p:cSld>
  <p:clrMapOvr>
    <a:masterClrMapping/>
  </p:clrMapOvr>
  <p:transition spd="slow">
    <p:pull dir="ru"/>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Computer Network</a:t>
            </a:r>
          </a:p>
        </p:txBody>
      </p:sp>
      <p:sp>
        <p:nvSpPr>
          <p:cNvPr id="35843" name="灯片编号占位符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D9F7509F-3AC9-4E40-8EC6-682B2FB55F7F}" type="slidenum">
              <a:rPr lang="en-US" altLang="zh-CN" sz="1200">
                <a:latin typeface="Arial Black" panose="020B0A04020102020204" pitchFamily="34" charset="0"/>
              </a:rPr>
              <a:pPr>
                <a:spcBef>
                  <a:spcPct val="0"/>
                </a:spcBef>
                <a:buClrTx/>
                <a:buSzTx/>
                <a:buFontTx/>
                <a:buNone/>
              </a:pPr>
              <a:t>72</a:t>
            </a:fld>
            <a:endParaRPr lang="en-US" altLang="zh-CN" sz="1200">
              <a:latin typeface="Arial Black" panose="020B0A04020102020204" pitchFamily="34" charset="0"/>
            </a:endParaRPr>
          </a:p>
        </p:txBody>
      </p:sp>
      <p:sp>
        <p:nvSpPr>
          <p:cNvPr id="6" name="日期占位符 5"/>
          <p:cNvSpPr>
            <a:spLocks noGrp="1"/>
          </p:cNvSpPr>
          <p:nvPr>
            <p:ph type="dt" sz="quarter" idx="12"/>
          </p:nvPr>
        </p:nvSpPr>
        <p:spPr/>
        <p:txBody>
          <a:bodyPr/>
          <a:lstStyle/>
          <a:p>
            <a:pPr>
              <a:defRPr/>
            </a:pPr>
            <a:fld id="{BD005F3F-333F-468C-B955-50829D9DBC10}" type="datetime1">
              <a:rPr lang="zh-CN" altLang="en-US"/>
              <a:pPr>
                <a:defRPr/>
              </a:pPr>
              <a:t>2024/10/18</a:t>
            </a:fld>
            <a:endParaRPr lang="en-US" altLang="zh-CN"/>
          </a:p>
        </p:txBody>
      </p:sp>
      <p:sp>
        <p:nvSpPr>
          <p:cNvPr id="856066" name="Rectangle 2"/>
          <p:cNvSpPr>
            <a:spLocks noGrp="1" noChangeArrowheads="1"/>
          </p:cNvSpPr>
          <p:nvPr>
            <p:ph type="title"/>
          </p:nvPr>
        </p:nvSpPr>
        <p:spPr>
          <a:xfrm>
            <a:off x="1981200" y="533400"/>
            <a:ext cx="7715250" cy="534988"/>
          </a:xfrm>
        </p:spPr>
        <p:txBody>
          <a:bodyPr>
            <a:normAutofit fontScale="90000"/>
          </a:bodyPr>
          <a:lstStyle/>
          <a:p>
            <a:pPr algn="ctr" eaLnBrk="1" hangingPunct="1">
              <a:defRPr/>
            </a:pPr>
            <a:r>
              <a:rPr lang="zh-CN" altLang="en-US" b="1" dirty="0">
                <a:solidFill>
                  <a:srgbClr val="FF0000"/>
                </a:solidFill>
                <a:latin typeface="Georgia" panose="02040502050405020303" pitchFamily="18" charset="0"/>
              </a:rPr>
              <a:t>停止等待协议</a:t>
            </a:r>
          </a:p>
        </p:txBody>
      </p:sp>
      <p:sp>
        <p:nvSpPr>
          <p:cNvPr id="856067" name="Rectangle 3"/>
          <p:cNvSpPr>
            <a:spLocks noGrp="1" noChangeArrowheads="1"/>
          </p:cNvSpPr>
          <p:nvPr>
            <p:ph type="body" idx="1"/>
          </p:nvPr>
        </p:nvSpPr>
        <p:spPr>
          <a:xfrm>
            <a:off x="2362200" y="1981200"/>
            <a:ext cx="7772400" cy="3581400"/>
          </a:xfrm>
        </p:spPr>
        <p:txBody>
          <a:bodyPr/>
          <a:lstStyle/>
          <a:p>
            <a:pPr eaLnBrk="1" hangingPunct="1">
              <a:lnSpc>
                <a:spcPct val="120000"/>
              </a:lnSpc>
              <a:buFont typeface="Wingdings" panose="05000000000000000000" pitchFamily="2" charset="2"/>
              <a:buNone/>
              <a:defRPr/>
            </a:pPr>
            <a:r>
              <a:rPr lang="zh-CN" altLang="en-US" dirty="0">
                <a:solidFill>
                  <a:srgbClr val="0000FF"/>
                </a:solidFill>
                <a:effectLst>
                  <a:outerShdw blurRad="38100" dist="38100" dir="2700000" algn="tl">
                    <a:srgbClr val="C0C0C0"/>
                  </a:outerShdw>
                </a:effectLst>
                <a:latin typeface="Verdana" pitchFamily="34" charset="0"/>
                <a:ea typeface="楷体_GB2312" pitchFamily="49" charset="-122"/>
              </a:rPr>
              <a:t>一．无限制单向数据传送协议</a:t>
            </a:r>
            <a:r>
              <a:rPr lang="en-US" altLang="zh-CN" sz="2400" dirty="0">
                <a:solidFill>
                  <a:srgbClr val="0000FF"/>
                </a:solidFill>
                <a:effectLst>
                  <a:outerShdw blurRad="38100" dist="38100" dir="2700000" algn="tl">
                    <a:srgbClr val="C0C0C0"/>
                  </a:outerShdw>
                </a:effectLst>
                <a:latin typeface="Verdana" pitchFamily="34" charset="0"/>
                <a:ea typeface="楷体_GB2312" pitchFamily="49" charset="-122"/>
              </a:rPr>
              <a:t>(</a:t>
            </a:r>
            <a:r>
              <a:rPr lang="zh-CN" altLang="en-US" sz="2400" dirty="0">
                <a:solidFill>
                  <a:srgbClr val="0000FF"/>
                </a:solidFill>
                <a:effectLst>
                  <a:outerShdw blurRad="38100" dist="38100" dir="2700000" algn="tl">
                    <a:srgbClr val="C0C0C0"/>
                  </a:outerShdw>
                </a:effectLst>
                <a:latin typeface="Verdana" pitchFamily="34" charset="0"/>
                <a:ea typeface="楷体_GB2312" pitchFamily="49" charset="-122"/>
              </a:rPr>
              <a:t>完全理想化</a:t>
            </a:r>
            <a:r>
              <a:rPr lang="en-US" altLang="zh-CN" sz="2400" dirty="0">
                <a:solidFill>
                  <a:srgbClr val="0000FF"/>
                </a:solidFill>
                <a:effectLst>
                  <a:outerShdw blurRad="38100" dist="38100" dir="2700000" algn="tl">
                    <a:srgbClr val="C0C0C0"/>
                  </a:outerShdw>
                </a:effectLst>
                <a:latin typeface="Verdana" pitchFamily="34" charset="0"/>
                <a:ea typeface="楷体_GB2312" pitchFamily="49" charset="-122"/>
              </a:rPr>
              <a:t>)</a:t>
            </a:r>
          </a:p>
          <a:p>
            <a:pPr eaLnBrk="1" hangingPunct="1">
              <a:lnSpc>
                <a:spcPct val="120000"/>
              </a:lnSpc>
              <a:buFont typeface="Wingdings" panose="05000000000000000000" pitchFamily="2" charset="2"/>
              <a:buNone/>
              <a:defRPr/>
            </a:pPr>
            <a:r>
              <a:rPr lang="en-US" altLang="zh-CN" sz="2400" b="1" dirty="0">
                <a:solidFill>
                  <a:srgbClr val="FF0000"/>
                </a:solidFill>
                <a:latin typeface="Verdana" pitchFamily="34" charset="0"/>
                <a:ea typeface="楷体_GB2312" pitchFamily="49" charset="-122"/>
              </a:rPr>
              <a:t>  </a:t>
            </a:r>
            <a:r>
              <a:rPr lang="zh-CN" altLang="en-US" sz="2400" b="1" dirty="0">
                <a:solidFill>
                  <a:srgbClr val="FF0000"/>
                </a:solidFill>
                <a:latin typeface="Verdana" pitchFamily="34" charset="0"/>
                <a:ea typeface="楷体_GB2312" pitchFamily="49" charset="-122"/>
              </a:rPr>
              <a:t>条件：</a:t>
            </a:r>
          </a:p>
          <a:p>
            <a:pPr eaLnBrk="1" hangingPunct="1">
              <a:lnSpc>
                <a:spcPct val="120000"/>
              </a:lnSpc>
              <a:buFont typeface="Wingdings" panose="05000000000000000000" pitchFamily="2" charset="2"/>
              <a:buNone/>
              <a:defRPr/>
            </a:pPr>
            <a:r>
              <a:rPr lang="zh-CN" altLang="en-US" sz="2400" dirty="0">
                <a:latin typeface="Verdana" pitchFamily="34" charset="0"/>
                <a:ea typeface="楷体_GB2312" pitchFamily="49" charset="-122"/>
              </a:rPr>
              <a:t>      </a:t>
            </a:r>
            <a:r>
              <a:rPr lang="en-US" altLang="zh-CN" sz="2400" dirty="0">
                <a:latin typeface="Verdana" pitchFamily="34" charset="0"/>
                <a:ea typeface="楷体_GB2312" pitchFamily="49" charset="-122"/>
              </a:rPr>
              <a:t>1</a:t>
            </a:r>
            <a:r>
              <a:rPr lang="zh-CN" altLang="en-US" sz="2400" dirty="0">
                <a:latin typeface="Verdana" pitchFamily="34" charset="0"/>
                <a:ea typeface="楷体_GB2312" pitchFamily="49" charset="-122"/>
              </a:rPr>
              <a:t>．一个机器发数据，另一机器收数据；</a:t>
            </a:r>
          </a:p>
          <a:p>
            <a:pPr eaLnBrk="1" hangingPunct="1">
              <a:lnSpc>
                <a:spcPct val="120000"/>
              </a:lnSpc>
              <a:buFont typeface="Wingdings" panose="05000000000000000000" pitchFamily="2" charset="2"/>
              <a:buNone/>
              <a:defRPr/>
            </a:pPr>
            <a:r>
              <a:rPr lang="zh-CN" altLang="en-US" sz="2400" dirty="0">
                <a:latin typeface="Verdana" pitchFamily="34" charset="0"/>
                <a:ea typeface="楷体_GB2312" pitchFamily="49" charset="-122"/>
              </a:rPr>
              <a:t>      </a:t>
            </a:r>
            <a:r>
              <a:rPr lang="en-US" altLang="zh-CN" sz="2400" dirty="0">
                <a:latin typeface="Verdana" pitchFamily="34" charset="0"/>
                <a:ea typeface="楷体_GB2312" pitchFamily="49" charset="-122"/>
              </a:rPr>
              <a:t>2</a:t>
            </a:r>
            <a:r>
              <a:rPr lang="zh-CN" altLang="en-US" sz="2400" dirty="0">
                <a:latin typeface="Verdana" pitchFamily="34" charset="0"/>
                <a:ea typeface="楷体_GB2312" pitchFamily="49" charset="-122"/>
              </a:rPr>
              <a:t>．网络层总是准备好分组传送；</a:t>
            </a:r>
          </a:p>
          <a:p>
            <a:pPr eaLnBrk="1" hangingPunct="1">
              <a:lnSpc>
                <a:spcPct val="120000"/>
              </a:lnSpc>
              <a:buFont typeface="Wingdings" panose="05000000000000000000" pitchFamily="2" charset="2"/>
              <a:buNone/>
              <a:defRPr/>
            </a:pPr>
            <a:r>
              <a:rPr lang="zh-CN" altLang="en-US" sz="2400" dirty="0">
                <a:latin typeface="Verdana" pitchFamily="34" charset="0"/>
                <a:ea typeface="楷体_GB2312" pitchFamily="49" charset="-122"/>
              </a:rPr>
              <a:t>      </a:t>
            </a:r>
            <a:r>
              <a:rPr lang="en-US" altLang="zh-CN" sz="2400" dirty="0">
                <a:latin typeface="Verdana" pitchFamily="34" charset="0"/>
                <a:ea typeface="楷体_GB2312" pitchFamily="49" charset="-122"/>
              </a:rPr>
              <a:t>3</a:t>
            </a:r>
            <a:r>
              <a:rPr lang="zh-CN" altLang="en-US" sz="2400" dirty="0">
                <a:latin typeface="Verdana" pitchFamily="34" charset="0"/>
                <a:ea typeface="楷体_GB2312" pitchFamily="49" charset="-122"/>
              </a:rPr>
              <a:t>．通道无错；</a:t>
            </a:r>
          </a:p>
          <a:p>
            <a:pPr eaLnBrk="1" hangingPunct="1">
              <a:lnSpc>
                <a:spcPct val="120000"/>
              </a:lnSpc>
              <a:buFont typeface="Wingdings" panose="05000000000000000000" pitchFamily="2" charset="2"/>
              <a:buNone/>
              <a:defRPr/>
            </a:pPr>
            <a:r>
              <a:rPr lang="zh-CN" altLang="en-US" sz="2400" dirty="0">
                <a:latin typeface="Verdana" pitchFamily="34" charset="0"/>
                <a:ea typeface="楷体_GB2312" pitchFamily="49" charset="-122"/>
              </a:rPr>
              <a:t>      </a:t>
            </a:r>
            <a:r>
              <a:rPr lang="en-US" altLang="zh-CN" sz="2400" dirty="0">
                <a:latin typeface="Verdana" pitchFamily="34" charset="0"/>
                <a:ea typeface="楷体_GB2312" pitchFamily="49" charset="-122"/>
              </a:rPr>
              <a:t>4</a:t>
            </a:r>
            <a:r>
              <a:rPr lang="zh-CN" altLang="en-US" sz="2400" dirty="0">
                <a:latin typeface="Verdana" pitchFamily="34" charset="0"/>
                <a:ea typeface="楷体_GB2312" pitchFamily="49" charset="-122"/>
              </a:rPr>
              <a:t>．</a:t>
            </a:r>
            <a:r>
              <a:rPr lang="en-US" altLang="zh-CN" sz="2400" dirty="0">
                <a:latin typeface="Verdana" pitchFamily="34" charset="0"/>
                <a:ea typeface="楷体_GB2312" pitchFamily="49" charset="-122"/>
              </a:rPr>
              <a:t>DLL</a:t>
            </a:r>
            <a:r>
              <a:rPr lang="zh-CN" altLang="en-US" sz="2400" dirty="0">
                <a:latin typeface="Verdana" pitchFamily="34" charset="0"/>
                <a:ea typeface="楷体_GB2312" pitchFamily="49" charset="-122"/>
              </a:rPr>
              <a:t>层处理速度无穷大。</a:t>
            </a:r>
          </a:p>
        </p:txBody>
      </p:sp>
    </p:spTree>
  </p:cSld>
  <p:clrMapOvr>
    <a:masterClrMapping/>
  </p:clrMapOvr>
  <p:transition>
    <p:random/>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页脚占位符 1"/>
          <p:cNvSpPr>
            <a:spLocks noGrp="1"/>
          </p:cNvSpPr>
          <p:nvPr>
            <p:ph type="ftr" sz="quarter" idx="10"/>
          </p:nvPr>
        </p:nvSpPr>
        <p:spPr/>
        <p:txBody>
          <a:bodyPr/>
          <a:lstStyle/>
          <a:p>
            <a:pPr>
              <a:defRPr/>
            </a:pPr>
            <a:r>
              <a:rPr lang="en-US" altLang="zh-CN"/>
              <a:t>Computer Network</a:t>
            </a:r>
          </a:p>
        </p:txBody>
      </p:sp>
      <p:sp>
        <p:nvSpPr>
          <p:cNvPr id="36867" name="灯片编号占位符 2"/>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1BCB746B-20F3-4FE9-96D8-61E772AB56D9}" type="slidenum">
              <a:rPr lang="en-US" altLang="zh-CN" sz="1200">
                <a:latin typeface="Arial Black" panose="020B0A04020102020204" pitchFamily="34" charset="0"/>
              </a:rPr>
              <a:pPr>
                <a:spcBef>
                  <a:spcPct val="0"/>
                </a:spcBef>
                <a:buClrTx/>
                <a:buSzTx/>
                <a:buFontTx/>
                <a:buNone/>
              </a:pPr>
              <a:t>73</a:t>
            </a:fld>
            <a:endParaRPr lang="en-US" altLang="zh-CN" sz="1200">
              <a:latin typeface="Arial Black" panose="020B0A04020102020204" pitchFamily="34" charset="0"/>
            </a:endParaRPr>
          </a:p>
        </p:txBody>
      </p:sp>
      <p:sp>
        <p:nvSpPr>
          <p:cNvPr id="29" name="日期占位符 3"/>
          <p:cNvSpPr>
            <a:spLocks noGrp="1"/>
          </p:cNvSpPr>
          <p:nvPr>
            <p:ph type="dt" sz="quarter" idx="12"/>
          </p:nvPr>
        </p:nvSpPr>
        <p:spPr/>
        <p:txBody>
          <a:bodyPr/>
          <a:lstStyle/>
          <a:p>
            <a:pPr>
              <a:defRPr/>
            </a:pPr>
            <a:fld id="{59BC05E7-3723-408E-8723-A2C256E9B6CA}" type="datetime1">
              <a:rPr lang="zh-CN" altLang="en-US"/>
              <a:pPr>
                <a:defRPr/>
              </a:pPr>
              <a:t>2024/10/18</a:t>
            </a:fld>
            <a:endParaRPr lang="en-US" altLang="zh-CN"/>
          </a:p>
        </p:txBody>
      </p:sp>
      <p:cxnSp>
        <p:nvCxnSpPr>
          <p:cNvPr id="36869" name="AutoShape 2"/>
          <p:cNvCxnSpPr>
            <a:cxnSpLocks noChangeShapeType="1"/>
          </p:cNvCxnSpPr>
          <p:nvPr/>
        </p:nvCxnSpPr>
        <p:spPr bwMode="auto">
          <a:xfrm>
            <a:off x="3409950" y="2438400"/>
            <a:ext cx="0" cy="5334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6870" name="Text Box 3"/>
          <p:cNvSpPr txBox="1">
            <a:spLocks noChangeArrowheads="1"/>
          </p:cNvSpPr>
          <p:nvPr/>
        </p:nvSpPr>
        <p:spPr bwMode="auto">
          <a:xfrm>
            <a:off x="2249489" y="1316038"/>
            <a:ext cx="796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400" b="1">
                <a:solidFill>
                  <a:srgbClr val="0000FF"/>
                </a:solidFill>
                <a:latin typeface="楷体_GB2312" pitchFamily="49" charset="-122"/>
                <a:ea typeface="楷体_GB2312" pitchFamily="49" charset="-122"/>
              </a:rPr>
              <a:t>发：</a:t>
            </a:r>
            <a:endParaRPr kumimoji="1" lang="zh-CN" altLang="en-US" sz="2400">
              <a:solidFill>
                <a:srgbClr val="0000FF"/>
              </a:solidFill>
              <a:latin typeface="楷体_GB2312" pitchFamily="49" charset="-122"/>
              <a:ea typeface="楷体_GB2312" pitchFamily="49" charset="-122"/>
            </a:endParaRPr>
          </a:p>
        </p:txBody>
      </p:sp>
      <p:grpSp>
        <p:nvGrpSpPr>
          <p:cNvPr id="36871" name="Group 16"/>
          <p:cNvGrpSpPr>
            <a:grpSpLocks/>
          </p:cNvGrpSpPr>
          <p:nvPr/>
        </p:nvGrpSpPr>
        <p:grpSpPr bwMode="auto">
          <a:xfrm>
            <a:off x="2112963" y="2743200"/>
            <a:ext cx="2590800" cy="2438400"/>
            <a:chOff x="371" y="1728"/>
            <a:chExt cx="1632" cy="1536"/>
          </a:xfrm>
        </p:grpSpPr>
        <p:sp>
          <p:nvSpPr>
            <p:cNvPr id="36886" name="AutoShape 17"/>
            <p:cNvSpPr>
              <a:spLocks noChangeArrowheads="1"/>
            </p:cNvSpPr>
            <p:nvPr/>
          </p:nvSpPr>
          <p:spPr bwMode="auto">
            <a:xfrm>
              <a:off x="371" y="2976"/>
              <a:ext cx="1632" cy="288"/>
            </a:xfrm>
            <a:prstGeom prst="flowChartProcess">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000" b="1">
                  <a:latin typeface="楷体_GB2312" pitchFamily="49" charset="-122"/>
                  <a:ea typeface="楷体_GB2312" pitchFamily="49" charset="-122"/>
                </a:rPr>
                <a:t>送物理层按位发送</a:t>
              </a:r>
              <a:endParaRPr kumimoji="1" lang="zh-CN" altLang="en-US" sz="2000">
                <a:latin typeface="楷体_GB2312" pitchFamily="49" charset="-122"/>
                <a:ea typeface="楷体_GB2312" pitchFamily="49" charset="-122"/>
              </a:endParaRPr>
            </a:p>
          </p:txBody>
        </p:sp>
        <p:cxnSp>
          <p:nvCxnSpPr>
            <p:cNvPr id="36887" name="AutoShape 18"/>
            <p:cNvCxnSpPr>
              <a:cxnSpLocks noChangeShapeType="1"/>
              <a:stCxn id="36892" idx="2"/>
              <a:endCxn id="36891" idx="0"/>
            </p:cNvCxnSpPr>
            <p:nvPr/>
          </p:nvCxnSpPr>
          <p:spPr bwMode="auto">
            <a:xfrm>
              <a:off x="1187" y="2160"/>
              <a:ext cx="0" cy="2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6888" name="AutoShape 19"/>
            <p:cNvCxnSpPr>
              <a:cxnSpLocks noChangeShapeType="1"/>
              <a:stCxn id="36891" idx="2"/>
              <a:endCxn id="36886" idx="0"/>
            </p:cNvCxnSpPr>
            <p:nvPr/>
          </p:nvCxnSpPr>
          <p:spPr bwMode="auto">
            <a:xfrm>
              <a:off x="1187" y="2688"/>
              <a:ext cx="0" cy="288"/>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6889" name="AutoShape 20"/>
            <p:cNvCxnSpPr>
              <a:cxnSpLocks noChangeShapeType="1"/>
            </p:cNvCxnSpPr>
            <p:nvPr/>
          </p:nvCxnSpPr>
          <p:spPr bwMode="auto">
            <a:xfrm rot="5400000" flipH="1" flipV="1">
              <a:off x="493" y="2567"/>
              <a:ext cx="1392" cy="1"/>
            </a:xfrm>
            <a:prstGeom prst="bentConnector5">
              <a:avLst>
                <a:gd name="adj1" fmla="val -10343"/>
                <a:gd name="adj2" fmla="val 96000032"/>
                <a:gd name="adj3" fmla="val 110343"/>
              </a:avLst>
            </a:prstGeom>
            <a:noFill/>
            <a:ln w="9525">
              <a:solidFill>
                <a:schemeClr val="tx1"/>
              </a:solidFill>
              <a:miter lim="800000"/>
              <a:headEnd type="triangle" w="med" len="med"/>
              <a:tailEnd/>
            </a:ln>
            <a:extLst>
              <a:ext uri="{909E8E84-426E-40DD-AFC4-6F175D3DCCD1}">
                <a14:hiddenFill xmlns:a14="http://schemas.microsoft.com/office/drawing/2010/main">
                  <a:noFill/>
                </a14:hiddenFill>
              </a:ext>
            </a:extLst>
          </p:spPr>
        </p:cxnSp>
        <p:grpSp>
          <p:nvGrpSpPr>
            <p:cNvPr id="36890" name="Group 21"/>
            <p:cNvGrpSpPr>
              <a:grpSpLocks/>
            </p:cNvGrpSpPr>
            <p:nvPr/>
          </p:nvGrpSpPr>
          <p:grpSpPr bwMode="auto">
            <a:xfrm>
              <a:off x="371" y="1728"/>
              <a:ext cx="1632" cy="960"/>
              <a:chOff x="371" y="1728"/>
              <a:chExt cx="1632" cy="960"/>
            </a:xfrm>
          </p:grpSpPr>
          <p:sp>
            <p:nvSpPr>
              <p:cNvPr id="36891" name="AutoShape 22"/>
              <p:cNvSpPr>
                <a:spLocks noChangeArrowheads="1"/>
              </p:cNvSpPr>
              <p:nvPr/>
            </p:nvSpPr>
            <p:spPr bwMode="auto">
              <a:xfrm>
                <a:off x="659" y="2400"/>
                <a:ext cx="1056" cy="288"/>
              </a:xfrm>
              <a:prstGeom prst="flowChartProcess">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000" b="1">
                    <a:latin typeface="楷体_GB2312" pitchFamily="49" charset="-122"/>
                    <a:ea typeface="楷体_GB2312" pitchFamily="49" charset="-122"/>
                  </a:rPr>
                  <a:t>加头成帧</a:t>
                </a:r>
                <a:endParaRPr kumimoji="1" lang="zh-CN" altLang="en-US" sz="2000">
                  <a:latin typeface="楷体_GB2312" pitchFamily="49" charset="-122"/>
                  <a:ea typeface="楷体_GB2312" pitchFamily="49" charset="-122"/>
                </a:endParaRPr>
              </a:p>
            </p:txBody>
          </p:sp>
          <p:sp>
            <p:nvSpPr>
              <p:cNvPr id="36892" name="AutoShape 23"/>
              <p:cNvSpPr>
                <a:spLocks noChangeArrowheads="1"/>
              </p:cNvSpPr>
              <p:nvPr/>
            </p:nvSpPr>
            <p:spPr bwMode="auto">
              <a:xfrm>
                <a:off x="371" y="1872"/>
                <a:ext cx="1632" cy="288"/>
              </a:xfrm>
              <a:prstGeom prst="flowChartProcess">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000" b="1">
                    <a:latin typeface="Verdana" panose="020B0604030504040204" pitchFamily="34" charset="0"/>
                    <a:ea typeface="楷体_GB2312" pitchFamily="49" charset="-122"/>
                  </a:rPr>
                  <a:t>从网络层取</a:t>
                </a:r>
                <a:r>
                  <a:rPr kumimoji="1" lang="en-US" altLang="zh-CN" sz="2000">
                    <a:latin typeface="Verdana" panose="020B0604030504040204" pitchFamily="34" charset="0"/>
                    <a:ea typeface="楷体_GB2312" pitchFamily="49" charset="-122"/>
                  </a:rPr>
                  <a:t>packet</a:t>
                </a:r>
              </a:p>
            </p:txBody>
          </p:sp>
          <p:sp>
            <p:nvSpPr>
              <p:cNvPr id="36893" name="Line 24"/>
              <p:cNvSpPr>
                <a:spLocks noChangeShapeType="1"/>
              </p:cNvSpPr>
              <p:nvPr/>
            </p:nvSpPr>
            <p:spPr bwMode="auto">
              <a:xfrm flipH="1" flipV="1">
                <a:off x="1189" y="1728"/>
                <a:ext cx="28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36872" name="Group 1032"/>
          <p:cNvGrpSpPr>
            <a:grpSpLocks/>
          </p:cNvGrpSpPr>
          <p:nvPr/>
        </p:nvGrpSpPr>
        <p:grpSpPr bwMode="auto">
          <a:xfrm>
            <a:off x="6075363" y="1368426"/>
            <a:ext cx="3810000" cy="4041775"/>
            <a:chOff x="2867" y="862"/>
            <a:chExt cx="2400" cy="2546"/>
          </a:xfrm>
        </p:grpSpPr>
        <p:sp>
          <p:nvSpPr>
            <p:cNvPr id="36875" name="AutoShape 5"/>
            <p:cNvSpPr>
              <a:spLocks noChangeArrowheads="1"/>
            </p:cNvSpPr>
            <p:nvPr/>
          </p:nvSpPr>
          <p:spPr bwMode="auto">
            <a:xfrm>
              <a:off x="3107" y="1632"/>
              <a:ext cx="1344" cy="624"/>
            </a:xfrm>
            <a:prstGeom prst="flowChartDecision">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000" b="1">
                  <a:latin typeface="楷体_GB2312" pitchFamily="49" charset="-122"/>
                  <a:ea typeface="楷体_GB2312" pitchFamily="49" charset="-122"/>
                </a:rPr>
                <a:t>等到帧否？</a:t>
              </a:r>
              <a:endParaRPr kumimoji="1" lang="zh-CN" altLang="en-US" sz="2000">
                <a:latin typeface="楷体_GB2312" pitchFamily="49" charset="-122"/>
                <a:ea typeface="楷体_GB2312" pitchFamily="49" charset="-122"/>
              </a:endParaRPr>
            </a:p>
          </p:txBody>
        </p:sp>
        <p:sp>
          <p:nvSpPr>
            <p:cNvPr id="36876" name="AutoShape 6"/>
            <p:cNvSpPr>
              <a:spLocks noChangeArrowheads="1"/>
            </p:cNvSpPr>
            <p:nvPr/>
          </p:nvSpPr>
          <p:spPr bwMode="auto">
            <a:xfrm>
              <a:off x="4067" y="2496"/>
              <a:ext cx="1056" cy="288"/>
            </a:xfrm>
            <a:prstGeom prst="flowChartProcess">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000" b="1">
                  <a:latin typeface="楷体_GB2312" pitchFamily="49" charset="-122"/>
                  <a:ea typeface="楷体_GB2312" pitchFamily="49" charset="-122"/>
                </a:rPr>
                <a:t>去头</a:t>
              </a:r>
              <a:endParaRPr kumimoji="1" lang="zh-CN" altLang="en-US" sz="2000">
                <a:latin typeface="楷体_GB2312" pitchFamily="49" charset="-122"/>
                <a:ea typeface="楷体_GB2312" pitchFamily="49" charset="-122"/>
              </a:endParaRPr>
            </a:p>
          </p:txBody>
        </p:sp>
        <p:sp>
          <p:nvSpPr>
            <p:cNvPr id="36877" name="AutoShape 7"/>
            <p:cNvSpPr>
              <a:spLocks noChangeArrowheads="1"/>
            </p:cNvSpPr>
            <p:nvPr/>
          </p:nvSpPr>
          <p:spPr bwMode="auto">
            <a:xfrm>
              <a:off x="3923" y="3120"/>
              <a:ext cx="1344" cy="288"/>
            </a:xfrm>
            <a:prstGeom prst="flowChartProcess">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000" b="1">
                  <a:latin typeface="楷体_GB2312" pitchFamily="49" charset="-122"/>
                  <a:ea typeface="楷体_GB2312" pitchFamily="49" charset="-122"/>
                </a:rPr>
                <a:t>分组交网络层</a:t>
              </a:r>
              <a:endParaRPr kumimoji="1" lang="zh-CN" altLang="en-US" sz="2000">
                <a:latin typeface="楷体_GB2312" pitchFamily="49" charset="-122"/>
                <a:ea typeface="楷体_GB2312" pitchFamily="49" charset="-122"/>
              </a:endParaRPr>
            </a:p>
          </p:txBody>
        </p:sp>
        <p:cxnSp>
          <p:nvCxnSpPr>
            <p:cNvPr id="36878" name="AutoShape 8"/>
            <p:cNvCxnSpPr>
              <a:cxnSpLocks noChangeShapeType="1"/>
              <a:stCxn id="36875" idx="3"/>
              <a:endCxn id="36876" idx="0"/>
            </p:cNvCxnSpPr>
            <p:nvPr/>
          </p:nvCxnSpPr>
          <p:spPr bwMode="auto">
            <a:xfrm>
              <a:off x="4451" y="1944"/>
              <a:ext cx="144" cy="552"/>
            </a:xfrm>
            <a:prstGeom prst="bentConnector2">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36879" name="AutoShape 9"/>
            <p:cNvCxnSpPr>
              <a:cxnSpLocks noChangeShapeType="1"/>
              <a:stCxn id="36877" idx="2"/>
            </p:cNvCxnSpPr>
            <p:nvPr/>
          </p:nvCxnSpPr>
          <p:spPr bwMode="auto">
            <a:xfrm rot="5400000" flipH="1">
              <a:off x="2815" y="1628"/>
              <a:ext cx="1928" cy="1632"/>
            </a:xfrm>
            <a:prstGeom prst="bentConnector3">
              <a:avLst>
                <a:gd name="adj1" fmla="val -7468"/>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36880" name="AutoShape 10"/>
            <p:cNvCxnSpPr>
              <a:cxnSpLocks noChangeShapeType="1"/>
              <a:endCxn id="36875" idx="0"/>
            </p:cNvCxnSpPr>
            <p:nvPr/>
          </p:nvCxnSpPr>
          <p:spPr bwMode="auto">
            <a:xfrm>
              <a:off x="3779" y="1152"/>
              <a:ext cx="0" cy="48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6881" name="AutoShape 11"/>
            <p:cNvCxnSpPr>
              <a:cxnSpLocks noChangeShapeType="1"/>
              <a:stCxn id="36875" idx="1"/>
            </p:cNvCxnSpPr>
            <p:nvPr/>
          </p:nvCxnSpPr>
          <p:spPr bwMode="auto">
            <a:xfrm flipH="1">
              <a:off x="2963" y="1944"/>
              <a:ext cx="144"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6882" name="AutoShape 12"/>
            <p:cNvCxnSpPr>
              <a:cxnSpLocks noChangeShapeType="1"/>
              <a:stCxn id="36876" idx="2"/>
              <a:endCxn id="36877" idx="0"/>
            </p:cNvCxnSpPr>
            <p:nvPr/>
          </p:nvCxnSpPr>
          <p:spPr bwMode="auto">
            <a:xfrm>
              <a:off x="4595" y="2784"/>
              <a:ext cx="0" cy="336"/>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6883" name="Text Box 13"/>
            <p:cNvSpPr txBox="1">
              <a:spLocks noChangeArrowheads="1"/>
            </p:cNvSpPr>
            <p:nvPr/>
          </p:nvSpPr>
          <p:spPr bwMode="auto">
            <a:xfrm>
              <a:off x="2867" y="862"/>
              <a:ext cx="43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000" b="1">
                  <a:solidFill>
                    <a:srgbClr val="0000FF"/>
                  </a:solidFill>
                  <a:latin typeface="楷体_GB2312" pitchFamily="49" charset="-122"/>
                  <a:ea typeface="楷体_GB2312" pitchFamily="49" charset="-122"/>
                </a:rPr>
                <a:t>收：</a:t>
              </a:r>
            </a:p>
          </p:txBody>
        </p:sp>
        <p:sp>
          <p:nvSpPr>
            <p:cNvPr id="36884" name="Text Box 14"/>
            <p:cNvSpPr txBox="1">
              <a:spLocks noChangeArrowheads="1"/>
            </p:cNvSpPr>
            <p:nvPr/>
          </p:nvSpPr>
          <p:spPr bwMode="auto">
            <a:xfrm>
              <a:off x="4403" y="1652"/>
              <a:ext cx="22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1">
                  <a:latin typeface="楷体_GB2312" pitchFamily="49" charset="-122"/>
                  <a:ea typeface="楷体_GB2312" pitchFamily="49" charset="-122"/>
                </a:rPr>
                <a:t>Y</a:t>
              </a:r>
            </a:p>
          </p:txBody>
        </p:sp>
        <p:sp>
          <p:nvSpPr>
            <p:cNvPr id="36885" name="Text Box 15"/>
            <p:cNvSpPr txBox="1">
              <a:spLocks noChangeArrowheads="1"/>
            </p:cNvSpPr>
            <p:nvPr/>
          </p:nvSpPr>
          <p:spPr bwMode="auto">
            <a:xfrm>
              <a:off x="2963" y="1988"/>
              <a:ext cx="25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1">
                  <a:latin typeface="楷体_GB2312" pitchFamily="49" charset="-122"/>
                  <a:ea typeface="楷体_GB2312" pitchFamily="49" charset="-122"/>
                </a:rPr>
                <a:t>N</a:t>
              </a:r>
            </a:p>
          </p:txBody>
        </p:sp>
      </p:grpSp>
      <p:sp>
        <p:nvSpPr>
          <p:cNvPr id="36873" name="Text Box 26"/>
          <p:cNvSpPr txBox="1">
            <a:spLocks noChangeArrowheads="1"/>
          </p:cNvSpPr>
          <p:nvPr/>
        </p:nvSpPr>
        <p:spPr bwMode="auto">
          <a:xfrm>
            <a:off x="2365648" y="749300"/>
            <a:ext cx="236220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2800" b="1" dirty="0">
                <a:solidFill>
                  <a:srgbClr val="0000FF"/>
                </a:solidFill>
                <a:ea typeface="楷体_GB2312" pitchFamily="49" charset="-122"/>
              </a:rPr>
              <a:t>流程图：</a:t>
            </a:r>
          </a:p>
        </p:txBody>
      </p:sp>
      <p:cxnSp>
        <p:nvCxnSpPr>
          <p:cNvPr id="36874" name="直接箭头连接符 4"/>
          <p:cNvCxnSpPr>
            <a:cxnSpLocks noChangeShapeType="1"/>
          </p:cNvCxnSpPr>
          <p:nvPr/>
        </p:nvCxnSpPr>
        <p:spPr bwMode="auto">
          <a:xfrm>
            <a:off x="6227763" y="2349500"/>
            <a:ext cx="1295400" cy="0"/>
          </a:xfrm>
          <a:prstGeom prst="straightConnector1">
            <a:avLst/>
          </a:prstGeom>
          <a:noFill/>
          <a:ln w="9525" algn="ctr">
            <a:solidFill>
              <a:schemeClr val="tx1"/>
            </a:solidFill>
            <a:round/>
            <a:headEnd/>
            <a:tailEnd type="triangle" w="med" len="med"/>
          </a:ln>
          <a:effectLst/>
          <a:extLs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cxnSp>
    </p:spTree>
  </p:cSld>
  <p:clrMapOvr>
    <a:masterClrMapping/>
  </p:clrMapOvr>
  <p:transition>
    <p:random/>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Computer Network</a:t>
            </a:r>
          </a:p>
        </p:txBody>
      </p:sp>
      <p:sp>
        <p:nvSpPr>
          <p:cNvPr id="37891" name="灯片编号占位符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8F6D2C76-5C69-4297-AA78-F1F3F1CE04EE}" type="slidenum">
              <a:rPr lang="en-US" altLang="zh-CN" sz="1200">
                <a:latin typeface="Arial Black" panose="020B0A04020102020204" pitchFamily="34" charset="0"/>
              </a:rPr>
              <a:pPr>
                <a:spcBef>
                  <a:spcPct val="0"/>
                </a:spcBef>
                <a:buClrTx/>
                <a:buSzTx/>
                <a:buFontTx/>
                <a:buNone/>
              </a:pPr>
              <a:t>74</a:t>
            </a:fld>
            <a:endParaRPr lang="en-US" altLang="zh-CN" sz="1200">
              <a:latin typeface="Arial Black" panose="020B0A04020102020204" pitchFamily="34" charset="0"/>
            </a:endParaRPr>
          </a:p>
        </p:txBody>
      </p:sp>
      <p:sp>
        <p:nvSpPr>
          <p:cNvPr id="6" name="日期占位符 5"/>
          <p:cNvSpPr>
            <a:spLocks noGrp="1"/>
          </p:cNvSpPr>
          <p:nvPr>
            <p:ph type="dt" sz="quarter" idx="12"/>
          </p:nvPr>
        </p:nvSpPr>
        <p:spPr/>
        <p:txBody>
          <a:bodyPr/>
          <a:lstStyle/>
          <a:p>
            <a:pPr>
              <a:defRPr/>
            </a:pPr>
            <a:fld id="{6D664E4B-1493-4601-8367-D5A9C60C09A2}" type="datetime1">
              <a:rPr lang="zh-CN" altLang="en-US"/>
              <a:pPr>
                <a:defRPr/>
              </a:pPr>
              <a:t>2024/10/18</a:t>
            </a:fld>
            <a:endParaRPr lang="en-US" altLang="zh-CN"/>
          </a:p>
        </p:txBody>
      </p:sp>
      <p:sp>
        <p:nvSpPr>
          <p:cNvPr id="858114" name="Rectangle 1026"/>
          <p:cNvSpPr>
            <a:spLocks noGrp="1" noChangeArrowheads="1"/>
          </p:cNvSpPr>
          <p:nvPr>
            <p:ph type="title"/>
          </p:nvPr>
        </p:nvSpPr>
        <p:spPr>
          <a:xfrm>
            <a:off x="2209800" y="1400177"/>
            <a:ext cx="6589712" cy="482600"/>
          </a:xfrm>
        </p:spPr>
        <p:txBody>
          <a:bodyPr>
            <a:normAutofit fontScale="90000"/>
          </a:bodyPr>
          <a:lstStyle/>
          <a:p>
            <a:pPr eaLnBrk="1" hangingPunct="1">
              <a:defRPr/>
            </a:pPr>
            <a:r>
              <a:rPr lang="zh-CN" altLang="en-US" sz="3200" dirty="0">
                <a:solidFill>
                  <a:srgbClr val="0000FF"/>
                </a:solidFill>
              </a:rPr>
              <a:t>二．单向停</a:t>
            </a:r>
            <a:r>
              <a:rPr lang="en-US" altLang="zh-CN" sz="3200" dirty="0">
                <a:solidFill>
                  <a:srgbClr val="0000FF"/>
                </a:solidFill>
              </a:rPr>
              <a:t>-</a:t>
            </a:r>
            <a:r>
              <a:rPr lang="zh-CN" altLang="en-US" sz="3200" dirty="0">
                <a:solidFill>
                  <a:srgbClr val="0000FF"/>
                </a:solidFill>
              </a:rPr>
              <a:t>等协议</a:t>
            </a:r>
            <a:endParaRPr lang="en-US" altLang="zh-CN" sz="2400" dirty="0">
              <a:solidFill>
                <a:srgbClr val="0000FF"/>
              </a:solidFill>
            </a:endParaRPr>
          </a:p>
        </p:txBody>
      </p:sp>
      <p:sp>
        <p:nvSpPr>
          <p:cNvPr id="37894" name="Rectangle 1027"/>
          <p:cNvSpPr>
            <a:spLocks noGrp="1" noChangeArrowheads="1"/>
          </p:cNvSpPr>
          <p:nvPr>
            <p:ph type="body" idx="1"/>
          </p:nvPr>
        </p:nvSpPr>
        <p:spPr>
          <a:xfrm>
            <a:off x="2971800" y="2057401"/>
            <a:ext cx="7010400" cy="3641725"/>
          </a:xfrm>
        </p:spPr>
        <p:txBody>
          <a:bodyPr/>
          <a:lstStyle/>
          <a:p>
            <a:pPr eaLnBrk="1" hangingPunct="1">
              <a:lnSpc>
                <a:spcPct val="120000"/>
              </a:lnSpc>
              <a:buFont typeface="Wingdings" panose="05000000000000000000" pitchFamily="2" charset="2"/>
              <a:buNone/>
            </a:pPr>
            <a:r>
              <a:rPr lang="zh-CN" altLang="en-US" sz="2400" b="1" dirty="0">
                <a:solidFill>
                  <a:srgbClr val="FF0000"/>
                </a:solidFill>
                <a:latin typeface="Verdana" panose="020B0604030504040204" pitchFamily="34" charset="0"/>
                <a:ea typeface="楷体_GB2312" pitchFamily="49" charset="-122"/>
              </a:rPr>
              <a:t>条件：</a:t>
            </a:r>
          </a:p>
          <a:p>
            <a:pPr eaLnBrk="1" hangingPunct="1">
              <a:lnSpc>
                <a:spcPct val="120000"/>
              </a:lnSpc>
              <a:buFont typeface="Wingdings" panose="05000000000000000000" pitchFamily="2" charset="2"/>
              <a:buNone/>
            </a:pPr>
            <a:r>
              <a:rPr lang="zh-CN" altLang="en-US" sz="2400" dirty="0">
                <a:latin typeface="Verdana" panose="020B0604030504040204" pitchFamily="34" charset="0"/>
                <a:ea typeface="楷体_GB2312" pitchFamily="49" charset="-122"/>
              </a:rPr>
              <a:t>      </a:t>
            </a:r>
            <a:r>
              <a:rPr lang="en-US" altLang="zh-CN" sz="2400" dirty="0">
                <a:latin typeface="Verdana" panose="020B0604030504040204" pitchFamily="34" charset="0"/>
                <a:ea typeface="楷体_GB2312" pitchFamily="49" charset="-122"/>
              </a:rPr>
              <a:t>1</a:t>
            </a:r>
            <a:r>
              <a:rPr lang="zh-CN" altLang="en-US" sz="2400" dirty="0">
                <a:latin typeface="Verdana" panose="020B0604030504040204" pitchFamily="34" charset="0"/>
                <a:ea typeface="楷体_GB2312" pitchFamily="49" charset="-122"/>
              </a:rPr>
              <a:t>．一个机器发数据，另一机器收数据</a:t>
            </a:r>
          </a:p>
          <a:p>
            <a:pPr eaLnBrk="1" hangingPunct="1">
              <a:lnSpc>
                <a:spcPct val="120000"/>
              </a:lnSpc>
              <a:buFont typeface="Wingdings" panose="05000000000000000000" pitchFamily="2" charset="2"/>
              <a:buNone/>
            </a:pPr>
            <a:r>
              <a:rPr lang="zh-CN" altLang="en-US" sz="2400" dirty="0">
                <a:latin typeface="Verdana" panose="020B0604030504040204" pitchFamily="34" charset="0"/>
                <a:ea typeface="楷体_GB2312" pitchFamily="49" charset="-122"/>
              </a:rPr>
              <a:t>      </a:t>
            </a:r>
            <a:r>
              <a:rPr lang="en-US" altLang="zh-CN" sz="2400" dirty="0">
                <a:latin typeface="Verdana" panose="020B0604030504040204" pitchFamily="34" charset="0"/>
                <a:ea typeface="楷体_GB2312" pitchFamily="49" charset="-122"/>
              </a:rPr>
              <a:t>2</a:t>
            </a:r>
            <a:r>
              <a:rPr lang="zh-CN" altLang="en-US" sz="2400" dirty="0">
                <a:latin typeface="Verdana" panose="020B0604030504040204" pitchFamily="34" charset="0"/>
                <a:ea typeface="楷体_GB2312" pitchFamily="49" charset="-122"/>
              </a:rPr>
              <a:t>．网络层总是准备好分组传送</a:t>
            </a:r>
          </a:p>
          <a:p>
            <a:pPr eaLnBrk="1" hangingPunct="1">
              <a:lnSpc>
                <a:spcPct val="120000"/>
              </a:lnSpc>
              <a:buFont typeface="Wingdings" panose="05000000000000000000" pitchFamily="2" charset="2"/>
              <a:buNone/>
            </a:pPr>
            <a:r>
              <a:rPr lang="zh-CN" altLang="en-US" sz="2400" dirty="0">
                <a:latin typeface="Verdana" panose="020B0604030504040204" pitchFamily="34" charset="0"/>
                <a:ea typeface="楷体_GB2312" pitchFamily="49" charset="-122"/>
              </a:rPr>
              <a:t>      </a:t>
            </a:r>
            <a:r>
              <a:rPr lang="en-US" altLang="zh-CN" sz="2400" dirty="0">
                <a:latin typeface="Verdana" panose="020B0604030504040204" pitchFamily="34" charset="0"/>
                <a:ea typeface="楷体_GB2312" pitchFamily="49" charset="-122"/>
              </a:rPr>
              <a:t>3</a:t>
            </a:r>
            <a:r>
              <a:rPr lang="zh-CN" altLang="en-US" sz="2400" dirty="0">
                <a:latin typeface="Verdana" panose="020B0604030504040204" pitchFamily="34" charset="0"/>
                <a:ea typeface="楷体_GB2312" pitchFamily="49" charset="-122"/>
              </a:rPr>
              <a:t>．通道无错</a:t>
            </a:r>
          </a:p>
          <a:p>
            <a:pPr eaLnBrk="1" hangingPunct="1">
              <a:lnSpc>
                <a:spcPct val="120000"/>
              </a:lnSpc>
              <a:buFont typeface="Wingdings" panose="05000000000000000000" pitchFamily="2" charset="2"/>
              <a:buNone/>
            </a:pPr>
            <a:r>
              <a:rPr lang="zh-CN" altLang="en-US" sz="2400" dirty="0">
                <a:solidFill>
                  <a:srgbClr val="0000FF"/>
                </a:solidFill>
                <a:latin typeface="Verdana" panose="020B0604030504040204" pitchFamily="34" charset="0"/>
                <a:ea typeface="楷体_GB2312" pitchFamily="49" charset="-122"/>
              </a:rPr>
              <a:t>      </a:t>
            </a:r>
            <a:r>
              <a:rPr lang="en-US" altLang="zh-CN" sz="2400" dirty="0">
                <a:solidFill>
                  <a:srgbClr val="0000FF"/>
                </a:solidFill>
                <a:latin typeface="Verdana" panose="020B0604030504040204" pitchFamily="34" charset="0"/>
                <a:ea typeface="楷体_GB2312" pitchFamily="49" charset="-122"/>
              </a:rPr>
              <a:t>4</a:t>
            </a:r>
            <a:r>
              <a:rPr lang="zh-CN" altLang="en-US" sz="2400" dirty="0">
                <a:solidFill>
                  <a:srgbClr val="0000FF"/>
                </a:solidFill>
                <a:latin typeface="Verdana" panose="020B0604030504040204" pitchFamily="34" charset="0"/>
                <a:ea typeface="楷体_GB2312" pitchFamily="49" charset="-122"/>
              </a:rPr>
              <a:t>．</a:t>
            </a:r>
            <a:r>
              <a:rPr lang="en-US" altLang="zh-CN" sz="2400" dirty="0">
                <a:solidFill>
                  <a:srgbClr val="0000FF"/>
                </a:solidFill>
                <a:latin typeface="Verdana" panose="020B0604030504040204" pitchFamily="34" charset="0"/>
                <a:ea typeface="楷体_GB2312" pitchFamily="49" charset="-122"/>
              </a:rPr>
              <a:t>DLL</a:t>
            </a:r>
            <a:r>
              <a:rPr lang="zh-CN" altLang="en-US" sz="2400" dirty="0">
                <a:solidFill>
                  <a:srgbClr val="0000FF"/>
                </a:solidFill>
                <a:latin typeface="Verdana" panose="020B0604030504040204" pitchFamily="34" charset="0"/>
                <a:ea typeface="楷体_GB2312" pitchFamily="49" charset="-122"/>
              </a:rPr>
              <a:t>层处理速度有限</a:t>
            </a:r>
          </a:p>
        </p:txBody>
      </p:sp>
    </p:spTree>
  </p:cSld>
  <p:clrMapOvr>
    <a:masterClrMapping/>
  </p:clrMapOvr>
  <p:transition>
    <p:random/>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页脚占位符 1"/>
          <p:cNvSpPr>
            <a:spLocks noGrp="1"/>
          </p:cNvSpPr>
          <p:nvPr>
            <p:ph type="ftr" sz="quarter" idx="10"/>
          </p:nvPr>
        </p:nvSpPr>
        <p:spPr/>
        <p:txBody>
          <a:bodyPr/>
          <a:lstStyle/>
          <a:p>
            <a:pPr>
              <a:defRPr/>
            </a:pPr>
            <a:r>
              <a:rPr lang="en-US" altLang="zh-CN"/>
              <a:t>Computer Network</a:t>
            </a:r>
          </a:p>
        </p:txBody>
      </p:sp>
      <p:sp>
        <p:nvSpPr>
          <p:cNvPr id="38915" name="灯片编号占位符 2"/>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2515AA6A-E7E6-4D57-87FD-BD12DA892997}" type="slidenum">
              <a:rPr lang="en-US" altLang="zh-CN" sz="1200">
                <a:latin typeface="Arial Black" panose="020B0A04020102020204" pitchFamily="34" charset="0"/>
              </a:rPr>
              <a:pPr>
                <a:spcBef>
                  <a:spcPct val="0"/>
                </a:spcBef>
                <a:buClrTx/>
                <a:buSzTx/>
                <a:buFontTx/>
                <a:buNone/>
              </a:pPr>
              <a:t>75</a:t>
            </a:fld>
            <a:endParaRPr lang="en-US" altLang="zh-CN" sz="1200">
              <a:latin typeface="Arial Black" panose="020B0A04020102020204" pitchFamily="34" charset="0"/>
            </a:endParaRPr>
          </a:p>
        </p:txBody>
      </p:sp>
      <p:sp>
        <p:nvSpPr>
          <p:cNvPr id="32" name="日期占位符 3"/>
          <p:cNvSpPr>
            <a:spLocks noGrp="1"/>
          </p:cNvSpPr>
          <p:nvPr>
            <p:ph type="dt" sz="quarter" idx="12"/>
          </p:nvPr>
        </p:nvSpPr>
        <p:spPr/>
        <p:txBody>
          <a:bodyPr/>
          <a:lstStyle/>
          <a:p>
            <a:pPr>
              <a:defRPr/>
            </a:pPr>
            <a:fld id="{5CD742E9-ACC2-4697-BA05-16845DF5DC30}" type="datetime1">
              <a:rPr lang="zh-CN" altLang="en-US"/>
              <a:pPr>
                <a:defRPr/>
              </a:pPr>
              <a:t>2024/10/18</a:t>
            </a:fld>
            <a:endParaRPr lang="en-US" altLang="zh-CN"/>
          </a:p>
        </p:txBody>
      </p:sp>
      <p:sp>
        <p:nvSpPr>
          <p:cNvPr id="38917" name="Text Box 16"/>
          <p:cNvSpPr txBox="1">
            <a:spLocks noChangeArrowheads="1"/>
          </p:cNvSpPr>
          <p:nvPr/>
        </p:nvSpPr>
        <p:spPr bwMode="auto">
          <a:xfrm>
            <a:off x="6329363" y="649288"/>
            <a:ext cx="793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400">
                <a:solidFill>
                  <a:srgbClr val="0000FF"/>
                </a:solidFill>
                <a:latin typeface="Verdana" panose="020B0604030504040204" pitchFamily="34" charset="0"/>
                <a:ea typeface="楷体_GB2312" pitchFamily="49" charset="-122"/>
              </a:rPr>
              <a:t>收：</a:t>
            </a:r>
          </a:p>
        </p:txBody>
      </p:sp>
      <p:sp>
        <p:nvSpPr>
          <p:cNvPr id="38918" name="Text Box 27"/>
          <p:cNvSpPr txBox="1">
            <a:spLocks noChangeArrowheads="1"/>
          </p:cNvSpPr>
          <p:nvPr/>
        </p:nvSpPr>
        <p:spPr bwMode="auto">
          <a:xfrm>
            <a:off x="2503488" y="649288"/>
            <a:ext cx="793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400">
                <a:solidFill>
                  <a:srgbClr val="0000FF"/>
                </a:solidFill>
                <a:latin typeface="Verdana" panose="020B0604030504040204" pitchFamily="34" charset="0"/>
                <a:ea typeface="楷体_GB2312" pitchFamily="49" charset="-122"/>
              </a:rPr>
              <a:t>发：</a:t>
            </a:r>
          </a:p>
        </p:txBody>
      </p:sp>
      <p:grpSp>
        <p:nvGrpSpPr>
          <p:cNvPr id="38919" name="Group 26"/>
          <p:cNvGrpSpPr>
            <a:grpSpLocks/>
          </p:cNvGrpSpPr>
          <p:nvPr/>
        </p:nvGrpSpPr>
        <p:grpSpPr bwMode="auto">
          <a:xfrm>
            <a:off x="1905001" y="1196976"/>
            <a:ext cx="8234363" cy="4824413"/>
            <a:chOff x="240" y="754"/>
            <a:chExt cx="5187" cy="3039"/>
          </a:xfrm>
        </p:grpSpPr>
        <p:sp>
          <p:nvSpPr>
            <p:cNvPr id="38920" name="AutoShape 8"/>
            <p:cNvSpPr>
              <a:spLocks noChangeArrowheads="1"/>
            </p:cNvSpPr>
            <p:nvPr/>
          </p:nvSpPr>
          <p:spPr bwMode="auto">
            <a:xfrm>
              <a:off x="3267" y="1273"/>
              <a:ext cx="1344" cy="624"/>
            </a:xfrm>
            <a:prstGeom prst="flowChartDecision">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en-US" altLang="zh-CN" sz="2000">
                  <a:latin typeface="Verdana" panose="020B0604030504040204" pitchFamily="34" charset="0"/>
                  <a:ea typeface="楷体_GB2312" pitchFamily="49" charset="-122"/>
                </a:rPr>
                <a:t> </a:t>
              </a:r>
              <a:r>
                <a:rPr kumimoji="1" lang="zh-CN" altLang="en-US" sz="2000">
                  <a:latin typeface="Verdana" panose="020B0604030504040204" pitchFamily="34" charset="0"/>
                  <a:ea typeface="楷体_GB2312" pitchFamily="49" charset="-122"/>
                </a:rPr>
                <a:t>等到帧否？</a:t>
              </a:r>
            </a:p>
          </p:txBody>
        </p:sp>
        <p:sp>
          <p:nvSpPr>
            <p:cNvPr id="38921" name="AutoShape 9"/>
            <p:cNvSpPr>
              <a:spLocks noChangeArrowheads="1"/>
            </p:cNvSpPr>
            <p:nvPr/>
          </p:nvSpPr>
          <p:spPr bwMode="auto">
            <a:xfrm>
              <a:off x="4227" y="2137"/>
              <a:ext cx="1056" cy="288"/>
            </a:xfrm>
            <a:prstGeom prst="flowChartProcess">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Verdana" panose="020B0604030504040204" pitchFamily="34" charset="0"/>
                  <a:ea typeface="楷体_GB2312" pitchFamily="49" charset="-122"/>
                </a:rPr>
                <a:t>去头</a:t>
              </a:r>
            </a:p>
          </p:txBody>
        </p:sp>
        <p:sp>
          <p:nvSpPr>
            <p:cNvPr id="38922" name="AutoShape 10"/>
            <p:cNvSpPr>
              <a:spLocks noChangeArrowheads="1"/>
            </p:cNvSpPr>
            <p:nvPr/>
          </p:nvSpPr>
          <p:spPr bwMode="auto">
            <a:xfrm>
              <a:off x="4083" y="2761"/>
              <a:ext cx="1344" cy="288"/>
            </a:xfrm>
            <a:prstGeom prst="flowChartProcess">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Verdana" panose="020B0604030504040204" pitchFamily="34" charset="0"/>
                  <a:ea typeface="楷体_GB2312" pitchFamily="49" charset="-122"/>
                </a:rPr>
                <a:t>分组交网络层</a:t>
              </a:r>
            </a:p>
          </p:txBody>
        </p:sp>
        <p:cxnSp>
          <p:nvCxnSpPr>
            <p:cNvPr id="38923" name="AutoShape 11"/>
            <p:cNvCxnSpPr>
              <a:cxnSpLocks noChangeShapeType="1"/>
              <a:stCxn id="38920" idx="3"/>
              <a:endCxn id="38921" idx="0"/>
            </p:cNvCxnSpPr>
            <p:nvPr/>
          </p:nvCxnSpPr>
          <p:spPr bwMode="auto">
            <a:xfrm>
              <a:off x="4611" y="1585"/>
              <a:ext cx="144" cy="552"/>
            </a:xfrm>
            <a:prstGeom prst="bentConnector2">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38924" name="AutoShape 12"/>
            <p:cNvCxnSpPr>
              <a:cxnSpLocks noChangeShapeType="1"/>
              <a:stCxn id="38928" idx="2"/>
              <a:endCxn id="38920" idx="0"/>
            </p:cNvCxnSpPr>
            <p:nvPr/>
          </p:nvCxnSpPr>
          <p:spPr bwMode="auto">
            <a:xfrm rot="16200000" flipV="1">
              <a:off x="3171" y="2041"/>
              <a:ext cx="2352" cy="816"/>
            </a:xfrm>
            <a:prstGeom prst="bentConnector5">
              <a:avLst>
                <a:gd name="adj1" fmla="val -6120"/>
                <a:gd name="adj2" fmla="val 200000"/>
                <a:gd name="adj3" fmla="val 106120"/>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38925" name="AutoShape 13"/>
            <p:cNvCxnSpPr>
              <a:cxnSpLocks noChangeShapeType="1"/>
              <a:endCxn id="38920" idx="0"/>
            </p:cNvCxnSpPr>
            <p:nvPr/>
          </p:nvCxnSpPr>
          <p:spPr bwMode="auto">
            <a:xfrm>
              <a:off x="3939" y="793"/>
              <a:ext cx="0" cy="48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8926" name="AutoShape 14"/>
            <p:cNvCxnSpPr>
              <a:cxnSpLocks noChangeShapeType="1"/>
              <a:stCxn id="38920" idx="1"/>
            </p:cNvCxnSpPr>
            <p:nvPr/>
          </p:nvCxnSpPr>
          <p:spPr bwMode="auto">
            <a:xfrm flipH="1">
              <a:off x="3123" y="1585"/>
              <a:ext cx="144"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8927" name="AutoShape 15"/>
            <p:cNvCxnSpPr>
              <a:cxnSpLocks noChangeShapeType="1"/>
              <a:stCxn id="38921" idx="2"/>
              <a:endCxn id="38922" idx="0"/>
            </p:cNvCxnSpPr>
            <p:nvPr/>
          </p:nvCxnSpPr>
          <p:spPr bwMode="auto">
            <a:xfrm>
              <a:off x="4755" y="2425"/>
              <a:ext cx="0" cy="336"/>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8928" name="AutoShape 17"/>
            <p:cNvSpPr>
              <a:spLocks noChangeArrowheads="1"/>
            </p:cNvSpPr>
            <p:nvPr/>
          </p:nvSpPr>
          <p:spPr bwMode="auto">
            <a:xfrm>
              <a:off x="4227" y="3337"/>
              <a:ext cx="1056" cy="288"/>
            </a:xfrm>
            <a:prstGeom prst="flowChartProcess">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Verdana" panose="020B0604030504040204" pitchFamily="34" charset="0"/>
                  <a:ea typeface="楷体_GB2312" pitchFamily="49" charset="-122"/>
                </a:rPr>
                <a:t>发确认帧</a:t>
              </a:r>
            </a:p>
          </p:txBody>
        </p:sp>
        <p:cxnSp>
          <p:nvCxnSpPr>
            <p:cNvPr id="38929" name="AutoShape 18"/>
            <p:cNvCxnSpPr>
              <a:cxnSpLocks noChangeShapeType="1"/>
              <a:stCxn id="38922" idx="2"/>
              <a:endCxn id="38928" idx="0"/>
            </p:cNvCxnSpPr>
            <p:nvPr/>
          </p:nvCxnSpPr>
          <p:spPr bwMode="auto">
            <a:xfrm>
              <a:off x="4755" y="3049"/>
              <a:ext cx="0" cy="288"/>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8930" name="Text Box 19"/>
            <p:cNvSpPr txBox="1">
              <a:spLocks noChangeArrowheads="1"/>
            </p:cNvSpPr>
            <p:nvPr/>
          </p:nvSpPr>
          <p:spPr bwMode="auto">
            <a:xfrm>
              <a:off x="4563" y="1251"/>
              <a:ext cx="21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a:latin typeface="Verdana" panose="020B0604030504040204" pitchFamily="34" charset="0"/>
                  <a:ea typeface="楷体_GB2312" pitchFamily="49" charset="-122"/>
                </a:rPr>
                <a:t>Y</a:t>
              </a:r>
            </a:p>
          </p:txBody>
        </p:sp>
        <p:sp>
          <p:nvSpPr>
            <p:cNvPr id="38931" name="Text Box 20"/>
            <p:cNvSpPr txBox="1">
              <a:spLocks noChangeArrowheads="1"/>
            </p:cNvSpPr>
            <p:nvPr/>
          </p:nvSpPr>
          <p:spPr bwMode="auto">
            <a:xfrm>
              <a:off x="3171" y="1683"/>
              <a:ext cx="2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a:latin typeface="Verdana" panose="020B0604030504040204" pitchFamily="34" charset="0"/>
                  <a:ea typeface="楷体_GB2312" pitchFamily="49" charset="-122"/>
                </a:rPr>
                <a:t>N</a:t>
              </a:r>
            </a:p>
          </p:txBody>
        </p:sp>
        <p:sp>
          <p:nvSpPr>
            <p:cNvPr id="38932" name="AutoShape 21"/>
            <p:cNvSpPr>
              <a:spLocks noChangeArrowheads="1"/>
            </p:cNvSpPr>
            <p:nvPr/>
          </p:nvSpPr>
          <p:spPr bwMode="auto">
            <a:xfrm>
              <a:off x="975" y="1885"/>
              <a:ext cx="1056" cy="288"/>
            </a:xfrm>
            <a:prstGeom prst="flowChartProcess">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Verdana" panose="020B0604030504040204" pitchFamily="34" charset="0"/>
                  <a:ea typeface="楷体_GB2312" pitchFamily="49" charset="-122"/>
                </a:rPr>
                <a:t>加头成帧</a:t>
              </a:r>
            </a:p>
          </p:txBody>
        </p:sp>
        <p:sp>
          <p:nvSpPr>
            <p:cNvPr id="38933" name="AutoShape 22"/>
            <p:cNvSpPr>
              <a:spLocks noChangeArrowheads="1"/>
            </p:cNvSpPr>
            <p:nvPr/>
          </p:nvSpPr>
          <p:spPr bwMode="auto">
            <a:xfrm>
              <a:off x="687" y="1357"/>
              <a:ext cx="1632" cy="288"/>
            </a:xfrm>
            <a:prstGeom prst="flowChartProcess">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Verdana" panose="020B0604030504040204" pitchFamily="34" charset="0"/>
                  <a:ea typeface="楷体_GB2312" pitchFamily="49" charset="-122"/>
                </a:rPr>
                <a:t>从网络层取</a:t>
              </a:r>
              <a:r>
                <a:rPr kumimoji="1" lang="en-US" altLang="zh-CN" sz="2000">
                  <a:latin typeface="Verdana" panose="020B0604030504040204" pitchFamily="34" charset="0"/>
                  <a:ea typeface="楷体_GB2312" pitchFamily="49" charset="-122"/>
                </a:rPr>
                <a:t>packet</a:t>
              </a:r>
            </a:p>
          </p:txBody>
        </p:sp>
        <p:sp>
          <p:nvSpPr>
            <p:cNvPr id="38934" name="AutoShape 23"/>
            <p:cNvSpPr>
              <a:spLocks noChangeArrowheads="1"/>
            </p:cNvSpPr>
            <p:nvPr/>
          </p:nvSpPr>
          <p:spPr bwMode="auto">
            <a:xfrm>
              <a:off x="687" y="2461"/>
              <a:ext cx="1632" cy="288"/>
            </a:xfrm>
            <a:prstGeom prst="flowChartProcess">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Verdana" panose="020B0604030504040204" pitchFamily="34" charset="0"/>
                  <a:ea typeface="楷体_GB2312" pitchFamily="49" charset="-122"/>
                </a:rPr>
                <a:t>送物理层按位发送</a:t>
              </a:r>
            </a:p>
          </p:txBody>
        </p:sp>
        <p:cxnSp>
          <p:nvCxnSpPr>
            <p:cNvPr id="38935" name="AutoShape 24"/>
            <p:cNvCxnSpPr>
              <a:cxnSpLocks noChangeShapeType="1"/>
              <a:stCxn id="38933" idx="2"/>
              <a:endCxn id="38932" idx="0"/>
            </p:cNvCxnSpPr>
            <p:nvPr/>
          </p:nvCxnSpPr>
          <p:spPr bwMode="auto">
            <a:xfrm>
              <a:off x="1503" y="1645"/>
              <a:ext cx="0" cy="2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8936" name="AutoShape 25"/>
            <p:cNvCxnSpPr>
              <a:cxnSpLocks noChangeShapeType="1"/>
              <a:stCxn id="38932" idx="2"/>
              <a:endCxn id="38934" idx="0"/>
            </p:cNvCxnSpPr>
            <p:nvPr/>
          </p:nvCxnSpPr>
          <p:spPr bwMode="auto">
            <a:xfrm>
              <a:off x="1503" y="2173"/>
              <a:ext cx="0" cy="288"/>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8937" name="AutoShape 26"/>
            <p:cNvCxnSpPr>
              <a:cxnSpLocks noChangeShapeType="1"/>
            </p:cNvCxnSpPr>
            <p:nvPr/>
          </p:nvCxnSpPr>
          <p:spPr bwMode="auto">
            <a:xfrm>
              <a:off x="1519" y="754"/>
              <a:ext cx="1" cy="59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8938" name="AutoShape 28"/>
            <p:cNvSpPr>
              <a:spLocks noChangeArrowheads="1"/>
            </p:cNvSpPr>
            <p:nvPr/>
          </p:nvSpPr>
          <p:spPr bwMode="auto">
            <a:xfrm>
              <a:off x="687" y="3181"/>
              <a:ext cx="1632" cy="576"/>
            </a:xfrm>
            <a:prstGeom prst="diamond">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en-US" altLang="zh-CN" sz="2000">
                  <a:latin typeface="Verdana" panose="020B0604030504040204" pitchFamily="34" charset="0"/>
                  <a:ea typeface="楷体_GB2312" pitchFamily="49" charset="-122"/>
                </a:rPr>
                <a:t> </a:t>
              </a:r>
              <a:r>
                <a:rPr kumimoji="1" lang="zh-CN" altLang="en-US" sz="2000">
                  <a:latin typeface="Verdana" panose="020B0604030504040204" pitchFamily="34" charset="0"/>
                  <a:ea typeface="楷体_GB2312" pitchFamily="49" charset="-122"/>
                </a:rPr>
                <a:t>等确认帧？</a:t>
              </a:r>
            </a:p>
          </p:txBody>
        </p:sp>
        <p:cxnSp>
          <p:nvCxnSpPr>
            <p:cNvPr id="38939" name="AutoShape 29"/>
            <p:cNvCxnSpPr>
              <a:cxnSpLocks noChangeShapeType="1"/>
              <a:stCxn id="38934" idx="2"/>
              <a:endCxn id="38938" idx="0"/>
            </p:cNvCxnSpPr>
            <p:nvPr/>
          </p:nvCxnSpPr>
          <p:spPr bwMode="auto">
            <a:xfrm>
              <a:off x="1503" y="2749"/>
              <a:ext cx="0" cy="43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8940" name="AutoShape 30"/>
            <p:cNvCxnSpPr>
              <a:cxnSpLocks noChangeShapeType="1"/>
              <a:stCxn id="38938" idx="1"/>
            </p:cNvCxnSpPr>
            <p:nvPr/>
          </p:nvCxnSpPr>
          <p:spPr bwMode="auto">
            <a:xfrm rot="10800000" flipH="1">
              <a:off x="687" y="2989"/>
              <a:ext cx="816" cy="480"/>
            </a:xfrm>
            <a:prstGeom prst="bentConnector3">
              <a:avLst>
                <a:gd name="adj1" fmla="val -17648"/>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38941" name="AutoShape 31"/>
            <p:cNvCxnSpPr>
              <a:cxnSpLocks noChangeShapeType="1"/>
            </p:cNvCxnSpPr>
            <p:nvPr/>
          </p:nvCxnSpPr>
          <p:spPr bwMode="auto">
            <a:xfrm flipH="1" flipV="1">
              <a:off x="1503" y="1117"/>
              <a:ext cx="816" cy="2352"/>
            </a:xfrm>
            <a:prstGeom prst="bentConnector4">
              <a:avLst>
                <a:gd name="adj1" fmla="val -17648"/>
                <a:gd name="adj2" fmla="val 99912"/>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38942" name="Text Box 32"/>
            <p:cNvSpPr txBox="1">
              <a:spLocks noChangeArrowheads="1"/>
            </p:cNvSpPr>
            <p:nvPr/>
          </p:nvSpPr>
          <p:spPr bwMode="auto">
            <a:xfrm>
              <a:off x="240" y="3076"/>
              <a:ext cx="2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a:latin typeface="Verdana" panose="020B0604030504040204" pitchFamily="34" charset="0"/>
                  <a:ea typeface="楷体_GB2312" pitchFamily="49" charset="-122"/>
                </a:rPr>
                <a:t>N</a:t>
              </a:r>
            </a:p>
          </p:txBody>
        </p:sp>
        <p:sp>
          <p:nvSpPr>
            <p:cNvPr id="38943" name="Text Box 33"/>
            <p:cNvSpPr txBox="1">
              <a:spLocks noChangeArrowheads="1"/>
            </p:cNvSpPr>
            <p:nvPr/>
          </p:nvSpPr>
          <p:spPr bwMode="auto">
            <a:xfrm>
              <a:off x="2223" y="3543"/>
              <a:ext cx="21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a:latin typeface="Verdana" panose="020B0604030504040204" pitchFamily="34" charset="0"/>
                  <a:ea typeface="楷体_GB2312" pitchFamily="49" charset="-122"/>
                </a:rPr>
                <a:t>Y</a:t>
              </a:r>
            </a:p>
          </p:txBody>
        </p:sp>
        <p:sp>
          <p:nvSpPr>
            <p:cNvPr id="38944" name="Line 34"/>
            <p:cNvSpPr>
              <a:spLocks noChangeShapeType="1"/>
            </p:cNvSpPr>
            <p:nvPr/>
          </p:nvSpPr>
          <p:spPr bwMode="auto">
            <a:xfrm>
              <a:off x="3575" y="1129"/>
              <a:ext cx="360" cy="1"/>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ransition>
    <p:random/>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Computer Network</a:t>
            </a:r>
          </a:p>
        </p:txBody>
      </p:sp>
      <p:sp>
        <p:nvSpPr>
          <p:cNvPr id="39939" name="灯片编号占位符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681A667B-6D9C-4012-BCC3-37E7332A2535}" type="slidenum">
              <a:rPr lang="en-US" altLang="zh-CN" sz="1200">
                <a:latin typeface="Arial Black" panose="020B0A04020102020204" pitchFamily="34" charset="0"/>
              </a:rPr>
              <a:pPr>
                <a:spcBef>
                  <a:spcPct val="0"/>
                </a:spcBef>
                <a:buClrTx/>
                <a:buSzTx/>
                <a:buFontTx/>
                <a:buNone/>
              </a:pPr>
              <a:t>76</a:t>
            </a:fld>
            <a:endParaRPr lang="en-US" altLang="zh-CN" sz="1200">
              <a:latin typeface="Arial Black" panose="020B0A04020102020204" pitchFamily="34" charset="0"/>
            </a:endParaRPr>
          </a:p>
        </p:txBody>
      </p:sp>
      <p:sp>
        <p:nvSpPr>
          <p:cNvPr id="6" name="日期占位符 5"/>
          <p:cNvSpPr>
            <a:spLocks noGrp="1"/>
          </p:cNvSpPr>
          <p:nvPr>
            <p:ph type="dt" sz="quarter" idx="12"/>
          </p:nvPr>
        </p:nvSpPr>
        <p:spPr/>
        <p:txBody>
          <a:bodyPr/>
          <a:lstStyle/>
          <a:p>
            <a:pPr>
              <a:defRPr/>
            </a:pPr>
            <a:fld id="{5CB59269-C794-4D7E-A1AD-D05ED9AC97EC}" type="datetime1">
              <a:rPr lang="zh-CN" altLang="en-US"/>
              <a:pPr>
                <a:defRPr/>
              </a:pPr>
              <a:t>2024/10/18</a:t>
            </a:fld>
            <a:endParaRPr lang="en-US" altLang="zh-CN"/>
          </a:p>
        </p:txBody>
      </p:sp>
      <p:sp>
        <p:nvSpPr>
          <p:cNvPr id="860162" name="Rectangle 2"/>
          <p:cNvSpPr>
            <a:spLocks noGrp="1" noChangeArrowheads="1"/>
          </p:cNvSpPr>
          <p:nvPr>
            <p:ph type="title"/>
          </p:nvPr>
        </p:nvSpPr>
        <p:spPr>
          <a:xfrm>
            <a:off x="2590800" y="1308100"/>
            <a:ext cx="7181850" cy="482600"/>
          </a:xfrm>
        </p:spPr>
        <p:txBody>
          <a:bodyPr>
            <a:normAutofit fontScale="90000"/>
          </a:bodyPr>
          <a:lstStyle/>
          <a:p>
            <a:pPr eaLnBrk="1" hangingPunct="1">
              <a:defRPr/>
            </a:pPr>
            <a:r>
              <a:rPr lang="zh-CN" altLang="en-US" sz="3200" dirty="0">
                <a:solidFill>
                  <a:srgbClr val="0000FF"/>
                </a:solidFill>
              </a:rPr>
              <a:t>三、有错，单向数据传送协议</a:t>
            </a:r>
            <a:endParaRPr lang="en-US" altLang="zh-CN" sz="2400" dirty="0">
              <a:solidFill>
                <a:srgbClr val="0000FF"/>
              </a:solidFill>
            </a:endParaRPr>
          </a:p>
        </p:txBody>
      </p:sp>
      <p:sp>
        <p:nvSpPr>
          <p:cNvPr id="39942" name="Rectangle 3"/>
          <p:cNvSpPr>
            <a:spLocks noGrp="1" noChangeArrowheads="1"/>
          </p:cNvSpPr>
          <p:nvPr>
            <p:ph type="body" idx="1"/>
          </p:nvPr>
        </p:nvSpPr>
        <p:spPr>
          <a:xfrm>
            <a:off x="2590800" y="1887685"/>
            <a:ext cx="7620000" cy="3295650"/>
          </a:xfrm>
        </p:spPr>
        <p:txBody>
          <a:bodyPr/>
          <a:lstStyle/>
          <a:p>
            <a:pPr eaLnBrk="1" hangingPunct="1">
              <a:buFont typeface="Wingdings" panose="05000000000000000000" pitchFamily="2" charset="2"/>
              <a:buNone/>
            </a:pPr>
            <a:r>
              <a:rPr lang="zh-CN" altLang="en-US" sz="2400" b="1" dirty="0">
                <a:solidFill>
                  <a:srgbClr val="FF0000"/>
                </a:solidFill>
                <a:latin typeface="Verdana" panose="020B0604030504040204" pitchFamily="34" charset="0"/>
                <a:ea typeface="楷体_GB2312" pitchFamily="49" charset="-122"/>
              </a:rPr>
              <a:t>条件：</a:t>
            </a:r>
          </a:p>
          <a:p>
            <a:pPr eaLnBrk="1" hangingPunct="1">
              <a:buFont typeface="Wingdings" panose="05000000000000000000" pitchFamily="2" charset="2"/>
              <a:buNone/>
            </a:pPr>
            <a:r>
              <a:rPr lang="zh-CN" altLang="en-US" sz="2400" dirty="0">
                <a:latin typeface="Verdana" panose="020B0604030504040204" pitchFamily="34" charset="0"/>
                <a:ea typeface="楷体_GB2312" pitchFamily="49" charset="-122"/>
              </a:rPr>
              <a:t>      </a:t>
            </a:r>
            <a:r>
              <a:rPr lang="en-US" altLang="zh-CN" sz="2400" dirty="0">
                <a:latin typeface="Verdana" panose="020B0604030504040204" pitchFamily="34" charset="0"/>
                <a:ea typeface="楷体_GB2312" pitchFamily="49" charset="-122"/>
              </a:rPr>
              <a:t>1</a:t>
            </a:r>
            <a:r>
              <a:rPr lang="zh-CN" altLang="en-US" sz="2400" dirty="0">
                <a:latin typeface="Verdana" panose="020B0604030504040204" pitchFamily="34" charset="0"/>
                <a:ea typeface="楷体_GB2312" pitchFamily="49" charset="-122"/>
              </a:rPr>
              <a:t>．一个机器发数据，另一机器收数据；</a:t>
            </a:r>
          </a:p>
          <a:p>
            <a:pPr eaLnBrk="1" hangingPunct="1">
              <a:buFont typeface="Wingdings" panose="05000000000000000000" pitchFamily="2" charset="2"/>
              <a:buNone/>
            </a:pPr>
            <a:r>
              <a:rPr lang="zh-CN" altLang="en-US" sz="2400" dirty="0">
                <a:latin typeface="Verdana" panose="020B0604030504040204" pitchFamily="34" charset="0"/>
                <a:ea typeface="楷体_GB2312" pitchFamily="49" charset="-122"/>
              </a:rPr>
              <a:t>      </a:t>
            </a:r>
            <a:r>
              <a:rPr lang="en-US" altLang="zh-CN" sz="2400" dirty="0">
                <a:latin typeface="Verdana" panose="020B0604030504040204" pitchFamily="34" charset="0"/>
                <a:ea typeface="楷体_GB2312" pitchFamily="49" charset="-122"/>
              </a:rPr>
              <a:t>2</a:t>
            </a:r>
            <a:r>
              <a:rPr lang="zh-CN" altLang="en-US" sz="2400" dirty="0">
                <a:latin typeface="Verdana" panose="020B0604030504040204" pitchFamily="34" charset="0"/>
                <a:ea typeface="楷体_GB2312" pitchFamily="49" charset="-122"/>
              </a:rPr>
              <a:t>．网络层总是准备好分组传送；</a:t>
            </a:r>
          </a:p>
          <a:p>
            <a:pPr eaLnBrk="1" hangingPunct="1">
              <a:buFont typeface="Wingdings" panose="05000000000000000000" pitchFamily="2" charset="2"/>
              <a:buNone/>
            </a:pPr>
            <a:r>
              <a:rPr lang="zh-CN" altLang="en-US" sz="2400" dirty="0">
                <a:solidFill>
                  <a:srgbClr val="0000FF"/>
                </a:solidFill>
                <a:latin typeface="Verdana" panose="020B0604030504040204" pitchFamily="34" charset="0"/>
                <a:ea typeface="楷体_GB2312" pitchFamily="49" charset="-122"/>
              </a:rPr>
              <a:t>      </a:t>
            </a:r>
            <a:r>
              <a:rPr lang="en-US" altLang="zh-CN" sz="2400" dirty="0">
                <a:solidFill>
                  <a:srgbClr val="0000FF"/>
                </a:solidFill>
                <a:latin typeface="Verdana" panose="020B0604030504040204" pitchFamily="34" charset="0"/>
                <a:ea typeface="楷体_GB2312" pitchFamily="49" charset="-122"/>
              </a:rPr>
              <a:t>3</a:t>
            </a:r>
            <a:r>
              <a:rPr lang="zh-CN" altLang="en-US" sz="2400" dirty="0">
                <a:solidFill>
                  <a:srgbClr val="0000FF"/>
                </a:solidFill>
                <a:latin typeface="Verdana" panose="020B0604030504040204" pitchFamily="34" charset="0"/>
                <a:ea typeface="楷体_GB2312" pitchFamily="49" charset="-122"/>
              </a:rPr>
              <a:t>．通道有错；</a:t>
            </a:r>
          </a:p>
          <a:p>
            <a:pPr eaLnBrk="1" hangingPunct="1">
              <a:buFont typeface="Wingdings" panose="05000000000000000000" pitchFamily="2" charset="2"/>
              <a:buNone/>
            </a:pPr>
            <a:r>
              <a:rPr lang="zh-CN" altLang="en-US" sz="2400" dirty="0">
                <a:solidFill>
                  <a:srgbClr val="0000FF"/>
                </a:solidFill>
                <a:latin typeface="Verdana" panose="020B0604030504040204" pitchFamily="34" charset="0"/>
                <a:ea typeface="楷体_GB2312" pitchFamily="49" charset="-122"/>
              </a:rPr>
              <a:t>      </a:t>
            </a:r>
            <a:r>
              <a:rPr lang="en-US" altLang="zh-CN" sz="2400" dirty="0">
                <a:solidFill>
                  <a:srgbClr val="0000FF"/>
                </a:solidFill>
                <a:latin typeface="Verdana" panose="020B0604030504040204" pitchFamily="34" charset="0"/>
                <a:ea typeface="楷体_GB2312" pitchFamily="49" charset="-122"/>
              </a:rPr>
              <a:t>4</a:t>
            </a:r>
            <a:r>
              <a:rPr lang="zh-CN" altLang="en-US" sz="2400" dirty="0">
                <a:solidFill>
                  <a:srgbClr val="0000FF"/>
                </a:solidFill>
                <a:latin typeface="Verdana" panose="020B0604030504040204" pitchFamily="34" charset="0"/>
                <a:ea typeface="楷体_GB2312" pitchFamily="49" charset="-122"/>
              </a:rPr>
              <a:t>．</a:t>
            </a:r>
            <a:r>
              <a:rPr lang="en-US" altLang="zh-CN" sz="2400" dirty="0">
                <a:solidFill>
                  <a:srgbClr val="0000FF"/>
                </a:solidFill>
                <a:latin typeface="Verdana" panose="020B0604030504040204" pitchFamily="34" charset="0"/>
                <a:ea typeface="楷体_GB2312" pitchFamily="49" charset="-122"/>
              </a:rPr>
              <a:t>DLL</a:t>
            </a:r>
            <a:r>
              <a:rPr lang="zh-CN" altLang="en-US" sz="2400" dirty="0">
                <a:solidFill>
                  <a:srgbClr val="0000FF"/>
                </a:solidFill>
                <a:latin typeface="Verdana" panose="020B0604030504040204" pitchFamily="34" charset="0"/>
                <a:ea typeface="楷体_GB2312" pitchFamily="49" charset="-122"/>
              </a:rPr>
              <a:t>层处理速度有限。</a:t>
            </a:r>
          </a:p>
          <a:p>
            <a:pPr eaLnBrk="1" hangingPunct="1">
              <a:buFont typeface="Wingdings" panose="05000000000000000000" pitchFamily="2" charset="2"/>
              <a:buNone/>
            </a:pPr>
            <a:endParaRPr lang="en-US" altLang="zh-CN" sz="2400" dirty="0">
              <a:solidFill>
                <a:srgbClr val="0000FF"/>
              </a:solidFill>
              <a:latin typeface="Verdana" panose="020B0604030504040204" pitchFamily="34" charset="0"/>
              <a:ea typeface="楷体_GB2312" pitchFamily="49" charset="-122"/>
            </a:endParaRPr>
          </a:p>
        </p:txBody>
      </p:sp>
    </p:spTree>
  </p:cSld>
  <p:clrMapOvr>
    <a:masterClrMapping/>
  </p:clrMapOvr>
  <p:transition>
    <p:random/>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a:defRPr/>
            </a:pPr>
            <a:r>
              <a:rPr lang="en-US" altLang="zh-CN"/>
              <a:t>Computer Network</a:t>
            </a:r>
          </a:p>
        </p:txBody>
      </p:sp>
      <p:sp>
        <p:nvSpPr>
          <p:cNvPr id="3" name="灯片编号占位符 2"/>
          <p:cNvSpPr>
            <a:spLocks noGrp="1"/>
          </p:cNvSpPr>
          <p:nvPr>
            <p:ph type="sldNum" sz="quarter" idx="11"/>
          </p:nvPr>
        </p:nvSpPr>
        <p:spPr/>
        <p:txBody>
          <a:bodyPr/>
          <a:lstStyle/>
          <a:p>
            <a:pPr>
              <a:defRPr/>
            </a:pPr>
            <a:fld id="{2AAF93DC-1AF2-40C5-A519-3C53F0141A12}" type="slidenum">
              <a:rPr lang="en-US" altLang="zh-CN" smtClean="0"/>
              <a:pPr>
                <a:defRPr/>
              </a:pPr>
              <a:t>77</a:t>
            </a:fld>
            <a:endParaRPr lang="en-US" altLang="zh-CN"/>
          </a:p>
        </p:txBody>
      </p:sp>
      <p:sp>
        <p:nvSpPr>
          <p:cNvPr id="4" name="日期占位符 3"/>
          <p:cNvSpPr>
            <a:spLocks noGrp="1"/>
          </p:cNvSpPr>
          <p:nvPr>
            <p:ph type="dt" sz="half" idx="12"/>
          </p:nvPr>
        </p:nvSpPr>
        <p:spPr/>
        <p:txBody>
          <a:bodyPr/>
          <a:lstStyle/>
          <a:p>
            <a:pPr>
              <a:defRPr/>
            </a:pPr>
            <a:fld id="{F745FD7F-E1E7-4727-BD24-89E1126485D5}" type="datetime1">
              <a:rPr lang="zh-CN" altLang="en-US" smtClean="0"/>
              <a:pPr>
                <a:defRPr/>
              </a:pPr>
              <a:t>2024/10/18</a:t>
            </a:fld>
            <a:endParaRPr lang="en-US" altLang="zh-CN"/>
          </a:p>
        </p:txBody>
      </p:sp>
      <p:pic>
        <p:nvPicPr>
          <p:cNvPr id="5" name="图片 4"/>
          <p:cNvPicPr>
            <a:picLocks noChangeAspect="1"/>
          </p:cNvPicPr>
          <p:nvPr/>
        </p:nvPicPr>
        <p:blipFill rotWithShape="1">
          <a:blip r:embed="rId2"/>
          <a:srcRect r="9973" b="56613"/>
          <a:stretch/>
        </p:blipFill>
        <p:spPr>
          <a:xfrm>
            <a:off x="1541562" y="213414"/>
            <a:ext cx="8676456" cy="1944216"/>
          </a:xfrm>
          <a:prstGeom prst="rect">
            <a:avLst/>
          </a:prstGeom>
        </p:spPr>
      </p:pic>
      <p:pic>
        <p:nvPicPr>
          <p:cNvPr id="7" name="图片 6"/>
          <p:cNvPicPr>
            <a:picLocks noChangeAspect="1"/>
          </p:cNvPicPr>
          <p:nvPr/>
        </p:nvPicPr>
        <p:blipFill>
          <a:blip r:embed="rId3"/>
          <a:stretch>
            <a:fillRect/>
          </a:stretch>
        </p:blipFill>
        <p:spPr>
          <a:xfrm>
            <a:off x="1541562" y="2402106"/>
            <a:ext cx="8808964" cy="4074895"/>
          </a:xfrm>
          <a:prstGeom prst="rect">
            <a:avLst/>
          </a:prstGeom>
        </p:spPr>
      </p:pic>
    </p:spTree>
    <p:extLst>
      <p:ext uri="{BB962C8B-B14F-4D97-AF65-F5344CB8AC3E}">
        <p14:creationId xmlns:p14="http://schemas.microsoft.com/office/powerpoint/2010/main" val="2866137940"/>
      </p:ext>
    </p:extLst>
  </p:cSld>
  <p:clrMapOvr>
    <a:masterClrMapping/>
  </p:clrMapOvr>
  <p:transition spd="slow">
    <p:pull dir="ru"/>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页脚占位符 1"/>
          <p:cNvSpPr>
            <a:spLocks noGrp="1"/>
          </p:cNvSpPr>
          <p:nvPr>
            <p:ph type="ftr" sz="quarter" idx="10"/>
          </p:nvPr>
        </p:nvSpPr>
        <p:spPr/>
        <p:txBody>
          <a:bodyPr/>
          <a:lstStyle/>
          <a:p>
            <a:pPr>
              <a:defRPr/>
            </a:pPr>
            <a:r>
              <a:rPr lang="en-US" altLang="zh-CN"/>
              <a:t>Computer Network</a:t>
            </a:r>
          </a:p>
        </p:txBody>
      </p:sp>
      <p:sp>
        <p:nvSpPr>
          <p:cNvPr id="40963" name="灯片编号占位符 2"/>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C48BBABC-F277-4126-8577-FB09D138ABFE}" type="slidenum">
              <a:rPr lang="en-US" altLang="zh-CN" sz="1200">
                <a:latin typeface="Arial Black" panose="020B0A04020102020204" pitchFamily="34" charset="0"/>
              </a:rPr>
              <a:pPr>
                <a:spcBef>
                  <a:spcPct val="0"/>
                </a:spcBef>
                <a:buClrTx/>
                <a:buSzTx/>
                <a:buFontTx/>
                <a:buNone/>
              </a:pPr>
              <a:t>78</a:t>
            </a:fld>
            <a:endParaRPr lang="en-US" altLang="zh-CN" sz="1200">
              <a:latin typeface="Arial Black" panose="020B0A04020102020204" pitchFamily="34" charset="0"/>
            </a:endParaRPr>
          </a:p>
        </p:txBody>
      </p:sp>
      <p:sp>
        <p:nvSpPr>
          <p:cNvPr id="38" name="日期占位符 3"/>
          <p:cNvSpPr>
            <a:spLocks noGrp="1"/>
          </p:cNvSpPr>
          <p:nvPr>
            <p:ph type="dt" sz="quarter" idx="12"/>
          </p:nvPr>
        </p:nvSpPr>
        <p:spPr/>
        <p:txBody>
          <a:bodyPr/>
          <a:lstStyle/>
          <a:p>
            <a:pPr>
              <a:defRPr/>
            </a:pPr>
            <a:fld id="{55713B94-6E17-4B5E-B597-C7F5865089A4}" type="datetime1">
              <a:rPr lang="zh-CN" altLang="en-US"/>
              <a:pPr>
                <a:defRPr/>
              </a:pPr>
              <a:t>2024/10/18</a:t>
            </a:fld>
            <a:endParaRPr lang="en-US" altLang="zh-CN"/>
          </a:p>
        </p:txBody>
      </p:sp>
      <p:grpSp>
        <p:nvGrpSpPr>
          <p:cNvPr id="40965" name="Group 38"/>
          <p:cNvGrpSpPr>
            <a:grpSpLocks/>
          </p:cNvGrpSpPr>
          <p:nvPr/>
        </p:nvGrpSpPr>
        <p:grpSpPr bwMode="auto">
          <a:xfrm>
            <a:off x="1981200" y="609600"/>
            <a:ext cx="8153400" cy="5410200"/>
            <a:chOff x="288" y="384"/>
            <a:chExt cx="5136" cy="3408"/>
          </a:xfrm>
        </p:grpSpPr>
        <p:sp>
          <p:nvSpPr>
            <p:cNvPr id="40966" name="Text Box 3"/>
            <p:cNvSpPr txBox="1">
              <a:spLocks noChangeArrowheads="1"/>
            </p:cNvSpPr>
            <p:nvPr/>
          </p:nvSpPr>
          <p:spPr bwMode="auto">
            <a:xfrm>
              <a:off x="288" y="384"/>
              <a:ext cx="5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400">
                  <a:solidFill>
                    <a:srgbClr val="0000FF"/>
                  </a:solidFill>
                  <a:latin typeface="Verdana" panose="020B0604030504040204" pitchFamily="34" charset="0"/>
                  <a:ea typeface="楷体_GB2312" pitchFamily="49" charset="-122"/>
                </a:rPr>
                <a:t>发：</a:t>
              </a:r>
            </a:p>
          </p:txBody>
        </p:sp>
        <p:sp>
          <p:nvSpPr>
            <p:cNvPr id="40967" name="AutoShape 4"/>
            <p:cNvSpPr>
              <a:spLocks noChangeArrowheads="1"/>
            </p:cNvSpPr>
            <p:nvPr/>
          </p:nvSpPr>
          <p:spPr bwMode="auto">
            <a:xfrm>
              <a:off x="816" y="1920"/>
              <a:ext cx="1056" cy="288"/>
            </a:xfrm>
            <a:prstGeom prst="flowChartProcess">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Verdana" panose="020B0604030504040204" pitchFamily="34" charset="0"/>
                  <a:ea typeface="楷体_GB2312" pitchFamily="49" charset="-122"/>
                </a:rPr>
                <a:t>加头成帧</a:t>
              </a:r>
            </a:p>
          </p:txBody>
        </p:sp>
        <p:sp>
          <p:nvSpPr>
            <p:cNvPr id="40968" name="AutoShape 5"/>
            <p:cNvSpPr>
              <a:spLocks noChangeArrowheads="1"/>
            </p:cNvSpPr>
            <p:nvPr/>
          </p:nvSpPr>
          <p:spPr bwMode="auto">
            <a:xfrm>
              <a:off x="528" y="1392"/>
              <a:ext cx="1632" cy="288"/>
            </a:xfrm>
            <a:prstGeom prst="flowChartProcess">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Verdana" panose="020B0604030504040204" pitchFamily="34" charset="0"/>
                  <a:ea typeface="楷体_GB2312" pitchFamily="49" charset="-122"/>
                </a:rPr>
                <a:t>从网络层取</a:t>
              </a:r>
              <a:r>
                <a:rPr kumimoji="1" lang="en-US" altLang="zh-CN" sz="2000">
                  <a:latin typeface="Verdana" panose="020B0604030504040204" pitchFamily="34" charset="0"/>
                  <a:ea typeface="楷体_GB2312" pitchFamily="49" charset="-122"/>
                </a:rPr>
                <a:t>packet</a:t>
              </a:r>
            </a:p>
          </p:txBody>
        </p:sp>
        <p:sp>
          <p:nvSpPr>
            <p:cNvPr id="40969" name="AutoShape 6"/>
            <p:cNvSpPr>
              <a:spLocks noChangeArrowheads="1"/>
            </p:cNvSpPr>
            <p:nvPr/>
          </p:nvSpPr>
          <p:spPr bwMode="auto">
            <a:xfrm>
              <a:off x="528" y="2496"/>
              <a:ext cx="1632" cy="288"/>
            </a:xfrm>
            <a:prstGeom prst="flowChartProcess">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Verdana" panose="020B0604030504040204" pitchFamily="34" charset="0"/>
                  <a:ea typeface="楷体_GB2312" pitchFamily="49" charset="-122"/>
                </a:rPr>
                <a:t>送物理层按位发送</a:t>
              </a:r>
            </a:p>
          </p:txBody>
        </p:sp>
        <p:cxnSp>
          <p:nvCxnSpPr>
            <p:cNvPr id="40970" name="AutoShape 7"/>
            <p:cNvCxnSpPr>
              <a:cxnSpLocks noChangeShapeType="1"/>
              <a:stCxn id="40968" idx="2"/>
              <a:endCxn id="40967" idx="0"/>
            </p:cNvCxnSpPr>
            <p:nvPr/>
          </p:nvCxnSpPr>
          <p:spPr bwMode="auto">
            <a:xfrm>
              <a:off x="1344" y="1680"/>
              <a:ext cx="0" cy="2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0971" name="AutoShape 8"/>
            <p:cNvCxnSpPr>
              <a:cxnSpLocks noChangeShapeType="1"/>
              <a:stCxn id="40967" idx="2"/>
              <a:endCxn id="40969" idx="0"/>
            </p:cNvCxnSpPr>
            <p:nvPr/>
          </p:nvCxnSpPr>
          <p:spPr bwMode="auto">
            <a:xfrm>
              <a:off x="1344" y="2208"/>
              <a:ext cx="0" cy="288"/>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0972" name="AutoShape 9"/>
            <p:cNvCxnSpPr>
              <a:cxnSpLocks noChangeShapeType="1"/>
              <a:stCxn id="40977" idx="2"/>
              <a:endCxn id="40968" idx="0"/>
            </p:cNvCxnSpPr>
            <p:nvPr/>
          </p:nvCxnSpPr>
          <p:spPr bwMode="auto">
            <a:xfrm>
              <a:off x="1344" y="1008"/>
              <a:ext cx="0" cy="384"/>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40973" name="AutoShape 10"/>
            <p:cNvSpPr>
              <a:spLocks noChangeArrowheads="1"/>
            </p:cNvSpPr>
            <p:nvPr/>
          </p:nvSpPr>
          <p:spPr bwMode="auto">
            <a:xfrm>
              <a:off x="3264" y="912"/>
              <a:ext cx="1488" cy="480"/>
            </a:xfrm>
            <a:prstGeom prst="diamond">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en-US" altLang="zh-CN" sz="2000">
                  <a:latin typeface="Verdana" panose="020B0604030504040204" pitchFamily="34" charset="0"/>
                  <a:ea typeface="楷体_GB2312" pitchFamily="49" charset="-122"/>
                </a:rPr>
                <a:t> </a:t>
              </a:r>
              <a:r>
                <a:rPr kumimoji="1" lang="zh-CN" altLang="en-US" sz="2000">
                  <a:latin typeface="Verdana" panose="020B0604030504040204" pitchFamily="34" charset="0"/>
                  <a:ea typeface="楷体_GB2312" pitchFamily="49" charset="-122"/>
                </a:rPr>
                <a:t>等到</a:t>
              </a:r>
              <a:r>
                <a:rPr kumimoji="1" lang="en-US" altLang="zh-CN" sz="2000">
                  <a:latin typeface="Verdana" panose="020B0604030504040204" pitchFamily="34" charset="0"/>
                  <a:ea typeface="楷体_GB2312" pitchFamily="49" charset="-122"/>
                </a:rPr>
                <a:t>ACK</a:t>
              </a:r>
              <a:r>
                <a:rPr kumimoji="1" lang="zh-CN" altLang="en-US" sz="2000">
                  <a:latin typeface="Verdana" panose="020B0604030504040204" pitchFamily="34" charset="0"/>
                  <a:ea typeface="楷体_GB2312" pitchFamily="49" charset="-122"/>
                </a:rPr>
                <a:t>？</a:t>
              </a:r>
            </a:p>
          </p:txBody>
        </p:sp>
        <p:cxnSp>
          <p:nvCxnSpPr>
            <p:cNvPr id="40974" name="AutoShape 11"/>
            <p:cNvCxnSpPr>
              <a:cxnSpLocks noChangeShapeType="1"/>
              <a:stCxn id="40969" idx="2"/>
              <a:endCxn id="40979" idx="0"/>
            </p:cNvCxnSpPr>
            <p:nvPr/>
          </p:nvCxnSpPr>
          <p:spPr bwMode="auto">
            <a:xfrm>
              <a:off x="1344" y="2784"/>
              <a:ext cx="0" cy="336"/>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40975" name="Text Box 12"/>
            <p:cNvSpPr txBox="1">
              <a:spLocks noChangeArrowheads="1"/>
            </p:cNvSpPr>
            <p:nvPr/>
          </p:nvSpPr>
          <p:spPr bwMode="auto">
            <a:xfrm>
              <a:off x="3024" y="1082"/>
              <a:ext cx="2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a:latin typeface="Verdana" panose="020B0604030504040204" pitchFamily="34" charset="0"/>
                  <a:ea typeface="楷体_GB2312" pitchFamily="49" charset="-122"/>
                </a:rPr>
                <a:t>N</a:t>
              </a:r>
            </a:p>
          </p:txBody>
        </p:sp>
        <p:sp>
          <p:nvSpPr>
            <p:cNvPr id="40976" name="Text Box 13"/>
            <p:cNvSpPr txBox="1">
              <a:spLocks noChangeArrowheads="1"/>
            </p:cNvSpPr>
            <p:nvPr/>
          </p:nvSpPr>
          <p:spPr bwMode="auto">
            <a:xfrm>
              <a:off x="4800" y="1226"/>
              <a:ext cx="21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a:latin typeface="Verdana" panose="020B0604030504040204" pitchFamily="34" charset="0"/>
                  <a:ea typeface="楷体_GB2312" pitchFamily="49" charset="-122"/>
                </a:rPr>
                <a:t>Y</a:t>
              </a:r>
            </a:p>
          </p:txBody>
        </p:sp>
        <p:sp>
          <p:nvSpPr>
            <p:cNvPr id="40977" name="AutoShape 14"/>
            <p:cNvSpPr>
              <a:spLocks noChangeArrowheads="1"/>
            </p:cNvSpPr>
            <p:nvPr/>
          </p:nvSpPr>
          <p:spPr bwMode="auto">
            <a:xfrm>
              <a:off x="816" y="720"/>
              <a:ext cx="1056" cy="288"/>
            </a:xfrm>
            <a:prstGeom prst="flowChartProcess">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Verdana" panose="020B0604030504040204" pitchFamily="34" charset="0"/>
                  <a:ea typeface="楷体_GB2312" pitchFamily="49" charset="-122"/>
                </a:rPr>
                <a:t>序号</a:t>
              </a:r>
              <a:r>
                <a:rPr kumimoji="1" lang="en-US" altLang="zh-CN" sz="2000">
                  <a:latin typeface="Verdana" panose="020B0604030504040204" pitchFamily="34" charset="0"/>
                  <a:ea typeface="楷体_GB2312" pitchFamily="49" charset="-122"/>
                </a:rPr>
                <a:t>= 0</a:t>
              </a:r>
            </a:p>
          </p:txBody>
        </p:sp>
        <p:cxnSp>
          <p:nvCxnSpPr>
            <p:cNvPr id="40978" name="AutoShape 15"/>
            <p:cNvCxnSpPr>
              <a:cxnSpLocks noChangeShapeType="1"/>
              <a:endCxn id="40977" idx="0"/>
            </p:cNvCxnSpPr>
            <p:nvPr/>
          </p:nvCxnSpPr>
          <p:spPr bwMode="auto">
            <a:xfrm>
              <a:off x="1344" y="432"/>
              <a:ext cx="0" cy="288"/>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40979" name="AutoShape 16"/>
            <p:cNvSpPr>
              <a:spLocks noChangeArrowheads="1"/>
            </p:cNvSpPr>
            <p:nvPr/>
          </p:nvSpPr>
          <p:spPr bwMode="auto">
            <a:xfrm>
              <a:off x="816" y="3120"/>
              <a:ext cx="1056" cy="288"/>
            </a:xfrm>
            <a:prstGeom prst="flowChartProcess">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Verdana" panose="020B0604030504040204" pitchFamily="34" charset="0"/>
                  <a:ea typeface="楷体_GB2312" pitchFamily="49" charset="-122"/>
                </a:rPr>
                <a:t>启动计数器</a:t>
              </a:r>
            </a:p>
          </p:txBody>
        </p:sp>
        <p:cxnSp>
          <p:nvCxnSpPr>
            <p:cNvPr id="40980" name="AutoShape 17"/>
            <p:cNvCxnSpPr>
              <a:cxnSpLocks noChangeShapeType="1"/>
              <a:stCxn id="40979" idx="2"/>
              <a:endCxn id="40973" idx="0"/>
            </p:cNvCxnSpPr>
            <p:nvPr/>
          </p:nvCxnSpPr>
          <p:spPr bwMode="auto">
            <a:xfrm rot="5400000" flipH="1" flipV="1">
              <a:off x="1428" y="828"/>
              <a:ext cx="2496" cy="2664"/>
            </a:xfrm>
            <a:prstGeom prst="bentConnector5">
              <a:avLst>
                <a:gd name="adj1" fmla="val -5769"/>
                <a:gd name="adj2" fmla="val 45944"/>
                <a:gd name="adj3" fmla="val 105769"/>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40981" name="AutoShape 18"/>
            <p:cNvSpPr>
              <a:spLocks noChangeArrowheads="1"/>
            </p:cNvSpPr>
            <p:nvPr/>
          </p:nvSpPr>
          <p:spPr bwMode="auto">
            <a:xfrm>
              <a:off x="2784" y="1392"/>
              <a:ext cx="960" cy="432"/>
            </a:xfrm>
            <a:prstGeom prst="diamond">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en-US" altLang="zh-CN" sz="2000">
                  <a:latin typeface="Verdana" panose="020B0604030504040204" pitchFamily="34" charset="0"/>
                  <a:ea typeface="楷体_GB2312" pitchFamily="49" charset="-122"/>
                </a:rPr>
                <a:t> </a:t>
              </a:r>
              <a:r>
                <a:rPr kumimoji="1" lang="zh-CN" altLang="en-US" sz="2000">
                  <a:latin typeface="Verdana" panose="020B0604030504040204" pitchFamily="34" charset="0"/>
                  <a:ea typeface="楷体_GB2312" pitchFamily="49" charset="-122"/>
                </a:rPr>
                <a:t>超时？</a:t>
              </a:r>
            </a:p>
          </p:txBody>
        </p:sp>
        <p:cxnSp>
          <p:nvCxnSpPr>
            <p:cNvPr id="40982" name="AutoShape 19"/>
            <p:cNvCxnSpPr>
              <a:cxnSpLocks noChangeShapeType="1"/>
              <a:stCxn id="40973" idx="1"/>
              <a:endCxn id="40981" idx="0"/>
            </p:cNvCxnSpPr>
            <p:nvPr/>
          </p:nvCxnSpPr>
          <p:spPr bwMode="auto">
            <a:xfrm>
              <a:off x="3264" y="1152"/>
              <a:ext cx="0" cy="2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0983" name="AutoShape 20"/>
            <p:cNvCxnSpPr>
              <a:cxnSpLocks noChangeShapeType="1"/>
              <a:stCxn id="40981" idx="1"/>
            </p:cNvCxnSpPr>
            <p:nvPr/>
          </p:nvCxnSpPr>
          <p:spPr bwMode="auto">
            <a:xfrm flipH="1">
              <a:off x="2592" y="1608"/>
              <a:ext cx="192"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40984" name="Text Box 21"/>
            <p:cNvSpPr txBox="1">
              <a:spLocks noChangeArrowheads="1"/>
            </p:cNvSpPr>
            <p:nvPr/>
          </p:nvSpPr>
          <p:spPr bwMode="auto">
            <a:xfrm>
              <a:off x="2592" y="1370"/>
              <a:ext cx="2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a:latin typeface="Verdana" panose="020B0604030504040204" pitchFamily="34" charset="0"/>
                  <a:ea typeface="楷体_GB2312" pitchFamily="49" charset="-122"/>
                </a:rPr>
                <a:t>N</a:t>
              </a:r>
            </a:p>
          </p:txBody>
        </p:sp>
        <p:sp>
          <p:nvSpPr>
            <p:cNvPr id="40985" name="AutoShape 22"/>
            <p:cNvSpPr>
              <a:spLocks noChangeArrowheads="1"/>
            </p:cNvSpPr>
            <p:nvPr/>
          </p:nvSpPr>
          <p:spPr bwMode="auto">
            <a:xfrm>
              <a:off x="4320" y="1680"/>
              <a:ext cx="864" cy="240"/>
            </a:xfrm>
            <a:prstGeom prst="flowChartProcess">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Verdana" panose="020B0604030504040204" pitchFamily="34" charset="0"/>
                  <a:ea typeface="楷体_GB2312" pitchFamily="49" charset="-122"/>
                </a:rPr>
                <a:t>停计数</a:t>
              </a:r>
            </a:p>
          </p:txBody>
        </p:sp>
        <p:sp>
          <p:nvSpPr>
            <p:cNvPr id="40986" name="AutoShape 23"/>
            <p:cNvSpPr>
              <a:spLocks noChangeArrowheads="1"/>
            </p:cNvSpPr>
            <p:nvPr/>
          </p:nvSpPr>
          <p:spPr bwMode="auto">
            <a:xfrm>
              <a:off x="4080" y="2304"/>
              <a:ext cx="1344" cy="336"/>
            </a:xfrm>
            <a:prstGeom prst="flowChartProcess">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Verdana" panose="020B0604030504040204" pitchFamily="34" charset="0"/>
                  <a:ea typeface="楷体_GB2312" pitchFamily="49" charset="-122"/>
                </a:rPr>
                <a:t>从网络层取分组</a:t>
              </a:r>
            </a:p>
          </p:txBody>
        </p:sp>
        <p:sp>
          <p:nvSpPr>
            <p:cNvPr id="40987" name="AutoShape 24"/>
            <p:cNvSpPr>
              <a:spLocks noChangeArrowheads="1"/>
            </p:cNvSpPr>
            <p:nvPr/>
          </p:nvSpPr>
          <p:spPr bwMode="auto">
            <a:xfrm>
              <a:off x="4224" y="2832"/>
              <a:ext cx="1056" cy="288"/>
            </a:xfrm>
            <a:prstGeom prst="flowChartProcess">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000" dirty="0">
                  <a:latin typeface="Verdana" panose="020B0604030504040204" pitchFamily="34" charset="0"/>
                  <a:ea typeface="楷体_GB2312" pitchFamily="49" charset="-122"/>
                </a:rPr>
                <a:t>序号</a:t>
              </a:r>
              <a:r>
                <a:rPr kumimoji="1" lang="zh-CN" altLang="en-US" sz="2000" dirty="0">
                  <a:solidFill>
                    <a:srgbClr val="FF0000"/>
                  </a:solidFill>
                  <a:latin typeface="Verdana" panose="020B0604030504040204" pitchFamily="34" charset="0"/>
                  <a:ea typeface="楷体_GB2312" pitchFamily="49" charset="-122"/>
                </a:rPr>
                <a:t>变反</a:t>
              </a:r>
            </a:p>
          </p:txBody>
        </p:sp>
        <p:sp>
          <p:nvSpPr>
            <p:cNvPr id="40988" name="AutoShape 25"/>
            <p:cNvSpPr>
              <a:spLocks noChangeArrowheads="1"/>
            </p:cNvSpPr>
            <p:nvPr/>
          </p:nvSpPr>
          <p:spPr bwMode="auto">
            <a:xfrm>
              <a:off x="3312" y="1968"/>
              <a:ext cx="864" cy="240"/>
            </a:xfrm>
            <a:prstGeom prst="flowChartProcess">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Verdana" panose="020B0604030504040204" pitchFamily="34" charset="0"/>
                  <a:ea typeface="楷体_GB2312" pitchFamily="49" charset="-122"/>
                </a:rPr>
                <a:t>停计数</a:t>
              </a:r>
            </a:p>
          </p:txBody>
        </p:sp>
        <p:sp>
          <p:nvSpPr>
            <p:cNvPr id="40989" name="AutoShape 26"/>
            <p:cNvSpPr>
              <a:spLocks noChangeArrowheads="1"/>
            </p:cNvSpPr>
            <p:nvPr/>
          </p:nvSpPr>
          <p:spPr bwMode="auto">
            <a:xfrm>
              <a:off x="3264" y="3264"/>
              <a:ext cx="960" cy="528"/>
            </a:xfrm>
            <a:prstGeom prst="flowChartProcess">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Verdana" panose="020B0604030504040204" pitchFamily="34" charset="0"/>
                  <a:ea typeface="楷体_GB2312" pitchFamily="49" charset="-122"/>
                </a:rPr>
                <a:t>从缓冲区</a:t>
              </a:r>
            </a:p>
            <a:p>
              <a:pPr algn="ctr" eaLnBrk="1" hangingPunct="1">
                <a:spcBef>
                  <a:spcPct val="0"/>
                </a:spcBef>
                <a:buClrTx/>
                <a:buSzTx/>
                <a:buFontTx/>
                <a:buNone/>
              </a:pPr>
              <a:r>
                <a:rPr kumimoji="1" lang="zh-CN" altLang="en-US" sz="2000">
                  <a:latin typeface="Verdana" panose="020B0604030504040204" pitchFamily="34" charset="0"/>
                  <a:ea typeface="楷体_GB2312" pitchFamily="49" charset="-122"/>
                </a:rPr>
                <a:t>取原帧</a:t>
              </a:r>
            </a:p>
          </p:txBody>
        </p:sp>
        <p:cxnSp>
          <p:nvCxnSpPr>
            <p:cNvPr id="40990" name="AutoShape 27"/>
            <p:cNvCxnSpPr>
              <a:cxnSpLocks noChangeShapeType="1"/>
              <a:stCxn id="40973" idx="3"/>
              <a:endCxn id="40985" idx="0"/>
            </p:cNvCxnSpPr>
            <p:nvPr/>
          </p:nvCxnSpPr>
          <p:spPr bwMode="auto">
            <a:xfrm>
              <a:off x="4752" y="1152"/>
              <a:ext cx="0" cy="528"/>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0991" name="AutoShape 28"/>
            <p:cNvCxnSpPr>
              <a:cxnSpLocks noChangeShapeType="1"/>
              <a:stCxn id="40985" idx="2"/>
              <a:endCxn id="40986" idx="0"/>
            </p:cNvCxnSpPr>
            <p:nvPr/>
          </p:nvCxnSpPr>
          <p:spPr bwMode="auto">
            <a:xfrm>
              <a:off x="4752" y="1920"/>
              <a:ext cx="0" cy="384"/>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0992" name="AutoShape 29"/>
            <p:cNvCxnSpPr>
              <a:cxnSpLocks noChangeShapeType="1"/>
              <a:stCxn id="40986" idx="2"/>
            </p:cNvCxnSpPr>
            <p:nvPr/>
          </p:nvCxnSpPr>
          <p:spPr bwMode="auto">
            <a:xfrm>
              <a:off x="4752" y="2640"/>
              <a:ext cx="0" cy="19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0993" name="AutoShape 30"/>
            <p:cNvCxnSpPr>
              <a:cxnSpLocks noChangeShapeType="1"/>
              <a:stCxn id="40981" idx="3"/>
              <a:endCxn id="40988" idx="0"/>
            </p:cNvCxnSpPr>
            <p:nvPr/>
          </p:nvCxnSpPr>
          <p:spPr bwMode="auto">
            <a:xfrm>
              <a:off x="3744" y="1608"/>
              <a:ext cx="0" cy="36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0994" name="AutoShape 31"/>
            <p:cNvCxnSpPr>
              <a:cxnSpLocks noChangeShapeType="1"/>
              <a:stCxn id="40988" idx="2"/>
              <a:endCxn id="40989" idx="0"/>
            </p:cNvCxnSpPr>
            <p:nvPr/>
          </p:nvCxnSpPr>
          <p:spPr bwMode="auto">
            <a:xfrm>
              <a:off x="3744" y="2208"/>
              <a:ext cx="0" cy="1056"/>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40995" name="Text Box 32"/>
            <p:cNvSpPr txBox="1">
              <a:spLocks noChangeArrowheads="1"/>
            </p:cNvSpPr>
            <p:nvPr/>
          </p:nvSpPr>
          <p:spPr bwMode="auto">
            <a:xfrm>
              <a:off x="3792" y="1610"/>
              <a:ext cx="21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a:latin typeface="Verdana" panose="020B0604030504040204" pitchFamily="34" charset="0"/>
                  <a:ea typeface="楷体_GB2312" pitchFamily="49" charset="-122"/>
                </a:rPr>
                <a:t>Y</a:t>
              </a:r>
            </a:p>
          </p:txBody>
        </p:sp>
        <p:cxnSp>
          <p:nvCxnSpPr>
            <p:cNvPr id="40996" name="AutoShape 33"/>
            <p:cNvCxnSpPr>
              <a:cxnSpLocks noChangeShapeType="1"/>
            </p:cNvCxnSpPr>
            <p:nvPr/>
          </p:nvCxnSpPr>
          <p:spPr bwMode="auto">
            <a:xfrm rot="16200000" flipV="1">
              <a:off x="1896" y="1944"/>
              <a:ext cx="1296" cy="2400"/>
            </a:xfrm>
            <a:prstGeom prst="bentConnector5">
              <a:avLst>
                <a:gd name="adj1" fmla="val -11111"/>
                <a:gd name="adj2" fmla="val 43000"/>
                <a:gd name="adj3" fmla="val 111111"/>
              </a:avLst>
            </a:prstGeom>
            <a:noFill/>
            <a:ln w="9525">
              <a:solidFill>
                <a:srgbClr val="0000FF"/>
              </a:solidFill>
              <a:miter lim="800000"/>
              <a:headEnd/>
              <a:tailEnd type="triangle" w="med" len="med"/>
            </a:ln>
            <a:extLst>
              <a:ext uri="{909E8E84-426E-40DD-AFC4-6F175D3DCCD1}">
                <a14:hiddenFill xmlns:a14="http://schemas.microsoft.com/office/drawing/2010/main">
                  <a:noFill/>
                </a14:hiddenFill>
              </a:ext>
            </a:extLst>
          </p:spPr>
        </p:cxnSp>
        <p:cxnSp>
          <p:nvCxnSpPr>
            <p:cNvPr id="40997" name="AutoShape 34"/>
            <p:cNvCxnSpPr>
              <a:cxnSpLocks noChangeShapeType="1"/>
            </p:cNvCxnSpPr>
            <p:nvPr/>
          </p:nvCxnSpPr>
          <p:spPr bwMode="auto">
            <a:xfrm rot="10800000">
              <a:off x="1344" y="1776"/>
              <a:ext cx="3408" cy="1392"/>
            </a:xfrm>
            <a:prstGeom prst="bentConnector3">
              <a:avLst>
                <a:gd name="adj1" fmla="val 50000"/>
              </a:avLst>
            </a:prstGeom>
            <a:noFill/>
            <a:ln w="9525">
              <a:solidFill>
                <a:srgbClr val="FF00FF"/>
              </a:solidFill>
              <a:miter lim="800000"/>
              <a:headEnd/>
              <a:tailEnd type="triangle" w="med" len="med"/>
            </a:ln>
            <a:extLst>
              <a:ext uri="{909E8E84-426E-40DD-AFC4-6F175D3DCCD1}">
                <a14:hiddenFill xmlns:a14="http://schemas.microsoft.com/office/drawing/2010/main">
                  <a:noFill/>
                </a14:hiddenFill>
              </a:ext>
            </a:extLst>
          </p:spPr>
        </p:cxnSp>
        <p:sp>
          <p:nvSpPr>
            <p:cNvPr id="40998" name="Line 36"/>
            <p:cNvSpPr>
              <a:spLocks noChangeShapeType="1"/>
            </p:cNvSpPr>
            <p:nvPr/>
          </p:nvSpPr>
          <p:spPr bwMode="auto">
            <a:xfrm flipV="1">
              <a:off x="4752" y="3120"/>
              <a:ext cx="0" cy="48"/>
            </a:xfrm>
            <a:prstGeom prst="line">
              <a:avLst/>
            </a:prstGeom>
            <a:noFill/>
            <a:ln w="9525">
              <a:solidFill>
                <a:srgbClr val="FF66FF"/>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grpSp>
    </p:spTree>
  </p:cSld>
  <p:clrMapOvr>
    <a:masterClrMapping/>
  </p:clrMapOvr>
  <p:transition>
    <p:random/>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页脚占位符 1"/>
          <p:cNvSpPr>
            <a:spLocks noGrp="1"/>
          </p:cNvSpPr>
          <p:nvPr>
            <p:ph type="ftr" sz="quarter" idx="10"/>
          </p:nvPr>
        </p:nvSpPr>
        <p:spPr/>
        <p:txBody>
          <a:bodyPr/>
          <a:lstStyle/>
          <a:p>
            <a:pPr>
              <a:defRPr/>
            </a:pPr>
            <a:r>
              <a:rPr lang="en-US" altLang="zh-CN"/>
              <a:t>Computer Network</a:t>
            </a:r>
          </a:p>
        </p:txBody>
      </p:sp>
      <p:sp>
        <p:nvSpPr>
          <p:cNvPr id="41987" name="灯片编号占位符 2"/>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874C0912-74EC-4E36-B12C-D93722794E86}" type="slidenum">
              <a:rPr lang="en-US" altLang="zh-CN" sz="1200">
                <a:latin typeface="Arial Black" panose="020B0A04020102020204" pitchFamily="34" charset="0"/>
              </a:rPr>
              <a:pPr>
                <a:spcBef>
                  <a:spcPct val="0"/>
                </a:spcBef>
                <a:buClrTx/>
                <a:buSzTx/>
                <a:buFontTx/>
                <a:buNone/>
              </a:pPr>
              <a:t>79</a:t>
            </a:fld>
            <a:endParaRPr lang="en-US" altLang="zh-CN" sz="1200">
              <a:latin typeface="Arial Black" panose="020B0A04020102020204" pitchFamily="34" charset="0"/>
            </a:endParaRPr>
          </a:p>
        </p:txBody>
      </p:sp>
      <p:sp>
        <p:nvSpPr>
          <p:cNvPr id="26" name="日期占位符 3"/>
          <p:cNvSpPr>
            <a:spLocks noGrp="1"/>
          </p:cNvSpPr>
          <p:nvPr>
            <p:ph type="dt" sz="quarter" idx="12"/>
          </p:nvPr>
        </p:nvSpPr>
        <p:spPr/>
        <p:txBody>
          <a:bodyPr/>
          <a:lstStyle/>
          <a:p>
            <a:pPr>
              <a:defRPr/>
            </a:pPr>
            <a:fld id="{8BA7E38E-057E-4CD7-8F07-473255029D43}" type="datetime1">
              <a:rPr lang="zh-CN" altLang="en-US"/>
              <a:pPr>
                <a:defRPr/>
              </a:pPr>
              <a:t>2024/10/18</a:t>
            </a:fld>
            <a:endParaRPr lang="en-US" altLang="zh-CN"/>
          </a:p>
        </p:txBody>
      </p:sp>
      <p:sp>
        <p:nvSpPr>
          <p:cNvPr id="41989" name="AutoShape 3"/>
          <p:cNvSpPr>
            <a:spLocks noChangeArrowheads="1"/>
          </p:cNvSpPr>
          <p:nvPr/>
        </p:nvSpPr>
        <p:spPr bwMode="auto">
          <a:xfrm>
            <a:off x="4176713" y="914400"/>
            <a:ext cx="1833562" cy="457200"/>
          </a:xfrm>
          <a:prstGeom prst="flowChartProcess">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Verdana" panose="020B0604030504040204" pitchFamily="34" charset="0"/>
                <a:ea typeface="楷体_GB2312" pitchFamily="49" charset="-122"/>
              </a:rPr>
              <a:t>希望序号</a:t>
            </a:r>
            <a:r>
              <a:rPr kumimoji="1" lang="en-US" altLang="zh-CN" sz="2000">
                <a:latin typeface="Verdana" panose="020B0604030504040204" pitchFamily="34" charset="0"/>
                <a:ea typeface="楷体_GB2312" pitchFamily="49" charset="-122"/>
              </a:rPr>
              <a:t>=0</a:t>
            </a:r>
          </a:p>
        </p:txBody>
      </p:sp>
      <p:sp>
        <p:nvSpPr>
          <p:cNvPr id="41990" name="AutoShape 4"/>
          <p:cNvSpPr>
            <a:spLocks noChangeArrowheads="1"/>
          </p:cNvSpPr>
          <p:nvPr/>
        </p:nvSpPr>
        <p:spPr bwMode="auto">
          <a:xfrm>
            <a:off x="3335339" y="5867400"/>
            <a:ext cx="993775" cy="457200"/>
          </a:xfrm>
          <a:prstGeom prst="flowChartProcess">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000">
                <a:latin typeface="Verdana" panose="020B0604030504040204" pitchFamily="34" charset="0"/>
                <a:ea typeface="楷体_GB2312" pitchFamily="49" charset="-122"/>
              </a:rPr>
              <a:t>发</a:t>
            </a:r>
            <a:r>
              <a:rPr kumimoji="1" lang="en-US" altLang="zh-CN" sz="2000">
                <a:latin typeface="Verdana" panose="020B0604030504040204" pitchFamily="34" charset="0"/>
                <a:ea typeface="楷体_GB2312" pitchFamily="49" charset="-122"/>
              </a:rPr>
              <a:t>ACK</a:t>
            </a:r>
          </a:p>
        </p:txBody>
      </p:sp>
      <p:cxnSp>
        <p:nvCxnSpPr>
          <p:cNvPr id="41991" name="AutoShape 5"/>
          <p:cNvCxnSpPr>
            <a:cxnSpLocks noChangeShapeType="1"/>
            <a:endCxn id="41989" idx="0"/>
          </p:cNvCxnSpPr>
          <p:nvPr/>
        </p:nvCxnSpPr>
        <p:spPr bwMode="auto">
          <a:xfrm>
            <a:off x="5094288" y="533400"/>
            <a:ext cx="0" cy="3810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41992" name="AutoShape 6"/>
          <p:cNvSpPr>
            <a:spLocks noChangeArrowheads="1"/>
          </p:cNvSpPr>
          <p:nvPr/>
        </p:nvSpPr>
        <p:spPr bwMode="auto">
          <a:xfrm>
            <a:off x="4024313" y="1752600"/>
            <a:ext cx="2138362" cy="990600"/>
          </a:xfrm>
          <a:prstGeom prst="flowChartDecision">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en-US" altLang="zh-CN" sz="2000">
                <a:latin typeface="Verdana" panose="020B0604030504040204" pitchFamily="34" charset="0"/>
                <a:ea typeface="楷体_GB2312" pitchFamily="49" charset="-122"/>
              </a:rPr>
              <a:t> </a:t>
            </a:r>
            <a:r>
              <a:rPr kumimoji="1" lang="zh-CN" altLang="en-US" sz="2000">
                <a:latin typeface="Verdana" panose="020B0604030504040204" pitchFamily="34" charset="0"/>
                <a:ea typeface="楷体_GB2312" pitchFamily="49" charset="-122"/>
              </a:rPr>
              <a:t>等到帧否？</a:t>
            </a:r>
          </a:p>
        </p:txBody>
      </p:sp>
      <p:sp>
        <p:nvSpPr>
          <p:cNvPr id="41993" name="AutoShape 7"/>
          <p:cNvSpPr>
            <a:spLocks noChangeArrowheads="1"/>
          </p:cNvSpPr>
          <p:nvPr/>
        </p:nvSpPr>
        <p:spPr bwMode="auto">
          <a:xfrm>
            <a:off x="5404496" y="2819400"/>
            <a:ext cx="4441825" cy="457200"/>
          </a:xfrm>
          <a:prstGeom prst="flowChartProcess">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Verdana" panose="020B0604030504040204" pitchFamily="34" charset="0"/>
                <a:ea typeface="楷体_GB2312" pitchFamily="49" charset="-122"/>
              </a:rPr>
              <a:t>从物理层取帧</a:t>
            </a:r>
            <a:r>
              <a:rPr kumimoji="1" lang="en-US" altLang="zh-CN" sz="2000">
                <a:latin typeface="Verdana" panose="020B0604030504040204" pitchFamily="34" charset="0"/>
                <a:ea typeface="楷体_GB2312" pitchFamily="49" charset="-122"/>
              </a:rPr>
              <a:t>,</a:t>
            </a:r>
            <a:r>
              <a:rPr kumimoji="1" lang="zh-CN" altLang="en-US" sz="2000">
                <a:latin typeface="Verdana" panose="020B0604030504040204" pitchFamily="34" charset="0"/>
                <a:ea typeface="楷体_GB2312" pitchFamily="49" charset="-122"/>
              </a:rPr>
              <a:t>无错</a:t>
            </a:r>
            <a:r>
              <a:rPr kumimoji="1" lang="en-US" altLang="zh-CN" sz="2000">
                <a:latin typeface="Verdana" panose="020B0604030504040204" pitchFamily="34" charset="0"/>
                <a:ea typeface="楷体_GB2312" pitchFamily="49" charset="-122"/>
              </a:rPr>
              <a:t>,(</a:t>
            </a:r>
            <a:r>
              <a:rPr kumimoji="1" lang="zh-CN" altLang="en-US" sz="2000">
                <a:latin typeface="Verdana" panose="020B0604030504040204" pitchFamily="34" charset="0"/>
                <a:ea typeface="楷体_GB2312" pitchFamily="49" charset="-122"/>
              </a:rPr>
              <a:t>错丢弃</a:t>
            </a:r>
            <a:r>
              <a:rPr kumimoji="1" lang="en-US" altLang="zh-CN" sz="2000">
                <a:latin typeface="Verdana" panose="020B0604030504040204" pitchFamily="34" charset="0"/>
                <a:ea typeface="楷体_GB2312" pitchFamily="49" charset="-122"/>
              </a:rPr>
              <a:t>)</a:t>
            </a:r>
          </a:p>
        </p:txBody>
      </p:sp>
      <p:sp>
        <p:nvSpPr>
          <p:cNvPr id="41994" name="AutoShape 8"/>
          <p:cNvSpPr>
            <a:spLocks noChangeArrowheads="1"/>
          </p:cNvSpPr>
          <p:nvPr/>
        </p:nvSpPr>
        <p:spPr bwMode="auto">
          <a:xfrm>
            <a:off x="7720584" y="4800600"/>
            <a:ext cx="3055937" cy="457200"/>
          </a:xfrm>
          <a:prstGeom prst="flowChartProcess">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Verdana" panose="020B0604030504040204" pitchFamily="34" charset="0"/>
                <a:ea typeface="楷体_GB2312" pitchFamily="49" charset="-122"/>
              </a:rPr>
              <a:t>去头得</a:t>
            </a:r>
            <a:r>
              <a:rPr kumimoji="1" lang="en-US" altLang="zh-CN" sz="2000">
                <a:latin typeface="Verdana" panose="020B0604030504040204" pitchFamily="34" charset="0"/>
                <a:ea typeface="楷体_GB2312" pitchFamily="49" charset="-122"/>
              </a:rPr>
              <a:t>packet</a:t>
            </a:r>
            <a:r>
              <a:rPr kumimoji="1" lang="zh-CN" altLang="en-US" sz="2000">
                <a:latin typeface="Verdana" panose="020B0604030504040204" pitchFamily="34" charset="0"/>
                <a:ea typeface="楷体_GB2312" pitchFamily="49" charset="-122"/>
              </a:rPr>
              <a:t>送网络层</a:t>
            </a:r>
          </a:p>
        </p:txBody>
      </p:sp>
      <p:cxnSp>
        <p:nvCxnSpPr>
          <p:cNvPr id="41995" name="AutoShape 9"/>
          <p:cNvCxnSpPr>
            <a:cxnSpLocks noChangeShapeType="1"/>
            <a:stCxn id="41992" idx="3"/>
            <a:endCxn id="41993" idx="0"/>
          </p:cNvCxnSpPr>
          <p:nvPr/>
        </p:nvCxnSpPr>
        <p:spPr bwMode="auto">
          <a:xfrm>
            <a:off x="6162676" y="2247900"/>
            <a:ext cx="1462733" cy="571500"/>
          </a:xfrm>
          <a:prstGeom prst="bentConnector2">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41996" name="AutoShape 10"/>
          <p:cNvCxnSpPr>
            <a:cxnSpLocks noChangeShapeType="1"/>
            <a:stCxn id="41989" idx="2"/>
          </p:cNvCxnSpPr>
          <p:nvPr/>
        </p:nvCxnSpPr>
        <p:spPr bwMode="auto">
          <a:xfrm>
            <a:off x="5094289" y="1371600"/>
            <a:ext cx="1587" cy="3810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1997" name="AutoShape 11"/>
          <p:cNvCxnSpPr>
            <a:cxnSpLocks noChangeShapeType="1"/>
            <a:stCxn id="41993" idx="2"/>
            <a:endCxn id="41999" idx="0"/>
          </p:cNvCxnSpPr>
          <p:nvPr/>
        </p:nvCxnSpPr>
        <p:spPr bwMode="auto">
          <a:xfrm>
            <a:off x="7625409" y="3276600"/>
            <a:ext cx="2753" cy="3048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41998" name="Text Box 12"/>
          <p:cNvSpPr txBox="1">
            <a:spLocks noChangeArrowheads="1"/>
          </p:cNvSpPr>
          <p:nvPr/>
        </p:nvSpPr>
        <p:spPr bwMode="auto">
          <a:xfrm>
            <a:off x="2495550" y="762000"/>
            <a:ext cx="7953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400">
                <a:solidFill>
                  <a:srgbClr val="0000FF"/>
                </a:solidFill>
                <a:latin typeface="Verdana" panose="020B0604030504040204" pitchFamily="34" charset="0"/>
                <a:ea typeface="楷体_GB2312" pitchFamily="49" charset="-122"/>
              </a:rPr>
              <a:t>收：</a:t>
            </a:r>
          </a:p>
        </p:txBody>
      </p:sp>
      <p:sp>
        <p:nvSpPr>
          <p:cNvPr id="41999" name="AutoShape 13"/>
          <p:cNvSpPr>
            <a:spLocks noChangeArrowheads="1"/>
          </p:cNvSpPr>
          <p:nvPr/>
        </p:nvSpPr>
        <p:spPr bwMode="auto">
          <a:xfrm>
            <a:off x="6023992" y="3581400"/>
            <a:ext cx="3208338" cy="1066800"/>
          </a:xfrm>
          <a:prstGeom prst="diamond">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en-US" altLang="zh-CN" sz="2000">
                <a:latin typeface="Verdana" panose="020B0604030504040204" pitchFamily="34" charset="0"/>
                <a:ea typeface="楷体_GB2312" pitchFamily="49" charset="-122"/>
              </a:rPr>
              <a:t> </a:t>
            </a:r>
            <a:r>
              <a:rPr kumimoji="1" lang="zh-CN" altLang="en-US" sz="2000">
                <a:latin typeface="Verdana" panose="020B0604030504040204" pitchFamily="34" charset="0"/>
                <a:ea typeface="楷体_GB2312" pitchFamily="49" charset="-122"/>
              </a:rPr>
              <a:t>帧序号</a:t>
            </a:r>
            <a:r>
              <a:rPr kumimoji="1" lang="en-US" altLang="zh-CN" sz="2000">
                <a:latin typeface="Verdana" panose="020B0604030504040204" pitchFamily="34" charset="0"/>
                <a:ea typeface="楷体_GB2312" pitchFamily="49" charset="-122"/>
              </a:rPr>
              <a:t>=</a:t>
            </a:r>
            <a:r>
              <a:rPr kumimoji="1" lang="zh-CN" altLang="en-US" sz="2000">
                <a:latin typeface="Verdana" panose="020B0604030504040204" pitchFamily="34" charset="0"/>
                <a:ea typeface="楷体_GB2312" pitchFamily="49" charset="-122"/>
              </a:rPr>
              <a:t>希望序号？</a:t>
            </a:r>
          </a:p>
        </p:txBody>
      </p:sp>
      <p:cxnSp>
        <p:nvCxnSpPr>
          <p:cNvPr id="42000" name="AutoShape 14"/>
          <p:cNvCxnSpPr>
            <a:cxnSpLocks noChangeShapeType="1"/>
          </p:cNvCxnSpPr>
          <p:nvPr/>
        </p:nvCxnSpPr>
        <p:spPr bwMode="auto">
          <a:xfrm rot="5400000">
            <a:off x="4933727" y="4914107"/>
            <a:ext cx="1981200" cy="382587"/>
          </a:xfrm>
          <a:prstGeom prst="bentConnector3">
            <a:avLst>
              <a:gd name="adj1" fmla="val -1046"/>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42001" name="Text Box 15"/>
          <p:cNvSpPr txBox="1">
            <a:spLocks noChangeArrowheads="1"/>
          </p:cNvSpPr>
          <p:nvPr/>
        </p:nvSpPr>
        <p:spPr bwMode="auto">
          <a:xfrm>
            <a:off x="5324252" y="3962401"/>
            <a:ext cx="3746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a:latin typeface="Verdana" panose="020B0604030504040204" pitchFamily="34" charset="0"/>
                <a:ea typeface="楷体_GB2312" pitchFamily="49" charset="-122"/>
              </a:rPr>
              <a:t>N</a:t>
            </a:r>
          </a:p>
        </p:txBody>
      </p:sp>
      <p:sp>
        <p:nvSpPr>
          <p:cNvPr id="42002" name="Text Box 16"/>
          <p:cNvSpPr txBox="1">
            <a:spLocks noChangeArrowheads="1"/>
          </p:cNvSpPr>
          <p:nvPr/>
        </p:nvSpPr>
        <p:spPr bwMode="auto">
          <a:xfrm>
            <a:off x="9247759" y="4003676"/>
            <a:ext cx="3397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a:latin typeface="Verdana" panose="020B0604030504040204" pitchFamily="34" charset="0"/>
                <a:ea typeface="楷体_GB2312" pitchFamily="49" charset="-122"/>
              </a:rPr>
              <a:t>Y</a:t>
            </a:r>
          </a:p>
        </p:txBody>
      </p:sp>
      <p:sp>
        <p:nvSpPr>
          <p:cNvPr id="42003" name="AutoShape 17"/>
          <p:cNvSpPr>
            <a:spLocks noChangeArrowheads="1"/>
          </p:cNvSpPr>
          <p:nvPr/>
        </p:nvSpPr>
        <p:spPr bwMode="auto">
          <a:xfrm>
            <a:off x="8331771" y="5486400"/>
            <a:ext cx="1833563" cy="457200"/>
          </a:xfrm>
          <a:prstGeom prst="flowChartProcess">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000" dirty="0">
                <a:latin typeface="Verdana" panose="020B0604030504040204" pitchFamily="34" charset="0"/>
                <a:ea typeface="楷体_GB2312" pitchFamily="49" charset="-122"/>
              </a:rPr>
              <a:t>希望序号</a:t>
            </a:r>
            <a:r>
              <a:rPr kumimoji="1" lang="zh-CN" altLang="en-US" sz="2000" dirty="0">
                <a:solidFill>
                  <a:srgbClr val="FF0000"/>
                </a:solidFill>
                <a:latin typeface="Verdana" panose="020B0604030504040204" pitchFamily="34" charset="0"/>
                <a:ea typeface="楷体_GB2312" pitchFamily="49" charset="-122"/>
              </a:rPr>
              <a:t>变反</a:t>
            </a:r>
          </a:p>
        </p:txBody>
      </p:sp>
      <p:cxnSp>
        <p:nvCxnSpPr>
          <p:cNvPr id="42004" name="AutoShape 18"/>
          <p:cNvCxnSpPr>
            <a:cxnSpLocks noChangeShapeType="1"/>
            <a:stCxn id="41994" idx="2"/>
            <a:endCxn id="42003" idx="0"/>
          </p:cNvCxnSpPr>
          <p:nvPr/>
        </p:nvCxnSpPr>
        <p:spPr bwMode="auto">
          <a:xfrm>
            <a:off x="9247758" y="5257800"/>
            <a:ext cx="0" cy="2286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42005" name="Text Box 19"/>
          <p:cNvSpPr txBox="1">
            <a:spLocks noChangeArrowheads="1"/>
          </p:cNvSpPr>
          <p:nvPr/>
        </p:nvSpPr>
        <p:spPr bwMode="auto">
          <a:xfrm>
            <a:off x="6096001" y="1751014"/>
            <a:ext cx="3397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a:latin typeface="Verdana" panose="020B0604030504040204" pitchFamily="34" charset="0"/>
                <a:ea typeface="楷体_GB2312" pitchFamily="49" charset="-122"/>
              </a:rPr>
              <a:t>Y</a:t>
            </a:r>
          </a:p>
        </p:txBody>
      </p:sp>
      <p:sp>
        <p:nvSpPr>
          <p:cNvPr id="42006" name="Text Box 20"/>
          <p:cNvSpPr txBox="1">
            <a:spLocks noChangeArrowheads="1"/>
          </p:cNvSpPr>
          <p:nvPr/>
        </p:nvSpPr>
        <p:spPr bwMode="auto">
          <a:xfrm>
            <a:off x="3503613" y="2184401"/>
            <a:ext cx="3746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a:latin typeface="Verdana" panose="020B0604030504040204" pitchFamily="34" charset="0"/>
                <a:ea typeface="楷体_GB2312" pitchFamily="49" charset="-122"/>
              </a:rPr>
              <a:t>N</a:t>
            </a:r>
          </a:p>
        </p:txBody>
      </p:sp>
      <p:cxnSp>
        <p:nvCxnSpPr>
          <p:cNvPr id="42007" name="AutoShape 21"/>
          <p:cNvCxnSpPr>
            <a:cxnSpLocks noChangeShapeType="1"/>
            <a:stCxn id="41999" idx="3"/>
            <a:endCxn id="41994" idx="0"/>
          </p:cNvCxnSpPr>
          <p:nvPr/>
        </p:nvCxnSpPr>
        <p:spPr bwMode="auto">
          <a:xfrm>
            <a:off x="9232330" y="4114800"/>
            <a:ext cx="16222" cy="6858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2008" name="AutoShape 22"/>
          <p:cNvCxnSpPr>
            <a:cxnSpLocks noChangeShapeType="1"/>
            <a:stCxn id="42003" idx="2"/>
            <a:endCxn id="41990" idx="3"/>
          </p:cNvCxnSpPr>
          <p:nvPr/>
        </p:nvCxnSpPr>
        <p:spPr bwMode="auto">
          <a:xfrm rot="5400000">
            <a:off x="6712633" y="3560082"/>
            <a:ext cx="152400" cy="4919439"/>
          </a:xfrm>
          <a:prstGeom prst="bentConnector2">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42009" name="AutoShape 23"/>
          <p:cNvCxnSpPr>
            <a:cxnSpLocks noChangeShapeType="1"/>
            <a:stCxn id="41990" idx="1"/>
          </p:cNvCxnSpPr>
          <p:nvPr/>
        </p:nvCxnSpPr>
        <p:spPr bwMode="auto">
          <a:xfrm rot="10800000" flipH="1">
            <a:off x="3335338" y="1600200"/>
            <a:ext cx="1757362" cy="4495800"/>
          </a:xfrm>
          <a:prstGeom prst="bentConnector4">
            <a:avLst>
              <a:gd name="adj1" fmla="val -17755"/>
              <a:gd name="adj2" fmla="val 102856"/>
            </a:avLst>
          </a:prstGeom>
          <a:noFill/>
          <a:ln w="9525">
            <a:solidFill>
              <a:srgbClr val="0000FF"/>
            </a:solidFill>
            <a:miter lim="800000"/>
            <a:headEnd/>
            <a:tailEnd type="triangle" w="med" len="med"/>
          </a:ln>
          <a:extLst>
            <a:ext uri="{909E8E84-426E-40DD-AFC4-6F175D3DCCD1}">
              <a14:hiddenFill xmlns:a14="http://schemas.microsoft.com/office/drawing/2010/main">
                <a:noFill/>
              </a14:hiddenFill>
            </a:ext>
          </a:extLst>
        </p:spPr>
      </p:cxnSp>
      <p:cxnSp>
        <p:nvCxnSpPr>
          <p:cNvPr id="42010" name="AutoShape 24"/>
          <p:cNvCxnSpPr>
            <a:cxnSpLocks noChangeShapeType="1"/>
            <a:stCxn id="41992" idx="1"/>
          </p:cNvCxnSpPr>
          <p:nvPr/>
        </p:nvCxnSpPr>
        <p:spPr bwMode="auto">
          <a:xfrm flipH="1">
            <a:off x="3030539" y="2247900"/>
            <a:ext cx="993775"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Tree>
  </p:cSld>
  <p:clrMapOvr>
    <a:masterClrMapping/>
  </p:clrMapOvr>
  <p:transition>
    <p:random/>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Computer Network</a:t>
            </a:r>
          </a:p>
        </p:txBody>
      </p:sp>
      <p:sp>
        <p:nvSpPr>
          <p:cNvPr id="43011" name="灯片编号占位符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DC7B4E50-15ED-4238-8756-536E36E39940}" type="slidenum">
              <a:rPr lang="en-US" altLang="zh-CN" sz="1200">
                <a:latin typeface="Arial Black" panose="020B0A04020102020204" pitchFamily="34" charset="0"/>
              </a:rPr>
              <a:pPr>
                <a:spcBef>
                  <a:spcPct val="0"/>
                </a:spcBef>
                <a:buClrTx/>
                <a:buSzTx/>
                <a:buFontTx/>
                <a:buNone/>
              </a:pPr>
              <a:t>80</a:t>
            </a:fld>
            <a:endParaRPr lang="en-US" altLang="zh-CN" sz="1200">
              <a:latin typeface="Arial Black" panose="020B0A04020102020204" pitchFamily="34" charset="0"/>
            </a:endParaRPr>
          </a:p>
        </p:txBody>
      </p:sp>
      <p:sp>
        <p:nvSpPr>
          <p:cNvPr id="6" name="日期占位符 5"/>
          <p:cNvSpPr>
            <a:spLocks noGrp="1"/>
          </p:cNvSpPr>
          <p:nvPr>
            <p:ph type="dt" sz="quarter" idx="12"/>
          </p:nvPr>
        </p:nvSpPr>
        <p:spPr/>
        <p:txBody>
          <a:bodyPr/>
          <a:lstStyle/>
          <a:p>
            <a:pPr>
              <a:defRPr/>
            </a:pPr>
            <a:fld id="{4A51A892-F6EC-4157-8C86-94179BBA6993}" type="datetime1">
              <a:rPr lang="zh-CN" altLang="en-US"/>
              <a:pPr>
                <a:defRPr/>
              </a:pPr>
              <a:t>2024/10/18</a:t>
            </a:fld>
            <a:endParaRPr lang="en-US" altLang="zh-CN"/>
          </a:p>
        </p:txBody>
      </p:sp>
      <p:sp>
        <p:nvSpPr>
          <p:cNvPr id="863234" name="Rectangle 2"/>
          <p:cNvSpPr>
            <a:spLocks noGrp="1" noChangeArrowheads="1"/>
          </p:cNvSpPr>
          <p:nvPr>
            <p:ph type="title"/>
          </p:nvPr>
        </p:nvSpPr>
        <p:spPr>
          <a:xfrm>
            <a:off x="2362200" y="836613"/>
            <a:ext cx="7715250" cy="449262"/>
          </a:xfrm>
        </p:spPr>
        <p:txBody>
          <a:bodyPr/>
          <a:lstStyle/>
          <a:p>
            <a:pPr eaLnBrk="1" hangingPunct="1">
              <a:defRPr/>
            </a:pPr>
            <a:r>
              <a:rPr lang="zh-CN" altLang="en-US" sz="2400" b="1">
                <a:solidFill>
                  <a:srgbClr val="0000FF"/>
                </a:solidFill>
              </a:rPr>
              <a:t>流程说明：</a:t>
            </a:r>
          </a:p>
        </p:txBody>
      </p:sp>
      <p:sp>
        <p:nvSpPr>
          <p:cNvPr id="863235" name="Rectangle 3"/>
          <p:cNvSpPr>
            <a:spLocks noGrp="1" noChangeArrowheads="1"/>
          </p:cNvSpPr>
          <p:nvPr>
            <p:ph type="body" idx="1"/>
          </p:nvPr>
        </p:nvSpPr>
        <p:spPr>
          <a:xfrm>
            <a:off x="1811524" y="1479233"/>
            <a:ext cx="8568952" cy="4565650"/>
          </a:xfrm>
        </p:spPr>
        <p:txBody>
          <a:bodyPr/>
          <a:lstStyle/>
          <a:p>
            <a:pPr eaLnBrk="1" hangingPunct="1">
              <a:lnSpc>
                <a:spcPct val="120000"/>
              </a:lnSpc>
              <a:buSzPct val="90000"/>
              <a:buFont typeface="Wingdings" panose="05000000000000000000" pitchFamily="2" charset="2"/>
              <a:buChar char="§"/>
              <a:defRPr/>
            </a:pPr>
            <a:r>
              <a:rPr lang="zh-CN" altLang="en-US" sz="2400" b="1" dirty="0">
                <a:solidFill>
                  <a:srgbClr val="0000FF"/>
                </a:solidFill>
                <a:latin typeface="Verdana" pitchFamily="34" charset="0"/>
                <a:ea typeface="楷体_GB2312" pitchFamily="49" charset="-122"/>
              </a:rPr>
              <a:t>此图中没有表示出当收方又到一个错帧，向发方回应</a:t>
            </a:r>
            <a:r>
              <a:rPr lang="en-US" altLang="zh-CN" sz="2400" dirty="0">
                <a:solidFill>
                  <a:srgbClr val="0000FF"/>
                </a:solidFill>
                <a:latin typeface="Verdana" pitchFamily="34" charset="0"/>
                <a:ea typeface="楷体_GB2312" pitchFamily="49" charset="-122"/>
              </a:rPr>
              <a:t>NAK</a:t>
            </a:r>
            <a:r>
              <a:rPr lang="zh-CN" altLang="en-US" sz="2400" b="1" dirty="0">
                <a:solidFill>
                  <a:srgbClr val="0000FF"/>
                </a:solidFill>
                <a:latin typeface="Verdana" pitchFamily="34" charset="0"/>
                <a:ea typeface="楷体_GB2312" pitchFamily="49" charset="-122"/>
              </a:rPr>
              <a:t>帧，</a:t>
            </a:r>
          </a:p>
          <a:p>
            <a:pPr eaLnBrk="1" hangingPunct="1">
              <a:lnSpc>
                <a:spcPct val="120000"/>
              </a:lnSpc>
              <a:buSzPct val="90000"/>
              <a:buFont typeface="Wingdings" panose="05000000000000000000" pitchFamily="2" charset="2"/>
              <a:buChar char="§"/>
              <a:defRPr/>
            </a:pPr>
            <a:r>
              <a:rPr lang="zh-CN" altLang="en-US" sz="2400" dirty="0">
                <a:latin typeface="Verdana" pitchFamily="34" charset="0"/>
                <a:ea typeface="楷体_GB2312" pitchFamily="49" charset="-122"/>
              </a:rPr>
              <a:t>计数器为了解决死锁问题，重发时间选择重要，一般选为略大于“从发完数据帧到收到回答帧所需的平均时间”。</a:t>
            </a:r>
          </a:p>
          <a:p>
            <a:pPr eaLnBrk="1" hangingPunct="1">
              <a:lnSpc>
                <a:spcPct val="120000"/>
              </a:lnSpc>
              <a:buSzPct val="90000"/>
              <a:buFont typeface="Wingdings" panose="05000000000000000000" pitchFamily="2" charset="2"/>
              <a:buChar char="§"/>
              <a:defRPr/>
            </a:pPr>
            <a:r>
              <a:rPr lang="zh-CN" altLang="en-US" sz="2400" dirty="0">
                <a:solidFill>
                  <a:srgbClr val="0000FF"/>
                </a:solidFill>
                <a:effectLst>
                  <a:outerShdw blurRad="38100" dist="38100" dir="2700000" algn="tl">
                    <a:srgbClr val="C0C0C0"/>
                  </a:outerShdw>
                </a:effectLst>
                <a:latin typeface="Verdana" pitchFamily="34" charset="0"/>
                <a:ea typeface="楷体_GB2312" pitchFamily="49" charset="-122"/>
              </a:rPr>
              <a:t>重复帧或</a:t>
            </a:r>
            <a:r>
              <a:rPr lang="zh-CN" altLang="en-US" sz="2400" dirty="0">
                <a:latin typeface="Verdana" pitchFamily="34" charset="0"/>
                <a:ea typeface="楷体_GB2312" pitchFamily="49" charset="-122"/>
              </a:rPr>
              <a:t>。应答帧丢失，造成收方收到两个相同的帧。</a:t>
            </a:r>
          </a:p>
          <a:p>
            <a:pPr eaLnBrk="1" hangingPunct="1">
              <a:lnSpc>
                <a:spcPct val="120000"/>
              </a:lnSpc>
              <a:buSzPct val="90000"/>
              <a:buFont typeface="Wingdings" panose="05000000000000000000" pitchFamily="2" charset="2"/>
              <a:buChar char="§"/>
              <a:defRPr/>
            </a:pPr>
            <a:r>
              <a:rPr lang="zh-CN" altLang="en-US" sz="2400" dirty="0">
                <a:solidFill>
                  <a:srgbClr val="0000FF"/>
                </a:solidFill>
                <a:effectLst>
                  <a:outerShdw blurRad="38100" dist="38100" dir="2700000" algn="tl">
                    <a:srgbClr val="C0C0C0"/>
                  </a:outerShdw>
                </a:effectLst>
                <a:latin typeface="Verdana" pitchFamily="34" charset="0"/>
                <a:ea typeface="楷体_GB2312" pitchFamily="49" charset="-122"/>
              </a:rPr>
              <a:t>超时重传时间设置太短</a:t>
            </a:r>
            <a:endParaRPr lang="zh-CN" altLang="en-US" sz="2400" dirty="0">
              <a:latin typeface="Verdana" pitchFamily="34" charset="0"/>
              <a:ea typeface="楷体_GB2312" pitchFamily="49" charset="-122"/>
            </a:endParaRPr>
          </a:p>
          <a:p>
            <a:pPr eaLnBrk="1" hangingPunct="1">
              <a:lnSpc>
                <a:spcPct val="120000"/>
              </a:lnSpc>
              <a:buSzPct val="90000"/>
              <a:buFont typeface="Wingdings" panose="05000000000000000000" pitchFamily="2" charset="2"/>
              <a:buNone/>
              <a:defRPr/>
            </a:pPr>
            <a:r>
              <a:rPr lang="zh-CN" altLang="en-US" sz="2400" dirty="0">
                <a:solidFill>
                  <a:srgbClr val="0000FF"/>
                </a:solidFill>
                <a:effectLst>
                  <a:outerShdw blurRad="38100" dist="38100" dir="2700000" algn="tl">
                    <a:srgbClr val="C0C0C0"/>
                  </a:outerShdw>
                </a:effectLst>
                <a:latin typeface="Verdana" pitchFamily="34" charset="0"/>
                <a:ea typeface="楷体_GB2312" pitchFamily="49" charset="-122"/>
              </a:rPr>
              <a:t>     解决办法：</a:t>
            </a:r>
            <a:r>
              <a:rPr lang="zh-CN" altLang="en-US" sz="2400" dirty="0">
                <a:latin typeface="Verdana" pitchFamily="34" charset="0"/>
                <a:ea typeface="楷体_GB2312" pitchFamily="49" charset="-122"/>
              </a:rPr>
              <a:t>对发送的每一帧加序号。</a:t>
            </a:r>
          </a:p>
          <a:p>
            <a:pPr eaLnBrk="1" hangingPunct="1">
              <a:lnSpc>
                <a:spcPct val="120000"/>
              </a:lnSpc>
              <a:buSzPct val="90000"/>
              <a:buFont typeface="Wingdings" panose="05000000000000000000" pitchFamily="2" charset="2"/>
              <a:buChar char="§"/>
              <a:defRPr/>
            </a:pPr>
            <a:r>
              <a:rPr lang="zh-CN" altLang="en-US" sz="2400" dirty="0">
                <a:latin typeface="Verdana" pitchFamily="34" charset="0"/>
                <a:ea typeface="楷体_GB2312" pitchFamily="49" charset="-122"/>
              </a:rPr>
              <a:t>本协议只需</a:t>
            </a:r>
            <a:r>
              <a:rPr lang="zh-CN" altLang="en-US" sz="2400" dirty="0">
                <a:solidFill>
                  <a:srgbClr val="FF0000"/>
                </a:solidFill>
                <a:latin typeface="Verdana" pitchFamily="34" charset="0"/>
                <a:ea typeface="楷体_GB2312" pitchFamily="49" charset="-122"/>
              </a:rPr>
              <a:t>一位</a:t>
            </a:r>
            <a:r>
              <a:rPr lang="zh-CN" altLang="en-US" sz="2400" dirty="0">
                <a:latin typeface="Verdana" pitchFamily="34" charset="0"/>
                <a:ea typeface="楷体_GB2312" pitchFamily="49" charset="-122"/>
              </a:rPr>
              <a:t>做序号。</a:t>
            </a:r>
          </a:p>
        </p:txBody>
      </p:sp>
    </p:spTree>
  </p:cSld>
  <p:clrMapOvr>
    <a:masterClrMapping/>
  </p:clrMapOvr>
  <p:transition>
    <p:random/>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页脚占位符 1"/>
          <p:cNvSpPr>
            <a:spLocks noGrp="1"/>
          </p:cNvSpPr>
          <p:nvPr>
            <p:ph type="ftr" sz="quarter" idx="10"/>
          </p:nvPr>
        </p:nvSpPr>
        <p:spPr/>
        <p:txBody>
          <a:bodyPr/>
          <a:lstStyle/>
          <a:p>
            <a:pPr>
              <a:defRPr/>
            </a:pPr>
            <a:r>
              <a:rPr lang="en-US" altLang="zh-CN"/>
              <a:t>Computer Network</a:t>
            </a:r>
          </a:p>
        </p:txBody>
      </p:sp>
      <p:sp>
        <p:nvSpPr>
          <p:cNvPr id="44035" name="灯片编号占位符 2"/>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3FD1425F-1168-4825-B6F9-629C780B8213}" type="slidenum">
              <a:rPr lang="en-US" altLang="zh-CN" sz="1200">
                <a:latin typeface="Arial Black" panose="020B0A04020102020204" pitchFamily="34" charset="0"/>
              </a:rPr>
              <a:pPr>
                <a:spcBef>
                  <a:spcPct val="0"/>
                </a:spcBef>
                <a:buClrTx/>
                <a:buSzTx/>
                <a:buFontTx/>
                <a:buNone/>
              </a:pPr>
              <a:t>81</a:t>
            </a:fld>
            <a:endParaRPr lang="en-US" altLang="zh-CN" sz="1200">
              <a:latin typeface="Arial Black" panose="020B0A04020102020204" pitchFamily="34" charset="0"/>
            </a:endParaRPr>
          </a:p>
        </p:txBody>
      </p:sp>
      <p:sp>
        <p:nvSpPr>
          <p:cNvPr id="5" name="日期占位符 3"/>
          <p:cNvSpPr>
            <a:spLocks noGrp="1"/>
          </p:cNvSpPr>
          <p:nvPr>
            <p:ph type="dt" sz="quarter" idx="12"/>
          </p:nvPr>
        </p:nvSpPr>
        <p:spPr/>
        <p:txBody>
          <a:bodyPr/>
          <a:lstStyle/>
          <a:p>
            <a:pPr>
              <a:defRPr/>
            </a:pPr>
            <a:fld id="{14E3358A-27E3-4206-A902-549CF9555E5C}" type="datetime1">
              <a:rPr lang="zh-CN" altLang="en-US"/>
              <a:pPr>
                <a:defRPr/>
              </a:pPr>
              <a:t>2024/10/18</a:t>
            </a:fld>
            <a:endParaRPr lang="en-US" altLang="zh-CN"/>
          </a:p>
        </p:txBody>
      </p:sp>
      <p:sp>
        <p:nvSpPr>
          <p:cNvPr id="924676" name="Rectangle 4"/>
          <p:cNvSpPr>
            <a:spLocks noChangeArrowheads="1"/>
          </p:cNvSpPr>
          <p:nvPr/>
        </p:nvSpPr>
        <p:spPr bwMode="auto">
          <a:xfrm>
            <a:off x="2279651" y="981076"/>
            <a:ext cx="7777163" cy="4308475"/>
          </a:xfrm>
          <a:prstGeom prst="rect">
            <a:avLst/>
          </a:prstGeom>
          <a:noFill/>
          <a:ln>
            <a:noFill/>
          </a:ln>
          <a:effectLst/>
        </p:spPr>
        <p:txBody>
          <a:bodyPr lIns="0" tIns="0" rIns="0" bIns="0" anchor="ctr">
            <a:spAutoFit/>
          </a:bodyPr>
          <a:lstStyle/>
          <a:p>
            <a:pPr indent="276225" eaLnBrk="1" hangingPunct="1">
              <a:lnSpc>
                <a:spcPct val="120000"/>
              </a:lnSpc>
              <a:spcBef>
                <a:spcPct val="20000"/>
              </a:spcBef>
              <a:defRPr/>
            </a:pPr>
            <a:r>
              <a:rPr lang="en-US" altLang="zh-CN" sz="2400">
                <a:latin typeface="Arial" charset="0"/>
              </a:rPr>
              <a:t>     </a:t>
            </a:r>
            <a:r>
              <a:rPr lang="zh-CN" altLang="en-US" sz="2400">
                <a:solidFill>
                  <a:srgbClr val="0000FF"/>
                </a:solidFill>
                <a:latin typeface="Arial" charset="0"/>
              </a:rPr>
              <a:t>假设</a:t>
            </a:r>
            <a:r>
              <a:rPr lang="en-US" altLang="zh-CN" sz="2400">
                <a:solidFill>
                  <a:srgbClr val="0000FF"/>
                </a:solidFill>
                <a:latin typeface="Arial" charset="0"/>
              </a:rPr>
              <a:t>A</a:t>
            </a:r>
            <a:r>
              <a:rPr lang="zh-CN" altLang="en-US" sz="2400">
                <a:solidFill>
                  <a:srgbClr val="0000FF"/>
                </a:solidFill>
                <a:latin typeface="Arial" charset="0"/>
              </a:rPr>
              <a:t>向</a:t>
            </a:r>
            <a:r>
              <a:rPr lang="en-US" altLang="zh-CN" sz="2400">
                <a:solidFill>
                  <a:srgbClr val="0000FF"/>
                </a:solidFill>
                <a:latin typeface="Arial" charset="0"/>
              </a:rPr>
              <a:t>B</a:t>
            </a:r>
            <a:r>
              <a:rPr lang="zh-CN" altLang="en-US" sz="2400">
                <a:solidFill>
                  <a:srgbClr val="0000FF"/>
                </a:solidFill>
                <a:latin typeface="Arial" charset="0"/>
              </a:rPr>
              <a:t>发数据：</a:t>
            </a:r>
          </a:p>
          <a:p>
            <a:pPr indent="276225" eaLnBrk="1" hangingPunct="1">
              <a:lnSpc>
                <a:spcPct val="120000"/>
              </a:lnSpc>
              <a:spcBef>
                <a:spcPct val="20000"/>
              </a:spcBef>
              <a:defRPr/>
            </a:pPr>
            <a:r>
              <a:rPr lang="zh-CN" altLang="en-US" sz="2400">
                <a:latin typeface="Arial" charset="0"/>
              </a:rPr>
              <a:t>     </a:t>
            </a:r>
            <a:r>
              <a:rPr lang="en-US" altLang="zh-CN" sz="2400">
                <a:latin typeface="Arial" charset="0"/>
              </a:rPr>
              <a:t>B</a:t>
            </a:r>
            <a:r>
              <a:rPr lang="zh-CN" altLang="en-US" sz="2400">
                <a:latin typeface="Arial" charset="0"/>
              </a:rPr>
              <a:t>在收到错误序号的数据帧时，除应丢弃这个错误序号的数据帧外，</a:t>
            </a:r>
            <a:r>
              <a:rPr lang="zh-CN" altLang="en-US" sz="2400">
                <a:solidFill>
                  <a:srgbClr val="0000FF"/>
                </a:solidFill>
                <a:effectLst>
                  <a:outerShdw blurRad="38100" dist="38100" dir="2700000" algn="tl">
                    <a:srgbClr val="C0C0C0"/>
                  </a:outerShdw>
                </a:effectLst>
                <a:latin typeface="Arial" charset="0"/>
              </a:rPr>
              <a:t>还必须重复发送</a:t>
            </a:r>
            <a:r>
              <a:rPr lang="zh-CN" altLang="en-US" sz="2400">
                <a:latin typeface="Arial" charset="0"/>
              </a:rPr>
              <a:t>前面已经发送过的最后一个确认帧。</a:t>
            </a:r>
          </a:p>
          <a:p>
            <a:pPr indent="276225" eaLnBrk="1" hangingPunct="1">
              <a:lnSpc>
                <a:spcPct val="120000"/>
              </a:lnSpc>
              <a:spcBef>
                <a:spcPct val="20000"/>
              </a:spcBef>
              <a:defRPr/>
            </a:pPr>
            <a:r>
              <a:rPr lang="zh-CN" altLang="en-US" sz="2400">
                <a:latin typeface="Arial" charset="0"/>
              </a:rPr>
              <a:t>     由此可见，确认帧必须表明这样两个含义：</a:t>
            </a:r>
          </a:p>
          <a:p>
            <a:pPr indent="276225" eaLnBrk="1" hangingPunct="1">
              <a:lnSpc>
                <a:spcPct val="120000"/>
              </a:lnSpc>
              <a:spcBef>
                <a:spcPct val="20000"/>
              </a:spcBef>
              <a:defRPr/>
            </a:pPr>
            <a:r>
              <a:rPr lang="zh-CN" altLang="en-US" sz="2400">
                <a:latin typeface="Arial" charset="0"/>
              </a:rPr>
              <a:t> ①第</a:t>
            </a:r>
            <a:r>
              <a:rPr lang="en-US" altLang="zh-CN" sz="2400" i="1">
                <a:latin typeface="Arial" charset="0"/>
              </a:rPr>
              <a:t>n</a:t>
            </a:r>
            <a:r>
              <a:rPr lang="en-US" altLang="zh-CN" sz="2400">
                <a:latin typeface="Arial" charset="0"/>
              </a:rPr>
              <a:t> – 1</a:t>
            </a:r>
            <a:r>
              <a:rPr lang="zh-CN" altLang="en-US" sz="2400">
                <a:latin typeface="Arial" charset="0"/>
              </a:rPr>
              <a:t>号帧和这以前的各帧都收到了。</a:t>
            </a:r>
          </a:p>
          <a:p>
            <a:pPr indent="276225" eaLnBrk="1" hangingPunct="1">
              <a:lnSpc>
                <a:spcPct val="120000"/>
              </a:lnSpc>
              <a:spcBef>
                <a:spcPct val="20000"/>
              </a:spcBef>
              <a:defRPr/>
            </a:pPr>
            <a:r>
              <a:rPr lang="zh-CN" altLang="en-US" sz="2400">
                <a:latin typeface="Arial" charset="0"/>
              </a:rPr>
              <a:t> ②我期望收到第</a:t>
            </a:r>
            <a:r>
              <a:rPr lang="en-US" altLang="zh-CN" sz="2400" i="1">
                <a:latin typeface="Arial" charset="0"/>
              </a:rPr>
              <a:t>n</a:t>
            </a:r>
            <a:r>
              <a:rPr lang="zh-CN" altLang="en-US" sz="2400">
                <a:latin typeface="Arial" charset="0"/>
              </a:rPr>
              <a:t>号帧。确认帧还可能包含这样的含义。</a:t>
            </a:r>
          </a:p>
          <a:p>
            <a:pPr indent="276225" eaLnBrk="1" hangingPunct="1">
              <a:lnSpc>
                <a:spcPct val="120000"/>
              </a:lnSpc>
              <a:spcBef>
                <a:spcPct val="20000"/>
              </a:spcBef>
              <a:defRPr/>
            </a:pPr>
            <a:r>
              <a:rPr lang="zh-CN" altLang="en-US" sz="2400">
                <a:latin typeface="Arial" charset="0"/>
              </a:rPr>
              <a:t>     当</a:t>
            </a:r>
            <a:r>
              <a:rPr lang="en-US" altLang="zh-CN" sz="2400">
                <a:latin typeface="Arial" charset="0"/>
              </a:rPr>
              <a:t>A</a:t>
            </a:r>
            <a:r>
              <a:rPr lang="zh-CN" altLang="en-US" sz="2400">
                <a:latin typeface="Arial" charset="0"/>
              </a:rPr>
              <a:t>和</a:t>
            </a:r>
            <a:r>
              <a:rPr lang="en-US" altLang="zh-CN" sz="2400">
                <a:latin typeface="Arial" charset="0"/>
              </a:rPr>
              <a:t>B</a:t>
            </a:r>
            <a:r>
              <a:rPr lang="zh-CN" altLang="en-US" sz="2400">
                <a:latin typeface="Arial" charset="0"/>
              </a:rPr>
              <a:t>都有数据帧向对方发送时，确认信息可以放在数据帧中</a:t>
            </a:r>
            <a:r>
              <a:rPr lang="zh-CN" altLang="en-US" sz="2400">
                <a:solidFill>
                  <a:srgbClr val="FF3300"/>
                </a:solidFill>
                <a:effectLst>
                  <a:outerShdw blurRad="38100" dist="38100" dir="2700000" algn="tl">
                    <a:srgbClr val="C0C0C0"/>
                  </a:outerShdw>
                </a:effectLst>
                <a:latin typeface="Arial" charset="0"/>
              </a:rPr>
              <a:t>捎带</a:t>
            </a:r>
            <a:r>
              <a:rPr lang="zh-CN" altLang="en-US" sz="2400">
                <a:latin typeface="Arial" charset="0"/>
              </a:rPr>
              <a:t>地发送给对方。 </a:t>
            </a:r>
          </a:p>
        </p:txBody>
      </p:sp>
    </p:spTree>
  </p:cSld>
  <p:clrMapOvr>
    <a:masterClrMapping/>
  </p:clrMapOvr>
  <p:transition spd="slow">
    <p:pull dir="ru"/>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Computer Network</a:t>
            </a:r>
          </a:p>
        </p:txBody>
      </p:sp>
      <p:sp>
        <p:nvSpPr>
          <p:cNvPr id="5" name="灯片编号占位符 4"/>
          <p:cNvSpPr>
            <a:spLocks noGrp="1"/>
          </p:cNvSpPr>
          <p:nvPr>
            <p:ph type="sldNum" sz="quarter" idx="11"/>
          </p:nvPr>
        </p:nvSpPr>
        <p:spPr/>
        <p:txBody>
          <a:bodyPr/>
          <a:lstStyle/>
          <a:p>
            <a:pPr>
              <a:defRPr/>
            </a:pPr>
            <a:fld id="{8ADB66EE-6F9B-4BDF-8D47-5965EC809606}" type="slidenum">
              <a:rPr lang="en-US" altLang="zh-CN" smtClean="0"/>
              <a:pPr>
                <a:defRPr/>
              </a:pPr>
              <a:t>82</a:t>
            </a:fld>
            <a:endParaRPr lang="en-US" altLang="zh-CN"/>
          </a:p>
        </p:txBody>
      </p:sp>
      <p:sp>
        <p:nvSpPr>
          <p:cNvPr id="6" name="日期占位符 5"/>
          <p:cNvSpPr>
            <a:spLocks noGrp="1"/>
          </p:cNvSpPr>
          <p:nvPr>
            <p:ph type="dt" sz="half" idx="12"/>
          </p:nvPr>
        </p:nvSpPr>
        <p:spPr/>
        <p:txBody>
          <a:bodyPr/>
          <a:lstStyle/>
          <a:p>
            <a:pPr>
              <a:defRPr/>
            </a:pPr>
            <a:fld id="{9F3F7983-BD93-4701-BA16-3BC805069EE1}" type="datetime1">
              <a:rPr lang="zh-CN" altLang="en-US" smtClean="0"/>
              <a:pPr>
                <a:defRPr/>
              </a:pPr>
              <a:t>2024/10/18</a:t>
            </a:fld>
            <a:endParaRPr lang="en-US" altLang="zh-CN"/>
          </a:p>
        </p:txBody>
      </p:sp>
      <p:pic>
        <p:nvPicPr>
          <p:cNvPr id="9" name="图片 8"/>
          <p:cNvPicPr>
            <a:picLocks noChangeAspect="1"/>
          </p:cNvPicPr>
          <p:nvPr/>
        </p:nvPicPr>
        <p:blipFill rotWithShape="1">
          <a:blip r:embed="rId2"/>
          <a:srcRect r="14357"/>
          <a:stretch/>
        </p:blipFill>
        <p:spPr>
          <a:xfrm>
            <a:off x="814013" y="153268"/>
            <a:ext cx="10619237" cy="5865836"/>
          </a:xfrm>
          <a:prstGeom prst="rect">
            <a:avLst/>
          </a:prstGeom>
        </p:spPr>
      </p:pic>
    </p:spTree>
    <p:extLst>
      <p:ext uri="{BB962C8B-B14F-4D97-AF65-F5344CB8AC3E}">
        <p14:creationId xmlns:p14="http://schemas.microsoft.com/office/powerpoint/2010/main" val="3293216238"/>
      </p:ext>
    </p:extLst>
  </p:cSld>
  <p:clrMapOvr>
    <a:masterClrMapping/>
  </p:clrMapOvr>
  <p:transition spd="slow">
    <p:pull dir="ru"/>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a:defRPr/>
            </a:pPr>
            <a:r>
              <a:rPr lang="en-US" altLang="zh-CN"/>
              <a:t>Computer Network</a:t>
            </a:r>
          </a:p>
        </p:txBody>
      </p:sp>
      <p:sp>
        <p:nvSpPr>
          <p:cNvPr id="3" name="灯片编号占位符 2"/>
          <p:cNvSpPr>
            <a:spLocks noGrp="1"/>
          </p:cNvSpPr>
          <p:nvPr>
            <p:ph type="sldNum" sz="quarter" idx="11"/>
          </p:nvPr>
        </p:nvSpPr>
        <p:spPr/>
        <p:txBody>
          <a:bodyPr/>
          <a:lstStyle/>
          <a:p>
            <a:pPr>
              <a:defRPr/>
            </a:pPr>
            <a:fld id="{2AAF93DC-1AF2-40C5-A519-3C53F0141A12}" type="slidenum">
              <a:rPr lang="en-US" altLang="zh-CN" smtClean="0"/>
              <a:pPr>
                <a:defRPr/>
              </a:pPr>
              <a:t>83</a:t>
            </a:fld>
            <a:endParaRPr lang="en-US" altLang="zh-CN"/>
          </a:p>
        </p:txBody>
      </p:sp>
      <p:sp>
        <p:nvSpPr>
          <p:cNvPr id="4" name="日期占位符 3"/>
          <p:cNvSpPr>
            <a:spLocks noGrp="1"/>
          </p:cNvSpPr>
          <p:nvPr>
            <p:ph type="dt" sz="half" idx="12"/>
          </p:nvPr>
        </p:nvSpPr>
        <p:spPr/>
        <p:txBody>
          <a:bodyPr/>
          <a:lstStyle/>
          <a:p>
            <a:pPr>
              <a:defRPr/>
            </a:pPr>
            <a:fld id="{F745FD7F-E1E7-4727-BD24-89E1126485D5}" type="datetime1">
              <a:rPr lang="zh-CN" altLang="en-US" smtClean="0"/>
              <a:pPr>
                <a:defRPr/>
              </a:pPr>
              <a:t>2024/10/18</a:t>
            </a:fld>
            <a:endParaRPr lang="en-US" altLang="zh-CN"/>
          </a:p>
        </p:txBody>
      </p:sp>
      <p:pic>
        <p:nvPicPr>
          <p:cNvPr id="5" name="图片 4"/>
          <p:cNvPicPr>
            <a:picLocks noChangeAspect="1"/>
          </p:cNvPicPr>
          <p:nvPr/>
        </p:nvPicPr>
        <p:blipFill rotWithShape="1">
          <a:blip r:embed="rId2"/>
          <a:srcRect r="7609"/>
          <a:stretch/>
        </p:blipFill>
        <p:spPr>
          <a:xfrm>
            <a:off x="913165" y="152400"/>
            <a:ext cx="10365670" cy="5400600"/>
          </a:xfrm>
          <a:prstGeom prst="rect">
            <a:avLst/>
          </a:prstGeom>
        </p:spPr>
      </p:pic>
    </p:spTree>
    <p:extLst>
      <p:ext uri="{BB962C8B-B14F-4D97-AF65-F5344CB8AC3E}">
        <p14:creationId xmlns:p14="http://schemas.microsoft.com/office/powerpoint/2010/main" val="3516331284"/>
      </p:ext>
    </p:extLst>
  </p:cSld>
  <p:clrMapOvr>
    <a:masterClrMapping/>
  </p:clrMapOvr>
  <p:transition spd="slow">
    <p:pull dir="ru"/>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a:defRPr/>
            </a:pPr>
            <a:r>
              <a:rPr lang="en-US" altLang="zh-CN"/>
              <a:t>Computer Network</a:t>
            </a:r>
          </a:p>
        </p:txBody>
      </p:sp>
      <p:sp>
        <p:nvSpPr>
          <p:cNvPr id="3" name="灯片编号占位符 2"/>
          <p:cNvSpPr>
            <a:spLocks noGrp="1"/>
          </p:cNvSpPr>
          <p:nvPr>
            <p:ph type="sldNum" sz="quarter" idx="11"/>
          </p:nvPr>
        </p:nvSpPr>
        <p:spPr/>
        <p:txBody>
          <a:bodyPr/>
          <a:lstStyle/>
          <a:p>
            <a:pPr>
              <a:defRPr/>
            </a:pPr>
            <a:fld id="{2AAF93DC-1AF2-40C5-A519-3C53F0141A12}" type="slidenum">
              <a:rPr lang="en-US" altLang="zh-CN" smtClean="0"/>
              <a:pPr>
                <a:defRPr/>
              </a:pPr>
              <a:t>84</a:t>
            </a:fld>
            <a:endParaRPr lang="en-US" altLang="zh-CN"/>
          </a:p>
        </p:txBody>
      </p:sp>
      <p:sp>
        <p:nvSpPr>
          <p:cNvPr id="4" name="日期占位符 3"/>
          <p:cNvSpPr>
            <a:spLocks noGrp="1"/>
          </p:cNvSpPr>
          <p:nvPr>
            <p:ph type="dt" sz="half" idx="12"/>
          </p:nvPr>
        </p:nvSpPr>
        <p:spPr/>
        <p:txBody>
          <a:bodyPr/>
          <a:lstStyle/>
          <a:p>
            <a:pPr>
              <a:defRPr/>
            </a:pPr>
            <a:fld id="{F745FD7F-E1E7-4727-BD24-89E1126485D5}" type="datetime1">
              <a:rPr lang="zh-CN" altLang="en-US" smtClean="0"/>
              <a:pPr>
                <a:defRPr/>
              </a:pPr>
              <a:t>2024/10/18</a:t>
            </a:fld>
            <a:endParaRPr lang="en-US" altLang="zh-CN"/>
          </a:p>
        </p:txBody>
      </p:sp>
      <p:pic>
        <p:nvPicPr>
          <p:cNvPr id="5" name="图片 4"/>
          <p:cNvPicPr>
            <a:picLocks noChangeAspect="1"/>
          </p:cNvPicPr>
          <p:nvPr/>
        </p:nvPicPr>
        <p:blipFill rotWithShape="1">
          <a:blip r:embed="rId2"/>
          <a:srcRect r="4434"/>
          <a:stretch/>
        </p:blipFill>
        <p:spPr>
          <a:xfrm>
            <a:off x="1271464" y="260648"/>
            <a:ext cx="10073203" cy="5832648"/>
          </a:xfrm>
          <a:prstGeom prst="rect">
            <a:avLst/>
          </a:prstGeom>
        </p:spPr>
      </p:pic>
    </p:spTree>
    <p:extLst>
      <p:ext uri="{BB962C8B-B14F-4D97-AF65-F5344CB8AC3E}">
        <p14:creationId xmlns:p14="http://schemas.microsoft.com/office/powerpoint/2010/main" val="1938802477"/>
      </p:ext>
    </p:extLst>
  </p:cSld>
  <p:clrMapOvr>
    <a:masterClrMapping/>
  </p:clrMapOvr>
  <p:transition spd="slow">
    <p:pull dir="ru"/>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a:defRPr/>
            </a:pPr>
            <a:r>
              <a:rPr lang="en-US" altLang="zh-CN"/>
              <a:t>Computer Network</a:t>
            </a:r>
          </a:p>
        </p:txBody>
      </p:sp>
      <p:sp>
        <p:nvSpPr>
          <p:cNvPr id="3" name="灯片编号占位符 2"/>
          <p:cNvSpPr>
            <a:spLocks noGrp="1"/>
          </p:cNvSpPr>
          <p:nvPr>
            <p:ph type="sldNum" sz="quarter" idx="11"/>
          </p:nvPr>
        </p:nvSpPr>
        <p:spPr/>
        <p:txBody>
          <a:bodyPr/>
          <a:lstStyle/>
          <a:p>
            <a:pPr>
              <a:defRPr/>
            </a:pPr>
            <a:fld id="{2AAF93DC-1AF2-40C5-A519-3C53F0141A12}" type="slidenum">
              <a:rPr lang="en-US" altLang="zh-CN" smtClean="0"/>
              <a:pPr>
                <a:defRPr/>
              </a:pPr>
              <a:t>85</a:t>
            </a:fld>
            <a:endParaRPr lang="en-US" altLang="zh-CN"/>
          </a:p>
        </p:txBody>
      </p:sp>
      <p:sp>
        <p:nvSpPr>
          <p:cNvPr id="4" name="日期占位符 3"/>
          <p:cNvSpPr>
            <a:spLocks noGrp="1"/>
          </p:cNvSpPr>
          <p:nvPr>
            <p:ph type="dt" sz="half" idx="12"/>
          </p:nvPr>
        </p:nvSpPr>
        <p:spPr/>
        <p:txBody>
          <a:bodyPr/>
          <a:lstStyle/>
          <a:p>
            <a:pPr>
              <a:defRPr/>
            </a:pPr>
            <a:fld id="{F745FD7F-E1E7-4727-BD24-89E1126485D5}" type="datetime1">
              <a:rPr lang="zh-CN" altLang="en-US" smtClean="0"/>
              <a:pPr>
                <a:defRPr/>
              </a:pPr>
              <a:t>2024/10/18</a:t>
            </a:fld>
            <a:endParaRPr lang="en-US" altLang="zh-CN"/>
          </a:p>
        </p:txBody>
      </p:sp>
      <p:pic>
        <p:nvPicPr>
          <p:cNvPr id="5" name="图片 4"/>
          <p:cNvPicPr>
            <a:picLocks noChangeAspect="1"/>
          </p:cNvPicPr>
          <p:nvPr/>
        </p:nvPicPr>
        <p:blipFill rotWithShape="1">
          <a:blip r:embed="rId2"/>
          <a:srcRect t="10803"/>
          <a:stretch/>
        </p:blipFill>
        <p:spPr>
          <a:xfrm>
            <a:off x="1841075" y="2172711"/>
            <a:ext cx="8509850" cy="3816424"/>
          </a:xfrm>
          <a:prstGeom prst="rect">
            <a:avLst/>
          </a:prstGeom>
        </p:spPr>
      </p:pic>
      <p:pic>
        <p:nvPicPr>
          <p:cNvPr id="6" name="图片 5"/>
          <p:cNvPicPr>
            <a:picLocks noChangeAspect="1"/>
          </p:cNvPicPr>
          <p:nvPr/>
        </p:nvPicPr>
        <p:blipFill rotWithShape="1">
          <a:blip r:embed="rId3"/>
          <a:srcRect l="11345" t="58931" r="55903" b="5711"/>
          <a:stretch/>
        </p:blipFill>
        <p:spPr>
          <a:xfrm>
            <a:off x="2279576" y="562351"/>
            <a:ext cx="2952328" cy="1610361"/>
          </a:xfrm>
          <a:prstGeom prst="rect">
            <a:avLst/>
          </a:prstGeom>
        </p:spPr>
      </p:pic>
    </p:spTree>
    <p:extLst>
      <p:ext uri="{BB962C8B-B14F-4D97-AF65-F5344CB8AC3E}">
        <p14:creationId xmlns:p14="http://schemas.microsoft.com/office/powerpoint/2010/main" val="1263883934"/>
      </p:ext>
    </p:extLst>
  </p:cSld>
  <p:clrMapOvr>
    <a:masterClrMapping/>
  </p:clrMapOvr>
  <p:transition spd="slow">
    <p:pull dir="ru"/>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DCC7AC-475E-1E4C-8CD6-1AECBEC28035}"/>
              </a:ext>
            </a:extLst>
          </p:cNvPr>
          <p:cNvSpPr>
            <a:spLocks noGrp="1"/>
          </p:cNvSpPr>
          <p:nvPr>
            <p:ph type="title"/>
          </p:nvPr>
        </p:nvSpPr>
        <p:spPr/>
        <p:txBody>
          <a:bodyPr/>
          <a:lstStyle/>
          <a:p>
            <a:r>
              <a:rPr lang="zh-CN" altLang="en-US" dirty="0"/>
              <a:t>本章内容</a:t>
            </a:r>
            <a:endParaRPr kumimoji="1" lang="zh-CN" altLang="en-US" dirty="0"/>
          </a:p>
        </p:txBody>
      </p:sp>
      <p:sp>
        <p:nvSpPr>
          <p:cNvPr id="3" name="内容占位符 2">
            <a:extLst>
              <a:ext uri="{FF2B5EF4-FFF2-40B4-BE49-F238E27FC236}">
                <a16:creationId xmlns:a16="http://schemas.microsoft.com/office/drawing/2014/main" id="{ED1732F0-50F7-8947-81D6-CBBAE8232DE9}"/>
              </a:ext>
            </a:extLst>
          </p:cNvPr>
          <p:cNvSpPr>
            <a:spLocks noGrp="1"/>
          </p:cNvSpPr>
          <p:nvPr>
            <p:ph idx="1"/>
          </p:nvPr>
        </p:nvSpPr>
        <p:spPr/>
        <p:txBody>
          <a:bodyPr>
            <a:normAutofit/>
          </a:bodyPr>
          <a:lstStyle/>
          <a:p>
            <a:pPr marL="0" indent="0">
              <a:lnSpc>
                <a:spcPct val="130000"/>
              </a:lnSpc>
              <a:buNone/>
            </a:pPr>
            <a:r>
              <a:rPr kumimoji="1" lang="en-US" altLang="zh-CN" dirty="0"/>
              <a:t>3.1 </a:t>
            </a:r>
            <a:r>
              <a:rPr kumimoji="1" lang="zh-CN" altLang="zh-CN" dirty="0"/>
              <a:t>数据链路层的设计问题</a:t>
            </a:r>
            <a:endParaRPr kumimoji="1" lang="en-US" altLang="zh-CN" dirty="0"/>
          </a:p>
          <a:p>
            <a:pPr marL="0" indent="0">
              <a:lnSpc>
                <a:spcPct val="130000"/>
              </a:lnSpc>
              <a:buNone/>
            </a:pPr>
            <a:r>
              <a:rPr kumimoji="1" lang="en-US" altLang="zh-CN" dirty="0"/>
              <a:t>3.2 </a:t>
            </a:r>
            <a:r>
              <a:rPr kumimoji="1" lang="zh-CN" altLang="zh-CN" dirty="0"/>
              <a:t>差错检测和纠正</a:t>
            </a:r>
            <a:endParaRPr kumimoji="1" lang="en-US" altLang="zh-CN" dirty="0"/>
          </a:p>
          <a:p>
            <a:pPr marL="0" indent="0">
              <a:lnSpc>
                <a:spcPct val="130000"/>
              </a:lnSpc>
              <a:buNone/>
            </a:pPr>
            <a:r>
              <a:rPr kumimoji="1" lang="en-US" altLang="zh-CN" dirty="0"/>
              <a:t>3.3 </a:t>
            </a:r>
            <a:r>
              <a:rPr kumimoji="1" lang="zh-CN" altLang="zh-CN" dirty="0"/>
              <a:t>基本的数据链路层协议</a:t>
            </a:r>
            <a:endParaRPr kumimoji="1" lang="zh-CN" altLang="en-US" dirty="0"/>
          </a:p>
          <a:p>
            <a:pPr marL="0" indent="0">
              <a:lnSpc>
                <a:spcPct val="130000"/>
              </a:lnSpc>
              <a:buNone/>
            </a:pPr>
            <a:r>
              <a:rPr kumimoji="1" lang="en-US" altLang="zh-CN" dirty="0">
                <a:solidFill>
                  <a:srgbClr val="C00000"/>
                </a:solidFill>
              </a:rPr>
              <a:t>3.4 </a:t>
            </a:r>
            <a:r>
              <a:rPr kumimoji="1" lang="zh-CN" altLang="zh-CN" dirty="0">
                <a:solidFill>
                  <a:srgbClr val="C00000"/>
                </a:solidFill>
              </a:rPr>
              <a:t>滑动窗口协议</a:t>
            </a:r>
            <a:endParaRPr lang="zh-CN" altLang="en-US" sz="2400" dirty="0">
              <a:solidFill>
                <a:srgbClr val="C00000"/>
              </a:solidFill>
              <a:latin typeface="微软雅黑" panose="020B0503020204020204" pitchFamily="34" charset="-122"/>
              <a:ea typeface="微软雅黑" panose="020B0503020204020204" pitchFamily="34" charset="-122"/>
            </a:endParaRPr>
          </a:p>
          <a:p>
            <a:pPr marL="0" indent="0">
              <a:lnSpc>
                <a:spcPct val="130000"/>
              </a:lnSpc>
              <a:buNone/>
            </a:pPr>
            <a:r>
              <a:rPr kumimoji="1" lang="en-US" altLang="zh-CN" dirty="0"/>
              <a:t>3.5 </a:t>
            </a:r>
            <a:r>
              <a:rPr kumimoji="1" lang="zh-CN" altLang="zh-CN" dirty="0"/>
              <a:t>数据链路协议实例</a:t>
            </a:r>
          </a:p>
        </p:txBody>
      </p:sp>
      <p:sp>
        <p:nvSpPr>
          <p:cNvPr id="4" name="灯片编号占位符 3">
            <a:extLst>
              <a:ext uri="{FF2B5EF4-FFF2-40B4-BE49-F238E27FC236}">
                <a16:creationId xmlns:a16="http://schemas.microsoft.com/office/drawing/2014/main" id="{B09265E6-1613-5248-876E-1FC70865DEDD}"/>
              </a:ext>
            </a:extLst>
          </p:cNvPr>
          <p:cNvSpPr>
            <a:spLocks noGrp="1"/>
          </p:cNvSpPr>
          <p:nvPr>
            <p:ph type="sldNum" sz="quarter" idx="12"/>
          </p:nvPr>
        </p:nvSpPr>
        <p:spPr/>
        <p:txBody>
          <a:bodyPr/>
          <a:lstStyle/>
          <a:p>
            <a:fld id="{8D4D1E41-7A09-AB4A-A4E1-09765ADA2698}" type="slidenum">
              <a:rPr kumimoji="1" lang="zh-CN" altLang="en-US" smtClean="0"/>
              <a:t>86</a:t>
            </a:fld>
            <a:endParaRPr kumimoji="1" lang="zh-CN" altLang="en-US" dirty="0"/>
          </a:p>
        </p:txBody>
      </p:sp>
    </p:spTree>
    <p:extLst>
      <p:ext uri="{BB962C8B-B14F-4D97-AF65-F5344CB8AC3E}">
        <p14:creationId xmlns:p14="http://schemas.microsoft.com/office/powerpoint/2010/main" val="270239139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1"/>
          <p:cNvSpPr>
            <a:spLocks noGrp="1"/>
          </p:cNvSpPr>
          <p:nvPr>
            <p:ph type="ftr" sz="quarter" idx="10"/>
          </p:nvPr>
        </p:nvSpPr>
        <p:spPr/>
        <p:txBody>
          <a:bodyPr/>
          <a:lstStyle/>
          <a:p>
            <a:pPr>
              <a:defRPr/>
            </a:pPr>
            <a:r>
              <a:rPr lang="en-US" altLang="zh-CN"/>
              <a:t>Computer Network</a:t>
            </a:r>
          </a:p>
        </p:txBody>
      </p:sp>
      <p:sp>
        <p:nvSpPr>
          <p:cNvPr id="53251" name="灯片编号占位符 2"/>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5ACB5952-F22F-477B-B06A-D25F614CB1A0}" type="slidenum">
              <a:rPr lang="en-US" altLang="zh-CN" sz="1200">
                <a:latin typeface="Arial Black" panose="020B0A04020102020204" pitchFamily="34" charset="0"/>
              </a:rPr>
              <a:pPr>
                <a:spcBef>
                  <a:spcPct val="0"/>
                </a:spcBef>
                <a:buClrTx/>
                <a:buSzTx/>
                <a:buFontTx/>
                <a:buNone/>
              </a:pPr>
              <a:t>87</a:t>
            </a:fld>
            <a:endParaRPr lang="en-US" altLang="zh-CN" sz="1200">
              <a:latin typeface="Arial Black" panose="020B0A04020102020204" pitchFamily="34" charset="0"/>
            </a:endParaRPr>
          </a:p>
        </p:txBody>
      </p:sp>
      <p:sp>
        <p:nvSpPr>
          <p:cNvPr id="7" name="日期占位符 3"/>
          <p:cNvSpPr>
            <a:spLocks noGrp="1"/>
          </p:cNvSpPr>
          <p:nvPr>
            <p:ph type="dt" sz="quarter" idx="12"/>
          </p:nvPr>
        </p:nvSpPr>
        <p:spPr/>
        <p:txBody>
          <a:bodyPr/>
          <a:lstStyle/>
          <a:p>
            <a:pPr>
              <a:defRPr/>
            </a:pPr>
            <a:fld id="{54EB5B4D-51C4-439B-93D3-404DDF176FED}" type="datetime1">
              <a:rPr lang="zh-CN" altLang="en-US"/>
              <a:pPr>
                <a:defRPr/>
              </a:pPr>
              <a:t>2024/10/18</a:t>
            </a:fld>
            <a:endParaRPr lang="en-US" altLang="zh-CN"/>
          </a:p>
        </p:txBody>
      </p:sp>
      <p:sp>
        <p:nvSpPr>
          <p:cNvPr id="951301" name="Rectangle 5"/>
          <p:cNvSpPr>
            <a:spLocks noChangeArrowheads="1"/>
          </p:cNvSpPr>
          <p:nvPr/>
        </p:nvSpPr>
        <p:spPr bwMode="auto">
          <a:xfrm>
            <a:off x="2279650" y="814389"/>
            <a:ext cx="7632700" cy="1387475"/>
          </a:xfrm>
          <a:prstGeom prst="rect">
            <a:avLst/>
          </a:prstGeom>
          <a:noFill/>
          <a:ln>
            <a:noFill/>
          </a:ln>
          <a:effectLst/>
        </p:spPr>
        <p:txBody>
          <a:bodyPr lIns="0" tIns="0" rIns="0" bIns="0" anchor="ctr">
            <a:spAutoFit/>
          </a:bodyPr>
          <a:lstStyle/>
          <a:p>
            <a:pPr eaLnBrk="1" hangingPunct="1">
              <a:lnSpc>
                <a:spcPct val="120000"/>
              </a:lnSpc>
              <a:spcBef>
                <a:spcPct val="20000"/>
              </a:spcBef>
              <a:tabLst>
                <a:tab pos="228600" algn="l"/>
              </a:tabLst>
              <a:defRPr/>
            </a:pPr>
            <a:r>
              <a:rPr lang="en-US" altLang="zh-CN" sz="2400">
                <a:solidFill>
                  <a:srgbClr val="0000FF"/>
                </a:solidFill>
                <a:effectLst>
                  <a:outerShdw blurRad="38100" dist="38100" dir="2700000" algn="tl">
                    <a:srgbClr val="C0C0C0"/>
                  </a:outerShdw>
                </a:effectLst>
                <a:latin typeface="Verdana" pitchFamily="34" charset="0"/>
                <a:cs typeface="Times New Roman" pitchFamily="18" charset="0"/>
              </a:rPr>
              <a:t>ARQ</a:t>
            </a:r>
            <a:r>
              <a:rPr lang="zh-CN" altLang="en-US" sz="2400">
                <a:solidFill>
                  <a:srgbClr val="0000FF"/>
                </a:solidFill>
                <a:effectLst>
                  <a:outerShdw blurRad="38100" dist="38100" dir="2700000" algn="tl">
                    <a:srgbClr val="C0C0C0"/>
                  </a:outerShdw>
                </a:effectLst>
                <a:latin typeface="Verdana" pitchFamily="34" charset="0"/>
                <a:cs typeface="Times New Roman" pitchFamily="18" charset="0"/>
              </a:rPr>
              <a:t>协议的主要功能：</a:t>
            </a:r>
          </a:p>
          <a:p>
            <a:pPr>
              <a:lnSpc>
                <a:spcPct val="120000"/>
              </a:lnSpc>
              <a:spcBef>
                <a:spcPct val="20000"/>
              </a:spcBef>
              <a:buFontTx/>
              <a:buAutoNum type="arabicPeriod"/>
              <a:tabLst>
                <a:tab pos="228600" algn="l"/>
              </a:tabLst>
              <a:defRPr/>
            </a:pPr>
            <a:r>
              <a:rPr lang="zh-CN" altLang="en-US" sz="2400">
                <a:latin typeface="Verdana" pitchFamily="34" charset="0"/>
                <a:cs typeface="Times New Roman" pitchFamily="18" charset="0"/>
              </a:rPr>
              <a:t> 在不可靠的链路上</a:t>
            </a:r>
            <a:r>
              <a:rPr lang="zh-CN" altLang="en-US" sz="2400">
                <a:solidFill>
                  <a:srgbClr val="0000FF"/>
                </a:solidFill>
                <a:effectLst>
                  <a:outerShdw blurRad="38100" dist="38100" dir="2700000" algn="tl">
                    <a:srgbClr val="C0C0C0"/>
                  </a:outerShdw>
                </a:effectLst>
                <a:latin typeface="Verdana" pitchFamily="34" charset="0"/>
                <a:cs typeface="Times New Roman" pitchFamily="18" charset="0"/>
              </a:rPr>
              <a:t>实现可靠交付</a:t>
            </a:r>
            <a:r>
              <a:rPr lang="en-US" altLang="zh-CN" sz="2400">
                <a:latin typeface="Verdana" pitchFamily="34" charset="0"/>
                <a:cs typeface="Times New Roman" pitchFamily="18" charset="0"/>
              </a:rPr>
              <a:t>(</a:t>
            </a:r>
            <a:r>
              <a:rPr lang="zh-CN" altLang="en-US" sz="2400">
                <a:latin typeface="Verdana" pitchFamily="34" charset="0"/>
              </a:rPr>
              <a:t>无差错、无丢失、无重复、按顺序</a:t>
            </a:r>
            <a:r>
              <a:rPr lang="en-US" altLang="zh-CN" sz="2400">
                <a:latin typeface="Verdana" pitchFamily="34" charset="0"/>
              </a:rPr>
              <a:t>)</a:t>
            </a:r>
            <a:r>
              <a:rPr lang="zh-CN" altLang="en-US" sz="2400">
                <a:latin typeface="Verdana" pitchFamily="34" charset="0"/>
              </a:rPr>
              <a:t>。所有的重传对上面都是透明的</a:t>
            </a:r>
            <a:r>
              <a:rPr lang="en-US" altLang="zh-CN" sz="2400">
                <a:latin typeface="Verdana" pitchFamily="34" charset="0"/>
              </a:rPr>
              <a:t>.</a:t>
            </a:r>
          </a:p>
        </p:txBody>
      </p:sp>
      <p:graphicFrame>
        <p:nvGraphicFramePr>
          <p:cNvPr id="53254" name="Object 4"/>
          <p:cNvGraphicFramePr>
            <a:graphicFrameLocks noChangeAspect="1"/>
          </p:cNvGraphicFramePr>
          <p:nvPr/>
        </p:nvGraphicFramePr>
        <p:xfrm>
          <a:off x="2278708" y="2398714"/>
          <a:ext cx="7705725" cy="2200275"/>
        </p:xfrm>
        <a:graphic>
          <a:graphicData uri="http://schemas.openxmlformats.org/presentationml/2006/ole">
            <mc:AlternateContent xmlns:mc="http://schemas.openxmlformats.org/markup-compatibility/2006">
              <mc:Choice xmlns:v="urn:schemas-microsoft-com:vml" Requires="v">
                <p:oleObj spid="_x0000_s5125" name="演示文稿" r:id="rId3" imgW="696358" imgH="522731" progId="PowerPoint.Show.8">
                  <p:embed/>
                </p:oleObj>
              </mc:Choice>
              <mc:Fallback>
                <p:oleObj name="演示文稿" r:id="rId3" imgW="696358" imgH="522731" progId="PowerPoint.Show.8">
                  <p:embed/>
                  <p:pic>
                    <p:nvPicPr>
                      <p:cNvPr id="53254" name="Object 4"/>
                      <p:cNvPicPr>
                        <a:picLocks noChangeAspect="1" noChangeArrowheads="1"/>
                      </p:cNvPicPr>
                      <p:nvPr/>
                    </p:nvPicPr>
                    <p:blipFill>
                      <a:blip r:embed="rId4">
                        <a:extLst>
                          <a:ext uri="{28A0092B-C50C-407E-A947-70E740481C1C}">
                            <a14:useLocalDpi xmlns:a14="http://schemas.microsoft.com/office/drawing/2010/main" val="0"/>
                          </a:ext>
                        </a:extLst>
                      </a:blip>
                      <a:srcRect t="2165" b="59833"/>
                      <a:stretch>
                        <a:fillRect/>
                      </a:stretch>
                    </p:blipFill>
                    <p:spPr bwMode="auto">
                      <a:xfrm>
                        <a:off x="2278708" y="2398714"/>
                        <a:ext cx="7705725" cy="2200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3255" name="Rectangle 6"/>
          <p:cNvSpPr>
            <a:spLocks noChangeArrowheads="1"/>
          </p:cNvSpPr>
          <p:nvPr/>
        </p:nvSpPr>
        <p:spPr bwMode="auto">
          <a:xfrm>
            <a:off x="2063750" y="4703764"/>
            <a:ext cx="7920038" cy="1317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nchor="ctr">
            <a:spAutoFit/>
          </a:bodyPr>
          <a:lstStyle>
            <a:lvl1pPr indent="228600">
              <a:spcBef>
                <a:spcPct val="20000"/>
              </a:spcBef>
              <a:buClr>
                <a:schemeClr val="bg2"/>
              </a:buClr>
              <a:buSzPct val="75000"/>
              <a:buFont typeface="Wingdings" panose="05000000000000000000" pitchFamily="2" charset="2"/>
              <a:buChar char="n"/>
              <a:tabLst>
                <a:tab pos="228600" algn="l"/>
              </a:tabLst>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tabLst>
                <a:tab pos="228600" algn="l"/>
              </a:tabLst>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tabLst>
                <a:tab pos="228600" algn="l"/>
              </a:tabLst>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tabLst>
                <a:tab pos="228600" algn="l"/>
              </a:tabLst>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tabLst>
                <a:tab pos="228600" algn="l"/>
              </a:tabLs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tabLst>
                <a:tab pos="228600" algn="l"/>
              </a:tabLs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tabLst>
                <a:tab pos="228600" algn="l"/>
              </a:tabLs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tabLst>
                <a:tab pos="228600" algn="l"/>
              </a:tabLs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tabLst>
                <a:tab pos="228600" algn="l"/>
              </a:tabLst>
              <a:defRPr sz="2000">
                <a:solidFill>
                  <a:schemeClr val="tx1"/>
                </a:solidFill>
                <a:latin typeface="Arial" panose="020B0604020202020204" pitchFamily="34" charset="0"/>
                <a:ea typeface="宋体" panose="02010600030101010101" pitchFamily="2" charset="-122"/>
              </a:defRPr>
            </a:lvl9pPr>
          </a:lstStyle>
          <a:p>
            <a:pPr eaLnBrk="1" hangingPunct="1">
              <a:lnSpc>
                <a:spcPct val="115000"/>
              </a:lnSpc>
              <a:spcBef>
                <a:spcPct val="15000"/>
              </a:spcBef>
              <a:buClrTx/>
              <a:buSzTx/>
              <a:buFontTx/>
              <a:buNone/>
            </a:pPr>
            <a:r>
              <a:rPr lang="en-US" altLang="zh-CN" sz="2400">
                <a:latin typeface="Verdana" panose="020B0604030504040204" pitchFamily="34" charset="0"/>
                <a:ea typeface="楷体_GB2312" pitchFamily="49" charset="-122"/>
                <a:cs typeface="Times New Roman" panose="02020603050405020304" pitchFamily="18" charset="0"/>
              </a:rPr>
              <a:t>2. </a:t>
            </a:r>
            <a:r>
              <a:rPr lang="zh-CN" altLang="en-US" sz="2400" b="1">
                <a:solidFill>
                  <a:srgbClr val="0000FF"/>
                </a:solidFill>
                <a:latin typeface="Verdana" panose="020B0604030504040204" pitchFamily="34" charset="0"/>
                <a:ea typeface="楷体_GB2312" pitchFamily="49" charset="-122"/>
                <a:cs typeface="Times New Roman" panose="02020603050405020304" pitchFamily="18" charset="0"/>
              </a:rPr>
              <a:t>支持了流量控制</a:t>
            </a:r>
            <a:r>
              <a:rPr lang="zh-CN" altLang="en-US" sz="2400">
                <a:latin typeface="Verdana" panose="020B0604030504040204" pitchFamily="34" charset="0"/>
                <a:ea typeface="楷体_GB2312" pitchFamily="49" charset="-122"/>
                <a:cs typeface="Times New Roman" panose="02020603050405020304" pitchFamily="18" charset="0"/>
              </a:rPr>
              <a:t>。</a:t>
            </a:r>
          </a:p>
          <a:p>
            <a:pPr>
              <a:lnSpc>
                <a:spcPct val="115000"/>
              </a:lnSpc>
              <a:spcBef>
                <a:spcPct val="15000"/>
              </a:spcBef>
              <a:buClrTx/>
              <a:buSzTx/>
              <a:buFontTx/>
              <a:buNone/>
            </a:pPr>
            <a:r>
              <a:rPr lang="zh-CN" altLang="en-US" sz="2400">
                <a:latin typeface="Verdana" panose="020B0604030504040204" pitchFamily="34" charset="0"/>
                <a:ea typeface="楷体_GB2312" pitchFamily="49" charset="-122"/>
                <a:cs typeface="Times New Roman" panose="02020603050405020304" pitchFamily="18" charset="0"/>
              </a:rPr>
              <a:t> 当接收端来不及接收时，就可以通过暂时不发送确认帧来降低发送端发送数据帧的速率。</a:t>
            </a:r>
          </a:p>
        </p:txBody>
      </p:sp>
      <p:sp>
        <p:nvSpPr>
          <p:cNvPr id="3" name="TextBox 2">
            <a:extLst>
              <a:ext uri="{FF2B5EF4-FFF2-40B4-BE49-F238E27FC236}">
                <a16:creationId xmlns:a16="http://schemas.microsoft.com/office/drawing/2014/main" id="{18E31DD4-C7D7-DA05-B07F-F0AC08D9906E}"/>
              </a:ext>
            </a:extLst>
          </p:cNvPr>
          <p:cNvSpPr txBox="1"/>
          <p:nvPr/>
        </p:nvSpPr>
        <p:spPr>
          <a:xfrm>
            <a:off x="2099733" y="229483"/>
            <a:ext cx="6096000" cy="480131"/>
          </a:xfrm>
          <a:prstGeom prst="rect">
            <a:avLst/>
          </a:prstGeom>
          <a:noFill/>
        </p:spPr>
        <p:txBody>
          <a:bodyPr wrap="square">
            <a:spAutoFit/>
          </a:bodyPr>
          <a:lstStyle/>
          <a:p>
            <a:pPr eaLnBrk="1" hangingPunct="1">
              <a:lnSpc>
                <a:spcPct val="90000"/>
              </a:lnSpc>
              <a:buSzPct val="90000"/>
              <a:buFont typeface="Wingdings" panose="05000000000000000000" pitchFamily="2" charset="2"/>
              <a:buChar char="§"/>
              <a:defRPr/>
            </a:pPr>
            <a:r>
              <a:rPr lang="en-US" altLang="zh-CN" sz="2800" dirty="0">
                <a:solidFill>
                  <a:srgbClr val="0000FF"/>
                </a:solidFill>
                <a:effectLst>
                  <a:outerShdw blurRad="38100" dist="38100" dir="2700000" algn="tl">
                    <a:srgbClr val="C0C0C0"/>
                  </a:outerShdw>
                </a:effectLst>
                <a:ea typeface="楷体_GB2312" pitchFamily="49" charset="-122"/>
              </a:rPr>
              <a:t>A</a:t>
            </a:r>
            <a:r>
              <a:rPr lang="en-US" altLang="zh-CN" sz="2800" dirty="0">
                <a:ea typeface="楷体_GB2312" pitchFamily="49" charset="-122"/>
              </a:rPr>
              <a:t>utomatic </a:t>
            </a:r>
            <a:r>
              <a:rPr lang="en-US" altLang="zh-CN" sz="2800" dirty="0">
                <a:solidFill>
                  <a:srgbClr val="0000FF"/>
                </a:solidFill>
                <a:effectLst>
                  <a:outerShdw blurRad="38100" dist="38100" dir="2700000" algn="tl">
                    <a:srgbClr val="C0C0C0"/>
                  </a:outerShdw>
                </a:effectLst>
                <a:ea typeface="楷体_GB2312" pitchFamily="49" charset="-122"/>
              </a:rPr>
              <a:t>R</a:t>
            </a:r>
            <a:r>
              <a:rPr lang="en-US" altLang="zh-CN" sz="2800" dirty="0">
                <a:ea typeface="楷体_GB2312" pitchFamily="49" charset="-122"/>
              </a:rPr>
              <a:t>epeat </a:t>
            </a:r>
            <a:r>
              <a:rPr lang="en-US" altLang="zh-CN" sz="2800" dirty="0" err="1">
                <a:ea typeface="楷体_GB2312" pitchFamily="49" charset="-122"/>
              </a:rPr>
              <a:t>re</a:t>
            </a:r>
            <a:r>
              <a:rPr lang="en-US" altLang="zh-CN" sz="2800" dirty="0" err="1">
                <a:solidFill>
                  <a:srgbClr val="0000FF"/>
                </a:solidFill>
                <a:effectLst>
                  <a:outerShdw blurRad="38100" dist="38100" dir="2700000" algn="tl">
                    <a:srgbClr val="C0C0C0"/>
                  </a:outerShdw>
                </a:effectLst>
                <a:ea typeface="楷体_GB2312" pitchFamily="49" charset="-122"/>
              </a:rPr>
              <a:t>Q</a:t>
            </a:r>
            <a:r>
              <a:rPr lang="en-US" altLang="zh-CN" sz="2800" dirty="0" err="1">
                <a:ea typeface="楷体_GB2312" pitchFamily="49" charset="-122"/>
              </a:rPr>
              <a:t>uest</a:t>
            </a:r>
            <a:endParaRPr lang="en-US" altLang="zh-CN" sz="2800" dirty="0">
              <a:ea typeface="楷体_GB2312" pitchFamily="49" charset="-122"/>
            </a:endParaRPr>
          </a:p>
        </p:txBody>
      </p:sp>
    </p:spTree>
    <p:extLst>
      <p:ext uri="{BB962C8B-B14F-4D97-AF65-F5344CB8AC3E}">
        <p14:creationId xmlns:p14="http://schemas.microsoft.com/office/powerpoint/2010/main" val="1135481143"/>
      </p:ext>
    </p:extLst>
  </p:cSld>
  <p:clrMapOvr>
    <a:masterClrMapping/>
  </p:clrMapOvr>
  <p:transition spd="slow">
    <p:pull dir="ru"/>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Computer Network</a:t>
            </a:r>
          </a:p>
        </p:txBody>
      </p:sp>
      <p:sp>
        <p:nvSpPr>
          <p:cNvPr id="46083" name="灯片编号占位符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1DC67153-1410-4D8C-B305-7FD3E3EA63D1}" type="slidenum">
              <a:rPr lang="en-US" altLang="zh-CN" sz="1200">
                <a:latin typeface="Arial Black" panose="020B0A04020102020204" pitchFamily="34" charset="0"/>
              </a:rPr>
              <a:pPr>
                <a:spcBef>
                  <a:spcPct val="0"/>
                </a:spcBef>
                <a:buClrTx/>
                <a:buSzTx/>
                <a:buFontTx/>
                <a:buNone/>
              </a:pPr>
              <a:t>88</a:t>
            </a:fld>
            <a:endParaRPr lang="en-US" altLang="zh-CN" sz="1200">
              <a:latin typeface="Arial Black" panose="020B0A04020102020204" pitchFamily="34" charset="0"/>
            </a:endParaRPr>
          </a:p>
        </p:txBody>
      </p:sp>
      <p:sp>
        <p:nvSpPr>
          <p:cNvPr id="6" name="日期占位符 5"/>
          <p:cNvSpPr>
            <a:spLocks noGrp="1"/>
          </p:cNvSpPr>
          <p:nvPr>
            <p:ph type="dt" sz="quarter" idx="12"/>
          </p:nvPr>
        </p:nvSpPr>
        <p:spPr/>
        <p:txBody>
          <a:bodyPr/>
          <a:lstStyle/>
          <a:p>
            <a:pPr>
              <a:defRPr/>
            </a:pPr>
            <a:fld id="{31214D5B-4C82-41E1-A9DB-82FB3C0D44F4}" type="datetime1">
              <a:rPr lang="zh-CN" altLang="en-US"/>
              <a:pPr>
                <a:defRPr/>
              </a:pPr>
              <a:t>2024/10/18</a:t>
            </a:fld>
            <a:endParaRPr lang="en-US" altLang="zh-CN"/>
          </a:p>
        </p:txBody>
      </p:sp>
      <p:sp>
        <p:nvSpPr>
          <p:cNvPr id="865282" name="Rectangle 2"/>
          <p:cNvSpPr>
            <a:spLocks noGrp="1" noChangeArrowheads="1"/>
          </p:cNvSpPr>
          <p:nvPr>
            <p:ph type="title"/>
          </p:nvPr>
        </p:nvSpPr>
        <p:spPr>
          <a:xfrm>
            <a:off x="1925782" y="472281"/>
            <a:ext cx="7715250" cy="588963"/>
          </a:xfrm>
        </p:spPr>
        <p:txBody>
          <a:bodyPr>
            <a:normAutofit fontScale="90000"/>
          </a:bodyPr>
          <a:lstStyle/>
          <a:p>
            <a:pPr algn="ctr" eaLnBrk="1" hangingPunct="1">
              <a:defRPr/>
            </a:pPr>
            <a:r>
              <a:rPr lang="zh-CN" altLang="en-US" b="1" dirty="0">
                <a:solidFill>
                  <a:srgbClr val="FF0000"/>
                </a:solidFill>
                <a:latin typeface="Georgia" panose="02040502050405020303" pitchFamily="18" charset="0"/>
              </a:rPr>
              <a:t>滑动窗口协议</a:t>
            </a:r>
          </a:p>
        </p:txBody>
      </p:sp>
      <p:sp>
        <p:nvSpPr>
          <p:cNvPr id="865283" name="Rectangle 3"/>
          <p:cNvSpPr>
            <a:spLocks noGrp="1" noChangeArrowheads="1"/>
          </p:cNvSpPr>
          <p:nvPr>
            <p:ph type="body" idx="1"/>
          </p:nvPr>
        </p:nvSpPr>
        <p:spPr>
          <a:xfrm>
            <a:off x="2286000" y="2057400"/>
            <a:ext cx="7772400" cy="2895600"/>
          </a:xfrm>
        </p:spPr>
        <p:txBody>
          <a:bodyPr/>
          <a:lstStyle/>
          <a:p>
            <a:pPr eaLnBrk="1" hangingPunct="1">
              <a:lnSpc>
                <a:spcPct val="115000"/>
              </a:lnSpc>
              <a:buFont typeface="Wingdings" panose="05000000000000000000" pitchFamily="2" charset="2"/>
              <a:buNone/>
              <a:defRPr/>
            </a:pPr>
            <a:r>
              <a:rPr lang="zh-CN" altLang="en-US" sz="2800" b="1" dirty="0">
                <a:solidFill>
                  <a:srgbClr val="FF0000"/>
                </a:solidFill>
                <a:effectLst>
                  <a:outerShdw blurRad="38100" dist="38100" dir="2700000" algn="tl">
                    <a:srgbClr val="C0C0C0"/>
                  </a:outerShdw>
                </a:effectLst>
                <a:latin typeface="Verdana" pitchFamily="34" charset="0"/>
                <a:ea typeface="楷体_GB2312" pitchFamily="49" charset="-122"/>
              </a:rPr>
              <a:t>一．条件：</a:t>
            </a:r>
          </a:p>
          <a:p>
            <a:pPr eaLnBrk="1" hangingPunct="1">
              <a:lnSpc>
                <a:spcPct val="115000"/>
              </a:lnSpc>
              <a:buFont typeface="Wingdings" panose="05000000000000000000" pitchFamily="2" charset="2"/>
              <a:buNone/>
              <a:defRPr/>
            </a:pPr>
            <a:r>
              <a:rPr lang="zh-CN" altLang="en-US" sz="2400" dirty="0">
                <a:latin typeface="Verdana" pitchFamily="34" charset="0"/>
                <a:ea typeface="楷体_GB2312" pitchFamily="49" charset="-122"/>
              </a:rPr>
              <a:t>         </a:t>
            </a:r>
            <a:r>
              <a:rPr lang="en-US" altLang="zh-CN" sz="2400" dirty="0">
                <a:latin typeface="Verdana" pitchFamily="34" charset="0"/>
                <a:ea typeface="楷体_GB2312" pitchFamily="49" charset="-122"/>
              </a:rPr>
              <a:t>1</a:t>
            </a:r>
            <a:r>
              <a:rPr lang="zh-CN" altLang="en-US" sz="2400" dirty="0">
                <a:latin typeface="Verdana" pitchFamily="34" charset="0"/>
                <a:ea typeface="楷体_GB2312" pitchFamily="49" charset="-122"/>
              </a:rPr>
              <a:t>．</a:t>
            </a:r>
            <a:r>
              <a:rPr lang="zh-CN" altLang="en-US" sz="2400" b="1" dirty="0">
                <a:solidFill>
                  <a:srgbClr val="FF3300"/>
                </a:solidFill>
                <a:effectLst>
                  <a:outerShdw blurRad="38100" dist="38100" dir="2700000" algn="tl">
                    <a:srgbClr val="C0C0C0"/>
                  </a:outerShdw>
                </a:effectLst>
                <a:latin typeface="Verdana" pitchFamily="34" charset="0"/>
                <a:ea typeface="楷体_GB2312" pitchFamily="49" charset="-122"/>
              </a:rPr>
              <a:t>双向数据传送；</a:t>
            </a:r>
          </a:p>
          <a:p>
            <a:pPr eaLnBrk="1" hangingPunct="1">
              <a:lnSpc>
                <a:spcPct val="115000"/>
              </a:lnSpc>
              <a:buFont typeface="Wingdings" panose="05000000000000000000" pitchFamily="2" charset="2"/>
              <a:buNone/>
              <a:defRPr/>
            </a:pPr>
            <a:r>
              <a:rPr lang="zh-CN" altLang="en-US" sz="2400" dirty="0">
                <a:latin typeface="Verdana" pitchFamily="34" charset="0"/>
                <a:ea typeface="楷体_GB2312" pitchFamily="49" charset="-122"/>
              </a:rPr>
              <a:t>         </a:t>
            </a:r>
            <a:r>
              <a:rPr lang="en-US" altLang="zh-CN" sz="2400" dirty="0">
                <a:latin typeface="Verdana" pitchFamily="34" charset="0"/>
                <a:ea typeface="楷体_GB2312" pitchFamily="49" charset="-122"/>
              </a:rPr>
              <a:t>2</a:t>
            </a:r>
            <a:r>
              <a:rPr lang="zh-CN" altLang="en-US" sz="2400" dirty="0">
                <a:latin typeface="Verdana" pitchFamily="34" charset="0"/>
                <a:ea typeface="楷体_GB2312" pitchFamily="49" charset="-122"/>
              </a:rPr>
              <a:t>．网络层总是准备好分组发送；</a:t>
            </a:r>
          </a:p>
          <a:p>
            <a:pPr eaLnBrk="1" hangingPunct="1">
              <a:lnSpc>
                <a:spcPct val="115000"/>
              </a:lnSpc>
              <a:buFont typeface="Wingdings" panose="05000000000000000000" pitchFamily="2" charset="2"/>
              <a:buNone/>
              <a:defRPr/>
            </a:pPr>
            <a:r>
              <a:rPr lang="zh-CN" altLang="en-US" sz="2400" dirty="0">
                <a:solidFill>
                  <a:srgbClr val="0000FF"/>
                </a:solidFill>
                <a:latin typeface="Verdana" pitchFamily="34" charset="0"/>
                <a:ea typeface="楷体_GB2312" pitchFamily="49" charset="-122"/>
              </a:rPr>
              <a:t>         </a:t>
            </a:r>
            <a:r>
              <a:rPr lang="en-US" altLang="zh-CN" sz="2400" dirty="0">
                <a:solidFill>
                  <a:srgbClr val="0000FF"/>
                </a:solidFill>
                <a:latin typeface="Verdana" pitchFamily="34" charset="0"/>
                <a:ea typeface="楷体_GB2312" pitchFamily="49" charset="-122"/>
              </a:rPr>
              <a:t>3</a:t>
            </a:r>
            <a:r>
              <a:rPr lang="zh-CN" altLang="en-US" sz="2400" dirty="0">
                <a:solidFill>
                  <a:srgbClr val="0000FF"/>
                </a:solidFill>
                <a:latin typeface="Verdana" pitchFamily="34" charset="0"/>
                <a:ea typeface="楷体_GB2312" pitchFamily="49" charset="-122"/>
              </a:rPr>
              <a:t>．有错通道；</a:t>
            </a:r>
          </a:p>
          <a:p>
            <a:pPr eaLnBrk="1" hangingPunct="1">
              <a:lnSpc>
                <a:spcPct val="115000"/>
              </a:lnSpc>
              <a:buFont typeface="Wingdings" panose="05000000000000000000" pitchFamily="2" charset="2"/>
              <a:buNone/>
              <a:defRPr/>
            </a:pPr>
            <a:r>
              <a:rPr lang="zh-CN" altLang="en-US" sz="2400" dirty="0">
                <a:solidFill>
                  <a:schemeClr val="hlink"/>
                </a:solidFill>
                <a:latin typeface="Verdana" pitchFamily="34" charset="0"/>
                <a:ea typeface="楷体_GB2312" pitchFamily="49" charset="-122"/>
              </a:rPr>
              <a:t>         </a:t>
            </a:r>
            <a:r>
              <a:rPr lang="en-US" altLang="zh-CN" sz="2400" dirty="0">
                <a:solidFill>
                  <a:srgbClr val="0000FF"/>
                </a:solidFill>
                <a:latin typeface="Verdana" pitchFamily="34" charset="0"/>
                <a:ea typeface="楷体_GB2312" pitchFamily="49" charset="-122"/>
              </a:rPr>
              <a:t>4</a:t>
            </a:r>
            <a:r>
              <a:rPr lang="zh-CN" altLang="en-US" sz="2400" dirty="0">
                <a:solidFill>
                  <a:srgbClr val="0000FF"/>
                </a:solidFill>
                <a:latin typeface="Verdana" pitchFamily="34" charset="0"/>
                <a:ea typeface="楷体_GB2312" pitchFamily="49" charset="-122"/>
              </a:rPr>
              <a:t>．</a:t>
            </a:r>
            <a:r>
              <a:rPr lang="en-US" altLang="zh-CN" sz="2400" dirty="0">
                <a:solidFill>
                  <a:srgbClr val="0000FF"/>
                </a:solidFill>
                <a:latin typeface="Verdana" pitchFamily="34" charset="0"/>
                <a:ea typeface="楷体_GB2312" pitchFamily="49" charset="-122"/>
              </a:rPr>
              <a:t>DLL</a:t>
            </a:r>
            <a:r>
              <a:rPr lang="zh-CN" altLang="en-US" sz="2400" dirty="0">
                <a:solidFill>
                  <a:srgbClr val="0000FF"/>
                </a:solidFill>
                <a:latin typeface="Verdana" pitchFamily="34" charset="0"/>
                <a:ea typeface="楷体_GB2312" pitchFamily="49" charset="-122"/>
              </a:rPr>
              <a:t>层处理速度有限</a:t>
            </a:r>
            <a:r>
              <a:rPr lang="zh-CN" altLang="en-US" sz="2400" dirty="0">
                <a:latin typeface="Verdana" pitchFamily="34" charset="0"/>
                <a:ea typeface="楷体_GB2312" pitchFamily="49" charset="-122"/>
              </a:rPr>
              <a:t> 。        </a:t>
            </a:r>
          </a:p>
        </p:txBody>
      </p:sp>
    </p:spTree>
  </p:cSld>
  <p:clrMapOvr>
    <a:masterClrMapping/>
  </p:clrMapOvr>
  <p:transition>
    <p:random/>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Computer Network</a:t>
            </a:r>
          </a:p>
        </p:txBody>
      </p:sp>
      <p:sp>
        <p:nvSpPr>
          <p:cNvPr id="5" name="灯片编号占位符 4"/>
          <p:cNvSpPr>
            <a:spLocks noGrp="1"/>
          </p:cNvSpPr>
          <p:nvPr>
            <p:ph type="sldNum" sz="quarter" idx="11"/>
          </p:nvPr>
        </p:nvSpPr>
        <p:spPr/>
        <p:txBody>
          <a:bodyPr/>
          <a:lstStyle/>
          <a:p>
            <a:pPr>
              <a:defRPr/>
            </a:pPr>
            <a:fld id="{8ADB66EE-6F9B-4BDF-8D47-5965EC809606}" type="slidenum">
              <a:rPr lang="en-US" altLang="zh-CN" smtClean="0"/>
              <a:pPr>
                <a:defRPr/>
              </a:pPr>
              <a:t>89</a:t>
            </a:fld>
            <a:endParaRPr lang="en-US" altLang="zh-CN"/>
          </a:p>
        </p:txBody>
      </p:sp>
      <p:sp>
        <p:nvSpPr>
          <p:cNvPr id="6" name="日期占位符 5"/>
          <p:cNvSpPr>
            <a:spLocks noGrp="1"/>
          </p:cNvSpPr>
          <p:nvPr>
            <p:ph type="dt" sz="half" idx="12"/>
          </p:nvPr>
        </p:nvSpPr>
        <p:spPr/>
        <p:txBody>
          <a:bodyPr/>
          <a:lstStyle/>
          <a:p>
            <a:pPr>
              <a:defRPr/>
            </a:pPr>
            <a:fld id="{9F3F7983-BD93-4701-BA16-3BC805069EE1}" type="datetime1">
              <a:rPr lang="zh-CN" altLang="en-US" smtClean="0"/>
              <a:pPr>
                <a:defRPr/>
              </a:pPr>
              <a:t>2024/10/18</a:t>
            </a:fld>
            <a:endParaRPr lang="en-US" altLang="zh-CN"/>
          </a:p>
        </p:txBody>
      </p:sp>
      <p:pic>
        <p:nvPicPr>
          <p:cNvPr id="7" name="图片 6"/>
          <p:cNvPicPr>
            <a:picLocks noChangeAspect="1"/>
          </p:cNvPicPr>
          <p:nvPr/>
        </p:nvPicPr>
        <p:blipFill rotWithShape="1">
          <a:blip r:embed="rId2"/>
          <a:srcRect r="11145"/>
          <a:stretch/>
        </p:blipFill>
        <p:spPr>
          <a:xfrm>
            <a:off x="767408" y="0"/>
            <a:ext cx="10335618" cy="5918876"/>
          </a:xfrm>
          <a:prstGeom prst="rect">
            <a:avLst/>
          </a:prstGeom>
        </p:spPr>
      </p:pic>
    </p:spTree>
    <p:extLst>
      <p:ext uri="{BB962C8B-B14F-4D97-AF65-F5344CB8AC3E}">
        <p14:creationId xmlns:p14="http://schemas.microsoft.com/office/powerpoint/2010/main" val="2892210682"/>
      </p:ext>
    </p:extLst>
  </p:cSld>
  <p:clrMapOvr>
    <a:masterClrMapping/>
  </p:clrMapOvr>
  <p:transition spd="slow">
    <p:pull dir="ru"/>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Computer Network</a:t>
            </a:r>
          </a:p>
        </p:txBody>
      </p:sp>
      <p:sp>
        <p:nvSpPr>
          <p:cNvPr id="47107" name="灯片编号占位符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AC883D96-4F6D-4B0E-915E-F2AB330BAF87}" type="slidenum">
              <a:rPr lang="en-US" altLang="zh-CN" sz="1200">
                <a:latin typeface="Arial Black" panose="020B0A04020102020204" pitchFamily="34" charset="0"/>
              </a:rPr>
              <a:pPr>
                <a:spcBef>
                  <a:spcPct val="0"/>
                </a:spcBef>
                <a:buClrTx/>
                <a:buSzTx/>
                <a:buFontTx/>
                <a:buNone/>
              </a:pPr>
              <a:t>90</a:t>
            </a:fld>
            <a:endParaRPr lang="en-US" altLang="zh-CN" sz="1200">
              <a:latin typeface="Arial Black" panose="020B0A04020102020204" pitchFamily="34" charset="0"/>
            </a:endParaRPr>
          </a:p>
        </p:txBody>
      </p:sp>
      <p:sp>
        <p:nvSpPr>
          <p:cNvPr id="6" name="日期占位符 5"/>
          <p:cNvSpPr>
            <a:spLocks noGrp="1"/>
          </p:cNvSpPr>
          <p:nvPr>
            <p:ph type="dt" sz="quarter" idx="12"/>
          </p:nvPr>
        </p:nvSpPr>
        <p:spPr/>
        <p:txBody>
          <a:bodyPr/>
          <a:lstStyle/>
          <a:p>
            <a:pPr>
              <a:defRPr/>
            </a:pPr>
            <a:fld id="{8B4918FA-7971-4BC2-A965-1C4CEEF4329B}" type="datetime1">
              <a:rPr lang="zh-CN" altLang="en-US"/>
              <a:pPr>
                <a:defRPr/>
              </a:pPr>
              <a:t>2024/10/18</a:t>
            </a:fld>
            <a:endParaRPr lang="en-US" altLang="zh-CN"/>
          </a:p>
        </p:txBody>
      </p:sp>
      <p:sp>
        <p:nvSpPr>
          <p:cNvPr id="866306" name="Rectangle 2"/>
          <p:cNvSpPr>
            <a:spLocks noGrp="1" noChangeArrowheads="1"/>
          </p:cNvSpPr>
          <p:nvPr>
            <p:ph type="title"/>
          </p:nvPr>
        </p:nvSpPr>
        <p:spPr>
          <a:xfrm>
            <a:off x="2133600" y="728137"/>
            <a:ext cx="6699250" cy="482600"/>
          </a:xfrm>
        </p:spPr>
        <p:txBody>
          <a:bodyPr/>
          <a:lstStyle/>
          <a:p>
            <a:pPr eaLnBrk="1" hangingPunct="1">
              <a:defRPr/>
            </a:pPr>
            <a:r>
              <a:rPr lang="zh-CN" altLang="en-US" sz="2800" b="1">
                <a:solidFill>
                  <a:srgbClr val="0000FF"/>
                </a:solidFill>
              </a:rPr>
              <a:t>二、窗口 </a:t>
            </a:r>
            <a:r>
              <a:rPr lang="en-US" altLang="zh-CN" sz="2400">
                <a:solidFill>
                  <a:srgbClr val="0000FF"/>
                </a:solidFill>
              </a:rPr>
              <a:t>(</a:t>
            </a:r>
            <a:r>
              <a:rPr lang="zh-CN" altLang="en-US" sz="2400">
                <a:solidFill>
                  <a:srgbClr val="0000FF"/>
                </a:solidFill>
              </a:rPr>
              <a:t>任何一端均有两个窗口</a:t>
            </a:r>
            <a:r>
              <a:rPr lang="en-US" altLang="zh-CN" sz="2400">
                <a:solidFill>
                  <a:srgbClr val="0000FF"/>
                </a:solidFill>
              </a:rPr>
              <a:t>)</a:t>
            </a:r>
          </a:p>
        </p:txBody>
      </p:sp>
      <p:sp>
        <p:nvSpPr>
          <p:cNvPr id="866307" name="Rectangle 3"/>
          <p:cNvSpPr>
            <a:spLocks noGrp="1" noChangeArrowheads="1"/>
          </p:cNvSpPr>
          <p:nvPr>
            <p:ph type="body" idx="1"/>
          </p:nvPr>
        </p:nvSpPr>
        <p:spPr>
          <a:xfrm>
            <a:off x="2208213" y="1628775"/>
            <a:ext cx="7543800" cy="4489450"/>
          </a:xfrm>
        </p:spPr>
        <p:txBody>
          <a:bodyPr/>
          <a:lstStyle/>
          <a:p>
            <a:pPr eaLnBrk="1" hangingPunct="1">
              <a:lnSpc>
                <a:spcPct val="120000"/>
              </a:lnSpc>
              <a:buFont typeface="Wingdings" panose="05000000000000000000" pitchFamily="2" charset="2"/>
              <a:buNone/>
              <a:defRPr/>
            </a:pPr>
            <a:r>
              <a:rPr lang="en-US" altLang="zh-CN" sz="2400" dirty="0">
                <a:solidFill>
                  <a:srgbClr val="0000FF"/>
                </a:solidFill>
                <a:latin typeface="Verdana" pitchFamily="34" charset="0"/>
                <a:ea typeface="楷体_GB2312" pitchFamily="49" charset="-122"/>
              </a:rPr>
              <a:t>1</a:t>
            </a:r>
            <a:r>
              <a:rPr lang="zh-CN" altLang="en-US" sz="2400" dirty="0">
                <a:solidFill>
                  <a:srgbClr val="0000FF"/>
                </a:solidFill>
                <a:latin typeface="Verdana" pitchFamily="34" charset="0"/>
                <a:ea typeface="楷体_GB2312" pitchFamily="49" charset="-122"/>
              </a:rPr>
              <a:t>．</a:t>
            </a:r>
            <a:r>
              <a:rPr lang="zh-CN" altLang="en-US" sz="2400" b="1" dirty="0">
                <a:solidFill>
                  <a:srgbClr val="0000FF"/>
                </a:solidFill>
                <a:latin typeface="Verdana" pitchFamily="34" charset="0"/>
                <a:ea typeface="楷体_GB2312" pitchFamily="49" charset="-122"/>
              </a:rPr>
              <a:t>发送窗口</a:t>
            </a:r>
            <a:r>
              <a:rPr lang="en-US" altLang="zh-CN" sz="2400" dirty="0">
                <a:solidFill>
                  <a:srgbClr val="0000FF"/>
                </a:solidFill>
                <a:latin typeface="Verdana" pitchFamily="34" charset="0"/>
                <a:ea typeface="楷体_GB2312" pitchFamily="49" charset="-122"/>
              </a:rPr>
              <a:t>(W</a:t>
            </a:r>
            <a:r>
              <a:rPr lang="en-US" altLang="zh-CN" sz="2400" baseline="-25000" dirty="0">
                <a:solidFill>
                  <a:srgbClr val="0000FF"/>
                </a:solidFill>
                <a:latin typeface="Verdana" pitchFamily="34" charset="0"/>
                <a:ea typeface="楷体_GB2312" pitchFamily="49" charset="-122"/>
              </a:rPr>
              <a:t>T</a:t>
            </a:r>
            <a:r>
              <a:rPr lang="en-US" altLang="zh-CN" sz="2400" dirty="0">
                <a:solidFill>
                  <a:srgbClr val="0000FF"/>
                </a:solidFill>
                <a:latin typeface="Verdana" pitchFamily="34" charset="0"/>
                <a:ea typeface="楷体_GB2312" pitchFamily="49" charset="-122"/>
              </a:rPr>
              <a:t>)</a:t>
            </a:r>
            <a:r>
              <a:rPr lang="zh-CN" altLang="en-US" sz="2400" dirty="0">
                <a:solidFill>
                  <a:srgbClr val="0000FF"/>
                </a:solidFill>
                <a:latin typeface="Verdana" pitchFamily="34" charset="0"/>
                <a:ea typeface="楷体_GB2312" pitchFamily="49" charset="-122"/>
              </a:rPr>
              <a:t>：</a:t>
            </a:r>
            <a:r>
              <a:rPr lang="zh-CN" altLang="en-US" sz="2400" dirty="0">
                <a:solidFill>
                  <a:schemeClr val="tx2"/>
                </a:solidFill>
                <a:latin typeface="Verdana" pitchFamily="34" charset="0"/>
                <a:ea typeface="楷体_GB2312" pitchFamily="49" charset="-122"/>
              </a:rPr>
              <a:t>存放已发出但未确认的</a:t>
            </a:r>
            <a:r>
              <a:rPr lang="zh-CN" altLang="en-US" sz="2400" dirty="0">
                <a:solidFill>
                  <a:srgbClr val="0000FF"/>
                </a:solidFill>
                <a:effectLst>
                  <a:outerShdw blurRad="38100" dist="38100" dir="2700000" algn="tl">
                    <a:srgbClr val="C0C0C0"/>
                  </a:outerShdw>
                </a:effectLst>
                <a:latin typeface="Verdana" pitchFamily="34" charset="0"/>
                <a:ea typeface="楷体_GB2312" pitchFamily="49" charset="-122"/>
              </a:rPr>
              <a:t>帧序号</a:t>
            </a:r>
          </a:p>
          <a:p>
            <a:pPr eaLnBrk="1" hangingPunct="1">
              <a:lnSpc>
                <a:spcPct val="120000"/>
              </a:lnSpc>
              <a:buFont typeface="Wingdings" panose="05000000000000000000" pitchFamily="2" charset="2"/>
              <a:buNone/>
              <a:defRPr/>
            </a:pPr>
            <a:r>
              <a:rPr lang="zh-CN" altLang="en-US" sz="2400" dirty="0">
                <a:latin typeface="Verdana" pitchFamily="34" charset="0"/>
                <a:ea typeface="楷体_GB2312" pitchFamily="49" charset="-122"/>
              </a:rPr>
              <a:t>	</a:t>
            </a:r>
            <a:r>
              <a:rPr lang="en-US" altLang="zh-CN" sz="2400" dirty="0">
                <a:latin typeface="Verdana" pitchFamily="34" charset="0"/>
                <a:ea typeface="楷体_GB2312" pitchFamily="49" charset="-122"/>
              </a:rPr>
              <a:t>1) </a:t>
            </a:r>
            <a:r>
              <a:rPr lang="zh-CN" altLang="en-US" sz="2400" dirty="0">
                <a:latin typeface="Verdana" pitchFamily="34" charset="0"/>
                <a:ea typeface="楷体_GB2312" pitchFamily="49" charset="-122"/>
              </a:rPr>
              <a:t>发帧</a:t>
            </a:r>
            <a:r>
              <a:rPr lang="en-US" altLang="zh-CN" sz="2400" dirty="0">
                <a:latin typeface="Verdana" pitchFamily="34" charset="0"/>
                <a:ea typeface="楷体_GB2312" pitchFamily="49" charset="-122"/>
              </a:rPr>
              <a:t>(</a:t>
            </a:r>
            <a:r>
              <a:rPr lang="zh-CN" altLang="en-US" sz="2400" dirty="0">
                <a:latin typeface="Verdana" pitchFamily="34" charset="0"/>
                <a:ea typeface="楷体_GB2312" pitchFamily="49" charset="-122"/>
              </a:rPr>
              <a:t>帧存入缓冲区</a:t>
            </a:r>
            <a:r>
              <a:rPr lang="en-US" altLang="zh-CN" sz="2400" dirty="0">
                <a:latin typeface="Verdana" pitchFamily="34" charset="0"/>
                <a:ea typeface="楷体_GB2312" pitchFamily="49" charset="-122"/>
              </a:rPr>
              <a:t>)</a:t>
            </a:r>
            <a:r>
              <a:rPr lang="zh-CN" altLang="en-US" sz="2400" dirty="0">
                <a:latin typeface="Verdana" pitchFamily="34" charset="0"/>
                <a:ea typeface="楷体_GB2312" pitchFamily="49" charset="-122"/>
              </a:rPr>
              <a:t>，上界加</a:t>
            </a:r>
            <a:r>
              <a:rPr lang="en-US" altLang="zh-CN" sz="2400" dirty="0">
                <a:latin typeface="Verdana" pitchFamily="34" charset="0"/>
                <a:ea typeface="楷体_GB2312" pitchFamily="49" charset="-122"/>
              </a:rPr>
              <a:t>1</a:t>
            </a:r>
          </a:p>
          <a:p>
            <a:pPr eaLnBrk="1" hangingPunct="1">
              <a:lnSpc>
                <a:spcPct val="120000"/>
              </a:lnSpc>
              <a:buFont typeface="Wingdings" panose="05000000000000000000" pitchFamily="2" charset="2"/>
              <a:buNone/>
              <a:defRPr/>
            </a:pPr>
            <a:r>
              <a:rPr lang="en-US" altLang="zh-CN" sz="2400" dirty="0">
                <a:latin typeface="Verdana" pitchFamily="34" charset="0"/>
                <a:ea typeface="楷体_GB2312" pitchFamily="49" charset="-122"/>
              </a:rPr>
              <a:t>	2) </a:t>
            </a:r>
            <a:r>
              <a:rPr lang="zh-CN" altLang="en-US" sz="2400" dirty="0">
                <a:latin typeface="Verdana" pitchFamily="34" charset="0"/>
                <a:ea typeface="楷体_GB2312" pitchFamily="49" charset="-122"/>
              </a:rPr>
              <a:t>收到窗口下界</a:t>
            </a:r>
            <a:r>
              <a:rPr lang="en-US" altLang="zh-CN" sz="2400" dirty="0">
                <a:latin typeface="Verdana" pitchFamily="34" charset="0"/>
                <a:ea typeface="楷体_GB2312" pitchFamily="49" charset="-122"/>
              </a:rPr>
              <a:t>ACK</a:t>
            </a:r>
            <a:r>
              <a:rPr lang="zh-CN" altLang="en-US" sz="2400" dirty="0">
                <a:latin typeface="Verdana" pitchFamily="34" charset="0"/>
                <a:ea typeface="楷体_GB2312" pitchFamily="49" charset="-122"/>
              </a:rPr>
              <a:t>信息，下界加</a:t>
            </a:r>
            <a:r>
              <a:rPr lang="en-US" altLang="zh-CN" sz="2400" dirty="0">
                <a:latin typeface="Verdana" pitchFamily="34" charset="0"/>
                <a:ea typeface="楷体_GB2312" pitchFamily="49" charset="-122"/>
              </a:rPr>
              <a:t>1</a:t>
            </a:r>
          </a:p>
          <a:p>
            <a:pPr eaLnBrk="1" hangingPunct="1">
              <a:lnSpc>
                <a:spcPct val="120000"/>
              </a:lnSpc>
              <a:buFont typeface="Wingdings" panose="05000000000000000000" pitchFamily="2" charset="2"/>
              <a:buNone/>
              <a:defRPr/>
            </a:pPr>
            <a:r>
              <a:rPr lang="en-US" altLang="zh-CN" sz="2400" dirty="0">
                <a:latin typeface="Verdana" pitchFamily="34" charset="0"/>
                <a:ea typeface="楷体_GB2312" pitchFamily="49" charset="-122"/>
              </a:rPr>
              <a:t>	3) </a:t>
            </a:r>
            <a:r>
              <a:rPr lang="zh-CN" altLang="en-US" sz="2400" dirty="0">
                <a:latin typeface="Verdana" pitchFamily="34" charset="0"/>
                <a:ea typeface="楷体_GB2312" pitchFamily="49" charset="-122"/>
              </a:rPr>
              <a:t>收到窗口外的</a:t>
            </a:r>
            <a:r>
              <a:rPr lang="en-US" altLang="zh-CN" sz="2400" dirty="0">
                <a:latin typeface="Verdana" pitchFamily="34" charset="0"/>
                <a:ea typeface="楷体_GB2312" pitchFamily="49" charset="-122"/>
              </a:rPr>
              <a:t>ACK</a:t>
            </a:r>
            <a:r>
              <a:rPr lang="zh-CN" altLang="en-US" sz="2400" dirty="0">
                <a:latin typeface="Verdana" pitchFamily="34" charset="0"/>
                <a:ea typeface="楷体_GB2312" pitchFamily="49" charset="-122"/>
              </a:rPr>
              <a:t>信息，丢掉</a:t>
            </a:r>
          </a:p>
          <a:p>
            <a:pPr eaLnBrk="1" hangingPunct="1">
              <a:lnSpc>
                <a:spcPct val="120000"/>
              </a:lnSpc>
              <a:buFont typeface="Wingdings" panose="05000000000000000000" pitchFamily="2" charset="2"/>
              <a:buNone/>
              <a:defRPr/>
            </a:pPr>
            <a:r>
              <a:rPr lang="en-US" altLang="zh-CN" sz="2400" dirty="0">
                <a:solidFill>
                  <a:srgbClr val="0000FF"/>
                </a:solidFill>
                <a:latin typeface="Verdana" pitchFamily="34" charset="0"/>
                <a:ea typeface="楷体_GB2312" pitchFamily="49" charset="-122"/>
              </a:rPr>
              <a:t>2</a:t>
            </a:r>
            <a:r>
              <a:rPr lang="zh-CN" altLang="en-US" sz="2400" dirty="0">
                <a:solidFill>
                  <a:srgbClr val="0000FF"/>
                </a:solidFill>
                <a:latin typeface="Verdana" pitchFamily="34" charset="0"/>
                <a:ea typeface="楷体_GB2312" pitchFamily="49" charset="-122"/>
              </a:rPr>
              <a:t>．</a:t>
            </a:r>
            <a:r>
              <a:rPr lang="zh-CN" altLang="en-US" sz="2400" b="1" dirty="0">
                <a:solidFill>
                  <a:srgbClr val="0000FF"/>
                </a:solidFill>
                <a:latin typeface="Verdana" pitchFamily="34" charset="0"/>
                <a:ea typeface="楷体_GB2312" pitchFamily="49" charset="-122"/>
              </a:rPr>
              <a:t>接收窗口</a:t>
            </a:r>
            <a:r>
              <a:rPr lang="en-US" altLang="zh-CN" sz="2400" dirty="0">
                <a:solidFill>
                  <a:srgbClr val="0000FF"/>
                </a:solidFill>
                <a:latin typeface="Verdana" pitchFamily="34" charset="0"/>
                <a:ea typeface="楷体_GB2312" pitchFamily="49" charset="-122"/>
              </a:rPr>
              <a:t>(W</a:t>
            </a:r>
            <a:r>
              <a:rPr lang="en-US" altLang="zh-CN" sz="2400" baseline="-25000" dirty="0">
                <a:solidFill>
                  <a:srgbClr val="0000FF"/>
                </a:solidFill>
                <a:latin typeface="Verdana" pitchFamily="34" charset="0"/>
                <a:ea typeface="楷体_GB2312" pitchFamily="49" charset="-122"/>
              </a:rPr>
              <a:t>R</a:t>
            </a:r>
            <a:r>
              <a:rPr lang="en-US" altLang="zh-CN" sz="2400" dirty="0">
                <a:solidFill>
                  <a:srgbClr val="0000FF"/>
                </a:solidFill>
                <a:latin typeface="Verdana" pitchFamily="34" charset="0"/>
                <a:ea typeface="楷体_GB2312" pitchFamily="49" charset="-122"/>
              </a:rPr>
              <a:t>)</a:t>
            </a:r>
            <a:r>
              <a:rPr lang="zh-CN" altLang="en-US" sz="2400" dirty="0">
                <a:solidFill>
                  <a:srgbClr val="0000FF"/>
                </a:solidFill>
                <a:latin typeface="Verdana" pitchFamily="34" charset="0"/>
                <a:ea typeface="楷体_GB2312" pitchFamily="49" charset="-122"/>
              </a:rPr>
              <a:t>：</a:t>
            </a:r>
            <a:r>
              <a:rPr lang="zh-CN" altLang="en-US" sz="2400" dirty="0">
                <a:solidFill>
                  <a:schemeClr val="tx2"/>
                </a:solidFill>
                <a:latin typeface="Verdana" pitchFamily="34" charset="0"/>
                <a:ea typeface="楷体_GB2312" pitchFamily="49" charset="-122"/>
              </a:rPr>
              <a:t>存放应</a:t>
            </a:r>
            <a:r>
              <a:rPr lang="en-US" altLang="zh-CN" sz="2400" dirty="0">
                <a:solidFill>
                  <a:schemeClr val="tx2"/>
                </a:solidFill>
                <a:latin typeface="Verdana" pitchFamily="34" charset="0"/>
                <a:ea typeface="楷体_GB2312" pitchFamily="49" charset="-122"/>
              </a:rPr>
              <a:t>【</a:t>
            </a:r>
            <a:r>
              <a:rPr lang="zh-CN" altLang="en-US" sz="2400" dirty="0">
                <a:solidFill>
                  <a:schemeClr val="tx2"/>
                </a:solidFill>
                <a:latin typeface="Verdana" pitchFamily="34" charset="0"/>
                <a:ea typeface="楷体_GB2312" pitchFamily="49" charset="-122"/>
              </a:rPr>
              <a:t>期望</a:t>
            </a:r>
            <a:r>
              <a:rPr lang="en-US" altLang="zh-CN" sz="2400" dirty="0">
                <a:solidFill>
                  <a:schemeClr val="tx2"/>
                </a:solidFill>
                <a:latin typeface="Verdana" pitchFamily="34" charset="0"/>
                <a:ea typeface="楷体_GB2312" pitchFamily="49" charset="-122"/>
              </a:rPr>
              <a:t>】</a:t>
            </a:r>
            <a:r>
              <a:rPr lang="zh-CN" altLang="en-US" sz="2400" dirty="0">
                <a:solidFill>
                  <a:schemeClr val="tx2"/>
                </a:solidFill>
                <a:latin typeface="Verdana" pitchFamily="34" charset="0"/>
                <a:ea typeface="楷体_GB2312" pitchFamily="49" charset="-122"/>
              </a:rPr>
              <a:t>接收的帧序号</a:t>
            </a:r>
          </a:p>
          <a:p>
            <a:pPr eaLnBrk="1" hangingPunct="1">
              <a:lnSpc>
                <a:spcPct val="120000"/>
              </a:lnSpc>
              <a:buFont typeface="Wingdings" panose="05000000000000000000" pitchFamily="2" charset="2"/>
              <a:buNone/>
              <a:defRPr/>
            </a:pPr>
            <a:r>
              <a:rPr lang="zh-CN" altLang="en-US" sz="2400" dirty="0">
                <a:latin typeface="Verdana" pitchFamily="34" charset="0"/>
                <a:ea typeface="楷体_GB2312" pitchFamily="49" charset="-122"/>
              </a:rPr>
              <a:t>	</a:t>
            </a:r>
            <a:r>
              <a:rPr lang="en-US" altLang="zh-CN" sz="2400" dirty="0">
                <a:latin typeface="Verdana" pitchFamily="34" charset="0"/>
                <a:ea typeface="楷体_GB2312" pitchFamily="49" charset="-122"/>
              </a:rPr>
              <a:t>1) </a:t>
            </a:r>
            <a:r>
              <a:rPr lang="zh-CN" altLang="en-US" sz="2400" dirty="0">
                <a:latin typeface="Verdana" pitchFamily="34" charset="0"/>
                <a:ea typeface="楷体_GB2312" pitchFamily="49" charset="-122"/>
              </a:rPr>
              <a:t>收到接收窗口外的序号帧，丢掉</a:t>
            </a:r>
          </a:p>
          <a:p>
            <a:pPr eaLnBrk="1" hangingPunct="1">
              <a:lnSpc>
                <a:spcPct val="120000"/>
              </a:lnSpc>
              <a:buFont typeface="Wingdings" panose="05000000000000000000" pitchFamily="2" charset="2"/>
              <a:buNone/>
              <a:defRPr/>
            </a:pPr>
            <a:r>
              <a:rPr lang="zh-CN" altLang="en-US" sz="2400" dirty="0">
                <a:latin typeface="Verdana" pitchFamily="34" charset="0"/>
                <a:ea typeface="楷体_GB2312" pitchFamily="49" charset="-122"/>
              </a:rPr>
              <a:t>	</a:t>
            </a:r>
            <a:r>
              <a:rPr lang="en-US" altLang="zh-CN" sz="2400" dirty="0">
                <a:latin typeface="Verdana" pitchFamily="34" charset="0"/>
                <a:ea typeface="楷体_GB2312" pitchFamily="49" charset="-122"/>
              </a:rPr>
              <a:t>2) </a:t>
            </a:r>
            <a:r>
              <a:rPr lang="zh-CN" altLang="en-US" sz="2400" dirty="0">
                <a:latin typeface="Verdana" pitchFamily="34" charset="0"/>
                <a:ea typeface="楷体_GB2312" pitchFamily="49" charset="-122"/>
              </a:rPr>
              <a:t>收到接收窗口下界序号帧，接收窗口向前移一步</a:t>
            </a:r>
          </a:p>
        </p:txBody>
      </p:sp>
    </p:spTree>
  </p:cSld>
  <p:clrMapOvr>
    <a:masterClrMapping/>
  </p:clrMapOvr>
  <p:transition>
    <p:random/>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a:defRPr/>
            </a:pPr>
            <a:r>
              <a:rPr lang="en-US" altLang="zh-CN"/>
              <a:t>Computer Network</a:t>
            </a:r>
          </a:p>
        </p:txBody>
      </p:sp>
      <p:sp>
        <p:nvSpPr>
          <p:cNvPr id="3" name="灯片编号占位符 2"/>
          <p:cNvSpPr>
            <a:spLocks noGrp="1"/>
          </p:cNvSpPr>
          <p:nvPr>
            <p:ph type="sldNum" sz="quarter" idx="11"/>
          </p:nvPr>
        </p:nvSpPr>
        <p:spPr/>
        <p:txBody>
          <a:bodyPr/>
          <a:lstStyle/>
          <a:p>
            <a:pPr>
              <a:defRPr/>
            </a:pPr>
            <a:fld id="{2AAF93DC-1AF2-40C5-A519-3C53F0141A12}" type="slidenum">
              <a:rPr lang="en-US" altLang="zh-CN" smtClean="0"/>
              <a:pPr>
                <a:defRPr/>
              </a:pPr>
              <a:t>91</a:t>
            </a:fld>
            <a:endParaRPr lang="en-US" altLang="zh-CN"/>
          </a:p>
        </p:txBody>
      </p:sp>
      <p:sp>
        <p:nvSpPr>
          <p:cNvPr id="4" name="日期占位符 3"/>
          <p:cNvSpPr>
            <a:spLocks noGrp="1"/>
          </p:cNvSpPr>
          <p:nvPr>
            <p:ph type="dt" sz="half" idx="12"/>
          </p:nvPr>
        </p:nvSpPr>
        <p:spPr/>
        <p:txBody>
          <a:bodyPr/>
          <a:lstStyle/>
          <a:p>
            <a:pPr>
              <a:defRPr/>
            </a:pPr>
            <a:fld id="{F745FD7F-E1E7-4727-BD24-89E1126485D5}" type="datetime1">
              <a:rPr lang="zh-CN" altLang="en-US" smtClean="0"/>
              <a:pPr>
                <a:defRPr/>
              </a:pPr>
              <a:t>2024/10/18</a:t>
            </a:fld>
            <a:endParaRPr lang="en-US" altLang="zh-CN"/>
          </a:p>
        </p:txBody>
      </p:sp>
      <p:pic>
        <p:nvPicPr>
          <p:cNvPr id="6" name="图片 5"/>
          <p:cNvPicPr>
            <a:picLocks noChangeAspect="1"/>
          </p:cNvPicPr>
          <p:nvPr/>
        </p:nvPicPr>
        <p:blipFill>
          <a:blip r:embed="rId2"/>
          <a:stretch>
            <a:fillRect/>
          </a:stretch>
        </p:blipFill>
        <p:spPr>
          <a:xfrm>
            <a:off x="1127448" y="152400"/>
            <a:ext cx="9505056" cy="6345250"/>
          </a:xfrm>
          <a:prstGeom prst="rect">
            <a:avLst/>
          </a:prstGeom>
        </p:spPr>
      </p:pic>
    </p:spTree>
    <p:extLst>
      <p:ext uri="{BB962C8B-B14F-4D97-AF65-F5344CB8AC3E}">
        <p14:creationId xmlns:p14="http://schemas.microsoft.com/office/powerpoint/2010/main" val="2304017557"/>
      </p:ext>
    </p:extLst>
  </p:cSld>
  <p:clrMapOvr>
    <a:masterClrMapping/>
  </p:clrMapOvr>
  <p:transition spd="slow">
    <p:pull dir="ru"/>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页脚占位符 1"/>
          <p:cNvSpPr>
            <a:spLocks noGrp="1"/>
          </p:cNvSpPr>
          <p:nvPr>
            <p:ph type="ftr" sz="quarter" idx="10"/>
          </p:nvPr>
        </p:nvSpPr>
        <p:spPr/>
        <p:txBody>
          <a:bodyPr/>
          <a:lstStyle/>
          <a:p>
            <a:pPr>
              <a:defRPr/>
            </a:pPr>
            <a:r>
              <a:rPr lang="en-US" altLang="zh-CN"/>
              <a:t>Computer Network</a:t>
            </a:r>
          </a:p>
        </p:txBody>
      </p:sp>
      <p:sp>
        <p:nvSpPr>
          <p:cNvPr id="48131" name="灯片编号占位符 2"/>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DE3C03C9-AE11-45F0-B892-DCC121E4858E}" type="slidenum">
              <a:rPr lang="en-US" altLang="zh-CN" sz="1200">
                <a:latin typeface="Arial Black" panose="020B0A04020102020204" pitchFamily="34" charset="0"/>
              </a:rPr>
              <a:pPr>
                <a:spcBef>
                  <a:spcPct val="0"/>
                </a:spcBef>
                <a:buClrTx/>
                <a:buSzTx/>
                <a:buFontTx/>
                <a:buNone/>
              </a:pPr>
              <a:t>92</a:t>
            </a:fld>
            <a:endParaRPr lang="en-US" altLang="zh-CN" sz="1200">
              <a:latin typeface="Arial Black" panose="020B0A04020102020204" pitchFamily="34" charset="0"/>
            </a:endParaRPr>
          </a:p>
        </p:txBody>
      </p:sp>
      <p:sp>
        <p:nvSpPr>
          <p:cNvPr id="5" name="日期占位符 3"/>
          <p:cNvSpPr>
            <a:spLocks noGrp="1"/>
          </p:cNvSpPr>
          <p:nvPr>
            <p:ph type="dt" sz="quarter" idx="12"/>
          </p:nvPr>
        </p:nvSpPr>
        <p:spPr/>
        <p:txBody>
          <a:bodyPr/>
          <a:lstStyle/>
          <a:p>
            <a:pPr>
              <a:defRPr/>
            </a:pPr>
            <a:fld id="{8AA7EC10-F9C6-40AF-B1E3-FCA544F5D88B}" type="datetime1">
              <a:rPr lang="zh-CN" altLang="en-US"/>
              <a:pPr>
                <a:defRPr/>
              </a:pPr>
              <a:t>2024/10/18</a:t>
            </a:fld>
            <a:endParaRPr lang="en-US" altLang="zh-CN"/>
          </a:p>
        </p:txBody>
      </p:sp>
      <p:graphicFrame>
        <p:nvGraphicFramePr>
          <p:cNvPr id="48133" name="Object 7"/>
          <p:cNvGraphicFramePr>
            <a:graphicFrameLocks noChangeAspect="1"/>
          </p:cNvGraphicFramePr>
          <p:nvPr/>
        </p:nvGraphicFramePr>
        <p:xfrm>
          <a:off x="2057400" y="609600"/>
          <a:ext cx="7848600" cy="5748338"/>
        </p:xfrm>
        <a:graphic>
          <a:graphicData uri="http://schemas.openxmlformats.org/presentationml/2006/ole">
            <mc:AlternateContent xmlns:mc="http://schemas.openxmlformats.org/markup-compatibility/2006">
              <mc:Choice xmlns:v="urn:schemas-microsoft-com:vml" Requires="v">
                <p:oleObj spid="_x0000_s6149" name="位图图像" r:id="rId3" imgW="5838095" imgH="4277322" progId="Paint.Picture">
                  <p:embed/>
                </p:oleObj>
              </mc:Choice>
              <mc:Fallback>
                <p:oleObj name="位图图像" r:id="rId3" imgW="5838095" imgH="4277322" progId="Paint.Picture">
                  <p:embed/>
                  <p:pic>
                    <p:nvPicPr>
                      <p:cNvPr id="48133"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7400" y="609600"/>
                        <a:ext cx="7848600" cy="574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pic>
                </p:oleObj>
              </mc:Fallback>
            </mc:AlternateContent>
          </a:graphicData>
        </a:graphic>
      </p:graphicFrame>
    </p:spTree>
  </p:cSld>
  <p:clrMapOvr>
    <a:masterClrMapping/>
  </p:clrMapOvr>
  <p:transition>
    <p:random/>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Computer Network</a:t>
            </a:r>
          </a:p>
        </p:txBody>
      </p:sp>
      <p:sp>
        <p:nvSpPr>
          <p:cNvPr id="49155" name="灯片编号占位符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72855D01-6481-42B0-9962-14EC9F9961FE}" type="slidenum">
              <a:rPr lang="en-US" altLang="zh-CN" sz="1200">
                <a:latin typeface="Arial Black" panose="020B0A04020102020204" pitchFamily="34" charset="0"/>
              </a:rPr>
              <a:pPr>
                <a:spcBef>
                  <a:spcPct val="0"/>
                </a:spcBef>
                <a:buClrTx/>
                <a:buSzTx/>
                <a:buFontTx/>
                <a:buNone/>
              </a:pPr>
              <a:t>93</a:t>
            </a:fld>
            <a:endParaRPr lang="en-US" altLang="zh-CN" sz="1200">
              <a:latin typeface="Arial Black" panose="020B0A04020102020204" pitchFamily="34" charset="0"/>
            </a:endParaRPr>
          </a:p>
        </p:txBody>
      </p:sp>
      <p:sp>
        <p:nvSpPr>
          <p:cNvPr id="6" name="日期占位符 5"/>
          <p:cNvSpPr>
            <a:spLocks noGrp="1"/>
          </p:cNvSpPr>
          <p:nvPr>
            <p:ph type="dt" sz="quarter" idx="12"/>
          </p:nvPr>
        </p:nvSpPr>
        <p:spPr/>
        <p:txBody>
          <a:bodyPr/>
          <a:lstStyle/>
          <a:p>
            <a:pPr>
              <a:defRPr/>
            </a:pPr>
            <a:fld id="{E018741F-0C9A-4DA5-9522-877DA4A1F899}" type="datetime1">
              <a:rPr lang="zh-CN" altLang="en-US"/>
              <a:pPr>
                <a:defRPr/>
              </a:pPr>
              <a:t>2024/10/18</a:t>
            </a:fld>
            <a:endParaRPr lang="en-US" altLang="zh-CN"/>
          </a:p>
        </p:txBody>
      </p:sp>
      <p:sp>
        <p:nvSpPr>
          <p:cNvPr id="868354" name="Rectangle 2"/>
          <p:cNvSpPr>
            <a:spLocks noGrp="1" noChangeArrowheads="1"/>
          </p:cNvSpPr>
          <p:nvPr>
            <p:ph type="title"/>
          </p:nvPr>
        </p:nvSpPr>
        <p:spPr>
          <a:xfrm>
            <a:off x="2209800" y="665164"/>
            <a:ext cx="5832475" cy="481013"/>
          </a:xfrm>
        </p:spPr>
        <p:txBody>
          <a:bodyPr/>
          <a:lstStyle/>
          <a:p>
            <a:pPr eaLnBrk="1" hangingPunct="1">
              <a:defRPr/>
            </a:pPr>
            <a:r>
              <a:rPr lang="zh-CN" altLang="en-US" sz="2800" b="1" dirty="0">
                <a:solidFill>
                  <a:srgbClr val="0000FF"/>
                </a:solidFill>
              </a:rPr>
              <a:t>三种滑动窗口协议</a:t>
            </a:r>
          </a:p>
        </p:txBody>
      </p:sp>
      <p:sp>
        <p:nvSpPr>
          <p:cNvPr id="868355" name="Rectangle 3"/>
          <p:cNvSpPr>
            <a:spLocks noGrp="1" noChangeArrowheads="1"/>
          </p:cNvSpPr>
          <p:nvPr>
            <p:ph type="body" idx="1"/>
          </p:nvPr>
        </p:nvSpPr>
        <p:spPr>
          <a:xfrm>
            <a:off x="2438400" y="1841501"/>
            <a:ext cx="7772400" cy="3819525"/>
          </a:xfrm>
        </p:spPr>
        <p:txBody>
          <a:bodyPr/>
          <a:lstStyle/>
          <a:p>
            <a:pPr eaLnBrk="1" hangingPunct="1">
              <a:lnSpc>
                <a:spcPct val="120000"/>
              </a:lnSpc>
              <a:buFont typeface="Wingdings" panose="05000000000000000000" pitchFamily="2" charset="2"/>
              <a:buNone/>
              <a:defRPr/>
            </a:pPr>
            <a:r>
              <a:rPr lang="en-US" altLang="zh-CN" sz="2800" dirty="0">
                <a:solidFill>
                  <a:srgbClr val="0000FF"/>
                </a:solidFill>
                <a:effectLst>
                  <a:outerShdw blurRad="38100" dist="38100" dir="2700000" algn="tl">
                    <a:srgbClr val="C0C0C0"/>
                  </a:outerShdw>
                </a:effectLst>
                <a:latin typeface="Verdana" pitchFamily="34" charset="0"/>
                <a:ea typeface="楷体_GB2312" pitchFamily="49" charset="-122"/>
              </a:rPr>
              <a:t>1</a:t>
            </a:r>
            <a:r>
              <a:rPr lang="zh-CN" altLang="en-US" sz="2800" dirty="0">
                <a:solidFill>
                  <a:srgbClr val="0000FF"/>
                </a:solidFill>
                <a:effectLst>
                  <a:outerShdw blurRad="38100" dist="38100" dir="2700000" algn="tl">
                    <a:srgbClr val="C0C0C0"/>
                  </a:outerShdw>
                </a:effectLst>
                <a:latin typeface="Verdana" pitchFamily="34" charset="0"/>
                <a:ea typeface="楷体_GB2312" pitchFamily="49" charset="-122"/>
              </a:rPr>
              <a:t>、一位滑动窗口协议</a:t>
            </a:r>
            <a:r>
              <a:rPr lang="en-US" altLang="zh-CN" sz="2800" dirty="0">
                <a:solidFill>
                  <a:srgbClr val="0000FF"/>
                </a:solidFill>
                <a:effectLst>
                  <a:outerShdw blurRad="38100" dist="38100" dir="2700000" algn="tl">
                    <a:srgbClr val="C0C0C0"/>
                  </a:outerShdw>
                </a:effectLst>
                <a:latin typeface="Verdana" pitchFamily="34" charset="0"/>
                <a:ea typeface="楷体_GB2312" pitchFamily="49" charset="-122"/>
              </a:rPr>
              <a:t>(</a:t>
            </a:r>
            <a:r>
              <a:rPr lang="zh-CN" altLang="en-US" sz="2800" dirty="0">
                <a:solidFill>
                  <a:srgbClr val="0000FF"/>
                </a:solidFill>
                <a:effectLst>
                  <a:outerShdw blurRad="38100" dist="38100" dir="2700000" algn="tl">
                    <a:srgbClr val="C0C0C0"/>
                  </a:outerShdw>
                </a:effectLst>
                <a:latin typeface="Verdana" pitchFamily="34" charset="0"/>
                <a:ea typeface="楷体_GB2312" pitchFamily="49" charset="-122"/>
              </a:rPr>
              <a:t>停止等待协议</a:t>
            </a:r>
            <a:r>
              <a:rPr lang="en-US" altLang="zh-CN" sz="2800" dirty="0">
                <a:solidFill>
                  <a:srgbClr val="0000FF"/>
                </a:solidFill>
                <a:effectLst>
                  <a:outerShdw blurRad="38100" dist="38100" dir="2700000" algn="tl">
                    <a:srgbClr val="C0C0C0"/>
                  </a:outerShdw>
                </a:effectLst>
                <a:latin typeface="Verdana" pitchFamily="34" charset="0"/>
                <a:ea typeface="楷体_GB2312" pitchFamily="49" charset="-122"/>
              </a:rPr>
              <a:t>)【</a:t>
            </a:r>
            <a:r>
              <a:rPr lang="zh-CN" altLang="en-US" sz="2800" dirty="0">
                <a:solidFill>
                  <a:srgbClr val="0000FF"/>
                </a:solidFill>
                <a:effectLst>
                  <a:outerShdw blurRad="38100" dist="38100" dir="2700000" algn="tl">
                    <a:srgbClr val="C0C0C0"/>
                  </a:outerShdw>
                </a:effectLst>
                <a:latin typeface="Verdana" pitchFamily="34" charset="0"/>
                <a:ea typeface="楷体_GB2312" pitchFamily="49" charset="-122"/>
              </a:rPr>
              <a:t>协议</a:t>
            </a:r>
            <a:r>
              <a:rPr lang="en-US" altLang="zh-CN" sz="2800" dirty="0">
                <a:solidFill>
                  <a:srgbClr val="0000FF"/>
                </a:solidFill>
                <a:effectLst>
                  <a:outerShdw blurRad="38100" dist="38100" dir="2700000" algn="tl">
                    <a:srgbClr val="C0C0C0"/>
                  </a:outerShdw>
                </a:effectLst>
                <a:latin typeface="Verdana" pitchFamily="34" charset="0"/>
                <a:ea typeface="楷体_GB2312" pitchFamily="49" charset="-122"/>
              </a:rPr>
              <a:t>4】</a:t>
            </a:r>
          </a:p>
          <a:p>
            <a:pPr eaLnBrk="1" hangingPunct="1">
              <a:lnSpc>
                <a:spcPct val="120000"/>
              </a:lnSpc>
              <a:defRPr/>
            </a:pPr>
            <a:endParaRPr lang="en-US" altLang="zh-CN" sz="2400" dirty="0">
              <a:solidFill>
                <a:schemeClr val="tx2"/>
              </a:solidFill>
              <a:effectLst>
                <a:outerShdw blurRad="38100" dist="38100" dir="2700000" algn="tl">
                  <a:srgbClr val="C0C0C0"/>
                </a:outerShdw>
              </a:effectLst>
              <a:latin typeface="Verdana" pitchFamily="34" charset="0"/>
              <a:ea typeface="楷体_GB2312" pitchFamily="49" charset="-122"/>
            </a:endParaRPr>
          </a:p>
          <a:p>
            <a:pPr eaLnBrk="1" hangingPunct="1">
              <a:lnSpc>
                <a:spcPct val="120000"/>
              </a:lnSpc>
              <a:buSzPct val="90000"/>
              <a:buFont typeface="Wingdings" panose="05000000000000000000" pitchFamily="2" charset="2"/>
              <a:buChar char="§"/>
              <a:defRPr/>
            </a:pPr>
            <a:r>
              <a:rPr lang="zh-CN" altLang="en-US" sz="2800" dirty="0">
                <a:latin typeface="Verdana" pitchFamily="34" charset="0"/>
                <a:ea typeface="楷体_GB2312" pitchFamily="49" charset="-122"/>
              </a:rPr>
              <a:t>发送窗口</a:t>
            </a:r>
            <a:r>
              <a:rPr lang="en-US" altLang="zh-CN" sz="2800" dirty="0">
                <a:latin typeface="Verdana" pitchFamily="34" charset="0"/>
                <a:ea typeface="楷体_GB2312" pitchFamily="49" charset="-122"/>
              </a:rPr>
              <a:t>(W</a:t>
            </a:r>
            <a:r>
              <a:rPr lang="en-US" altLang="zh-CN" sz="2800" baseline="-25000" dirty="0">
                <a:latin typeface="Verdana" pitchFamily="34" charset="0"/>
                <a:ea typeface="楷体_GB2312" pitchFamily="49" charset="-122"/>
              </a:rPr>
              <a:t>T</a:t>
            </a:r>
            <a:r>
              <a:rPr lang="en-US" altLang="zh-CN" sz="2800" dirty="0">
                <a:latin typeface="Verdana" pitchFamily="34" charset="0"/>
                <a:ea typeface="楷体_GB2312" pitchFamily="49" charset="-122"/>
              </a:rPr>
              <a:t>)=1</a:t>
            </a:r>
            <a:r>
              <a:rPr lang="zh-CN" altLang="en-US" sz="2800" dirty="0">
                <a:latin typeface="Verdana" pitchFamily="34" charset="0"/>
                <a:ea typeface="楷体_GB2312" pitchFamily="49" charset="-122"/>
              </a:rPr>
              <a:t>，</a:t>
            </a:r>
          </a:p>
          <a:p>
            <a:pPr eaLnBrk="1" hangingPunct="1">
              <a:lnSpc>
                <a:spcPct val="120000"/>
              </a:lnSpc>
              <a:buSzPct val="90000"/>
              <a:buFont typeface="Wingdings" panose="05000000000000000000" pitchFamily="2" charset="2"/>
              <a:buChar char="§"/>
              <a:defRPr/>
            </a:pPr>
            <a:r>
              <a:rPr lang="zh-CN" altLang="en-US" sz="2800" dirty="0">
                <a:latin typeface="Verdana" pitchFamily="34" charset="0"/>
                <a:ea typeface="楷体_GB2312" pitchFamily="49" charset="-122"/>
              </a:rPr>
              <a:t>接收窗口</a:t>
            </a:r>
            <a:r>
              <a:rPr lang="en-US" altLang="zh-CN" sz="2800" dirty="0">
                <a:latin typeface="Verdana" pitchFamily="34" charset="0"/>
                <a:ea typeface="楷体_GB2312" pitchFamily="49" charset="-122"/>
              </a:rPr>
              <a:t>(W</a:t>
            </a:r>
            <a:r>
              <a:rPr lang="en-US" altLang="zh-CN" sz="2800" baseline="-25000" dirty="0">
                <a:latin typeface="Verdana" pitchFamily="34" charset="0"/>
                <a:ea typeface="楷体_GB2312" pitchFamily="49" charset="-122"/>
              </a:rPr>
              <a:t>R</a:t>
            </a:r>
            <a:r>
              <a:rPr lang="en-US" altLang="zh-CN" sz="2800" dirty="0">
                <a:latin typeface="Verdana" pitchFamily="34" charset="0"/>
                <a:ea typeface="楷体_GB2312" pitchFamily="49" charset="-122"/>
              </a:rPr>
              <a:t>)=1</a:t>
            </a:r>
            <a:r>
              <a:rPr lang="zh-CN" altLang="en-US" sz="2800" dirty="0">
                <a:latin typeface="Verdana" pitchFamily="34" charset="0"/>
                <a:ea typeface="楷体_GB2312" pitchFamily="49" charset="-122"/>
              </a:rPr>
              <a:t>，</a:t>
            </a:r>
          </a:p>
          <a:p>
            <a:pPr eaLnBrk="1" hangingPunct="1">
              <a:lnSpc>
                <a:spcPct val="120000"/>
              </a:lnSpc>
              <a:buSzPct val="90000"/>
              <a:buFont typeface="Wingdings" panose="05000000000000000000" pitchFamily="2" charset="2"/>
              <a:buNone/>
              <a:defRPr/>
            </a:pPr>
            <a:endParaRPr lang="zh-CN" altLang="en-US" sz="2400" dirty="0">
              <a:latin typeface="Verdana" pitchFamily="34" charset="0"/>
              <a:ea typeface="楷体_GB2312" pitchFamily="49" charset="-122"/>
            </a:endParaRPr>
          </a:p>
          <a:p>
            <a:pPr eaLnBrk="1" hangingPunct="1">
              <a:lnSpc>
                <a:spcPct val="120000"/>
              </a:lnSpc>
              <a:buSzPct val="90000"/>
              <a:buFont typeface="Wingdings" panose="05000000000000000000" pitchFamily="2" charset="2"/>
              <a:buNone/>
              <a:defRPr/>
            </a:pPr>
            <a:r>
              <a:rPr lang="zh-CN" altLang="en-US" sz="2800" dirty="0">
                <a:latin typeface="Verdana" pitchFamily="34" charset="0"/>
                <a:ea typeface="楷体_GB2312" pitchFamily="49" charset="-122"/>
              </a:rPr>
              <a:t>  </a:t>
            </a:r>
            <a:r>
              <a:rPr lang="zh-CN" altLang="en-US" sz="2800" dirty="0">
                <a:solidFill>
                  <a:srgbClr val="FF3300"/>
                </a:solidFill>
                <a:effectLst>
                  <a:outerShdw blurRad="38100" dist="38100" dir="2700000" algn="tl">
                    <a:srgbClr val="C0C0C0"/>
                  </a:outerShdw>
                </a:effectLst>
                <a:latin typeface="Verdana" pitchFamily="34" charset="0"/>
                <a:ea typeface="楷体_GB2312" pitchFamily="49" charset="-122"/>
              </a:rPr>
              <a:t>双向数据传送</a:t>
            </a:r>
            <a:r>
              <a:rPr lang="en-US" altLang="zh-CN" sz="2800" dirty="0">
                <a:solidFill>
                  <a:srgbClr val="FF3300"/>
                </a:solidFill>
                <a:effectLst>
                  <a:outerShdw blurRad="38100" dist="38100" dir="2700000" algn="tl">
                    <a:srgbClr val="C0C0C0"/>
                  </a:outerShdw>
                </a:effectLst>
                <a:latin typeface="Verdana" pitchFamily="34" charset="0"/>
                <a:ea typeface="楷体_GB2312" pitchFamily="49" charset="-122"/>
              </a:rPr>
              <a:t>:</a:t>
            </a:r>
          </a:p>
        </p:txBody>
      </p:sp>
    </p:spTree>
  </p:cSld>
  <p:clrMapOvr>
    <a:masterClrMapping/>
  </p:clrMapOvr>
  <p:transition>
    <p:random/>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a:defRPr/>
            </a:pPr>
            <a:r>
              <a:rPr lang="en-US" altLang="zh-CN"/>
              <a:t>Computer Network</a:t>
            </a:r>
          </a:p>
        </p:txBody>
      </p:sp>
      <p:sp>
        <p:nvSpPr>
          <p:cNvPr id="3" name="灯片编号占位符 2"/>
          <p:cNvSpPr>
            <a:spLocks noGrp="1"/>
          </p:cNvSpPr>
          <p:nvPr>
            <p:ph type="sldNum" sz="quarter" idx="11"/>
          </p:nvPr>
        </p:nvSpPr>
        <p:spPr/>
        <p:txBody>
          <a:bodyPr/>
          <a:lstStyle/>
          <a:p>
            <a:pPr>
              <a:defRPr/>
            </a:pPr>
            <a:fld id="{2AAF93DC-1AF2-40C5-A519-3C53F0141A12}" type="slidenum">
              <a:rPr lang="en-US" altLang="zh-CN" smtClean="0"/>
              <a:pPr>
                <a:defRPr/>
              </a:pPr>
              <a:t>94</a:t>
            </a:fld>
            <a:endParaRPr lang="en-US" altLang="zh-CN"/>
          </a:p>
        </p:txBody>
      </p:sp>
      <p:sp>
        <p:nvSpPr>
          <p:cNvPr id="4" name="日期占位符 3"/>
          <p:cNvSpPr>
            <a:spLocks noGrp="1"/>
          </p:cNvSpPr>
          <p:nvPr>
            <p:ph type="dt" sz="half" idx="12"/>
          </p:nvPr>
        </p:nvSpPr>
        <p:spPr/>
        <p:txBody>
          <a:bodyPr/>
          <a:lstStyle/>
          <a:p>
            <a:pPr>
              <a:defRPr/>
            </a:pPr>
            <a:fld id="{F745FD7F-E1E7-4727-BD24-89E1126485D5}" type="datetime1">
              <a:rPr lang="zh-CN" altLang="en-US" smtClean="0"/>
              <a:pPr>
                <a:defRPr/>
              </a:pPr>
              <a:t>2024/10/18</a:t>
            </a:fld>
            <a:endParaRPr lang="en-US" altLang="zh-CN"/>
          </a:p>
        </p:txBody>
      </p:sp>
      <p:pic>
        <p:nvPicPr>
          <p:cNvPr id="5" name="图片 4"/>
          <p:cNvPicPr>
            <a:picLocks noChangeAspect="1"/>
          </p:cNvPicPr>
          <p:nvPr/>
        </p:nvPicPr>
        <p:blipFill>
          <a:blip r:embed="rId2"/>
          <a:stretch>
            <a:fillRect/>
          </a:stretch>
        </p:blipFill>
        <p:spPr>
          <a:xfrm>
            <a:off x="2016864" y="1124744"/>
            <a:ext cx="8158273" cy="4769758"/>
          </a:xfrm>
          <a:prstGeom prst="rect">
            <a:avLst/>
          </a:prstGeom>
        </p:spPr>
      </p:pic>
    </p:spTree>
    <p:extLst>
      <p:ext uri="{BB962C8B-B14F-4D97-AF65-F5344CB8AC3E}">
        <p14:creationId xmlns:p14="http://schemas.microsoft.com/office/powerpoint/2010/main" val="159882907"/>
      </p:ext>
    </p:extLst>
  </p:cSld>
  <p:clrMapOvr>
    <a:masterClrMapping/>
  </p:clrMapOvr>
  <p:transition spd="slow">
    <p:pull dir="ru"/>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a:defRPr/>
            </a:pPr>
            <a:r>
              <a:rPr lang="en-US" altLang="zh-CN"/>
              <a:t>Computer Network</a:t>
            </a:r>
          </a:p>
        </p:txBody>
      </p:sp>
      <p:sp>
        <p:nvSpPr>
          <p:cNvPr id="3" name="灯片编号占位符 2"/>
          <p:cNvSpPr>
            <a:spLocks noGrp="1"/>
          </p:cNvSpPr>
          <p:nvPr>
            <p:ph type="sldNum" sz="quarter" idx="11"/>
          </p:nvPr>
        </p:nvSpPr>
        <p:spPr/>
        <p:txBody>
          <a:bodyPr/>
          <a:lstStyle/>
          <a:p>
            <a:pPr>
              <a:defRPr/>
            </a:pPr>
            <a:fld id="{2AAF93DC-1AF2-40C5-A519-3C53F0141A12}" type="slidenum">
              <a:rPr lang="en-US" altLang="zh-CN" smtClean="0"/>
              <a:pPr>
                <a:defRPr/>
              </a:pPr>
              <a:t>95</a:t>
            </a:fld>
            <a:endParaRPr lang="en-US" altLang="zh-CN"/>
          </a:p>
        </p:txBody>
      </p:sp>
      <p:sp>
        <p:nvSpPr>
          <p:cNvPr id="4" name="日期占位符 3"/>
          <p:cNvSpPr>
            <a:spLocks noGrp="1"/>
          </p:cNvSpPr>
          <p:nvPr>
            <p:ph type="dt" sz="half" idx="12"/>
          </p:nvPr>
        </p:nvSpPr>
        <p:spPr/>
        <p:txBody>
          <a:bodyPr/>
          <a:lstStyle/>
          <a:p>
            <a:pPr>
              <a:defRPr/>
            </a:pPr>
            <a:fld id="{F745FD7F-E1E7-4727-BD24-89E1126485D5}" type="datetime1">
              <a:rPr lang="zh-CN" altLang="en-US" smtClean="0"/>
              <a:pPr>
                <a:defRPr/>
              </a:pPr>
              <a:t>2024/10/18</a:t>
            </a:fld>
            <a:endParaRPr lang="en-US" altLang="zh-CN"/>
          </a:p>
        </p:txBody>
      </p:sp>
      <p:pic>
        <p:nvPicPr>
          <p:cNvPr id="5" name="图片 4"/>
          <p:cNvPicPr>
            <a:picLocks noChangeAspect="1"/>
          </p:cNvPicPr>
          <p:nvPr/>
        </p:nvPicPr>
        <p:blipFill>
          <a:blip r:embed="rId2"/>
          <a:stretch>
            <a:fillRect/>
          </a:stretch>
        </p:blipFill>
        <p:spPr>
          <a:xfrm>
            <a:off x="1816357" y="1"/>
            <a:ext cx="7948356" cy="4294609"/>
          </a:xfrm>
          <a:prstGeom prst="rect">
            <a:avLst/>
          </a:prstGeom>
        </p:spPr>
      </p:pic>
      <p:pic>
        <p:nvPicPr>
          <p:cNvPr id="6" name="图片 5"/>
          <p:cNvPicPr>
            <a:picLocks noChangeAspect="1"/>
          </p:cNvPicPr>
          <p:nvPr/>
        </p:nvPicPr>
        <p:blipFill rotWithShape="1">
          <a:blip r:embed="rId3"/>
          <a:srcRect t="21212" b="17640"/>
          <a:stretch/>
        </p:blipFill>
        <p:spPr>
          <a:xfrm>
            <a:off x="1524001" y="4286413"/>
            <a:ext cx="8777649" cy="2466813"/>
          </a:xfrm>
          <a:prstGeom prst="rect">
            <a:avLst/>
          </a:prstGeom>
        </p:spPr>
      </p:pic>
    </p:spTree>
    <p:extLst>
      <p:ext uri="{BB962C8B-B14F-4D97-AF65-F5344CB8AC3E}">
        <p14:creationId xmlns:p14="http://schemas.microsoft.com/office/powerpoint/2010/main" val="258447672"/>
      </p:ext>
    </p:extLst>
  </p:cSld>
  <p:clrMapOvr>
    <a:masterClrMapping/>
  </p:clrMapOvr>
  <p:transition spd="slow">
    <p:pull dir="ru"/>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页脚占位符 1"/>
          <p:cNvSpPr>
            <a:spLocks noGrp="1"/>
          </p:cNvSpPr>
          <p:nvPr>
            <p:ph type="ftr" sz="quarter" idx="10"/>
          </p:nvPr>
        </p:nvSpPr>
        <p:spPr/>
        <p:txBody>
          <a:bodyPr/>
          <a:lstStyle/>
          <a:p>
            <a:pPr>
              <a:defRPr/>
            </a:pPr>
            <a:r>
              <a:rPr lang="en-US" altLang="zh-CN"/>
              <a:t>Computer Network</a:t>
            </a:r>
          </a:p>
        </p:txBody>
      </p:sp>
      <p:sp>
        <p:nvSpPr>
          <p:cNvPr id="40963" name="灯片编号占位符 2"/>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C48BBABC-F277-4126-8577-FB09D138ABFE}" type="slidenum">
              <a:rPr lang="en-US" altLang="zh-CN" sz="1200">
                <a:latin typeface="Arial Black" panose="020B0A04020102020204" pitchFamily="34" charset="0"/>
              </a:rPr>
              <a:pPr>
                <a:spcBef>
                  <a:spcPct val="0"/>
                </a:spcBef>
                <a:buClrTx/>
                <a:buSzTx/>
                <a:buFontTx/>
                <a:buNone/>
              </a:pPr>
              <a:t>96</a:t>
            </a:fld>
            <a:endParaRPr lang="en-US" altLang="zh-CN" sz="1200">
              <a:latin typeface="Arial Black" panose="020B0A04020102020204" pitchFamily="34" charset="0"/>
            </a:endParaRPr>
          </a:p>
        </p:txBody>
      </p:sp>
      <p:sp>
        <p:nvSpPr>
          <p:cNvPr id="38" name="日期占位符 3"/>
          <p:cNvSpPr>
            <a:spLocks noGrp="1"/>
          </p:cNvSpPr>
          <p:nvPr>
            <p:ph type="dt" sz="quarter" idx="12"/>
          </p:nvPr>
        </p:nvSpPr>
        <p:spPr/>
        <p:txBody>
          <a:bodyPr/>
          <a:lstStyle/>
          <a:p>
            <a:pPr>
              <a:defRPr/>
            </a:pPr>
            <a:fld id="{55713B94-6E17-4B5E-B597-C7F5865089A4}" type="datetime1">
              <a:rPr lang="zh-CN" altLang="en-US"/>
              <a:pPr>
                <a:defRPr/>
              </a:pPr>
              <a:t>2024/10/18</a:t>
            </a:fld>
            <a:endParaRPr lang="en-US" altLang="zh-CN"/>
          </a:p>
        </p:txBody>
      </p:sp>
      <p:grpSp>
        <p:nvGrpSpPr>
          <p:cNvPr id="40965" name="Group 38"/>
          <p:cNvGrpSpPr>
            <a:grpSpLocks/>
          </p:cNvGrpSpPr>
          <p:nvPr/>
        </p:nvGrpSpPr>
        <p:grpSpPr bwMode="auto">
          <a:xfrm>
            <a:off x="1981200" y="609600"/>
            <a:ext cx="8153400" cy="5410200"/>
            <a:chOff x="288" y="384"/>
            <a:chExt cx="5136" cy="3408"/>
          </a:xfrm>
        </p:grpSpPr>
        <p:sp>
          <p:nvSpPr>
            <p:cNvPr id="40966" name="Text Box 3"/>
            <p:cNvSpPr txBox="1">
              <a:spLocks noChangeArrowheads="1"/>
            </p:cNvSpPr>
            <p:nvPr/>
          </p:nvSpPr>
          <p:spPr bwMode="auto">
            <a:xfrm>
              <a:off x="288" y="384"/>
              <a:ext cx="5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400">
                  <a:solidFill>
                    <a:srgbClr val="0000FF"/>
                  </a:solidFill>
                  <a:latin typeface="Verdana" panose="020B0604030504040204" pitchFamily="34" charset="0"/>
                  <a:ea typeface="楷体_GB2312" pitchFamily="49" charset="-122"/>
                </a:rPr>
                <a:t>发：</a:t>
              </a:r>
            </a:p>
          </p:txBody>
        </p:sp>
        <p:sp>
          <p:nvSpPr>
            <p:cNvPr id="40967" name="AutoShape 4"/>
            <p:cNvSpPr>
              <a:spLocks noChangeArrowheads="1"/>
            </p:cNvSpPr>
            <p:nvPr/>
          </p:nvSpPr>
          <p:spPr bwMode="auto">
            <a:xfrm>
              <a:off x="816" y="1920"/>
              <a:ext cx="1056" cy="288"/>
            </a:xfrm>
            <a:prstGeom prst="flowChartProcess">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Verdana" panose="020B0604030504040204" pitchFamily="34" charset="0"/>
                  <a:ea typeface="楷体_GB2312" pitchFamily="49" charset="-122"/>
                </a:rPr>
                <a:t>加头成帧</a:t>
              </a:r>
            </a:p>
          </p:txBody>
        </p:sp>
        <p:sp>
          <p:nvSpPr>
            <p:cNvPr id="40968" name="AutoShape 5"/>
            <p:cNvSpPr>
              <a:spLocks noChangeArrowheads="1"/>
            </p:cNvSpPr>
            <p:nvPr/>
          </p:nvSpPr>
          <p:spPr bwMode="auto">
            <a:xfrm>
              <a:off x="528" y="1392"/>
              <a:ext cx="1632" cy="288"/>
            </a:xfrm>
            <a:prstGeom prst="flowChartProcess">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Verdana" panose="020B0604030504040204" pitchFamily="34" charset="0"/>
                  <a:ea typeface="楷体_GB2312" pitchFamily="49" charset="-122"/>
                </a:rPr>
                <a:t>从网络层取</a:t>
              </a:r>
              <a:r>
                <a:rPr kumimoji="1" lang="en-US" altLang="zh-CN" sz="2000">
                  <a:latin typeface="Verdana" panose="020B0604030504040204" pitchFamily="34" charset="0"/>
                  <a:ea typeface="楷体_GB2312" pitchFamily="49" charset="-122"/>
                </a:rPr>
                <a:t>packet</a:t>
              </a:r>
            </a:p>
          </p:txBody>
        </p:sp>
        <p:sp>
          <p:nvSpPr>
            <p:cNvPr id="40969" name="AutoShape 6"/>
            <p:cNvSpPr>
              <a:spLocks noChangeArrowheads="1"/>
            </p:cNvSpPr>
            <p:nvPr/>
          </p:nvSpPr>
          <p:spPr bwMode="auto">
            <a:xfrm>
              <a:off x="528" y="2496"/>
              <a:ext cx="1632" cy="288"/>
            </a:xfrm>
            <a:prstGeom prst="flowChartProcess">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Verdana" panose="020B0604030504040204" pitchFamily="34" charset="0"/>
                  <a:ea typeface="楷体_GB2312" pitchFamily="49" charset="-122"/>
                </a:rPr>
                <a:t>送物理层按位发送</a:t>
              </a:r>
            </a:p>
          </p:txBody>
        </p:sp>
        <p:cxnSp>
          <p:nvCxnSpPr>
            <p:cNvPr id="40970" name="AutoShape 7"/>
            <p:cNvCxnSpPr>
              <a:cxnSpLocks noChangeShapeType="1"/>
              <a:stCxn id="40968" idx="2"/>
              <a:endCxn id="40967" idx="0"/>
            </p:cNvCxnSpPr>
            <p:nvPr/>
          </p:nvCxnSpPr>
          <p:spPr bwMode="auto">
            <a:xfrm>
              <a:off x="1344" y="1680"/>
              <a:ext cx="0" cy="2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0971" name="AutoShape 8"/>
            <p:cNvCxnSpPr>
              <a:cxnSpLocks noChangeShapeType="1"/>
              <a:stCxn id="40967" idx="2"/>
              <a:endCxn id="40969" idx="0"/>
            </p:cNvCxnSpPr>
            <p:nvPr/>
          </p:nvCxnSpPr>
          <p:spPr bwMode="auto">
            <a:xfrm>
              <a:off x="1344" y="2208"/>
              <a:ext cx="0" cy="288"/>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0972" name="AutoShape 9"/>
            <p:cNvCxnSpPr>
              <a:cxnSpLocks noChangeShapeType="1"/>
              <a:stCxn id="40977" idx="2"/>
              <a:endCxn id="40968" idx="0"/>
            </p:cNvCxnSpPr>
            <p:nvPr/>
          </p:nvCxnSpPr>
          <p:spPr bwMode="auto">
            <a:xfrm>
              <a:off x="1344" y="1008"/>
              <a:ext cx="0" cy="384"/>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40973" name="AutoShape 10"/>
            <p:cNvSpPr>
              <a:spLocks noChangeArrowheads="1"/>
            </p:cNvSpPr>
            <p:nvPr/>
          </p:nvSpPr>
          <p:spPr bwMode="auto">
            <a:xfrm>
              <a:off x="3264" y="912"/>
              <a:ext cx="1488" cy="480"/>
            </a:xfrm>
            <a:prstGeom prst="diamond">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en-US" altLang="zh-CN" sz="2000">
                  <a:latin typeface="Verdana" panose="020B0604030504040204" pitchFamily="34" charset="0"/>
                  <a:ea typeface="楷体_GB2312" pitchFamily="49" charset="-122"/>
                </a:rPr>
                <a:t> </a:t>
              </a:r>
              <a:r>
                <a:rPr kumimoji="1" lang="zh-CN" altLang="en-US" sz="2000">
                  <a:latin typeface="Verdana" panose="020B0604030504040204" pitchFamily="34" charset="0"/>
                  <a:ea typeface="楷体_GB2312" pitchFamily="49" charset="-122"/>
                </a:rPr>
                <a:t>等到</a:t>
              </a:r>
              <a:r>
                <a:rPr kumimoji="1" lang="en-US" altLang="zh-CN" sz="2000">
                  <a:latin typeface="Verdana" panose="020B0604030504040204" pitchFamily="34" charset="0"/>
                  <a:ea typeface="楷体_GB2312" pitchFamily="49" charset="-122"/>
                </a:rPr>
                <a:t>ACK</a:t>
              </a:r>
              <a:r>
                <a:rPr kumimoji="1" lang="zh-CN" altLang="en-US" sz="2000">
                  <a:latin typeface="Verdana" panose="020B0604030504040204" pitchFamily="34" charset="0"/>
                  <a:ea typeface="楷体_GB2312" pitchFamily="49" charset="-122"/>
                </a:rPr>
                <a:t>？</a:t>
              </a:r>
            </a:p>
          </p:txBody>
        </p:sp>
        <p:cxnSp>
          <p:nvCxnSpPr>
            <p:cNvPr id="40974" name="AutoShape 11"/>
            <p:cNvCxnSpPr>
              <a:cxnSpLocks noChangeShapeType="1"/>
              <a:stCxn id="40969" idx="2"/>
              <a:endCxn id="40979" idx="0"/>
            </p:cNvCxnSpPr>
            <p:nvPr/>
          </p:nvCxnSpPr>
          <p:spPr bwMode="auto">
            <a:xfrm>
              <a:off x="1344" y="2784"/>
              <a:ext cx="0" cy="336"/>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40975" name="Text Box 12"/>
            <p:cNvSpPr txBox="1">
              <a:spLocks noChangeArrowheads="1"/>
            </p:cNvSpPr>
            <p:nvPr/>
          </p:nvSpPr>
          <p:spPr bwMode="auto">
            <a:xfrm>
              <a:off x="3024" y="1082"/>
              <a:ext cx="2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a:latin typeface="Verdana" panose="020B0604030504040204" pitchFamily="34" charset="0"/>
                  <a:ea typeface="楷体_GB2312" pitchFamily="49" charset="-122"/>
                </a:rPr>
                <a:t>N</a:t>
              </a:r>
            </a:p>
          </p:txBody>
        </p:sp>
        <p:sp>
          <p:nvSpPr>
            <p:cNvPr id="40976" name="Text Box 13"/>
            <p:cNvSpPr txBox="1">
              <a:spLocks noChangeArrowheads="1"/>
            </p:cNvSpPr>
            <p:nvPr/>
          </p:nvSpPr>
          <p:spPr bwMode="auto">
            <a:xfrm>
              <a:off x="4800" y="1226"/>
              <a:ext cx="21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a:latin typeface="Verdana" panose="020B0604030504040204" pitchFamily="34" charset="0"/>
                  <a:ea typeface="楷体_GB2312" pitchFamily="49" charset="-122"/>
                </a:rPr>
                <a:t>Y</a:t>
              </a:r>
            </a:p>
          </p:txBody>
        </p:sp>
        <p:sp>
          <p:nvSpPr>
            <p:cNvPr id="40977" name="AutoShape 14"/>
            <p:cNvSpPr>
              <a:spLocks noChangeArrowheads="1"/>
            </p:cNvSpPr>
            <p:nvPr/>
          </p:nvSpPr>
          <p:spPr bwMode="auto">
            <a:xfrm>
              <a:off x="816" y="720"/>
              <a:ext cx="1056" cy="288"/>
            </a:xfrm>
            <a:prstGeom prst="flowChartProcess">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Verdana" panose="020B0604030504040204" pitchFamily="34" charset="0"/>
                  <a:ea typeface="楷体_GB2312" pitchFamily="49" charset="-122"/>
                </a:rPr>
                <a:t>序号</a:t>
              </a:r>
              <a:r>
                <a:rPr kumimoji="1" lang="en-US" altLang="zh-CN" sz="2000">
                  <a:latin typeface="Verdana" panose="020B0604030504040204" pitchFamily="34" charset="0"/>
                  <a:ea typeface="楷体_GB2312" pitchFamily="49" charset="-122"/>
                </a:rPr>
                <a:t>= 0</a:t>
              </a:r>
            </a:p>
          </p:txBody>
        </p:sp>
        <p:cxnSp>
          <p:nvCxnSpPr>
            <p:cNvPr id="40978" name="AutoShape 15"/>
            <p:cNvCxnSpPr>
              <a:cxnSpLocks noChangeShapeType="1"/>
              <a:endCxn id="40977" idx="0"/>
            </p:cNvCxnSpPr>
            <p:nvPr/>
          </p:nvCxnSpPr>
          <p:spPr bwMode="auto">
            <a:xfrm>
              <a:off x="1344" y="432"/>
              <a:ext cx="0" cy="288"/>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40979" name="AutoShape 16"/>
            <p:cNvSpPr>
              <a:spLocks noChangeArrowheads="1"/>
            </p:cNvSpPr>
            <p:nvPr/>
          </p:nvSpPr>
          <p:spPr bwMode="auto">
            <a:xfrm>
              <a:off x="816" y="3120"/>
              <a:ext cx="1056" cy="288"/>
            </a:xfrm>
            <a:prstGeom prst="flowChartProcess">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Verdana" panose="020B0604030504040204" pitchFamily="34" charset="0"/>
                  <a:ea typeface="楷体_GB2312" pitchFamily="49" charset="-122"/>
                </a:rPr>
                <a:t>启动计数器</a:t>
              </a:r>
            </a:p>
          </p:txBody>
        </p:sp>
        <p:cxnSp>
          <p:nvCxnSpPr>
            <p:cNvPr id="40980" name="AutoShape 17"/>
            <p:cNvCxnSpPr>
              <a:cxnSpLocks noChangeShapeType="1"/>
              <a:stCxn id="40979" idx="2"/>
              <a:endCxn id="40973" idx="0"/>
            </p:cNvCxnSpPr>
            <p:nvPr/>
          </p:nvCxnSpPr>
          <p:spPr bwMode="auto">
            <a:xfrm rot="5400000" flipH="1" flipV="1">
              <a:off x="1428" y="828"/>
              <a:ext cx="2496" cy="2664"/>
            </a:xfrm>
            <a:prstGeom prst="bentConnector5">
              <a:avLst>
                <a:gd name="adj1" fmla="val -5769"/>
                <a:gd name="adj2" fmla="val 45944"/>
                <a:gd name="adj3" fmla="val 105769"/>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40981" name="AutoShape 18"/>
            <p:cNvSpPr>
              <a:spLocks noChangeArrowheads="1"/>
            </p:cNvSpPr>
            <p:nvPr/>
          </p:nvSpPr>
          <p:spPr bwMode="auto">
            <a:xfrm>
              <a:off x="2784" y="1392"/>
              <a:ext cx="960" cy="432"/>
            </a:xfrm>
            <a:prstGeom prst="diamond">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en-US" altLang="zh-CN" sz="2000">
                  <a:latin typeface="Verdana" panose="020B0604030504040204" pitchFamily="34" charset="0"/>
                  <a:ea typeface="楷体_GB2312" pitchFamily="49" charset="-122"/>
                </a:rPr>
                <a:t> </a:t>
              </a:r>
              <a:r>
                <a:rPr kumimoji="1" lang="zh-CN" altLang="en-US" sz="2000">
                  <a:latin typeface="Verdana" panose="020B0604030504040204" pitchFamily="34" charset="0"/>
                  <a:ea typeface="楷体_GB2312" pitchFamily="49" charset="-122"/>
                </a:rPr>
                <a:t>超时？</a:t>
              </a:r>
            </a:p>
          </p:txBody>
        </p:sp>
        <p:cxnSp>
          <p:nvCxnSpPr>
            <p:cNvPr id="40982" name="AutoShape 19"/>
            <p:cNvCxnSpPr>
              <a:cxnSpLocks noChangeShapeType="1"/>
              <a:stCxn id="40973" idx="1"/>
              <a:endCxn id="40981" idx="0"/>
            </p:cNvCxnSpPr>
            <p:nvPr/>
          </p:nvCxnSpPr>
          <p:spPr bwMode="auto">
            <a:xfrm>
              <a:off x="3264" y="1152"/>
              <a:ext cx="0" cy="2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0983" name="AutoShape 20"/>
            <p:cNvCxnSpPr>
              <a:cxnSpLocks noChangeShapeType="1"/>
              <a:stCxn id="40981" idx="1"/>
            </p:cNvCxnSpPr>
            <p:nvPr/>
          </p:nvCxnSpPr>
          <p:spPr bwMode="auto">
            <a:xfrm flipH="1">
              <a:off x="2592" y="1608"/>
              <a:ext cx="192"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40984" name="Text Box 21"/>
            <p:cNvSpPr txBox="1">
              <a:spLocks noChangeArrowheads="1"/>
            </p:cNvSpPr>
            <p:nvPr/>
          </p:nvSpPr>
          <p:spPr bwMode="auto">
            <a:xfrm>
              <a:off x="2592" y="1370"/>
              <a:ext cx="2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a:latin typeface="Verdana" panose="020B0604030504040204" pitchFamily="34" charset="0"/>
                  <a:ea typeface="楷体_GB2312" pitchFamily="49" charset="-122"/>
                </a:rPr>
                <a:t>N</a:t>
              </a:r>
            </a:p>
          </p:txBody>
        </p:sp>
        <p:sp>
          <p:nvSpPr>
            <p:cNvPr id="40985" name="AutoShape 22"/>
            <p:cNvSpPr>
              <a:spLocks noChangeArrowheads="1"/>
            </p:cNvSpPr>
            <p:nvPr/>
          </p:nvSpPr>
          <p:spPr bwMode="auto">
            <a:xfrm>
              <a:off x="4320" y="1680"/>
              <a:ext cx="864" cy="240"/>
            </a:xfrm>
            <a:prstGeom prst="flowChartProcess">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Verdana" panose="020B0604030504040204" pitchFamily="34" charset="0"/>
                  <a:ea typeface="楷体_GB2312" pitchFamily="49" charset="-122"/>
                </a:rPr>
                <a:t>停计数</a:t>
              </a:r>
            </a:p>
          </p:txBody>
        </p:sp>
        <p:sp>
          <p:nvSpPr>
            <p:cNvPr id="40986" name="AutoShape 23"/>
            <p:cNvSpPr>
              <a:spLocks noChangeArrowheads="1"/>
            </p:cNvSpPr>
            <p:nvPr/>
          </p:nvSpPr>
          <p:spPr bwMode="auto">
            <a:xfrm>
              <a:off x="4080" y="2304"/>
              <a:ext cx="1344" cy="336"/>
            </a:xfrm>
            <a:prstGeom prst="flowChartProcess">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Verdana" panose="020B0604030504040204" pitchFamily="34" charset="0"/>
                  <a:ea typeface="楷体_GB2312" pitchFamily="49" charset="-122"/>
                </a:rPr>
                <a:t>从网络层取分组</a:t>
              </a:r>
            </a:p>
          </p:txBody>
        </p:sp>
        <p:sp>
          <p:nvSpPr>
            <p:cNvPr id="40987" name="AutoShape 24"/>
            <p:cNvSpPr>
              <a:spLocks noChangeArrowheads="1"/>
            </p:cNvSpPr>
            <p:nvPr/>
          </p:nvSpPr>
          <p:spPr bwMode="auto">
            <a:xfrm>
              <a:off x="4224" y="2832"/>
              <a:ext cx="1056" cy="288"/>
            </a:xfrm>
            <a:prstGeom prst="flowChartProcess">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000" dirty="0">
                  <a:latin typeface="Verdana" panose="020B0604030504040204" pitchFamily="34" charset="0"/>
                  <a:ea typeface="楷体_GB2312" pitchFamily="49" charset="-122"/>
                </a:rPr>
                <a:t>序号</a:t>
              </a:r>
              <a:r>
                <a:rPr kumimoji="1" lang="zh-CN" altLang="en-US" sz="2000" dirty="0">
                  <a:solidFill>
                    <a:srgbClr val="FF0000"/>
                  </a:solidFill>
                  <a:latin typeface="Verdana" panose="020B0604030504040204" pitchFamily="34" charset="0"/>
                  <a:ea typeface="楷体_GB2312" pitchFamily="49" charset="-122"/>
                </a:rPr>
                <a:t>变反</a:t>
              </a:r>
            </a:p>
          </p:txBody>
        </p:sp>
        <p:sp>
          <p:nvSpPr>
            <p:cNvPr id="40988" name="AutoShape 25"/>
            <p:cNvSpPr>
              <a:spLocks noChangeArrowheads="1"/>
            </p:cNvSpPr>
            <p:nvPr/>
          </p:nvSpPr>
          <p:spPr bwMode="auto">
            <a:xfrm>
              <a:off x="3312" y="1968"/>
              <a:ext cx="864" cy="240"/>
            </a:xfrm>
            <a:prstGeom prst="flowChartProcess">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Verdana" panose="020B0604030504040204" pitchFamily="34" charset="0"/>
                  <a:ea typeface="楷体_GB2312" pitchFamily="49" charset="-122"/>
                </a:rPr>
                <a:t>停计数</a:t>
              </a:r>
            </a:p>
          </p:txBody>
        </p:sp>
        <p:sp>
          <p:nvSpPr>
            <p:cNvPr id="40989" name="AutoShape 26"/>
            <p:cNvSpPr>
              <a:spLocks noChangeArrowheads="1"/>
            </p:cNvSpPr>
            <p:nvPr/>
          </p:nvSpPr>
          <p:spPr bwMode="auto">
            <a:xfrm>
              <a:off x="3264" y="3264"/>
              <a:ext cx="960" cy="528"/>
            </a:xfrm>
            <a:prstGeom prst="flowChartProcess">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Verdana" panose="020B0604030504040204" pitchFamily="34" charset="0"/>
                  <a:ea typeface="楷体_GB2312" pitchFamily="49" charset="-122"/>
                </a:rPr>
                <a:t>从缓冲区</a:t>
              </a:r>
            </a:p>
            <a:p>
              <a:pPr algn="ctr" eaLnBrk="1" hangingPunct="1">
                <a:spcBef>
                  <a:spcPct val="0"/>
                </a:spcBef>
                <a:buClrTx/>
                <a:buSzTx/>
                <a:buFontTx/>
                <a:buNone/>
              </a:pPr>
              <a:r>
                <a:rPr kumimoji="1" lang="zh-CN" altLang="en-US" sz="2000">
                  <a:latin typeface="Verdana" panose="020B0604030504040204" pitchFamily="34" charset="0"/>
                  <a:ea typeface="楷体_GB2312" pitchFamily="49" charset="-122"/>
                </a:rPr>
                <a:t>取原帧</a:t>
              </a:r>
            </a:p>
          </p:txBody>
        </p:sp>
        <p:cxnSp>
          <p:nvCxnSpPr>
            <p:cNvPr id="40990" name="AutoShape 27"/>
            <p:cNvCxnSpPr>
              <a:cxnSpLocks noChangeShapeType="1"/>
              <a:stCxn id="40973" idx="3"/>
              <a:endCxn id="40985" idx="0"/>
            </p:cNvCxnSpPr>
            <p:nvPr/>
          </p:nvCxnSpPr>
          <p:spPr bwMode="auto">
            <a:xfrm>
              <a:off x="4752" y="1152"/>
              <a:ext cx="0" cy="528"/>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0991" name="AutoShape 28"/>
            <p:cNvCxnSpPr>
              <a:cxnSpLocks noChangeShapeType="1"/>
              <a:stCxn id="40985" idx="2"/>
              <a:endCxn id="40986" idx="0"/>
            </p:cNvCxnSpPr>
            <p:nvPr/>
          </p:nvCxnSpPr>
          <p:spPr bwMode="auto">
            <a:xfrm>
              <a:off x="4752" y="1920"/>
              <a:ext cx="0" cy="384"/>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0992" name="AutoShape 29"/>
            <p:cNvCxnSpPr>
              <a:cxnSpLocks noChangeShapeType="1"/>
              <a:stCxn id="40986" idx="2"/>
            </p:cNvCxnSpPr>
            <p:nvPr/>
          </p:nvCxnSpPr>
          <p:spPr bwMode="auto">
            <a:xfrm>
              <a:off x="4752" y="2640"/>
              <a:ext cx="0" cy="19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0993" name="AutoShape 30"/>
            <p:cNvCxnSpPr>
              <a:cxnSpLocks noChangeShapeType="1"/>
              <a:stCxn id="40981" idx="3"/>
              <a:endCxn id="40988" idx="0"/>
            </p:cNvCxnSpPr>
            <p:nvPr/>
          </p:nvCxnSpPr>
          <p:spPr bwMode="auto">
            <a:xfrm>
              <a:off x="3744" y="1608"/>
              <a:ext cx="0" cy="36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0994" name="AutoShape 31"/>
            <p:cNvCxnSpPr>
              <a:cxnSpLocks noChangeShapeType="1"/>
              <a:stCxn id="40988" idx="2"/>
              <a:endCxn id="40989" idx="0"/>
            </p:cNvCxnSpPr>
            <p:nvPr/>
          </p:nvCxnSpPr>
          <p:spPr bwMode="auto">
            <a:xfrm>
              <a:off x="3744" y="2208"/>
              <a:ext cx="0" cy="1056"/>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40995" name="Text Box 32"/>
            <p:cNvSpPr txBox="1">
              <a:spLocks noChangeArrowheads="1"/>
            </p:cNvSpPr>
            <p:nvPr/>
          </p:nvSpPr>
          <p:spPr bwMode="auto">
            <a:xfrm>
              <a:off x="3792" y="1610"/>
              <a:ext cx="21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a:latin typeface="Verdana" panose="020B0604030504040204" pitchFamily="34" charset="0"/>
                  <a:ea typeface="楷体_GB2312" pitchFamily="49" charset="-122"/>
                </a:rPr>
                <a:t>Y</a:t>
              </a:r>
            </a:p>
          </p:txBody>
        </p:sp>
        <p:cxnSp>
          <p:nvCxnSpPr>
            <p:cNvPr id="40996" name="AutoShape 33"/>
            <p:cNvCxnSpPr>
              <a:cxnSpLocks noChangeShapeType="1"/>
            </p:cNvCxnSpPr>
            <p:nvPr/>
          </p:nvCxnSpPr>
          <p:spPr bwMode="auto">
            <a:xfrm rot="16200000" flipV="1">
              <a:off x="1896" y="1944"/>
              <a:ext cx="1296" cy="2400"/>
            </a:xfrm>
            <a:prstGeom prst="bentConnector5">
              <a:avLst>
                <a:gd name="adj1" fmla="val -11111"/>
                <a:gd name="adj2" fmla="val 43000"/>
                <a:gd name="adj3" fmla="val 111111"/>
              </a:avLst>
            </a:prstGeom>
            <a:noFill/>
            <a:ln w="9525">
              <a:solidFill>
                <a:srgbClr val="0000FF"/>
              </a:solidFill>
              <a:miter lim="800000"/>
              <a:headEnd/>
              <a:tailEnd type="triangle" w="med" len="med"/>
            </a:ln>
            <a:extLst>
              <a:ext uri="{909E8E84-426E-40DD-AFC4-6F175D3DCCD1}">
                <a14:hiddenFill xmlns:a14="http://schemas.microsoft.com/office/drawing/2010/main">
                  <a:noFill/>
                </a14:hiddenFill>
              </a:ext>
            </a:extLst>
          </p:spPr>
        </p:cxnSp>
        <p:cxnSp>
          <p:nvCxnSpPr>
            <p:cNvPr id="40997" name="AutoShape 34"/>
            <p:cNvCxnSpPr>
              <a:cxnSpLocks noChangeShapeType="1"/>
            </p:cNvCxnSpPr>
            <p:nvPr/>
          </p:nvCxnSpPr>
          <p:spPr bwMode="auto">
            <a:xfrm rot="10800000">
              <a:off x="1344" y="1776"/>
              <a:ext cx="3408" cy="1392"/>
            </a:xfrm>
            <a:prstGeom prst="bentConnector3">
              <a:avLst>
                <a:gd name="adj1" fmla="val 50000"/>
              </a:avLst>
            </a:prstGeom>
            <a:noFill/>
            <a:ln w="9525">
              <a:solidFill>
                <a:srgbClr val="FF00FF"/>
              </a:solidFill>
              <a:miter lim="800000"/>
              <a:headEnd/>
              <a:tailEnd type="triangle" w="med" len="med"/>
            </a:ln>
            <a:extLst>
              <a:ext uri="{909E8E84-426E-40DD-AFC4-6F175D3DCCD1}">
                <a14:hiddenFill xmlns:a14="http://schemas.microsoft.com/office/drawing/2010/main">
                  <a:noFill/>
                </a14:hiddenFill>
              </a:ext>
            </a:extLst>
          </p:spPr>
        </p:cxnSp>
        <p:sp>
          <p:nvSpPr>
            <p:cNvPr id="40998" name="Line 36"/>
            <p:cNvSpPr>
              <a:spLocks noChangeShapeType="1"/>
            </p:cNvSpPr>
            <p:nvPr/>
          </p:nvSpPr>
          <p:spPr bwMode="auto">
            <a:xfrm flipV="1">
              <a:off x="4752" y="3120"/>
              <a:ext cx="0" cy="48"/>
            </a:xfrm>
            <a:prstGeom prst="line">
              <a:avLst/>
            </a:prstGeom>
            <a:noFill/>
            <a:ln w="9525">
              <a:solidFill>
                <a:srgbClr val="FF66FF"/>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grpSp>
      <p:sp>
        <p:nvSpPr>
          <p:cNvPr id="2" name="TextBox 1">
            <a:extLst>
              <a:ext uri="{FF2B5EF4-FFF2-40B4-BE49-F238E27FC236}">
                <a16:creationId xmlns:a16="http://schemas.microsoft.com/office/drawing/2014/main" id="{213ADBB6-2802-0032-1EB0-58B03007C982}"/>
              </a:ext>
            </a:extLst>
          </p:cNvPr>
          <p:cNvSpPr txBox="1"/>
          <p:nvPr/>
        </p:nvSpPr>
        <p:spPr>
          <a:xfrm>
            <a:off x="5469467" y="287867"/>
            <a:ext cx="6502101" cy="461665"/>
          </a:xfrm>
          <a:prstGeom prst="rect">
            <a:avLst/>
          </a:prstGeom>
          <a:noFill/>
        </p:spPr>
        <p:txBody>
          <a:bodyPr wrap="none" rtlCol="0">
            <a:spAutoFit/>
          </a:bodyPr>
          <a:lstStyle/>
          <a:p>
            <a:r>
              <a:rPr lang="en-CN" sz="2400" dirty="0">
                <a:highlight>
                  <a:srgbClr val="FFFF00"/>
                </a:highlight>
              </a:rPr>
              <a:t>停等协议可看作是发送和接收窗口均为</a:t>
            </a:r>
            <a:r>
              <a:rPr lang="en-US" altLang="zh-CN" sz="2400" dirty="0">
                <a:highlight>
                  <a:srgbClr val="FFFF00"/>
                </a:highlight>
              </a:rPr>
              <a:t>1</a:t>
            </a:r>
            <a:r>
              <a:rPr lang="en-CN" sz="2400" dirty="0">
                <a:highlight>
                  <a:srgbClr val="FFFF00"/>
                </a:highlight>
              </a:rPr>
              <a:t>的滑窗</a:t>
            </a:r>
          </a:p>
        </p:txBody>
      </p:sp>
    </p:spTree>
    <p:extLst>
      <p:ext uri="{BB962C8B-B14F-4D97-AF65-F5344CB8AC3E}">
        <p14:creationId xmlns:p14="http://schemas.microsoft.com/office/powerpoint/2010/main" val="2867509009"/>
      </p:ext>
    </p:extLst>
  </p:cSld>
  <p:clrMapOvr>
    <a:masterClrMapping/>
  </p:clrMapOvr>
  <p:transition>
    <p:random/>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页脚占位符 1"/>
          <p:cNvSpPr>
            <a:spLocks noGrp="1"/>
          </p:cNvSpPr>
          <p:nvPr>
            <p:ph type="ftr" sz="quarter" idx="10"/>
          </p:nvPr>
        </p:nvSpPr>
        <p:spPr/>
        <p:txBody>
          <a:bodyPr/>
          <a:lstStyle/>
          <a:p>
            <a:pPr>
              <a:defRPr/>
            </a:pPr>
            <a:r>
              <a:rPr lang="en-US" altLang="zh-CN"/>
              <a:t>Computer Network</a:t>
            </a:r>
          </a:p>
        </p:txBody>
      </p:sp>
      <p:sp>
        <p:nvSpPr>
          <p:cNvPr id="41987" name="灯片编号占位符 2"/>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874C0912-74EC-4E36-B12C-D93722794E86}" type="slidenum">
              <a:rPr lang="en-US" altLang="zh-CN" sz="1200">
                <a:latin typeface="Arial Black" panose="020B0A04020102020204" pitchFamily="34" charset="0"/>
              </a:rPr>
              <a:pPr>
                <a:spcBef>
                  <a:spcPct val="0"/>
                </a:spcBef>
                <a:buClrTx/>
                <a:buSzTx/>
                <a:buFontTx/>
                <a:buNone/>
              </a:pPr>
              <a:t>97</a:t>
            </a:fld>
            <a:endParaRPr lang="en-US" altLang="zh-CN" sz="1200">
              <a:latin typeface="Arial Black" panose="020B0A04020102020204" pitchFamily="34" charset="0"/>
            </a:endParaRPr>
          </a:p>
        </p:txBody>
      </p:sp>
      <p:sp>
        <p:nvSpPr>
          <p:cNvPr id="26" name="日期占位符 3"/>
          <p:cNvSpPr>
            <a:spLocks noGrp="1"/>
          </p:cNvSpPr>
          <p:nvPr>
            <p:ph type="dt" sz="quarter" idx="12"/>
          </p:nvPr>
        </p:nvSpPr>
        <p:spPr/>
        <p:txBody>
          <a:bodyPr/>
          <a:lstStyle/>
          <a:p>
            <a:pPr>
              <a:defRPr/>
            </a:pPr>
            <a:fld id="{8BA7E38E-057E-4CD7-8F07-473255029D43}" type="datetime1">
              <a:rPr lang="zh-CN" altLang="en-US"/>
              <a:pPr>
                <a:defRPr/>
              </a:pPr>
              <a:t>2024/10/18</a:t>
            </a:fld>
            <a:endParaRPr lang="en-US" altLang="zh-CN"/>
          </a:p>
        </p:txBody>
      </p:sp>
      <p:sp>
        <p:nvSpPr>
          <p:cNvPr id="41989" name="AutoShape 3"/>
          <p:cNvSpPr>
            <a:spLocks noChangeArrowheads="1"/>
          </p:cNvSpPr>
          <p:nvPr/>
        </p:nvSpPr>
        <p:spPr bwMode="auto">
          <a:xfrm>
            <a:off x="4176713" y="914400"/>
            <a:ext cx="1833562" cy="457200"/>
          </a:xfrm>
          <a:prstGeom prst="flowChartProcess">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Verdana" panose="020B0604030504040204" pitchFamily="34" charset="0"/>
                <a:ea typeface="楷体_GB2312" pitchFamily="49" charset="-122"/>
              </a:rPr>
              <a:t>希望序号</a:t>
            </a:r>
            <a:r>
              <a:rPr kumimoji="1" lang="en-US" altLang="zh-CN" sz="2000">
                <a:latin typeface="Verdana" panose="020B0604030504040204" pitchFamily="34" charset="0"/>
                <a:ea typeface="楷体_GB2312" pitchFamily="49" charset="-122"/>
              </a:rPr>
              <a:t>=0</a:t>
            </a:r>
          </a:p>
        </p:txBody>
      </p:sp>
      <p:sp>
        <p:nvSpPr>
          <p:cNvPr id="41990" name="AutoShape 4"/>
          <p:cNvSpPr>
            <a:spLocks noChangeArrowheads="1"/>
          </p:cNvSpPr>
          <p:nvPr/>
        </p:nvSpPr>
        <p:spPr bwMode="auto">
          <a:xfrm>
            <a:off x="3335339" y="5867400"/>
            <a:ext cx="993775" cy="457200"/>
          </a:xfrm>
          <a:prstGeom prst="flowChartProcess">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000">
                <a:latin typeface="Verdana" panose="020B0604030504040204" pitchFamily="34" charset="0"/>
                <a:ea typeface="楷体_GB2312" pitchFamily="49" charset="-122"/>
              </a:rPr>
              <a:t>发</a:t>
            </a:r>
            <a:r>
              <a:rPr kumimoji="1" lang="en-US" altLang="zh-CN" sz="2000">
                <a:latin typeface="Verdana" panose="020B0604030504040204" pitchFamily="34" charset="0"/>
                <a:ea typeface="楷体_GB2312" pitchFamily="49" charset="-122"/>
              </a:rPr>
              <a:t>ACK</a:t>
            </a:r>
          </a:p>
        </p:txBody>
      </p:sp>
      <p:cxnSp>
        <p:nvCxnSpPr>
          <p:cNvPr id="41991" name="AutoShape 5"/>
          <p:cNvCxnSpPr>
            <a:cxnSpLocks noChangeShapeType="1"/>
            <a:endCxn id="41989" idx="0"/>
          </p:cNvCxnSpPr>
          <p:nvPr/>
        </p:nvCxnSpPr>
        <p:spPr bwMode="auto">
          <a:xfrm>
            <a:off x="5094288" y="533400"/>
            <a:ext cx="0" cy="3810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41992" name="AutoShape 6"/>
          <p:cNvSpPr>
            <a:spLocks noChangeArrowheads="1"/>
          </p:cNvSpPr>
          <p:nvPr/>
        </p:nvSpPr>
        <p:spPr bwMode="auto">
          <a:xfrm>
            <a:off x="4024313" y="1752600"/>
            <a:ext cx="2138362" cy="990600"/>
          </a:xfrm>
          <a:prstGeom prst="flowChartDecision">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en-US" altLang="zh-CN" sz="2000">
                <a:latin typeface="Verdana" panose="020B0604030504040204" pitchFamily="34" charset="0"/>
                <a:ea typeface="楷体_GB2312" pitchFamily="49" charset="-122"/>
              </a:rPr>
              <a:t> </a:t>
            </a:r>
            <a:r>
              <a:rPr kumimoji="1" lang="zh-CN" altLang="en-US" sz="2000">
                <a:latin typeface="Verdana" panose="020B0604030504040204" pitchFamily="34" charset="0"/>
                <a:ea typeface="楷体_GB2312" pitchFamily="49" charset="-122"/>
              </a:rPr>
              <a:t>等到帧否？</a:t>
            </a:r>
          </a:p>
        </p:txBody>
      </p:sp>
      <p:sp>
        <p:nvSpPr>
          <p:cNvPr id="41993" name="AutoShape 7"/>
          <p:cNvSpPr>
            <a:spLocks noChangeArrowheads="1"/>
          </p:cNvSpPr>
          <p:nvPr/>
        </p:nvSpPr>
        <p:spPr bwMode="auto">
          <a:xfrm>
            <a:off x="5404496" y="2819400"/>
            <a:ext cx="4441825" cy="457200"/>
          </a:xfrm>
          <a:prstGeom prst="flowChartProcess">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Verdana" panose="020B0604030504040204" pitchFamily="34" charset="0"/>
                <a:ea typeface="楷体_GB2312" pitchFamily="49" charset="-122"/>
              </a:rPr>
              <a:t>从物理层取帧</a:t>
            </a:r>
            <a:r>
              <a:rPr kumimoji="1" lang="en-US" altLang="zh-CN" sz="2000">
                <a:latin typeface="Verdana" panose="020B0604030504040204" pitchFamily="34" charset="0"/>
                <a:ea typeface="楷体_GB2312" pitchFamily="49" charset="-122"/>
              </a:rPr>
              <a:t>,</a:t>
            </a:r>
            <a:r>
              <a:rPr kumimoji="1" lang="zh-CN" altLang="en-US" sz="2000">
                <a:latin typeface="Verdana" panose="020B0604030504040204" pitchFamily="34" charset="0"/>
                <a:ea typeface="楷体_GB2312" pitchFamily="49" charset="-122"/>
              </a:rPr>
              <a:t>无错</a:t>
            </a:r>
            <a:r>
              <a:rPr kumimoji="1" lang="en-US" altLang="zh-CN" sz="2000">
                <a:latin typeface="Verdana" panose="020B0604030504040204" pitchFamily="34" charset="0"/>
                <a:ea typeface="楷体_GB2312" pitchFamily="49" charset="-122"/>
              </a:rPr>
              <a:t>,(</a:t>
            </a:r>
            <a:r>
              <a:rPr kumimoji="1" lang="zh-CN" altLang="en-US" sz="2000">
                <a:latin typeface="Verdana" panose="020B0604030504040204" pitchFamily="34" charset="0"/>
                <a:ea typeface="楷体_GB2312" pitchFamily="49" charset="-122"/>
              </a:rPr>
              <a:t>错丢弃</a:t>
            </a:r>
            <a:r>
              <a:rPr kumimoji="1" lang="en-US" altLang="zh-CN" sz="2000">
                <a:latin typeface="Verdana" panose="020B0604030504040204" pitchFamily="34" charset="0"/>
                <a:ea typeface="楷体_GB2312" pitchFamily="49" charset="-122"/>
              </a:rPr>
              <a:t>)</a:t>
            </a:r>
          </a:p>
        </p:txBody>
      </p:sp>
      <p:sp>
        <p:nvSpPr>
          <p:cNvPr id="41994" name="AutoShape 8"/>
          <p:cNvSpPr>
            <a:spLocks noChangeArrowheads="1"/>
          </p:cNvSpPr>
          <p:nvPr/>
        </p:nvSpPr>
        <p:spPr bwMode="auto">
          <a:xfrm>
            <a:off x="7720584" y="4800600"/>
            <a:ext cx="3055937" cy="457200"/>
          </a:xfrm>
          <a:prstGeom prst="flowChartProcess">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Verdana" panose="020B0604030504040204" pitchFamily="34" charset="0"/>
                <a:ea typeface="楷体_GB2312" pitchFamily="49" charset="-122"/>
              </a:rPr>
              <a:t>去头得</a:t>
            </a:r>
            <a:r>
              <a:rPr kumimoji="1" lang="en-US" altLang="zh-CN" sz="2000">
                <a:latin typeface="Verdana" panose="020B0604030504040204" pitchFamily="34" charset="0"/>
                <a:ea typeface="楷体_GB2312" pitchFamily="49" charset="-122"/>
              </a:rPr>
              <a:t>packet</a:t>
            </a:r>
            <a:r>
              <a:rPr kumimoji="1" lang="zh-CN" altLang="en-US" sz="2000">
                <a:latin typeface="Verdana" panose="020B0604030504040204" pitchFamily="34" charset="0"/>
                <a:ea typeface="楷体_GB2312" pitchFamily="49" charset="-122"/>
              </a:rPr>
              <a:t>送网络层</a:t>
            </a:r>
          </a:p>
        </p:txBody>
      </p:sp>
      <p:cxnSp>
        <p:nvCxnSpPr>
          <p:cNvPr id="41995" name="AutoShape 9"/>
          <p:cNvCxnSpPr>
            <a:cxnSpLocks noChangeShapeType="1"/>
            <a:stCxn id="41992" idx="3"/>
            <a:endCxn id="41993" idx="0"/>
          </p:cNvCxnSpPr>
          <p:nvPr/>
        </p:nvCxnSpPr>
        <p:spPr bwMode="auto">
          <a:xfrm>
            <a:off x="6162676" y="2247900"/>
            <a:ext cx="1462733" cy="571500"/>
          </a:xfrm>
          <a:prstGeom prst="bentConnector2">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41996" name="AutoShape 10"/>
          <p:cNvCxnSpPr>
            <a:cxnSpLocks noChangeShapeType="1"/>
            <a:stCxn id="41989" idx="2"/>
          </p:cNvCxnSpPr>
          <p:nvPr/>
        </p:nvCxnSpPr>
        <p:spPr bwMode="auto">
          <a:xfrm>
            <a:off x="5094289" y="1371600"/>
            <a:ext cx="1587" cy="3810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1997" name="AutoShape 11"/>
          <p:cNvCxnSpPr>
            <a:cxnSpLocks noChangeShapeType="1"/>
            <a:stCxn id="41993" idx="2"/>
            <a:endCxn id="41999" idx="0"/>
          </p:cNvCxnSpPr>
          <p:nvPr/>
        </p:nvCxnSpPr>
        <p:spPr bwMode="auto">
          <a:xfrm>
            <a:off x="7625409" y="3276600"/>
            <a:ext cx="2753" cy="3048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41998" name="Text Box 12"/>
          <p:cNvSpPr txBox="1">
            <a:spLocks noChangeArrowheads="1"/>
          </p:cNvSpPr>
          <p:nvPr/>
        </p:nvSpPr>
        <p:spPr bwMode="auto">
          <a:xfrm>
            <a:off x="2495550" y="762000"/>
            <a:ext cx="7953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400">
                <a:solidFill>
                  <a:srgbClr val="0000FF"/>
                </a:solidFill>
                <a:latin typeface="Verdana" panose="020B0604030504040204" pitchFamily="34" charset="0"/>
                <a:ea typeface="楷体_GB2312" pitchFamily="49" charset="-122"/>
              </a:rPr>
              <a:t>收：</a:t>
            </a:r>
          </a:p>
        </p:txBody>
      </p:sp>
      <p:sp>
        <p:nvSpPr>
          <p:cNvPr id="41999" name="AutoShape 13"/>
          <p:cNvSpPr>
            <a:spLocks noChangeArrowheads="1"/>
          </p:cNvSpPr>
          <p:nvPr/>
        </p:nvSpPr>
        <p:spPr bwMode="auto">
          <a:xfrm>
            <a:off x="6023992" y="3581400"/>
            <a:ext cx="3208338" cy="1066800"/>
          </a:xfrm>
          <a:prstGeom prst="diamond">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en-US" altLang="zh-CN" sz="2000">
                <a:latin typeface="Verdana" panose="020B0604030504040204" pitchFamily="34" charset="0"/>
                <a:ea typeface="楷体_GB2312" pitchFamily="49" charset="-122"/>
              </a:rPr>
              <a:t> </a:t>
            </a:r>
            <a:r>
              <a:rPr kumimoji="1" lang="zh-CN" altLang="en-US" sz="2000">
                <a:latin typeface="Verdana" panose="020B0604030504040204" pitchFamily="34" charset="0"/>
                <a:ea typeface="楷体_GB2312" pitchFamily="49" charset="-122"/>
              </a:rPr>
              <a:t>帧序号</a:t>
            </a:r>
            <a:r>
              <a:rPr kumimoji="1" lang="en-US" altLang="zh-CN" sz="2000">
                <a:latin typeface="Verdana" panose="020B0604030504040204" pitchFamily="34" charset="0"/>
                <a:ea typeface="楷体_GB2312" pitchFamily="49" charset="-122"/>
              </a:rPr>
              <a:t>=</a:t>
            </a:r>
            <a:r>
              <a:rPr kumimoji="1" lang="zh-CN" altLang="en-US" sz="2000">
                <a:latin typeface="Verdana" panose="020B0604030504040204" pitchFamily="34" charset="0"/>
                <a:ea typeface="楷体_GB2312" pitchFamily="49" charset="-122"/>
              </a:rPr>
              <a:t>希望序号？</a:t>
            </a:r>
          </a:p>
        </p:txBody>
      </p:sp>
      <p:cxnSp>
        <p:nvCxnSpPr>
          <p:cNvPr id="42000" name="AutoShape 14"/>
          <p:cNvCxnSpPr>
            <a:cxnSpLocks noChangeShapeType="1"/>
          </p:cNvCxnSpPr>
          <p:nvPr/>
        </p:nvCxnSpPr>
        <p:spPr bwMode="auto">
          <a:xfrm rot="5400000">
            <a:off x="4933727" y="4914107"/>
            <a:ext cx="1981200" cy="382587"/>
          </a:xfrm>
          <a:prstGeom prst="bentConnector3">
            <a:avLst>
              <a:gd name="adj1" fmla="val -1046"/>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42001" name="Text Box 15"/>
          <p:cNvSpPr txBox="1">
            <a:spLocks noChangeArrowheads="1"/>
          </p:cNvSpPr>
          <p:nvPr/>
        </p:nvSpPr>
        <p:spPr bwMode="auto">
          <a:xfrm>
            <a:off x="5324252" y="3962401"/>
            <a:ext cx="3746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a:latin typeface="Verdana" panose="020B0604030504040204" pitchFamily="34" charset="0"/>
                <a:ea typeface="楷体_GB2312" pitchFamily="49" charset="-122"/>
              </a:rPr>
              <a:t>N</a:t>
            </a:r>
          </a:p>
        </p:txBody>
      </p:sp>
      <p:sp>
        <p:nvSpPr>
          <p:cNvPr id="42002" name="Text Box 16"/>
          <p:cNvSpPr txBox="1">
            <a:spLocks noChangeArrowheads="1"/>
          </p:cNvSpPr>
          <p:nvPr/>
        </p:nvSpPr>
        <p:spPr bwMode="auto">
          <a:xfrm>
            <a:off x="9247759" y="4003676"/>
            <a:ext cx="3397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a:latin typeface="Verdana" panose="020B0604030504040204" pitchFamily="34" charset="0"/>
                <a:ea typeface="楷体_GB2312" pitchFamily="49" charset="-122"/>
              </a:rPr>
              <a:t>Y</a:t>
            </a:r>
          </a:p>
        </p:txBody>
      </p:sp>
      <p:sp>
        <p:nvSpPr>
          <p:cNvPr id="42003" name="AutoShape 17"/>
          <p:cNvSpPr>
            <a:spLocks noChangeArrowheads="1"/>
          </p:cNvSpPr>
          <p:nvPr/>
        </p:nvSpPr>
        <p:spPr bwMode="auto">
          <a:xfrm>
            <a:off x="8331771" y="5486400"/>
            <a:ext cx="1833563" cy="457200"/>
          </a:xfrm>
          <a:prstGeom prst="flowChartProcess">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000" dirty="0">
                <a:latin typeface="Verdana" panose="020B0604030504040204" pitchFamily="34" charset="0"/>
                <a:ea typeface="楷体_GB2312" pitchFamily="49" charset="-122"/>
              </a:rPr>
              <a:t>希望序号</a:t>
            </a:r>
            <a:r>
              <a:rPr kumimoji="1" lang="zh-CN" altLang="en-US" sz="2000" dirty="0">
                <a:solidFill>
                  <a:srgbClr val="FF0000"/>
                </a:solidFill>
                <a:latin typeface="Verdana" panose="020B0604030504040204" pitchFamily="34" charset="0"/>
                <a:ea typeface="楷体_GB2312" pitchFamily="49" charset="-122"/>
              </a:rPr>
              <a:t>变反</a:t>
            </a:r>
          </a:p>
        </p:txBody>
      </p:sp>
      <p:cxnSp>
        <p:nvCxnSpPr>
          <p:cNvPr id="42004" name="AutoShape 18"/>
          <p:cNvCxnSpPr>
            <a:cxnSpLocks noChangeShapeType="1"/>
            <a:stCxn id="41994" idx="2"/>
            <a:endCxn id="42003" idx="0"/>
          </p:cNvCxnSpPr>
          <p:nvPr/>
        </p:nvCxnSpPr>
        <p:spPr bwMode="auto">
          <a:xfrm>
            <a:off x="9247758" y="5257800"/>
            <a:ext cx="0" cy="2286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42005" name="Text Box 19"/>
          <p:cNvSpPr txBox="1">
            <a:spLocks noChangeArrowheads="1"/>
          </p:cNvSpPr>
          <p:nvPr/>
        </p:nvSpPr>
        <p:spPr bwMode="auto">
          <a:xfrm>
            <a:off x="6096001" y="1751014"/>
            <a:ext cx="3397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a:latin typeface="Verdana" panose="020B0604030504040204" pitchFamily="34" charset="0"/>
                <a:ea typeface="楷体_GB2312" pitchFamily="49" charset="-122"/>
              </a:rPr>
              <a:t>Y</a:t>
            </a:r>
          </a:p>
        </p:txBody>
      </p:sp>
      <p:sp>
        <p:nvSpPr>
          <p:cNvPr id="42006" name="Text Box 20"/>
          <p:cNvSpPr txBox="1">
            <a:spLocks noChangeArrowheads="1"/>
          </p:cNvSpPr>
          <p:nvPr/>
        </p:nvSpPr>
        <p:spPr bwMode="auto">
          <a:xfrm>
            <a:off x="3503613" y="2184401"/>
            <a:ext cx="3746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a:latin typeface="Verdana" panose="020B0604030504040204" pitchFamily="34" charset="0"/>
                <a:ea typeface="楷体_GB2312" pitchFamily="49" charset="-122"/>
              </a:rPr>
              <a:t>N</a:t>
            </a:r>
          </a:p>
        </p:txBody>
      </p:sp>
      <p:cxnSp>
        <p:nvCxnSpPr>
          <p:cNvPr id="42007" name="AutoShape 21"/>
          <p:cNvCxnSpPr>
            <a:cxnSpLocks noChangeShapeType="1"/>
            <a:stCxn id="41999" idx="3"/>
            <a:endCxn id="41994" idx="0"/>
          </p:cNvCxnSpPr>
          <p:nvPr/>
        </p:nvCxnSpPr>
        <p:spPr bwMode="auto">
          <a:xfrm>
            <a:off x="9232330" y="4114800"/>
            <a:ext cx="16222" cy="6858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2008" name="AutoShape 22"/>
          <p:cNvCxnSpPr>
            <a:cxnSpLocks noChangeShapeType="1"/>
            <a:stCxn id="42003" idx="2"/>
            <a:endCxn id="41990" idx="3"/>
          </p:cNvCxnSpPr>
          <p:nvPr/>
        </p:nvCxnSpPr>
        <p:spPr bwMode="auto">
          <a:xfrm rot="5400000">
            <a:off x="6712633" y="3560082"/>
            <a:ext cx="152400" cy="4919439"/>
          </a:xfrm>
          <a:prstGeom prst="bentConnector2">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42009" name="AutoShape 23"/>
          <p:cNvCxnSpPr>
            <a:cxnSpLocks noChangeShapeType="1"/>
            <a:stCxn id="41990" idx="1"/>
          </p:cNvCxnSpPr>
          <p:nvPr/>
        </p:nvCxnSpPr>
        <p:spPr bwMode="auto">
          <a:xfrm rot="10800000" flipH="1">
            <a:off x="3335338" y="1600200"/>
            <a:ext cx="1757362" cy="4495800"/>
          </a:xfrm>
          <a:prstGeom prst="bentConnector4">
            <a:avLst>
              <a:gd name="adj1" fmla="val -17755"/>
              <a:gd name="adj2" fmla="val 102856"/>
            </a:avLst>
          </a:prstGeom>
          <a:noFill/>
          <a:ln w="9525">
            <a:solidFill>
              <a:srgbClr val="0000FF"/>
            </a:solidFill>
            <a:miter lim="800000"/>
            <a:headEnd/>
            <a:tailEnd type="triangle" w="med" len="med"/>
          </a:ln>
          <a:extLst>
            <a:ext uri="{909E8E84-426E-40DD-AFC4-6F175D3DCCD1}">
              <a14:hiddenFill xmlns:a14="http://schemas.microsoft.com/office/drawing/2010/main">
                <a:noFill/>
              </a14:hiddenFill>
            </a:ext>
          </a:extLst>
        </p:spPr>
      </p:cxnSp>
      <p:cxnSp>
        <p:nvCxnSpPr>
          <p:cNvPr id="42010" name="AutoShape 24"/>
          <p:cNvCxnSpPr>
            <a:cxnSpLocks noChangeShapeType="1"/>
            <a:stCxn id="41992" idx="1"/>
          </p:cNvCxnSpPr>
          <p:nvPr/>
        </p:nvCxnSpPr>
        <p:spPr bwMode="auto">
          <a:xfrm flipH="1">
            <a:off x="3030539" y="2247900"/>
            <a:ext cx="993775"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2180420189"/>
      </p:ext>
    </p:extLst>
  </p:cSld>
  <p:clrMapOvr>
    <a:masterClrMapping/>
  </p:clrMapOvr>
  <p:transition>
    <p:random/>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页脚占位符 3"/>
          <p:cNvSpPr>
            <a:spLocks noGrp="1"/>
          </p:cNvSpPr>
          <p:nvPr>
            <p:ph type="ftr" sz="quarter" idx="10"/>
          </p:nvPr>
        </p:nvSpPr>
        <p:spPr/>
        <p:txBody>
          <a:bodyPr/>
          <a:lstStyle/>
          <a:p>
            <a:pPr>
              <a:defRPr/>
            </a:pPr>
            <a:r>
              <a:rPr lang="en-US" altLang="zh-CN" dirty="0"/>
              <a:t>Computer Network</a:t>
            </a:r>
          </a:p>
        </p:txBody>
      </p:sp>
      <p:sp>
        <p:nvSpPr>
          <p:cNvPr id="51203" name="灯片编号占位符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9A09CB71-6237-493F-BEC8-344350E9D5AE}" type="slidenum">
              <a:rPr lang="en-US" altLang="zh-CN" sz="1200">
                <a:latin typeface="Arial Black" panose="020B0A04020102020204" pitchFamily="34" charset="0"/>
              </a:rPr>
              <a:pPr>
                <a:spcBef>
                  <a:spcPct val="0"/>
                </a:spcBef>
                <a:buClrTx/>
                <a:buSzTx/>
                <a:buFontTx/>
                <a:buNone/>
              </a:pPr>
              <a:t>98</a:t>
            </a:fld>
            <a:endParaRPr lang="en-US" altLang="zh-CN" sz="1200">
              <a:latin typeface="Arial Black" panose="020B0A04020102020204" pitchFamily="34" charset="0"/>
            </a:endParaRPr>
          </a:p>
        </p:txBody>
      </p:sp>
      <p:sp>
        <p:nvSpPr>
          <p:cNvPr id="54" name="日期占位符 5"/>
          <p:cNvSpPr>
            <a:spLocks noGrp="1"/>
          </p:cNvSpPr>
          <p:nvPr>
            <p:ph type="dt" sz="quarter" idx="12"/>
          </p:nvPr>
        </p:nvSpPr>
        <p:spPr/>
        <p:txBody>
          <a:bodyPr/>
          <a:lstStyle/>
          <a:p>
            <a:pPr>
              <a:defRPr/>
            </a:pPr>
            <a:fld id="{393FA3CF-1822-4540-9821-D44B1EA8D8EC}" type="datetime1">
              <a:rPr lang="zh-CN" altLang="en-US"/>
              <a:pPr>
                <a:defRPr/>
              </a:pPr>
              <a:t>2024/10/18</a:t>
            </a:fld>
            <a:endParaRPr lang="en-US" altLang="zh-CN"/>
          </a:p>
        </p:txBody>
      </p:sp>
      <p:sp>
        <p:nvSpPr>
          <p:cNvPr id="870402" name="Rectangle 2"/>
          <p:cNvSpPr>
            <a:spLocks noGrp="1" noChangeArrowheads="1"/>
          </p:cNvSpPr>
          <p:nvPr>
            <p:ph type="title"/>
          </p:nvPr>
        </p:nvSpPr>
        <p:spPr>
          <a:xfrm>
            <a:off x="1981200" y="702735"/>
            <a:ext cx="8345488" cy="609600"/>
          </a:xfrm>
        </p:spPr>
        <p:txBody>
          <a:bodyPr/>
          <a:lstStyle/>
          <a:p>
            <a:pPr eaLnBrk="1" hangingPunct="1">
              <a:defRPr/>
            </a:pPr>
            <a:r>
              <a:rPr lang="en-US" altLang="zh-CN" sz="2800" dirty="0">
                <a:solidFill>
                  <a:srgbClr val="0000FF"/>
                </a:solidFill>
              </a:rPr>
              <a:t>2</a:t>
            </a:r>
            <a:r>
              <a:rPr lang="zh-CN" altLang="en-US" sz="2800" dirty="0">
                <a:solidFill>
                  <a:srgbClr val="0000FF"/>
                </a:solidFill>
              </a:rPr>
              <a:t>、连续</a:t>
            </a:r>
            <a:r>
              <a:rPr lang="en-US" altLang="zh-CN" sz="2800" dirty="0">
                <a:solidFill>
                  <a:srgbClr val="0000FF"/>
                </a:solidFill>
              </a:rPr>
              <a:t>ARQ</a:t>
            </a:r>
            <a:r>
              <a:rPr lang="zh-CN" altLang="en-US" sz="2800" dirty="0">
                <a:solidFill>
                  <a:srgbClr val="0000FF"/>
                </a:solidFill>
              </a:rPr>
              <a:t>协议</a:t>
            </a:r>
            <a:r>
              <a:rPr lang="en-US" altLang="zh-CN" sz="2800" dirty="0">
                <a:solidFill>
                  <a:srgbClr val="0000FF"/>
                </a:solidFill>
              </a:rPr>
              <a:t>(</a:t>
            </a:r>
            <a:r>
              <a:rPr lang="zh-CN" altLang="en-US" sz="2800" dirty="0">
                <a:solidFill>
                  <a:srgbClr val="0000FF"/>
                </a:solidFill>
              </a:rPr>
              <a:t>又称</a:t>
            </a:r>
            <a:r>
              <a:rPr lang="en-US" altLang="zh-CN" sz="2800" dirty="0">
                <a:solidFill>
                  <a:srgbClr val="0000FF"/>
                </a:solidFill>
              </a:rPr>
              <a:t>Go-Back-N)【</a:t>
            </a:r>
            <a:r>
              <a:rPr lang="zh-CN" altLang="en-US" sz="2800" dirty="0">
                <a:solidFill>
                  <a:srgbClr val="0000FF"/>
                </a:solidFill>
              </a:rPr>
              <a:t>协议</a:t>
            </a:r>
            <a:r>
              <a:rPr lang="en-US" altLang="zh-CN" sz="2800" dirty="0">
                <a:solidFill>
                  <a:srgbClr val="0000FF"/>
                </a:solidFill>
              </a:rPr>
              <a:t>5】</a:t>
            </a:r>
          </a:p>
        </p:txBody>
      </p:sp>
      <p:sp>
        <p:nvSpPr>
          <p:cNvPr id="870403" name="Rectangle 3"/>
          <p:cNvSpPr>
            <a:spLocks noGrp="1" noChangeArrowheads="1"/>
          </p:cNvSpPr>
          <p:nvPr>
            <p:ph type="body" idx="1"/>
          </p:nvPr>
        </p:nvSpPr>
        <p:spPr>
          <a:xfrm>
            <a:off x="2354264" y="1379010"/>
            <a:ext cx="7483475" cy="1309688"/>
          </a:xfrm>
        </p:spPr>
        <p:txBody>
          <a:bodyPr>
            <a:normAutofit fontScale="92500" lnSpcReduction="20000"/>
          </a:bodyPr>
          <a:lstStyle/>
          <a:p>
            <a:pPr eaLnBrk="1" hangingPunct="1">
              <a:lnSpc>
                <a:spcPct val="90000"/>
              </a:lnSpc>
              <a:buSzPct val="90000"/>
              <a:buFont typeface="Wingdings" panose="05000000000000000000" pitchFamily="2" charset="2"/>
              <a:buChar char="§"/>
              <a:defRPr/>
            </a:pPr>
            <a:r>
              <a:rPr lang="en-US" altLang="zh-CN" sz="2400" dirty="0">
                <a:solidFill>
                  <a:srgbClr val="0000FF"/>
                </a:solidFill>
                <a:effectLst>
                  <a:outerShdw blurRad="38100" dist="38100" dir="2700000" algn="tl">
                    <a:srgbClr val="C0C0C0"/>
                  </a:outerShdw>
                </a:effectLst>
                <a:ea typeface="楷体_GB2312" pitchFamily="49" charset="-122"/>
              </a:rPr>
              <a:t>A</a:t>
            </a:r>
            <a:r>
              <a:rPr lang="en-US" altLang="zh-CN" sz="2400" dirty="0">
                <a:ea typeface="楷体_GB2312" pitchFamily="49" charset="-122"/>
              </a:rPr>
              <a:t>utomatic </a:t>
            </a:r>
            <a:r>
              <a:rPr lang="en-US" altLang="zh-CN" sz="2400" dirty="0">
                <a:solidFill>
                  <a:srgbClr val="0000FF"/>
                </a:solidFill>
                <a:effectLst>
                  <a:outerShdw blurRad="38100" dist="38100" dir="2700000" algn="tl">
                    <a:srgbClr val="C0C0C0"/>
                  </a:outerShdw>
                </a:effectLst>
                <a:ea typeface="楷体_GB2312" pitchFamily="49" charset="-122"/>
              </a:rPr>
              <a:t>R</a:t>
            </a:r>
            <a:r>
              <a:rPr lang="en-US" altLang="zh-CN" sz="2400" dirty="0">
                <a:ea typeface="楷体_GB2312" pitchFamily="49" charset="-122"/>
              </a:rPr>
              <a:t>epeat </a:t>
            </a:r>
            <a:r>
              <a:rPr lang="en-US" altLang="zh-CN" sz="2400" dirty="0" err="1">
                <a:ea typeface="楷体_GB2312" pitchFamily="49" charset="-122"/>
              </a:rPr>
              <a:t>re</a:t>
            </a:r>
            <a:r>
              <a:rPr lang="en-US" altLang="zh-CN" sz="2400" dirty="0" err="1">
                <a:solidFill>
                  <a:srgbClr val="0000FF"/>
                </a:solidFill>
                <a:effectLst>
                  <a:outerShdw blurRad="38100" dist="38100" dir="2700000" algn="tl">
                    <a:srgbClr val="C0C0C0"/>
                  </a:outerShdw>
                </a:effectLst>
                <a:ea typeface="楷体_GB2312" pitchFamily="49" charset="-122"/>
              </a:rPr>
              <a:t>Q</a:t>
            </a:r>
            <a:r>
              <a:rPr lang="en-US" altLang="zh-CN" sz="2400" dirty="0" err="1">
                <a:ea typeface="楷体_GB2312" pitchFamily="49" charset="-122"/>
              </a:rPr>
              <a:t>uest</a:t>
            </a:r>
            <a:endParaRPr lang="en-US" altLang="zh-CN" sz="2400" dirty="0">
              <a:ea typeface="楷体_GB2312" pitchFamily="49" charset="-122"/>
            </a:endParaRPr>
          </a:p>
          <a:p>
            <a:pPr eaLnBrk="1" hangingPunct="1">
              <a:lnSpc>
                <a:spcPct val="90000"/>
              </a:lnSpc>
              <a:buSzPct val="90000"/>
              <a:buFont typeface="Wingdings" panose="05000000000000000000" pitchFamily="2" charset="2"/>
              <a:buChar char="§"/>
              <a:defRPr/>
            </a:pPr>
            <a:r>
              <a:rPr lang="zh-CN" altLang="en-US" sz="2400" dirty="0">
                <a:latin typeface="Times New Roman" pitchFamily="18" charset="0"/>
                <a:ea typeface="楷体_GB2312" pitchFamily="49" charset="-122"/>
              </a:rPr>
              <a:t>发送窗口</a:t>
            </a:r>
            <a:r>
              <a:rPr lang="en-US" altLang="zh-CN" sz="2400" dirty="0">
                <a:latin typeface="Times New Roman" pitchFamily="18" charset="0"/>
                <a:ea typeface="楷体_GB2312" pitchFamily="49" charset="-122"/>
              </a:rPr>
              <a:t>≥ 1</a:t>
            </a:r>
            <a:r>
              <a:rPr lang="zh-CN" altLang="en-US" sz="2400" dirty="0">
                <a:latin typeface="Times New Roman" pitchFamily="18" charset="0"/>
                <a:ea typeface="楷体_GB2312" pitchFamily="49" charset="-122"/>
              </a:rPr>
              <a:t>，接收窗口</a:t>
            </a:r>
            <a:r>
              <a:rPr lang="en-US" altLang="zh-CN" sz="2400" dirty="0">
                <a:latin typeface="Times New Roman" pitchFamily="18" charset="0"/>
                <a:ea typeface="楷体_GB2312" pitchFamily="49" charset="-122"/>
              </a:rPr>
              <a:t>≥1     </a:t>
            </a:r>
            <a:r>
              <a:rPr lang="en-US" altLang="zh-CN" sz="2400" dirty="0">
                <a:solidFill>
                  <a:srgbClr val="0000FF"/>
                </a:solidFill>
                <a:latin typeface="Verdana" pitchFamily="34" charset="0"/>
                <a:ea typeface="楷体_GB2312" pitchFamily="49" charset="-122"/>
              </a:rPr>
              <a:t> </a:t>
            </a:r>
            <a:r>
              <a:rPr lang="en-US" altLang="zh-CN" sz="2400" dirty="0">
                <a:solidFill>
                  <a:srgbClr val="0000FF"/>
                </a:solidFill>
                <a:ea typeface="楷体_GB2312" pitchFamily="49" charset="-122"/>
              </a:rPr>
              <a:t>W</a:t>
            </a:r>
            <a:r>
              <a:rPr lang="en-US" altLang="zh-CN" sz="2400" baseline="-25000" dirty="0">
                <a:solidFill>
                  <a:srgbClr val="0000FF"/>
                </a:solidFill>
                <a:ea typeface="楷体_GB2312" pitchFamily="49" charset="-122"/>
              </a:rPr>
              <a:t>T</a:t>
            </a:r>
            <a:r>
              <a:rPr lang="en-US" altLang="zh-CN" sz="2400" dirty="0">
                <a:solidFill>
                  <a:srgbClr val="0000FF"/>
                </a:solidFill>
                <a:ea typeface="楷体_GB2312" pitchFamily="49" charset="-122"/>
              </a:rPr>
              <a:t>=2</a:t>
            </a:r>
            <a:r>
              <a:rPr lang="en-US" altLang="zh-CN" sz="2400" baseline="30000" dirty="0">
                <a:solidFill>
                  <a:srgbClr val="0000FF"/>
                </a:solidFill>
                <a:ea typeface="楷体_GB2312" pitchFamily="49" charset="-122"/>
              </a:rPr>
              <a:t>n </a:t>
            </a:r>
            <a:r>
              <a:rPr lang="en-US" altLang="zh-CN" sz="2400" dirty="0">
                <a:solidFill>
                  <a:srgbClr val="0000FF"/>
                </a:solidFill>
                <a:ea typeface="楷体_GB2312" pitchFamily="49" charset="-122"/>
              </a:rPr>
              <a:t>– 1</a:t>
            </a:r>
            <a:r>
              <a:rPr lang="zh-CN" altLang="en-US" sz="2400" dirty="0">
                <a:solidFill>
                  <a:srgbClr val="0000FF"/>
                </a:solidFill>
                <a:ea typeface="楷体_GB2312" pitchFamily="49" charset="-122"/>
              </a:rPr>
              <a:t>时，</a:t>
            </a:r>
            <a:r>
              <a:rPr lang="en-US" altLang="zh-CN" sz="2400" dirty="0">
                <a:solidFill>
                  <a:srgbClr val="0000FF"/>
                </a:solidFill>
                <a:latin typeface="Verdana" pitchFamily="34" charset="0"/>
                <a:ea typeface="楷体_GB2312" pitchFamily="49" charset="-122"/>
              </a:rPr>
              <a:t>W</a:t>
            </a:r>
            <a:r>
              <a:rPr lang="en-US" altLang="zh-CN" sz="2400" baseline="-25000" dirty="0">
                <a:solidFill>
                  <a:srgbClr val="0000FF"/>
                </a:solidFill>
                <a:latin typeface="Verdana" pitchFamily="34" charset="0"/>
                <a:ea typeface="楷体_GB2312" pitchFamily="49" charset="-122"/>
              </a:rPr>
              <a:t>R</a:t>
            </a:r>
            <a:r>
              <a:rPr lang="en-US" altLang="zh-CN" sz="2400" dirty="0">
                <a:solidFill>
                  <a:srgbClr val="0000FF"/>
                </a:solidFill>
                <a:latin typeface="Verdana" pitchFamily="34" charset="0"/>
                <a:ea typeface="楷体_GB2312" pitchFamily="49" charset="-122"/>
              </a:rPr>
              <a:t>=1</a:t>
            </a:r>
            <a:r>
              <a:rPr lang="en-US" altLang="zh-CN" sz="2400" dirty="0">
                <a:latin typeface="Times New Roman" pitchFamily="18" charset="0"/>
                <a:ea typeface="楷体_GB2312" pitchFamily="49" charset="-122"/>
              </a:rPr>
              <a:t> </a:t>
            </a:r>
          </a:p>
          <a:p>
            <a:pPr eaLnBrk="1" hangingPunct="1">
              <a:lnSpc>
                <a:spcPct val="90000"/>
              </a:lnSpc>
              <a:buSzPct val="90000"/>
              <a:buFont typeface="Wingdings" panose="05000000000000000000" pitchFamily="2" charset="2"/>
              <a:buChar char="§"/>
              <a:defRPr/>
            </a:pPr>
            <a:r>
              <a:rPr lang="en-US" altLang="zh-CN" sz="2400" dirty="0">
                <a:latin typeface="Times New Roman" pitchFamily="18" charset="0"/>
                <a:ea typeface="楷体_GB2312" pitchFamily="49" charset="-122"/>
              </a:rPr>
              <a:t> </a:t>
            </a:r>
            <a:r>
              <a:rPr lang="en-US" altLang="zh-CN" sz="2400" dirty="0">
                <a:solidFill>
                  <a:srgbClr val="FF3300"/>
                </a:solidFill>
                <a:ea typeface="楷体_GB2312" pitchFamily="49" charset="-122"/>
              </a:rPr>
              <a:t>W</a:t>
            </a:r>
            <a:r>
              <a:rPr lang="en-US" altLang="zh-CN" sz="2400" baseline="-25000" dirty="0">
                <a:solidFill>
                  <a:srgbClr val="FF3300"/>
                </a:solidFill>
                <a:ea typeface="楷体_GB2312" pitchFamily="49" charset="-122"/>
              </a:rPr>
              <a:t>T</a:t>
            </a:r>
            <a:r>
              <a:rPr lang="en-US" altLang="zh-CN" sz="2400" dirty="0">
                <a:solidFill>
                  <a:srgbClr val="FF3300"/>
                </a:solidFill>
                <a:ea typeface="楷体_GB2312" pitchFamily="49" charset="-122"/>
              </a:rPr>
              <a:t> +</a:t>
            </a:r>
            <a:r>
              <a:rPr lang="en-US" altLang="zh-CN" sz="2400" dirty="0">
                <a:solidFill>
                  <a:srgbClr val="FF3300"/>
                </a:solidFill>
                <a:latin typeface="Verdana" pitchFamily="34" charset="0"/>
                <a:ea typeface="楷体_GB2312" pitchFamily="49" charset="-122"/>
              </a:rPr>
              <a:t>W</a:t>
            </a:r>
            <a:r>
              <a:rPr lang="en-US" altLang="zh-CN" sz="2400" baseline="-25000" dirty="0">
                <a:solidFill>
                  <a:srgbClr val="FF3300"/>
                </a:solidFill>
                <a:latin typeface="Verdana" pitchFamily="34" charset="0"/>
                <a:ea typeface="楷体_GB2312" pitchFamily="49" charset="-122"/>
              </a:rPr>
              <a:t>R</a:t>
            </a:r>
            <a:r>
              <a:rPr lang="en-US" altLang="zh-CN" sz="2400" dirty="0">
                <a:solidFill>
                  <a:srgbClr val="FF3300"/>
                </a:solidFill>
                <a:ea typeface="楷体_GB2312" pitchFamily="49" charset="-122"/>
              </a:rPr>
              <a:t>≤ 2</a:t>
            </a:r>
            <a:r>
              <a:rPr lang="en-US" altLang="zh-CN" sz="2400" baseline="30000" dirty="0">
                <a:solidFill>
                  <a:srgbClr val="FF3300"/>
                </a:solidFill>
                <a:ea typeface="楷体_GB2312" pitchFamily="49" charset="-122"/>
              </a:rPr>
              <a:t>n </a:t>
            </a:r>
            <a:r>
              <a:rPr lang="zh-CN" altLang="en-US" sz="2400" dirty="0">
                <a:solidFill>
                  <a:srgbClr val="FF3300"/>
                </a:solidFill>
                <a:ea typeface="楷体_GB2312" pitchFamily="49" charset="-122"/>
              </a:rPr>
              <a:t>成立</a:t>
            </a:r>
            <a:r>
              <a:rPr lang="zh-CN" altLang="en-US" sz="2000" dirty="0">
                <a:solidFill>
                  <a:srgbClr val="FF66FF"/>
                </a:solidFill>
                <a:ea typeface="楷体_GB2312" pitchFamily="49" charset="-122"/>
              </a:rPr>
              <a:t>  </a:t>
            </a:r>
            <a:r>
              <a:rPr lang="en-US" altLang="zh-CN" sz="2000" dirty="0">
                <a:solidFill>
                  <a:srgbClr val="CC0099"/>
                </a:solidFill>
                <a:ea typeface="楷体_GB2312" pitchFamily="49" charset="-122"/>
              </a:rPr>
              <a:t>(</a:t>
            </a:r>
            <a:r>
              <a:rPr lang="zh-CN" altLang="en-US" sz="2000" dirty="0">
                <a:solidFill>
                  <a:srgbClr val="CC0099"/>
                </a:solidFill>
                <a:ea typeface="楷体_GB2312" pitchFamily="49" charset="-122"/>
              </a:rPr>
              <a:t>原因见教材后习题</a:t>
            </a:r>
            <a:r>
              <a:rPr lang="en-US" altLang="zh-CN" sz="2000" dirty="0">
                <a:solidFill>
                  <a:srgbClr val="CC0099"/>
                </a:solidFill>
                <a:ea typeface="楷体_GB2312" pitchFamily="49" charset="-122"/>
              </a:rPr>
              <a:t>)</a:t>
            </a:r>
          </a:p>
          <a:p>
            <a:pPr eaLnBrk="1" hangingPunct="1">
              <a:lnSpc>
                <a:spcPct val="90000"/>
              </a:lnSpc>
              <a:buSzPct val="90000"/>
              <a:buFont typeface="Wingdings" panose="05000000000000000000" pitchFamily="2" charset="2"/>
              <a:buChar char="§"/>
              <a:defRPr/>
            </a:pPr>
            <a:r>
              <a:rPr lang="zh-CN" altLang="en-US" sz="2000" dirty="0">
                <a:solidFill>
                  <a:srgbClr val="CC0099"/>
                </a:solidFill>
                <a:latin typeface="Verdana" pitchFamily="34" charset="0"/>
                <a:ea typeface="楷体_GB2312" pitchFamily="49" charset="-122"/>
              </a:rPr>
              <a:t>例：设</a:t>
            </a:r>
            <a:r>
              <a:rPr lang="en-US" altLang="zh-CN" sz="2000" dirty="0">
                <a:solidFill>
                  <a:srgbClr val="CC0099"/>
                </a:solidFill>
                <a:latin typeface="Verdana" pitchFamily="34" charset="0"/>
                <a:ea typeface="楷体_GB2312" pitchFamily="49" charset="-122"/>
              </a:rPr>
              <a:t>n=3</a:t>
            </a:r>
            <a:r>
              <a:rPr lang="zh-CN" altLang="en-US" sz="2000" dirty="0">
                <a:solidFill>
                  <a:srgbClr val="CC0099"/>
                </a:solidFill>
                <a:latin typeface="Verdana" pitchFamily="34" charset="0"/>
                <a:ea typeface="楷体_GB2312" pitchFamily="49" charset="-122"/>
              </a:rPr>
              <a:t>，</a:t>
            </a:r>
            <a:r>
              <a:rPr lang="en-US" altLang="zh-CN" sz="2000" dirty="0">
                <a:solidFill>
                  <a:srgbClr val="CC0099"/>
                </a:solidFill>
                <a:latin typeface="Verdana" pitchFamily="34" charset="0"/>
                <a:ea typeface="楷体_GB2312" pitchFamily="49" charset="-122"/>
              </a:rPr>
              <a:t>W</a:t>
            </a:r>
            <a:r>
              <a:rPr lang="en-US" altLang="zh-CN" sz="1100" dirty="0">
                <a:solidFill>
                  <a:srgbClr val="CC0099"/>
                </a:solidFill>
                <a:latin typeface="Verdana" pitchFamily="34" charset="0"/>
                <a:ea typeface="楷体_GB2312" pitchFamily="49" charset="-122"/>
              </a:rPr>
              <a:t>T</a:t>
            </a:r>
            <a:r>
              <a:rPr lang="en-US" altLang="zh-CN" sz="2000" dirty="0">
                <a:solidFill>
                  <a:srgbClr val="CC0099"/>
                </a:solidFill>
                <a:latin typeface="Verdana" pitchFamily="34" charset="0"/>
                <a:ea typeface="楷体_GB2312" pitchFamily="49" charset="-122"/>
              </a:rPr>
              <a:t>=7</a:t>
            </a:r>
            <a:r>
              <a:rPr lang="zh-CN" altLang="en-US" sz="2000" dirty="0">
                <a:solidFill>
                  <a:srgbClr val="CC0099"/>
                </a:solidFill>
                <a:latin typeface="Verdana" pitchFamily="34" charset="0"/>
                <a:ea typeface="楷体_GB2312" pitchFamily="49" charset="-122"/>
              </a:rPr>
              <a:t>，</a:t>
            </a:r>
            <a:r>
              <a:rPr lang="en-US" altLang="zh-CN" sz="2000" dirty="0">
                <a:solidFill>
                  <a:srgbClr val="CC0099"/>
                </a:solidFill>
                <a:latin typeface="Verdana" pitchFamily="34" charset="0"/>
                <a:ea typeface="楷体_GB2312" pitchFamily="49" charset="-122"/>
              </a:rPr>
              <a:t>W</a:t>
            </a:r>
            <a:r>
              <a:rPr lang="en-US" altLang="zh-CN" sz="1200" dirty="0">
                <a:solidFill>
                  <a:srgbClr val="CC0099"/>
                </a:solidFill>
                <a:latin typeface="Verdana" pitchFamily="34" charset="0"/>
                <a:ea typeface="楷体_GB2312" pitchFamily="49" charset="-122"/>
              </a:rPr>
              <a:t>R</a:t>
            </a:r>
            <a:r>
              <a:rPr lang="en-US" altLang="zh-CN" sz="2000" dirty="0">
                <a:solidFill>
                  <a:srgbClr val="CC0099"/>
                </a:solidFill>
                <a:latin typeface="Verdana" pitchFamily="34" charset="0"/>
                <a:ea typeface="楷体_GB2312" pitchFamily="49" charset="-122"/>
              </a:rPr>
              <a:t>=1</a:t>
            </a:r>
          </a:p>
        </p:txBody>
      </p:sp>
      <p:sp>
        <p:nvSpPr>
          <p:cNvPr id="51207" name="Rectangle 4"/>
          <p:cNvSpPr>
            <a:spLocks noChangeArrowheads="1"/>
          </p:cNvSpPr>
          <p:nvPr/>
        </p:nvSpPr>
        <p:spPr bwMode="auto">
          <a:xfrm>
            <a:off x="7688264" y="5279498"/>
            <a:ext cx="251142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400">
                <a:solidFill>
                  <a:srgbClr val="0000FF"/>
                </a:solidFill>
                <a:latin typeface="Times New Roman" panose="02020603050405020304" pitchFamily="18" charset="0"/>
                <a:ea typeface="楷体_GB2312" pitchFamily="49" charset="-122"/>
              </a:rPr>
              <a:t>缺点：浪费带宽</a:t>
            </a:r>
          </a:p>
          <a:p>
            <a:pPr eaLnBrk="1" hangingPunct="1">
              <a:spcBef>
                <a:spcPct val="0"/>
              </a:spcBef>
              <a:buClrTx/>
              <a:buSzTx/>
              <a:buFontTx/>
              <a:buNone/>
            </a:pPr>
            <a:r>
              <a:rPr kumimoji="1" lang="zh-CN" altLang="en-US" sz="2400">
                <a:solidFill>
                  <a:srgbClr val="0000FF"/>
                </a:solidFill>
                <a:latin typeface="Times New Roman" panose="02020603050405020304" pitchFamily="18" charset="0"/>
                <a:ea typeface="楷体_GB2312" pitchFamily="49" charset="-122"/>
              </a:rPr>
              <a:t>优点：省存储器</a:t>
            </a:r>
          </a:p>
        </p:txBody>
      </p:sp>
      <p:sp>
        <p:nvSpPr>
          <p:cNvPr id="51208" name="Text Box 5"/>
          <p:cNvSpPr txBox="1">
            <a:spLocks noChangeArrowheads="1"/>
          </p:cNvSpPr>
          <p:nvPr/>
        </p:nvSpPr>
        <p:spPr bwMode="auto">
          <a:xfrm>
            <a:off x="1905001" y="2944285"/>
            <a:ext cx="11033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400" b="1">
                <a:solidFill>
                  <a:srgbClr val="0000FF"/>
                </a:solidFill>
                <a:latin typeface="Times New Roman" panose="02020603050405020304" pitchFamily="18" charset="0"/>
                <a:ea typeface="楷体_GB2312" pitchFamily="49" charset="-122"/>
              </a:rPr>
              <a:t>发方：</a:t>
            </a:r>
            <a:endParaRPr kumimoji="1" lang="zh-CN" altLang="en-US" sz="2400">
              <a:solidFill>
                <a:srgbClr val="0000FF"/>
              </a:solidFill>
              <a:latin typeface="Times New Roman" panose="02020603050405020304" pitchFamily="18" charset="0"/>
              <a:ea typeface="楷体_GB2312" pitchFamily="49" charset="-122"/>
            </a:endParaRPr>
          </a:p>
        </p:txBody>
      </p:sp>
      <p:sp>
        <p:nvSpPr>
          <p:cNvPr id="51209" name="Text Box 6"/>
          <p:cNvSpPr txBox="1">
            <a:spLocks noChangeArrowheads="1"/>
          </p:cNvSpPr>
          <p:nvPr/>
        </p:nvSpPr>
        <p:spPr bwMode="auto">
          <a:xfrm>
            <a:off x="1920876" y="4447648"/>
            <a:ext cx="11033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400" b="1">
                <a:solidFill>
                  <a:srgbClr val="0000FF"/>
                </a:solidFill>
                <a:latin typeface="Times New Roman" panose="02020603050405020304" pitchFamily="18" charset="0"/>
                <a:ea typeface="楷体_GB2312" pitchFamily="49" charset="-122"/>
              </a:rPr>
              <a:t>收方：</a:t>
            </a:r>
            <a:endParaRPr kumimoji="1" lang="zh-CN" altLang="en-US" sz="2400">
              <a:solidFill>
                <a:srgbClr val="0000FF"/>
              </a:solidFill>
              <a:latin typeface="Times New Roman" panose="02020603050405020304" pitchFamily="18" charset="0"/>
              <a:ea typeface="楷体_GB2312" pitchFamily="49" charset="-122"/>
            </a:endParaRPr>
          </a:p>
        </p:txBody>
      </p:sp>
      <p:sp>
        <p:nvSpPr>
          <p:cNvPr id="51210" name="Text Box 7"/>
          <p:cNvSpPr txBox="1">
            <a:spLocks noChangeArrowheads="1"/>
          </p:cNvSpPr>
          <p:nvPr/>
        </p:nvSpPr>
        <p:spPr bwMode="auto">
          <a:xfrm>
            <a:off x="3140075" y="3020485"/>
            <a:ext cx="69167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400" b="1">
                <a:latin typeface="Times New Roman" panose="02020603050405020304" pitchFamily="18" charset="0"/>
              </a:rPr>
              <a:t>0   1   </a:t>
            </a:r>
            <a:r>
              <a:rPr kumimoji="1" lang="en-US" altLang="zh-CN" sz="2400" b="1">
                <a:solidFill>
                  <a:srgbClr val="FF0000"/>
                </a:solidFill>
                <a:latin typeface="Times New Roman" panose="02020603050405020304" pitchFamily="18" charset="0"/>
              </a:rPr>
              <a:t>2   3   4   5   6   7   0     </a:t>
            </a:r>
            <a:r>
              <a:rPr kumimoji="1" lang="en-US" altLang="zh-CN" sz="2400" b="1">
                <a:latin typeface="Times New Roman" panose="02020603050405020304" pitchFamily="18" charset="0"/>
              </a:rPr>
              <a:t>2   3   4   5   6   7   0   1</a:t>
            </a:r>
            <a:endParaRPr kumimoji="1" lang="en-US" altLang="zh-CN" sz="2400">
              <a:latin typeface="Times New Roman" panose="02020603050405020304" pitchFamily="18" charset="0"/>
            </a:endParaRPr>
          </a:p>
        </p:txBody>
      </p:sp>
      <p:sp>
        <p:nvSpPr>
          <p:cNvPr id="51211" name="Text Box 8"/>
          <p:cNvSpPr txBox="1">
            <a:spLocks noChangeArrowheads="1"/>
          </p:cNvSpPr>
          <p:nvPr/>
        </p:nvSpPr>
        <p:spPr bwMode="auto">
          <a:xfrm>
            <a:off x="3521076" y="4447648"/>
            <a:ext cx="6678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400" b="1">
                <a:latin typeface="Times New Roman" panose="02020603050405020304" pitchFamily="18" charset="0"/>
              </a:rPr>
              <a:t>0   1   E  D  D  D  D  D  D     2   3   4   5   6   7   0  1</a:t>
            </a:r>
            <a:endParaRPr kumimoji="1" lang="en-US" altLang="zh-CN" sz="2400">
              <a:latin typeface="Times New Roman" panose="02020603050405020304" pitchFamily="18" charset="0"/>
            </a:endParaRPr>
          </a:p>
        </p:txBody>
      </p:sp>
      <p:sp>
        <p:nvSpPr>
          <p:cNvPr id="51212" name="Line 9"/>
          <p:cNvSpPr>
            <a:spLocks noChangeShapeType="1"/>
          </p:cNvSpPr>
          <p:nvPr/>
        </p:nvSpPr>
        <p:spPr bwMode="auto">
          <a:xfrm>
            <a:off x="3313113" y="3431648"/>
            <a:ext cx="381000" cy="1066800"/>
          </a:xfrm>
          <a:prstGeom prst="line">
            <a:avLst/>
          </a:prstGeom>
          <a:noFill/>
          <a:ln w="19050">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13" name="Line 10"/>
          <p:cNvSpPr>
            <a:spLocks noChangeShapeType="1"/>
          </p:cNvSpPr>
          <p:nvPr/>
        </p:nvSpPr>
        <p:spPr bwMode="auto">
          <a:xfrm>
            <a:off x="3694113" y="3431648"/>
            <a:ext cx="381000" cy="1066800"/>
          </a:xfrm>
          <a:prstGeom prst="line">
            <a:avLst/>
          </a:prstGeom>
          <a:noFill/>
          <a:ln w="19050">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14" name="Line 11"/>
          <p:cNvSpPr>
            <a:spLocks noChangeShapeType="1"/>
          </p:cNvSpPr>
          <p:nvPr/>
        </p:nvSpPr>
        <p:spPr bwMode="auto">
          <a:xfrm flipV="1">
            <a:off x="3673475" y="3380848"/>
            <a:ext cx="1143000" cy="1143000"/>
          </a:xfrm>
          <a:prstGeom prst="line">
            <a:avLst/>
          </a:prstGeom>
          <a:noFill/>
          <a:ln w="19050">
            <a:solidFill>
              <a:srgbClr val="FF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15" name="Line 12"/>
          <p:cNvSpPr>
            <a:spLocks noChangeShapeType="1"/>
          </p:cNvSpPr>
          <p:nvPr/>
        </p:nvSpPr>
        <p:spPr bwMode="auto">
          <a:xfrm flipV="1">
            <a:off x="4054475" y="3380848"/>
            <a:ext cx="1143000" cy="1143000"/>
          </a:xfrm>
          <a:prstGeom prst="line">
            <a:avLst/>
          </a:prstGeom>
          <a:noFill/>
          <a:ln w="19050">
            <a:solidFill>
              <a:srgbClr val="FF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16" name="Line 13"/>
          <p:cNvSpPr>
            <a:spLocks noChangeShapeType="1"/>
          </p:cNvSpPr>
          <p:nvPr/>
        </p:nvSpPr>
        <p:spPr bwMode="auto">
          <a:xfrm flipV="1">
            <a:off x="7286625" y="3380848"/>
            <a:ext cx="1143000" cy="1143000"/>
          </a:xfrm>
          <a:prstGeom prst="line">
            <a:avLst/>
          </a:prstGeom>
          <a:noFill/>
          <a:ln w="19050">
            <a:solidFill>
              <a:srgbClr val="FF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17" name="Line 14"/>
          <p:cNvSpPr>
            <a:spLocks noChangeShapeType="1"/>
          </p:cNvSpPr>
          <p:nvPr/>
        </p:nvSpPr>
        <p:spPr bwMode="auto">
          <a:xfrm flipV="1">
            <a:off x="7667625" y="3380848"/>
            <a:ext cx="1143000" cy="1143000"/>
          </a:xfrm>
          <a:prstGeom prst="line">
            <a:avLst/>
          </a:prstGeom>
          <a:noFill/>
          <a:ln w="19050">
            <a:solidFill>
              <a:srgbClr val="FF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18" name="Line 15"/>
          <p:cNvSpPr>
            <a:spLocks noChangeShapeType="1"/>
          </p:cNvSpPr>
          <p:nvPr/>
        </p:nvSpPr>
        <p:spPr bwMode="auto">
          <a:xfrm flipV="1">
            <a:off x="8048625" y="3380848"/>
            <a:ext cx="1143000" cy="1143000"/>
          </a:xfrm>
          <a:prstGeom prst="line">
            <a:avLst/>
          </a:prstGeom>
          <a:noFill/>
          <a:ln w="19050">
            <a:solidFill>
              <a:srgbClr val="FF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19" name="Line 16"/>
          <p:cNvSpPr>
            <a:spLocks noChangeShapeType="1"/>
          </p:cNvSpPr>
          <p:nvPr/>
        </p:nvSpPr>
        <p:spPr bwMode="auto">
          <a:xfrm flipV="1">
            <a:off x="8429625" y="3380848"/>
            <a:ext cx="1143000" cy="1143000"/>
          </a:xfrm>
          <a:prstGeom prst="line">
            <a:avLst/>
          </a:prstGeom>
          <a:noFill/>
          <a:ln w="19050">
            <a:solidFill>
              <a:srgbClr val="FF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20" name="Text Box 17"/>
          <p:cNvSpPr txBox="1">
            <a:spLocks noChangeArrowheads="1"/>
          </p:cNvSpPr>
          <p:nvPr/>
        </p:nvSpPr>
        <p:spPr bwMode="auto">
          <a:xfrm rot="-2700000">
            <a:off x="3752851" y="3533248"/>
            <a:ext cx="758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400">
                <a:latin typeface="Times New Roman" panose="02020603050405020304" pitchFamily="18" charset="0"/>
              </a:rPr>
              <a:t>ack0</a:t>
            </a:r>
          </a:p>
        </p:txBody>
      </p:sp>
      <p:sp>
        <p:nvSpPr>
          <p:cNvPr id="51221" name="Text Box 18"/>
          <p:cNvSpPr txBox="1">
            <a:spLocks noChangeArrowheads="1"/>
          </p:cNvSpPr>
          <p:nvPr/>
        </p:nvSpPr>
        <p:spPr bwMode="auto">
          <a:xfrm rot="-2700000">
            <a:off x="4054476" y="3685648"/>
            <a:ext cx="758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400">
                <a:latin typeface="Times New Roman" panose="02020603050405020304" pitchFamily="18" charset="0"/>
              </a:rPr>
              <a:t>ack1</a:t>
            </a:r>
          </a:p>
        </p:txBody>
      </p:sp>
      <p:sp>
        <p:nvSpPr>
          <p:cNvPr id="51222" name="Text Box 19"/>
          <p:cNvSpPr txBox="1">
            <a:spLocks noChangeArrowheads="1"/>
          </p:cNvSpPr>
          <p:nvPr/>
        </p:nvSpPr>
        <p:spPr bwMode="auto">
          <a:xfrm rot="-2700000">
            <a:off x="7270751" y="3609448"/>
            <a:ext cx="758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400">
                <a:latin typeface="Times New Roman" panose="02020603050405020304" pitchFamily="18" charset="0"/>
              </a:rPr>
              <a:t>ack2</a:t>
            </a:r>
          </a:p>
        </p:txBody>
      </p:sp>
      <p:sp>
        <p:nvSpPr>
          <p:cNvPr id="51223" name="Text Box 20"/>
          <p:cNvSpPr txBox="1">
            <a:spLocks noChangeArrowheads="1"/>
          </p:cNvSpPr>
          <p:nvPr/>
        </p:nvSpPr>
        <p:spPr bwMode="auto">
          <a:xfrm rot="-2700000">
            <a:off x="7667626" y="3685648"/>
            <a:ext cx="758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400">
                <a:latin typeface="Times New Roman" panose="02020603050405020304" pitchFamily="18" charset="0"/>
              </a:rPr>
              <a:t>ack3</a:t>
            </a:r>
          </a:p>
        </p:txBody>
      </p:sp>
      <p:sp>
        <p:nvSpPr>
          <p:cNvPr id="51224" name="Text Box 21"/>
          <p:cNvSpPr txBox="1">
            <a:spLocks noChangeArrowheads="1"/>
          </p:cNvSpPr>
          <p:nvPr/>
        </p:nvSpPr>
        <p:spPr bwMode="auto">
          <a:xfrm rot="-2700000">
            <a:off x="7972426" y="3761848"/>
            <a:ext cx="758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400">
                <a:latin typeface="Times New Roman" panose="02020603050405020304" pitchFamily="18" charset="0"/>
              </a:rPr>
              <a:t>ack4</a:t>
            </a:r>
          </a:p>
        </p:txBody>
      </p:sp>
      <p:sp>
        <p:nvSpPr>
          <p:cNvPr id="51225" name="Text Box 22"/>
          <p:cNvSpPr txBox="1">
            <a:spLocks noChangeArrowheads="1"/>
          </p:cNvSpPr>
          <p:nvPr/>
        </p:nvSpPr>
        <p:spPr bwMode="auto">
          <a:xfrm rot="-2700000">
            <a:off x="8353426" y="3761848"/>
            <a:ext cx="758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400">
                <a:latin typeface="Times New Roman" panose="02020603050405020304" pitchFamily="18" charset="0"/>
              </a:rPr>
              <a:t>ack5</a:t>
            </a:r>
          </a:p>
        </p:txBody>
      </p:sp>
      <p:sp>
        <p:nvSpPr>
          <p:cNvPr id="51226" name="AutoShape 23"/>
          <p:cNvSpPr>
            <a:spLocks/>
          </p:cNvSpPr>
          <p:nvPr/>
        </p:nvSpPr>
        <p:spPr bwMode="auto">
          <a:xfrm rot="-5400000">
            <a:off x="3768725" y="4733398"/>
            <a:ext cx="190500" cy="381000"/>
          </a:xfrm>
          <a:prstGeom prst="leftBrace">
            <a:avLst>
              <a:gd name="adj1" fmla="val 16667"/>
              <a:gd name="adj2" fmla="val 50000"/>
            </a:avLst>
          </a:pr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Tx/>
              <a:buNone/>
            </a:pPr>
            <a:endParaRPr lang="zh-CN" altLang="en-US" sz="2000">
              <a:ea typeface="楷体_GB2312" pitchFamily="49" charset="-122"/>
            </a:endParaRPr>
          </a:p>
        </p:txBody>
      </p:sp>
      <p:sp>
        <p:nvSpPr>
          <p:cNvPr id="51227" name="AutoShape 24"/>
          <p:cNvSpPr>
            <a:spLocks/>
          </p:cNvSpPr>
          <p:nvPr/>
        </p:nvSpPr>
        <p:spPr bwMode="auto">
          <a:xfrm rot="-5400000">
            <a:off x="5635625" y="3933298"/>
            <a:ext cx="190500" cy="1981200"/>
          </a:xfrm>
          <a:prstGeom prst="leftBrace">
            <a:avLst>
              <a:gd name="adj1" fmla="val 86667"/>
              <a:gd name="adj2" fmla="val 50000"/>
            </a:avLst>
          </a:pr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Tx/>
              <a:buNone/>
            </a:pPr>
            <a:endParaRPr lang="zh-CN" altLang="en-US" sz="2000">
              <a:ea typeface="楷体_GB2312" pitchFamily="49" charset="-122"/>
            </a:endParaRPr>
          </a:p>
        </p:txBody>
      </p:sp>
      <p:sp>
        <p:nvSpPr>
          <p:cNvPr id="51228" name="Text Box 25"/>
          <p:cNvSpPr txBox="1">
            <a:spLocks noChangeArrowheads="1"/>
          </p:cNvSpPr>
          <p:nvPr/>
        </p:nvSpPr>
        <p:spPr bwMode="auto">
          <a:xfrm>
            <a:off x="3444875" y="5109636"/>
            <a:ext cx="438150"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000">
                <a:latin typeface="Times New Roman" panose="02020603050405020304" pitchFamily="18" charset="0"/>
                <a:ea typeface="楷体_GB2312" pitchFamily="49" charset="-122"/>
              </a:rPr>
              <a:t>收</a:t>
            </a:r>
          </a:p>
          <a:p>
            <a:pPr eaLnBrk="1" hangingPunct="1">
              <a:spcBef>
                <a:spcPct val="0"/>
              </a:spcBef>
              <a:buClrTx/>
              <a:buSzTx/>
              <a:buFontTx/>
              <a:buNone/>
            </a:pPr>
            <a:r>
              <a:rPr kumimoji="1" lang="zh-CN" altLang="en-US" sz="2000">
                <a:latin typeface="Times New Roman" panose="02020603050405020304" pitchFamily="18" charset="0"/>
                <a:ea typeface="楷体_GB2312" pitchFamily="49" charset="-122"/>
              </a:rPr>
              <a:t>到</a:t>
            </a:r>
          </a:p>
          <a:p>
            <a:pPr eaLnBrk="1" hangingPunct="1">
              <a:spcBef>
                <a:spcPct val="0"/>
              </a:spcBef>
              <a:buClrTx/>
              <a:buSzTx/>
              <a:buFontTx/>
              <a:buNone/>
            </a:pPr>
            <a:r>
              <a:rPr kumimoji="1" lang="zh-CN" altLang="en-US" sz="2000">
                <a:latin typeface="Times New Roman" panose="02020603050405020304" pitchFamily="18" charset="0"/>
                <a:ea typeface="楷体_GB2312" pitchFamily="49" charset="-122"/>
              </a:rPr>
              <a:t>接</a:t>
            </a:r>
          </a:p>
          <a:p>
            <a:pPr eaLnBrk="1" hangingPunct="1">
              <a:spcBef>
                <a:spcPct val="0"/>
              </a:spcBef>
              <a:buClrTx/>
              <a:buSzTx/>
              <a:buFontTx/>
              <a:buNone/>
            </a:pPr>
            <a:r>
              <a:rPr kumimoji="1" lang="zh-CN" altLang="en-US" sz="2000">
                <a:latin typeface="Times New Roman" panose="02020603050405020304" pitchFamily="18" charset="0"/>
                <a:ea typeface="楷体_GB2312" pitchFamily="49" charset="-122"/>
              </a:rPr>
              <a:t>收</a:t>
            </a:r>
            <a:endParaRPr kumimoji="1" lang="zh-CN" altLang="en-US" sz="2400">
              <a:latin typeface="Times New Roman" panose="02020603050405020304" pitchFamily="18" charset="0"/>
              <a:ea typeface="楷体_GB2312" pitchFamily="49" charset="-122"/>
            </a:endParaRPr>
          </a:p>
        </p:txBody>
      </p:sp>
      <p:sp>
        <p:nvSpPr>
          <p:cNvPr id="51229" name="Text Box 26"/>
          <p:cNvSpPr txBox="1">
            <a:spLocks noChangeArrowheads="1"/>
          </p:cNvSpPr>
          <p:nvPr/>
        </p:nvSpPr>
        <p:spPr bwMode="auto">
          <a:xfrm>
            <a:off x="3749675" y="4832351"/>
            <a:ext cx="438150" cy="161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000">
                <a:latin typeface="Times New Roman" panose="02020603050405020304" pitchFamily="18" charset="0"/>
                <a:ea typeface="楷体_GB2312" pitchFamily="49" charset="-122"/>
              </a:rPr>
              <a:t>窗</a:t>
            </a:r>
          </a:p>
          <a:p>
            <a:pPr eaLnBrk="1" hangingPunct="1">
              <a:spcBef>
                <a:spcPct val="0"/>
              </a:spcBef>
              <a:buClrTx/>
              <a:buSzTx/>
              <a:buFontTx/>
              <a:buNone/>
            </a:pPr>
            <a:r>
              <a:rPr kumimoji="1" lang="zh-CN" altLang="en-US" sz="2000">
                <a:latin typeface="Times New Roman" panose="02020603050405020304" pitchFamily="18" charset="0"/>
                <a:ea typeface="楷体_GB2312" pitchFamily="49" charset="-122"/>
              </a:rPr>
              <a:t>口</a:t>
            </a:r>
          </a:p>
          <a:p>
            <a:pPr eaLnBrk="1" hangingPunct="1">
              <a:spcBef>
                <a:spcPct val="0"/>
              </a:spcBef>
              <a:buClrTx/>
              <a:buSzTx/>
              <a:buFontTx/>
              <a:buNone/>
            </a:pPr>
            <a:r>
              <a:rPr kumimoji="1" lang="zh-CN" altLang="en-US" sz="2000">
                <a:latin typeface="Times New Roman" panose="02020603050405020304" pitchFamily="18" charset="0"/>
                <a:ea typeface="楷体_GB2312" pitchFamily="49" charset="-122"/>
              </a:rPr>
              <a:t>下</a:t>
            </a:r>
          </a:p>
          <a:p>
            <a:pPr eaLnBrk="1" hangingPunct="1">
              <a:spcBef>
                <a:spcPct val="0"/>
              </a:spcBef>
              <a:buClrTx/>
              <a:buSzTx/>
              <a:buFontTx/>
              <a:buNone/>
            </a:pPr>
            <a:r>
              <a:rPr kumimoji="1" lang="zh-CN" altLang="en-US" sz="2000">
                <a:latin typeface="Times New Roman" panose="02020603050405020304" pitchFamily="18" charset="0"/>
                <a:ea typeface="楷体_GB2312" pitchFamily="49" charset="-122"/>
              </a:rPr>
              <a:t>界</a:t>
            </a:r>
          </a:p>
          <a:p>
            <a:pPr eaLnBrk="1" hangingPunct="1">
              <a:spcBef>
                <a:spcPct val="0"/>
              </a:spcBef>
              <a:buClrTx/>
              <a:buSzTx/>
              <a:buFontTx/>
              <a:buNone/>
            </a:pPr>
            <a:r>
              <a:rPr kumimoji="1" lang="zh-CN" altLang="en-US" sz="2000">
                <a:latin typeface="Times New Roman" panose="02020603050405020304" pitchFamily="18" charset="0"/>
                <a:ea typeface="楷体_GB2312" pitchFamily="49" charset="-122"/>
              </a:rPr>
              <a:t>帧</a:t>
            </a:r>
            <a:endParaRPr kumimoji="1" lang="zh-CN" altLang="en-US" sz="2400">
              <a:latin typeface="Times New Roman" panose="02020603050405020304" pitchFamily="18" charset="0"/>
              <a:ea typeface="楷体_GB2312" pitchFamily="49" charset="-122"/>
            </a:endParaRPr>
          </a:p>
        </p:txBody>
      </p:sp>
      <p:sp>
        <p:nvSpPr>
          <p:cNvPr id="51230" name="Text Box 27"/>
          <p:cNvSpPr txBox="1">
            <a:spLocks noChangeArrowheads="1"/>
          </p:cNvSpPr>
          <p:nvPr/>
        </p:nvSpPr>
        <p:spPr bwMode="auto">
          <a:xfrm>
            <a:off x="4283076" y="4822826"/>
            <a:ext cx="696913" cy="163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000">
                <a:latin typeface="Times New Roman" panose="02020603050405020304" pitchFamily="18" charset="0"/>
                <a:ea typeface="楷体_GB2312" pitchFamily="49" charset="-122"/>
              </a:rPr>
              <a:t>错</a:t>
            </a:r>
          </a:p>
          <a:p>
            <a:pPr eaLnBrk="1" hangingPunct="1">
              <a:spcBef>
                <a:spcPct val="0"/>
              </a:spcBef>
              <a:buClrTx/>
              <a:buSzTx/>
              <a:buFontTx/>
              <a:buNone/>
            </a:pPr>
            <a:r>
              <a:rPr kumimoji="1" lang="zh-CN" altLang="en-US" sz="2000">
                <a:latin typeface="Times New Roman" panose="02020603050405020304" pitchFamily="18" charset="0"/>
                <a:ea typeface="楷体_GB2312" pitchFamily="49" charset="-122"/>
              </a:rPr>
              <a:t>误</a:t>
            </a:r>
          </a:p>
          <a:p>
            <a:pPr eaLnBrk="1" hangingPunct="1">
              <a:spcBef>
                <a:spcPct val="0"/>
              </a:spcBef>
              <a:buClrTx/>
              <a:buSzTx/>
              <a:buFontTx/>
              <a:buNone/>
            </a:pPr>
            <a:r>
              <a:rPr kumimoji="1" lang="zh-CN" altLang="en-US" sz="2000">
                <a:latin typeface="Times New Roman" panose="02020603050405020304" pitchFamily="18" charset="0"/>
                <a:ea typeface="楷体_GB2312" pitchFamily="49" charset="-122"/>
              </a:rPr>
              <a:t>帧、</a:t>
            </a:r>
          </a:p>
          <a:p>
            <a:pPr eaLnBrk="1" hangingPunct="1">
              <a:spcBef>
                <a:spcPct val="0"/>
              </a:spcBef>
              <a:buClrTx/>
              <a:buSzTx/>
              <a:buFontTx/>
              <a:buNone/>
            </a:pPr>
            <a:r>
              <a:rPr kumimoji="1" lang="zh-CN" altLang="en-US" sz="2000">
                <a:latin typeface="Times New Roman" panose="02020603050405020304" pitchFamily="18" charset="0"/>
                <a:ea typeface="楷体_GB2312" pitchFamily="49" charset="-122"/>
              </a:rPr>
              <a:t>丢</a:t>
            </a:r>
          </a:p>
          <a:p>
            <a:pPr eaLnBrk="1" hangingPunct="1">
              <a:spcBef>
                <a:spcPct val="0"/>
              </a:spcBef>
              <a:buClrTx/>
              <a:buSzTx/>
              <a:buFontTx/>
              <a:buNone/>
            </a:pPr>
            <a:r>
              <a:rPr kumimoji="1" lang="zh-CN" altLang="en-US" sz="2000">
                <a:latin typeface="Times New Roman" panose="02020603050405020304" pitchFamily="18" charset="0"/>
                <a:ea typeface="楷体_GB2312" pitchFamily="49" charset="-122"/>
              </a:rPr>
              <a:t>弃</a:t>
            </a:r>
            <a:endParaRPr kumimoji="1" lang="zh-CN" altLang="en-US" sz="2400">
              <a:latin typeface="Times New Roman" panose="02020603050405020304" pitchFamily="18" charset="0"/>
              <a:ea typeface="楷体_GB2312" pitchFamily="49" charset="-122"/>
            </a:endParaRPr>
          </a:p>
        </p:txBody>
      </p:sp>
      <p:sp>
        <p:nvSpPr>
          <p:cNvPr id="51231" name="Text Box 28"/>
          <p:cNvSpPr txBox="1">
            <a:spLocks noChangeArrowheads="1"/>
          </p:cNvSpPr>
          <p:nvPr/>
        </p:nvSpPr>
        <p:spPr bwMode="auto">
          <a:xfrm>
            <a:off x="4892675" y="5001686"/>
            <a:ext cx="1995488"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000">
                <a:latin typeface="Times New Roman" panose="02020603050405020304" pitchFamily="18" charset="0"/>
                <a:ea typeface="楷体_GB2312" pitchFamily="49" charset="-122"/>
              </a:rPr>
              <a:t>收到接收窗口外</a:t>
            </a:r>
          </a:p>
          <a:p>
            <a:pPr eaLnBrk="1" hangingPunct="1">
              <a:spcBef>
                <a:spcPct val="0"/>
              </a:spcBef>
              <a:buClrTx/>
              <a:buSzTx/>
              <a:buFontTx/>
              <a:buNone/>
            </a:pPr>
            <a:r>
              <a:rPr kumimoji="1" lang="zh-CN" altLang="en-US" sz="2000">
                <a:latin typeface="Times New Roman" panose="02020603050405020304" pitchFamily="18" charset="0"/>
                <a:ea typeface="楷体_GB2312" pitchFamily="49" charset="-122"/>
              </a:rPr>
              <a:t>帧</a:t>
            </a:r>
            <a:r>
              <a:rPr kumimoji="1" lang="en-US" altLang="zh-CN" sz="2000">
                <a:latin typeface="Times New Roman" panose="02020603050405020304" pitchFamily="18" charset="0"/>
                <a:ea typeface="楷体_GB2312" pitchFamily="49" charset="-122"/>
              </a:rPr>
              <a:t>, </a:t>
            </a:r>
            <a:r>
              <a:rPr kumimoji="1" lang="zh-CN" altLang="en-US" sz="2000">
                <a:latin typeface="Times New Roman" panose="02020603050405020304" pitchFamily="18" charset="0"/>
                <a:ea typeface="楷体_GB2312" pitchFamily="49" charset="-122"/>
              </a:rPr>
              <a:t>丢弃，</a:t>
            </a:r>
            <a:endParaRPr kumimoji="1" lang="en-US" altLang="zh-CN" sz="2400">
              <a:solidFill>
                <a:srgbClr val="FF3300"/>
              </a:solidFill>
              <a:latin typeface="Times New Roman" panose="02020603050405020304" pitchFamily="18" charset="0"/>
              <a:ea typeface="楷体_GB2312" pitchFamily="49" charset="-122"/>
            </a:endParaRPr>
          </a:p>
        </p:txBody>
      </p:sp>
      <p:sp>
        <p:nvSpPr>
          <p:cNvPr id="51232" name="Text Box 29"/>
          <p:cNvSpPr txBox="1">
            <a:spLocks noChangeArrowheads="1"/>
          </p:cNvSpPr>
          <p:nvPr/>
        </p:nvSpPr>
        <p:spPr bwMode="auto">
          <a:xfrm>
            <a:off x="6950075" y="4925486"/>
            <a:ext cx="438150" cy="161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000">
                <a:latin typeface="楷体_GB2312" pitchFamily="49" charset="-122"/>
                <a:ea typeface="楷体_GB2312" pitchFamily="49" charset="-122"/>
              </a:rPr>
              <a:t>重</a:t>
            </a:r>
          </a:p>
          <a:p>
            <a:pPr algn="ctr" eaLnBrk="1" hangingPunct="1">
              <a:spcBef>
                <a:spcPct val="0"/>
              </a:spcBef>
              <a:buClrTx/>
              <a:buSzTx/>
              <a:buFontTx/>
              <a:buNone/>
            </a:pPr>
            <a:r>
              <a:rPr kumimoji="1" lang="zh-CN" altLang="en-US" sz="2000">
                <a:latin typeface="楷体_GB2312" pitchFamily="49" charset="-122"/>
                <a:ea typeface="楷体_GB2312" pitchFamily="49" charset="-122"/>
              </a:rPr>
              <a:t>发</a:t>
            </a:r>
          </a:p>
          <a:p>
            <a:pPr algn="ctr" eaLnBrk="1" hangingPunct="1">
              <a:spcBef>
                <a:spcPct val="0"/>
              </a:spcBef>
              <a:buClrTx/>
              <a:buSzTx/>
              <a:buFontTx/>
              <a:buNone/>
            </a:pPr>
            <a:r>
              <a:rPr kumimoji="1" lang="en-US" altLang="zh-CN" sz="2000">
                <a:latin typeface="楷体_GB2312" pitchFamily="49" charset="-122"/>
                <a:ea typeface="楷体_GB2312" pitchFamily="49" charset="-122"/>
              </a:rPr>
              <a:t>2</a:t>
            </a:r>
          </a:p>
          <a:p>
            <a:pPr algn="ctr" eaLnBrk="1" hangingPunct="1">
              <a:spcBef>
                <a:spcPct val="0"/>
              </a:spcBef>
              <a:buClrTx/>
              <a:buSzTx/>
              <a:buFontTx/>
              <a:buNone/>
            </a:pPr>
            <a:r>
              <a:rPr kumimoji="1" lang="zh-CN" altLang="en-US" sz="2000">
                <a:latin typeface="楷体_GB2312" pitchFamily="49" charset="-122"/>
                <a:ea typeface="楷体_GB2312" pitchFamily="49" charset="-122"/>
              </a:rPr>
              <a:t>号</a:t>
            </a:r>
          </a:p>
          <a:p>
            <a:pPr algn="ctr" eaLnBrk="1" hangingPunct="1">
              <a:spcBef>
                <a:spcPct val="0"/>
              </a:spcBef>
              <a:buClrTx/>
              <a:buSzTx/>
              <a:buFontTx/>
              <a:buNone/>
            </a:pPr>
            <a:r>
              <a:rPr kumimoji="1" lang="zh-CN" altLang="en-US" sz="2000">
                <a:latin typeface="楷体_GB2312" pitchFamily="49" charset="-122"/>
                <a:ea typeface="楷体_GB2312" pitchFamily="49" charset="-122"/>
              </a:rPr>
              <a:t>帧</a:t>
            </a:r>
            <a:endParaRPr kumimoji="1" lang="zh-CN" altLang="en-US" sz="2400">
              <a:latin typeface="楷体_GB2312" pitchFamily="49" charset="-122"/>
              <a:ea typeface="楷体_GB2312" pitchFamily="49" charset="-122"/>
            </a:endParaRPr>
          </a:p>
        </p:txBody>
      </p:sp>
      <p:sp>
        <p:nvSpPr>
          <p:cNvPr id="51233" name="Text Box 34"/>
          <p:cNvSpPr txBox="1">
            <a:spLocks noChangeArrowheads="1"/>
          </p:cNvSpPr>
          <p:nvPr/>
        </p:nvSpPr>
        <p:spPr bwMode="auto">
          <a:xfrm>
            <a:off x="6743700" y="2679173"/>
            <a:ext cx="20320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1800">
                <a:latin typeface="Times New Roman" panose="02020603050405020304" pitchFamily="18" charset="0"/>
              </a:rPr>
              <a:t>发送窗口清空重发</a:t>
            </a:r>
            <a:endParaRPr kumimoji="1" lang="en-US" altLang="zh-CN" sz="1800">
              <a:latin typeface="Times New Roman" panose="02020603050405020304" pitchFamily="18" charset="0"/>
            </a:endParaRPr>
          </a:p>
        </p:txBody>
      </p:sp>
      <p:sp>
        <p:nvSpPr>
          <p:cNvPr id="51234" name="Line 35"/>
          <p:cNvSpPr>
            <a:spLocks noChangeShapeType="1"/>
          </p:cNvSpPr>
          <p:nvPr/>
        </p:nvSpPr>
        <p:spPr bwMode="auto">
          <a:xfrm>
            <a:off x="4456113" y="3431648"/>
            <a:ext cx="381000" cy="1066800"/>
          </a:xfrm>
          <a:prstGeom prst="line">
            <a:avLst/>
          </a:prstGeom>
          <a:noFill/>
          <a:ln w="19050">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35" name="Line 36"/>
          <p:cNvSpPr>
            <a:spLocks noChangeShapeType="1"/>
          </p:cNvSpPr>
          <p:nvPr/>
        </p:nvSpPr>
        <p:spPr bwMode="auto">
          <a:xfrm>
            <a:off x="5218113" y="3431648"/>
            <a:ext cx="381000" cy="1066800"/>
          </a:xfrm>
          <a:prstGeom prst="line">
            <a:avLst/>
          </a:prstGeom>
          <a:noFill/>
          <a:ln w="19050">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36" name="Line 37"/>
          <p:cNvSpPr>
            <a:spLocks noChangeShapeType="1"/>
          </p:cNvSpPr>
          <p:nvPr/>
        </p:nvSpPr>
        <p:spPr bwMode="auto">
          <a:xfrm>
            <a:off x="4837113" y="3431648"/>
            <a:ext cx="381000" cy="1066800"/>
          </a:xfrm>
          <a:prstGeom prst="line">
            <a:avLst/>
          </a:prstGeom>
          <a:noFill/>
          <a:ln w="19050">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37" name="Line 38"/>
          <p:cNvSpPr>
            <a:spLocks noChangeShapeType="1"/>
          </p:cNvSpPr>
          <p:nvPr/>
        </p:nvSpPr>
        <p:spPr bwMode="auto">
          <a:xfrm>
            <a:off x="5638800" y="3461810"/>
            <a:ext cx="381000" cy="1066800"/>
          </a:xfrm>
          <a:prstGeom prst="line">
            <a:avLst/>
          </a:prstGeom>
          <a:noFill/>
          <a:ln w="19050">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38" name="Line 39"/>
          <p:cNvSpPr>
            <a:spLocks noChangeShapeType="1"/>
          </p:cNvSpPr>
          <p:nvPr/>
        </p:nvSpPr>
        <p:spPr bwMode="auto">
          <a:xfrm>
            <a:off x="5980113" y="3431648"/>
            <a:ext cx="381000" cy="1066800"/>
          </a:xfrm>
          <a:prstGeom prst="line">
            <a:avLst/>
          </a:prstGeom>
          <a:noFill/>
          <a:ln w="19050">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39" name="Line 40"/>
          <p:cNvSpPr>
            <a:spLocks noChangeShapeType="1"/>
          </p:cNvSpPr>
          <p:nvPr/>
        </p:nvSpPr>
        <p:spPr bwMode="auto">
          <a:xfrm>
            <a:off x="6362700" y="3431648"/>
            <a:ext cx="381000" cy="1066800"/>
          </a:xfrm>
          <a:prstGeom prst="line">
            <a:avLst/>
          </a:prstGeom>
          <a:noFill/>
          <a:ln w="19050">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40" name="Line 41"/>
          <p:cNvSpPr>
            <a:spLocks noChangeShapeType="1"/>
          </p:cNvSpPr>
          <p:nvPr/>
        </p:nvSpPr>
        <p:spPr bwMode="auto">
          <a:xfrm>
            <a:off x="4075113" y="3431648"/>
            <a:ext cx="381000" cy="1066800"/>
          </a:xfrm>
          <a:prstGeom prst="line">
            <a:avLst/>
          </a:prstGeom>
          <a:noFill/>
          <a:ln w="19050">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41" name="Line 42"/>
          <p:cNvSpPr>
            <a:spLocks noChangeShapeType="1"/>
          </p:cNvSpPr>
          <p:nvPr/>
        </p:nvSpPr>
        <p:spPr bwMode="auto">
          <a:xfrm>
            <a:off x="6910388" y="3418948"/>
            <a:ext cx="381000" cy="1066800"/>
          </a:xfrm>
          <a:prstGeom prst="line">
            <a:avLst/>
          </a:prstGeom>
          <a:noFill/>
          <a:ln w="19050">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42" name="Line 43"/>
          <p:cNvSpPr>
            <a:spLocks noChangeShapeType="1"/>
          </p:cNvSpPr>
          <p:nvPr/>
        </p:nvSpPr>
        <p:spPr bwMode="auto">
          <a:xfrm>
            <a:off x="7291388" y="3418948"/>
            <a:ext cx="381000" cy="1066800"/>
          </a:xfrm>
          <a:prstGeom prst="line">
            <a:avLst/>
          </a:prstGeom>
          <a:noFill/>
          <a:ln w="19050">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43" name="Line 44"/>
          <p:cNvSpPr>
            <a:spLocks noChangeShapeType="1"/>
          </p:cNvSpPr>
          <p:nvPr/>
        </p:nvSpPr>
        <p:spPr bwMode="auto">
          <a:xfrm>
            <a:off x="8053388" y="3418948"/>
            <a:ext cx="381000" cy="1066800"/>
          </a:xfrm>
          <a:prstGeom prst="line">
            <a:avLst/>
          </a:prstGeom>
          <a:noFill/>
          <a:ln w="19050">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44" name="Line 45"/>
          <p:cNvSpPr>
            <a:spLocks noChangeShapeType="1"/>
          </p:cNvSpPr>
          <p:nvPr/>
        </p:nvSpPr>
        <p:spPr bwMode="auto">
          <a:xfrm>
            <a:off x="8815388" y="3418948"/>
            <a:ext cx="381000" cy="1066800"/>
          </a:xfrm>
          <a:prstGeom prst="line">
            <a:avLst/>
          </a:prstGeom>
          <a:noFill/>
          <a:ln w="19050">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45" name="Line 46"/>
          <p:cNvSpPr>
            <a:spLocks noChangeShapeType="1"/>
          </p:cNvSpPr>
          <p:nvPr/>
        </p:nvSpPr>
        <p:spPr bwMode="auto">
          <a:xfrm>
            <a:off x="8434388" y="3418948"/>
            <a:ext cx="381000" cy="1066800"/>
          </a:xfrm>
          <a:prstGeom prst="line">
            <a:avLst/>
          </a:prstGeom>
          <a:noFill/>
          <a:ln w="19050">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46" name="Line 47"/>
          <p:cNvSpPr>
            <a:spLocks noChangeShapeType="1"/>
          </p:cNvSpPr>
          <p:nvPr/>
        </p:nvSpPr>
        <p:spPr bwMode="auto">
          <a:xfrm>
            <a:off x="9196388" y="3418948"/>
            <a:ext cx="381000" cy="1066800"/>
          </a:xfrm>
          <a:prstGeom prst="line">
            <a:avLst/>
          </a:prstGeom>
          <a:noFill/>
          <a:ln w="19050">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47" name="Line 48"/>
          <p:cNvSpPr>
            <a:spLocks noChangeShapeType="1"/>
          </p:cNvSpPr>
          <p:nvPr/>
        </p:nvSpPr>
        <p:spPr bwMode="auto">
          <a:xfrm>
            <a:off x="9556750" y="3418948"/>
            <a:ext cx="381000" cy="1066800"/>
          </a:xfrm>
          <a:prstGeom prst="line">
            <a:avLst/>
          </a:prstGeom>
          <a:noFill/>
          <a:ln w="19050">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48" name="Line 49"/>
          <p:cNvSpPr>
            <a:spLocks noChangeShapeType="1"/>
          </p:cNvSpPr>
          <p:nvPr/>
        </p:nvSpPr>
        <p:spPr bwMode="auto">
          <a:xfrm>
            <a:off x="7672388" y="3418948"/>
            <a:ext cx="381000" cy="1066800"/>
          </a:xfrm>
          <a:prstGeom prst="line">
            <a:avLst/>
          </a:prstGeom>
          <a:noFill/>
          <a:ln w="19050">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Tree>
    <p:extLst>
      <p:ext uri="{BB962C8B-B14F-4D97-AF65-F5344CB8AC3E}">
        <p14:creationId xmlns:p14="http://schemas.microsoft.com/office/powerpoint/2010/main" val="2826453737"/>
      </p:ext>
    </p:extLst>
  </p:cSld>
  <p:clrMapOvr>
    <a:masterClrMapping/>
  </p:clrMapOvr>
  <p:transition>
    <p:random/>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a:defRPr/>
            </a:pPr>
            <a:r>
              <a:rPr lang="en-US" altLang="zh-CN"/>
              <a:t>Computer Network</a:t>
            </a:r>
          </a:p>
        </p:txBody>
      </p:sp>
      <p:sp>
        <p:nvSpPr>
          <p:cNvPr id="3" name="灯片编号占位符 2"/>
          <p:cNvSpPr>
            <a:spLocks noGrp="1"/>
          </p:cNvSpPr>
          <p:nvPr>
            <p:ph type="sldNum" sz="quarter" idx="11"/>
          </p:nvPr>
        </p:nvSpPr>
        <p:spPr/>
        <p:txBody>
          <a:bodyPr/>
          <a:lstStyle/>
          <a:p>
            <a:pPr>
              <a:defRPr/>
            </a:pPr>
            <a:fld id="{2AAF93DC-1AF2-40C5-A519-3C53F0141A12}" type="slidenum">
              <a:rPr lang="en-US" altLang="zh-CN" smtClean="0"/>
              <a:pPr>
                <a:defRPr/>
              </a:pPr>
              <a:t>99</a:t>
            </a:fld>
            <a:endParaRPr lang="en-US" altLang="zh-CN"/>
          </a:p>
        </p:txBody>
      </p:sp>
      <p:sp>
        <p:nvSpPr>
          <p:cNvPr id="4" name="日期占位符 3"/>
          <p:cNvSpPr>
            <a:spLocks noGrp="1"/>
          </p:cNvSpPr>
          <p:nvPr>
            <p:ph type="dt" sz="half" idx="12"/>
          </p:nvPr>
        </p:nvSpPr>
        <p:spPr/>
        <p:txBody>
          <a:bodyPr/>
          <a:lstStyle/>
          <a:p>
            <a:pPr>
              <a:defRPr/>
            </a:pPr>
            <a:fld id="{F745FD7F-E1E7-4727-BD24-89E1126485D5}" type="datetime1">
              <a:rPr lang="zh-CN" altLang="en-US" smtClean="0"/>
              <a:pPr>
                <a:defRPr/>
              </a:pPr>
              <a:t>2024/10/18</a:t>
            </a:fld>
            <a:endParaRPr lang="en-US" altLang="zh-CN"/>
          </a:p>
        </p:txBody>
      </p:sp>
      <p:pic>
        <p:nvPicPr>
          <p:cNvPr id="5" name="图片 4"/>
          <p:cNvPicPr>
            <a:picLocks noChangeAspect="1"/>
          </p:cNvPicPr>
          <p:nvPr/>
        </p:nvPicPr>
        <p:blipFill>
          <a:blip r:embed="rId2"/>
          <a:stretch>
            <a:fillRect/>
          </a:stretch>
        </p:blipFill>
        <p:spPr>
          <a:xfrm>
            <a:off x="983744" y="152400"/>
            <a:ext cx="10598656" cy="4805374"/>
          </a:xfrm>
          <a:prstGeom prst="rect">
            <a:avLst/>
          </a:prstGeom>
        </p:spPr>
      </p:pic>
    </p:spTree>
    <p:extLst>
      <p:ext uri="{BB962C8B-B14F-4D97-AF65-F5344CB8AC3E}">
        <p14:creationId xmlns:p14="http://schemas.microsoft.com/office/powerpoint/2010/main" val="4237092667"/>
      </p:ext>
    </p:extLst>
  </p:cSld>
  <p:clrMapOvr>
    <a:masterClrMapping/>
  </p:clrMapOvr>
  <p:transition spd="slow">
    <p:pull dir="ru"/>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a:defRPr/>
            </a:pPr>
            <a:r>
              <a:rPr lang="en-US" altLang="zh-CN"/>
              <a:t>Computer Network</a:t>
            </a:r>
          </a:p>
        </p:txBody>
      </p:sp>
      <p:sp>
        <p:nvSpPr>
          <p:cNvPr id="3" name="灯片编号占位符 2"/>
          <p:cNvSpPr>
            <a:spLocks noGrp="1"/>
          </p:cNvSpPr>
          <p:nvPr>
            <p:ph type="sldNum" sz="quarter" idx="11"/>
          </p:nvPr>
        </p:nvSpPr>
        <p:spPr/>
        <p:txBody>
          <a:bodyPr/>
          <a:lstStyle/>
          <a:p>
            <a:pPr>
              <a:defRPr/>
            </a:pPr>
            <a:fld id="{2AAF93DC-1AF2-40C5-A519-3C53F0141A12}" type="slidenum">
              <a:rPr lang="en-US" altLang="zh-CN" smtClean="0"/>
              <a:pPr>
                <a:defRPr/>
              </a:pPr>
              <a:t>100</a:t>
            </a:fld>
            <a:endParaRPr lang="en-US" altLang="zh-CN"/>
          </a:p>
        </p:txBody>
      </p:sp>
      <p:sp>
        <p:nvSpPr>
          <p:cNvPr id="4" name="日期占位符 3"/>
          <p:cNvSpPr>
            <a:spLocks noGrp="1"/>
          </p:cNvSpPr>
          <p:nvPr>
            <p:ph type="dt" sz="half" idx="12"/>
          </p:nvPr>
        </p:nvSpPr>
        <p:spPr/>
        <p:txBody>
          <a:bodyPr/>
          <a:lstStyle/>
          <a:p>
            <a:pPr>
              <a:defRPr/>
            </a:pPr>
            <a:fld id="{F745FD7F-E1E7-4727-BD24-89E1126485D5}" type="datetime1">
              <a:rPr lang="zh-CN" altLang="en-US" smtClean="0"/>
              <a:pPr>
                <a:defRPr/>
              </a:pPr>
              <a:t>2024/10/18</a:t>
            </a:fld>
            <a:endParaRPr lang="en-US" altLang="zh-CN"/>
          </a:p>
        </p:txBody>
      </p:sp>
      <p:pic>
        <p:nvPicPr>
          <p:cNvPr id="5" name="图片 4"/>
          <p:cNvPicPr>
            <a:picLocks noChangeAspect="1"/>
          </p:cNvPicPr>
          <p:nvPr/>
        </p:nvPicPr>
        <p:blipFill>
          <a:blip r:embed="rId2"/>
          <a:stretch>
            <a:fillRect/>
          </a:stretch>
        </p:blipFill>
        <p:spPr>
          <a:xfrm>
            <a:off x="1651630" y="260648"/>
            <a:ext cx="8888740" cy="5675021"/>
          </a:xfrm>
          <a:prstGeom prst="rect">
            <a:avLst/>
          </a:prstGeom>
        </p:spPr>
      </p:pic>
    </p:spTree>
    <p:extLst>
      <p:ext uri="{BB962C8B-B14F-4D97-AF65-F5344CB8AC3E}">
        <p14:creationId xmlns:p14="http://schemas.microsoft.com/office/powerpoint/2010/main" val="2034028632"/>
      </p:ext>
    </p:extLst>
  </p:cSld>
  <p:clrMapOvr>
    <a:masterClrMapping/>
  </p:clrMapOvr>
  <p:transition spd="slow">
    <p:pull dir="ru"/>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a:defRPr/>
            </a:pPr>
            <a:r>
              <a:rPr lang="en-US" altLang="zh-CN"/>
              <a:t>Computer Network</a:t>
            </a:r>
          </a:p>
        </p:txBody>
      </p:sp>
      <p:sp>
        <p:nvSpPr>
          <p:cNvPr id="3" name="灯片编号占位符 2"/>
          <p:cNvSpPr>
            <a:spLocks noGrp="1"/>
          </p:cNvSpPr>
          <p:nvPr>
            <p:ph type="sldNum" sz="quarter" idx="11"/>
          </p:nvPr>
        </p:nvSpPr>
        <p:spPr/>
        <p:txBody>
          <a:bodyPr/>
          <a:lstStyle/>
          <a:p>
            <a:pPr>
              <a:defRPr/>
            </a:pPr>
            <a:fld id="{2AAF93DC-1AF2-40C5-A519-3C53F0141A12}" type="slidenum">
              <a:rPr lang="en-US" altLang="zh-CN" smtClean="0"/>
              <a:pPr>
                <a:defRPr/>
              </a:pPr>
              <a:t>101</a:t>
            </a:fld>
            <a:endParaRPr lang="en-US" altLang="zh-CN"/>
          </a:p>
        </p:txBody>
      </p:sp>
      <p:sp>
        <p:nvSpPr>
          <p:cNvPr id="4" name="日期占位符 3"/>
          <p:cNvSpPr>
            <a:spLocks noGrp="1"/>
          </p:cNvSpPr>
          <p:nvPr>
            <p:ph type="dt" sz="half" idx="12"/>
          </p:nvPr>
        </p:nvSpPr>
        <p:spPr/>
        <p:txBody>
          <a:bodyPr/>
          <a:lstStyle/>
          <a:p>
            <a:pPr>
              <a:defRPr/>
            </a:pPr>
            <a:fld id="{F745FD7F-E1E7-4727-BD24-89E1126485D5}" type="datetime1">
              <a:rPr lang="zh-CN" altLang="en-US" smtClean="0"/>
              <a:pPr>
                <a:defRPr/>
              </a:pPr>
              <a:t>2024/10/18</a:t>
            </a:fld>
            <a:endParaRPr lang="en-US" altLang="zh-CN"/>
          </a:p>
        </p:txBody>
      </p:sp>
      <p:pic>
        <p:nvPicPr>
          <p:cNvPr id="5" name="图片 4"/>
          <p:cNvPicPr>
            <a:picLocks noChangeAspect="1"/>
          </p:cNvPicPr>
          <p:nvPr/>
        </p:nvPicPr>
        <p:blipFill>
          <a:blip r:embed="rId2"/>
          <a:stretch>
            <a:fillRect/>
          </a:stretch>
        </p:blipFill>
        <p:spPr>
          <a:xfrm>
            <a:off x="586532" y="260648"/>
            <a:ext cx="10469392" cy="5328592"/>
          </a:xfrm>
          <a:prstGeom prst="rect">
            <a:avLst/>
          </a:prstGeom>
        </p:spPr>
      </p:pic>
    </p:spTree>
    <p:extLst>
      <p:ext uri="{BB962C8B-B14F-4D97-AF65-F5344CB8AC3E}">
        <p14:creationId xmlns:p14="http://schemas.microsoft.com/office/powerpoint/2010/main" val="2582420664"/>
      </p:ext>
    </p:extLst>
  </p:cSld>
  <p:clrMapOvr>
    <a:masterClrMapping/>
  </p:clrMapOvr>
  <p:transition spd="slow">
    <p:pull dir="ru"/>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a:defRPr/>
            </a:pPr>
            <a:r>
              <a:rPr lang="en-US" altLang="zh-CN"/>
              <a:t>Computer Network</a:t>
            </a:r>
          </a:p>
        </p:txBody>
      </p:sp>
      <p:sp>
        <p:nvSpPr>
          <p:cNvPr id="3" name="灯片编号占位符 2"/>
          <p:cNvSpPr>
            <a:spLocks noGrp="1"/>
          </p:cNvSpPr>
          <p:nvPr>
            <p:ph type="sldNum" sz="quarter" idx="11"/>
          </p:nvPr>
        </p:nvSpPr>
        <p:spPr/>
        <p:txBody>
          <a:bodyPr/>
          <a:lstStyle/>
          <a:p>
            <a:pPr>
              <a:defRPr/>
            </a:pPr>
            <a:fld id="{2AAF93DC-1AF2-40C5-A519-3C53F0141A12}" type="slidenum">
              <a:rPr lang="en-US" altLang="zh-CN" smtClean="0"/>
              <a:pPr>
                <a:defRPr/>
              </a:pPr>
              <a:t>102</a:t>
            </a:fld>
            <a:endParaRPr lang="en-US" altLang="zh-CN"/>
          </a:p>
        </p:txBody>
      </p:sp>
      <p:sp>
        <p:nvSpPr>
          <p:cNvPr id="4" name="日期占位符 3"/>
          <p:cNvSpPr>
            <a:spLocks noGrp="1"/>
          </p:cNvSpPr>
          <p:nvPr>
            <p:ph type="dt" sz="half" idx="12"/>
          </p:nvPr>
        </p:nvSpPr>
        <p:spPr/>
        <p:txBody>
          <a:bodyPr/>
          <a:lstStyle/>
          <a:p>
            <a:pPr>
              <a:defRPr/>
            </a:pPr>
            <a:fld id="{F745FD7F-E1E7-4727-BD24-89E1126485D5}" type="datetime1">
              <a:rPr lang="zh-CN" altLang="en-US" smtClean="0"/>
              <a:pPr>
                <a:defRPr/>
              </a:pPr>
              <a:t>2024/10/18</a:t>
            </a:fld>
            <a:endParaRPr lang="en-US" altLang="zh-CN"/>
          </a:p>
        </p:txBody>
      </p:sp>
      <p:pic>
        <p:nvPicPr>
          <p:cNvPr id="5" name="图片 4"/>
          <p:cNvPicPr>
            <a:picLocks noChangeAspect="1"/>
          </p:cNvPicPr>
          <p:nvPr/>
        </p:nvPicPr>
        <p:blipFill>
          <a:blip r:embed="rId2"/>
          <a:stretch>
            <a:fillRect/>
          </a:stretch>
        </p:blipFill>
        <p:spPr>
          <a:xfrm>
            <a:off x="1343472" y="30832"/>
            <a:ext cx="9321666" cy="6010948"/>
          </a:xfrm>
          <a:prstGeom prst="rect">
            <a:avLst/>
          </a:prstGeom>
        </p:spPr>
      </p:pic>
    </p:spTree>
    <p:extLst>
      <p:ext uri="{BB962C8B-B14F-4D97-AF65-F5344CB8AC3E}">
        <p14:creationId xmlns:p14="http://schemas.microsoft.com/office/powerpoint/2010/main" val="3527471381"/>
      </p:ext>
    </p:extLst>
  </p:cSld>
  <p:clrMapOvr>
    <a:masterClrMapping/>
  </p:clrMapOvr>
  <p:transition spd="slow">
    <p:pull dir="ru"/>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a:defRPr/>
            </a:pPr>
            <a:r>
              <a:rPr lang="en-US" altLang="zh-CN"/>
              <a:t>Computer Network</a:t>
            </a:r>
          </a:p>
        </p:txBody>
      </p:sp>
      <p:sp>
        <p:nvSpPr>
          <p:cNvPr id="3" name="灯片编号占位符 2"/>
          <p:cNvSpPr>
            <a:spLocks noGrp="1"/>
          </p:cNvSpPr>
          <p:nvPr>
            <p:ph type="sldNum" sz="quarter" idx="11"/>
          </p:nvPr>
        </p:nvSpPr>
        <p:spPr/>
        <p:txBody>
          <a:bodyPr/>
          <a:lstStyle/>
          <a:p>
            <a:pPr>
              <a:defRPr/>
            </a:pPr>
            <a:fld id="{2AAF93DC-1AF2-40C5-A519-3C53F0141A12}" type="slidenum">
              <a:rPr lang="en-US" altLang="zh-CN" smtClean="0"/>
              <a:pPr>
                <a:defRPr/>
              </a:pPr>
              <a:t>103</a:t>
            </a:fld>
            <a:endParaRPr lang="en-US" altLang="zh-CN"/>
          </a:p>
        </p:txBody>
      </p:sp>
      <p:sp>
        <p:nvSpPr>
          <p:cNvPr id="4" name="日期占位符 3"/>
          <p:cNvSpPr>
            <a:spLocks noGrp="1"/>
          </p:cNvSpPr>
          <p:nvPr>
            <p:ph type="dt" sz="half" idx="12"/>
          </p:nvPr>
        </p:nvSpPr>
        <p:spPr/>
        <p:txBody>
          <a:bodyPr/>
          <a:lstStyle/>
          <a:p>
            <a:pPr>
              <a:defRPr/>
            </a:pPr>
            <a:fld id="{F745FD7F-E1E7-4727-BD24-89E1126485D5}" type="datetime1">
              <a:rPr lang="zh-CN" altLang="en-US" smtClean="0"/>
              <a:pPr>
                <a:defRPr/>
              </a:pPr>
              <a:t>2024/10/18</a:t>
            </a:fld>
            <a:endParaRPr lang="en-US" altLang="zh-CN"/>
          </a:p>
        </p:txBody>
      </p:sp>
      <p:pic>
        <p:nvPicPr>
          <p:cNvPr id="5" name="图片 4"/>
          <p:cNvPicPr>
            <a:picLocks noChangeAspect="1"/>
          </p:cNvPicPr>
          <p:nvPr/>
        </p:nvPicPr>
        <p:blipFill>
          <a:blip r:embed="rId2"/>
          <a:stretch>
            <a:fillRect/>
          </a:stretch>
        </p:blipFill>
        <p:spPr>
          <a:xfrm>
            <a:off x="983432" y="152400"/>
            <a:ext cx="9684279" cy="5817535"/>
          </a:xfrm>
          <a:prstGeom prst="rect">
            <a:avLst/>
          </a:prstGeom>
        </p:spPr>
      </p:pic>
    </p:spTree>
    <p:extLst>
      <p:ext uri="{BB962C8B-B14F-4D97-AF65-F5344CB8AC3E}">
        <p14:creationId xmlns:p14="http://schemas.microsoft.com/office/powerpoint/2010/main" val="3040087629"/>
      </p:ext>
    </p:extLst>
  </p:cSld>
  <p:clrMapOvr>
    <a:masterClrMapping/>
  </p:clrMapOvr>
  <p:transition spd="slow">
    <p:pull dir="ru"/>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页脚占位符 3"/>
          <p:cNvSpPr>
            <a:spLocks noGrp="1"/>
          </p:cNvSpPr>
          <p:nvPr>
            <p:ph type="ftr" sz="quarter" idx="10"/>
          </p:nvPr>
        </p:nvSpPr>
        <p:spPr/>
        <p:txBody>
          <a:bodyPr/>
          <a:lstStyle/>
          <a:p>
            <a:pPr>
              <a:defRPr/>
            </a:pPr>
            <a:r>
              <a:rPr lang="en-US" altLang="zh-CN"/>
              <a:t>Computer Network</a:t>
            </a:r>
          </a:p>
        </p:txBody>
      </p:sp>
      <p:sp>
        <p:nvSpPr>
          <p:cNvPr id="52227" name="灯片编号占位符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2DCF6055-8FAF-44F0-9480-91EB4738D728}" type="slidenum">
              <a:rPr lang="en-US" altLang="zh-CN" sz="1200">
                <a:latin typeface="Arial Black" panose="020B0A04020102020204" pitchFamily="34" charset="0"/>
              </a:rPr>
              <a:pPr>
                <a:spcBef>
                  <a:spcPct val="0"/>
                </a:spcBef>
                <a:buClrTx/>
                <a:buSzTx/>
                <a:buFontTx/>
                <a:buNone/>
              </a:pPr>
              <a:t>104</a:t>
            </a:fld>
            <a:endParaRPr lang="en-US" altLang="zh-CN" sz="1200">
              <a:latin typeface="Arial Black" panose="020B0A04020102020204" pitchFamily="34" charset="0"/>
            </a:endParaRPr>
          </a:p>
        </p:txBody>
      </p:sp>
      <p:sp>
        <p:nvSpPr>
          <p:cNvPr id="48" name="日期占位符 5"/>
          <p:cNvSpPr>
            <a:spLocks noGrp="1"/>
          </p:cNvSpPr>
          <p:nvPr>
            <p:ph type="dt" sz="quarter" idx="12"/>
          </p:nvPr>
        </p:nvSpPr>
        <p:spPr/>
        <p:txBody>
          <a:bodyPr/>
          <a:lstStyle/>
          <a:p>
            <a:pPr>
              <a:defRPr/>
            </a:pPr>
            <a:fld id="{410EC9DA-6EB1-4531-95CF-F71F0B57E688}" type="datetime1">
              <a:rPr lang="zh-CN" altLang="en-US"/>
              <a:pPr>
                <a:defRPr/>
              </a:pPr>
              <a:t>2024/10/18</a:t>
            </a:fld>
            <a:endParaRPr lang="en-US" altLang="zh-CN"/>
          </a:p>
        </p:txBody>
      </p:sp>
      <p:sp>
        <p:nvSpPr>
          <p:cNvPr id="871426" name="Rectangle 2"/>
          <p:cNvSpPr>
            <a:spLocks noGrp="1" noChangeArrowheads="1"/>
          </p:cNvSpPr>
          <p:nvPr>
            <p:ph type="title"/>
          </p:nvPr>
        </p:nvSpPr>
        <p:spPr>
          <a:xfrm>
            <a:off x="2209800" y="571500"/>
            <a:ext cx="7956550" cy="685800"/>
          </a:xfrm>
        </p:spPr>
        <p:txBody>
          <a:bodyPr/>
          <a:lstStyle/>
          <a:p>
            <a:pPr eaLnBrk="1" hangingPunct="1">
              <a:defRPr/>
            </a:pPr>
            <a:r>
              <a:rPr lang="en-US" altLang="zh-CN" sz="2800" dirty="0">
                <a:solidFill>
                  <a:srgbClr val="0000FF"/>
                </a:solidFill>
              </a:rPr>
              <a:t>3</a:t>
            </a:r>
            <a:r>
              <a:rPr lang="zh-CN" altLang="en-US" sz="2800" dirty="0">
                <a:solidFill>
                  <a:srgbClr val="0000FF"/>
                </a:solidFill>
              </a:rPr>
              <a:t>．选择重传</a:t>
            </a:r>
            <a:r>
              <a:rPr lang="en-US" altLang="zh-CN" sz="2800" dirty="0">
                <a:solidFill>
                  <a:srgbClr val="0000FF"/>
                </a:solidFill>
              </a:rPr>
              <a:t>ARQ</a:t>
            </a:r>
            <a:r>
              <a:rPr lang="zh-CN" altLang="en-US" sz="2800" dirty="0">
                <a:solidFill>
                  <a:srgbClr val="0000FF"/>
                </a:solidFill>
              </a:rPr>
              <a:t>协议</a:t>
            </a:r>
            <a:r>
              <a:rPr lang="en-US" altLang="zh-CN" sz="2800" dirty="0">
                <a:solidFill>
                  <a:srgbClr val="0000FF"/>
                </a:solidFill>
              </a:rPr>
              <a:t>(SR) 【</a:t>
            </a:r>
            <a:r>
              <a:rPr lang="zh-CN" altLang="en-US" sz="2800" dirty="0">
                <a:solidFill>
                  <a:srgbClr val="0000FF"/>
                </a:solidFill>
              </a:rPr>
              <a:t>协议</a:t>
            </a:r>
            <a:r>
              <a:rPr lang="en-US" altLang="zh-CN" sz="2800" dirty="0">
                <a:solidFill>
                  <a:srgbClr val="0000FF"/>
                </a:solidFill>
              </a:rPr>
              <a:t>6】</a:t>
            </a:r>
          </a:p>
        </p:txBody>
      </p:sp>
      <p:sp>
        <p:nvSpPr>
          <p:cNvPr id="52230" name="Rectangle 3"/>
          <p:cNvSpPr>
            <a:spLocks noGrp="1" noChangeArrowheads="1"/>
          </p:cNvSpPr>
          <p:nvPr>
            <p:ph type="body" idx="1"/>
          </p:nvPr>
        </p:nvSpPr>
        <p:spPr>
          <a:xfrm>
            <a:off x="2208213" y="1268414"/>
            <a:ext cx="7854950" cy="1298575"/>
          </a:xfrm>
        </p:spPr>
        <p:txBody>
          <a:bodyPr/>
          <a:lstStyle/>
          <a:p>
            <a:pPr marL="177800" indent="-177800" eaLnBrk="1" hangingPunct="1">
              <a:lnSpc>
                <a:spcPct val="115000"/>
              </a:lnSpc>
              <a:buSzPct val="90000"/>
              <a:buFont typeface="Wingdings" panose="05000000000000000000" pitchFamily="2" charset="2"/>
              <a:buChar char="§"/>
            </a:pPr>
            <a:r>
              <a:rPr lang="zh-CN" altLang="en-US" sz="2000">
                <a:latin typeface="Verdana" panose="020B0604030504040204" pitchFamily="34" charset="0"/>
                <a:ea typeface="楷体_GB2312" pitchFamily="49" charset="-122"/>
              </a:rPr>
              <a:t>发送窗口</a:t>
            </a:r>
            <a:r>
              <a:rPr lang="en-US" altLang="zh-CN" sz="2000">
                <a:latin typeface="Verdana" panose="020B0604030504040204" pitchFamily="34" charset="0"/>
                <a:ea typeface="楷体_GB2312" pitchFamily="49" charset="-122"/>
              </a:rPr>
              <a:t>&gt;1</a:t>
            </a:r>
            <a:r>
              <a:rPr lang="zh-CN" altLang="en-US" sz="2000">
                <a:latin typeface="Verdana" panose="020B0604030504040204" pitchFamily="34" charset="0"/>
                <a:ea typeface="楷体_GB2312" pitchFamily="49" charset="-122"/>
              </a:rPr>
              <a:t>，接收窗口</a:t>
            </a:r>
            <a:r>
              <a:rPr lang="en-US" altLang="zh-CN" sz="2000">
                <a:latin typeface="Verdana" panose="020B0604030504040204" pitchFamily="34" charset="0"/>
                <a:ea typeface="楷体_GB2312" pitchFamily="49" charset="-122"/>
              </a:rPr>
              <a:t>&gt;1</a:t>
            </a:r>
            <a:r>
              <a:rPr lang="en-US" altLang="zh-CN" sz="2000" b="1">
                <a:latin typeface="Verdana" panose="020B0604030504040204" pitchFamily="34" charset="0"/>
                <a:ea typeface="楷体_GB2312" pitchFamily="49" charset="-122"/>
              </a:rPr>
              <a:t> </a:t>
            </a:r>
            <a:r>
              <a:rPr lang="zh-CN" altLang="en-US" sz="2000" b="1">
                <a:latin typeface="Verdana" panose="020B0604030504040204" pitchFamily="34" charset="0"/>
                <a:ea typeface="楷体_GB2312" pitchFamily="49" charset="-122"/>
              </a:rPr>
              <a:t>满足</a:t>
            </a:r>
            <a:r>
              <a:rPr lang="zh-CN" altLang="en-US" sz="2000" b="1">
                <a:latin typeface="楷体_GB2312" pitchFamily="49" charset="-122"/>
                <a:ea typeface="楷体_GB2312" pitchFamily="49" charset="-122"/>
              </a:rPr>
              <a:t>：</a:t>
            </a:r>
            <a:r>
              <a:rPr lang="en-US" altLang="zh-CN" sz="2000" b="1">
                <a:solidFill>
                  <a:srgbClr val="0000FF"/>
                </a:solidFill>
                <a:latin typeface="楷体_GB2312" pitchFamily="49" charset="-122"/>
                <a:ea typeface="楷体_GB2312" pitchFamily="49" charset="-122"/>
              </a:rPr>
              <a:t>1) </a:t>
            </a:r>
            <a:r>
              <a:rPr lang="en-US" altLang="zh-CN" sz="2000">
                <a:solidFill>
                  <a:srgbClr val="0000FF"/>
                </a:solidFill>
                <a:ea typeface="楷体_GB2312" pitchFamily="49" charset="-122"/>
              </a:rPr>
              <a:t>W</a:t>
            </a:r>
            <a:r>
              <a:rPr lang="en-US" altLang="zh-CN" sz="1200">
                <a:solidFill>
                  <a:srgbClr val="0000FF"/>
                </a:solidFill>
                <a:ea typeface="楷体_GB2312" pitchFamily="49" charset="-122"/>
              </a:rPr>
              <a:t>T</a:t>
            </a:r>
            <a:r>
              <a:rPr lang="en-US" altLang="zh-CN" sz="2000">
                <a:solidFill>
                  <a:srgbClr val="FF3300"/>
                </a:solidFill>
                <a:ea typeface="楷体_GB2312" pitchFamily="49" charset="-122"/>
              </a:rPr>
              <a:t> ≤</a:t>
            </a:r>
            <a:r>
              <a:rPr lang="en-US" altLang="zh-CN" sz="2000">
                <a:solidFill>
                  <a:srgbClr val="0000FF"/>
                </a:solidFill>
                <a:ea typeface="楷体_GB2312" pitchFamily="49" charset="-122"/>
              </a:rPr>
              <a:t> 2</a:t>
            </a:r>
            <a:r>
              <a:rPr lang="en-US" altLang="zh-CN" sz="2000" baseline="30000">
                <a:solidFill>
                  <a:srgbClr val="0000FF"/>
                </a:solidFill>
                <a:ea typeface="楷体_GB2312" pitchFamily="49" charset="-122"/>
              </a:rPr>
              <a:t>n-1 </a:t>
            </a:r>
            <a:r>
              <a:rPr lang="en-US" altLang="zh-CN" sz="2000" b="1">
                <a:latin typeface="楷体_GB2312" pitchFamily="49" charset="-122"/>
                <a:ea typeface="楷体_GB2312" pitchFamily="49" charset="-122"/>
              </a:rPr>
              <a:t> </a:t>
            </a:r>
            <a:r>
              <a:rPr lang="en-US" altLang="zh-CN" sz="2000">
                <a:solidFill>
                  <a:srgbClr val="0000FF"/>
                </a:solidFill>
                <a:ea typeface="楷体_GB2312" pitchFamily="49" charset="-122"/>
              </a:rPr>
              <a:t>W</a:t>
            </a:r>
            <a:r>
              <a:rPr lang="en-US" altLang="zh-CN" sz="1200">
                <a:solidFill>
                  <a:srgbClr val="0000FF"/>
                </a:solidFill>
                <a:ea typeface="楷体_GB2312" pitchFamily="49" charset="-122"/>
              </a:rPr>
              <a:t>R</a:t>
            </a:r>
            <a:r>
              <a:rPr lang="en-US" altLang="zh-CN" sz="2000">
                <a:solidFill>
                  <a:srgbClr val="FF3300"/>
                </a:solidFill>
                <a:ea typeface="楷体_GB2312" pitchFamily="49" charset="-122"/>
              </a:rPr>
              <a:t> ≤ </a:t>
            </a:r>
            <a:r>
              <a:rPr lang="en-US" altLang="zh-CN" sz="2000">
                <a:solidFill>
                  <a:srgbClr val="0000FF"/>
                </a:solidFill>
                <a:ea typeface="楷体_GB2312" pitchFamily="49" charset="-122"/>
              </a:rPr>
              <a:t>2</a:t>
            </a:r>
            <a:r>
              <a:rPr lang="en-US" altLang="zh-CN" sz="2000" baseline="30000">
                <a:solidFill>
                  <a:srgbClr val="0000FF"/>
                </a:solidFill>
                <a:ea typeface="楷体_GB2312" pitchFamily="49" charset="-122"/>
              </a:rPr>
              <a:t>n-1</a:t>
            </a:r>
            <a:r>
              <a:rPr lang="en-US" altLang="zh-CN" sz="2000">
                <a:solidFill>
                  <a:srgbClr val="0000FF"/>
                </a:solidFill>
                <a:ea typeface="楷体_GB2312" pitchFamily="49" charset="-122"/>
              </a:rPr>
              <a:t> </a:t>
            </a:r>
            <a:r>
              <a:rPr lang="zh-CN" altLang="en-US" sz="2000">
                <a:solidFill>
                  <a:srgbClr val="0000FF"/>
                </a:solidFill>
                <a:ea typeface="楷体_GB2312" pitchFamily="49" charset="-122"/>
              </a:rPr>
              <a:t>；</a:t>
            </a:r>
            <a:r>
              <a:rPr lang="en-US" altLang="zh-CN" sz="2000">
                <a:solidFill>
                  <a:srgbClr val="0000FF"/>
                </a:solidFill>
                <a:ea typeface="楷体_GB2312" pitchFamily="49" charset="-122"/>
              </a:rPr>
              <a:t>2) W</a:t>
            </a:r>
            <a:r>
              <a:rPr lang="en-US" altLang="zh-CN" sz="2000" baseline="-25000">
                <a:solidFill>
                  <a:srgbClr val="0000FF"/>
                </a:solidFill>
                <a:ea typeface="楷体_GB2312" pitchFamily="49" charset="-122"/>
              </a:rPr>
              <a:t>T</a:t>
            </a:r>
            <a:r>
              <a:rPr lang="en-US" altLang="zh-CN" sz="2000">
                <a:solidFill>
                  <a:srgbClr val="0000FF"/>
                </a:solidFill>
                <a:ea typeface="楷体_GB2312" pitchFamily="49" charset="-122"/>
              </a:rPr>
              <a:t> +</a:t>
            </a:r>
            <a:r>
              <a:rPr lang="en-US" altLang="zh-CN" sz="2000">
                <a:solidFill>
                  <a:srgbClr val="0000FF"/>
                </a:solidFill>
                <a:latin typeface="Verdana" panose="020B0604030504040204" pitchFamily="34" charset="0"/>
                <a:ea typeface="楷体_GB2312" pitchFamily="49" charset="-122"/>
              </a:rPr>
              <a:t>W</a:t>
            </a:r>
            <a:r>
              <a:rPr lang="en-US" altLang="zh-CN" sz="2000" baseline="-25000">
                <a:solidFill>
                  <a:srgbClr val="0000FF"/>
                </a:solidFill>
                <a:latin typeface="Verdana" panose="020B0604030504040204" pitchFamily="34" charset="0"/>
                <a:ea typeface="楷体_GB2312" pitchFamily="49" charset="-122"/>
              </a:rPr>
              <a:t>R</a:t>
            </a:r>
            <a:r>
              <a:rPr lang="en-US" altLang="zh-CN" sz="2000">
                <a:solidFill>
                  <a:srgbClr val="FF3300"/>
                </a:solidFill>
                <a:ea typeface="楷体_GB2312" pitchFamily="49" charset="-122"/>
              </a:rPr>
              <a:t> ≤</a:t>
            </a:r>
            <a:r>
              <a:rPr lang="en-US" altLang="zh-CN" sz="2000">
                <a:solidFill>
                  <a:srgbClr val="0000FF"/>
                </a:solidFill>
                <a:ea typeface="楷体_GB2312" pitchFamily="49" charset="-122"/>
              </a:rPr>
              <a:t> 2</a:t>
            </a:r>
            <a:r>
              <a:rPr lang="en-US" altLang="zh-CN" sz="2000" baseline="30000">
                <a:solidFill>
                  <a:srgbClr val="0000FF"/>
                </a:solidFill>
                <a:ea typeface="楷体_GB2312" pitchFamily="49" charset="-122"/>
              </a:rPr>
              <a:t>n</a:t>
            </a:r>
            <a:r>
              <a:rPr lang="en-US" altLang="zh-CN" sz="2000" baseline="30000">
                <a:solidFill>
                  <a:srgbClr val="FF3300"/>
                </a:solidFill>
                <a:ea typeface="楷体_GB2312" pitchFamily="49" charset="-122"/>
              </a:rPr>
              <a:t> </a:t>
            </a:r>
            <a:r>
              <a:rPr lang="en-US" altLang="zh-CN" sz="2000">
                <a:solidFill>
                  <a:srgbClr val="0000FF"/>
                </a:solidFill>
                <a:ea typeface="楷体_GB2312" pitchFamily="49" charset="-122"/>
              </a:rPr>
              <a:t>, W</a:t>
            </a:r>
            <a:r>
              <a:rPr lang="en-US" altLang="zh-CN" sz="2000" baseline="-25000">
                <a:solidFill>
                  <a:srgbClr val="0000FF"/>
                </a:solidFill>
                <a:ea typeface="楷体_GB2312" pitchFamily="49" charset="-122"/>
              </a:rPr>
              <a:t>T</a:t>
            </a:r>
            <a:r>
              <a:rPr lang="en-US" altLang="zh-CN" sz="2000">
                <a:solidFill>
                  <a:srgbClr val="0000FF"/>
                </a:solidFill>
                <a:ea typeface="楷体_GB2312" pitchFamily="49" charset="-122"/>
              </a:rPr>
              <a:t> </a:t>
            </a:r>
            <a:r>
              <a:rPr lang="en-US" altLang="zh-CN" sz="2000">
                <a:solidFill>
                  <a:srgbClr val="FF3300"/>
                </a:solidFill>
                <a:ea typeface="楷体_GB2312" pitchFamily="49" charset="-122"/>
              </a:rPr>
              <a:t>≤ </a:t>
            </a:r>
            <a:r>
              <a:rPr lang="en-US" altLang="zh-CN" sz="2000">
                <a:solidFill>
                  <a:srgbClr val="0000FF"/>
                </a:solidFill>
                <a:latin typeface="Verdana" panose="020B0604030504040204" pitchFamily="34" charset="0"/>
                <a:ea typeface="楷体_GB2312" pitchFamily="49" charset="-122"/>
              </a:rPr>
              <a:t>W</a:t>
            </a:r>
            <a:r>
              <a:rPr lang="en-US" altLang="zh-CN" sz="2000" baseline="-25000">
                <a:solidFill>
                  <a:srgbClr val="0000FF"/>
                </a:solidFill>
                <a:latin typeface="Verdana" panose="020B0604030504040204" pitchFamily="34" charset="0"/>
                <a:ea typeface="楷体_GB2312" pitchFamily="49" charset="-122"/>
              </a:rPr>
              <a:t>R</a:t>
            </a:r>
            <a:r>
              <a:rPr lang="en-US" altLang="zh-CN" sz="2000">
                <a:solidFill>
                  <a:srgbClr val="0000FF"/>
                </a:solidFill>
                <a:ea typeface="楷体_GB2312" pitchFamily="49" charset="-122"/>
              </a:rPr>
              <a:t> </a:t>
            </a:r>
            <a:r>
              <a:rPr lang="zh-CN" altLang="en-US" sz="2000">
                <a:solidFill>
                  <a:srgbClr val="0000FF"/>
                </a:solidFill>
                <a:ea typeface="楷体_GB2312" pitchFamily="49" charset="-122"/>
              </a:rPr>
              <a:t>。</a:t>
            </a:r>
            <a:r>
              <a:rPr lang="en-US" altLang="zh-CN" sz="2000">
                <a:solidFill>
                  <a:srgbClr val="FF3300"/>
                </a:solidFill>
                <a:ea typeface="楷体_GB2312" pitchFamily="49" charset="-122"/>
              </a:rPr>
              <a:t>W</a:t>
            </a:r>
            <a:r>
              <a:rPr lang="en-US" altLang="zh-CN" sz="1200">
                <a:solidFill>
                  <a:srgbClr val="FF3300"/>
                </a:solidFill>
                <a:ea typeface="楷体_GB2312" pitchFamily="49" charset="-122"/>
              </a:rPr>
              <a:t>T</a:t>
            </a:r>
            <a:r>
              <a:rPr lang="zh-CN" altLang="en-US" sz="2000">
                <a:solidFill>
                  <a:srgbClr val="FF3300"/>
                </a:solidFill>
                <a:ea typeface="楷体_GB2312" pitchFamily="49" charset="-122"/>
              </a:rPr>
              <a:t>最大时有</a:t>
            </a:r>
            <a:r>
              <a:rPr lang="en-US" altLang="zh-CN" sz="2000">
                <a:solidFill>
                  <a:srgbClr val="FF3300"/>
                </a:solidFill>
                <a:ea typeface="楷体_GB2312" pitchFamily="49" charset="-122"/>
              </a:rPr>
              <a:t>W</a:t>
            </a:r>
            <a:r>
              <a:rPr lang="en-US" altLang="zh-CN" sz="1200">
                <a:solidFill>
                  <a:srgbClr val="FF3300"/>
                </a:solidFill>
                <a:ea typeface="楷体_GB2312" pitchFamily="49" charset="-122"/>
              </a:rPr>
              <a:t>T</a:t>
            </a:r>
            <a:r>
              <a:rPr lang="en-US" altLang="zh-CN" sz="2000">
                <a:solidFill>
                  <a:srgbClr val="FF3300"/>
                </a:solidFill>
                <a:ea typeface="楷体_GB2312" pitchFamily="49" charset="-122"/>
              </a:rPr>
              <a:t>=W</a:t>
            </a:r>
            <a:r>
              <a:rPr lang="en-US" altLang="zh-CN" sz="1200">
                <a:solidFill>
                  <a:srgbClr val="FF3300"/>
                </a:solidFill>
                <a:ea typeface="楷体_GB2312" pitchFamily="49" charset="-122"/>
              </a:rPr>
              <a:t>R</a:t>
            </a:r>
            <a:r>
              <a:rPr lang="en-US" altLang="zh-CN" sz="2000">
                <a:solidFill>
                  <a:srgbClr val="FF3300"/>
                </a:solidFill>
                <a:ea typeface="楷体_GB2312" pitchFamily="49" charset="-122"/>
              </a:rPr>
              <a:t>=(2</a:t>
            </a:r>
            <a:r>
              <a:rPr lang="en-US" altLang="zh-CN" sz="2000" baseline="30000">
                <a:solidFill>
                  <a:srgbClr val="FF3300"/>
                </a:solidFill>
                <a:ea typeface="楷体_GB2312" pitchFamily="49" charset="-122"/>
              </a:rPr>
              <a:t>n</a:t>
            </a:r>
            <a:r>
              <a:rPr lang="en-US" altLang="zh-CN" sz="2000">
                <a:solidFill>
                  <a:srgbClr val="FF3300"/>
                </a:solidFill>
                <a:ea typeface="楷体_GB2312" pitchFamily="49" charset="-122"/>
              </a:rPr>
              <a:t>)/2 </a:t>
            </a:r>
            <a:r>
              <a:rPr lang="en-US" altLang="zh-CN" sz="2000">
                <a:solidFill>
                  <a:srgbClr val="FF66FF"/>
                </a:solidFill>
                <a:ea typeface="楷体_GB2312" pitchFamily="49" charset="-122"/>
              </a:rPr>
              <a:t>(</a:t>
            </a:r>
            <a:r>
              <a:rPr lang="zh-CN" altLang="en-US" sz="2000">
                <a:solidFill>
                  <a:srgbClr val="FF66FF"/>
                </a:solidFill>
                <a:ea typeface="楷体_GB2312" pitchFamily="49" charset="-122"/>
              </a:rPr>
              <a:t>见习题</a:t>
            </a:r>
            <a:r>
              <a:rPr lang="en-US" altLang="zh-CN" sz="2000">
                <a:solidFill>
                  <a:srgbClr val="FF66FF"/>
                </a:solidFill>
                <a:ea typeface="楷体_GB2312" pitchFamily="49" charset="-122"/>
              </a:rPr>
              <a:t>)</a:t>
            </a:r>
          </a:p>
          <a:p>
            <a:pPr marL="177800" indent="-177800" eaLnBrk="1" hangingPunct="1">
              <a:lnSpc>
                <a:spcPct val="115000"/>
              </a:lnSpc>
              <a:buSzPct val="90000"/>
              <a:buNone/>
            </a:pPr>
            <a:r>
              <a:rPr lang="zh-CN" altLang="en-US" sz="2000">
                <a:solidFill>
                  <a:srgbClr val="FF66FF"/>
                </a:solidFill>
                <a:ea typeface="楷体_GB2312" pitchFamily="49" charset="-122"/>
              </a:rPr>
              <a:t>例：</a:t>
            </a:r>
            <a:r>
              <a:rPr lang="zh-CN" altLang="en-US" sz="2000">
                <a:solidFill>
                  <a:srgbClr val="FF66FF"/>
                </a:solidFill>
                <a:latin typeface="Verdana" panose="020B0604030504040204" pitchFamily="34" charset="0"/>
                <a:ea typeface="楷体_GB2312" pitchFamily="49" charset="-122"/>
              </a:rPr>
              <a:t>设</a:t>
            </a:r>
            <a:r>
              <a:rPr lang="en-US" altLang="zh-CN" sz="2000">
                <a:solidFill>
                  <a:srgbClr val="FF66FF"/>
                </a:solidFill>
                <a:latin typeface="Verdana" panose="020B0604030504040204" pitchFamily="34" charset="0"/>
                <a:ea typeface="楷体_GB2312" pitchFamily="49" charset="-122"/>
              </a:rPr>
              <a:t>n=3</a:t>
            </a:r>
            <a:r>
              <a:rPr lang="zh-CN" altLang="en-US" sz="2000">
                <a:solidFill>
                  <a:srgbClr val="FF66FF"/>
                </a:solidFill>
                <a:latin typeface="Verdana" panose="020B0604030504040204" pitchFamily="34" charset="0"/>
                <a:ea typeface="楷体_GB2312" pitchFamily="49" charset="-122"/>
              </a:rPr>
              <a:t>，</a:t>
            </a:r>
            <a:r>
              <a:rPr lang="en-US" altLang="zh-CN" sz="2000">
                <a:solidFill>
                  <a:srgbClr val="FF66FF"/>
                </a:solidFill>
                <a:latin typeface="Verdana" panose="020B0604030504040204" pitchFamily="34" charset="0"/>
                <a:ea typeface="楷体_GB2312" pitchFamily="49" charset="-122"/>
              </a:rPr>
              <a:t>W</a:t>
            </a:r>
            <a:r>
              <a:rPr lang="en-US" altLang="zh-CN" sz="1100">
                <a:solidFill>
                  <a:srgbClr val="FF66FF"/>
                </a:solidFill>
                <a:latin typeface="Verdana" panose="020B0604030504040204" pitchFamily="34" charset="0"/>
                <a:ea typeface="楷体_GB2312" pitchFamily="49" charset="-122"/>
              </a:rPr>
              <a:t>T</a:t>
            </a:r>
            <a:r>
              <a:rPr lang="en-US" altLang="zh-CN" sz="2000">
                <a:solidFill>
                  <a:srgbClr val="FF66FF"/>
                </a:solidFill>
                <a:latin typeface="Verdana" panose="020B0604030504040204" pitchFamily="34" charset="0"/>
                <a:ea typeface="楷体_GB2312" pitchFamily="49" charset="-122"/>
              </a:rPr>
              <a:t>=4</a:t>
            </a:r>
            <a:r>
              <a:rPr lang="zh-CN" altLang="en-US" sz="2000">
                <a:solidFill>
                  <a:srgbClr val="FF66FF"/>
                </a:solidFill>
                <a:latin typeface="Verdana" panose="020B0604030504040204" pitchFamily="34" charset="0"/>
                <a:ea typeface="楷体_GB2312" pitchFamily="49" charset="-122"/>
              </a:rPr>
              <a:t>，</a:t>
            </a:r>
            <a:r>
              <a:rPr lang="en-US" altLang="zh-CN" sz="2000">
                <a:solidFill>
                  <a:srgbClr val="FF66FF"/>
                </a:solidFill>
                <a:latin typeface="Verdana" panose="020B0604030504040204" pitchFamily="34" charset="0"/>
                <a:ea typeface="楷体_GB2312" pitchFamily="49" charset="-122"/>
              </a:rPr>
              <a:t>W</a:t>
            </a:r>
            <a:r>
              <a:rPr lang="en-US" altLang="zh-CN" sz="1200">
                <a:solidFill>
                  <a:srgbClr val="FF66FF"/>
                </a:solidFill>
                <a:latin typeface="Verdana" panose="020B0604030504040204" pitchFamily="34" charset="0"/>
                <a:ea typeface="楷体_GB2312" pitchFamily="49" charset="-122"/>
              </a:rPr>
              <a:t>R</a:t>
            </a:r>
            <a:r>
              <a:rPr lang="en-US" altLang="zh-CN" sz="2000">
                <a:solidFill>
                  <a:srgbClr val="FF66FF"/>
                </a:solidFill>
                <a:latin typeface="Verdana" panose="020B0604030504040204" pitchFamily="34" charset="0"/>
                <a:ea typeface="楷体_GB2312" pitchFamily="49" charset="-122"/>
              </a:rPr>
              <a:t>=4</a:t>
            </a:r>
          </a:p>
          <a:p>
            <a:pPr marL="177800" indent="-177800" eaLnBrk="1" hangingPunct="1">
              <a:lnSpc>
                <a:spcPct val="115000"/>
              </a:lnSpc>
              <a:buSzPct val="90000"/>
              <a:buNone/>
            </a:pPr>
            <a:endParaRPr lang="en-US" altLang="zh-CN" sz="2000">
              <a:solidFill>
                <a:srgbClr val="FF66FF"/>
              </a:solidFill>
              <a:ea typeface="楷体_GB2312" pitchFamily="49" charset="-122"/>
            </a:endParaRPr>
          </a:p>
        </p:txBody>
      </p:sp>
      <p:grpSp>
        <p:nvGrpSpPr>
          <p:cNvPr id="52231" name="Group 0"/>
          <p:cNvGrpSpPr>
            <a:grpSpLocks/>
          </p:cNvGrpSpPr>
          <p:nvPr/>
        </p:nvGrpSpPr>
        <p:grpSpPr bwMode="auto">
          <a:xfrm>
            <a:off x="2011364" y="233363"/>
            <a:ext cx="8029575" cy="6150710"/>
            <a:chOff x="294" y="140"/>
            <a:chExt cx="5057" cy="3680"/>
          </a:xfrm>
        </p:grpSpPr>
        <p:sp>
          <p:nvSpPr>
            <p:cNvPr id="52241" name="Rectangle 4"/>
            <p:cNvSpPr>
              <a:spLocks noChangeArrowheads="1"/>
            </p:cNvSpPr>
            <p:nvPr/>
          </p:nvSpPr>
          <p:spPr bwMode="auto">
            <a:xfrm>
              <a:off x="3661" y="2977"/>
              <a:ext cx="1690" cy="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400">
                  <a:solidFill>
                    <a:srgbClr val="0000FF"/>
                  </a:solidFill>
                  <a:latin typeface="Times New Roman" panose="02020603050405020304" pitchFamily="18" charset="0"/>
                  <a:ea typeface="楷体_GB2312" pitchFamily="49" charset="-122"/>
                </a:rPr>
                <a:t>缺点</a:t>
              </a:r>
              <a:r>
                <a:rPr kumimoji="1" lang="en-US" altLang="zh-CN" sz="2400">
                  <a:solidFill>
                    <a:srgbClr val="0000FF"/>
                  </a:solidFill>
                  <a:latin typeface="Times New Roman" panose="02020603050405020304" pitchFamily="18" charset="0"/>
                  <a:ea typeface="楷体_GB2312" pitchFamily="49" charset="-122"/>
                </a:rPr>
                <a:t>: </a:t>
              </a:r>
              <a:r>
                <a:rPr kumimoji="1" lang="zh-CN" altLang="en-US" sz="2400">
                  <a:solidFill>
                    <a:srgbClr val="0000FF"/>
                  </a:solidFill>
                  <a:latin typeface="Times New Roman" panose="02020603050405020304" pitchFamily="18" charset="0"/>
                  <a:ea typeface="楷体_GB2312" pitchFamily="49" charset="-122"/>
                </a:rPr>
                <a:t>较多存储器优点</a:t>
              </a:r>
              <a:r>
                <a:rPr kumimoji="1" lang="en-US" altLang="zh-CN" sz="2400">
                  <a:solidFill>
                    <a:srgbClr val="0000FF"/>
                  </a:solidFill>
                  <a:latin typeface="Times New Roman" panose="02020603050405020304" pitchFamily="18" charset="0"/>
                  <a:ea typeface="楷体_GB2312" pitchFamily="49" charset="-122"/>
                </a:rPr>
                <a:t>: </a:t>
              </a:r>
              <a:r>
                <a:rPr kumimoji="1" lang="zh-CN" altLang="en-US" sz="2400">
                  <a:solidFill>
                    <a:srgbClr val="0000FF"/>
                  </a:solidFill>
                  <a:latin typeface="Times New Roman" panose="02020603050405020304" pitchFamily="18" charset="0"/>
                  <a:ea typeface="楷体_GB2312" pitchFamily="49" charset="-122"/>
                </a:rPr>
                <a:t>节省带宽</a:t>
              </a:r>
            </a:p>
          </p:txBody>
        </p:sp>
        <p:sp>
          <p:nvSpPr>
            <p:cNvPr id="52242" name="Text Box 5"/>
            <p:cNvSpPr txBox="1">
              <a:spLocks noChangeArrowheads="1"/>
            </p:cNvSpPr>
            <p:nvPr/>
          </p:nvSpPr>
          <p:spPr bwMode="auto">
            <a:xfrm>
              <a:off x="294" y="1593"/>
              <a:ext cx="698"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400" b="1">
                  <a:solidFill>
                    <a:srgbClr val="0000FF"/>
                  </a:solidFill>
                  <a:latin typeface="Times New Roman" panose="02020603050405020304" pitchFamily="18" charset="0"/>
                  <a:ea typeface="楷体_GB2312" pitchFamily="49" charset="-122"/>
                </a:rPr>
                <a:t>发方</a:t>
              </a:r>
              <a:r>
                <a:rPr kumimoji="1" lang="zh-CN" altLang="en-US" sz="2400" b="1">
                  <a:latin typeface="Times New Roman" panose="02020603050405020304" pitchFamily="18" charset="0"/>
                  <a:ea typeface="楷体_GB2312" pitchFamily="49" charset="-122"/>
                </a:rPr>
                <a:t>：</a:t>
              </a:r>
              <a:endParaRPr kumimoji="1" lang="zh-CN" altLang="en-US" sz="2400">
                <a:latin typeface="Times New Roman" panose="02020603050405020304" pitchFamily="18" charset="0"/>
                <a:ea typeface="楷体_GB2312" pitchFamily="49" charset="-122"/>
              </a:endParaRPr>
            </a:p>
          </p:txBody>
        </p:sp>
        <p:sp>
          <p:nvSpPr>
            <p:cNvPr id="52243" name="Text Box 6"/>
            <p:cNvSpPr txBox="1">
              <a:spLocks noChangeArrowheads="1"/>
            </p:cNvSpPr>
            <p:nvPr/>
          </p:nvSpPr>
          <p:spPr bwMode="auto">
            <a:xfrm>
              <a:off x="294" y="2483"/>
              <a:ext cx="698"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400" b="1">
                  <a:solidFill>
                    <a:srgbClr val="0000FF"/>
                  </a:solidFill>
                  <a:latin typeface="Times New Roman" panose="02020603050405020304" pitchFamily="18" charset="0"/>
                  <a:ea typeface="楷体_GB2312" pitchFamily="49" charset="-122"/>
                </a:rPr>
                <a:t>收方</a:t>
              </a:r>
              <a:r>
                <a:rPr kumimoji="1" lang="zh-CN" altLang="en-US" sz="2400" b="1">
                  <a:latin typeface="Times New Roman" panose="02020603050405020304" pitchFamily="18" charset="0"/>
                  <a:ea typeface="楷体_GB2312" pitchFamily="49" charset="-122"/>
                </a:rPr>
                <a:t>：</a:t>
              </a:r>
              <a:endParaRPr kumimoji="1" lang="zh-CN" altLang="en-US" sz="2400">
                <a:latin typeface="Times New Roman" panose="02020603050405020304" pitchFamily="18" charset="0"/>
                <a:ea typeface="楷体_GB2312" pitchFamily="49" charset="-122"/>
              </a:endParaRPr>
            </a:p>
          </p:txBody>
        </p:sp>
        <p:sp>
          <p:nvSpPr>
            <p:cNvPr id="52244" name="Text Box 7"/>
            <p:cNvSpPr txBox="1">
              <a:spLocks noChangeArrowheads="1"/>
            </p:cNvSpPr>
            <p:nvPr/>
          </p:nvSpPr>
          <p:spPr bwMode="auto">
            <a:xfrm>
              <a:off x="982" y="1596"/>
              <a:ext cx="4197"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400" b="1">
                  <a:latin typeface="Times New Roman" panose="02020603050405020304" pitchFamily="18" charset="0"/>
                </a:rPr>
                <a:t>0   1   </a:t>
              </a:r>
              <a:r>
                <a:rPr kumimoji="1" lang="en-US" altLang="zh-CN" sz="2400" b="1">
                  <a:solidFill>
                    <a:srgbClr val="FF0000"/>
                  </a:solidFill>
                  <a:latin typeface="Times New Roman" panose="02020603050405020304" pitchFamily="18" charset="0"/>
                </a:rPr>
                <a:t>2   3   4   5     </a:t>
              </a:r>
              <a:r>
                <a:rPr kumimoji="1" lang="en-US" altLang="zh-CN" sz="2400" b="1">
                  <a:solidFill>
                    <a:schemeClr val="tx2"/>
                  </a:solidFill>
                  <a:latin typeface="Times New Roman" panose="02020603050405020304" pitchFamily="18" charset="0"/>
                </a:rPr>
                <a:t>2</a:t>
              </a:r>
              <a:r>
                <a:rPr kumimoji="1" lang="en-US" altLang="zh-CN" sz="2400" b="1">
                  <a:solidFill>
                    <a:srgbClr val="FF0000"/>
                  </a:solidFill>
                  <a:latin typeface="Times New Roman" panose="02020603050405020304" pitchFamily="18" charset="0"/>
                </a:rPr>
                <a:t>                  </a:t>
              </a:r>
              <a:r>
                <a:rPr kumimoji="1" lang="en-US" altLang="zh-CN" sz="2400" b="1">
                  <a:solidFill>
                    <a:schemeClr val="tx2"/>
                  </a:solidFill>
                  <a:latin typeface="Times New Roman" panose="02020603050405020304" pitchFamily="18" charset="0"/>
                </a:rPr>
                <a:t>6   7    0    1    2    3</a:t>
              </a:r>
              <a:endParaRPr kumimoji="1" lang="en-US" altLang="zh-CN" sz="2400">
                <a:solidFill>
                  <a:schemeClr val="tx2"/>
                </a:solidFill>
                <a:latin typeface="Times New Roman" panose="02020603050405020304" pitchFamily="18" charset="0"/>
              </a:endParaRPr>
            </a:p>
          </p:txBody>
        </p:sp>
        <p:sp>
          <p:nvSpPr>
            <p:cNvPr id="52245" name="Text Box 8"/>
            <p:cNvSpPr txBox="1">
              <a:spLocks noChangeArrowheads="1"/>
            </p:cNvSpPr>
            <p:nvPr/>
          </p:nvSpPr>
          <p:spPr bwMode="auto">
            <a:xfrm>
              <a:off x="1222" y="2495"/>
              <a:ext cx="4107"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400" b="1">
                  <a:latin typeface="Times New Roman" panose="02020603050405020304" pitchFamily="18" charset="0"/>
                </a:rPr>
                <a:t>0   1   E  </a:t>
              </a:r>
              <a:r>
                <a:rPr kumimoji="1" lang="en-US" altLang="zh-CN" sz="2400" b="1">
                  <a:solidFill>
                    <a:srgbClr val="FF0000"/>
                  </a:solidFill>
                  <a:latin typeface="Times New Roman" panose="02020603050405020304" pitchFamily="18" charset="0"/>
                </a:rPr>
                <a:t>3   4   5</a:t>
              </a:r>
              <a:r>
                <a:rPr kumimoji="1" lang="en-US" altLang="zh-CN" sz="2400" b="1">
                  <a:solidFill>
                    <a:srgbClr val="0000FF"/>
                  </a:solidFill>
                  <a:latin typeface="Times New Roman" panose="02020603050405020304" pitchFamily="18" charset="0"/>
                </a:rPr>
                <a:t>     2                  6   7    0    1   2 </a:t>
              </a:r>
              <a:endParaRPr kumimoji="1" lang="en-US" altLang="zh-CN" sz="2400">
                <a:latin typeface="Times New Roman" panose="02020603050405020304" pitchFamily="18" charset="0"/>
              </a:endParaRPr>
            </a:p>
          </p:txBody>
        </p:sp>
        <p:sp>
          <p:nvSpPr>
            <p:cNvPr id="52246" name="Line 9"/>
            <p:cNvSpPr>
              <a:spLocks noChangeShapeType="1"/>
            </p:cNvSpPr>
            <p:nvPr/>
          </p:nvSpPr>
          <p:spPr bwMode="auto">
            <a:xfrm>
              <a:off x="1078" y="1871"/>
              <a:ext cx="241" cy="672"/>
            </a:xfrm>
            <a:prstGeom prst="line">
              <a:avLst/>
            </a:prstGeom>
            <a:noFill/>
            <a:ln w="19050">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47" name="Line 10"/>
            <p:cNvSpPr>
              <a:spLocks noChangeShapeType="1"/>
            </p:cNvSpPr>
            <p:nvPr/>
          </p:nvSpPr>
          <p:spPr bwMode="auto">
            <a:xfrm>
              <a:off x="1318" y="1871"/>
              <a:ext cx="241" cy="672"/>
            </a:xfrm>
            <a:prstGeom prst="line">
              <a:avLst/>
            </a:prstGeom>
            <a:noFill/>
            <a:ln w="19050">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48" name="Line 11"/>
            <p:cNvSpPr>
              <a:spLocks noChangeShapeType="1"/>
            </p:cNvSpPr>
            <p:nvPr/>
          </p:nvSpPr>
          <p:spPr bwMode="auto">
            <a:xfrm flipV="1">
              <a:off x="1318" y="1815"/>
              <a:ext cx="684" cy="728"/>
            </a:xfrm>
            <a:prstGeom prst="line">
              <a:avLst/>
            </a:prstGeom>
            <a:noFill/>
            <a:ln w="19050">
              <a:solidFill>
                <a:srgbClr val="FF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49" name="Line 12"/>
            <p:cNvSpPr>
              <a:spLocks noChangeShapeType="1"/>
            </p:cNvSpPr>
            <p:nvPr/>
          </p:nvSpPr>
          <p:spPr bwMode="auto">
            <a:xfrm flipV="1">
              <a:off x="1558" y="1821"/>
              <a:ext cx="667" cy="722"/>
            </a:xfrm>
            <a:prstGeom prst="line">
              <a:avLst/>
            </a:prstGeom>
            <a:noFill/>
            <a:ln w="19050">
              <a:solidFill>
                <a:srgbClr val="FF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50" name="Line 13"/>
            <p:cNvSpPr>
              <a:spLocks noChangeShapeType="1"/>
            </p:cNvSpPr>
            <p:nvPr/>
          </p:nvSpPr>
          <p:spPr bwMode="auto">
            <a:xfrm flipV="1">
              <a:off x="2832" y="1782"/>
              <a:ext cx="703" cy="734"/>
            </a:xfrm>
            <a:prstGeom prst="line">
              <a:avLst/>
            </a:prstGeom>
            <a:noFill/>
            <a:ln w="19050">
              <a:solidFill>
                <a:srgbClr val="FF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51" name="Text Box 17"/>
            <p:cNvSpPr txBox="1">
              <a:spLocks noChangeArrowheads="1"/>
            </p:cNvSpPr>
            <p:nvPr/>
          </p:nvSpPr>
          <p:spPr bwMode="auto">
            <a:xfrm rot="18900000">
              <a:off x="1364" y="1924"/>
              <a:ext cx="482"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400">
                  <a:latin typeface="Times New Roman" panose="02020603050405020304" pitchFamily="18" charset="0"/>
                </a:rPr>
                <a:t>ack0</a:t>
              </a:r>
            </a:p>
          </p:txBody>
        </p:sp>
        <p:sp>
          <p:nvSpPr>
            <p:cNvPr id="52252" name="Text Box 18"/>
            <p:cNvSpPr txBox="1">
              <a:spLocks noChangeArrowheads="1"/>
            </p:cNvSpPr>
            <p:nvPr/>
          </p:nvSpPr>
          <p:spPr bwMode="auto">
            <a:xfrm rot="18900000">
              <a:off x="1554" y="2020"/>
              <a:ext cx="482"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400">
                  <a:latin typeface="Times New Roman" panose="02020603050405020304" pitchFamily="18" charset="0"/>
                </a:rPr>
                <a:t>ack1</a:t>
              </a:r>
            </a:p>
          </p:txBody>
        </p:sp>
        <p:sp>
          <p:nvSpPr>
            <p:cNvPr id="52253" name="Text Box 19"/>
            <p:cNvSpPr txBox="1">
              <a:spLocks noChangeArrowheads="1"/>
            </p:cNvSpPr>
            <p:nvPr/>
          </p:nvSpPr>
          <p:spPr bwMode="auto">
            <a:xfrm rot="-2700000">
              <a:off x="2939" y="2007"/>
              <a:ext cx="482"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400">
                  <a:latin typeface="Times New Roman" panose="02020603050405020304" pitchFamily="18" charset="0"/>
                </a:rPr>
                <a:t>ack5</a:t>
              </a:r>
            </a:p>
          </p:txBody>
        </p:sp>
        <p:sp>
          <p:nvSpPr>
            <p:cNvPr id="52254" name="AutoShape 23"/>
            <p:cNvSpPr>
              <a:spLocks/>
            </p:cNvSpPr>
            <p:nvPr/>
          </p:nvSpPr>
          <p:spPr bwMode="auto">
            <a:xfrm rot="-5400000">
              <a:off x="1379" y="2674"/>
              <a:ext cx="120" cy="241"/>
            </a:xfrm>
            <a:prstGeom prst="leftBrace">
              <a:avLst>
                <a:gd name="adj1" fmla="val 16736"/>
                <a:gd name="adj2" fmla="val 50000"/>
              </a:avLst>
            </a:pr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Tx/>
                <a:buNone/>
              </a:pPr>
              <a:endParaRPr lang="zh-CN" altLang="en-US" sz="2000">
                <a:ea typeface="楷体_GB2312" pitchFamily="49" charset="-122"/>
              </a:endParaRPr>
            </a:p>
          </p:txBody>
        </p:sp>
        <p:sp>
          <p:nvSpPr>
            <p:cNvPr id="52255" name="AutoShape 24"/>
            <p:cNvSpPr>
              <a:spLocks/>
            </p:cNvSpPr>
            <p:nvPr/>
          </p:nvSpPr>
          <p:spPr bwMode="auto">
            <a:xfrm rot="-5400000">
              <a:off x="2197" y="2527"/>
              <a:ext cx="121" cy="535"/>
            </a:xfrm>
            <a:prstGeom prst="leftBrace">
              <a:avLst>
                <a:gd name="adj1" fmla="val 87222"/>
                <a:gd name="adj2" fmla="val 50000"/>
              </a:avLst>
            </a:pr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Tx/>
                <a:buNone/>
              </a:pPr>
              <a:endParaRPr lang="zh-CN" altLang="en-US" sz="2000">
                <a:ea typeface="楷体_GB2312" pitchFamily="49" charset="-122"/>
              </a:endParaRPr>
            </a:p>
          </p:txBody>
        </p:sp>
        <p:sp>
          <p:nvSpPr>
            <p:cNvPr id="52256" name="Text Box 25"/>
            <p:cNvSpPr txBox="1">
              <a:spLocks noChangeArrowheads="1"/>
            </p:cNvSpPr>
            <p:nvPr/>
          </p:nvSpPr>
          <p:spPr bwMode="auto">
            <a:xfrm>
              <a:off x="1174" y="2912"/>
              <a:ext cx="278" cy="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000">
                  <a:latin typeface="楷体_GB2312" pitchFamily="49" charset="-122"/>
                  <a:ea typeface="楷体_GB2312" pitchFamily="49" charset="-122"/>
                </a:rPr>
                <a:t>收</a:t>
              </a:r>
            </a:p>
            <a:p>
              <a:pPr eaLnBrk="1" hangingPunct="1">
                <a:spcBef>
                  <a:spcPct val="0"/>
                </a:spcBef>
                <a:buClrTx/>
                <a:buSzTx/>
                <a:buFontTx/>
                <a:buNone/>
              </a:pPr>
              <a:r>
                <a:rPr kumimoji="1" lang="zh-CN" altLang="en-US" sz="2000">
                  <a:latin typeface="楷体_GB2312" pitchFamily="49" charset="-122"/>
                  <a:ea typeface="楷体_GB2312" pitchFamily="49" charset="-122"/>
                </a:rPr>
                <a:t>到</a:t>
              </a:r>
            </a:p>
            <a:p>
              <a:pPr eaLnBrk="1" hangingPunct="1">
                <a:spcBef>
                  <a:spcPct val="0"/>
                </a:spcBef>
                <a:buClrTx/>
                <a:buSzTx/>
                <a:buFontTx/>
                <a:buNone/>
              </a:pPr>
              <a:r>
                <a:rPr kumimoji="1" lang="zh-CN" altLang="en-US" sz="2000">
                  <a:latin typeface="楷体_GB2312" pitchFamily="49" charset="-122"/>
                  <a:ea typeface="楷体_GB2312" pitchFamily="49" charset="-122"/>
                </a:rPr>
                <a:t>接</a:t>
              </a:r>
            </a:p>
            <a:p>
              <a:pPr eaLnBrk="1" hangingPunct="1">
                <a:spcBef>
                  <a:spcPct val="0"/>
                </a:spcBef>
                <a:buClrTx/>
                <a:buSzTx/>
                <a:buFontTx/>
                <a:buNone/>
              </a:pPr>
              <a:r>
                <a:rPr kumimoji="1" lang="zh-CN" altLang="en-US" sz="2000">
                  <a:latin typeface="楷体_GB2312" pitchFamily="49" charset="-122"/>
                  <a:ea typeface="楷体_GB2312" pitchFamily="49" charset="-122"/>
                </a:rPr>
                <a:t>收</a:t>
              </a:r>
              <a:endParaRPr kumimoji="1" lang="zh-CN" altLang="en-US" sz="2400">
                <a:latin typeface="楷体_GB2312" pitchFamily="49" charset="-122"/>
                <a:ea typeface="楷体_GB2312" pitchFamily="49" charset="-122"/>
              </a:endParaRPr>
            </a:p>
          </p:txBody>
        </p:sp>
        <p:sp>
          <p:nvSpPr>
            <p:cNvPr id="52257" name="Text Box 26"/>
            <p:cNvSpPr txBox="1">
              <a:spLocks noChangeArrowheads="1"/>
            </p:cNvSpPr>
            <p:nvPr/>
          </p:nvSpPr>
          <p:spPr bwMode="auto">
            <a:xfrm>
              <a:off x="1366" y="2844"/>
              <a:ext cx="278" cy="9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000">
                  <a:latin typeface="楷体_GB2312" pitchFamily="49" charset="-122"/>
                  <a:ea typeface="楷体_GB2312" pitchFamily="49" charset="-122"/>
                </a:rPr>
                <a:t>窗</a:t>
              </a:r>
            </a:p>
            <a:p>
              <a:pPr eaLnBrk="1" hangingPunct="1">
                <a:spcBef>
                  <a:spcPct val="0"/>
                </a:spcBef>
                <a:buClrTx/>
                <a:buSzTx/>
                <a:buFontTx/>
                <a:buNone/>
              </a:pPr>
              <a:r>
                <a:rPr kumimoji="1" lang="zh-CN" altLang="en-US" sz="2000">
                  <a:latin typeface="楷体_GB2312" pitchFamily="49" charset="-122"/>
                  <a:ea typeface="楷体_GB2312" pitchFamily="49" charset="-122"/>
                </a:rPr>
                <a:t>口</a:t>
              </a:r>
            </a:p>
            <a:p>
              <a:pPr eaLnBrk="1" hangingPunct="1">
                <a:spcBef>
                  <a:spcPct val="0"/>
                </a:spcBef>
                <a:buClrTx/>
                <a:buSzTx/>
                <a:buFontTx/>
                <a:buNone/>
              </a:pPr>
              <a:r>
                <a:rPr kumimoji="1" lang="zh-CN" altLang="en-US" sz="2000">
                  <a:latin typeface="楷体_GB2312" pitchFamily="49" charset="-122"/>
                  <a:ea typeface="楷体_GB2312" pitchFamily="49" charset="-122"/>
                </a:rPr>
                <a:t>下</a:t>
              </a:r>
            </a:p>
            <a:p>
              <a:pPr eaLnBrk="1" hangingPunct="1">
                <a:spcBef>
                  <a:spcPct val="0"/>
                </a:spcBef>
                <a:buClrTx/>
                <a:buSzTx/>
                <a:buFontTx/>
                <a:buNone/>
              </a:pPr>
              <a:r>
                <a:rPr kumimoji="1" lang="zh-CN" altLang="en-US" sz="2000">
                  <a:latin typeface="楷体_GB2312" pitchFamily="49" charset="-122"/>
                  <a:ea typeface="楷体_GB2312" pitchFamily="49" charset="-122"/>
                </a:rPr>
                <a:t>界</a:t>
              </a:r>
            </a:p>
            <a:p>
              <a:pPr eaLnBrk="1" hangingPunct="1">
                <a:spcBef>
                  <a:spcPct val="0"/>
                </a:spcBef>
                <a:buClrTx/>
                <a:buSzTx/>
                <a:buFontTx/>
                <a:buNone/>
              </a:pPr>
              <a:r>
                <a:rPr kumimoji="1" lang="zh-CN" altLang="en-US" sz="2000">
                  <a:latin typeface="楷体_GB2312" pitchFamily="49" charset="-122"/>
                  <a:ea typeface="楷体_GB2312" pitchFamily="49" charset="-122"/>
                </a:rPr>
                <a:t>帧</a:t>
              </a:r>
              <a:endParaRPr kumimoji="1" lang="zh-CN" altLang="en-US" sz="2400">
                <a:latin typeface="楷体_GB2312" pitchFamily="49" charset="-122"/>
                <a:ea typeface="楷体_GB2312" pitchFamily="49" charset="-122"/>
              </a:endParaRPr>
            </a:p>
          </p:txBody>
        </p:sp>
        <p:sp>
          <p:nvSpPr>
            <p:cNvPr id="52258" name="Text Box 27"/>
            <p:cNvSpPr txBox="1">
              <a:spLocks noChangeArrowheads="1"/>
            </p:cNvSpPr>
            <p:nvPr/>
          </p:nvSpPr>
          <p:spPr bwMode="auto">
            <a:xfrm>
              <a:off x="1702" y="2840"/>
              <a:ext cx="439" cy="9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000">
                  <a:latin typeface="楷体_GB2312" pitchFamily="49" charset="-122"/>
                  <a:ea typeface="楷体_GB2312" pitchFamily="49" charset="-122"/>
                </a:rPr>
                <a:t>错</a:t>
              </a:r>
            </a:p>
            <a:p>
              <a:pPr eaLnBrk="1" hangingPunct="1">
                <a:spcBef>
                  <a:spcPct val="0"/>
                </a:spcBef>
                <a:buClrTx/>
                <a:buSzTx/>
                <a:buFontTx/>
                <a:buNone/>
              </a:pPr>
              <a:r>
                <a:rPr kumimoji="1" lang="zh-CN" altLang="en-US" sz="2000">
                  <a:latin typeface="楷体_GB2312" pitchFamily="49" charset="-122"/>
                  <a:ea typeface="楷体_GB2312" pitchFamily="49" charset="-122"/>
                </a:rPr>
                <a:t>误</a:t>
              </a:r>
            </a:p>
            <a:p>
              <a:pPr eaLnBrk="1" hangingPunct="1">
                <a:spcBef>
                  <a:spcPct val="0"/>
                </a:spcBef>
                <a:buClrTx/>
                <a:buSzTx/>
                <a:buFontTx/>
                <a:buNone/>
              </a:pPr>
              <a:r>
                <a:rPr kumimoji="1" lang="zh-CN" altLang="en-US" sz="2000">
                  <a:latin typeface="楷体_GB2312" pitchFamily="49" charset="-122"/>
                  <a:ea typeface="楷体_GB2312" pitchFamily="49" charset="-122"/>
                </a:rPr>
                <a:t>帧、</a:t>
              </a:r>
            </a:p>
            <a:p>
              <a:pPr eaLnBrk="1" hangingPunct="1">
                <a:spcBef>
                  <a:spcPct val="0"/>
                </a:spcBef>
                <a:buClrTx/>
                <a:buSzTx/>
                <a:buFontTx/>
                <a:buNone/>
              </a:pPr>
              <a:r>
                <a:rPr kumimoji="1" lang="zh-CN" altLang="en-US" sz="2000">
                  <a:latin typeface="楷体_GB2312" pitchFamily="49" charset="-122"/>
                  <a:ea typeface="楷体_GB2312" pitchFamily="49" charset="-122"/>
                </a:rPr>
                <a:t>丢</a:t>
              </a:r>
            </a:p>
            <a:p>
              <a:pPr eaLnBrk="1" hangingPunct="1">
                <a:spcBef>
                  <a:spcPct val="0"/>
                </a:spcBef>
                <a:buClrTx/>
                <a:buSzTx/>
                <a:buFontTx/>
                <a:buNone/>
              </a:pPr>
              <a:r>
                <a:rPr kumimoji="1" lang="zh-CN" altLang="en-US" sz="2000">
                  <a:latin typeface="楷体_GB2312" pitchFamily="49" charset="-122"/>
                  <a:ea typeface="楷体_GB2312" pitchFamily="49" charset="-122"/>
                </a:rPr>
                <a:t>弃</a:t>
              </a:r>
              <a:endParaRPr kumimoji="1" lang="zh-CN" altLang="en-US" sz="2400">
                <a:latin typeface="楷体_GB2312" pitchFamily="49" charset="-122"/>
                <a:ea typeface="楷体_GB2312" pitchFamily="49" charset="-122"/>
              </a:endParaRPr>
            </a:p>
          </p:txBody>
        </p:sp>
        <p:sp>
          <p:nvSpPr>
            <p:cNvPr id="52259" name="Text Box 28"/>
            <p:cNvSpPr txBox="1">
              <a:spLocks noChangeArrowheads="1"/>
            </p:cNvSpPr>
            <p:nvPr/>
          </p:nvSpPr>
          <p:spPr bwMode="auto">
            <a:xfrm>
              <a:off x="2086" y="2844"/>
              <a:ext cx="933" cy="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000">
                  <a:latin typeface="楷体_GB2312" pitchFamily="49" charset="-122"/>
                  <a:ea typeface="楷体_GB2312" pitchFamily="49" charset="-122"/>
                </a:rPr>
                <a:t>收到接收窗口内非下界帧，存于</a:t>
              </a:r>
            </a:p>
            <a:p>
              <a:pPr eaLnBrk="1" hangingPunct="1">
                <a:spcBef>
                  <a:spcPct val="0"/>
                </a:spcBef>
                <a:buClrTx/>
                <a:buSzTx/>
                <a:buFontTx/>
                <a:buNone/>
              </a:pPr>
              <a:r>
                <a:rPr kumimoji="1" lang="zh-CN" altLang="en-US" sz="2000">
                  <a:latin typeface="楷体_GB2312" pitchFamily="49" charset="-122"/>
                  <a:ea typeface="楷体_GB2312" pitchFamily="49" charset="-122"/>
                </a:rPr>
                <a:t>数链层缓存</a:t>
              </a:r>
              <a:endParaRPr kumimoji="1" lang="zh-CN" altLang="en-US" sz="2400">
                <a:latin typeface="楷体_GB2312" pitchFamily="49" charset="-122"/>
                <a:ea typeface="楷体_GB2312" pitchFamily="49" charset="-122"/>
              </a:endParaRPr>
            </a:p>
          </p:txBody>
        </p:sp>
        <p:sp>
          <p:nvSpPr>
            <p:cNvPr id="52260" name="Text Box 29"/>
            <p:cNvSpPr txBox="1">
              <a:spLocks noChangeArrowheads="1"/>
            </p:cNvSpPr>
            <p:nvPr/>
          </p:nvSpPr>
          <p:spPr bwMode="auto">
            <a:xfrm>
              <a:off x="3052" y="2788"/>
              <a:ext cx="278" cy="9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dist" eaLnBrk="1" hangingPunct="1">
                <a:spcBef>
                  <a:spcPct val="0"/>
                </a:spcBef>
                <a:buClrTx/>
                <a:buSzTx/>
                <a:buFontTx/>
                <a:buNone/>
              </a:pPr>
              <a:r>
                <a:rPr kumimoji="1" lang="zh-CN" altLang="en-US" sz="2000">
                  <a:latin typeface="楷体_GB2312" pitchFamily="49" charset="-122"/>
                  <a:ea typeface="楷体_GB2312" pitchFamily="49" charset="-122"/>
                </a:rPr>
                <a:t>重</a:t>
              </a:r>
            </a:p>
            <a:p>
              <a:pPr algn="dist" eaLnBrk="1" hangingPunct="1">
                <a:spcBef>
                  <a:spcPct val="0"/>
                </a:spcBef>
                <a:buClrTx/>
                <a:buSzTx/>
                <a:buFontTx/>
                <a:buNone/>
              </a:pPr>
              <a:r>
                <a:rPr kumimoji="1" lang="zh-CN" altLang="en-US" sz="2000">
                  <a:latin typeface="楷体_GB2312" pitchFamily="49" charset="-122"/>
                  <a:ea typeface="楷体_GB2312" pitchFamily="49" charset="-122"/>
                </a:rPr>
                <a:t>发</a:t>
              </a:r>
            </a:p>
            <a:p>
              <a:pPr algn="dist" eaLnBrk="1" hangingPunct="1">
                <a:spcBef>
                  <a:spcPct val="0"/>
                </a:spcBef>
                <a:buClrTx/>
                <a:buSzTx/>
                <a:buFontTx/>
                <a:buNone/>
              </a:pPr>
              <a:r>
                <a:rPr kumimoji="1" lang="zh-CN" altLang="en-US" sz="2000">
                  <a:latin typeface="楷体_GB2312" pitchFamily="49" charset="-122"/>
                  <a:ea typeface="楷体_GB2312" pitchFamily="49" charset="-122"/>
                </a:rPr>
                <a:t> </a:t>
              </a:r>
              <a:r>
                <a:rPr kumimoji="1" lang="en-US" altLang="zh-CN" sz="2000">
                  <a:latin typeface="楷体_GB2312" pitchFamily="49" charset="-122"/>
                  <a:ea typeface="楷体_GB2312" pitchFamily="49" charset="-122"/>
                </a:rPr>
                <a:t>2</a:t>
              </a:r>
            </a:p>
            <a:p>
              <a:pPr algn="dist" eaLnBrk="1" hangingPunct="1">
                <a:spcBef>
                  <a:spcPct val="0"/>
                </a:spcBef>
                <a:buClrTx/>
                <a:buSzTx/>
                <a:buFontTx/>
                <a:buNone/>
              </a:pPr>
              <a:r>
                <a:rPr kumimoji="1" lang="zh-CN" altLang="en-US" sz="2000">
                  <a:latin typeface="楷体_GB2312" pitchFamily="49" charset="-122"/>
                  <a:ea typeface="楷体_GB2312" pitchFamily="49" charset="-122"/>
                </a:rPr>
                <a:t>号</a:t>
              </a:r>
            </a:p>
            <a:p>
              <a:pPr algn="dist" eaLnBrk="1" hangingPunct="1">
                <a:spcBef>
                  <a:spcPct val="0"/>
                </a:spcBef>
                <a:buClrTx/>
                <a:buSzTx/>
                <a:buFontTx/>
                <a:buNone/>
              </a:pPr>
              <a:r>
                <a:rPr kumimoji="1" lang="zh-CN" altLang="en-US" sz="2000">
                  <a:latin typeface="楷体_GB2312" pitchFamily="49" charset="-122"/>
                  <a:ea typeface="楷体_GB2312" pitchFamily="49" charset="-122"/>
                </a:rPr>
                <a:t>帧</a:t>
              </a:r>
              <a:endParaRPr kumimoji="1" lang="zh-CN" altLang="en-US" sz="2400">
                <a:latin typeface="楷体_GB2312" pitchFamily="49" charset="-122"/>
                <a:ea typeface="楷体_GB2312" pitchFamily="49" charset="-122"/>
              </a:endParaRPr>
            </a:p>
          </p:txBody>
        </p:sp>
        <p:grpSp>
          <p:nvGrpSpPr>
            <p:cNvPr id="52261" name="Group 30"/>
            <p:cNvGrpSpPr>
              <a:grpSpLocks/>
            </p:cNvGrpSpPr>
            <p:nvPr/>
          </p:nvGrpSpPr>
          <p:grpSpPr bwMode="auto">
            <a:xfrm>
              <a:off x="1558" y="1452"/>
              <a:ext cx="1497" cy="192"/>
              <a:chOff x="1632" y="1056"/>
              <a:chExt cx="1488" cy="192"/>
            </a:xfrm>
          </p:grpSpPr>
          <p:sp>
            <p:nvSpPr>
              <p:cNvPr id="52269" name="Line 31"/>
              <p:cNvSpPr>
                <a:spLocks noChangeShapeType="1"/>
              </p:cNvSpPr>
              <p:nvPr/>
            </p:nvSpPr>
            <p:spPr bwMode="auto">
              <a:xfrm>
                <a:off x="1632" y="1056"/>
                <a:ext cx="0" cy="192"/>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70" name="Line 32"/>
              <p:cNvSpPr>
                <a:spLocks noChangeShapeType="1"/>
              </p:cNvSpPr>
              <p:nvPr/>
            </p:nvSpPr>
            <p:spPr bwMode="auto">
              <a:xfrm>
                <a:off x="3120" y="1056"/>
                <a:ext cx="0" cy="192"/>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71" name="Line 33"/>
              <p:cNvSpPr>
                <a:spLocks noChangeShapeType="1"/>
              </p:cNvSpPr>
              <p:nvPr/>
            </p:nvSpPr>
            <p:spPr bwMode="auto">
              <a:xfrm>
                <a:off x="1632" y="1152"/>
                <a:ext cx="1488" cy="0"/>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52262" name="Text Box 34"/>
            <p:cNvSpPr txBox="1">
              <a:spLocks noChangeArrowheads="1"/>
            </p:cNvSpPr>
            <p:nvPr/>
          </p:nvSpPr>
          <p:spPr bwMode="auto">
            <a:xfrm>
              <a:off x="4350" y="140"/>
              <a:ext cx="269"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a:latin typeface="Times New Roman" panose="02020603050405020304" pitchFamily="18" charset="0"/>
                </a:rPr>
                <a:t>T</a:t>
              </a:r>
              <a:r>
                <a:rPr kumimoji="1" lang="en-US" altLang="zh-CN" sz="2000" baseline="-25000">
                  <a:latin typeface="Times New Roman" panose="02020603050405020304" pitchFamily="18" charset="0"/>
                </a:rPr>
                <a:t>2</a:t>
              </a:r>
              <a:endParaRPr kumimoji="1" lang="en-US" altLang="zh-CN" sz="2400">
                <a:latin typeface="Times New Roman" panose="02020603050405020304" pitchFamily="18" charset="0"/>
              </a:endParaRPr>
            </a:p>
          </p:txBody>
        </p:sp>
        <p:sp>
          <p:nvSpPr>
            <p:cNvPr id="52263" name="Line 35"/>
            <p:cNvSpPr>
              <a:spLocks noChangeShapeType="1"/>
            </p:cNvSpPr>
            <p:nvPr/>
          </p:nvSpPr>
          <p:spPr bwMode="auto">
            <a:xfrm>
              <a:off x="1819" y="1855"/>
              <a:ext cx="241" cy="672"/>
            </a:xfrm>
            <a:prstGeom prst="line">
              <a:avLst/>
            </a:prstGeom>
            <a:noFill/>
            <a:ln w="19050">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64" name="Line 36"/>
            <p:cNvSpPr>
              <a:spLocks noChangeShapeType="1"/>
            </p:cNvSpPr>
            <p:nvPr/>
          </p:nvSpPr>
          <p:spPr bwMode="auto">
            <a:xfrm>
              <a:off x="2059" y="1855"/>
              <a:ext cx="241" cy="672"/>
            </a:xfrm>
            <a:prstGeom prst="line">
              <a:avLst/>
            </a:prstGeom>
            <a:noFill/>
            <a:ln w="19050">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65" name="Line 37"/>
            <p:cNvSpPr>
              <a:spLocks noChangeShapeType="1"/>
            </p:cNvSpPr>
            <p:nvPr/>
          </p:nvSpPr>
          <p:spPr bwMode="auto">
            <a:xfrm>
              <a:off x="2609" y="1839"/>
              <a:ext cx="241" cy="672"/>
            </a:xfrm>
            <a:prstGeom prst="line">
              <a:avLst/>
            </a:prstGeom>
            <a:noFill/>
            <a:ln w="19050">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66" name="Line 42"/>
            <p:cNvSpPr>
              <a:spLocks noChangeShapeType="1"/>
            </p:cNvSpPr>
            <p:nvPr/>
          </p:nvSpPr>
          <p:spPr bwMode="auto">
            <a:xfrm>
              <a:off x="3549" y="1875"/>
              <a:ext cx="241" cy="672"/>
            </a:xfrm>
            <a:prstGeom prst="line">
              <a:avLst/>
            </a:prstGeom>
            <a:noFill/>
            <a:ln w="19050">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67" name="Line 43"/>
            <p:cNvSpPr>
              <a:spLocks noChangeShapeType="1"/>
            </p:cNvSpPr>
            <p:nvPr/>
          </p:nvSpPr>
          <p:spPr bwMode="auto">
            <a:xfrm>
              <a:off x="2299" y="1855"/>
              <a:ext cx="241" cy="672"/>
            </a:xfrm>
            <a:prstGeom prst="line">
              <a:avLst/>
            </a:prstGeom>
            <a:noFill/>
            <a:ln w="19050">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68" name="Line 44"/>
            <p:cNvSpPr>
              <a:spLocks noChangeShapeType="1"/>
            </p:cNvSpPr>
            <p:nvPr/>
          </p:nvSpPr>
          <p:spPr bwMode="auto">
            <a:xfrm>
              <a:off x="3820" y="1875"/>
              <a:ext cx="241" cy="672"/>
            </a:xfrm>
            <a:prstGeom prst="line">
              <a:avLst/>
            </a:prstGeom>
            <a:noFill/>
            <a:ln w="19050">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52232" name="Line 44"/>
          <p:cNvSpPr>
            <a:spLocks noChangeShapeType="1"/>
          </p:cNvSpPr>
          <p:nvPr/>
        </p:nvSpPr>
        <p:spPr bwMode="auto">
          <a:xfrm>
            <a:off x="8075614" y="3176588"/>
            <a:ext cx="382587" cy="1122362"/>
          </a:xfrm>
          <a:prstGeom prst="line">
            <a:avLst/>
          </a:prstGeom>
          <a:noFill/>
          <a:ln w="19050">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33" name="Line 44"/>
          <p:cNvSpPr>
            <a:spLocks noChangeShapeType="1"/>
          </p:cNvSpPr>
          <p:nvPr/>
        </p:nvSpPr>
        <p:spPr bwMode="auto">
          <a:xfrm>
            <a:off x="8480425" y="3173413"/>
            <a:ext cx="382588" cy="1122362"/>
          </a:xfrm>
          <a:prstGeom prst="line">
            <a:avLst/>
          </a:prstGeom>
          <a:noFill/>
          <a:ln w="19050">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34" name="Line 44"/>
          <p:cNvSpPr>
            <a:spLocks noChangeShapeType="1"/>
          </p:cNvSpPr>
          <p:nvPr/>
        </p:nvSpPr>
        <p:spPr bwMode="auto">
          <a:xfrm>
            <a:off x="8926514" y="3152776"/>
            <a:ext cx="382587" cy="1122363"/>
          </a:xfrm>
          <a:prstGeom prst="line">
            <a:avLst/>
          </a:prstGeom>
          <a:noFill/>
          <a:ln w="19050">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35" name="Line 12"/>
          <p:cNvSpPr>
            <a:spLocks noChangeShapeType="1"/>
          </p:cNvSpPr>
          <p:nvPr/>
        </p:nvSpPr>
        <p:spPr bwMode="auto">
          <a:xfrm flipV="1">
            <a:off x="7543800" y="3033713"/>
            <a:ext cx="1085850" cy="1212850"/>
          </a:xfrm>
          <a:prstGeom prst="line">
            <a:avLst/>
          </a:prstGeom>
          <a:noFill/>
          <a:ln w="19050">
            <a:solidFill>
              <a:srgbClr val="FF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36" name="Text Box 19"/>
          <p:cNvSpPr txBox="1">
            <a:spLocks noChangeArrowheads="1"/>
          </p:cNvSpPr>
          <p:nvPr/>
        </p:nvSpPr>
        <p:spPr bwMode="auto">
          <a:xfrm rot="-2700000">
            <a:off x="7491414" y="3332163"/>
            <a:ext cx="7651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400">
                <a:latin typeface="Times New Roman" panose="02020603050405020304" pitchFamily="18" charset="0"/>
              </a:rPr>
              <a:t>ack6</a:t>
            </a:r>
          </a:p>
        </p:txBody>
      </p:sp>
      <p:pic>
        <p:nvPicPr>
          <p:cNvPr id="52237" name="图片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016875" y="2997200"/>
            <a:ext cx="1182688" cy="1303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38" name="Text Box 19"/>
          <p:cNvSpPr txBox="1">
            <a:spLocks noChangeArrowheads="1"/>
          </p:cNvSpPr>
          <p:nvPr/>
        </p:nvSpPr>
        <p:spPr bwMode="auto">
          <a:xfrm rot="-2700000">
            <a:off x="8035926" y="3375026"/>
            <a:ext cx="7651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400">
                <a:latin typeface="Times New Roman" panose="02020603050405020304" pitchFamily="18" charset="0"/>
              </a:rPr>
              <a:t>ack7</a:t>
            </a:r>
          </a:p>
        </p:txBody>
      </p:sp>
      <p:pic>
        <p:nvPicPr>
          <p:cNvPr id="52239" name="图片 48"/>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456614" y="3044826"/>
            <a:ext cx="1182687" cy="1304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40" name="Text Box 19"/>
          <p:cNvSpPr txBox="1">
            <a:spLocks noChangeArrowheads="1"/>
          </p:cNvSpPr>
          <p:nvPr/>
        </p:nvSpPr>
        <p:spPr bwMode="auto">
          <a:xfrm rot="-2700000">
            <a:off x="8509001" y="3363914"/>
            <a:ext cx="7651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400">
                <a:latin typeface="Times New Roman" panose="02020603050405020304" pitchFamily="18" charset="0"/>
              </a:rPr>
              <a:t>ack0</a:t>
            </a:r>
          </a:p>
        </p:txBody>
      </p:sp>
    </p:spTree>
    <p:extLst>
      <p:ext uri="{BB962C8B-B14F-4D97-AF65-F5344CB8AC3E}">
        <p14:creationId xmlns:p14="http://schemas.microsoft.com/office/powerpoint/2010/main" val="3866286256"/>
      </p:ext>
    </p:extLst>
  </p:cSld>
  <p:clrMapOvr>
    <a:masterClrMapping/>
  </p:clrMapOvr>
  <p:transition>
    <p:random/>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a:defRPr/>
            </a:pPr>
            <a:r>
              <a:rPr lang="en-US" altLang="zh-CN"/>
              <a:t>Computer Network</a:t>
            </a:r>
          </a:p>
        </p:txBody>
      </p:sp>
      <p:sp>
        <p:nvSpPr>
          <p:cNvPr id="3" name="灯片编号占位符 2"/>
          <p:cNvSpPr>
            <a:spLocks noGrp="1"/>
          </p:cNvSpPr>
          <p:nvPr>
            <p:ph type="sldNum" sz="quarter" idx="11"/>
          </p:nvPr>
        </p:nvSpPr>
        <p:spPr/>
        <p:txBody>
          <a:bodyPr/>
          <a:lstStyle/>
          <a:p>
            <a:pPr>
              <a:defRPr/>
            </a:pPr>
            <a:fld id="{2AAF93DC-1AF2-40C5-A519-3C53F0141A12}" type="slidenum">
              <a:rPr lang="en-US" altLang="zh-CN" smtClean="0"/>
              <a:pPr>
                <a:defRPr/>
              </a:pPr>
              <a:t>105</a:t>
            </a:fld>
            <a:endParaRPr lang="en-US" altLang="zh-CN"/>
          </a:p>
        </p:txBody>
      </p:sp>
      <p:sp>
        <p:nvSpPr>
          <p:cNvPr id="4" name="日期占位符 3"/>
          <p:cNvSpPr>
            <a:spLocks noGrp="1"/>
          </p:cNvSpPr>
          <p:nvPr>
            <p:ph type="dt" sz="half" idx="12"/>
          </p:nvPr>
        </p:nvSpPr>
        <p:spPr/>
        <p:txBody>
          <a:bodyPr/>
          <a:lstStyle/>
          <a:p>
            <a:pPr>
              <a:defRPr/>
            </a:pPr>
            <a:fld id="{F745FD7F-E1E7-4727-BD24-89E1126485D5}" type="datetime1">
              <a:rPr lang="zh-CN" altLang="en-US" smtClean="0"/>
              <a:pPr>
                <a:defRPr/>
              </a:pPr>
              <a:t>2024/10/18</a:t>
            </a:fld>
            <a:endParaRPr lang="en-US" altLang="zh-CN"/>
          </a:p>
        </p:txBody>
      </p:sp>
      <p:pic>
        <p:nvPicPr>
          <p:cNvPr id="6" name="图片 5"/>
          <p:cNvPicPr>
            <a:picLocks noChangeAspect="1"/>
          </p:cNvPicPr>
          <p:nvPr/>
        </p:nvPicPr>
        <p:blipFill>
          <a:blip r:embed="rId2"/>
          <a:stretch>
            <a:fillRect/>
          </a:stretch>
        </p:blipFill>
        <p:spPr>
          <a:xfrm>
            <a:off x="819554" y="476672"/>
            <a:ext cx="10552892" cy="5256584"/>
          </a:xfrm>
          <a:prstGeom prst="rect">
            <a:avLst/>
          </a:prstGeom>
        </p:spPr>
      </p:pic>
    </p:spTree>
    <p:extLst>
      <p:ext uri="{BB962C8B-B14F-4D97-AF65-F5344CB8AC3E}">
        <p14:creationId xmlns:p14="http://schemas.microsoft.com/office/powerpoint/2010/main" val="629342699"/>
      </p:ext>
    </p:extLst>
  </p:cSld>
  <p:clrMapOvr>
    <a:masterClrMapping/>
  </p:clrMapOvr>
  <p:transition spd="slow">
    <p:pull dir="ru"/>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a:defRPr/>
            </a:pPr>
            <a:r>
              <a:rPr lang="en-US" altLang="zh-CN"/>
              <a:t>Computer Network</a:t>
            </a:r>
          </a:p>
        </p:txBody>
      </p:sp>
      <p:sp>
        <p:nvSpPr>
          <p:cNvPr id="3" name="灯片编号占位符 2"/>
          <p:cNvSpPr>
            <a:spLocks noGrp="1"/>
          </p:cNvSpPr>
          <p:nvPr>
            <p:ph type="sldNum" sz="quarter" idx="11"/>
          </p:nvPr>
        </p:nvSpPr>
        <p:spPr/>
        <p:txBody>
          <a:bodyPr/>
          <a:lstStyle/>
          <a:p>
            <a:pPr>
              <a:defRPr/>
            </a:pPr>
            <a:fld id="{2AAF93DC-1AF2-40C5-A519-3C53F0141A12}" type="slidenum">
              <a:rPr lang="en-US" altLang="zh-CN" smtClean="0"/>
              <a:pPr>
                <a:defRPr/>
              </a:pPr>
              <a:t>106</a:t>
            </a:fld>
            <a:endParaRPr lang="en-US" altLang="zh-CN"/>
          </a:p>
        </p:txBody>
      </p:sp>
      <p:sp>
        <p:nvSpPr>
          <p:cNvPr id="4" name="日期占位符 3"/>
          <p:cNvSpPr>
            <a:spLocks noGrp="1"/>
          </p:cNvSpPr>
          <p:nvPr>
            <p:ph type="dt" sz="half" idx="12"/>
          </p:nvPr>
        </p:nvSpPr>
        <p:spPr/>
        <p:txBody>
          <a:bodyPr/>
          <a:lstStyle/>
          <a:p>
            <a:pPr>
              <a:defRPr/>
            </a:pPr>
            <a:fld id="{F745FD7F-E1E7-4727-BD24-89E1126485D5}" type="datetime1">
              <a:rPr lang="zh-CN" altLang="en-US" smtClean="0"/>
              <a:pPr>
                <a:defRPr/>
              </a:pPr>
              <a:t>2024/10/18</a:t>
            </a:fld>
            <a:endParaRPr lang="en-US" altLang="zh-CN"/>
          </a:p>
        </p:txBody>
      </p:sp>
      <p:pic>
        <p:nvPicPr>
          <p:cNvPr id="5" name="图片 4"/>
          <p:cNvPicPr>
            <a:picLocks noChangeAspect="1"/>
          </p:cNvPicPr>
          <p:nvPr/>
        </p:nvPicPr>
        <p:blipFill>
          <a:blip r:embed="rId2"/>
          <a:stretch>
            <a:fillRect/>
          </a:stretch>
        </p:blipFill>
        <p:spPr>
          <a:xfrm>
            <a:off x="767408" y="332656"/>
            <a:ext cx="10382244" cy="5328592"/>
          </a:xfrm>
          <a:prstGeom prst="rect">
            <a:avLst/>
          </a:prstGeom>
        </p:spPr>
      </p:pic>
    </p:spTree>
    <p:extLst>
      <p:ext uri="{BB962C8B-B14F-4D97-AF65-F5344CB8AC3E}">
        <p14:creationId xmlns:p14="http://schemas.microsoft.com/office/powerpoint/2010/main" val="2335454288"/>
      </p:ext>
    </p:extLst>
  </p:cSld>
  <p:clrMapOvr>
    <a:masterClrMapping/>
  </p:clrMapOvr>
  <p:transition spd="slow">
    <p:pull dir="ru"/>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a:defRPr/>
            </a:pPr>
            <a:r>
              <a:rPr lang="en-US" altLang="zh-CN"/>
              <a:t>Computer Network</a:t>
            </a:r>
          </a:p>
        </p:txBody>
      </p:sp>
      <p:sp>
        <p:nvSpPr>
          <p:cNvPr id="3" name="灯片编号占位符 2"/>
          <p:cNvSpPr>
            <a:spLocks noGrp="1"/>
          </p:cNvSpPr>
          <p:nvPr>
            <p:ph type="sldNum" sz="quarter" idx="11"/>
          </p:nvPr>
        </p:nvSpPr>
        <p:spPr/>
        <p:txBody>
          <a:bodyPr/>
          <a:lstStyle/>
          <a:p>
            <a:pPr>
              <a:defRPr/>
            </a:pPr>
            <a:fld id="{2AAF93DC-1AF2-40C5-A519-3C53F0141A12}" type="slidenum">
              <a:rPr lang="en-US" altLang="zh-CN" smtClean="0"/>
              <a:pPr>
                <a:defRPr/>
              </a:pPr>
              <a:t>107</a:t>
            </a:fld>
            <a:endParaRPr lang="en-US" altLang="zh-CN"/>
          </a:p>
        </p:txBody>
      </p:sp>
      <p:sp>
        <p:nvSpPr>
          <p:cNvPr id="4" name="日期占位符 3"/>
          <p:cNvSpPr>
            <a:spLocks noGrp="1"/>
          </p:cNvSpPr>
          <p:nvPr>
            <p:ph type="dt" sz="half" idx="12"/>
          </p:nvPr>
        </p:nvSpPr>
        <p:spPr/>
        <p:txBody>
          <a:bodyPr/>
          <a:lstStyle/>
          <a:p>
            <a:pPr>
              <a:defRPr/>
            </a:pPr>
            <a:fld id="{F745FD7F-E1E7-4727-BD24-89E1126485D5}" type="datetime1">
              <a:rPr lang="zh-CN" altLang="en-US" smtClean="0"/>
              <a:pPr>
                <a:defRPr/>
              </a:pPr>
              <a:t>2024/10/18</a:t>
            </a:fld>
            <a:endParaRPr lang="en-US" altLang="zh-CN"/>
          </a:p>
        </p:txBody>
      </p:sp>
      <p:pic>
        <p:nvPicPr>
          <p:cNvPr id="5" name="图片 4"/>
          <p:cNvPicPr>
            <a:picLocks noChangeAspect="1"/>
          </p:cNvPicPr>
          <p:nvPr/>
        </p:nvPicPr>
        <p:blipFill>
          <a:blip r:embed="rId2"/>
          <a:stretch>
            <a:fillRect/>
          </a:stretch>
        </p:blipFill>
        <p:spPr>
          <a:xfrm>
            <a:off x="1844012" y="1179840"/>
            <a:ext cx="8576957" cy="4697432"/>
          </a:xfrm>
          <a:prstGeom prst="rect">
            <a:avLst/>
          </a:prstGeom>
        </p:spPr>
      </p:pic>
    </p:spTree>
    <p:extLst>
      <p:ext uri="{BB962C8B-B14F-4D97-AF65-F5344CB8AC3E}">
        <p14:creationId xmlns:p14="http://schemas.microsoft.com/office/powerpoint/2010/main" val="2290334601"/>
      </p:ext>
    </p:extLst>
  </p:cSld>
  <p:clrMapOvr>
    <a:masterClrMapping/>
  </p:clrMapOvr>
  <p:transition spd="slow">
    <p:pull dir="ru"/>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a:defRPr/>
            </a:pPr>
            <a:r>
              <a:rPr lang="en-US" altLang="zh-CN"/>
              <a:t>Computer Network</a:t>
            </a:r>
          </a:p>
        </p:txBody>
      </p:sp>
      <p:sp>
        <p:nvSpPr>
          <p:cNvPr id="3" name="灯片编号占位符 2"/>
          <p:cNvSpPr>
            <a:spLocks noGrp="1"/>
          </p:cNvSpPr>
          <p:nvPr>
            <p:ph type="sldNum" sz="quarter" idx="11"/>
          </p:nvPr>
        </p:nvSpPr>
        <p:spPr/>
        <p:txBody>
          <a:bodyPr/>
          <a:lstStyle/>
          <a:p>
            <a:pPr>
              <a:defRPr/>
            </a:pPr>
            <a:fld id="{2AAF93DC-1AF2-40C5-A519-3C53F0141A12}" type="slidenum">
              <a:rPr lang="en-US" altLang="zh-CN" smtClean="0"/>
              <a:pPr>
                <a:defRPr/>
              </a:pPr>
              <a:t>108</a:t>
            </a:fld>
            <a:endParaRPr lang="en-US" altLang="zh-CN"/>
          </a:p>
        </p:txBody>
      </p:sp>
      <p:sp>
        <p:nvSpPr>
          <p:cNvPr id="4" name="日期占位符 3"/>
          <p:cNvSpPr>
            <a:spLocks noGrp="1"/>
          </p:cNvSpPr>
          <p:nvPr>
            <p:ph type="dt" sz="half" idx="12"/>
          </p:nvPr>
        </p:nvSpPr>
        <p:spPr/>
        <p:txBody>
          <a:bodyPr/>
          <a:lstStyle/>
          <a:p>
            <a:pPr>
              <a:defRPr/>
            </a:pPr>
            <a:fld id="{F745FD7F-E1E7-4727-BD24-89E1126485D5}" type="datetime1">
              <a:rPr lang="zh-CN" altLang="en-US" smtClean="0"/>
              <a:pPr>
                <a:defRPr/>
              </a:pPr>
              <a:t>2024/10/18</a:t>
            </a:fld>
            <a:endParaRPr lang="en-US" altLang="zh-CN"/>
          </a:p>
        </p:txBody>
      </p:sp>
      <p:pic>
        <p:nvPicPr>
          <p:cNvPr id="5" name="图片 4"/>
          <p:cNvPicPr>
            <a:picLocks noChangeAspect="1"/>
          </p:cNvPicPr>
          <p:nvPr/>
        </p:nvPicPr>
        <p:blipFill>
          <a:blip r:embed="rId2"/>
          <a:stretch>
            <a:fillRect/>
          </a:stretch>
        </p:blipFill>
        <p:spPr>
          <a:xfrm>
            <a:off x="1296442" y="440533"/>
            <a:ext cx="9599116" cy="5776092"/>
          </a:xfrm>
          <a:prstGeom prst="rect">
            <a:avLst/>
          </a:prstGeom>
        </p:spPr>
      </p:pic>
    </p:spTree>
    <p:extLst>
      <p:ext uri="{BB962C8B-B14F-4D97-AF65-F5344CB8AC3E}">
        <p14:creationId xmlns:p14="http://schemas.microsoft.com/office/powerpoint/2010/main" val="2429416449"/>
      </p:ext>
    </p:extLst>
  </p:cSld>
  <p:clrMapOvr>
    <a:masterClrMapping/>
  </p:clrMapOvr>
  <p:transition spd="slow">
    <p:pull dir="ru"/>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a:defRPr/>
            </a:pPr>
            <a:r>
              <a:rPr lang="en-US" altLang="zh-CN"/>
              <a:t>Computer Network</a:t>
            </a:r>
          </a:p>
        </p:txBody>
      </p:sp>
      <p:sp>
        <p:nvSpPr>
          <p:cNvPr id="3" name="灯片编号占位符 2"/>
          <p:cNvSpPr>
            <a:spLocks noGrp="1"/>
          </p:cNvSpPr>
          <p:nvPr>
            <p:ph type="sldNum" sz="quarter" idx="11"/>
          </p:nvPr>
        </p:nvSpPr>
        <p:spPr/>
        <p:txBody>
          <a:bodyPr/>
          <a:lstStyle/>
          <a:p>
            <a:pPr>
              <a:defRPr/>
            </a:pPr>
            <a:fld id="{2AAF93DC-1AF2-40C5-A519-3C53F0141A12}" type="slidenum">
              <a:rPr lang="en-US" altLang="zh-CN" smtClean="0"/>
              <a:pPr>
                <a:defRPr/>
              </a:pPr>
              <a:t>109</a:t>
            </a:fld>
            <a:endParaRPr lang="en-US" altLang="zh-CN"/>
          </a:p>
        </p:txBody>
      </p:sp>
      <p:sp>
        <p:nvSpPr>
          <p:cNvPr id="4" name="日期占位符 3"/>
          <p:cNvSpPr>
            <a:spLocks noGrp="1"/>
          </p:cNvSpPr>
          <p:nvPr>
            <p:ph type="dt" sz="half" idx="12"/>
          </p:nvPr>
        </p:nvSpPr>
        <p:spPr/>
        <p:txBody>
          <a:bodyPr/>
          <a:lstStyle/>
          <a:p>
            <a:pPr>
              <a:defRPr/>
            </a:pPr>
            <a:fld id="{F745FD7F-E1E7-4727-BD24-89E1126485D5}" type="datetime1">
              <a:rPr lang="zh-CN" altLang="en-US" smtClean="0"/>
              <a:pPr>
                <a:defRPr/>
              </a:pPr>
              <a:t>2024/10/18</a:t>
            </a:fld>
            <a:endParaRPr lang="en-US" altLang="zh-CN"/>
          </a:p>
        </p:txBody>
      </p:sp>
      <p:pic>
        <p:nvPicPr>
          <p:cNvPr id="5" name="图片 4"/>
          <p:cNvPicPr>
            <a:picLocks noChangeAspect="1"/>
          </p:cNvPicPr>
          <p:nvPr/>
        </p:nvPicPr>
        <p:blipFill>
          <a:blip r:embed="rId2"/>
          <a:stretch>
            <a:fillRect/>
          </a:stretch>
        </p:blipFill>
        <p:spPr>
          <a:xfrm>
            <a:off x="1811524" y="747008"/>
            <a:ext cx="8568952" cy="5363984"/>
          </a:xfrm>
          <a:prstGeom prst="rect">
            <a:avLst/>
          </a:prstGeom>
        </p:spPr>
      </p:pic>
    </p:spTree>
    <p:extLst>
      <p:ext uri="{BB962C8B-B14F-4D97-AF65-F5344CB8AC3E}">
        <p14:creationId xmlns:p14="http://schemas.microsoft.com/office/powerpoint/2010/main" val="1420648091"/>
      </p:ext>
    </p:extLst>
  </p:cSld>
  <p:clrMapOvr>
    <a:masterClrMapping/>
  </p:clrMapOvr>
  <p:transition spd="slow">
    <p:pull dir="ru"/>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a:defRPr/>
            </a:pPr>
            <a:r>
              <a:rPr lang="en-US" altLang="zh-CN"/>
              <a:t>Computer Network</a:t>
            </a:r>
          </a:p>
        </p:txBody>
      </p:sp>
      <p:sp>
        <p:nvSpPr>
          <p:cNvPr id="3" name="灯片编号占位符 2"/>
          <p:cNvSpPr>
            <a:spLocks noGrp="1"/>
          </p:cNvSpPr>
          <p:nvPr>
            <p:ph type="sldNum" sz="quarter" idx="11"/>
          </p:nvPr>
        </p:nvSpPr>
        <p:spPr/>
        <p:txBody>
          <a:bodyPr/>
          <a:lstStyle/>
          <a:p>
            <a:pPr>
              <a:defRPr/>
            </a:pPr>
            <a:fld id="{2AAF93DC-1AF2-40C5-A519-3C53F0141A12}" type="slidenum">
              <a:rPr lang="en-US" altLang="zh-CN" smtClean="0"/>
              <a:pPr>
                <a:defRPr/>
              </a:pPr>
              <a:t>110</a:t>
            </a:fld>
            <a:endParaRPr lang="en-US" altLang="zh-CN"/>
          </a:p>
        </p:txBody>
      </p:sp>
      <p:sp>
        <p:nvSpPr>
          <p:cNvPr id="4" name="日期占位符 3"/>
          <p:cNvSpPr>
            <a:spLocks noGrp="1"/>
          </p:cNvSpPr>
          <p:nvPr>
            <p:ph type="dt" sz="half" idx="12"/>
          </p:nvPr>
        </p:nvSpPr>
        <p:spPr/>
        <p:txBody>
          <a:bodyPr/>
          <a:lstStyle/>
          <a:p>
            <a:pPr>
              <a:defRPr/>
            </a:pPr>
            <a:fld id="{F745FD7F-E1E7-4727-BD24-89E1126485D5}" type="datetime1">
              <a:rPr lang="zh-CN" altLang="en-US" smtClean="0"/>
              <a:pPr>
                <a:defRPr/>
              </a:pPr>
              <a:t>2024/10/18</a:t>
            </a:fld>
            <a:endParaRPr lang="en-US" altLang="zh-CN"/>
          </a:p>
        </p:txBody>
      </p:sp>
      <p:pic>
        <p:nvPicPr>
          <p:cNvPr id="5" name="图片 4"/>
          <p:cNvPicPr>
            <a:picLocks noChangeAspect="1"/>
          </p:cNvPicPr>
          <p:nvPr/>
        </p:nvPicPr>
        <p:blipFill>
          <a:blip r:embed="rId2"/>
          <a:stretch>
            <a:fillRect/>
          </a:stretch>
        </p:blipFill>
        <p:spPr>
          <a:xfrm>
            <a:off x="1780946" y="802657"/>
            <a:ext cx="8630108" cy="5456012"/>
          </a:xfrm>
          <a:prstGeom prst="rect">
            <a:avLst/>
          </a:prstGeom>
        </p:spPr>
      </p:pic>
    </p:spTree>
    <p:extLst>
      <p:ext uri="{BB962C8B-B14F-4D97-AF65-F5344CB8AC3E}">
        <p14:creationId xmlns:p14="http://schemas.microsoft.com/office/powerpoint/2010/main" val="1304982018"/>
      </p:ext>
    </p:extLst>
  </p:cSld>
  <p:clrMapOvr>
    <a:masterClrMapping/>
  </p:clrMapOvr>
  <p:transition spd="slow">
    <p:pull dir="ru"/>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a:defRPr/>
            </a:pPr>
            <a:r>
              <a:rPr lang="en-US" altLang="zh-CN"/>
              <a:t>Computer Network</a:t>
            </a:r>
          </a:p>
        </p:txBody>
      </p:sp>
      <p:sp>
        <p:nvSpPr>
          <p:cNvPr id="3" name="灯片编号占位符 2"/>
          <p:cNvSpPr>
            <a:spLocks noGrp="1"/>
          </p:cNvSpPr>
          <p:nvPr>
            <p:ph type="sldNum" sz="quarter" idx="11"/>
          </p:nvPr>
        </p:nvSpPr>
        <p:spPr/>
        <p:txBody>
          <a:bodyPr/>
          <a:lstStyle/>
          <a:p>
            <a:pPr>
              <a:defRPr/>
            </a:pPr>
            <a:fld id="{2AAF93DC-1AF2-40C5-A519-3C53F0141A12}" type="slidenum">
              <a:rPr lang="en-US" altLang="zh-CN" smtClean="0"/>
              <a:pPr>
                <a:defRPr/>
              </a:pPr>
              <a:t>111</a:t>
            </a:fld>
            <a:endParaRPr lang="en-US" altLang="zh-CN"/>
          </a:p>
        </p:txBody>
      </p:sp>
      <p:sp>
        <p:nvSpPr>
          <p:cNvPr id="4" name="日期占位符 3"/>
          <p:cNvSpPr>
            <a:spLocks noGrp="1"/>
          </p:cNvSpPr>
          <p:nvPr>
            <p:ph type="dt" sz="half" idx="12"/>
          </p:nvPr>
        </p:nvSpPr>
        <p:spPr/>
        <p:txBody>
          <a:bodyPr/>
          <a:lstStyle/>
          <a:p>
            <a:pPr>
              <a:defRPr/>
            </a:pPr>
            <a:fld id="{F745FD7F-E1E7-4727-BD24-89E1126485D5}" type="datetime1">
              <a:rPr lang="zh-CN" altLang="en-US" smtClean="0"/>
              <a:pPr>
                <a:defRPr/>
              </a:pPr>
              <a:t>2024/10/18</a:t>
            </a:fld>
            <a:endParaRPr lang="en-US" altLang="zh-CN"/>
          </a:p>
        </p:txBody>
      </p:sp>
      <p:pic>
        <p:nvPicPr>
          <p:cNvPr id="5" name="图片 4"/>
          <p:cNvPicPr>
            <a:picLocks noChangeAspect="1"/>
          </p:cNvPicPr>
          <p:nvPr/>
        </p:nvPicPr>
        <p:blipFill>
          <a:blip r:embed="rId2"/>
          <a:stretch>
            <a:fillRect/>
          </a:stretch>
        </p:blipFill>
        <p:spPr>
          <a:xfrm>
            <a:off x="1810787" y="692697"/>
            <a:ext cx="8570426" cy="5210057"/>
          </a:xfrm>
          <a:prstGeom prst="rect">
            <a:avLst/>
          </a:prstGeom>
        </p:spPr>
      </p:pic>
    </p:spTree>
    <p:extLst>
      <p:ext uri="{BB962C8B-B14F-4D97-AF65-F5344CB8AC3E}">
        <p14:creationId xmlns:p14="http://schemas.microsoft.com/office/powerpoint/2010/main" val="911383032"/>
      </p:ext>
    </p:extLst>
  </p:cSld>
  <p:clrMapOvr>
    <a:masterClrMapping/>
  </p:clrMapOvr>
  <p:transition spd="slow">
    <p:pull dir="ru"/>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a:defRPr/>
            </a:pPr>
            <a:r>
              <a:rPr lang="en-US" altLang="zh-CN"/>
              <a:t>Computer Network</a:t>
            </a:r>
          </a:p>
        </p:txBody>
      </p:sp>
      <p:sp>
        <p:nvSpPr>
          <p:cNvPr id="3" name="灯片编号占位符 2"/>
          <p:cNvSpPr>
            <a:spLocks noGrp="1"/>
          </p:cNvSpPr>
          <p:nvPr>
            <p:ph type="sldNum" sz="quarter" idx="11"/>
          </p:nvPr>
        </p:nvSpPr>
        <p:spPr/>
        <p:txBody>
          <a:bodyPr/>
          <a:lstStyle/>
          <a:p>
            <a:pPr>
              <a:defRPr/>
            </a:pPr>
            <a:fld id="{2AAF93DC-1AF2-40C5-A519-3C53F0141A12}" type="slidenum">
              <a:rPr lang="en-US" altLang="zh-CN" smtClean="0"/>
              <a:pPr>
                <a:defRPr/>
              </a:pPr>
              <a:t>112</a:t>
            </a:fld>
            <a:endParaRPr lang="en-US" altLang="zh-CN"/>
          </a:p>
        </p:txBody>
      </p:sp>
      <p:sp>
        <p:nvSpPr>
          <p:cNvPr id="4" name="日期占位符 3"/>
          <p:cNvSpPr>
            <a:spLocks noGrp="1"/>
          </p:cNvSpPr>
          <p:nvPr>
            <p:ph type="dt" sz="half" idx="12"/>
          </p:nvPr>
        </p:nvSpPr>
        <p:spPr/>
        <p:txBody>
          <a:bodyPr/>
          <a:lstStyle/>
          <a:p>
            <a:pPr>
              <a:defRPr/>
            </a:pPr>
            <a:fld id="{F745FD7F-E1E7-4727-BD24-89E1126485D5}" type="datetime1">
              <a:rPr lang="zh-CN" altLang="en-US" smtClean="0"/>
              <a:pPr>
                <a:defRPr/>
              </a:pPr>
              <a:t>2024/10/18</a:t>
            </a:fld>
            <a:endParaRPr lang="en-US" altLang="zh-CN"/>
          </a:p>
        </p:txBody>
      </p:sp>
      <p:pic>
        <p:nvPicPr>
          <p:cNvPr id="5" name="图片 4"/>
          <p:cNvPicPr>
            <a:picLocks noChangeAspect="1"/>
          </p:cNvPicPr>
          <p:nvPr/>
        </p:nvPicPr>
        <p:blipFill>
          <a:blip r:embed="rId2"/>
          <a:stretch>
            <a:fillRect/>
          </a:stretch>
        </p:blipFill>
        <p:spPr>
          <a:xfrm>
            <a:off x="1832774" y="404664"/>
            <a:ext cx="8526453" cy="4877320"/>
          </a:xfrm>
          <a:prstGeom prst="rect">
            <a:avLst/>
          </a:prstGeom>
        </p:spPr>
      </p:pic>
    </p:spTree>
    <p:extLst>
      <p:ext uri="{BB962C8B-B14F-4D97-AF65-F5344CB8AC3E}">
        <p14:creationId xmlns:p14="http://schemas.microsoft.com/office/powerpoint/2010/main" val="772851795"/>
      </p:ext>
    </p:extLst>
  </p:cSld>
  <p:clrMapOvr>
    <a:masterClrMapping/>
  </p:clrMapOvr>
  <p:transition spd="slow">
    <p:pull dir="ru"/>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a:defRPr/>
            </a:pPr>
            <a:r>
              <a:rPr lang="en-US" altLang="zh-CN"/>
              <a:t>Computer Network</a:t>
            </a:r>
          </a:p>
        </p:txBody>
      </p:sp>
      <p:sp>
        <p:nvSpPr>
          <p:cNvPr id="3" name="灯片编号占位符 2"/>
          <p:cNvSpPr>
            <a:spLocks noGrp="1"/>
          </p:cNvSpPr>
          <p:nvPr>
            <p:ph type="sldNum" sz="quarter" idx="11"/>
          </p:nvPr>
        </p:nvSpPr>
        <p:spPr/>
        <p:txBody>
          <a:bodyPr/>
          <a:lstStyle/>
          <a:p>
            <a:pPr>
              <a:defRPr/>
            </a:pPr>
            <a:fld id="{2AAF93DC-1AF2-40C5-A519-3C53F0141A12}" type="slidenum">
              <a:rPr lang="en-US" altLang="zh-CN" smtClean="0"/>
              <a:pPr>
                <a:defRPr/>
              </a:pPr>
              <a:t>113</a:t>
            </a:fld>
            <a:endParaRPr lang="en-US" altLang="zh-CN"/>
          </a:p>
        </p:txBody>
      </p:sp>
      <p:sp>
        <p:nvSpPr>
          <p:cNvPr id="4" name="日期占位符 3"/>
          <p:cNvSpPr>
            <a:spLocks noGrp="1"/>
          </p:cNvSpPr>
          <p:nvPr>
            <p:ph type="dt" sz="half" idx="12"/>
          </p:nvPr>
        </p:nvSpPr>
        <p:spPr/>
        <p:txBody>
          <a:bodyPr/>
          <a:lstStyle/>
          <a:p>
            <a:pPr>
              <a:defRPr/>
            </a:pPr>
            <a:fld id="{F745FD7F-E1E7-4727-BD24-89E1126485D5}" type="datetime1">
              <a:rPr lang="zh-CN" altLang="en-US" smtClean="0"/>
              <a:pPr>
                <a:defRPr/>
              </a:pPr>
              <a:t>2024/10/18</a:t>
            </a:fld>
            <a:endParaRPr lang="en-US" altLang="zh-CN"/>
          </a:p>
        </p:txBody>
      </p:sp>
      <p:pic>
        <p:nvPicPr>
          <p:cNvPr id="5" name="图片 4"/>
          <p:cNvPicPr>
            <a:picLocks noChangeAspect="1"/>
          </p:cNvPicPr>
          <p:nvPr/>
        </p:nvPicPr>
        <p:blipFill>
          <a:blip r:embed="rId2"/>
          <a:stretch>
            <a:fillRect/>
          </a:stretch>
        </p:blipFill>
        <p:spPr>
          <a:xfrm>
            <a:off x="1213876" y="692696"/>
            <a:ext cx="10364084" cy="4057284"/>
          </a:xfrm>
          <a:prstGeom prst="rect">
            <a:avLst/>
          </a:prstGeom>
        </p:spPr>
      </p:pic>
    </p:spTree>
    <p:extLst>
      <p:ext uri="{BB962C8B-B14F-4D97-AF65-F5344CB8AC3E}">
        <p14:creationId xmlns:p14="http://schemas.microsoft.com/office/powerpoint/2010/main" val="3984845600"/>
      </p:ext>
    </p:extLst>
  </p:cSld>
  <p:clrMapOvr>
    <a:masterClrMapping/>
  </p:clrMapOvr>
  <p:transition spd="slow">
    <p:pull dir="ru"/>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a:defRPr/>
            </a:pPr>
            <a:r>
              <a:rPr lang="en-US" altLang="zh-CN"/>
              <a:t>Computer Network</a:t>
            </a:r>
          </a:p>
        </p:txBody>
      </p:sp>
      <p:sp>
        <p:nvSpPr>
          <p:cNvPr id="3" name="灯片编号占位符 2"/>
          <p:cNvSpPr>
            <a:spLocks noGrp="1"/>
          </p:cNvSpPr>
          <p:nvPr>
            <p:ph type="sldNum" sz="quarter" idx="11"/>
          </p:nvPr>
        </p:nvSpPr>
        <p:spPr/>
        <p:txBody>
          <a:bodyPr/>
          <a:lstStyle/>
          <a:p>
            <a:pPr>
              <a:defRPr/>
            </a:pPr>
            <a:fld id="{2AAF93DC-1AF2-40C5-A519-3C53F0141A12}" type="slidenum">
              <a:rPr lang="en-US" altLang="zh-CN" smtClean="0"/>
              <a:pPr>
                <a:defRPr/>
              </a:pPr>
              <a:t>114</a:t>
            </a:fld>
            <a:endParaRPr lang="en-US" altLang="zh-CN"/>
          </a:p>
        </p:txBody>
      </p:sp>
      <p:sp>
        <p:nvSpPr>
          <p:cNvPr id="4" name="日期占位符 3"/>
          <p:cNvSpPr>
            <a:spLocks noGrp="1"/>
          </p:cNvSpPr>
          <p:nvPr>
            <p:ph type="dt" sz="half" idx="12"/>
          </p:nvPr>
        </p:nvSpPr>
        <p:spPr/>
        <p:txBody>
          <a:bodyPr/>
          <a:lstStyle/>
          <a:p>
            <a:pPr>
              <a:defRPr/>
            </a:pPr>
            <a:fld id="{F745FD7F-E1E7-4727-BD24-89E1126485D5}" type="datetime1">
              <a:rPr lang="zh-CN" altLang="en-US" smtClean="0"/>
              <a:pPr>
                <a:defRPr/>
              </a:pPr>
              <a:t>2024/10/18</a:t>
            </a:fld>
            <a:endParaRPr lang="en-US" altLang="zh-CN"/>
          </a:p>
        </p:txBody>
      </p:sp>
      <p:pic>
        <p:nvPicPr>
          <p:cNvPr id="5" name="图片 4"/>
          <p:cNvPicPr>
            <a:picLocks noChangeAspect="1"/>
          </p:cNvPicPr>
          <p:nvPr/>
        </p:nvPicPr>
        <p:blipFill>
          <a:blip r:embed="rId2"/>
          <a:stretch>
            <a:fillRect/>
          </a:stretch>
        </p:blipFill>
        <p:spPr>
          <a:xfrm>
            <a:off x="1261190" y="260648"/>
            <a:ext cx="9080010" cy="5544616"/>
          </a:xfrm>
          <a:prstGeom prst="rect">
            <a:avLst/>
          </a:prstGeom>
        </p:spPr>
      </p:pic>
    </p:spTree>
    <p:extLst>
      <p:ext uri="{BB962C8B-B14F-4D97-AF65-F5344CB8AC3E}">
        <p14:creationId xmlns:p14="http://schemas.microsoft.com/office/powerpoint/2010/main" val="821192220"/>
      </p:ext>
    </p:extLst>
  </p:cSld>
  <p:clrMapOvr>
    <a:masterClrMapping/>
  </p:clrMapOvr>
  <p:transition spd="slow">
    <p:pull dir="ru"/>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页脚占位符 3"/>
          <p:cNvSpPr>
            <a:spLocks noGrp="1"/>
          </p:cNvSpPr>
          <p:nvPr>
            <p:ph type="ftr" sz="quarter" idx="10"/>
          </p:nvPr>
        </p:nvSpPr>
        <p:spPr>
          <a:xfrm>
            <a:off x="4648200" y="6608440"/>
            <a:ext cx="2895600" cy="457200"/>
          </a:xfrm>
        </p:spPr>
        <p:txBody>
          <a:bodyPr/>
          <a:lstStyle/>
          <a:p>
            <a:pPr>
              <a:defRPr/>
            </a:pPr>
            <a:r>
              <a:rPr lang="en-US" altLang="zh-CN"/>
              <a:t>Computer Network</a:t>
            </a:r>
          </a:p>
        </p:txBody>
      </p:sp>
      <p:sp>
        <p:nvSpPr>
          <p:cNvPr id="45059" name="灯片编号占位符 4"/>
          <p:cNvSpPr>
            <a:spLocks noGrp="1"/>
          </p:cNvSpPr>
          <p:nvPr>
            <p:ph type="sldNum" sz="quarter" idx="11"/>
          </p:nvPr>
        </p:nvSpPr>
        <p:spPr>
          <a:xfrm>
            <a:off x="8077200" y="6608440"/>
            <a:ext cx="21336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02503435-0A39-4A90-89FF-3787A1DBB7A4}" type="slidenum">
              <a:rPr lang="en-US" altLang="zh-CN" sz="1200">
                <a:latin typeface="Arial Black" panose="020B0A04020102020204" pitchFamily="34" charset="0"/>
              </a:rPr>
              <a:pPr>
                <a:spcBef>
                  <a:spcPct val="0"/>
                </a:spcBef>
                <a:buClrTx/>
                <a:buSzTx/>
                <a:buFontTx/>
                <a:buNone/>
              </a:pPr>
              <a:t>115</a:t>
            </a:fld>
            <a:endParaRPr lang="en-US" altLang="zh-CN" sz="1200">
              <a:latin typeface="Arial Black" panose="020B0A04020102020204" pitchFamily="34" charset="0"/>
            </a:endParaRPr>
          </a:p>
        </p:txBody>
      </p:sp>
      <p:sp>
        <p:nvSpPr>
          <p:cNvPr id="9" name="日期占位符 5"/>
          <p:cNvSpPr>
            <a:spLocks noGrp="1"/>
          </p:cNvSpPr>
          <p:nvPr>
            <p:ph type="dt" sz="quarter" idx="12"/>
          </p:nvPr>
        </p:nvSpPr>
        <p:spPr>
          <a:xfrm>
            <a:off x="1981200" y="6605265"/>
            <a:ext cx="2133600" cy="476250"/>
          </a:xfrm>
        </p:spPr>
        <p:txBody>
          <a:bodyPr/>
          <a:lstStyle/>
          <a:p>
            <a:pPr>
              <a:defRPr/>
            </a:pPr>
            <a:fld id="{D57EB295-2ED6-448D-81AF-BE4C9C130737}" type="datetime1">
              <a:rPr lang="zh-CN" altLang="en-US"/>
              <a:pPr>
                <a:defRPr/>
              </a:pPr>
              <a:t>2024/10/18</a:t>
            </a:fld>
            <a:endParaRPr lang="en-US" altLang="zh-CN"/>
          </a:p>
        </p:txBody>
      </p:sp>
      <p:sp>
        <p:nvSpPr>
          <p:cNvPr id="864258" name="Rectangle 2"/>
          <p:cNvSpPr>
            <a:spLocks noGrp="1" noChangeArrowheads="1"/>
          </p:cNvSpPr>
          <p:nvPr>
            <p:ph type="title"/>
          </p:nvPr>
        </p:nvSpPr>
        <p:spPr>
          <a:xfrm>
            <a:off x="1473200" y="620713"/>
            <a:ext cx="7956550" cy="685800"/>
          </a:xfrm>
        </p:spPr>
        <p:txBody>
          <a:bodyPr>
            <a:normAutofit/>
          </a:bodyPr>
          <a:lstStyle/>
          <a:p>
            <a:pPr eaLnBrk="1" hangingPunct="1">
              <a:defRPr/>
            </a:pPr>
            <a:r>
              <a:rPr lang="zh-CN" altLang="en-US" sz="3200" b="1" dirty="0">
                <a:solidFill>
                  <a:srgbClr val="0000FF"/>
                </a:solidFill>
                <a:latin typeface="楷体_GB2312" pitchFamily="49" charset="-122"/>
              </a:rPr>
              <a:t>协议性能</a:t>
            </a:r>
            <a:r>
              <a:rPr lang="en-US" altLang="zh-CN" sz="3200" b="1" dirty="0">
                <a:solidFill>
                  <a:srgbClr val="0000FF"/>
                </a:solidFill>
                <a:latin typeface="楷体_GB2312" pitchFamily="49" charset="-122"/>
                <a:sym typeface="Wingdings" pitchFamily="2" charset="2"/>
              </a:rPr>
              <a:t>(</a:t>
            </a:r>
            <a:r>
              <a:rPr lang="zh-CN" altLang="en-US" sz="3200" b="1" dirty="0">
                <a:solidFill>
                  <a:srgbClr val="0000FF"/>
                </a:solidFill>
                <a:latin typeface="楷体_GB2312" pitchFamily="49" charset="-122"/>
                <a:sym typeface="Wingdings" pitchFamily="2" charset="2"/>
              </a:rPr>
              <a:t>不考虑丢包情况下的</a:t>
            </a:r>
            <a:r>
              <a:rPr lang="zh-CN" altLang="en-US" sz="3200" b="1" dirty="0">
                <a:solidFill>
                  <a:srgbClr val="0000FF"/>
                </a:solidFill>
                <a:latin typeface="楷体_GB2312" pitchFamily="49" charset="-122"/>
              </a:rPr>
              <a:t>近似分析</a:t>
            </a:r>
            <a:r>
              <a:rPr lang="en-US" altLang="zh-CN" sz="3200" b="1" dirty="0">
                <a:solidFill>
                  <a:srgbClr val="0000FF"/>
                </a:solidFill>
                <a:latin typeface="楷体_GB2312" pitchFamily="49" charset="-122"/>
              </a:rPr>
              <a:t>)</a:t>
            </a:r>
          </a:p>
        </p:txBody>
      </p:sp>
      <p:sp>
        <p:nvSpPr>
          <p:cNvPr id="45062" name="Rectangle 3"/>
          <p:cNvSpPr>
            <a:spLocks noGrp="1" noChangeArrowheads="1"/>
          </p:cNvSpPr>
          <p:nvPr>
            <p:ph type="body" idx="1"/>
          </p:nvPr>
        </p:nvSpPr>
        <p:spPr>
          <a:xfrm>
            <a:off x="2495550" y="4086981"/>
            <a:ext cx="8067406" cy="2971800"/>
          </a:xfrm>
        </p:spPr>
        <p:txBody>
          <a:bodyPr/>
          <a:lstStyle/>
          <a:p>
            <a:pPr eaLnBrk="1" hangingPunct="1">
              <a:buSzPct val="90000"/>
              <a:buFont typeface="Wingdings" panose="05000000000000000000" pitchFamily="2" charset="2"/>
              <a:buChar char="§"/>
            </a:pPr>
            <a:r>
              <a:rPr lang="zh-CN" altLang="en-US" sz="2400" dirty="0">
                <a:latin typeface="Times New Roman" panose="02020603050405020304" pitchFamily="18" charset="0"/>
                <a:ea typeface="楷体_GB2312" pitchFamily="49" charset="-122"/>
              </a:rPr>
              <a:t>设数据传输率</a:t>
            </a:r>
            <a:r>
              <a:rPr lang="en-US" altLang="zh-CN" sz="2400" dirty="0" err="1">
                <a:latin typeface="Times New Roman" panose="02020603050405020304" pitchFamily="18" charset="0"/>
                <a:ea typeface="楷体_GB2312" pitchFamily="49" charset="-122"/>
              </a:rPr>
              <a:t>Bbps</a:t>
            </a:r>
            <a:r>
              <a:rPr lang="zh-CN" altLang="en-US" sz="2400" dirty="0">
                <a:latin typeface="Times New Roman" panose="02020603050405020304" pitchFamily="18" charset="0"/>
                <a:ea typeface="楷体_GB2312" pitchFamily="49" charset="-122"/>
              </a:rPr>
              <a:t>，帧长</a:t>
            </a:r>
            <a:r>
              <a:rPr lang="en-US" altLang="zh-CN" sz="2400" dirty="0" err="1">
                <a:latin typeface="Times New Roman" panose="02020603050405020304" pitchFamily="18" charset="0"/>
                <a:ea typeface="楷体_GB2312" pitchFamily="49" charset="-122"/>
              </a:rPr>
              <a:t>Lbit</a:t>
            </a:r>
            <a:r>
              <a:rPr lang="zh-CN" altLang="en-US" sz="2400" dirty="0">
                <a:latin typeface="Times New Roman" panose="02020603050405020304" pitchFamily="18" charset="0"/>
                <a:ea typeface="楷体_GB2312" pitchFamily="49" charset="-122"/>
              </a:rPr>
              <a:t>，信号在信道中</a:t>
            </a:r>
            <a:r>
              <a:rPr lang="zh-CN" altLang="en-US" sz="2400" dirty="0">
                <a:highlight>
                  <a:srgbClr val="FFFF00"/>
                </a:highlight>
                <a:latin typeface="Times New Roman" panose="02020603050405020304" pitchFamily="18" charset="0"/>
                <a:ea typeface="楷体_GB2312" pitchFamily="49" charset="-122"/>
              </a:rPr>
              <a:t>来回</a:t>
            </a:r>
            <a:r>
              <a:rPr lang="zh-CN" altLang="en-US" sz="2400" dirty="0">
                <a:latin typeface="Times New Roman" panose="02020603050405020304" pitchFamily="18" charset="0"/>
                <a:ea typeface="楷体_GB2312" pitchFamily="49" charset="-122"/>
              </a:rPr>
              <a:t>平均传播时延是</a:t>
            </a:r>
            <a:r>
              <a:rPr lang="en-US" altLang="zh-CN" sz="2400" dirty="0" err="1">
                <a:latin typeface="Times New Roman" panose="02020603050405020304" pitchFamily="18" charset="0"/>
                <a:ea typeface="楷体_GB2312" pitchFamily="49" charset="-122"/>
              </a:rPr>
              <a:t>Rsec</a:t>
            </a:r>
            <a:r>
              <a:rPr lang="zh-CN" altLang="en-US" sz="2400" dirty="0">
                <a:latin typeface="Times New Roman" panose="02020603050405020304" pitchFamily="18" charset="0"/>
                <a:ea typeface="楷体_GB2312" pitchFamily="49" charset="-122"/>
              </a:rPr>
              <a:t>。</a:t>
            </a:r>
          </a:p>
          <a:p>
            <a:pPr eaLnBrk="1" hangingPunct="1">
              <a:buSzPct val="90000"/>
              <a:buFont typeface="Wingdings" panose="05000000000000000000" pitchFamily="2" charset="2"/>
              <a:buChar char="§"/>
            </a:pPr>
            <a:endParaRPr lang="zh-CN" altLang="en-US" sz="2400" dirty="0">
              <a:latin typeface="Times New Roman" panose="02020603050405020304" pitchFamily="18" charset="0"/>
              <a:ea typeface="楷体_GB2312" pitchFamily="49" charset="-122"/>
            </a:endParaRPr>
          </a:p>
          <a:p>
            <a:pPr eaLnBrk="1" hangingPunct="1">
              <a:buSzPct val="90000"/>
              <a:buFont typeface="Wingdings" panose="05000000000000000000" pitchFamily="2" charset="2"/>
              <a:buChar char="§"/>
            </a:pPr>
            <a:r>
              <a:rPr lang="zh-CN" altLang="en-US" sz="2400" dirty="0">
                <a:latin typeface="楷体_GB2312" pitchFamily="49" charset="-122"/>
                <a:ea typeface="楷体_GB2312" pitchFamily="49" charset="-122"/>
              </a:rPr>
              <a:t>信道的实际有效利用率</a:t>
            </a:r>
            <a:r>
              <a:rPr lang="en-US" altLang="zh-CN" sz="2400" dirty="0">
                <a:latin typeface="楷体_GB2312" pitchFamily="49" charset="-122"/>
                <a:ea typeface="楷体_GB2312" pitchFamily="49" charset="-122"/>
              </a:rPr>
              <a:t>:</a:t>
            </a:r>
          </a:p>
          <a:p>
            <a:pPr eaLnBrk="1" hangingPunct="1"/>
            <a:endParaRPr lang="en-US" altLang="zh-CN" sz="2400" dirty="0">
              <a:latin typeface="楷体_GB2312" pitchFamily="49" charset="-122"/>
              <a:ea typeface="楷体_GB2312" pitchFamily="49" charset="-122"/>
            </a:endParaRPr>
          </a:p>
          <a:p>
            <a:pPr eaLnBrk="1" hangingPunct="1"/>
            <a:endParaRPr lang="en-US" altLang="zh-CN" sz="2400" dirty="0">
              <a:latin typeface="楷体_GB2312" pitchFamily="49" charset="-122"/>
              <a:ea typeface="楷体_GB2312" pitchFamily="49" charset="-122"/>
            </a:endParaRPr>
          </a:p>
          <a:p>
            <a:pPr eaLnBrk="1" hangingPunct="1"/>
            <a:endParaRPr lang="en-US" altLang="zh-CN" sz="2400" dirty="0">
              <a:latin typeface="楷体_GB2312" pitchFamily="49" charset="-122"/>
              <a:ea typeface="楷体_GB2312" pitchFamily="49" charset="-122"/>
            </a:endParaRPr>
          </a:p>
          <a:p>
            <a:pPr eaLnBrk="1" hangingPunct="1"/>
            <a:endParaRPr lang="en-US" altLang="zh-CN" sz="2400" dirty="0">
              <a:latin typeface="楷体_GB2312" pitchFamily="49" charset="-122"/>
              <a:ea typeface="楷体_GB2312" pitchFamily="49" charset="-122"/>
            </a:endParaRPr>
          </a:p>
        </p:txBody>
      </p:sp>
      <p:graphicFrame>
        <p:nvGraphicFramePr>
          <p:cNvPr id="45063" name="Object 4"/>
          <p:cNvGraphicFramePr>
            <a:graphicFrameLocks noChangeAspect="1"/>
          </p:cNvGraphicFramePr>
          <p:nvPr/>
        </p:nvGraphicFramePr>
        <p:xfrm>
          <a:off x="6537326" y="4783138"/>
          <a:ext cx="3260725" cy="1617662"/>
        </p:xfrm>
        <a:graphic>
          <a:graphicData uri="http://schemas.openxmlformats.org/presentationml/2006/ole">
            <mc:AlternateContent xmlns:mc="http://schemas.openxmlformats.org/markup-compatibility/2006">
              <mc:Choice xmlns:v="urn:schemas-microsoft-com:vml" Requires="v">
                <p:oleObj spid="_x0000_s7173" name="Equation" r:id="rId3" imgW="1307880" imgH="761760" progId="Equation.DSMT4">
                  <p:embed/>
                </p:oleObj>
              </mc:Choice>
              <mc:Fallback>
                <p:oleObj name="Equation" r:id="rId3" imgW="1307880" imgH="761760" progId="Equation.DSMT4">
                  <p:embed/>
                  <p:pic>
                    <p:nvPicPr>
                      <p:cNvPr id="45063"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37326" y="4783138"/>
                        <a:ext cx="3260725" cy="161766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3" name="图片 12"/>
          <p:cNvPicPr>
            <a:picLocks noChangeAspect="1"/>
          </p:cNvPicPr>
          <p:nvPr/>
        </p:nvPicPr>
        <p:blipFill rotWithShape="1">
          <a:blip r:embed="rId5"/>
          <a:srcRect l="6933" t="26385" r="8323" b="11228"/>
          <a:stretch/>
        </p:blipFill>
        <p:spPr>
          <a:xfrm>
            <a:off x="2207569" y="1492697"/>
            <a:ext cx="8355387" cy="2222066"/>
          </a:xfrm>
          <a:prstGeom prst="rect">
            <a:avLst/>
          </a:prstGeom>
        </p:spPr>
      </p:pic>
    </p:spTree>
    <p:extLst>
      <p:ext uri="{BB962C8B-B14F-4D97-AF65-F5344CB8AC3E}">
        <p14:creationId xmlns:p14="http://schemas.microsoft.com/office/powerpoint/2010/main" val="3727270023"/>
      </p:ext>
    </p:extLst>
  </p:cSld>
  <p:clrMapOvr>
    <a:masterClrMapping/>
  </p:clrMapOvr>
  <p:transition>
    <p:random/>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a:defRPr/>
            </a:pPr>
            <a:r>
              <a:rPr lang="en-US" altLang="zh-CN"/>
              <a:t>Computer Network</a:t>
            </a:r>
          </a:p>
        </p:txBody>
      </p:sp>
      <p:sp>
        <p:nvSpPr>
          <p:cNvPr id="3" name="灯片编号占位符 2"/>
          <p:cNvSpPr>
            <a:spLocks noGrp="1"/>
          </p:cNvSpPr>
          <p:nvPr>
            <p:ph type="sldNum" sz="quarter" idx="11"/>
          </p:nvPr>
        </p:nvSpPr>
        <p:spPr/>
        <p:txBody>
          <a:bodyPr/>
          <a:lstStyle/>
          <a:p>
            <a:pPr>
              <a:defRPr/>
            </a:pPr>
            <a:fld id="{2AAF93DC-1AF2-40C5-A519-3C53F0141A12}" type="slidenum">
              <a:rPr lang="en-US" altLang="zh-CN" smtClean="0"/>
              <a:pPr>
                <a:defRPr/>
              </a:pPr>
              <a:t>116</a:t>
            </a:fld>
            <a:endParaRPr lang="en-US" altLang="zh-CN"/>
          </a:p>
        </p:txBody>
      </p:sp>
      <p:sp>
        <p:nvSpPr>
          <p:cNvPr id="4" name="日期占位符 3"/>
          <p:cNvSpPr>
            <a:spLocks noGrp="1"/>
          </p:cNvSpPr>
          <p:nvPr>
            <p:ph type="dt" sz="half" idx="12"/>
          </p:nvPr>
        </p:nvSpPr>
        <p:spPr/>
        <p:txBody>
          <a:bodyPr/>
          <a:lstStyle/>
          <a:p>
            <a:pPr>
              <a:defRPr/>
            </a:pPr>
            <a:fld id="{F745FD7F-E1E7-4727-BD24-89E1126485D5}" type="datetime1">
              <a:rPr lang="zh-CN" altLang="en-US" smtClean="0"/>
              <a:pPr>
                <a:defRPr/>
              </a:pPr>
              <a:t>2024/10/18</a:t>
            </a:fld>
            <a:endParaRPr lang="en-US" altLang="zh-CN"/>
          </a:p>
        </p:txBody>
      </p:sp>
      <p:graphicFrame>
        <p:nvGraphicFramePr>
          <p:cNvPr id="5" name="Object 5"/>
          <p:cNvGraphicFramePr>
            <a:graphicFrameLocks noChangeAspect="1"/>
          </p:cNvGraphicFramePr>
          <p:nvPr/>
        </p:nvGraphicFramePr>
        <p:xfrm>
          <a:off x="4870377" y="3006553"/>
          <a:ext cx="3768725" cy="835025"/>
        </p:xfrm>
        <a:graphic>
          <a:graphicData uri="http://schemas.openxmlformats.org/presentationml/2006/ole">
            <mc:AlternateContent xmlns:mc="http://schemas.openxmlformats.org/markup-compatibility/2006">
              <mc:Choice xmlns:v="urn:schemas-microsoft-com:vml" Requires="v">
                <p:oleObj spid="_x0000_s8197" name="Equation" r:id="rId3" imgW="1498320" imgH="393480" progId="Equation.DSMT4">
                  <p:embed/>
                </p:oleObj>
              </mc:Choice>
              <mc:Fallback>
                <p:oleObj name="Equation" r:id="rId3" imgW="1498320" imgH="393480" progId="Equation.DSMT4">
                  <p:embed/>
                  <p:pic>
                    <p:nvPicPr>
                      <p:cNvPr id="5"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70377" y="3006553"/>
                        <a:ext cx="3768725" cy="83502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Rectangle 6"/>
          <p:cNvSpPr>
            <a:spLocks noChangeArrowheads="1"/>
          </p:cNvSpPr>
          <p:nvPr/>
        </p:nvSpPr>
        <p:spPr bwMode="auto">
          <a:xfrm>
            <a:off x="2279576" y="2204864"/>
            <a:ext cx="8229600" cy="762000"/>
          </a:xfrm>
          <a:prstGeom prst="rect">
            <a:avLst/>
          </a:prstGeom>
          <a:noFill/>
          <a:ln>
            <a:noFill/>
          </a:ln>
          <a:effectLst/>
        </p:spPr>
        <p:txBody>
          <a:bodyPr/>
          <a:lstStyle/>
          <a:p>
            <a:pPr eaLnBrk="1" hangingPunct="1">
              <a:defRPr/>
            </a:pPr>
            <a:r>
              <a:rPr kumimoji="1" lang="zh-CN" altLang="en-US" sz="2400" b="1" dirty="0">
                <a:solidFill>
                  <a:srgbClr val="FF0000"/>
                </a:solidFill>
                <a:effectLst>
                  <a:outerShdw blurRad="38100" dist="38100" dir="2700000" algn="tl">
                    <a:srgbClr val="000000">
                      <a:alpha val="43137"/>
                    </a:srgbClr>
                  </a:outerShdw>
                </a:effectLst>
                <a:latin typeface="Times New Roman" pitchFamily="18" charset="0"/>
              </a:rPr>
              <a:t>例：</a:t>
            </a:r>
            <a:r>
              <a:rPr kumimoji="1" lang="zh-CN" altLang="en-US" sz="2400" dirty="0">
                <a:latin typeface="Times New Roman" pitchFamily="18" charset="0"/>
              </a:rPr>
              <a:t>某卫星信道</a:t>
            </a:r>
            <a:r>
              <a:rPr kumimoji="1" lang="en-US" altLang="zh-CN" sz="2400" dirty="0">
                <a:latin typeface="Times New Roman" pitchFamily="18" charset="0"/>
              </a:rPr>
              <a:t>50Kbps</a:t>
            </a:r>
            <a:r>
              <a:rPr kumimoji="1" lang="zh-CN" altLang="en-US" sz="2400" dirty="0">
                <a:latin typeface="Times New Roman" pitchFamily="18" charset="0"/>
              </a:rPr>
              <a:t>，帧长</a:t>
            </a:r>
            <a:r>
              <a:rPr kumimoji="1" lang="en-US" altLang="zh-CN" sz="2400" dirty="0">
                <a:latin typeface="Times New Roman" pitchFamily="18" charset="0"/>
              </a:rPr>
              <a:t>1000bit</a:t>
            </a:r>
            <a:r>
              <a:rPr kumimoji="1" lang="zh-CN" altLang="en-US" sz="2400" dirty="0">
                <a:latin typeface="Times New Roman" pitchFamily="18" charset="0"/>
              </a:rPr>
              <a:t>，</a:t>
            </a:r>
            <a:r>
              <a:rPr kumimoji="1" lang="en-US" altLang="zh-CN" sz="2400" dirty="0">
                <a:latin typeface="Times New Roman" pitchFamily="18" charset="0"/>
              </a:rPr>
              <a:t>R=500ms</a:t>
            </a:r>
            <a:r>
              <a:rPr kumimoji="1" lang="zh-CN" altLang="en-US" sz="2400" dirty="0">
                <a:latin typeface="Times New Roman" pitchFamily="18" charset="0"/>
              </a:rPr>
              <a:t>。</a:t>
            </a:r>
          </a:p>
          <a:p>
            <a:pPr eaLnBrk="1" hangingPunct="1">
              <a:defRPr/>
            </a:pPr>
            <a:endParaRPr kumimoji="1" lang="en-US" altLang="zh-CN" sz="2800" dirty="0">
              <a:latin typeface="Times New Roman" pitchFamily="18" charset="0"/>
              <a:ea typeface="宋体" pitchFamily="2" charset="-122"/>
            </a:endParaRPr>
          </a:p>
        </p:txBody>
      </p:sp>
    </p:spTree>
    <p:extLst>
      <p:ext uri="{BB962C8B-B14F-4D97-AF65-F5344CB8AC3E}">
        <p14:creationId xmlns:p14="http://schemas.microsoft.com/office/powerpoint/2010/main" val="2874140572"/>
      </p:ext>
    </p:extLst>
  </p:cSld>
  <p:clrMapOvr>
    <a:masterClrMapping/>
  </p:clrMapOvr>
  <p:transition spd="slow">
    <p:pull dir="ru"/>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a:defRPr/>
            </a:pPr>
            <a:r>
              <a:rPr lang="en-US" altLang="zh-CN"/>
              <a:t>Computer Network</a:t>
            </a:r>
          </a:p>
        </p:txBody>
      </p:sp>
      <p:sp>
        <p:nvSpPr>
          <p:cNvPr id="3" name="灯片编号占位符 2"/>
          <p:cNvSpPr>
            <a:spLocks noGrp="1"/>
          </p:cNvSpPr>
          <p:nvPr>
            <p:ph type="sldNum" sz="quarter" idx="11"/>
          </p:nvPr>
        </p:nvSpPr>
        <p:spPr/>
        <p:txBody>
          <a:bodyPr/>
          <a:lstStyle/>
          <a:p>
            <a:pPr>
              <a:defRPr/>
            </a:pPr>
            <a:fld id="{2AAF93DC-1AF2-40C5-A519-3C53F0141A12}" type="slidenum">
              <a:rPr lang="en-US" altLang="zh-CN" smtClean="0"/>
              <a:pPr>
                <a:defRPr/>
              </a:pPr>
              <a:t>117</a:t>
            </a:fld>
            <a:endParaRPr lang="en-US" altLang="zh-CN"/>
          </a:p>
        </p:txBody>
      </p:sp>
      <p:sp>
        <p:nvSpPr>
          <p:cNvPr id="4" name="日期占位符 3"/>
          <p:cNvSpPr>
            <a:spLocks noGrp="1"/>
          </p:cNvSpPr>
          <p:nvPr>
            <p:ph type="dt" sz="half" idx="12"/>
          </p:nvPr>
        </p:nvSpPr>
        <p:spPr/>
        <p:txBody>
          <a:bodyPr/>
          <a:lstStyle/>
          <a:p>
            <a:pPr>
              <a:defRPr/>
            </a:pPr>
            <a:fld id="{F745FD7F-E1E7-4727-BD24-89E1126485D5}" type="datetime1">
              <a:rPr lang="zh-CN" altLang="en-US" smtClean="0"/>
              <a:pPr>
                <a:defRPr/>
              </a:pPr>
              <a:t>2024/10/18</a:t>
            </a:fld>
            <a:endParaRPr lang="en-US" altLang="zh-CN"/>
          </a:p>
        </p:txBody>
      </p:sp>
      <p:pic>
        <p:nvPicPr>
          <p:cNvPr id="5" name="图片 4"/>
          <p:cNvPicPr>
            <a:picLocks noChangeAspect="1"/>
          </p:cNvPicPr>
          <p:nvPr/>
        </p:nvPicPr>
        <p:blipFill>
          <a:blip r:embed="rId2"/>
          <a:stretch>
            <a:fillRect/>
          </a:stretch>
        </p:blipFill>
        <p:spPr>
          <a:xfrm>
            <a:off x="1821736" y="874268"/>
            <a:ext cx="8548528" cy="5109465"/>
          </a:xfrm>
          <a:prstGeom prst="rect">
            <a:avLst/>
          </a:prstGeom>
        </p:spPr>
      </p:pic>
      <p:sp>
        <p:nvSpPr>
          <p:cNvPr id="6" name="文本框 5"/>
          <p:cNvSpPr txBox="1"/>
          <p:nvPr/>
        </p:nvSpPr>
        <p:spPr>
          <a:xfrm>
            <a:off x="3537610" y="6011747"/>
            <a:ext cx="5116780" cy="461665"/>
          </a:xfrm>
          <a:prstGeom prst="rect">
            <a:avLst/>
          </a:prstGeom>
          <a:noFill/>
        </p:spPr>
        <p:txBody>
          <a:bodyPr wrap="square" rtlCol="0">
            <a:spAutoFit/>
          </a:bodyPr>
          <a:lstStyle/>
          <a:p>
            <a:r>
              <a:rPr lang="zh-CN" altLang="en-US" sz="2400" dirty="0">
                <a:solidFill>
                  <a:srgbClr val="FF0000"/>
                </a:solidFill>
                <a:highlight>
                  <a:srgbClr val="FFFF00"/>
                </a:highlight>
              </a:rPr>
              <a:t>令：</a:t>
            </a:r>
            <a:r>
              <a:rPr lang="en-US" altLang="zh-CN" sz="2400" dirty="0">
                <a:solidFill>
                  <a:srgbClr val="FF0000"/>
                </a:solidFill>
                <a:highlight>
                  <a:srgbClr val="FFFF00"/>
                </a:highlight>
              </a:rPr>
              <a:t> </a:t>
            </a:r>
            <a:r>
              <a:rPr lang="en-US" altLang="zh-CN" sz="2400" dirty="0" err="1">
                <a:solidFill>
                  <a:srgbClr val="FF0000"/>
                </a:solidFill>
                <a:highlight>
                  <a:srgbClr val="FFFF00"/>
                </a:highlight>
              </a:rPr>
              <a:t>T_f</a:t>
            </a:r>
            <a:r>
              <a:rPr lang="en-US" altLang="zh-CN" sz="2400" dirty="0">
                <a:solidFill>
                  <a:srgbClr val="FF0000"/>
                </a:solidFill>
                <a:highlight>
                  <a:srgbClr val="FFFF00"/>
                </a:highlight>
              </a:rPr>
              <a:t> = L/B</a:t>
            </a:r>
          </a:p>
        </p:txBody>
      </p:sp>
    </p:spTree>
    <p:extLst>
      <p:ext uri="{BB962C8B-B14F-4D97-AF65-F5344CB8AC3E}">
        <p14:creationId xmlns:p14="http://schemas.microsoft.com/office/powerpoint/2010/main" val="3545075497"/>
      </p:ext>
    </p:extLst>
  </p:cSld>
  <p:clrMapOvr>
    <a:masterClrMapping/>
  </p:clrMapOvr>
  <p:transition spd="slow">
    <p:pull dir="ru"/>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a:defRPr/>
            </a:pPr>
            <a:r>
              <a:rPr lang="en-US" altLang="zh-CN"/>
              <a:t>Computer Network</a:t>
            </a:r>
          </a:p>
        </p:txBody>
      </p:sp>
      <p:sp>
        <p:nvSpPr>
          <p:cNvPr id="3" name="灯片编号占位符 2"/>
          <p:cNvSpPr>
            <a:spLocks noGrp="1"/>
          </p:cNvSpPr>
          <p:nvPr>
            <p:ph type="sldNum" sz="quarter" idx="11"/>
          </p:nvPr>
        </p:nvSpPr>
        <p:spPr/>
        <p:txBody>
          <a:bodyPr/>
          <a:lstStyle/>
          <a:p>
            <a:pPr>
              <a:defRPr/>
            </a:pPr>
            <a:fld id="{2AAF93DC-1AF2-40C5-A519-3C53F0141A12}" type="slidenum">
              <a:rPr lang="en-US" altLang="zh-CN" smtClean="0"/>
              <a:pPr>
                <a:defRPr/>
              </a:pPr>
              <a:t>118</a:t>
            </a:fld>
            <a:endParaRPr lang="en-US" altLang="zh-CN"/>
          </a:p>
        </p:txBody>
      </p:sp>
      <p:sp>
        <p:nvSpPr>
          <p:cNvPr id="4" name="日期占位符 3"/>
          <p:cNvSpPr>
            <a:spLocks noGrp="1"/>
          </p:cNvSpPr>
          <p:nvPr>
            <p:ph type="dt" sz="half" idx="12"/>
          </p:nvPr>
        </p:nvSpPr>
        <p:spPr/>
        <p:txBody>
          <a:bodyPr/>
          <a:lstStyle/>
          <a:p>
            <a:pPr>
              <a:defRPr/>
            </a:pPr>
            <a:fld id="{F745FD7F-E1E7-4727-BD24-89E1126485D5}" type="datetime1">
              <a:rPr lang="zh-CN" altLang="en-US" smtClean="0"/>
              <a:pPr>
                <a:defRPr/>
              </a:pPr>
              <a:t>2024/10/18</a:t>
            </a:fld>
            <a:endParaRPr lang="en-US" altLang="zh-CN"/>
          </a:p>
        </p:txBody>
      </p:sp>
      <p:pic>
        <p:nvPicPr>
          <p:cNvPr id="5" name="图片 4"/>
          <p:cNvPicPr>
            <a:picLocks noChangeAspect="1"/>
          </p:cNvPicPr>
          <p:nvPr/>
        </p:nvPicPr>
        <p:blipFill>
          <a:blip r:embed="rId2"/>
          <a:stretch>
            <a:fillRect/>
          </a:stretch>
        </p:blipFill>
        <p:spPr>
          <a:xfrm>
            <a:off x="1664876" y="669074"/>
            <a:ext cx="8862249" cy="5519853"/>
          </a:xfrm>
          <a:prstGeom prst="rect">
            <a:avLst/>
          </a:prstGeom>
        </p:spPr>
      </p:pic>
    </p:spTree>
    <p:extLst>
      <p:ext uri="{BB962C8B-B14F-4D97-AF65-F5344CB8AC3E}">
        <p14:creationId xmlns:p14="http://schemas.microsoft.com/office/powerpoint/2010/main" val="898815192"/>
      </p:ext>
    </p:extLst>
  </p:cSld>
  <p:clrMapOvr>
    <a:masterClrMapping/>
  </p:clrMapOvr>
  <p:transition spd="slow">
    <p:pull dir="ru"/>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a:defRPr/>
            </a:pPr>
            <a:r>
              <a:rPr lang="en-US" altLang="zh-CN"/>
              <a:t>Computer Network</a:t>
            </a:r>
          </a:p>
        </p:txBody>
      </p:sp>
      <p:sp>
        <p:nvSpPr>
          <p:cNvPr id="3" name="灯片编号占位符 2"/>
          <p:cNvSpPr>
            <a:spLocks noGrp="1"/>
          </p:cNvSpPr>
          <p:nvPr>
            <p:ph type="sldNum" sz="quarter" idx="11"/>
          </p:nvPr>
        </p:nvSpPr>
        <p:spPr/>
        <p:txBody>
          <a:bodyPr/>
          <a:lstStyle/>
          <a:p>
            <a:pPr>
              <a:defRPr/>
            </a:pPr>
            <a:fld id="{2AAF93DC-1AF2-40C5-A519-3C53F0141A12}" type="slidenum">
              <a:rPr lang="en-US" altLang="zh-CN" smtClean="0"/>
              <a:pPr>
                <a:defRPr/>
              </a:pPr>
              <a:t>119</a:t>
            </a:fld>
            <a:endParaRPr lang="en-US" altLang="zh-CN"/>
          </a:p>
        </p:txBody>
      </p:sp>
      <p:sp>
        <p:nvSpPr>
          <p:cNvPr id="4" name="日期占位符 3"/>
          <p:cNvSpPr>
            <a:spLocks noGrp="1"/>
          </p:cNvSpPr>
          <p:nvPr>
            <p:ph type="dt" sz="half" idx="12"/>
          </p:nvPr>
        </p:nvSpPr>
        <p:spPr/>
        <p:txBody>
          <a:bodyPr/>
          <a:lstStyle/>
          <a:p>
            <a:pPr>
              <a:defRPr/>
            </a:pPr>
            <a:fld id="{F745FD7F-E1E7-4727-BD24-89E1126485D5}" type="datetime1">
              <a:rPr lang="zh-CN" altLang="en-US" smtClean="0"/>
              <a:pPr>
                <a:defRPr/>
              </a:pPr>
              <a:t>2024/10/18</a:t>
            </a:fld>
            <a:endParaRPr lang="en-US" altLang="zh-CN"/>
          </a:p>
        </p:txBody>
      </p:sp>
      <p:pic>
        <p:nvPicPr>
          <p:cNvPr id="5" name="图片 4"/>
          <p:cNvPicPr>
            <a:picLocks noChangeAspect="1"/>
          </p:cNvPicPr>
          <p:nvPr/>
        </p:nvPicPr>
        <p:blipFill>
          <a:blip r:embed="rId2"/>
          <a:stretch>
            <a:fillRect/>
          </a:stretch>
        </p:blipFill>
        <p:spPr>
          <a:xfrm>
            <a:off x="1524000" y="260648"/>
            <a:ext cx="8991638" cy="4293584"/>
          </a:xfrm>
          <a:prstGeom prst="rect">
            <a:avLst/>
          </a:prstGeom>
        </p:spPr>
      </p:pic>
      <p:sp>
        <p:nvSpPr>
          <p:cNvPr id="6" name="文本框 5"/>
          <p:cNvSpPr txBox="1"/>
          <p:nvPr/>
        </p:nvSpPr>
        <p:spPr>
          <a:xfrm>
            <a:off x="2989961" y="4782483"/>
            <a:ext cx="6212077" cy="1938992"/>
          </a:xfrm>
          <a:prstGeom prst="rect">
            <a:avLst/>
          </a:prstGeom>
          <a:noFill/>
        </p:spPr>
        <p:txBody>
          <a:bodyPr wrap="square" rtlCol="0">
            <a:spAutoFit/>
          </a:bodyPr>
          <a:lstStyle/>
          <a:p>
            <a:r>
              <a:rPr lang="zh-CN" altLang="en-US" sz="2400" dirty="0">
                <a:solidFill>
                  <a:srgbClr val="FF0000"/>
                </a:solidFill>
              </a:rPr>
              <a:t>注意这里符号和前面公式用的不一样，对应关系为</a:t>
            </a:r>
            <a:endParaRPr lang="en-US" altLang="zh-CN" sz="2400" dirty="0">
              <a:solidFill>
                <a:srgbClr val="FF0000"/>
              </a:solidFill>
            </a:endParaRPr>
          </a:p>
          <a:p>
            <a:r>
              <a:rPr lang="en-US" altLang="zh-CN" sz="2400" dirty="0" err="1">
                <a:solidFill>
                  <a:srgbClr val="FF0000"/>
                </a:solidFill>
              </a:rPr>
              <a:t>T_f</a:t>
            </a:r>
            <a:r>
              <a:rPr lang="en-US" altLang="zh-CN" sz="2400" dirty="0">
                <a:solidFill>
                  <a:srgbClr val="FF0000"/>
                </a:solidFill>
              </a:rPr>
              <a:t> := L/B</a:t>
            </a:r>
          </a:p>
          <a:p>
            <a:r>
              <a:rPr lang="en-US" altLang="zh-CN" sz="2400" dirty="0">
                <a:solidFill>
                  <a:srgbClr val="FF0000"/>
                </a:solidFill>
              </a:rPr>
              <a:t>k</a:t>
            </a:r>
            <a:r>
              <a:rPr lang="en-US" sz="2400" dirty="0">
                <a:solidFill>
                  <a:srgbClr val="FF0000"/>
                </a:solidFill>
              </a:rPr>
              <a:t> </a:t>
            </a:r>
            <a:r>
              <a:rPr lang="en-US" altLang="zh-CN" sz="2400" dirty="0">
                <a:solidFill>
                  <a:srgbClr val="FF0000"/>
                </a:solidFill>
              </a:rPr>
              <a:t>:</a:t>
            </a:r>
            <a:r>
              <a:rPr lang="en-US" sz="2400" dirty="0">
                <a:solidFill>
                  <a:srgbClr val="FF0000"/>
                </a:solidFill>
              </a:rPr>
              <a:t>= L</a:t>
            </a:r>
          </a:p>
          <a:p>
            <a:r>
              <a:rPr lang="en-US" sz="2400" dirty="0">
                <a:solidFill>
                  <a:srgbClr val="FF0000"/>
                </a:solidFill>
              </a:rPr>
              <a:t>b </a:t>
            </a:r>
            <a:r>
              <a:rPr lang="en-US" altLang="zh-CN" sz="2400" dirty="0">
                <a:solidFill>
                  <a:srgbClr val="FF0000"/>
                </a:solidFill>
              </a:rPr>
              <a:t>:</a:t>
            </a:r>
            <a:r>
              <a:rPr lang="en-US" sz="2400" dirty="0">
                <a:solidFill>
                  <a:srgbClr val="FF0000"/>
                </a:solidFill>
              </a:rPr>
              <a:t>= B</a:t>
            </a:r>
          </a:p>
        </p:txBody>
      </p:sp>
    </p:spTree>
    <p:extLst>
      <p:ext uri="{BB962C8B-B14F-4D97-AF65-F5344CB8AC3E}">
        <p14:creationId xmlns:p14="http://schemas.microsoft.com/office/powerpoint/2010/main" val="1430236665"/>
      </p:ext>
    </p:extLst>
  </p:cSld>
  <p:clrMapOvr>
    <a:masterClrMapping/>
  </p:clrMapOvr>
  <p:transition spd="slow">
    <p:pull dir="ru"/>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a:defRPr/>
            </a:pPr>
            <a:r>
              <a:rPr lang="en-US" altLang="zh-CN"/>
              <a:t>Computer Network</a:t>
            </a:r>
          </a:p>
        </p:txBody>
      </p:sp>
      <p:sp>
        <p:nvSpPr>
          <p:cNvPr id="3" name="灯片编号占位符 2"/>
          <p:cNvSpPr>
            <a:spLocks noGrp="1"/>
          </p:cNvSpPr>
          <p:nvPr>
            <p:ph type="sldNum" sz="quarter" idx="11"/>
          </p:nvPr>
        </p:nvSpPr>
        <p:spPr/>
        <p:txBody>
          <a:bodyPr/>
          <a:lstStyle/>
          <a:p>
            <a:pPr>
              <a:defRPr/>
            </a:pPr>
            <a:fld id="{2AAF93DC-1AF2-40C5-A519-3C53F0141A12}" type="slidenum">
              <a:rPr lang="en-US" altLang="zh-CN" smtClean="0"/>
              <a:pPr>
                <a:defRPr/>
              </a:pPr>
              <a:t>120</a:t>
            </a:fld>
            <a:endParaRPr lang="en-US" altLang="zh-CN"/>
          </a:p>
        </p:txBody>
      </p:sp>
      <p:sp>
        <p:nvSpPr>
          <p:cNvPr id="4" name="日期占位符 3"/>
          <p:cNvSpPr>
            <a:spLocks noGrp="1"/>
          </p:cNvSpPr>
          <p:nvPr>
            <p:ph type="dt" sz="half" idx="12"/>
          </p:nvPr>
        </p:nvSpPr>
        <p:spPr/>
        <p:txBody>
          <a:bodyPr/>
          <a:lstStyle/>
          <a:p>
            <a:pPr>
              <a:defRPr/>
            </a:pPr>
            <a:fld id="{F745FD7F-E1E7-4727-BD24-89E1126485D5}" type="datetime1">
              <a:rPr lang="zh-CN" altLang="en-US" smtClean="0"/>
              <a:pPr>
                <a:defRPr/>
              </a:pPr>
              <a:t>2024/10/18</a:t>
            </a:fld>
            <a:endParaRPr lang="en-US" altLang="zh-CN"/>
          </a:p>
        </p:txBody>
      </p:sp>
      <p:pic>
        <p:nvPicPr>
          <p:cNvPr id="5" name="图片 4"/>
          <p:cNvPicPr>
            <a:picLocks noChangeAspect="1"/>
          </p:cNvPicPr>
          <p:nvPr/>
        </p:nvPicPr>
        <p:blipFill>
          <a:blip r:embed="rId2"/>
          <a:stretch>
            <a:fillRect/>
          </a:stretch>
        </p:blipFill>
        <p:spPr>
          <a:xfrm>
            <a:off x="1573771" y="476672"/>
            <a:ext cx="9044458" cy="4608512"/>
          </a:xfrm>
          <a:prstGeom prst="rect">
            <a:avLst/>
          </a:prstGeom>
        </p:spPr>
      </p:pic>
      <p:sp>
        <p:nvSpPr>
          <p:cNvPr id="6" name="文本框 5"/>
          <p:cNvSpPr txBox="1"/>
          <p:nvPr/>
        </p:nvSpPr>
        <p:spPr>
          <a:xfrm>
            <a:off x="1408176" y="4884016"/>
            <a:ext cx="10306150" cy="1200329"/>
          </a:xfrm>
          <a:prstGeom prst="rect">
            <a:avLst/>
          </a:prstGeom>
          <a:noFill/>
        </p:spPr>
        <p:txBody>
          <a:bodyPr wrap="square" rtlCol="0">
            <a:spAutoFit/>
          </a:bodyPr>
          <a:lstStyle/>
          <a:p>
            <a:r>
              <a:rPr lang="zh-CN" altLang="en-US" sz="2400">
                <a:solidFill>
                  <a:srgbClr val="FF0000"/>
                </a:solidFill>
              </a:rPr>
              <a:t>注意：</a:t>
            </a:r>
            <a:r>
              <a:rPr lang="en-US" altLang="zh-CN" sz="2400">
                <a:solidFill>
                  <a:srgbClr val="FF0000"/>
                </a:solidFill>
              </a:rPr>
              <a:t>W</a:t>
            </a:r>
            <a:r>
              <a:rPr lang="en-US" altLang="zh-CN" sz="2400" dirty="0">
                <a:solidFill>
                  <a:srgbClr val="FF0000"/>
                </a:solidFill>
              </a:rPr>
              <a:t>=2*BD/L+1</a:t>
            </a:r>
            <a:r>
              <a:rPr lang="zh-CN" altLang="en-US" sz="2400" dirty="0">
                <a:solidFill>
                  <a:srgbClr val="FF0000"/>
                </a:solidFill>
              </a:rPr>
              <a:t>，其中，</a:t>
            </a:r>
            <a:r>
              <a:rPr lang="en-US" altLang="zh-CN" sz="2400" dirty="0">
                <a:solidFill>
                  <a:srgbClr val="FF0000"/>
                </a:solidFill>
              </a:rPr>
              <a:t>L=1000bits</a:t>
            </a:r>
          </a:p>
          <a:p>
            <a:r>
              <a:rPr lang="zh-CN" altLang="en-US" sz="2400" dirty="0">
                <a:solidFill>
                  <a:srgbClr val="FF0000"/>
                </a:solidFill>
              </a:rPr>
              <a:t>这里的</a:t>
            </a:r>
            <a:r>
              <a:rPr lang="en-US" altLang="zh-CN" sz="2400" dirty="0">
                <a:solidFill>
                  <a:srgbClr val="FF0000"/>
                </a:solidFill>
              </a:rPr>
              <a:t>BD</a:t>
            </a:r>
            <a:r>
              <a:rPr lang="zh-CN" altLang="en-US" sz="2400" dirty="0">
                <a:solidFill>
                  <a:srgbClr val="FF0000"/>
                </a:solidFill>
              </a:rPr>
              <a:t>采用单向延迟（</a:t>
            </a:r>
            <a:r>
              <a:rPr lang="en-US" altLang="zh-CN" sz="2400" dirty="0">
                <a:solidFill>
                  <a:srgbClr val="FF0000"/>
                </a:solidFill>
              </a:rPr>
              <a:t>OWD</a:t>
            </a:r>
            <a:r>
              <a:rPr lang="zh-CN" altLang="en-US" sz="2400" dirty="0">
                <a:solidFill>
                  <a:srgbClr val="FF0000"/>
                </a:solidFill>
              </a:rPr>
              <a:t>）</a:t>
            </a:r>
            <a:endParaRPr lang="en-US" altLang="zh-CN" sz="2400" dirty="0">
              <a:solidFill>
                <a:srgbClr val="FF0000"/>
              </a:solidFill>
            </a:endParaRPr>
          </a:p>
          <a:p>
            <a:r>
              <a:rPr lang="zh-CN" altLang="en-US" sz="2400" dirty="0">
                <a:solidFill>
                  <a:srgbClr val="FF0000"/>
                </a:solidFill>
              </a:rPr>
              <a:t>进行计算，实际中经常用双向延迟</a:t>
            </a:r>
            <a:r>
              <a:rPr lang="en-US" altLang="zh-CN" sz="2400" dirty="0">
                <a:solidFill>
                  <a:srgbClr val="FF0000"/>
                </a:solidFill>
              </a:rPr>
              <a:t>RTT</a:t>
            </a:r>
            <a:r>
              <a:rPr lang="zh-CN" altLang="en-US" sz="2400" dirty="0">
                <a:solidFill>
                  <a:srgbClr val="FF0000"/>
                </a:solidFill>
              </a:rPr>
              <a:t>进行计算，此时不需要</a:t>
            </a:r>
            <a:r>
              <a:rPr lang="en-US" altLang="zh-CN" sz="2400" dirty="0">
                <a:solidFill>
                  <a:srgbClr val="FF0000"/>
                </a:solidFill>
              </a:rPr>
              <a:t>x2</a:t>
            </a:r>
            <a:endParaRPr lang="en-US" sz="2400" dirty="0">
              <a:solidFill>
                <a:srgbClr val="FF0000"/>
              </a:solidFill>
            </a:endParaRPr>
          </a:p>
        </p:txBody>
      </p:sp>
      <p:sp>
        <p:nvSpPr>
          <p:cNvPr id="7" name="矩形 6">
            <a:extLst>
              <a:ext uri="{FF2B5EF4-FFF2-40B4-BE49-F238E27FC236}">
                <a16:creationId xmlns:a16="http://schemas.microsoft.com/office/drawing/2014/main" id="{53842FA7-EFC2-4458-8D33-82E6DFD52E58}"/>
              </a:ext>
            </a:extLst>
          </p:cNvPr>
          <p:cNvSpPr/>
          <p:nvPr/>
        </p:nvSpPr>
        <p:spPr>
          <a:xfrm>
            <a:off x="3730752" y="2596896"/>
            <a:ext cx="18288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rPr>
              <a:t>W=2*BD/L+1</a:t>
            </a:r>
            <a:endParaRPr lang="zh-CN" altLang="en-US" dirty="0">
              <a:solidFill>
                <a:schemeClr val="bg1"/>
              </a:solidFill>
            </a:endParaRPr>
          </a:p>
        </p:txBody>
      </p:sp>
    </p:spTree>
    <p:extLst>
      <p:ext uri="{BB962C8B-B14F-4D97-AF65-F5344CB8AC3E}">
        <p14:creationId xmlns:p14="http://schemas.microsoft.com/office/powerpoint/2010/main" val="3817696453"/>
      </p:ext>
    </p:extLst>
  </p:cSld>
  <p:clrMapOvr>
    <a:masterClrMapping/>
  </p:clrMapOvr>
  <p:transition spd="slow">
    <p:pull dir="ru"/>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a:defRPr/>
            </a:pPr>
            <a:r>
              <a:rPr lang="en-US" altLang="zh-CN"/>
              <a:t>Computer Network</a:t>
            </a:r>
          </a:p>
        </p:txBody>
      </p:sp>
      <p:sp>
        <p:nvSpPr>
          <p:cNvPr id="3" name="灯片编号占位符 2"/>
          <p:cNvSpPr>
            <a:spLocks noGrp="1"/>
          </p:cNvSpPr>
          <p:nvPr>
            <p:ph type="sldNum" sz="quarter" idx="11"/>
          </p:nvPr>
        </p:nvSpPr>
        <p:spPr/>
        <p:txBody>
          <a:bodyPr/>
          <a:lstStyle/>
          <a:p>
            <a:pPr>
              <a:defRPr/>
            </a:pPr>
            <a:fld id="{2AAF93DC-1AF2-40C5-A519-3C53F0141A12}" type="slidenum">
              <a:rPr lang="en-US" altLang="zh-CN" smtClean="0"/>
              <a:pPr>
                <a:defRPr/>
              </a:pPr>
              <a:t>121</a:t>
            </a:fld>
            <a:endParaRPr lang="en-US" altLang="zh-CN"/>
          </a:p>
        </p:txBody>
      </p:sp>
      <p:sp>
        <p:nvSpPr>
          <p:cNvPr id="4" name="日期占位符 3"/>
          <p:cNvSpPr>
            <a:spLocks noGrp="1"/>
          </p:cNvSpPr>
          <p:nvPr>
            <p:ph type="dt" sz="half" idx="12"/>
          </p:nvPr>
        </p:nvSpPr>
        <p:spPr/>
        <p:txBody>
          <a:bodyPr/>
          <a:lstStyle/>
          <a:p>
            <a:pPr>
              <a:defRPr/>
            </a:pPr>
            <a:fld id="{F745FD7F-E1E7-4727-BD24-89E1126485D5}" type="datetime1">
              <a:rPr lang="zh-CN" altLang="en-US" smtClean="0"/>
              <a:pPr>
                <a:defRPr/>
              </a:pPr>
              <a:t>2024/10/18</a:t>
            </a:fld>
            <a:endParaRPr lang="en-US" altLang="zh-CN"/>
          </a:p>
        </p:txBody>
      </p:sp>
      <p:pic>
        <p:nvPicPr>
          <p:cNvPr id="5" name="图片 4"/>
          <p:cNvPicPr>
            <a:picLocks noChangeAspect="1"/>
          </p:cNvPicPr>
          <p:nvPr/>
        </p:nvPicPr>
        <p:blipFill>
          <a:blip r:embed="rId2"/>
          <a:stretch>
            <a:fillRect/>
          </a:stretch>
        </p:blipFill>
        <p:spPr>
          <a:xfrm>
            <a:off x="1759322" y="1110942"/>
            <a:ext cx="8673356" cy="4636116"/>
          </a:xfrm>
          <a:prstGeom prst="rect">
            <a:avLst/>
          </a:prstGeom>
        </p:spPr>
      </p:pic>
      <p:sp>
        <p:nvSpPr>
          <p:cNvPr id="6" name="TextBox 5">
            <a:extLst>
              <a:ext uri="{FF2B5EF4-FFF2-40B4-BE49-F238E27FC236}">
                <a16:creationId xmlns:a16="http://schemas.microsoft.com/office/drawing/2014/main" id="{AB84968B-F46A-2B86-F36B-155409A84C03}"/>
              </a:ext>
            </a:extLst>
          </p:cNvPr>
          <p:cNvSpPr txBox="1"/>
          <p:nvPr/>
        </p:nvSpPr>
        <p:spPr>
          <a:xfrm>
            <a:off x="2099733" y="508000"/>
            <a:ext cx="902811" cy="523220"/>
          </a:xfrm>
          <a:prstGeom prst="rect">
            <a:avLst/>
          </a:prstGeom>
          <a:noFill/>
        </p:spPr>
        <p:txBody>
          <a:bodyPr wrap="none" rtlCol="0">
            <a:spAutoFit/>
          </a:bodyPr>
          <a:lstStyle/>
          <a:p>
            <a:r>
              <a:rPr lang="en-CN" sz="2800" dirty="0">
                <a:highlight>
                  <a:srgbClr val="FFFF00"/>
                </a:highlight>
              </a:rPr>
              <a:t>课练</a:t>
            </a:r>
          </a:p>
        </p:txBody>
      </p:sp>
    </p:spTree>
    <p:extLst>
      <p:ext uri="{BB962C8B-B14F-4D97-AF65-F5344CB8AC3E}">
        <p14:creationId xmlns:p14="http://schemas.microsoft.com/office/powerpoint/2010/main" val="4225568683"/>
      </p:ext>
    </p:extLst>
  </p:cSld>
  <p:clrMapOvr>
    <a:masterClrMapping/>
  </p:clrMapOvr>
  <p:transition spd="slow">
    <p:pull dir="ru"/>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a:defRPr/>
            </a:pPr>
            <a:r>
              <a:rPr lang="en-US" altLang="zh-CN"/>
              <a:t>Computer Network</a:t>
            </a:r>
          </a:p>
        </p:txBody>
      </p:sp>
      <p:sp>
        <p:nvSpPr>
          <p:cNvPr id="3" name="灯片编号占位符 2"/>
          <p:cNvSpPr>
            <a:spLocks noGrp="1"/>
          </p:cNvSpPr>
          <p:nvPr>
            <p:ph type="sldNum" sz="quarter" idx="11"/>
          </p:nvPr>
        </p:nvSpPr>
        <p:spPr/>
        <p:txBody>
          <a:bodyPr/>
          <a:lstStyle/>
          <a:p>
            <a:pPr>
              <a:defRPr/>
            </a:pPr>
            <a:fld id="{2AAF93DC-1AF2-40C5-A519-3C53F0141A12}" type="slidenum">
              <a:rPr lang="en-US" altLang="zh-CN" smtClean="0"/>
              <a:pPr>
                <a:defRPr/>
              </a:pPr>
              <a:t>122</a:t>
            </a:fld>
            <a:endParaRPr lang="en-US" altLang="zh-CN"/>
          </a:p>
        </p:txBody>
      </p:sp>
      <p:sp>
        <p:nvSpPr>
          <p:cNvPr id="4" name="日期占位符 3"/>
          <p:cNvSpPr>
            <a:spLocks noGrp="1"/>
          </p:cNvSpPr>
          <p:nvPr>
            <p:ph type="dt" sz="half" idx="12"/>
          </p:nvPr>
        </p:nvSpPr>
        <p:spPr/>
        <p:txBody>
          <a:bodyPr/>
          <a:lstStyle/>
          <a:p>
            <a:pPr>
              <a:defRPr/>
            </a:pPr>
            <a:fld id="{F745FD7F-E1E7-4727-BD24-89E1126485D5}" type="datetime1">
              <a:rPr lang="zh-CN" altLang="en-US" smtClean="0"/>
              <a:pPr>
                <a:defRPr/>
              </a:pPr>
              <a:t>2024/10/18</a:t>
            </a:fld>
            <a:endParaRPr lang="en-US" altLang="zh-CN"/>
          </a:p>
        </p:txBody>
      </p:sp>
      <p:pic>
        <p:nvPicPr>
          <p:cNvPr id="7" name="图片 6"/>
          <p:cNvPicPr>
            <a:picLocks noChangeAspect="1"/>
          </p:cNvPicPr>
          <p:nvPr/>
        </p:nvPicPr>
        <p:blipFill rotWithShape="1">
          <a:blip r:embed="rId2"/>
          <a:srcRect l="9374" t="19996"/>
          <a:stretch/>
        </p:blipFill>
        <p:spPr>
          <a:xfrm>
            <a:off x="4648200" y="3607718"/>
            <a:ext cx="5893202" cy="3240360"/>
          </a:xfrm>
          <a:prstGeom prst="rect">
            <a:avLst/>
          </a:prstGeom>
        </p:spPr>
      </p:pic>
      <p:pic>
        <p:nvPicPr>
          <p:cNvPr id="8" name="图片 7"/>
          <p:cNvPicPr>
            <a:picLocks noChangeAspect="1"/>
          </p:cNvPicPr>
          <p:nvPr/>
        </p:nvPicPr>
        <p:blipFill>
          <a:blip r:embed="rId3"/>
          <a:stretch>
            <a:fillRect/>
          </a:stretch>
        </p:blipFill>
        <p:spPr>
          <a:xfrm>
            <a:off x="1524000" y="-32556"/>
            <a:ext cx="6108400" cy="4248472"/>
          </a:xfrm>
          <a:prstGeom prst="rect">
            <a:avLst/>
          </a:prstGeom>
        </p:spPr>
      </p:pic>
    </p:spTree>
    <p:extLst>
      <p:ext uri="{BB962C8B-B14F-4D97-AF65-F5344CB8AC3E}">
        <p14:creationId xmlns:p14="http://schemas.microsoft.com/office/powerpoint/2010/main" val="3802360878"/>
      </p:ext>
    </p:extLst>
  </p:cSld>
  <p:clrMapOvr>
    <a:masterClrMapping/>
  </p:clrMapOvr>
  <p:transition spd="slow">
    <p:pull dir="ru"/>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a:defRPr/>
            </a:pPr>
            <a:r>
              <a:rPr lang="en-US" altLang="zh-CN"/>
              <a:t>Computer Network</a:t>
            </a:r>
          </a:p>
        </p:txBody>
      </p:sp>
      <p:sp>
        <p:nvSpPr>
          <p:cNvPr id="3" name="灯片编号占位符 2"/>
          <p:cNvSpPr>
            <a:spLocks noGrp="1"/>
          </p:cNvSpPr>
          <p:nvPr>
            <p:ph type="sldNum" sz="quarter" idx="11"/>
          </p:nvPr>
        </p:nvSpPr>
        <p:spPr/>
        <p:txBody>
          <a:bodyPr/>
          <a:lstStyle/>
          <a:p>
            <a:pPr>
              <a:defRPr/>
            </a:pPr>
            <a:fld id="{2AAF93DC-1AF2-40C5-A519-3C53F0141A12}" type="slidenum">
              <a:rPr lang="en-US" altLang="zh-CN" smtClean="0"/>
              <a:pPr>
                <a:defRPr/>
              </a:pPr>
              <a:t>123</a:t>
            </a:fld>
            <a:endParaRPr lang="en-US" altLang="zh-CN"/>
          </a:p>
        </p:txBody>
      </p:sp>
      <p:sp>
        <p:nvSpPr>
          <p:cNvPr id="4" name="日期占位符 3"/>
          <p:cNvSpPr>
            <a:spLocks noGrp="1"/>
          </p:cNvSpPr>
          <p:nvPr>
            <p:ph type="dt" sz="half" idx="12"/>
          </p:nvPr>
        </p:nvSpPr>
        <p:spPr/>
        <p:txBody>
          <a:bodyPr/>
          <a:lstStyle/>
          <a:p>
            <a:pPr>
              <a:defRPr/>
            </a:pPr>
            <a:fld id="{F745FD7F-E1E7-4727-BD24-89E1126485D5}" type="datetime1">
              <a:rPr lang="zh-CN" altLang="en-US" smtClean="0"/>
              <a:pPr>
                <a:defRPr/>
              </a:pPr>
              <a:t>2024/10/18</a:t>
            </a:fld>
            <a:endParaRPr lang="en-US" altLang="zh-CN"/>
          </a:p>
        </p:txBody>
      </p:sp>
      <p:pic>
        <p:nvPicPr>
          <p:cNvPr id="5" name="图片 4"/>
          <p:cNvPicPr>
            <a:picLocks noChangeAspect="1"/>
          </p:cNvPicPr>
          <p:nvPr/>
        </p:nvPicPr>
        <p:blipFill>
          <a:blip r:embed="rId2"/>
          <a:stretch>
            <a:fillRect/>
          </a:stretch>
        </p:blipFill>
        <p:spPr>
          <a:xfrm>
            <a:off x="983432" y="692696"/>
            <a:ext cx="9906726" cy="5112568"/>
          </a:xfrm>
          <a:prstGeom prst="rect">
            <a:avLst/>
          </a:prstGeom>
        </p:spPr>
      </p:pic>
    </p:spTree>
    <p:extLst>
      <p:ext uri="{BB962C8B-B14F-4D97-AF65-F5344CB8AC3E}">
        <p14:creationId xmlns:p14="http://schemas.microsoft.com/office/powerpoint/2010/main" val="1151641323"/>
      </p:ext>
    </p:extLst>
  </p:cSld>
  <p:clrMapOvr>
    <a:masterClrMapping/>
  </p:clrMapOvr>
  <p:transition spd="slow">
    <p:pull dir="ru"/>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a:defRPr/>
            </a:pPr>
            <a:r>
              <a:rPr lang="en-US" altLang="zh-CN"/>
              <a:t>Computer Network</a:t>
            </a:r>
          </a:p>
        </p:txBody>
      </p:sp>
      <p:sp>
        <p:nvSpPr>
          <p:cNvPr id="3" name="灯片编号占位符 2"/>
          <p:cNvSpPr>
            <a:spLocks noGrp="1"/>
          </p:cNvSpPr>
          <p:nvPr>
            <p:ph type="sldNum" sz="quarter" idx="11"/>
          </p:nvPr>
        </p:nvSpPr>
        <p:spPr/>
        <p:txBody>
          <a:bodyPr/>
          <a:lstStyle/>
          <a:p>
            <a:pPr>
              <a:defRPr/>
            </a:pPr>
            <a:fld id="{2AAF93DC-1AF2-40C5-A519-3C53F0141A12}" type="slidenum">
              <a:rPr lang="en-US" altLang="zh-CN" smtClean="0"/>
              <a:pPr>
                <a:defRPr/>
              </a:pPr>
              <a:t>124</a:t>
            </a:fld>
            <a:endParaRPr lang="en-US" altLang="zh-CN"/>
          </a:p>
        </p:txBody>
      </p:sp>
      <p:sp>
        <p:nvSpPr>
          <p:cNvPr id="4" name="日期占位符 3"/>
          <p:cNvSpPr>
            <a:spLocks noGrp="1"/>
          </p:cNvSpPr>
          <p:nvPr>
            <p:ph type="dt" sz="half" idx="12"/>
          </p:nvPr>
        </p:nvSpPr>
        <p:spPr/>
        <p:txBody>
          <a:bodyPr/>
          <a:lstStyle/>
          <a:p>
            <a:pPr>
              <a:defRPr/>
            </a:pPr>
            <a:fld id="{F745FD7F-E1E7-4727-BD24-89E1126485D5}" type="datetime1">
              <a:rPr lang="zh-CN" altLang="en-US" smtClean="0"/>
              <a:pPr>
                <a:defRPr/>
              </a:pPr>
              <a:t>2024/10/18</a:t>
            </a:fld>
            <a:endParaRPr lang="en-US" altLang="zh-CN"/>
          </a:p>
        </p:txBody>
      </p:sp>
      <p:pic>
        <p:nvPicPr>
          <p:cNvPr id="5" name="图片 4"/>
          <p:cNvPicPr>
            <a:picLocks noChangeAspect="1"/>
          </p:cNvPicPr>
          <p:nvPr/>
        </p:nvPicPr>
        <p:blipFill>
          <a:blip r:embed="rId2"/>
          <a:stretch>
            <a:fillRect/>
          </a:stretch>
        </p:blipFill>
        <p:spPr>
          <a:xfrm>
            <a:off x="1271464" y="404664"/>
            <a:ext cx="9993418" cy="5400600"/>
          </a:xfrm>
          <a:prstGeom prst="rect">
            <a:avLst/>
          </a:prstGeom>
        </p:spPr>
      </p:pic>
    </p:spTree>
    <p:extLst>
      <p:ext uri="{BB962C8B-B14F-4D97-AF65-F5344CB8AC3E}">
        <p14:creationId xmlns:p14="http://schemas.microsoft.com/office/powerpoint/2010/main" val="2905275915"/>
      </p:ext>
    </p:extLst>
  </p:cSld>
  <p:clrMapOvr>
    <a:masterClrMapping/>
  </p:clrMapOvr>
  <p:transition spd="slow">
    <p:pull dir="ru"/>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a:defRPr/>
            </a:pPr>
            <a:r>
              <a:rPr lang="en-US" altLang="zh-CN"/>
              <a:t>Computer Network</a:t>
            </a:r>
          </a:p>
        </p:txBody>
      </p:sp>
      <p:sp>
        <p:nvSpPr>
          <p:cNvPr id="3" name="灯片编号占位符 2"/>
          <p:cNvSpPr>
            <a:spLocks noGrp="1"/>
          </p:cNvSpPr>
          <p:nvPr>
            <p:ph type="sldNum" sz="quarter" idx="11"/>
          </p:nvPr>
        </p:nvSpPr>
        <p:spPr/>
        <p:txBody>
          <a:bodyPr/>
          <a:lstStyle/>
          <a:p>
            <a:pPr>
              <a:defRPr/>
            </a:pPr>
            <a:fld id="{2AAF93DC-1AF2-40C5-A519-3C53F0141A12}" type="slidenum">
              <a:rPr lang="en-US" altLang="zh-CN" smtClean="0"/>
              <a:pPr>
                <a:defRPr/>
              </a:pPr>
              <a:t>125</a:t>
            </a:fld>
            <a:endParaRPr lang="en-US" altLang="zh-CN"/>
          </a:p>
        </p:txBody>
      </p:sp>
      <p:sp>
        <p:nvSpPr>
          <p:cNvPr id="4" name="日期占位符 3"/>
          <p:cNvSpPr>
            <a:spLocks noGrp="1"/>
          </p:cNvSpPr>
          <p:nvPr>
            <p:ph type="dt" sz="half" idx="12"/>
          </p:nvPr>
        </p:nvSpPr>
        <p:spPr/>
        <p:txBody>
          <a:bodyPr/>
          <a:lstStyle/>
          <a:p>
            <a:pPr>
              <a:defRPr/>
            </a:pPr>
            <a:fld id="{F745FD7F-E1E7-4727-BD24-89E1126485D5}" type="datetime1">
              <a:rPr lang="zh-CN" altLang="en-US" smtClean="0"/>
              <a:pPr>
                <a:defRPr/>
              </a:pPr>
              <a:t>2024/10/18</a:t>
            </a:fld>
            <a:endParaRPr lang="en-US" altLang="zh-CN"/>
          </a:p>
        </p:txBody>
      </p:sp>
      <p:pic>
        <p:nvPicPr>
          <p:cNvPr id="5" name="图片 4"/>
          <p:cNvPicPr>
            <a:picLocks noChangeAspect="1"/>
          </p:cNvPicPr>
          <p:nvPr/>
        </p:nvPicPr>
        <p:blipFill>
          <a:blip r:embed="rId2"/>
          <a:stretch>
            <a:fillRect/>
          </a:stretch>
        </p:blipFill>
        <p:spPr>
          <a:xfrm>
            <a:off x="1791369" y="573317"/>
            <a:ext cx="8609262" cy="5671908"/>
          </a:xfrm>
          <a:prstGeom prst="rect">
            <a:avLst/>
          </a:prstGeom>
        </p:spPr>
      </p:pic>
    </p:spTree>
    <p:extLst>
      <p:ext uri="{BB962C8B-B14F-4D97-AF65-F5344CB8AC3E}">
        <p14:creationId xmlns:p14="http://schemas.microsoft.com/office/powerpoint/2010/main" val="3095599928"/>
      </p:ext>
    </p:extLst>
  </p:cSld>
  <p:clrMapOvr>
    <a:masterClrMapping/>
  </p:clrMapOvr>
  <p:transition spd="slow">
    <p:pull dir="ru"/>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DCC7AC-475E-1E4C-8CD6-1AECBEC28035}"/>
              </a:ext>
            </a:extLst>
          </p:cNvPr>
          <p:cNvSpPr>
            <a:spLocks noGrp="1"/>
          </p:cNvSpPr>
          <p:nvPr>
            <p:ph type="title"/>
          </p:nvPr>
        </p:nvSpPr>
        <p:spPr/>
        <p:txBody>
          <a:bodyPr/>
          <a:lstStyle/>
          <a:p>
            <a:r>
              <a:rPr lang="zh-CN" altLang="en-US" dirty="0"/>
              <a:t>本章内容</a:t>
            </a:r>
            <a:endParaRPr kumimoji="1" lang="zh-CN" altLang="en-US" dirty="0"/>
          </a:p>
        </p:txBody>
      </p:sp>
      <p:sp>
        <p:nvSpPr>
          <p:cNvPr id="3" name="内容占位符 2">
            <a:extLst>
              <a:ext uri="{FF2B5EF4-FFF2-40B4-BE49-F238E27FC236}">
                <a16:creationId xmlns:a16="http://schemas.microsoft.com/office/drawing/2014/main" id="{ED1732F0-50F7-8947-81D6-CBBAE8232DE9}"/>
              </a:ext>
            </a:extLst>
          </p:cNvPr>
          <p:cNvSpPr>
            <a:spLocks noGrp="1"/>
          </p:cNvSpPr>
          <p:nvPr>
            <p:ph idx="1"/>
          </p:nvPr>
        </p:nvSpPr>
        <p:spPr/>
        <p:txBody>
          <a:bodyPr>
            <a:normAutofit/>
          </a:bodyPr>
          <a:lstStyle/>
          <a:p>
            <a:pPr marL="0" indent="0">
              <a:lnSpc>
                <a:spcPct val="130000"/>
              </a:lnSpc>
              <a:buNone/>
            </a:pPr>
            <a:r>
              <a:rPr kumimoji="1" lang="en-US" altLang="zh-CN" dirty="0"/>
              <a:t>3.1 </a:t>
            </a:r>
            <a:r>
              <a:rPr kumimoji="1" lang="zh-CN" altLang="zh-CN" dirty="0"/>
              <a:t>数据链路层的设计问题</a:t>
            </a:r>
            <a:endParaRPr kumimoji="1" lang="en-US" altLang="zh-CN" dirty="0"/>
          </a:p>
          <a:p>
            <a:pPr marL="0" indent="0">
              <a:lnSpc>
                <a:spcPct val="130000"/>
              </a:lnSpc>
              <a:buNone/>
            </a:pPr>
            <a:r>
              <a:rPr kumimoji="1" lang="en-US" altLang="zh-CN" dirty="0"/>
              <a:t>3.2 </a:t>
            </a:r>
            <a:r>
              <a:rPr kumimoji="1" lang="zh-CN" altLang="zh-CN" dirty="0"/>
              <a:t>差错检测和纠正</a:t>
            </a:r>
            <a:endParaRPr kumimoji="1" lang="en-US" altLang="zh-CN" dirty="0"/>
          </a:p>
          <a:p>
            <a:pPr marL="0" indent="0">
              <a:lnSpc>
                <a:spcPct val="130000"/>
              </a:lnSpc>
              <a:buNone/>
            </a:pPr>
            <a:r>
              <a:rPr kumimoji="1" lang="en-US" altLang="zh-CN" dirty="0"/>
              <a:t>3.3 </a:t>
            </a:r>
            <a:r>
              <a:rPr kumimoji="1" lang="zh-CN" altLang="zh-CN" dirty="0"/>
              <a:t>基本的数据链路层协议</a:t>
            </a:r>
            <a:endParaRPr kumimoji="1" lang="zh-CN" altLang="en-US" dirty="0"/>
          </a:p>
          <a:p>
            <a:pPr marL="0" indent="0">
              <a:lnSpc>
                <a:spcPct val="130000"/>
              </a:lnSpc>
              <a:buNone/>
            </a:pPr>
            <a:r>
              <a:rPr kumimoji="1" lang="en-US" altLang="zh-CN" dirty="0"/>
              <a:t>3.4 </a:t>
            </a:r>
            <a:r>
              <a:rPr kumimoji="1" lang="zh-CN" altLang="zh-CN" dirty="0"/>
              <a:t>滑动窗口协议</a:t>
            </a:r>
            <a:endParaRPr lang="zh-CN" altLang="en-US" sz="2400" dirty="0">
              <a:latin typeface="微软雅黑" panose="020B0503020204020204" pitchFamily="34" charset="-122"/>
              <a:ea typeface="微软雅黑" panose="020B0503020204020204" pitchFamily="34" charset="-122"/>
            </a:endParaRPr>
          </a:p>
          <a:p>
            <a:pPr marL="0" indent="0">
              <a:lnSpc>
                <a:spcPct val="130000"/>
              </a:lnSpc>
              <a:buNone/>
            </a:pPr>
            <a:r>
              <a:rPr kumimoji="1" lang="en-US" altLang="zh-CN" dirty="0">
                <a:solidFill>
                  <a:srgbClr val="C00000"/>
                </a:solidFill>
              </a:rPr>
              <a:t>3.5 </a:t>
            </a:r>
            <a:r>
              <a:rPr kumimoji="1" lang="zh-CN" altLang="zh-CN" dirty="0">
                <a:solidFill>
                  <a:srgbClr val="C00000"/>
                </a:solidFill>
              </a:rPr>
              <a:t>数据链路协议实例</a:t>
            </a:r>
          </a:p>
        </p:txBody>
      </p:sp>
      <p:sp>
        <p:nvSpPr>
          <p:cNvPr id="4" name="灯片编号占位符 3">
            <a:extLst>
              <a:ext uri="{FF2B5EF4-FFF2-40B4-BE49-F238E27FC236}">
                <a16:creationId xmlns:a16="http://schemas.microsoft.com/office/drawing/2014/main" id="{B09265E6-1613-5248-876E-1FC70865DEDD}"/>
              </a:ext>
            </a:extLst>
          </p:cNvPr>
          <p:cNvSpPr>
            <a:spLocks noGrp="1"/>
          </p:cNvSpPr>
          <p:nvPr>
            <p:ph type="sldNum" sz="quarter" idx="12"/>
          </p:nvPr>
        </p:nvSpPr>
        <p:spPr/>
        <p:txBody>
          <a:bodyPr/>
          <a:lstStyle/>
          <a:p>
            <a:fld id="{8D4D1E41-7A09-AB4A-A4E1-09765ADA2698}" type="slidenum">
              <a:rPr kumimoji="1" lang="zh-CN" altLang="en-US" smtClean="0"/>
              <a:t>126</a:t>
            </a:fld>
            <a:endParaRPr kumimoji="1" lang="zh-CN" altLang="en-US" dirty="0"/>
          </a:p>
        </p:txBody>
      </p:sp>
      <p:sp>
        <p:nvSpPr>
          <p:cNvPr id="6" name="矩形标注 5">
            <a:extLst>
              <a:ext uri="{FF2B5EF4-FFF2-40B4-BE49-F238E27FC236}">
                <a16:creationId xmlns:a16="http://schemas.microsoft.com/office/drawing/2014/main" id="{E4BFCB96-0FA1-7740-8F94-683CEFB67F89}"/>
              </a:ext>
            </a:extLst>
          </p:cNvPr>
          <p:cNvSpPr/>
          <p:nvPr/>
        </p:nvSpPr>
        <p:spPr>
          <a:xfrm>
            <a:off x="5631542" y="3048001"/>
            <a:ext cx="5722257" cy="1693332"/>
          </a:xfrm>
          <a:prstGeom prst="wedgeRectCallout">
            <a:avLst>
              <a:gd name="adj1" fmla="val -74594"/>
              <a:gd name="adj2" fmla="val 29086"/>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spcBef>
                <a:spcPts val="1200"/>
              </a:spcBef>
              <a:buFontTx/>
              <a:buAutoNum type="arabicPeriod"/>
            </a:pPr>
            <a:r>
              <a:rPr lang="en-US" altLang="zh-CN" sz="2400" dirty="0">
                <a:solidFill>
                  <a:srgbClr val="C00000"/>
                </a:solidFill>
                <a:latin typeface="微软雅黑" panose="020B0503020204020204" pitchFamily="34" charset="-122"/>
                <a:ea typeface="微软雅黑" panose="020B0503020204020204" pitchFamily="34" charset="-122"/>
              </a:rPr>
              <a:t>HDLC【</a:t>
            </a:r>
            <a:r>
              <a:rPr lang="zh-CN" altLang="en-US" sz="2400" dirty="0">
                <a:solidFill>
                  <a:srgbClr val="C00000"/>
                </a:solidFill>
                <a:latin typeface="微软雅黑" panose="020B0503020204020204" pitchFamily="34" charset="-122"/>
                <a:ea typeface="微软雅黑" panose="020B0503020204020204" pitchFamily="34" charset="-122"/>
              </a:rPr>
              <a:t>自学</a:t>
            </a:r>
            <a:r>
              <a:rPr lang="en-US" altLang="zh-CN" sz="2400" dirty="0">
                <a:solidFill>
                  <a:srgbClr val="C00000"/>
                </a:solidFill>
                <a:latin typeface="微软雅黑" panose="020B0503020204020204" pitchFamily="34" charset="-122"/>
                <a:ea typeface="微软雅黑" panose="020B0503020204020204" pitchFamily="34" charset="-122"/>
              </a:rPr>
              <a:t>】</a:t>
            </a:r>
          </a:p>
          <a:p>
            <a:pPr marL="457200" indent="-457200">
              <a:spcBef>
                <a:spcPts val="1200"/>
              </a:spcBef>
              <a:buFontTx/>
              <a:buAutoNum type="arabicPeriod"/>
            </a:pPr>
            <a:r>
              <a:rPr lang="zh-CN" altLang="en-US" sz="2400" dirty="0">
                <a:solidFill>
                  <a:schemeClr val="tx1"/>
                </a:solidFill>
                <a:latin typeface="微软雅黑" panose="020B0503020204020204" pitchFamily="34" charset="-122"/>
                <a:ea typeface="微软雅黑" panose="020B0503020204020204" pitchFamily="34" charset="-122"/>
              </a:rPr>
              <a:t>点到点链路层协议</a:t>
            </a:r>
            <a:r>
              <a:rPr lang="en-US" altLang="zh-CN" sz="2400" dirty="0">
                <a:solidFill>
                  <a:schemeClr val="tx1"/>
                </a:solidFill>
                <a:latin typeface="微软雅黑" panose="020B0503020204020204" pitchFamily="34" charset="-122"/>
                <a:ea typeface="微软雅黑" panose="020B0503020204020204" pitchFamily="34" charset="-122"/>
              </a:rPr>
              <a:t>PPP【</a:t>
            </a:r>
            <a:r>
              <a:rPr lang="zh-CN" altLang="en-US" sz="2400" dirty="0">
                <a:solidFill>
                  <a:schemeClr val="tx1"/>
                </a:solidFill>
                <a:latin typeface="微软雅黑" panose="020B0503020204020204" pitchFamily="34" charset="-122"/>
                <a:ea typeface="微软雅黑" panose="020B0503020204020204" pitchFamily="34" charset="-122"/>
              </a:rPr>
              <a:t>自学</a:t>
            </a:r>
            <a:r>
              <a:rPr lang="en-US" altLang="zh-CN" sz="2400" dirty="0">
                <a:solidFill>
                  <a:schemeClr val="tx1"/>
                </a:solidFill>
                <a:latin typeface="微软雅黑" panose="020B0503020204020204" pitchFamily="34" charset="-122"/>
                <a:ea typeface="微软雅黑" panose="020B0503020204020204" pitchFamily="34" charset="-122"/>
              </a:rPr>
              <a:t>】</a:t>
            </a:r>
          </a:p>
          <a:p>
            <a:pPr marL="457200" indent="-457200">
              <a:spcBef>
                <a:spcPts val="1200"/>
              </a:spcBef>
              <a:buFontTx/>
              <a:buAutoNum type="arabicPeriod"/>
            </a:pPr>
            <a:r>
              <a:rPr lang="en-US" altLang="zh-CN" sz="2400" dirty="0" err="1">
                <a:solidFill>
                  <a:schemeClr val="tx1"/>
                </a:solidFill>
                <a:latin typeface="微软雅黑" panose="020B0503020204020204" pitchFamily="34" charset="-122"/>
                <a:ea typeface="微软雅黑" panose="020B0503020204020204" pitchFamily="34" charset="-122"/>
              </a:rPr>
              <a:t>PPPoE</a:t>
            </a:r>
            <a:r>
              <a:rPr lang="en-US" altLang="zh-CN" sz="2400" dirty="0">
                <a:solidFill>
                  <a:schemeClr val="tx1"/>
                </a:solidFill>
                <a:latin typeface="微软雅黑" panose="020B0503020204020204" pitchFamily="34" charset="-122"/>
                <a:ea typeface="微软雅黑" panose="020B0503020204020204" pitchFamily="34" charset="-122"/>
              </a:rPr>
              <a:t> 【</a:t>
            </a:r>
            <a:r>
              <a:rPr lang="zh-CN" altLang="en-US" sz="2400" dirty="0">
                <a:solidFill>
                  <a:schemeClr val="tx1"/>
                </a:solidFill>
                <a:latin typeface="微软雅黑" panose="020B0503020204020204" pitchFamily="34" charset="-122"/>
                <a:ea typeface="微软雅黑" panose="020B0503020204020204" pitchFamily="34" charset="-122"/>
              </a:rPr>
              <a:t>自学</a:t>
            </a:r>
            <a:r>
              <a:rPr lang="en-US" altLang="zh-CN" sz="2400" dirty="0">
                <a:solidFill>
                  <a:schemeClr val="tx1"/>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2220059461"/>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Computer Network</a:t>
            </a:r>
          </a:p>
        </p:txBody>
      </p:sp>
      <p:sp>
        <p:nvSpPr>
          <p:cNvPr id="54275" name="灯片编号占位符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04A6AA0D-D78E-41DF-91D2-6F7DBF39F74C}" type="slidenum">
              <a:rPr lang="en-US" altLang="zh-CN" sz="1200">
                <a:latin typeface="Arial Black" panose="020B0A04020102020204" pitchFamily="34" charset="0"/>
              </a:rPr>
              <a:pPr>
                <a:spcBef>
                  <a:spcPct val="0"/>
                </a:spcBef>
                <a:buClrTx/>
                <a:buSzTx/>
                <a:buFontTx/>
                <a:buNone/>
              </a:pPr>
              <a:t>127</a:t>
            </a:fld>
            <a:endParaRPr lang="en-US" altLang="zh-CN" sz="1200">
              <a:latin typeface="Arial Black" panose="020B0A04020102020204" pitchFamily="34" charset="0"/>
            </a:endParaRPr>
          </a:p>
        </p:txBody>
      </p:sp>
      <p:sp>
        <p:nvSpPr>
          <p:cNvPr id="6" name="日期占位符 5"/>
          <p:cNvSpPr>
            <a:spLocks noGrp="1"/>
          </p:cNvSpPr>
          <p:nvPr>
            <p:ph type="dt" sz="quarter" idx="12"/>
          </p:nvPr>
        </p:nvSpPr>
        <p:spPr/>
        <p:txBody>
          <a:bodyPr/>
          <a:lstStyle/>
          <a:p>
            <a:pPr>
              <a:defRPr/>
            </a:pPr>
            <a:fld id="{49221D79-5BCD-44F0-91ED-25B3AC6E4289}" type="datetime1">
              <a:rPr lang="zh-CN" altLang="en-US"/>
              <a:pPr>
                <a:defRPr/>
              </a:pPr>
              <a:t>2024/10/18</a:t>
            </a:fld>
            <a:endParaRPr lang="en-US" altLang="zh-CN"/>
          </a:p>
        </p:txBody>
      </p:sp>
      <p:sp>
        <p:nvSpPr>
          <p:cNvPr id="872450" name="Rectangle 2"/>
          <p:cNvSpPr>
            <a:spLocks noGrp="1" noChangeArrowheads="1"/>
          </p:cNvSpPr>
          <p:nvPr>
            <p:ph type="title"/>
          </p:nvPr>
        </p:nvSpPr>
        <p:spPr>
          <a:xfrm>
            <a:off x="1456267" y="504695"/>
            <a:ext cx="8491802" cy="838200"/>
          </a:xfrm>
        </p:spPr>
        <p:txBody>
          <a:bodyPr>
            <a:normAutofit fontScale="90000"/>
          </a:bodyPr>
          <a:lstStyle/>
          <a:p>
            <a:pPr algn="ctr" eaLnBrk="1" hangingPunct="1">
              <a:defRPr/>
            </a:pPr>
            <a:r>
              <a:rPr lang="zh-CN" altLang="en-US" b="1" dirty="0">
                <a:solidFill>
                  <a:srgbClr val="FF0000"/>
                </a:solidFill>
                <a:latin typeface="Georgia" panose="02040502050405020303" pitchFamily="18" charset="0"/>
              </a:rPr>
              <a:t>高级数据链路控制规程</a:t>
            </a:r>
            <a:r>
              <a:rPr lang="en-US" altLang="zh-CN" dirty="0">
                <a:solidFill>
                  <a:srgbClr val="FF0000"/>
                </a:solidFill>
                <a:latin typeface="Georgia" panose="02040502050405020303" pitchFamily="18" charset="0"/>
              </a:rPr>
              <a:t>HDLC</a:t>
            </a:r>
            <a:r>
              <a:rPr lang="zh-CN" altLang="en-US" b="1" dirty="0">
                <a:solidFill>
                  <a:srgbClr val="FF0000"/>
                </a:solidFill>
              </a:rPr>
              <a:t> （扩展阅读）</a:t>
            </a:r>
            <a:endParaRPr lang="en-US" altLang="zh-CN" dirty="0">
              <a:solidFill>
                <a:srgbClr val="FF0000"/>
              </a:solidFill>
              <a:latin typeface="Georgia" panose="02040502050405020303" pitchFamily="18" charset="0"/>
            </a:endParaRPr>
          </a:p>
        </p:txBody>
      </p:sp>
      <p:sp>
        <p:nvSpPr>
          <p:cNvPr id="872451" name="Rectangle 3"/>
          <p:cNvSpPr>
            <a:spLocks noGrp="1" noChangeArrowheads="1"/>
          </p:cNvSpPr>
          <p:nvPr>
            <p:ph type="body" idx="1"/>
          </p:nvPr>
        </p:nvSpPr>
        <p:spPr>
          <a:xfrm>
            <a:off x="1911351" y="1412876"/>
            <a:ext cx="8194675" cy="4983163"/>
          </a:xfrm>
        </p:spPr>
        <p:txBody>
          <a:bodyPr/>
          <a:lstStyle/>
          <a:p>
            <a:pPr eaLnBrk="1" hangingPunct="1">
              <a:lnSpc>
                <a:spcPct val="120000"/>
              </a:lnSpc>
              <a:buFont typeface="Wingdings" panose="05000000000000000000" pitchFamily="2" charset="2"/>
              <a:buNone/>
              <a:defRPr/>
            </a:pPr>
            <a:r>
              <a:rPr lang="zh-CN" altLang="en-US" dirty="0">
                <a:solidFill>
                  <a:srgbClr val="0000FF"/>
                </a:solidFill>
                <a:effectLst>
                  <a:outerShdw blurRad="38100" dist="38100" dir="2700000" algn="tl">
                    <a:srgbClr val="C0C0C0"/>
                  </a:outerShdw>
                </a:effectLst>
                <a:latin typeface="Verdana" pitchFamily="34" charset="0"/>
                <a:ea typeface="楷体_GB2312" pitchFamily="49" charset="-122"/>
              </a:rPr>
              <a:t>一、系列协议</a:t>
            </a:r>
          </a:p>
          <a:p>
            <a:pPr marL="0" indent="0" eaLnBrk="1" hangingPunct="1">
              <a:lnSpc>
                <a:spcPct val="120000"/>
              </a:lnSpc>
              <a:buSzPct val="90000"/>
              <a:buNone/>
              <a:defRPr/>
            </a:pPr>
            <a:r>
              <a:rPr lang="en-US" altLang="zh-CN" sz="2800" dirty="0">
                <a:solidFill>
                  <a:srgbClr val="0000FF"/>
                </a:solidFill>
                <a:latin typeface="Verdana" pitchFamily="34" charset="0"/>
                <a:ea typeface="楷体_GB2312" pitchFamily="49" charset="-122"/>
              </a:rPr>
              <a:t>  1. </a:t>
            </a:r>
            <a:r>
              <a:rPr lang="zh-CN" altLang="en-US" sz="2800" b="1" dirty="0">
                <a:solidFill>
                  <a:srgbClr val="0000FF"/>
                </a:solidFill>
                <a:latin typeface="Verdana" pitchFamily="34" charset="0"/>
                <a:ea typeface="楷体_GB2312" pitchFamily="49" charset="-122"/>
              </a:rPr>
              <a:t>面向字符的链路控制规程</a:t>
            </a:r>
            <a:r>
              <a:rPr lang="en-US" altLang="zh-CN" sz="2400" dirty="0">
                <a:latin typeface="Verdana" pitchFamily="34" charset="0"/>
                <a:ea typeface="楷体_GB2312" pitchFamily="49" charset="-122"/>
              </a:rPr>
              <a:t>(</a:t>
            </a:r>
            <a:r>
              <a:rPr lang="zh-CN" altLang="en-US" sz="2400" dirty="0">
                <a:latin typeface="Verdana" pitchFamily="34" charset="0"/>
                <a:ea typeface="楷体_GB2312" pitchFamily="49" charset="-122"/>
              </a:rPr>
              <a:t>连路上传送的数据信息和控制信息必须使规定的字符集，如</a:t>
            </a:r>
            <a:r>
              <a:rPr lang="en-US" altLang="zh-CN" sz="2400" dirty="0">
                <a:latin typeface="Verdana" pitchFamily="34" charset="0"/>
                <a:ea typeface="楷体_GB2312" pitchFamily="49" charset="-122"/>
              </a:rPr>
              <a:t>ASCII)</a:t>
            </a:r>
            <a:r>
              <a:rPr lang="zh-CN" altLang="en-US" sz="2400" dirty="0">
                <a:latin typeface="Verdana" pitchFamily="34" charset="0"/>
                <a:ea typeface="楷体_GB2312" pitchFamily="49" charset="-122"/>
              </a:rPr>
              <a:t>，典型的有：</a:t>
            </a:r>
          </a:p>
          <a:p>
            <a:pPr lvl="1" eaLnBrk="1" hangingPunct="1">
              <a:lnSpc>
                <a:spcPct val="120000"/>
              </a:lnSpc>
              <a:buClr>
                <a:schemeClr val="bg2"/>
              </a:buClr>
              <a:buFont typeface="Wingdings" panose="05000000000000000000" pitchFamily="2" charset="2"/>
              <a:buChar char="Ø"/>
              <a:defRPr/>
            </a:pPr>
            <a:r>
              <a:rPr lang="en-US" altLang="zh-CN" sz="2400" dirty="0">
                <a:latin typeface="Verdana" pitchFamily="34" charset="0"/>
                <a:ea typeface="楷体_GB2312" pitchFamily="49" charset="-122"/>
              </a:rPr>
              <a:t>APANET</a:t>
            </a:r>
            <a:r>
              <a:rPr lang="zh-CN" altLang="en-US" sz="2400" dirty="0">
                <a:latin typeface="Verdana" pitchFamily="34" charset="0"/>
                <a:ea typeface="楷体_GB2312" pitchFamily="49" charset="-122"/>
              </a:rPr>
              <a:t>的</a:t>
            </a:r>
            <a:r>
              <a:rPr lang="en-US" altLang="zh-CN" sz="2400" dirty="0">
                <a:latin typeface="Verdana" pitchFamily="34" charset="0"/>
                <a:ea typeface="楷体_GB2312" pitchFamily="49" charset="-122"/>
              </a:rPr>
              <a:t>IMP–IMP</a:t>
            </a:r>
            <a:r>
              <a:rPr lang="zh-CN" altLang="en-US" sz="2400" dirty="0">
                <a:latin typeface="Verdana" pitchFamily="34" charset="0"/>
                <a:ea typeface="楷体_GB2312" pitchFamily="49" charset="-122"/>
              </a:rPr>
              <a:t>协议；</a:t>
            </a:r>
          </a:p>
          <a:p>
            <a:pPr lvl="1" eaLnBrk="1" hangingPunct="1">
              <a:lnSpc>
                <a:spcPct val="120000"/>
              </a:lnSpc>
              <a:buClr>
                <a:schemeClr val="bg2"/>
              </a:buClr>
              <a:buFont typeface="Wingdings" panose="05000000000000000000" pitchFamily="2" charset="2"/>
              <a:buChar char="Ø"/>
              <a:defRPr/>
            </a:pPr>
            <a:r>
              <a:rPr lang="en-US" altLang="zh-CN" sz="2400" dirty="0">
                <a:solidFill>
                  <a:schemeClr val="tx2"/>
                </a:solidFill>
                <a:latin typeface="Verdana" pitchFamily="34" charset="0"/>
                <a:ea typeface="楷体_GB2312" pitchFamily="49" charset="-122"/>
              </a:rPr>
              <a:t>IBM</a:t>
            </a:r>
            <a:r>
              <a:rPr lang="zh-CN" altLang="en-US" sz="2400" dirty="0">
                <a:solidFill>
                  <a:schemeClr val="tx2"/>
                </a:solidFill>
                <a:latin typeface="Verdana" pitchFamily="34" charset="0"/>
                <a:ea typeface="楷体_GB2312" pitchFamily="49" charset="-122"/>
              </a:rPr>
              <a:t>的</a:t>
            </a:r>
            <a:r>
              <a:rPr lang="en-US" altLang="zh-CN" sz="2400" dirty="0">
                <a:solidFill>
                  <a:schemeClr val="tx2"/>
                </a:solidFill>
                <a:latin typeface="Verdana" pitchFamily="34" charset="0"/>
                <a:ea typeface="楷体_GB2312" pitchFamily="49" charset="-122"/>
              </a:rPr>
              <a:t>BSC</a:t>
            </a:r>
            <a:r>
              <a:rPr lang="zh-CN" altLang="en-US" sz="2400" dirty="0">
                <a:solidFill>
                  <a:schemeClr val="tx2"/>
                </a:solidFill>
                <a:latin typeface="Verdana" pitchFamily="34" charset="0"/>
                <a:ea typeface="楷体_GB2312" pitchFamily="49" charset="-122"/>
              </a:rPr>
              <a:t>规程</a:t>
            </a:r>
            <a:r>
              <a:rPr lang="en-US" altLang="zh-CN" sz="2000" dirty="0">
                <a:solidFill>
                  <a:schemeClr val="tx2"/>
                </a:solidFill>
                <a:latin typeface="Verdana" pitchFamily="34" charset="0"/>
                <a:ea typeface="楷体_GB2312" pitchFamily="49" charset="-122"/>
              </a:rPr>
              <a:t>(Binary Synchronous Communication)</a:t>
            </a:r>
            <a:r>
              <a:rPr lang="zh-CN" altLang="en-US" sz="2000" dirty="0">
                <a:solidFill>
                  <a:schemeClr val="tx2"/>
                </a:solidFill>
                <a:latin typeface="Verdana" pitchFamily="34" charset="0"/>
                <a:ea typeface="楷体_GB2312" pitchFamily="49" charset="-122"/>
              </a:rPr>
              <a:t>；</a:t>
            </a:r>
          </a:p>
          <a:p>
            <a:pPr lvl="1" eaLnBrk="1" hangingPunct="1">
              <a:lnSpc>
                <a:spcPct val="120000"/>
              </a:lnSpc>
              <a:buFont typeface="Wingdings" panose="05000000000000000000" pitchFamily="2" charset="2"/>
              <a:buNone/>
              <a:defRPr/>
            </a:pPr>
            <a:r>
              <a:rPr lang="zh-CN" altLang="en-US" sz="2400" b="1" dirty="0">
                <a:solidFill>
                  <a:srgbClr val="0000FF"/>
                </a:solidFill>
                <a:latin typeface="Verdana" pitchFamily="34" charset="0"/>
                <a:ea typeface="楷体_GB2312" pitchFamily="49" charset="-122"/>
              </a:rPr>
              <a:t>缺点</a:t>
            </a:r>
            <a:r>
              <a:rPr lang="zh-CN" altLang="en-US" sz="2400" dirty="0">
                <a:solidFill>
                  <a:schemeClr val="tx2"/>
                </a:solidFill>
                <a:latin typeface="Verdana" pitchFamily="34" charset="0"/>
                <a:ea typeface="楷体_GB2312" pitchFamily="49" charset="-122"/>
              </a:rPr>
              <a:t>：</a:t>
            </a:r>
            <a:r>
              <a:rPr lang="en-US" altLang="zh-CN" sz="2400" dirty="0">
                <a:solidFill>
                  <a:schemeClr val="tx2"/>
                </a:solidFill>
                <a:latin typeface="Verdana" pitchFamily="34" charset="0"/>
                <a:ea typeface="楷体_GB2312" pitchFamily="49" charset="-122"/>
              </a:rPr>
              <a:t>1) </a:t>
            </a:r>
            <a:r>
              <a:rPr lang="zh-CN" altLang="en-US" sz="2400" dirty="0">
                <a:solidFill>
                  <a:schemeClr val="tx2"/>
                </a:solidFill>
                <a:latin typeface="Verdana" pitchFamily="34" charset="0"/>
                <a:ea typeface="楷体_GB2312" pitchFamily="49" charset="-122"/>
              </a:rPr>
              <a:t>采用停等协议，线路利用率低；</a:t>
            </a:r>
          </a:p>
          <a:p>
            <a:pPr lvl="1" eaLnBrk="1" hangingPunct="1">
              <a:lnSpc>
                <a:spcPct val="120000"/>
              </a:lnSpc>
              <a:buFont typeface="Wingdings" panose="05000000000000000000" pitchFamily="2" charset="2"/>
              <a:buNone/>
              <a:defRPr/>
            </a:pPr>
            <a:r>
              <a:rPr lang="en-US" altLang="zh-CN" sz="2400" dirty="0">
                <a:solidFill>
                  <a:schemeClr val="tx2"/>
                </a:solidFill>
                <a:latin typeface="Verdana" pitchFamily="34" charset="0"/>
                <a:ea typeface="楷体_GB2312" pitchFamily="49" charset="-122"/>
              </a:rPr>
              <a:t>        2) </a:t>
            </a:r>
            <a:r>
              <a:rPr lang="zh-CN" altLang="en-US" sz="2400" dirty="0">
                <a:solidFill>
                  <a:schemeClr val="tx2"/>
                </a:solidFill>
                <a:latin typeface="Verdana" pitchFamily="34" charset="0"/>
                <a:ea typeface="楷体_GB2312" pitchFamily="49" charset="-122"/>
              </a:rPr>
              <a:t>所有通信设备必须使用相同的字符代码；</a:t>
            </a:r>
          </a:p>
          <a:p>
            <a:pPr lvl="1" eaLnBrk="1" hangingPunct="1">
              <a:lnSpc>
                <a:spcPct val="120000"/>
              </a:lnSpc>
              <a:buFont typeface="Wingdings" panose="05000000000000000000" pitchFamily="2" charset="2"/>
              <a:buNone/>
              <a:defRPr/>
            </a:pPr>
            <a:r>
              <a:rPr lang="en-US" altLang="zh-CN" sz="2400" dirty="0">
                <a:solidFill>
                  <a:schemeClr val="tx2"/>
                </a:solidFill>
                <a:latin typeface="Verdana" pitchFamily="34" charset="0"/>
                <a:ea typeface="楷体_GB2312" pitchFamily="49" charset="-122"/>
              </a:rPr>
              <a:t>        3) </a:t>
            </a:r>
            <a:r>
              <a:rPr lang="zh-CN" altLang="en-US" sz="2400" dirty="0">
                <a:solidFill>
                  <a:schemeClr val="tx2"/>
                </a:solidFill>
                <a:latin typeface="Verdana" pitchFamily="34" charset="0"/>
                <a:ea typeface="楷体_GB2312" pitchFamily="49" charset="-122"/>
              </a:rPr>
              <a:t>只对数据部分进行差错控制；</a:t>
            </a:r>
          </a:p>
          <a:p>
            <a:pPr lvl="1" eaLnBrk="1" hangingPunct="1">
              <a:lnSpc>
                <a:spcPct val="120000"/>
              </a:lnSpc>
              <a:buFont typeface="Wingdings" panose="05000000000000000000" pitchFamily="2" charset="2"/>
              <a:buNone/>
              <a:defRPr/>
            </a:pPr>
            <a:r>
              <a:rPr lang="en-US" altLang="zh-CN" sz="2400" dirty="0">
                <a:solidFill>
                  <a:schemeClr val="tx2"/>
                </a:solidFill>
                <a:latin typeface="Verdana" pitchFamily="34" charset="0"/>
                <a:ea typeface="楷体_GB2312" pitchFamily="49" charset="-122"/>
              </a:rPr>
              <a:t>        4) </a:t>
            </a:r>
            <a:r>
              <a:rPr lang="zh-CN" altLang="en-US" sz="2400" dirty="0">
                <a:solidFill>
                  <a:schemeClr val="tx2"/>
                </a:solidFill>
                <a:latin typeface="Verdana" pitchFamily="34" charset="0"/>
                <a:ea typeface="楷体_GB2312" pitchFamily="49" charset="-122"/>
              </a:rPr>
              <a:t>不宜扩展，增加功能需增加新的控制字符。</a:t>
            </a:r>
          </a:p>
        </p:txBody>
      </p:sp>
    </p:spTree>
  </p:cSld>
  <p:clrMapOvr>
    <a:masterClrMapping/>
  </p:clrMapOvr>
  <p:transition>
    <p:random/>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Computer Network</a:t>
            </a:r>
          </a:p>
        </p:txBody>
      </p:sp>
      <p:sp>
        <p:nvSpPr>
          <p:cNvPr id="55299" name="灯片编号占位符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F7002603-F8E3-4071-84E7-B1F505559321}" type="slidenum">
              <a:rPr lang="en-US" altLang="zh-CN" sz="1200">
                <a:latin typeface="Arial Black" panose="020B0A04020102020204" pitchFamily="34" charset="0"/>
              </a:rPr>
              <a:pPr>
                <a:spcBef>
                  <a:spcPct val="0"/>
                </a:spcBef>
                <a:buClrTx/>
                <a:buSzTx/>
                <a:buFontTx/>
                <a:buNone/>
              </a:pPr>
              <a:t>128</a:t>
            </a:fld>
            <a:endParaRPr lang="en-US" altLang="zh-CN" sz="1200">
              <a:latin typeface="Arial Black" panose="020B0A04020102020204" pitchFamily="34" charset="0"/>
            </a:endParaRPr>
          </a:p>
        </p:txBody>
      </p:sp>
      <p:sp>
        <p:nvSpPr>
          <p:cNvPr id="6" name="日期占位符 5"/>
          <p:cNvSpPr>
            <a:spLocks noGrp="1"/>
          </p:cNvSpPr>
          <p:nvPr>
            <p:ph type="dt" sz="quarter" idx="12"/>
          </p:nvPr>
        </p:nvSpPr>
        <p:spPr/>
        <p:txBody>
          <a:bodyPr/>
          <a:lstStyle/>
          <a:p>
            <a:pPr>
              <a:defRPr/>
            </a:pPr>
            <a:fld id="{AAF8AE28-B973-420A-809A-41BF7B51716D}" type="datetime1">
              <a:rPr lang="zh-CN" altLang="en-US"/>
              <a:pPr>
                <a:defRPr/>
              </a:pPr>
              <a:t>2024/10/18</a:t>
            </a:fld>
            <a:endParaRPr lang="en-US" altLang="zh-CN"/>
          </a:p>
        </p:txBody>
      </p:sp>
      <p:sp>
        <p:nvSpPr>
          <p:cNvPr id="873474" name="Rectangle 2"/>
          <p:cNvSpPr>
            <a:spLocks noGrp="1" noChangeArrowheads="1"/>
          </p:cNvSpPr>
          <p:nvPr>
            <p:ph type="title"/>
          </p:nvPr>
        </p:nvSpPr>
        <p:spPr>
          <a:xfrm>
            <a:off x="2351088" y="838200"/>
            <a:ext cx="7421562" cy="495300"/>
          </a:xfrm>
        </p:spPr>
        <p:txBody>
          <a:bodyPr/>
          <a:lstStyle/>
          <a:p>
            <a:pPr eaLnBrk="1" hangingPunct="1">
              <a:buSzPct val="40000"/>
              <a:defRPr/>
            </a:pPr>
            <a:r>
              <a:rPr lang="en-US" altLang="zh-CN" sz="2800" dirty="0">
                <a:solidFill>
                  <a:srgbClr val="0000FF"/>
                </a:solidFill>
              </a:rPr>
              <a:t>2. </a:t>
            </a:r>
            <a:r>
              <a:rPr lang="zh-CN" altLang="en-US" sz="2800" b="1" dirty="0">
                <a:solidFill>
                  <a:srgbClr val="0000FF"/>
                </a:solidFill>
              </a:rPr>
              <a:t>面向比特的链路控制规程</a:t>
            </a:r>
          </a:p>
        </p:txBody>
      </p:sp>
      <p:sp>
        <p:nvSpPr>
          <p:cNvPr id="873475" name="Rectangle 3"/>
          <p:cNvSpPr>
            <a:spLocks noGrp="1" noChangeArrowheads="1"/>
          </p:cNvSpPr>
          <p:nvPr>
            <p:ph type="body" idx="1"/>
          </p:nvPr>
        </p:nvSpPr>
        <p:spPr>
          <a:xfrm>
            <a:off x="1703512" y="1556793"/>
            <a:ext cx="8568952" cy="4200525"/>
          </a:xfrm>
        </p:spPr>
        <p:txBody>
          <a:bodyPr>
            <a:normAutofit lnSpcReduction="10000"/>
          </a:bodyPr>
          <a:lstStyle/>
          <a:p>
            <a:pPr marL="625475" lvl="1" indent="-354013" eaLnBrk="1" hangingPunct="1">
              <a:lnSpc>
                <a:spcPct val="120000"/>
              </a:lnSpc>
              <a:buClr>
                <a:schemeClr val="tx1"/>
              </a:buClr>
              <a:buFont typeface="Wingdings" panose="05000000000000000000" pitchFamily="2" charset="2"/>
              <a:buChar char="Ø"/>
              <a:defRPr/>
            </a:pPr>
            <a:r>
              <a:rPr lang="en-US" altLang="zh-CN" sz="2400" dirty="0">
                <a:solidFill>
                  <a:srgbClr val="0000FF"/>
                </a:solidFill>
                <a:latin typeface="Verdana" pitchFamily="34" charset="0"/>
                <a:ea typeface="楷体_GB2312" pitchFamily="49" charset="-122"/>
              </a:rPr>
              <a:t>SDLC</a:t>
            </a:r>
            <a:r>
              <a:rPr lang="zh-CN" altLang="en-US" sz="2400" dirty="0">
                <a:latin typeface="Verdana" pitchFamily="34" charset="0"/>
                <a:ea typeface="楷体_GB2312" pitchFamily="49" charset="-122"/>
              </a:rPr>
              <a:t>协议：</a:t>
            </a:r>
            <a:r>
              <a:rPr lang="en-US" altLang="zh-CN" sz="2400" dirty="0">
                <a:latin typeface="Verdana" pitchFamily="34" charset="0"/>
                <a:ea typeface="楷体_GB2312" pitchFamily="49" charset="-122"/>
              </a:rPr>
              <a:t>IBM SNA</a:t>
            </a:r>
            <a:r>
              <a:rPr lang="zh-CN" altLang="en-US" sz="2400" dirty="0">
                <a:latin typeface="Verdana" pitchFamily="34" charset="0"/>
                <a:ea typeface="楷体_GB2312" pitchFamily="49" charset="-122"/>
              </a:rPr>
              <a:t>体系结构的数据链路层协议。</a:t>
            </a:r>
          </a:p>
          <a:p>
            <a:pPr marL="625475" lvl="1" indent="-354013" eaLnBrk="1" hangingPunct="1">
              <a:lnSpc>
                <a:spcPct val="120000"/>
              </a:lnSpc>
              <a:buClr>
                <a:schemeClr val="tx1"/>
              </a:buClr>
              <a:buFont typeface="Wingdings" panose="05000000000000000000" pitchFamily="2" charset="2"/>
              <a:buChar char="Ø"/>
              <a:defRPr/>
            </a:pPr>
            <a:r>
              <a:rPr lang="en-US" altLang="zh-CN" sz="2400" dirty="0">
                <a:solidFill>
                  <a:schemeClr val="hlink"/>
                </a:solidFill>
                <a:latin typeface="Verdana" pitchFamily="34" charset="0"/>
                <a:ea typeface="楷体_GB2312" pitchFamily="49" charset="-122"/>
              </a:rPr>
              <a:t>HDLC</a:t>
            </a:r>
            <a:r>
              <a:rPr lang="en-US" altLang="zh-CN" sz="2400" dirty="0">
                <a:latin typeface="Verdana" pitchFamily="34" charset="0"/>
                <a:ea typeface="楷体_GB2312" pitchFamily="49" charset="-122"/>
              </a:rPr>
              <a:t>(High-level Data Link Control)</a:t>
            </a:r>
            <a:r>
              <a:rPr lang="zh-CN" altLang="en-US" sz="2400" dirty="0">
                <a:latin typeface="Verdana" pitchFamily="34" charset="0"/>
                <a:ea typeface="楷体_GB2312" pitchFamily="49" charset="-122"/>
              </a:rPr>
              <a:t>协议：</a:t>
            </a:r>
            <a:r>
              <a:rPr lang="en-US" altLang="zh-CN" sz="2400" dirty="0">
                <a:solidFill>
                  <a:schemeClr val="hlink"/>
                </a:solidFill>
                <a:effectLst>
                  <a:outerShdw blurRad="38100" dist="38100" dir="2700000" algn="tl">
                    <a:srgbClr val="C0C0C0"/>
                  </a:outerShdw>
                </a:effectLst>
                <a:latin typeface="Verdana" pitchFamily="34" charset="0"/>
                <a:ea typeface="楷体_GB2312" pitchFamily="49" charset="-122"/>
              </a:rPr>
              <a:t>ISO</a:t>
            </a:r>
            <a:r>
              <a:rPr lang="zh-CN" altLang="en-US" sz="2400" dirty="0">
                <a:solidFill>
                  <a:schemeClr val="hlink"/>
                </a:solidFill>
                <a:effectLst>
                  <a:outerShdw blurRad="38100" dist="38100" dir="2700000" algn="tl">
                    <a:srgbClr val="C0C0C0"/>
                  </a:outerShdw>
                </a:effectLst>
                <a:latin typeface="Verdana" pitchFamily="34" charset="0"/>
                <a:ea typeface="楷体_GB2312" pitchFamily="49" charset="-122"/>
              </a:rPr>
              <a:t>协议</a:t>
            </a:r>
            <a:r>
              <a:rPr lang="zh-CN" altLang="en-US" sz="2400" dirty="0">
                <a:latin typeface="Verdana" pitchFamily="34" charset="0"/>
                <a:ea typeface="楷体_GB2312" pitchFamily="49" charset="-122"/>
              </a:rPr>
              <a:t>。 </a:t>
            </a:r>
            <a:r>
              <a:rPr lang="en-US" altLang="zh-CN" sz="2400" dirty="0">
                <a:latin typeface="Verdana" pitchFamily="34" charset="0"/>
                <a:ea typeface="楷体_GB2312" pitchFamily="49" charset="-122"/>
              </a:rPr>
              <a:t>SDLC</a:t>
            </a:r>
            <a:r>
              <a:rPr lang="zh-CN" altLang="en-US" sz="2400" dirty="0">
                <a:latin typeface="Verdana" pitchFamily="34" charset="0"/>
                <a:ea typeface="楷体_GB2312" pitchFamily="49" charset="-122"/>
              </a:rPr>
              <a:t>协议稍加修改，</a:t>
            </a:r>
          </a:p>
          <a:p>
            <a:pPr marL="625475" lvl="1" indent="-354013" eaLnBrk="1" hangingPunct="1">
              <a:lnSpc>
                <a:spcPct val="120000"/>
              </a:lnSpc>
              <a:buClr>
                <a:schemeClr val="tx1"/>
              </a:buClr>
              <a:buFont typeface="Wingdings" panose="05000000000000000000" pitchFamily="2" charset="2"/>
              <a:buChar char="Ø"/>
              <a:defRPr/>
            </a:pPr>
            <a:r>
              <a:rPr lang="en-US" altLang="zh-CN" sz="2400" dirty="0">
                <a:solidFill>
                  <a:srgbClr val="0000FF"/>
                </a:solidFill>
                <a:latin typeface="Verdana" pitchFamily="34" charset="0"/>
                <a:ea typeface="楷体_GB2312" pitchFamily="49" charset="-122"/>
              </a:rPr>
              <a:t>LAP </a:t>
            </a:r>
            <a:r>
              <a:rPr lang="en-US" altLang="zh-CN" sz="2400" dirty="0">
                <a:latin typeface="Verdana" pitchFamily="34" charset="0"/>
                <a:ea typeface="楷体_GB2312" pitchFamily="49" charset="-122"/>
              </a:rPr>
              <a:t>(Link Access Procedure)</a:t>
            </a:r>
            <a:r>
              <a:rPr lang="zh-CN" altLang="en-US" sz="2400" dirty="0">
                <a:latin typeface="Verdana" pitchFamily="34" charset="0"/>
                <a:ea typeface="楷体_GB2312" pitchFamily="49" charset="-122"/>
              </a:rPr>
              <a:t>：</a:t>
            </a:r>
            <a:r>
              <a:rPr lang="en-US" altLang="zh-CN" sz="2400" dirty="0">
                <a:latin typeface="Verdana" pitchFamily="34" charset="0"/>
                <a:ea typeface="楷体_GB2312" pitchFamily="49" charset="-122"/>
              </a:rPr>
              <a:t>CCITT</a:t>
            </a:r>
            <a:r>
              <a:rPr lang="zh-CN" altLang="en-US" sz="2400" dirty="0">
                <a:latin typeface="Verdana" pitchFamily="34" charset="0"/>
                <a:ea typeface="楷体_GB2312" pitchFamily="49" charset="-122"/>
              </a:rPr>
              <a:t>将</a:t>
            </a:r>
            <a:r>
              <a:rPr lang="en-US" altLang="zh-CN" sz="2400" dirty="0">
                <a:latin typeface="Verdana" pitchFamily="34" charset="0"/>
                <a:ea typeface="楷体_GB2312" pitchFamily="49" charset="-122"/>
              </a:rPr>
              <a:t>HDLC</a:t>
            </a:r>
            <a:r>
              <a:rPr lang="zh-CN" altLang="en-US" sz="2400" dirty="0">
                <a:latin typeface="Verdana" pitchFamily="34" charset="0"/>
                <a:ea typeface="楷体_GB2312" pitchFamily="49" charset="-122"/>
              </a:rPr>
              <a:t>修改后称</a:t>
            </a:r>
            <a:r>
              <a:rPr lang="zh-CN" altLang="en-US" sz="2400" b="1" dirty="0">
                <a:solidFill>
                  <a:srgbClr val="0000FF"/>
                </a:solidFill>
                <a:latin typeface="Verdana" pitchFamily="34" charset="0"/>
                <a:ea typeface="楷体_GB2312" pitchFamily="49" charset="-122"/>
              </a:rPr>
              <a:t>链路接入规程</a:t>
            </a:r>
            <a:r>
              <a:rPr lang="en-US" altLang="zh-CN" sz="2400" dirty="0">
                <a:latin typeface="Verdana" pitchFamily="34" charset="0"/>
                <a:ea typeface="楷体_GB2312" pitchFamily="49" charset="-122"/>
              </a:rPr>
              <a:t>LAP</a:t>
            </a:r>
            <a:r>
              <a:rPr lang="zh-CN" altLang="en-US" sz="2400" dirty="0">
                <a:latin typeface="Verdana" pitchFamily="34" charset="0"/>
                <a:ea typeface="楷体_GB2312" pitchFamily="49" charset="-122"/>
              </a:rPr>
              <a:t>。</a:t>
            </a:r>
            <a:endParaRPr lang="zh-CN" altLang="en-US" sz="2400" dirty="0">
              <a:solidFill>
                <a:schemeClr val="folHlink"/>
              </a:solidFill>
              <a:latin typeface="Verdana" pitchFamily="34" charset="0"/>
              <a:ea typeface="楷体_GB2312" pitchFamily="49" charset="-122"/>
            </a:endParaRPr>
          </a:p>
          <a:p>
            <a:pPr marL="625475" lvl="1" indent="-354013" eaLnBrk="1" hangingPunct="1">
              <a:lnSpc>
                <a:spcPct val="120000"/>
              </a:lnSpc>
              <a:buClr>
                <a:schemeClr val="tx1"/>
              </a:buClr>
              <a:buFont typeface="Wingdings" panose="05000000000000000000" pitchFamily="2" charset="2"/>
              <a:buChar char="Ø"/>
              <a:defRPr/>
            </a:pPr>
            <a:r>
              <a:rPr lang="en-US" altLang="zh-CN" sz="2400" dirty="0">
                <a:solidFill>
                  <a:srgbClr val="0000FF"/>
                </a:solidFill>
                <a:latin typeface="Verdana" pitchFamily="34" charset="0"/>
                <a:ea typeface="楷体_GB2312" pitchFamily="49" charset="-122"/>
              </a:rPr>
              <a:t>LAPB</a:t>
            </a:r>
            <a:r>
              <a:rPr lang="zh-CN" altLang="en-US" sz="2400" dirty="0">
                <a:latin typeface="Verdana" pitchFamily="34" charset="0"/>
                <a:ea typeface="楷体_GB2312" pitchFamily="49" charset="-122"/>
              </a:rPr>
              <a:t>协议：</a:t>
            </a:r>
            <a:r>
              <a:rPr lang="en-US" altLang="zh-CN" sz="2400" dirty="0">
                <a:latin typeface="Verdana" pitchFamily="34" charset="0"/>
                <a:ea typeface="楷体_GB2312" pitchFamily="49" charset="-122"/>
              </a:rPr>
              <a:t>HDLC</a:t>
            </a:r>
            <a:r>
              <a:rPr lang="zh-CN" altLang="en-US" sz="2400" dirty="0">
                <a:latin typeface="Verdana" pitchFamily="34" charset="0"/>
                <a:ea typeface="楷体_GB2312" pitchFamily="49" charset="-122"/>
              </a:rPr>
              <a:t>的新版本把</a:t>
            </a:r>
            <a:r>
              <a:rPr lang="en-US" altLang="zh-CN" sz="2400" dirty="0">
                <a:latin typeface="Verdana" pitchFamily="34" charset="0"/>
                <a:ea typeface="楷体_GB2312" pitchFamily="49" charset="-122"/>
              </a:rPr>
              <a:t>LAP</a:t>
            </a:r>
            <a:r>
              <a:rPr lang="zh-CN" altLang="en-US" sz="2400" dirty="0">
                <a:latin typeface="Verdana" pitchFamily="34" charset="0"/>
                <a:ea typeface="楷体_GB2312" pitchFamily="49" charset="-122"/>
              </a:rPr>
              <a:t>修改为</a:t>
            </a:r>
            <a:r>
              <a:rPr lang="en-US" altLang="zh-CN" sz="2400" dirty="0">
                <a:latin typeface="Verdana" pitchFamily="34" charset="0"/>
                <a:ea typeface="楷体_GB2312" pitchFamily="49" charset="-122"/>
              </a:rPr>
              <a:t>LAPB</a:t>
            </a:r>
            <a:r>
              <a:rPr lang="zh-CN" altLang="en-US" sz="2400" dirty="0">
                <a:latin typeface="Verdana" pitchFamily="34" charset="0"/>
                <a:ea typeface="楷体_GB2312" pitchFamily="49" charset="-122"/>
              </a:rPr>
              <a:t>，</a:t>
            </a:r>
            <a:r>
              <a:rPr lang="en-US" altLang="zh-CN" sz="2400" dirty="0">
                <a:latin typeface="Verdana" pitchFamily="34" charset="0"/>
                <a:ea typeface="楷体_GB2312" pitchFamily="49" charset="-122"/>
              </a:rPr>
              <a:t>“B”</a:t>
            </a:r>
            <a:r>
              <a:rPr lang="zh-CN" altLang="en-US" sz="2400" dirty="0">
                <a:latin typeface="Verdana" pitchFamily="34" charset="0"/>
                <a:ea typeface="楷体_GB2312" pitchFamily="49" charset="-122"/>
              </a:rPr>
              <a:t>表示</a:t>
            </a:r>
            <a:r>
              <a:rPr lang="zh-CN" altLang="en-US" sz="2400" b="1" dirty="0">
                <a:solidFill>
                  <a:srgbClr val="0000FF"/>
                </a:solidFill>
                <a:latin typeface="Verdana" pitchFamily="34" charset="0"/>
                <a:ea typeface="楷体_GB2312" pitchFamily="49" charset="-122"/>
              </a:rPr>
              <a:t>平衡型</a:t>
            </a:r>
            <a:r>
              <a:rPr lang="en-US" altLang="zh-CN" sz="2400" dirty="0">
                <a:latin typeface="Verdana" pitchFamily="34" charset="0"/>
                <a:ea typeface="楷体_GB2312" pitchFamily="49" charset="-122"/>
              </a:rPr>
              <a:t>(Balanced)</a:t>
            </a:r>
            <a:r>
              <a:rPr lang="zh-CN" altLang="en-US" sz="2400" dirty="0">
                <a:latin typeface="Verdana" pitchFamily="34" charset="0"/>
                <a:ea typeface="楷体_GB2312" pitchFamily="49" charset="-122"/>
              </a:rPr>
              <a:t>。</a:t>
            </a:r>
            <a:endParaRPr lang="en-US" altLang="zh-CN" sz="2400" dirty="0">
              <a:latin typeface="Verdana" pitchFamily="34" charset="0"/>
              <a:ea typeface="楷体_GB2312" pitchFamily="49" charset="-122"/>
            </a:endParaRPr>
          </a:p>
          <a:p>
            <a:pPr indent="100013" eaLnBrk="1" hangingPunct="1">
              <a:lnSpc>
                <a:spcPct val="120000"/>
              </a:lnSpc>
              <a:buSzPct val="90000"/>
              <a:buFont typeface="Wingdings" panose="05000000000000000000" pitchFamily="2" charset="2"/>
              <a:buChar char="§"/>
              <a:defRPr/>
            </a:pPr>
            <a:r>
              <a:rPr lang="zh-CN" altLang="en-US" sz="2400" b="1" dirty="0">
                <a:solidFill>
                  <a:srgbClr val="0000FF"/>
                </a:solidFill>
                <a:effectLst>
                  <a:outerShdw blurRad="38100" dist="38100" dir="2700000" algn="tl">
                    <a:srgbClr val="C0C0C0"/>
                  </a:outerShdw>
                </a:effectLst>
                <a:latin typeface="Verdana" pitchFamily="34" charset="0"/>
                <a:ea typeface="楷体_GB2312" pitchFamily="49" charset="-122"/>
              </a:rPr>
              <a:t> 大同小异；</a:t>
            </a:r>
            <a:endParaRPr lang="en-US" altLang="zh-CN" sz="2400" b="1" dirty="0">
              <a:solidFill>
                <a:srgbClr val="0000FF"/>
              </a:solidFill>
              <a:effectLst>
                <a:outerShdw blurRad="38100" dist="38100" dir="2700000" algn="tl">
                  <a:srgbClr val="C0C0C0"/>
                </a:outerShdw>
              </a:effectLst>
              <a:latin typeface="Verdana" pitchFamily="34" charset="0"/>
              <a:ea typeface="楷体_GB2312" pitchFamily="49" charset="-122"/>
            </a:endParaRPr>
          </a:p>
          <a:p>
            <a:pPr indent="100013" eaLnBrk="1" hangingPunct="1">
              <a:lnSpc>
                <a:spcPct val="120000"/>
              </a:lnSpc>
              <a:buSzPct val="90000"/>
              <a:buFont typeface="Wingdings" panose="05000000000000000000" pitchFamily="2" charset="2"/>
              <a:buChar char="§"/>
              <a:defRPr/>
            </a:pPr>
            <a:r>
              <a:rPr lang="zh-CN" altLang="en-US" sz="2400" b="1" dirty="0">
                <a:solidFill>
                  <a:srgbClr val="0000FF"/>
                </a:solidFill>
                <a:effectLst>
                  <a:outerShdw blurRad="38100" dist="38100" dir="2700000" algn="tl">
                    <a:srgbClr val="C0C0C0"/>
                  </a:outerShdw>
                </a:effectLst>
                <a:latin typeface="Verdana" pitchFamily="34" charset="0"/>
                <a:ea typeface="楷体_GB2312" pitchFamily="49" charset="-122"/>
              </a:rPr>
              <a:t> 基于</a:t>
            </a:r>
            <a:r>
              <a:rPr lang="en-US" altLang="zh-CN" sz="2400" dirty="0">
                <a:solidFill>
                  <a:srgbClr val="0000FF"/>
                </a:solidFill>
                <a:effectLst>
                  <a:outerShdw blurRad="38100" dist="38100" dir="2700000" algn="tl">
                    <a:srgbClr val="C0C0C0"/>
                  </a:outerShdw>
                </a:effectLst>
                <a:latin typeface="Verdana" pitchFamily="34" charset="0"/>
                <a:ea typeface="楷体_GB2312" pitchFamily="49" charset="-122"/>
              </a:rPr>
              <a:t>HDLC</a:t>
            </a:r>
            <a:r>
              <a:rPr lang="zh-CN" altLang="en-US" sz="2400" b="1" dirty="0">
                <a:solidFill>
                  <a:srgbClr val="0000FF"/>
                </a:solidFill>
                <a:effectLst>
                  <a:outerShdw blurRad="38100" dist="38100" dir="2700000" algn="tl">
                    <a:srgbClr val="C0C0C0"/>
                  </a:outerShdw>
                </a:effectLst>
                <a:latin typeface="Verdana" pitchFamily="34" charset="0"/>
                <a:ea typeface="楷体_GB2312" pitchFamily="49" charset="-122"/>
              </a:rPr>
              <a:t>产生其他多种类似协议，如</a:t>
            </a:r>
            <a:r>
              <a:rPr lang="en-US" altLang="zh-CN" sz="2400" dirty="0">
                <a:solidFill>
                  <a:srgbClr val="0000FF"/>
                </a:solidFill>
                <a:effectLst>
                  <a:outerShdw blurRad="38100" dist="38100" dir="2700000" algn="tl">
                    <a:srgbClr val="C0C0C0"/>
                  </a:outerShdw>
                </a:effectLst>
                <a:latin typeface="Verdana" pitchFamily="34" charset="0"/>
                <a:ea typeface="楷体_GB2312" pitchFamily="49" charset="-122"/>
              </a:rPr>
              <a:t>PPP</a:t>
            </a:r>
            <a:r>
              <a:rPr lang="zh-CN" altLang="en-US" sz="2400" dirty="0">
                <a:solidFill>
                  <a:srgbClr val="0000FF"/>
                </a:solidFill>
                <a:effectLst>
                  <a:outerShdw blurRad="38100" dist="38100" dir="2700000" algn="tl">
                    <a:srgbClr val="C0C0C0"/>
                  </a:outerShdw>
                </a:effectLst>
                <a:latin typeface="Verdana" pitchFamily="34" charset="0"/>
                <a:ea typeface="楷体_GB2312" pitchFamily="49" charset="-122"/>
              </a:rPr>
              <a:t>、</a:t>
            </a:r>
            <a:r>
              <a:rPr lang="en-US" altLang="zh-CN" sz="2400" dirty="0">
                <a:solidFill>
                  <a:srgbClr val="0000FF"/>
                </a:solidFill>
                <a:effectLst>
                  <a:outerShdw blurRad="38100" dist="38100" dir="2700000" algn="tl">
                    <a:srgbClr val="C0C0C0"/>
                  </a:outerShdw>
                </a:effectLst>
                <a:latin typeface="Verdana" pitchFamily="34" charset="0"/>
                <a:ea typeface="楷体_GB2312" pitchFamily="49" charset="-122"/>
              </a:rPr>
              <a:t>LLC</a:t>
            </a:r>
            <a:r>
              <a:rPr lang="zh-CN" altLang="en-US" sz="2400" dirty="0">
                <a:solidFill>
                  <a:srgbClr val="0000FF"/>
                </a:solidFill>
                <a:effectLst>
                  <a:outerShdw blurRad="38100" dist="38100" dir="2700000" algn="tl">
                    <a:srgbClr val="C0C0C0"/>
                  </a:outerShdw>
                </a:effectLst>
                <a:latin typeface="Verdana" pitchFamily="34" charset="0"/>
                <a:ea typeface="楷体_GB2312" pitchFamily="49" charset="-122"/>
              </a:rPr>
              <a:t>等。</a:t>
            </a:r>
          </a:p>
        </p:txBody>
      </p:sp>
    </p:spTree>
  </p:cSld>
  <p:clrMapOvr>
    <a:masterClrMapping/>
  </p:clrMapOvr>
  <p:transition>
    <p:random/>
  </p:transition>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DCC7AC-475E-1E4C-8CD6-1AECBEC28035}"/>
              </a:ext>
            </a:extLst>
          </p:cNvPr>
          <p:cNvSpPr>
            <a:spLocks noGrp="1"/>
          </p:cNvSpPr>
          <p:nvPr>
            <p:ph type="title"/>
          </p:nvPr>
        </p:nvSpPr>
        <p:spPr/>
        <p:txBody>
          <a:bodyPr/>
          <a:lstStyle/>
          <a:p>
            <a:r>
              <a:rPr lang="zh-CN" altLang="en-US" dirty="0"/>
              <a:t>本章内容</a:t>
            </a:r>
            <a:endParaRPr kumimoji="1" lang="zh-CN" altLang="en-US" dirty="0"/>
          </a:p>
        </p:txBody>
      </p:sp>
      <p:sp>
        <p:nvSpPr>
          <p:cNvPr id="3" name="内容占位符 2">
            <a:extLst>
              <a:ext uri="{FF2B5EF4-FFF2-40B4-BE49-F238E27FC236}">
                <a16:creationId xmlns:a16="http://schemas.microsoft.com/office/drawing/2014/main" id="{ED1732F0-50F7-8947-81D6-CBBAE8232DE9}"/>
              </a:ext>
            </a:extLst>
          </p:cNvPr>
          <p:cNvSpPr>
            <a:spLocks noGrp="1"/>
          </p:cNvSpPr>
          <p:nvPr>
            <p:ph idx="1"/>
          </p:nvPr>
        </p:nvSpPr>
        <p:spPr/>
        <p:txBody>
          <a:bodyPr>
            <a:normAutofit/>
          </a:bodyPr>
          <a:lstStyle/>
          <a:p>
            <a:pPr marL="0" indent="0">
              <a:lnSpc>
                <a:spcPct val="130000"/>
              </a:lnSpc>
              <a:buNone/>
            </a:pPr>
            <a:r>
              <a:rPr kumimoji="1" lang="en-US" altLang="zh-CN" dirty="0"/>
              <a:t>3.1 </a:t>
            </a:r>
            <a:r>
              <a:rPr kumimoji="1" lang="zh-CN" altLang="zh-CN" dirty="0"/>
              <a:t>数据链路层的设计问题</a:t>
            </a:r>
            <a:endParaRPr kumimoji="1" lang="en-US" altLang="zh-CN" dirty="0"/>
          </a:p>
          <a:p>
            <a:pPr marL="0" indent="0">
              <a:lnSpc>
                <a:spcPct val="130000"/>
              </a:lnSpc>
              <a:buNone/>
            </a:pPr>
            <a:r>
              <a:rPr kumimoji="1" lang="en-US" altLang="zh-CN" dirty="0"/>
              <a:t>3.2 </a:t>
            </a:r>
            <a:r>
              <a:rPr kumimoji="1" lang="zh-CN" altLang="zh-CN" dirty="0"/>
              <a:t>差错检测和纠正</a:t>
            </a:r>
            <a:endParaRPr kumimoji="1" lang="en-US" altLang="zh-CN" dirty="0"/>
          </a:p>
          <a:p>
            <a:pPr marL="0" indent="0">
              <a:lnSpc>
                <a:spcPct val="130000"/>
              </a:lnSpc>
              <a:buNone/>
            </a:pPr>
            <a:r>
              <a:rPr kumimoji="1" lang="en-US" altLang="zh-CN" dirty="0"/>
              <a:t>3.3 </a:t>
            </a:r>
            <a:r>
              <a:rPr kumimoji="1" lang="zh-CN" altLang="zh-CN" dirty="0"/>
              <a:t>基本的数据链路层协议</a:t>
            </a:r>
            <a:endParaRPr kumimoji="1" lang="zh-CN" altLang="en-US" dirty="0"/>
          </a:p>
          <a:p>
            <a:pPr marL="0" indent="0">
              <a:lnSpc>
                <a:spcPct val="130000"/>
              </a:lnSpc>
              <a:buNone/>
            </a:pPr>
            <a:r>
              <a:rPr kumimoji="1" lang="en-US" altLang="zh-CN" dirty="0"/>
              <a:t>3.4 </a:t>
            </a:r>
            <a:r>
              <a:rPr kumimoji="1" lang="zh-CN" altLang="zh-CN" dirty="0"/>
              <a:t>滑动窗口协议</a:t>
            </a:r>
            <a:endParaRPr lang="zh-CN" altLang="en-US" sz="2400" dirty="0">
              <a:latin typeface="微软雅黑" panose="020B0503020204020204" pitchFamily="34" charset="-122"/>
              <a:ea typeface="微软雅黑" panose="020B0503020204020204" pitchFamily="34" charset="-122"/>
            </a:endParaRPr>
          </a:p>
          <a:p>
            <a:pPr marL="0" indent="0">
              <a:lnSpc>
                <a:spcPct val="130000"/>
              </a:lnSpc>
              <a:buNone/>
            </a:pPr>
            <a:r>
              <a:rPr kumimoji="1" lang="en-US" altLang="zh-CN" dirty="0">
                <a:solidFill>
                  <a:srgbClr val="C00000"/>
                </a:solidFill>
              </a:rPr>
              <a:t>3.5 </a:t>
            </a:r>
            <a:r>
              <a:rPr kumimoji="1" lang="zh-CN" altLang="zh-CN" dirty="0">
                <a:solidFill>
                  <a:srgbClr val="C00000"/>
                </a:solidFill>
              </a:rPr>
              <a:t>数据链路协议实例</a:t>
            </a:r>
          </a:p>
        </p:txBody>
      </p:sp>
      <p:sp>
        <p:nvSpPr>
          <p:cNvPr id="4" name="灯片编号占位符 3">
            <a:extLst>
              <a:ext uri="{FF2B5EF4-FFF2-40B4-BE49-F238E27FC236}">
                <a16:creationId xmlns:a16="http://schemas.microsoft.com/office/drawing/2014/main" id="{B09265E6-1613-5248-876E-1FC70865DEDD}"/>
              </a:ext>
            </a:extLst>
          </p:cNvPr>
          <p:cNvSpPr>
            <a:spLocks noGrp="1"/>
          </p:cNvSpPr>
          <p:nvPr>
            <p:ph type="sldNum" sz="quarter" idx="12"/>
          </p:nvPr>
        </p:nvSpPr>
        <p:spPr/>
        <p:txBody>
          <a:bodyPr/>
          <a:lstStyle/>
          <a:p>
            <a:fld id="{8D4D1E41-7A09-AB4A-A4E1-09765ADA2698}" type="slidenum">
              <a:rPr kumimoji="1" lang="zh-CN" altLang="en-US" smtClean="0"/>
              <a:t>129</a:t>
            </a:fld>
            <a:endParaRPr kumimoji="1" lang="zh-CN" altLang="en-US" dirty="0"/>
          </a:p>
        </p:txBody>
      </p:sp>
      <p:sp>
        <p:nvSpPr>
          <p:cNvPr id="6" name="矩形标注 5">
            <a:extLst>
              <a:ext uri="{FF2B5EF4-FFF2-40B4-BE49-F238E27FC236}">
                <a16:creationId xmlns:a16="http://schemas.microsoft.com/office/drawing/2014/main" id="{E4BFCB96-0FA1-7740-8F94-683CEFB67F89}"/>
              </a:ext>
            </a:extLst>
          </p:cNvPr>
          <p:cNvSpPr/>
          <p:nvPr/>
        </p:nvSpPr>
        <p:spPr>
          <a:xfrm>
            <a:off x="5631543" y="3048001"/>
            <a:ext cx="4768770" cy="1794932"/>
          </a:xfrm>
          <a:prstGeom prst="wedgeRectCallout">
            <a:avLst>
              <a:gd name="adj1" fmla="val -74239"/>
              <a:gd name="adj2" fmla="val 25784"/>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spcBef>
                <a:spcPts val="1200"/>
              </a:spcBef>
              <a:buFontTx/>
              <a:buAutoNum type="arabicPeriod"/>
            </a:pPr>
            <a:r>
              <a:rPr lang="en-US" altLang="zh-CN" sz="2400" dirty="0">
                <a:solidFill>
                  <a:schemeClr val="tx1"/>
                </a:solidFill>
                <a:latin typeface="微软雅黑" panose="020B0503020204020204" pitchFamily="34" charset="-122"/>
                <a:ea typeface="微软雅黑" panose="020B0503020204020204" pitchFamily="34" charset="-122"/>
              </a:rPr>
              <a:t>HDLC</a:t>
            </a:r>
          </a:p>
          <a:p>
            <a:pPr marL="457200" indent="-457200">
              <a:spcBef>
                <a:spcPts val="1200"/>
              </a:spcBef>
              <a:buFontTx/>
              <a:buAutoNum type="arabicPeriod"/>
            </a:pPr>
            <a:r>
              <a:rPr lang="zh-CN" altLang="en-US" sz="2400" dirty="0">
                <a:solidFill>
                  <a:srgbClr val="C00000"/>
                </a:solidFill>
                <a:latin typeface="微软雅黑" panose="020B0503020204020204" pitchFamily="34" charset="-122"/>
                <a:ea typeface="微软雅黑" panose="020B0503020204020204" pitchFamily="34" charset="-122"/>
              </a:rPr>
              <a:t>点到点链路层协议</a:t>
            </a:r>
            <a:r>
              <a:rPr lang="en-US" altLang="zh-CN" sz="2400" dirty="0">
                <a:solidFill>
                  <a:srgbClr val="C00000"/>
                </a:solidFill>
                <a:latin typeface="微软雅黑" panose="020B0503020204020204" pitchFamily="34" charset="-122"/>
                <a:ea typeface="微软雅黑" panose="020B0503020204020204" pitchFamily="34" charset="-122"/>
              </a:rPr>
              <a:t>PPP</a:t>
            </a:r>
          </a:p>
          <a:p>
            <a:pPr marL="457200" indent="-457200">
              <a:spcBef>
                <a:spcPts val="1200"/>
              </a:spcBef>
              <a:buFontTx/>
              <a:buAutoNum type="arabicPeriod"/>
            </a:pPr>
            <a:r>
              <a:rPr lang="en-US" altLang="zh-CN" sz="2400" dirty="0" err="1">
                <a:solidFill>
                  <a:schemeClr val="tx1"/>
                </a:solidFill>
                <a:latin typeface="微软雅黑" panose="020B0503020204020204" pitchFamily="34" charset="-122"/>
                <a:ea typeface="微软雅黑" panose="020B0503020204020204" pitchFamily="34" charset="-122"/>
              </a:rPr>
              <a:t>PPPoE</a:t>
            </a:r>
            <a:endParaRPr lang="en-US" altLang="zh-CN" sz="2400" dirty="0">
              <a:solidFill>
                <a:schemeClr val="tx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374647762"/>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PPP</a:t>
            </a:r>
            <a:r>
              <a:rPr lang="zh-CN" altLang="en-US" dirty="0"/>
              <a:t>协议简介</a:t>
            </a:r>
          </a:p>
        </p:txBody>
      </p:sp>
      <p:sp>
        <p:nvSpPr>
          <p:cNvPr id="3" name="内容占位符 2"/>
          <p:cNvSpPr>
            <a:spLocks noGrp="1"/>
          </p:cNvSpPr>
          <p:nvPr>
            <p:ph idx="1"/>
          </p:nvPr>
        </p:nvSpPr>
        <p:spPr>
          <a:xfrm>
            <a:off x="838200" y="1397000"/>
            <a:ext cx="10515600" cy="4446064"/>
          </a:xfrm>
        </p:spPr>
        <p:txBody>
          <a:bodyPr>
            <a:normAutofit/>
          </a:bodyPr>
          <a:lstStyle/>
          <a:p>
            <a:pPr>
              <a:lnSpc>
                <a:spcPct val="150000"/>
              </a:lnSpc>
            </a:pPr>
            <a:r>
              <a:rPr lang="en-US" altLang="zh-CN" dirty="0"/>
              <a:t>PPP (Point-to-Point Protocol)</a:t>
            </a:r>
            <a:r>
              <a:rPr lang="zh-CN" altLang="en-US" dirty="0"/>
              <a:t>协议由</a:t>
            </a:r>
            <a:r>
              <a:rPr lang="en-US" altLang="zh-CN" dirty="0"/>
              <a:t>IETF</a:t>
            </a:r>
            <a:r>
              <a:rPr lang="zh-CN" altLang="en-US" dirty="0"/>
              <a:t>制定，</a:t>
            </a:r>
            <a:r>
              <a:rPr lang="en-US" altLang="zh-CN" dirty="0"/>
              <a:t>1994</a:t>
            </a:r>
            <a:r>
              <a:rPr lang="zh-CN" altLang="en-US" dirty="0"/>
              <a:t>年成为正式标准（</a:t>
            </a:r>
            <a:r>
              <a:rPr lang="en-US" altLang="zh-CN" dirty="0"/>
              <a:t>RFC1661</a:t>
            </a:r>
            <a:r>
              <a:rPr lang="zh-CN" altLang="en-US" dirty="0"/>
              <a:t>）</a:t>
            </a:r>
            <a:endParaRPr lang="en-US" altLang="zh-CN" dirty="0"/>
          </a:p>
          <a:p>
            <a:pPr>
              <a:lnSpc>
                <a:spcPct val="150000"/>
              </a:lnSpc>
            </a:pPr>
            <a:r>
              <a:rPr lang="en-US" altLang="zh-CN" dirty="0"/>
              <a:t>PPP</a:t>
            </a:r>
            <a:r>
              <a:rPr lang="zh-CN" altLang="en-US" dirty="0"/>
              <a:t>协议是目前使用最多的</a:t>
            </a:r>
            <a:r>
              <a:rPr lang="zh-CN" altLang="en-US" dirty="0">
                <a:solidFill>
                  <a:srgbClr val="7030A0"/>
                </a:solidFill>
              </a:rPr>
              <a:t>数据链路层协议</a:t>
            </a:r>
            <a:r>
              <a:rPr lang="zh-CN" altLang="en-US" dirty="0"/>
              <a:t>之一</a:t>
            </a:r>
            <a:endParaRPr lang="en-US" altLang="zh-CN" dirty="0"/>
          </a:p>
          <a:p>
            <a:pPr>
              <a:lnSpc>
                <a:spcPct val="150000"/>
              </a:lnSpc>
            </a:pPr>
            <a:r>
              <a:rPr lang="zh-CN" altLang="en-US" dirty="0"/>
              <a:t>能够在不同的链路上运行</a:t>
            </a:r>
            <a:endParaRPr lang="en-US" altLang="zh-CN" dirty="0"/>
          </a:p>
          <a:p>
            <a:pPr>
              <a:lnSpc>
                <a:spcPct val="150000"/>
              </a:lnSpc>
            </a:pPr>
            <a:r>
              <a:rPr lang="zh-CN" altLang="en-US" dirty="0"/>
              <a:t>能够承载不同的网络层分组</a:t>
            </a:r>
            <a:endParaRPr lang="en-US" altLang="zh-CN" dirty="0"/>
          </a:p>
          <a:p>
            <a:pPr>
              <a:lnSpc>
                <a:spcPct val="150000"/>
              </a:lnSpc>
            </a:pPr>
            <a:r>
              <a:rPr lang="zh-CN" altLang="en-US" dirty="0"/>
              <a:t>特点：简单、灵活</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130</a:t>
            </a:fld>
            <a:endParaRPr kumimoji="1" lang="zh-CN" altLang="en-US" dirty="0"/>
          </a:p>
        </p:txBody>
      </p:sp>
      <p:sp>
        <p:nvSpPr>
          <p:cNvPr id="5" name="文本框 4">
            <a:extLst>
              <a:ext uri="{FF2B5EF4-FFF2-40B4-BE49-F238E27FC236}">
                <a16:creationId xmlns:a16="http://schemas.microsoft.com/office/drawing/2014/main" id="{16FE74B6-800A-4EDF-B552-9D9F98E299D3}"/>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Tree>
    <p:extLst>
      <p:ext uri="{BB962C8B-B14F-4D97-AF65-F5344CB8AC3E}">
        <p14:creationId xmlns:p14="http://schemas.microsoft.com/office/powerpoint/2010/main" val="1749417373"/>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PPP</a:t>
            </a:r>
            <a:r>
              <a:rPr lang="zh-CN" altLang="en-US" dirty="0"/>
              <a:t>协议</a:t>
            </a:r>
            <a:r>
              <a:rPr lang="zh-CN" altLang="en-US" dirty="0">
                <a:highlight>
                  <a:srgbClr val="FFFF00"/>
                </a:highlight>
              </a:rPr>
              <a:t>实现</a:t>
            </a:r>
            <a:r>
              <a:rPr lang="zh-CN" altLang="en-US" dirty="0"/>
              <a:t>的功能</a:t>
            </a:r>
          </a:p>
        </p:txBody>
      </p:sp>
      <p:sp>
        <p:nvSpPr>
          <p:cNvPr id="3" name="内容占位符 2"/>
          <p:cNvSpPr>
            <a:spLocks noGrp="1"/>
          </p:cNvSpPr>
          <p:nvPr>
            <p:ph idx="1"/>
          </p:nvPr>
        </p:nvSpPr>
        <p:spPr>
          <a:xfrm>
            <a:off x="838200" y="1397000"/>
            <a:ext cx="10515600" cy="4565389"/>
          </a:xfrm>
        </p:spPr>
        <p:txBody>
          <a:bodyPr>
            <a:normAutofit lnSpcReduction="10000"/>
          </a:bodyPr>
          <a:lstStyle/>
          <a:p>
            <a:pPr>
              <a:lnSpc>
                <a:spcPct val="150000"/>
              </a:lnSpc>
            </a:pPr>
            <a:r>
              <a:rPr lang="zh-CN" altLang="en-US" sz="2600" dirty="0"/>
              <a:t>利用帧定界符封装成帧</a:t>
            </a:r>
          </a:p>
          <a:p>
            <a:pPr>
              <a:lnSpc>
                <a:spcPct val="150000"/>
              </a:lnSpc>
            </a:pPr>
            <a:r>
              <a:rPr lang="zh-CN" altLang="en-US" sz="2600" dirty="0"/>
              <a:t>填充技术实现透明数据传输：字节填充、零比特填充</a:t>
            </a:r>
          </a:p>
          <a:p>
            <a:pPr>
              <a:lnSpc>
                <a:spcPct val="150000"/>
              </a:lnSpc>
            </a:pPr>
            <a:r>
              <a:rPr lang="zh-CN" altLang="en-US" sz="2600" dirty="0"/>
              <a:t>帧的差错检测</a:t>
            </a:r>
          </a:p>
          <a:p>
            <a:pPr>
              <a:lnSpc>
                <a:spcPct val="150000"/>
              </a:lnSpc>
            </a:pPr>
            <a:r>
              <a:rPr lang="zh-CN" altLang="en-US" sz="2600" dirty="0"/>
              <a:t>实时监测链路工作状态</a:t>
            </a:r>
          </a:p>
          <a:p>
            <a:pPr>
              <a:lnSpc>
                <a:spcPct val="150000"/>
              </a:lnSpc>
            </a:pPr>
            <a:r>
              <a:rPr lang="zh-CN" altLang="en-US" sz="2600" dirty="0"/>
              <a:t>设置链路最大传输单元（</a:t>
            </a:r>
            <a:r>
              <a:rPr lang="en-US" altLang="zh-CN" sz="2600" dirty="0"/>
              <a:t>MTU</a:t>
            </a:r>
            <a:r>
              <a:rPr lang="zh-CN" altLang="en-US" sz="2600" dirty="0"/>
              <a:t>）</a:t>
            </a:r>
          </a:p>
          <a:p>
            <a:pPr>
              <a:lnSpc>
                <a:spcPct val="150000"/>
              </a:lnSpc>
            </a:pPr>
            <a:r>
              <a:rPr lang="zh-CN" altLang="en-US" sz="2600" dirty="0"/>
              <a:t>网络层地址协商机制</a:t>
            </a:r>
          </a:p>
          <a:p>
            <a:pPr>
              <a:lnSpc>
                <a:spcPct val="150000"/>
              </a:lnSpc>
            </a:pPr>
            <a:r>
              <a:rPr lang="zh-CN" altLang="en-US" sz="2600" dirty="0"/>
              <a:t>数据压缩协商机制</a:t>
            </a:r>
            <a:endParaRPr lang="en-US" altLang="zh-CN" sz="2600"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131</a:t>
            </a:fld>
            <a:endParaRPr kumimoji="1" lang="zh-CN" altLang="en-US" dirty="0"/>
          </a:p>
        </p:txBody>
      </p:sp>
      <p:sp>
        <p:nvSpPr>
          <p:cNvPr id="5" name="文本框 4">
            <a:extLst>
              <a:ext uri="{FF2B5EF4-FFF2-40B4-BE49-F238E27FC236}">
                <a16:creationId xmlns:a16="http://schemas.microsoft.com/office/drawing/2014/main" id="{16FE74B6-800A-4EDF-B552-9D9F98E299D3}"/>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Tree>
    <p:extLst>
      <p:ext uri="{BB962C8B-B14F-4D97-AF65-F5344CB8AC3E}">
        <p14:creationId xmlns:p14="http://schemas.microsoft.com/office/powerpoint/2010/main" val="4271057253"/>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PPP</a:t>
            </a:r>
            <a:r>
              <a:rPr lang="zh-CN" altLang="en-US" dirty="0"/>
              <a:t>协议</a:t>
            </a:r>
            <a:r>
              <a:rPr lang="zh-CN" altLang="en-US" dirty="0">
                <a:highlight>
                  <a:srgbClr val="FFFF00"/>
                </a:highlight>
              </a:rPr>
              <a:t>未实现</a:t>
            </a:r>
            <a:r>
              <a:rPr lang="zh-CN" altLang="en-US" dirty="0"/>
              <a:t>的功能</a:t>
            </a:r>
          </a:p>
        </p:txBody>
      </p:sp>
      <p:sp>
        <p:nvSpPr>
          <p:cNvPr id="3" name="内容占位符 2"/>
          <p:cNvSpPr>
            <a:spLocks noGrp="1"/>
          </p:cNvSpPr>
          <p:nvPr>
            <p:ph idx="1"/>
          </p:nvPr>
        </p:nvSpPr>
        <p:spPr>
          <a:xfrm>
            <a:off x="838200" y="1397000"/>
            <a:ext cx="10515600" cy="4959350"/>
          </a:xfrm>
        </p:spPr>
        <p:txBody>
          <a:bodyPr>
            <a:normAutofit fontScale="77500" lnSpcReduction="20000"/>
          </a:bodyPr>
          <a:lstStyle/>
          <a:p>
            <a:pPr>
              <a:lnSpc>
                <a:spcPct val="150000"/>
              </a:lnSpc>
            </a:pPr>
            <a:r>
              <a:rPr lang="zh-CN" altLang="en-US" dirty="0"/>
              <a:t>帧数据的纠错功能</a:t>
            </a:r>
          </a:p>
          <a:p>
            <a:pPr lvl="1">
              <a:lnSpc>
                <a:spcPct val="150000"/>
              </a:lnSpc>
            </a:pPr>
            <a:r>
              <a:rPr lang="zh-CN" altLang="en-US" dirty="0"/>
              <a:t>数据链路层的</a:t>
            </a:r>
            <a:r>
              <a:rPr lang="en-US" altLang="zh-CN" dirty="0"/>
              <a:t>PPP</a:t>
            </a:r>
            <a:r>
              <a:rPr lang="zh-CN" altLang="en-US" dirty="0"/>
              <a:t>协议只进行检错，</a:t>
            </a:r>
            <a:r>
              <a:rPr lang="en-US" altLang="zh-CN" dirty="0"/>
              <a:t>PPP</a:t>
            </a:r>
            <a:r>
              <a:rPr lang="zh-CN" altLang="en-US" dirty="0"/>
              <a:t>协议是不可靠传输协议</a:t>
            </a:r>
          </a:p>
          <a:p>
            <a:pPr>
              <a:lnSpc>
                <a:spcPct val="150000"/>
              </a:lnSpc>
            </a:pPr>
            <a:r>
              <a:rPr lang="zh-CN" altLang="en-US" dirty="0"/>
              <a:t>流量控制功能</a:t>
            </a:r>
          </a:p>
          <a:p>
            <a:pPr lvl="1">
              <a:lnSpc>
                <a:spcPct val="150000"/>
              </a:lnSpc>
            </a:pPr>
            <a:r>
              <a:rPr lang="en-US" altLang="zh-CN" dirty="0"/>
              <a:t>PPP</a:t>
            </a:r>
            <a:r>
              <a:rPr lang="zh-CN" altLang="en-US" dirty="0"/>
              <a:t>协议未实现点到点的流量控制</a:t>
            </a:r>
          </a:p>
          <a:p>
            <a:pPr>
              <a:lnSpc>
                <a:spcPct val="150000"/>
              </a:lnSpc>
            </a:pPr>
            <a:r>
              <a:rPr lang="zh-CN" altLang="en-US" dirty="0"/>
              <a:t>可靠传输功能</a:t>
            </a:r>
          </a:p>
          <a:p>
            <a:pPr lvl="1">
              <a:lnSpc>
                <a:spcPct val="150000"/>
              </a:lnSpc>
            </a:pPr>
            <a:r>
              <a:rPr lang="en-US" altLang="zh-CN" dirty="0"/>
              <a:t>PPP</a:t>
            </a:r>
            <a:r>
              <a:rPr lang="zh-CN" altLang="en-US" dirty="0"/>
              <a:t>为不可靠协议，不使用帧的序号。不可靠网络中可能使用有序号的工作方式。</a:t>
            </a:r>
          </a:p>
          <a:p>
            <a:pPr>
              <a:lnSpc>
                <a:spcPct val="150000"/>
              </a:lnSpc>
            </a:pPr>
            <a:r>
              <a:rPr lang="zh-CN" altLang="en-US" dirty="0"/>
              <a:t>多点连接功能</a:t>
            </a:r>
          </a:p>
          <a:p>
            <a:pPr lvl="1">
              <a:lnSpc>
                <a:spcPct val="150000"/>
              </a:lnSpc>
            </a:pPr>
            <a:r>
              <a:rPr lang="en-US" altLang="zh-CN" dirty="0"/>
              <a:t>PPP</a:t>
            </a:r>
            <a:r>
              <a:rPr lang="zh-CN" altLang="en-US" dirty="0"/>
              <a:t>协议不支持多点线路，只支持点对点的链路通信。</a:t>
            </a:r>
          </a:p>
          <a:p>
            <a:pPr>
              <a:lnSpc>
                <a:spcPct val="150000"/>
              </a:lnSpc>
            </a:pPr>
            <a:r>
              <a:rPr lang="zh-CN" altLang="en-US" dirty="0"/>
              <a:t>单工和半双工链路 </a:t>
            </a:r>
          </a:p>
          <a:p>
            <a:pPr lvl="1">
              <a:lnSpc>
                <a:spcPct val="150000"/>
              </a:lnSpc>
            </a:pPr>
            <a:r>
              <a:rPr lang="en-US" altLang="zh-CN" dirty="0"/>
              <a:t>PPP</a:t>
            </a:r>
            <a:r>
              <a:rPr lang="zh-CN" altLang="en-US" dirty="0"/>
              <a:t>协议支持全双工链路</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132</a:t>
            </a:fld>
            <a:endParaRPr kumimoji="1" lang="zh-CN" altLang="en-US" dirty="0"/>
          </a:p>
        </p:txBody>
      </p:sp>
      <p:sp>
        <p:nvSpPr>
          <p:cNvPr id="5" name="文本框 4">
            <a:extLst>
              <a:ext uri="{FF2B5EF4-FFF2-40B4-BE49-F238E27FC236}">
                <a16:creationId xmlns:a16="http://schemas.microsoft.com/office/drawing/2014/main" id="{16FE74B6-800A-4EDF-B552-9D9F98E299D3}"/>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Tree>
    <p:extLst>
      <p:ext uri="{BB962C8B-B14F-4D97-AF65-F5344CB8AC3E}">
        <p14:creationId xmlns:p14="http://schemas.microsoft.com/office/powerpoint/2010/main" val="2402478842"/>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PPP</a:t>
            </a:r>
            <a:r>
              <a:rPr lang="zh-CN" altLang="en-US" dirty="0"/>
              <a:t>协议的构成</a:t>
            </a:r>
          </a:p>
        </p:txBody>
      </p:sp>
      <p:sp>
        <p:nvSpPr>
          <p:cNvPr id="3" name="内容占位符 2"/>
          <p:cNvSpPr>
            <a:spLocks noGrp="1"/>
          </p:cNvSpPr>
          <p:nvPr>
            <p:ph idx="1"/>
          </p:nvPr>
        </p:nvSpPr>
        <p:spPr>
          <a:xfrm>
            <a:off x="838200" y="1397000"/>
            <a:ext cx="10756900" cy="4959350"/>
          </a:xfrm>
        </p:spPr>
        <p:txBody>
          <a:bodyPr>
            <a:normAutofit fontScale="92500" lnSpcReduction="20000"/>
          </a:bodyPr>
          <a:lstStyle/>
          <a:p>
            <a:pPr>
              <a:lnSpc>
                <a:spcPct val="150000"/>
              </a:lnSpc>
            </a:pPr>
            <a:r>
              <a:rPr lang="zh-CN" altLang="en-US" dirty="0"/>
              <a:t>封装 </a:t>
            </a:r>
            <a:r>
              <a:rPr lang="en-US" altLang="zh-CN" dirty="0"/>
              <a:t>(Encapsulation)</a:t>
            </a:r>
          </a:p>
          <a:p>
            <a:pPr lvl="1">
              <a:lnSpc>
                <a:spcPct val="150000"/>
              </a:lnSpc>
            </a:pPr>
            <a:r>
              <a:rPr lang="zh-CN" altLang="en-US" dirty="0"/>
              <a:t>提供在同一链路上支持不同的网络层协议</a:t>
            </a:r>
          </a:p>
          <a:p>
            <a:pPr lvl="1">
              <a:lnSpc>
                <a:spcPct val="150000"/>
              </a:lnSpc>
            </a:pPr>
            <a:r>
              <a:rPr lang="en-US" altLang="zh-CN" dirty="0"/>
              <a:t>PPP</a:t>
            </a:r>
            <a:r>
              <a:rPr lang="zh-CN" altLang="en-US" dirty="0"/>
              <a:t>既支持异步链路（无奇偶检验的</a:t>
            </a:r>
            <a:r>
              <a:rPr lang="en-US" altLang="zh-CN" dirty="0"/>
              <a:t>8</a:t>
            </a:r>
            <a:r>
              <a:rPr lang="zh-CN" altLang="en-US" dirty="0"/>
              <a:t>比特数据），也支持面向比特的同步链路</a:t>
            </a:r>
          </a:p>
          <a:p>
            <a:pPr lvl="1">
              <a:lnSpc>
                <a:spcPct val="150000"/>
              </a:lnSpc>
            </a:pPr>
            <a:r>
              <a:rPr lang="en-US" altLang="zh-CN" dirty="0"/>
              <a:t>IP</a:t>
            </a:r>
            <a:r>
              <a:rPr lang="zh-CN" altLang="en-US" dirty="0"/>
              <a:t>数据包在</a:t>
            </a:r>
            <a:r>
              <a:rPr lang="en-US" altLang="zh-CN" dirty="0"/>
              <a:t>PPP</a:t>
            </a:r>
            <a:r>
              <a:rPr lang="zh-CN" altLang="en-US" dirty="0"/>
              <a:t>帧中是其信息部分，其长度受到</a:t>
            </a:r>
            <a:r>
              <a:rPr lang="en-US" altLang="zh-CN" dirty="0"/>
              <a:t>MTU</a:t>
            </a:r>
            <a:r>
              <a:rPr lang="zh-CN" altLang="en-US" dirty="0"/>
              <a:t>的限制</a:t>
            </a:r>
          </a:p>
          <a:p>
            <a:pPr>
              <a:lnSpc>
                <a:spcPct val="150000"/>
              </a:lnSpc>
            </a:pPr>
            <a:r>
              <a:rPr lang="zh-CN" altLang="en-US" dirty="0"/>
              <a:t>链路控制协议 </a:t>
            </a:r>
            <a:r>
              <a:rPr lang="en-US" altLang="zh-CN" dirty="0"/>
              <a:t>LCP (Link Control Protocol)</a:t>
            </a:r>
            <a:r>
              <a:rPr lang="zh-CN" altLang="en-US" dirty="0"/>
              <a:t>。</a:t>
            </a:r>
          </a:p>
          <a:p>
            <a:pPr lvl="1">
              <a:lnSpc>
                <a:spcPct val="150000"/>
              </a:lnSpc>
            </a:pPr>
            <a:r>
              <a:rPr lang="zh-CN" altLang="en-US" dirty="0"/>
              <a:t>用来建立、配置和测试数据链路的链路控制协议，通信双方可协商一些选项</a:t>
            </a:r>
          </a:p>
          <a:p>
            <a:pPr>
              <a:lnSpc>
                <a:spcPct val="150000"/>
              </a:lnSpc>
            </a:pPr>
            <a:r>
              <a:rPr lang="zh-CN" altLang="en-US" dirty="0"/>
              <a:t>网络控制协议 </a:t>
            </a:r>
            <a:r>
              <a:rPr lang="en-US" altLang="zh-CN" dirty="0"/>
              <a:t>NCP (Network Control Protocol)</a:t>
            </a:r>
            <a:r>
              <a:rPr lang="zh-CN" altLang="en-US" dirty="0"/>
              <a:t>。</a:t>
            </a:r>
          </a:p>
          <a:p>
            <a:pPr lvl="1">
              <a:lnSpc>
                <a:spcPct val="150000"/>
              </a:lnSpc>
            </a:pPr>
            <a:r>
              <a:rPr lang="zh-CN" altLang="en-US" dirty="0"/>
              <a:t>其中每个协议支持一种不同的网络层协议，如</a:t>
            </a:r>
            <a:r>
              <a:rPr lang="en-US" altLang="zh-CN" dirty="0"/>
              <a:t>IP</a:t>
            </a:r>
            <a:r>
              <a:rPr lang="zh-CN" altLang="en-US" dirty="0"/>
              <a:t>、</a:t>
            </a:r>
            <a:r>
              <a:rPr lang="en-US" altLang="zh-CN" dirty="0"/>
              <a:t>OSI</a:t>
            </a:r>
            <a:r>
              <a:rPr lang="zh-CN" altLang="en-US" dirty="0"/>
              <a:t>的网络层、</a:t>
            </a:r>
            <a:r>
              <a:rPr lang="en-US" altLang="zh-CN" dirty="0" err="1"/>
              <a:t>DECnet</a:t>
            </a:r>
            <a:r>
              <a:rPr lang="zh-CN" altLang="en-US" dirty="0"/>
              <a:t>、</a:t>
            </a:r>
            <a:r>
              <a:rPr lang="en-US" altLang="zh-CN" dirty="0"/>
              <a:t>AppleTalk</a:t>
            </a:r>
            <a:r>
              <a:rPr lang="zh-CN" altLang="en-US" dirty="0"/>
              <a:t>等</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133</a:t>
            </a:fld>
            <a:endParaRPr kumimoji="1" lang="zh-CN" altLang="en-US" dirty="0"/>
          </a:p>
        </p:txBody>
      </p:sp>
      <p:sp>
        <p:nvSpPr>
          <p:cNvPr id="5" name="文本框 4">
            <a:extLst>
              <a:ext uri="{FF2B5EF4-FFF2-40B4-BE49-F238E27FC236}">
                <a16:creationId xmlns:a16="http://schemas.microsoft.com/office/drawing/2014/main" id="{16FE74B6-800A-4EDF-B552-9D9F98E299D3}"/>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Tree>
    <p:extLst>
      <p:ext uri="{BB962C8B-B14F-4D97-AF65-F5344CB8AC3E}">
        <p14:creationId xmlns:p14="http://schemas.microsoft.com/office/powerpoint/2010/main" val="1687171338"/>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latin typeface="微软雅黑" panose="020B0503020204020204" pitchFamily="34" charset="-122"/>
                <a:ea typeface="微软雅黑" panose="020B0503020204020204" pitchFamily="34" charset="-122"/>
              </a:rPr>
              <a:t>PPP</a:t>
            </a:r>
            <a:r>
              <a:rPr lang="zh-CN" altLang="en-US" dirty="0">
                <a:latin typeface="微软雅黑" panose="020B0503020204020204" pitchFamily="34" charset="-122"/>
                <a:ea typeface="微软雅黑" panose="020B0503020204020204" pitchFamily="34" charset="-122"/>
              </a:rPr>
              <a:t>协议的帧格式</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latin typeface="微软雅黑" panose="020B0503020204020204" pitchFamily="34" charset="-122"/>
                <a:ea typeface="微软雅黑" panose="020B0503020204020204" pitchFamily="34" charset="-122"/>
              </a:rPr>
              <a:t>134</a:t>
            </a:fld>
            <a:endParaRPr kumimoji="1" lang="zh-CN" altLang="en-US" dirty="0">
              <a:latin typeface="微软雅黑" panose="020B0503020204020204" pitchFamily="34" charset="-122"/>
              <a:ea typeface="微软雅黑" panose="020B0503020204020204" pitchFamily="34" charset="-122"/>
            </a:endParaRPr>
          </a:p>
        </p:txBody>
      </p:sp>
      <p:sp>
        <p:nvSpPr>
          <p:cNvPr id="52" name="Rectangle 4"/>
          <p:cNvSpPr>
            <a:spLocks noChangeArrowheads="1"/>
          </p:cNvSpPr>
          <p:nvPr/>
        </p:nvSpPr>
        <p:spPr bwMode="auto">
          <a:xfrm>
            <a:off x="4773445" y="2116838"/>
            <a:ext cx="2898775" cy="465137"/>
          </a:xfrm>
          <a:prstGeom prst="rect">
            <a:avLst/>
          </a:prstGeom>
          <a:solidFill>
            <a:schemeClr val="accent6">
              <a:lumMod val="20000"/>
              <a:lumOff val="80000"/>
            </a:schemeClr>
          </a:solidFill>
          <a:ln w="9525">
            <a:solidFill>
              <a:schemeClr val="accent1"/>
            </a:solidFill>
            <a:miter lim="800000"/>
            <a:headEnd/>
            <a:tailEnd/>
          </a:ln>
          <a:effectLst>
            <a:outerShdw dist="35921" dir="2700000" algn="ctr" rotWithShape="0">
              <a:schemeClr val="bg2"/>
            </a:outerShdw>
          </a:effectLst>
        </p:spPr>
        <p:txBody>
          <a:bodyPr wrap="none" anchor="ctr"/>
          <a:lstStyle/>
          <a:p>
            <a:pPr algn="ctr"/>
            <a:r>
              <a:rPr kumimoji="1" lang="en-US" altLang="zh-CN" sz="2000">
                <a:latin typeface="微软雅黑" panose="020B0503020204020204" pitchFamily="34" charset="-122"/>
                <a:ea typeface="微软雅黑" panose="020B0503020204020204" pitchFamily="34" charset="-122"/>
              </a:rPr>
              <a:t>IP </a:t>
            </a:r>
            <a:r>
              <a:rPr kumimoji="1" lang="zh-CN" altLang="en-US" sz="2000">
                <a:latin typeface="微软雅黑" panose="020B0503020204020204" pitchFamily="34" charset="-122"/>
                <a:ea typeface="微软雅黑" panose="020B0503020204020204" pitchFamily="34" charset="-122"/>
              </a:rPr>
              <a:t>数据报</a:t>
            </a:r>
          </a:p>
        </p:txBody>
      </p:sp>
      <p:sp>
        <p:nvSpPr>
          <p:cNvPr id="53" name="Text Box 5"/>
          <p:cNvSpPr txBox="1">
            <a:spLocks noChangeArrowheads="1"/>
          </p:cNvSpPr>
          <p:nvPr/>
        </p:nvSpPr>
        <p:spPr bwMode="auto">
          <a:xfrm>
            <a:off x="2146132" y="3551938"/>
            <a:ext cx="34336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000">
                <a:latin typeface="微软雅黑" panose="020B0503020204020204" pitchFamily="34" charset="-122"/>
                <a:ea typeface="微软雅黑" panose="020B0503020204020204" pitchFamily="34" charset="-122"/>
              </a:rPr>
              <a:t>1</a:t>
            </a:r>
          </a:p>
        </p:txBody>
      </p:sp>
      <p:sp>
        <p:nvSpPr>
          <p:cNvPr id="54" name="Text Box 6"/>
          <p:cNvSpPr txBox="1">
            <a:spLocks noChangeArrowheads="1"/>
          </p:cNvSpPr>
          <p:nvPr/>
        </p:nvSpPr>
        <p:spPr bwMode="auto">
          <a:xfrm>
            <a:off x="4140032" y="3551938"/>
            <a:ext cx="34336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000">
                <a:latin typeface="微软雅黑" panose="020B0503020204020204" pitchFamily="34" charset="-122"/>
                <a:ea typeface="微软雅黑" panose="020B0503020204020204" pitchFamily="34" charset="-122"/>
              </a:rPr>
              <a:t>2</a:t>
            </a:r>
          </a:p>
        </p:txBody>
      </p:sp>
      <p:sp>
        <p:nvSpPr>
          <p:cNvPr id="55" name="Text Box 7"/>
          <p:cNvSpPr txBox="1">
            <a:spLocks noChangeArrowheads="1"/>
          </p:cNvSpPr>
          <p:nvPr/>
        </p:nvSpPr>
        <p:spPr bwMode="auto">
          <a:xfrm>
            <a:off x="2690645" y="3551938"/>
            <a:ext cx="34336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000">
                <a:latin typeface="微软雅黑" panose="020B0503020204020204" pitchFamily="34" charset="-122"/>
                <a:ea typeface="微软雅黑" panose="020B0503020204020204" pitchFamily="34" charset="-122"/>
              </a:rPr>
              <a:t>1</a:t>
            </a:r>
          </a:p>
        </p:txBody>
      </p:sp>
      <p:sp>
        <p:nvSpPr>
          <p:cNvPr id="56" name="Text Box 8"/>
          <p:cNvSpPr txBox="1">
            <a:spLocks noChangeArrowheads="1"/>
          </p:cNvSpPr>
          <p:nvPr/>
        </p:nvSpPr>
        <p:spPr bwMode="auto">
          <a:xfrm>
            <a:off x="8939045" y="3551938"/>
            <a:ext cx="34336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000">
                <a:latin typeface="微软雅黑" panose="020B0503020204020204" pitchFamily="34" charset="-122"/>
                <a:ea typeface="微软雅黑" panose="020B0503020204020204" pitchFamily="34" charset="-122"/>
              </a:rPr>
              <a:t>1</a:t>
            </a:r>
          </a:p>
        </p:txBody>
      </p:sp>
      <p:sp>
        <p:nvSpPr>
          <p:cNvPr id="57" name="Text Box 9"/>
          <p:cNvSpPr txBox="1">
            <a:spLocks noChangeArrowheads="1"/>
          </p:cNvSpPr>
          <p:nvPr/>
        </p:nvSpPr>
        <p:spPr bwMode="auto">
          <a:xfrm>
            <a:off x="1331745" y="3551938"/>
            <a:ext cx="692150" cy="398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2000">
                <a:latin typeface="微软雅黑" panose="020B0503020204020204" pitchFamily="34" charset="-122"/>
                <a:ea typeface="微软雅黑" panose="020B0503020204020204" pitchFamily="34" charset="-122"/>
              </a:rPr>
              <a:t>字节</a:t>
            </a:r>
          </a:p>
        </p:txBody>
      </p:sp>
      <p:sp>
        <p:nvSpPr>
          <p:cNvPr id="58" name="Text Box 10"/>
          <p:cNvSpPr txBox="1">
            <a:spLocks noChangeArrowheads="1"/>
          </p:cNvSpPr>
          <p:nvPr/>
        </p:nvSpPr>
        <p:spPr bwMode="auto">
          <a:xfrm>
            <a:off x="3233570" y="3551938"/>
            <a:ext cx="34336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000">
                <a:latin typeface="微软雅黑" panose="020B0503020204020204" pitchFamily="34" charset="-122"/>
                <a:ea typeface="微软雅黑" panose="020B0503020204020204" pitchFamily="34" charset="-122"/>
              </a:rPr>
              <a:t>1</a:t>
            </a:r>
          </a:p>
        </p:txBody>
      </p:sp>
      <p:sp>
        <p:nvSpPr>
          <p:cNvPr id="59" name="Text Box 11"/>
          <p:cNvSpPr txBox="1">
            <a:spLocks noChangeArrowheads="1"/>
          </p:cNvSpPr>
          <p:nvPr/>
        </p:nvSpPr>
        <p:spPr bwMode="auto">
          <a:xfrm>
            <a:off x="8034170" y="3551938"/>
            <a:ext cx="34336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000">
                <a:latin typeface="微软雅黑" panose="020B0503020204020204" pitchFamily="34" charset="-122"/>
                <a:ea typeface="微软雅黑" panose="020B0503020204020204" pitchFamily="34" charset="-122"/>
              </a:rPr>
              <a:t>2</a:t>
            </a:r>
          </a:p>
        </p:txBody>
      </p:sp>
      <p:sp>
        <p:nvSpPr>
          <p:cNvPr id="60" name="Line 12"/>
          <p:cNvSpPr>
            <a:spLocks noChangeShapeType="1"/>
          </p:cNvSpPr>
          <p:nvPr/>
        </p:nvSpPr>
        <p:spPr bwMode="auto">
          <a:xfrm>
            <a:off x="4773445" y="2104138"/>
            <a:ext cx="17462" cy="923925"/>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61" name="Line 13"/>
          <p:cNvSpPr>
            <a:spLocks noChangeShapeType="1"/>
          </p:cNvSpPr>
          <p:nvPr/>
        </p:nvSpPr>
        <p:spPr bwMode="auto">
          <a:xfrm>
            <a:off x="7672220" y="2104138"/>
            <a:ext cx="0" cy="88900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62" name="Text Box 14"/>
          <p:cNvSpPr txBox="1">
            <a:spLocks noChangeArrowheads="1"/>
          </p:cNvSpPr>
          <p:nvPr/>
        </p:nvSpPr>
        <p:spPr bwMode="auto">
          <a:xfrm>
            <a:off x="5135395" y="3551938"/>
            <a:ext cx="22557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2000">
                <a:latin typeface="微软雅黑" panose="020B0503020204020204" pitchFamily="34" charset="-122"/>
                <a:ea typeface="微软雅黑" panose="020B0503020204020204" pitchFamily="34" charset="-122"/>
              </a:rPr>
              <a:t>不超过 </a:t>
            </a:r>
            <a:r>
              <a:rPr kumimoji="1" lang="en-US" altLang="zh-CN" sz="2000">
                <a:latin typeface="微软雅黑" panose="020B0503020204020204" pitchFamily="34" charset="-122"/>
                <a:ea typeface="微软雅黑" panose="020B0503020204020204" pitchFamily="34" charset="-122"/>
              </a:rPr>
              <a:t>1500 </a:t>
            </a:r>
            <a:r>
              <a:rPr kumimoji="1" lang="zh-CN" altLang="en-US" sz="2000">
                <a:latin typeface="微软雅黑" panose="020B0503020204020204" pitchFamily="34" charset="-122"/>
                <a:ea typeface="微软雅黑" panose="020B0503020204020204" pitchFamily="34" charset="-122"/>
              </a:rPr>
              <a:t>字节</a:t>
            </a:r>
          </a:p>
        </p:txBody>
      </p:sp>
      <p:sp>
        <p:nvSpPr>
          <p:cNvPr id="63" name="Line 15"/>
          <p:cNvSpPr>
            <a:spLocks noChangeShapeType="1"/>
          </p:cNvSpPr>
          <p:nvPr/>
        </p:nvSpPr>
        <p:spPr bwMode="auto">
          <a:xfrm>
            <a:off x="2071520" y="4101213"/>
            <a:ext cx="7335837" cy="0"/>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64" name="Text Box 16"/>
          <p:cNvSpPr txBox="1">
            <a:spLocks noChangeArrowheads="1"/>
          </p:cNvSpPr>
          <p:nvPr/>
        </p:nvSpPr>
        <p:spPr bwMode="auto">
          <a:xfrm>
            <a:off x="5097295" y="3878963"/>
            <a:ext cx="1017587"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000">
                <a:latin typeface="微软雅黑" panose="020B0503020204020204" pitchFamily="34" charset="-122"/>
                <a:ea typeface="微软雅黑" panose="020B0503020204020204" pitchFamily="34" charset="-122"/>
              </a:rPr>
              <a:t>PPP </a:t>
            </a:r>
            <a:r>
              <a:rPr kumimoji="1" lang="zh-CN" altLang="en-US" sz="2000">
                <a:latin typeface="微软雅黑" panose="020B0503020204020204" pitchFamily="34" charset="-122"/>
                <a:ea typeface="微软雅黑" panose="020B0503020204020204" pitchFamily="34" charset="-122"/>
              </a:rPr>
              <a:t>帧</a:t>
            </a:r>
          </a:p>
        </p:txBody>
      </p:sp>
      <p:sp>
        <p:nvSpPr>
          <p:cNvPr id="65" name="Text Box 17"/>
          <p:cNvSpPr txBox="1">
            <a:spLocks noChangeArrowheads="1"/>
          </p:cNvSpPr>
          <p:nvPr/>
        </p:nvSpPr>
        <p:spPr bwMode="auto">
          <a:xfrm>
            <a:off x="1125370" y="2366075"/>
            <a:ext cx="946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2000">
                <a:latin typeface="微软雅黑" panose="020B0503020204020204" pitchFamily="34" charset="-122"/>
                <a:ea typeface="微软雅黑" panose="020B0503020204020204" pitchFamily="34" charset="-122"/>
              </a:rPr>
              <a:t>先发送</a:t>
            </a:r>
          </a:p>
        </p:txBody>
      </p:sp>
      <p:sp>
        <p:nvSpPr>
          <p:cNvPr id="66" name="Rectangle 18"/>
          <p:cNvSpPr>
            <a:spLocks noChangeArrowheads="1"/>
          </p:cNvSpPr>
          <p:nvPr/>
        </p:nvSpPr>
        <p:spPr bwMode="auto">
          <a:xfrm>
            <a:off x="2047708" y="2951863"/>
            <a:ext cx="7335837" cy="566737"/>
          </a:xfrm>
          <a:prstGeom prst="rect">
            <a:avLst/>
          </a:prstGeom>
          <a:solidFill>
            <a:srgbClr val="F4D0FF"/>
          </a:solidFill>
          <a:ln w="9525">
            <a:solidFill>
              <a:schemeClr val="accent1"/>
            </a:solidFill>
            <a:miter lim="800000"/>
            <a:headEnd/>
            <a:tailEnd/>
          </a:ln>
          <a:effectLst>
            <a:outerShdw dist="35921" dir="2700000" algn="ctr" rotWithShape="0">
              <a:schemeClr val="bg2"/>
            </a:outerShdw>
          </a:effectLst>
        </p:spPr>
        <p:txBody>
          <a:bodyPr wrap="none" anchor="ctr"/>
          <a:lstStyle/>
          <a:p>
            <a:pPr algn="ctr"/>
            <a:endParaRPr kumimoji="1" lang="zh-CN" altLang="zh-CN" sz="2000">
              <a:latin typeface="微软雅黑" panose="020B0503020204020204" pitchFamily="34" charset="-122"/>
              <a:ea typeface="微软雅黑" panose="020B0503020204020204" pitchFamily="34" charset="-122"/>
            </a:endParaRPr>
          </a:p>
        </p:txBody>
      </p:sp>
      <p:sp>
        <p:nvSpPr>
          <p:cNvPr id="67" name="Line 19"/>
          <p:cNvSpPr>
            <a:spLocks noChangeShapeType="1"/>
          </p:cNvSpPr>
          <p:nvPr/>
        </p:nvSpPr>
        <p:spPr bwMode="auto">
          <a:xfrm>
            <a:off x="2600157" y="2951863"/>
            <a:ext cx="0" cy="56673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68" name="Line 20"/>
          <p:cNvSpPr>
            <a:spLocks noChangeShapeType="1"/>
          </p:cNvSpPr>
          <p:nvPr/>
        </p:nvSpPr>
        <p:spPr bwMode="auto">
          <a:xfrm>
            <a:off x="8758070" y="2962975"/>
            <a:ext cx="0" cy="5556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69" name="Text Box 21"/>
          <p:cNvSpPr txBox="1">
            <a:spLocks noChangeArrowheads="1"/>
          </p:cNvSpPr>
          <p:nvPr/>
        </p:nvSpPr>
        <p:spPr bwMode="auto">
          <a:xfrm>
            <a:off x="2052470" y="3155063"/>
            <a:ext cx="4953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000">
                <a:latin typeface="微软雅黑" panose="020B0503020204020204" pitchFamily="34" charset="-122"/>
                <a:ea typeface="微软雅黑" panose="020B0503020204020204" pitchFamily="34" charset="-122"/>
              </a:rPr>
              <a:t>7E</a:t>
            </a:r>
          </a:p>
        </p:txBody>
      </p:sp>
      <p:sp>
        <p:nvSpPr>
          <p:cNvPr id="70" name="Line 22"/>
          <p:cNvSpPr>
            <a:spLocks noChangeShapeType="1"/>
          </p:cNvSpPr>
          <p:nvPr/>
        </p:nvSpPr>
        <p:spPr bwMode="auto">
          <a:xfrm>
            <a:off x="3143082" y="2962975"/>
            <a:ext cx="0" cy="5556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71" name="Line 23"/>
          <p:cNvSpPr>
            <a:spLocks noChangeShapeType="1"/>
          </p:cNvSpPr>
          <p:nvPr/>
        </p:nvSpPr>
        <p:spPr bwMode="auto">
          <a:xfrm>
            <a:off x="3686007" y="2951863"/>
            <a:ext cx="0" cy="56673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72" name="Text Box 24"/>
          <p:cNvSpPr txBox="1">
            <a:spLocks noChangeArrowheads="1"/>
          </p:cNvSpPr>
          <p:nvPr/>
        </p:nvSpPr>
        <p:spPr bwMode="auto">
          <a:xfrm>
            <a:off x="2595395" y="3155063"/>
            <a:ext cx="470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000">
                <a:latin typeface="微软雅黑" panose="020B0503020204020204" pitchFamily="34" charset="-122"/>
                <a:ea typeface="微软雅黑" panose="020B0503020204020204" pitchFamily="34" charset="-122"/>
              </a:rPr>
              <a:t>FF</a:t>
            </a:r>
          </a:p>
        </p:txBody>
      </p:sp>
      <p:sp>
        <p:nvSpPr>
          <p:cNvPr id="73" name="Text Box 25"/>
          <p:cNvSpPr txBox="1">
            <a:spLocks noChangeArrowheads="1"/>
          </p:cNvSpPr>
          <p:nvPr/>
        </p:nvSpPr>
        <p:spPr bwMode="auto">
          <a:xfrm>
            <a:off x="3131970" y="3155063"/>
            <a:ext cx="50206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000">
                <a:latin typeface="微软雅黑" panose="020B0503020204020204" pitchFamily="34" charset="-122"/>
                <a:ea typeface="微软雅黑" panose="020B0503020204020204" pitchFamily="34" charset="-122"/>
              </a:rPr>
              <a:t>03</a:t>
            </a:r>
          </a:p>
        </p:txBody>
      </p:sp>
      <p:sp>
        <p:nvSpPr>
          <p:cNvPr id="74" name="Text Box 26"/>
          <p:cNvSpPr txBox="1">
            <a:spLocks noChangeArrowheads="1"/>
          </p:cNvSpPr>
          <p:nvPr/>
        </p:nvSpPr>
        <p:spPr bwMode="auto">
          <a:xfrm>
            <a:off x="2128670" y="2918525"/>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000" dirty="0">
                <a:latin typeface="微软雅黑" panose="020B0503020204020204" pitchFamily="34" charset="-122"/>
                <a:ea typeface="微软雅黑" panose="020B0503020204020204" pitchFamily="34" charset="-122"/>
              </a:rPr>
              <a:t>F</a:t>
            </a:r>
          </a:p>
        </p:txBody>
      </p:sp>
      <p:sp>
        <p:nvSpPr>
          <p:cNvPr id="75" name="Text Box 27"/>
          <p:cNvSpPr txBox="1">
            <a:spLocks noChangeArrowheads="1"/>
          </p:cNvSpPr>
          <p:nvPr/>
        </p:nvSpPr>
        <p:spPr bwMode="auto">
          <a:xfrm>
            <a:off x="2636670" y="2916938"/>
            <a:ext cx="37702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000">
                <a:latin typeface="微软雅黑" panose="020B0503020204020204" pitchFamily="34" charset="-122"/>
                <a:ea typeface="微软雅黑" panose="020B0503020204020204" pitchFamily="34" charset="-122"/>
              </a:rPr>
              <a:t>A</a:t>
            </a:r>
          </a:p>
        </p:txBody>
      </p:sp>
      <p:sp>
        <p:nvSpPr>
          <p:cNvPr id="76" name="Text Box 28"/>
          <p:cNvSpPr txBox="1">
            <a:spLocks noChangeArrowheads="1"/>
          </p:cNvSpPr>
          <p:nvPr/>
        </p:nvSpPr>
        <p:spPr bwMode="auto">
          <a:xfrm>
            <a:off x="3146257" y="2918525"/>
            <a:ext cx="3683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000">
                <a:latin typeface="微软雅黑" panose="020B0503020204020204" pitchFamily="34" charset="-122"/>
                <a:ea typeface="微软雅黑" panose="020B0503020204020204" pitchFamily="34" charset="-122"/>
              </a:rPr>
              <a:t>C</a:t>
            </a:r>
          </a:p>
        </p:txBody>
      </p:sp>
      <p:sp>
        <p:nvSpPr>
          <p:cNvPr id="77" name="Text Box 29"/>
          <p:cNvSpPr txBox="1">
            <a:spLocks noChangeArrowheads="1"/>
          </p:cNvSpPr>
          <p:nvPr/>
        </p:nvSpPr>
        <p:spPr bwMode="auto">
          <a:xfrm>
            <a:off x="7872245" y="3016950"/>
            <a:ext cx="6543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000">
                <a:latin typeface="微软雅黑" panose="020B0503020204020204" pitchFamily="34" charset="-122"/>
                <a:ea typeface="微软雅黑" panose="020B0503020204020204" pitchFamily="34" charset="-122"/>
              </a:rPr>
              <a:t>FCS</a:t>
            </a:r>
          </a:p>
        </p:txBody>
      </p:sp>
      <p:sp>
        <p:nvSpPr>
          <p:cNvPr id="78" name="Text Box 30"/>
          <p:cNvSpPr txBox="1">
            <a:spLocks noChangeArrowheads="1"/>
          </p:cNvSpPr>
          <p:nvPr/>
        </p:nvSpPr>
        <p:spPr bwMode="auto">
          <a:xfrm>
            <a:off x="8875545" y="2939163"/>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000">
                <a:latin typeface="微软雅黑" panose="020B0503020204020204" pitchFamily="34" charset="-122"/>
                <a:ea typeface="微软雅黑" panose="020B0503020204020204" pitchFamily="34" charset="-122"/>
              </a:rPr>
              <a:t>F</a:t>
            </a:r>
          </a:p>
        </p:txBody>
      </p:sp>
      <p:sp>
        <p:nvSpPr>
          <p:cNvPr id="79" name="Text Box 31"/>
          <p:cNvSpPr txBox="1">
            <a:spLocks noChangeArrowheads="1"/>
          </p:cNvSpPr>
          <p:nvPr/>
        </p:nvSpPr>
        <p:spPr bwMode="auto">
          <a:xfrm>
            <a:off x="8815220" y="3155063"/>
            <a:ext cx="4953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000">
                <a:latin typeface="微软雅黑" panose="020B0503020204020204" pitchFamily="34" charset="-122"/>
                <a:ea typeface="微软雅黑" panose="020B0503020204020204" pitchFamily="34" charset="-122"/>
              </a:rPr>
              <a:t>7E</a:t>
            </a:r>
          </a:p>
        </p:txBody>
      </p:sp>
      <p:sp>
        <p:nvSpPr>
          <p:cNvPr id="80" name="Rectangle 32"/>
          <p:cNvSpPr>
            <a:spLocks noChangeArrowheads="1"/>
          </p:cNvSpPr>
          <p:nvPr/>
        </p:nvSpPr>
        <p:spPr bwMode="auto">
          <a:xfrm>
            <a:off x="4773445" y="2962974"/>
            <a:ext cx="2898775" cy="548176"/>
          </a:xfrm>
          <a:prstGeom prst="rect">
            <a:avLst/>
          </a:prstGeom>
          <a:solidFill>
            <a:schemeClr val="accent6">
              <a:lumMod val="20000"/>
              <a:lumOff val="80000"/>
            </a:schemeClr>
          </a:solidFill>
          <a:ln>
            <a:noFill/>
          </a:ln>
          <a:effec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81" name="Text Box 33"/>
          <p:cNvSpPr txBox="1">
            <a:spLocks noChangeArrowheads="1"/>
          </p:cNvSpPr>
          <p:nvPr/>
        </p:nvSpPr>
        <p:spPr bwMode="auto">
          <a:xfrm>
            <a:off x="3833645" y="3001075"/>
            <a:ext cx="692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2000">
                <a:latin typeface="微软雅黑" panose="020B0503020204020204" pitchFamily="34" charset="-122"/>
                <a:ea typeface="微软雅黑" panose="020B0503020204020204" pitchFamily="34" charset="-122"/>
              </a:rPr>
              <a:t>协议</a:t>
            </a:r>
          </a:p>
        </p:txBody>
      </p:sp>
      <p:sp>
        <p:nvSpPr>
          <p:cNvPr id="82" name="Text Box 34"/>
          <p:cNvSpPr txBox="1">
            <a:spLocks noChangeArrowheads="1"/>
          </p:cNvSpPr>
          <p:nvPr/>
        </p:nvSpPr>
        <p:spPr bwMode="auto">
          <a:xfrm>
            <a:off x="5135395" y="3024888"/>
            <a:ext cx="2114681" cy="400110"/>
          </a:xfrm>
          <a:prstGeom prst="rect">
            <a:avLst/>
          </a:prstGeom>
          <a:solidFill>
            <a:schemeClr val="accent6">
              <a:lumMod val="20000"/>
              <a:lumOff val="80000"/>
            </a:schemeClr>
          </a:solidFill>
          <a:ln w="9525">
            <a:noFill/>
            <a:miter lim="800000"/>
            <a:headEnd/>
            <a:tailEnd/>
          </a:ln>
          <a:effec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2000" dirty="0">
                <a:latin typeface="微软雅黑" panose="020B0503020204020204" pitchFamily="34" charset="-122"/>
                <a:ea typeface="微软雅黑" panose="020B0503020204020204" pitchFamily="34" charset="-122"/>
              </a:rPr>
              <a:t>信    息    部    分</a:t>
            </a:r>
          </a:p>
        </p:txBody>
      </p:sp>
      <p:sp>
        <p:nvSpPr>
          <p:cNvPr id="83" name="AutoShape 35"/>
          <p:cNvSpPr>
            <a:spLocks/>
          </p:cNvSpPr>
          <p:nvPr/>
        </p:nvSpPr>
        <p:spPr bwMode="auto">
          <a:xfrm rot="5400000">
            <a:off x="3326438" y="1504857"/>
            <a:ext cx="176213" cy="2717800"/>
          </a:xfrm>
          <a:prstGeom prst="leftBrace">
            <a:avLst>
              <a:gd name="adj1" fmla="val 128528"/>
              <a:gd name="adj2" fmla="val 50069"/>
            </a:avLst>
          </a:prstGeom>
          <a:noFill/>
          <a:ln w="9525">
            <a:solidFill>
              <a:schemeClr val="fo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84" name="AutoShape 36"/>
          <p:cNvSpPr>
            <a:spLocks/>
          </p:cNvSpPr>
          <p:nvPr/>
        </p:nvSpPr>
        <p:spPr bwMode="auto">
          <a:xfrm rot="5400000">
            <a:off x="8450888" y="2011270"/>
            <a:ext cx="161925" cy="1719262"/>
          </a:xfrm>
          <a:prstGeom prst="leftBrace">
            <a:avLst>
              <a:gd name="adj1" fmla="val 88480"/>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85" name="Text Box 37"/>
          <p:cNvSpPr txBox="1">
            <a:spLocks noChangeArrowheads="1"/>
          </p:cNvSpPr>
          <p:nvPr/>
        </p:nvSpPr>
        <p:spPr bwMode="auto">
          <a:xfrm>
            <a:off x="3052595" y="2447038"/>
            <a:ext cx="692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2000">
                <a:latin typeface="微软雅黑" panose="020B0503020204020204" pitchFamily="34" charset="-122"/>
                <a:ea typeface="微软雅黑" panose="020B0503020204020204" pitchFamily="34" charset="-122"/>
              </a:rPr>
              <a:t>首部</a:t>
            </a:r>
          </a:p>
        </p:txBody>
      </p:sp>
      <p:sp>
        <p:nvSpPr>
          <p:cNvPr id="86" name="Text Box 38"/>
          <p:cNvSpPr txBox="1">
            <a:spLocks noChangeArrowheads="1"/>
          </p:cNvSpPr>
          <p:nvPr/>
        </p:nvSpPr>
        <p:spPr bwMode="auto">
          <a:xfrm>
            <a:off x="8177045" y="2447038"/>
            <a:ext cx="692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2000">
                <a:latin typeface="微软雅黑" panose="020B0503020204020204" pitchFamily="34" charset="-122"/>
                <a:ea typeface="微软雅黑" panose="020B0503020204020204" pitchFamily="34" charset="-122"/>
              </a:rPr>
              <a:t>尾部</a:t>
            </a:r>
          </a:p>
        </p:txBody>
      </p:sp>
      <p:sp>
        <p:nvSpPr>
          <p:cNvPr id="87" name="Line 39"/>
          <p:cNvSpPr>
            <a:spLocks noChangeShapeType="1"/>
          </p:cNvSpPr>
          <p:nvPr/>
        </p:nvSpPr>
        <p:spPr bwMode="auto">
          <a:xfrm>
            <a:off x="2055645" y="2383538"/>
            <a:ext cx="0" cy="485775"/>
          </a:xfrm>
          <a:prstGeom prst="line">
            <a:avLst/>
          </a:prstGeom>
          <a:noFill/>
          <a:ln w="28575">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88" name="Line 40"/>
          <p:cNvSpPr>
            <a:spLocks noChangeShapeType="1"/>
          </p:cNvSpPr>
          <p:nvPr/>
        </p:nvSpPr>
        <p:spPr bwMode="auto">
          <a:xfrm>
            <a:off x="7672220" y="2923288"/>
            <a:ext cx="0" cy="595312"/>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89" name="Line 41"/>
          <p:cNvSpPr>
            <a:spLocks noChangeShapeType="1"/>
          </p:cNvSpPr>
          <p:nvPr/>
        </p:nvSpPr>
        <p:spPr bwMode="auto">
          <a:xfrm>
            <a:off x="4773445" y="2962975"/>
            <a:ext cx="0" cy="555625"/>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90" name="AutoShape 42"/>
          <p:cNvSpPr>
            <a:spLocks noChangeArrowheads="1"/>
          </p:cNvSpPr>
          <p:nvPr/>
        </p:nvSpPr>
        <p:spPr bwMode="auto">
          <a:xfrm>
            <a:off x="6041857" y="2520063"/>
            <a:ext cx="271463" cy="566737"/>
          </a:xfrm>
          <a:prstGeom prst="downArrow">
            <a:avLst>
              <a:gd name="adj1" fmla="val 50000"/>
              <a:gd name="adj2" fmla="val 78289"/>
            </a:avLst>
          </a:prstGeom>
          <a:solidFill>
            <a:schemeClr val="accent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latin typeface="微软雅黑" panose="020B0503020204020204" pitchFamily="34" charset="-122"/>
              <a:ea typeface="微软雅黑" panose="020B0503020204020204" pitchFamily="34" charset="-122"/>
            </a:endParaRPr>
          </a:p>
        </p:txBody>
      </p:sp>
      <p:sp>
        <p:nvSpPr>
          <p:cNvPr id="91" name="AutoShape 43"/>
          <p:cNvSpPr>
            <a:spLocks noChangeArrowheads="1"/>
          </p:cNvSpPr>
          <p:nvPr/>
        </p:nvSpPr>
        <p:spPr bwMode="auto">
          <a:xfrm>
            <a:off x="2482887" y="1536715"/>
            <a:ext cx="1800225" cy="358775"/>
          </a:xfrm>
          <a:prstGeom prst="wedgeRoundRectCallout">
            <a:avLst>
              <a:gd name="adj1" fmla="val 3968"/>
              <a:gd name="adj2" fmla="val 284954"/>
              <a:gd name="adj3" fmla="val 16667"/>
            </a:avLst>
          </a:prstGeom>
          <a:solidFill>
            <a:schemeClr val="accent2">
              <a:lumMod val="20000"/>
              <a:lumOff val="80000"/>
            </a:schemeClr>
          </a:solidFill>
          <a:ln w="9525">
            <a:solidFill>
              <a:schemeClr val="tx1"/>
            </a:solidFill>
            <a:miter lim="800000"/>
            <a:headEnd/>
            <a:tailEnd/>
          </a:ln>
          <a:effectLst/>
        </p:spPr>
        <p:txBody>
          <a:bodyPr/>
          <a:lstStyle/>
          <a:p>
            <a:pPr algn="ctr"/>
            <a:r>
              <a:rPr lang="zh-CN" altLang="en-US" dirty="0">
                <a:latin typeface="微软雅黑" panose="020B0503020204020204" pitchFamily="34" charset="-122"/>
                <a:ea typeface="微软雅黑" panose="020B0503020204020204" pitchFamily="34" charset="-122"/>
              </a:rPr>
              <a:t>首部四个字段</a:t>
            </a:r>
          </a:p>
        </p:txBody>
      </p:sp>
      <p:sp>
        <p:nvSpPr>
          <p:cNvPr id="92" name="AutoShape 44"/>
          <p:cNvSpPr>
            <a:spLocks noChangeArrowheads="1"/>
          </p:cNvSpPr>
          <p:nvPr/>
        </p:nvSpPr>
        <p:spPr bwMode="auto">
          <a:xfrm>
            <a:off x="7583320" y="1585025"/>
            <a:ext cx="1800225" cy="358775"/>
          </a:xfrm>
          <a:prstGeom prst="wedgeRoundRectCallout">
            <a:avLst>
              <a:gd name="adj1" fmla="val 3968"/>
              <a:gd name="adj2" fmla="val 284954"/>
              <a:gd name="adj3" fmla="val 16667"/>
            </a:avLst>
          </a:prstGeom>
          <a:solidFill>
            <a:schemeClr val="accent2">
              <a:lumMod val="20000"/>
              <a:lumOff val="80000"/>
            </a:schemeClr>
          </a:solidFill>
          <a:ln w="9525">
            <a:solidFill>
              <a:schemeClr val="tx1"/>
            </a:solidFill>
            <a:miter lim="800000"/>
            <a:headEnd/>
            <a:tailEnd/>
          </a:ln>
          <a:effectLst/>
        </p:spPr>
        <p:txBody>
          <a:bodyPr/>
          <a:lstStyle/>
          <a:p>
            <a:pPr algn="ctr"/>
            <a:r>
              <a:rPr lang="zh-CN" altLang="en-US" dirty="0">
                <a:latin typeface="微软雅黑" panose="020B0503020204020204" pitchFamily="34" charset="-122"/>
                <a:ea typeface="微软雅黑" panose="020B0503020204020204" pitchFamily="34" charset="-122"/>
              </a:rPr>
              <a:t>尾部两个字段</a:t>
            </a:r>
          </a:p>
        </p:txBody>
      </p:sp>
      <p:sp>
        <p:nvSpPr>
          <p:cNvPr id="94" name="AutoShape 47"/>
          <p:cNvSpPr>
            <a:spLocks noChangeArrowheads="1"/>
          </p:cNvSpPr>
          <p:nvPr/>
        </p:nvSpPr>
        <p:spPr bwMode="auto">
          <a:xfrm>
            <a:off x="9110727" y="1435542"/>
            <a:ext cx="2641147" cy="906633"/>
          </a:xfrm>
          <a:prstGeom prst="wedgeRoundRectCallout">
            <a:avLst>
              <a:gd name="adj1" fmla="val -46794"/>
              <a:gd name="adj2" fmla="val 121848"/>
              <a:gd name="adj3" fmla="val 16667"/>
            </a:avLst>
          </a:prstGeom>
          <a:solidFill>
            <a:schemeClr val="accent2">
              <a:lumMod val="20000"/>
              <a:lumOff val="80000"/>
            </a:schemeClr>
          </a:solidFill>
          <a:ln w="9525">
            <a:solidFill>
              <a:schemeClr val="tx1"/>
            </a:solidFill>
            <a:miter lim="800000"/>
            <a:headEnd/>
            <a:tailEnd/>
          </a:ln>
          <a:effectLst/>
        </p:spPr>
        <p:txBody>
          <a:bodyPr/>
          <a:lstStyle/>
          <a:p>
            <a:pPr algn="ctr"/>
            <a:r>
              <a:rPr lang="zh-CN" altLang="en-US" dirty="0">
                <a:latin typeface="微软雅黑" panose="020B0503020204020204" pitchFamily="34" charset="-122"/>
                <a:ea typeface="微软雅黑" panose="020B0503020204020204" pitchFamily="34" charset="-122"/>
              </a:rPr>
              <a:t>标志字段</a:t>
            </a:r>
            <a:r>
              <a:rPr lang="en-US" altLang="zh-CN" dirty="0">
                <a:latin typeface="微软雅黑" panose="020B0503020204020204" pitchFamily="34" charset="-122"/>
                <a:ea typeface="微软雅黑" panose="020B0503020204020204" pitchFamily="34" charset="-122"/>
              </a:rPr>
              <a:t>F(Flag)01111110 PPP</a:t>
            </a:r>
            <a:r>
              <a:rPr lang="zh-CN" altLang="en-US" dirty="0">
                <a:latin typeface="微软雅黑" panose="020B0503020204020204" pitchFamily="34" charset="-122"/>
                <a:ea typeface="微软雅黑" panose="020B0503020204020204" pitchFamily="34" charset="-122"/>
              </a:rPr>
              <a:t>帧的定界符</a:t>
            </a:r>
          </a:p>
        </p:txBody>
      </p:sp>
      <p:sp>
        <p:nvSpPr>
          <p:cNvPr id="95" name="AutoShape 49"/>
          <p:cNvSpPr>
            <a:spLocks noChangeArrowheads="1"/>
          </p:cNvSpPr>
          <p:nvPr/>
        </p:nvSpPr>
        <p:spPr bwMode="auto">
          <a:xfrm>
            <a:off x="885657" y="4393313"/>
            <a:ext cx="1800225" cy="358775"/>
          </a:xfrm>
          <a:prstGeom prst="wedgeRoundRectCallout">
            <a:avLst>
              <a:gd name="adj1" fmla="val 58819"/>
              <a:gd name="adj2" fmla="val -300884"/>
              <a:gd name="adj3" fmla="val 16667"/>
            </a:avLst>
          </a:prstGeom>
          <a:solidFill>
            <a:schemeClr val="accent2">
              <a:lumMod val="20000"/>
              <a:lumOff val="80000"/>
            </a:schemeClr>
          </a:solidFill>
          <a:ln w="9525">
            <a:solidFill>
              <a:schemeClr val="tx1"/>
            </a:solidFill>
            <a:miter lim="800000"/>
            <a:headEnd/>
            <a:tailEnd/>
          </a:ln>
          <a:effectLst/>
        </p:spPr>
        <p:txBody>
          <a:bodyPr/>
          <a:lstStyle/>
          <a:p>
            <a:pPr algn="ctr"/>
            <a:r>
              <a:rPr lang="zh-CN" altLang="en-US">
                <a:latin typeface="微软雅黑" panose="020B0503020204020204" pitchFamily="34" charset="-122"/>
                <a:ea typeface="微软雅黑" panose="020B0503020204020204" pitchFamily="34" charset="-122"/>
              </a:rPr>
              <a:t>地址字段</a:t>
            </a:r>
            <a:r>
              <a:rPr lang="en-US" altLang="zh-CN">
                <a:latin typeface="微软雅黑" panose="020B0503020204020204" pitchFamily="34" charset="-122"/>
                <a:ea typeface="微软雅黑" panose="020B0503020204020204" pitchFamily="34" charset="-122"/>
              </a:rPr>
              <a:t>A</a:t>
            </a:r>
          </a:p>
        </p:txBody>
      </p:sp>
      <p:sp>
        <p:nvSpPr>
          <p:cNvPr id="96" name="AutoShape 51"/>
          <p:cNvSpPr>
            <a:spLocks noChangeArrowheads="1"/>
          </p:cNvSpPr>
          <p:nvPr/>
        </p:nvSpPr>
        <p:spPr bwMode="auto">
          <a:xfrm>
            <a:off x="2830345" y="4393313"/>
            <a:ext cx="1800225" cy="358775"/>
          </a:xfrm>
          <a:prstGeom prst="wedgeRoundRectCallout">
            <a:avLst>
              <a:gd name="adj1" fmla="val -21431"/>
              <a:gd name="adj2" fmla="val -306194"/>
              <a:gd name="adj3" fmla="val 16667"/>
            </a:avLst>
          </a:prstGeom>
          <a:solidFill>
            <a:schemeClr val="accent2">
              <a:lumMod val="20000"/>
              <a:lumOff val="80000"/>
            </a:schemeClr>
          </a:solidFill>
          <a:ln w="9525">
            <a:solidFill>
              <a:schemeClr val="tx1"/>
            </a:solidFill>
            <a:miter lim="800000"/>
            <a:headEnd/>
            <a:tailEnd/>
          </a:ln>
          <a:effectLst/>
        </p:spPr>
        <p:txBody>
          <a:bodyPr/>
          <a:lstStyle/>
          <a:p>
            <a:pPr algn="ctr"/>
            <a:r>
              <a:rPr lang="zh-CN" altLang="en-US">
                <a:latin typeface="微软雅黑" panose="020B0503020204020204" pitchFamily="34" charset="-122"/>
                <a:ea typeface="微软雅黑" panose="020B0503020204020204" pitchFamily="34" charset="-122"/>
              </a:rPr>
              <a:t>控制字段</a:t>
            </a:r>
            <a:r>
              <a:rPr lang="en-US" altLang="zh-CN">
                <a:latin typeface="微软雅黑" panose="020B0503020204020204" pitchFamily="34" charset="-122"/>
                <a:ea typeface="微软雅黑" panose="020B0503020204020204" pitchFamily="34" charset="-122"/>
              </a:rPr>
              <a:t>C</a:t>
            </a:r>
          </a:p>
        </p:txBody>
      </p:sp>
      <p:sp>
        <p:nvSpPr>
          <p:cNvPr id="97" name="Text Box 52"/>
          <p:cNvSpPr txBox="1">
            <a:spLocks noChangeArrowheads="1"/>
          </p:cNvSpPr>
          <p:nvPr/>
        </p:nvSpPr>
        <p:spPr bwMode="auto">
          <a:xfrm>
            <a:off x="2447536" y="4736210"/>
            <a:ext cx="2808287"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spcBef>
                <a:spcPct val="50000"/>
              </a:spcBef>
            </a:pPr>
            <a:r>
              <a:rPr lang="zh-CN" altLang="en-US" dirty="0">
                <a:latin typeface="微软雅黑" panose="020B0503020204020204" pitchFamily="34" charset="-122"/>
                <a:ea typeface="微软雅黑" panose="020B0503020204020204" pitchFamily="34" charset="-122"/>
              </a:rPr>
              <a:t>没有携带</a:t>
            </a:r>
            <a:r>
              <a:rPr lang="en-US" altLang="zh-CN" dirty="0">
                <a:latin typeface="微软雅黑" panose="020B0503020204020204" pitchFamily="34" charset="-122"/>
                <a:ea typeface="微软雅黑" panose="020B0503020204020204" pitchFamily="34" charset="-122"/>
              </a:rPr>
              <a:t>PPP</a:t>
            </a:r>
            <a:r>
              <a:rPr lang="zh-CN" altLang="en-US" dirty="0">
                <a:latin typeface="微软雅黑" panose="020B0503020204020204" pitchFamily="34" charset="-122"/>
                <a:ea typeface="微软雅黑" panose="020B0503020204020204" pitchFamily="34" charset="-122"/>
              </a:rPr>
              <a:t>帧的信息</a:t>
            </a:r>
          </a:p>
        </p:txBody>
      </p:sp>
      <p:sp>
        <p:nvSpPr>
          <p:cNvPr id="98" name="AutoShape 54"/>
          <p:cNvSpPr>
            <a:spLocks noChangeArrowheads="1"/>
          </p:cNvSpPr>
          <p:nvPr/>
        </p:nvSpPr>
        <p:spPr bwMode="auto">
          <a:xfrm>
            <a:off x="7654757" y="4320288"/>
            <a:ext cx="1800225" cy="649287"/>
          </a:xfrm>
          <a:prstGeom prst="wedgeRoundRectCallout">
            <a:avLst>
              <a:gd name="adj1" fmla="val -21431"/>
              <a:gd name="adj2" fmla="val -191565"/>
              <a:gd name="adj3" fmla="val 16667"/>
            </a:avLst>
          </a:prstGeom>
          <a:solidFill>
            <a:schemeClr val="accent2">
              <a:lumMod val="20000"/>
              <a:lumOff val="80000"/>
            </a:schemeClr>
          </a:solidFill>
          <a:ln w="9525">
            <a:solidFill>
              <a:schemeClr val="tx1"/>
            </a:solidFill>
            <a:miter lim="800000"/>
            <a:headEnd/>
            <a:tailEnd/>
          </a:ln>
          <a:effectLst/>
        </p:spPr>
        <p:txBody>
          <a:bodyPr/>
          <a:lstStyle/>
          <a:p>
            <a:pPr algn="ctr"/>
            <a:r>
              <a:rPr lang="en-US" altLang="zh-CN" dirty="0">
                <a:latin typeface="微软雅黑" panose="020B0503020204020204" pitchFamily="34" charset="-122"/>
                <a:ea typeface="微软雅黑" panose="020B0503020204020204" pitchFamily="34" charset="-122"/>
              </a:rPr>
              <a:t>CRC</a:t>
            </a:r>
            <a:r>
              <a:rPr lang="zh-CN" altLang="en-US" dirty="0">
                <a:latin typeface="微软雅黑" panose="020B0503020204020204" pitchFamily="34" charset="-122"/>
                <a:ea typeface="微软雅黑" panose="020B0503020204020204" pitchFamily="34" charset="-122"/>
              </a:rPr>
              <a:t>的帧检验序列</a:t>
            </a:r>
          </a:p>
        </p:txBody>
      </p:sp>
      <p:sp>
        <p:nvSpPr>
          <p:cNvPr id="50" name="文本框 49">
            <a:extLst>
              <a:ext uri="{FF2B5EF4-FFF2-40B4-BE49-F238E27FC236}">
                <a16:creationId xmlns:a16="http://schemas.microsoft.com/office/drawing/2014/main" id="{CD38F441-ECFB-4CDB-BDA7-57C4A60FAB2C}"/>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
        <p:nvSpPr>
          <p:cNvPr id="93" name="AutoShape 54"/>
          <p:cNvSpPr>
            <a:spLocks noChangeArrowheads="1"/>
          </p:cNvSpPr>
          <p:nvPr/>
        </p:nvSpPr>
        <p:spPr bwMode="auto">
          <a:xfrm>
            <a:off x="4762337" y="4513892"/>
            <a:ext cx="3760249" cy="1324411"/>
          </a:xfrm>
          <a:prstGeom prst="wedgeRoundRectCallout">
            <a:avLst>
              <a:gd name="adj1" fmla="val -65444"/>
              <a:gd name="adj2" fmla="val -122103"/>
              <a:gd name="adj3" fmla="val 16667"/>
            </a:avLst>
          </a:prstGeom>
          <a:solidFill>
            <a:schemeClr val="accent2">
              <a:lumMod val="20000"/>
              <a:lumOff val="80000"/>
            </a:schemeClr>
          </a:solidFill>
          <a:ln w="9525">
            <a:solidFill>
              <a:schemeClr val="tx1"/>
            </a:solidFill>
            <a:miter lim="800000"/>
            <a:headEnd/>
            <a:tailEnd/>
          </a:ln>
          <a:effectLst/>
        </p:spPr>
        <p:txBody>
          <a:bodyPr/>
          <a:lstStyle/>
          <a:p>
            <a:pPr>
              <a:lnSpc>
                <a:spcPts val="2300"/>
              </a:lnSpc>
            </a:pPr>
            <a:r>
              <a:rPr lang="zh-CN" altLang="en-US" dirty="0">
                <a:latin typeface="微软雅黑" panose="020B0503020204020204" pitchFamily="34" charset="-122"/>
                <a:ea typeface="微软雅黑" panose="020B0503020204020204" pitchFamily="34" charset="-122"/>
              </a:rPr>
              <a:t>协议字段：标识信息部分的类型</a:t>
            </a:r>
            <a:endParaRPr lang="en-US" altLang="zh-CN" dirty="0">
              <a:latin typeface="微软雅黑" panose="020B0503020204020204" pitchFamily="34" charset="-122"/>
              <a:ea typeface="微软雅黑" panose="020B0503020204020204" pitchFamily="34" charset="-122"/>
            </a:endParaRPr>
          </a:p>
          <a:p>
            <a:pPr marL="263525" lvl="1" indent="-263525">
              <a:lnSpc>
                <a:spcPts val="2300"/>
              </a:lnSpc>
              <a:buFont typeface="Arial" panose="020B0604020202020204" pitchFamily="34" charset="0"/>
              <a:buChar char="•"/>
            </a:pPr>
            <a:r>
              <a:rPr lang="en-US" altLang="zh-CN" dirty="0">
                <a:latin typeface="微软雅黑" panose="020B0503020204020204" pitchFamily="34" charset="-122"/>
                <a:ea typeface="微软雅黑" panose="020B0503020204020204" pitchFamily="34" charset="-122"/>
              </a:rPr>
              <a:t>0x0021</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IP </a:t>
            </a:r>
            <a:r>
              <a:rPr lang="zh-CN" altLang="en-US" dirty="0">
                <a:latin typeface="微软雅黑" panose="020B0503020204020204" pitchFamily="34" charset="-122"/>
                <a:ea typeface="微软雅黑" panose="020B0503020204020204" pitchFamily="34" charset="-122"/>
              </a:rPr>
              <a:t>数据报</a:t>
            </a:r>
            <a:endParaRPr lang="en-US" altLang="zh-CN" dirty="0">
              <a:latin typeface="微软雅黑" panose="020B0503020204020204" pitchFamily="34" charset="-122"/>
              <a:ea typeface="微软雅黑" panose="020B0503020204020204" pitchFamily="34" charset="-122"/>
            </a:endParaRPr>
          </a:p>
          <a:p>
            <a:pPr marL="263525" lvl="1" indent="-263525">
              <a:lnSpc>
                <a:spcPts val="2300"/>
              </a:lnSpc>
              <a:buFont typeface="Arial" panose="020B0604020202020204" pitchFamily="34" charset="0"/>
              <a:buChar char="•"/>
            </a:pPr>
            <a:r>
              <a:rPr lang="en-US" altLang="zh-CN" dirty="0">
                <a:latin typeface="微软雅黑" panose="020B0503020204020204" pitchFamily="34" charset="-122"/>
                <a:ea typeface="微软雅黑" panose="020B0503020204020204" pitchFamily="34" charset="-122"/>
              </a:rPr>
              <a:t>0x8021</a:t>
            </a:r>
            <a:r>
              <a:rPr lang="zh-CN" altLang="en-US" dirty="0">
                <a:latin typeface="微软雅黑" panose="020B0503020204020204" pitchFamily="34" charset="-122"/>
                <a:ea typeface="微软雅黑" panose="020B0503020204020204" pitchFamily="34" charset="-122"/>
              </a:rPr>
              <a:t>：网络控制数据 </a:t>
            </a:r>
            <a:r>
              <a:rPr lang="en-US" altLang="zh-CN" dirty="0">
                <a:latin typeface="微软雅黑" panose="020B0503020204020204" pitchFamily="34" charset="-122"/>
                <a:ea typeface="微软雅黑" panose="020B0503020204020204" pitchFamily="34" charset="-122"/>
              </a:rPr>
              <a:t>NCP</a:t>
            </a:r>
          </a:p>
          <a:p>
            <a:pPr marL="263525" lvl="1" indent="-263525">
              <a:lnSpc>
                <a:spcPts val="2300"/>
              </a:lnSpc>
              <a:buFont typeface="Arial" panose="020B0604020202020204" pitchFamily="34" charset="0"/>
              <a:buChar char="•"/>
            </a:pPr>
            <a:r>
              <a:rPr lang="en-US" altLang="zh-CN" dirty="0">
                <a:latin typeface="微软雅黑" panose="020B0503020204020204" pitchFamily="34" charset="-122"/>
                <a:ea typeface="微软雅黑" panose="020B0503020204020204" pitchFamily="34" charset="-122"/>
              </a:rPr>
              <a:t>0xC021</a:t>
            </a:r>
            <a:r>
              <a:rPr lang="zh-CN" altLang="en-US" dirty="0">
                <a:latin typeface="微软雅黑" panose="020B0503020204020204" pitchFamily="34" charset="-122"/>
                <a:ea typeface="微软雅黑" panose="020B0503020204020204" pitchFamily="34" charset="-122"/>
              </a:rPr>
              <a:t>：链路控制数据 </a:t>
            </a:r>
            <a:r>
              <a:rPr lang="en-US" altLang="zh-CN" dirty="0">
                <a:latin typeface="微软雅黑" panose="020B0503020204020204" pitchFamily="34" charset="-122"/>
                <a:ea typeface="微软雅黑" panose="020B0503020204020204" pitchFamily="34" charset="-122"/>
              </a:rPr>
              <a:t>LCP</a:t>
            </a:r>
          </a:p>
        </p:txBody>
      </p:sp>
    </p:spTree>
    <p:extLst>
      <p:ext uri="{BB962C8B-B14F-4D97-AF65-F5344CB8AC3E}">
        <p14:creationId xmlns:p14="http://schemas.microsoft.com/office/powerpoint/2010/main" val="2926869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91"/>
                                        </p:tgtEl>
                                        <p:attrNameLst>
                                          <p:attrName>style.visibility</p:attrName>
                                        </p:attrNameLst>
                                      </p:cBhvr>
                                      <p:to>
                                        <p:strVal val="visible"/>
                                      </p:to>
                                    </p:set>
                                    <p:animEffect transition="in" filter="wipe(up)">
                                      <p:cBhvr>
                                        <p:cTn id="7" dur="500"/>
                                        <p:tgtEl>
                                          <p:spTgt spid="91"/>
                                        </p:tgtEl>
                                      </p:cBhvr>
                                    </p:animEffect>
                                  </p:childTnLst>
                                  <p:subTnLst>
                                    <p:set>
                                      <p:cBhvr override="childStyle">
                                        <p:cTn dur="1" fill="hold" display="0" masterRel="nextClick" afterEffect="1"/>
                                        <p:tgtEl>
                                          <p:spTgt spid="91"/>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92"/>
                                        </p:tgtEl>
                                        <p:attrNameLst>
                                          <p:attrName>style.visibility</p:attrName>
                                        </p:attrNameLst>
                                      </p:cBhvr>
                                      <p:to>
                                        <p:strVal val="visible"/>
                                      </p:to>
                                    </p:set>
                                    <p:animEffect transition="in" filter="wipe(up)">
                                      <p:cBhvr>
                                        <p:cTn id="12" dur="500"/>
                                        <p:tgtEl>
                                          <p:spTgt spid="92"/>
                                        </p:tgtEl>
                                      </p:cBhvr>
                                    </p:animEffect>
                                  </p:childTnLst>
                                  <p:subTnLst>
                                    <p:set>
                                      <p:cBhvr override="childStyle">
                                        <p:cTn dur="1" fill="hold" display="0" masterRel="nextClick" afterEffect="1"/>
                                        <p:tgtEl>
                                          <p:spTgt spid="92"/>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94"/>
                                        </p:tgtEl>
                                        <p:attrNameLst>
                                          <p:attrName>style.visibility</p:attrName>
                                        </p:attrNameLst>
                                      </p:cBhvr>
                                      <p:to>
                                        <p:strVal val="visible"/>
                                      </p:to>
                                    </p:set>
                                    <p:animEffect transition="in" filter="wipe(up)">
                                      <p:cBhvr>
                                        <p:cTn id="17" dur="500"/>
                                        <p:tgtEl>
                                          <p:spTgt spid="94"/>
                                        </p:tgtEl>
                                      </p:cBhvr>
                                    </p:animEffect>
                                  </p:childTnLst>
                                  <p:subTnLst>
                                    <p:set>
                                      <p:cBhvr override="childStyle">
                                        <p:cTn dur="1" fill="hold" display="0" masterRel="nextClick" afterEffect="1"/>
                                        <p:tgtEl>
                                          <p:spTgt spid="94"/>
                                        </p:tgtEl>
                                        <p:attrNameLst>
                                          <p:attrName>style.visibility</p:attrName>
                                        </p:attrNameLst>
                                      </p:cBhvr>
                                      <p:to>
                                        <p:strVal val="hidden"/>
                                      </p:to>
                                    </p:set>
                                  </p:sub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95"/>
                                        </p:tgtEl>
                                        <p:attrNameLst>
                                          <p:attrName>style.visibility</p:attrName>
                                        </p:attrNameLst>
                                      </p:cBhvr>
                                      <p:to>
                                        <p:strVal val="visible"/>
                                      </p:to>
                                    </p:set>
                                    <p:animEffect transition="in" filter="wipe(up)">
                                      <p:cBhvr>
                                        <p:cTn id="22" dur="500"/>
                                        <p:tgtEl>
                                          <p:spTgt spid="95"/>
                                        </p:tgtEl>
                                      </p:cBhvr>
                                    </p:animEffect>
                                  </p:childTnLst>
                                  <p:subTnLst>
                                    <p:set>
                                      <p:cBhvr override="childStyle">
                                        <p:cTn dur="1" fill="hold" display="0" masterRel="nextClick" afterEffect="1"/>
                                        <p:tgtEl>
                                          <p:spTgt spid="95"/>
                                        </p:tgtEl>
                                        <p:attrNameLst>
                                          <p:attrName>style.visibility</p:attrName>
                                        </p:attrNameLst>
                                      </p:cBhvr>
                                      <p:to>
                                        <p:strVal val="hidden"/>
                                      </p:to>
                                    </p:set>
                                  </p:subTnLst>
                                </p:cTn>
                              </p:par>
                              <p:par>
                                <p:cTn id="23" presetID="22" presetClass="entr" presetSubtype="1" fill="hold" grpId="0" nodeType="withEffect">
                                  <p:stCondLst>
                                    <p:cond delay="0"/>
                                  </p:stCondLst>
                                  <p:childTnLst>
                                    <p:set>
                                      <p:cBhvr>
                                        <p:cTn id="24" dur="1" fill="hold">
                                          <p:stCondLst>
                                            <p:cond delay="0"/>
                                          </p:stCondLst>
                                        </p:cTn>
                                        <p:tgtEl>
                                          <p:spTgt spid="96"/>
                                        </p:tgtEl>
                                        <p:attrNameLst>
                                          <p:attrName>style.visibility</p:attrName>
                                        </p:attrNameLst>
                                      </p:cBhvr>
                                      <p:to>
                                        <p:strVal val="visible"/>
                                      </p:to>
                                    </p:set>
                                    <p:animEffect transition="in" filter="wipe(up)">
                                      <p:cBhvr>
                                        <p:cTn id="25" dur="500"/>
                                        <p:tgtEl>
                                          <p:spTgt spid="96"/>
                                        </p:tgtEl>
                                      </p:cBhvr>
                                    </p:animEffect>
                                  </p:childTnLst>
                                  <p:subTnLst>
                                    <p:set>
                                      <p:cBhvr override="childStyle">
                                        <p:cTn dur="1" fill="hold" display="0" masterRel="nextClick" afterEffect="1"/>
                                        <p:tgtEl>
                                          <p:spTgt spid="96"/>
                                        </p:tgtEl>
                                        <p:attrNameLst>
                                          <p:attrName>style.visibility</p:attrName>
                                        </p:attrNameLst>
                                      </p:cBhvr>
                                      <p:to>
                                        <p:strVal val="hidden"/>
                                      </p:to>
                                    </p:set>
                                  </p:subTnLst>
                                </p:cTn>
                              </p:par>
                              <p:par>
                                <p:cTn id="26" presetID="22" presetClass="entr" presetSubtype="8" fill="hold" grpId="0" nodeType="withEffect">
                                  <p:stCondLst>
                                    <p:cond delay="0"/>
                                  </p:stCondLst>
                                  <p:childTnLst>
                                    <p:set>
                                      <p:cBhvr>
                                        <p:cTn id="27" dur="1" fill="hold">
                                          <p:stCondLst>
                                            <p:cond delay="0"/>
                                          </p:stCondLst>
                                        </p:cTn>
                                        <p:tgtEl>
                                          <p:spTgt spid="97"/>
                                        </p:tgtEl>
                                        <p:attrNameLst>
                                          <p:attrName>style.visibility</p:attrName>
                                        </p:attrNameLst>
                                      </p:cBhvr>
                                      <p:to>
                                        <p:strVal val="visible"/>
                                      </p:to>
                                    </p:set>
                                    <p:animEffect transition="in" filter="wipe(left)">
                                      <p:cBhvr>
                                        <p:cTn id="28" dur="500"/>
                                        <p:tgtEl>
                                          <p:spTgt spid="97"/>
                                        </p:tgtEl>
                                      </p:cBhvr>
                                    </p:animEffect>
                                  </p:childTnLst>
                                  <p:subTnLst>
                                    <p:set>
                                      <p:cBhvr override="childStyle">
                                        <p:cTn dur="1" fill="hold" display="0" masterRel="nextClick" afterEffect="1"/>
                                        <p:tgtEl>
                                          <p:spTgt spid="97"/>
                                        </p:tgtEl>
                                        <p:attrNameLst>
                                          <p:attrName>style.visibility</p:attrName>
                                        </p:attrNameLst>
                                      </p:cBhvr>
                                      <p:to>
                                        <p:strVal val="hidden"/>
                                      </p:to>
                                    </p:set>
                                  </p:subTnLst>
                                </p:cTn>
                              </p:par>
                            </p:childTnLst>
                          </p:cTn>
                        </p:par>
                      </p:childTnLst>
                    </p:cTn>
                  </p:par>
                  <p:par>
                    <p:cTn id="29" fill="hold">
                      <p:stCondLst>
                        <p:cond delay="indefinite"/>
                      </p:stCondLst>
                      <p:childTnLst>
                        <p:par>
                          <p:cTn id="30" fill="hold">
                            <p:stCondLst>
                              <p:cond delay="0"/>
                            </p:stCondLst>
                            <p:childTnLst>
                              <p:par>
                                <p:cTn id="31" presetID="22" presetClass="entr" presetSubtype="1" fill="hold" grpId="0" nodeType="clickEffect">
                                  <p:stCondLst>
                                    <p:cond delay="0"/>
                                  </p:stCondLst>
                                  <p:childTnLst>
                                    <p:set>
                                      <p:cBhvr>
                                        <p:cTn id="32" dur="1" fill="hold">
                                          <p:stCondLst>
                                            <p:cond delay="0"/>
                                          </p:stCondLst>
                                        </p:cTn>
                                        <p:tgtEl>
                                          <p:spTgt spid="52"/>
                                        </p:tgtEl>
                                        <p:attrNameLst>
                                          <p:attrName>style.visibility</p:attrName>
                                        </p:attrNameLst>
                                      </p:cBhvr>
                                      <p:to>
                                        <p:strVal val="visible"/>
                                      </p:to>
                                    </p:set>
                                    <p:animEffect transition="in" filter="wipe(up)">
                                      <p:cBhvr>
                                        <p:cTn id="33" dur="500"/>
                                        <p:tgtEl>
                                          <p:spTgt spid="52"/>
                                        </p:tgtEl>
                                      </p:cBhvr>
                                    </p:animEffect>
                                  </p:childTnLst>
                                </p:cTn>
                              </p:par>
                              <p:par>
                                <p:cTn id="34" presetID="22" presetClass="entr" presetSubtype="1" fill="hold" grpId="0" nodeType="withEffect">
                                  <p:stCondLst>
                                    <p:cond delay="0"/>
                                  </p:stCondLst>
                                  <p:childTnLst>
                                    <p:set>
                                      <p:cBhvr>
                                        <p:cTn id="35" dur="1" fill="hold">
                                          <p:stCondLst>
                                            <p:cond delay="0"/>
                                          </p:stCondLst>
                                        </p:cTn>
                                        <p:tgtEl>
                                          <p:spTgt spid="90"/>
                                        </p:tgtEl>
                                        <p:attrNameLst>
                                          <p:attrName>style.visibility</p:attrName>
                                        </p:attrNameLst>
                                      </p:cBhvr>
                                      <p:to>
                                        <p:strVal val="visible"/>
                                      </p:to>
                                    </p:set>
                                    <p:animEffect transition="in" filter="wipe(up)">
                                      <p:cBhvr>
                                        <p:cTn id="36" dur="500"/>
                                        <p:tgtEl>
                                          <p:spTgt spid="90"/>
                                        </p:tgtEl>
                                      </p:cBhvr>
                                    </p:animEffect>
                                  </p:childTnLst>
                                </p:cTn>
                              </p:par>
                              <p:par>
                                <p:cTn id="37" presetID="1" presetClass="entr" presetSubtype="0" fill="hold" nodeType="withEffect">
                                  <p:stCondLst>
                                    <p:cond delay="0"/>
                                  </p:stCondLst>
                                  <p:childTnLst>
                                    <p:set>
                                      <p:cBhvr>
                                        <p:cTn id="38" dur="1" fill="hold">
                                          <p:stCondLst>
                                            <p:cond delay="0"/>
                                          </p:stCondLst>
                                        </p:cTn>
                                        <p:tgtEl>
                                          <p:spTgt spid="62">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grpId="0" nodeType="clickEffect">
                                  <p:stCondLst>
                                    <p:cond delay="0"/>
                                  </p:stCondLst>
                                  <p:childTnLst>
                                    <p:set>
                                      <p:cBhvr>
                                        <p:cTn id="42" dur="1" fill="hold">
                                          <p:stCondLst>
                                            <p:cond delay="0"/>
                                          </p:stCondLst>
                                        </p:cTn>
                                        <p:tgtEl>
                                          <p:spTgt spid="98"/>
                                        </p:tgtEl>
                                        <p:attrNameLst>
                                          <p:attrName>style.visibility</p:attrName>
                                        </p:attrNameLst>
                                      </p:cBhvr>
                                      <p:to>
                                        <p:strVal val="visible"/>
                                      </p:to>
                                    </p:set>
                                    <p:animEffect transition="in" filter="wipe(up)">
                                      <p:cBhvr>
                                        <p:cTn id="43" dur="500"/>
                                        <p:tgtEl>
                                          <p:spTgt spid="98"/>
                                        </p:tgtEl>
                                      </p:cBhvr>
                                    </p:animEffect>
                                  </p:childTnLst>
                                  <p:subTnLst>
                                    <p:set>
                                      <p:cBhvr override="childStyle">
                                        <p:cTn dur="1" fill="hold" display="0" masterRel="nextClick" afterEffect="1"/>
                                        <p:tgtEl>
                                          <p:spTgt spid="98"/>
                                        </p:tgtEl>
                                        <p:attrNameLst>
                                          <p:attrName>style.visibility</p:attrName>
                                        </p:attrNameLst>
                                      </p:cBhvr>
                                      <p:to>
                                        <p:strVal val="hidden"/>
                                      </p:to>
                                    </p:set>
                                  </p:subTnLst>
                                </p:cTn>
                              </p:par>
                            </p:childTnLst>
                          </p:cTn>
                        </p:par>
                      </p:childTnLst>
                    </p:cTn>
                  </p:par>
                  <p:par>
                    <p:cTn id="44" fill="hold">
                      <p:stCondLst>
                        <p:cond delay="indefinite"/>
                      </p:stCondLst>
                      <p:childTnLst>
                        <p:par>
                          <p:cTn id="45" fill="hold">
                            <p:stCondLst>
                              <p:cond delay="0"/>
                            </p:stCondLst>
                            <p:childTnLst>
                              <p:par>
                                <p:cTn id="46" presetID="22" presetClass="entr" presetSubtype="1" fill="hold" grpId="0" nodeType="clickEffect">
                                  <p:stCondLst>
                                    <p:cond delay="0"/>
                                  </p:stCondLst>
                                  <p:childTnLst>
                                    <p:set>
                                      <p:cBhvr>
                                        <p:cTn id="47" dur="1" fill="hold">
                                          <p:stCondLst>
                                            <p:cond delay="0"/>
                                          </p:stCondLst>
                                        </p:cTn>
                                        <p:tgtEl>
                                          <p:spTgt spid="93"/>
                                        </p:tgtEl>
                                        <p:attrNameLst>
                                          <p:attrName>style.visibility</p:attrName>
                                        </p:attrNameLst>
                                      </p:cBhvr>
                                      <p:to>
                                        <p:strVal val="visible"/>
                                      </p:to>
                                    </p:set>
                                    <p:animEffect transition="in" filter="wipe(up)">
                                      <p:cBhvr>
                                        <p:cTn id="48" dur="500"/>
                                        <p:tgtEl>
                                          <p:spTgt spid="93"/>
                                        </p:tgtEl>
                                      </p:cBhvr>
                                    </p:animEffect>
                                  </p:childTnLst>
                                  <p:subTnLst>
                                    <p:set>
                                      <p:cBhvr override="childStyle">
                                        <p:cTn dur="1" fill="hold" display="0" masterRel="nextClick" afterEffect="1"/>
                                        <p:tgtEl>
                                          <p:spTgt spid="93"/>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90" grpId="0" animBg="1"/>
      <p:bldP spid="91" grpId="0" animBg="1"/>
      <p:bldP spid="92" grpId="0" animBg="1"/>
      <p:bldP spid="94" grpId="0" animBg="1"/>
      <p:bldP spid="95" grpId="0" animBg="1"/>
      <p:bldP spid="96" grpId="0" animBg="1"/>
      <p:bldP spid="97" grpId="0"/>
      <p:bldP spid="98" grpId="0" animBg="1"/>
      <p:bldP spid="93" grpId="0" animBg="1"/>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PPP</a:t>
            </a:r>
            <a:r>
              <a:rPr lang="zh-CN" altLang="en-US" dirty="0"/>
              <a:t>协议的帧格式</a:t>
            </a:r>
          </a:p>
        </p:txBody>
      </p:sp>
      <p:sp>
        <p:nvSpPr>
          <p:cNvPr id="3" name="内容占位符 2"/>
          <p:cNvSpPr>
            <a:spLocks noGrp="1"/>
          </p:cNvSpPr>
          <p:nvPr>
            <p:ph idx="1"/>
          </p:nvPr>
        </p:nvSpPr>
        <p:spPr>
          <a:xfrm>
            <a:off x="838200" y="1358900"/>
            <a:ext cx="10515600" cy="4738552"/>
          </a:xfrm>
        </p:spPr>
        <p:txBody>
          <a:bodyPr/>
          <a:lstStyle/>
          <a:p>
            <a:pPr>
              <a:lnSpc>
                <a:spcPct val="150000"/>
              </a:lnSpc>
            </a:pPr>
            <a:r>
              <a:rPr lang="en-US" altLang="zh-CN" dirty="0"/>
              <a:t>PPP</a:t>
            </a:r>
            <a:r>
              <a:rPr lang="zh-CN" altLang="en-US" dirty="0"/>
              <a:t>协议中的透明传输</a:t>
            </a:r>
            <a:endParaRPr lang="en-US" altLang="zh-CN" dirty="0"/>
          </a:p>
          <a:p>
            <a:pPr lvl="1">
              <a:lnSpc>
                <a:spcPct val="150000"/>
              </a:lnSpc>
            </a:pPr>
            <a:r>
              <a:rPr lang="zh-CN" altLang="en-US" dirty="0"/>
              <a:t>当 </a:t>
            </a:r>
            <a:r>
              <a:rPr lang="en-US" altLang="zh-CN" dirty="0"/>
              <a:t>PPP </a:t>
            </a:r>
            <a:r>
              <a:rPr lang="zh-CN" altLang="en-US" dirty="0"/>
              <a:t>用在异步传输时，使用一种特殊的字符填充法</a:t>
            </a:r>
          </a:p>
          <a:p>
            <a:pPr lvl="1">
              <a:lnSpc>
                <a:spcPct val="150000"/>
              </a:lnSpc>
            </a:pPr>
            <a:r>
              <a:rPr lang="zh-CN" altLang="en-US" dirty="0"/>
              <a:t>当 </a:t>
            </a:r>
            <a:r>
              <a:rPr lang="en-US" altLang="zh-CN" dirty="0"/>
              <a:t>PPP </a:t>
            </a:r>
            <a:r>
              <a:rPr lang="zh-CN" altLang="en-US" dirty="0"/>
              <a:t>用在同步传输链路时，协议规定采用硬件来完成比特填充（与 </a:t>
            </a:r>
            <a:r>
              <a:rPr lang="en-US" altLang="zh-CN" dirty="0" err="1"/>
              <a:t>HDLC</a:t>
            </a:r>
            <a:r>
              <a:rPr lang="en-US" altLang="zh-CN" dirty="0"/>
              <a:t> </a:t>
            </a:r>
            <a:r>
              <a:rPr lang="zh-CN" altLang="en-US" dirty="0"/>
              <a:t>的做法类似）</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135</a:t>
            </a:fld>
            <a:endParaRPr kumimoji="1" lang="zh-CN" altLang="en-US" dirty="0"/>
          </a:p>
        </p:txBody>
      </p:sp>
      <p:sp>
        <p:nvSpPr>
          <p:cNvPr id="5" name="文本框 4">
            <a:extLst>
              <a:ext uri="{FF2B5EF4-FFF2-40B4-BE49-F238E27FC236}">
                <a16:creationId xmlns:a16="http://schemas.microsoft.com/office/drawing/2014/main" id="{0C865441-5D2A-4924-8184-C588AE1EA25F}"/>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Tree>
    <p:extLst>
      <p:ext uri="{BB962C8B-B14F-4D97-AF65-F5344CB8AC3E}">
        <p14:creationId xmlns:p14="http://schemas.microsoft.com/office/powerpoint/2010/main" val="783127433"/>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PPP</a:t>
            </a:r>
            <a:r>
              <a:rPr lang="zh-CN" altLang="en-US" dirty="0"/>
              <a:t>协议的帧格式</a:t>
            </a:r>
          </a:p>
        </p:txBody>
      </p:sp>
      <p:sp>
        <p:nvSpPr>
          <p:cNvPr id="3" name="内容占位符 2"/>
          <p:cNvSpPr>
            <a:spLocks noGrp="1"/>
          </p:cNvSpPr>
          <p:nvPr>
            <p:ph idx="1"/>
          </p:nvPr>
        </p:nvSpPr>
        <p:spPr>
          <a:xfrm>
            <a:off x="838200" y="1333500"/>
            <a:ext cx="10579100" cy="4763952"/>
          </a:xfrm>
        </p:spPr>
        <p:txBody>
          <a:bodyPr>
            <a:noAutofit/>
          </a:bodyPr>
          <a:lstStyle/>
          <a:p>
            <a:pPr>
              <a:lnSpc>
                <a:spcPct val="150000"/>
              </a:lnSpc>
              <a:spcBef>
                <a:spcPts val="0"/>
              </a:spcBef>
            </a:pPr>
            <a:r>
              <a:rPr lang="zh-CN" altLang="en-US" dirty="0"/>
              <a:t>字节填充</a:t>
            </a:r>
          </a:p>
          <a:p>
            <a:pPr lvl="1">
              <a:lnSpc>
                <a:spcPct val="150000"/>
              </a:lnSpc>
              <a:spcBef>
                <a:spcPts val="0"/>
              </a:spcBef>
            </a:pPr>
            <a:r>
              <a:rPr lang="zh-CN" altLang="en-US" dirty="0"/>
              <a:t>避免在信息字段中出现和</a:t>
            </a:r>
            <a:r>
              <a:rPr kumimoji="1" lang="zh-CN" altLang="en-US" dirty="0">
                <a:solidFill>
                  <a:srgbClr val="C00000"/>
                </a:solidFill>
              </a:rPr>
              <a:t>标志字段</a:t>
            </a:r>
            <a:r>
              <a:rPr lang="zh-CN" altLang="en-US" dirty="0"/>
              <a:t>一样的比特组合（</a:t>
            </a:r>
            <a:r>
              <a:rPr lang="en-US" altLang="zh-CN" dirty="0"/>
              <a:t>0X7E</a:t>
            </a:r>
            <a:r>
              <a:rPr lang="zh-CN" altLang="en-US" dirty="0"/>
              <a:t>）</a:t>
            </a:r>
          </a:p>
          <a:p>
            <a:pPr lvl="1">
              <a:lnSpc>
                <a:spcPct val="150000"/>
              </a:lnSpc>
              <a:spcBef>
                <a:spcPts val="0"/>
              </a:spcBef>
            </a:pPr>
            <a:r>
              <a:rPr lang="zh-CN" altLang="en-US" dirty="0"/>
              <a:t>当</a:t>
            </a:r>
            <a:r>
              <a:rPr lang="en-US" altLang="zh-CN" dirty="0"/>
              <a:t>PPP</a:t>
            </a:r>
            <a:r>
              <a:rPr lang="zh-CN" altLang="en-US" dirty="0"/>
              <a:t>使用异步传输时，定义</a:t>
            </a:r>
            <a:r>
              <a:rPr kumimoji="1" lang="zh-CN" altLang="en-US" dirty="0">
                <a:solidFill>
                  <a:srgbClr val="C00000"/>
                </a:solidFill>
              </a:rPr>
              <a:t>转义字符</a:t>
            </a:r>
            <a:r>
              <a:rPr lang="en-US" altLang="zh-CN" dirty="0" err="1"/>
              <a:t>0X7D</a:t>
            </a:r>
            <a:r>
              <a:rPr lang="zh-CN" altLang="en-US" dirty="0"/>
              <a:t>，并使用字节填充</a:t>
            </a:r>
          </a:p>
          <a:p>
            <a:pPr lvl="2">
              <a:lnSpc>
                <a:spcPct val="150000"/>
              </a:lnSpc>
              <a:spcBef>
                <a:spcPts val="0"/>
              </a:spcBef>
              <a:buFont typeface="Microsoft YaHei" panose="020B0503020204020204" pitchFamily="34" charset="-122"/>
              <a:buChar char="－"/>
            </a:pPr>
            <a:r>
              <a:rPr lang="zh-CN" altLang="en-US" dirty="0"/>
              <a:t>将信息字段中出现的</a:t>
            </a:r>
            <a:r>
              <a:rPr lang="en-US" altLang="zh-CN" dirty="0"/>
              <a:t>0x7E </a:t>
            </a:r>
            <a:r>
              <a:rPr lang="zh-CN" altLang="en-US" dirty="0"/>
              <a:t>字节转变成为</a:t>
            </a:r>
            <a:r>
              <a:rPr lang="en-US" altLang="zh-CN" dirty="0"/>
              <a:t>2</a:t>
            </a:r>
            <a:r>
              <a:rPr lang="zh-CN" altLang="en-US" dirty="0"/>
              <a:t>字节序列</a:t>
            </a:r>
            <a:r>
              <a:rPr lang="en-US" altLang="zh-CN" dirty="0"/>
              <a:t>(0x7D, 0x5E)</a:t>
            </a:r>
            <a:r>
              <a:rPr lang="zh-CN" altLang="en-US" dirty="0"/>
              <a:t> </a:t>
            </a:r>
          </a:p>
          <a:p>
            <a:pPr lvl="2">
              <a:lnSpc>
                <a:spcPct val="150000"/>
              </a:lnSpc>
              <a:spcBef>
                <a:spcPts val="0"/>
              </a:spcBef>
              <a:buFont typeface="Microsoft YaHei" panose="020B0503020204020204" pitchFamily="34" charset="-122"/>
              <a:buChar char="－"/>
            </a:pPr>
            <a:r>
              <a:rPr lang="zh-CN" altLang="en-US" dirty="0"/>
              <a:t>若信息字段中出现一个</a:t>
            </a:r>
            <a:r>
              <a:rPr lang="en-US" altLang="zh-CN" dirty="0"/>
              <a:t>0x7D </a:t>
            </a:r>
            <a:r>
              <a:rPr lang="zh-CN" altLang="en-US" dirty="0"/>
              <a:t>字节</a:t>
            </a:r>
            <a:r>
              <a:rPr lang="en-US" altLang="zh-CN" dirty="0"/>
              <a:t>, </a:t>
            </a:r>
            <a:r>
              <a:rPr lang="zh-CN" altLang="en-US" dirty="0"/>
              <a:t>则将其转变成为</a:t>
            </a:r>
            <a:r>
              <a:rPr lang="en-US" altLang="zh-CN" dirty="0"/>
              <a:t>2</a:t>
            </a:r>
            <a:r>
              <a:rPr lang="zh-CN" altLang="en-US" dirty="0"/>
              <a:t>字节序列</a:t>
            </a:r>
            <a:r>
              <a:rPr lang="en-US" altLang="zh-CN" dirty="0"/>
              <a:t>(0x7D, 0x5D)</a:t>
            </a:r>
            <a:endParaRPr lang="zh-CN" altLang="en-US" dirty="0"/>
          </a:p>
          <a:p>
            <a:pPr marL="1165225" lvl="2" indent="-250825">
              <a:lnSpc>
                <a:spcPct val="150000"/>
              </a:lnSpc>
              <a:spcBef>
                <a:spcPts val="0"/>
              </a:spcBef>
              <a:buFont typeface="Microsoft YaHei" panose="020B0503020204020204" pitchFamily="34" charset="-122"/>
              <a:buChar char="－"/>
            </a:pPr>
            <a:r>
              <a:rPr lang="zh-CN" altLang="en-US" dirty="0"/>
              <a:t>若信息字段中出现 </a:t>
            </a:r>
            <a:r>
              <a:rPr lang="en-US" altLang="zh-CN" dirty="0"/>
              <a:t>ASCII </a:t>
            </a:r>
            <a:r>
              <a:rPr lang="zh-CN" altLang="en-US" dirty="0"/>
              <a:t>码的控制字符（即数值小于 </a:t>
            </a:r>
            <a:r>
              <a:rPr lang="en-US" altLang="zh-CN" dirty="0" err="1"/>
              <a:t>0x20</a:t>
            </a:r>
            <a:r>
              <a:rPr lang="en-US" altLang="zh-CN" dirty="0"/>
              <a:t> </a:t>
            </a:r>
            <a:r>
              <a:rPr lang="zh-CN" altLang="en-US" dirty="0"/>
              <a:t>的字符），则在该字符前面要加入一个 </a:t>
            </a:r>
            <a:r>
              <a:rPr lang="en-US" altLang="zh-CN" dirty="0" err="1"/>
              <a:t>0x7D</a:t>
            </a:r>
            <a:r>
              <a:rPr lang="en-US" altLang="zh-CN" dirty="0"/>
              <a:t> </a:t>
            </a:r>
            <a:r>
              <a:rPr lang="zh-CN" altLang="en-US" dirty="0"/>
              <a:t>字节，同时将该字符的编码加以改变</a:t>
            </a:r>
          </a:p>
          <a:p>
            <a:pPr lvl="1">
              <a:lnSpc>
                <a:spcPct val="150000"/>
              </a:lnSpc>
              <a:spcBef>
                <a:spcPts val="0"/>
              </a:spcBef>
            </a:pPr>
            <a:r>
              <a:rPr lang="zh-CN" altLang="en-US" dirty="0"/>
              <a:t>在发送端进行了字节填充，链路上传递的信息字节数超过原来的信息字节数。接收端进行字节填充相反的工作，恢复为原来的信息</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136</a:t>
            </a:fld>
            <a:endParaRPr kumimoji="1" lang="zh-CN" altLang="en-US" dirty="0"/>
          </a:p>
        </p:txBody>
      </p:sp>
      <p:sp>
        <p:nvSpPr>
          <p:cNvPr id="5" name="文本框 4">
            <a:extLst>
              <a:ext uri="{FF2B5EF4-FFF2-40B4-BE49-F238E27FC236}">
                <a16:creationId xmlns:a16="http://schemas.microsoft.com/office/drawing/2014/main" id="{C9271F71-0AFD-4A3C-81DF-3F61419FCA65}"/>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Tree>
    <p:extLst>
      <p:ext uri="{BB962C8B-B14F-4D97-AF65-F5344CB8AC3E}">
        <p14:creationId xmlns:p14="http://schemas.microsoft.com/office/powerpoint/2010/main" val="3934832657"/>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PPP</a:t>
            </a:r>
            <a:r>
              <a:rPr lang="zh-CN" altLang="en-US" dirty="0"/>
              <a:t>协议的帧格式</a:t>
            </a:r>
          </a:p>
        </p:txBody>
      </p:sp>
      <p:sp>
        <p:nvSpPr>
          <p:cNvPr id="3" name="内容占位符 2"/>
          <p:cNvSpPr>
            <a:spLocks noGrp="1"/>
          </p:cNvSpPr>
          <p:nvPr>
            <p:ph idx="1"/>
          </p:nvPr>
        </p:nvSpPr>
        <p:spPr>
          <a:xfrm>
            <a:off x="709245" y="1473200"/>
            <a:ext cx="10779369" cy="4586152"/>
          </a:xfrm>
        </p:spPr>
        <p:txBody>
          <a:bodyPr>
            <a:normAutofit/>
          </a:bodyPr>
          <a:lstStyle/>
          <a:p>
            <a:r>
              <a:rPr lang="zh-CN" altLang="en-US" dirty="0"/>
              <a:t>字节填充</a:t>
            </a:r>
          </a:p>
          <a:p>
            <a:pPr lvl="1">
              <a:lnSpc>
                <a:spcPts val="3000"/>
              </a:lnSpc>
            </a:pPr>
            <a:r>
              <a:rPr lang="en-US" altLang="zh-CN" sz="2000" dirty="0" err="1"/>
              <a:t>0x7e</a:t>
            </a:r>
            <a:r>
              <a:rPr lang="en-US" altLang="zh-CN" sz="2000" dirty="0"/>
              <a:t> </a:t>
            </a:r>
            <a:r>
              <a:rPr lang="zh-CN" altLang="en-US" sz="2000" dirty="0"/>
              <a:t>字节填充后编码为</a:t>
            </a:r>
            <a:r>
              <a:rPr lang="en-US" altLang="zh-CN" sz="2000" dirty="0"/>
              <a:t> 0x7d, 0x5e.    (Flag Sequence)</a:t>
            </a:r>
            <a:r>
              <a:rPr lang="zh-CN" altLang="en-US" sz="2000" dirty="0"/>
              <a:t>帧序列</a:t>
            </a:r>
          </a:p>
          <a:p>
            <a:pPr lvl="1">
              <a:lnSpc>
                <a:spcPts val="3000"/>
              </a:lnSpc>
            </a:pPr>
            <a:r>
              <a:rPr lang="en-US" altLang="zh-CN" sz="2000" dirty="0" err="1"/>
              <a:t>0x7d</a:t>
            </a:r>
            <a:r>
              <a:rPr lang="en-US" altLang="zh-CN" sz="2000" dirty="0"/>
              <a:t> </a:t>
            </a:r>
            <a:r>
              <a:rPr lang="zh-CN" altLang="en-US" sz="2000" dirty="0"/>
              <a:t>字节填充后编码为 </a:t>
            </a:r>
            <a:r>
              <a:rPr lang="en-US" altLang="zh-CN" sz="2000" dirty="0"/>
              <a:t>0x7d, 0x5d.    (Control Escape)</a:t>
            </a:r>
            <a:r>
              <a:rPr lang="zh-CN" altLang="en-US" sz="2000" dirty="0"/>
              <a:t>控制转义符</a:t>
            </a:r>
          </a:p>
          <a:p>
            <a:pPr lvl="1">
              <a:lnSpc>
                <a:spcPts val="3000"/>
              </a:lnSpc>
            </a:pPr>
            <a:r>
              <a:rPr lang="en-US" altLang="zh-CN" sz="2000" dirty="0" err="1"/>
              <a:t>0x03</a:t>
            </a:r>
            <a:r>
              <a:rPr lang="en-US" altLang="zh-CN" sz="2000" dirty="0"/>
              <a:t> </a:t>
            </a:r>
            <a:r>
              <a:rPr lang="zh-CN" altLang="en-US" sz="2000" dirty="0"/>
              <a:t>字节填充后编码为 </a:t>
            </a:r>
            <a:r>
              <a:rPr lang="en-US" altLang="zh-CN" sz="2000" dirty="0" err="1"/>
              <a:t>0x7d</a:t>
            </a:r>
            <a:r>
              <a:rPr lang="en-US" altLang="zh-CN" sz="2000" dirty="0"/>
              <a:t>, </a:t>
            </a:r>
            <a:r>
              <a:rPr lang="en-US" altLang="zh-CN" sz="2000" dirty="0" err="1"/>
              <a:t>0x23</a:t>
            </a:r>
            <a:r>
              <a:rPr lang="en-US" altLang="zh-CN" sz="2000" dirty="0"/>
              <a:t>.    (</a:t>
            </a:r>
            <a:r>
              <a:rPr lang="en-US" altLang="zh-CN" sz="2000" dirty="0" err="1"/>
              <a:t>ETX</a:t>
            </a:r>
            <a:r>
              <a:rPr lang="en-US" altLang="zh-CN" sz="2000" dirty="0"/>
              <a:t>)</a:t>
            </a:r>
            <a:r>
              <a:rPr lang="zh-CN" altLang="en-US" sz="2000" dirty="0"/>
              <a:t>文本结束符</a:t>
            </a:r>
          </a:p>
          <a:p>
            <a:pPr lvl="1">
              <a:lnSpc>
                <a:spcPts val="3000"/>
              </a:lnSpc>
            </a:pPr>
            <a:r>
              <a:rPr lang="en-US" altLang="zh-CN" sz="2000" dirty="0" err="1"/>
              <a:t>0x11</a:t>
            </a:r>
            <a:r>
              <a:rPr lang="en-US" altLang="zh-CN" sz="2000" dirty="0"/>
              <a:t> </a:t>
            </a:r>
            <a:r>
              <a:rPr lang="zh-CN" altLang="en-US" sz="2000" dirty="0"/>
              <a:t>字节填充后编码为 </a:t>
            </a:r>
            <a:r>
              <a:rPr lang="en-US" altLang="zh-CN" sz="2000" dirty="0" err="1"/>
              <a:t>0x7d</a:t>
            </a:r>
            <a:r>
              <a:rPr lang="en-US" altLang="zh-CN" sz="2000" dirty="0"/>
              <a:t>, </a:t>
            </a:r>
            <a:r>
              <a:rPr lang="en-US" altLang="zh-CN" sz="2000" dirty="0" err="1"/>
              <a:t>0x31</a:t>
            </a:r>
            <a:r>
              <a:rPr lang="en-US" altLang="zh-CN" sz="2000" dirty="0"/>
              <a:t>.    (</a:t>
            </a:r>
            <a:r>
              <a:rPr lang="en-US" altLang="zh-CN" sz="2000" dirty="0" err="1"/>
              <a:t>XON</a:t>
            </a:r>
            <a:r>
              <a:rPr lang="en-US" altLang="zh-CN" sz="2000" dirty="0"/>
              <a:t>)</a:t>
            </a:r>
            <a:r>
              <a:rPr lang="zh-CN" altLang="en-US" sz="2000" dirty="0"/>
              <a:t>重新传输</a:t>
            </a:r>
          </a:p>
          <a:p>
            <a:pPr lvl="1">
              <a:lnSpc>
                <a:spcPts val="3000"/>
              </a:lnSpc>
            </a:pPr>
            <a:r>
              <a:rPr lang="en-US" altLang="zh-CN" sz="2000" dirty="0" err="1"/>
              <a:t>0x13</a:t>
            </a:r>
            <a:r>
              <a:rPr lang="en-US" altLang="zh-CN" sz="2000" dirty="0"/>
              <a:t> </a:t>
            </a:r>
            <a:r>
              <a:rPr lang="zh-CN" altLang="en-US" sz="2000" dirty="0"/>
              <a:t>字节填充后编码为 </a:t>
            </a:r>
            <a:r>
              <a:rPr lang="en-US" altLang="zh-CN" sz="2000" dirty="0" err="1"/>
              <a:t>0x7d</a:t>
            </a:r>
            <a:r>
              <a:rPr lang="en-US" altLang="zh-CN" sz="2000" dirty="0"/>
              <a:t>, </a:t>
            </a:r>
            <a:r>
              <a:rPr lang="en-US" altLang="zh-CN" sz="2000" dirty="0" err="1"/>
              <a:t>0x33</a:t>
            </a:r>
            <a:r>
              <a:rPr lang="en-US" altLang="zh-CN" sz="2000" dirty="0"/>
              <a:t>.    (</a:t>
            </a:r>
            <a:r>
              <a:rPr lang="en-US" altLang="zh-CN" sz="2000" dirty="0" err="1"/>
              <a:t>XOFF</a:t>
            </a:r>
            <a:r>
              <a:rPr lang="en-US" altLang="zh-CN" sz="2000" dirty="0"/>
              <a:t>)</a:t>
            </a:r>
            <a:r>
              <a:rPr lang="zh-CN" altLang="en-US" sz="2000" dirty="0"/>
              <a:t>传输暂停</a:t>
            </a:r>
          </a:p>
          <a:p>
            <a:pPr lvl="1">
              <a:lnSpc>
                <a:spcPts val="3000"/>
              </a:lnSpc>
            </a:pPr>
            <a:r>
              <a:rPr lang="en-US" altLang="zh-CN" sz="2000" dirty="0" err="1"/>
              <a:t>0x91</a:t>
            </a:r>
            <a:r>
              <a:rPr lang="en-US" altLang="zh-CN" sz="2000" dirty="0"/>
              <a:t> </a:t>
            </a:r>
            <a:r>
              <a:rPr lang="zh-CN" altLang="en-US" sz="2000" dirty="0"/>
              <a:t>字节填充后编码为 </a:t>
            </a:r>
            <a:r>
              <a:rPr lang="en-US" altLang="zh-CN" sz="2000" dirty="0" err="1"/>
              <a:t>0x7d</a:t>
            </a:r>
            <a:r>
              <a:rPr lang="en-US" altLang="zh-CN" sz="2000" dirty="0"/>
              <a:t>, </a:t>
            </a:r>
            <a:r>
              <a:rPr lang="en-US" altLang="zh-CN" sz="2000" dirty="0" err="1"/>
              <a:t>0xb1</a:t>
            </a:r>
            <a:r>
              <a:rPr lang="en-US" altLang="zh-CN" sz="2000" dirty="0"/>
              <a:t>.    (</a:t>
            </a:r>
            <a:r>
              <a:rPr lang="en-US" altLang="zh-CN" sz="2000" dirty="0" err="1"/>
              <a:t>XON</a:t>
            </a:r>
            <a:r>
              <a:rPr lang="en-US" altLang="zh-CN" sz="2000" dirty="0"/>
              <a:t> with parity set)</a:t>
            </a:r>
            <a:r>
              <a:rPr lang="zh-CN" altLang="en-US" sz="2000" dirty="0"/>
              <a:t>带奇偶校验集合的</a:t>
            </a:r>
            <a:r>
              <a:rPr lang="en-US" altLang="zh-CN" sz="2000" dirty="0" err="1"/>
              <a:t>XON</a:t>
            </a:r>
            <a:endParaRPr lang="en-US" altLang="zh-CN" sz="2000" dirty="0"/>
          </a:p>
          <a:p>
            <a:pPr lvl="1">
              <a:lnSpc>
                <a:spcPts val="3000"/>
              </a:lnSpc>
            </a:pPr>
            <a:r>
              <a:rPr lang="en-US" altLang="zh-CN" sz="2000" dirty="0" err="1"/>
              <a:t>0x93</a:t>
            </a:r>
            <a:r>
              <a:rPr lang="en-US" altLang="zh-CN" sz="2000" dirty="0"/>
              <a:t> </a:t>
            </a:r>
            <a:r>
              <a:rPr lang="zh-CN" altLang="en-US" sz="2000" dirty="0"/>
              <a:t>字节填充后编码为 </a:t>
            </a:r>
            <a:r>
              <a:rPr lang="en-US" altLang="zh-CN" sz="2000" dirty="0" err="1"/>
              <a:t>0x7d</a:t>
            </a:r>
            <a:r>
              <a:rPr lang="en-US" altLang="zh-CN" sz="2000" dirty="0"/>
              <a:t>, </a:t>
            </a:r>
            <a:r>
              <a:rPr lang="en-US" altLang="zh-CN" sz="2000" dirty="0" err="1"/>
              <a:t>0xb3</a:t>
            </a:r>
            <a:r>
              <a:rPr lang="en-US" altLang="zh-CN" sz="2000" dirty="0"/>
              <a:t>.    (</a:t>
            </a:r>
            <a:r>
              <a:rPr lang="en-US" altLang="zh-CN" sz="2000" dirty="0" err="1"/>
              <a:t>XOFF</a:t>
            </a:r>
            <a:r>
              <a:rPr lang="en-US" altLang="zh-CN" sz="2000" dirty="0"/>
              <a:t> with parity set)</a:t>
            </a:r>
            <a:r>
              <a:rPr lang="zh-CN" altLang="en-US" sz="2000" dirty="0"/>
              <a:t>带奇偶校验集合的</a:t>
            </a:r>
            <a:r>
              <a:rPr lang="en-US" altLang="zh-CN" sz="2000" dirty="0" err="1"/>
              <a:t>XOFF</a:t>
            </a:r>
            <a:endParaRPr lang="zh-CN" altLang="en-US" sz="2000"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137</a:t>
            </a:fld>
            <a:endParaRPr kumimoji="1" lang="zh-CN" altLang="en-US" dirty="0"/>
          </a:p>
        </p:txBody>
      </p:sp>
      <p:sp>
        <p:nvSpPr>
          <p:cNvPr id="5" name="文本框 4">
            <a:extLst>
              <a:ext uri="{FF2B5EF4-FFF2-40B4-BE49-F238E27FC236}">
                <a16:creationId xmlns:a16="http://schemas.microsoft.com/office/drawing/2014/main" id="{96903219-2C83-42F6-BAD2-E4EB9AA7938B}"/>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Tree>
    <p:extLst>
      <p:ext uri="{BB962C8B-B14F-4D97-AF65-F5344CB8AC3E}">
        <p14:creationId xmlns:p14="http://schemas.microsoft.com/office/powerpoint/2010/main" val="1323654893"/>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PPP</a:t>
            </a:r>
            <a:r>
              <a:rPr lang="zh-CN" altLang="en-US" dirty="0"/>
              <a:t>协议的帧格式</a:t>
            </a:r>
          </a:p>
        </p:txBody>
      </p:sp>
      <p:sp>
        <p:nvSpPr>
          <p:cNvPr id="3" name="内容占位符 2"/>
          <p:cNvSpPr>
            <a:spLocks noGrp="1"/>
          </p:cNvSpPr>
          <p:nvPr>
            <p:ph idx="1"/>
          </p:nvPr>
        </p:nvSpPr>
        <p:spPr>
          <a:xfrm>
            <a:off x="838200" y="1511300"/>
            <a:ext cx="10515600" cy="4586152"/>
          </a:xfrm>
        </p:spPr>
        <p:txBody>
          <a:bodyPr/>
          <a:lstStyle/>
          <a:p>
            <a:pPr>
              <a:lnSpc>
                <a:spcPts val="3600"/>
              </a:lnSpc>
            </a:pPr>
            <a:r>
              <a:rPr lang="zh-CN" altLang="en-US" dirty="0"/>
              <a:t>零比特填充</a:t>
            </a:r>
            <a:endParaRPr lang="en-US" altLang="zh-CN" dirty="0"/>
          </a:p>
          <a:p>
            <a:pPr lvl="1">
              <a:lnSpc>
                <a:spcPts val="3600"/>
              </a:lnSpc>
            </a:pPr>
            <a:r>
              <a:rPr lang="en-US" altLang="zh-CN" dirty="0"/>
              <a:t>PPP</a:t>
            </a:r>
            <a:r>
              <a:rPr lang="zh-CN" altLang="en-US" dirty="0"/>
              <a:t>协议用在</a:t>
            </a:r>
            <a:r>
              <a:rPr lang="en-US" altLang="zh-CN" dirty="0" err="1"/>
              <a:t>SONET</a:t>
            </a:r>
            <a:r>
              <a:rPr lang="en-US" altLang="zh-CN" dirty="0"/>
              <a:t>/</a:t>
            </a:r>
            <a:r>
              <a:rPr lang="en-US" altLang="zh-CN" dirty="0" err="1"/>
              <a:t>SDH</a:t>
            </a:r>
            <a:r>
              <a:rPr lang="zh-CN" altLang="en-US" dirty="0"/>
              <a:t>链路时，使用</a:t>
            </a:r>
            <a:r>
              <a:rPr kumimoji="1" lang="zh-CN" altLang="en-US" dirty="0">
                <a:solidFill>
                  <a:srgbClr val="C00000"/>
                </a:solidFill>
              </a:rPr>
              <a:t>同步传输</a:t>
            </a:r>
            <a:r>
              <a:rPr lang="zh-CN" altLang="en-US" dirty="0"/>
              <a:t>（一连串的比特连续传送），不是异步传输（逐个字符地传送）</a:t>
            </a:r>
          </a:p>
          <a:p>
            <a:pPr lvl="2" indent="-330200">
              <a:lnSpc>
                <a:spcPts val="3600"/>
              </a:lnSpc>
              <a:buFont typeface="Microsoft YaHei" panose="020B0503020204020204" pitchFamily="34" charset="-122"/>
              <a:buChar char="−"/>
            </a:pPr>
            <a:r>
              <a:rPr lang="zh-CN" altLang="en-US" dirty="0"/>
              <a:t>采用比特填充方法来实现透明传输。</a:t>
            </a:r>
          </a:p>
          <a:p>
            <a:pPr lvl="2" indent="-330200">
              <a:lnSpc>
                <a:spcPts val="3600"/>
              </a:lnSpc>
              <a:buFont typeface="Microsoft YaHei" panose="020B0503020204020204" pitchFamily="34" charset="-122"/>
              <a:buChar char="−"/>
            </a:pPr>
            <a:r>
              <a:rPr lang="zh-CN" altLang="en-US" dirty="0"/>
              <a:t>信息字段中出现了和标志字段 </a:t>
            </a:r>
            <a:r>
              <a:rPr lang="en-US" altLang="zh-CN" dirty="0"/>
              <a:t>F </a:t>
            </a:r>
            <a:r>
              <a:rPr lang="zh-CN" altLang="en-US" dirty="0"/>
              <a:t>完全一样的 </a:t>
            </a:r>
            <a:r>
              <a:rPr lang="en-US" altLang="zh-CN" dirty="0"/>
              <a:t>8 </a:t>
            </a:r>
            <a:r>
              <a:rPr lang="zh-CN" altLang="en-US" dirty="0"/>
              <a:t>比特组合（</a:t>
            </a:r>
            <a:r>
              <a:rPr lang="en-US" altLang="zh-CN" dirty="0" err="1"/>
              <a:t>0x7E</a:t>
            </a:r>
            <a:r>
              <a:rPr lang="zh-CN" altLang="en-US" dirty="0"/>
              <a:t>）；</a:t>
            </a:r>
          </a:p>
          <a:p>
            <a:pPr lvl="2" indent="-330200">
              <a:lnSpc>
                <a:spcPts val="3600"/>
              </a:lnSpc>
              <a:buFont typeface="Microsoft YaHei" panose="020B0503020204020204" pitchFamily="34" charset="-122"/>
              <a:buChar char="−"/>
            </a:pPr>
            <a:r>
              <a:rPr lang="zh-CN" altLang="en-US" dirty="0"/>
              <a:t>发送端在 </a:t>
            </a:r>
            <a:r>
              <a:rPr lang="en-US" altLang="zh-CN" dirty="0"/>
              <a:t>5 </a:t>
            </a:r>
            <a:r>
              <a:rPr lang="zh-CN" altLang="en-US" dirty="0"/>
              <a:t>个连 </a:t>
            </a:r>
            <a:r>
              <a:rPr lang="en-US" altLang="zh-CN" dirty="0"/>
              <a:t>1 </a:t>
            </a:r>
            <a:r>
              <a:rPr lang="zh-CN" altLang="en-US" dirty="0"/>
              <a:t>之后填入 </a:t>
            </a:r>
            <a:r>
              <a:rPr lang="en-US" altLang="zh-CN" dirty="0"/>
              <a:t>0 </a:t>
            </a:r>
            <a:r>
              <a:rPr lang="zh-CN" altLang="en-US" dirty="0"/>
              <a:t>比特再发送出去；</a:t>
            </a:r>
            <a:endParaRPr lang="en-US" altLang="zh-CN" dirty="0"/>
          </a:p>
          <a:p>
            <a:pPr lvl="2" indent="-330200">
              <a:lnSpc>
                <a:spcPts val="3600"/>
              </a:lnSpc>
              <a:buFont typeface="Microsoft YaHei" panose="020B0503020204020204" pitchFamily="34" charset="-122"/>
              <a:buChar char="−"/>
            </a:pPr>
            <a:r>
              <a:rPr lang="zh-CN" altLang="en-US" dirty="0"/>
              <a:t>在接收端把 </a:t>
            </a:r>
            <a:r>
              <a:rPr lang="en-US" altLang="zh-CN" dirty="0"/>
              <a:t>5 </a:t>
            </a:r>
            <a:r>
              <a:rPr lang="zh-CN" altLang="en-US" dirty="0"/>
              <a:t>个连 </a:t>
            </a:r>
            <a:r>
              <a:rPr lang="en-US" altLang="zh-CN" dirty="0"/>
              <a:t>1</a:t>
            </a:r>
            <a:r>
              <a:rPr lang="zh-CN" altLang="en-US" dirty="0"/>
              <a:t>之后的 </a:t>
            </a:r>
            <a:r>
              <a:rPr lang="en-US" altLang="zh-CN" dirty="0"/>
              <a:t>0 </a:t>
            </a:r>
            <a:r>
              <a:rPr lang="zh-CN" altLang="en-US" dirty="0"/>
              <a:t>比特删除</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138</a:t>
            </a:fld>
            <a:endParaRPr kumimoji="1" lang="zh-CN" altLang="en-US" dirty="0"/>
          </a:p>
        </p:txBody>
      </p:sp>
      <p:sp>
        <p:nvSpPr>
          <p:cNvPr id="5" name="文本框 4">
            <a:extLst>
              <a:ext uri="{FF2B5EF4-FFF2-40B4-BE49-F238E27FC236}">
                <a16:creationId xmlns:a16="http://schemas.microsoft.com/office/drawing/2014/main" id="{3807888F-193C-4BE6-9A2B-AAE23DB6B907}"/>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Tree>
    <p:extLst>
      <p:ext uri="{BB962C8B-B14F-4D97-AF65-F5344CB8AC3E}">
        <p14:creationId xmlns:p14="http://schemas.microsoft.com/office/powerpoint/2010/main" val="614920289"/>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PPP</a:t>
            </a:r>
            <a:r>
              <a:rPr lang="zh-CN" altLang="en-US" dirty="0"/>
              <a:t>协议的帧格式</a:t>
            </a:r>
          </a:p>
        </p:txBody>
      </p:sp>
      <p:sp>
        <p:nvSpPr>
          <p:cNvPr id="3" name="内容占位符 2"/>
          <p:cNvSpPr>
            <a:spLocks noGrp="1"/>
          </p:cNvSpPr>
          <p:nvPr>
            <p:ph idx="1"/>
          </p:nvPr>
        </p:nvSpPr>
        <p:spPr>
          <a:xfrm>
            <a:off x="838200" y="1510758"/>
            <a:ext cx="10515600" cy="561242"/>
          </a:xfrm>
        </p:spPr>
        <p:txBody>
          <a:bodyPr/>
          <a:lstStyle/>
          <a:p>
            <a:r>
              <a:rPr lang="zh-CN" altLang="en-US" dirty="0"/>
              <a:t>零比特填充</a:t>
            </a:r>
          </a:p>
          <a:p>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139</a:t>
            </a:fld>
            <a:endParaRPr kumimoji="1" lang="zh-CN" altLang="en-US" dirty="0"/>
          </a:p>
        </p:txBody>
      </p:sp>
      <p:sp>
        <p:nvSpPr>
          <p:cNvPr id="5" name="Rectangle 10"/>
          <p:cNvSpPr>
            <a:spLocks noChangeArrowheads="1"/>
          </p:cNvSpPr>
          <p:nvPr/>
        </p:nvSpPr>
        <p:spPr bwMode="auto">
          <a:xfrm>
            <a:off x="1219200" y="2265819"/>
            <a:ext cx="5029880" cy="3475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marL="355600" indent="-355600" defTabSz="762000" eaLnBrk="0" hangingPunct="0">
              <a:buFont typeface="+mj-lt"/>
              <a:buAutoNum type="arabicPeriod"/>
            </a:pPr>
            <a:r>
              <a:rPr kumimoji="1" lang="zh-CN" altLang="en-US" sz="2000" dirty="0">
                <a:solidFill>
                  <a:srgbClr val="5B307E"/>
                </a:solidFill>
                <a:latin typeface="微软雅黑" panose="020B0503020204020204" pitchFamily="34" charset="-122"/>
                <a:ea typeface="微软雅黑" panose="020B0503020204020204" pitchFamily="34" charset="-122"/>
              </a:rPr>
              <a:t>信息字段中出现了和标志字段 </a:t>
            </a:r>
            <a:r>
              <a:rPr kumimoji="1" lang="en-US" altLang="zh-CN" sz="2000" dirty="0">
                <a:solidFill>
                  <a:srgbClr val="5B307E"/>
                </a:solidFill>
                <a:latin typeface="微软雅黑" panose="020B0503020204020204" pitchFamily="34" charset="-122"/>
                <a:ea typeface="微软雅黑" panose="020B0503020204020204" pitchFamily="34" charset="-122"/>
              </a:rPr>
              <a:t>F </a:t>
            </a:r>
            <a:r>
              <a:rPr kumimoji="1" lang="zh-CN" altLang="en-US" sz="2000" dirty="0">
                <a:solidFill>
                  <a:srgbClr val="5B307E"/>
                </a:solidFill>
                <a:latin typeface="微软雅黑" panose="020B0503020204020204" pitchFamily="34" charset="-122"/>
                <a:ea typeface="微软雅黑" panose="020B0503020204020204" pitchFamily="34" charset="-122"/>
              </a:rPr>
              <a:t>完全一样的 </a:t>
            </a:r>
            <a:r>
              <a:rPr kumimoji="1" lang="en-US" altLang="zh-CN" sz="2000" dirty="0">
                <a:solidFill>
                  <a:srgbClr val="5B307E"/>
                </a:solidFill>
                <a:latin typeface="微软雅黑" panose="020B0503020204020204" pitchFamily="34" charset="-122"/>
                <a:ea typeface="微软雅黑" panose="020B0503020204020204" pitchFamily="34" charset="-122"/>
              </a:rPr>
              <a:t>8 </a:t>
            </a:r>
            <a:r>
              <a:rPr kumimoji="1" lang="zh-CN" altLang="en-US" sz="2000" dirty="0">
                <a:solidFill>
                  <a:srgbClr val="5B307E"/>
                </a:solidFill>
                <a:latin typeface="微软雅黑" panose="020B0503020204020204" pitchFamily="34" charset="-122"/>
                <a:ea typeface="微软雅黑" panose="020B0503020204020204" pitchFamily="34" charset="-122"/>
              </a:rPr>
              <a:t>比特组合</a:t>
            </a:r>
            <a:endParaRPr kumimoji="1" lang="en-US" altLang="zh-CN" sz="2000" dirty="0">
              <a:solidFill>
                <a:srgbClr val="5B307E"/>
              </a:solidFill>
              <a:latin typeface="微软雅黑" panose="020B0503020204020204" pitchFamily="34" charset="-122"/>
              <a:ea typeface="微软雅黑" panose="020B0503020204020204" pitchFamily="34" charset="-122"/>
            </a:endParaRPr>
          </a:p>
          <a:p>
            <a:pPr marL="355600" indent="-355600" defTabSz="762000" eaLnBrk="0" hangingPunct="0">
              <a:buFont typeface="+mj-lt"/>
              <a:buAutoNum type="arabicPeriod"/>
            </a:pPr>
            <a:endParaRPr kumimoji="1" lang="en-US" altLang="zh-CN" sz="2000" dirty="0">
              <a:solidFill>
                <a:srgbClr val="5B307E"/>
              </a:solidFill>
              <a:latin typeface="微软雅黑" panose="020B0503020204020204" pitchFamily="34" charset="-122"/>
              <a:ea typeface="微软雅黑" panose="020B0503020204020204" pitchFamily="34" charset="-122"/>
            </a:endParaRPr>
          </a:p>
          <a:p>
            <a:pPr marL="355600" indent="-355600" defTabSz="762000" eaLnBrk="0" hangingPunct="0">
              <a:buFont typeface="+mj-lt"/>
              <a:buAutoNum type="arabicPeriod"/>
            </a:pPr>
            <a:endParaRPr kumimoji="1" lang="en-US" altLang="zh-CN" sz="2000" dirty="0">
              <a:solidFill>
                <a:srgbClr val="5B307E"/>
              </a:solidFill>
              <a:latin typeface="微软雅黑" panose="020B0503020204020204" pitchFamily="34" charset="-122"/>
              <a:ea typeface="微软雅黑" panose="020B0503020204020204" pitchFamily="34" charset="-122"/>
            </a:endParaRPr>
          </a:p>
          <a:p>
            <a:pPr marL="355600" indent="-355600" defTabSz="762000" eaLnBrk="0" hangingPunct="0">
              <a:buFont typeface="+mj-lt"/>
              <a:buAutoNum type="arabicPeriod"/>
            </a:pPr>
            <a:endParaRPr kumimoji="1" lang="en-US" altLang="zh-CN" sz="2000" dirty="0">
              <a:solidFill>
                <a:srgbClr val="5B307E"/>
              </a:solidFill>
              <a:latin typeface="微软雅黑" panose="020B0503020204020204" pitchFamily="34" charset="-122"/>
              <a:ea typeface="微软雅黑" panose="020B0503020204020204" pitchFamily="34" charset="-122"/>
            </a:endParaRPr>
          </a:p>
          <a:p>
            <a:pPr marL="355600" indent="-355600" defTabSz="762000" eaLnBrk="0" hangingPunct="0">
              <a:buFont typeface="+mj-lt"/>
              <a:buAutoNum type="arabicPeriod"/>
            </a:pPr>
            <a:r>
              <a:rPr kumimoji="1" lang="zh-CN" altLang="en-US" sz="2000" dirty="0">
                <a:solidFill>
                  <a:srgbClr val="5B307E"/>
                </a:solidFill>
                <a:latin typeface="微软雅黑" panose="020B0503020204020204" pitchFamily="34" charset="-122"/>
                <a:ea typeface="微软雅黑" panose="020B0503020204020204" pitchFamily="34" charset="-122"/>
              </a:rPr>
              <a:t>发送端在 </a:t>
            </a:r>
            <a:r>
              <a:rPr kumimoji="1" lang="en-US" altLang="zh-CN" sz="2000" dirty="0">
                <a:solidFill>
                  <a:srgbClr val="5B307E"/>
                </a:solidFill>
                <a:latin typeface="微软雅黑" panose="020B0503020204020204" pitchFamily="34" charset="-122"/>
                <a:ea typeface="微软雅黑" panose="020B0503020204020204" pitchFamily="34" charset="-122"/>
              </a:rPr>
              <a:t>5 </a:t>
            </a:r>
            <a:r>
              <a:rPr kumimoji="1" lang="zh-CN" altLang="en-US" sz="2000" dirty="0">
                <a:solidFill>
                  <a:srgbClr val="5B307E"/>
                </a:solidFill>
                <a:latin typeface="微软雅黑" panose="020B0503020204020204" pitchFamily="34" charset="-122"/>
                <a:ea typeface="微软雅黑" panose="020B0503020204020204" pitchFamily="34" charset="-122"/>
              </a:rPr>
              <a:t>个连 </a:t>
            </a:r>
            <a:r>
              <a:rPr kumimoji="1" lang="en-US" altLang="zh-CN" sz="2000" dirty="0">
                <a:solidFill>
                  <a:srgbClr val="5B307E"/>
                </a:solidFill>
                <a:latin typeface="微软雅黑" panose="020B0503020204020204" pitchFamily="34" charset="-122"/>
                <a:ea typeface="微软雅黑" panose="020B0503020204020204" pitchFamily="34" charset="-122"/>
              </a:rPr>
              <a:t>1 </a:t>
            </a:r>
            <a:r>
              <a:rPr kumimoji="1" lang="zh-CN" altLang="en-US" sz="2000" dirty="0">
                <a:solidFill>
                  <a:srgbClr val="5B307E"/>
                </a:solidFill>
                <a:latin typeface="微软雅黑" panose="020B0503020204020204" pitchFamily="34" charset="-122"/>
                <a:ea typeface="微软雅黑" panose="020B0503020204020204" pitchFamily="34" charset="-122"/>
              </a:rPr>
              <a:t>之后填入 </a:t>
            </a:r>
            <a:r>
              <a:rPr kumimoji="1" lang="en-US" altLang="zh-CN" sz="2000" dirty="0">
                <a:solidFill>
                  <a:srgbClr val="5B307E"/>
                </a:solidFill>
                <a:latin typeface="微软雅黑" panose="020B0503020204020204" pitchFamily="34" charset="-122"/>
                <a:ea typeface="微软雅黑" panose="020B0503020204020204" pitchFamily="34" charset="-122"/>
              </a:rPr>
              <a:t>0 </a:t>
            </a:r>
            <a:r>
              <a:rPr kumimoji="1" lang="zh-CN" altLang="en-US" sz="2000" dirty="0">
                <a:solidFill>
                  <a:srgbClr val="5B307E"/>
                </a:solidFill>
                <a:latin typeface="微软雅黑" panose="020B0503020204020204" pitchFamily="34" charset="-122"/>
                <a:ea typeface="微软雅黑" panose="020B0503020204020204" pitchFamily="34" charset="-122"/>
              </a:rPr>
              <a:t>比特再发送出去</a:t>
            </a:r>
            <a:endParaRPr kumimoji="1" lang="en-US" altLang="zh-CN" sz="2000" dirty="0">
              <a:solidFill>
                <a:srgbClr val="5B307E"/>
              </a:solidFill>
              <a:latin typeface="微软雅黑" panose="020B0503020204020204" pitchFamily="34" charset="-122"/>
              <a:ea typeface="微软雅黑" panose="020B0503020204020204" pitchFamily="34" charset="-122"/>
            </a:endParaRPr>
          </a:p>
          <a:p>
            <a:pPr marL="355600" indent="-355600" defTabSz="762000" eaLnBrk="0" hangingPunct="0">
              <a:buFont typeface="+mj-lt"/>
              <a:buAutoNum type="arabicPeriod"/>
            </a:pPr>
            <a:endParaRPr kumimoji="1" lang="en-US" altLang="zh-CN" sz="2000" dirty="0">
              <a:solidFill>
                <a:srgbClr val="5B307E"/>
              </a:solidFill>
              <a:latin typeface="微软雅黑" panose="020B0503020204020204" pitchFamily="34" charset="-122"/>
              <a:ea typeface="微软雅黑" panose="020B0503020204020204" pitchFamily="34" charset="-122"/>
            </a:endParaRPr>
          </a:p>
          <a:p>
            <a:pPr marL="355600" indent="-355600" defTabSz="762000" eaLnBrk="0" hangingPunct="0">
              <a:buFont typeface="+mj-lt"/>
              <a:buAutoNum type="arabicPeriod"/>
            </a:pPr>
            <a:endParaRPr kumimoji="1" lang="en-US" altLang="zh-CN" sz="2000" dirty="0">
              <a:solidFill>
                <a:srgbClr val="5B307E"/>
              </a:solidFill>
              <a:latin typeface="微软雅黑" panose="020B0503020204020204" pitchFamily="34" charset="-122"/>
              <a:ea typeface="微软雅黑" panose="020B0503020204020204" pitchFamily="34" charset="-122"/>
            </a:endParaRPr>
          </a:p>
          <a:p>
            <a:pPr marL="355600" indent="-355600" defTabSz="762000" eaLnBrk="0" hangingPunct="0">
              <a:buFont typeface="+mj-lt"/>
              <a:buAutoNum type="arabicPeriod"/>
            </a:pPr>
            <a:endParaRPr kumimoji="1" lang="zh-CN" altLang="en-US" sz="2000" dirty="0">
              <a:solidFill>
                <a:srgbClr val="5B307E"/>
              </a:solidFill>
              <a:latin typeface="微软雅黑" panose="020B0503020204020204" pitchFamily="34" charset="-122"/>
              <a:ea typeface="微软雅黑" panose="020B0503020204020204" pitchFamily="34" charset="-122"/>
            </a:endParaRPr>
          </a:p>
          <a:p>
            <a:pPr marL="355600" indent="-355600" defTabSz="762000" eaLnBrk="0" hangingPunct="0">
              <a:buFont typeface="+mj-lt"/>
              <a:buAutoNum type="arabicPeriod"/>
            </a:pPr>
            <a:r>
              <a:rPr kumimoji="1" lang="zh-CN" altLang="en-US" sz="2000" dirty="0">
                <a:solidFill>
                  <a:srgbClr val="5B307E"/>
                </a:solidFill>
                <a:latin typeface="微软雅黑" panose="020B0503020204020204" pitchFamily="34" charset="-122"/>
                <a:ea typeface="微软雅黑" panose="020B0503020204020204" pitchFamily="34" charset="-122"/>
              </a:rPr>
              <a:t>在接收端把 </a:t>
            </a:r>
            <a:r>
              <a:rPr kumimoji="1" lang="en-US" altLang="zh-CN" sz="2000" dirty="0">
                <a:solidFill>
                  <a:srgbClr val="5B307E"/>
                </a:solidFill>
                <a:latin typeface="微软雅黑" panose="020B0503020204020204" pitchFamily="34" charset="-122"/>
                <a:ea typeface="微软雅黑" panose="020B0503020204020204" pitchFamily="34" charset="-122"/>
              </a:rPr>
              <a:t>5 </a:t>
            </a:r>
            <a:r>
              <a:rPr kumimoji="1" lang="zh-CN" altLang="en-US" sz="2000" dirty="0">
                <a:solidFill>
                  <a:srgbClr val="5B307E"/>
                </a:solidFill>
                <a:latin typeface="微软雅黑" panose="020B0503020204020204" pitchFamily="34" charset="-122"/>
                <a:ea typeface="微软雅黑" panose="020B0503020204020204" pitchFamily="34" charset="-122"/>
              </a:rPr>
              <a:t>个连 </a:t>
            </a:r>
            <a:r>
              <a:rPr kumimoji="1" lang="en-US" altLang="zh-CN" sz="2000" dirty="0">
                <a:solidFill>
                  <a:srgbClr val="5B307E"/>
                </a:solidFill>
                <a:latin typeface="微软雅黑" panose="020B0503020204020204" pitchFamily="34" charset="-122"/>
                <a:ea typeface="微软雅黑" panose="020B0503020204020204" pitchFamily="34" charset="-122"/>
              </a:rPr>
              <a:t>1</a:t>
            </a:r>
            <a:r>
              <a:rPr kumimoji="1" lang="zh-CN" altLang="en-US" sz="2000" dirty="0">
                <a:solidFill>
                  <a:srgbClr val="5B307E"/>
                </a:solidFill>
                <a:latin typeface="微软雅黑" panose="020B0503020204020204" pitchFamily="34" charset="-122"/>
                <a:ea typeface="微软雅黑" panose="020B0503020204020204" pitchFamily="34" charset="-122"/>
              </a:rPr>
              <a:t>之后的 </a:t>
            </a:r>
            <a:r>
              <a:rPr kumimoji="1" lang="en-US" altLang="zh-CN" sz="2000" dirty="0">
                <a:solidFill>
                  <a:srgbClr val="5B307E"/>
                </a:solidFill>
                <a:latin typeface="微软雅黑" panose="020B0503020204020204" pitchFamily="34" charset="-122"/>
                <a:ea typeface="微软雅黑" panose="020B0503020204020204" pitchFamily="34" charset="-122"/>
              </a:rPr>
              <a:t>0 </a:t>
            </a:r>
            <a:r>
              <a:rPr kumimoji="1" lang="zh-CN" altLang="en-US" sz="2000" dirty="0">
                <a:solidFill>
                  <a:srgbClr val="5B307E"/>
                </a:solidFill>
                <a:latin typeface="微软雅黑" panose="020B0503020204020204" pitchFamily="34" charset="-122"/>
                <a:ea typeface="微软雅黑" panose="020B0503020204020204" pitchFamily="34" charset="-122"/>
              </a:rPr>
              <a:t>比特删除</a:t>
            </a:r>
          </a:p>
        </p:txBody>
      </p:sp>
      <p:sp>
        <p:nvSpPr>
          <p:cNvPr id="8" name="AutoShape 25"/>
          <p:cNvSpPr>
            <a:spLocks noChangeArrowheads="1"/>
          </p:cNvSpPr>
          <p:nvPr/>
        </p:nvSpPr>
        <p:spPr bwMode="auto">
          <a:xfrm>
            <a:off x="7178721" y="5427210"/>
            <a:ext cx="2444250" cy="431800"/>
          </a:xfrm>
          <a:prstGeom prst="roundRect">
            <a:avLst>
              <a:gd name="adj" fmla="val 16667"/>
            </a:avLst>
          </a:prstGeom>
          <a:noFill/>
          <a:ln w="19050">
            <a:solidFill>
              <a:srgbClr val="FF0000"/>
            </a:solidFill>
            <a:prstDash val="dash"/>
          </a:ln>
          <a:effectLst/>
        </p:spPr>
        <p:txBody>
          <a:bodyPr wrap="none" anchor="ctr"/>
          <a:lstStyle/>
          <a:p>
            <a:endParaRPr lang="zh-CN" altLang="en-US">
              <a:solidFill>
                <a:srgbClr val="5B307E"/>
              </a:solidFill>
              <a:latin typeface="微软雅黑" panose="020B0503020204020204" pitchFamily="34" charset="-122"/>
              <a:ea typeface="微软雅黑" panose="020B0503020204020204" pitchFamily="34" charset="-122"/>
            </a:endParaRPr>
          </a:p>
        </p:txBody>
      </p:sp>
      <p:sp>
        <p:nvSpPr>
          <p:cNvPr id="9" name="AutoShape 26"/>
          <p:cNvSpPr>
            <a:spLocks noChangeArrowheads="1"/>
          </p:cNvSpPr>
          <p:nvPr/>
        </p:nvSpPr>
        <p:spPr bwMode="auto">
          <a:xfrm>
            <a:off x="8594723" y="5457372"/>
            <a:ext cx="215900" cy="350838"/>
          </a:xfrm>
          <a:prstGeom prst="roundRect">
            <a:avLst>
              <a:gd name="adj" fmla="val 16667"/>
            </a:avLst>
          </a:prstGeom>
          <a:solidFill>
            <a:schemeClr val="accent6">
              <a:lumMod val="60000"/>
              <a:lumOff val="40000"/>
            </a:schemeClr>
          </a:solidFill>
          <a:ln>
            <a:noFill/>
          </a:ln>
          <a:effectLst/>
        </p:spPr>
        <p:txBody>
          <a:bodyPr wrap="none" anchor="ctr"/>
          <a:lstStyle/>
          <a:p>
            <a:endParaRPr lang="zh-CN" altLang="en-US">
              <a:solidFill>
                <a:srgbClr val="5B307E"/>
              </a:solidFill>
              <a:latin typeface="微软雅黑" panose="020B0503020204020204" pitchFamily="34" charset="-122"/>
              <a:ea typeface="微软雅黑" panose="020B0503020204020204" pitchFamily="34" charset="-122"/>
            </a:endParaRPr>
          </a:p>
        </p:txBody>
      </p:sp>
      <p:sp>
        <p:nvSpPr>
          <p:cNvPr id="10" name="Rectangle 27"/>
          <p:cNvSpPr>
            <a:spLocks noChangeArrowheads="1"/>
          </p:cNvSpPr>
          <p:nvPr/>
        </p:nvSpPr>
        <p:spPr bwMode="auto">
          <a:xfrm>
            <a:off x="6336620" y="5393872"/>
            <a:ext cx="4996562"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400" dirty="0">
                <a:solidFill>
                  <a:srgbClr val="5B307E"/>
                </a:solidFill>
                <a:latin typeface="微软雅黑" panose="020B0503020204020204" pitchFamily="34" charset="-122"/>
                <a:ea typeface="微软雅黑" panose="020B0503020204020204" pitchFamily="34" charset="-122"/>
              </a:rPr>
              <a:t>0 1 0 0 1 1 1 1 </a:t>
            </a:r>
            <a:r>
              <a:rPr kumimoji="1" lang="en-US" altLang="zh-CN" sz="2400" dirty="0">
                <a:solidFill>
                  <a:srgbClr val="00B050"/>
                </a:solidFill>
                <a:latin typeface="微软雅黑" panose="020B0503020204020204" pitchFamily="34" charset="-122"/>
                <a:ea typeface="微软雅黑" panose="020B0503020204020204" pitchFamily="34" charset="-122"/>
              </a:rPr>
              <a:t>1</a:t>
            </a:r>
            <a:r>
              <a:rPr kumimoji="1" lang="en-US" altLang="zh-CN" sz="2400" dirty="0">
                <a:solidFill>
                  <a:srgbClr val="5B307E"/>
                </a:solidFill>
                <a:latin typeface="微软雅黑" panose="020B0503020204020204" pitchFamily="34" charset="-122"/>
                <a:ea typeface="微软雅黑" panose="020B0503020204020204" pitchFamily="34" charset="-122"/>
              </a:rPr>
              <a:t> 0 1 0 0 0 1 0 1 0</a:t>
            </a:r>
          </a:p>
        </p:txBody>
      </p:sp>
      <p:sp>
        <p:nvSpPr>
          <p:cNvPr id="11" name="AutoShape 28"/>
          <p:cNvSpPr>
            <a:spLocks noChangeArrowheads="1"/>
          </p:cNvSpPr>
          <p:nvPr/>
        </p:nvSpPr>
        <p:spPr bwMode="auto">
          <a:xfrm>
            <a:off x="7124699" y="3809547"/>
            <a:ext cx="2438401" cy="431800"/>
          </a:xfrm>
          <a:prstGeom prst="roundRect">
            <a:avLst>
              <a:gd name="adj" fmla="val 16667"/>
            </a:avLst>
          </a:prstGeom>
          <a:noFill/>
          <a:ln w="19050">
            <a:solidFill>
              <a:srgbClr val="FF0000"/>
            </a:solidFill>
            <a:prstDash val="dash"/>
          </a:ln>
          <a:effectLst/>
        </p:spPr>
        <p:txBody>
          <a:bodyPr wrap="none" anchor="ctr"/>
          <a:lstStyle/>
          <a:p>
            <a:endParaRPr lang="zh-CN" altLang="en-US">
              <a:solidFill>
                <a:srgbClr val="5B307E"/>
              </a:solidFill>
              <a:latin typeface="微软雅黑" panose="020B0503020204020204" pitchFamily="34" charset="-122"/>
              <a:ea typeface="微软雅黑" panose="020B0503020204020204" pitchFamily="34" charset="-122"/>
            </a:endParaRPr>
          </a:p>
        </p:txBody>
      </p:sp>
      <p:sp>
        <p:nvSpPr>
          <p:cNvPr id="12" name="AutoShape 29"/>
          <p:cNvSpPr>
            <a:spLocks noChangeArrowheads="1"/>
          </p:cNvSpPr>
          <p:nvPr/>
        </p:nvSpPr>
        <p:spPr bwMode="auto">
          <a:xfrm>
            <a:off x="7055757" y="2153785"/>
            <a:ext cx="2186214" cy="431800"/>
          </a:xfrm>
          <a:prstGeom prst="roundRect">
            <a:avLst>
              <a:gd name="adj" fmla="val 16667"/>
            </a:avLst>
          </a:prstGeom>
          <a:noFill/>
          <a:ln w="19050">
            <a:solidFill>
              <a:srgbClr val="FF0000"/>
            </a:solidFill>
            <a:prstDash val="dash"/>
          </a:ln>
          <a:effectLst/>
        </p:spPr>
        <p:txBody>
          <a:bodyPr wrap="none" anchor="ctr"/>
          <a:lstStyle/>
          <a:p>
            <a:endParaRPr lang="zh-CN" altLang="en-US">
              <a:solidFill>
                <a:srgbClr val="5B307E"/>
              </a:solidFill>
              <a:latin typeface="微软雅黑" panose="020B0503020204020204" pitchFamily="34" charset="-122"/>
              <a:ea typeface="微软雅黑" panose="020B0503020204020204" pitchFamily="34" charset="-122"/>
            </a:endParaRPr>
          </a:p>
        </p:txBody>
      </p:sp>
      <p:sp>
        <p:nvSpPr>
          <p:cNvPr id="13" name="Rectangle 30"/>
          <p:cNvSpPr>
            <a:spLocks noChangeArrowheads="1"/>
          </p:cNvSpPr>
          <p:nvPr/>
        </p:nvSpPr>
        <p:spPr bwMode="auto">
          <a:xfrm>
            <a:off x="6241370" y="2153785"/>
            <a:ext cx="4724051"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400" dirty="0">
                <a:solidFill>
                  <a:srgbClr val="5B307E"/>
                </a:solidFill>
                <a:latin typeface="微软雅黑" panose="020B0503020204020204" pitchFamily="34" charset="-122"/>
                <a:ea typeface="微软雅黑" panose="020B0503020204020204" pitchFamily="34" charset="-122"/>
              </a:rPr>
              <a:t>0 1 0 0 1 1 1 1 1 1 0 0 0 1 0 1 0</a:t>
            </a:r>
          </a:p>
        </p:txBody>
      </p:sp>
      <p:sp>
        <p:nvSpPr>
          <p:cNvPr id="14" name="AutoShape 31"/>
          <p:cNvSpPr>
            <a:spLocks noChangeArrowheads="1"/>
          </p:cNvSpPr>
          <p:nvPr/>
        </p:nvSpPr>
        <p:spPr bwMode="auto">
          <a:xfrm>
            <a:off x="8531450" y="3841297"/>
            <a:ext cx="242887" cy="371475"/>
          </a:xfrm>
          <a:prstGeom prst="roundRect">
            <a:avLst>
              <a:gd name="adj" fmla="val 16667"/>
            </a:avLst>
          </a:prstGeom>
          <a:solidFill>
            <a:schemeClr val="accent2">
              <a:lumMod val="40000"/>
              <a:lumOff val="60000"/>
            </a:schemeClr>
          </a:solidFill>
          <a:ln>
            <a:noFill/>
          </a:ln>
          <a:effectLst/>
        </p:spPr>
        <p:txBody>
          <a:bodyPr wrap="none" anchor="ctr"/>
          <a:lstStyle/>
          <a:p>
            <a:endParaRPr lang="zh-CN" altLang="en-US">
              <a:solidFill>
                <a:srgbClr val="5B307E"/>
              </a:solidFill>
              <a:latin typeface="微软雅黑" panose="020B0503020204020204" pitchFamily="34" charset="-122"/>
              <a:ea typeface="微软雅黑" panose="020B0503020204020204" pitchFamily="34" charset="-122"/>
            </a:endParaRPr>
          </a:p>
        </p:txBody>
      </p:sp>
      <p:sp>
        <p:nvSpPr>
          <p:cNvPr id="15" name="Rectangle 32"/>
          <p:cNvSpPr>
            <a:spLocks noChangeArrowheads="1"/>
          </p:cNvSpPr>
          <p:nvPr/>
        </p:nvSpPr>
        <p:spPr bwMode="auto">
          <a:xfrm>
            <a:off x="6276295" y="3804785"/>
            <a:ext cx="4996562"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400" dirty="0">
                <a:solidFill>
                  <a:srgbClr val="5B307E"/>
                </a:solidFill>
                <a:latin typeface="微软雅黑" panose="020B0503020204020204" pitchFamily="34" charset="-122"/>
                <a:ea typeface="微软雅黑" panose="020B0503020204020204" pitchFamily="34" charset="-122"/>
              </a:rPr>
              <a:t>0 1 0 0 1 1 1 1 </a:t>
            </a:r>
            <a:r>
              <a:rPr kumimoji="1" lang="en-US" altLang="zh-CN" sz="2400" dirty="0">
                <a:solidFill>
                  <a:srgbClr val="FF0000"/>
                </a:solidFill>
                <a:latin typeface="微软雅黑" panose="020B0503020204020204" pitchFamily="34" charset="-122"/>
                <a:ea typeface="微软雅黑" panose="020B0503020204020204" pitchFamily="34" charset="-122"/>
              </a:rPr>
              <a:t>1</a:t>
            </a:r>
            <a:r>
              <a:rPr kumimoji="1" lang="en-US" altLang="zh-CN" sz="2400" dirty="0">
                <a:solidFill>
                  <a:srgbClr val="5B307E"/>
                </a:solidFill>
                <a:latin typeface="微软雅黑" panose="020B0503020204020204" pitchFamily="34" charset="-122"/>
                <a:ea typeface="微软雅黑" panose="020B0503020204020204" pitchFamily="34" charset="-122"/>
              </a:rPr>
              <a:t> 0 1 0 0 0 1 0 1 0</a:t>
            </a:r>
          </a:p>
        </p:txBody>
      </p:sp>
      <p:sp>
        <p:nvSpPr>
          <p:cNvPr id="16" name="Rectangle 33"/>
          <p:cNvSpPr>
            <a:spLocks noChangeArrowheads="1"/>
          </p:cNvSpPr>
          <p:nvPr/>
        </p:nvSpPr>
        <p:spPr bwMode="auto">
          <a:xfrm>
            <a:off x="6631621" y="2883588"/>
            <a:ext cx="303448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dirty="0">
                <a:solidFill>
                  <a:srgbClr val="FF0000"/>
                </a:solidFill>
                <a:latin typeface="微软雅黑" panose="020B0503020204020204" pitchFamily="34" charset="-122"/>
                <a:ea typeface="微软雅黑" panose="020B0503020204020204" pitchFamily="34" charset="-122"/>
              </a:rPr>
              <a:t>会被误认为是标志字段 </a:t>
            </a:r>
            <a:r>
              <a:rPr kumimoji="1" lang="en-US" altLang="zh-CN" sz="2000" dirty="0">
                <a:solidFill>
                  <a:srgbClr val="FF0000"/>
                </a:solidFill>
                <a:latin typeface="微软雅黑" panose="020B0503020204020204" pitchFamily="34" charset="-122"/>
                <a:ea typeface="微软雅黑" panose="020B0503020204020204" pitchFamily="34" charset="-122"/>
              </a:rPr>
              <a:t>F </a:t>
            </a:r>
          </a:p>
        </p:txBody>
      </p:sp>
      <p:sp>
        <p:nvSpPr>
          <p:cNvPr id="17" name="AutoShape 34"/>
          <p:cNvSpPr>
            <a:spLocks noChangeArrowheads="1"/>
          </p:cNvSpPr>
          <p:nvPr/>
        </p:nvSpPr>
        <p:spPr bwMode="auto">
          <a:xfrm rot="-5400000">
            <a:off x="8488815" y="4288972"/>
            <a:ext cx="327025" cy="155575"/>
          </a:xfrm>
          <a:prstGeom prst="rightArrow">
            <a:avLst>
              <a:gd name="adj1" fmla="val 50000"/>
              <a:gd name="adj2" fmla="val 105112"/>
            </a:avLst>
          </a:prstGeom>
          <a:solidFill>
            <a:schemeClr val="hlink"/>
          </a:solidFill>
          <a:ln w="12700">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5B307E"/>
              </a:solidFill>
              <a:latin typeface="微软雅黑" panose="020B0503020204020204" pitchFamily="34" charset="-122"/>
              <a:ea typeface="微软雅黑" panose="020B0503020204020204" pitchFamily="34" charset="-122"/>
            </a:endParaRPr>
          </a:p>
        </p:txBody>
      </p:sp>
      <p:sp>
        <p:nvSpPr>
          <p:cNvPr id="18" name="Rectangle 35"/>
          <p:cNvSpPr>
            <a:spLocks noChangeArrowheads="1"/>
          </p:cNvSpPr>
          <p:nvPr/>
        </p:nvSpPr>
        <p:spPr bwMode="auto">
          <a:xfrm>
            <a:off x="7509555" y="4508047"/>
            <a:ext cx="227947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dirty="0">
                <a:solidFill>
                  <a:srgbClr val="FF0000"/>
                </a:solidFill>
                <a:latin typeface="微软雅黑" panose="020B0503020204020204" pitchFamily="34" charset="-122"/>
                <a:ea typeface="微软雅黑" panose="020B0503020204020204" pitchFamily="34" charset="-122"/>
              </a:rPr>
              <a:t>发送端填入 </a:t>
            </a:r>
            <a:r>
              <a:rPr kumimoji="1" lang="en-US" altLang="zh-CN" sz="2000" dirty="0">
                <a:solidFill>
                  <a:srgbClr val="FF0000"/>
                </a:solidFill>
                <a:latin typeface="微软雅黑" panose="020B0503020204020204" pitchFamily="34" charset="-122"/>
                <a:ea typeface="微软雅黑" panose="020B0503020204020204" pitchFamily="34" charset="-122"/>
              </a:rPr>
              <a:t>0 </a:t>
            </a:r>
            <a:r>
              <a:rPr kumimoji="1" lang="zh-CN" altLang="en-US" sz="2000" dirty="0">
                <a:solidFill>
                  <a:srgbClr val="FF0000"/>
                </a:solidFill>
                <a:latin typeface="微软雅黑" panose="020B0503020204020204" pitchFamily="34" charset="-122"/>
                <a:ea typeface="微软雅黑" panose="020B0503020204020204" pitchFamily="34" charset="-122"/>
              </a:rPr>
              <a:t>比特</a:t>
            </a:r>
          </a:p>
        </p:txBody>
      </p:sp>
      <p:sp>
        <p:nvSpPr>
          <p:cNvPr id="19" name="AutoShape 36"/>
          <p:cNvSpPr>
            <a:spLocks noChangeArrowheads="1"/>
          </p:cNvSpPr>
          <p:nvPr/>
        </p:nvSpPr>
        <p:spPr bwMode="auto">
          <a:xfrm rot="5400000" flipV="1">
            <a:off x="8523058" y="5879875"/>
            <a:ext cx="365125" cy="155575"/>
          </a:xfrm>
          <a:prstGeom prst="rightArrow">
            <a:avLst>
              <a:gd name="adj1" fmla="val 50000"/>
              <a:gd name="adj2" fmla="val 117358"/>
            </a:avLst>
          </a:prstGeom>
          <a:solidFill>
            <a:schemeClr val="hlink"/>
          </a:solidFill>
          <a:ln w="12700">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5B307E"/>
              </a:solidFill>
              <a:latin typeface="微软雅黑" panose="020B0503020204020204" pitchFamily="34" charset="-122"/>
              <a:ea typeface="微软雅黑" panose="020B0503020204020204" pitchFamily="34" charset="-122"/>
            </a:endParaRPr>
          </a:p>
        </p:txBody>
      </p:sp>
      <p:sp>
        <p:nvSpPr>
          <p:cNvPr id="20" name="Rectangle 37"/>
          <p:cNvSpPr>
            <a:spLocks noChangeArrowheads="1"/>
          </p:cNvSpPr>
          <p:nvPr/>
        </p:nvSpPr>
        <p:spPr bwMode="auto">
          <a:xfrm>
            <a:off x="7188194" y="6163810"/>
            <a:ext cx="3048913"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dirty="0">
                <a:solidFill>
                  <a:srgbClr val="FF0000"/>
                </a:solidFill>
                <a:latin typeface="微软雅黑" panose="020B0503020204020204" pitchFamily="34" charset="-122"/>
                <a:ea typeface="微软雅黑" panose="020B0503020204020204" pitchFamily="34" charset="-122"/>
              </a:rPr>
              <a:t>接收端删除填入的 </a:t>
            </a:r>
            <a:r>
              <a:rPr kumimoji="1" lang="en-US" altLang="zh-CN" sz="2000" dirty="0">
                <a:solidFill>
                  <a:srgbClr val="FF0000"/>
                </a:solidFill>
                <a:latin typeface="微软雅黑" panose="020B0503020204020204" pitchFamily="34" charset="-122"/>
                <a:ea typeface="微软雅黑" panose="020B0503020204020204" pitchFamily="34" charset="-122"/>
              </a:rPr>
              <a:t>0 </a:t>
            </a:r>
            <a:r>
              <a:rPr kumimoji="1" lang="zh-CN" altLang="en-US" sz="2000" dirty="0">
                <a:solidFill>
                  <a:srgbClr val="FF0000"/>
                </a:solidFill>
                <a:latin typeface="微软雅黑" panose="020B0503020204020204" pitchFamily="34" charset="-122"/>
                <a:ea typeface="微软雅黑" panose="020B0503020204020204" pitchFamily="34" charset="-122"/>
              </a:rPr>
              <a:t>比特</a:t>
            </a:r>
          </a:p>
        </p:txBody>
      </p:sp>
      <p:sp>
        <p:nvSpPr>
          <p:cNvPr id="21" name="AutoShape 38"/>
          <p:cNvSpPr>
            <a:spLocks/>
          </p:cNvSpPr>
          <p:nvPr/>
        </p:nvSpPr>
        <p:spPr bwMode="auto">
          <a:xfrm rot="-5400000">
            <a:off x="8000433" y="1631384"/>
            <a:ext cx="296862" cy="2186214"/>
          </a:xfrm>
          <a:prstGeom prst="leftBrace">
            <a:avLst>
              <a:gd name="adj1" fmla="val 54590"/>
              <a:gd name="adj2" fmla="val 50000"/>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5B307E"/>
              </a:solidFill>
              <a:latin typeface="微软雅黑" panose="020B0503020204020204" pitchFamily="34" charset="-122"/>
              <a:ea typeface="微软雅黑" panose="020B0503020204020204" pitchFamily="34" charset="-122"/>
            </a:endParaRPr>
          </a:p>
        </p:txBody>
      </p:sp>
      <p:sp>
        <p:nvSpPr>
          <p:cNvPr id="22" name="文本框 21">
            <a:extLst>
              <a:ext uri="{FF2B5EF4-FFF2-40B4-BE49-F238E27FC236}">
                <a16:creationId xmlns:a16="http://schemas.microsoft.com/office/drawing/2014/main" id="{81709A11-946E-43BE-89E5-5D40A47A30B5}"/>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Tree>
    <p:extLst>
      <p:ext uri="{BB962C8B-B14F-4D97-AF65-F5344CB8AC3E}">
        <p14:creationId xmlns:p14="http://schemas.microsoft.com/office/powerpoint/2010/main" val="3659689442"/>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PPP</a:t>
            </a:r>
            <a:r>
              <a:rPr lang="zh-CN" altLang="en-US" dirty="0"/>
              <a:t>协议的工作状态及转换</a:t>
            </a:r>
          </a:p>
        </p:txBody>
      </p:sp>
      <p:sp>
        <p:nvSpPr>
          <p:cNvPr id="3" name="内容占位符 2"/>
          <p:cNvSpPr>
            <a:spLocks noGrp="1"/>
          </p:cNvSpPr>
          <p:nvPr>
            <p:ph idx="1"/>
          </p:nvPr>
        </p:nvSpPr>
        <p:spPr>
          <a:xfrm>
            <a:off x="838200" y="1358358"/>
            <a:ext cx="10515600" cy="4586694"/>
          </a:xfrm>
        </p:spPr>
        <p:txBody>
          <a:bodyPr>
            <a:normAutofit/>
          </a:bodyPr>
          <a:lstStyle/>
          <a:p>
            <a:pPr>
              <a:lnSpc>
                <a:spcPct val="200000"/>
              </a:lnSpc>
            </a:pPr>
            <a:r>
              <a:rPr lang="zh-CN" altLang="en-US" sz="2400" dirty="0"/>
              <a:t>在点对点链路上建立通信，通信双方通过</a:t>
            </a:r>
            <a:r>
              <a:rPr lang="en-US" altLang="zh-CN" sz="2400" dirty="0"/>
              <a:t>LCP</a:t>
            </a:r>
            <a:r>
              <a:rPr lang="zh-CN" altLang="en-US" sz="2400" dirty="0"/>
              <a:t>报文进行配置和测试链路</a:t>
            </a:r>
            <a:endParaRPr lang="en-US" altLang="zh-CN" sz="2400" dirty="0"/>
          </a:p>
          <a:p>
            <a:pPr>
              <a:lnSpc>
                <a:spcPct val="200000"/>
              </a:lnSpc>
            </a:pPr>
            <a:r>
              <a:rPr lang="zh-CN" altLang="en-US" sz="2400" dirty="0"/>
              <a:t>对等实体进行身份认证（可选）</a:t>
            </a:r>
            <a:endParaRPr lang="en-US" altLang="zh-CN" sz="2400" dirty="0"/>
          </a:p>
          <a:p>
            <a:pPr>
              <a:lnSpc>
                <a:spcPct val="200000"/>
              </a:lnSpc>
            </a:pPr>
            <a:r>
              <a:rPr lang="en-US" altLang="zh-CN" sz="2400" dirty="0"/>
              <a:t>PPP</a:t>
            </a:r>
            <a:r>
              <a:rPr lang="zh-CN" altLang="en-US" sz="2400" dirty="0"/>
              <a:t>协议必须发送</a:t>
            </a:r>
            <a:r>
              <a:rPr lang="en-US" altLang="zh-CN" sz="2400" dirty="0"/>
              <a:t>NCP</a:t>
            </a:r>
            <a:r>
              <a:rPr lang="zh-CN" altLang="en-US" sz="2400" dirty="0"/>
              <a:t>报文来选择和配置一个或多个网络层协议</a:t>
            </a:r>
            <a:endParaRPr lang="en-US" altLang="zh-CN" sz="2400" dirty="0"/>
          </a:p>
          <a:p>
            <a:pPr>
              <a:lnSpc>
                <a:spcPct val="200000"/>
              </a:lnSpc>
            </a:pPr>
            <a:r>
              <a:rPr lang="zh-CN" altLang="en-US" sz="2400" dirty="0"/>
              <a:t>双方网络层协议可以通过</a:t>
            </a:r>
            <a:r>
              <a:rPr lang="en-US" altLang="zh-CN" sz="2400" dirty="0"/>
              <a:t>PPP</a:t>
            </a:r>
            <a:r>
              <a:rPr lang="zh-CN" altLang="en-US" sz="2400" dirty="0"/>
              <a:t>链路发送数据报，并持续通信</a:t>
            </a:r>
            <a:endParaRPr lang="en-US" altLang="zh-CN" sz="2400" dirty="0"/>
          </a:p>
          <a:p>
            <a:pPr>
              <a:lnSpc>
                <a:spcPct val="200000"/>
              </a:lnSpc>
            </a:pPr>
            <a:r>
              <a:rPr lang="en-US" altLang="zh-CN" sz="2400" dirty="0"/>
              <a:t>LCP</a:t>
            </a:r>
            <a:r>
              <a:rPr lang="zh-CN" altLang="en-US" sz="2400" dirty="0"/>
              <a:t>或</a:t>
            </a:r>
            <a:r>
              <a:rPr lang="en-US" altLang="zh-CN" sz="2400" dirty="0"/>
              <a:t>NCP</a:t>
            </a:r>
            <a:r>
              <a:rPr lang="zh-CN" altLang="en-US" sz="2400" dirty="0"/>
              <a:t>数据报显式关闭链路，或者异常事件导致关闭链路</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140</a:t>
            </a:fld>
            <a:endParaRPr kumimoji="1" lang="zh-CN" altLang="en-US" dirty="0"/>
          </a:p>
        </p:txBody>
      </p:sp>
      <p:sp>
        <p:nvSpPr>
          <p:cNvPr id="5" name="文本框 4">
            <a:extLst>
              <a:ext uri="{FF2B5EF4-FFF2-40B4-BE49-F238E27FC236}">
                <a16:creationId xmlns:a16="http://schemas.microsoft.com/office/drawing/2014/main" id="{9165B74D-7256-4F6E-80AA-D71D3E06A045}"/>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Tree>
    <p:extLst>
      <p:ext uri="{BB962C8B-B14F-4D97-AF65-F5344CB8AC3E}">
        <p14:creationId xmlns:p14="http://schemas.microsoft.com/office/powerpoint/2010/main" val="1781645276"/>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PPP</a:t>
            </a:r>
            <a:r>
              <a:rPr lang="zh-CN" altLang="en-US" dirty="0"/>
              <a:t>协议的工作状态及转换</a:t>
            </a:r>
          </a:p>
        </p:txBody>
      </p:sp>
      <p:sp>
        <p:nvSpPr>
          <p:cNvPr id="3" name="内容占位符 2"/>
          <p:cNvSpPr>
            <a:spLocks noGrp="1"/>
          </p:cNvSpPr>
          <p:nvPr>
            <p:ph idx="1"/>
          </p:nvPr>
        </p:nvSpPr>
        <p:spPr>
          <a:xfrm>
            <a:off x="744415" y="1324111"/>
            <a:ext cx="10462846" cy="5054165"/>
          </a:xfrm>
        </p:spPr>
        <p:txBody>
          <a:bodyPr>
            <a:normAutofit/>
          </a:bodyPr>
          <a:lstStyle/>
          <a:p>
            <a:pPr>
              <a:lnSpc>
                <a:spcPts val="2800"/>
              </a:lnSpc>
            </a:pPr>
            <a:r>
              <a:rPr lang="zh-CN" altLang="en-US" sz="2400" dirty="0"/>
              <a:t>状态转换图</a:t>
            </a:r>
            <a:r>
              <a:rPr lang="en-US" altLang="zh-CN" sz="2400" dirty="0"/>
              <a:t>(State Transform Diagram)</a:t>
            </a:r>
          </a:p>
          <a:p>
            <a:pPr lvl="1">
              <a:lnSpc>
                <a:spcPts val="2800"/>
              </a:lnSpc>
            </a:pPr>
            <a:r>
              <a:rPr lang="zh-CN" altLang="en-US" sz="2000" dirty="0">
                <a:solidFill>
                  <a:srgbClr val="7030A0"/>
                </a:solidFill>
              </a:rPr>
              <a:t>状态转换图</a:t>
            </a:r>
            <a:r>
              <a:rPr lang="zh-CN" altLang="en-US" sz="2000" dirty="0"/>
              <a:t>通过描述系统的状态和引起系统状态转换的事件，来表示系统的行为，指出作为特定事件的结果将执行哪些动作。描述系统对内部事件和外部事件如何响应，如何动作。</a:t>
            </a:r>
            <a:endParaRPr lang="en-US" altLang="zh-CN" sz="2000" dirty="0"/>
          </a:p>
          <a:p>
            <a:pPr lvl="1">
              <a:lnSpc>
                <a:spcPts val="2800"/>
              </a:lnSpc>
            </a:pPr>
            <a:r>
              <a:rPr lang="zh-CN" altLang="en-US" sz="2000" dirty="0"/>
              <a:t>状态转换图中以节点表示状态，有向边来表示内外部事件和响应。</a:t>
            </a:r>
            <a:endParaRPr lang="en-US" altLang="zh-CN" sz="2000" dirty="0"/>
          </a:p>
          <a:p>
            <a:pPr lvl="1">
              <a:lnSpc>
                <a:spcPts val="2800"/>
              </a:lnSpc>
            </a:pPr>
            <a:r>
              <a:rPr lang="zh-CN" altLang="en-US" sz="2000" dirty="0"/>
              <a:t>本节将采用状态转换图来表示</a:t>
            </a:r>
            <a:r>
              <a:rPr lang="en-US" altLang="zh-CN" sz="2000" dirty="0"/>
              <a:t>PPP</a:t>
            </a:r>
            <a:r>
              <a:rPr lang="zh-CN" altLang="en-US" sz="2000" dirty="0"/>
              <a:t>协议工作的行为模型</a:t>
            </a:r>
            <a:endParaRPr lang="en-US" altLang="zh-CN" sz="2000" dirty="0"/>
          </a:p>
          <a:p>
            <a:pPr>
              <a:lnSpc>
                <a:spcPts val="2800"/>
              </a:lnSpc>
            </a:pPr>
            <a:r>
              <a:rPr lang="zh-CN" altLang="en-US" sz="2400" dirty="0"/>
              <a:t>状态</a:t>
            </a:r>
            <a:endParaRPr lang="en-US" altLang="zh-CN" sz="2400" dirty="0"/>
          </a:p>
          <a:p>
            <a:pPr lvl="1">
              <a:lnSpc>
                <a:spcPts val="2800"/>
              </a:lnSpc>
            </a:pPr>
            <a:r>
              <a:rPr lang="en-US" altLang="zh-CN" sz="2000" dirty="0"/>
              <a:t>PPP</a:t>
            </a:r>
            <a:r>
              <a:rPr lang="zh-CN" altLang="en-US" sz="2000" dirty="0"/>
              <a:t>协议的状态转换图中共设置了六个状态：</a:t>
            </a:r>
            <a:endParaRPr lang="en-US" altLang="zh-CN" sz="2000" dirty="0"/>
          </a:p>
          <a:p>
            <a:pPr lvl="1">
              <a:lnSpc>
                <a:spcPts val="2800"/>
              </a:lnSpc>
            </a:pPr>
            <a:r>
              <a:rPr lang="zh-CN" altLang="en-US" sz="2000" dirty="0"/>
              <a:t>链路静止、链路建立、身份认证、网络连接、数据通信、链路终止</a:t>
            </a:r>
            <a:endParaRPr lang="en-US" altLang="zh-CN" sz="2000" dirty="0"/>
          </a:p>
          <a:p>
            <a:pPr>
              <a:lnSpc>
                <a:spcPts val="2800"/>
              </a:lnSpc>
            </a:pPr>
            <a:r>
              <a:rPr lang="zh-CN" altLang="en-US" sz="2400" dirty="0"/>
              <a:t>状态的变迁</a:t>
            </a:r>
            <a:endParaRPr lang="en-US" altLang="zh-CN" sz="2400" dirty="0"/>
          </a:p>
          <a:p>
            <a:pPr lvl="1">
              <a:lnSpc>
                <a:spcPts val="2800"/>
              </a:lnSpc>
            </a:pPr>
            <a:r>
              <a:rPr lang="en-US" altLang="zh-CN" sz="2000" dirty="0"/>
              <a:t>PPP</a:t>
            </a:r>
            <a:r>
              <a:rPr lang="zh-CN" altLang="en-US" sz="2000" dirty="0"/>
              <a:t>协议中通过一些外部事件来触发状态的变迁，如：</a:t>
            </a:r>
            <a:endParaRPr lang="en-US" altLang="zh-CN" sz="2000" dirty="0"/>
          </a:p>
          <a:p>
            <a:pPr lvl="1">
              <a:lnSpc>
                <a:spcPts val="2800"/>
              </a:lnSpc>
            </a:pPr>
            <a:r>
              <a:rPr lang="zh-CN" altLang="en-US" sz="2000" dirty="0"/>
              <a:t>链路启动、</a:t>
            </a:r>
            <a:r>
              <a:rPr lang="en-US" altLang="zh-CN" sz="2000" dirty="0"/>
              <a:t>LCP</a:t>
            </a:r>
            <a:r>
              <a:rPr lang="zh-CN" altLang="en-US" sz="2000" dirty="0"/>
              <a:t>配置协商、鉴别成功、</a:t>
            </a:r>
            <a:r>
              <a:rPr lang="en-US" altLang="zh-CN" sz="2000" dirty="0"/>
              <a:t>NCP</a:t>
            </a:r>
            <a:r>
              <a:rPr lang="zh-CN" altLang="en-US" sz="2000" dirty="0"/>
              <a:t>配置协商、链路关闭、链路终止等</a:t>
            </a: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141</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pic>
        <p:nvPicPr>
          <p:cNvPr id="29" name="图片 28"/>
          <p:cNvPicPr>
            <a:picLocks noChangeAspect="1"/>
          </p:cNvPicPr>
          <p:nvPr/>
        </p:nvPicPr>
        <p:blipFill>
          <a:blip r:embed="rId2"/>
          <a:stretch>
            <a:fillRect/>
          </a:stretch>
        </p:blipFill>
        <p:spPr>
          <a:xfrm>
            <a:off x="8676518" y="3254750"/>
            <a:ext cx="3515482" cy="1357007"/>
          </a:xfrm>
          <a:prstGeom prst="rect">
            <a:avLst/>
          </a:prstGeom>
        </p:spPr>
      </p:pic>
      <p:sp>
        <p:nvSpPr>
          <p:cNvPr id="6" name="文本框 4">
            <a:extLst>
              <a:ext uri="{FF2B5EF4-FFF2-40B4-BE49-F238E27FC236}">
                <a16:creationId xmlns:a16="http://schemas.microsoft.com/office/drawing/2014/main" id="{0BF66620-3D4B-2942-BA4F-4B16A2DCF9B9}"/>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Tree>
    <p:extLst>
      <p:ext uri="{BB962C8B-B14F-4D97-AF65-F5344CB8AC3E}">
        <p14:creationId xmlns:p14="http://schemas.microsoft.com/office/powerpoint/2010/main" val="2249188473"/>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PPP</a:t>
            </a:r>
            <a:r>
              <a:rPr lang="zh-CN" altLang="en-US" dirty="0"/>
              <a:t>协议的工作状态及转换</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142</a:t>
            </a:fld>
            <a:endParaRPr kumimoji="1" lang="zh-CN" altLang="en-US" dirty="0"/>
          </a:p>
        </p:txBody>
      </p:sp>
      <p:sp>
        <p:nvSpPr>
          <p:cNvPr id="5" name="圆角矩形 4"/>
          <p:cNvSpPr/>
          <p:nvPr/>
        </p:nvSpPr>
        <p:spPr>
          <a:xfrm>
            <a:off x="1509695" y="2004393"/>
            <a:ext cx="1536700" cy="819150"/>
          </a:xfrm>
          <a:prstGeom prst="round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链路静止</a:t>
            </a:r>
          </a:p>
        </p:txBody>
      </p:sp>
      <p:sp>
        <p:nvSpPr>
          <p:cNvPr id="6" name="圆角矩形 5"/>
          <p:cNvSpPr/>
          <p:nvPr/>
        </p:nvSpPr>
        <p:spPr>
          <a:xfrm>
            <a:off x="4983145" y="2004393"/>
            <a:ext cx="1536700" cy="819150"/>
          </a:xfrm>
          <a:prstGeom prst="roundRect">
            <a:avLst/>
          </a:prstGeom>
          <a:solidFill>
            <a:srgbClr val="6900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链路建立</a:t>
            </a:r>
          </a:p>
        </p:txBody>
      </p:sp>
      <p:sp>
        <p:nvSpPr>
          <p:cNvPr id="7" name="圆角矩形 6"/>
          <p:cNvSpPr/>
          <p:nvPr/>
        </p:nvSpPr>
        <p:spPr>
          <a:xfrm>
            <a:off x="8456595" y="2004393"/>
            <a:ext cx="1536700" cy="819150"/>
          </a:xfrm>
          <a:prstGeom prst="roundRect">
            <a:avLst/>
          </a:prstGeom>
          <a:solidFill>
            <a:srgbClr val="6900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身份认证</a:t>
            </a:r>
          </a:p>
        </p:txBody>
      </p:sp>
      <p:sp>
        <p:nvSpPr>
          <p:cNvPr id="8" name="圆角矩形 7"/>
          <p:cNvSpPr/>
          <p:nvPr/>
        </p:nvSpPr>
        <p:spPr>
          <a:xfrm>
            <a:off x="8456595" y="4899799"/>
            <a:ext cx="1536700" cy="819150"/>
          </a:xfrm>
          <a:prstGeom prst="roundRect">
            <a:avLst/>
          </a:prstGeom>
          <a:solidFill>
            <a:srgbClr val="6900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网络连接</a:t>
            </a:r>
          </a:p>
        </p:txBody>
      </p:sp>
      <p:sp>
        <p:nvSpPr>
          <p:cNvPr id="9" name="圆角矩形 8"/>
          <p:cNvSpPr/>
          <p:nvPr/>
        </p:nvSpPr>
        <p:spPr>
          <a:xfrm>
            <a:off x="1509695" y="4899799"/>
            <a:ext cx="1536700" cy="819150"/>
          </a:xfrm>
          <a:prstGeom prst="roundRect">
            <a:avLst/>
          </a:prstGeom>
          <a:solidFill>
            <a:srgbClr val="6900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链路终止</a:t>
            </a:r>
          </a:p>
        </p:txBody>
      </p:sp>
      <p:sp>
        <p:nvSpPr>
          <p:cNvPr id="10" name="圆角矩形 9"/>
          <p:cNvSpPr/>
          <p:nvPr/>
        </p:nvSpPr>
        <p:spPr>
          <a:xfrm>
            <a:off x="4983145" y="4899799"/>
            <a:ext cx="1536700" cy="819150"/>
          </a:xfrm>
          <a:prstGeom prst="roundRect">
            <a:avLst/>
          </a:prstGeom>
          <a:solidFill>
            <a:srgbClr val="6900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数据通信</a:t>
            </a:r>
          </a:p>
        </p:txBody>
      </p:sp>
      <p:cxnSp>
        <p:nvCxnSpPr>
          <p:cNvPr id="12" name="直接箭头连接符 11"/>
          <p:cNvCxnSpPr/>
          <p:nvPr/>
        </p:nvCxnSpPr>
        <p:spPr>
          <a:xfrm>
            <a:off x="3173395" y="2413968"/>
            <a:ext cx="1797050" cy="0"/>
          </a:xfrm>
          <a:prstGeom prst="straightConnector1">
            <a:avLst/>
          </a:prstGeom>
          <a:ln w="88900" cmpd="sng">
            <a:solidFill>
              <a:srgbClr val="5B307E"/>
            </a:solidFill>
            <a:headEnd type="none"/>
            <a:tailEnd type="stealth"/>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a:off x="6659545" y="2413968"/>
            <a:ext cx="1797050" cy="0"/>
          </a:xfrm>
          <a:prstGeom prst="straightConnector1">
            <a:avLst/>
          </a:prstGeom>
          <a:ln w="88900" cmpd="sng">
            <a:solidFill>
              <a:srgbClr val="5B307E"/>
            </a:solidFill>
            <a:headEnd type="none"/>
            <a:tailEnd type="stealth"/>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p:nvPr/>
        </p:nvCxnSpPr>
        <p:spPr>
          <a:xfrm>
            <a:off x="9224945" y="2921968"/>
            <a:ext cx="0" cy="1793875"/>
          </a:xfrm>
          <a:prstGeom prst="straightConnector1">
            <a:avLst/>
          </a:prstGeom>
          <a:ln w="88900" cmpd="sng">
            <a:solidFill>
              <a:srgbClr val="5B307E"/>
            </a:solidFill>
            <a:headEnd type="none"/>
            <a:tailEnd type="stealth"/>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p:nvPr/>
        </p:nvCxnSpPr>
        <p:spPr>
          <a:xfrm>
            <a:off x="6589695" y="5309374"/>
            <a:ext cx="1797050" cy="0"/>
          </a:xfrm>
          <a:prstGeom prst="straightConnector1">
            <a:avLst/>
          </a:prstGeom>
          <a:ln w="88900" cmpd="sng">
            <a:solidFill>
              <a:srgbClr val="5B307E"/>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nvCxnSpPr>
        <p:spPr>
          <a:xfrm>
            <a:off x="3116245" y="5309374"/>
            <a:ext cx="1797050" cy="0"/>
          </a:xfrm>
          <a:prstGeom prst="straightConnector1">
            <a:avLst/>
          </a:prstGeom>
          <a:ln w="88900" cmpd="sng">
            <a:solidFill>
              <a:srgbClr val="5B307E"/>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p:nvPr/>
        </p:nvCxnSpPr>
        <p:spPr>
          <a:xfrm>
            <a:off x="2208195" y="2921967"/>
            <a:ext cx="0" cy="1793875"/>
          </a:xfrm>
          <a:prstGeom prst="straightConnector1">
            <a:avLst/>
          </a:prstGeom>
          <a:ln w="88900" cmpd="sng">
            <a:solidFill>
              <a:srgbClr val="5B307E"/>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21" name="肘形连接符 20"/>
          <p:cNvCxnSpPr>
            <a:stCxn id="6" idx="2"/>
          </p:cNvCxnSpPr>
          <p:nvPr/>
        </p:nvCxnSpPr>
        <p:spPr>
          <a:xfrm rot="5400000">
            <a:off x="3825064" y="1384474"/>
            <a:ext cx="487362" cy="3365500"/>
          </a:xfrm>
          <a:prstGeom prst="bentConnector2">
            <a:avLst/>
          </a:prstGeom>
          <a:ln w="88900" cmpd="sng">
            <a:solidFill>
              <a:srgbClr val="0070C0"/>
            </a:solidFill>
            <a:prstDash val="dash"/>
            <a:headEnd type="none"/>
            <a:tailEnd type="stealth"/>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2671545" y="4074493"/>
            <a:ext cx="0" cy="744536"/>
          </a:xfrm>
          <a:prstGeom prst="line">
            <a:avLst/>
          </a:prstGeom>
          <a:ln w="88900" cmpd="sng">
            <a:solidFill>
              <a:srgbClr val="0070C0"/>
            </a:solidFill>
            <a:prstDash val="dash"/>
            <a:headEnd type="none"/>
            <a:tailEnd type="stealth"/>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flipH="1">
            <a:off x="2690795" y="4017343"/>
            <a:ext cx="6108700" cy="0"/>
          </a:xfrm>
          <a:prstGeom prst="line">
            <a:avLst/>
          </a:prstGeom>
          <a:ln w="88900" cmpd="sng">
            <a:solidFill>
              <a:srgbClr val="0070C0"/>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8951895" y="2929991"/>
            <a:ext cx="0" cy="1000125"/>
          </a:xfrm>
          <a:prstGeom prst="line">
            <a:avLst/>
          </a:prstGeom>
          <a:ln w="88900" cmpd="sng">
            <a:solidFill>
              <a:srgbClr val="0070C0"/>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4" name="文本框 33"/>
          <p:cNvSpPr txBox="1"/>
          <p:nvPr/>
        </p:nvSpPr>
        <p:spPr>
          <a:xfrm>
            <a:off x="3463451" y="2013858"/>
            <a:ext cx="1210588" cy="400110"/>
          </a:xfrm>
          <a:prstGeom prst="rect">
            <a:avLst/>
          </a:prstGeom>
          <a:noFill/>
        </p:spPr>
        <p:txBody>
          <a:bodyPr wrap="none" rtlCol="0">
            <a:spAutoFit/>
          </a:bodyPr>
          <a:lstStyle/>
          <a:p>
            <a:r>
              <a:rPr lang="zh-CN" altLang="en-US" sz="2000" dirty="0">
                <a:solidFill>
                  <a:srgbClr val="FF0000"/>
                </a:solidFill>
                <a:latin typeface="微软雅黑" panose="020B0503020204020204" pitchFamily="34" charset="-122"/>
                <a:ea typeface="微软雅黑" panose="020B0503020204020204" pitchFamily="34" charset="-122"/>
              </a:rPr>
              <a:t>链路启动</a:t>
            </a:r>
          </a:p>
        </p:txBody>
      </p:sp>
      <p:sp>
        <p:nvSpPr>
          <p:cNvPr id="35" name="文本框 34"/>
          <p:cNvSpPr txBox="1"/>
          <p:nvPr/>
        </p:nvSpPr>
        <p:spPr>
          <a:xfrm>
            <a:off x="3471845" y="2820278"/>
            <a:ext cx="1210588" cy="400110"/>
          </a:xfrm>
          <a:prstGeom prst="rect">
            <a:avLst/>
          </a:prstGeom>
          <a:noFill/>
        </p:spPr>
        <p:txBody>
          <a:bodyPr wrap="none" rtlCol="0">
            <a:spAutoFit/>
          </a:bodyPr>
          <a:lstStyle/>
          <a:p>
            <a:r>
              <a:rPr lang="zh-CN" altLang="en-US" sz="2000" dirty="0">
                <a:solidFill>
                  <a:srgbClr val="0070C0"/>
                </a:solidFill>
                <a:latin typeface="微软雅黑" panose="020B0503020204020204" pitchFamily="34" charset="-122"/>
                <a:ea typeface="微软雅黑" panose="020B0503020204020204" pitchFamily="34" charset="-122"/>
              </a:rPr>
              <a:t>启动失败</a:t>
            </a:r>
          </a:p>
        </p:txBody>
      </p:sp>
      <p:sp>
        <p:nvSpPr>
          <p:cNvPr id="36" name="文本框 35"/>
          <p:cNvSpPr txBox="1"/>
          <p:nvPr/>
        </p:nvSpPr>
        <p:spPr>
          <a:xfrm>
            <a:off x="6744339" y="1991051"/>
            <a:ext cx="1661737" cy="400110"/>
          </a:xfrm>
          <a:prstGeom prst="rect">
            <a:avLst/>
          </a:prstGeom>
          <a:noFill/>
        </p:spPr>
        <p:txBody>
          <a:bodyPr wrap="none" rtlCol="0">
            <a:spAutoFit/>
          </a:bodyPr>
          <a:lstStyle/>
          <a:p>
            <a:r>
              <a:rPr lang="en-US" altLang="zh-CN" sz="2000" dirty="0">
                <a:solidFill>
                  <a:srgbClr val="FF0000"/>
                </a:solidFill>
                <a:latin typeface="微软雅黑" panose="020B0503020204020204" pitchFamily="34" charset="-122"/>
                <a:ea typeface="微软雅黑" panose="020B0503020204020204" pitchFamily="34" charset="-122"/>
              </a:rPr>
              <a:t>LCP</a:t>
            </a:r>
            <a:r>
              <a:rPr lang="zh-CN" altLang="en-US" sz="2000" dirty="0">
                <a:solidFill>
                  <a:srgbClr val="FF0000"/>
                </a:solidFill>
                <a:latin typeface="微软雅黑" panose="020B0503020204020204" pitchFamily="34" charset="-122"/>
                <a:ea typeface="微软雅黑" panose="020B0503020204020204" pitchFamily="34" charset="-122"/>
              </a:rPr>
              <a:t>配置协商</a:t>
            </a:r>
          </a:p>
        </p:txBody>
      </p:sp>
      <p:sp>
        <p:nvSpPr>
          <p:cNvPr id="37" name="文本框 36"/>
          <p:cNvSpPr txBox="1"/>
          <p:nvPr/>
        </p:nvSpPr>
        <p:spPr>
          <a:xfrm>
            <a:off x="5914551" y="3537286"/>
            <a:ext cx="1210588" cy="400110"/>
          </a:xfrm>
          <a:prstGeom prst="rect">
            <a:avLst/>
          </a:prstGeom>
          <a:noFill/>
        </p:spPr>
        <p:txBody>
          <a:bodyPr wrap="none" rtlCol="0">
            <a:spAutoFit/>
          </a:bodyPr>
          <a:lstStyle/>
          <a:p>
            <a:r>
              <a:rPr lang="zh-CN" altLang="en-US" sz="2000" dirty="0">
                <a:solidFill>
                  <a:srgbClr val="0070C0"/>
                </a:solidFill>
                <a:latin typeface="微软雅黑" panose="020B0503020204020204" pitchFamily="34" charset="-122"/>
                <a:ea typeface="微软雅黑" panose="020B0503020204020204" pitchFamily="34" charset="-122"/>
              </a:rPr>
              <a:t>鉴别失败</a:t>
            </a:r>
          </a:p>
        </p:txBody>
      </p:sp>
      <p:sp>
        <p:nvSpPr>
          <p:cNvPr id="38" name="文本框 37"/>
          <p:cNvSpPr txBox="1"/>
          <p:nvPr/>
        </p:nvSpPr>
        <p:spPr>
          <a:xfrm>
            <a:off x="9285142" y="3593171"/>
            <a:ext cx="1210588" cy="400110"/>
          </a:xfrm>
          <a:prstGeom prst="rect">
            <a:avLst/>
          </a:prstGeom>
          <a:noFill/>
        </p:spPr>
        <p:txBody>
          <a:bodyPr wrap="none" rtlCol="0">
            <a:spAutoFit/>
          </a:bodyPr>
          <a:lstStyle/>
          <a:p>
            <a:r>
              <a:rPr lang="zh-CN" altLang="en-US" sz="2000" dirty="0">
                <a:solidFill>
                  <a:srgbClr val="FF0000"/>
                </a:solidFill>
                <a:latin typeface="微软雅黑" panose="020B0503020204020204" pitchFamily="34" charset="-122"/>
                <a:ea typeface="微软雅黑" panose="020B0503020204020204" pitchFamily="34" charset="-122"/>
              </a:rPr>
              <a:t>鉴别成功</a:t>
            </a:r>
          </a:p>
        </p:txBody>
      </p:sp>
      <p:sp>
        <p:nvSpPr>
          <p:cNvPr id="39" name="文本框 38"/>
          <p:cNvSpPr txBox="1"/>
          <p:nvPr/>
        </p:nvSpPr>
        <p:spPr>
          <a:xfrm>
            <a:off x="6727201" y="4895992"/>
            <a:ext cx="1747594" cy="400110"/>
          </a:xfrm>
          <a:prstGeom prst="rect">
            <a:avLst/>
          </a:prstGeom>
          <a:noFill/>
        </p:spPr>
        <p:txBody>
          <a:bodyPr wrap="none" rtlCol="0">
            <a:spAutoFit/>
          </a:bodyPr>
          <a:lstStyle/>
          <a:p>
            <a:r>
              <a:rPr lang="en-US" altLang="zh-CN" sz="2000" dirty="0">
                <a:solidFill>
                  <a:srgbClr val="FF0000"/>
                </a:solidFill>
                <a:latin typeface="微软雅黑" panose="020B0503020204020204" pitchFamily="34" charset="-122"/>
                <a:ea typeface="微软雅黑" panose="020B0503020204020204" pitchFamily="34" charset="-122"/>
              </a:rPr>
              <a:t>NCP</a:t>
            </a:r>
            <a:r>
              <a:rPr lang="zh-CN" altLang="en-US" sz="2000" dirty="0">
                <a:solidFill>
                  <a:srgbClr val="FF0000"/>
                </a:solidFill>
                <a:latin typeface="微软雅黑" panose="020B0503020204020204" pitchFamily="34" charset="-122"/>
                <a:ea typeface="微软雅黑" panose="020B0503020204020204" pitchFamily="34" charset="-122"/>
              </a:rPr>
              <a:t>配置协商</a:t>
            </a:r>
          </a:p>
        </p:txBody>
      </p:sp>
      <p:sp>
        <p:nvSpPr>
          <p:cNvPr id="40" name="文本框 39"/>
          <p:cNvSpPr txBox="1"/>
          <p:nvPr/>
        </p:nvSpPr>
        <p:spPr>
          <a:xfrm>
            <a:off x="3615851" y="4825541"/>
            <a:ext cx="1210588" cy="400110"/>
          </a:xfrm>
          <a:prstGeom prst="rect">
            <a:avLst/>
          </a:prstGeom>
          <a:noFill/>
        </p:spPr>
        <p:txBody>
          <a:bodyPr wrap="none" rtlCol="0">
            <a:spAutoFit/>
          </a:bodyPr>
          <a:lstStyle/>
          <a:p>
            <a:r>
              <a:rPr lang="zh-CN" altLang="en-US" sz="2000" dirty="0">
                <a:solidFill>
                  <a:srgbClr val="FF0000"/>
                </a:solidFill>
                <a:latin typeface="微软雅黑" panose="020B0503020204020204" pitchFamily="34" charset="-122"/>
                <a:ea typeface="微软雅黑" panose="020B0503020204020204" pitchFamily="34" charset="-122"/>
              </a:rPr>
              <a:t>链路关闭</a:t>
            </a:r>
          </a:p>
        </p:txBody>
      </p:sp>
      <p:sp>
        <p:nvSpPr>
          <p:cNvPr id="41" name="文本框 40"/>
          <p:cNvSpPr txBox="1"/>
          <p:nvPr/>
        </p:nvSpPr>
        <p:spPr>
          <a:xfrm>
            <a:off x="861083" y="3599397"/>
            <a:ext cx="1210588" cy="400110"/>
          </a:xfrm>
          <a:prstGeom prst="rect">
            <a:avLst/>
          </a:prstGeom>
          <a:noFill/>
        </p:spPr>
        <p:txBody>
          <a:bodyPr wrap="none" rtlCol="0">
            <a:spAutoFit/>
          </a:bodyPr>
          <a:lstStyle/>
          <a:p>
            <a:r>
              <a:rPr lang="zh-CN" altLang="en-US" sz="2000" dirty="0">
                <a:solidFill>
                  <a:srgbClr val="FF0000"/>
                </a:solidFill>
                <a:latin typeface="微软雅黑" panose="020B0503020204020204" pitchFamily="34" charset="-122"/>
                <a:ea typeface="微软雅黑" panose="020B0503020204020204" pitchFamily="34" charset="-122"/>
              </a:rPr>
              <a:t>链路终止</a:t>
            </a:r>
          </a:p>
        </p:txBody>
      </p:sp>
      <p:sp>
        <p:nvSpPr>
          <p:cNvPr id="28" name="文本框 27">
            <a:extLst>
              <a:ext uri="{FF2B5EF4-FFF2-40B4-BE49-F238E27FC236}">
                <a16:creationId xmlns:a16="http://schemas.microsoft.com/office/drawing/2014/main" id="{699E64A3-E370-4F26-B918-F8BBD12073A8}"/>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Tree>
    <p:extLst>
      <p:ext uri="{BB962C8B-B14F-4D97-AF65-F5344CB8AC3E}">
        <p14:creationId xmlns:p14="http://schemas.microsoft.com/office/powerpoint/2010/main" val="1086052261"/>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PPP</a:t>
            </a:r>
            <a:r>
              <a:rPr lang="zh-CN" altLang="en-US" dirty="0"/>
              <a:t>协议的工作状态及转换</a:t>
            </a:r>
          </a:p>
        </p:txBody>
      </p:sp>
      <p:sp>
        <p:nvSpPr>
          <p:cNvPr id="3" name="内容占位符 2"/>
          <p:cNvSpPr>
            <a:spLocks noGrp="1"/>
          </p:cNvSpPr>
          <p:nvPr>
            <p:ph idx="1"/>
          </p:nvPr>
        </p:nvSpPr>
        <p:spPr>
          <a:xfrm>
            <a:off x="838200" y="1333500"/>
            <a:ext cx="10515600" cy="4763952"/>
          </a:xfrm>
        </p:spPr>
        <p:txBody>
          <a:bodyPr>
            <a:normAutofit/>
          </a:bodyPr>
          <a:lstStyle/>
          <a:p>
            <a:pPr>
              <a:lnSpc>
                <a:spcPct val="150000"/>
              </a:lnSpc>
            </a:pPr>
            <a:r>
              <a:rPr lang="zh-CN" altLang="en-US" dirty="0"/>
              <a:t>链路静止状态</a:t>
            </a:r>
            <a:endParaRPr lang="en-US" altLang="zh-CN" dirty="0"/>
          </a:p>
          <a:p>
            <a:pPr lvl="1">
              <a:lnSpc>
                <a:spcPct val="150000"/>
              </a:lnSpc>
            </a:pPr>
            <a:r>
              <a:rPr lang="en-US" altLang="zh-CN" dirty="0"/>
              <a:t>PPP</a:t>
            </a:r>
            <a:r>
              <a:rPr lang="zh-CN" altLang="en-US" dirty="0"/>
              <a:t>链路的起始和终止状态，通信双方尚无链路</a:t>
            </a:r>
            <a:endParaRPr lang="en-US" altLang="zh-CN" dirty="0"/>
          </a:p>
          <a:p>
            <a:pPr lvl="1">
              <a:lnSpc>
                <a:spcPct val="150000"/>
              </a:lnSpc>
            </a:pPr>
            <a:r>
              <a:rPr lang="zh-CN" altLang="en-US" dirty="0"/>
              <a:t>当外部事件表明物理层可以使用时，</a:t>
            </a:r>
            <a:r>
              <a:rPr lang="en-US" altLang="zh-CN" dirty="0"/>
              <a:t>PPP</a:t>
            </a:r>
            <a:r>
              <a:rPr lang="zh-CN" altLang="en-US" dirty="0"/>
              <a:t>将进入链路建立阶段。</a:t>
            </a:r>
            <a:endParaRPr lang="en-US" altLang="zh-CN" dirty="0"/>
          </a:p>
          <a:p>
            <a:pPr lvl="2" indent="-330200">
              <a:lnSpc>
                <a:spcPct val="150000"/>
              </a:lnSpc>
              <a:buFont typeface="Microsoft YaHei" panose="020B0503020204020204" pitchFamily="34" charset="-122"/>
              <a:buChar char="−"/>
            </a:pPr>
            <a:r>
              <a:rPr lang="zh-CN" altLang="en-US" dirty="0"/>
              <a:t>如载波检测、网络管理员配置</a:t>
            </a:r>
            <a:endParaRPr lang="en-US" altLang="zh-CN" dirty="0"/>
          </a:p>
          <a:p>
            <a:pPr lvl="2" indent="-330200">
              <a:lnSpc>
                <a:spcPct val="150000"/>
              </a:lnSpc>
              <a:buFont typeface="Microsoft YaHei" panose="020B0503020204020204" pitchFamily="34" charset="-122"/>
              <a:buChar char="−"/>
            </a:pPr>
            <a:r>
              <a:rPr lang="en-US" altLang="zh-CN" dirty="0"/>
              <a:t>PC</a:t>
            </a:r>
            <a:r>
              <a:rPr lang="zh-CN" altLang="en-US" dirty="0"/>
              <a:t>机通过调制解调器呼叫路由器时，路由器能检测到调制解调器发出的载波信号，并作出应答。</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143</a:t>
            </a:fld>
            <a:endParaRPr kumimoji="1" lang="zh-CN" altLang="en-US" dirty="0"/>
          </a:p>
        </p:txBody>
      </p:sp>
      <p:sp>
        <p:nvSpPr>
          <p:cNvPr id="5" name="文本框 4">
            <a:extLst>
              <a:ext uri="{FF2B5EF4-FFF2-40B4-BE49-F238E27FC236}">
                <a16:creationId xmlns:a16="http://schemas.microsoft.com/office/drawing/2014/main" id="{20AC677F-7FF0-4816-A4AA-71EAF7D5940A}"/>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Tree>
    <p:extLst>
      <p:ext uri="{BB962C8B-B14F-4D97-AF65-F5344CB8AC3E}">
        <p14:creationId xmlns:p14="http://schemas.microsoft.com/office/powerpoint/2010/main" val="2326799628"/>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PPP</a:t>
            </a:r>
            <a:r>
              <a:rPr lang="zh-CN" altLang="en-US" dirty="0"/>
              <a:t>协议的工作状态及转换</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144</a:t>
            </a:fld>
            <a:endParaRPr kumimoji="1" lang="zh-CN" altLang="en-US" dirty="0"/>
          </a:p>
        </p:txBody>
      </p:sp>
      <p:sp>
        <p:nvSpPr>
          <p:cNvPr id="5" name="圆角矩形 4"/>
          <p:cNvSpPr/>
          <p:nvPr/>
        </p:nvSpPr>
        <p:spPr>
          <a:xfrm>
            <a:off x="1509695" y="2004393"/>
            <a:ext cx="1536700" cy="819150"/>
          </a:xfrm>
          <a:prstGeom prst="roundRect">
            <a:avLst/>
          </a:prstGeom>
          <a:solidFill>
            <a:srgbClr val="6900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链路静止</a:t>
            </a:r>
          </a:p>
        </p:txBody>
      </p:sp>
      <p:sp>
        <p:nvSpPr>
          <p:cNvPr id="6" name="圆角矩形 5"/>
          <p:cNvSpPr/>
          <p:nvPr/>
        </p:nvSpPr>
        <p:spPr>
          <a:xfrm>
            <a:off x="4983145" y="2004393"/>
            <a:ext cx="1536700" cy="819150"/>
          </a:xfrm>
          <a:prstGeom prst="round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链路建立</a:t>
            </a:r>
          </a:p>
        </p:txBody>
      </p:sp>
      <p:sp>
        <p:nvSpPr>
          <p:cNvPr id="7" name="圆角矩形 6"/>
          <p:cNvSpPr/>
          <p:nvPr/>
        </p:nvSpPr>
        <p:spPr>
          <a:xfrm>
            <a:off x="8456595" y="2004393"/>
            <a:ext cx="1536700" cy="819150"/>
          </a:xfrm>
          <a:prstGeom prst="roundRect">
            <a:avLst/>
          </a:prstGeom>
          <a:solidFill>
            <a:srgbClr val="6900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身份认证</a:t>
            </a:r>
          </a:p>
        </p:txBody>
      </p:sp>
      <p:sp>
        <p:nvSpPr>
          <p:cNvPr id="8" name="圆角矩形 7"/>
          <p:cNvSpPr/>
          <p:nvPr/>
        </p:nvSpPr>
        <p:spPr>
          <a:xfrm>
            <a:off x="8456595" y="4899799"/>
            <a:ext cx="1536700" cy="819150"/>
          </a:xfrm>
          <a:prstGeom prst="roundRect">
            <a:avLst/>
          </a:prstGeom>
          <a:solidFill>
            <a:srgbClr val="6900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网络连接</a:t>
            </a:r>
          </a:p>
        </p:txBody>
      </p:sp>
      <p:sp>
        <p:nvSpPr>
          <p:cNvPr id="9" name="圆角矩形 8"/>
          <p:cNvSpPr/>
          <p:nvPr/>
        </p:nvSpPr>
        <p:spPr>
          <a:xfrm>
            <a:off x="1509695" y="4899799"/>
            <a:ext cx="1536700" cy="819150"/>
          </a:xfrm>
          <a:prstGeom prst="roundRect">
            <a:avLst/>
          </a:prstGeom>
          <a:solidFill>
            <a:srgbClr val="6900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链路终止</a:t>
            </a:r>
          </a:p>
        </p:txBody>
      </p:sp>
      <p:sp>
        <p:nvSpPr>
          <p:cNvPr id="10" name="圆角矩形 9"/>
          <p:cNvSpPr/>
          <p:nvPr/>
        </p:nvSpPr>
        <p:spPr>
          <a:xfrm>
            <a:off x="4983145" y="4899799"/>
            <a:ext cx="1536700" cy="819150"/>
          </a:xfrm>
          <a:prstGeom prst="roundRect">
            <a:avLst/>
          </a:prstGeom>
          <a:solidFill>
            <a:srgbClr val="6900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数据通信</a:t>
            </a:r>
          </a:p>
        </p:txBody>
      </p:sp>
      <p:cxnSp>
        <p:nvCxnSpPr>
          <p:cNvPr id="12" name="直接箭头连接符 11"/>
          <p:cNvCxnSpPr/>
          <p:nvPr/>
        </p:nvCxnSpPr>
        <p:spPr>
          <a:xfrm>
            <a:off x="3173395" y="2413968"/>
            <a:ext cx="1797050" cy="0"/>
          </a:xfrm>
          <a:prstGeom prst="straightConnector1">
            <a:avLst/>
          </a:prstGeom>
          <a:ln w="88900" cmpd="sng">
            <a:solidFill>
              <a:srgbClr val="5B307E"/>
            </a:solidFill>
            <a:headEnd type="none"/>
            <a:tailEnd type="stealth"/>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a:off x="6659545" y="2413968"/>
            <a:ext cx="1797050" cy="0"/>
          </a:xfrm>
          <a:prstGeom prst="straightConnector1">
            <a:avLst/>
          </a:prstGeom>
          <a:ln w="88900" cmpd="sng">
            <a:solidFill>
              <a:srgbClr val="5B307E"/>
            </a:solidFill>
            <a:headEnd type="none"/>
            <a:tailEnd type="stealth"/>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p:nvPr/>
        </p:nvCxnSpPr>
        <p:spPr>
          <a:xfrm>
            <a:off x="9224945" y="2921968"/>
            <a:ext cx="0" cy="1793875"/>
          </a:xfrm>
          <a:prstGeom prst="straightConnector1">
            <a:avLst/>
          </a:prstGeom>
          <a:ln w="88900" cmpd="sng">
            <a:solidFill>
              <a:srgbClr val="5B307E"/>
            </a:solidFill>
            <a:headEnd type="none"/>
            <a:tailEnd type="stealth"/>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p:nvPr/>
        </p:nvCxnSpPr>
        <p:spPr>
          <a:xfrm>
            <a:off x="6589695" y="5309374"/>
            <a:ext cx="1797050" cy="0"/>
          </a:xfrm>
          <a:prstGeom prst="straightConnector1">
            <a:avLst/>
          </a:prstGeom>
          <a:ln w="88900" cmpd="sng">
            <a:solidFill>
              <a:srgbClr val="5B307E"/>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nvCxnSpPr>
        <p:spPr>
          <a:xfrm>
            <a:off x="3116245" y="5309374"/>
            <a:ext cx="1797050" cy="0"/>
          </a:xfrm>
          <a:prstGeom prst="straightConnector1">
            <a:avLst/>
          </a:prstGeom>
          <a:ln w="88900" cmpd="sng">
            <a:solidFill>
              <a:srgbClr val="5B307E"/>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p:nvPr/>
        </p:nvCxnSpPr>
        <p:spPr>
          <a:xfrm>
            <a:off x="2208195" y="2921967"/>
            <a:ext cx="0" cy="1793875"/>
          </a:xfrm>
          <a:prstGeom prst="straightConnector1">
            <a:avLst/>
          </a:prstGeom>
          <a:ln w="88900" cmpd="sng">
            <a:solidFill>
              <a:srgbClr val="5B307E"/>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21" name="肘形连接符 20"/>
          <p:cNvCxnSpPr>
            <a:stCxn id="6" idx="2"/>
          </p:cNvCxnSpPr>
          <p:nvPr/>
        </p:nvCxnSpPr>
        <p:spPr>
          <a:xfrm rot="5400000">
            <a:off x="3825064" y="1384474"/>
            <a:ext cx="487362" cy="3365500"/>
          </a:xfrm>
          <a:prstGeom prst="bentConnector2">
            <a:avLst/>
          </a:prstGeom>
          <a:ln w="88900" cmpd="sng">
            <a:solidFill>
              <a:srgbClr val="0070C0"/>
            </a:solidFill>
            <a:prstDash val="dash"/>
            <a:headEnd type="none"/>
            <a:tailEnd type="stealth"/>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2671545" y="4074493"/>
            <a:ext cx="0" cy="744536"/>
          </a:xfrm>
          <a:prstGeom prst="line">
            <a:avLst/>
          </a:prstGeom>
          <a:ln w="88900" cmpd="sng">
            <a:solidFill>
              <a:srgbClr val="0070C0"/>
            </a:solidFill>
            <a:prstDash val="dash"/>
            <a:headEnd type="none"/>
            <a:tailEnd type="stealth"/>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flipH="1">
            <a:off x="2690795" y="4017343"/>
            <a:ext cx="6108700" cy="0"/>
          </a:xfrm>
          <a:prstGeom prst="line">
            <a:avLst/>
          </a:prstGeom>
          <a:ln w="88900" cmpd="sng">
            <a:solidFill>
              <a:srgbClr val="0070C0"/>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8951895" y="2929991"/>
            <a:ext cx="0" cy="1000125"/>
          </a:xfrm>
          <a:prstGeom prst="line">
            <a:avLst/>
          </a:prstGeom>
          <a:ln w="88900" cmpd="sng">
            <a:solidFill>
              <a:srgbClr val="0070C0"/>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4" name="文本框 33"/>
          <p:cNvSpPr txBox="1"/>
          <p:nvPr/>
        </p:nvSpPr>
        <p:spPr>
          <a:xfrm>
            <a:off x="3463451" y="2013858"/>
            <a:ext cx="1210588" cy="400110"/>
          </a:xfrm>
          <a:prstGeom prst="rect">
            <a:avLst/>
          </a:prstGeom>
          <a:noFill/>
        </p:spPr>
        <p:txBody>
          <a:bodyPr wrap="none" rtlCol="0">
            <a:spAutoFit/>
          </a:bodyPr>
          <a:lstStyle/>
          <a:p>
            <a:r>
              <a:rPr lang="zh-CN" altLang="en-US" sz="2000" dirty="0">
                <a:solidFill>
                  <a:srgbClr val="FF0000"/>
                </a:solidFill>
                <a:latin typeface="微软雅黑" panose="020B0503020204020204" pitchFamily="34" charset="-122"/>
                <a:ea typeface="微软雅黑" panose="020B0503020204020204" pitchFamily="34" charset="-122"/>
              </a:rPr>
              <a:t>链路启动</a:t>
            </a:r>
          </a:p>
        </p:txBody>
      </p:sp>
      <p:sp>
        <p:nvSpPr>
          <p:cNvPr id="35" name="文本框 34"/>
          <p:cNvSpPr txBox="1"/>
          <p:nvPr/>
        </p:nvSpPr>
        <p:spPr>
          <a:xfrm>
            <a:off x="3471845" y="2820278"/>
            <a:ext cx="1210588" cy="400110"/>
          </a:xfrm>
          <a:prstGeom prst="rect">
            <a:avLst/>
          </a:prstGeom>
          <a:noFill/>
        </p:spPr>
        <p:txBody>
          <a:bodyPr wrap="none" rtlCol="0">
            <a:spAutoFit/>
          </a:bodyPr>
          <a:lstStyle/>
          <a:p>
            <a:r>
              <a:rPr lang="zh-CN" altLang="en-US" sz="2000" dirty="0">
                <a:solidFill>
                  <a:srgbClr val="0070C0"/>
                </a:solidFill>
                <a:latin typeface="微软雅黑" panose="020B0503020204020204" pitchFamily="34" charset="-122"/>
                <a:ea typeface="微软雅黑" panose="020B0503020204020204" pitchFamily="34" charset="-122"/>
              </a:rPr>
              <a:t>启动失败</a:t>
            </a:r>
          </a:p>
        </p:txBody>
      </p:sp>
      <p:sp>
        <p:nvSpPr>
          <p:cNvPr id="36" name="文本框 35"/>
          <p:cNvSpPr txBox="1"/>
          <p:nvPr/>
        </p:nvSpPr>
        <p:spPr>
          <a:xfrm>
            <a:off x="6744339" y="1991051"/>
            <a:ext cx="1661737" cy="400110"/>
          </a:xfrm>
          <a:prstGeom prst="rect">
            <a:avLst/>
          </a:prstGeom>
          <a:noFill/>
        </p:spPr>
        <p:txBody>
          <a:bodyPr wrap="none" rtlCol="0">
            <a:spAutoFit/>
          </a:bodyPr>
          <a:lstStyle/>
          <a:p>
            <a:r>
              <a:rPr lang="en-US" altLang="zh-CN" sz="2000" dirty="0">
                <a:solidFill>
                  <a:srgbClr val="FF0000"/>
                </a:solidFill>
                <a:latin typeface="微软雅黑" panose="020B0503020204020204" pitchFamily="34" charset="-122"/>
                <a:ea typeface="微软雅黑" panose="020B0503020204020204" pitchFamily="34" charset="-122"/>
              </a:rPr>
              <a:t>LCP</a:t>
            </a:r>
            <a:r>
              <a:rPr lang="zh-CN" altLang="en-US" sz="2000" dirty="0">
                <a:solidFill>
                  <a:srgbClr val="FF0000"/>
                </a:solidFill>
                <a:latin typeface="微软雅黑" panose="020B0503020204020204" pitchFamily="34" charset="-122"/>
                <a:ea typeface="微软雅黑" panose="020B0503020204020204" pitchFamily="34" charset="-122"/>
              </a:rPr>
              <a:t>配置协商</a:t>
            </a:r>
          </a:p>
        </p:txBody>
      </p:sp>
      <p:sp>
        <p:nvSpPr>
          <p:cNvPr id="37" name="文本框 36"/>
          <p:cNvSpPr txBox="1"/>
          <p:nvPr/>
        </p:nvSpPr>
        <p:spPr>
          <a:xfrm>
            <a:off x="5914551" y="3537286"/>
            <a:ext cx="1210588" cy="400110"/>
          </a:xfrm>
          <a:prstGeom prst="rect">
            <a:avLst/>
          </a:prstGeom>
          <a:noFill/>
        </p:spPr>
        <p:txBody>
          <a:bodyPr wrap="none" rtlCol="0">
            <a:spAutoFit/>
          </a:bodyPr>
          <a:lstStyle/>
          <a:p>
            <a:r>
              <a:rPr lang="zh-CN" altLang="en-US" sz="2000" dirty="0">
                <a:solidFill>
                  <a:srgbClr val="0070C0"/>
                </a:solidFill>
                <a:latin typeface="微软雅黑" panose="020B0503020204020204" pitchFamily="34" charset="-122"/>
                <a:ea typeface="微软雅黑" panose="020B0503020204020204" pitchFamily="34" charset="-122"/>
              </a:rPr>
              <a:t>鉴别失败</a:t>
            </a:r>
          </a:p>
        </p:txBody>
      </p:sp>
      <p:sp>
        <p:nvSpPr>
          <p:cNvPr id="38" name="文本框 37"/>
          <p:cNvSpPr txBox="1"/>
          <p:nvPr/>
        </p:nvSpPr>
        <p:spPr>
          <a:xfrm>
            <a:off x="9285142" y="3593171"/>
            <a:ext cx="1210588" cy="400110"/>
          </a:xfrm>
          <a:prstGeom prst="rect">
            <a:avLst/>
          </a:prstGeom>
          <a:noFill/>
        </p:spPr>
        <p:txBody>
          <a:bodyPr wrap="none" rtlCol="0">
            <a:spAutoFit/>
          </a:bodyPr>
          <a:lstStyle/>
          <a:p>
            <a:r>
              <a:rPr lang="zh-CN" altLang="en-US" sz="2000" dirty="0">
                <a:solidFill>
                  <a:srgbClr val="FF0000"/>
                </a:solidFill>
                <a:latin typeface="微软雅黑" panose="020B0503020204020204" pitchFamily="34" charset="-122"/>
                <a:ea typeface="微软雅黑" panose="020B0503020204020204" pitchFamily="34" charset="-122"/>
              </a:rPr>
              <a:t>鉴别成功</a:t>
            </a:r>
          </a:p>
        </p:txBody>
      </p:sp>
      <p:sp>
        <p:nvSpPr>
          <p:cNvPr id="39" name="文本框 38"/>
          <p:cNvSpPr txBox="1"/>
          <p:nvPr/>
        </p:nvSpPr>
        <p:spPr>
          <a:xfrm>
            <a:off x="6727201" y="4895992"/>
            <a:ext cx="1747594" cy="400110"/>
          </a:xfrm>
          <a:prstGeom prst="rect">
            <a:avLst/>
          </a:prstGeom>
          <a:noFill/>
        </p:spPr>
        <p:txBody>
          <a:bodyPr wrap="none" rtlCol="0">
            <a:spAutoFit/>
          </a:bodyPr>
          <a:lstStyle/>
          <a:p>
            <a:r>
              <a:rPr lang="en-US" altLang="zh-CN" sz="2000" dirty="0">
                <a:solidFill>
                  <a:srgbClr val="FF0000"/>
                </a:solidFill>
                <a:latin typeface="微软雅黑" panose="020B0503020204020204" pitchFamily="34" charset="-122"/>
                <a:ea typeface="微软雅黑" panose="020B0503020204020204" pitchFamily="34" charset="-122"/>
              </a:rPr>
              <a:t>NCP</a:t>
            </a:r>
            <a:r>
              <a:rPr lang="zh-CN" altLang="en-US" sz="2000" dirty="0">
                <a:solidFill>
                  <a:srgbClr val="FF0000"/>
                </a:solidFill>
                <a:latin typeface="微软雅黑" panose="020B0503020204020204" pitchFamily="34" charset="-122"/>
                <a:ea typeface="微软雅黑" panose="020B0503020204020204" pitchFamily="34" charset="-122"/>
              </a:rPr>
              <a:t>配置协商</a:t>
            </a:r>
          </a:p>
        </p:txBody>
      </p:sp>
      <p:sp>
        <p:nvSpPr>
          <p:cNvPr id="40" name="文本框 39"/>
          <p:cNvSpPr txBox="1"/>
          <p:nvPr/>
        </p:nvSpPr>
        <p:spPr>
          <a:xfrm>
            <a:off x="3615851" y="4825541"/>
            <a:ext cx="1210588" cy="400110"/>
          </a:xfrm>
          <a:prstGeom prst="rect">
            <a:avLst/>
          </a:prstGeom>
          <a:noFill/>
        </p:spPr>
        <p:txBody>
          <a:bodyPr wrap="none" rtlCol="0">
            <a:spAutoFit/>
          </a:bodyPr>
          <a:lstStyle/>
          <a:p>
            <a:r>
              <a:rPr lang="zh-CN" altLang="en-US" sz="2000" dirty="0">
                <a:solidFill>
                  <a:srgbClr val="FF0000"/>
                </a:solidFill>
                <a:latin typeface="微软雅黑" panose="020B0503020204020204" pitchFamily="34" charset="-122"/>
                <a:ea typeface="微软雅黑" panose="020B0503020204020204" pitchFamily="34" charset="-122"/>
              </a:rPr>
              <a:t>链路关闭</a:t>
            </a:r>
          </a:p>
        </p:txBody>
      </p:sp>
      <p:sp>
        <p:nvSpPr>
          <p:cNvPr id="41" name="文本框 40"/>
          <p:cNvSpPr txBox="1"/>
          <p:nvPr/>
        </p:nvSpPr>
        <p:spPr>
          <a:xfrm>
            <a:off x="861083" y="3599397"/>
            <a:ext cx="1210588" cy="400110"/>
          </a:xfrm>
          <a:prstGeom prst="rect">
            <a:avLst/>
          </a:prstGeom>
          <a:noFill/>
        </p:spPr>
        <p:txBody>
          <a:bodyPr wrap="none" rtlCol="0">
            <a:spAutoFit/>
          </a:bodyPr>
          <a:lstStyle/>
          <a:p>
            <a:r>
              <a:rPr lang="zh-CN" altLang="en-US" sz="2000" dirty="0">
                <a:solidFill>
                  <a:srgbClr val="FF0000"/>
                </a:solidFill>
                <a:latin typeface="微软雅黑" panose="020B0503020204020204" pitchFamily="34" charset="-122"/>
                <a:ea typeface="微软雅黑" panose="020B0503020204020204" pitchFamily="34" charset="-122"/>
              </a:rPr>
              <a:t>链路终止</a:t>
            </a:r>
          </a:p>
        </p:txBody>
      </p:sp>
      <p:sp>
        <p:nvSpPr>
          <p:cNvPr id="28" name="文本框 27">
            <a:extLst>
              <a:ext uri="{FF2B5EF4-FFF2-40B4-BE49-F238E27FC236}">
                <a16:creationId xmlns:a16="http://schemas.microsoft.com/office/drawing/2014/main" id="{2BBA9012-8F6D-4C60-A0DB-72028F5A771D}"/>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Tree>
    <p:extLst>
      <p:ext uri="{BB962C8B-B14F-4D97-AF65-F5344CB8AC3E}">
        <p14:creationId xmlns:p14="http://schemas.microsoft.com/office/powerpoint/2010/main" val="3453857581"/>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PPP</a:t>
            </a:r>
            <a:r>
              <a:rPr lang="zh-CN" altLang="en-US" dirty="0"/>
              <a:t>协议的工作状态及转换</a:t>
            </a:r>
          </a:p>
        </p:txBody>
      </p:sp>
      <p:sp>
        <p:nvSpPr>
          <p:cNvPr id="3" name="内容占位符 2"/>
          <p:cNvSpPr>
            <a:spLocks noGrp="1"/>
          </p:cNvSpPr>
          <p:nvPr>
            <p:ph idx="1"/>
          </p:nvPr>
        </p:nvSpPr>
        <p:spPr>
          <a:xfrm>
            <a:off x="698500" y="1479904"/>
            <a:ext cx="10718800" cy="4876445"/>
          </a:xfrm>
        </p:spPr>
        <p:txBody>
          <a:bodyPr>
            <a:normAutofit/>
          </a:bodyPr>
          <a:lstStyle/>
          <a:p>
            <a:pPr>
              <a:lnSpc>
                <a:spcPts val="3300"/>
              </a:lnSpc>
            </a:pPr>
            <a:r>
              <a:rPr lang="zh-CN" altLang="en-US" dirty="0"/>
              <a:t>链路建立状态</a:t>
            </a:r>
            <a:endParaRPr lang="en-US" altLang="zh-CN" dirty="0"/>
          </a:p>
          <a:p>
            <a:pPr lvl="1">
              <a:lnSpc>
                <a:spcPts val="3300"/>
              </a:lnSpc>
            </a:pPr>
            <a:r>
              <a:rPr lang="en-US" altLang="zh-CN" dirty="0"/>
              <a:t>LCP</a:t>
            </a:r>
            <a:r>
              <a:rPr lang="zh-CN" altLang="en-US" dirty="0"/>
              <a:t>通过交换配置包来建立连接</a:t>
            </a:r>
            <a:endParaRPr lang="en-US" altLang="zh-CN" dirty="0"/>
          </a:p>
          <a:p>
            <a:pPr lvl="1">
              <a:lnSpc>
                <a:spcPts val="3300"/>
              </a:lnSpc>
            </a:pPr>
            <a:r>
              <a:rPr lang="en-US" altLang="zh-CN" dirty="0"/>
              <a:t>LCP</a:t>
            </a:r>
            <a:r>
              <a:rPr lang="zh-CN" altLang="en-US" dirty="0"/>
              <a:t>配置选项包括：链路上的最大帧长、所使用的鉴别协议的规约、不使用</a:t>
            </a:r>
            <a:r>
              <a:rPr lang="en-US" altLang="zh-CN" dirty="0"/>
              <a:t>PPP</a:t>
            </a:r>
            <a:r>
              <a:rPr lang="zh-CN" altLang="en-US" dirty="0"/>
              <a:t>帧中的地址和控制字段</a:t>
            </a:r>
            <a:endParaRPr lang="en-US" altLang="zh-CN" dirty="0"/>
          </a:p>
          <a:p>
            <a:pPr lvl="1">
              <a:lnSpc>
                <a:spcPts val="3300"/>
              </a:lnSpc>
            </a:pPr>
            <a:r>
              <a:rPr lang="en-US" altLang="zh-CN" dirty="0"/>
              <a:t>LCP</a:t>
            </a:r>
            <a:r>
              <a:rPr lang="zh-CN" altLang="en-US" dirty="0"/>
              <a:t>开始协商一些配置选项，发送</a:t>
            </a:r>
            <a:r>
              <a:rPr lang="en-US" altLang="zh-CN" dirty="0"/>
              <a:t>LCP</a:t>
            </a:r>
            <a:r>
              <a:rPr lang="zh-CN" altLang="en-US" dirty="0"/>
              <a:t>的配置请求帧（</a:t>
            </a:r>
            <a:r>
              <a:rPr lang="en-US" altLang="zh-CN" dirty="0"/>
              <a:t>Configure-Request</a:t>
            </a:r>
            <a:r>
              <a:rPr lang="zh-CN" altLang="en-US" dirty="0"/>
              <a:t>），协议字段为</a:t>
            </a:r>
            <a:r>
              <a:rPr lang="en-US" altLang="zh-CN" dirty="0"/>
              <a:t>LCP</a:t>
            </a:r>
            <a:r>
              <a:rPr lang="zh-CN" altLang="en-US" dirty="0"/>
              <a:t>对应的代码，信息字段包含特定的配置请求</a:t>
            </a:r>
          </a:p>
          <a:p>
            <a:pPr lvl="1">
              <a:lnSpc>
                <a:spcPts val="3300"/>
              </a:lnSpc>
            </a:pPr>
            <a:r>
              <a:rPr lang="zh-CN" altLang="en-US" dirty="0"/>
              <a:t>链路的另一端可以发送几种响应的一种</a:t>
            </a:r>
          </a:p>
          <a:p>
            <a:pPr lvl="2" indent="-330200">
              <a:lnSpc>
                <a:spcPts val="3300"/>
              </a:lnSpc>
              <a:buFont typeface="Microsoft YaHei" panose="020B0503020204020204" pitchFamily="34" charset="-122"/>
              <a:buChar char="−"/>
            </a:pPr>
            <a:r>
              <a:rPr lang="zh-CN" altLang="en-US" dirty="0"/>
              <a:t>配置确认帧（</a:t>
            </a:r>
            <a:r>
              <a:rPr lang="en-US" altLang="zh-CN" dirty="0"/>
              <a:t>Configure-</a:t>
            </a:r>
            <a:r>
              <a:rPr lang="en-US" altLang="zh-CN" dirty="0" err="1"/>
              <a:t>Ack</a:t>
            </a:r>
            <a:r>
              <a:rPr lang="zh-CN" altLang="en-US" dirty="0"/>
              <a:t>）：所有选项都接受</a:t>
            </a:r>
          </a:p>
          <a:p>
            <a:pPr lvl="2" indent="-330200">
              <a:lnSpc>
                <a:spcPts val="3300"/>
              </a:lnSpc>
              <a:buFont typeface="Microsoft YaHei" panose="020B0503020204020204" pitchFamily="34" charset="-122"/>
              <a:buChar char="−"/>
            </a:pPr>
            <a:r>
              <a:rPr lang="zh-CN" altLang="en-US" dirty="0"/>
              <a:t>配置否认帧（</a:t>
            </a:r>
            <a:r>
              <a:rPr lang="en-US" altLang="zh-CN" dirty="0"/>
              <a:t>Configure-</a:t>
            </a:r>
            <a:r>
              <a:rPr lang="en-US" altLang="zh-CN" dirty="0" err="1"/>
              <a:t>Nak</a:t>
            </a:r>
            <a:r>
              <a:rPr lang="zh-CN" altLang="en-US" dirty="0"/>
              <a:t>）：所有选项都理解但是不能接受</a:t>
            </a:r>
          </a:p>
          <a:p>
            <a:pPr lvl="2" indent="-330200">
              <a:lnSpc>
                <a:spcPts val="3300"/>
              </a:lnSpc>
              <a:buFont typeface="Microsoft YaHei" panose="020B0503020204020204" pitchFamily="34" charset="-122"/>
              <a:buChar char="−"/>
            </a:pPr>
            <a:r>
              <a:rPr lang="zh-CN" altLang="en-US" dirty="0"/>
              <a:t>配置拒绝帧（</a:t>
            </a:r>
            <a:r>
              <a:rPr lang="en-US" altLang="zh-CN" dirty="0"/>
              <a:t>Configure-Reject</a:t>
            </a:r>
            <a:r>
              <a:rPr lang="zh-CN" altLang="en-US" dirty="0"/>
              <a:t>）：选项有的无法识别或不能接受，需要协商</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145</a:t>
            </a:fld>
            <a:endParaRPr kumimoji="1" lang="zh-CN" altLang="en-US" dirty="0"/>
          </a:p>
        </p:txBody>
      </p:sp>
      <p:sp>
        <p:nvSpPr>
          <p:cNvPr id="5" name="文本框 4">
            <a:extLst>
              <a:ext uri="{FF2B5EF4-FFF2-40B4-BE49-F238E27FC236}">
                <a16:creationId xmlns:a16="http://schemas.microsoft.com/office/drawing/2014/main" id="{DE1B3D5A-06FA-41EB-A4E9-5EFFE4308CA0}"/>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Tree>
    <p:extLst>
      <p:ext uri="{BB962C8B-B14F-4D97-AF65-F5344CB8AC3E}">
        <p14:creationId xmlns:p14="http://schemas.microsoft.com/office/powerpoint/2010/main" val="1008853135"/>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PPP</a:t>
            </a:r>
            <a:r>
              <a:rPr lang="zh-CN" altLang="en-US" dirty="0"/>
              <a:t>协议的工作状态及转换</a:t>
            </a:r>
          </a:p>
        </p:txBody>
      </p:sp>
      <p:sp>
        <p:nvSpPr>
          <p:cNvPr id="3" name="内容占位符 2"/>
          <p:cNvSpPr>
            <a:spLocks noGrp="1"/>
          </p:cNvSpPr>
          <p:nvPr>
            <p:ph idx="1"/>
          </p:nvPr>
        </p:nvSpPr>
        <p:spPr>
          <a:xfrm>
            <a:off x="838200" y="1244212"/>
            <a:ext cx="10515600" cy="4853240"/>
          </a:xfrm>
        </p:spPr>
        <p:txBody>
          <a:bodyPr>
            <a:normAutofit/>
          </a:bodyPr>
          <a:lstStyle/>
          <a:p>
            <a:pPr>
              <a:lnSpc>
                <a:spcPct val="150000"/>
              </a:lnSpc>
            </a:pPr>
            <a:r>
              <a:rPr lang="zh-CN" altLang="en-US" dirty="0"/>
              <a:t>链路建立状态</a:t>
            </a:r>
            <a:endParaRPr lang="en-US" altLang="zh-CN" dirty="0"/>
          </a:p>
          <a:p>
            <a:pPr lvl="1">
              <a:lnSpc>
                <a:spcPct val="150000"/>
              </a:lnSpc>
            </a:pPr>
            <a:r>
              <a:rPr lang="en-US" altLang="zh-CN" dirty="0"/>
              <a:t>LCP</a:t>
            </a:r>
            <a:r>
              <a:rPr lang="zh-CN" altLang="en-US" dirty="0"/>
              <a:t>帧共有</a:t>
            </a:r>
            <a:r>
              <a:rPr lang="en-US" altLang="zh-CN" dirty="0"/>
              <a:t>11</a:t>
            </a:r>
            <a:r>
              <a:rPr lang="zh-CN" altLang="en-US" dirty="0"/>
              <a:t>种（以上为</a:t>
            </a:r>
            <a:r>
              <a:rPr lang="en-US" altLang="zh-CN" dirty="0"/>
              <a:t>4</a:t>
            </a:r>
            <a:r>
              <a:rPr lang="zh-CN" altLang="en-US" dirty="0"/>
              <a:t>种配置型帧）。</a:t>
            </a:r>
          </a:p>
          <a:p>
            <a:pPr lvl="2">
              <a:lnSpc>
                <a:spcPct val="150000"/>
              </a:lnSpc>
              <a:buFont typeface="微软雅黑" panose="020B0503020204020204" pitchFamily="34" charset="-122"/>
              <a:buChar char="−"/>
            </a:pPr>
            <a:r>
              <a:rPr lang="zh-CN" altLang="en-US" sz="2200" dirty="0">
                <a:solidFill>
                  <a:srgbClr val="5B307E"/>
                </a:solidFill>
              </a:rPr>
              <a:t>关闭线路：</a:t>
            </a:r>
            <a:r>
              <a:rPr lang="en-US" altLang="zh-CN" sz="2200" dirty="0"/>
              <a:t>Terminate-request</a:t>
            </a:r>
            <a:r>
              <a:rPr lang="zh-CN" altLang="en-US" sz="2200" dirty="0"/>
              <a:t>请求关闭线路帧，</a:t>
            </a:r>
            <a:r>
              <a:rPr lang="en-US" altLang="zh-CN" sz="2200" dirty="0"/>
              <a:t>Terminate-</a:t>
            </a:r>
            <a:r>
              <a:rPr lang="en-US" altLang="zh-CN" sz="2200" dirty="0" err="1"/>
              <a:t>ack</a:t>
            </a:r>
            <a:r>
              <a:rPr lang="zh-CN" altLang="en-US" sz="2200" dirty="0"/>
              <a:t>接受关闭线路；</a:t>
            </a:r>
          </a:p>
          <a:p>
            <a:pPr lvl="2">
              <a:lnSpc>
                <a:spcPct val="150000"/>
              </a:lnSpc>
              <a:buFont typeface="微软雅黑" panose="020B0503020204020204" pitchFamily="34" charset="-122"/>
              <a:buChar char="−"/>
            </a:pPr>
            <a:r>
              <a:rPr lang="zh-CN" altLang="en-US" sz="2200" dirty="0">
                <a:solidFill>
                  <a:srgbClr val="5B307E"/>
                </a:solidFill>
              </a:rPr>
              <a:t>应答方无法理解：</a:t>
            </a:r>
            <a:r>
              <a:rPr lang="en-US" altLang="zh-CN" sz="2200" dirty="0"/>
              <a:t>Code-reject</a:t>
            </a:r>
            <a:r>
              <a:rPr lang="zh-CN" altLang="en-US" sz="2200" dirty="0"/>
              <a:t>收到了未知的请求，</a:t>
            </a:r>
            <a:r>
              <a:rPr lang="en-US" altLang="zh-CN" sz="2200" dirty="0"/>
              <a:t>Protocol-reject</a:t>
            </a:r>
            <a:r>
              <a:rPr lang="zh-CN" altLang="en-US" sz="2200" dirty="0"/>
              <a:t>被请求的协议未知； 可能是传输错误或者</a:t>
            </a:r>
            <a:r>
              <a:rPr lang="en-US" altLang="zh-CN" sz="2200" dirty="0"/>
              <a:t>LCP</a:t>
            </a:r>
            <a:r>
              <a:rPr lang="zh-CN" altLang="en-US" sz="2200" dirty="0"/>
              <a:t>协议版本不同</a:t>
            </a:r>
          </a:p>
          <a:p>
            <a:pPr lvl="2">
              <a:lnSpc>
                <a:spcPct val="150000"/>
              </a:lnSpc>
              <a:buFont typeface="微软雅黑" panose="020B0503020204020204" pitchFamily="34" charset="-122"/>
              <a:buChar char="−"/>
            </a:pPr>
            <a:r>
              <a:rPr lang="zh-CN" altLang="en-US" sz="2200" dirty="0">
                <a:solidFill>
                  <a:srgbClr val="5B307E"/>
                </a:solidFill>
              </a:rPr>
              <a:t>用于测试线路质量：</a:t>
            </a:r>
            <a:r>
              <a:rPr lang="en-US" altLang="zh-CN" sz="2200" dirty="0"/>
              <a:t>Echo-request</a:t>
            </a:r>
            <a:r>
              <a:rPr lang="zh-CN" altLang="en-US" sz="2200" dirty="0"/>
              <a:t>回送请求帧，</a:t>
            </a:r>
            <a:r>
              <a:rPr lang="en-US" altLang="zh-CN" sz="2200" dirty="0"/>
              <a:t>Echo-reply</a:t>
            </a:r>
            <a:r>
              <a:rPr lang="zh-CN" altLang="en-US" sz="2200" dirty="0"/>
              <a:t>回送应答帧；</a:t>
            </a:r>
          </a:p>
          <a:p>
            <a:pPr lvl="2">
              <a:lnSpc>
                <a:spcPct val="150000"/>
              </a:lnSpc>
              <a:buFont typeface="微软雅黑" panose="020B0503020204020204" pitchFamily="34" charset="-122"/>
              <a:buChar char="−"/>
            </a:pPr>
            <a:r>
              <a:rPr lang="zh-CN" altLang="en-US" sz="2200" dirty="0">
                <a:solidFill>
                  <a:srgbClr val="5B307E"/>
                </a:solidFill>
              </a:rPr>
              <a:t>用于测试：</a:t>
            </a:r>
            <a:r>
              <a:rPr lang="en-US" altLang="zh-CN" sz="2200" dirty="0"/>
              <a:t>Discard-request</a:t>
            </a:r>
            <a:r>
              <a:rPr lang="zh-CN" altLang="en-US" sz="2200" dirty="0"/>
              <a:t>只需丢弃该帧</a:t>
            </a:r>
            <a:endParaRPr lang="en-US" altLang="zh-CN" sz="2200"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146</a:t>
            </a:fld>
            <a:endParaRPr kumimoji="1" lang="zh-CN" altLang="en-US" dirty="0"/>
          </a:p>
        </p:txBody>
      </p:sp>
      <p:sp>
        <p:nvSpPr>
          <p:cNvPr id="5" name="文本框 4">
            <a:extLst>
              <a:ext uri="{FF2B5EF4-FFF2-40B4-BE49-F238E27FC236}">
                <a16:creationId xmlns:a16="http://schemas.microsoft.com/office/drawing/2014/main" id="{EE7F81D0-D3EB-45F2-AEB4-5C0AB4A5D40D}"/>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Tree>
    <p:extLst>
      <p:ext uri="{BB962C8B-B14F-4D97-AF65-F5344CB8AC3E}">
        <p14:creationId xmlns:p14="http://schemas.microsoft.com/office/powerpoint/2010/main" val="2449379808"/>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PPP</a:t>
            </a:r>
            <a:r>
              <a:rPr lang="zh-CN" altLang="en-US" dirty="0"/>
              <a:t>协议的工作状态及转换</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147</a:t>
            </a:fld>
            <a:endParaRPr kumimoji="1" lang="zh-CN" altLang="en-US" dirty="0"/>
          </a:p>
        </p:txBody>
      </p:sp>
      <p:sp>
        <p:nvSpPr>
          <p:cNvPr id="5" name="圆角矩形 4"/>
          <p:cNvSpPr/>
          <p:nvPr/>
        </p:nvSpPr>
        <p:spPr>
          <a:xfrm>
            <a:off x="1509695" y="2004393"/>
            <a:ext cx="1536700" cy="819150"/>
          </a:xfrm>
          <a:prstGeom prst="roundRect">
            <a:avLst/>
          </a:prstGeom>
          <a:solidFill>
            <a:srgbClr val="6900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链路静止</a:t>
            </a:r>
          </a:p>
        </p:txBody>
      </p:sp>
      <p:sp>
        <p:nvSpPr>
          <p:cNvPr id="6" name="圆角矩形 5"/>
          <p:cNvSpPr/>
          <p:nvPr/>
        </p:nvSpPr>
        <p:spPr>
          <a:xfrm>
            <a:off x="4983145" y="2004393"/>
            <a:ext cx="1536700" cy="819150"/>
          </a:xfrm>
          <a:prstGeom prst="roundRect">
            <a:avLst/>
          </a:prstGeom>
          <a:solidFill>
            <a:srgbClr val="6900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链路建立</a:t>
            </a:r>
          </a:p>
        </p:txBody>
      </p:sp>
      <p:sp>
        <p:nvSpPr>
          <p:cNvPr id="7" name="圆角矩形 6"/>
          <p:cNvSpPr/>
          <p:nvPr/>
        </p:nvSpPr>
        <p:spPr>
          <a:xfrm>
            <a:off x="8456595" y="2004393"/>
            <a:ext cx="1536700" cy="819150"/>
          </a:xfrm>
          <a:prstGeom prst="round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身份认证</a:t>
            </a:r>
          </a:p>
        </p:txBody>
      </p:sp>
      <p:sp>
        <p:nvSpPr>
          <p:cNvPr id="8" name="圆角矩形 7"/>
          <p:cNvSpPr/>
          <p:nvPr/>
        </p:nvSpPr>
        <p:spPr>
          <a:xfrm>
            <a:off x="8456595" y="4899799"/>
            <a:ext cx="1536700" cy="819150"/>
          </a:xfrm>
          <a:prstGeom prst="roundRect">
            <a:avLst/>
          </a:prstGeom>
          <a:solidFill>
            <a:srgbClr val="6900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网络连接</a:t>
            </a:r>
          </a:p>
        </p:txBody>
      </p:sp>
      <p:sp>
        <p:nvSpPr>
          <p:cNvPr id="9" name="圆角矩形 8"/>
          <p:cNvSpPr/>
          <p:nvPr/>
        </p:nvSpPr>
        <p:spPr>
          <a:xfrm>
            <a:off x="1509695" y="4899799"/>
            <a:ext cx="1536700" cy="819150"/>
          </a:xfrm>
          <a:prstGeom prst="roundRect">
            <a:avLst/>
          </a:prstGeom>
          <a:solidFill>
            <a:srgbClr val="6900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链路终止</a:t>
            </a:r>
          </a:p>
        </p:txBody>
      </p:sp>
      <p:sp>
        <p:nvSpPr>
          <p:cNvPr id="10" name="圆角矩形 9"/>
          <p:cNvSpPr/>
          <p:nvPr/>
        </p:nvSpPr>
        <p:spPr>
          <a:xfrm>
            <a:off x="4983145" y="4899799"/>
            <a:ext cx="1536700" cy="819150"/>
          </a:xfrm>
          <a:prstGeom prst="roundRect">
            <a:avLst/>
          </a:prstGeom>
          <a:solidFill>
            <a:srgbClr val="6900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数据通信</a:t>
            </a:r>
          </a:p>
        </p:txBody>
      </p:sp>
      <p:cxnSp>
        <p:nvCxnSpPr>
          <p:cNvPr id="12" name="直接箭头连接符 11"/>
          <p:cNvCxnSpPr/>
          <p:nvPr/>
        </p:nvCxnSpPr>
        <p:spPr>
          <a:xfrm>
            <a:off x="3173395" y="2413968"/>
            <a:ext cx="1797050" cy="0"/>
          </a:xfrm>
          <a:prstGeom prst="straightConnector1">
            <a:avLst/>
          </a:prstGeom>
          <a:ln w="88900" cmpd="sng">
            <a:solidFill>
              <a:srgbClr val="5B307E"/>
            </a:solidFill>
            <a:headEnd type="none"/>
            <a:tailEnd type="stealth"/>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a:off x="6659545" y="2413968"/>
            <a:ext cx="1797050" cy="0"/>
          </a:xfrm>
          <a:prstGeom prst="straightConnector1">
            <a:avLst/>
          </a:prstGeom>
          <a:ln w="88900" cmpd="sng">
            <a:solidFill>
              <a:srgbClr val="5B307E"/>
            </a:solidFill>
            <a:headEnd type="none"/>
            <a:tailEnd type="stealth"/>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p:nvPr/>
        </p:nvCxnSpPr>
        <p:spPr>
          <a:xfrm>
            <a:off x="9224945" y="2921968"/>
            <a:ext cx="0" cy="1793875"/>
          </a:xfrm>
          <a:prstGeom prst="straightConnector1">
            <a:avLst/>
          </a:prstGeom>
          <a:ln w="88900" cmpd="sng">
            <a:solidFill>
              <a:srgbClr val="5B307E"/>
            </a:solidFill>
            <a:headEnd type="none"/>
            <a:tailEnd type="stealth"/>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p:nvPr/>
        </p:nvCxnSpPr>
        <p:spPr>
          <a:xfrm>
            <a:off x="6589695" y="5309374"/>
            <a:ext cx="1797050" cy="0"/>
          </a:xfrm>
          <a:prstGeom prst="straightConnector1">
            <a:avLst/>
          </a:prstGeom>
          <a:ln w="88900" cmpd="sng">
            <a:solidFill>
              <a:srgbClr val="5B307E"/>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nvCxnSpPr>
        <p:spPr>
          <a:xfrm>
            <a:off x="3116245" y="5309374"/>
            <a:ext cx="1797050" cy="0"/>
          </a:xfrm>
          <a:prstGeom prst="straightConnector1">
            <a:avLst/>
          </a:prstGeom>
          <a:ln w="88900" cmpd="sng">
            <a:solidFill>
              <a:srgbClr val="5B307E"/>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p:nvPr/>
        </p:nvCxnSpPr>
        <p:spPr>
          <a:xfrm>
            <a:off x="2208195" y="2921967"/>
            <a:ext cx="0" cy="1793875"/>
          </a:xfrm>
          <a:prstGeom prst="straightConnector1">
            <a:avLst/>
          </a:prstGeom>
          <a:ln w="88900" cmpd="sng">
            <a:solidFill>
              <a:srgbClr val="5B307E"/>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21" name="肘形连接符 20"/>
          <p:cNvCxnSpPr>
            <a:stCxn id="6" idx="2"/>
          </p:cNvCxnSpPr>
          <p:nvPr/>
        </p:nvCxnSpPr>
        <p:spPr>
          <a:xfrm rot="5400000">
            <a:off x="3825064" y="1384474"/>
            <a:ext cx="487362" cy="3365500"/>
          </a:xfrm>
          <a:prstGeom prst="bentConnector2">
            <a:avLst/>
          </a:prstGeom>
          <a:ln w="88900" cmpd="sng">
            <a:solidFill>
              <a:srgbClr val="0070C0"/>
            </a:solidFill>
            <a:prstDash val="dash"/>
            <a:headEnd type="none"/>
            <a:tailEnd type="stealth"/>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2671545" y="4074493"/>
            <a:ext cx="0" cy="744536"/>
          </a:xfrm>
          <a:prstGeom prst="line">
            <a:avLst/>
          </a:prstGeom>
          <a:ln w="88900" cmpd="sng">
            <a:solidFill>
              <a:srgbClr val="0070C0"/>
            </a:solidFill>
            <a:prstDash val="dash"/>
            <a:headEnd type="none"/>
            <a:tailEnd type="stealth"/>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flipH="1">
            <a:off x="2690795" y="4017343"/>
            <a:ext cx="6108700" cy="0"/>
          </a:xfrm>
          <a:prstGeom prst="line">
            <a:avLst/>
          </a:prstGeom>
          <a:ln w="88900" cmpd="sng">
            <a:solidFill>
              <a:srgbClr val="0070C0"/>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8951895" y="2929991"/>
            <a:ext cx="0" cy="1000125"/>
          </a:xfrm>
          <a:prstGeom prst="line">
            <a:avLst/>
          </a:prstGeom>
          <a:ln w="88900" cmpd="sng">
            <a:solidFill>
              <a:srgbClr val="0070C0"/>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4" name="文本框 33"/>
          <p:cNvSpPr txBox="1"/>
          <p:nvPr/>
        </p:nvSpPr>
        <p:spPr>
          <a:xfrm>
            <a:off x="3463451" y="2013858"/>
            <a:ext cx="1210588" cy="400110"/>
          </a:xfrm>
          <a:prstGeom prst="rect">
            <a:avLst/>
          </a:prstGeom>
          <a:noFill/>
        </p:spPr>
        <p:txBody>
          <a:bodyPr wrap="none" rtlCol="0">
            <a:spAutoFit/>
          </a:bodyPr>
          <a:lstStyle/>
          <a:p>
            <a:r>
              <a:rPr lang="zh-CN" altLang="en-US" sz="2000" dirty="0">
                <a:solidFill>
                  <a:srgbClr val="FF0000"/>
                </a:solidFill>
                <a:latin typeface="微软雅黑" panose="020B0503020204020204" pitchFamily="34" charset="-122"/>
                <a:ea typeface="微软雅黑" panose="020B0503020204020204" pitchFamily="34" charset="-122"/>
              </a:rPr>
              <a:t>链路启动</a:t>
            </a:r>
          </a:p>
        </p:txBody>
      </p:sp>
      <p:sp>
        <p:nvSpPr>
          <p:cNvPr id="35" name="文本框 34"/>
          <p:cNvSpPr txBox="1"/>
          <p:nvPr/>
        </p:nvSpPr>
        <p:spPr>
          <a:xfrm>
            <a:off x="3471845" y="2820278"/>
            <a:ext cx="1210588" cy="400110"/>
          </a:xfrm>
          <a:prstGeom prst="rect">
            <a:avLst/>
          </a:prstGeom>
          <a:noFill/>
        </p:spPr>
        <p:txBody>
          <a:bodyPr wrap="none" rtlCol="0">
            <a:spAutoFit/>
          </a:bodyPr>
          <a:lstStyle/>
          <a:p>
            <a:r>
              <a:rPr lang="zh-CN" altLang="en-US" sz="2000" dirty="0">
                <a:solidFill>
                  <a:srgbClr val="0070C0"/>
                </a:solidFill>
                <a:latin typeface="微软雅黑" panose="020B0503020204020204" pitchFamily="34" charset="-122"/>
                <a:ea typeface="微软雅黑" panose="020B0503020204020204" pitchFamily="34" charset="-122"/>
              </a:rPr>
              <a:t>启动失败</a:t>
            </a:r>
          </a:p>
        </p:txBody>
      </p:sp>
      <p:sp>
        <p:nvSpPr>
          <p:cNvPr id="36" name="文本框 35"/>
          <p:cNvSpPr txBox="1"/>
          <p:nvPr/>
        </p:nvSpPr>
        <p:spPr>
          <a:xfrm>
            <a:off x="6744339" y="1991051"/>
            <a:ext cx="1661737" cy="400110"/>
          </a:xfrm>
          <a:prstGeom prst="rect">
            <a:avLst/>
          </a:prstGeom>
          <a:noFill/>
        </p:spPr>
        <p:txBody>
          <a:bodyPr wrap="none" rtlCol="0">
            <a:spAutoFit/>
          </a:bodyPr>
          <a:lstStyle/>
          <a:p>
            <a:r>
              <a:rPr lang="en-US" altLang="zh-CN" sz="2000" dirty="0">
                <a:solidFill>
                  <a:srgbClr val="FF0000"/>
                </a:solidFill>
                <a:latin typeface="微软雅黑" panose="020B0503020204020204" pitchFamily="34" charset="-122"/>
                <a:ea typeface="微软雅黑" panose="020B0503020204020204" pitchFamily="34" charset="-122"/>
              </a:rPr>
              <a:t>LCP</a:t>
            </a:r>
            <a:r>
              <a:rPr lang="zh-CN" altLang="en-US" sz="2000" dirty="0">
                <a:solidFill>
                  <a:srgbClr val="FF0000"/>
                </a:solidFill>
                <a:latin typeface="微软雅黑" panose="020B0503020204020204" pitchFamily="34" charset="-122"/>
                <a:ea typeface="微软雅黑" panose="020B0503020204020204" pitchFamily="34" charset="-122"/>
              </a:rPr>
              <a:t>配置协商</a:t>
            </a:r>
          </a:p>
        </p:txBody>
      </p:sp>
      <p:sp>
        <p:nvSpPr>
          <p:cNvPr id="37" name="文本框 36"/>
          <p:cNvSpPr txBox="1"/>
          <p:nvPr/>
        </p:nvSpPr>
        <p:spPr>
          <a:xfrm>
            <a:off x="5914551" y="3537286"/>
            <a:ext cx="1210588" cy="400110"/>
          </a:xfrm>
          <a:prstGeom prst="rect">
            <a:avLst/>
          </a:prstGeom>
          <a:noFill/>
        </p:spPr>
        <p:txBody>
          <a:bodyPr wrap="none" rtlCol="0">
            <a:spAutoFit/>
          </a:bodyPr>
          <a:lstStyle/>
          <a:p>
            <a:r>
              <a:rPr lang="zh-CN" altLang="en-US" sz="2000" dirty="0">
                <a:solidFill>
                  <a:srgbClr val="0070C0"/>
                </a:solidFill>
                <a:latin typeface="微软雅黑" panose="020B0503020204020204" pitchFamily="34" charset="-122"/>
                <a:ea typeface="微软雅黑" panose="020B0503020204020204" pitchFamily="34" charset="-122"/>
              </a:rPr>
              <a:t>鉴别失败</a:t>
            </a:r>
          </a:p>
        </p:txBody>
      </p:sp>
      <p:sp>
        <p:nvSpPr>
          <p:cNvPr id="38" name="文本框 37"/>
          <p:cNvSpPr txBox="1"/>
          <p:nvPr/>
        </p:nvSpPr>
        <p:spPr>
          <a:xfrm>
            <a:off x="9285142" y="3593171"/>
            <a:ext cx="1210588" cy="400110"/>
          </a:xfrm>
          <a:prstGeom prst="rect">
            <a:avLst/>
          </a:prstGeom>
          <a:noFill/>
        </p:spPr>
        <p:txBody>
          <a:bodyPr wrap="none" rtlCol="0">
            <a:spAutoFit/>
          </a:bodyPr>
          <a:lstStyle/>
          <a:p>
            <a:r>
              <a:rPr lang="zh-CN" altLang="en-US" sz="2000" dirty="0">
                <a:solidFill>
                  <a:srgbClr val="FF0000"/>
                </a:solidFill>
                <a:latin typeface="微软雅黑" panose="020B0503020204020204" pitchFamily="34" charset="-122"/>
                <a:ea typeface="微软雅黑" panose="020B0503020204020204" pitchFamily="34" charset="-122"/>
              </a:rPr>
              <a:t>鉴别成功</a:t>
            </a:r>
          </a:p>
        </p:txBody>
      </p:sp>
      <p:sp>
        <p:nvSpPr>
          <p:cNvPr id="39" name="文本框 38"/>
          <p:cNvSpPr txBox="1"/>
          <p:nvPr/>
        </p:nvSpPr>
        <p:spPr>
          <a:xfrm>
            <a:off x="6727201" y="4895992"/>
            <a:ext cx="1747594" cy="400110"/>
          </a:xfrm>
          <a:prstGeom prst="rect">
            <a:avLst/>
          </a:prstGeom>
          <a:noFill/>
        </p:spPr>
        <p:txBody>
          <a:bodyPr wrap="none" rtlCol="0">
            <a:spAutoFit/>
          </a:bodyPr>
          <a:lstStyle/>
          <a:p>
            <a:r>
              <a:rPr lang="en-US" altLang="zh-CN" sz="2000" dirty="0">
                <a:solidFill>
                  <a:srgbClr val="FF0000"/>
                </a:solidFill>
                <a:latin typeface="微软雅黑" panose="020B0503020204020204" pitchFamily="34" charset="-122"/>
                <a:ea typeface="微软雅黑" panose="020B0503020204020204" pitchFamily="34" charset="-122"/>
              </a:rPr>
              <a:t>NCP</a:t>
            </a:r>
            <a:r>
              <a:rPr lang="zh-CN" altLang="en-US" sz="2000" dirty="0">
                <a:solidFill>
                  <a:srgbClr val="FF0000"/>
                </a:solidFill>
                <a:latin typeface="微软雅黑" panose="020B0503020204020204" pitchFamily="34" charset="-122"/>
                <a:ea typeface="微软雅黑" panose="020B0503020204020204" pitchFamily="34" charset="-122"/>
              </a:rPr>
              <a:t>配置协商</a:t>
            </a:r>
          </a:p>
        </p:txBody>
      </p:sp>
      <p:sp>
        <p:nvSpPr>
          <p:cNvPr id="40" name="文本框 39"/>
          <p:cNvSpPr txBox="1"/>
          <p:nvPr/>
        </p:nvSpPr>
        <p:spPr>
          <a:xfrm>
            <a:off x="3615851" y="4825541"/>
            <a:ext cx="1210588" cy="400110"/>
          </a:xfrm>
          <a:prstGeom prst="rect">
            <a:avLst/>
          </a:prstGeom>
          <a:noFill/>
        </p:spPr>
        <p:txBody>
          <a:bodyPr wrap="none" rtlCol="0">
            <a:spAutoFit/>
          </a:bodyPr>
          <a:lstStyle/>
          <a:p>
            <a:r>
              <a:rPr lang="zh-CN" altLang="en-US" sz="2000" dirty="0">
                <a:solidFill>
                  <a:srgbClr val="FF0000"/>
                </a:solidFill>
                <a:latin typeface="微软雅黑" panose="020B0503020204020204" pitchFamily="34" charset="-122"/>
                <a:ea typeface="微软雅黑" panose="020B0503020204020204" pitchFamily="34" charset="-122"/>
              </a:rPr>
              <a:t>链路关闭</a:t>
            </a:r>
          </a:p>
        </p:txBody>
      </p:sp>
      <p:sp>
        <p:nvSpPr>
          <p:cNvPr id="41" name="文本框 40"/>
          <p:cNvSpPr txBox="1"/>
          <p:nvPr/>
        </p:nvSpPr>
        <p:spPr>
          <a:xfrm>
            <a:off x="861083" y="3599397"/>
            <a:ext cx="1210588" cy="400110"/>
          </a:xfrm>
          <a:prstGeom prst="rect">
            <a:avLst/>
          </a:prstGeom>
          <a:noFill/>
        </p:spPr>
        <p:txBody>
          <a:bodyPr wrap="none" rtlCol="0">
            <a:spAutoFit/>
          </a:bodyPr>
          <a:lstStyle/>
          <a:p>
            <a:r>
              <a:rPr lang="zh-CN" altLang="en-US" sz="2000" dirty="0">
                <a:solidFill>
                  <a:srgbClr val="FF0000"/>
                </a:solidFill>
                <a:latin typeface="微软雅黑" panose="020B0503020204020204" pitchFamily="34" charset="-122"/>
                <a:ea typeface="微软雅黑" panose="020B0503020204020204" pitchFamily="34" charset="-122"/>
              </a:rPr>
              <a:t>链路终止</a:t>
            </a:r>
          </a:p>
        </p:txBody>
      </p:sp>
      <p:sp>
        <p:nvSpPr>
          <p:cNvPr id="28" name="文本框 27">
            <a:extLst>
              <a:ext uri="{FF2B5EF4-FFF2-40B4-BE49-F238E27FC236}">
                <a16:creationId xmlns:a16="http://schemas.microsoft.com/office/drawing/2014/main" id="{4C422F74-C0CB-4FA9-A22D-79EA5E48282D}"/>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Tree>
    <p:extLst>
      <p:ext uri="{BB962C8B-B14F-4D97-AF65-F5344CB8AC3E}">
        <p14:creationId xmlns:p14="http://schemas.microsoft.com/office/powerpoint/2010/main" val="1142520624"/>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PPP</a:t>
            </a:r>
            <a:r>
              <a:rPr lang="zh-CN" altLang="en-US" dirty="0"/>
              <a:t>协议的工作状态及转换</a:t>
            </a:r>
          </a:p>
        </p:txBody>
      </p:sp>
      <p:sp>
        <p:nvSpPr>
          <p:cNvPr id="3" name="内容占位符 2"/>
          <p:cNvSpPr>
            <a:spLocks noGrp="1"/>
          </p:cNvSpPr>
          <p:nvPr>
            <p:ph idx="1"/>
          </p:nvPr>
        </p:nvSpPr>
        <p:spPr/>
        <p:txBody>
          <a:bodyPr>
            <a:normAutofit/>
          </a:bodyPr>
          <a:lstStyle/>
          <a:p>
            <a:pPr>
              <a:lnSpc>
                <a:spcPts val="3200"/>
              </a:lnSpc>
            </a:pPr>
            <a:r>
              <a:rPr lang="zh-CN" altLang="en-US" dirty="0"/>
              <a:t>身份认证状态</a:t>
            </a:r>
            <a:endParaRPr lang="en-US" altLang="zh-CN" dirty="0"/>
          </a:p>
          <a:p>
            <a:pPr lvl="1">
              <a:lnSpc>
                <a:spcPts val="3200"/>
              </a:lnSpc>
            </a:pPr>
            <a:r>
              <a:rPr lang="zh-CN" altLang="en-US" dirty="0"/>
              <a:t>在允许交换网络层协议包之前，对等点可选身份验证</a:t>
            </a:r>
            <a:endParaRPr lang="en-US" altLang="zh-CN" dirty="0"/>
          </a:p>
          <a:p>
            <a:pPr lvl="1">
              <a:lnSpc>
                <a:spcPts val="3200"/>
              </a:lnSpc>
            </a:pPr>
            <a:r>
              <a:rPr lang="zh-CN" altLang="en-US" dirty="0"/>
              <a:t>默认情况下，不需要身份验证</a:t>
            </a:r>
            <a:endParaRPr lang="en-US" altLang="zh-CN" dirty="0"/>
          </a:p>
          <a:p>
            <a:pPr lvl="1">
              <a:lnSpc>
                <a:spcPts val="3200"/>
              </a:lnSpc>
            </a:pPr>
            <a:r>
              <a:rPr lang="zh-CN" altLang="en-US" dirty="0"/>
              <a:t>如果选择身份验证协议，需要在链接建立阶段请求使用该身份验证协议</a:t>
            </a:r>
            <a:endParaRPr lang="en-US" altLang="zh-CN" dirty="0"/>
          </a:p>
          <a:p>
            <a:pPr lvl="1">
              <a:lnSpc>
                <a:spcPts val="3200"/>
              </a:lnSpc>
            </a:pPr>
            <a:r>
              <a:rPr lang="zh-CN" altLang="en-US" dirty="0"/>
              <a:t>认证将在链接建立后进行，链路质量确认可能会同时发生</a:t>
            </a:r>
            <a:endParaRPr lang="en-US" altLang="zh-CN" dirty="0"/>
          </a:p>
          <a:p>
            <a:pPr lvl="1">
              <a:lnSpc>
                <a:spcPts val="3200"/>
              </a:lnSpc>
            </a:pPr>
            <a:r>
              <a:rPr lang="zh-CN" altLang="en-US" dirty="0"/>
              <a:t>在身份验证完成之前，不能从身份验证阶段推进到网络层协议阶段</a:t>
            </a:r>
            <a:endParaRPr lang="en-US" altLang="zh-CN" dirty="0"/>
          </a:p>
          <a:p>
            <a:pPr lvl="1">
              <a:lnSpc>
                <a:spcPts val="3200"/>
              </a:lnSpc>
            </a:pPr>
            <a:r>
              <a:rPr lang="zh-CN" altLang="en-US" dirty="0"/>
              <a:t>如果身份验证失败，则身份验证器应该继续到链接终止阶段</a:t>
            </a:r>
            <a:endParaRPr lang="en-US" altLang="zh-CN" dirty="0"/>
          </a:p>
          <a:p>
            <a:pPr lvl="1">
              <a:lnSpc>
                <a:spcPts val="3200"/>
              </a:lnSpc>
            </a:pPr>
            <a:r>
              <a:rPr lang="zh-CN" altLang="en-US" dirty="0"/>
              <a:t>此阶段只允许链路控制协议、认证协议和链路质量监控包</a:t>
            </a:r>
            <a:endParaRPr lang="en-US" altLang="zh-CN" dirty="0"/>
          </a:p>
          <a:p>
            <a:pPr lvl="1">
              <a:lnSpc>
                <a:spcPts val="3200"/>
              </a:lnSpc>
            </a:pPr>
            <a:r>
              <a:rPr lang="zh-CN" altLang="en-US" dirty="0"/>
              <a:t>此阶段接收到的所有其他数据包必须丢弃</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148</a:t>
            </a:fld>
            <a:endParaRPr kumimoji="1" lang="zh-CN" altLang="en-US" dirty="0"/>
          </a:p>
        </p:txBody>
      </p:sp>
      <p:sp>
        <p:nvSpPr>
          <p:cNvPr id="5" name="文本框 4">
            <a:extLst>
              <a:ext uri="{FF2B5EF4-FFF2-40B4-BE49-F238E27FC236}">
                <a16:creationId xmlns:a16="http://schemas.microsoft.com/office/drawing/2014/main" id="{3E32017E-9424-4294-92D5-DBCFF696BE6A}"/>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Tree>
    <p:extLst>
      <p:ext uri="{BB962C8B-B14F-4D97-AF65-F5344CB8AC3E}">
        <p14:creationId xmlns:p14="http://schemas.microsoft.com/office/powerpoint/2010/main" val="692932940"/>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PPP</a:t>
            </a:r>
            <a:r>
              <a:rPr lang="zh-CN" altLang="en-US" dirty="0"/>
              <a:t>协议的工作状态及转换</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149</a:t>
            </a:fld>
            <a:endParaRPr kumimoji="1" lang="zh-CN" altLang="en-US" dirty="0"/>
          </a:p>
        </p:txBody>
      </p:sp>
      <p:sp>
        <p:nvSpPr>
          <p:cNvPr id="5" name="圆角矩形 4"/>
          <p:cNvSpPr/>
          <p:nvPr/>
        </p:nvSpPr>
        <p:spPr>
          <a:xfrm>
            <a:off x="1509695" y="2004393"/>
            <a:ext cx="1536700" cy="819150"/>
          </a:xfrm>
          <a:prstGeom prst="roundRect">
            <a:avLst/>
          </a:prstGeom>
          <a:solidFill>
            <a:srgbClr val="6900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链路静止</a:t>
            </a:r>
          </a:p>
        </p:txBody>
      </p:sp>
      <p:sp>
        <p:nvSpPr>
          <p:cNvPr id="6" name="圆角矩形 5"/>
          <p:cNvSpPr/>
          <p:nvPr/>
        </p:nvSpPr>
        <p:spPr>
          <a:xfrm>
            <a:off x="4983145" y="2004393"/>
            <a:ext cx="1536700" cy="819150"/>
          </a:xfrm>
          <a:prstGeom prst="roundRect">
            <a:avLst/>
          </a:prstGeom>
          <a:solidFill>
            <a:srgbClr val="6900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链路建立</a:t>
            </a:r>
          </a:p>
        </p:txBody>
      </p:sp>
      <p:sp>
        <p:nvSpPr>
          <p:cNvPr id="7" name="圆角矩形 6"/>
          <p:cNvSpPr/>
          <p:nvPr/>
        </p:nvSpPr>
        <p:spPr>
          <a:xfrm>
            <a:off x="8456595" y="2004393"/>
            <a:ext cx="1536700" cy="819150"/>
          </a:xfrm>
          <a:prstGeom prst="roundRect">
            <a:avLst/>
          </a:prstGeom>
          <a:solidFill>
            <a:srgbClr val="6900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身份认证</a:t>
            </a:r>
          </a:p>
        </p:txBody>
      </p:sp>
      <p:sp>
        <p:nvSpPr>
          <p:cNvPr id="8" name="圆角矩形 7"/>
          <p:cNvSpPr/>
          <p:nvPr/>
        </p:nvSpPr>
        <p:spPr>
          <a:xfrm>
            <a:off x="8456595" y="4899799"/>
            <a:ext cx="1536700" cy="819150"/>
          </a:xfrm>
          <a:prstGeom prst="round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网络连接</a:t>
            </a:r>
          </a:p>
        </p:txBody>
      </p:sp>
      <p:sp>
        <p:nvSpPr>
          <p:cNvPr id="9" name="圆角矩形 8"/>
          <p:cNvSpPr/>
          <p:nvPr/>
        </p:nvSpPr>
        <p:spPr>
          <a:xfrm>
            <a:off x="1509695" y="4899799"/>
            <a:ext cx="1536700" cy="819150"/>
          </a:xfrm>
          <a:prstGeom prst="roundRect">
            <a:avLst/>
          </a:prstGeom>
          <a:solidFill>
            <a:srgbClr val="6900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链路终止</a:t>
            </a:r>
          </a:p>
        </p:txBody>
      </p:sp>
      <p:sp>
        <p:nvSpPr>
          <p:cNvPr id="10" name="圆角矩形 9"/>
          <p:cNvSpPr/>
          <p:nvPr/>
        </p:nvSpPr>
        <p:spPr>
          <a:xfrm>
            <a:off x="4983145" y="4899799"/>
            <a:ext cx="1536700" cy="819150"/>
          </a:xfrm>
          <a:prstGeom prst="roundRect">
            <a:avLst/>
          </a:prstGeom>
          <a:solidFill>
            <a:srgbClr val="6900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数据通信</a:t>
            </a:r>
          </a:p>
        </p:txBody>
      </p:sp>
      <p:cxnSp>
        <p:nvCxnSpPr>
          <p:cNvPr id="12" name="直接箭头连接符 11"/>
          <p:cNvCxnSpPr/>
          <p:nvPr/>
        </p:nvCxnSpPr>
        <p:spPr>
          <a:xfrm>
            <a:off x="3173395" y="2413968"/>
            <a:ext cx="1797050" cy="0"/>
          </a:xfrm>
          <a:prstGeom prst="straightConnector1">
            <a:avLst/>
          </a:prstGeom>
          <a:ln w="88900" cmpd="sng">
            <a:solidFill>
              <a:srgbClr val="5B307E"/>
            </a:solidFill>
            <a:headEnd type="none"/>
            <a:tailEnd type="stealth"/>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a:off x="6659545" y="2413968"/>
            <a:ext cx="1797050" cy="0"/>
          </a:xfrm>
          <a:prstGeom prst="straightConnector1">
            <a:avLst/>
          </a:prstGeom>
          <a:ln w="88900" cmpd="sng">
            <a:solidFill>
              <a:srgbClr val="5B307E"/>
            </a:solidFill>
            <a:headEnd type="none"/>
            <a:tailEnd type="stealth"/>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p:nvPr/>
        </p:nvCxnSpPr>
        <p:spPr>
          <a:xfrm>
            <a:off x="9224945" y="2921968"/>
            <a:ext cx="0" cy="1793875"/>
          </a:xfrm>
          <a:prstGeom prst="straightConnector1">
            <a:avLst/>
          </a:prstGeom>
          <a:ln w="88900" cmpd="sng">
            <a:solidFill>
              <a:srgbClr val="5B307E"/>
            </a:solidFill>
            <a:headEnd type="none"/>
            <a:tailEnd type="stealth"/>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p:nvPr/>
        </p:nvCxnSpPr>
        <p:spPr>
          <a:xfrm>
            <a:off x="6589695" y="5309374"/>
            <a:ext cx="1797050" cy="0"/>
          </a:xfrm>
          <a:prstGeom prst="straightConnector1">
            <a:avLst/>
          </a:prstGeom>
          <a:ln w="88900" cmpd="sng">
            <a:solidFill>
              <a:srgbClr val="5B307E"/>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nvCxnSpPr>
        <p:spPr>
          <a:xfrm>
            <a:off x="3116245" y="5309374"/>
            <a:ext cx="1797050" cy="0"/>
          </a:xfrm>
          <a:prstGeom prst="straightConnector1">
            <a:avLst/>
          </a:prstGeom>
          <a:ln w="88900" cmpd="sng">
            <a:solidFill>
              <a:srgbClr val="5B307E"/>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p:nvPr/>
        </p:nvCxnSpPr>
        <p:spPr>
          <a:xfrm>
            <a:off x="2208195" y="2921967"/>
            <a:ext cx="0" cy="1793875"/>
          </a:xfrm>
          <a:prstGeom prst="straightConnector1">
            <a:avLst/>
          </a:prstGeom>
          <a:ln w="88900" cmpd="sng">
            <a:solidFill>
              <a:srgbClr val="5B307E"/>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21" name="肘形连接符 20"/>
          <p:cNvCxnSpPr>
            <a:stCxn id="6" idx="2"/>
          </p:cNvCxnSpPr>
          <p:nvPr/>
        </p:nvCxnSpPr>
        <p:spPr>
          <a:xfrm rot="5400000">
            <a:off x="3825064" y="1384474"/>
            <a:ext cx="487362" cy="3365500"/>
          </a:xfrm>
          <a:prstGeom prst="bentConnector2">
            <a:avLst/>
          </a:prstGeom>
          <a:ln w="88900" cmpd="sng">
            <a:solidFill>
              <a:srgbClr val="0070C0"/>
            </a:solidFill>
            <a:prstDash val="dash"/>
            <a:headEnd type="none"/>
            <a:tailEnd type="stealth"/>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2671545" y="4074493"/>
            <a:ext cx="0" cy="744536"/>
          </a:xfrm>
          <a:prstGeom prst="line">
            <a:avLst/>
          </a:prstGeom>
          <a:ln w="88900" cmpd="sng">
            <a:solidFill>
              <a:srgbClr val="0070C0"/>
            </a:solidFill>
            <a:prstDash val="dash"/>
            <a:headEnd type="none"/>
            <a:tailEnd type="stealth"/>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flipH="1">
            <a:off x="2690795" y="4017343"/>
            <a:ext cx="6108700" cy="0"/>
          </a:xfrm>
          <a:prstGeom prst="line">
            <a:avLst/>
          </a:prstGeom>
          <a:ln w="88900" cmpd="sng">
            <a:solidFill>
              <a:srgbClr val="0070C0"/>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8951895" y="2929991"/>
            <a:ext cx="0" cy="1000125"/>
          </a:xfrm>
          <a:prstGeom prst="line">
            <a:avLst/>
          </a:prstGeom>
          <a:ln w="88900" cmpd="sng">
            <a:solidFill>
              <a:srgbClr val="0070C0"/>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4" name="文本框 33"/>
          <p:cNvSpPr txBox="1"/>
          <p:nvPr/>
        </p:nvSpPr>
        <p:spPr>
          <a:xfrm>
            <a:off x="3463451" y="2013858"/>
            <a:ext cx="1210588" cy="400110"/>
          </a:xfrm>
          <a:prstGeom prst="rect">
            <a:avLst/>
          </a:prstGeom>
          <a:noFill/>
        </p:spPr>
        <p:txBody>
          <a:bodyPr wrap="none" rtlCol="0">
            <a:spAutoFit/>
          </a:bodyPr>
          <a:lstStyle/>
          <a:p>
            <a:r>
              <a:rPr lang="zh-CN" altLang="en-US" sz="2000" dirty="0">
                <a:solidFill>
                  <a:srgbClr val="FF0000"/>
                </a:solidFill>
                <a:latin typeface="微软雅黑" panose="020B0503020204020204" pitchFamily="34" charset="-122"/>
                <a:ea typeface="微软雅黑" panose="020B0503020204020204" pitchFamily="34" charset="-122"/>
              </a:rPr>
              <a:t>链路启动</a:t>
            </a:r>
          </a:p>
        </p:txBody>
      </p:sp>
      <p:sp>
        <p:nvSpPr>
          <p:cNvPr id="35" name="文本框 34"/>
          <p:cNvSpPr txBox="1"/>
          <p:nvPr/>
        </p:nvSpPr>
        <p:spPr>
          <a:xfrm>
            <a:off x="3471845" y="2820278"/>
            <a:ext cx="1210588" cy="400110"/>
          </a:xfrm>
          <a:prstGeom prst="rect">
            <a:avLst/>
          </a:prstGeom>
          <a:noFill/>
        </p:spPr>
        <p:txBody>
          <a:bodyPr wrap="none" rtlCol="0">
            <a:spAutoFit/>
          </a:bodyPr>
          <a:lstStyle/>
          <a:p>
            <a:r>
              <a:rPr lang="zh-CN" altLang="en-US" sz="2000" dirty="0">
                <a:solidFill>
                  <a:srgbClr val="0070C0"/>
                </a:solidFill>
                <a:latin typeface="微软雅黑" panose="020B0503020204020204" pitchFamily="34" charset="-122"/>
                <a:ea typeface="微软雅黑" panose="020B0503020204020204" pitchFamily="34" charset="-122"/>
              </a:rPr>
              <a:t>启动失败</a:t>
            </a:r>
          </a:p>
        </p:txBody>
      </p:sp>
      <p:sp>
        <p:nvSpPr>
          <p:cNvPr id="36" name="文本框 35"/>
          <p:cNvSpPr txBox="1"/>
          <p:nvPr/>
        </p:nvSpPr>
        <p:spPr>
          <a:xfrm>
            <a:off x="6744339" y="1991051"/>
            <a:ext cx="1661737" cy="400110"/>
          </a:xfrm>
          <a:prstGeom prst="rect">
            <a:avLst/>
          </a:prstGeom>
          <a:noFill/>
        </p:spPr>
        <p:txBody>
          <a:bodyPr wrap="none" rtlCol="0">
            <a:spAutoFit/>
          </a:bodyPr>
          <a:lstStyle/>
          <a:p>
            <a:r>
              <a:rPr lang="en-US" altLang="zh-CN" sz="2000" dirty="0">
                <a:solidFill>
                  <a:srgbClr val="FF0000"/>
                </a:solidFill>
                <a:latin typeface="微软雅黑" panose="020B0503020204020204" pitchFamily="34" charset="-122"/>
                <a:ea typeface="微软雅黑" panose="020B0503020204020204" pitchFamily="34" charset="-122"/>
              </a:rPr>
              <a:t>LCP</a:t>
            </a:r>
            <a:r>
              <a:rPr lang="zh-CN" altLang="en-US" sz="2000" dirty="0">
                <a:solidFill>
                  <a:srgbClr val="FF0000"/>
                </a:solidFill>
                <a:latin typeface="微软雅黑" panose="020B0503020204020204" pitchFamily="34" charset="-122"/>
                <a:ea typeface="微软雅黑" panose="020B0503020204020204" pitchFamily="34" charset="-122"/>
              </a:rPr>
              <a:t>配置协商</a:t>
            </a:r>
          </a:p>
        </p:txBody>
      </p:sp>
      <p:sp>
        <p:nvSpPr>
          <p:cNvPr id="37" name="文本框 36"/>
          <p:cNvSpPr txBox="1"/>
          <p:nvPr/>
        </p:nvSpPr>
        <p:spPr>
          <a:xfrm>
            <a:off x="5914551" y="3537286"/>
            <a:ext cx="1210588" cy="400110"/>
          </a:xfrm>
          <a:prstGeom prst="rect">
            <a:avLst/>
          </a:prstGeom>
          <a:noFill/>
        </p:spPr>
        <p:txBody>
          <a:bodyPr wrap="none" rtlCol="0">
            <a:spAutoFit/>
          </a:bodyPr>
          <a:lstStyle/>
          <a:p>
            <a:r>
              <a:rPr lang="zh-CN" altLang="en-US" sz="2000" dirty="0">
                <a:solidFill>
                  <a:srgbClr val="0070C0"/>
                </a:solidFill>
                <a:latin typeface="微软雅黑" panose="020B0503020204020204" pitchFamily="34" charset="-122"/>
                <a:ea typeface="微软雅黑" panose="020B0503020204020204" pitchFamily="34" charset="-122"/>
              </a:rPr>
              <a:t>鉴别失败</a:t>
            </a:r>
          </a:p>
        </p:txBody>
      </p:sp>
      <p:sp>
        <p:nvSpPr>
          <p:cNvPr id="38" name="文本框 37"/>
          <p:cNvSpPr txBox="1"/>
          <p:nvPr/>
        </p:nvSpPr>
        <p:spPr>
          <a:xfrm>
            <a:off x="9285142" y="3593171"/>
            <a:ext cx="1210588" cy="400110"/>
          </a:xfrm>
          <a:prstGeom prst="rect">
            <a:avLst/>
          </a:prstGeom>
          <a:noFill/>
        </p:spPr>
        <p:txBody>
          <a:bodyPr wrap="none" rtlCol="0">
            <a:spAutoFit/>
          </a:bodyPr>
          <a:lstStyle/>
          <a:p>
            <a:r>
              <a:rPr lang="zh-CN" altLang="en-US" sz="2000" dirty="0">
                <a:solidFill>
                  <a:srgbClr val="FF0000"/>
                </a:solidFill>
                <a:latin typeface="微软雅黑" panose="020B0503020204020204" pitchFamily="34" charset="-122"/>
                <a:ea typeface="微软雅黑" panose="020B0503020204020204" pitchFamily="34" charset="-122"/>
              </a:rPr>
              <a:t>鉴别成功</a:t>
            </a:r>
          </a:p>
        </p:txBody>
      </p:sp>
      <p:sp>
        <p:nvSpPr>
          <p:cNvPr id="39" name="文本框 38"/>
          <p:cNvSpPr txBox="1"/>
          <p:nvPr/>
        </p:nvSpPr>
        <p:spPr>
          <a:xfrm>
            <a:off x="6727201" y="4895992"/>
            <a:ext cx="1747594" cy="400110"/>
          </a:xfrm>
          <a:prstGeom prst="rect">
            <a:avLst/>
          </a:prstGeom>
          <a:noFill/>
        </p:spPr>
        <p:txBody>
          <a:bodyPr wrap="none" rtlCol="0">
            <a:spAutoFit/>
          </a:bodyPr>
          <a:lstStyle/>
          <a:p>
            <a:r>
              <a:rPr lang="en-US" altLang="zh-CN" sz="2000" dirty="0">
                <a:solidFill>
                  <a:srgbClr val="FF0000"/>
                </a:solidFill>
                <a:latin typeface="微软雅黑" panose="020B0503020204020204" pitchFamily="34" charset="-122"/>
                <a:ea typeface="微软雅黑" panose="020B0503020204020204" pitchFamily="34" charset="-122"/>
              </a:rPr>
              <a:t>NCP</a:t>
            </a:r>
            <a:r>
              <a:rPr lang="zh-CN" altLang="en-US" sz="2000" dirty="0">
                <a:solidFill>
                  <a:srgbClr val="FF0000"/>
                </a:solidFill>
                <a:latin typeface="微软雅黑" panose="020B0503020204020204" pitchFamily="34" charset="-122"/>
                <a:ea typeface="微软雅黑" panose="020B0503020204020204" pitchFamily="34" charset="-122"/>
              </a:rPr>
              <a:t>配置协商</a:t>
            </a:r>
          </a:p>
        </p:txBody>
      </p:sp>
      <p:sp>
        <p:nvSpPr>
          <p:cNvPr id="40" name="文本框 39"/>
          <p:cNvSpPr txBox="1"/>
          <p:nvPr/>
        </p:nvSpPr>
        <p:spPr>
          <a:xfrm>
            <a:off x="3615851" y="4825541"/>
            <a:ext cx="1210588" cy="400110"/>
          </a:xfrm>
          <a:prstGeom prst="rect">
            <a:avLst/>
          </a:prstGeom>
          <a:noFill/>
        </p:spPr>
        <p:txBody>
          <a:bodyPr wrap="none" rtlCol="0">
            <a:spAutoFit/>
          </a:bodyPr>
          <a:lstStyle/>
          <a:p>
            <a:r>
              <a:rPr lang="zh-CN" altLang="en-US" sz="2000" dirty="0">
                <a:solidFill>
                  <a:srgbClr val="FF0000"/>
                </a:solidFill>
                <a:latin typeface="微软雅黑" panose="020B0503020204020204" pitchFamily="34" charset="-122"/>
                <a:ea typeface="微软雅黑" panose="020B0503020204020204" pitchFamily="34" charset="-122"/>
              </a:rPr>
              <a:t>链路关闭</a:t>
            </a:r>
          </a:p>
        </p:txBody>
      </p:sp>
      <p:sp>
        <p:nvSpPr>
          <p:cNvPr id="41" name="文本框 40"/>
          <p:cNvSpPr txBox="1"/>
          <p:nvPr/>
        </p:nvSpPr>
        <p:spPr>
          <a:xfrm>
            <a:off x="861083" y="3599397"/>
            <a:ext cx="1210588" cy="400110"/>
          </a:xfrm>
          <a:prstGeom prst="rect">
            <a:avLst/>
          </a:prstGeom>
          <a:noFill/>
        </p:spPr>
        <p:txBody>
          <a:bodyPr wrap="none" rtlCol="0">
            <a:spAutoFit/>
          </a:bodyPr>
          <a:lstStyle/>
          <a:p>
            <a:r>
              <a:rPr lang="zh-CN" altLang="en-US" sz="2000" dirty="0">
                <a:solidFill>
                  <a:srgbClr val="FF0000"/>
                </a:solidFill>
                <a:latin typeface="微软雅黑" panose="020B0503020204020204" pitchFamily="34" charset="-122"/>
                <a:ea typeface="微软雅黑" panose="020B0503020204020204" pitchFamily="34" charset="-122"/>
              </a:rPr>
              <a:t>链路终止</a:t>
            </a:r>
          </a:p>
        </p:txBody>
      </p:sp>
      <p:sp>
        <p:nvSpPr>
          <p:cNvPr id="28" name="文本框 27">
            <a:extLst>
              <a:ext uri="{FF2B5EF4-FFF2-40B4-BE49-F238E27FC236}">
                <a16:creationId xmlns:a16="http://schemas.microsoft.com/office/drawing/2014/main" id="{612A0278-3443-4336-8EEC-C456B4B9E58B}"/>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Tree>
    <p:extLst>
      <p:ext uri="{BB962C8B-B14F-4D97-AF65-F5344CB8AC3E}">
        <p14:creationId xmlns:p14="http://schemas.microsoft.com/office/powerpoint/2010/main" val="884000791"/>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PPP</a:t>
            </a:r>
            <a:r>
              <a:rPr lang="zh-CN" altLang="en-US" dirty="0"/>
              <a:t>协议的工作状态及转换</a:t>
            </a:r>
          </a:p>
        </p:txBody>
      </p:sp>
      <p:sp>
        <p:nvSpPr>
          <p:cNvPr id="3" name="内容占位符 2"/>
          <p:cNvSpPr>
            <a:spLocks noGrp="1"/>
          </p:cNvSpPr>
          <p:nvPr>
            <p:ph idx="1"/>
          </p:nvPr>
        </p:nvSpPr>
        <p:spPr>
          <a:xfrm>
            <a:off x="838200" y="1384300"/>
            <a:ext cx="10515600" cy="4713152"/>
          </a:xfrm>
        </p:spPr>
        <p:txBody>
          <a:bodyPr>
            <a:normAutofit lnSpcReduction="10000"/>
          </a:bodyPr>
          <a:lstStyle/>
          <a:p>
            <a:pPr>
              <a:lnSpc>
                <a:spcPct val="150000"/>
              </a:lnSpc>
            </a:pPr>
            <a:r>
              <a:rPr lang="zh-CN" altLang="en-US" dirty="0"/>
              <a:t>网络连接状态</a:t>
            </a:r>
            <a:endParaRPr lang="en-US" altLang="zh-CN" dirty="0"/>
          </a:p>
          <a:p>
            <a:pPr lvl="1">
              <a:lnSpc>
                <a:spcPct val="150000"/>
              </a:lnSpc>
            </a:pPr>
            <a:r>
              <a:rPr lang="zh-CN" altLang="en-US" dirty="0"/>
              <a:t>完成了前面的阶段，每个网络层协议</a:t>
            </a:r>
            <a:r>
              <a:rPr lang="en-US" altLang="zh-CN" dirty="0"/>
              <a:t>(</a:t>
            </a:r>
            <a:r>
              <a:rPr lang="zh-CN" altLang="en-US" dirty="0"/>
              <a:t>如</a:t>
            </a:r>
            <a:r>
              <a:rPr lang="en-US" altLang="zh-CN" dirty="0"/>
              <a:t>IP</a:t>
            </a:r>
            <a:r>
              <a:rPr lang="zh-CN" altLang="en-US" dirty="0"/>
              <a:t>、</a:t>
            </a:r>
            <a:r>
              <a:rPr lang="en-US" altLang="zh-CN" dirty="0" err="1"/>
              <a:t>IPX</a:t>
            </a:r>
            <a:r>
              <a:rPr lang="zh-CN" altLang="en-US" dirty="0"/>
              <a:t>或</a:t>
            </a:r>
            <a:r>
              <a:rPr lang="en-US" altLang="zh-CN" dirty="0"/>
              <a:t>AppleTalk)</a:t>
            </a:r>
            <a:r>
              <a:rPr lang="zh-CN" altLang="en-US" dirty="0"/>
              <a:t>必须由适当的网络控制协议</a:t>
            </a:r>
            <a:r>
              <a:rPr lang="en-US" altLang="zh-CN" dirty="0"/>
              <a:t>(NCP)</a:t>
            </a:r>
            <a:r>
              <a:rPr lang="zh-CN" altLang="en-US" dirty="0"/>
              <a:t>单独配置</a:t>
            </a:r>
            <a:endParaRPr lang="en-US" altLang="zh-CN" dirty="0"/>
          </a:p>
          <a:p>
            <a:pPr lvl="1">
              <a:lnSpc>
                <a:spcPct val="150000"/>
              </a:lnSpc>
            </a:pPr>
            <a:r>
              <a:rPr lang="zh-CN" altLang="en-US" dirty="0"/>
              <a:t>每个</a:t>
            </a:r>
            <a:r>
              <a:rPr lang="en-US" altLang="zh-CN" dirty="0"/>
              <a:t>NCP</a:t>
            </a:r>
            <a:r>
              <a:rPr lang="zh-CN" altLang="en-US" dirty="0"/>
              <a:t>可以在任何时候打开和关闭</a:t>
            </a:r>
            <a:endParaRPr lang="en-US" altLang="zh-CN" dirty="0"/>
          </a:p>
          <a:p>
            <a:pPr lvl="1">
              <a:lnSpc>
                <a:spcPct val="150000"/>
              </a:lnSpc>
            </a:pPr>
            <a:r>
              <a:rPr lang="en-US" altLang="zh-CN" dirty="0"/>
              <a:t>NCP</a:t>
            </a:r>
            <a:r>
              <a:rPr lang="zh-CN" altLang="en-US" dirty="0"/>
              <a:t>到达打开状态后，</a:t>
            </a:r>
            <a:r>
              <a:rPr lang="en-US" altLang="zh-CN" dirty="0"/>
              <a:t>PPP</a:t>
            </a:r>
            <a:r>
              <a:rPr lang="zh-CN" altLang="en-US" dirty="0"/>
              <a:t>将携带相应的网络层协议包</a:t>
            </a:r>
            <a:endParaRPr lang="en-US" altLang="zh-CN" dirty="0"/>
          </a:p>
          <a:p>
            <a:pPr lvl="1">
              <a:lnSpc>
                <a:spcPct val="150000"/>
              </a:lnSpc>
            </a:pPr>
            <a:r>
              <a:rPr lang="zh-CN" altLang="en-US" dirty="0"/>
              <a:t>如果相应的</a:t>
            </a:r>
            <a:r>
              <a:rPr lang="en-US" altLang="zh-CN" dirty="0"/>
              <a:t>NCP</a:t>
            </a:r>
            <a:r>
              <a:rPr lang="zh-CN" altLang="en-US" dirty="0"/>
              <a:t>不处于打开状态时，接收到的任何受支持的网络层协议包都必须丢弃</a:t>
            </a:r>
            <a:endParaRPr lang="en-US" altLang="zh-CN" dirty="0"/>
          </a:p>
          <a:p>
            <a:pPr lvl="1">
              <a:lnSpc>
                <a:spcPct val="150000"/>
              </a:lnSpc>
            </a:pPr>
            <a:r>
              <a:rPr lang="zh-CN" altLang="en-US" dirty="0"/>
              <a:t>在此阶段，链路流量由</a:t>
            </a:r>
            <a:r>
              <a:rPr lang="en-US" altLang="zh-CN" dirty="0"/>
              <a:t>LCP</a:t>
            </a:r>
            <a:r>
              <a:rPr lang="zh-CN" altLang="en-US" dirty="0"/>
              <a:t>、</a:t>
            </a:r>
            <a:r>
              <a:rPr lang="en-US" altLang="zh-CN" dirty="0"/>
              <a:t>NCP</a:t>
            </a:r>
            <a:r>
              <a:rPr lang="zh-CN" altLang="en-US" dirty="0"/>
              <a:t>和网络层协议包的任何可能组合组成</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150</a:t>
            </a:fld>
            <a:endParaRPr kumimoji="1" lang="zh-CN" altLang="en-US" dirty="0"/>
          </a:p>
        </p:txBody>
      </p:sp>
      <p:sp>
        <p:nvSpPr>
          <p:cNvPr id="5" name="文本框 4">
            <a:extLst>
              <a:ext uri="{FF2B5EF4-FFF2-40B4-BE49-F238E27FC236}">
                <a16:creationId xmlns:a16="http://schemas.microsoft.com/office/drawing/2014/main" id="{6D3D1EDA-50AB-400A-8D15-439D60A78A63}"/>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Tree>
    <p:extLst>
      <p:ext uri="{BB962C8B-B14F-4D97-AF65-F5344CB8AC3E}">
        <p14:creationId xmlns:p14="http://schemas.microsoft.com/office/powerpoint/2010/main" val="1680328583"/>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PPP</a:t>
            </a:r>
            <a:r>
              <a:rPr lang="zh-CN" altLang="en-US" dirty="0"/>
              <a:t>协议的工作状态及转换</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151</a:t>
            </a:fld>
            <a:endParaRPr kumimoji="1" lang="zh-CN" altLang="en-US" dirty="0"/>
          </a:p>
        </p:txBody>
      </p:sp>
      <p:sp>
        <p:nvSpPr>
          <p:cNvPr id="5" name="圆角矩形 4"/>
          <p:cNvSpPr/>
          <p:nvPr/>
        </p:nvSpPr>
        <p:spPr>
          <a:xfrm>
            <a:off x="1509695" y="2004393"/>
            <a:ext cx="1536700" cy="819150"/>
          </a:xfrm>
          <a:prstGeom prst="roundRect">
            <a:avLst/>
          </a:prstGeom>
          <a:solidFill>
            <a:srgbClr val="6900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链路静止</a:t>
            </a:r>
          </a:p>
        </p:txBody>
      </p:sp>
      <p:sp>
        <p:nvSpPr>
          <p:cNvPr id="6" name="圆角矩形 5"/>
          <p:cNvSpPr/>
          <p:nvPr/>
        </p:nvSpPr>
        <p:spPr>
          <a:xfrm>
            <a:off x="4983145" y="2004393"/>
            <a:ext cx="1536700" cy="819150"/>
          </a:xfrm>
          <a:prstGeom prst="roundRect">
            <a:avLst/>
          </a:prstGeom>
          <a:solidFill>
            <a:srgbClr val="6900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链路建立</a:t>
            </a:r>
          </a:p>
        </p:txBody>
      </p:sp>
      <p:sp>
        <p:nvSpPr>
          <p:cNvPr id="7" name="圆角矩形 6"/>
          <p:cNvSpPr/>
          <p:nvPr/>
        </p:nvSpPr>
        <p:spPr>
          <a:xfrm>
            <a:off x="8456595" y="2004393"/>
            <a:ext cx="1536700" cy="819150"/>
          </a:xfrm>
          <a:prstGeom prst="roundRect">
            <a:avLst/>
          </a:prstGeom>
          <a:solidFill>
            <a:srgbClr val="6900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身份认证</a:t>
            </a:r>
          </a:p>
        </p:txBody>
      </p:sp>
      <p:sp>
        <p:nvSpPr>
          <p:cNvPr id="8" name="圆角矩形 7"/>
          <p:cNvSpPr/>
          <p:nvPr/>
        </p:nvSpPr>
        <p:spPr>
          <a:xfrm>
            <a:off x="8456595" y="4899799"/>
            <a:ext cx="1536700" cy="819150"/>
          </a:xfrm>
          <a:prstGeom prst="roundRect">
            <a:avLst/>
          </a:prstGeom>
          <a:solidFill>
            <a:srgbClr val="6900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网络连接</a:t>
            </a:r>
          </a:p>
        </p:txBody>
      </p:sp>
      <p:sp>
        <p:nvSpPr>
          <p:cNvPr id="9" name="圆角矩形 8"/>
          <p:cNvSpPr/>
          <p:nvPr/>
        </p:nvSpPr>
        <p:spPr>
          <a:xfrm>
            <a:off x="1509695" y="4899799"/>
            <a:ext cx="1536700" cy="819150"/>
          </a:xfrm>
          <a:prstGeom prst="roundRect">
            <a:avLst/>
          </a:prstGeom>
          <a:solidFill>
            <a:srgbClr val="6900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链路终止</a:t>
            </a:r>
          </a:p>
        </p:txBody>
      </p:sp>
      <p:sp>
        <p:nvSpPr>
          <p:cNvPr id="10" name="圆角矩形 9"/>
          <p:cNvSpPr/>
          <p:nvPr/>
        </p:nvSpPr>
        <p:spPr>
          <a:xfrm>
            <a:off x="4983145" y="4899799"/>
            <a:ext cx="1536700" cy="819150"/>
          </a:xfrm>
          <a:prstGeom prst="round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数据通信</a:t>
            </a:r>
          </a:p>
        </p:txBody>
      </p:sp>
      <p:cxnSp>
        <p:nvCxnSpPr>
          <p:cNvPr id="12" name="直接箭头连接符 11"/>
          <p:cNvCxnSpPr/>
          <p:nvPr/>
        </p:nvCxnSpPr>
        <p:spPr>
          <a:xfrm>
            <a:off x="3173395" y="2413968"/>
            <a:ext cx="1797050" cy="0"/>
          </a:xfrm>
          <a:prstGeom prst="straightConnector1">
            <a:avLst/>
          </a:prstGeom>
          <a:ln w="88900" cmpd="sng">
            <a:solidFill>
              <a:srgbClr val="5B307E"/>
            </a:solidFill>
            <a:headEnd type="none"/>
            <a:tailEnd type="stealth"/>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a:off x="6659545" y="2413968"/>
            <a:ext cx="1797050" cy="0"/>
          </a:xfrm>
          <a:prstGeom prst="straightConnector1">
            <a:avLst/>
          </a:prstGeom>
          <a:ln w="88900" cmpd="sng">
            <a:solidFill>
              <a:srgbClr val="5B307E"/>
            </a:solidFill>
            <a:headEnd type="none"/>
            <a:tailEnd type="stealth"/>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p:nvPr/>
        </p:nvCxnSpPr>
        <p:spPr>
          <a:xfrm>
            <a:off x="9224945" y="2921968"/>
            <a:ext cx="0" cy="1793875"/>
          </a:xfrm>
          <a:prstGeom prst="straightConnector1">
            <a:avLst/>
          </a:prstGeom>
          <a:ln w="88900" cmpd="sng">
            <a:solidFill>
              <a:srgbClr val="5B307E"/>
            </a:solidFill>
            <a:headEnd type="none"/>
            <a:tailEnd type="stealth"/>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p:nvPr/>
        </p:nvCxnSpPr>
        <p:spPr>
          <a:xfrm>
            <a:off x="6589695" y="5309374"/>
            <a:ext cx="1797050" cy="0"/>
          </a:xfrm>
          <a:prstGeom prst="straightConnector1">
            <a:avLst/>
          </a:prstGeom>
          <a:ln w="88900" cmpd="sng">
            <a:solidFill>
              <a:srgbClr val="5B307E"/>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nvCxnSpPr>
        <p:spPr>
          <a:xfrm>
            <a:off x="3116245" y="5309374"/>
            <a:ext cx="1797050" cy="0"/>
          </a:xfrm>
          <a:prstGeom prst="straightConnector1">
            <a:avLst/>
          </a:prstGeom>
          <a:ln w="88900" cmpd="sng">
            <a:solidFill>
              <a:srgbClr val="5B307E"/>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p:nvPr/>
        </p:nvCxnSpPr>
        <p:spPr>
          <a:xfrm>
            <a:off x="2208195" y="2921967"/>
            <a:ext cx="0" cy="1793875"/>
          </a:xfrm>
          <a:prstGeom prst="straightConnector1">
            <a:avLst/>
          </a:prstGeom>
          <a:ln w="88900" cmpd="sng">
            <a:solidFill>
              <a:srgbClr val="5B307E"/>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21" name="肘形连接符 20"/>
          <p:cNvCxnSpPr>
            <a:stCxn id="6" idx="2"/>
          </p:cNvCxnSpPr>
          <p:nvPr/>
        </p:nvCxnSpPr>
        <p:spPr>
          <a:xfrm rot="5400000">
            <a:off x="3825064" y="1384474"/>
            <a:ext cx="487362" cy="3365500"/>
          </a:xfrm>
          <a:prstGeom prst="bentConnector2">
            <a:avLst/>
          </a:prstGeom>
          <a:ln w="88900" cmpd="sng">
            <a:solidFill>
              <a:srgbClr val="0070C0"/>
            </a:solidFill>
            <a:prstDash val="dash"/>
            <a:headEnd type="none"/>
            <a:tailEnd type="stealth"/>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2671545" y="4074493"/>
            <a:ext cx="0" cy="744536"/>
          </a:xfrm>
          <a:prstGeom prst="line">
            <a:avLst/>
          </a:prstGeom>
          <a:ln w="88900" cmpd="sng">
            <a:solidFill>
              <a:srgbClr val="0070C0"/>
            </a:solidFill>
            <a:prstDash val="dash"/>
            <a:headEnd type="none"/>
            <a:tailEnd type="stealth"/>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flipH="1">
            <a:off x="2690795" y="4017343"/>
            <a:ext cx="6108700" cy="0"/>
          </a:xfrm>
          <a:prstGeom prst="line">
            <a:avLst/>
          </a:prstGeom>
          <a:ln w="88900" cmpd="sng">
            <a:solidFill>
              <a:srgbClr val="0070C0"/>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8951895" y="2929991"/>
            <a:ext cx="0" cy="1000125"/>
          </a:xfrm>
          <a:prstGeom prst="line">
            <a:avLst/>
          </a:prstGeom>
          <a:ln w="88900" cmpd="sng">
            <a:solidFill>
              <a:srgbClr val="0070C0"/>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4" name="文本框 33"/>
          <p:cNvSpPr txBox="1"/>
          <p:nvPr/>
        </p:nvSpPr>
        <p:spPr>
          <a:xfrm>
            <a:off x="3463451" y="2013858"/>
            <a:ext cx="1210588" cy="400110"/>
          </a:xfrm>
          <a:prstGeom prst="rect">
            <a:avLst/>
          </a:prstGeom>
          <a:noFill/>
        </p:spPr>
        <p:txBody>
          <a:bodyPr wrap="none" rtlCol="0">
            <a:spAutoFit/>
          </a:bodyPr>
          <a:lstStyle/>
          <a:p>
            <a:r>
              <a:rPr lang="zh-CN" altLang="en-US" sz="2000" dirty="0">
                <a:solidFill>
                  <a:srgbClr val="FF0000"/>
                </a:solidFill>
                <a:latin typeface="微软雅黑" panose="020B0503020204020204" pitchFamily="34" charset="-122"/>
                <a:ea typeface="微软雅黑" panose="020B0503020204020204" pitchFamily="34" charset="-122"/>
              </a:rPr>
              <a:t>链路启动</a:t>
            </a:r>
          </a:p>
        </p:txBody>
      </p:sp>
      <p:sp>
        <p:nvSpPr>
          <p:cNvPr id="35" name="文本框 34"/>
          <p:cNvSpPr txBox="1"/>
          <p:nvPr/>
        </p:nvSpPr>
        <p:spPr>
          <a:xfrm>
            <a:off x="3471845" y="2820278"/>
            <a:ext cx="1210588" cy="400110"/>
          </a:xfrm>
          <a:prstGeom prst="rect">
            <a:avLst/>
          </a:prstGeom>
          <a:noFill/>
        </p:spPr>
        <p:txBody>
          <a:bodyPr wrap="none" rtlCol="0">
            <a:spAutoFit/>
          </a:bodyPr>
          <a:lstStyle/>
          <a:p>
            <a:r>
              <a:rPr lang="zh-CN" altLang="en-US" sz="2000" dirty="0">
                <a:solidFill>
                  <a:srgbClr val="0070C0"/>
                </a:solidFill>
                <a:latin typeface="微软雅黑" panose="020B0503020204020204" pitchFamily="34" charset="-122"/>
                <a:ea typeface="微软雅黑" panose="020B0503020204020204" pitchFamily="34" charset="-122"/>
              </a:rPr>
              <a:t>启动失败</a:t>
            </a:r>
          </a:p>
        </p:txBody>
      </p:sp>
      <p:sp>
        <p:nvSpPr>
          <p:cNvPr id="36" name="文本框 35"/>
          <p:cNvSpPr txBox="1"/>
          <p:nvPr/>
        </p:nvSpPr>
        <p:spPr>
          <a:xfrm>
            <a:off x="6744339" y="1991051"/>
            <a:ext cx="1661737" cy="400110"/>
          </a:xfrm>
          <a:prstGeom prst="rect">
            <a:avLst/>
          </a:prstGeom>
          <a:noFill/>
        </p:spPr>
        <p:txBody>
          <a:bodyPr wrap="none" rtlCol="0">
            <a:spAutoFit/>
          </a:bodyPr>
          <a:lstStyle/>
          <a:p>
            <a:r>
              <a:rPr lang="en-US" altLang="zh-CN" sz="2000" dirty="0">
                <a:solidFill>
                  <a:srgbClr val="FF0000"/>
                </a:solidFill>
                <a:latin typeface="微软雅黑" panose="020B0503020204020204" pitchFamily="34" charset="-122"/>
                <a:ea typeface="微软雅黑" panose="020B0503020204020204" pitchFamily="34" charset="-122"/>
              </a:rPr>
              <a:t>LCP</a:t>
            </a:r>
            <a:r>
              <a:rPr lang="zh-CN" altLang="en-US" sz="2000" dirty="0">
                <a:solidFill>
                  <a:srgbClr val="FF0000"/>
                </a:solidFill>
                <a:latin typeface="微软雅黑" panose="020B0503020204020204" pitchFamily="34" charset="-122"/>
                <a:ea typeface="微软雅黑" panose="020B0503020204020204" pitchFamily="34" charset="-122"/>
              </a:rPr>
              <a:t>配置协商</a:t>
            </a:r>
          </a:p>
        </p:txBody>
      </p:sp>
      <p:sp>
        <p:nvSpPr>
          <p:cNvPr id="37" name="文本框 36"/>
          <p:cNvSpPr txBox="1"/>
          <p:nvPr/>
        </p:nvSpPr>
        <p:spPr>
          <a:xfrm>
            <a:off x="5914551" y="3537286"/>
            <a:ext cx="1210588" cy="400110"/>
          </a:xfrm>
          <a:prstGeom prst="rect">
            <a:avLst/>
          </a:prstGeom>
          <a:noFill/>
        </p:spPr>
        <p:txBody>
          <a:bodyPr wrap="none" rtlCol="0">
            <a:spAutoFit/>
          </a:bodyPr>
          <a:lstStyle/>
          <a:p>
            <a:r>
              <a:rPr lang="zh-CN" altLang="en-US" sz="2000" dirty="0">
                <a:solidFill>
                  <a:srgbClr val="0070C0"/>
                </a:solidFill>
                <a:latin typeface="微软雅黑" panose="020B0503020204020204" pitchFamily="34" charset="-122"/>
                <a:ea typeface="微软雅黑" panose="020B0503020204020204" pitchFamily="34" charset="-122"/>
              </a:rPr>
              <a:t>鉴别失败</a:t>
            </a:r>
          </a:p>
        </p:txBody>
      </p:sp>
      <p:sp>
        <p:nvSpPr>
          <p:cNvPr id="38" name="文本框 37"/>
          <p:cNvSpPr txBox="1"/>
          <p:nvPr/>
        </p:nvSpPr>
        <p:spPr>
          <a:xfrm>
            <a:off x="9285142" y="3593171"/>
            <a:ext cx="1210588" cy="400110"/>
          </a:xfrm>
          <a:prstGeom prst="rect">
            <a:avLst/>
          </a:prstGeom>
          <a:noFill/>
        </p:spPr>
        <p:txBody>
          <a:bodyPr wrap="none" rtlCol="0">
            <a:spAutoFit/>
          </a:bodyPr>
          <a:lstStyle/>
          <a:p>
            <a:r>
              <a:rPr lang="zh-CN" altLang="en-US" sz="2000" dirty="0">
                <a:solidFill>
                  <a:srgbClr val="FF0000"/>
                </a:solidFill>
                <a:latin typeface="微软雅黑" panose="020B0503020204020204" pitchFamily="34" charset="-122"/>
                <a:ea typeface="微软雅黑" panose="020B0503020204020204" pitchFamily="34" charset="-122"/>
              </a:rPr>
              <a:t>鉴别成功</a:t>
            </a:r>
          </a:p>
        </p:txBody>
      </p:sp>
      <p:sp>
        <p:nvSpPr>
          <p:cNvPr id="39" name="文本框 38"/>
          <p:cNvSpPr txBox="1"/>
          <p:nvPr/>
        </p:nvSpPr>
        <p:spPr>
          <a:xfrm>
            <a:off x="6727201" y="4895992"/>
            <a:ext cx="1747594" cy="400110"/>
          </a:xfrm>
          <a:prstGeom prst="rect">
            <a:avLst/>
          </a:prstGeom>
          <a:noFill/>
        </p:spPr>
        <p:txBody>
          <a:bodyPr wrap="none" rtlCol="0">
            <a:spAutoFit/>
          </a:bodyPr>
          <a:lstStyle/>
          <a:p>
            <a:r>
              <a:rPr lang="en-US" altLang="zh-CN" sz="2000" dirty="0">
                <a:solidFill>
                  <a:srgbClr val="FF0000"/>
                </a:solidFill>
                <a:latin typeface="微软雅黑" panose="020B0503020204020204" pitchFamily="34" charset="-122"/>
                <a:ea typeface="微软雅黑" panose="020B0503020204020204" pitchFamily="34" charset="-122"/>
              </a:rPr>
              <a:t>NCP</a:t>
            </a:r>
            <a:r>
              <a:rPr lang="zh-CN" altLang="en-US" sz="2000" dirty="0">
                <a:solidFill>
                  <a:srgbClr val="FF0000"/>
                </a:solidFill>
                <a:latin typeface="微软雅黑" panose="020B0503020204020204" pitchFamily="34" charset="-122"/>
                <a:ea typeface="微软雅黑" panose="020B0503020204020204" pitchFamily="34" charset="-122"/>
              </a:rPr>
              <a:t>配置协商</a:t>
            </a:r>
          </a:p>
        </p:txBody>
      </p:sp>
      <p:sp>
        <p:nvSpPr>
          <p:cNvPr id="40" name="文本框 39"/>
          <p:cNvSpPr txBox="1"/>
          <p:nvPr/>
        </p:nvSpPr>
        <p:spPr>
          <a:xfrm>
            <a:off x="3615851" y="4825541"/>
            <a:ext cx="1210588" cy="400110"/>
          </a:xfrm>
          <a:prstGeom prst="rect">
            <a:avLst/>
          </a:prstGeom>
          <a:noFill/>
        </p:spPr>
        <p:txBody>
          <a:bodyPr wrap="none" rtlCol="0">
            <a:spAutoFit/>
          </a:bodyPr>
          <a:lstStyle/>
          <a:p>
            <a:r>
              <a:rPr lang="zh-CN" altLang="en-US" sz="2000" dirty="0">
                <a:solidFill>
                  <a:srgbClr val="FF0000"/>
                </a:solidFill>
                <a:latin typeface="微软雅黑" panose="020B0503020204020204" pitchFamily="34" charset="-122"/>
                <a:ea typeface="微软雅黑" panose="020B0503020204020204" pitchFamily="34" charset="-122"/>
              </a:rPr>
              <a:t>链路关闭</a:t>
            </a:r>
          </a:p>
        </p:txBody>
      </p:sp>
      <p:sp>
        <p:nvSpPr>
          <p:cNvPr id="41" name="文本框 40"/>
          <p:cNvSpPr txBox="1"/>
          <p:nvPr/>
        </p:nvSpPr>
        <p:spPr>
          <a:xfrm>
            <a:off x="861083" y="3599397"/>
            <a:ext cx="1210588" cy="400110"/>
          </a:xfrm>
          <a:prstGeom prst="rect">
            <a:avLst/>
          </a:prstGeom>
          <a:noFill/>
        </p:spPr>
        <p:txBody>
          <a:bodyPr wrap="none" rtlCol="0">
            <a:spAutoFit/>
          </a:bodyPr>
          <a:lstStyle/>
          <a:p>
            <a:r>
              <a:rPr lang="zh-CN" altLang="en-US" sz="2000" dirty="0">
                <a:solidFill>
                  <a:srgbClr val="FF0000"/>
                </a:solidFill>
                <a:latin typeface="微软雅黑" panose="020B0503020204020204" pitchFamily="34" charset="-122"/>
                <a:ea typeface="微软雅黑" panose="020B0503020204020204" pitchFamily="34" charset="-122"/>
              </a:rPr>
              <a:t>链路终止</a:t>
            </a:r>
          </a:p>
        </p:txBody>
      </p:sp>
      <p:sp>
        <p:nvSpPr>
          <p:cNvPr id="28" name="文本框 27">
            <a:extLst>
              <a:ext uri="{FF2B5EF4-FFF2-40B4-BE49-F238E27FC236}">
                <a16:creationId xmlns:a16="http://schemas.microsoft.com/office/drawing/2014/main" id="{84239B1D-0AA4-4D55-B071-246F480A687C}"/>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Tree>
    <p:extLst>
      <p:ext uri="{BB962C8B-B14F-4D97-AF65-F5344CB8AC3E}">
        <p14:creationId xmlns:p14="http://schemas.microsoft.com/office/powerpoint/2010/main" val="3270780403"/>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PPP</a:t>
            </a:r>
            <a:r>
              <a:rPr lang="zh-CN" altLang="en-US" dirty="0"/>
              <a:t>协议的工作状态及转换</a:t>
            </a:r>
          </a:p>
        </p:txBody>
      </p:sp>
      <p:sp>
        <p:nvSpPr>
          <p:cNvPr id="3" name="内容占位符 2"/>
          <p:cNvSpPr>
            <a:spLocks noGrp="1"/>
          </p:cNvSpPr>
          <p:nvPr>
            <p:ph idx="1"/>
          </p:nvPr>
        </p:nvSpPr>
        <p:spPr>
          <a:xfrm>
            <a:off x="838200" y="1409700"/>
            <a:ext cx="10515600" cy="4687752"/>
          </a:xfrm>
        </p:spPr>
        <p:txBody>
          <a:bodyPr/>
          <a:lstStyle/>
          <a:p>
            <a:pPr>
              <a:lnSpc>
                <a:spcPct val="150000"/>
              </a:lnSpc>
            </a:pPr>
            <a:r>
              <a:rPr lang="zh-CN" altLang="en-US" dirty="0"/>
              <a:t>数据通信状态（网络打开状态）</a:t>
            </a:r>
            <a:endParaRPr lang="en-US" altLang="zh-CN" dirty="0"/>
          </a:p>
          <a:p>
            <a:pPr lvl="1">
              <a:lnSpc>
                <a:spcPct val="150000"/>
              </a:lnSpc>
            </a:pPr>
            <a:r>
              <a:rPr lang="zh-CN" altLang="en-US" dirty="0"/>
              <a:t>链路的两个</a:t>
            </a:r>
            <a:r>
              <a:rPr lang="en-US" altLang="zh-CN" dirty="0"/>
              <a:t>PPP</a:t>
            </a:r>
            <a:r>
              <a:rPr lang="zh-CN" altLang="en-US" dirty="0"/>
              <a:t>端点可以彼此向对方发送分组</a:t>
            </a:r>
          </a:p>
          <a:p>
            <a:pPr lvl="1">
              <a:lnSpc>
                <a:spcPct val="150000"/>
              </a:lnSpc>
            </a:pPr>
            <a:r>
              <a:rPr lang="zh-CN" altLang="en-US" dirty="0"/>
              <a:t>或者发送检查链路状态的</a:t>
            </a:r>
            <a:r>
              <a:rPr lang="en-US" altLang="zh-CN" dirty="0"/>
              <a:t>Echo-*</a:t>
            </a:r>
            <a:r>
              <a:rPr lang="zh-CN" altLang="en-US" dirty="0"/>
              <a:t>帧</a:t>
            </a:r>
          </a:p>
          <a:p>
            <a:pPr marL="457200" lvl="1" indent="0">
              <a:buNone/>
            </a:pPr>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152</a:t>
            </a:fld>
            <a:endParaRPr kumimoji="1" lang="zh-CN" altLang="en-US" dirty="0"/>
          </a:p>
        </p:txBody>
      </p:sp>
      <p:sp>
        <p:nvSpPr>
          <p:cNvPr id="5" name="文本框 4">
            <a:extLst>
              <a:ext uri="{FF2B5EF4-FFF2-40B4-BE49-F238E27FC236}">
                <a16:creationId xmlns:a16="http://schemas.microsoft.com/office/drawing/2014/main" id="{BBC532EE-C253-4343-9611-ACB493E9CC06}"/>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Tree>
    <p:extLst>
      <p:ext uri="{BB962C8B-B14F-4D97-AF65-F5344CB8AC3E}">
        <p14:creationId xmlns:p14="http://schemas.microsoft.com/office/powerpoint/2010/main" val="2914945914"/>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PPP</a:t>
            </a:r>
            <a:r>
              <a:rPr lang="zh-CN" altLang="en-US" dirty="0"/>
              <a:t>协议的工作状态及转换</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153</a:t>
            </a:fld>
            <a:endParaRPr kumimoji="1" lang="zh-CN" altLang="en-US" dirty="0"/>
          </a:p>
        </p:txBody>
      </p:sp>
      <p:sp>
        <p:nvSpPr>
          <p:cNvPr id="5" name="圆角矩形 4"/>
          <p:cNvSpPr/>
          <p:nvPr/>
        </p:nvSpPr>
        <p:spPr>
          <a:xfrm>
            <a:off x="1509695" y="2004393"/>
            <a:ext cx="1536700" cy="819150"/>
          </a:xfrm>
          <a:prstGeom prst="roundRect">
            <a:avLst/>
          </a:prstGeom>
          <a:solidFill>
            <a:srgbClr val="6900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链路静止</a:t>
            </a:r>
          </a:p>
        </p:txBody>
      </p:sp>
      <p:sp>
        <p:nvSpPr>
          <p:cNvPr id="6" name="圆角矩形 5"/>
          <p:cNvSpPr/>
          <p:nvPr/>
        </p:nvSpPr>
        <p:spPr>
          <a:xfrm>
            <a:off x="4983145" y="2004393"/>
            <a:ext cx="1536700" cy="819150"/>
          </a:xfrm>
          <a:prstGeom prst="roundRect">
            <a:avLst/>
          </a:prstGeom>
          <a:solidFill>
            <a:srgbClr val="6900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链路建立</a:t>
            </a:r>
          </a:p>
        </p:txBody>
      </p:sp>
      <p:sp>
        <p:nvSpPr>
          <p:cNvPr id="7" name="圆角矩形 6"/>
          <p:cNvSpPr/>
          <p:nvPr/>
        </p:nvSpPr>
        <p:spPr>
          <a:xfrm>
            <a:off x="8456595" y="2004393"/>
            <a:ext cx="1536700" cy="819150"/>
          </a:xfrm>
          <a:prstGeom prst="roundRect">
            <a:avLst/>
          </a:prstGeom>
          <a:solidFill>
            <a:srgbClr val="6900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身份认证</a:t>
            </a:r>
          </a:p>
        </p:txBody>
      </p:sp>
      <p:sp>
        <p:nvSpPr>
          <p:cNvPr id="8" name="圆角矩形 7"/>
          <p:cNvSpPr/>
          <p:nvPr/>
        </p:nvSpPr>
        <p:spPr>
          <a:xfrm>
            <a:off x="8456595" y="4899799"/>
            <a:ext cx="1536700" cy="819150"/>
          </a:xfrm>
          <a:prstGeom prst="roundRect">
            <a:avLst/>
          </a:prstGeom>
          <a:solidFill>
            <a:srgbClr val="6900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网络连接</a:t>
            </a:r>
          </a:p>
        </p:txBody>
      </p:sp>
      <p:sp>
        <p:nvSpPr>
          <p:cNvPr id="9" name="圆角矩形 8"/>
          <p:cNvSpPr/>
          <p:nvPr/>
        </p:nvSpPr>
        <p:spPr>
          <a:xfrm>
            <a:off x="1509695" y="4899799"/>
            <a:ext cx="1536700" cy="819150"/>
          </a:xfrm>
          <a:prstGeom prst="round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链路终止</a:t>
            </a:r>
          </a:p>
        </p:txBody>
      </p:sp>
      <p:sp>
        <p:nvSpPr>
          <p:cNvPr id="10" name="圆角矩形 9"/>
          <p:cNvSpPr/>
          <p:nvPr/>
        </p:nvSpPr>
        <p:spPr>
          <a:xfrm>
            <a:off x="4983145" y="4899799"/>
            <a:ext cx="1536700" cy="819150"/>
          </a:xfrm>
          <a:prstGeom prst="roundRect">
            <a:avLst/>
          </a:prstGeom>
          <a:solidFill>
            <a:srgbClr val="6900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数据通信</a:t>
            </a:r>
          </a:p>
        </p:txBody>
      </p:sp>
      <p:cxnSp>
        <p:nvCxnSpPr>
          <p:cNvPr id="12" name="直接箭头连接符 11"/>
          <p:cNvCxnSpPr/>
          <p:nvPr/>
        </p:nvCxnSpPr>
        <p:spPr>
          <a:xfrm>
            <a:off x="3173395" y="2413968"/>
            <a:ext cx="1797050" cy="0"/>
          </a:xfrm>
          <a:prstGeom prst="straightConnector1">
            <a:avLst/>
          </a:prstGeom>
          <a:ln w="88900" cmpd="sng">
            <a:solidFill>
              <a:srgbClr val="5B307E"/>
            </a:solidFill>
            <a:headEnd type="none"/>
            <a:tailEnd type="stealth"/>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a:off x="6659545" y="2413968"/>
            <a:ext cx="1797050" cy="0"/>
          </a:xfrm>
          <a:prstGeom prst="straightConnector1">
            <a:avLst/>
          </a:prstGeom>
          <a:ln w="88900" cmpd="sng">
            <a:solidFill>
              <a:srgbClr val="5B307E"/>
            </a:solidFill>
            <a:headEnd type="none"/>
            <a:tailEnd type="stealth"/>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p:nvPr/>
        </p:nvCxnSpPr>
        <p:spPr>
          <a:xfrm>
            <a:off x="9224945" y="2921968"/>
            <a:ext cx="0" cy="1793875"/>
          </a:xfrm>
          <a:prstGeom prst="straightConnector1">
            <a:avLst/>
          </a:prstGeom>
          <a:ln w="88900" cmpd="sng">
            <a:solidFill>
              <a:srgbClr val="5B307E"/>
            </a:solidFill>
            <a:headEnd type="none"/>
            <a:tailEnd type="stealth"/>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p:nvPr/>
        </p:nvCxnSpPr>
        <p:spPr>
          <a:xfrm>
            <a:off x="6589695" y="5309374"/>
            <a:ext cx="1797050" cy="0"/>
          </a:xfrm>
          <a:prstGeom prst="straightConnector1">
            <a:avLst/>
          </a:prstGeom>
          <a:ln w="88900" cmpd="sng">
            <a:solidFill>
              <a:srgbClr val="5B307E"/>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nvCxnSpPr>
        <p:spPr>
          <a:xfrm>
            <a:off x="3116245" y="5309374"/>
            <a:ext cx="1797050" cy="0"/>
          </a:xfrm>
          <a:prstGeom prst="straightConnector1">
            <a:avLst/>
          </a:prstGeom>
          <a:ln w="88900" cmpd="sng">
            <a:solidFill>
              <a:srgbClr val="5B307E"/>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p:nvPr/>
        </p:nvCxnSpPr>
        <p:spPr>
          <a:xfrm>
            <a:off x="2208195" y="2921967"/>
            <a:ext cx="0" cy="1793875"/>
          </a:xfrm>
          <a:prstGeom prst="straightConnector1">
            <a:avLst/>
          </a:prstGeom>
          <a:ln w="88900" cmpd="sng">
            <a:solidFill>
              <a:srgbClr val="5B307E"/>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21" name="肘形连接符 20"/>
          <p:cNvCxnSpPr>
            <a:stCxn id="6" idx="2"/>
          </p:cNvCxnSpPr>
          <p:nvPr/>
        </p:nvCxnSpPr>
        <p:spPr>
          <a:xfrm rot="5400000">
            <a:off x="3825064" y="1384474"/>
            <a:ext cx="487362" cy="3365500"/>
          </a:xfrm>
          <a:prstGeom prst="bentConnector2">
            <a:avLst/>
          </a:prstGeom>
          <a:ln w="88900" cmpd="sng">
            <a:solidFill>
              <a:srgbClr val="0070C0"/>
            </a:solidFill>
            <a:prstDash val="dash"/>
            <a:headEnd type="none"/>
            <a:tailEnd type="stealth"/>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2671545" y="4074493"/>
            <a:ext cx="0" cy="744536"/>
          </a:xfrm>
          <a:prstGeom prst="line">
            <a:avLst/>
          </a:prstGeom>
          <a:ln w="88900" cmpd="sng">
            <a:solidFill>
              <a:srgbClr val="0070C0"/>
            </a:solidFill>
            <a:prstDash val="dash"/>
            <a:headEnd type="none"/>
            <a:tailEnd type="stealth"/>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flipH="1">
            <a:off x="2690795" y="4017343"/>
            <a:ext cx="6108700" cy="0"/>
          </a:xfrm>
          <a:prstGeom prst="line">
            <a:avLst/>
          </a:prstGeom>
          <a:ln w="88900" cmpd="sng">
            <a:solidFill>
              <a:srgbClr val="0070C0"/>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8951895" y="2929991"/>
            <a:ext cx="0" cy="1000125"/>
          </a:xfrm>
          <a:prstGeom prst="line">
            <a:avLst/>
          </a:prstGeom>
          <a:ln w="88900" cmpd="sng">
            <a:solidFill>
              <a:srgbClr val="0070C0"/>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4" name="文本框 33"/>
          <p:cNvSpPr txBox="1"/>
          <p:nvPr/>
        </p:nvSpPr>
        <p:spPr>
          <a:xfrm>
            <a:off x="3463451" y="2013858"/>
            <a:ext cx="1210588" cy="400110"/>
          </a:xfrm>
          <a:prstGeom prst="rect">
            <a:avLst/>
          </a:prstGeom>
          <a:noFill/>
        </p:spPr>
        <p:txBody>
          <a:bodyPr wrap="none" rtlCol="0">
            <a:spAutoFit/>
          </a:bodyPr>
          <a:lstStyle/>
          <a:p>
            <a:r>
              <a:rPr lang="zh-CN" altLang="en-US" sz="2000" dirty="0">
                <a:solidFill>
                  <a:srgbClr val="FF0000"/>
                </a:solidFill>
                <a:latin typeface="微软雅黑" panose="020B0503020204020204" pitchFamily="34" charset="-122"/>
                <a:ea typeface="微软雅黑" panose="020B0503020204020204" pitchFamily="34" charset="-122"/>
              </a:rPr>
              <a:t>链路启动</a:t>
            </a:r>
          </a:p>
        </p:txBody>
      </p:sp>
      <p:sp>
        <p:nvSpPr>
          <p:cNvPr id="35" name="文本框 34"/>
          <p:cNvSpPr txBox="1"/>
          <p:nvPr/>
        </p:nvSpPr>
        <p:spPr>
          <a:xfrm>
            <a:off x="3471845" y="2820278"/>
            <a:ext cx="1210588" cy="400110"/>
          </a:xfrm>
          <a:prstGeom prst="rect">
            <a:avLst/>
          </a:prstGeom>
          <a:noFill/>
        </p:spPr>
        <p:txBody>
          <a:bodyPr wrap="none" rtlCol="0">
            <a:spAutoFit/>
          </a:bodyPr>
          <a:lstStyle/>
          <a:p>
            <a:r>
              <a:rPr lang="zh-CN" altLang="en-US" sz="2000" dirty="0">
                <a:solidFill>
                  <a:srgbClr val="0070C0"/>
                </a:solidFill>
                <a:latin typeface="微软雅黑" panose="020B0503020204020204" pitchFamily="34" charset="-122"/>
                <a:ea typeface="微软雅黑" panose="020B0503020204020204" pitchFamily="34" charset="-122"/>
              </a:rPr>
              <a:t>启动失败</a:t>
            </a:r>
          </a:p>
        </p:txBody>
      </p:sp>
      <p:sp>
        <p:nvSpPr>
          <p:cNvPr id="36" name="文本框 35"/>
          <p:cNvSpPr txBox="1"/>
          <p:nvPr/>
        </p:nvSpPr>
        <p:spPr>
          <a:xfrm>
            <a:off x="6744339" y="1991051"/>
            <a:ext cx="1661737" cy="400110"/>
          </a:xfrm>
          <a:prstGeom prst="rect">
            <a:avLst/>
          </a:prstGeom>
          <a:noFill/>
        </p:spPr>
        <p:txBody>
          <a:bodyPr wrap="none" rtlCol="0">
            <a:spAutoFit/>
          </a:bodyPr>
          <a:lstStyle/>
          <a:p>
            <a:r>
              <a:rPr lang="en-US" altLang="zh-CN" sz="2000" dirty="0">
                <a:solidFill>
                  <a:srgbClr val="FF0000"/>
                </a:solidFill>
                <a:latin typeface="微软雅黑" panose="020B0503020204020204" pitchFamily="34" charset="-122"/>
                <a:ea typeface="微软雅黑" panose="020B0503020204020204" pitchFamily="34" charset="-122"/>
              </a:rPr>
              <a:t>LCP</a:t>
            </a:r>
            <a:r>
              <a:rPr lang="zh-CN" altLang="en-US" sz="2000" dirty="0">
                <a:solidFill>
                  <a:srgbClr val="FF0000"/>
                </a:solidFill>
                <a:latin typeface="微软雅黑" panose="020B0503020204020204" pitchFamily="34" charset="-122"/>
                <a:ea typeface="微软雅黑" panose="020B0503020204020204" pitchFamily="34" charset="-122"/>
              </a:rPr>
              <a:t>配置协商</a:t>
            </a:r>
          </a:p>
        </p:txBody>
      </p:sp>
      <p:sp>
        <p:nvSpPr>
          <p:cNvPr id="37" name="文本框 36"/>
          <p:cNvSpPr txBox="1"/>
          <p:nvPr/>
        </p:nvSpPr>
        <p:spPr>
          <a:xfrm>
            <a:off x="5914551" y="3537286"/>
            <a:ext cx="1210588" cy="400110"/>
          </a:xfrm>
          <a:prstGeom prst="rect">
            <a:avLst/>
          </a:prstGeom>
          <a:noFill/>
        </p:spPr>
        <p:txBody>
          <a:bodyPr wrap="none" rtlCol="0">
            <a:spAutoFit/>
          </a:bodyPr>
          <a:lstStyle/>
          <a:p>
            <a:r>
              <a:rPr lang="zh-CN" altLang="en-US" sz="2000" dirty="0">
                <a:solidFill>
                  <a:srgbClr val="0070C0"/>
                </a:solidFill>
                <a:latin typeface="微软雅黑" panose="020B0503020204020204" pitchFamily="34" charset="-122"/>
                <a:ea typeface="微软雅黑" panose="020B0503020204020204" pitchFamily="34" charset="-122"/>
              </a:rPr>
              <a:t>鉴别失败</a:t>
            </a:r>
          </a:p>
        </p:txBody>
      </p:sp>
      <p:sp>
        <p:nvSpPr>
          <p:cNvPr id="38" name="文本框 37"/>
          <p:cNvSpPr txBox="1"/>
          <p:nvPr/>
        </p:nvSpPr>
        <p:spPr>
          <a:xfrm>
            <a:off x="9285142" y="3593171"/>
            <a:ext cx="1210588" cy="400110"/>
          </a:xfrm>
          <a:prstGeom prst="rect">
            <a:avLst/>
          </a:prstGeom>
          <a:noFill/>
        </p:spPr>
        <p:txBody>
          <a:bodyPr wrap="none" rtlCol="0">
            <a:spAutoFit/>
          </a:bodyPr>
          <a:lstStyle/>
          <a:p>
            <a:r>
              <a:rPr lang="zh-CN" altLang="en-US" sz="2000" dirty="0">
                <a:solidFill>
                  <a:srgbClr val="FF0000"/>
                </a:solidFill>
                <a:latin typeface="微软雅黑" panose="020B0503020204020204" pitchFamily="34" charset="-122"/>
                <a:ea typeface="微软雅黑" panose="020B0503020204020204" pitchFamily="34" charset="-122"/>
              </a:rPr>
              <a:t>鉴别成功</a:t>
            </a:r>
          </a:p>
        </p:txBody>
      </p:sp>
      <p:sp>
        <p:nvSpPr>
          <p:cNvPr id="39" name="文本框 38"/>
          <p:cNvSpPr txBox="1"/>
          <p:nvPr/>
        </p:nvSpPr>
        <p:spPr>
          <a:xfrm>
            <a:off x="6727201" y="4895992"/>
            <a:ext cx="1747594" cy="400110"/>
          </a:xfrm>
          <a:prstGeom prst="rect">
            <a:avLst/>
          </a:prstGeom>
          <a:noFill/>
        </p:spPr>
        <p:txBody>
          <a:bodyPr wrap="none" rtlCol="0">
            <a:spAutoFit/>
          </a:bodyPr>
          <a:lstStyle/>
          <a:p>
            <a:r>
              <a:rPr lang="en-US" altLang="zh-CN" sz="2000" dirty="0">
                <a:solidFill>
                  <a:srgbClr val="FF0000"/>
                </a:solidFill>
                <a:latin typeface="微软雅黑" panose="020B0503020204020204" pitchFamily="34" charset="-122"/>
                <a:ea typeface="微软雅黑" panose="020B0503020204020204" pitchFamily="34" charset="-122"/>
              </a:rPr>
              <a:t>NCP</a:t>
            </a:r>
            <a:r>
              <a:rPr lang="zh-CN" altLang="en-US" sz="2000" dirty="0">
                <a:solidFill>
                  <a:srgbClr val="FF0000"/>
                </a:solidFill>
                <a:latin typeface="微软雅黑" panose="020B0503020204020204" pitchFamily="34" charset="-122"/>
                <a:ea typeface="微软雅黑" panose="020B0503020204020204" pitchFamily="34" charset="-122"/>
              </a:rPr>
              <a:t>配置协商</a:t>
            </a:r>
          </a:p>
        </p:txBody>
      </p:sp>
      <p:sp>
        <p:nvSpPr>
          <p:cNvPr id="40" name="文本框 39"/>
          <p:cNvSpPr txBox="1"/>
          <p:nvPr/>
        </p:nvSpPr>
        <p:spPr>
          <a:xfrm>
            <a:off x="3615851" y="4825541"/>
            <a:ext cx="1210588" cy="400110"/>
          </a:xfrm>
          <a:prstGeom prst="rect">
            <a:avLst/>
          </a:prstGeom>
          <a:noFill/>
        </p:spPr>
        <p:txBody>
          <a:bodyPr wrap="none" rtlCol="0">
            <a:spAutoFit/>
          </a:bodyPr>
          <a:lstStyle/>
          <a:p>
            <a:r>
              <a:rPr lang="zh-CN" altLang="en-US" sz="2000" dirty="0">
                <a:solidFill>
                  <a:srgbClr val="FF0000"/>
                </a:solidFill>
                <a:latin typeface="微软雅黑" panose="020B0503020204020204" pitchFamily="34" charset="-122"/>
                <a:ea typeface="微软雅黑" panose="020B0503020204020204" pitchFamily="34" charset="-122"/>
              </a:rPr>
              <a:t>链路关闭</a:t>
            </a:r>
          </a:p>
        </p:txBody>
      </p:sp>
      <p:sp>
        <p:nvSpPr>
          <p:cNvPr id="41" name="文本框 40"/>
          <p:cNvSpPr txBox="1"/>
          <p:nvPr/>
        </p:nvSpPr>
        <p:spPr>
          <a:xfrm>
            <a:off x="861083" y="3599397"/>
            <a:ext cx="1210588" cy="400110"/>
          </a:xfrm>
          <a:prstGeom prst="rect">
            <a:avLst/>
          </a:prstGeom>
          <a:noFill/>
        </p:spPr>
        <p:txBody>
          <a:bodyPr wrap="none" rtlCol="0">
            <a:spAutoFit/>
          </a:bodyPr>
          <a:lstStyle/>
          <a:p>
            <a:r>
              <a:rPr lang="zh-CN" altLang="en-US" sz="2000" dirty="0">
                <a:solidFill>
                  <a:srgbClr val="FF0000"/>
                </a:solidFill>
                <a:latin typeface="微软雅黑" panose="020B0503020204020204" pitchFamily="34" charset="-122"/>
                <a:ea typeface="微软雅黑" panose="020B0503020204020204" pitchFamily="34" charset="-122"/>
              </a:rPr>
              <a:t>链路终止</a:t>
            </a:r>
          </a:p>
        </p:txBody>
      </p:sp>
      <p:sp>
        <p:nvSpPr>
          <p:cNvPr id="28" name="文本框 27">
            <a:extLst>
              <a:ext uri="{FF2B5EF4-FFF2-40B4-BE49-F238E27FC236}">
                <a16:creationId xmlns:a16="http://schemas.microsoft.com/office/drawing/2014/main" id="{6C680183-375B-42A2-AC2B-7C1AA18F28EF}"/>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Tree>
    <p:extLst>
      <p:ext uri="{BB962C8B-B14F-4D97-AF65-F5344CB8AC3E}">
        <p14:creationId xmlns:p14="http://schemas.microsoft.com/office/powerpoint/2010/main" val="1730415838"/>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PPP</a:t>
            </a:r>
            <a:r>
              <a:rPr lang="zh-CN" altLang="en-US" dirty="0"/>
              <a:t>协议的工作状态及转换</a:t>
            </a:r>
          </a:p>
        </p:txBody>
      </p:sp>
      <p:sp>
        <p:nvSpPr>
          <p:cNvPr id="3" name="内容占位符 2"/>
          <p:cNvSpPr>
            <a:spLocks noGrp="1"/>
          </p:cNvSpPr>
          <p:nvPr>
            <p:ph idx="1"/>
          </p:nvPr>
        </p:nvSpPr>
        <p:spPr>
          <a:xfrm>
            <a:off x="731981" y="1514763"/>
            <a:ext cx="10859655" cy="5083111"/>
          </a:xfrm>
        </p:spPr>
        <p:txBody>
          <a:bodyPr>
            <a:noAutofit/>
          </a:bodyPr>
          <a:lstStyle/>
          <a:p>
            <a:r>
              <a:rPr lang="en-US" altLang="zh-CN" sz="2400" dirty="0"/>
              <a:t>PPP</a:t>
            </a:r>
            <a:r>
              <a:rPr lang="zh-CN" altLang="en-US" sz="2400" dirty="0"/>
              <a:t>可以在任何时候终止链接。</a:t>
            </a:r>
            <a:endParaRPr lang="en-US" altLang="zh-CN" sz="2400" dirty="0"/>
          </a:p>
          <a:p>
            <a:pPr lvl="1"/>
            <a:r>
              <a:rPr lang="zh-CN" altLang="en-US" sz="2000" dirty="0"/>
              <a:t>运营商丢失、身份验证失败、链接质量失败、空闲期计时器过期或链接的管理关闭造成的</a:t>
            </a:r>
            <a:endParaRPr lang="en-US" altLang="zh-CN" sz="2000" dirty="0"/>
          </a:p>
          <a:p>
            <a:r>
              <a:rPr lang="en-US" altLang="zh-CN" sz="2400" dirty="0"/>
              <a:t>LCP</a:t>
            </a:r>
            <a:r>
              <a:rPr lang="zh-CN" altLang="en-US" sz="2400" dirty="0"/>
              <a:t>用于通过交换终止包来关闭链接。</a:t>
            </a:r>
            <a:endParaRPr lang="en-US" altLang="zh-CN" sz="2400" dirty="0"/>
          </a:p>
          <a:p>
            <a:pPr lvl="1"/>
            <a:r>
              <a:rPr lang="zh-CN" altLang="en-US" sz="2000" dirty="0"/>
              <a:t>当连接关闭时，</a:t>
            </a:r>
            <a:r>
              <a:rPr lang="en-US" altLang="zh-CN" sz="2000" dirty="0"/>
              <a:t>PPP</a:t>
            </a:r>
            <a:r>
              <a:rPr lang="zh-CN" altLang="en-US" sz="2000" dirty="0"/>
              <a:t>通知网络层协议</a:t>
            </a:r>
            <a:endParaRPr lang="en-US" altLang="zh-CN" sz="2000" dirty="0"/>
          </a:p>
          <a:p>
            <a:pPr lvl="1"/>
            <a:r>
              <a:rPr lang="zh-CN" altLang="en-US" sz="2000" dirty="0"/>
              <a:t>在交换终止包之后，实现应该向物理层发出断开的信号，以强制终止链接，特别是在身份验证失败的情况下</a:t>
            </a:r>
            <a:endParaRPr lang="en-US" altLang="zh-CN" sz="2000" dirty="0"/>
          </a:p>
          <a:p>
            <a:r>
              <a:rPr lang="en-US" altLang="zh-CN" sz="2400" dirty="0"/>
              <a:t>Terminate-Request</a:t>
            </a:r>
            <a:r>
              <a:rPr lang="zh-CN" altLang="en-US" sz="2400" dirty="0"/>
              <a:t>的发送方在收到</a:t>
            </a:r>
            <a:r>
              <a:rPr lang="en-US" altLang="zh-CN" sz="2400" dirty="0"/>
              <a:t>Terminate-</a:t>
            </a:r>
            <a:r>
              <a:rPr lang="en-US" altLang="zh-CN" sz="2400" dirty="0" err="1"/>
              <a:t>Ack</a:t>
            </a:r>
            <a:r>
              <a:rPr lang="zh-CN" altLang="en-US" sz="2400" dirty="0"/>
              <a:t>或重启计数器过期后断开连接。</a:t>
            </a:r>
            <a:endParaRPr lang="en-US" altLang="zh-CN" sz="2400" dirty="0"/>
          </a:p>
          <a:p>
            <a:r>
              <a:rPr lang="en-US" altLang="zh-CN" sz="2400" dirty="0"/>
              <a:t>Terminate-Request</a:t>
            </a:r>
            <a:r>
              <a:rPr lang="zh-CN" altLang="en-US" sz="2400" dirty="0"/>
              <a:t>的接收方等待对等方断开连接，并且在发送</a:t>
            </a:r>
            <a:r>
              <a:rPr lang="en-US" altLang="zh-CN" sz="2400" dirty="0"/>
              <a:t>Terminate-</a:t>
            </a:r>
            <a:r>
              <a:rPr lang="en-US" altLang="zh-CN" sz="2400" dirty="0" err="1"/>
              <a:t>Ack</a:t>
            </a:r>
            <a:r>
              <a:rPr lang="zh-CN" altLang="en-US" sz="2400" dirty="0"/>
              <a:t>之后，在至少一次重新启动时间过去之前，绝不能断开连接。</a:t>
            </a:r>
            <a:endParaRPr lang="en-US" altLang="zh-CN" sz="2400" dirty="0"/>
          </a:p>
          <a:p>
            <a:r>
              <a:rPr lang="en-US" altLang="zh-CN" sz="2400" dirty="0"/>
              <a:t>PPP</a:t>
            </a:r>
            <a:r>
              <a:rPr lang="zh-CN" altLang="en-US" sz="2400" dirty="0"/>
              <a:t>随后进入链路静止阶段。</a:t>
            </a:r>
            <a:endParaRPr lang="en-US" altLang="zh-CN" sz="2400" dirty="0"/>
          </a:p>
          <a:p>
            <a:r>
              <a:rPr lang="zh-CN" altLang="en-US" sz="2400" dirty="0"/>
              <a:t>在此阶段接收到的任何非</a:t>
            </a:r>
            <a:r>
              <a:rPr lang="en-US" altLang="zh-CN" sz="2400" dirty="0"/>
              <a:t>LCP</a:t>
            </a:r>
            <a:r>
              <a:rPr lang="zh-CN" altLang="en-US" sz="2400" dirty="0"/>
              <a:t>数据包都必须丢弃。</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154</a:t>
            </a:fld>
            <a:endParaRPr kumimoji="1" lang="zh-CN" altLang="en-US" dirty="0"/>
          </a:p>
        </p:txBody>
      </p:sp>
      <p:sp>
        <p:nvSpPr>
          <p:cNvPr id="5" name="文本框 4">
            <a:extLst>
              <a:ext uri="{FF2B5EF4-FFF2-40B4-BE49-F238E27FC236}">
                <a16:creationId xmlns:a16="http://schemas.microsoft.com/office/drawing/2014/main" id="{699E64A3-E370-4F26-B918-F8BBD12073A8}"/>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Tree>
    <p:extLst>
      <p:ext uri="{BB962C8B-B14F-4D97-AF65-F5344CB8AC3E}">
        <p14:creationId xmlns:p14="http://schemas.microsoft.com/office/powerpoint/2010/main" val="533974593"/>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DCC7AC-475E-1E4C-8CD6-1AECBEC28035}"/>
              </a:ext>
            </a:extLst>
          </p:cNvPr>
          <p:cNvSpPr>
            <a:spLocks noGrp="1"/>
          </p:cNvSpPr>
          <p:nvPr>
            <p:ph type="title"/>
          </p:nvPr>
        </p:nvSpPr>
        <p:spPr/>
        <p:txBody>
          <a:bodyPr/>
          <a:lstStyle/>
          <a:p>
            <a:r>
              <a:rPr lang="zh-CN" altLang="en-US" dirty="0"/>
              <a:t>本章内容</a:t>
            </a:r>
            <a:endParaRPr kumimoji="1" lang="zh-CN" altLang="en-US" dirty="0"/>
          </a:p>
        </p:txBody>
      </p:sp>
      <p:sp>
        <p:nvSpPr>
          <p:cNvPr id="3" name="内容占位符 2">
            <a:extLst>
              <a:ext uri="{FF2B5EF4-FFF2-40B4-BE49-F238E27FC236}">
                <a16:creationId xmlns:a16="http://schemas.microsoft.com/office/drawing/2014/main" id="{ED1732F0-50F7-8947-81D6-CBBAE8232DE9}"/>
              </a:ext>
            </a:extLst>
          </p:cNvPr>
          <p:cNvSpPr>
            <a:spLocks noGrp="1"/>
          </p:cNvSpPr>
          <p:nvPr>
            <p:ph idx="1"/>
          </p:nvPr>
        </p:nvSpPr>
        <p:spPr/>
        <p:txBody>
          <a:bodyPr>
            <a:normAutofit/>
          </a:bodyPr>
          <a:lstStyle/>
          <a:p>
            <a:pPr marL="0" indent="0">
              <a:lnSpc>
                <a:spcPct val="130000"/>
              </a:lnSpc>
              <a:buNone/>
            </a:pPr>
            <a:r>
              <a:rPr kumimoji="1" lang="en-US" altLang="zh-CN" dirty="0"/>
              <a:t>3.1 </a:t>
            </a:r>
            <a:r>
              <a:rPr kumimoji="1" lang="zh-CN" altLang="zh-CN" dirty="0"/>
              <a:t>数据链路层的设计问题</a:t>
            </a:r>
            <a:endParaRPr kumimoji="1" lang="en-US" altLang="zh-CN" dirty="0"/>
          </a:p>
          <a:p>
            <a:pPr marL="0" indent="0">
              <a:lnSpc>
                <a:spcPct val="130000"/>
              </a:lnSpc>
              <a:buNone/>
            </a:pPr>
            <a:r>
              <a:rPr kumimoji="1" lang="en-US" altLang="zh-CN" dirty="0"/>
              <a:t>3.2 </a:t>
            </a:r>
            <a:r>
              <a:rPr kumimoji="1" lang="zh-CN" altLang="zh-CN" dirty="0"/>
              <a:t>差错检测和纠正</a:t>
            </a:r>
            <a:endParaRPr kumimoji="1" lang="en-US" altLang="zh-CN" dirty="0"/>
          </a:p>
          <a:p>
            <a:pPr marL="0" indent="0">
              <a:lnSpc>
                <a:spcPct val="130000"/>
              </a:lnSpc>
              <a:buNone/>
            </a:pPr>
            <a:r>
              <a:rPr kumimoji="1" lang="en-US" altLang="zh-CN" dirty="0"/>
              <a:t>3.3 </a:t>
            </a:r>
            <a:r>
              <a:rPr kumimoji="1" lang="zh-CN" altLang="zh-CN" dirty="0"/>
              <a:t>基本的数据链路层协议</a:t>
            </a:r>
            <a:endParaRPr kumimoji="1" lang="zh-CN" altLang="en-US" dirty="0"/>
          </a:p>
          <a:p>
            <a:pPr marL="0" indent="0">
              <a:lnSpc>
                <a:spcPct val="130000"/>
              </a:lnSpc>
              <a:buNone/>
            </a:pPr>
            <a:r>
              <a:rPr kumimoji="1" lang="en-US" altLang="zh-CN" dirty="0"/>
              <a:t>3.4 </a:t>
            </a:r>
            <a:r>
              <a:rPr kumimoji="1" lang="zh-CN" altLang="zh-CN" dirty="0"/>
              <a:t>滑动窗口协议</a:t>
            </a:r>
            <a:endParaRPr lang="zh-CN" altLang="en-US" sz="2400" dirty="0">
              <a:latin typeface="微软雅黑" panose="020B0503020204020204" pitchFamily="34" charset="-122"/>
              <a:ea typeface="微软雅黑" panose="020B0503020204020204" pitchFamily="34" charset="-122"/>
            </a:endParaRPr>
          </a:p>
          <a:p>
            <a:pPr marL="0" indent="0">
              <a:lnSpc>
                <a:spcPct val="130000"/>
              </a:lnSpc>
              <a:buNone/>
            </a:pPr>
            <a:r>
              <a:rPr kumimoji="1" lang="en-US" altLang="zh-CN" dirty="0">
                <a:solidFill>
                  <a:srgbClr val="C00000"/>
                </a:solidFill>
              </a:rPr>
              <a:t>3.5 </a:t>
            </a:r>
            <a:r>
              <a:rPr kumimoji="1" lang="zh-CN" altLang="zh-CN" dirty="0">
                <a:solidFill>
                  <a:srgbClr val="C00000"/>
                </a:solidFill>
              </a:rPr>
              <a:t>数据链路协议实例</a:t>
            </a:r>
          </a:p>
        </p:txBody>
      </p:sp>
      <p:sp>
        <p:nvSpPr>
          <p:cNvPr id="4" name="灯片编号占位符 3">
            <a:extLst>
              <a:ext uri="{FF2B5EF4-FFF2-40B4-BE49-F238E27FC236}">
                <a16:creationId xmlns:a16="http://schemas.microsoft.com/office/drawing/2014/main" id="{B09265E6-1613-5248-876E-1FC70865DEDD}"/>
              </a:ext>
            </a:extLst>
          </p:cNvPr>
          <p:cNvSpPr>
            <a:spLocks noGrp="1"/>
          </p:cNvSpPr>
          <p:nvPr>
            <p:ph type="sldNum" sz="quarter" idx="12"/>
          </p:nvPr>
        </p:nvSpPr>
        <p:spPr/>
        <p:txBody>
          <a:bodyPr/>
          <a:lstStyle/>
          <a:p>
            <a:fld id="{8D4D1E41-7A09-AB4A-A4E1-09765ADA2698}" type="slidenum">
              <a:rPr kumimoji="1" lang="zh-CN" altLang="en-US" smtClean="0"/>
              <a:t>155</a:t>
            </a:fld>
            <a:endParaRPr kumimoji="1" lang="zh-CN" altLang="en-US" dirty="0"/>
          </a:p>
        </p:txBody>
      </p:sp>
      <p:sp>
        <p:nvSpPr>
          <p:cNvPr id="6" name="矩形标注 5">
            <a:extLst>
              <a:ext uri="{FF2B5EF4-FFF2-40B4-BE49-F238E27FC236}">
                <a16:creationId xmlns:a16="http://schemas.microsoft.com/office/drawing/2014/main" id="{E4BFCB96-0FA1-7740-8F94-683CEFB67F89}"/>
              </a:ext>
            </a:extLst>
          </p:cNvPr>
          <p:cNvSpPr/>
          <p:nvPr/>
        </p:nvSpPr>
        <p:spPr>
          <a:xfrm>
            <a:off x="5631543" y="3048001"/>
            <a:ext cx="4768770" cy="1794932"/>
          </a:xfrm>
          <a:prstGeom prst="wedgeRectCallout">
            <a:avLst>
              <a:gd name="adj1" fmla="val -74239"/>
              <a:gd name="adj2" fmla="val 25784"/>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spcBef>
                <a:spcPts val="1200"/>
              </a:spcBef>
              <a:buFontTx/>
              <a:buAutoNum type="arabicPeriod"/>
            </a:pPr>
            <a:r>
              <a:rPr lang="en-US" altLang="zh-CN" sz="2400" dirty="0">
                <a:solidFill>
                  <a:schemeClr val="tx1"/>
                </a:solidFill>
                <a:latin typeface="微软雅黑" panose="020B0503020204020204" pitchFamily="34" charset="-122"/>
                <a:ea typeface="微软雅黑" panose="020B0503020204020204" pitchFamily="34" charset="-122"/>
              </a:rPr>
              <a:t>HDLC</a:t>
            </a:r>
          </a:p>
          <a:p>
            <a:pPr marL="457200" indent="-457200">
              <a:spcBef>
                <a:spcPts val="1200"/>
              </a:spcBef>
              <a:buFontTx/>
              <a:buAutoNum type="arabicPeriod"/>
            </a:pPr>
            <a:r>
              <a:rPr lang="zh-CN" altLang="en-US" sz="2400" dirty="0">
                <a:solidFill>
                  <a:schemeClr val="tx1"/>
                </a:solidFill>
                <a:latin typeface="微软雅黑" panose="020B0503020204020204" pitchFamily="34" charset="-122"/>
                <a:ea typeface="微软雅黑" panose="020B0503020204020204" pitchFamily="34" charset="-122"/>
              </a:rPr>
              <a:t>点到点链路层协议</a:t>
            </a:r>
            <a:r>
              <a:rPr lang="en-US" altLang="zh-CN" sz="2400" dirty="0">
                <a:solidFill>
                  <a:schemeClr val="tx1"/>
                </a:solidFill>
                <a:latin typeface="微软雅黑" panose="020B0503020204020204" pitchFamily="34" charset="-122"/>
                <a:ea typeface="微软雅黑" panose="020B0503020204020204" pitchFamily="34" charset="-122"/>
              </a:rPr>
              <a:t>PPP</a:t>
            </a:r>
          </a:p>
          <a:p>
            <a:pPr marL="457200" indent="-457200">
              <a:spcBef>
                <a:spcPts val="1200"/>
              </a:spcBef>
              <a:buFontTx/>
              <a:buAutoNum type="arabicPeriod"/>
            </a:pPr>
            <a:r>
              <a:rPr lang="en-US" altLang="zh-CN" sz="2400" dirty="0" err="1">
                <a:solidFill>
                  <a:srgbClr val="C00000"/>
                </a:solidFill>
                <a:latin typeface="微软雅黑" panose="020B0503020204020204" pitchFamily="34" charset="-122"/>
                <a:ea typeface="微软雅黑" panose="020B0503020204020204" pitchFamily="34" charset="-122"/>
              </a:rPr>
              <a:t>PPPoE</a:t>
            </a:r>
            <a:endParaRPr lang="en-US" altLang="zh-CN" sz="240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717680951"/>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5B5E7D-8FD9-434B-BAC9-4A5D465A85EA}"/>
              </a:ext>
            </a:extLst>
          </p:cNvPr>
          <p:cNvSpPr>
            <a:spLocks noGrp="1"/>
          </p:cNvSpPr>
          <p:nvPr>
            <p:ph type="title"/>
          </p:nvPr>
        </p:nvSpPr>
        <p:spPr/>
        <p:txBody>
          <a:bodyPr/>
          <a:lstStyle/>
          <a:p>
            <a:r>
              <a:rPr kumimoji="1" lang="en-US" altLang="zh-CN" dirty="0" err="1"/>
              <a:t>PPPoE</a:t>
            </a:r>
            <a:r>
              <a:rPr kumimoji="1" lang="zh-CN" altLang="en-US" dirty="0"/>
              <a:t>概述</a:t>
            </a:r>
          </a:p>
        </p:txBody>
      </p:sp>
      <p:sp>
        <p:nvSpPr>
          <p:cNvPr id="3" name="内容占位符 2">
            <a:extLst>
              <a:ext uri="{FF2B5EF4-FFF2-40B4-BE49-F238E27FC236}">
                <a16:creationId xmlns:a16="http://schemas.microsoft.com/office/drawing/2014/main" id="{F94632E6-2D1A-4745-B0F4-BE23638BE196}"/>
              </a:ext>
            </a:extLst>
          </p:cNvPr>
          <p:cNvSpPr>
            <a:spLocks noGrp="1"/>
          </p:cNvSpPr>
          <p:nvPr>
            <p:ph idx="1"/>
          </p:nvPr>
        </p:nvSpPr>
        <p:spPr>
          <a:xfrm>
            <a:off x="714633" y="1403953"/>
            <a:ext cx="10809152" cy="4609986"/>
          </a:xfrm>
        </p:spPr>
        <p:txBody>
          <a:bodyPr>
            <a:normAutofit/>
          </a:bodyPr>
          <a:lstStyle/>
          <a:p>
            <a:pPr>
              <a:lnSpc>
                <a:spcPct val="120000"/>
              </a:lnSpc>
            </a:pPr>
            <a:r>
              <a:rPr kumimoji="1" lang="en-US" altLang="zh-CN" dirty="0"/>
              <a:t>Ethernet</a:t>
            </a:r>
            <a:r>
              <a:rPr kumimoji="1" lang="zh-CN" altLang="en-US" dirty="0"/>
              <a:t>优点</a:t>
            </a:r>
            <a:endParaRPr kumimoji="1" lang="en-US" altLang="zh-CN" dirty="0"/>
          </a:p>
          <a:p>
            <a:pPr lvl="1">
              <a:lnSpc>
                <a:spcPct val="120000"/>
              </a:lnSpc>
            </a:pPr>
            <a:r>
              <a:rPr kumimoji="1" lang="zh-CN" altLang="en-US" dirty="0"/>
              <a:t>原理简单，应用非常广，设备成本低</a:t>
            </a:r>
            <a:endParaRPr kumimoji="1" lang="en-US" altLang="zh-CN" dirty="0"/>
          </a:p>
          <a:p>
            <a:pPr>
              <a:lnSpc>
                <a:spcPct val="120000"/>
              </a:lnSpc>
            </a:pPr>
            <a:r>
              <a:rPr kumimoji="1" lang="en-US" altLang="zh-CN" dirty="0"/>
              <a:t>Ethernet</a:t>
            </a:r>
            <a:r>
              <a:rPr kumimoji="1" lang="zh-CN" altLang="en-US" dirty="0"/>
              <a:t>缺点</a:t>
            </a:r>
            <a:endParaRPr kumimoji="1" lang="en-US" altLang="zh-CN" dirty="0"/>
          </a:p>
          <a:p>
            <a:pPr lvl="1">
              <a:lnSpc>
                <a:spcPct val="120000"/>
              </a:lnSpc>
            </a:pPr>
            <a:r>
              <a:rPr kumimoji="1" lang="zh-CN" altLang="en-US" dirty="0"/>
              <a:t>安全性较低、不宜管理：使用广播信道，造成了安全性较低，</a:t>
            </a:r>
            <a:r>
              <a:rPr kumimoji="1" lang="zh-CN" altLang="en-US" dirty="0">
                <a:solidFill>
                  <a:srgbClr val="FF0000"/>
                </a:solidFill>
              </a:rPr>
              <a:t>无认证功能</a:t>
            </a:r>
            <a:endParaRPr kumimoji="1" lang="en-US" altLang="zh-CN" dirty="0">
              <a:solidFill>
                <a:srgbClr val="FF0000"/>
              </a:solidFill>
            </a:endParaRPr>
          </a:p>
          <a:p>
            <a:pPr>
              <a:lnSpc>
                <a:spcPct val="120000"/>
              </a:lnSpc>
            </a:pPr>
            <a:r>
              <a:rPr kumimoji="1" lang="en-US" altLang="zh-CN" sz="2900" dirty="0"/>
              <a:t>PPP</a:t>
            </a:r>
            <a:r>
              <a:rPr kumimoji="1" lang="zh-CN" altLang="en-US" sz="2900" dirty="0"/>
              <a:t>优点</a:t>
            </a:r>
            <a:endParaRPr kumimoji="1" lang="en-US" altLang="zh-CN" sz="2900" dirty="0"/>
          </a:p>
          <a:p>
            <a:pPr lvl="1">
              <a:lnSpc>
                <a:spcPct val="120000"/>
              </a:lnSpc>
            </a:pPr>
            <a:r>
              <a:rPr kumimoji="1" lang="zh-CN" altLang="en-US" sz="2500" dirty="0"/>
              <a:t>原理简单</a:t>
            </a:r>
            <a:endParaRPr kumimoji="1" lang="en-US" altLang="zh-CN" sz="2500" dirty="0"/>
          </a:p>
          <a:p>
            <a:pPr lvl="1">
              <a:lnSpc>
                <a:spcPct val="120000"/>
              </a:lnSpc>
            </a:pPr>
            <a:r>
              <a:rPr kumimoji="1" lang="zh-CN" altLang="en-US" sz="2500" dirty="0"/>
              <a:t>安全性高：</a:t>
            </a:r>
            <a:r>
              <a:rPr kumimoji="1" lang="zh-CN" altLang="en-US" sz="2500" dirty="0">
                <a:solidFill>
                  <a:srgbClr val="FF0000"/>
                </a:solidFill>
              </a:rPr>
              <a:t>点对点</a:t>
            </a:r>
            <a:r>
              <a:rPr kumimoji="1" lang="zh-CN" altLang="en-US" sz="2500" dirty="0"/>
              <a:t>信道，提供</a:t>
            </a:r>
            <a:r>
              <a:rPr kumimoji="1" lang="zh-CN" altLang="en-US" sz="2500" dirty="0">
                <a:solidFill>
                  <a:srgbClr val="FF0000"/>
                </a:solidFill>
              </a:rPr>
              <a:t>认证</a:t>
            </a:r>
            <a:r>
              <a:rPr kumimoji="1" lang="zh-CN" altLang="en-US" sz="2500" dirty="0"/>
              <a:t>机制</a:t>
            </a:r>
            <a:endParaRPr kumimoji="1" lang="en-US" altLang="zh-CN" sz="2500" dirty="0"/>
          </a:p>
          <a:p>
            <a:pPr lvl="1">
              <a:lnSpc>
                <a:spcPct val="120000"/>
              </a:lnSpc>
            </a:pPr>
            <a:r>
              <a:rPr kumimoji="1" lang="zh-CN" altLang="en-US" sz="2500" dirty="0"/>
              <a:t>提供良好的</a:t>
            </a:r>
            <a:r>
              <a:rPr kumimoji="1" lang="zh-CN" altLang="en-US" sz="2500" dirty="0">
                <a:solidFill>
                  <a:srgbClr val="FF0000"/>
                </a:solidFill>
              </a:rPr>
              <a:t>访问控制</a:t>
            </a:r>
            <a:r>
              <a:rPr kumimoji="1" lang="zh-CN" altLang="en-US" sz="2500" dirty="0"/>
              <a:t>和</a:t>
            </a:r>
            <a:r>
              <a:rPr kumimoji="1" lang="zh-CN" altLang="en-US" sz="2500" dirty="0">
                <a:solidFill>
                  <a:srgbClr val="FF0000"/>
                </a:solidFill>
              </a:rPr>
              <a:t>计费功能</a:t>
            </a:r>
            <a:endParaRPr kumimoji="1" lang="en-US" altLang="zh-CN" dirty="0">
              <a:solidFill>
                <a:srgbClr val="FF0000"/>
              </a:solidFill>
            </a:endParaRPr>
          </a:p>
        </p:txBody>
      </p:sp>
      <p:sp>
        <p:nvSpPr>
          <p:cNvPr id="4" name="灯片编号占位符 3">
            <a:extLst>
              <a:ext uri="{FF2B5EF4-FFF2-40B4-BE49-F238E27FC236}">
                <a16:creationId xmlns:a16="http://schemas.microsoft.com/office/drawing/2014/main" id="{FFE5B1FA-3368-EB45-8FBE-015EE86958F7}"/>
              </a:ext>
            </a:extLst>
          </p:cNvPr>
          <p:cNvSpPr>
            <a:spLocks noGrp="1"/>
          </p:cNvSpPr>
          <p:nvPr>
            <p:ph type="sldNum" sz="quarter" idx="12"/>
          </p:nvPr>
        </p:nvSpPr>
        <p:spPr/>
        <p:txBody>
          <a:bodyPr/>
          <a:lstStyle/>
          <a:p>
            <a:fld id="{8D4D1E41-7A09-AB4A-A4E1-09765ADA2698}" type="slidenum">
              <a:rPr kumimoji="1" lang="zh-CN" altLang="en-US" smtClean="0"/>
              <a:t>156</a:t>
            </a:fld>
            <a:endParaRPr kumimoji="1" lang="zh-CN" altLang="en-US" dirty="0"/>
          </a:p>
        </p:txBody>
      </p:sp>
      <p:sp>
        <p:nvSpPr>
          <p:cNvPr id="5" name="文本框 4">
            <a:extLst>
              <a:ext uri="{FF2B5EF4-FFF2-40B4-BE49-F238E27FC236}">
                <a16:creationId xmlns:a16="http://schemas.microsoft.com/office/drawing/2014/main" id="{3DB9DB75-876E-470C-B9AA-D494D99A61BA}"/>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Tree>
    <p:extLst>
      <p:ext uri="{BB962C8B-B14F-4D97-AF65-F5344CB8AC3E}">
        <p14:creationId xmlns:p14="http://schemas.microsoft.com/office/powerpoint/2010/main" val="2341526448"/>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5B5E7D-8FD9-434B-BAC9-4A5D465A85EA}"/>
              </a:ext>
            </a:extLst>
          </p:cNvPr>
          <p:cNvSpPr>
            <a:spLocks noGrp="1"/>
          </p:cNvSpPr>
          <p:nvPr>
            <p:ph type="title"/>
          </p:nvPr>
        </p:nvSpPr>
        <p:spPr/>
        <p:txBody>
          <a:bodyPr/>
          <a:lstStyle/>
          <a:p>
            <a:r>
              <a:rPr kumimoji="1" lang="en-US" altLang="zh-CN" dirty="0" err="1"/>
              <a:t>PPPoE</a:t>
            </a:r>
            <a:r>
              <a:rPr kumimoji="1" lang="zh-CN" altLang="en-US" dirty="0"/>
              <a:t>概述</a:t>
            </a:r>
          </a:p>
        </p:txBody>
      </p:sp>
      <p:sp>
        <p:nvSpPr>
          <p:cNvPr id="3" name="内容占位符 2">
            <a:extLst>
              <a:ext uri="{FF2B5EF4-FFF2-40B4-BE49-F238E27FC236}">
                <a16:creationId xmlns:a16="http://schemas.microsoft.com/office/drawing/2014/main" id="{F94632E6-2D1A-4745-B0F4-BE23638BE196}"/>
              </a:ext>
            </a:extLst>
          </p:cNvPr>
          <p:cNvSpPr>
            <a:spLocks noGrp="1"/>
          </p:cNvSpPr>
          <p:nvPr>
            <p:ph idx="1"/>
          </p:nvPr>
        </p:nvSpPr>
        <p:spPr>
          <a:xfrm>
            <a:off x="838200" y="1417272"/>
            <a:ext cx="10515600" cy="4057405"/>
          </a:xfrm>
        </p:spPr>
        <p:txBody>
          <a:bodyPr>
            <a:noAutofit/>
          </a:bodyPr>
          <a:lstStyle/>
          <a:p>
            <a:pPr>
              <a:lnSpc>
                <a:spcPct val="150000"/>
              </a:lnSpc>
            </a:pPr>
            <a:r>
              <a:rPr kumimoji="1" lang="en-US" altLang="zh-CN" dirty="0"/>
              <a:t>PPPoE</a:t>
            </a:r>
            <a:r>
              <a:rPr kumimoji="1" lang="zh-CN" altLang="en-US" dirty="0"/>
              <a:t>（</a:t>
            </a:r>
            <a:r>
              <a:rPr kumimoji="1" lang="en-US" altLang="zh-CN" dirty="0"/>
              <a:t>Point-to-Point Protocol over Ethernet</a:t>
            </a:r>
            <a:r>
              <a:rPr kumimoji="1" lang="zh-CN" altLang="en-US" dirty="0"/>
              <a:t>）</a:t>
            </a:r>
            <a:endParaRPr kumimoji="1" lang="en-US" altLang="zh-CN" dirty="0"/>
          </a:p>
          <a:p>
            <a:pPr lvl="1">
              <a:lnSpc>
                <a:spcPct val="150000"/>
              </a:lnSpc>
            </a:pPr>
            <a:r>
              <a:rPr lang="zh-CN" altLang="en-US" dirty="0"/>
              <a:t>提供在以太网链路上的</a:t>
            </a:r>
            <a:r>
              <a:rPr lang="en-US" altLang="zh-CN" dirty="0"/>
              <a:t>PPP</a:t>
            </a:r>
            <a:r>
              <a:rPr lang="zh-CN" altLang="en-US" dirty="0"/>
              <a:t>连接</a:t>
            </a:r>
            <a:endParaRPr lang="en-US" altLang="zh-CN" dirty="0"/>
          </a:p>
          <a:p>
            <a:pPr lvl="1">
              <a:lnSpc>
                <a:spcPct val="150000"/>
              </a:lnSpc>
            </a:pPr>
            <a:r>
              <a:rPr kumimoji="1" lang="zh-CN" altLang="en-US" dirty="0"/>
              <a:t>实现了传统以太网不能提供的身份验证、加密，以及压缩等功能</a:t>
            </a:r>
            <a:endParaRPr kumimoji="1" lang="en-US" altLang="zh-CN" dirty="0"/>
          </a:p>
          <a:p>
            <a:pPr lvl="1">
              <a:lnSpc>
                <a:spcPct val="150000"/>
              </a:lnSpc>
            </a:pPr>
            <a:r>
              <a:rPr kumimoji="1" lang="zh-CN" altLang="en-US" dirty="0"/>
              <a:t>实现基于用户的访问控制、计费、业务类型分类等，运营商广泛支持</a:t>
            </a:r>
            <a:endParaRPr kumimoji="1" lang="en-US" altLang="zh-CN" dirty="0"/>
          </a:p>
          <a:p>
            <a:pPr lvl="1">
              <a:lnSpc>
                <a:spcPct val="150000"/>
              </a:lnSpc>
            </a:pPr>
            <a:r>
              <a:rPr lang="en-US" altLang="zh-CN" dirty="0" err="1"/>
              <a:t>PPPoE</a:t>
            </a:r>
            <a:r>
              <a:rPr lang="zh-CN" altLang="en-US" dirty="0"/>
              <a:t>使用</a:t>
            </a:r>
            <a:r>
              <a:rPr lang="en-US" altLang="zh-CN" dirty="0"/>
              <a:t>Client/Server</a:t>
            </a:r>
            <a:r>
              <a:rPr lang="zh-CN" altLang="en-US" dirty="0"/>
              <a:t>模型，</a:t>
            </a:r>
            <a:r>
              <a:rPr kumimoji="1" lang="zh-CN" altLang="en-US" dirty="0">
                <a:solidFill>
                  <a:srgbClr val="FF0000"/>
                </a:solidFill>
              </a:rPr>
              <a:t>服务器通常是接入服务器</a:t>
            </a:r>
            <a:endParaRPr kumimoji="1" lang="en-US" altLang="zh-CN" dirty="0"/>
          </a:p>
        </p:txBody>
      </p:sp>
      <p:sp>
        <p:nvSpPr>
          <p:cNvPr id="4" name="灯片编号占位符 3">
            <a:extLst>
              <a:ext uri="{FF2B5EF4-FFF2-40B4-BE49-F238E27FC236}">
                <a16:creationId xmlns:a16="http://schemas.microsoft.com/office/drawing/2014/main" id="{FFE5B1FA-3368-EB45-8FBE-015EE86958F7}"/>
              </a:ext>
            </a:extLst>
          </p:cNvPr>
          <p:cNvSpPr>
            <a:spLocks noGrp="1"/>
          </p:cNvSpPr>
          <p:nvPr>
            <p:ph type="sldNum" sz="quarter" idx="12"/>
          </p:nvPr>
        </p:nvSpPr>
        <p:spPr/>
        <p:txBody>
          <a:bodyPr/>
          <a:lstStyle/>
          <a:p>
            <a:fld id="{8D4D1E41-7A09-AB4A-A4E1-09765ADA2698}" type="slidenum">
              <a:rPr kumimoji="1" lang="zh-CN" altLang="en-US" smtClean="0"/>
              <a:t>157</a:t>
            </a:fld>
            <a:endParaRPr kumimoji="1" lang="zh-CN" altLang="en-US" dirty="0"/>
          </a:p>
        </p:txBody>
      </p:sp>
      <p:sp>
        <p:nvSpPr>
          <p:cNvPr id="5" name="文本框 4">
            <a:extLst>
              <a:ext uri="{FF2B5EF4-FFF2-40B4-BE49-F238E27FC236}">
                <a16:creationId xmlns:a16="http://schemas.microsoft.com/office/drawing/2014/main" id="{D71552BB-7DB8-49DB-A926-D73DCB06526E}"/>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Tree>
    <p:extLst>
      <p:ext uri="{BB962C8B-B14F-4D97-AF65-F5344CB8AC3E}">
        <p14:creationId xmlns:p14="http://schemas.microsoft.com/office/powerpoint/2010/main" val="2451404935"/>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5B5E7D-8FD9-434B-BAC9-4A5D465A85EA}"/>
              </a:ext>
            </a:extLst>
          </p:cNvPr>
          <p:cNvSpPr>
            <a:spLocks noGrp="1"/>
          </p:cNvSpPr>
          <p:nvPr>
            <p:ph type="title"/>
          </p:nvPr>
        </p:nvSpPr>
        <p:spPr/>
        <p:txBody>
          <a:bodyPr/>
          <a:lstStyle/>
          <a:p>
            <a:r>
              <a:rPr kumimoji="1" lang="en-US" altLang="zh-CN" dirty="0" err="1"/>
              <a:t>PPPoE</a:t>
            </a:r>
            <a:r>
              <a:rPr kumimoji="1" lang="zh-CN" altLang="en-US" dirty="0"/>
              <a:t>组网方式</a:t>
            </a:r>
          </a:p>
        </p:txBody>
      </p:sp>
      <p:sp>
        <p:nvSpPr>
          <p:cNvPr id="3" name="内容占位符 2">
            <a:extLst>
              <a:ext uri="{FF2B5EF4-FFF2-40B4-BE49-F238E27FC236}">
                <a16:creationId xmlns:a16="http://schemas.microsoft.com/office/drawing/2014/main" id="{F94632E6-2D1A-4745-B0F4-BE23638BE196}"/>
              </a:ext>
            </a:extLst>
          </p:cNvPr>
          <p:cNvSpPr>
            <a:spLocks noGrp="1"/>
          </p:cNvSpPr>
          <p:nvPr>
            <p:ph idx="1"/>
          </p:nvPr>
        </p:nvSpPr>
        <p:spPr>
          <a:xfrm>
            <a:off x="745984" y="1383040"/>
            <a:ext cx="5370081" cy="4973309"/>
          </a:xfrm>
        </p:spPr>
        <p:txBody>
          <a:bodyPr>
            <a:normAutofit/>
          </a:bodyPr>
          <a:lstStyle/>
          <a:p>
            <a:pPr>
              <a:lnSpc>
                <a:spcPct val="120000"/>
              </a:lnSpc>
            </a:pPr>
            <a:r>
              <a:rPr kumimoji="1" lang="zh-CN" altLang="en-US" dirty="0"/>
              <a:t>组网方式</a:t>
            </a:r>
            <a:r>
              <a:rPr kumimoji="1" lang="en-US" altLang="zh-CN" dirty="0"/>
              <a:t>1</a:t>
            </a:r>
          </a:p>
          <a:p>
            <a:pPr lvl="1">
              <a:lnSpc>
                <a:spcPct val="150000"/>
              </a:lnSpc>
            </a:pPr>
            <a:r>
              <a:rPr kumimoji="1" lang="zh-CN" altLang="en-US" dirty="0"/>
              <a:t>设备之间建立 </a:t>
            </a:r>
            <a:r>
              <a:rPr kumimoji="1" lang="en-US" altLang="zh-CN" dirty="0"/>
              <a:t>PPP </a:t>
            </a:r>
            <a:r>
              <a:rPr kumimoji="1" lang="zh-CN" altLang="en-US" dirty="0"/>
              <a:t>会话，所有主机通过同一个 </a:t>
            </a:r>
            <a:r>
              <a:rPr kumimoji="1" lang="en-US" altLang="zh-CN" dirty="0"/>
              <a:t>PPP </a:t>
            </a:r>
            <a:r>
              <a:rPr kumimoji="1" lang="zh-CN" altLang="en-US" dirty="0"/>
              <a:t>会话传送数据，主机上不用安装 </a:t>
            </a:r>
            <a:r>
              <a:rPr kumimoji="1" lang="en-US" altLang="zh-CN" dirty="0" err="1"/>
              <a:t>PPPoE</a:t>
            </a:r>
            <a:r>
              <a:rPr kumimoji="1" lang="en-US" altLang="zh-CN" dirty="0"/>
              <a:t> </a:t>
            </a:r>
            <a:r>
              <a:rPr kumimoji="1" lang="zh-CN" altLang="en-US" dirty="0"/>
              <a:t>客户端拨号软件，一般是一个机构共用一个账号</a:t>
            </a:r>
            <a:endParaRPr kumimoji="1" lang="en-US" altLang="zh-CN" dirty="0"/>
          </a:p>
          <a:p>
            <a:pPr lvl="1">
              <a:lnSpc>
                <a:spcPct val="150000"/>
              </a:lnSpc>
            </a:pPr>
            <a:r>
              <a:rPr kumimoji="1" lang="en-US" altLang="zh-CN" dirty="0" err="1"/>
              <a:t>PPPoE</a:t>
            </a:r>
            <a:r>
              <a:rPr kumimoji="1" lang="en-US" altLang="zh-CN" dirty="0"/>
              <a:t> Client </a:t>
            </a:r>
            <a:r>
              <a:rPr kumimoji="1" lang="zh-CN" altLang="en-US" dirty="0"/>
              <a:t>位于机构内</a:t>
            </a:r>
            <a:endParaRPr kumimoji="1" lang="en-US" altLang="zh-CN" dirty="0"/>
          </a:p>
          <a:p>
            <a:pPr lvl="1">
              <a:lnSpc>
                <a:spcPct val="150000"/>
              </a:lnSpc>
            </a:pPr>
            <a:r>
              <a:rPr kumimoji="1" lang="en-US" altLang="zh-CN" dirty="0" err="1"/>
              <a:t>PPPoE</a:t>
            </a:r>
            <a:r>
              <a:rPr kumimoji="1" lang="en-US" altLang="zh-CN" dirty="0"/>
              <a:t> Server </a:t>
            </a:r>
            <a:r>
              <a:rPr kumimoji="1" lang="zh-CN" altLang="en-US" dirty="0"/>
              <a:t>是运营商的设备</a:t>
            </a:r>
            <a:endParaRPr kumimoji="1" lang="en-US" altLang="zh-CN" dirty="0"/>
          </a:p>
          <a:p>
            <a:pPr lvl="1">
              <a:lnSpc>
                <a:spcPct val="120000"/>
              </a:lnSpc>
            </a:pPr>
            <a:endParaRPr kumimoji="1" lang="zh-CN" altLang="en-US" sz="2000" dirty="0"/>
          </a:p>
        </p:txBody>
      </p:sp>
      <p:sp>
        <p:nvSpPr>
          <p:cNvPr id="4" name="灯片编号占位符 3">
            <a:extLst>
              <a:ext uri="{FF2B5EF4-FFF2-40B4-BE49-F238E27FC236}">
                <a16:creationId xmlns:a16="http://schemas.microsoft.com/office/drawing/2014/main" id="{FFE5B1FA-3368-EB45-8FBE-015EE86958F7}"/>
              </a:ext>
            </a:extLst>
          </p:cNvPr>
          <p:cNvSpPr>
            <a:spLocks noGrp="1"/>
          </p:cNvSpPr>
          <p:nvPr>
            <p:ph type="sldNum" sz="quarter" idx="12"/>
          </p:nvPr>
        </p:nvSpPr>
        <p:spPr/>
        <p:txBody>
          <a:bodyPr/>
          <a:lstStyle/>
          <a:p>
            <a:fld id="{8D4D1E41-7A09-AB4A-A4E1-09765ADA2698}" type="slidenum">
              <a:rPr kumimoji="1" lang="zh-CN" altLang="en-US" smtClean="0"/>
              <a:t>158</a:t>
            </a:fld>
            <a:endParaRPr kumimoji="1" lang="zh-CN" altLang="en-US" dirty="0"/>
          </a:p>
        </p:txBody>
      </p:sp>
      <p:pic>
        <p:nvPicPr>
          <p:cNvPr id="6" name="图片 5">
            <a:extLst>
              <a:ext uri="{FF2B5EF4-FFF2-40B4-BE49-F238E27FC236}">
                <a16:creationId xmlns:a16="http://schemas.microsoft.com/office/drawing/2014/main" id="{BBC08C8D-A1A9-4558-83EA-C180F0DA7272}"/>
              </a:ext>
            </a:extLst>
          </p:cNvPr>
          <p:cNvPicPr>
            <a:picLocks noChangeAspect="1"/>
          </p:cNvPicPr>
          <p:nvPr/>
        </p:nvPicPr>
        <p:blipFill>
          <a:blip r:embed="rId3"/>
          <a:stretch>
            <a:fillRect/>
          </a:stretch>
        </p:blipFill>
        <p:spPr>
          <a:xfrm>
            <a:off x="6296074" y="1533634"/>
            <a:ext cx="5895926" cy="4533293"/>
          </a:xfrm>
          <a:prstGeom prst="rect">
            <a:avLst/>
          </a:prstGeom>
        </p:spPr>
      </p:pic>
      <p:sp>
        <p:nvSpPr>
          <p:cNvPr id="7" name="文本框 6">
            <a:extLst>
              <a:ext uri="{FF2B5EF4-FFF2-40B4-BE49-F238E27FC236}">
                <a16:creationId xmlns:a16="http://schemas.microsoft.com/office/drawing/2014/main" id="{7E05C4F4-92E0-4D7D-83BA-833D70DC30C9}"/>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Tree>
    <p:extLst>
      <p:ext uri="{BB962C8B-B14F-4D97-AF65-F5344CB8AC3E}">
        <p14:creationId xmlns:p14="http://schemas.microsoft.com/office/powerpoint/2010/main" val="1269425465"/>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5B5E7D-8FD9-434B-BAC9-4A5D465A85EA}"/>
              </a:ext>
            </a:extLst>
          </p:cNvPr>
          <p:cNvSpPr>
            <a:spLocks noGrp="1"/>
          </p:cNvSpPr>
          <p:nvPr>
            <p:ph type="title"/>
          </p:nvPr>
        </p:nvSpPr>
        <p:spPr/>
        <p:txBody>
          <a:bodyPr/>
          <a:lstStyle/>
          <a:p>
            <a:r>
              <a:rPr kumimoji="1" lang="en-US" altLang="zh-CN" dirty="0" err="1"/>
              <a:t>PPPoE</a:t>
            </a:r>
            <a:r>
              <a:rPr kumimoji="1" lang="zh-CN" altLang="en-US" dirty="0"/>
              <a:t>组网方式</a:t>
            </a:r>
          </a:p>
        </p:txBody>
      </p:sp>
      <p:sp>
        <p:nvSpPr>
          <p:cNvPr id="3" name="内容占位符 2">
            <a:extLst>
              <a:ext uri="{FF2B5EF4-FFF2-40B4-BE49-F238E27FC236}">
                <a16:creationId xmlns:a16="http://schemas.microsoft.com/office/drawing/2014/main" id="{F94632E6-2D1A-4745-B0F4-BE23638BE196}"/>
              </a:ext>
            </a:extLst>
          </p:cNvPr>
          <p:cNvSpPr>
            <a:spLocks noGrp="1"/>
          </p:cNvSpPr>
          <p:nvPr>
            <p:ph idx="1"/>
          </p:nvPr>
        </p:nvSpPr>
        <p:spPr>
          <a:xfrm>
            <a:off x="838201" y="1417272"/>
            <a:ext cx="5539154" cy="4760790"/>
          </a:xfrm>
        </p:spPr>
        <p:txBody>
          <a:bodyPr>
            <a:normAutofit/>
          </a:bodyPr>
          <a:lstStyle/>
          <a:p>
            <a:pPr>
              <a:lnSpc>
                <a:spcPct val="120000"/>
              </a:lnSpc>
            </a:pPr>
            <a:r>
              <a:rPr kumimoji="1" lang="zh-CN" altLang="en-US" dirty="0"/>
              <a:t>组网方式</a:t>
            </a:r>
            <a:r>
              <a:rPr kumimoji="1" lang="en-US" altLang="zh-CN" dirty="0"/>
              <a:t>2</a:t>
            </a:r>
          </a:p>
          <a:p>
            <a:pPr lvl="1">
              <a:lnSpc>
                <a:spcPct val="150000"/>
              </a:lnSpc>
            </a:pPr>
            <a:r>
              <a:rPr kumimoji="1" lang="en-US" altLang="zh-CN" dirty="0"/>
              <a:t>PPP </a:t>
            </a:r>
            <a:r>
              <a:rPr kumimoji="1" lang="zh-CN" altLang="en-US" dirty="0"/>
              <a:t>会话建立在 主机和运营商的路由器之间，为每一个主机建立一个 </a:t>
            </a:r>
            <a:r>
              <a:rPr kumimoji="1" lang="en-US" altLang="zh-CN" dirty="0"/>
              <a:t>PPP </a:t>
            </a:r>
            <a:r>
              <a:rPr kumimoji="1" lang="zh-CN" altLang="en-US" dirty="0"/>
              <a:t>会话，每个主机都是 </a:t>
            </a:r>
            <a:r>
              <a:rPr kumimoji="1" lang="en-US" altLang="zh-CN" dirty="0" err="1"/>
              <a:t>PPPoE</a:t>
            </a:r>
            <a:r>
              <a:rPr kumimoji="1" lang="en-US" altLang="zh-CN" dirty="0"/>
              <a:t> Client</a:t>
            </a:r>
            <a:r>
              <a:rPr kumimoji="1" lang="zh-CN" altLang="en-US" dirty="0"/>
              <a:t>，每个主机有一个帐号，方便运营商对用户进行计费和控制</a:t>
            </a:r>
            <a:endParaRPr kumimoji="1" lang="en-US" altLang="zh-CN" dirty="0"/>
          </a:p>
          <a:p>
            <a:pPr lvl="1">
              <a:lnSpc>
                <a:spcPct val="150000"/>
              </a:lnSpc>
            </a:pPr>
            <a:r>
              <a:rPr kumimoji="1" lang="zh-CN" altLang="en-US" dirty="0"/>
              <a:t>主机上需要安装</a:t>
            </a:r>
            <a:r>
              <a:rPr kumimoji="1" lang="en-US" altLang="zh-CN" dirty="0" err="1"/>
              <a:t>PPPoE</a:t>
            </a:r>
            <a:r>
              <a:rPr kumimoji="1" lang="en-US" altLang="zh-CN" dirty="0"/>
              <a:t> </a:t>
            </a:r>
            <a:r>
              <a:rPr kumimoji="1" lang="zh-CN" altLang="en-US" dirty="0"/>
              <a:t>客户端软件</a:t>
            </a:r>
          </a:p>
        </p:txBody>
      </p:sp>
      <p:sp>
        <p:nvSpPr>
          <p:cNvPr id="4" name="灯片编号占位符 3">
            <a:extLst>
              <a:ext uri="{FF2B5EF4-FFF2-40B4-BE49-F238E27FC236}">
                <a16:creationId xmlns:a16="http://schemas.microsoft.com/office/drawing/2014/main" id="{FFE5B1FA-3368-EB45-8FBE-015EE86958F7}"/>
              </a:ext>
            </a:extLst>
          </p:cNvPr>
          <p:cNvSpPr>
            <a:spLocks noGrp="1"/>
          </p:cNvSpPr>
          <p:nvPr>
            <p:ph type="sldNum" sz="quarter" idx="12"/>
          </p:nvPr>
        </p:nvSpPr>
        <p:spPr/>
        <p:txBody>
          <a:bodyPr/>
          <a:lstStyle/>
          <a:p>
            <a:fld id="{8D4D1E41-7A09-AB4A-A4E1-09765ADA2698}" type="slidenum">
              <a:rPr kumimoji="1" lang="zh-CN" altLang="en-US" smtClean="0"/>
              <a:t>159</a:t>
            </a:fld>
            <a:endParaRPr kumimoji="1" lang="zh-CN" altLang="en-US" dirty="0"/>
          </a:p>
        </p:txBody>
      </p:sp>
      <p:pic>
        <p:nvPicPr>
          <p:cNvPr id="7" name="图片 6">
            <a:extLst>
              <a:ext uri="{FF2B5EF4-FFF2-40B4-BE49-F238E27FC236}">
                <a16:creationId xmlns:a16="http://schemas.microsoft.com/office/drawing/2014/main" id="{EA114FA2-CDFE-450D-ABAB-FA9387096758}"/>
              </a:ext>
            </a:extLst>
          </p:cNvPr>
          <p:cNvPicPr>
            <a:picLocks noChangeAspect="1"/>
          </p:cNvPicPr>
          <p:nvPr/>
        </p:nvPicPr>
        <p:blipFill>
          <a:blip r:embed="rId3"/>
          <a:stretch>
            <a:fillRect/>
          </a:stretch>
        </p:blipFill>
        <p:spPr>
          <a:xfrm>
            <a:off x="6614740" y="1961791"/>
            <a:ext cx="5577260" cy="2848601"/>
          </a:xfrm>
          <a:prstGeom prst="rect">
            <a:avLst/>
          </a:prstGeom>
        </p:spPr>
      </p:pic>
      <p:sp>
        <p:nvSpPr>
          <p:cNvPr id="6" name="文本框 5">
            <a:extLst>
              <a:ext uri="{FF2B5EF4-FFF2-40B4-BE49-F238E27FC236}">
                <a16:creationId xmlns:a16="http://schemas.microsoft.com/office/drawing/2014/main" id="{BABAE70C-671D-4CC1-AA01-564863FF759E}"/>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Tree>
    <p:extLst>
      <p:ext uri="{BB962C8B-B14F-4D97-AF65-F5344CB8AC3E}">
        <p14:creationId xmlns:p14="http://schemas.microsoft.com/office/powerpoint/2010/main" val="322863331"/>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9DBBC32-6855-3B4C-A419-59E650207471}"/>
              </a:ext>
            </a:extLst>
          </p:cNvPr>
          <p:cNvSpPr>
            <a:spLocks noGrp="1"/>
          </p:cNvSpPr>
          <p:nvPr>
            <p:ph type="title"/>
          </p:nvPr>
        </p:nvSpPr>
        <p:spPr/>
        <p:txBody>
          <a:bodyPr/>
          <a:lstStyle/>
          <a:p>
            <a:r>
              <a:rPr kumimoji="1" lang="en-US" altLang="zh-CN" dirty="0" err="1"/>
              <a:t>PPPoE</a:t>
            </a:r>
            <a:r>
              <a:rPr kumimoji="1" lang="zh-CN" altLang="en-US" dirty="0"/>
              <a:t>报文格式</a:t>
            </a:r>
          </a:p>
        </p:txBody>
      </p:sp>
      <p:sp>
        <p:nvSpPr>
          <p:cNvPr id="3" name="内容占位符 2">
            <a:extLst>
              <a:ext uri="{FF2B5EF4-FFF2-40B4-BE49-F238E27FC236}">
                <a16:creationId xmlns:a16="http://schemas.microsoft.com/office/drawing/2014/main" id="{BC1704A9-D724-AC4E-B209-1FDBE1F4743B}"/>
              </a:ext>
            </a:extLst>
          </p:cNvPr>
          <p:cNvSpPr>
            <a:spLocks noGrp="1"/>
          </p:cNvSpPr>
          <p:nvPr>
            <p:ph idx="1"/>
          </p:nvPr>
        </p:nvSpPr>
        <p:spPr>
          <a:xfrm>
            <a:off x="838200" y="1510758"/>
            <a:ext cx="10515600" cy="528003"/>
          </a:xfrm>
        </p:spPr>
        <p:txBody>
          <a:bodyPr/>
          <a:lstStyle/>
          <a:p>
            <a:r>
              <a:rPr kumimoji="1" lang="en-US" altLang="zh-CN" dirty="0" err="1"/>
              <a:t>PPPoE</a:t>
            </a:r>
            <a:r>
              <a:rPr kumimoji="1" lang="zh-CN" altLang="en-US" dirty="0"/>
              <a:t>报文格式及</a:t>
            </a:r>
            <a:r>
              <a:rPr kumimoji="1" lang="en-US" altLang="zh-CN" dirty="0"/>
              <a:t>Ethernet</a:t>
            </a:r>
            <a:r>
              <a:rPr kumimoji="1" lang="zh-CN" altLang="en-US" dirty="0"/>
              <a:t>帧封装</a:t>
            </a:r>
          </a:p>
        </p:txBody>
      </p:sp>
      <p:sp>
        <p:nvSpPr>
          <p:cNvPr id="7" name="灯片编号占位符 6">
            <a:extLst>
              <a:ext uri="{FF2B5EF4-FFF2-40B4-BE49-F238E27FC236}">
                <a16:creationId xmlns:a16="http://schemas.microsoft.com/office/drawing/2014/main" id="{F7B7CCDF-45A7-454A-BDB7-F2387BB7506C}"/>
              </a:ext>
            </a:extLst>
          </p:cNvPr>
          <p:cNvSpPr>
            <a:spLocks noGrp="1"/>
          </p:cNvSpPr>
          <p:nvPr>
            <p:ph type="sldNum" sz="quarter" idx="12"/>
          </p:nvPr>
        </p:nvSpPr>
        <p:spPr/>
        <p:txBody>
          <a:bodyPr/>
          <a:lstStyle/>
          <a:p>
            <a:fld id="{8D4D1E41-7A09-AB4A-A4E1-09765ADA2698}" type="slidenum">
              <a:rPr kumimoji="1" lang="zh-CN" altLang="en-US" smtClean="0"/>
              <a:t>160</a:t>
            </a:fld>
            <a:endParaRPr kumimoji="1" lang="zh-CN" altLang="en-US" dirty="0"/>
          </a:p>
        </p:txBody>
      </p:sp>
      <p:sp>
        <p:nvSpPr>
          <p:cNvPr id="6" name="文本框 5">
            <a:extLst>
              <a:ext uri="{FF2B5EF4-FFF2-40B4-BE49-F238E27FC236}">
                <a16:creationId xmlns:a16="http://schemas.microsoft.com/office/drawing/2014/main" id="{111FC33B-9F97-489C-A4FA-BE996DA85638}"/>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grpSp>
        <p:nvGrpSpPr>
          <p:cNvPr id="79" name="组合 78">
            <a:extLst>
              <a:ext uri="{FF2B5EF4-FFF2-40B4-BE49-F238E27FC236}">
                <a16:creationId xmlns:a16="http://schemas.microsoft.com/office/drawing/2014/main" id="{CA054FB0-CF6B-4FD4-95A0-81475044A1F0}"/>
              </a:ext>
            </a:extLst>
          </p:cNvPr>
          <p:cNvGrpSpPr/>
          <p:nvPr/>
        </p:nvGrpSpPr>
        <p:grpSpPr>
          <a:xfrm>
            <a:off x="1886864" y="3982003"/>
            <a:ext cx="7885707" cy="981156"/>
            <a:chOff x="1343814" y="1020630"/>
            <a:chExt cx="8891095" cy="1126825"/>
          </a:xfrm>
        </p:grpSpPr>
        <p:sp>
          <p:nvSpPr>
            <p:cNvPr id="103" name="Rectangle 18">
              <a:extLst>
                <a:ext uri="{FF2B5EF4-FFF2-40B4-BE49-F238E27FC236}">
                  <a16:creationId xmlns:a16="http://schemas.microsoft.com/office/drawing/2014/main" id="{DDC85BDB-AFF9-4A6A-ADAB-A29A2D1983AB}"/>
                </a:ext>
              </a:extLst>
            </p:cNvPr>
            <p:cNvSpPr>
              <a:spLocks noChangeArrowheads="1"/>
            </p:cNvSpPr>
            <p:nvPr/>
          </p:nvSpPr>
          <p:spPr bwMode="auto">
            <a:xfrm>
              <a:off x="1901733" y="1049205"/>
              <a:ext cx="8333176" cy="566737"/>
            </a:xfrm>
            <a:prstGeom prst="rect">
              <a:avLst/>
            </a:prstGeom>
            <a:solidFill>
              <a:srgbClr val="F4D0FF"/>
            </a:solidFill>
            <a:ln w="9525">
              <a:solidFill>
                <a:schemeClr val="accent1"/>
              </a:solidFill>
              <a:miter lim="800000"/>
              <a:headEnd/>
              <a:tailEnd/>
            </a:ln>
            <a:effectLst>
              <a:outerShdw dist="35921" dir="2700000" algn="ctr" rotWithShape="0">
                <a:schemeClr val="bg2"/>
              </a:outerShdw>
            </a:effectLst>
          </p:spPr>
          <p:txBody>
            <a:bodyPr wrap="none" anchor="ctr"/>
            <a:lstStyle/>
            <a:p>
              <a:pPr algn="ctr"/>
              <a:endParaRPr kumimoji="1" lang="zh-CN" altLang="zh-CN" sz="2000">
                <a:latin typeface="微软雅黑" panose="020B0503020204020204" pitchFamily="34" charset="-122"/>
                <a:ea typeface="微软雅黑" panose="020B0503020204020204" pitchFamily="34" charset="-122"/>
              </a:endParaRPr>
            </a:p>
          </p:txBody>
        </p:sp>
        <p:sp>
          <p:nvSpPr>
            <p:cNvPr id="104" name="Line 20">
              <a:extLst>
                <a:ext uri="{FF2B5EF4-FFF2-40B4-BE49-F238E27FC236}">
                  <a16:creationId xmlns:a16="http://schemas.microsoft.com/office/drawing/2014/main" id="{FE665488-F905-4046-A8A1-B6EB03F27F9B}"/>
                </a:ext>
              </a:extLst>
            </p:cNvPr>
            <p:cNvSpPr>
              <a:spLocks noChangeShapeType="1"/>
            </p:cNvSpPr>
            <p:nvPr/>
          </p:nvSpPr>
          <p:spPr bwMode="auto">
            <a:xfrm>
              <a:off x="3336593" y="1060317"/>
              <a:ext cx="0" cy="5556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05" name="Line 23">
              <a:extLst>
                <a:ext uri="{FF2B5EF4-FFF2-40B4-BE49-F238E27FC236}">
                  <a16:creationId xmlns:a16="http://schemas.microsoft.com/office/drawing/2014/main" id="{F3D46CEC-1418-4AE2-A3D0-63B3D012C9DE}"/>
                </a:ext>
              </a:extLst>
            </p:cNvPr>
            <p:cNvSpPr>
              <a:spLocks noChangeShapeType="1"/>
            </p:cNvSpPr>
            <p:nvPr/>
          </p:nvSpPr>
          <p:spPr bwMode="auto">
            <a:xfrm>
              <a:off x="4999642" y="1049205"/>
              <a:ext cx="0" cy="56673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06" name="Text Box 24">
              <a:extLst>
                <a:ext uri="{FF2B5EF4-FFF2-40B4-BE49-F238E27FC236}">
                  <a16:creationId xmlns:a16="http://schemas.microsoft.com/office/drawing/2014/main" id="{4D91CEC9-CEF9-4D66-9F60-451363C50A66}"/>
                </a:ext>
              </a:extLst>
            </p:cNvPr>
            <p:cNvSpPr txBox="1">
              <a:spLocks noChangeArrowheads="1"/>
            </p:cNvSpPr>
            <p:nvPr/>
          </p:nvSpPr>
          <p:spPr bwMode="auto">
            <a:xfrm>
              <a:off x="1887338" y="1098417"/>
              <a:ext cx="1449255" cy="459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kumimoji="1" lang="zh-CN" altLang="en-US" sz="2000" dirty="0">
                  <a:latin typeface="微软雅黑" panose="020B0503020204020204" pitchFamily="34" charset="-122"/>
                  <a:ea typeface="微软雅黑" panose="020B0503020204020204" pitchFamily="34" charset="-122"/>
                </a:rPr>
                <a:t>目的地址</a:t>
              </a:r>
              <a:endParaRPr kumimoji="1" lang="en-US" altLang="zh-CN" sz="2000" dirty="0">
                <a:latin typeface="微软雅黑" panose="020B0503020204020204" pitchFamily="34" charset="-122"/>
                <a:ea typeface="微软雅黑" panose="020B0503020204020204" pitchFamily="34" charset="-122"/>
              </a:endParaRPr>
            </a:p>
          </p:txBody>
        </p:sp>
        <p:sp>
          <p:nvSpPr>
            <p:cNvPr id="107" name="Text Box 29">
              <a:extLst>
                <a:ext uri="{FF2B5EF4-FFF2-40B4-BE49-F238E27FC236}">
                  <a16:creationId xmlns:a16="http://schemas.microsoft.com/office/drawing/2014/main" id="{E16896D7-98EC-4A46-AD16-818E07DF4308}"/>
                </a:ext>
              </a:extLst>
            </p:cNvPr>
            <p:cNvSpPr txBox="1">
              <a:spLocks noChangeArrowheads="1"/>
            </p:cNvSpPr>
            <p:nvPr/>
          </p:nvSpPr>
          <p:spPr bwMode="auto">
            <a:xfrm>
              <a:off x="9260988" y="1095182"/>
              <a:ext cx="737772" cy="459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000" dirty="0">
                  <a:latin typeface="微软雅黑" panose="020B0503020204020204" pitchFamily="34" charset="-122"/>
                  <a:ea typeface="微软雅黑" panose="020B0503020204020204" pitchFamily="34" charset="-122"/>
                </a:rPr>
                <a:t>FCS</a:t>
              </a:r>
            </a:p>
          </p:txBody>
        </p:sp>
        <p:sp>
          <p:nvSpPr>
            <p:cNvPr id="108" name="Rectangle 32">
              <a:extLst>
                <a:ext uri="{FF2B5EF4-FFF2-40B4-BE49-F238E27FC236}">
                  <a16:creationId xmlns:a16="http://schemas.microsoft.com/office/drawing/2014/main" id="{684E1977-FCE8-440E-BBDC-B251F769E3A9}"/>
                </a:ext>
              </a:extLst>
            </p:cNvPr>
            <p:cNvSpPr>
              <a:spLocks noChangeArrowheads="1"/>
            </p:cNvSpPr>
            <p:nvPr/>
          </p:nvSpPr>
          <p:spPr bwMode="auto">
            <a:xfrm>
              <a:off x="6087080" y="1060316"/>
              <a:ext cx="2898775" cy="548176"/>
            </a:xfrm>
            <a:prstGeom prst="rect">
              <a:avLst/>
            </a:prstGeom>
            <a:solidFill>
              <a:schemeClr val="accent6">
                <a:lumMod val="20000"/>
                <a:lumOff val="80000"/>
              </a:schemeClr>
            </a:solidFill>
            <a:ln>
              <a:noFill/>
            </a:ln>
            <a:effec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09" name="Text Box 33">
              <a:extLst>
                <a:ext uri="{FF2B5EF4-FFF2-40B4-BE49-F238E27FC236}">
                  <a16:creationId xmlns:a16="http://schemas.microsoft.com/office/drawing/2014/main" id="{0649C6CC-C998-450C-A3C7-11856B8FA748}"/>
                </a:ext>
              </a:extLst>
            </p:cNvPr>
            <p:cNvSpPr txBox="1">
              <a:spLocks noChangeArrowheads="1"/>
            </p:cNvSpPr>
            <p:nvPr/>
          </p:nvSpPr>
          <p:spPr bwMode="auto">
            <a:xfrm>
              <a:off x="5169268" y="1098417"/>
              <a:ext cx="786571" cy="459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2000" dirty="0">
                  <a:latin typeface="微软雅黑" panose="020B0503020204020204" pitchFamily="34" charset="-122"/>
                  <a:ea typeface="微软雅黑" panose="020B0503020204020204" pitchFamily="34" charset="-122"/>
                </a:rPr>
                <a:t>类型</a:t>
              </a:r>
            </a:p>
          </p:txBody>
        </p:sp>
        <p:sp>
          <p:nvSpPr>
            <p:cNvPr id="110" name="Text Box 34">
              <a:extLst>
                <a:ext uri="{FF2B5EF4-FFF2-40B4-BE49-F238E27FC236}">
                  <a16:creationId xmlns:a16="http://schemas.microsoft.com/office/drawing/2014/main" id="{BBC1AB87-F827-4784-B163-8085F074D741}"/>
                </a:ext>
              </a:extLst>
            </p:cNvPr>
            <p:cNvSpPr txBox="1">
              <a:spLocks noChangeArrowheads="1"/>
            </p:cNvSpPr>
            <p:nvPr/>
          </p:nvSpPr>
          <p:spPr bwMode="auto">
            <a:xfrm>
              <a:off x="6776973" y="1098417"/>
              <a:ext cx="1400514" cy="459513"/>
            </a:xfrm>
            <a:prstGeom prst="rect">
              <a:avLst/>
            </a:prstGeom>
            <a:solidFill>
              <a:schemeClr val="accent6">
                <a:lumMod val="20000"/>
                <a:lumOff val="80000"/>
              </a:schemeClr>
            </a:solidFill>
            <a:ln w="9525">
              <a:noFill/>
              <a:miter lim="800000"/>
              <a:headEnd/>
              <a:tailEnd/>
            </a:ln>
            <a:effectLst/>
          </p:spPr>
          <p:txBody>
            <a:bodyPr wrap="squar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000" dirty="0" err="1">
                  <a:latin typeface="微软雅黑" panose="020B0503020204020204" pitchFamily="34" charset="-122"/>
                  <a:ea typeface="微软雅黑" panose="020B0503020204020204" pitchFamily="34" charset="-122"/>
                </a:rPr>
                <a:t>PPPoE</a:t>
              </a:r>
              <a:r>
                <a:rPr kumimoji="1" lang="zh-CN" altLang="en-US" sz="2000" dirty="0">
                  <a:latin typeface="微软雅黑" panose="020B0503020204020204" pitchFamily="34" charset="-122"/>
                  <a:ea typeface="微软雅黑" panose="020B0503020204020204" pitchFamily="34" charset="-122"/>
                </a:rPr>
                <a:t>帧</a:t>
              </a:r>
            </a:p>
          </p:txBody>
        </p:sp>
        <p:sp>
          <p:nvSpPr>
            <p:cNvPr id="111" name="Line 40">
              <a:extLst>
                <a:ext uri="{FF2B5EF4-FFF2-40B4-BE49-F238E27FC236}">
                  <a16:creationId xmlns:a16="http://schemas.microsoft.com/office/drawing/2014/main" id="{3C605896-6460-49EA-8E34-F2ED9A69C265}"/>
                </a:ext>
              </a:extLst>
            </p:cNvPr>
            <p:cNvSpPr>
              <a:spLocks noChangeShapeType="1"/>
            </p:cNvSpPr>
            <p:nvPr/>
          </p:nvSpPr>
          <p:spPr bwMode="auto">
            <a:xfrm>
              <a:off x="8985855" y="1020630"/>
              <a:ext cx="0" cy="595312"/>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12" name="Line 41">
              <a:extLst>
                <a:ext uri="{FF2B5EF4-FFF2-40B4-BE49-F238E27FC236}">
                  <a16:creationId xmlns:a16="http://schemas.microsoft.com/office/drawing/2014/main" id="{054108C7-E931-440D-9D51-A606E404CABE}"/>
                </a:ext>
              </a:extLst>
            </p:cNvPr>
            <p:cNvSpPr>
              <a:spLocks noChangeShapeType="1"/>
            </p:cNvSpPr>
            <p:nvPr/>
          </p:nvSpPr>
          <p:spPr bwMode="auto">
            <a:xfrm>
              <a:off x="6087080" y="1060317"/>
              <a:ext cx="0" cy="555625"/>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13" name="Text Box 24">
              <a:extLst>
                <a:ext uri="{FF2B5EF4-FFF2-40B4-BE49-F238E27FC236}">
                  <a16:creationId xmlns:a16="http://schemas.microsoft.com/office/drawing/2014/main" id="{18176918-6B27-4AB9-884C-11DF36A83DF0}"/>
                </a:ext>
              </a:extLst>
            </p:cNvPr>
            <p:cNvSpPr txBox="1">
              <a:spLocks noChangeArrowheads="1"/>
            </p:cNvSpPr>
            <p:nvPr/>
          </p:nvSpPr>
          <p:spPr bwMode="auto">
            <a:xfrm>
              <a:off x="3559998" y="1107392"/>
              <a:ext cx="1292005" cy="459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kumimoji="1" lang="zh-CN" altLang="en-US" sz="2000" dirty="0">
                  <a:latin typeface="微软雅黑" panose="020B0503020204020204" pitchFamily="34" charset="-122"/>
                  <a:ea typeface="微软雅黑" panose="020B0503020204020204" pitchFamily="34" charset="-122"/>
                </a:rPr>
                <a:t>源地址</a:t>
              </a:r>
              <a:endParaRPr kumimoji="1" lang="en-US" altLang="zh-CN" sz="2000" dirty="0">
                <a:latin typeface="微软雅黑" panose="020B0503020204020204" pitchFamily="34" charset="-122"/>
                <a:ea typeface="微软雅黑" panose="020B0503020204020204" pitchFamily="34" charset="-122"/>
              </a:endParaRPr>
            </a:p>
          </p:txBody>
        </p:sp>
        <p:sp>
          <p:nvSpPr>
            <p:cNvPr id="114" name="Text Box 9">
              <a:extLst>
                <a:ext uri="{FF2B5EF4-FFF2-40B4-BE49-F238E27FC236}">
                  <a16:creationId xmlns:a16="http://schemas.microsoft.com/office/drawing/2014/main" id="{8020E34E-0509-4A35-A7F5-2FAC5EB9E379}"/>
                </a:ext>
              </a:extLst>
            </p:cNvPr>
            <p:cNvSpPr txBox="1">
              <a:spLocks noChangeArrowheads="1"/>
            </p:cNvSpPr>
            <p:nvPr/>
          </p:nvSpPr>
          <p:spPr bwMode="auto">
            <a:xfrm>
              <a:off x="1343814" y="1665589"/>
              <a:ext cx="786571" cy="459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2000" dirty="0">
                  <a:latin typeface="微软雅黑" panose="020B0503020204020204" pitchFamily="34" charset="-122"/>
                  <a:ea typeface="微软雅黑" panose="020B0503020204020204" pitchFamily="34" charset="-122"/>
                </a:rPr>
                <a:t>字节</a:t>
              </a:r>
            </a:p>
          </p:txBody>
        </p:sp>
        <p:sp>
          <p:nvSpPr>
            <p:cNvPr id="115" name="Text Box 5">
              <a:extLst>
                <a:ext uri="{FF2B5EF4-FFF2-40B4-BE49-F238E27FC236}">
                  <a16:creationId xmlns:a16="http://schemas.microsoft.com/office/drawing/2014/main" id="{E3FD1936-DD93-4CC9-B0CB-ADFC26F814F2}"/>
                </a:ext>
              </a:extLst>
            </p:cNvPr>
            <p:cNvSpPr txBox="1">
              <a:spLocks noChangeArrowheads="1"/>
            </p:cNvSpPr>
            <p:nvPr/>
          </p:nvSpPr>
          <p:spPr bwMode="auto">
            <a:xfrm>
              <a:off x="2430380" y="1687942"/>
              <a:ext cx="7640855" cy="459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000" dirty="0">
                  <a:latin typeface="微软雅黑" panose="020B0503020204020204" pitchFamily="34" charset="-122"/>
                  <a:ea typeface="微软雅黑" panose="020B0503020204020204" pitchFamily="34" charset="-122"/>
                </a:rPr>
                <a:t>6	       6	           2			         4</a:t>
              </a:r>
            </a:p>
          </p:txBody>
        </p:sp>
      </p:grpSp>
      <p:cxnSp>
        <p:nvCxnSpPr>
          <p:cNvPr id="81" name="直接连接符 80">
            <a:extLst>
              <a:ext uri="{FF2B5EF4-FFF2-40B4-BE49-F238E27FC236}">
                <a16:creationId xmlns:a16="http://schemas.microsoft.com/office/drawing/2014/main" id="{2A3BB1B1-E206-4A9E-BFF7-706904725418}"/>
              </a:ext>
            </a:extLst>
          </p:cNvPr>
          <p:cNvCxnSpPr>
            <a:cxnSpLocks/>
            <a:endCxn id="111" idx="0"/>
          </p:cNvCxnSpPr>
          <p:nvPr/>
        </p:nvCxnSpPr>
        <p:spPr>
          <a:xfrm flipH="1">
            <a:off x="8664758" y="3223168"/>
            <a:ext cx="1805240" cy="758835"/>
          </a:xfrm>
          <a:prstGeom prst="line">
            <a:avLst/>
          </a:prstGeom>
          <a:ln w="952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D1D9A0A2-ADA4-4F47-B314-B22CFF538472}"/>
              </a:ext>
            </a:extLst>
          </p:cNvPr>
          <p:cNvCxnSpPr>
            <a:endCxn id="103" idx="0"/>
          </p:cNvCxnSpPr>
          <p:nvPr/>
        </p:nvCxnSpPr>
        <p:spPr>
          <a:xfrm>
            <a:off x="2826823" y="3246810"/>
            <a:ext cx="3250310" cy="760074"/>
          </a:xfrm>
          <a:prstGeom prst="line">
            <a:avLst/>
          </a:prstGeom>
          <a:ln w="952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84" name="文本框 83">
            <a:extLst>
              <a:ext uri="{FF2B5EF4-FFF2-40B4-BE49-F238E27FC236}">
                <a16:creationId xmlns:a16="http://schemas.microsoft.com/office/drawing/2014/main" id="{51C10167-BC39-451A-86AC-A7E2FEB73315}"/>
              </a:ext>
            </a:extLst>
          </p:cNvPr>
          <p:cNvSpPr txBox="1"/>
          <p:nvPr/>
        </p:nvSpPr>
        <p:spPr>
          <a:xfrm>
            <a:off x="755335" y="4057549"/>
            <a:ext cx="1553853" cy="400110"/>
          </a:xfrm>
          <a:prstGeom prst="rect">
            <a:avLst/>
          </a:prstGeom>
          <a:noFill/>
        </p:spPr>
        <p:txBody>
          <a:bodyPr wrap="square" rtlCol="0">
            <a:spAutoFit/>
          </a:bodyPr>
          <a:lstStyle/>
          <a:p>
            <a:pPr algn="r"/>
            <a:r>
              <a:rPr kumimoji="1" lang="en-US" altLang="zh-CN" sz="2000" dirty="0">
                <a:latin typeface="微软雅黑" panose="020B0503020204020204" pitchFamily="34" charset="-122"/>
                <a:ea typeface="微软雅黑" panose="020B0503020204020204" pitchFamily="34" charset="-122"/>
              </a:rPr>
              <a:t>Ethernet</a:t>
            </a:r>
            <a:r>
              <a:rPr lang="zh-CN" altLang="en-US" sz="2000" dirty="0">
                <a:latin typeface="微软雅黑" panose="020B0503020204020204" pitchFamily="34" charset="-122"/>
                <a:ea typeface="微软雅黑" panose="020B0503020204020204" pitchFamily="34" charset="-122"/>
              </a:rPr>
              <a:t>帧</a:t>
            </a:r>
          </a:p>
        </p:txBody>
      </p:sp>
      <p:grpSp>
        <p:nvGrpSpPr>
          <p:cNvPr id="15" name="组合 14"/>
          <p:cNvGrpSpPr/>
          <p:nvPr/>
        </p:nvGrpSpPr>
        <p:grpSpPr>
          <a:xfrm>
            <a:off x="1219200" y="2345588"/>
            <a:ext cx="9281321" cy="877581"/>
            <a:chOff x="1636218" y="4232308"/>
            <a:chExt cx="9281321" cy="877581"/>
          </a:xfrm>
        </p:grpSpPr>
        <p:sp>
          <p:nvSpPr>
            <p:cNvPr id="85" name="Text Box 5">
              <a:extLst>
                <a:ext uri="{FF2B5EF4-FFF2-40B4-BE49-F238E27FC236}">
                  <a16:creationId xmlns:a16="http://schemas.microsoft.com/office/drawing/2014/main" id="{123F1DDA-6AC6-41B0-AF66-36D67649DB48}"/>
                </a:ext>
              </a:extLst>
            </p:cNvPr>
            <p:cNvSpPr txBox="1">
              <a:spLocks noChangeArrowheads="1"/>
            </p:cNvSpPr>
            <p:nvPr/>
          </p:nvSpPr>
          <p:spPr bwMode="auto">
            <a:xfrm>
              <a:off x="3515330" y="4238847"/>
              <a:ext cx="595764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000" dirty="0">
                  <a:latin typeface="微软雅黑" panose="020B0503020204020204" pitchFamily="34" charset="-122"/>
                  <a:ea typeface="微软雅黑" panose="020B0503020204020204" pitchFamily="34" charset="-122"/>
                </a:rPr>
                <a:t>4           4             8               16             16</a:t>
              </a:r>
            </a:p>
          </p:txBody>
        </p:sp>
        <p:sp>
          <p:nvSpPr>
            <p:cNvPr id="86" name="Text Box 9">
              <a:extLst>
                <a:ext uri="{FF2B5EF4-FFF2-40B4-BE49-F238E27FC236}">
                  <a16:creationId xmlns:a16="http://schemas.microsoft.com/office/drawing/2014/main" id="{F6759E97-B6FC-4436-8196-8F16A2D6C37D}"/>
                </a:ext>
              </a:extLst>
            </p:cNvPr>
            <p:cNvSpPr txBox="1">
              <a:spLocks noChangeArrowheads="1"/>
            </p:cNvSpPr>
            <p:nvPr/>
          </p:nvSpPr>
          <p:spPr bwMode="auto">
            <a:xfrm>
              <a:off x="2652696" y="4232308"/>
              <a:ext cx="69762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2000" dirty="0">
                  <a:latin typeface="微软雅黑" panose="020B0503020204020204" pitchFamily="34" charset="-122"/>
                  <a:ea typeface="微软雅黑" panose="020B0503020204020204" pitchFamily="34" charset="-122"/>
                </a:rPr>
                <a:t>比特</a:t>
              </a:r>
            </a:p>
          </p:txBody>
        </p:sp>
        <p:sp>
          <p:nvSpPr>
            <p:cNvPr id="98" name="Text Box 33">
              <a:extLst>
                <a:ext uri="{FF2B5EF4-FFF2-40B4-BE49-F238E27FC236}">
                  <a16:creationId xmlns:a16="http://schemas.microsoft.com/office/drawing/2014/main" id="{E7048755-6ACB-42C7-9979-22D12FF27531}"/>
                </a:ext>
              </a:extLst>
            </p:cNvPr>
            <p:cNvSpPr txBox="1">
              <a:spLocks noChangeArrowheads="1"/>
            </p:cNvSpPr>
            <p:nvPr/>
          </p:nvSpPr>
          <p:spPr bwMode="auto">
            <a:xfrm>
              <a:off x="6503080" y="4617067"/>
              <a:ext cx="1301409" cy="490453"/>
            </a:xfrm>
            <a:prstGeom prst="rect">
              <a:avLst/>
            </a:prstGeom>
            <a:solidFill>
              <a:schemeClr val="accent6">
                <a:lumMod val="20000"/>
                <a:lumOff val="80000"/>
              </a:schemeClr>
            </a:solidFill>
            <a:ln>
              <a:solidFill>
                <a:srgbClr val="00B0F0"/>
              </a:solidFill>
            </a:ln>
            <a:effectLst/>
          </p:spPr>
          <p:txBody>
            <a:bodyPr wrap="none" anchor="ctr"/>
            <a:lstStyle>
              <a:defPPr>
                <a:defRPr lang="zh-CN"/>
              </a:defPPr>
              <a:lvl1pPr algn="ctr">
                <a:defRPr kumimoji="1">
                  <a:solidFill>
                    <a:srgbClr val="333399"/>
                  </a:solidFill>
                  <a:latin typeface="微软雅黑" panose="020B0503020204020204" pitchFamily="34" charset="-122"/>
                  <a:ea typeface="微软雅黑" panose="020B0503020204020204" pitchFamily="34" charset="-122"/>
                </a:defRPr>
              </a:lvl1pPr>
            </a:lstStyle>
            <a:p>
              <a:r>
                <a:rPr lang="zh-CN" altLang="en-US" sz="2000" dirty="0">
                  <a:solidFill>
                    <a:schemeClr val="tx1"/>
                  </a:solidFill>
                </a:rPr>
                <a:t>会话</a:t>
              </a:r>
              <a:r>
                <a:rPr lang="en-US" altLang="zh-CN" sz="2000" dirty="0">
                  <a:solidFill>
                    <a:schemeClr val="tx1"/>
                  </a:solidFill>
                </a:rPr>
                <a:t>ID</a:t>
              </a:r>
              <a:endParaRPr lang="zh-CN" altLang="en-US" sz="2000" dirty="0">
                <a:solidFill>
                  <a:schemeClr val="tx1"/>
                </a:solidFill>
              </a:endParaRPr>
            </a:p>
          </p:txBody>
        </p:sp>
        <p:sp>
          <p:nvSpPr>
            <p:cNvPr id="83" name="文本框 82">
              <a:extLst>
                <a:ext uri="{FF2B5EF4-FFF2-40B4-BE49-F238E27FC236}">
                  <a16:creationId xmlns:a16="http://schemas.microsoft.com/office/drawing/2014/main" id="{4A97A835-86D2-46BB-812E-637A8EA199F8}"/>
                </a:ext>
              </a:extLst>
            </p:cNvPr>
            <p:cNvSpPr txBox="1"/>
            <p:nvPr/>
          </p:nvSpPr>
          <p:spPr>
            <a:xfrm>
              <a:off x="1636218" y="4661363"/>
              <a:ext cx="1519685" cy="400110"/>
            </a:xfrm>
            <a:prstGeom prst="rect">
              <a:avLst/>
            </a:prstGeom>
            <a:noFill/>
          </p:spPr>
          <p:txBody>
            <a:bodyPr wrap="square" rtlCol="0">
              <a:spAutoFit/>
            </a:bodyPr>
            <a:lstStyle/>
            <a:p>
              <a:pPr algn="ctr"/>
              <a:r>
                <a:rPr lang="en-US" altLang="zh-CN" sz="2000" dirty="0" err="1">
                  <a:latin typeface="微软雅黑" panose="020B0503020204020204" pitchFamily="34" charset="-122"/>
                  <a:ea typeface="微软雅黑" panose="020B0503020204020204" pitchFamily="34" charset="-122"/>
                </a:rPr>
                <a:t>PPPoE</a:t>
              </a:r>
              <a:r>
                <a:rPr lang="zh-CN" altLang="en-US" sz="2000" dirty="0">
                  <a:latin typeface="微软雅黑" panose="020B0503020204020204" pitchFamily="34" charset="-122"/>
                  <a:ea typeface="微软雅黑" panose="020B0503020204020204" pitchFamily="34" charset="-122"/>
                </a:rPr>
                <a:t>报文</a:t>
              </a:r>
            </a:p>
          </p:txBody>
        </p:sp>
        <p:sp>
          <p:nvSpPr>
            <p:cNvPr id="8" name="文本框 7"/>
            <p:cNvSpPr txBox="1"/>
            <p:nvPr/>
          </p:nvSpPr>
          <p:spPr>
            <a:xfrm>
              <a:off x="3185317" y="4613584"/>
              <a:ext cx="1029033" cy="482213"/>
            </a:xfrm>
            <a:prstGeom prst="rect">
              <a:avLst/>
            </a:prstGeom>
            <a:solidFill>
              <a:schemeClr val="accent6">
                <a:lumMod val="20000"/>
                <a:lumOff val="80000"/>
              </a:schemeClr>
            </a:solidFill>
            <a:ln>
              <a:solidFill>
                <a:srgbClr val="00B0F0"/>
              </a:solidFill>
            </a:ln>
            <a:effectLst/>
          </p:spPr>
          <p:txBody>
            <a:bodyPr wrap="none" anchor="ctr"/>
            <a:lstStyle>
              <a:defPPr>
                <a:defRPr lang="zh-CN"/>
              </a:defPPr>
              <a:lvl1pPr>
                <a:defRPr>
                  <a:latin typeface="微软雅黑" panose="020B0503020204020204" pitchFamily="34" charset="-122"/>
                  <a:ea typeface="微软雅黑" panose="020B0503020204020204" pitchFamily="34" charset="-122"/>
                </a:defRPr>
              </a:lvl1pPr>
            </a:lstStyle>
            <a:p>
              <a:pPr algn="ctr"/>
              <a:r>
                <a:rPr kumimoji="1" lang="zh-CN" altLang="en-US" sz="2000" dirty="0"/>
                <a:t>版本号</a:t>
              </a:r>
              <a:endParaRPr kumimoji="1" lang="en-US" altLang="zh-CN" sz="2000" dirty="0"/>
            </a:p>
          </p:txBody>
        </p:sp>
        <p:sp>
          <p:nvSpPr>
            <p:cNvPr id="47" name="文本框 46"/>
            <p:cNvSpPr txBox="1"/>
            <p:nvPr/>
          </p:nvSpPr>
          <p:spPr>
            <a:xfrm>
              <a:off x="4174532" y="4618143"/>
              <a:ext cx="984497" cy="482213"/>
            </a:xfrm>
            <a:prstGeom prst="rect">
              <a:avLst/>
            </a:prstGeom>
            <a:solidFill>
              <a:schemeClr val="accent6">
                <a:lumMod val="20000"/>
                <a:lumOff val="80000"/>
              </a:schemeClr>
            </a:solidFill>
            <a:ln>
              <a:solidFill>
                <a:srgbClr val="00B0F0"/>
              </a:solidFill>
            </a:ln>
            <a:effectLst/>
          </p:spPr>
          <p:txBody>
            <a:bodyPr wrap="none" anchor="ctr"/>
            <a:lstStyle>
              <a:defPPr>
                <a:defRPr lang="zh-CN"/>
              </a:defPPr>
              <a:lvl1pPr>
                <a:defRPr>
                  <a:latin typeface="微软雅黑" panose="020B0503020204020204" pitchFamily="34" charset="-122"/>
                  <a:ea typeface="微软雅黑" panose="020B0503020204020204" pitchFamily="34" charset="-122"/>
                </a:defRPr>
              </a:lvl1pPr>
            </a:lstStyle>
            <a:p>
              <a:pPr algn="ctr"/>
              <a:r>
                <a:rPr kumimoji="1" lang="zh-CN" altLang="en-US" sz="2000" dirty="0"/>
                <a:t>类型</a:t>
              </a:r>
              <a:endParaRPr kumimoji="1" lang="en-US" altLang="zh-CN" sz="2000" dirty="0"/>
            </a:p>
          </p:txBody>
        </p:sp>
        <p:sp>
          <p:nvSpPr>
            <p:cNvPr id="48" name="文本框 47"/>
            <p:cNvSpPr txBox="1"/>
            <p:nvPr/>
          </p:nvSpPr>
          <p:spPr>
            <a:xfrm>
              <a:off x="5165938" y="4623554"/>
              <a:ext cx="1344698" cy="482213"/>
            </a:xfrm>
            <a:prstGeom prst="rect">
              <a:avLst/>
            </a:prstGeom>
            <a:solidFill>
              <a:schemeClr val="accent6">
                <a:lumMod val="20000"/>
                <a:lumOff val="80000"/>
              </a:schemeClr>
            </a:solidFill>
            <a:ln>
              <a:solidFill>
                <a:srgbClr val="00B0F0"/>
              </a:solidFill>
            </a:ln>
            <a:effectLst/>
          </p:spPr>
          <p:txBody>
            <a:bodyPr wrap="none" anchor="ctr"/>
            <a:lstStyle>
              <a:defPPr>
                <a:defRPr lang="zh-CN"/>
              </a:defPPr>
              <a:lvl1pPr>
                <a:defRPr>
                  <a:latin typeface="微软雅黑" panose="020B0503020204020204" pitchFamily="34" charset="-122"/>
                  <a:ea typeface="微软雅黑" panose="020B0503020204020204" pitchFamily="34" charset="-122"/>
                </a:defRPr>
              </a:lvl1pPr>
            </a:lstStyle>
            <a:p>
              <a:pPr algn="ctr"/>
              <a:r>
                <a:rPr kumimoji="1" lang="zh-CN" altLang="en-US" sz="2000" dirty="0"/>
                <a:t>代码</a:t>
              </a:r>
              <a:endParaRPr kumimoji="1" lang="en-US" altLang="zh-CN" sz="2000" dirty="0"/>
            </a:p>
          </p:txBody>
        </p:sp>
        <p:sp>
          <p:nvSpPr>
            <p:cNvPr id="49" name="Text Box 33">
              <a:extLst>
                <a:ext uri="{FF2B5EF4-FFF2-40B4-BE49-F238E27FC236}">
                  <a16:creationId xmlns:a16="http://schemas.microsoft.com/office/drawing/2014/main" id="{E7048755-6ACB-42C7-9979-22D12FF27531}"/>
                </a:ext>
              </a:extLst>
            </p:cNvPr>
            <p:cNvSpPr txBox="1">
              <a:spLocks noChangeArrowheads="1"/>
            </p:cNvSpPr>
            <p:nvPr/>
          </p:nvSpPr>
          <p:spPr bwMode="auto">
            <a:xfrm>
              <a:off x="7804490" y="4621186"/>
              <a:ext cx="1264966" cy="484581"/>
            </a:xfrm>
            <a:prstGeom prst="rect">
              <a:avLst/>
            </a:prstGeom>
            <a:solidFill>
              <a:schemeClr val="accent6">
                <a:lumMod val="20000"/>
                <a:lumOff val="80000"/>
              </a:schemeClr>
            </a:solidFill>
            <a:ln>
              <a:solidFill>
                <a:srgbClr val="00B0F0"/>
              </a:solidFill>
            </a:ln>
            <a:effectLst/>
          </p:spPr>
          <p:txBody>
            <a:bodyPr wrap="none" anchor="ctr"/>
            <a:lstStyle>
              <a:defPPr>
                <a:defRPr lang="zh-CN"/>
              </a:defPPr>
              <a:lvl1pPr algn="ctr">
                <a:defRPr kumimoji="1">
                  <a:solidFill>
                    <a:srgbClr val="333399"/>
                  </a:solidFill>
                  <a:latin typeface="微软雅黑" panose="020B0503020204020204" pitchFamily="34" charset="-122"/>
                  <a:ea typeface="微软雅黑" panose="020B0503020204020204" pitchFamily="34" charset="-122"/>
                </a:defRPr>
              </a:lvl1pPr>
            </a:lstStyle>
            <a:p>
              <a:r>
                <a:rPr lang="zh-CN" altLang="en-US" sz="2000" dirty="0">
                  <a:solidFill>
                    <a:schemeClr val="tx1"/>
                  </a:solidFill>
                </a:rPr>
                <a:t>长度</a:t>
              </a:r>
            </a:p>
          </p:txBody>
        </p:sp>
        <p:sp>
          <p:nvSpPr>
            <p:cNvPr id="50" name="Text Box 33">
              <a:extLst>
                <a:ext uri="{FF2B5EF4-FFF2-40B4-BE49-F238E27FC236}">
                  <a16:creationId xmlns:a16="http://schemas.microsoft.com/office/drawing/2014/main" id="{E7048755-6ACB-42C7-9979-22D12FF27531}"/>
                </a:ext>
              </a:extLst>
            </p:cNvPr>
            <p:cNvSpPr txBox="1">
              <a:spLocks noChangeArrowheads="1"/>
            </p:cNvSpPr>
            <p:nvPr/>
          </p:nvSpPr>
          <p:spPr bwMode="auto">
            <a:xfrm>
              <a:off x="9069456" y="4612947"/>
              <a:ext cx="1848083" cy="496942"/>
            </a:xfrm>
            <a:prstGeom prst="rect">
              <a:avLst/>
            </a:prstGeom>
            <a:solidFill>
              <a:schemeClr val="accent4">
                <a:lumMod val="20000"/>
                <a:lumOff val="80000"/>
              </a:schemeClr>
            </a:solidFill>
            <a:ln>
              <a:solidFill>
                <a:srgbClr val="00B0F0"/>
              </a:solidFill>
            </a:ln>
            <a:effectLst/>
          </p:spPr>
          <p:txBody>
            <a:bodyPr wrap="none" anchor="ctr"/>
            <a:lstStyle>
              <a:defPPr>
                <a:defRPr lang="zh-CN"/>
              </a:defPPr>
              <a:lvl1pPr algn="ctr">
                <a:defRPr kumimoji="1">
                  <a:solidFill>
                    <a:srgbClr val="333399"/>
                  </a:solidFill>
                  <a:latin typeface="微软雅黑" panose="020B0503020204020204" pitchFamily="34" charset="-122"/>
                  <a:ea typeface="微软雅黑" panose="020B0503020204020204" pitchFamily="34" charset="-122"/>
                </a:defRPr>
              </a:lvl1pPr>
            </a:lstStyle>
            <a:p>
              <a:r>
                <a:rPr lang="zh-CN" altLang="en-US" sz="2000" dirty="0">
                  <a:solidFill>
                    <a:schemeClr val="tx1"/>
                  </a:solidFill>
                </a:rPr>
                <a:t>有效载荷</a:t>
              </a:r>
            </a:p>
          </p:txBody>
        </p:sp>
      </p:grpSp>
      <p:sp>
        <p:nvSpPr>
          <p:cNvPr id="41" name="AutoShape 54"/>
          <p:cNvSpPr>
            <a:spLocks noChangeArrowheads="1"/>
          </p:cNvSpPr>
          <p:nvPr/>
        </p:nvSpPr>
        <p:spPr bwMode="auto">
          <a:xfrm>
            <a:off x="5723976" y="5394140"/>
            <a:ext cx="4447646" cy="930536"/>
          </a:xfrm>
          <a:prstGeom prst="wedgeRoundRectCallout">
            <a:avLst>
              <a:gd name="adj1" fmla="val -49759"/>
              <a:gd name="adj2" fmla="val -145248"/>
              <a:gd name="adj3" fmla="val 16667"/>
            </a:avLst>
          </a:prstGeom>
          <a:solidFill>
            <a:schemeClr val="accent2">
              <a:lumMod val="20000"/>
              <a:lumOff val="80000"/>
            </a:schemeClr>
          </a:solidFill>
          <a:ln w="9525">
            <a:solidFill>
              <a:schemeClr val="tx1"/>
            </a:solidFill>
            <a:miter lim="800000"/>
            <a:headEnd/>
            <a:tailEnd/>
          </a:ln>
          <a:effectLst/>
        </p:spPr>
        <p:txBody>
          <a:bodyPr/>
          <a:lstStyle/>
          <a:p>
            <a:pPr>
              <a:lnSpc>
                <a:spcPts val="3000"/>
              </a:lnSpc>
            </a:pPr>
            <a:r>
              <a:rPr lang="en-US" altLang="zh-CN" sz="2000" dirty="0">
                <a:latin typeface="微软雅黑" panose="020B0503020204020204" pitchFamily="34" charset="-122"/>
                <a:ea typeface="微软雅黑" panose="020B0503020204020204" pitchFamily="34" charset="-122"/>
              </a:rPr>
              <a:t>0x8863</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Discovery</a:t>
            </a:r>
            <a:r>
              <a:rPr lang="zh-CN" altLang="en-US" sz="2000" dirty="0">
                <a:latin typeface="微软雅黑" panose="020B0503020204020204" pitchFamily="34" charset="-122"/>
                <a:ea typeface="微软雅黑" panose="020B0503020204020204" pitchFamily="34" charset="-122"/>
              </a:rPr>
              <a:t>阶段或拆链阶段</a:t>
            </a:r>
          </a:p>
          <a:p>
            <a:pPr>
              <a:lnSpc>
                <a:spcPts val="3000"/>
              </a:lnSpc>
            </a:pPr>
            <a:r>
              <a:rPr lang="en-US" altLang="zh-CN" sz="2000" dirty="0">
                <a:latin typeface="微软雅黑" panose="020B0503020204020204" pitchFamily="34" charset="-122"/>
                <a:ea typeface="微软雅黑" panose="020B0503020204020204" pitchFamily="34" charset="-122"/>
              </a:rPr>
              <a:t>0x8864</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Session</a:t>
            </a:r>
            <a:r>
              <a:rPr lang="zh-CN" altLang="en-US" sz="2000" dirty="0">
                <a:latin typeface="微软雅黑" panose="020B0503020204020204" pitchFamily="34" charset="-122"/>
                <a:ea typeface="微软雅黑" panose="020B0503020204020204" pitchFamily="34" charset="-122"/>
              </a:rPr>
              <a:t>阶段</a:t>
            </a:r>
          </a:p>
        </p:txBody>
      </p:sp>
    </p:spTree>
    <p:extLst>
      <p:ext uri="{BB962C8B-B14F-4D97-AF65-F5344CB8AC3E}">
        <p14:creationId xmlns:p14="http://schemas.microsoft.com/office/powerpoint/2010/main" val="3152507382"/>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9DBBC32-6855-3B4C-A419-59E650207471}"/>
              </a:ext>
            </a:extLst>
          </p:cNvPr>
          <p:cNvSpPr>
            <a:spLocks noGrp="1"/>
          </p:cNvSpPr>
          <p:nvPr>
            <p:ph type="title"/>
          </p:nvPr>
        </p:nvSpPr>
        <p:spPr/>
        <p:txBody>
          <a:bodyPr/>
          <a:lstStyle/>
          <a:p>
            <a:r>
              <a:rPr kumimoji="1" lang="en-US" altLang="zh-CN" dirty="0" err="1"/>
              <a:t>PPPoE</a:t>
            </a:r>
            <a:r>
              <a:rPr kumimoji="1" lang="zh-CN" altLang="en-US" dirty="0"/>
              <a:t>报文格式</a:t>
            </a:r>
          </a:p>
        </p:txBody>
      </p:sp>
      <p:sp>
        <p:nvSpPr>
          <p:cNvPr id="3" name="内容占位符 2">
            <a:extLst>
              <a:ext uri="{FF2B5EF4-FFF2-40B4-BE49-F238E27FC236}">
                <a16:creationId xmlns:a16="http://schemas.microsoft.com/office/drawing/2014/main" id="{BC1704A9-D724-AC4E-B209-1FDBE1F4743B}"/>
              </a:ext>
            </a:extLst>
          </p:cNvPr>
          <p:cNvSpPr>
            <a:spLocks noGrp="1"/>
          </p:cNvSpPr>
          <p:nvPr>
            <p:ph idx="1"/>
          </p:nvPr>
        </p:nvSpPr>
        <p:spPr>
          <a:xfrm>
            <a:off x="838200" y="1488830"/>
            <a:ext cx="6500446" cy="4407877"/>
          </a:xfrm>
        </p:spPr>
        <p:txBody>
          <a:bodyPr>
            <a:normAutofit/>
          </a:bodyPr>
          <a:lstStyle/>
          <a:p>
            <a:pPr>
              <a:lnSpc>
                <a:spcPts val="3800"/>
              </a:lnSpc>
            </a:pPr>
            <a:r>
              <a:rPr kumimoji="1" lang="zh-CN" altLang="en-US" sz="2400" dirty="0"/>
              <a:t>版本号：</a:t>
            </a:r>
            <a:r>
              <a:rPr kumimoji="1" lang="en-US" altLang="zh-CN" sz="2400" dirty="0" err="1"/>
              <a:t>PPPoE</a:t>
            </a:r>
            <a:r>
              <a:rPr kumimoji="1" lang="en-US" altLang="zh-CN" sz="2400" dirty="0"/>
              <a:t> </a:t>
            </a:r>
            <a:r>
              <a:rPr kumimoji="1" lang="zh-CN" altLang="en-US" sz="2400" dirty="0"/>
              <a:t>版本号，值为 </a:t>
            </a:r>
            <a:r>
              <a:rPr kumimoji="1" lang="en-US" altLang="zh-CN" sz="2400" dirty="0"/>
              <a:t>0x1</a:t>
            </a:r>
            <a:endParaRPr kumimoji="1" lang="zh-CN" altLang="en-US" sz="2400" dirty="0"/>
          </a:p>
          <a:p>
            <a:pPr>
              <a:lnSpc>
                <a:spcPts val="3800"/>
              </a:lnSpc>
            </a:pPr>
            <a:r>
              <a:rPr kumimoji="1" lang="zh-CN" altLang="en-US" sz="2400" dirty="0"/>
              <a:t>类型：</a:t>
            </a:r>
            <a:r>
              <a:rPr kumimoji="1" lang="en-US" altLang="zh-CN" sz="2400" dirty="0" err="1"/>
              <a:t>PPPoE</a:t>
            </a:r>
            <a:r>
              <a:rPr kumimoji="1" lang="en-US" altLang="zh-CN" sz="2400" dirty="0"/>
              <a:t> </a:t>
            </a:r>
            <a:r>
              <a:rPr kumimoji="1" lang="zh-CN" altLang="en-US" sz="2400" dirty="0"/>
              <a:t>类型，值为 </a:t>
            </a:r>
            <a:r>
              <a:rPr kumimoji="1" lang="en-US" altLang="zh-CN" sz="2400" dirty="0"/>
              <a:t>0x1</a:t>
            </a:r>
          </a:p>
          <a:p>
            <a:pPr>
              <a:lnSpc>
                <a:spcPts val="3800"/>
              </a:lnSpc>
            </a:pPr>
            <a:r>
              <a:rPr lang="zh-CN" altLang="en-US" sz="2400" dirty="0"/>
              <a:t>代码：</a:t>
            </a:r>
            <a:r>
              <a:rPr lang="en-US" altLang="zh-CN" sz="2400" dirty="0" err="1"/>
              <a:t>PPPoE</a:t>
            </a:r>
            <a:r>
              <a:rPr lang="en-US" altLang="zh-CN" sz="2400" dirty="0"/>
              <a:t> </a:t>
            </a:r>
            <a:r>
              <a:rPr lang="zh-CN" altLang="en-US" sz="2400" dirty="0"/>
              <a:t>报文类型</a:t>
            </a:r>
            <a:endParaRPr lang="en-US" altLang="zh-CN" sz="2400" dirty="0"/>
          </a:p>
          <a:p>
            <a:pPr>
              <a:lnSpc>
                <a:spcPts val="3800"/>
              </a:lnSpc>
            </a:pPr>
            <a:r>
              <a:rPr kumimoji="1" lang="zh-CN" altLang="en-US" sz="2400" dirty="0"/>
              <a:t>会话</a:t>
            </a:r>
            <a:r>
              <a:rPr kumimoji="1" lang="en-US" altLang="zh-CN" sz="2400" dirty="0"/>
              <a:t>ID</a:t>
            </a:r>
            <a:r>
              <a:rPr kumimoji="1" lang="zh-CN" altLang="en-US" sz="2400" dirty="0"/>
              <a:t>：</a:t>
            </a:r>
            <a:endParaRPr kumimoji="1" lang="en-US" altLang="zh-CN" sz="2400" dirty="0"/>
          </a:p>
          <a:p>
            <a:pPr lvl="1">
              <a:lnSpc>
                <a:spcPts val="3800"/>
              </a:lnSpc>
            </a:pPr>
            <a:r>
              <a:rPr kumimoji="1" lang="zh-CN" altLang="en-US" sz="2000" dirty="0"/>
              <a:t>分配的</a:t>
            </a:r>
            <a:r>
              <a:rPr kumimoji="1" lang="en-US" altLang="zh-CN" sz="2000" dirty="0" err="1"/>
              <a:t>PPPoE</a:t>
            </a:r>
            <a:r>
              <a:rPr kumimoji="1" lang="zh-CN" altLang="en-US" sz="2000" dirty="0"/>
              <a:t>会话</a:t>
            </a:r>
            <a:r>
              <a:rPr kumimoji="1" lang="en-US" altLang="zh-CN" sz="2000" dirty="0"/>
              <a:t>ID</a:t>
            </a:r>
          </a:p>
          <a:p>
            <a:pPr lvl="1">
              <a:lnSpc>
                <a:spcPts val="3800"/>
              </a:lnSpc>
            </a:pPr>
            <a:r>
              <a:rPr kumimoji="1" lang="zh-CN" altLang="en-US" sz="2000" dirty="0"/>
              <a:t>与以太源地址和目的地址一起定义了一个会话</a:t>
            </a:r>
            <a:endParaRPr kumimoji="1" lang="en-US" altLang="zh-CN" sz="2000" dirty="0"/>
          </a:p>
          <a:p>
            <a:pPr>
              <a:lnSpc>
                <a:spcPts val="3800"/>
              </a:lnSpc>
            </a:pPr>
            <a:r>
              <a:rPr kumimoji="1" lang="zh-CN" altLang="en-US" sz="2400" dirty="0"/>
              <a:t>长度：定义有效载荷长度</a:t>
            </a:r>
          </a:p>
        </p:txBody>
      </p:sp>
      <p:sp>
        <p:nvSpPr>
          <p:cNvPr id="7" name="灯片编号占位符 6">
            <a:extLst>
              <a:ext uri="{FF2B5EF4-FFF2-40B4-BE49-F238E27FC236}">
                <a16:creationId xmlns:a16="http://schemas.microsoft.com/office/drawing/2014/main" id="{F7B7CCDF-45A7-454A-BDB7-F2387BB7506C}"/>
              </a:ext>
            </a:extLst>
          </p:cNvPr>
          <p:cNvSpPr>
            <a:spLocks noGrp="1"/>
          </p:cNvSpPr>
          <p:nvPr>
            <p:ph type="sldNum" sz="quarter" idx="12"/>
          </p:nvPr>
        </p:nvSpPr>
        <p:spPr/>
        <p:txBody>
          <a:bodyPr/>
          <a:lstStyle/>
          <a:p>
            <a:fld id="{8D4D1E41-7A09-AB4A-A4E1-09765ADA2698}" type="slidenum">
              <a:rPr kumimoji="1" lang="zh-CN" altLang="en-US" smtClean="0"/>
              <a:t>161</a:t>
            </a:fld>
            <a:endParaRPr kumimoji="1" lang="zh-CN" altLang="en-US" dirty="0"/>
          </a:p>
        </p:txBody>
      </p:sp>
      <p:graphicFrame>
        <p:nvGraphicFramePr>
          <p:cNvPr id="6" name="表格 6">
            <a:extLst>
              <a:ext uri="{FF2B5EF4-FFF2-40B4-BE49-F238E27FC236}">
                <a16:creationId xmlns:a16="http://schemas.microsoft.com/office/drawing/2014/main" id="{1882CEC3-4F62-4723-A128-73E804DB365B}"/>
              </a:ext>
            </a:extLst>
          </p:cNvPr>
          <p:cNvGraphicFramePr>
            <a:graphicFrameLocks/>
          </p:cNvGraphicFramePr>
          <p:nvPr>
            <p:extLst>
              <p:ext uri="{D42A27DB-BD31-4B8C-83A1-F6EECF244321}">
                <p14:modId xmlns:p14="http://schemas.microsoft.com/office/powerpoint/2010/main" val="3327623573"/>
              </p:ext>
            </p:extLst>
          </p:nvPr>
        </p:nvGraphicFramePr>
        <p:xfrm>
          <a:off x="7377135" y="1780232"/>
          <a:ext cx="4302369" cy="2968374"/>
        </p:xfrm>
        <a:graphic>
          <a:graphicData uri="http://schemas.openxmlformats.org/drawingml/2006/table">
            <a:tbl>
              <a:tblPr firstRow="1" bandRow="1">
                <a:tableStyleId>{5C22544A-7EE6-4342-B048-85BDC9FD1C3A}</a:tableStyleId>
              </a:tblPr>
              <a:tblGrid>
                <a:gridCol w="1478919">
                  <a:extLst>
                    <a:ext uri="{9D8B030D-6E8A-4147-A177-3AD203B41FA5}">
                      <a16:colId xmlns:a16="http://schemas.microsoft.com/office/drawing/2014/main" val="4150901823"/>
                    </a:ext>
                  </a:extLst>
                </a:gridCol>
                <a:gridCol w="2823450">
                  <a:extLst>
                    <a:ext uri="{9D8B030D-6E8A-4147-A177-3AD203B41FA5}">
                      <a16:colId xmlns:a16="http://schemas.microsoft.com/office/drawing/2014/main" val="2375920793"/>
                    </a:ext>
                  </a:extLst>
                </a:gridCol>
              </a:tblGrid>
              <a:tr h="494602">
                <a:tc>
                  <a:txBody>
                    <a:bodyPr/>
                    <a:lstStyle/>
                    <a:p>
                      <a:pPr algn="ctr">
                        <a:lnSpc>
                          <a:spcPct val="150000"/>
                        </a:lnSpc>
                        <a:spcBef>
                          <a:spcPts val="600"/>
                        </a:spcBef>
                        <a:spcAft>
                          <a:spcPts val="600"/>
                        </a:spcAft>
                      </a:pPr>
                      <a:r>
                        <a:rPr kumimoji="1" lang="zh-CN" altLang="en-US" sz="2000" b="0" dirty="0">
                          <a:solidFill>
                            <a:schemeClr val="tx1"/>
                          </a:solidFill>
                          <a:latin typeface="微软雅黑" panose="020B0503020204020204" pitchFamily="34" charset="-122"/>
                          <a:ea typeface="微软雅黑" panose="020B0503020204020204" pitchFamily="34" charset="-122"/>
                        </a:rPr>
                        <a:t>代码值</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lnSpc>
                          <a:spcPct val="150000"/>
                        </a:lnSpc>
                        <a:spcBef>
                          <a:spcPts val="600"/>
                        </a:spcBef>
                        <a:spcAft>
                          <a:spcPts val="600"/>
                        </a:spcAft>
                      </a:pPr>
                      <a:r>
                        <a:rPr lang="en-US" altLang="zh-CN" sz="2000" b="0" err="1">
                          <a:solidFill>
                            <a:schemeClr val="tx1"/>
                          </a:solidFill>
                          <a:latin typeface="微软雅黑" panose="020B0503020204020204" pitchFamily="34" charset="-122"/>
                          <a:ea typeface="微软雅黑" panose="020B0503020204020204" pitchFamily="34" charset="-122"/>
                        </a:rPr>
                        <a:t>PPPoE</a:t>
                      </a:r>
                      <a:r>
                        <a:rPr lang="en-US" altLang="zh-CN" sz="2000" b="0">
                          <a:solidFill>
                            <a:schemeClr val="tx1"/>
                          </a:solidFill>
                          <a:latin typeface="微软雅黑" panose="020B0503020204020204" pitchFamily="34" charset="-122"/>
                          <a:ea typeface="微软雅黑" panose="020B0503020204020204" pitchFamily="34" charset="-122"/>
                        </a:rPr>
                        <a:t> </a:t>
                      </a:r>
                      <a:r>
                        <a:rPr lang="zh-CN" altLang="en-US" sz="2000" b="0">
                          <a:solidFill>
                            <a:schemeClr val="tx1"/>
                          </a:solidFill>
                          <a:latin typeface="微软雅黑" panose="020B0503020204020204" pitchFamily="34" charset="-122"/>
                          <a:ea typeface="微软雅黑" panose="020B0503020204020204" pitchFamily="34" charset="-122"/>
                        </a:rPr>
                        <a:t>报文类型</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038575499"/>
                  </a:ext>
                </a:extLst>
              </a:tr>
              <a:tr h="494602">
                <a:tc>
                  <a:txBody>
                    <a:bodyPr/>
                    <a:lstStyle/>
                    <a:p>
                      <a:pPr algn="ctr">
                        <a:lnSpc>
                          <a:spcPct val="150000"/>
                        </a:lnSpc>
                        <a:spcBef>
                          <a:spcPts val="600"/>
                        </a:spcBef>
                        <a:spcAft>
                          <a:spcPts val="600"/>
                        </a:spcAft>
                      </a:pPr>
                      <a:r>
                        <a:rPr lang="en-US" altLang="zh-CN" sz="2000" b="0" kern="1200" dirty="0">
                          <a:solidFill>
                            <a:schemeClr val="tx1"/>
                          </a:solidFill>
                          <a:latin typeface="微软雅黑" panose="020B0503020204020204" pitchFamily="34" charset="-122"/>
                          <a:ea typeface="微软雅黑" panose="020B0503020204020204" pitchFamily="34" charset="-122"/>
                        </a:rPr>
                        <a:t>0x00</a:t>
                      </a:r>
                      <a:endParaRPr lang="zh-CN" altLang="en-US" sz="2000" b="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50000"/>
                        </a:lnSpc>
                        <a:spcBef>
                          <a:spcPts val="600"/>
                        </a:spcBef>
                        <a:spcAft>
                          <a:spcPts val="600"/>
                        </a:spcAft>
                      </a:pPr>
                      <a:r>
                        <a:rPr lang="zh-CN" altLang="en-US" sz="2000" b="0" kern="1200" dirty="0">
                          <a:solidFill>
                            <a:schemeClr val="tx1"/>
                          </a:solidFill>
                          <a:latin typeface="微软雅黑" panose="020B0503020204020204" pitchFamily="34" charset="-122"/>
                          <a:ea typeface="微软雅黑" panose="020B0503020204020204" pitchFamily="34" charset="-122"/>
                        </a:rPr>
                        <a:t>会话数据</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10874693"/>
                  </a:ext>
                </a:extLst>
              </a:tr>
              <a:tr h="494602">
                <a:tc>
                  <a:txBody>
                    <a:bodyPr/>
                    <a:lstStyle/>
                    <a:p>
                      <a:pPr marL="0" lvl="1" algn="ctr"/>
                      <a:r>
                        <a:rPr lang="en-US" altLang="zh-CN" sz="2000" b="0" kern="1200" dirty="0">
                          <a:solidFill>
                            <a:schemeClr val="tx1"/>
                          </a:solidFill>
                          <a:latin typeface="微软雅黑" panose="020B0503020204020204" pitchFamily="34" charset="-122"/>
                          <a:ea typeface="微软雅黑" panose="020B0503020204020204" pitchFamily="34" charset="-122"/>
                        </a:rPr>
                        <a:t>0x09</a:t>
                      </a:r>
                      <a:endParaRPr lang="zh-CN" altLang="en-US" sz="2000" b="0" kern="1200" dirty="0">
                        <a:solidFill>
                          <a:schemeClr val="tx1"/>
                        </a:solidFill>
                        <a:latin typeface="微软雅黑" panose="020B0503020204020204" pitchFamily="34" charset="-122"/>
                        <a:ea typeface="微软雅黑" panose="020B0503020204020204" pitchFamily="34"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50000"/>
                        </a:lnSpc>
                        <a:spcBef>
                          <a:spcPts val="600"/>
                        </a:spcBef>
                        <a:spcAft>
                          <a:spcPts val="600"/>
                        </a:spcAft>
                        <a:buClrTx/>
                        <a:buSzTx/>
                        <a:buFontTx/>
                        <a:buNone/>
                        <a:tabLst/>
                        <a:defRPr/>
                      </a:pPr>
                      <a:r>
                        <a:rPr lang="en-US" altLang="zh-CN" sz="2000" b="0" kern="1200" dirty="0">
                          <a:solidFill>
                            <a:schemeClr val="tx1"/>
                          </a:solidFill>
                          <a:latin typeface="微软雅黑" panose="020B0503020204020204" pitchFamily="34" charset="-122"/>
                          <a:ea typeface="微软雅黑" panose="020B0503020204020204" pitchFamily="34" charset="-122"/>
                        </a:rPr>
                        <a:t>PADI </a:t>
                      </a:r>
                      <a:r>
                        <a:rPr lang="zh-CN" altLang="en-US" sz="2000" b="0" kern="1200" dirty="0">
                          <a:solidFill>
                            <a:schemeClr val="tx1"/>
                          </a:solidFill>
                          <a:latin typeface="微软雅黑" panose="020B0503020204020204" pitchFamily="34" charset="-122"/>
                          <a:ea typeface="微软雅黑" panose="020B0503020204020204" pitchFamily="34" charset="-122"/>
                        </a:rPr>
                        <a:t>报文</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84616782"/>
                  </a:ext>
                </a:extLst>
              </a:tr>
              <a:tr h="494602">
                <a:tc>
                  <a:txBody>
                    <a:bodyPr/>
                    <a:lstStyle/>
                    <a:p>
                      <a:pPr marL="0" marR="0" lvl="0" indent="0" algn="ctr" defTabSz="914400" rtl="0" eaLnBrk="1" fontAlgn="auto" latinLnBrk="0" hangingPunct="1">
                        <a:lnSpc>
                          <a:spcPct val="150000"/>
                        </a:lnSpc>
                        <a:spcBef>
                          <a:spcPts val="600"/>
                        </a:spcBef>
                        <a:spcAft>
                          <a:spcPts val="600"/>
                        </a:spcAft>
                        <a:buClrTx/>
                        <a:buSzTx/>
                        <a:buFontTx/>
                        <a:buNone/>
                        <a:tabLst/>
                        <a:defRPr/>
                      </a:pPr>
                      <a:r>
                        <a:rPr lang="en-US" altLang="zh-CN" sz="2000" b="0" kern="1200" dirty="0">
                          <a:solidFill>
                            <a:schemeClr val="tx1"/>
                          </a:solidFill>
                          <a:latin typeface="微软雅黑" panose="020B0503020204020204" pitchFamily="34" charset="-122"/>
                          <a:ea typeface="微软雅黑" panose="020B0503020204020204" pitchFamily="34" charset="-122"/>
                        </a:rPr>
                        <a:t>0x07</a:t>
                      </a:r>
                      <a:endParaRPr lang="zh-CN" altLang="en-US" sz="2000" b="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50000"/>
                        </a:lnSpc>
                        <a:spcBef>
                          <a:spcPts val="600"/>
                        </a:spcBef>
                        <a:spcAft>
                          <a:spcPts val="600"/>
                        </a:spcAft>
                        <a:buClrTx/>
                        <a:buSzTx/>
                        <a:buFontTx/>
                        <a:buNone/>
                        <a:tabLst/>
                        <a:defRPr/>
                      </a:pPr>
                      <a:r>
                        <a:rPr lang="en-US" altLang="zh-CN" sz="2000" b="0" kern="1200" dirty="0">
                          <a:solidFill>
                            <a:schemeClr val="tx1"/>
                          </a:solidFill>
                          <a:latin typeface="微软雅黑" panose="020B0503020204020204" pitchFamily="34" charset="-122"/>
                          <a:ea typeface="微软雅黑" panose="020B0503020204020204" pitchFamily="34" charset="-122"/>
                        </a:rPr>
                        <a:t>PADO </a:t>
                      </a:r>
                      <a:r>
                        <a:rPr lang="zh-CN" altLang="en-US" sz="2000" b="0" kern="1200" dirty="0">
                          <a:solidFill>
                            <a:schemeClr val="tx1"/>
                          </a:solidFill>
                          <a:latin typeface="微软雅黑" panose="020B0503020204020204" pitchFamily="34" charset="-122"/>
                          <a:ea typeface="微软雅黑" panose="020B0503020204020204" pitchFamily="34" charset="-122"/>
                        </a:rPr>
                        <a:t>或 </a:t>
                      </a:r>
                      <a:r>
                        <a:rPr lang="en-US" altLang="zh-CN" sz="2000" b="0" kern="1200" dirty="0">
                          <a:solidFill>
                            <a:schemeClr val="tx1"/>
                          </a:solidFill>
                          <a:latin typeface="微软雅黑" panose="020B0503020204020204" pitchFamily="34" charset="-122"/>
                          <a:ea typeface="微软雅黑" panose="020B0503020204020204" pitchFamily="34" charset="-122"/>
                        </a:rPr>
                        <a:t>PADT </a:t>
                      </a:r>
                      <a:r>
                        <a:rPr lang="zh-CN" altLang="en-US" sz="2000" b="0" kern="1200" dirty="0">
                          <a:solidFill>
                            <a:schemeClr val="tx1"/>
                          </a:solidFill>
                          <a:latin typeface="微软雅黑" panose="020B0503020204020204" pitchFamily="34" charset="-122"/>
                          <a:ea typeface="微软雅黑" panose="020B0503020204020204" pitchFamily="34" charset="-122"/>
                        </a:rPr>
                        <a:t>报文</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02649475"/>
                  </a:ext>
                </a:extLst>
              </a:tr>
              <a:tr h="494602">
                <a:tc>
                  <a:txBody>
                    <a:bodyPr/>
                    <a:lstStyle/>
                    <a:p>
                      <a:pPr marL="0" marR="0" lvl="0" indent="0" algn="ctr" defTabSz="914400" rtl="0" eaLnBrk="1" fontAlgn="auto" latinLnBrk="0" hangingPunct="1">
                        <a:lnSpc>
                          <a:spcPct val="150000"/>
                        </a:lnSpc>
                        <a:spcBef>
                          <a:spcPts val="600"/>
                        </a:spcBef>
                        <a:spcAft>
                          <a:spcPts val="600"/>
                        </a:spcAft>
                        <a:buClrTx/>
                        <a:buSzTx/>
                        <a:buFontTx/>
                        <a:buNone/>
                        <a:tabLst/>
                        <a:defRPr/>
                      </a:pPr>
                      <a:r>
                        <a:rPr lang="en-US" altLang="zh-CN" sz="2000" b="0" kern="1200" dirty="0">
                          <a:solidFill>
                            <a:schemeClr val="tx1"/>
                          </a:solidFill>
                          <a:latin typeface="微软雅黑" panose="020B0503020204020204" pitchFamily="34" charset="-122"/>
                          <a:ea typeface="微软雅黑" panose="020B0503020204020204" pitchFamily="34" charset="-122"/>
                        </a:rPr>
                        <a:t>0x19</a:t>
                      </a:r>
                      <a:endParaRPr lang="en-US" altLang="zh-CN" sz="2000" b="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50000"/>
                        </a:lnSpc>
                        <a:spcBef>
                          <a:spcPts val="600"/>
                        </a:spcBef>
                        <a:spcAft>
                          <a:spcPts val="600"/>
                        </a:spcAft>
                        <a:buClrTx/>
                        <a:buSzTx/>
                        <a:buFontTx/>
                        <a:buNone/>
                        <a:tabLst/>
                        <a:defRPr/>
                      </a:pPr>
                      <a:r>
                        <a:rPr lang="zh-CN" altLang="en-US" sz="2000" b="0" kern="1200" dirty="0">
                          <a:solidFill>
                            <a:schemeClr val="tx1"/>
                          </a:solidFill>
                          <a:latin typeface="微软雅黑" panose="020B0503020204020204" pitchFamily="34" charset="-122"/>
                          <a:ea typeface="微软雅黑" panose="020B0503020204020204" pitchFamily="34" charset="-122"/>
                        </a:rPr>
                        <a:t> </a:t>
                      </a:r>
                      <a:r>
                        <a:rPr lang="en-US" altLang="zh-CN" sz="2000" b="0" kern="1200" dirty="0">
                          <a:solidFill>
                            <a:schemeClr val="tx1"/>
                          </a:solidFill>
                          <a:latin typeface="微软雅黑" panose="020B0503020204020204" pitchFamily="34" charset="-122"/>
                          <a:ea typeface="微软雅黑" panose="020B0503020204020204" pitchFamily="34" charset="-122"/>
                        </a:rPr>
                        <a:t>PADR </a:t>
                      </a:r>
                      <a:r>
                        <a:rPr lang="zh-CN" altLang="en-US" sz="2000" b="0" kern="1200" dirty="0">
                          <a:solidFill>
                            <a:schemeClr val="tx1"/>
                          </a:solidFill>
                          <a:latin typeface="微软雅黑" panose="020B0503020204020204" pitchFamily="34" charset="-122"/>
                          <a:ea typeface="微软雅黑" panose="020B0503020204020204" pitchFamily="34" charset="-122"/>
                        </a:rPr>
                        <a:t>报文</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18192561"/>
                  </a:ext>
                </a:extLst>
              </a:tr>
              <a:tr h="494602">
                <a:tc>
                  <a:txBody>
                    <a:bodyPr/>
                    <a:lstStyle/>
                    <a:p>
                      <a:pPr marL="0" marR="0" lvl="0" indent="0" algn="ctr" defTabSz="914400" rtl="0" eaLnBrk="1" fontAlgn="auto" latinLnBrk="0" hangingPunct="1">
                        <a:lnSpc>
                          <a:spcPct val="150000"/>
                        </a:lnSpc>
                        <a:spcBef>
                          <a:spcPts val="600"/>
                        </a:spcBef>
                        <a:spcAft>
                          <a:spcPts val="600"/>
                        </a:spcAft>
                        <a:buClrTx/>
                        <a:buSzTx/>
                        <a:buFontTx/>
                        <a:buNone/>
                        <a:tabLst/>
                        <a:defRPr/>
                      </a:pPr>
                      <a:r>
                        <a:rPr lang="en-US" altLang="zh-CN" sz="2000" b="0" kern="1200" dirty="0">
                          <a:solidFill>
                            <a:schemeClr val="tx1"/>
                          </a:solidFill>
                          <a:latin typeface="微软雅黑" panose="020B0503020204020204" pitchFamily="34" charset="-122"/>
                          <a:ea typeface="微软雅黑" panose="020B0503020204020204" pitchFamily="34" charset="-122"/>
                        </a:rPr>
                        <a:t>0x65</a:t>
                      </a:r>
                      <a:endParaRPr lang="en-US" altLang="zh-CN" sz="2000" b="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50000"/>
                        </a:lnSpc>
                        <a:spcBef>
                          <a:spcPts val="600"/>
                        </a:spcBef>
                        <a:spcAft>
                          <a:spcPts val="600"/>
                        </a:spcAft>
                        <a:buClrTx/>
                        <a:buSzTx/>
                        <a:buFontTx/>
                        <a:buNone/>
                        <a:tabLst/>
                        <a:defRPr/>
                      </a:pPr>
                      <a:r>
                        <a:rPr lang="zh-CN" altLang="en-US" sz="2000" b="0" kern="1200" dirty="0">
                          <a:solidFill>
                            <a:schemeClr val="tx1"/>
                          </a:solidFill>
                          <a:latin typeface="微软雅黑" panose="020B0503020204020204" pitchFamily="34" charset="-122"/>
                          <a:ea typeface="微软雅黑" panose="020B0503020204020204" pitchFamily="34" charset="-122"/>
                        </a:rPr>
                        <a:t> </a:t>
                      </a:r>
                      <a:r>
                        <a:rPr lang="en-US" altLang="zh-CN" sz="2000" b="0" kern="1200" dirty="0">
                          <a:solidFill>
                            <a:schemeClr val="tx1"/>
                          </a:solidFill>
                          <a:latin typeface="微软雅黑" panose="020B0503020204020204" pitchFamily="34" charset="-122"/>
                          <a:ea typeface="微软雅黑" panose="020B0503020204020204" pitchFamily="34" charset="-122"/>
                        </a:rPr>
                        <a:t>PADS </a:t>
                      </a:r>
                      <a:r>
                        <a:rPr lang="zh-CN" altLang="en-US" sz="2000" b="0" kern="1200" dirty="0">
                          <a:solidFill>
                            <a:schemeClr val="tx1"/>
                          </a:solidFill>
                          <a:latin typeface="微软雅黑" panose="020B0503020204020204" pitchFamily="34" charset="-122"/>
                          <a:ea typeface="微软雅黑" panose="020B0503020204020204" pitchFamily="34" charset="-122"/>
                        </a:rPr>
                        <a:t>报文</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99784975"/>
                  </a:ext>
                </a:extLst>
              </a:tr>
            </a:tbl>
          </a:graphicData>
        </a:graphic>
      </p:graphicFrame>
      <p:sp>
        <p:nvSpPr>
          <p:cNvPr id="8" name="文本框 7">
            <a:extLst>
              <a:ext uri="{FF2B5EF4-FFF2-40B4-BE49-F238E27FC236}">
                <a16:creationId xmlns:a16="http://schemas.microsoft.com/office/drawing/2014/main" id="{6F6117F5-5EE2-4CC2-8F6E-61753726B5D7}"/>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Tree>
    <p:extLst>
      <p:ext uri="{BB962C8B-B14F-4D97-AF65-F5344CB8AC3E}">
        <p14:creationId xmlns:p14="http://schemas.microsoft.com/office/powerpoint/2010/main" val="3531936262"/>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5C7C5AD-C998-B644-8819-0D4C854F9DD7}"/>
              </a:ext>
            </a:extLst>
          </p:cNvPr>
          <p:cNvSpPr>
            <a:spLocks noGrp="1"/>
          </p:cNvSpPr>
          <p:nvPr>
            <p:ph type="title"/>
          </p:nvPr>
        </p:nvSpPr>
        <p:spPr/>
        <p:txBody>
          <a:bodyPr/>
          <a:lstStyle/>
          <a:p>
            <a:r>
              <a:rPr kumimoji="1" lang="en-US" altLang="zh-CN" dirty="0" err="1"/>
              <a:t>PPPoE</a:t>
            </a:r>
            <a:r>
              <a:rPr kumimoji="1" lang="zh-CN" altLang="en-US" dirty="0"/>
              <a:t>工作过程</a:t>
            </a:r>
          </a:p>
        </p:txBody>
      </p:sp>
      <p:sp>
        <p:nvSpPr>
          <p:cNvPr id="3" name="内容占位符 2">
            <a:extLst>
              <a:ext uri="{FF2B5EF4-FFF2-40B4-BE49-F238E27FC236}">
                <a16:creationId xmlns:a16="http://schemas.microsoft.com/office/drawing/2014/main" id="{A1F0140C-FCAA-5D43-8B5F-DFA35B6636D6}"/>
              </a:ext>
            </a:extLst>
          </p:cNvPr>
          <p:cNvSpPr>
            <a:spLocks noGrp="1"/>
          </p:cNvSpPr>
          <p:nvPr>
            <p:ph idx="1"/>
          </p:nvPr>
        </p:nvSpPr>
        <p:spPr>
          <a:xfrm>
            <a:off x="795867" y="1323818"/>
            <a:ext cx="5935782" cy="5215094"/>
          </a:xfrm>
        </p:spPr>
        <p:txBody>
          <a:bodyPr>
            <a:normAutofit/>
          </a:bodyPr>
          <a:lstStyle/>
          <a:p>
            <a:pPr fontAlgn="base">
              <a:lnSpc>
                <a:spcPct val="130000"/>
              </a:lnSpc>
            </a:pPr>
            <a:r>
              <a:rPr lang="en-US" altLang="zh-CN" dirty="0"/>
              <a:t>PPPoE</a:t>
            </a:r>
            <a:r>
              <a:rPr lang="zh-CN" altLang="en-US" dirty="0"/>
              <a:t>可分为三个阶段：</a:t>
            </a:r>
            <a:endParaRPr lang="en-US" altLang="zh-CN" dirty="0"/>
          </a:p>
          <a:p>
            <a:pPr lvl="1" fontAlgn="base">
              <a:lnSpc>
                <a:spcPct val="130000"/>
              </a:lnSpc>
            </a:pPr>
            <a:r>
              <a:rPr lang="en-US" altLang="zh-CN" dirty="0"/>
              <a:t>Discovery</a:t>
            </a:r>
            <a:r>
              <a:rPr lang="zh-CN" altLang="en-US" dirty="0"/>
              <a:t>阶段</a:t>
            </a:r>
            <a:endParaRPr lang="en-US" altLang="zh-CN" dirty="0"/>
          </a:p>
          <a:p>
            <a:pPr lvl="2" indent="-330200" fontAlgn="base">
              <a:lnSpc>
                <a:spcPct val="130000"/>
              </a:lnSpc>
              <a:buFont typeface="Microsoft YaHei" panose="020B0503020204020204" pitchFamily="34" charset="-122"/>
              <a:buChar char="−"/>
            </a:pPr>
            <a:r>
              <a:rPr lang="zh-CN" altLang="en-US" dirty="0"/>
              <a:t>获取对方以太网地址，确定</a:t>
            </a:r>
            <a:r>
              <a:rPr lang="en-US" altLang="zh-CN" dirty="0" err="1"/>
              <a:t>PPPoE</a:t>
            </a:r>
            <a:r>
              <a:rPr lang="zh-CN" altLang="en-US" dirty="0"/>
              <a:t>会话</a:t>
            </a:r>
            <a:r>
              <a:rPr lang="en-US" altLang="zh-CN" dirty="0"/>
              <a:t>ID</a:t>
            </a:r>
          </a:p>
          <a:p>
            <a:pPr lvl="1" fontAlgn="base">
              <a:lnSpc>
                <a:spcPct val="130000"/>
              </a:lnSpc>
            </a:pPr>
            <a:r>
              <a:rPr lang="en-US" altLang="zh-CN" dirty="0"/>
              <a:t>Session</a:t>
            </a:r>
            <a:r>
              <a:rPr lang="zh-CN" altLang="en-US" dirty="0"/>
              <a:t>阶段</a:t>
            </a:r>
            <a:endParaRPr lang="en-US" altLang="zh-CN" dirty="0"/>
          </a:p>
          <a:p>
            <a:pPr lvl="2" indent="-330200" fontAlgn="base">
              <a:lnSpc>
                <a:spcPct val="130000"/>
              </a:lnSpc>
              <a:buFont typeface="Microsoft YaHei" panose="020B0503020204020204" pitchFamily="34" charset="-122"/>
              <a:buChar char="−"/>
            </a:pPr>
            <a:r>
              <a:rPr lang="en-US" altLang="zh-CN" dirty="0"/>
              <a:t>PPP</a:t>
            </a:r>
            <a:r>
              <a:rPr lang="zh-CN" altLang="en-US" dirty="0"/>
              <a:t>协商阶段</a:t>
            </a:r>
            <a:endParaRPr lang="en-US" altLang="zh-CN" dirty="0"/>
          </a:p>
          <a:p>
            <a:pPr lvl="2" indent="-330200" fontAlgn="base">
              <a:lnSpc>
                <a:spcPct val="130000"/>
              </a:lnSpc>
              <a:buFont typeface="Microsoft YaHei" panose="020B0503020204020204" pitchFamily="34" charset="-122"/>
              <a:buChar char="−"/>
            </a:pPr>
            <a:r>
              <a:rPr lang="en-US" altLang="zh-CN" dirty="0"/>
              <a:t>PPP</a:t>
            </a:r>
            <a:r>
              <a:rPr lang="zh-CN" altLang="en-US" dirty="0"/>
              <a:t>报数数据传输</a:t>
            </a:r>
            <a:endParaRPr lang="en-US" altLang="zh-CN" dirty="0"/>
          </a:p>
          <a:p>
            <a:pPr lvl="1" fontAlgn="base">
              <a:lnSpc>
                <a:spcPct val="130000"/>
              </a:lnSpc>
            </a:pPr>
            <a:r>
              <a:rPr lang="en-US" altLang="zh-CN" dirty="0"/>
              <a:t>Terminate</a:t>
            </a:r>
            <a:r>
              <a:rPr lang="zh-CN" altLang="en-US" dirty="0"/>
              <a:t>阶段</a:t>
            </a:r>
            <a:endParaRPr lang="en-US" altLang="zh-CN" dirty="0"/>
          </a:p>
          <a:p>
            <a:pPr lvl="2" indent="-330200" fontAlgn="base">
              <a:lnSpc>
                <a:spcPct val="130000"/>
              </a:lnSpc>
              <a:buFont typeface="Microsoft YaHei" panose="020B0503020204020204" pitchFamily="34" charset="-122"/>
              <a:buChar char="−"/>
            </a:pPr>
            <a:r>
              <a:rPr lang="zh-CN" altLang="en-US" dirty="0"/>
              <a:t>会话建立以后的任意时刻，发送报文结束会话</a:t>
            </a:r>
            <a:endParaRPr lang="en-US" altLang="zh-CN" dirty="0"/>
          </a:p>
        </p:txBody>
      </p:sp>
      <p:sp>
        <p:nvSpPr>
          <p:cNvPr id="4" name="灯片编号占位符 3">
            <a:extLst>
              <a:ext uri="{FF2B5EF4-FFF2-40B4-BE49-F238E27FC236}">
                <a16:creationId xmlns:a16="http://schemas.microsoft.com/office/drawing/2014/main" id="{3302B9EC-4CB6-9348-8325-95ADC73F281A}"/>
              </a:ext>
            </a:extLst>
          </p:cNvPr>
          <p:cNvSpPr>
            <a:spLocks noGrp="1"/>
          </p:cNvSpPr>
          <p:nvPr>
            <p:ph type="sldNum" sz="quarter" idx="12"/>
          </p:nvPr>
        </p:nvSpPr>
        <p:spPr/>
        <p:txBody>
          <a:bodyPr/>
          <a:lstStyle/>
          <a:p>
            <a:fld id="{8D4D1E41-7A09-AB4A-A4E1-09765ADA2698}" type="slidenum">
              <a:rPr kumimoji="1" lang="zh-CN" altLang="en-US" smtClean="0"/>
              <a:t>162</a:t>
            </a:fld>
            <a:endParaRPr kumimoji="1" lang="zh-CN" altLang="en-US" dirty="0"/>
          </a:p>
        </p:txBody>
      </p:sp>
      <p:sp>
        <p:nvSpPr>
          <p:cNvPr id="7" name="文本框 6">
            <a:extLst>
              <a:ext uri="{FF2B5EF4-FFF2-40B4-BE49-F238E27FC236}">
                <a16:creationId xmlns:a16="http://schemas.microsoft.com/office/drawing/2014/main" id="{852E6E7C-B0B6-479B-B6B3-43C924B5CAEB}"/>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Tree>
    <p:extLst>
      <p:ext uri="{BB962C8B-B14F-4D97-AF65-F5344CB8AC3E}">
        <p14:creationId xmlns:p14="http://schemas.microsoft.com/office/powerpoint/2010/main" val="1038087207"/>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DE749A-3A56-4848-8201-AE952FDAE574}"/>
              </a:ext>
            </a:extLst>
          </p:cNvPr>
          <p:cNvSpPr>
            <a:spLocks noGrp="1"/>
          </p:cNvSpPr>
          <p:nvPr>
            <p:ph type="title"/>
          </p:nvPr>
        </p:nvSpPr>
        <p:spPr/>
        <p:txBody>
          <a:bodyPr/>
          <a:lstStyle/>
          <a:p>
            <a:r>
              <a:rPr kumimoji="1" lang="en-US" altLang="zh-CN" dirty="0" err="1"/>
              <a:t>PPPoE</a:t>
            </a:r>
            <a:r>
              <a:rPr kumimoji="1" lang="zh-CN" altLang="en-US" dirty="0"/>
              <a:t>工作过程</a:t>
            </a:r>
          </a:p>
        </p:txBody>
      </p:sp>
      <p:sp>
        <p:nvSpPr>
          <p:cNvPr id="3" name="内容占位符 2">
            <a:extLst>
              <a:ext uri="{FF2B5EF4-FFF2-40B4-BE49-F238E27FC236}">
                <a16:creationId xmlns:a16="http://schemas.microsoft.com/office/drawing/2014/main" id="{4DD0F5DF-ACC6-EF47-8712-87783CAA3125}"/>
              </a:ext>
            </a:extLst>
          </p:cNvPr>
          <p:cNvSpPr>
            <a:spLocks noGrp="1"/>
          </p:cNvSpPr>
          <p:nvPr>
            <p:ph idx="1"/>
          </p:nvPr>
        </p:nvSpPr>
        <p:spPr/>
        <p:txBody>
          <a:bodyPr/>
          <a:lstStyle/>
          <a:p>
            <a:pPr fontAlgn="base">
              <a:lnSpc>
                <a:spcPct val="120000"/>
              </a:lnSpc>
            </a:pPr>
            <a:r>
              <a:rPr lang="en-US" altLang="zh-CN" dirty="0"/>
              <a:t>Discovery</a:t>
            </a:r>
            <a:r>
              <a:rPr lang="zh-CN" altLang="en-US" dirty="0"/>
              <a:t>阶段和</a:t>
            </a:r>
            <a:r>
              <a:rPr lang="en-US" altLang="zh-CN" dirty="0"/>
              <a:t>Terminate</a:t>
            </a:r>
            <a:r>
              <a:rPr lang="zh-CN" altLang="en-US" dirty="0"/>
              <a:t>阶段使用的报文类型</a:t>
            </a:r>
            <a:endParaRPr lang="en-US" altLang="zh-CN" dirty="0"/>
          </a:p>
          <a:p>
            <a:endParaRPr kumimoji="1" lang="zh-CN" altLang="en-US" dirty="0"/>
          </a:p>
        </p:txBody>
      </p:sp>
      <p:sp>
        <p:nvSpPr>
          <p:cNvPr id="4" name="灯片编号占位符 3">
            <a:extLst>
              <a:ext uri="{FF2B5EF4-FFF2-40B4-BE49-F238E27FC236}">
                <a16:creationId xmlns:a16="http://schemas.microsoft.com/office/drawing/2014/main" id="{6B325A4B-8D8E-2046-BB49-A38C7962CBDC}"/>
              </a:ext>
            </a:extLst>
          </p:cNvPr>
          <p:cNvSpPr>
            <a:spLocks noGrp="1"/>
          </p:cNvSpPr>
          <p:nvPr>
            <p:ph type="sldNum" sz="quarter" idx="12"/>
          </p:nvPr>
        </p:nvSpPr>
        <p:spPr/>
        <p:txBody>
          <a:bodyPr/>
          <a:lstStyle/>
          <a:p>
            <a:fld id="{8D4D1E41-7A09-AB4A-A4E1-09765ADA2698}" type="slidenum">
              <a:rPr kumimoji="1" lang="zh-CN" altLang="en-US" smtClean="0"/>
              <a:t>163</a:t>
            </a:fld>
            <a:endParaRPr kumimoji="1" lang="zh-CN" altLang="en-US" dirty="0"/>
          </a:p>
        </p:txBody>
      </p:sp>
      <p:graphicFrame>
        <p:nvGraphicFramePr>
          <p:cNvPr id="5" name="表格 6">
            <a:extLst>
              <a:ext uri="{FF2B5EF4-FFF2-40B4-BE49-F238E27FC236}">
                <a16:creationId xmlns:a16="http://schemas.microsoft.com/office/drawing/2014/main" id="{C805118F-0858-46CA-AEAA-5E6B3C80042B}"/>
              </a:ext>
            </a:extLst>
          </p:cNvPr>
          <p:cNvGraphicFramePr>
            <a:graphicFrameLocks/>
          </p:cNvGraphicFramePr>
          <p:nvPr>
            <p:extLst>
              <p:ext uri="{D42A27DB-BD31-4B8C-83A1-F6EECF244321}">
                <p14:modId xmlns:p14="http://schemas.microsoft.com/office/powerpoint/2010/main" val="4261831118"/>
              </p:ext>
            </p:extLst>
          </p:nvPr>
        </p:nvGraphicFramePr>
        <p:xfrm>
          <a:off x="985582" y="2365451"/>
          <a:ext cx="10147856" cy="2985674"/>
        </p:xfrm>
        <a:graphic>
          <a:graphicData uri="http://schemas.openxmlformats.org/drawingml/2006/table">
            <a:tbl>
              <a:tblPr firstRow="1" bandRow="1">
                <a:tableStyleId>{7DF18680-E054-41AD-8BC1-D1AEF772440D}</a:tableStyleId>
              </a:tblPr>
              <a:tblGrid>
                <a:gridCol w="6885672">
                  <a:extLst>
                    <a:ext uri="{9D8B030D-6E8A-4147-A177-3AD203B41FA5}">
                      <a16:colId xmlns:a16="http://schemas.microsoft.com/office/drawing/2014/main" val="4150901823"/>
                    </a:ext>
                  </a:extLst>
                </a:gridCol>
                <a:gridCol w="3262184">
                  <a:extLst>
                    <a:ext uri="{9D8B030D-6E8A-4147-A177-3AD203B41FA5}">
                      <a16:colId xmlns:a16="http://schemas.microsoft.com/office/drawing/2014/main" val="2375920793"/>
                    </a:ext>
                  </a:extLst>
                </a:gridCol>
              </a:tblGrid>
              <a:tr h="394254">
                <a:tc>
                  <a:txBody>
                    <a:bodyPr/>
                    <a:lstStyle/>
                    <a:p>
                      <a:pPr marL="0" marR="0" lvl="0" indent="0" algn="ctr" defTabSz="914400" rtl="0" eaLnBrk="1" fontAlgn="auto" latinLnBrk="0" hangingPunct="1">
                        <a:lnSpc>
                          <a:spcPct val="150000"/>
                        </a:lnSpc>
                        <a:spcBef>
                          <a:spcPts val="600"/>
                        </a:spcBef>
                        <a:spcAft>
                          <a:spcPts val="600"/>
                        </a:spcAft>
                        <a:buClrTx/>
                        <a:buSzTx/>
                        <a:buFontTx/>
                        <a:buNone/>
                        <a:tabLst/>
                        <a:defRPr/>
                      </a:pPr>
                      <a:r>
                        <a:rPr lang="zh-CN" altLang="en-US" sz="2000" b="0" kern="1200" dirty="0">
                          <a:solidFill>
                            <a:schemeClr val="tx1"/>
                          </a:solidFill>
                          <a:latin typeface="微软雅黑" panose="020B0503020204020204" pitchFamily="34" charset="-122"/>
                          <a:ea typeface="微软雅黑" panose="020B0503020204020204" pitchFamily="34" charset="-122"/>
                          <a:cs typeface="+mn-cs"/>
                        </a:rPr>
                        <a:t>类型</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50000"/>
                        </a:lnSpc>
                        <a:spcBef>
                          <a:spcPts val="600"/>
                        </a:spcBef>
                        <a:spcAft>
                          <a:spcPts val="600"/>
                        </a:spcAft>
                        <a:buClrTx/>
                        <a:buSzTx/>
                        <a:buFontTx/>
                        <a:buNone/>
                        <a:tabLst/>
                        <a:defRPr/>
                      </a:pPr>
                      <a:r>
                        <a:rPr lang="zh-CN" altLang="en-US" sz="2000" b="0" kern="1200" dirty="0">
                          <a:solidFill>
                            <a:schemeClr val="tx1"/>
                          </a:solidFill>
                          <a:latin typeface="微软雅黑" panose="020B0503020204020204" pitchFamily="34" charset="-122"/>
                          <a:ea typeface="微软雅黑" panose="020B0503020204020204" pitchFamily="34" charset="-122"/>
                          <a:cs typeface="+mn-cs"/>
                        </a:rPr>
                        <a:t>描述</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38575499"/>
                  </a:ext>
                </a:extLst>
              </a:tr>
              <a:tr h="498189">
                <a:tc>
                  <a:txBody>
                    <a:bodyPr/>
                    <a:lstStyle/>
                    <a:p>
                      <a:pPr marL="0" marR="0" lvl="0" indent="0" algn="ctr" defTabSz="914400" rtl="0" eaLnBrk="1" fontAlgn="auto" latinLnBrk="0" hangingPunct="1">
                        <a:lnSpc>
                          <a:spcPct val="150000"/>
                        </a:lnSpc>
                        <a:spcBef>
                          <a:spcPts val="600"/>
                        </a:spcBef>
                        <a:spcAft>
                          <a:spcPts val="600"/>
                        </a:spcAft>
                        <a:buClrTx/>
                        <a:buSzTx/>
                        <a:buFontTx/>
                        <a:buNone/>
                        <a:tabLst/>
                        <a:defRPr/>
                      </a:pPr>
                      <a:r>
                        <a:rPr lang="en-US" altLang="zh-CN" sz="2000" b="0" kern="1200" dirty="0">
                          <a:solidFill>
                            <a:schemeClr val="tx1"/>
                          </a:solidFill>
                          <a:latin typeface="微软雅黑" panose="020B0503020204020204" pitchFamily="34" charset="-122"/>
                          <a:ea typeface="微软雅黑" panose="020B0503020204020204" pitchFamily="34" charset="-122"/>
                          <a:cs typeface="+mn-cs"/>
                        </a:rPr>
                        <a:t>PADI</a:t>
                      </a:r>
                      <a:r>
                        <a:rPr lang="zh-CN" altLang="en-US" sz="2000" b="0" kern="1200" dirty="0">
                          <a:solidFill>
                            <a:schemeClr val="tx1"/>
                          </a:solidFill>
                          <a:latin typeface="微软雅黑" panose="020B0503020204020204" pitchFamily="34" charset="-122"/>
                          <a:ea typeface="微软雅黑" panose="020B0503020204020204" pitchFamily="34" charset="-122"/>
                          <a:cs typeface="+mn-cs"/>
                        </a:rPr>
                        <a:t>（</a:t>
                      </a:r>
                      <a:r>
                        <a:rPr lang="en-US" altLang="zh-CN" sz="2000" b="0" kern="1200" dirty="0" err="1">
                          <a:solidFill>
                            <a:schemeClr val="tx1"/>
                          </a:solidFill>
                          <a:latin typeface="微软雅黑" panose="020B0503020204020204" pitchFamily="34" charset="-122"/>
                          <a:ea typeface="微软雅黑" panose="020B0503020204020204" pitchFamily="34" charset="-122"/>
                          <a:cs typeface="+mn-cs"/>
                        </a:rPr>
                        <a:t>PPPoE</a:t>
                      </a:r>
                      <a:r>
                        <a:rPr lang="en-US" altLang="zh-CN" sz="2000" b="0" kern="1200" dirty="0">
                          <a:solidFill>
                            <a:schemeClr val="tx1"/>
                          </a:solidFill>
                          <a:latin typeface="微软雅黑" panose="020B0503020204020204" pitchFamily="34" charset="-122"/>
                          <a:ea typeface="微软雅黑" panose="020B0503020204020204" pitchFamily="34" charset="-122"/>
                          <a:cs typeface="+mn-cs"/>
                        </a:rPr>
                        <a:t> Active Discovery Initiation</a:t>
                      </a:r>
                      <a:r>
                        <a:rPr lang="zh-CN" altLang="en-US" sz="2000" b="0" kern="1200" dirty="0">
                          <a:solidFill>
                            <a:schemeClr val="tx1"/>
                          </a:solidFill>
                          <a:latin typeface="微软雅黑" panose="020B0503020204020204" pitchFamily="34" charset="-122"/>
                          <a:ea typeface="微软雅黑" panose="020B0503020204020204" pitchFamily="34" charset="-122"/>
                          <a:cs typeface="+mn-cs"/>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50000"/>
                        </a:lnSpc>
                        <a:spcBef>
                          <a:spcPts val="600"/>
                        </a:spcBef>
                        <a:spcAft>
                          <a:spcPts val="600"/>
                        </a:spcAft>
                        <a:buClrTx/>
                        <a:buSzTx/>
                        <a:buFontTx/>
                        <a:buNone/>
                        <a:tabLst/>
                        <a:defRPr/>
                      </a:pPr>
                      <a:r>
                        <a:rPr lang="zh-CN" altLang="en-US" sz="2000" b="0" kern="1200" noProof="0" dirty="0">
                          <a:solidFill>
                            <a:schemeClr val="tx1"/>
                          </a:solidFill>
                          <a:latin typeface="微软雅黑" panose="020B0503020204020204" pitchFamily="34" charset="-122"/>
                          <a:ea typeface="微软雅黑" panose="020B0503020204020204" pitchFamily="34" charset="-122"/>
                          <a:cs typeface="+mn-cs"/>
                        </a:rPr>
                        <a:t> </a:t>
                      </a:r>
                      <a:r>
                        <a:rPr lang="en-US" altLang="zh-CN" sz="2000" b="0" kern="1200" noProof="0" dirty="0">
                          <a:solidFill>
                            <a:schemeClr val="tx1"/>
                          </a:solidFill>
                          <a:latin typeface="微软雅黑" panose="020B0503020204020204" pitchFamily="34" charset="-122"/>
                          <a:ea typeface="微软雅黑" panose="020B0503020204020204" pitchFamily="34" charset="-122"/>
                          <a:cs typeface="+mn-cs"/>
                        </a:rPr>
                        <a:t>PPPoE</a:t>
                      </a:r>
                      <a:r>
                        <a:rPr lang="zh-CN" altLang="en-US" sz="2000" b="0" kern="1200" noProof="0" dirty="0">
                          <a:solidFill>
                            <a:schemeClr val="tx1"/>
                          </a:solidFill>
                          <a:latin typeface="微软雅黑" panose="020B0503020204020204" pitchFamily="34" charset="-122"/>
                          <a:ea typeface="微软雅黑" panose="020B0503020204020204" pitchFamily="34" charset="-122"/>
                          <a:cs typeface="+mn-cs"/>
                        </a:rPr>
                        <a:t>发现初始报文</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10874693"/>
                  </a:ext>
                </a:extLst>
              </a:tr>
              <a:tr h="498189">
                <a:tc>
                  <a:txBody>
                    <a:bodyPr/>
                    <a:lstStyle/>
                    <a:p>
                      <a:pPr marL="0" marR="0" lvl="0" indent="0" algn="ctr" defTabSz="914400" rtl="0" eaLnBrk="1" fontAlgn="auto" latinLnBrk="0" hangingPunct="1">
                        <a:lnSpc>
                          <a:spcPct val="150000"/>
                        </a:lnSpc>
                        <a:spcBef>
                          <a:spcPts val="600"/>
                        </a:spcBef>
                        <a:spcAft>
                          <a:spcPts val="600"/>
                        </a:spcAft>
                        <a:buClrTx/>
                        <a:buSzTx/>
                        <a:buFontTx/>
                        <a:buNone/>
                        <a:tabLst/>
                        <a:defRPr/>
                      </a:pPr>
                      <a:r>
                        <a:rPr lang="en-US" altLang="zh-CN" sz="2000" b="0" kern="1200" dirty="0">
                          <a:solidFill>
                            <a:schemeClr val="tx1"/>
                          </a:solidFill>
                          <a:latin typeface="微软雅黑" panose="020B0503020204020204" pitchFamily="34" charset="-122"/>
                          <a:ea typeface="微软雅黑" panose="020B0503020204020204" pitchFamily="34" charset="-122"/>
                          <a:cs typeface="+mn-cs"/>
                        </a:rPr>
                        <a:t> PADO</a:t>
                      </a:r>
                      <a:r>
                        <a:rPr lang="zh-CN" altLang="en-US" sz="2000" b="0" kern="1200" dirty="0">
                          <a:solidFill>
                            <a:schemeClr val="tx1"/>
                          </a:solidFill>
                          <a:latin typeface="微软雅黑" panose="020B0503020204020204" pitchFamily="34" charset="-122"/>
                          <a:ea typeface="微软雅黑" panose="020B0503020204020204" pitchFamily="34" charset="-122"/>
                          <a:cs typeface="+mn-cs"/>
                        </a:rPr>
                        <a:t>（</a:t>
                      </a:r>
                      <a:r>
                        <a:rPr lang="en-US" altLang="zh-CN" sz="2000" b="0" kern="1200" dirty="0" err="1">
                          <a:solidFill>
                            <a:schemeClr val="tx1"/>
                          </a:solidFill>
                          <a:latin typeface="微软雅黑" panose="020B0503020204020204" pitchFamily="34" charset="-122"/>
                          <a:ea typeface="微软雅黑" panose="020B0503020204020204" pitchFamily="34" charset="-122"/>
                          <a:cs typeface="+mn-cs"/>
                        </a:rPr>
                        <a:t>PPPoE</a:t>
                      </a:r>
                      <a:r>
                        <a:rPr lang="en-US" altLang="zh-CN" sz="2000" b="0" kern="1200" dirty="0">
                          <a:solidFill>
                            <a:schemeClr val="tx1"/>
                          </a:solidFill>
                          <a:latin typeface="微软雅黑" panose="020B0503020204020204" pitchFamily="34" charset="-122"/>
                          <a:ea typeface="微软雅黑" panose="020B0503020204020204" pitchFamily="34" charset="-122"/>
                          <a:cs typeface="+mn-cs"/>
                        </a:rPr>
                        <a:t> Active Discovery Offer</a:t>
                      </a:r>
                      <a:r>
                        <a:rPr lang="zh-CN" altLang="en-US" sz="2000" b="0" kern="1200" dirty="0">
                          <a:solidFill>
                            <a:schemeClr val="tx1"/>
                          </a:solidFill>
                          <a:latin typeface="微软雅黑" panose="020B0503020204020204" pitchFamily="34" charset="-122"/>
                          <a:ea typeface="微软雅黑" panose="020B0503020204020204" pitchFamily="34" charset="-122"/>
                          <a:cs typeface="+mn-cs"/>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50000"/>
                        </a:lnSpc>
                        <a:spcBef>
                          <a:spcPts val="600"/>
                        </a:spcBef>
                        <a:spcAft>
                          <a:spcPts val="600"/>
                        </a:spcAft>
                        <a:buClrTx/>
                        <a:buSzTx/>
                        <a:buFontTx/>
                        <a:buNone/>
                        <a:tabLst/>
                        <a:defRPr/>
                      </a:pPr>
                      <a:r>
                        <a:rPr lang="zh-CN" altLang="en-US" sz="2000" b="0" kern="1200" noProof="0" dirty="0">
                          <a:solidFill>
                            <a:schemeClr val="tx1"/>
                          </a:solidFill>
                          <a:latin typeface="微软雅黑" panose="020B0503020204020204" pitchFamily="34" charset="-122"/>
                          <a:ea typeface="微软雅黑" panose="020B0503020204020204" pitchFamily="34" charset="-122"/>
                          <a:cs typeface="+mn-cs"/>
                        </a:rPr>
                        <a:t> </a:t>
                      </a:r>
                      <a:r>
                        <a:rPr lang="en-US" altLang="zh-CN" sz="2000" b="0" kern="1200" noProof="0" dirty="0">
                          <a:solidFill>
                            <a:schemeClr val="tx1"/>
                          </a:solidFill>
                          <a:latin typeface="微软雅黑" panose="020B0503020204020204" pitchFamily="34" charset="-122"/>
                          <a:ea typeface="微软雅黑" panose="020B0503020204020204" pitchFamily="34" charset="-122"/>
                          <a:cs typeface="+mn-cs"/>
                        </a:rPr>
                        <a:t>PPPoE</a:t>
                      </a:r>
                      <a:r>
                        <a:rPr lang="zh-CN" altLang="en-US" sz="2000" b="0" kern="1200" noProof="0" dirty="0">
                          <a:solidFill>
                            <a:schemeClr val="tx1"/>
                          </a:solidFill>
                          <a:latin typeface="微软雅黑" panose="020B0503020204020204" pitchFamily="34" charset="-122"/>
                          <a:ea typeface="微软雅黑" panose="020B0503020204020204" pitchFamily="34" charset="-122"/>
                          <a:cs typeface="+mn-cs"/>
                        </a:rPr>
                        <a:t>发现提供报文</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84616782"/>
                  </a:ext>
                </a:extLst>
              </a:tr>
              <a:tr h="498189">
                <a:tc>
                  <a:txBody>
                    <a:bodyPr/>
                    <a:lstStyle/>
                    <a:p>
                      <a:pPr marL="0" marR="0" lvl="0" indent="0" algn="ctr" defTabSz="914400" rtl="0" eaLnBrk="1" fontAlgn="auto" latinLnBrk="0" hangingPunct="1">
                        <a:lnSpc>
                          <a:spcPct val="150000"/>
                        </a:lnSpc>
                        <a:spcBef>
                          <a:spcPts val="600"/>
                        </a:spcBef>
                        <a:spcAft>
                          <a:spcPts val="600"/>
                        </a:spcAft>
                        <a:buClrTx/>
                        <a:buSzTx/>
                        <a:buFontTx/>
                        <a:buNone/>
                        <a:tabLst/>
                        <a:defRPr/>
                      </a:pPr>
                      <a:r>
                        <a:rPr lang="en-US" altLang="zh-CN" sz="2000" b="0" kern="1200" dirty="0">
                          <a:solidFill>
                            <a:schemeClr val="tx1"/>
                          </a:solidFill>
                          <a:latin typeface="微软雅黑" panose="020B0503020204020204" pitchFamily="34" charset="-122"/>
                          <a:ea typeface="微软雅黑" panose="020B0503020204020204" pitchFamily="34" charset="-122"/>
                          <a:cs typeface="+mn-cs"/>
                        </a:rPr>
                        <a:t>PADR</a:t>
                      </a:r>
                      <a:r>
                        <a:rPr lang="zh-CN" altLang="en-US" sz="2000" b="0" kern="1200" dirty="0">
                          <a:solidFill>
                            <a:schemeClr val="tx1"/>
                          </a:solidFill>
                          <a:latin typeface="微软雅黑" panose="020B0503020204020204" pitchFamily="34" charset="-122"/>
                          <a:ea typeface="微软雅黑" panose="020B0503020204020204" pitchFamily="34" charset="-122"/>
                          <a:cs typeface="+mn-cs"/>
                        </a:rPr>
                        <a:t>（</a:t>
                      </a:r>
                      <a:r>
                        <a:rPr lang="en-US" altLang="zh-CN" sz="2000" b="0" kern="1200" dirty="0" err="1">
                          <a:solidFill>
                            <a:schemeClr val="tx1"/>
                          </a:solidFill>
                          <a:latin typeface="微软雅黑" panose="020B0503020204020204" pitchFamily="34" charset="-122"/>
                          <a:ea typeface="微软雅黑" panose="020B0503020204020204" pitchFamily="34" charset="-122"/>
                          <a:cs typeface="+mn-cs"/>
                        </a:rPr>
                        <a:t>PPPoE</a:t>
                      </a:r>
                      <a:r>
                        <a:rPr lang="en-US" altLang="zh-CN" sz="2000" b="0" kern="1200" dirty="0">
                          <a:solidFill>
                            <a:schemeClr val="tx1"/>
                          </a:solidFill>
                          <a:latin typeface="微软雅黑" panose="020B0503020204020204" pitchFamily="34" charset="-122"/>
                          <a:ea typeface="微软雅黑" panose="020B0503020204020204" pitchFamily="34" charset="-122"/>
                          <a:cs typeface="+mn-cs"/>
                        </a:rPr>
                        <a:t> Active Discovery Request</a:t>
                      </a:r>
                      <a:r>
                        <a:rPr lang="zh-CN" altLang="en-US" sz="2000" b="0" kern="1200" dirty="0">
                          <a:solidFill>
                            <a:schemeClr val="tx1"/>
                          </a:solidFill>
                          <a:latin typeface="微软雅黑" panose="020B0503020204020204" pitchFamily="34" charset="-122"/>
                          <a:ea typeface="微软雅黑" panose="020B0503020204020204" pitchFamily="34" charset="-122"/>
                          <a:cs typeface="+mn-cs"/>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50000"/>
                        </a:lnSpc>
                        <a:spcBef>
                          <a:spcPts val="600"/>
                        </a:spcBef>
                        <a:spcAft>
                          <a:spcPts val="600"/>
                        </a:spcAft>
                        <a:buClrTx/>
                        <a:buSzTx/>
                        <a:buFontTx/>
                        <a:buNone/>
                        <a:tabLst/>
                        <a:defRPr/>
                      </a:pPr>
                      <a:r>
                        <a:rPr lang="zh-CN" altLang="en-US" sz="2000" b="0" kern="1200" noProof="0" dirty="0">
                          <a:solidFill>
                            <a:schemeClr val="tx1"/>
                          </a:solidFill>
                          <a:latin typeface="微软雅黑" panose="020B0503020204020204" pitchFamily="34" charset="-122"/>
                          <a:ea typeface="微软雅黑" panose="020B0503020204020204" pitchFamily="34" charset="-122"/>
                          <a:cs typeface="+mn-cs"/>
                        </a:rPr>
                        <a:t> </a:t>
                      </a:r>
                      <a:r>
                        <a:rPr lang="en-US" altLang="zh-CN" sz="2000" b="0" kern="1200" noProof="0" dirty="0">
                          <a:solidFill>
                            <a:schemeClr val="tx1"/>
                          </a:solidFill>
                          <a:latin typeface="微软雅黑" panose="020B0503020204020204" pitchFamily="34" charset="-122"/>
                          <a:ea typeface="微软雅黑" panose="020B0503020204020204" pitchFamily="34" charset="-122"/>
                          <a:cs typeface="+mn-cs"/>
                        </a:rPr>
                        <a:t>PPPoE</a:t>
                      </a:r>
                      <a:r>
                        <a:rPr lang="zh-CN" altLang="en-US" sz="2000" b="0" kern="1200" noProof="0" dirty="0">
                          <a:solidFill>
                            <a:schemeClr val="tx1"/>
                          </a:solidFill>
                          <a:latin typeface="微软雅黑" panose="020B0503020204020204" pitchFamily="34" charset="-122"/>
                          <a:ea typeface="微软雅黑" panose="020B0503020204020204" pitchFamily="34" charset="-122"/>
                          <a:cs typeface="+mn-cs"/>
                        </a:rPr>
                        <a:t>发现请求报文</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02649475"/>
                  </a:ext>
                </a:extLst>
              </a:tr>
              <a:tr h="498189">
                <a:tc>
                  <a:txBody>
                    <a:bodyPr/>
                    <a:lstStyle/>
                    <a:p>
                      <a:pPr marL="0" marR="0" lvl="0" indent="0" algn="ctr" defTabSz="914400" rtl="0" eaLnBrk="1" fontAlgn="auto" latinLnBrk="0" hangingPunct="1">
                        <a:lnSpc>
                          <a:spcPct val="150000"/>
                        </a:lnSpc>
                        <a:spcBef>
                          <a:spcPts val="600"/>
                        </a:spcBef>
                        <a:spcAft>
                          <a:spcPts val="600"/>
                        </a:spcAft>
                        <a:buClrTx/>
                        <a:buSzTx/>
                        <a:buFontTx/>
                        <a:buNone/>
                        <a:tabLst/>
                        <a:defRPr/>
                      </a:pPr>
                      <a:r>
                        <a:rPr lang="en-US" altLang="zh-CN" sz="2000" b="0" kern="1200" dirty="0">
                          <a:solidFill>
                            <a:schemeClr val="tx1"/>
                          </a:solidFill>
                          <a:latin typeface="微软雅黑" panose="020B0503020204020204" pitchFamily="34" charset="-122"/>
                          <a:ea typeface="微软雅黑" panose="020B0503020204020204" pitchFamily="34" charset="-122"/>
                          <a:cs typeface="+mn-cs"/>
                        </a:rPr>
                        <a:t> PADS</a:t>
                      </a:r>
                      <a:r>
                        <a:rPr lang="zh-CN" altLang="en-US" sz="2000" b="0" kern="1200" dirty="0">
                          <a:solidFill>
                            <a:schemeClr val="tx1"/>
                          </a:solidFill>
                          <a:latin typeface="微软雅黑" panose="020B0503020204020204" pitchFamily="34" charset="-122"/>
                          <a:ea typeface="微软雅黑" panose="020B0503020204020204" pitchFamily="34" charset="-122"/>
                          <a:cs typeface="+mn-cs"/>
                        </a:rPr>
                        <a:t>（</a:t>
                      </a:r>
                      <a:r>
                        <a:rPr lang="en-US" altLang="zh-CN" sz="2000" b="0" kern="1200" dirty="0" err="1">
                          <a:solidFill>
                            <a:schemeClr val="tx1"/>
                          </a:solidFill>
                          <a:latin typeface="微软雅黑" panose="020B0503020204020204" pitchFamily="34" charset="-122"/>
                          <a:ea typeface="微软雅黑" panose="020B0503020204020204" pitchFamily="34" charset="-122"/>
                          <a:cs typeface="+mn-cs"/>
                        </a:rPr>
                        <a:t>PPPoE</a:t>
                      </a:r>
                      <a:r>
                        <a:rPr lang="en-US" altLang="zh-CN" sz="2000" b="0" kern="1200" dirty="0">
                          <a:solidFill>
                            <a:schemeClr val="tx1"/>
                          </a:solidFill>
                          <a:latin typeface="微软雅黑" panose="020B0503020204020204" pitchFamily="34" charset="-122"/>
                          <a:ea typeface="微软雅黑" panose="020B0503020204020204" pitchFamily="34" charset="-122"/>
                          <a:cs typeface="+mn-cs"/>
                        </a:rPr>
                        <a:t> Active Discovery Session-confirmation</a:t>
                      </a:r>
                      <a:r>
                        <a:rPr lang="zh-CN" altLang="en-US" sz="2000" b="0" kern="1200" dirty="0">
                          <a:solidFill>
                            <a:schemeClr val="tx1"/>
                          </a:solidFill>
                          <a:latin typeface="微软雅黑" panose="020B0503020204020204" pitchFamily="34" charset="-122"/>
                          <a:ea typeface="微软雅黑" panose="020B0503020204020204" pitchFamily="34" charset="-122"/>
                          <a:cs typeface="+mn-cs"/>
                        </a:rPr>
                        <a:t>）</a:t>
                      </a:r>
                      <a:endParaRPr lang="en-US" altLang="zh-CN" sz="2000" b="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50000"/>
                        </a:lnSpc>
                        <a:spcBef>
                          <a:spcPts val="600"/>
                        </a:spcBef>
                        <a:spcAft>
                          <a:spcPts val="600"/>
                        </a:spcAft>
                        <a:buClrTx/>
                        <a:buSzTx/>
                        <a:buFontTx/>
                        <a:buNone/>
                        <a:tabLst/>
                        <a:defRPr/>
                      </a:pPr>
                      <a:r>
                        <a:rPr lang="zh-CN" altLang="en-US" sz="2000" b="0" kern="1200" noProof="0" dirty="0">
                          <a:solidFill>
                            <a:schemeClr val="tx1"/>
                          </a:solidFill>
                          <a:latin typeface="微软雅黑" panose="020B0503020204020204" pitchFamily="34" charset="-122"/>
                          <a:ea typeface="微软雅黑" panose="020B0503020204020204" pitchFamily="34" charset="-122"/>
                          <a:cs typeface="+mn-cs"/>
                        </a:rPr>
                        <a:t> </a:t>
                      </a:r>
                      <a:r>
                        <a:rPr lang="en-US" altLang="zh-CN" sz="2000" b="0" kern="1200" noProof="0" dirty="0">
                          <a:solidFill>
                            <a:schemeClr val="tx1"/>
                          </a:solidFill>
                          <a:latin typeface="微软雅黑" panose="020B0503020204020204" pitchFamily="34" charset="-122"/>
                          <a:ea typeface="微软雅黑" panose="020B0503020204020204" pitchFamily="34" charset="-122"/>
                          <a:cs typeface="+mn-cs"/>
                        </a:rPr>
                        <a:t>PPPoE</a:t>
                      </a:r>
                      <a:r>
                        <a:rPr lang="zh-CN" altLang="en-US" sz="2000" b="0" kern="1200" noProof="0" dirty="0">
                          <a:solidFill>
                            <a:schemeClr val="tx1"/>
                          </a:solidFill>
                          <a:latin typeface="微软雅黑" panose="020B0503020204020204" pitchFamily="34" charset="-122"/>
                          <a:ea typeface="微软雅黑" panose="020B0503020204020204" pitchFamily="34" charset="-122"/>
                          <a:cs typeface="+mn-cs"/>
                        </a:rPr>
                        <a:t>发现会话确定报文</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8192561"/>
                  </a:ext>
                </a:extLst>
              </a:tr>
              <a:tr h="498189">
                <a:tc>
                  <a:txBody>
                    <a:bodyPr/>
                    <a:lstStyle/>
                    <a:p>
                      <a:pPr marL="0" marR="0" lvl="0" indent="0" algn="ctr" defTabSz="914400" rtl="0" eaLnBrk="1" fontAlgn="auto" latinLnBrk="0" hangingPunct="1">
                        <a:lnSpc>
                          <a:spcPct val="150000"/>
                        </a:lnSpc>
                        <a:spcBef>
                          <a:spcPts val="600"/>
                        </a:spcBef>
                        <a:spcAft>
                          <a:spcPts val="600"/>
                        </a:spcAft>
                        <a:buClrTx/>
                        <a:buSzTx/>
                        <a:buFontTx/>
                        <a:buNone/>
                        <a:tabLst/>
                        <a:defRPr/>
                      </a:pPr>
                      <a:r>
                        <a:rPr lang="en-US" altLang="zh-CN" sz="2000" b="0" kern="1200" dirty="0">
                          <a:solidFill>
                            <a:schemeClr val="tx1"/>
                          </a:solidFill>
                          <a:latin typeface="微软雅黑" panose="020B0503020204020204" pitchFamily="34" charset="-122"/>
                          <a:ea typeface="微软雅黑" panose="020B0503020204020204" pitchFamily="34" charset="-122"/>
                          <a:cs typeface="+mn-cs"/>
                        </a:rPr>
                        <a:t>PADT</a:t>
                      </a:r>
                      <a:r>
                        <a:rPr lang="zh-CN" altLang="en-US" sz="2000" b="0" kern="1200" dirty="0">
                          <a:solidFill>
                            <a:schemeClr val="tx1"/>
                          </a:solidFill>
                          <a:latin typeface="微软雅黑" panose="020B0503020204020204" pitchFamily="34" charset="-122"/>
                          <a:ea typeface="微软雅黑" panose="020B0503020204020204" pitchFamily="34" charset="-122"/>
                          <a:cs typeface="+mn-cs"/>
                        </a:rPr>
                        <a:t>（</a:t>
                      </a:r>
                      <a:r>
                        <a:rPr lang="en-US" altLang="zh-CN" sz="2000" b="0" kern="1200" dirty="0" err="1">
                          <a:solidFill>
                            <a:schemeClr val="tx1"/>
                          </a:solidFill>
                          <a:latin typeface="微软雅黑" panose="020B0503020204020204" pitchFamily="34" charset="-122"/>
                          <a:ea typeface="微软雅黑" panose="020B0503020204020204" pitchFamily="34" charset="-122"/>
                          <a:cs typeface="+mn-cs"/>
                        </a:rPr>
                        <a:t>PPPoE</a:t>
                      </a:r>
                      <a:r>
                        <a:rPr lang="en-US" altLang="zh-CN" sz="2000" b="0" kern="1200" dirty="0">
                          <a:solidFill>
                            <a:schemeClr val="tx1"/>
                          </a:solidFill>
                          <a:latin typeface="微软雅黑" panose="020B0503020204020204" pitchFamily="34" charset="-122"/>
                          <a:ea typeface="微软雅黑" panose="020B0503020204020204" pitchFamily="34" charset="-122"/>
                          <a:cs typeface="+mn-cs"/>
                        </a:rPr>
                        <a:t> Active Discovery Terminate</a:t>
                      </a:r>
                      <a:r>
                        <a:rPr lang="zh-CN" altLang="en-US" sz="2000" b="0" kern="1200" dirty="0">
                          <a:solidFill>
                            <a:schemeClr val="tx1"/>
                          </a:solidFill>
                          <a:latin typeface="微软雅黑" panose="020B0503020204020204" pitchFamily="34" charset="-122"/>
                          <a:ea typeface="微软雅黑" panose="020B0503020204020204" pitchFamily="34" charset="-122"/>
                          <a:cs typeface="+mn-cs"/>
                        </a:rPr>
                        <a:t>）</a:t>
                      </a:r>
                      <a:endParaRPr lang="en-US" altLang="zh-CN" sz="2000" b="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50000"/>
                        </a:lnSpc>
                        <a:spcBef>
                          <a:spcPts val="600"/>
                        </a:spcBef>
                        <a:spcAft>
                          <a:spcPts val="600"/>
                        </a:spcAft>
                        <a:buClrTx/>
                        <a:buSzTx/>
                        <a:buFontTx/>
                        <a:buNone/>
                        <a:tabLst/>
                        <a:defRPr/>
                      </a:pPr>
                      <a:r>
                        <a:rPr lang="zh-CN" altLang="en-US" sz="2000" b="0" kern="1200" noProof="0" dirty="0">
                          <a:solidFill>
                            <a:schemeClr val="tx1"/>
                          </a:solidFill>
                          <a:latin typeface="微软雅黑" panose="020B0503020204020204" pitchFamily="34" charset="-122"/>
                          <a:ea typeface="微软雅黑" panose="020B0503020204020204" pitchFamily="34" charset="-122"/>
                          <a:cs typeface="+mn-cs"/>
                        </a:rPr>
                        <a:t> </a:t>
                      </a:r>
                      <a:r>
                        <a:rPr lang="en-US" altLang="zh-CN" sz="2000" b="0" kern="1200" noProof="0" dirty="0">
                          <a:solidFill>
                            <a:schemeClr val="tx1"/>
                          </a:solidFill>
                          <a:latin typeface="微软雅黑" panose="020B0503020204020204" pitchFamily="34" charset="-122"/>
                          <a:ea typeface="微软雅黑" panose="020B0503020204020204" pitchFamily="34" charset="-122"/>
                          <a:cs typeface="+mn-cs"/>
                        </a:rPr>
                        <a:t>PPPoE</a:t>
                      </a:r>
                      <a:r>
                        <a:rPr lang="zh-CN" altLang="en-US" sz="2000" b="0" kern="1200" noProof="0" dirty="0">
                          <a:solidFill>
                            <a:schemeClr val="tx1"/>
                          </a:solidFill>
                          <a:latin typeface="微软雅黑" panose="020B0503020204020204" pitchFamily="34" charset="-122"/>
                          <a:ea typeface="微软雅黑" panose="020B0503020204020204" pitchFamily="34" charset="-122"/>
                          <a:cs typeface="+mn-cs"/>
                        </a:rPr>
                        <a:t>发现终止报文</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99784975"/>
                  </a:ext>
                </a:extLst>
              </a:tr>
            </a:tbl>
          </a:graphicData>
        </a:graphic>
      </p:graphicFrame>
      <p:sp>
        <p:nvSpPr>
          <p:cNvPr id="6" name="文本框 5">
            <a:extLst>
              <a:ext uri="{FF2B5EF4-FFF2-40B4-BE49-F238E27FC236}">
                <a16:creationId xmlns:a16="http://schemas.microsoft.com/office/drawing/2014/main" id="{EAB64FBB-E3E7-48A7-9EFF-787655260B4B}"/>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Tree>
    <p:extLst>
      <p:ext uri="{BB962C8B-B14F-4D97-AF65-F5344CB8AC3E}">
        <p14:creationId xmlns:p14="http://schemas.microsoft.com/office/powerpoint/2010/main" val="2567137158"/>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DE749A-3A56-4848-8201-AE952FDAE574}"/>
              </a:ext>
            </a:extLst>
          </p:cNvPr>
          <p:cNvSpPr>
            <a:spLocks noGrp="1"/>
          </p:cNvSpPr>
          <p:nvPr>
            <p:ph type="title"/>
          </p:nvPr>
        </p:nvSpPr>
        <p:spPr/>
        <p:txBody>
          <a:bodyPr/>
          <a:lstStyle/>
          <a:p>
            <a:r>
              <a:rPr kumimoji="1" lang="en-US" altLang="zh-CN" dirty="0" err="1"/>
              <a:t>PPPoE</a:t>
            </a:r>
            <a:r>
              <a:rPr kumimoji="1" lang="zh-CN" altLang="en-US" dirty="0"/>
              <a:t>工作过程</a:t>
            </a:r>
          </a:p>
        </p:txBody>
      </p:sp>
      <p:sp>
        <p:nvSpPr>
          <p:cNvPr id="3" name="内容占位符 2">
            <a:extLst>
              <a:ext uri="{FF2B5EF4-FFF2-40B4-BE49-F238E27FC236}">
                <a16:creationId xmlns:a16="http://schemas.microsoft.com/office/drawing/2014/main" id="{4DD0F5DF-ACC6-EF47-8712-87783CAA3125}"/>
              </a:ext>
            </a:extLst>
          </p:cNvPr>
          <p:cNvSpPr>
            <a:spLocks noGrp="1"/>
          </p:cNvSpPr>
          <p:nvPr>
            <p:ph idx="1"/>
          </p:nvPr>
        </p:nvSpPr>
        <p:spPr>
          <a:xfrm>
            <a:off x="571499" y="1381771"/>
            <a:ext cx="7670281" cy="5142598"/>
          </a:xfrm>
        </p:spPr>
        <p:txBody>
          <a:bodyPr>
            <a:normAutofit/>
          </a:bodyPr>
          <a:lstStyle/>
          <a:p>
            <a:pPr fontAlgn="base">
              <a:lnSpc>
                <a:spcPts val="3300"/>
              </a:lnSpc>
            </a:pPr>
            <a:r>
              <a:rPr lang="en-US" altLang="zh-CN" sz="2500" dirty="0"/>
              <a:t>Discovery</a:t>
            </a:r>
            <a:r>
              <a:rPr lang="zh-CN" altLang="en-US" sz="2500" dirty="0"/>
              <a:t>阶段：</a:t>
            </a:r>
            <a:endParaRPr lang="en-US" altLang="zh-CN" sz="2500" dirty="0"/>
          </a:p>
          <a:p>
            <a:pPr marL="715963" indent="-357188" fontAlgn="base">
              <a:lnSpc>
                <a:spcPts val="3000"/>
              </a:lnSpc>
              <a:buFont typeface="Arial" panose="020B0604020202020204" pitchFamily="34" charset="0"/>
              <a:buChar char="•"/>
            </a:pPr>
            <a:r>
              <a:rPr lang="en-US" altLang="zh-CN" sz="2000" dirty="0" err="1"/>
              <a:t>PPPoE</a:t>
            </a:r>
            <a:r>
              <a:rPr lang="en-US" altLang="zh-CN" sz="2000" dirty="0"/>
              <a:t> Client</a:t>
            </a:r>
            <a:r>
              <a:rPr lang="zh-CN" altLang="en-US" sz="2000" dirty="0"/>
              <a:t>广播</a:t>
            </a:r>
            <a:r>
              <a:rPr lang="en-US" altLang="zh-CN" sz="2000" dirty="0"/>
              <a:t>PADI</a:t>
            </a:r>
            <a:r>
              <a:rPr lang="zh-CN" altLang="en-US" sz="2000" dirty="0"/>
              <a:t>报文，报文中包含</a:t>
            </a:r>
            <a:r>
              <a:rPr lang="en-US" altLang="zh-CN" sz="2000" dirty="0" err="1"/>
              <a:t>PPPoE</a:t>
            </a:r>
            <a:r>
              <a:rPr lang="en-US" altLang="zh-CN" sz="2000" dirty="0"/>
              <a:t> Client </a:t>
            </a:r>
            <a:r>
              <a:rPr lang="zh-CN" altLang="en-US" sz="2000" dirty="0"/>
              <a:t>想要得到的服务类型信息</a:t>
            </a:r>
            <a:endParaRPr lang="en-US" altLang="zh-CN" sz="2000" dirty="0"/>
          </a:p>
          <a:p>
            <a:pPr marL="715963" indent="-357188" fontAlgn="base">
              <a:lnSpc>
                <a:spcPts val="3000"/>
              </a:lnSpc>
              <a:buFont typeface="Arial" panose="020B0604020202020204" pitchFamily="34" charset="0"/>
              <a:buChar char="•"/>
            </a:pPr>
            <a:r>
              <a:rPr lang="zh-CN" altLang="en-US" sz="2000" dirty="0"/>
              <a:t>所有的</a:t>
            </a:r>
            <a:r>
              <a:rPr lang="en-US" altLang="zh-CN" sz="2000" dirty="0" err="1"/>
              <a:t>PPPoE</a:t>
            </a:r>
            <a:r>
              <a:rPr lang="en-US" altLang="zh-CN" sz="2000" dirty="0"/>
              <a:t> Server</a:t>
            </a:r>
            <a:r>
              <a:rPr lang="zh-CN" altLang="en-US" sz="2000" dirty="0"/>
              <a:t>收到</a:t>
            </a:r>
            <a:r>
              <a:rPr lang="en-US" altLang="zh-CN" sz="2000" dirty="0"/>
              <a:t>PADI</a:t>
            </a:r>
            <a:r>
              <a:rPr lang="zh-CN" altLang="en-US" sz="2000" dirty="0"/>
              <a:t>报文之后，将其中请求的服务与自己能够提供的服务进行比较，如果可以提供，则单播回复</a:t>
            </a:r>
            <a:r>
              <a:rPr lang="en-US" altLang="zh-CN" sz="2000" dirty="0"/>
              <a:t>PADO</a:t>
            </a:r>
            <a:r>
              <a:rPr lang="zh-CN" altLang="en-US" sz="2000" dirty="0"/>
              <a:t>报文</a:t>
            </a:r>
          </a:p>
          <a:p>
            <a:pPr marL="715963" indent="-357188" fontAlgn="base">
              <a:lnSpc>
                <a:spcPts val="3000"/>
              </a:lnSpc>
              <a:buFont typeface="Arial" panose="020B0604020202020204" pitchFamily="34" charset="0"/>
              <a:buChar char="•"/>
            </a:pPr>
            <a:r>
              <a:rPr lang="zh-CN" altLang="en-US" sz="2000" dirty="0"/>
              <a:t>根据网络的拓扑结构，</a:t>
            </a:r>
            <a:r>
              <a:rPr lang="en-US" altLang="zh-CN" sz="2000" dirty="0" err="1"/>
              <a:t>PPPoE</a:t>
            </a:r>
            <a:r>
              <a:rPr lang="en-US" altLang="zh-CN" sz="2000" dirty="0"/>
              <a:t> Client</a:t>
            </a:r>
            <a:r>
              <a:rPr lang="zh-CN" altLang="en-US" sz="2000" dirty="0"/>
              <a:t>可能收到多个</a:t>
            </a:r>
            <a:r>
              <a:rPr lang="en-US" altLang="zh-CN" sz="2000" dirty="0" err="1"/>
              <a:t>PPPoE</a:t>
            </a:r>
            <a:r>
              <a:rPr lang="en-US" altLang="zh-CN" sz="2000" dirty="0"/>
              <a:t> Server</a:t>
            </a:r>
            <a:r>
              <a:rPr lang="zh-CN" altLang="en-US" sz="2000" dirty="0"/>
              <a:t>发送的</a:t>
            </a:r>
            <a:r>
              <a:rPr lang="en-US" altLang="zh-CN" sz="2000" dirty="0"/>
              <a:t>PADO</a:t>
            </a:r>
            <a:r>
              <a:rPr lang="zh-CN" altLang="en-US" sz="2000" dirty="0"/>
              <a:t>报文，</a:t>
            </a:r>
            <a:r>
              <a:rPr lang="en-US" altLang="zh-CN" sz="2000" dirty="0" err="1"/>
              <a:t>PPPoE</a:t>
            </a:r>
            <a:r>
              <a:rPr lang="en-US" altLang="zh-CN" sz="2000" dirty="0"/>
              <a:t> Client</a:t>
            </a:r>
            <a:r>
              <a:rPr lang="zh-CN" altLang="en-US" sz="2000" dirty="0"/>
              <a:t>选择最先收到</a:t>
            </a:r>
            <a:r>
              <a:rPr lang="en-US" altLang="zh-CN" sz="2000" dirty="0"/>
              <a:t>PADO</a:t>
            </a:r>
            <a:r>
              <a:rPr lang="zh-CN" altLang="en-US" sz="2000" dirty="0"/>
              <a:t>报文对应的 </a:t>
            </a:r>
            <a:r>
              <a:rPr lang="en-US" altLang="zh-CN" sz="2000" dirty="0" err="1"/>
              <a:t>PPPoE</a:t>
            </a:r>
            <a:r>
              <a:rPr lang="en-US" altLang="zh-CN" sz="2000" dirty="0"/>
              <a:t> Server</a:t>
            </a:r>
            <a:r>
              <a:rPr lang="zh-CN" altLang="en-US" sz="2000" dirty="0"/>
              <a:t>，并单播</a:t>
            </a:r>
            <a:r>
              <a:rPr lang="en-US" altLang="zh-CN" sz="2000" dirty="0"/>
              <a:t>PADR</a:t>
            </a:r>
            <a:r>
              <a:rPr lang="zh-CN" altLang="en-US" sz="2000" dirty="0"/>
              <a:t>报文</a:t>
            </a:r>
          </a:p>
          <a:p>
            <a:pPr marL="715963" indent="-357188" fontAlgn="base">
              <a:lnSpc>
                <a:spcPts val="3000"/>
              </a:lnSpc>
              <a:buFont typeface="Arial" panose="020B0604020202020204" pitchFamily="34" charset="0"/>
              <a:buChar char="•"/>
            </a:pPr>
            <a:r>
              <a:rPr lang="en-US" altLang="zh-CN" sz="2000" dirty="0"/>
              <a:t>PPPoE Server </a:t>
            </a:r>
            <a:r>
              <a:rPr lang="zh-CN" altLang="en-US" sz="2000" dirty="0"/>
              <a:t>产生唯一的</a:t>
            </a:r>
            <a:r>
              <a:rPr lang="en-US" altLang="zh-CN" sz="2000" dirty="0"/>
              <a:t>Session ID</a:t>
            </a:r>
            <a:r>
              <a:rPr lang="zh-CN" altLang="en-US" sz="2000" dirty="0"/>
              <a:t>，标识与 </a:t>
            </a:r>
            <a:r>
              <a:rPr lang="en-US" altLang="zh-CN" sz="2000" dirty="0" err="1"/>
              <a:t>PPPoE</a:t>
            </a:r>
            <a:r>
              <a:rPr lang="en-US" altLang="zh-CN" sz="2000" dirty="0"/>
              <a:t> Client </a:t>
            </a:r>
            <a:r>
              <a:rPr lang="zh-CN" altLang="en-US" sz="2000" dirty="0"/>
              <a:t>的会话，发送</a:t>
            </a:r>
            <a:r>
              <a:rPr lang="en-US" altLang="zh-CN" sz="2000" dirty="0"/>
              <a:t>PADS</a:t>
            </a:r>
            <a:r>
              <a:rPr lang="zh-CN" altLang="en-US" sz="2000" dirty="0"/>
              <a:t>报文把会话</a:t>
            </a:r>
            <a:r>
              <a:rPr lang="en-US" altLang="zh-CN" sz="2000" dirty="0"/>
              <a:t>ID</a:t>
            </a:r>
            <a:r>
              <a:rPr lang="zh-CN" altLang="en-US" sz="2000" dirty="0"/>
              <a:t>发送给</a:t>
            </a:r>
            <a:r>
              <a:rPr lang="en-US" altLang="zh-CN" sz="2000" dirty="0" err="1"/>
              <a:t>PPPoE</a:t>
            </a:r>
            <a:r>
              <a:rPr lang="en-US" altLang="zh-CN" sz="2000" dirty="0"/>
              <a:t> Client</a:t>
            </a:r>
            <a:r>
              <a:rPr lang="zh-CN" altLang="en-US" sz="2000" dirty="0"/>
              <a:t>，进入</a:t>
            </a:r>
            <a:r>
              <a:rPr lang="en-US" altLang="zh-CN" sz="2000" dirty="0"/>
              <a:t>Session</a:t>
            </a:r>
            <a:r>
              <a:rPr lang="zh-CN" altLang="en-US" sz="2000" dirty="0"/>
              <a:t>阶段</a:t>
            </a:r>
            <a:endParaRPr lang="en-US" altLang="zh-CN" sz="2000" dirty="0"/>
          </a:p>
        </p:txBody>
      </p:sp>
      <p:grpSp>
        <p:nvGrpSpPr>
          <p:cNvPr id="4" name="组合 3"/>
          <p:cNvGrpSpPr/>
          <p:nvPr/>
        </p:nvGrpSpPr>
        <p:grpSpPr>
          <a:xfrm>
            <a:off x="8057378" y="1504834"/>
            <a:ext cx="4195353" cy="4896472"/>
            <a:chOff x="7645595" y="1354767"/>
            <a:chExt cx="4569293" cy="4896472"/>
          </a:xfrm>
        </p:grpSpPr>
        <p:pic>
          <p:nvPicPr>
            <p:cNvPr id="7" name="图片 6">
              <a:extLst>
                <a:ext uri="{FF2B5EF4-FFF2-40B4-BE49-F238E27FC236}">
                  <a16:creationId xmlns:a16="http://schemas.microsoft.com/office/drawing/2014/main" id="{85D9BCFB-5DDC-4355-8B33-4CB29A8A4C43}"/>
                </a:ext>
              </a:extLst>
            </p:cNvPr>
            <p:cNvPicPr>
              <a:picLocks noChangeAspect="1"/>
            </p:cNvPicPr>
            <p:nvPr/>
          </p:nvPicPr>
          <p:blipFill>
            <a:blip r:embed="rId2"/>
            <a:stretch>
              <a:fillRect/>
            </a:stretch>
          </p:blipFill>
          <p:spPr>
            <a:xfrm>
              <a:off x="7875159" y="1699709"/>
              <a:ext cx="1100146" cy="771531"/>
            </a:xfrm>
            <a:prstGeom prst="rect">
              <a:avLst/>
            </a:prstGeom>
          </p:spPr>
        </p:pic>
        <p:pic>
          <p:nvPicPr>
            <p:cNvPr id="8" name="图片 7">
              <a:extLst>
                <a:ext uri="{FF2B5EF4-FFF2-40B4-BE49-F238E27FC236}">
                  <a16:creationId xmlns:a16="http://schemas.microsoft.com/office/drawing/2014/main" id="{6D68FCBC-DAA3-456C-8A93-3178FF3BFB0F}"/>
                </a:ext>
              </a:extLst>
            </p:cNvPr>
            <p:cNvPicPr>
              <a:picLocks noChangeAspect="1"/>
            </p:cNvPicPr>
            <p:nvPr/>
          </p:nvPicPr>
          <p:blipFill>
            <a:blip r:embed="rId2"/>
            <a:stretch>
              <a:fillRect/>
            </a:stretch>
          </p:blipFill>
          <p:spPr>
            <a:xfrm>
              <a:off x="10736254" y="1683284"/>
              <a:ext cx="1100146" cy="771531"/>
            </a:xfrm>
            <a:prstGeom prst="rect">
              <a:avLst/>
            </a:prstGeom>
          </p:spPr>
        </p:pic>
        <p:cxnSp>
          <p:nvCxnSpPr>
            <p:cNvPr id="12" name="直接箭头连接符 11">
              <a:extLst>
                <a:ext uri="{FF2B5EF4-FFF2-40B4-BE49-F238E27FC236}">
                  <a16:creationId xmlns:a16="http://schemas.microsoft.com/office/drawing/2014/main" id="{C1352E30-DB93-4ED9-BEA3-066ED0BE884E}"/>
                </a:ext>
              </a:extLst>
            </p:cNvPr>
            <p:cNvCxnSpPr>
              <a:cxnSpLocks/>
              <a:stCxn id="7" idx="2"/>
            </p:cNvCxnSpPr>
            <p:nvPr/>
          </p:nvCxnSpPr>
          <p:spPr>
            <a:xfrm>
              <a:off x="8425232" y="2471239"/>
              <a:ext cx="0" cy="37800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a:extLst>
                <a:ext uri="{FF2B5EF4-FFF2-40B4-BE49-F238E27FC236}">
                  <a16:creationId xmlns:a16="http://schemas.microsoft.com/office/drawing/2014/main" id="{98B18979-0A8F-4A38-A5D5-DA9494BEA006}"/>
                </a:ext>
              </a:extLst>
            </p:cNvPr>
            <p:cNvCxnSpPr/>
            <p:nvPr/>
          </p:nvCxnSpPr>
          <p:spPr>
            <a:xfrm>
              <a:off x="11315328" y="2470339"/>
              <a:ext cx="0" cy="37800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8684388B-67D4-4E59-8DF7-A153B190D650}"/>
                </a:ext>
              </a:extLst>
            </p:cNvPr>
            <p:cNvCxnSpPr/>
            <p:nvPr/>
          </p:nvCxnSpPr>
          <p:spPr>
            <a:xfrm>
              <a:off x="8438432" y="2867097"/>
              <a:ext cx="28800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2640A32C-E5F0-4405-899D-252EF3FC1409}"/>
                </a:ext>
              </a:extLst>
            </p:cNvPr>
            <p:cNvSpPr txBox="1"/>
            <p:nvPr/>
          </p:nvSpPr>
          <p:spPr>
            <a:xfrm>
              <a:off x="9238589" y="2508942"/>
              <a:ext cx="1178464" cy="1938992"/>
            </a:xfrm>
            <a:prstGeom prst="rect">
              <a:avLst/>
            </a:prstGeom>
            <a:noFill/>
          </p:spPr>
          <p:txBody>
            <a:bodyPr wrap="none" rtlCol="0">
              <a:spAutoFit/>
            </a:bodyPr>
            <a:lstStyle/>
            <a:p>
              <a:pPr marL="342900" indent="-342900">
                <a:lnSpc>
                  <a:spcPts val="1800"/>
                </a:lnSpc>
                <a:buFont typeface="+mj-ea"/>
                <a:buAutoNum type="circleNumDbPlain"/>
              </a:pPr>
              <a:r>
                <a:rPr lang="en-US" altLang="zh-CN" dirty="0">
                  <a:latin typeface="微软雅黑" panose="020B0503020204020204" pitchFamily="34" charset="-122"/>
                  <a:ea typeface="微软雅黑" panose="020B0503020204020204" pitchFamily="34" charset="-122"/>
                </a:rPr>
                <a:t>PADI</a:t>
              </a:r>
            </a:p>
            <a:p>
              <a:pPr marL="342900" indent="-342900">
                <a:lnSpc>
                  <a:spcPts val="1800"/>
                </a:lnSpc>
                <a:buFont typeface="+mj-ea"/>
                <a:buAutoNum type="circleNumDbPlain"/>
              </a:pPr>
              <a:endParaRPr lang="en-US" altLang="zh-CN" dirty="0">
                <a:latin typeface="微软雅黑" panose="020B0503020204020204" pitchFamily="34" charset="-122"/>
                <a:ea typeface="微软雅黑" panose="020B0503020204020204" pitchFamily="34" charset="-122"/>
              </a:endParaRPr>
            </a:p>
            <a:p>
              <a:pPr marL="342900" indent="-342900">
                <a:lnSpc>
                  <a:spcPts val="1800"/>
                </a:lnSpc>
                <a:buFont typeface="+mj-ea"/>
                <a:buAutoNum type="circleNumDbPlain"/>
              </a:pPr>
              <a:r>
                <a:rPr lang="en-US" altLang="zh-CN" dirty="0">
                  <a:latin typeface="微软雅黑" panose="020B0503020204020204" pitchFamily="34" charset="-122"/>
                  <a:ea typeface="微软雅黑" panose="020B0503020204020204" pitchFamily="34" charset="-122"/>
                </a:rPr>
                <a:t>PADO</a:t>
              </a:r>
            </a:p>
            <a:p>
              <a:pPr marL="342900" indent="-342900">
                <a:lnSpc>
                  <a:spcPts val="1800"/>
                </a:lnSpc>
                <a:buFont typeface="+mj-ea"/>
                <a:buAutoNum type="circleNumDbPlain"/>
              </a:pPr>
              <a:endParaRPr lang="en-US" altLang="zh-CN" dirty="0">
                <a:latin typeface="微软雅黑" panose="020B0503020204020204" pitchFamily="34" charset="-122"/>
                <a:ea typeface="微软雅黑" panose="020B0503020204020204" pitchFamily="34" charset="-122"/>
              </a:endParaRPr>
            </a:p>
            <a:p>
              <a:pPr marL="342900" indent="-342900">
                <a:lnSpc>
                  <a:spcPts val="1800"/>
                </a:lnSpc>
                <a:buFont typeface="+mj-ea"/>
                <a:buAutoNum type="circleNumDbPlain"/>
              </a:pPr>
              <a:r>
                <a:rPr lang="en-US" altLang="zh-CN" dirty="0">
                  <a:latin typeface="微软雅黑" panose="020B0503020204020204" pitchFamily="34" charset="-122"/>
                  <a:ea typeface="微软雅黑" panose="020B0503020204020204" pitchFamily="34" charset="-122"/>
                </a:rPr>
                <a:t>PADR</a:t>
              </a:r>
            </a:p>
            <a:p>
              <a:pPr marL="342900" indent="-342900">
                <a:lnSpc>
                  <a:spcPts val="1800"/>
                </a:lnSpc>
                <a:buFont typeface="+mj-ea"/>
                <a:buAutoNum type="circleNumDbPlain"/>
              </a:pPr>
              <a:endParaRPr lang="en-US" altLang="zh-CN" dirty="0">
                <a:latin typeface="微软雅黑" panose="020B0503020204020204" pitchFamily="34" charset="-122"/>
                <a:ea typeface="微软雅黑" panose="020B0503020204020204" pitchFamily="34" charset="-122"/>
              </a:endParaRPr>
            </a:p>
            <a:p>
              <a:pPr marL="342900" indent="-342900">
                <a:lnSpc>
                  <a:spcPts val="1800"/>
                </a:lnSpc>
                <a:buFont typeface="+mj-ea"/>
                <a:buAutoNum type="circleNumDbPlain"/>
              </a:pPr>
              <a:r>
                <a:rPr lang="en-US" altLang="zh-CN" dirty="0">
                  <a:latin typeface="微软雅黑" panose="020B0503020204020204" pitchFamily="34" charset="-122"/>
                  <a:ea typeface="微软雅黑" panose="020B0503020204020204" pitchFamily="34" charset="-122"/>
                </a:rPr>
                <a:t>PADS</a:t>
              </a:r>
            </a:p>
            <a:p>
              <a:pPr marL="342900" indent="-342900">
                <a:lnSpc>
                  <a:spcPts val="1800"/>
                </a:lnSpc>
                <a:buFont typeface="+mj-ea"/>
                <a:buAutoNum type="circleNumDbPlain"/>
              </a:pPr>
              <a:endParaRPr lang="en-US" altLang="zh-CN" dirty="0">
                <a:latin typeface="微软雅黑" panose="020B0503020204020204" pitchFamily="34" charset="-122"/>
                <a:ea typeface="微软雅黑" panose="020B0503020204020204" pitchFamily="34" charset="-122"/>
              </a:endParaRPr>
            </a:p>
          </p:txBody>
        </p:sp>
        <p:sp>
          <p:nvSpPr>
            <p:cNvPr id="17" name="文本框 16">
              <a:extLst>
                <a:ext uri="{FF2B5EF4-FFF2-40B4-BE49-F238E27FC236}">
                  <a16:creationId xmlns:a16="http://schemas.microsoft.com/office/drawing/2014/main" id="{5CB4F540-C913-4899-BC8F-9A704D401182}"/>
                </a:ext>
              </a:extLst>
            </p:cNvPr>
            <p:cNvSpPr txBox="1"/>
            <p:nvPr/>
          </p:nvSpPr>
          <p:spPr>
            <a:xfrm>
              <a:off x="7645595" y="1381770"/>
              <a:ext cx="1830307"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PPPoE Client</a:t>
              </a:r>
              <a:endParaRPr lang="zh-CN" altLang="en-US" dirty="0">
                <a:latin typeface="微软雅黑" panose="020B0503020204020204" pitchFamily="34" charset="-122"/>
                <a:ea typeface="微软雅黑" panose="020B0503020204020204" pitchFamily="34" charset="-122"/>
              </a:endParaRPr>
            </a:p>
          </p:txBody>
        </p:sp>
        <p:sp>
          <p:nvSpPr>
            <p:cNvPr id="18" name="文本框 17">
              <a:extLst>
                <a:ext uri="{FF2B5EF4-FFF2-40B4-BE49-F238E27FC236}">
                  <a16:creationId xmlns:a16="http://schemas.microsoft.com/office/drawing/2014/main" id="{DBAF7D18-0A19-4DC9-BCEE-1073D44B01F2}"/>
                </a:ext>
              </a:extLst>
            </p:cNvPr>
            <p:cNvSpPr txBox="1"/>
            <p:nvPr/>
          </p:nvSpPr>
          <p:spPr>
            <a:xfrm>
              <a:off x="10417052" y="1354767"/>
              <a:ext cx="1797836"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PPPoE Server</a:t>
              </a:r>
              <a:endParaRPr lang="zh-CN" altLang="en-US" dirty="0">
                <a:latin typeface="微软雅黑" panose="020B0503020204020204" pitchFamily="34" charset="-122"/>
                <a:ea typeface="微软雅黑" panose="020B0503020204020204" pitchFamily="34" charset="-122"/>
              </a:endParaRPr>
            </a:p>
          </p:txBody>
        </p:sp>
        <p:cxnSp>
          <p:nvCxnSpPr>
            <p:cNvPr id="19" name="直接箭头连接符 18">
              <a:extLst>
                <a:ext uri="{FF2B5EF4-FFF2-40B4-BE49-F238E27FC236}">
                  <a16:creationId xmlns:a16="http://schemas.microsoft.com/office/drawing/2014/main" id="{19C4EFBF-2529-42DA-992E-9E9BBD0D4068}"/>
                </a:ext>
              </a:extLst>
            </p:cNvPr>
            <p:cNvCxnSpPr/>
            <p:nvPr/>
          </p:nvCxnSpPr>
          <p:spPr>
            <a:xfrm>
              <a:off x="8453957" y="3797039"/>
              <a:ext cx="28800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DCAFFB7C-E24E-4780-B93E-4D2E63942923}"/>
                </a:ext>
              </a:extLst>
            </p:cNvPr>
            <p:cNvCxnSpPr>
              <a:cxnSpLocks/>
            </p:cNvCxnSpPr>
            <p:nvPr/>
          </p:nvCxnSpPr>
          <p:spPr>
            <a:xfrm flipH="1">
              <a:off x="8421093" y="3342562"/>
              <a:ext cx="28800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a:extLst>
                <a:ext uri="{FF2B5EF4-FFF2-40B4-BE49-F238E27FC236}">
                  <a16:creationId xmlns:a16="http://schemas.microsoft.com/office/drawing/2014/main" id="{C79F1502-50C7-4188-A20D-147801CE39E1}"/>
                </a:ext>
              </a:extLst>
            </p:cNvPr>
            <p:cNvCxnSpPr>
              <a:cxnSpLocks/>
            </p:cNvCxnSpPr>
            <p:nvPr/>
          </p:nvCxnSpPr>
          <p:spPr>
            <a:xfrm flipH="1">
              <a:off x="8431135" y="4228668"/>
              <a:ext cx="28800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21" name="文本框 20">
            <a:extLst>
              <a:ext uri="{FF2B5EF4-FFF2-40B4-BE49-F238E27FC236}">
                <a16:creationId xmlns:a16="http://schemas.microsoft.com/office/drawing/2014/main" id="{13E03381-1C82-4165-8688-3180E6281FF7}"/>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
        <p:nvSpPr>
          <p:cNvPr id="22" name="灯片编号占位符 3"/>
          <p:cNvSpPr>
            <a:spLocks noGrp="1"/>
          </p:cNvSpPr>
          <p:nvPr>
            <p:ph type="sldNum" sz="quarter" idx="12"/>
          </p:nvPr>
        </p:nvSpPr>
        <p:spPr>
          <a:xfrm>
            <a:off x="8610600" y="6356350"/>
            <a:ext cx="331967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164</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Tree>
    <p:extLst>
      <p:ext uri="{BB962C8B-B14F-4D97-AF65-F5344CB8AC3E}">
        <p14:creationId xmlns:p14="http://schemas.microsoft.com/office/powerpoint/2010/main" val="3746661685"/>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DE749A-3A56-4848-8201-AE952FDAE574}"/>
              </a:ext>
            </a:extLst>
          </p:cNvPr>
          <p:cNvSpPr>
            <a:spLocks noGrp="1"/>
          </p:cNvSpPr>
          <p:nvPr>
            <p:ph type="title"/>
          </p:nvPr>
        </p:nvSpPr>
        <p:spPr/>
        <p:txBody>
          <a:bodyPr/>
          <a:lstStyle/>
          <a:p>
            <a:r>
              <a:rPr kumimoji="1" lang="en-US" altLang="zh-CN" dirty="0" err="1"/>
              <a:t>PPPoE</a:t>
            </a:r>
            <a:r>
              <a:rPr kumimoji="1" lang="zh-CN" altLang="en-US" dirty="0"/>
              <a:t>工作过程</a:t>
            </a:r>
          </a:p>
        </p:txBody>
      </p:sp>
      <p:sp>
        <p:nvSpPr>
          <p:cNvPr id="3" name="内容占位符 2">
            <a:extLst>
              <a:ext uri="{FF2B5EF4-FFF2-40B4-BE49-F238E27FC236}">
                <a16:creationId xmlns:a16="http://schemas.microsoft.com/office/drawing/2014/main" id="{4DD0F5DF-ACC6-EF47-8712-87783CAA3125}"/>
              </a:ext>
            </a:extLst>
          </p:cNvPr>
          <p:cNvSpPr>
            <a:spLocks noGrp="1"/>
          </p:cNvSpPr>
          <p:nvPr>
            <p:ph idx="1"/>
          </p:nvPr>
        </p:nvSpPr>
        <p:spPr>
          <a:xfrm>
            <a:off x="622300" y="1346200"/>
            <a:ext cx="6795341" cy="5088525"/>
          </a:xfrm>
        </p:spPr>
        <p:txBody>
          <a:bodyPr>
            <a:normAutofit/>
          </a:bodyPr>
          <a:lstStyle/>
          <a:p>
            <a:pPr fontAlgn="base">
              <a:lnSpc>
                <a:spcPct val="120000"/>
              </a:lnSpc>
            </a:pPr>
            <a:r>
              <a:rPr lang="en-US" altLang="zh-CN" dirty="0"/>
              <a:t>Session</a:t>
            </a:r>
            <a:r>
              <a:rPr lang="zh-CN" altLang="en-US" dirty="0"/>
              <a:t>阶段：</a:t>
            </a:r>
            <a:endParaRPr lang="en-US" altLang="zh-CN" dirty="0"/>
          </a:p>
          <a:p>
            <a:pPr lvl="1" fontAlgn="base">
              <a:lnSpc>
                <a:spcPct val="120000"/>
              </a:lnSpc>
            </a:pPr>
            <a:r>
              <a:rPr lang="en-US" altLang="zh-CN" dirty="0"/>
              <a:t>PPP</a:t>
            </a:r>
            <a:r>
              <a:rPr lang="zh-CN" altLang="en-US" dirty="0"/>
              <a:t>协商阶段</a:t>
            </a:r>
            <a:endParaRPr lang="en-US" altLang="zh-CN" dirty="0"/>
          </a:p>
          <a:p>
            <a:pPr marL="989013" lvl="2" indent="-273050" fontAlgn="base">
              <a:lnSpc>
                <a:spcPct val="130000"/>
              </a:lnSpc>
              <a:buFont typeface="Microsoft YaHei" panose="020B0503020204020204" pitchFamily="34" charset="-122"/>
              <a:buChar char="−"/>
            </a:pPr>
            <a:r>
              <a:rPr lang="zh-CN" altLang="en-US" dirty="0"/>
              <a:t>与普通的</a:t>
            </a:r>
            <a:r>
              <a:rPr lang="en-US" altLang="zh-CN" dirty="0"/>
              <a:t>PPP</a:t>
            </a:r>
            <a:r>
              <a:rPr lang="zh-CN" altLang="en-US" dirty="0"/>
              <a:t>协商方式一致，分为</a:t>
            </a:r>
            <a:r>
              <a:rPr lang="en-US" altLang="zh-CN" dirty="0"/>
              <a:t>LCP</a:t>
            </a:r>
            <a:r>
              <a:rPr lang="zh-CN" altLang="en-US" dirty="0"/>
              <a:t>、认证、</a:t>
            </a:r>
            <a:r>
              <a:rPr lang="en-US" altLang="zh-CN" dirty="0"/>
              <a:t>NCP</a:t>
            </a:r>
            <a:r>
              <a:rPr lang="zh-CN" altLang="en-US" dirty="0"/>
              <a:t>三个阶段</a:t>
            </a:r>
          </a:p>
          <a:p>
            <a:pPr marL="989013" lvl="2" indent="-273050" fontAlgn="base">
              <a:lnSpc>
                <a:spcPct val="130000"/>
              </a:lnSpc>
              <a:buFont typeface="Microsoft YaHei" panose="020B0503020204020204" pitchFamily="34" charset="-122"/>
              <a:buChar char="−"/>
            </a:pPr>
            <a:r>
              <a:rPr lang="en-US" altLang="zh-CN" dirty="0"/>
              <a:t>LCP </a:t>
            </a:r>
            <a:r>
              <a:rPr lang="zh-CN" altLang="en-US" dirty="0"/>
              <a:t>阶段主要完成建立、配置和检测链路连接。</a:t>
            </a:r>
            <a:r>
              <a:rPr lang="en-US" altLang="zh-CN" dirty="0"/>
              <a:t>LCP </a:t>
            </a:r>
            <a:r>
              <a:rPr lang="zh-CN" altLang="en-US" dirty="0"/>
              <a:t>协商成功后，开始进行认证工作，认证协议类型由 </a:t>
            </a:r>
            <a:r>
              <a:rPr lang="en-US" altLang="zh-CN" dirty="0"/>
              <a:t>LCP </a:t>
            </a:r>
            <a:r>
              <a:rPr lang="zh-CN" altLang="en-US" dirty="0"/>
              <a:t>协商结果决定</a:t>
            </a:r>
          </a:p>
          <a:p>
            <a:pPr marL="989013" lvl="2" indent="-273050" fontAlgn="base">
              <a:lnSpc>
                <a:spcPct val="130000"/>
              </a:lnSpc>
              <a:buFont typeface="Microsoft YaHei" panose="020B0503020204020204" pitchFamily="34" charset="-122"/>
              <a:buChar char="−"/>
            </a:pPr>
            <a:r>
              <a:rPr lang="zh-CN" altLang="en-US" dirty="0"/>
              <a:t>认证成功后，进入</a:t>
            </a:r>
            <a:r>
              <a:rPr lang="en-US" altLang="zh-CN" dirty="0"/>
              <a:t>NCP</a:t>
            </a:r>
            <a:r>
              <a:rPr lang="zh-CN" altLang="en-US" dirty="0"/>
              <a:t>阶段。</a:t>
            </a:r>
            <a:r>
              <a:rPr lang="en-US" altLang="zh-CN" dirty="0"/>
              <a:t>NCP</a:t>
            </a:r>
            <a:r>
              <a:rPr lang="zh-CN" altLang="en-US" dirty="0"/>
              <a:t>是一个协议族，用于配置不同的网络层协议，常用的是</a:t>
            </a:r>
            <a:r>
              <a:rPr lang="en-US" altLang="zh-CN" dirty="0"/>
              <a:t>IP</a:t>
            </a:r>
            <a:r>
              <a:rPr lang="zh-CN" altLang="en-US" dirty="0"/>
              <a:t>控制协议</a:t>
            </a:r>
            <a:r>
              <a:rPr lang="en-US" altLang="zh-CN" dirty="0"/>
              <a:t>(IPCP)</a:t>
            </a:r>
            <a:r>
              <a:rPr lang="zh-CN" altLang="en-US" dirty="0"/>
              <a:t>，负责配置用户的</a:t>
            </a:r>
            <a:r>
              <a:rPr lang="en-US" altLang="zh-CN" dirty="0"/>
              <a:t>IP</a:t>
            </a:r>
            <a:r>
              <a:rPr lang="zh-CN" altLang="en-US" dirty="0"/>
              <a:t>和</a:t>
            </a:r>
            <a:r>
              <a:rPr lang="en-US" altLang="zh-CN" dirty="0"/>
              <a:t>DNS</a:t>
            </a:r>
            <a:r>
              <a:rPr lang="zh-CN" altLang="en-US" dirty="0"/>
              <a:t>等工作</a:t>
            </a:r>
            <a:endParaRPr lang="en-US" altLang="zh-CN" dirty="0"/>
          </a:p>
          <a:p>
            <a:pPr lvl="1" fontAlgn="base">
              <a:lnSpc>
                <a:spcPct val="120000"/>
              </a:lnSpc>
            </a:pPr>
            <a:r>
              <a:rPr lang="en-US" altLang="zh-CN" dirty="0"/>
              <a:t>PPP</a:t>
            </a:r>
            <a:r>
              <a:rPr lang="zh-CN" altLang="en-US" dirty="0"/>
              <a:t>报文传输阶段</a:t>
            </a:r>
            <a:endParaRPr lang="en-US" altLang="zh-CN" dirty="0"/>
          </a:p>
        </p:txBody>
      </p:sp>
      <p:grpSp>
        <p:nvGrpSpPr>
          <p:cNvPr id="35" name="组合 34">
            <a:extLst>
              <a:ext uri="{FF2B5EF4-FFF2-40B4-BE49-F238E27FC236}">
                <a16:creationId xmlns:a16="http://schemas.microsoft.com/office/drawing/2014/main" id="{23CD01F7-4ABA-4B65-871A-963500EC8FE4}"/>
              </a:ext>
            </a:extLst>
          </p:cNvPr>
          <p:cNvGrpSpPr/>
          <p:nvPr/>
        </p:nvGrpSpPr>
        <p:grpSpPr>
          <a:xfrm>
            <a:off x="7544216" y="1220833"/>
            <a:ext cx="4822951" cy="5400472"/>
            <a:chOff x="7249494" y="1220833"/>
            <a:chExt cx="4822951" cy="5400472"/>
          </a:xfrm>
        </p:grpSpPr>
        <p:pic>
          <p:nvPicPr>
            <p:cNvPr id="36" name="图片 35">
              <a:extLst>
                <a:ext uri="{FF2B5EF4-FFF2-40B4-BE49-F238E27FC236}">
                  <a16:creationId xmlns:a16="http://schemas.microsoft.com/office/drawing/2014/main" id="{B8AC2DD6-6231-4E54-80AD-D8DD46B084E8}"/>
                </a:ext>
              </a:extLst>
            </p:cNvPr>
            <p:cNvPicPr>
              <a:picLocks noChangeAspect="1"/>
            </p:cNvPicPr>
            <p:nvPr/>
          </p:nvPicPr>
          <p:blipFill>
            <a:blip r:embed="rId2"/>
            <a:stretch>
              <a:fillRect/>
            </a:stretch>
          </p:blipFill>
          <p:spPr>
            <a:xfrm>
              <a:off x="7392559" y="1565775"/>
              <a:ext cx="1100146" cy="771531"/>
            </a:xfrm>
            <a:prstGeom prst="rect">
              <a:avLst/>
            </a:prstGeom>
          </p:spPr>
        </p:pic>
        <p:pic>
          <p:nvPicPr>
            <p:cNvPr id="37" name="图片 36">
              <a:extLst>
                <a:ext uri="{FF2B5EF4-FFF2-40B4-BE49-F238E27FC236}">
                  <a16:creationId xmlns:a16="http://schemas.microsoft.com/office/drawing/2014/main" id="{BAB8309C-5033-444E-8A01-CF4FD87780AD}"/>
                </a:ext>
              </a:extLst>
            </p:cNvPr>
            <p:cNvPicPr>
              <a:picLocks noChangeAspect="1"/>
            </p:cNvPicPr>
            <p:nvPr/>
          </p:nvPicPr>
          <p:blipFill>
            <a:blip r:embed="rId2"/>
            <a:stretch>
              <a:fillRect/>
            </a:stretch>
          </p:blipFill>
          <p:spPr>
            <a:xfrm>
              <a:off x="10253654" y="1549350"/>
              <a:ext cx="1100146" cy="771531"/>
            </a:xfrm>
            <a:prstGeom prst="rect">
              <a:avLst/>
            </a:prstGeom>
          </p:spPr>
        </p:pic>
        <p:cxnSp>
          <p:nvCxnSpPr>
            <p:cNvPr id="38" name="直接箭头连接符 37">
              <a:extLst>
                <a:ext uri="{FF2B5EF4-FFF2-40B4-BE49-F238E27FC236}">
                  <a16:creationId xmlns:a16="http://schemas.microsoft.com/office/drawing/2014/main" id="{521C6DE8-6E11-4DF1-895C-A90EE0B50102}"/>
                </a:ext>
              </a:extLst>
            </p:cNvPr>
            <p:cNvCxnSpPr>
              <a:cxnSpLocks/>
              <a:stCxn id="36" idx="2"/>
            </p:cNvCxnSpPr>
            <p:nvPr/>
          </p:nvCxnSpPr>
          <p:spPr>
            <a:xfrm>
              <a:off x="7942632" y="2337305"/>
              <a:ext cx="0" cy="42840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a:extLst>
                <a:ext uri="{FF2B5EF4-FFF2-40B4-BE49-F238E27FC236}">
                  <a16:creationId xmlns:a16="http://schemas.microsoft.com/office/drawing/2014/main" id="{909AA21E-92DB-4AF0-B5F1-C75A0EEF5C86}"/>
                </a:ext>
              </a:extLst>
            </p:cNvPr>
            <p:cNvCxnSpPr/>
            <p:nvPr/>
          </p:nvCxnSpPr>
          <p:spPr>
            <a:xfrm>
              <a:off x="10832728" y="2336405"/>
              <a:ext cx="0" cy="42840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41" name="文本框 40">
              <a:extLst>
                <a:ext uri="{FF2B5EF4-FFF2-40B4-BE49-F238E27FC236}">
                  <a16:creationId xmlns:a16="http://schemas.microsoft.com/office/drawing/2014/main" id="{474F5B37-A98C-4D4F-AFDF-F63CFF1FEB11}"/>
                </a:ext>
              </a:extLst>
            </p:cNvPr>
            <p:cNvSpPr txBox="1"/>
            <p:nvPr/>
          </p:nvSpPr>
          <p:spPr>
            <a:xfrm>
              <a:off x="8224120" y="2876127"/>
              <a:ext cx="2409634" cy="3093154"/>
            </a:xfrm>
            <a:prstGeom prst="rect">
              <a:avLst/>
            </a:prstGeom>
            <a:noFill/>
          </p:spPr>
          <p:txBody>
            <a:bodyPr wrap="none" rtlCol="0">
              <a:spAutoFit/>
            </a:bodyPr>
            <a:lstStyle/>
            <a:p>
              <a:pPr marL="342900" indent="-342900">
                <a:lnSpc>
                  <a:spcPts val="1800"/>
                </a:lnSpc>
                <a:buFont typeface="+mj-ea"/>
                <a:buAutoNum type="circleNumDbPlain"/>
              </a:pPr>
              <a:endParaRPr lang="en-US" altLang="zh-CN" dirty="0">
                <a:latin typeface="微软雅黑" panose="020B0503020204020204" pitchFamily="34" charset="-122"/>
                <a:ea typeface="微软雅黑" panose="020B0503020204020204" pitchFamily="34" charset="-122"/>
              </a:endParaRPr>
            </a:p>
            <a:p>
              <a:pPr marL="342900" indent="-342900">
                <a:lnSpc>
                  <a:spcPts val="1800"/>
                </a:lnSpc>
                <a:buFont typeface="+mj-ea"/>
                <a:buAutoNum type="circleNumDbPlain"/>
              </a:pPr>
              <a:r>
                <a:rPr lang="en-US" altLang="zh-CN" dirty="0">
                  <a:latin typeface="微软雅黑" panose="020B0503020204020204" pitchFamily="34" charset="-122"/>
                  <a:ea typeface="微软雅黑" panose="020B0503020204020204" pitchFamily="34" charset="-122"/>
                </a:rPr>
                <a:t>LCP Negotiation</a:t>
              </a:r>
            </a:p>
            <a:p>
              <a:pPr marL="342900" indent="-342900">
                <a:lnSpc>
                  <a:spcPts val="1800"/>
                </a:lnSpc>
                <a:buFont typeface="+mj-ea"/>
                <a:buAutoNum type="circleNumDbPlain"/>
              </a:pPr>
              <a:endParaRPr lang="en-US" altLang="zh-CN" dirty="0">
                <a:latin typeface="微软雅黑" panose="020B0503020204020204" pitchFamily="34" charset="-122"/>
                <a:ea typeface="微软雅黑" panose="020B0503020204020204" pitchFamily="34" charset="-122"/>
              </a:endParaRPr>
            </a:p>
            <a:p>
              <a:pPr marL="342900" indent="-342900">
                <a:lnSpc>
                  <a:spcPts val="1800"/>
                </a:lnSpc>
                <a:buFont typeface="+mj-ea"/>
                <a:buAutoNum type="circleNumDbPlain"/>
              </a:pPr>
              <a:r>
                <a:rPr lang="en-US" altLang="zh-CN" dirty="0">
                  <a:latin typeface="微软雅黑" panose="020B0503020204020204" pitchFamily="34" charset="-122"/>
                  <a:ea typeface="微软雅黑" panose="020B0503020204020204" pitchFamily="34" charset="-122"/>
                </a:rPr>
                <a:t>Challenge</a:t>
              </a:r>
            </a:p>
            <a:p>
              <a:pPr marL="342900" indent="-342900">
                <a:lnSpc>
                  <a:spcPts val="1800"/>
                </a:lnSpc>
                <a:buFont typeface="+mj-ea"/>
                <a:buAutoNum type="circleNumDbPlain"/>
              </a:pPr>
              <a:endParaRPr lang="en-US" altLang="zh-CN" dirty="0">
                <a:latin typeface="微软雅黑" panose="020B0503020204020204" pitchFamily="34" charset="-122"/>
                <a:ea typeface="微软雅黑" panose="020B0503020204020204" pitchFamily="34" charset="-122"/>
              </a:endParaRPr>
            </a:p>
            <a:p>
              <a:pPr marL="342900" indent="-342900">
                <a:lnSpc>
                  <a:spcPts val="1800"/>
                </a:lnSpc>
                <a:buFont typeface="+mj-ea"/>
                <a:buAutoNum type="circleNumDbPlain"/>
              </a:pPr>
              <a:r>
                <a:rPr lang="en-US" altLang="zh-CN" dirty="0">
                  <a:latin typeface="微软雅黑" panose="020B0503020204020204" pitchFamily="34" charset="-122"/>
                  <a:ea typeface="微软雅黑" panose="020B0503020204020204" pitchFamily="34" charset="-122"/>
                </a:rPr>
                <a:t>Response</a:t>
              </a:r>
            </a:p>
            <a:p>
              <a:pPr marL="342900" indent="-342900">
                <a:lnSpc>
                  <a:spcPts val="1800"/>
                </a:lnSpc>
                <a:buFont typeface="+mj-ea"/>
                <a:buAutoNum type="circleNumDbPlain"/>
              </a:pPr>
              <a:endParaRPr lang="en-US" altLang="zh-CN" dirty="0">
                <a:latin typeface="微软雅黑" panose="020B0503020204020204" pitchFamily="34" charset="-122"/>
                <a:ea typeface="微软雅黑" panose="020B0503020204020204" pitchFamily="34" charset="-122"/>
              </a:endParaRPr>
            </a:p>
            <a:p>
              <a:pPr marL="342900" indent="-342900">
                <a:lnSpc>
                  <a:spcPts val="1800"/>
                </a:lnSpc>
                <a:buFont typeface="+mj-ea"/>
                <a:buAutoNum type="circleNumDbPlain"/>
              </a:pPr>
              <a:r>
                <a:rPr lang="en-US" altLang="zh-CN" dirty="0">
                  <a:latin typeface="微软雅黑" panose="020B0503020204020204" pitchFamily="34" charset="-122"/>
                  <a:ea typeface="微软雅黑" panose="020B0503020204020204" pitchFamily="34" charset="-122"/>
                </a:rPr>
                <a:t>Success/Failure</a:t>
              </a:r>
            </a:p>
            <a:p>
              <a:pPr marL="342900" indent="-342900">
                <a:lnSpc>
                  <a:spcPts val="1800"/>
                </a:lnSpc>
                <a:buFont typeface="+mj-ea"/>
                <a:buAutoNum type="circleNumDbPlain"/>
              </a:pPr>
              <a:endParaRPr lang="en-US" altLang="zh-CN" dirty="0">
                <a:latin typeface="微软雅黑" panose="020B0503020204020204" pitchFamily="34" charset="-122"/>
                <a:ea typeface="微软雅黑" panose="020B0503020204020204" pitchFamily="34" charset="-122"/>
              </a:endParaRPr>
            </a:p>
            <a:p>
              <a:pPr marL="342900" indent="-342900">
                <a:lnSpc>
                  <a:spcPts val="1800"/>
                </a:lnSpc>
                <a:buFont typeface="+mj-ea"/>
                <a:buAutoNum type="circleNumDbPlain"/>
              </a:pPr>
              <a:r>
                <a:rPr lang="en-US" altLang="zh-CN" dirty="0">
                  <a:latin typeface="微软雅黑" panose="020B0503020204020204" pitchFamily="34" charset="-122"/>
                  <a:ea typeface="微软雅黑" panose="020B0503020204020204" pitchFamily="34" charset="-122"/>
                </a:rPr>
                <a:t>NCP Negotiation</a:t>
              </a:r>
            </a:p>
            <a:p>
              <a:pPr marL="342900" indent="-342900">
                <a:lnSpc>
                  <a:spcPts val="1800"/>
                </a:lnSpc>
                <a:buFont typeface="+mj-ea"/>
                <a:buAutoNum type="circleNumDbPlain"/>
              </a:pPr>
              <a:endParaRPr lang="en-US" altLang="zh-CN" dirty="0">
                <a:latin typeface="微软雅黑" panose="020B0503020204020204" pitchFamily="34" charset="-122"/>
                <a:ea typeface="微软雅黑" panose="020B0503020204020204" pitchFamily="34" charset="-122"/>
              </a:endParaRPr>
            </a:p>
            <a:p>
              <a:pPr marL="342900" indent="-342900">
                <a:lnSpc>
                  <a:spcPts val="1800"/>
                </a:lnSpc>
                <a:buFont typeface="+mj-ea"/>
                <a:buAutoNum type="circleNumDbPlain"/>
              </a:pPr>
              <a:r>
                <a:rPr lang="en-US" altLang="zh-CN" dirty="0">
                  <a:latin typeface="微软雅黑" panose="020B0503020204020204" pitchFamily="34" charset="-122"/>
                  <a:ea typeface="微软雅黑" panose="020B0503020204020204" pitchFamily="34" charset="-122"/>
                </a:rPr>
                <a:t>PPP</a:t>
              </a:r>
              <a:r>
                <a:rPr lang="zh-CN" altLang="en-US" dirty="0">
                  <a:latin typeface="微软雅黑" panose="020B0503020204020204" pitchFamily="34" charset="-122"/>
                  <a:ea typeface="微软雅黑" panose="020B0503020204020204" pitchFamily="34" charset="-122"/>
                </a:rPr>
                <a:t>报文传输</a:t>
              </a:r>
              <a:endParaRPr lang="en-US" altLang="zh-CN" dirty="0">
                <a:latin typeface="微软雅黑" panose="020B0503020204020204" pitchFamily="34" charset="-122"/>
                <a:ea typeface="微软雅黑" panose="020B0503020204020204" pitchFamily="34" charset="-122"/>
              </a:endParaRPr>
            </a:p>
            <a:p>
              <a:pPr marL="342900" indent="-342900">
                <a:lnSpc>
                  <a:spcPts val="1800"/>
                </a:lnSpc>
                <a:buFont typeface="+mj-ea"/>
                <a:buAutoNum type="circleNumDbPlain"/>
              </a:pPr>
              <a:endParaRPr lang="en-US" altLang="zh-CN" dirty="0">
                <a:latin typeface="微软雅黑" panose="020B0503020204020204" pitchFamily="34" charset="-122"/>
                <a:ea typeface="微软雅黑" panose="020B0503020204020204" pitchFamily="34" charset="-122"/>
              </a:endParaRPr>
            </a:p>
          </p:txBody>
        </p:sp>
        <p:sp>
          <p:nvSpPr>
            <p:cNvPr id="42" name="文本框 41">
              <a:extLst>
                <a:ext uri="{FF2B5EF4-FFF2-40B4-BE49-F238E27FC236}">
                  <a16:creationId xmlns:a16="http://schemas.microsoft.com/office/drawing/2014/main" id="{0DE02E49-14BD-4EC9-AD1C-8DF97211FAD1}"/>
                </a:ext>
              </a:extLst>
            </p:cNvPr>
            <p:cNvSpPr txBox="1"/>
            <p:nvPr/>
          </p:nvSpPr>
          <p:spPr>
            <a:xfrm>
              <a:off x="7249494" y="1247836"/>
              <a:ext cx="1949253"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PPPoE Client</a:t>
              </a:r>
              <a:endParaRPr lang="zh-CN" altLang="en-US" dirty="0">
                <a:latin typeface="微软雅黑" panose="020B0503020204020204" pitchFamily="34" charset="-122"/>
                <a:ea typeface="微软雅黑" panose="020B0503020204020204" pitchFamily="34" charset="-122"/>
              </a:endParaRPr>
            </a:p>
          </p:txBody>
        </p:sp>
        <p:sp>
          <p:nvSpPr>
            <p:cNvPr id="43" name="文本框 42">
              <a:extLst>
                <a:ext uri="{FF2B5EF4-FFF2-40B4-BE49-F238E27FC236}">
                  <a16:creationId xmlns:a16="http://schemas.microsoft.com/office/drawing/2014/main" id="{60ECD227-703E-4FB0-BAA2-E20EE69AB876}"/>
                </a:ext>
              </a:extLst>
            </p:cNvPr>
            <p:cNvSpPr txBox="1"/>
            <p:nvPr/>
          </p:nvSpPr>
          <p:spPr>
            <a:xfrm>
              <a:off x="10123192" y="1220833"/>
              <a:ext cx="1949253"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PPPoE Server</a:t>
              </a:r>
              <a:endParaRPr lang="zh-CN" altLang="en-US" dirty="0">
                <a:latin typeface="微软雅黑" panose="020B0503020204020204" pitchFamily="34" charset="-122"/>
                <a:ea typeface="微软雅黑" panose="020B0503020204020204" pitchFamily="34" charset="-122"/>
              </a:endParaRPr>
            </a:p>
          </p:txBody>
        </p:sp>
        <p:cxnSp>
          <p:nvCxnSpPr>
            <p:cNvPr id="47" name="直接箭头连接符 46">
              <a:extLst>
                <a:ext uri="{FF2B5EF4-FFF2-40B4-BE49-F238E27FC236}">
                  <a16:creationId xmlns:a16="http://schemas.microsoft.com/office/drawing/2014/main" id="{80980AEA-B2BD-49E0-80F3-5902FE1128D1}"/>
                </a:ext>
              </a:extLst>
            </p:cNvPr>
            <p:cNvCxnSpPr/>
            <p:nvPr/>
          </p:nvCxnSpPr>
          <p:spPr>
            <a:xfrm>
              <a:off x="7932108" y="4295711"/>
              <a:ext cx="28800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直接箭头连接符 47">
              <a:extLst>
                <a:ext uri="{FF2B5EF4-FFF2-40B4-BE49-F238E27FC236}">
                  <a16:creationId xmlns:a16="http://schemas.microsoft.com/office/drawing/2014/main" id="{B0ABD55B-CA14-4426-A074-1ACE00DF5E29}"/>
                </a:ext>
              </a:extLst>
            </p:cNvPr>
            <p:cNvCxnSpPr>
              <a:cxnSpLocks/>
            </p:cNvCxnSpPr>
            <p:nvPr/>
          </p:nvCxnSpPr>
          <p:spPr>
            <a:xfrm>
              <a:off x="7948535" y="3395751"/>
              <a:ext cx="2869958" cy="118"/>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9" name="直接箭头连接符 48">
              <a:extLst>
                <a:ext uri="{FF2B5EF4-FFF2-40B4-BE49-F238E27FC236}">
                  <a16:creationId xmlns:a16="http://schemas.microsoft.com/office/drawing/2014/main" id="{074BB7A9-03AA-429A-A9AE-1A0799114ACF}"/>
                </a:ext>
              </a:extLst>
            </p:cNvPr>
            <p:cNvCxnSpPr>
              <a:cxnSpLocks/>
            </p:cNvCxnSpPr>
            <p:nvPr/>
          </p:nvCxnSpPr>
          <p:spPr>
            <a:xfrm>
              <a:off x="7963419" y="3852946"/>
              <a:ext cx="2852146" cy="2105"/>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0" name="直接箭头连接符 49">
              <a:extLst>
                <a:ext uri="{FF2B5EF4-FFF2-40B4-BE49-F238E27FC236}">
                  <a16:creationId xmlns:a16="http://schemas.microsoft.com/office/drawing/2014/main" id="{09D7B6EE-E9B0-4E4E-92D6-E73E48D4F42B}"/>
                </a:ext>
              </a:extLst>
            </p:cNvPr>
            <p:cNvCxnSpPr>
              <a:cxnSpLocks/>
            </p:cNvCxnSpPr>
            <p:nvPr/>
          </p:nvCxnSpPr>
          <p:spPr>
            <a:xfrm flipH="1">
              <a:off x="7948535" y="4789267"/>
              <a:ext cx="28800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直接箭头连接符 50">
              <a:extLst>
                <a:ext uri="{FF2B5EF4-FFF2-40B4-BE49-F238E27FC236}">
                  <a16:creationId xmlns:a16="http://schemas.microsoft.com/office/drawing/2014/main" id="{704656B1-63B8-45B8-9771-BDAC1C7E2C0A}"/>
                </a:ext>
              </a:extLst>
            </p:cNvPr>
            <p:cNvCxnSpPr>
              <a:cxnSpLocks/>
            </p:cNvCxnSpPr>
            <p:nvPr/>
          </p:nvCxnSpPr>
          <p:spPr>
            <a:xfrm>
              <a:off x="7939035" y="5227823"/>
              <a:ext cx="2889500" cy="0"/>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3DFA63D2-4D01-46D4-95D8-68C4AA9218C6}"/>
                </a:ext>
              </a:extLst>
            </p:cNvPr>
            <p:cNvCxnSpPr/>
            <p:nvPr/>
          </p:nvCxnSpPr>
          <p:spPr>
            <a:xfrm>
              <a:off x="7298405" y="2982769"/>
              <a:ext cx="4170218" cy="0"/>
            </a:xfrm>
            <a:prstGeom prst="line">
              <a:avLst/>
            </a:prstGeom>
            <a:ln w="2222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3" name="文本框 52">
              <a:extLst>
                <a:ext uri="{FF2B5EF4-FFF2-40B4-BE49-F238E27FC236}">
                  <a16:creationId xmlns:a16="http://schemas.microsoft.com/office/drawing/2014/main" id="{DE1184FE-C237-475C-86FB-95A8744AAAE9}"/>
                </a:ext>
              </a:extLst>
            </p:cNvPr>
            <p:cNvSpPr txBox="1"/>
            <p:nvPr/>
          </p:nvSpPr>
          <p:spPr>
            <a:xfrm>
              <a:off x="8492705" y="2559926"/>
              <a:ext cx="1789951"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Discover</a:t>
              </a:r>
              <a:r>
                <a:rPr lang="zh-CN" altLang="en-US" dirty="0">
                  <a:latin typeface="微软雅黑" panose="020B0503020204020204" pitchFamily="34" charset="-122"/>
                  <a:ea typeface="微软雅黑" panose="020B0503020204020204" pitchFamily="34" charset="-122"/>
                </a:rPr>
                <a:t>阶段</a:t>
              </a:r>
            </a:p>
          </p:txBody>
        </p:sp>
      </p:grpSp>
      <p:sp>
        <p:nvSpPr>
          <p:cNvPr id="23" name="文本框 22">
            <a:extLst>
              <a:ext uri="{FF2B5EF4-FFF2-40B4-BE49-F238E27FC236}">
                <a16:creationId xmlns:a16="http://schemas.microsoft.com/office/drawing/2014/main" id="{082E9F18-BBDD-4631-A195-4CCA2A4ECA61}"/>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
        <p:nvSpPr>
          <p:cNvPr id="24" name="灯片编号占位符 3"/>
          <p:cNvSpPr>
            <a:spLocks noGrp="1"/>
          </p:cNvSpPr>
          <p:nvPr>
            <p:ph type="sldNum" sz="quarter" idx="12"/>
          </p:nvPr>
        </p:nvSpPr>
        <p:spPr>
          <a:xfrm>
            <a:off x="8610600" y="6356350"/>
            <a:ext cx="331967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165</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cxnSp>
        <p:nvCxnSpPr>
          <p:cNvPr id="28" name="直接箭头连接符 27">
            <a:extLst>
              <a:ext uri="{FF2B5EF4-FFF2-40B4-BE49-F238E27FC236}">
                <a16:creationId xmlns:a16="http://schemas.microsoft.com/office/drawing/2014/main" id="{472C45C4-DB05-41FF-9C34-E62B8223F219}"/>
              </a:ext>
            </a:extLst>
          </p:cNvPr>
          <p:cNvCxnSpPr>
            <a:cxnSpLocks/>
          </p:cNvCxnSpPr>
          <p:nvPr/>
        </p:nvCxnSpPr>
        <p:spPr>
          <a:xfrm>
            <a:off x="8254518" y="5708440"/>
            <a:ext cx="2858697" cy="0"/>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64561361"/>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DE749A-3A56-4848-8201-AE952FDAE574}"/>
              </a:ext>
            </a:extLst>
          </p:cNvPr>
          <p:cNvSpPr>
            <a:spLocks noGrp="1"/>
          </p:cNvSpPr>
          <p:nvPr>
            <p:ph type="title"/>
          </p:nvPr>
        </p:nvSpPr>
        <p:spPr>
          <a:xfrm>
            <a:off x="1307508" y="352769"/>
            <a:ext cx="8220812" cy="879086"/>
          </a:xfrm>
        </p:spPr>
        <p:txBody>
          <a:bodyPr/>
          <a:lstStyle/>
          <a:p>
            <a:r>
              <a:rPr kumimoji="1" lang="en-US" altLang="zh-CN" dirty="0" err="1"/>
              <a:t>PPPoE</a:t>
            </a:r>
            <a:r>
              <a:rPr kumimoji="1" lang="zh-CN" altLang="en-US" dirty="0"/>
              <a:t>工作过程</a:t>
            </a:r>
          </a:p>
        </p:txBody>
      </p:sp>
      <p:sp>
        <p:nvSpPr>
          <p:cNvPr id="3" name="内容占位符 2">
            <a:extLst>
              <a:ext uri="{FF2B5EF4-FFF2-40B4-BE49-F238E27FC236}">
                <a16:creationId xmlns:a16="http://schemas.microsoft.com/office/drawing/2014/main" id="{4DD0F5DF-ACC6-EF47-8712-87783CAA3125}"/>
              </a:ext>
            </a:extLst>
          </p:cNvPr>
          <p:cNvSpPr>
            <a:spLocks noGrp="1"/>
          </p:cNvSpPr>
          <p:nvPr>
            <p:ph idx="1"/>
          </p:nvPr>
        </p:nvSpPr>
        <p:spPr>
          <a:xfrm>
            <a:off x="593125" y="1247836"/>
            <a:ext cx="6878064" cy="5108514"/>
          </a:xfrm>
        </p:spPr>
        <p:txBody>
          <a:bodyPr>
            <a:noAutofit/>
          </a:bodyPr>
          <a:lstStyle/>
          <a:p>
            <a:pPr fontAlgn="base">
              <a:lnSpc>
                <a:spcPct val="150000"/>
              </a:lnSpc>
            </a:pPr>
            <a:r>
              <a:rPr lang="en-US" altLang="zh-CN" dirty="0"/>
              <a:t>Terminate</a:t>
            </a:r>
            <a:r>
              <a:rPr lang="zh-CN" altLang="en-US" dirty="0"/>
              <a:t>阶段，终止方式有两种：</a:t>
            </a:r>
            <a:endParaRPr lang="en-US" altLang="zh-CN" dirty="0"/>
          </a:p>
          <a:p>
            <a:pPr lvl="1" fontAlgn="base">
              <a:lnSpc>
                <a:spcPct val="150000"/>
              </a:lnSpc>
            </a:pPr>
            <a:r>
              <a:rPr lang="en-US" altLang="zh-CN" dirty="0"/>
              <a:t>PPP</a:t>
            </a:r>
            <a:r>
              <a:rPr lang="zh-CN" altLang="en-US" dirty="0"/>
              <a:t>协议自身（比如</a:t>
            </a:r>
            <a:r>
              <a:rPr lang="en-US" altLang="zh-CN" dirty="0"/>
              <a:t>PPP</a:t>
            </a:r>
            <a:r>
              <a:rPr lang="zh-CN" altLang="en-US" dirty="0"/>
              <a:t>终结报文）来结束</a:t>
            </a:r>
            <a:r>
              <a:rPr lang="en-US" altLang="zh-CN" dirty="0"/>
              <a:t>PPPoE</a:t>
            </a:r>
            <a:r>
              <a:rPr lang="zh-CN" altLang="en-US" dirty="0"/>
              <a:t>会话</a:t>
            </a:r>
            <a:endParaRPr lang="en-US" altLang="zh-CN" dirty="0"/>
          </a:p>
          <a:p>
            <a:pPr lvl="1" fontAlgn="base">
              <a:lnSpc>
                <a:spcPct val="150000"/>
              </a:lnSpc>
            </a:pPr>
            <a:r>
              <a:rPr lang="zh-CN" altLang="en-US" dirty="0"/>
              <a:t>使用</a:t>
            </a:r>
            <a:r>
              <a:rPr lang="en-US" altLang="zh-CN" dirty="0"/>
              <a:t>PADT</a:t>
            </a:r>
            <a:r>
              <a:rPr lang="zh-CN" altLang="en-US" dirty="0"/>
              <a:t>报文终结会话</a:t>
            </a:r>
            <a:endParaRPr lang="en-US" altLang="zh-CN" dirty="0"/>
          </a:p>
          <a:p>
            <a:pPr lvl="2" fontAlgn="base">
              <a:lnSpc>
                <a:spcPct val="150000"/>
              </a:lnSpc>
            </a:pPr>
            <a:r>
              <a:rPr lang="zh-CN" altLang="en-US" dirty="0"/>
              <a:t>进入</a:t>
            </a:r>
            <a:r>
              <a:rPr lang="en-US" altLang="zh-CN" dirty="0"/>
              <a:t>PPPoE Session</a:t>
            </a:r>
            <a:r>
              <a:rPr lang="zh-CN" altLang="en-US" dirty="0"/>
              <a:t>阶段后，</a:t>
            </a:r>
            <a:r>
              <a:rPr lang="en-US" altLang="zh-CN" dirty="0"/>
              <a:t>PPPoE Client</a:t>
            </a:r>
            <a:r>
              <a:rPr lang="zh-CN" altLang="en-US" dirty="0"/>
              <a:t>和</a:t>
            </a:r>
            <a:r>
              <a:rPr lang="en-US" altLang="zh-CN" dirty="0"/>
              <a:t>PPPoE Server</a:t>
            </a:r>
            <a:r>
              <a:rPr lang="zh-CN" altLang="en-US" dirty="0"/>
              <a:t>都可以通过发</a:t>
            </a:r>
            <a:r>
              <a:rPr lang="en-US" altLang="zh-CN" dirty="0"/>
              <a:t>PADT</a:t>
            </a:r>
            <a:r>
              <a:rPr lang="zh-CN" altLang="en-US" dirty="0"/>
              <a:t>报文的方式来结束</a:t>
            </a:r>
            <a:r>
              <a:rPr lang="en-US" altLang="zh-CN" dirty="0" err="1"/>
              <a:t>PPPoE</a:t>
            </a:r>
            <a:r>
              <a:rPr lang="zh-CN" altLang="en-US" dirty="0"/>
              <a:t>连接</a:t>
            </a:r>
            <a:endParaRPr lang="en-US" altLang="zh-CN" dirty="0"/>
          </a:p>
          <a:p>
            <a:pPr lvl="2" fontAlgn="base">
              <a:lnSpc>
                <a:spcPct val="150000"/>
              </a:lnSpc>
            </a:pPr>
            <a:r>
              <a:rPr lang="en-US" altLang="zh-CN" dirty="0"/>
              <a:t>PADT</a:t>
            </a:r>
            <a:r>
              <a:rPr lang="zh-CN" altLang="en-US" dirty="0"/>
              <a:t>数据包可以在会话建立以后的任意时刻</a:t>
            </a:r>
            <a:r>
              <a:rPr lang="zh-CN" altLang="en-US" dirty="0">
                <a:solidFill>
                  <a:srgbClr val="C00000"/>
                </a:solidFill>
              </a:rPr>
              <a:t>单播发送</a:t>
            </a:r>
            <a:r>
              <a:rPr lang="zh-CN" altLang="en-US" dirty="0"/>
              <a:t>。</a:t>
            </a:r>
            <a:endParaRPr lang="en-US" altLang="zh-CN" dirty="0"/>
          </a:p>
        </p:txBody>
      </p:sp>
      <p:grpSp>
        <p:nvGrpSpPr>
          <p:cNvPr id="14" name="组合 13"/>
          <p:cNvGrpSpPr/>
          <p:nvPr/>
        </p:nvGrpSpPr>
        <p:grpSpPr>
          <a:xfrm>
            <a:off x="7632521" y="1193372"/>
            <a:ext cx="4559478" cy="5400472"/>
            <a:chOff x="7452694" y="1220833"/>
            <a:chExt cx="5026936" cy="5400472"/>
          </a:xfrm>
        </p:grpSpPr>
        <p:pic>
          <p:nvPicPr>
            <p:cNvPr id="81" name="图片 80">
              <a:extLst>
                <a:ext uri="{FF2B5EF4-FFF2-40B4-BE49-F238E27FC236}">
                  <a16:creationId xmlns:a16="http://schemas.microsoft.com/office/drawing/2014/main" id="{382330D0-3B02-4132-B723-FC9CDC5DC21A}"/>
                </a:ext>
              </a:extLst>
            </p:cNvPr>
            <p:cNvPicPr>
              <a:picLocks noChangeAspect="1"/>
            </p:cNvPicPr>
            <p:nvPr/>
          </p:nvPicPr>
          <p:blipFill>
            <a:blip r:embed="rId3"/>
            <a:stretch>
              <a:fillRect/>
            </a:stretch>
          </p:blipFill>
          <p:spPr>
            <a:xfrm>
              <a:off x="7595759" y="1565775"/>
              <a:ext cx="1100146" cy="771531"/>
            </a:xfrm>
            <a:prstGeom prst="rect">
              <a:avLst/>
            </a:prstGeom>
          </p:spPr>
        </p:pic>
        <p:pic>
          <p:nvPicPr>
            <p:cNvPr id="82" name="图片 81">
              <a:extLst>
                <a:ext uri="{FF2B5EF4-FFF2-40B4-BE49-F238E27FC236}">
                  <a16:creationId xmlns:a16="http://schemas.microsoft.com/office/drawing/2014/main" id="{46F3D27F-C949-47EF-A2C8-1382972C0249}"/>
                </a:ext>
              </a:extLst>
            </p:cNvPr>
            <p:cNvPicPr>
              <a:picLocks noChangeAspect="1"/>
            </p:cNvPicPr>
            <p:nvPr/>
          </p:nvPicPr>
          <p:blipFill>
            <a:blip r:embed="rId3"/>
            <a:stretch>
              <a:fillRect/>
            </a:stretch>
          </p:blipFill>
          <p:spPr>
            <a:xfrm>
              <a:off x="10456854" y="1549350"/>
              <a:ext cx="1100146" cy="771531"/>
            </a:xfrm>
            <a:prstGeom prst="rect">
              <a:avLst/>
            </a:prstGeom>
          </p:spPr>
        </p:pic>
        <p:cxnSp>
          <p:nvCxnSpPr>
            <p:cNvPr id="83" name="直接箭头连接符 82">
              <a:extLst>
                <a:ext uri="{FF2B5EF4-FFF2-40B4-BE49-F238E27FC236}">
                  <a16:creationId xmlns:a16="http://schemas.microsoft.com/office/drawing/2014/main" id="{81FC72D4-D14A-4260-A452-BFA2AD71EC36}"/>
                </a:ext>
              </a:extLst>
            </p:cNvPr>
            <p:cNvCxnSpPr>
              <a:cxnSpLocks/>
              <a:stCxn id="81" idx="2"/>
            </p:cNvCxnSpPr>
            <p:nvPr/>
          </p:nvCxnSpPr>
          <p:spPr>
            <a:xfrm>
              <a:off x="8145832" y="2337305"/>
              <a:ext cx="0" cy="42840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84" name="直接箭头连接符 83">
              <a:extLst>
                <a:ext uri="{FF2B5EF4-FFF2-40B4-BE49-F238E27FC236}">
                  <a16:creationId xmlns:a16="http://schemas.microsoft.com/office/drawing/2014/main" id="{BE3E3146-9100-489D-85B5-BB0BA9E39121}"/>
                </a:ext>
              </a:extLst>
            </p:cNvPr>
            <p:cNvCxnSpPr/>
            <p:nvPr/>
          </p:nvCxnSpPr>
          <p:spPr>
            <a:xfrm>
              <a:off x="11035928" y="2336405"/>
              <a:ext cx="0" cy="42840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85" name="直接箭头连接符 84">
              <a:extLst>
                <a:ext uri="{FF2B5EF4-FFF2-40B4-BE49-F238E27FC236}">
                  <a16:creationId xmlns:a16="http://schemas.microsoft.com/office/drawing/2014/main" id="{941BE211-5728-4512-8DF9-0306516E8A6C}"/>
                </a:ext>
              </a:extLst>
            </p:cNvPr>
            <p:cNvCxnSpPr/>
            <p:nvPr/>
          </p:nvCxnSpPr>
          <p:spPr>
            <a:xfrm>
              <a:off x="8159032" y="2733163"/>
              <a:ext cx="28800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6" name="文本框 85">
              <a:extLst>
                <a:ext uri="{FF2B5EF4-FFF2-40B4-BE49-F238E27FC236}">
                  <a16:creationId xmlns:a16="http://schemas.microsoft.com/office/drawing/2014/main" id="{56CE8204-C643-460B-AC53-5DA95643FCE9}"/>
                </a:ext>
              </a:extLst>
            </p:cNvPr>
            <p:cNvSpPr txBox="1"/>
            <p:nvPr/>
          </p:nvSpPr>
          <p:spPr>
            <a:xfrm>
              <a:off x="8788719" y="2421067"/>
              <a:ext cx="1213024" cy="3785652"/>
            </a:xfrm>
            <a:prstGeom prst="rect">
              <a:avLst/>
            </a:prstGeom>
            <a:noFill/>
          </p:spPr>
          <p:txBody>
            <a:bodyPr wrap="none" rtlCol="0">
              <a:spAutoFit/>
            </a:bodyPr>
            <a:lstStyle/>
            <a:p>
              <a:pPr marL="342900" indent="-342900">
                <a:lnSpc>
                  <a:spcPts val="1800"/>
                </a:lnSpc>
                <a:buFont typeface="+mj-ea"/>
                <a:buAutoNum type="circleNumDbPlain"/>
              </a:pPr>
              <a:r>
                <a:rPr lang="en-US" altLang="zh-CN" dirty="0">
                  <a:latin typeface="微软雅黑" panose="020B0503020204020204" pitchFamily="34" charset="-122"/>
                  <a:ea typeface="微软雅黑" panose="020B0503020204020204" pitchFamily="34" charset="-122"/>
                </a:rPr>
                <a:t>PADI</a:t>
              </a:r>
            </a:p>
            <a:p>
              <a:pPr marL="342900" indent="-342900">
                <a:lnSpc>
                  <a:spcPts val="1800"/>
                </a:lnSpc>
                <a:buFont typeface="+mj-ea"/>
                <a:buAutoNum type="circleNumDbPlain"/>
              </a:pPr>
              <a:endParaRPr lang="en-US" altLang="zh-CN" dirty="0">
                <a:latin typeface="微软雅黑" panose="020B0503020204020204" pitchFamily="34" charset="-122"/>
                <a:ea typeface="微软雅黑" panose="020B0503020204020204" pitchFamily="34" charset="-122"/>
              </a:endParaRPr>
            </a:p>
            <a:p>
              <a:pPr marL="342900" indent="-342900">
                <a:lnSpc>
                  <a:spcPts val="1800"/>
                </a:lnSpc>
                <a:buFont typeface="+mj-ea"/>
                <a:buAutoNum type="circleNumDbPlain"/>
              </a:pPr>
              <a:r>
                <a:rPr lang="en-US" altLang="zh-CN" dirty="0">
                  <a:latin typeface="微软雅黑" panose="020B0503020204020204" pitchFamily="34" charset="-122"/>
                  <a:ea typeface="微软雅黑" panose="020B0503020204020204" pitchFamily="34" charset="-122"/>
                </a:rPr>
                <a:t>PADO</a:t>
              </a:r>
            </a:p>
            <a:p>
              <a:pPr marL="342900" indent="-342900">
                <a:lnSpc>
                  <a:spcPts val="1800"/>
                </a:lnSpc>
                <a:buFont typeface="+mj-ea"/>
                <a:buAutoNum type="circleNumDbPlain"/>
              </a:pPr>
              <a:endParaRPr lang="en-US" altLang="zh-CN" dirty="0">
                <a:latin typeface="微软雅黑" panose="020B0503020204020204" pitchFamily="34" charset="-122"/>
                <a:ea typeface="微软雅黑" panose="020B0503020204020204" pitchFamily="34" charset="-122"/>
              </a:endParaRPr>
            </a:p>
            <a:p>
              <a:pPr marL="342900" indent="-342900">
                <a:lnSpc>
                  <a:spcPts val="1800"/>
                </a:lnSpc>
                <a:buFont typeface="+mj-ea"/>
                <a:buAutoNum type="circleNumDbPlain"/>
              </a:pPr>
              <a:r>
                <a:rPr lang="en-US" altLang="zh-CN" dirty="0">
                  <a:latin typeface="微软雅黑" panose="020B0503020204020204" pitchFamily="34" charset="-122"/>
                  <a:ea typeface="微软雅黑" panose="020B0503020204020204" pitchFamily="34" charset="-122"/>
                </a:rPr>
                <a:t>PADR</a:t>
              </a:r>
            </a:p>
            <a:p>
              <a:pPr marL="342900" indent="-342900">
                <a:lnSpc>
                  <a:spcPts val="1800"/>
                </a:lnSpc>
                <a:buFont typeface="+mj-ea"/>
                <a:buAutoNum type="circleNumDbPlain"/>
              </a:pPr>
              <a:endParaRPr lang="en-US" altLang="zh-CN" dirty="0">
                <a:latin typeface="微软雅黑" panose="020B0503020204020204" pitchFamily="34" charset="-122"/>
                <a:ea typeface="微软雅黑" panose="020B0503020204020204" pitchFamily="34" charset="-122"/>
              </a:endParaRPr>
            </a:p>
            <a:p>
              <a:pPr marL="342900" indent="-342900">
                <a:lnSpc>
                  <a:spcPts val="1800"/>
                </a:lnSpc>
                <a:buFont typeface="+mj-ea"/>
                <a:buAutoNum type="circleNumDbPlain"/>
              </a:pPr>
              <a:r>
                <a:rPr lang="en-US" altLang="zh-CN" dirty="0">
                  <a:latin typeface="微软雅黑" panose="020B0503020204020204" pitchFamily="34" charset="-122"/>
                  <a:ea typeface="微软雅黑" panose="020B0503020204020204" pitchFamily="34" charset="-122"/>
                </a:rPr>
                <a:t>PADS</a:t>
              </a:r>
            </a:p>
            <a:p>
              <a:pPr marL="342900" indent="-342900">
                <a:lnSpc>
                  <a:spcPts val="1800"/>
                </a:lnSpc>
                <a:buFont typeface="+mj-ea"/>
                <a:buAutoNum type="circleNumDbPlain"/>
              </a:pPr>
              <a:endParaRPr lang="en-US" altLang="zh-CN" dirty="0">
                <a:latin typeface="微软雅黑" panose="020B0503020204020204" pitchFamily="34" charset="-122"/>
                <a:ea typeface="微软雅黑" panose="020B0503020204020204" pitchFamily="34" charset="-122"/>
              </a:endParaRPr>
            </a:p>
            <a:p>
              <a:pPr marL="342900" indent="-342900">
                <a:lnSpc>
                  <a:spcPts val="1800"/>
                </a:lnSpc>
                <a:buFont typeface="+mj-ea"/>
                <a:buAutoNum type="circleNumDbPlain"/>
              </a:pPr>
              <a:endParaRPr lang="en-US" altLang="zh-CN" dirty="0">
                <a:latin typeface="微软雅黑" panose="020B0503020204020204" pitchFamily="34" charset="-122"/>
                <a:ea typeface="微软雅黑" panose="020B0503020204020204" pitchFamily="34" charset="-122"/>
              </a:endParaRPr>
            </a:p>
            <a:p>
              <a:pPr>
                <a:lnSpc>
                  <a:spcPts val="1800"/>
                </a:lnSpc>
              </a:pPr>
              <a:r>
                <a:rPr lang="en-US" altLang="zh-CN" dirty="0">
                  <a:latin typeface="微软雅黑" panose="020B0503020204020204" pitchFamily="34" charset="-122"/>
                  <a:ea typeface="微软雅黑" panose="020B0503020204020204" pitchFamily="34" charset="-122"/>
                </a:rPr>
                <a:t>PPP</a:t>
              </a:r>
              <a:r>
                <a:rPr lang="zh-CN" altLang="en-US" dirty="0">
                  <a:latin typeface="微软雅黑" panose="020B0503020204020204" pitchFamily="34" charset="-122"/>
                  <a:ea typeface="微软雅黑" panose="020B0503020204020204" pitchFamily="34" charset="-122"/>
                </a:rPr>
                <a:t>协商</a:t>
              </a:r>
              <a:endParaRPr lang="en-US" altLang="zh-CN" dirty="0">
                <a:latin typeface="微软雅黑" panose="020B0503020204020204" pitchFamily="34" charset="-122"/>
                <a:ea typeface="微软雅黑" panose="020B0503020204020204" pitchFamily="34" charset="-122"/>
              </a:endParaRPr>
            </a:p>
            <a:p>
              <a:pPr>
                <a:lnSpc>
                  <a:spcPts val="1800"/>
                </a:lnSpc>
              </a:pPr>
              <a:endParaRPr lang="en-US" altLang="zh-CN" dirty="0">
                <a:latin typeface="微软雅黑" panose="020B0503020204020204" pitchFamily="34" charset="-122"/>
                <a:ea typeface="微软雅黑" panose="020B0503020204020204" pitchFamily="34" charset="-122"/>
              </a:endParaRPr>
            </a:p>
            <a:p>
              <a:pPr>
                <a:lnSpc>
                  <a:spcPts val="1800"/>
                </a:lnSpc>
              </a:pPr>
              <a:r>
                <a:rPr lang="zh-CN" altLang="en-US" dirty="0">
                  <a:latin typeface="微软雅黑" panose="020B0503020204020204" pitchFamily="34" charset="-122"/>
                  <a:ea typeface="微软雅黑" panose="020B0503020204020204" pitchFamily="34" charset="-122"/>
                </a:rPr>
                <a:t>数据传输</a:t>
              </a:r>
              <a:endParaRPr lang="en-US" altLang="zh-CN" dirty="0">
                <a:latin typeface="微软雅黑" panose="020B0503020204020204" pitchFamily="34" charset="-122"/>
                <a:ea typeface="微软雅黑" panose="020B0503020204020204" pitchFamily="34" charset="-122"/>
              </a:endParaRPr>
            </a:p>
            <a:p>
              <a:pPr>
                <a:lnSpc>
                  <a:spcPts val="1800"/>
                </a:lnSpc>
              </a:pPr>
              <a:endParaRPr lang="en-US" altLang="zh-CN" dirty="0">
                <a:latin typeface="微软雅黑" panose="020B0503020204020204" pitchFamily="34" charset="-122"/>
                <a:ea typeface="微软雅黑" panose="020B0503020204020204" pitchFamily="34" charset="-122"/>
              </a:endParaRPr>
            </a:p>
            <a:p>
              <a:pPr>
                <a:lnSpc>
                  <a:spcPts val="1800"/>
                </a:lnSpc>
              </a:pPr>
              <a:endParaRPr lang="en-US" altLang="zh-CN" dirty="0">
                <a:latin typeface="微软雅黑" panose="020B0503020204020204" pitchFamily="34" charset="-122"/>
                <a:ea typeface="微软雅黑" panose="020B0503020204020204" pitchFamily="34" charset="-122"/>
              </a:endParaRPr>
            </a:p>
            <a:p>
              <a:pPr>
                <a:lnSpc>
                  <a:spcPts val="1800"/>
                </a:lnSpc>
              </a:pPr>
              <a:endParaRPr lang="en-US" altLang="zh-CN" dirty="0">
                <a:latin typeface="微软雅黑" panose="020B0503020204020204" pitchFamily="34" charset="-122"/>
                <a:ea typeface="微软雅黑" panose="020B0503020204020204" pitchFamily="34" charset="-122"/>
              </a:endParaRPr>
            </a:p>
            <a:p>
              <a:pPr>
                <a:lnSpc>
                  <a:spcPts val="1800"/>
                </a:lnSpc>
              </a:pPr>
              <a:r>
                <a:rPr lang="en-US" altLang="zh-CN" dirty="0">
                  <a:latin typeface="微软雅黑" panose="020B0503020204020204" pitchFamily="34" charset="-122"/>
                  <a:ea typeface="微软雅黑" panose="020B0503020204020204" pitchFamily="34" charset="-122"/>
                </a:rPr>
                <a:t>PADT</a:t>
              </a:r>
            </a:p>
          </p:txBody>
        </p:sp>
        <p:sp>
          <p:nvSpPr>
            <p:cNvPr id="87" name="文本框 86">
              <a:extLst>
                <a:ext uri="{FF2B5EF4-FFF2-40B4-BE49-F238E27FC236}">
                  <a16:creationId xmlns:a16="http://schemas.microsoft.com/office/drawing/2014/main" id="{92993212-6DD9-4B00-A8DC-45A149CE19D6}"/>
                </a:ext>
              </a:extLst>
            </p:cNvPr>
            <p:cNvSpPr txBox="1"/>
            <p:nvPr/>
          </p:nvSpPr>
          <p:spPr>
            <a:xfrm>
              <a:off x="7452694" y="1247836"/>
              <a:ext cx="1949253"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PPPoE Client</a:t>
              </a:r>
              <a:endParaRPr lang="zh-CN" altLang="en-US" dirty="0">
                <a:latin typeface="微软雅黑" panose="020B0503020204020204" pitchFamily="34" charset="-122"/>
                <a:ea typeface="微软雅黑" panose="020B0503020204020204" pitchFamily="34" charset="-122"/>
              </a:endParaRPr>
            </a:p>
          </p:txBody>
        </p:sp>
        <p:sp>
          <p:nvSpPr>
            <p:cNvPr id="88" name="文本框 87">
              <a:extLst>
                <a:ext uri="{FF2B5EF4-FFF2-40B4-BE49-F238E27FC236}">
                  <a16:creationId xmlns:a16="http://schemas.microsoft.com/office/drawing/2014/main" id="{3D4B0F35-42CF-465C-BC10-0E755B415FA6}"/>
                </a:ext>
              </a:extLst>
            </p:cNvPr>
            <p:cNvSpPr txBox="1"/>
            <p:nvPr/>
          </p:nvSpPr>
          <p:spPr>
            <a:xfrm>
              <a:off x="10326393" y="1220833"/>
              <a:ext cx="1806301"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PPPoE Server</a:t>
              </a:r>
              <a:endParaRPr lang="zh-CN" altLang="en-US" dirty="0">
                <a:latin typeface="微软雅黑" panose="020B0503020204020204" pitchFamily="34" charset="-122"/>
                <a:ea typeface="微软雅黑" panose="020B0503020204020204" pitchFamily="34" charset="-122"/>
              </a:endParaRPr>
            </a:p>
          </p:txBody>
        </p:sp>
        <p:cxnSp>
          <p:nvCxnSpPr>
            <p:cNvPr id="89" name="直接箭头连接符 88">
              <a:extLst>
                <a:ext uri="{FF2B5EF4-FFF2-40B4-BE49-F238E27FC236}">
                  <a16:creationId xmlns:a16="http://schemas.microsoft.com/office/drawing/2014/main" id="{51282779-FEA6-430E-9788-2F94C2B8331C}"/>
                </a:ext>
              </a:extLst>
            </p:cNvPr>
            <p:cNvCxnSpPr/>
            <p:nvPr/>
          </p:nvCxnSpPr>
          <p:spPr>
            <a:xfrm>
              <a:off x="8174557" y="3663105"/>
              <a:ext cx="28800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0" name="直接箭头连接符 89">
              <a:extLst>
                <a:ext uri="{FF2B5EF4-FFF2-40B4-BE49-F238E27FC236}">
                  <a16:creationId xmlns:a16="http://schemas.microsoft.com/office/drawing/2014/main" id="{45C8C90C-31FF-45B8-8109-B9EF24E0ABB0}"/>
                </a:ext>
              </a:extLst>
            </p:cNvPr>
            <p:cNvCxnSpPr>
              <a:cxnSpLocks/>
            </p:cNvCxnSpPr>
            <p:nvPr/>
          </p:nvCxnSpPr>
          <p:spPr>
            <a:xfrm flipH="1">
              <a:off x="8141693" y="3208628"/>
              <a:ext cx="28800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1" name="直接箭头连接符 90">
              <a:extLst>
                <a:ext uri="{FF2B5EF4-FFF2-40B4-BE49-F238E27FC236}">
                  <a16:creationId xmlns:a16="http://schemas.microsoft.com/office/drawing/2014/main" id="{2155C50D-54A2-49E1-B2A4-320F1B3B4343}"/>
                </a:ext>
              </a:extLst>
            </p:cNvPr>
            <p:cNvCxnSpPr>
              <a:cxnSpLocks/>
            </p:cNvCxnSpPr>
            <p:nvPr/>
          </p:nvCxnSpPr>
          <p:spPr>
            <a:xfrm flipH="1">
              <a:off x="8151735" y="4094734"/>
              <a:ext cx="28800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2" name="直接箭头连接符 91">
              <a:extLst>
                <a:ext uri="{FF2B5EF4-FFF2-40B4-BE49-F238E27FC236}">
                  <a16:creationId xmlns:a16="http://schemas.microsoft.com/office/drawing/2014/main" id="{E6A9F28F-46C4-405D-9F2D-AB506A8D8722}"/>
                </a:ext>
              </a:extLst>
            </p:cNvPr>
            <p:cNvCxnSpPr>
              <a:cxnSpLocks/>
            </p:cNvCxnSpPr>
            <p:nvPr/>
          </p:nvCxnSpPr>
          <p:spPr>
            <a:xfrm>
              <a:off x="8135308" y="4743336"/>
              <a:ext cx="2852146" cy="2105"/>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3" name="直接箭头连接符 92">
              <a:extLst>
                <a:ext uri="{FF2B5EF4-FFF2-40B4-BE49-F238E27FC236}">
                  <a16:creationId xmlns:a16="http://schemas.microsoft.com/office/drawing/2014/main" id="{F8F28CAF-EE0E-4A47-9C9A-6CA87E79FBBE}"/>
                </a:ext>
              </a:extLst>
            </p:cNvPr>
            <p:cNvCxnSpPr>
              <a:cxnSpLocks/>
            </p:cNvCxnSpPr>
            <p:nvPr/>
          </p:nvCxnSpPr>
          <p:spPr>
            <a:xfrm>
              <a:off x="8142235" y="6127302"/>
              <a:ext cx="2852146" cy="2105"/>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4" name="直接连接符 93">
              <a:extLst>
                <a:ext uri="{FF2B5EF4-FFF2-40B4-BE49-F238E27FC236}">
                  <a16:creationId xmlns:a16="http://schemas.microsoft.com/office/drawing/2014/main" id="{02E9040F-EF48-472B-8806-5DF6DE2EB07A}"/>
                </a:ext>
              </a:extLst>
            </p:cNvPr>
            <p:cNvCxnSpPr/>
            <p:nvPr/>
          </p:nvCxnSpPr>
          <p:spPr>
            <a:xfrm>
              <a:off x="7824892" y="4260585"/>
              <a:ext cx="4307802" cy="0"/>
            </a:xfrm>
            <a:prstGeom prst="line">
              <a:avLst/>
            </a:prstGeom>
            <a:ln w="2222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95" name="文本框 94">
              <a:extLst>
                <a:ext uri="{FF2B5EF4-FFF2-40B4-BE49-F238E27FC236}">
                  <a16:creationId xmlns:a16="http://schemas.microsoft.com/office/drawing/2014/main" id="{7C492553-1CDD-48D3-BBE9-9E5F407345D1}"/>
                </a:ext>
              </a:extLst>
            </p:cNvPr>
            <p:cNvSpPr txBox="1"/>
            <p:nvPr/>
          </p:nvSpPr>
          <p:spPr>
            <a:xfrm>
              <a:off x="11021693" y="3352800"/>
              <a:ext cx="1298097"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Discover</a:t>
              </a:r>
              <a:endParaRPr lang="zh-CN" altLang="en-US" dirty="0">
                <a:latin typeface="微软雅黑" panose="020B0503020204020204" pitchFamily="34" charset="-122"/>
                <a:ea typeface="微软雅黑" panose="020B0503020204020204" pitchFamily="34" charset="-122"/>
              </a:endParaRPr>
            </a:p>
          </p:txBody>
        </p:sp>
        <p:sp>
          <p:nvSpPr>
            <p:cNvPr id="96" name="文本框 95">
              <a:extLst>
                <a:ext uri="{FF2B5EF4-FFF2-40B4-BE49-F238E27FC236}">
                  <a16:creationId xmlns:a16="http://schemas.microsoft.com/office/drawing/2014/main" id="{7A580967-AC33-4BE3-A0A6-39CD5FE522C7}"/>
                </a:ext>
              </a:extLst>
            </p:cNvPr>
            <p:cNvSpPr txBox="1"/>
            <p:nvPr/>
          </p:nvSpPr>
          <p:spPr>
            <a:xfrm>
              <a:off x="11021693" y="4614373"/>
              <a:ext cx="1223955"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Session</a:t>
              </a:r>
              <a:endParaRPr lang="zh-CN" altLang="en-US" dirty="0">
                <a:latin typeface="微软雅黑" panose="020B0503020204020204" pitchFamily="34" charset="-122"/>
                <a:ea typeface="微软雅黑" panose="020B0503020204020204" pitchFamily="34" charset="-122"/>
              </a:endParaRPr>
            </a:p>
          </p:txBody>
        </p:sp>
        <p:cxnSp>
          <p:nvCxnSpPr>
            <p:cNvPr id="97" name="直接箭头连接符 96">
              <a:extLst>
                <a:ext uri="{FF2B5EF4-FFF2-40B4-BE49-F238E27FC236}">
                  <a16:creationId xmlns:a16="http://schemas.microsoft.com/office/drawing/2014/main" id="{472C45C4-DB05-41FF-9C34-E62B8223F219}"/>
                </a:ext>
              </a:extLst>
            </p:cNvPr>
            <p:cNvCxnSpPr>
              <a:cxnSpLocks/>
            </p:cNvCxnSpPr>
            <p:nvPr/>
          </p:nvCxnSpPr>
          <p:spPr>
            <a:xfrm>
              <a:off x="8142235" y="5200534"/>
              <a:ext cx="2852146" cy="2105"/>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8" name="直接连接符 97">
              <a:extLst>
                <a:ext uri="{FF2B5EF4-FFF2-40B4-BE49-F238E27FC236}">
                  <a16:creationId xmlns:a16="http://schemas.microsoft.com/office/drawing/2014/main" id="{316CC565-60F3-4B5B-8A81-5CAD69B8FD07}"/>
                </a:ext>
              </a:extLst>
            </p:cNvPr>
            <p:cNvCxnSpPr/>
            <p:nvPr/>
          </p:nvCxnSpPr>
          <p:spPr>
            <a:xfrm>
              <a:off x="7824892" y="5452076"/>
              <a:ext cx="4282295" cy="0"/>
            </a:xfrm>
            <a:prstGeom prst="line">
              <a:avLst/>
            </a:prstGeom>
            <a:ln w="2222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0" name="文本框 99">
              <a:extLst>
                <a:ext uri="{FF2B5EF4-FFF2-40B4-BE49-F238E27FC236}">
                  <a16:creationId xmlns:a16="http://schemas.microsoft.com/office/drawing/2014/main" id="{6A13955C-2E3D-491F-A0F0-3661859E8D2A}"/>
                </a:ext>
              </a:extLst>
            </p:cNvPr>
            <p:cNvSpPr txBox="1"/>
            <p:nvPr/>
          </p:nvSpPr>
          <p:spPr>
            <a:xfrm>
              <a:off x="10972801" y="5847427"/>
              <a:ext cx="1506829"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Terminate</a:t>
              </a:r>
              <a:endParaRPr lang="zh-CN" altLang="en-US" dirty="0">
                <a:latin typeface="微软雅黑" panose="020B0503020204020204" pitchFamily="34" charset="-122"/>
                <a:ea typeface="微软雅黑" panose="020B0503020204020204" pitchFamily="34" charset="-122"/>
              </a:endParaRPr>
            </a:p>
          </p:txBody>
        </p:sp>
      </p:grpSp>
      <p:sp>
        <p:nvSpPr>
          <p:cNvPr id="24" name="文本框 23">
            <a:extLst>
              <a:ext uri="{FF2B5EF4-FFF2-40B4-BE49-F238E27FC236}">
                <a16:creationId xmlns:a16="http://schemas.microsoft.com/office/drawing/2014/main" id="{AC63C87C-F63E-459C-B8A8-4E1DE1B3EFCD}"/>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
        <p:nvSpPr>
          <p:cNvPr id="25" name="灯片编号占位符 3"/>
          <p:cNvSpPr>
            <a:spLocks noGrp="1"/>
          </p:cNvSpPr>
          <p:nvPr>
            <p:ph type="sldNum" sz="quarter" idx="12"/>
          </p:nvPr>
        </p:nvSpPr>
        <p:spPr>
          <a:xfrm>
            <a:off x="8610600" y="6356350"/>
            <a:ext cx="331967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166</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Tree>
    <p:extLst>
      <p:ext uri="{BB962C8B-B14F-4D97-AF65-F5344CB8AC3E}">
        <p14:creationId xmlns:p14="http://schemas.microsoft.com/office/powerpoint/2010/main" val="3180694361"/>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7EFC88-15A8-8F47-A008-BBB6B0BEC7A2}"/>
              </a:ext>
            </a:extLst>
          </p:cNvPr>
          <p:cNvSpPr>
            <a:spLocks noGrp="1"/>
          </p:cNvSpPr>
          <p:nvPr>
            <p:ph type="title"/>
          </p:nvPr>
        </p:nvSpPr>
        <p:spPr/>
        <p:txBody>
          <a:bodyPr/>
          <a:lstStyle/>
          <a:p>
            <a:r>
              <a:rPr kumimoji="1" lang="zh-CN" altLang="en-US" dirty="0"/>
              <a:t>本章总结</a:t>
            </a:r>
          </a:p>
        </p:txBody>
      </p:sp>
      <p:sp>
        <p:nvSpPr>
          <p:cNvPr id="3" name="内容占位符 2">
            <a:extLst>
              <a:ext uri="{FF2B5EF4-FFF2-40B4-BE49-F238E27FC236}">
                <a16:creationId xmlns:a16="http://schemas.microsoft.com/office/drawing/2014/main" id="{8D01C0D4-2EC3-7D4D-AAC5-3C4CCB3DBC8F}"/>
              </a:ext>
            </a:extLst>
          </p:cNvPr>
          <p:cNvSpPr>
            <a:spLocks noGrp="1"/>
          </p:cNvSpPr>
          <p:nvPr>
            <p:ph idx="1"/>
          </p:nvPr>
        </p:nvSpPr>
        <p:spPr/>
        <p:txBody>
          <a:bodyPr>
            <a:normAutofit/>
          </a:bodyPr>
          <a:lstStyle/>
          <a:p>
            <a:pPr>
              <a:lnSpc>
                <a:spcPct val="130000"/>
              </a:lnSpc>
            </a:pPr>
            <a:r>
              <a:rPr kumimoji="1" lang="zh-CN" altLang="en-US" dirty="0"/>
              <a:t>通过本章学习，重点掌握如下知识点：</a:t>
            </a:r>
            <a:endParaRPr kumimoji="1" lang="en-US" altLang="zh-CN" dirty="0"/>
          </a:p>
          <a:p>
            <a:pPr lvl="1">
              <a:lnSpc>
                <a:spcPct val="130000"/>
              </a:lnSpc>
            </a:pPr>
            <a:r>
              <a:rPr kumimoji="1" lang="zh-CN" altLang="en-US" dirty="0"/>
              <a:t>理解数据链路层在五层网络体系结构中的位置及解决的问题，了解数据链路层提供的服务类型</a:t>
            </a:r>
          </a:p>
          <a:p>
            <a:pPr lvl="1">
              <a:lnSpc>
                <a:spcPct val="130000"/>
              </a:lnSpc>
            </a:pPr>
            <a:r>
              <a:rPr kumimoji="1" lang="zh-CN" altLang="en-US" dirty="0"/>
              <a:t>掌握差错检测和纠正的基本原理和典型的编码方法</a:t>
            </a:r>
          </a:p>
          <a:p>
            <a:pPr lvl="1">
              <a:lnSpc>
                <a:spcPct val="130000"/>
              </a:lnSpc>
            </a:pPr>
            <a:r>
              <a:rPr kumimoji="1" lang="zh-CN" altLang="en-US" dirty="0"/>
              <a:t>掌握无错信道和有错信道上停等协议的设计和实现方法</a:t>
            </a:r>
          </a:p>
          <a:p>
            <a:pPr lvl="1">
              <a:lnSpc>
                <a:spcPct val="130000"/>
              </a:lnSpc>
            </a:pPr>
            <a:r>
              <a:rPr kumimoji="1" lang="zh-CN" altLang="en-US" dirty="0"/>
              <a:t>理解</a:t>
            </a:r>
            <a:r>
              <a:rPr kumimoji="1" lang="zh-CN" altLang="zh-CN" dirty="0"/>
              <a:t>停等协议的性能问题及滑动窗口协议</a:t>
            </a:r>
            <a:r>
              <a:rPr kumimoji="1" lang="zh-CN" altLang="en-US" dirty="0"/>
              <a:t>的</a:t>
            </a:r>
            <a:r>
              <a:rPr kumimoji="1" lang="zh-CN" altLang="zh-CN" dirty="0"/>
              <a:t>基本思想</a:t>
            </a:r>
            <a:endParaRPr kumimoji="1" lang="en-US" altLang="zh-CN" dirty="0"/>
          </a:p>
          <a:p>
            <a:pPr lvl="1">
              <a:lnSpc>
                <a:spcPct val="130000"/>
              </a:lnSpc>
            </a:pPr>
            <a:r>
              <a:rPr kumimoji="1" lang="zh-CN" altLang="en-US" dirty="0"/>
              <a:t>掌握</a:t>
            </a:r>
            <a:r>
              <a:rPr kumimoji="1" lang="zh-CN" altLang="zh-CN" dirty="0"/>
              <a:t>回退</a:t>
            </a:r>
            <a:r>
              <a:rPr kumimoji="1" lang="en-US" altLang="zh-CN" dirty="0"/>
              <a:t>N</a:t>
            </a:r>
            <a:r>
              <a:rPr kumimoji="1" lang="zh-CN" altLang="en-US" dirty="0"/>
              <a:t>和选择重传两种典型滑动窗口协议的工作机制</a:t>
            </a:r>
          </a:p>
          <a:p>
            <a:pPr lvl="1">
              <a:lnSpc>
                <a:spcPct val="130000"/>
              </a:lnSpc>
            </a:pPr>
            <a:r>
              <a:rPr lang="zh-CN" altLang="en-US" dirty="0"/>
              <a:t>掌握</a:t>
            </a:r>
            <a:r>
              <a:rPr lang="zh-CN" altLang="zh-CN" dirty="0"/>
              <a:t>点到点链路层协议</a:t>
            </a:r>
            <a:r>
              <a:rPr lang="en-US" altLang="zh-CN" dirty="0"/>
              <a:t>PPP</a:t>
            </a:r>
            <a:r>
              <a:rPr lang="zh-CN" altLang="en-US" dirty="0"/>
              <a:t>与</a:t>
            </a:r>
            <a:r>
              <a:rPr lang="en-US" altLang="zh-CN" dirty="0" err="1"/>
              <a:t>PPPoE</a:t>
            </a:r>
            <a:r>
              <a:rPr lang="zh-CN" altLang="en-US" dirty="0"/>
              <a:t>的工作机制</a:t>
            </a:r>
            <a:endParaRPr lang="en-US" altLang="zh-CN" dirty="0"/>
          </a:p>
        </p:txBody>
      </p:sp>
      <p:sp>
        <p:nvSpPr>
          <p:cNvPr id="4" name="灯片编号占位符 3">
            <a:extLst>
              <a:ext uri="{FF2B5EF4-FFF2-40B4-BE49-F238E27FC236}">
                <a16:creationId xmlns:a16="http://schemas.microsoft.com/office/drawing/2014/main" id="{0AF2A4F9-A487-9942-BCC1-285286959B52}"/>
              </a:ext>
            </a:extLst>
          </p:cNvPr>
          <p:cNvSpPr>
            <a:spLocks noGrp="1"/>
          </p:cNvSpPr>
          <p:nvPr>
            <p:ph type="sldNum" sz="quarter" idx="12"/>
          </p:nvPr>
        </p:nvSpPr>
        <p:spPr/>
        <p:txBody>
          <a:bodyPr/>
          <a:lstStyle/>
          <a:p>
            <a:fld id="{8D4D1E41-7A09-AB4A-A4E1-09765ADA2698}" type="slidenum">
              <a:rPr kumimoji="1" lang="zh-CN" altLang="en-US" smtClean="0"/>
              <a:t>167</a:t>
            </a:fld>
            <a:endParaRPr kumimoji="1" lang="zh-CN" altLang="en-US" dirty="0"/>
          </a:p>
        </p:txBody>
      </p:sp>
      <p:sp>
        <p:nvSpPr>
          <p:cNvPr id="5" name="文本框 4">
            <a:extLst>
              <a:ext uri="{FF2B5EF4-FFF2-40B4-BE49-F238E27FC236}">
                <a16:creationId xmlns:a16="http://schemas.microsoft.com/office/drawing/2014/main" id="{F584B7A2-45B8-4FFD-A1B7-8D04D69E1961}"/>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Tree>
    <p:extLst>
      <p:ext uri="{BB962C8B-B14F-4D97-AF65-F5344CB8AC3E}">
        <p14:creationId xmlns:p14="http://schemas.microsoft.com/office/powerpoint/2010/main" val="1697461291"/>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Computer Network</a:t>
            </a:r>
          </a:p>
        </p:txBody>
      </p:sp>
      <p:sp>
        <p:nvSpPr>
          <p:cNvPr id="75779" name="灯片编号占位符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9D2EBC82-F370-4137-99CF-2B1840F7FD93}" type="slidenum">
              <a:rPr lang="en-US" altLang="zh-CN" sz="1200">
                <a:latin typeface="Arial Black" panose="020B0A04020102020204" pitchFamily="34" charset="0"/>
              </a:rPr>
              <a:pPr>
                <a:spcBef>
                  <a:spcPct val="0"/>
                </a:spcBef>
                <a:buClrTx/>
                <a:buSzTx/>
                <a:buFontTx/>
                <a:buNone/>
              </a:pPr>
              <a:t>168</a:t>
            </a:fld>
            <a:endParaRPr lang="en-US" altLang="zh-CN" sz="1200">
              <a:latin typeface="Arial Black" panose="020B0A04020102020204" pitchFamily="34" charset="0"/>
            </a:endParaRPr>
          </a:p>
        </p:txBody>
      </p:sp>
      <p:sp>
        <p:nvSpPr>
          <p:cNvPr id="6" name="日期占位符 5"/>
          <p:cNvSpPr>
            <a:spLocks noGrp="1"/>
          </p:cNvSpPr>
          <p:nvPr>
            <p:ph type="dt" sz="quarter" idx="12"/>
          </p:nvPr>
        </p:nvSpPr>
        <p:spPr/>
        <p:txBody>
          <a:bodyPr/>
          <a:lstStyle/>
          <a:p>
            <a:pPr>
              <a:defRPr/>
            </a:pPr>
            <a:fld id="{8098BE71-AA65-442E-99C2-BADE2FB158FF}" type="datetime1">
              <a:rPr lang="zh-CN" altLang="en-US"/>
              <a:pPr>
                <a:defRPr/>
              </a:pPr>
              <a:t>2024/10/18</a:t>
            </a:fld>
            <a:endParaRPr lang="en-US" altLang="zh-CN"/>
          </a:p>
        </p:txBody>
      </p:sp>
      <p:sp>
        <p:nvSpPr>
          <p:cNvPr id="891906" name="Rectangle 2"/>
          <p:cNvSpPr>
            <a:spLocks noGrp="1" noChangeArrowheads="1"/>
          </p:cNvSpPr>
          <p:nvPr>
            <p:ph type="title"/>
          </p:nvPr>
        </p:nvSpPr>
        <p:spPr>
          <a:xfrm>
            <a:off x="2209800" y="609600"/>
            <a:ext cx="7772400" cy="674688"/>
          </a:xfrm>
        </p:spPr>
        <p:txBody>
          <a:bodyPr>
            <a:normAutofit/>
          </a:bodyPr>
          <a:lstStyle/>
          <a:p>
            <a:pPr eaLnBrk="1" hangingPunct="1">
              <a:defRPr/>
            </a:pPr>
            <a:r>
              <a:rPr lang="zh-CN" altLang="en-US" b="1" dirty="0">
                <a:solidFill>
                  <a:srgbClr val="0000FF"/>
                </a:solidFill>
                <a:latin typeface="楷体_GB2312" pitchFamily="49" charset="-122"/>
              </a:rPr>
              <a:t>习 题 （作业交</a:t>
            </a:r>
            <a:r>
              <a:rPr lang="en-US" altLang="zh-CN" b="1" dirty="0">
                <a:solidFill>
                  <a:srgbClr val="0000FF"/>
                </a:solidFill>
                <a:latin typeface="楷体_GB2312" pitchFamily="49" charset="-122"/>
              </a:rPr>
              <a:t>1</a:t>
            </a:r>
            <a:r>
              <a:rPr lang="zh-CN" altLang="en-US" b="1" dirty="0">
                <a:solidFill>
                  <a:srgbClr val="0000FF"/>
                </a:solidFill>
                <a:latin typeface="楷体_GB2312" pitchFamily="49" charset="-122"/>
              </a:rPr>
              <a:t>、</a:t>
            </a:r>
            <a:r>
              <a:rPr lang="en-US" altLang="zh-CN" b="1" dirty="0">
                <a:solidFill>
                  <a:srgbClr val="0000FF"/>
                </a:solidFill>
                <a:latin typeface="楷体_GB2312" pitchFamily="49" charset="-122"/>
              </a:rPr>
              <a:t>2</a:t>
            </a:r>
            <a:r>
              <a:rPr lang="zh-CN" altLang="en-US" b="1" dirty="0">
                <a:solidFill>
                  <a:srgbClr val="0000FF"/>
                </a:solidFill>
                <a:latin typeface="楷体_GB2312" pitchFamily="49" charset="-122"/>
              </a:rPr>
              <a:t>、</a:t>
            </a:r>
            <a:r>
              <a:rPr lang="en-US" altLang="zh-CN" b="1" dirty="0">
                <a:solidFill>
                  <a:srgbClr val="0000FF"/>
                </a:solidFill>
                <a:latin typeface="楷体_GB2312" pitchFamily="49" charset="-122"/>
              </a:rPr>
              <a:t>3</a:t>
            </a:r>
            <a:r>
              <a:rPr lang="zh-CN" altLang="en-US" b="1" dirty="0">
                <a:solidFill>
                  <a:srgbClr val="0000FF"/>
                </a:solidFill>
                <a:latin typeface="楷体_GB2312" pitchFamily="49" charset="-122"/>
              </a:rPr>
              <a:t>、</a:t>
            </a:r>
            <a:r>
              <a:rPr lang="en-US" altLang="zh-CN" b="1" dirty="0">
                <a:solidFill>
                  <a:srgbClr val="0000FF"/>
                </a:solidFill>
                <a:latin typeface="楷体_GB2312" pitchFamily="49" charset="-122"/>
              </a:rPr>
              <a:t>6-9</a:t>
            </a:r>
            <a:r>
              <a:rPr lang="zh-CN" altLang="en-US" b="1" dirty="0">
                <a:solidFill>
                  <a:srgbClr val="0000FF"/>
                </a:solidFill>
                <a:latin typeface="楷体_GB2312" pitchFamily="49" charset="-122"/>
              </a:rPr>
              <a:t>）</a:t>
            </a:r>
          </a:p>
        </p:txBody>
      </p:sp>
      <p:sp>
        <p:nvSpPr>
          <p:cNvPr id="891907" name="Rectangle 3"/>
          <p:cNvSpPr>
            <a:spLocks noGrp="1" noChangeArrowheads="1"/>
          </p:cNvSpPr>
          <p:nvPr>
            <p:ph type="body" idx="1"/>
          </p:nvPr>
        </p:nvSpPr>
        <p:spPr>
          <a:xfrm>
            <a:off x="2135188" y="1412875"/>
            <a:ext cx="7772400" cy="4654550"/>
          </a:xfrm>
        </p:spPr>
        <p:txBody>
          <a:bodyPr/>
          <a:lstStyle/>
          <a:p>
            <a:pPr marL="177800" indent="-177800" eaLnBrk="1" hangingPunct="1">
              <a:lnSpc>
                <a:spcPct val="120000"/>
              </a:lnSpc>
              <a:buSzPct val="90000"/>
              <a:buNone/>
              <a:defRPr/>
            </a:pPr>
            <a:r>
              <a:rPr lang="en-US" altLang="zh-CN" sz="1800" dirty="0">
                <a:latin typeface="Verdana" pitchFamily="34" charset="0"/>
                <a:ea typeface="楷体_GB2312" pitchFamily="49" charset="-122"/>
              </a:rPr>
              <a:t>1</a:t>
            </a:r>
            <a:r>
              <a:rPr lang="zh-CN" altLang="en-US" sz="1800" dirty="0">
                <a:latin typeface="Verdana" pitchFamily="34" charset="0"/>
                <a:ea typeface="楷体_GB2312" pitchFamily="49" charset="-122"/>
              </a:rPr>
              <a:t>、某一个数据通信系统采用</a:t>
            </a:r>
            <a:r>
              <a:rPr lang="en-US" altLang="zh-CN" sz="1800" dirty="0">
                <a:latin typeface="Verdana" pitchFamily="34" charset="0"/>
                <a:ea typeface="楷体_GB2312" pitchFamily="49" charset="-122"/>
              </a:rPr>
              <a:t>CRC</a:t>
            </a:r>
            <a:r>
              <a:rPr lang="zh-CN" altLang="en-US" sz="1800" dirty="0">
                <a:latin typeface="Verdana" pitchFamily="34" charset="0"/>
                <a:ea typeface="楷体_GB2312" pitchFamily="49" charset="-122"/>
              </a:rPr>
              <a:t>校验方式，生成多项式</a:t>
            </a:r>
            <a:r>
              <a:rPr lang="en-US" altLang="zh-CN" sz="1800" dirty="0">
                <a:latin typeface="Verdana" pitchFamily="34" charset="0"/>
                <a:ea typeface="楷体_GB2312" pitchFamily="49" charset="-122"/>
              </a:rPr>
              <a:t>G(x)</a:t>
            </a:r>
            <a:r>
              <a:rPr lang="zh-CN" altLang="en-US" sz="1800" dirty="0">
                <a:latin typeface="Verdana" pitchFamily="34" charset="0"/>
                <a:ea typeface="楷体_GB2312" pitchFamily="49" charset="-122"/>
              </a:rPr>
              <a:t>的二进制比特序列为</a:t>
            </a:r>
            <a:r>
              <a:rPr lang="en-US" altLang="zh-CN" sz="1800" dirty="0">
                <a:latin typeface="Verdana" pitchFamily="34" charset="0"/>
                <a:ea typeface="楷体_GB2312" pitchFamily="49" charset="-122"/>
              </a:rPr>
              <a:t>1101</a:t>
            </a:r>
            <a:r>
              <a:rPr lang="zh-CN" altLang="en-US" sz="1800" dirty="0">
                <a:latin typeface="Verdana" pitchFamily="34" charset="0"/>
                <a:ea typeface="楷体_GB2312" pitchFamily="49" charset="-122"/>
              </a:rPr>
              <a:t>，目的地接受到的二进制比特序列为</a:t>
            </a:r>
            <a:r>
              <a:rPr lang="en-US" altLang="zh-CN" sz="1800" dirty="0">
                <a:latin typeface="Verdana" pitchFamily="34" charset="0"/>
                <a:ea typeface="楷体_GB2312" pitchFamily="49" charset="-122"/>
              </a:rPr>
              <a:t>110111001(</a:t>
            </a:r>
            <a:r>
              <a:rPr lang="zh-CN" altLang="en-US" sz="1800" dirty="0">
                <a:latin typeface="Verdana" pitchFamily="34" charset="0"/>
                <a:ea typeface="楷体_GB2312" pitchFamily="49" charset="-122"/>
              </a:rPr>
              <a:t>含校验码</a:t>
            </a:r>
            <a:r>
              <a:rPr lang="en-US" altLang="zh-CN" sz="1800" dirty="0">
                <a:latin typeface="Verdana" pitchFamily="34" charset="0"/>
                <a:ea typeface="楷体_GB2312" pitchFamily="49" charset="-122"/>
              </a:rPr>
              <a:t>)</a:t>
            </a:r>
            <a:r>
              <a:rPr lang="zh-CN" altLang="en-US" sz="1800" dirty="0">
                <a:latin typeface="Verdana" pitchFamily="34" charset="0"/>
                <a:ea typeface="楷体_GB2312" pitchFamily="49" charset="-122"/>
              </a:rPr>
              <a:t>，请问传输过程中是否出现差错？为什么？</a:t>
            </a:r>
          </a:p>
          <a:p>
            <a:pPr marL="177800" indent="-177800" algn="just" eaLnBrk="1" hangingPunct="1">
              <a:lnSpc>
                <a:spcPct val="120000"/>
              </a:lnSpc>
              <a:buSzPct val="90000"/>
              <a:buNone/>
              <a:defRPr/>
            </a:pPr>
            <a:r>
              <a:rPr lang="en-US" altLang="zh-CN" sz="1800" dirty="0">
                <a:latin typeface="Verdana" pitchFamily="34" charset="0"/>
                <a:ea typeface="楷体_GB2312" pitchFamily="49" charset="-122"/>
              </a:rPr>
              <a:t>2</a:t>
            </a:r>
            <a:r>
              <a:rPr lang="zh-CN" altLang="en-US" sz="1800" dirty="0">
                <a:latin typeface="Verdana" pitchFamily="34" charset="0"/>
                <a:ea typeface="楷体_GB2312" pitchFamily="49" charset="-122"/>
              </a:rPr>
              <a:t>、一个帧由</a:t>
            </a:r>
            <a:r>
              <a:rPr lang="en-US" altLang="zh-CN" sz="1800" dirty="0">
                <a:latin typeface="Verdana" pitchFamily="34" charset="0"/>
                <a:ea typeface="楷体_GB2312" pitchFamily="49" charset="-122"/>
              </a:rPr>
              <a:t>100</a:t>
            </a:r>
            <a:r>
              <a:rPr lang="zh-CN" altLang="en-US" sz="1800" dirty="0">
                <a:latin typeface="Verdana" pitchFamily="34" charset="0"/>
                <a:ea typeface="楷体_GB2312" pitchFamily="49" charset="-122"/>
              </a:rPr>
              <a:t>个</a:t>
            </a:r>
            <a:r>
              <a:rPr lang="en-US" altLang="zh-CN" sz="1800" dirty="0">
                <a:latin typeface="Verdana" pitchFamily="34" charset="0"/>
                <a:ea typeface="楷体_GB2312" pitchFamily="49" charset="-122"/>
              </a:rPr>
              <a:t>8</a:t>
            </a:r>
            <a:r>
              <a:rPr lang="zh-CN" altLang="en-US" sz="1800" dirty="0">
                <a:latin typeface="Verdana" pitchFamily="34" charset="0"/>
                <a:ea typeface="楷体_GB2312" pitchFamily="49" charset="-122"/>
              </a:rPr>
              <a:t>比特字符组成，使用下列方案在一条数据链路上传输，需要多少附加的比特？</a:t>
            </a:r>
          </a:p>
          <a:p>
            <a:pPr marL="177800" indent="-177800" algn="just" eaLnBrk="1" hangingPunct="1">
              <a:lnSpc>
                <a:spcPct val="120000"/>
              </a:lnSpc>
              <a:buSzPct val="90000"/>
              <a:buNone/>
              <a:defRPr/>
            </a:pPr>
            <a:r>
              <a:rPr lang="zh-CN" altLang="en-US" sz="1800" dirty="0">
                <a:latin typeface="Verdana" pitchFamily="34" charset="0"/>
                <a:ea typeface="楷体_GB2312" pitchFamily="49" charset="-122"/>
              </a:rPr>
              <a:t> </a:t>
            </a:r>
            <a:r>
              <a:rPr lang="en-US" altLang="zh-CN" sz="1800" dirty="0">
                <a:solidFill>
                  <a:srgbClr val="0000FF"/>
                </a:solidFill>
                <a:effectLst>
                  <a:outerShdw blurRad="38100" dist="38100" dir="2700000" algn="tl">
                    <a:srgbClr val="C0C0C0"/>
                  </a:outerShdw>
                </a:effectLst>
                <a:latin typeface="Verdana" pitchFamily="34" charset="0"/>
                <a:ea typeface="楷体_GB2312" pitchFamily="49" charset="-122"/>
              </a:rPr>
              <a:t>(a)</a:t>
            </a:r>
            <a:r>
              <a:rPr lang="zh-CN" altLang="en-US" sz="1800" b="1" dirty="0">
                <a:solidFill>
                  <a:srgbClr val="0000FF"/>
                </a:solidFill>
                <a:effectLst>
                  <a:outerShdw blurRad="38100" dist="38100" dir="2700000" algn="tl">
                    <a:srgbClr val="C0C0C0"/>
                  </a:outerShdw>
                </a:effectLst>
                <a:latin typeface="Verdana" pitchFamily="34" charset="0"/>
                <a:ea typeface="楷体_GB2312" pitchFamily="49" charset="-122"/>
              </a:rPr>
              <a:t>字符同步</a:t>
            </a:r>
            <a:r>
              <a:rPr lang="zh-CN" altLang="en-US" sz="1800" dirty="0">
                <a:solidFill>
                  <a:srgbClr val="0000FF"/>
                </a:solidFill>
                <a:effectLst>
                  <a:outerShdw blurRad="38100" dist="38100" dir="2700000" algn="tl">
                    <a:srgbClr val="C0C0C0"/>
                  </a:outerShdw>
                </a:effectLst>
                <a:latin typeface="Verdana" pitchFamily="34" charset="0"/>
                <a:ea typeface="楷体_GB2312" pitchFamily="49" charset="-122"/>
              </a:rPr>
              <a:t>：</a:t>
            </a:r>
            <a:r>
              <a:rPr lang="zh-CN" altLang="en-US" sz="1800" dirty="0">
                <a:latin typeface="Verdana" pitchFamily="34" charset="0"/>
                <a:ea typeface="楷体_GB2312" pitchFamily="49" charset="-122"/>
              </a:rPr>
              <a:t>每个字符使用一个起始位和两个停止位，每个报文使用一个帧起始字符和一个帧结束字符；</a:t>
            </a:r>
          </a:p>
          <a:p>
            <a:pPr marL="177800" indent="-177800" eaLnBrk="1" hangingPunct="1">
              <a:lnSpc>
                <a:spcPct val="120000"/>
              </a:lnSpc>
              <a:buSzPct val="90000"/>
              <a:buNone/>
              <a:defRPr/>
            </a:pPr>
            <a:r>
              <a:rPr lang="zh-CN" altLang="en-US" sz="1800" dirty="0">
                <a:latin typeface="Verdana" pitchFamily="34" charset="0"/>
                <a:ea typeface="楷体_GB2312" pitchFamily="49" charset="-122"/>
              </a:rPr>
              <a:t> </a:t>
            </a:r>
            <a:r>
              <a:rPr lang="en-US" altLang="zh-CN" sz="1800" dirty="0">
                <a:solidFill>
                  <a:srgbClr val="0000FF"/>
                </a:solidFill>
                <a:effectLst>
                  <a:outerShdw blurRad="38100" dist="38100" dir="2700000" algn="tl">
                    <a:srgbClr val="C0C0C0"/>
                  </a:outerShdw>
                </a:effectLst>
                <a:latin typeface="Verdana" pitchFamily="34" charset="0"/>
                <a:ea typeface="楷体_GB2312" pitchFamily="49" charset="-122"/>
              </a:rPr>
              <a:t>(b) </a:t>
            </a:r>
            <a:r>
              <a:rPr lang="zh-CN" altLang="en-US" sz="1800" b="1" dirty="0">
                <a:solidFill>
                  <a:srgbClr val="0000FF"/>
                </a:solidFill>
                <a:effectLst>
                  <a:outerShdw blurRad="38100" dist="38100" dir="2700000" algn="tl">
                    <a:srgbClr val="C0C0C0"/>
                  </a:outerShdw>
                </a:effectLst>
                <a:latin typeface="Verdana" pitchFamily="34" charset="0"/>
                <a:ea typeface="楷体_GB2312" pitchFamily="49" charset="-122"/>
              </a:rPr>
              <a:t>帧同步</a:t>
            </a:r>
            <a:r>
              <a:rPr lang="zh-CN" altLang="en-US" sz="1800" dirty="0">
                <a:solidFill>
                  <a:srgbClr val="0000FF"/>
                </a:solidFill>
                <a:effectLst>
                  <a:outerShdw blurRad="38100" dist="38100" dir="2700000" algn="tl">
                    <a:srgbClr val="C0C0C0"/>
                  </a:outerShdw>
                </a:effectLst>
                <a:latin typeface="Verdana" pitchFamily="34" charset="0"/>
                <a:ea typeface="楷体_GB2312" pitchFamily="49" charset="-122"/>
              </a:rPr>
              <a:t>：</a:t>
            </a:r>
            <a:r>
              <a:rPr lang="zh-CN" altLang="en-US" sz="1800" dirty="0">
                <a:latin typeface="Verdana" pitchFamily="34" charset="0"/>
                <a:ea typeface="楷体_GB2312" pitchFamily="49" charset="-122"/>
              </a:rPr>
              <a:t>每个帧使用两个同步字符</a:t>
            </a:r>
            <a:r>
              <a:rPr lang="en-US" altLang="zh-CN" sz="1800" dirty="0">
                <a:latin typeface="Verdana" pitchFamily="34" charset="0"/>
                <a:ea typeface="楷体_GB2312" pitchFamily="49" charset="-122"/>
              </a:rPr>
              <a:t>(</a:t>
            </a:r>
            <a:r>
              <a:rPr lang="zh-CN" altLang="en-US" sz="1800" dirty="0">
                <a:latin typeface="Verdana" pitchFamily="34" charset="0"/>
                <a:ea typeface="楷体_GB2312" pitchFamily="49" charset="-122"/>
              </a:rPr>
              <a:t>一个帧起始字符和一个帧结束字符</a:t>
            </a:r>
            <a:r>
              <a:rPr lang="en-US" altLang="zh-CN" sz="1800" dirty="0">
                <a:latin typeface="Verdana" pitchFamily="34" charset="0"/>
                <a:ea typeface="楷体_GB2312" pitchFamily="49" charset="-122"/>
              </a:rPr>
              <a:t>)</a:t>
            </a:r>
            <a:r>
              <a:rPr lang="zh-CN" altLang="en-US" sz="1800" dirty="0">
                <a:latin typeface="Verdana" pitchFamily="34" charset="0"/>
                <a:ea typeface="楷体_GB2312" pitchFamily="49" charset="-122"/>
              </a:rPr>
              <a:t>。 </a:t>
            </a:r>
          </a:p>
          <a:p>
            <a:pPr marL="177800" indent="-177800" eaLnBrk="1" hangingPunct="1">
              <a:lnSpc>
                <a:spcPct val="120000"/>
              </a:lnSpc>
              <a:buNone/>
              <a:defRPr/>
            </a:pPr>
            <a:r>
              <a:rPr lang="en-US" altLang="zh-CN" sz="1800" dirty="0">
                <a:latin typeface="Verdana" pitchFamily="34" charset="0"/>
                <a:ea typeface="楷体_GB2312" pitchFamily="49" charset="-122"/>
              </a:rPr>
              <a:t>3</a:t>
            </a:r>
            <a:r>
              <a:rPr lang="zh-CN" altLang="en-US" sz="1800" dirty="0">
                <a:latin typeface="Verdana" pitchFamily="34" charset="0"/>
                <a:ea typeface="楷体_GB2312" pitchFamily="49" charset="-122"/>
              </a:rPr>
              <a:t>、在一个</a:t>
            </a:r>
            <a:r>
              <a:rPr lang="en-US" altLang="zh-CN" sz="1800" dirty="0">
                <a:latin typeface="Verdana" pitchFamily="34" charset="0"/>
                <a:ea typeface="楷体_GB2312" pitchFamily="49" charset="-122"/>
              </a:rPr>
              <a:t>1Mb/s</a:t>
            </a:r>
            <a:r>
              <a:rPr lang="zh-CN" altLang="en-US" sz="1800" dirty="0">
                <a:latin typeface="Verdana" pitchFamily="34" charset="0"/>
                <a:ea typeface="楷体_GB2312" pitchFamily="49" charset="-122"/>
              </a:rPr>
              <a:t>的卫星信道上发送</a:t>
            </a:r>
            <a:r>
              <a:rPr lang="en-US" altLang="zh-CN" sz="1800" dirty="0">
                <a:latin typeface="Verdana" pitchFamily="34" charset="0"/>
                <a:ea typeface="楷体_GB2312" pitchFamily="49" charset="-122"/>
              </a:rPr>
              <a:t>1000</a:t>
            </a:r>
            <a:r>
              <a:rPr lang="zh-CN" altLang="en-US" sz="1800" dirty="0">
                <a:latin typeface="Verdana" pitchFamily="34" charset="0"/>
                <a:ea typeface="楷体_GB2312" pitchFamily="49" charset="-122"/>
              </a:rPr>
              <a:t>比特长的帧。确认总是</a:t>
            </a:r>
            <a:r>
              <a:rPr lang="zh-CN" altLang="en-US" sz="1800" dirty="0">
                <a:highlight>
                  <a:srgbClr val="FFFF00"/>
                </a:highlight>
                <a:latin typeface="Verdana" pitchFamily="34" charset="0"/>
                <a:ea typeface="楷体_GB2312" pitchFamily="49" charset="-122"/>
              </a:rPr>
              <a:t>捎带</a:t>
            </a:r>
            <a:r>
              <a:rPr lang="zh-CN" altLang="en-US" sz="1800" dirty="0">
                <a:latin typeface="Verdana" pitchFamily="34" charset="0"/>
                <a:ea typeface="楷体_GB2312" pitchFamily="49" charset="-122"/>
              </a:rPr>
              <a:t>在数据帧中。帧头很短，使用</a:t>
            </a:r>
            <a:r>
              <a:rPr lang="en-US" altLang="zh-CN" sz="1800" dirty="0">
                <a:latin typeface="Verdana" pitchFamily="34" charset="0"/>
                <a:ea typeface="楷体_GB2312" pitchFamily="49" charset="-122"/>
              </a:rPr>
              <a:t>3</a:t>
            </a:r>
            <a:r>
              <a:rPr lang="zh-CN" altLang="en-US" sz="1800" dirty="0">
                <a:latin typeface="Verdana" pitchFamily="34" charset="0"/>
                <a:ea typeface="楷体_GB2312" pitchFamily="49" charset="-122"/>
              </a:rPr>
              <a:t>位的序列号。对以下协议而言，可以取得的最大信道利用率是多少？ </a:t>
            </a:r>
            <a:r>
              <a:rPr lang="en-US" altLang="zh-CN" sz="1800" dirty="0">
                <a:latin typeface="Verdana" pitchFamily="34" charset="0"/>
                <a:ea typeface="楷体_GB2312" pitchFamily="49" charset="-122"/>
              </a:rPr>
              <a:t>(a)</a:t>
            </a:r>
            <a:r>
              <a:rPr lang="zh-CN" altLang="en-US" sz="1800" dirty="0">
                <a:latin typeface="Verdana" pitchFamily="34" charset="0"/>
                <a:ea typeface="楷体_GB2312" pitchFamily="49" charset="-122"/>
              </a:rPr>
              <a:t>停等协议；</a:t>
            </a:r>
            <a:r>
              <a:rPr lang="en-US" altLang="zh-CN" sz="1800" dirty="0">
                <a:latin typeface="Verdana" pitchFamily="34" charset="0"/>
                <a:ea typeface="楷体_GB2312" pitchFamily="49" charset="-122"/>
              </a:rPr>
              <a:t>(b)</a:t>
            </a:r>
            <a:r>
              <a:rPr lang="zh-CN" altLang="en-US" sz="1800" dirty="0">
                <a:latin typeface="Verdana" pitchFamily="34" charset="0"/>
                <a:ea typeface="楷体_GB2312" pitchFamily="49" charset="-122"/>
              </a:rPr>
              <a:t>回退</a:t>
            </a:r>
            <a:r>
              <a:rPr lang="en-US" altLang="zh-CN" sz="1800" dirty="0">
                <a:latin typeface="Verdana" pitchFamily="34" charset="0"/>
                <a:ea typeface="楷体_GB2312" pitchFamily="49" charset="-122"/>
              </a:rPr>
              <a:t>N</a:t>
            </a:r>
            <a:r>
              <a:rPr lang="zh-CN" altLang="en-US" sz="1800" dirty="0">
                <a:latin typeface="Verdana" pitchFamily="34" charset="0"/>
                <a:ea typeface="楷体_GB2312" pitchFamily="49" charset="-122"/>
              </a:rPr>
              <a:t>滑动窗口协议；</a:t>
            </a:r>
            <a:r>
              <a:rPr lang="en-US" altLang="zh-CN" sz="1800" dirty="0">
                <a:latin typeface="Verdana" pitchFamily="34" charset="0"/>
                <a:ea typeface="楷体_GB2312" pitchFamily="49" charset="-122"/>
              </a:rPr>
              <a:t>(c)</a:t>
            </a:r>
            <a:r>
              <a:rPr lang="zh-CN" altLang="en-US" sz="1800" dirty="0">
                <a:latin typeface="Verdana" pitchFamily="34" charset="0"/>
                <a:ea typeface="楷体_GB2312" pitchFamily="49" charset="-122"/>
              </a:rPr>
              <a:t>选择重传滑动窗口协议。</a:t>
            </a:r>
            <a:r>
              <a:rPr lang="en-US" altLang="zh-CN" sz="1800" dirty="0">
                <a:latin typeface="Verdana" pitchFamily="34" charset="0"/>
                <a:ea typeface="楷体_GB2312" pitchFamily="49" charset="-122"/>
              </a:rPr>
              <a:t>(</a:t>
            </a:r>
            <a:r>
              <a:rPr lang="zh-CN" altLang="en-US" sz="1800" dirty="0">
                <a:latin typeface="Verdana" pitchFamily="34" charset="0"/>
                <a:ea typeface="楷体_GB2312" pitchFamily="49" charset="-122"/>
              </a:rPr>
              <a:t>卫星信道端到端的传输延迟是</a:t>
            </a:r>
            <a:r>
              <a:rPr lang="en-US" altLang="zh-CN" sz="1800" dirty="0">
                <a:latin typeface="Verdana" pitchFamily="34" charset="0"/>
                <a:ea typeface="楷体_GB2312" pitchFamily="49" charset="-122"/>
              </a:rPr>
              <a:t>270ms)</a:t>
            </a:r>
            <a:endParaRPr lang="zh-CN" altLang="en-US" sz="1800" dirty="0">
              <a:latin typeface="Verdana" pitchFamily="34" charset="0"/>
              <a:ea typeface="楷体_GB2312" pitchFamily="49" charset="-122"/>
            </a:endParaRPr>
          </a:p>
        </p:txBody>
      </p:sp>
    </p:spTree>
  </p:cSld>
  <p:clrMapOvr>
    <a:masterClrMapping/>
  </p:clrMapOvr>
  <p:transition>
    <p:random/>
  </p:transition>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页脚占位符 1"/>
          <p:cNvSpPr>
            <a:spLocks noGrp="1"/>
          </p:cNvSpPr>
          <p:nvPr>
            <p:ph type="ftr" sz="quarter" idx="10"/>
          </p:nvPr>
        </p:nvSpPr>
        <p:spPr/>
        <p:txBody>
          <a:bodyPr/>
          <a:lstStyle/>
          <a:p>
            <a:pPr>
              <a:defRPr/>
            </a:pPr>
            <a:r>
              <a:rPr lang="en-US" altLang="zh-CN"/>
              <a:t>Computer Network</a:t>
            </a:r>
          </a:p>
        </p:txBody>
      </p:sp>
      <p:sp>
        <p:nvSpPr>
          <p:cNvPr id="76803" name="灯片编号占位符 2"/>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8425366A-88EB-484D-BA4C-57F1BADD6CD8}" type="slidenum">
              <a:rPr lang="en-US" altLang="zh-CN" sz="1200">
                <a:latin typeface="Arial Black" panose="020B0A04020102020204" pitchFamily="34" charset="0"/>
              </a:rPr>
              <a:pPr>
                <a:spcBef>
                  <a:spcPct val="0"/>
                </a:spcBef>
                <a:buClrTx/>
                <a:buSzTx/>
                <a:buFontTx/>
                <a:buNone/>
              </a:pPr>
              <a:t>169</a:t>
            </a:fld>
            <a:endParaRPr lang="en-US" altLang="zh-CN" sz="1200">
              <a:latin typeface="Arial Black" panose="020B0A04020102020204" pitchFamily="34" charset="0"/>
            </a:endParaRPr>
          </a:p>
        </p:txBody>
      </p:sp>
      <p:sp>
        <p:nvSpPr>
          <p:cNvPr id="5" name="日期占位符 3"/>
          <p:cNvSpPr>
            <a:spLocks noGrp="1"/>
          </p:cNvSpPr>
          <p:nvPr>
            <p:ph type="dt" sz="quarter" idx="12"/>
          </p:nvPr>
        </p:nvSpPr>
        <p:spPr/>
        <p:txBody>
          <a:bodyPr/>
          <a:lstStyle/>
          <a:p>
            <a:pPr>
              <a:defRPr/>
            </a:pPr>
            <a:fld id="{EDFB66BC-9234-49AA-BF4D-A4E2370E0F36}" type="datetime1">
              <a:rPr lang="zh-CN" altLang="en-US"/>
              <a:pPr>
                <a:defRPr/>
              </a:pPr>
              <a:t>2024/10/18</a:t>
            </a:fld>
            <a:endParaRPr lang="en-US" altLang="zh-CN"/>
          </a:p>
        </p:txBody>
      </p:sp>
      <p:sp>
        <p:nvSpPr>
          <p:cNvPr id="76805" name="Rectangle 4"/>
          <p:cNvSpPr>
            <a:spLocks noChangeArrowheads="1"/>
          </p:cNvSpPr>
          <p:nvPr/>
        </p:nvSpPr>
        <p:spPr bwMode="auto">
          <a:xfrm>
            <a:off x="2063553" y="714902"/>
            <a:ext cx="7885311" cy="492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nchor="t">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457200" indent="-457200" eaLnBrk="1" hangingPunct="1">
              <a:lnSpc>
                <a:spcPct val="125000"/>
              </a:lnSpc>
              <a:buClrTx/>
              <a:buSzTx/>
              <a:buNone/>
            </a:pPr>
            <a:r>
              <a:rPr lang="en-US" altLang="zh-CN" sz="2000" dirty="0">
                <a:latin typeface="Verdana" panose="020B0604030504040204" pitchFamily="34" charset="0"/>
                <a:ea typeface="楷体_GB2312" pitchFamily="49" charset="-122"/>
              </a:rPr>
              <a:t>4</a:t>
            </a:r>
            <a:r>
              <a:rPr lang="zh-CN" altLang="en-US" sz="2000" dirty="0">
                <a:latin typeface="Verdana" panose="020B0604030504040204" pitchFamily="34" charset="0"/>
                <a:ea typeface="楷体_GB2312" pitchFamily="49" charset="-122"/>
              </a:rPr>
              <a:t>、要发送的数据为</a:t>
            </a:r>
            <a:r>
              <a:rPr lang="en-US" altLang="zh-CN" sz="2000" dirty="0">
                <a:latin typeface="Verdana" panose="020B0604030504040204" pitchFamily="34" charset="0"/>
                <a:ea typeface="楷体_GB2312" pitchFamily="49" charset="-122"/>
              </a:rPr>
              <a:t>1101011011</a:t>
            </a:r>
            <a:r>
              <a:rPr lang="zh-CN" altLang="en-US" sz="2000" dirty="0">
                <a:latin typeface="Verdana" panose="020B0604030504040204" pitchFamily="34" charset="0"/>
                <a:ea typeface="楷体_GB2312" pitchFamily="49" charset="-122"/>
              </a:rPr>
              <a:t>，采用</a:t>
            </a:r>
            <a:r>
              <a:rPr lang="en-US" altLang="zh-CN" sz="2000" dirty="0">
                <a:latin typeface="Verdana" panose="020B0604030504040204" pitchFamily="34" charset="0"/>
                <a:ea typeface="楷体_GB2312" pitchFamily="49" charset="-122"/>
              </a:rPr>
              <a:t>CRC</a:t>
            </a:r>
            <a:r>
              <a:rPr lang="zh-CN" altLang="en-US" sz="2000" dirty="0">
                <a:latin typeface="Verdana" panose="020B0604030504040204" pitchFamily="34" charset="0"/>
                <a:ea typeface="楷体_GB2312" pitchFamily="49" charset="-122"/>
              </a:rPr>
              <a:t>的生成多项式是</a:t>
            </a:r>
            <a:r>
              <a:rPr lang="en-US" altLang="zh-CN" sz="2000" dirty="0">
                <a:latin typeface="Verdana" panose="020B0604030504040204" pitchFamily="34" charset="0"/>
                <a:ea typeface="楷体_GB2312" pitchFamily="49" charset="-122"/>
              </a:rPr>
              <a:t>G(X)=X</a:t>
            </a:r>
            <a:r>
              <a:rPr lang="en-US" altLang="zh-CN" sz="2000" baseline="30000" dirty="0">
                <a:latin typeface="Verdana" panose="020B0604030504040204" pitchFamily="34" charset="0"/>
                <a:ea typeface="楷体_GB2312" pitchFamily="49" charset="-122"/>
              </a:rPr>
              <a:t>4</a:t>
            </a:r>
            <a:r>
              <a:rPr lang="en-US" altLang="zh-CN" sz="2000" dirty="0">
                <a:latin typeface="Verdana" panose="020B0604030504040204" pitchFamily="34" charset="0"/>
                <a:ea typeface="楷体_GB2312" pitchFamily="49" charset="-122"/>
              </a:rPr>
              <a:t>+X+1</a:t>
            </a:r>
            <a:r>
              <a:rPr lang="zh-CN" altLang="en-US" sz="2000" dirty="0">
                <a:latin typeface="Verdana" panose="020B0604030504040204" pitchFamily="34" charset="0"/>
                <a:ea typeface="楷体_GB2312" pitchFamily="49" charset="-122"/>
              </a:rPr>
              <a:t>，试求</a:t>
            </a:r>
            <a:r>
              <a:rPr lang="en-US" altLang="zh-CN" sz="2000" dirty="0">
                <a:latin typeface="Verdana" panose="020B0604030504040204" pitchFamily="34" charset="0"/>
                <a:ea typeface="楷体_GB2312" pitchFamily="49" charset="-122"/>
              </a:rPr>
              <a:t>CRC</a:t>
            </a:r>
            <a:r>
              <a:rPr lang="zh-CN" altLang="en-US" sz="2000" dirty="0">
                <a:latin typeface="Verdana" panose="020B0604030504040204" pitchFamily="34" charset="0"/>
                <a:ea typeface="楷体_GB2312" pitchFamily="49" charset="-122"/>
              </a:rPr>
              <a:t>编码后的传输码，数据在传输过程中最后一个</a:t>
            </a:r>
            <a:r>
              <a:rPr lang="en-US" altLang="zh-CN" sz="2000" dirty="0">
                <a:latin typeface="Verdana" panose="020B0604030504040204" pitchFamily="34" charset="0"/>
                <a:ea typeface="楷体_GB2312" pitchFamily="49" charset="-122"/>
              </a:rPr>
              <a:t>1</a:t>
            </a:r>
            <a:r>
              <a:rPr lang="zh-CN" altLang="en-US" sz="2000" dirty="0">
                <a:latin typeface="Verdana" panose="020B0604030504040204" pitchFamily="34" charset="0"/>
                <a:ea typeface="楷体_GB2312" pitchFamily="49" charset="-122"/>
              </a:rPr>
              <a:t>变成了</a:t>
            </a:r>
            <a:r>
              <a:rPr lang="en-US" altLang="zh-CN" sz="2000" dirty="0">
                <a:latin typeface="Verdana" panose="020B0604030504040204" pitchFamily="34" charset="0"/>
                <a:ea typeface="楷体_GB2312" pitchFamily="49" charset="-122"/>
              </a:rPr>
              <a:t>0</a:t>
            </a:r>
            <a:r>
              <a:rPr lang="zh-CN" altLang="en-US" sz="2000" dirty="0">
                <a:latin typeface="Verdana" panose="020B0604030504040204" pitchFamily="34" charset="0"/>
                <a:ea typeface="楷体_GB2312" pitchFamily="49" charset="-122"/>
              </a:rPr>
              <a:t>，试问接收端是如何发现的？</a:t>
            </a:r>
          </a:p>
          <a:p>
            <a:pPr marL="457200" indent="-457200" eaLnBrk="1" hangingPunct="1">
              <a:lnSpc>
                <a:spcPct val="125000"/>
              </a:lnSpc>
              <a:buClrTx/>
              <a:buSzTx/>
              <a:buNone/>
            </a:pPr>
            <a:r>
              <a:rPr lang="en-US" altLang="zh-CN" sz="2000" dirty="0">
                <a:latin typeface="Verdana" panose="020B0604030504040204" pitchFamily="34" charset="0"/>
                <a:ea typeface="楷体_GB2312" pitchFamily="49" charset="-122"/>
              </a:rPr>
              <a:t>5</a:t>
            </a:r>
            <a:r>
              <a:rPr lang="zh-CN" altLang="en-US" sz="2000" dirty="0">
                <a:latin typeface="Verdana" panose="020B0604030504040204" pitchFamily="34" charset="0"/>
                <a:ea typeface="楷体_GB2312" pitchFamily="49" charset="-122"/>
              </a:rPr>
              <a:t>、信道速率为</a:t>
            </a:r>
            <a:r>
              <a:rPr lang="en-US" altLang="zh-CN" sz="2000" dirty="0">
                <a:latin typeface="Verdana" panose="020B0604030504040204" pitchFamily="34" charset="0"/>
                <a:ea typeface="楷体_GB2312" pitchFamily="49" charset="-122"/>
              </a:rPr>
              <a:t>4kb/s</a:t>
            </a:r>
            <a:r>
              <a:rPr lang="zh-CN" altLang="en-US" sz="2000" dirty="0">
                <a:latin typeface="Verdana" panose="020B0604030504040204" pitchFamily="34" charset="0"/>
                <a:ea typeface="楷体_GB2312" pitchFamily="49" charset="-122"/>
              </a:rPr>
              <a:t>，采用停等协议，传播时延</a:t>
            </a:r>
            <a:r>
              <a:rPr lang="en-US" altLang="zh-CN" sz="2000" i="1" dirty="0" err="1">
                <a:latin typeface="Verdana" panose="020B0604030504040204" pitchFamily="34" charset="0"/>
                <a:ea typeface="楷体_GB2312" pitchFamily="49" charset="-122"/>
              </a:rPr>
              <a:t>t</a:t>
            </a:r>
            <a:r>
              <a:rPr lang="en-US" altLang="zh-CN" sz="1400" i="1" dirty="0" err="1">
                <a:latin typeface="Verdana" panose="020B0604030504040204" pitchFamily="34" charset="0"/>
                <a:ea typeface="楷体_GB2312" pitchFamily="49" charset="-122"/>
              </a:rPr>
              <a:t>p</a:t>
            </a:r>
            <a:r>
              <a:rPr lang="en-US" altLang="zh-CN" sz="2000" dirty="0">
                <a:latin typeface="Verdana" panose="020B0604030504040204" pitchFamily="34" charset="0"/>
                <a:ea typeface="楷体_GB2312" pitchFamily="49" charset="-122"/>
              </a:rPr>
              <a:t>=20ms</a:t>
            </a:r>
            <a:r>
              <a:rPr lang="zh-CN" altLang="en-US" sz="2000" dirty="0">
                <a:latin typeface="Verdana" panose="020B0604030504040204" pitchFamily="34" charset="0"/>
                <a:ea typeface="楷体_GB2312" pitchFamily="49" charset="-122"/>
              </a:rPr>
              <a:t>。确认帧长度和处理时间均可忽略。求使信道利用率达到至少</a:t>
            </a:r>
            <a:r>
              <a:rPr lang="en-US" altLang="zh-CN" sz="2000" dirty="0">
                <a:latin typeface="Verdana" panose="020B0604030504040204" pitchFamily="34" charset="0"/>
                <a:ea typeface="楷体_GB2312" pitchFamily="49" charset="-122"/>
              </a:rPr>
              <a:t>50%</a:t>
            </a:r>
            <a:r>
              <a:rPr lang="zh-CN" altLang="en-US" sz="2000" dirty="0">
                <a:latin typeface="Verdana" panose="020B0604030504040204" pitchFamily="34" charset="0"/>
                <a:ea typeface="楷体_GB2312" pitchFamily="49" charset="-122"/>
              </a:rPr>
              <a:t>的帧长度。</a:t>
            </a:r>
          </a:p>
          <a:p>
            <a:pPr marL="457200" indent="-457200" eaLnBrk="1" hangingPunct="1">
              <a:lnSpc>
                <a:spcPct val="125000"/>
              </a:lnSpc>
              <a:buClrTx/>
              <a:buSzTx/>
              <a:buNone/>
            </a:pPr>
            <a:r>
              <a:rPr lang="en-US" altLang="zh-CN" sz="2000" dirty="0">
                <a:latin typeface="Verdana" panose="020B0604030504040204" pitchFamily="34" charset="0"/>
                <a:ea typeface="楷体_GB2312" pitchFamily="49" charset="-122"/>
              </a:rPr>
              <a:t>6</a:t>
            </a:r>
            <a:r>
              <a:rPr lang="zh-CN" altLang="en-US" sz="2000" dirty="0">
                <a:latin typeface="Verdana" panose="020B0604030504040204" pitchFamily="34" charset="0"/>
                <a:ea typeface="楷体_GB2312" pitchFamily="49" charset="-122"/>
              </a:rPr>
              <a:t>、分析停止等待协议中的确认帧是否需要序号，说明理由。</a:t>
            </a:r>
          </a:p>
          <a:p>
            <a:pPr marL="457200" indent="-457200" eaLnBrk="1" hangingPunct="1">
              <a:lnSpc>
                <a:spcPct val="125000"/>
              </a:lnSpc>
              <a:buClrTx/>
              <a:buSzTx/>
              <a:buNone/>
            </a:pPr>
            <a:r>
              <a:rPr lang="en-US" altLang="zh-CN" sz="2000" dirty="0">
                <a:latin typeface="Verdana" panose="020B0604030504040204" pitchFamily="34" charset="0"/>
                <a:ea typeface="楷体_GB2312" pitchFamily="49" charset="-122"/>
              </a:rPr>
              <a:t>7</a:t>
            </a:r>
            <a:r>
              <a:rPr lang="zh-CN" altLang="en-US" sz="2000" dirty="0">
                <a:latin typeface="Verdana" panose="020B0604030504040204" pitchFamily="34" charset="0"/>
                <a:ea typeface="楷体_GB2312" pitchFamily="49" charset="-122"/>
              </a:rPr>
              <a:t>、举例说明：当用</a:t>
            </a:r>
            <a:r>
              <a:rPr lang="en-US" altLang="zh-CN" sz="2000" i="1" dirty="0">
                <a:latin typeface="Verdana" panose="020B0604030504040204" pitchFamily="34" charset="0"/>
                <a:ea typeface="楷体_GB2312" pitchFamily="49" charset="-122"/>
              </a:rPr>
              <a:t>n</a:t>
            </a:r>
            <a:r>
              <a:rPr lang="zh-CN" altLang="en-US" sz="2000" dirty="0">
                <a:latin typeface="Verdana" panose="020B0604030504040204" pitchFamily="34" charset="0"/>
                <a:ea typeface="楷体_GB2312" pitchFamily="49" charset="-122"/>
              </a:rPr>
              <a:t>个比特进行编号时，若接收窗口大小为</a:t>
            </a:r>
            <a:r>
              <a:rPr lang="en-US" altLang="zh-CN" sz="2000" dirty="0">
                <a:latin typeface="Verdana" panose="020B0604030504040204" pitchFamily="34" charset="0"/>
                <a:ea typeface="楷体_GB2312" pitchFamily="49" charset="-122"/>
              </a:rPr>
              <a:t>1</a:t>
            </a:r>
            <a:r>
              <a:rPr lang="zh-CN" altLang="en-US" sz="2000" dirty="0">
                <a:latin typeface="Verdana" panose="020B0604030504040204" pitchFamily="34" charset="0"/>
                <a:ea typeface="楷体_GB2312" pitchFamily="49" charset="-122"/>
              </a:rPr>
              <a:t>，则只有在发送窗口的大小 </a:t>
            </a:r>
            <a:r>
              <a:rPr lang="en-US" altLang="zh-CN" sz="2000" i="1" dirty="0">
                <a:latin typeface="Verdana" panose="020B0604030504040204" pitchFamily="34" charset="0"/>
                <a:ea typeface="楷体_GB2312" pitchFamily="49" charset="-122"/>
              </a:rPr>
              <a:t>W</a:t>
            </a:r>
            <a:r>
              <a:rPr lang="en-US" altLang="zh-CN" sz="2000" i="1" baseline="-25000" dirty="0">
                <a:latin typeface="Verdana" panose="020B0604030504040204" pitchFamily="34" charset="0"/>
                <a:ea typeface="楷体_GB2312" pitchFamily="49" charset="-122"/>
              </a:rPr>
              <a:t>T</a:t>
            </a:r>
            <a:r>
              <a:rPr lang="en-US" altLang="zh-CN" sz="2000" dirty="0">
                <a:latin typeface="Verdana" panose="020B0604030504040204" pitchFamily="34" charset="0"/>
                <a:ea typeface="楷体_GB2312" pitchFamily="49" charset="-122"/>
                <a:sym typeface="Symbol" panose="05050102010706020507" pitchFamily="18" charset="2"/>
              </a:rPr>
              <a:t></a:t>
            </a:r>
            <a:r>
              <a:rPr lang="en-US" altLang="zh-CN" sz="2000" dirty="0">
                <a:latin typeface="Verdana" panose="020B0604030504040204" pitchFamily="34" charset="0"/>
                <a:ea typeface="楷体_GB2312" pitchFamily="49" charset="-122"/>
              </a:rPr>
              <a:t>2</a:t>
            </a:r>
            <a:r>
              <a:rPr lang="en-US" altLang="zh-CN" sz="2000" i="1" baseline="50000" dirty="0">
                <a:latin typeface="Verdana" panose="020B0604030504040204" pitchFamily="34" charset="0"/>
                <a:ea typeface="楷体_GB2312" pitchFamily="49" charset="-122"/>
                <a:sym typeface="Symbol" panose="05050102010706020507" pitchFamily="18" charset="2"/>
              </a:rPr>
              <a:t>n</a:t>
            </a:r>
            <a:r>
              <a:rPr lang="en-US" altLang="zh-CN" sz="2000" dirty="0">
                <a:latin typeface="Verdana" panose="020B0604030504040204" pitchFamily="34" charset="0"/>
                <a:ea typeface="楷体_GB2312" pitchFamily="49" charset="-122"/>
                <a:sym typeface="Symbol" panose="05050102010706020507" pitchFamily="18" charset="2"/>
              </a:rPr>
              <a:t></a:t>
            </a:r>
            <a:r>
              <a:rPr lang="en-US" altLang="zh-CN" sz="2000" dirty="0">
                <a:latin typeface="Verdana" panose="020B0604030504040204" pitchFamily="34" charset="0"/>
                <a:ea typeface="楷体_GB2312" pitchFamily="49" charset="-122"/>
              </a:rPr>
              <a:t>1 </a:t>
            </a:r>
            <a:r>
              <a:rPr lang="zh-CN" altLang="en-US" sz="2000" dirty="0">
                <a:latin typeface="Verdana" panose="020B0604030504040204" pitchFamily="34" charset="0"/>
                <a:ea typeface="楷体_GB2312" pitchFamily="49" charset="-122"/>
                <a:sym typeface="Symbol" panose="05050102010706020507" pitchFamily="18" charset="2"/>
              </a:rPr>
              <a:t>时，连续</a:t>
            </a:r>
            <a:r>
              <a:rPr lang="en-US" altLang="zh-CN" sz="2000" dirty="0">
                <a:latin typeface="Verdana" panose="020B0604030504040204" pitchFamily="34" charset="0"/>
                <a:ea typeface="楷体_GB2312" pitchFamily="49" charset="-122"/>
                <a:sym typeface="Symbol" panose="05050102010706020507" pitchFamily="18" charset="2"/>
              </a:rPr>
              <a:t>ARQ</a:t>
            </a:r>
            <a:r>
              <a:rPr lang="zh-CN" altLang="en-US" sz="2000" dirty="0">
                <a:latin typeface="Verdana" panose="020B0604030504040204" pitchFamily="34" charset="0"/>
                <a:ea typeface="楷体_GB2312" pitchFamily="49" charset="-122"/>
                <a:sym typeface="Symbol" panose="05050102010706020507" pitchFamily="18" charset="2"/>
              </a:rPr>
              <a:t>协议才能正确运行。</a:t>
            </a:r>
          </a:p>
          <a:p>
            <a:pPr marL="457200" indent="-457200" eaLnBrk="1" hangingPunct="1">
              <a:lnSpc>
                <a:spcPct val="125000"/>
              </a:lnSpc>
              <a:buClrTx/>
              <a:buSzTx/>
              <a:buNone/>
            </a:pPr>
            <a:r>
              <a:rPr lang="en-US" altLang="zh-CN" sz="2000" dirty="0">
                <a:latin typeface="Verdana" panose="020B0604030504040204" pitchFamily="34" charset="0"/>
                <a:ea typeface="楷体_GB2312" pitchFamily="49" charset="-122"/>
                <a:sym typeface="Symbol" panose="05050102010706020507" pitchFamily="18" charset="2"/>
              </a:rPr>
              <a:t>8</a:t>
            </a:r>
            <a:r>
              <a:rPr lang="zh-CN" altLang="en-US" sz="2000" dirty="0">
                <a:latin typeface="Verdana" panose="020B0604030504040204" pitchFamily="34" charset="0"/>
                <a:ea typeface="楷体_GB2312" pitchFamily="49" charset="-122"/>
                <a:sym typeface="Symbol" panose="05050102010706020507" pitchFamily="18" charset="2"/>
              </a:rPr>
              <a:t>、在选择重传</a:t>
            </a:r>
            <a:r>
              <a:rPr lang="en-US" altLang="zh-CN" sz="2000" dirty="0">
                <a:latin typeface="Verdana" panose="020B0604030504040204" pitchFamily="34" charset="0"/>
                <a:ea typeface="楷体_GB2312" pitchFamily="49" charset="-122"/>
                <a:sym typeface="Symbol" panose="05050102010706020507" pitchFamily="18" charset="2"/>
              </a:rPr>
              <a:t>ARQ</a:t>
            </a:r>
            <a:r>
              <a:rPr lang="zh-CN" altLang="en-US" sz="2000" dirty="0">
                <a:latin typeface="Verdana" panose="020B0604030504040204" pitchFamily="34" charset="0"/>
                <a:ea typeface="楷体_GB2312" pitchFamily="49" charset="-122"/>
                <a:sym typeface="Symbol" panose="05050102010706020507" pitchFamily="18" charset="2"/>
              </a:rPr>
              <a:t>协议中，设编号用</a:t>
            </a:r>
            <a:r>
              <a:rPr lang="en-US" altLang="zh-CN" sz="2000" dirty="0">
                <a:latin typeface="Verdana" panose="020B0604030504040204" pitchFamily="34" charset="0"/>
                <a:ea typeface="楷体_GB2312" pitchFamily="49" charset="-122"/>
                <a:sym typeface="Symbol" panose="05050102010706020507" pitchFamily="18" charset="2"/>
              </a:rPr>
              <a:t>3</a:t>
            </a:r>
            <a:r>
              <a:rPr lang="zh-CN" altLang="en-US" sz="2000" dirty="0">
                <a:latin typeface="Verdana" panose="020B0604030504040204" pitchFamily="34" charset="0"/>
                <a:ea typeface="楷体_GB2312" pitchFamily="49" charset="-122"/>
                <a:sym typeface="Symbol" panose="05050102010706020507" pitchFamily="18" charset="2"/>
              </a:rPr>
              <a:t>比特，发送窗口</a:t>
            </a:r>
            <a:r>
              <a:rPr lang="en-US" altLang="zh-CN" sz="2000" i="1" dirty="0">
                <a:latin typeface="Verdana" panose="020B0604030504040204" pitchFamily="34" charset="0"/>
                <a:ea typeface="楷体_GB2312" pitchFamily="49" charset="-122"/>
                <a:sym typeface="Symbol" panose="05050102010706020507" pitchFamily="18" charset="2"/>
              </a:rPr>
              <a:t>W</a:t>
            </a:r>
            <a:r>
              <a:rPr lang="en-US" altLang="zh-CN" sz="2000" i="1" baseline="-25000" dirty="0">
                <a:latin typeface="Verdana" panose="020B0604030504040204" pitchFamily="34" charset="0"/>
                <a:ea typeface="楷体_GB2312" pitchFamily="49" charset="-122"/>
                <a:sym typeface="Symbol" panose="05050102010706020507" pitchFamily="18" charset="2"/>
              </a:rPr>
              <a:t>T</a:t>
            </a:r>
            <a:r>
              <a:rPr lang="en-US" altLang="zh-CN" sz="2000" dirty="0">
                <a:latin typeface="Verdana" panose="020B0604030504040204" pitchFamily="34" charset="0"/>
                <a:ea typeface="楷体_GB2312" pitchFamily="49" charset="-122"/>
                <a:sym typeface="Symbol" panose="05050102010706020507" pitchFamily="18" charset="2"/>
              </a:rPr>
              <a:t>=5</a:t>
            </a:r>
            <a:r>
              <a:rPr lang="zh-CN" altLang="en-US" sz="2000" dirty="0">
                <a:latin typeface="Verdana" panose="020B0604030504040204" pitchFamily="34" charset="0"/>
                <a:ea typeface="楷体_GB2312" pitchFamily="49" charset="-122"/>
                <a:sym typeface="Symbol" panose="05050102010706020507" pitchFamily="18" charset="2"/>
              </a:rPr>
              <a:t>，接收窗口</a:t>
            </a:r>
            <a:r>
              <a:rPr lang="en-US" altLang="zh-CN" sz="2000" i="1" dirty="0">
                <a:latin typeface="Verdana" panose="020B0604030504040204" pitchFamily="34" charset="0"/>
                <a:ea typeface="楷体_GB2312" pitchFamily="49" charset="-122"/>
                <a:sym typeface="Symbol" panose="05050102010706020507" pitchFamily="18" charset="2"/>
              </a:rPr>
              <a:t>W</a:t>
            </a:r>
            <a:r>
              <a:rPr lang="en-US" altLang="zh-CN" sz="2000" i="1" baseline="-25000" dirty="0">
                <a:latin typeface="Verdana" panose="020B0604030504040204" pitchFamily="34" charset="0"/>
                <a:ea typeface="楷体_GB2312" pitchFamily="49" charset="-122"/>
                <a:sym typeface="Symbol" panose="05050102010706020507" pitchFamily="18" charset="2"/>
              </a:rPr>
              <a:t>R</a:t>
            </a:r>
            <a:r>
              <a:rPr lang="en-US" altLang="zh-CN" sz="2000" dirty="0">
                <a:latin typeface="Verdana" panose="020B0604030504040204" pitchFamily="34" charset="0"/>
                <a:ea typeface="楷体_GB2312" pitchFamily="49" charset="-122"/>
                <a:sym typeface="Symbol" panose="05050102010706020507" pitchFamily="18" charset="2"/>
              </a:rPr>
              <a:t>=4</a:t>
            </a:r>
            <a:r>
              <a:rPr lang="zh-CN" altLang="en-US" sz="2000" dirty="0">
                <a:latin typeface="Verdana" panose="020B0604030504040204" pitchFamily="34" charset="0"/>
                <a:ea typeface="楷体_GB2312" pitchFamily="49" charset="-122"/>
                <a:sym typeface="Symbol" panose="05050102010706020507" pitchFamily="18" charset="2"/>
              </a:rPr>
              <a:t>。举出使协议不能正确工作的一种情况。</a:t>
            </a:r>
          </a:p>
          <a:p>
            <a:pPr marL="457200" indent="-457200" eaLnBrk="1" hangingPunct="1">
              <a:lnSpc>
                <a:spcPct val="125000"/>
              </a:lnSpc>
              <a:buClrTx/>
              <a:buSzTx/>
              <a:buNone/>
            </a:pPr>
            <a:r>
              <a:rPr lang="en-US" altLang="zh-CN" sz="2000" dirty="0">
                <a:latin typeface="Verdana" panose="020B0604030504040204" pitchFamily="34" charset="0"/>
                <a:ea typeface="楷体_GB2312" pitchFamily="49" charset="-122"/>
                <a:sym typeface="Symbol" panose="05050102010706020507" pitchFamily="18" charset="2"/>
              </a:rPr>
              <a:t>9</a:t>
            </a:r>
            <a:r>
              <a:rPr lang="zh-CN" altLang="en-US" sz="2000" dirty="0">
                <a:latin typeface="Verdana" panose="020B0604030504040204" pitchFamily="34" charset="0"/>
                <a:ea typeface="楷体_GB2312" pitchFamily="49" charset="-122"/>
                <a:sym typeface="Symbol" panose="05050102010706020507" pitchFamily="18" charset="2"/>
              </a:rPr>
              <a:t>、在连续</a:t>
            </a:r>
            <a:r>
              <a:rPr lang="en-US" altLang="zh-CN" sz="2000" dirty="0">
                <a:latin typeface="Verdana" panose="020B0604030504040204" pitchFamily="34" charset="0"/>
                <a:ea typeface="楷体_GB2312" pitchFamily="49" charset="-122"/>
                <a:sym typeface="Symbol" panose="05050102010706020507" pitchFamily="18" charset="2"/>
              </a:rPr>
              <a:t>ARQ</a:t>
            </a:r>
            <a:r>
              <a:rPr lang="zh-CN" altLang="en-US" sz="2000" dirty="0">
                <a:latin typeface="Verdana" panose="020B0604030504040204" pitchFamily="34" charset="0"/>
                <a:ea typeface="楷体_GB2312" pitchFamily="49" charset="-122"/>
                <a:sym typeface="Symbol" panose="05050102010706020507" pitchFamily="18" charset="2"/>
              </a:rPr>
              <a:t>协议中，设编号用</a:t>
            </a:r>
            <a:r>
              <a:rPr lang="en-US" altLang="zh-CN" sz="2000" dirty="0">
                <a:latin typeface="Verdana" panose="020B0604030504040204" pitchFamily="34" charset="0"/>
                <a:ea typeface="楷体_GB2312" pitchFamily="49" charset="-122"/>
                <a:sym typeface="Symbol" panose="05050102010706020507" pitchFamily="18" charset="2"/>
              </a:rPr>
              <a:t>3</a:t>
            </a:r>
            <a:r>
              <a:rPr lang="zh-CN" altLang="en-US" sz="2000" dirty="0">
                <a:latin typeface="Verdana" panose="020B0604030504040204" pitchFamily="34" charset="0"/>
                <a:ea typeface="楷体_GB2312" pitchFamily="49" charset="-122"/>
                <a:sym typeface="Symbol" panose="05050102010706020507" pitchFamily="18" charset="2"/>
              </a:rPr>
              <a:t>比特，发送窗口</a:t>
            </a:r>
            <a:r>
              <a:rPr lang="en-US" altLang="zh-CN" sz="2000" i="1" dirty="0">
                <a:latin typeface="Verdana" panose="020B0604030504040204" pitchFamily="34" charset="0"/>
                <a:ea typeface="楷体_GB2312" pitchFamily="49" charset="-122"/>
                <a:sym typeface="Symbol" panose="05050102010706020507" pitchFamily="18" charset="2"/>
              </a:rPr>
              <a:t>W</a:t>
            </a:r>
            <a:r>
              <a:rPr lang="en-US" altLang="zh-CN" sz="2000" i="1" baseline="-25000" dirty="0">
                <a:latin typeface="Verdana" panose="020B0604030504040204" pitchFamily="34" charset="0"/>
                <a:ea typeface="楷体_GB2312" pitchFamily="49" charset="-122"/>
                <a:sym typeface="Symbol" panose="05050102010706020507" pitchFamily="18" charset="2"/>
              </a:rPr>
              <a:t>T</a:t>
            </a:r>
            <a:r>
              <a:rPr lang="en-US" altLang="zh-CN" sz="2000" dirty="0">
                <a:latin typeface="Verdana" panose="020B0604030504040204" pitchFamily="34" charset="0"/>
                <a:ea typeface="楷体_GB2312" pitchFamily="49" charset="-122"/>
                <a:sym typeface="Symbol" panose="05050102010706020507" pitchFamily="18" charset="2"/>
              </a:rPr>
              <a:t>=8</a:t>
            </a:r>
            <a:r>
              <a:rPr lang="zh-CN" altLang="en-US" sz="2000" dirty="0">
                <a:latin typeface="Verdana" panose="020B0604030504040204" pitchFamily="34" charset="0"/>
                <a:ea typeface="楷体_GB2312" pitchFamily="49" charset="-122"/>
                <a:sym typeface="Symbol" panose="05050102010706020507" pitchFamily="18" charset="2"/>
              </a:rPr>
              <a:t>。试找出使协议不能正确工作的一种情况。</a:t>
            </a:r>
          </a:p>
        </p:txBody>
      </p:sp>
    </p:spTree>
  </p:cSld>
  <p:clrMapOvr>
    <a:masterClrMapping/>
  </p:clrMapOvr>
  <p:transition spd="slow">
    <p:pull dir="ru"/>
  </p:transition>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14977</TotalTime>
  <Words>12524</Words>
  <Application>Microsoft Office PowerPoint</Application>
  <PresentationFormat>宽屏</PresentationFormat>
  <Paragraphs>2214</Paragraphs>
  <Slides>169</Slides>
  <Notes>49</Notes>
  <HiddenSlides>0</HiddenSlides>
  <MMClips>0</MMClips>
  <ScaleCrop>false</ScaleCrop>
  <HeadingPairs>
    <vt:vector size="8" baseType="variant">
      <vt:variant>
        <vt:lpstr>已用的字体</vt:lpstr>
      </vt:variant>
      <vt:variant>
        <vt:i4>19</vt:i4>
      </vt:variant>
      <vt:variant>
        <vt:lpstr>主题</vt:lpstr>
      </vt:variant>
      <vt:variant>
        <vt:i4>1</vt:i4>
      </vt:variant>
      <vt:variant>
        <vt:lpstr>嵌入 OLE 服务器</vt:lpstr>
      </vt:variant>
      <vt:variant>
        <vt:i4>3</vt:i4>
      </vt:variant>
      <vt:variant>
        <vt:lpstr>幻灯片标题</vt:lpstr>
      </vt:variant>
      <vt:variant>
        <vt:i4>169</vt:i4>
      </vt:variant>
    </vt:vector>
  </HeadingPairs>
  <TitlesOfParts>
    <vt:vector size="192" baseType="lpstr">
      <vt:lpstr>Arial Unicode MS</vt:lpstr>
      <vt:lpstr>等线</vt:lpstr>
      <vt:lpstr>黑体</vt:lpstr>
      <vt:lpstr>楷体</vt:lpstr>
      <vt:lpstr>楷体_GB2312</vt:lpstr>
      <vt:lpstr>宋体</vt:lpstr>
      <vt:lpstr>微软雅黑</vt:lpstr>
      <vt:lpstr>微软雅黑</vt:lpstr>
      <vt:lpstr>Arial</vt:lpstr>
      <vt:lpstr>Arial Black</vt:lpstr>
      <vt:lpstr>Calibri</vt:lpstr>
      <vt:lpstr>Courier New</vt:lpstr>
      <vt:lpstr>Georgia</vt:lpstr>
      <vt:lpstr>Segoe UI</vt:lpstr>
      <vt:lpstr>Symbol</vt:lpstr>
      <vt:lpstr>Times New Roman</vt:lpstr>
      <vt:lpstr>verdana</vt:lpstr>
      <vt:lpstr>verdana</vt:lpstr>
      <vt:lpstr>Wingdings</vt:lpstr>
      <vt:lpstr>Office 主题​​</vt:lpstr>
      <vt:lpstr>Equation</vt:lpstr>
      <vt:lpstr>演示文稿</vt:lpstr>
      <vt:lpstr>位图图像</vt:lpstr>
      <vt:lpstr>第三章 数据据链路层基础</vt:lpstr>
      <vt:lpstr>本章目标</vt:lpstr>
      <vt:lpstr>PowerPoint 演示文稿</vt:lpstr>
      <vt:lpstr>PowerPoint 演示文稿</vt:lpstr>
      <vt:lpstr>PowerPoint 演示文稿</vt:lpstr>
      <vt:lpstr>PowerPoint 演示文稿</vt:lpstr>
      <vt:lpstr>本章内容</vt:lpstr>
      <vt:lpstr>数据链路层在协议栈中的位置</vt:lpstr>
      <vt:lpstr>数据链路层的功能</vt:lpstr>
      <vt:lpstr>数据链路层提供的服务</vt:lpstr>
      <vt:lpstr>成帧（Framing）</vt:lpstr>
      <vt:lpstr>成帧（Framing）</vt:lpstr>
      <vt:lpstr>成帧（Framing）</vt:lpstr>
      <vt:lpstr>成帧（Framing）</vt:lpstr>
      <vt:lpstr>成帧（Framing）</vt:lpstr>
      <vt:lpstr>成帧（Framing）</vt:lpstr>
      <vt:lpstr>成帧（Framing）</vt:lpstr>
      <vt:lpstr>成帧（Framing）</vt:lpstr>
      <vt:lpstr>成帧（Framing）</vt:lpstr>
      <vt:lpstr>成帧（Framing）</vt:lpstr>
      <vt:lpstr>成帧（Framing）</vt:lpstr>
      <vt:lpstr>差错控制</vt:lpstr>
      <vt:lpstr>流量控制</vt:lpstr>
      <vt:lpstr>本章内容</vt:lpstr>
      <vt:lpstr>差错原因</vt:lpstr>
      <vt:lpstr>差错的类型</vt:lpstr>
      <vt:lpstr>差错检测和纠正概述</vt:lpstr>
      <vt:lpstr>差错检测和纠正概述</vt:lpstr>
      <vt:lpstr>差错检测和纠正概述</vt:lpstr>
      <vt:lpstr>差错检测和纠正概述</vt:lpstr>
      <vt:lpstr>差错检测和纠正概述</vt:lpstr>
      <vt:lpstr>思考题</vt:lpstr>
      <vt:lpstr>思考题</vt:lpstr>
      <vt:lpstr>思考题</vt:lpstr>
      <vt:lpstr>思考题</vt:lpstr>
      <vt:lpstr>差错检测和纠正概述</vt:lpstr>
      <vt:lpstr>PowerPoint 演示文稿</vt:lpstr>
      <vt:lpstr>典型检错码</vt:lpstr>
      <vt:lpstr>典型检错码—奇偶校验</vt:lpstr>
      <vt:lpstr>典型检错码—校验和</vt:lpstr>
      <vt:lpstr>典型检错码—校验和</vt:lpstr>
      <vt:lpstr>典型检错码—循环冗余校验CRC</vt:lpstr>
      <vt:lpstr>检错码—循环冗余校验CRC</vt:lpstr>
      <vt:lpstr>检错码—循环冗余校验CRC</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典型纠错码</vt:lpstr>
      <vt:lpstr>典型纠错码</vt:lpstr>
      <vt:lpstr>PowerPoint 演示文稿</vt:lpstr>
      <vt:lpstr>PowerPoint 演示文稿</vt:lpstr>
      <vt:lpstr>典型纠错码—海明码</vt:lpstr>
      <vt:lpstr>典型纠错码—海明码</vt:lpstr>
      <vt:lpstr>例：</vt:lpstr>
      <vt:lpstr>PowerPoint 演示文稿</vt:lpstr>
      <vt:lpstr>典型纠错码—海明码</vt:lpstr>
      <vt:lpstr>处理方式：</vt:lpstr>
      <vt:lpstr>例：若汉明码为1101101，判定是否有错，并错在何处？(写出原正确码)</vt:lpstr>
      <vt:lpstr>例：若汉明码为1101101，判定是否有错，并错在何处？(写出原正确码)</vt:lpstr>
      <vt:lpstr>海明码的应用</vt:lpstr>
      <vt:lpstr>用海明码纠正突发性错：</vt:lpstr>
      <vt:lpstr>例:</vt:lpstr>
      <vt:lpstr>典型纠错码—海明码（小结）</vt:lpstr>
      <vt:lpstr>本章内容</vt:lpstr>
      <vt:lpstr>物理层、数据链路层和网络层的实现</vt:lpstr>
      <vt:lpstr>PowerPoint 演示文稿</vt:lpstr>
      <vt:lpstr>PowerPoint 演示文稿</vt:lpstr>
      <vt:lpstr>停止等待协议</vt:lpstr>
      <vt:lpstr>PowerPoint 演示文稿</vt:lpstr>
      <vt:lpstr>二．单向停-等协议</vt:lpstr>
      <vt:lpstr>PowerPoint 演示文稿</vt:lpstr>
      <vt:lpstr>三、有错，单向数据传送协议</vt:lpstr>
      <vt:lpstr>PowerPoint 演示文稿</vt:lpstr>
      <vt:lpstr>PowerPoint 演示文稿</vt:lpstr>
      <vt:lpstr>PowerPoint 演示文稿</vt:lpstr>
      <vt:lpstr>流程说明：</vt:lpstr>
      <vt:lpstr>PowerPoint 演示文稿</vt:lpstr>
      <vt:lpstr>PowerPoint 演示文稿</vt:lpstr>
      <vt:lpstr>PowerPoint 演示文稿</vt:lpstr>
      <vt:lpstr>PowerPoint 演示文稿</vt:lpstr>
      <vt:lpstr>PowerPoint 演示文稿</vt:lpstr>
      <vt:lpstr>本章内容</vt:lpstr>
      <vt:lpstr>PowerPoint 演示文稿</vt:lpstr>
      <vt:lpstr>滑动窗口协议</vt:lpstr>
      <vt:lpstr>PowerPoint 演示文稿</vt:lpstr>
      <vt:lpstr>二、窗口 (任何一端均有两个窗口)</vt:lpstr>
      <vt:lpstr>PowerPoint 演示文稿</vt:lpstr>
      <vt:lpstr>PowerPoint 演示文稿</vt:lpstr>
      <vt:lpstr>三种滑动窗口协议</vt:lpstr>
      <vt:lpstr>PowerPoint 演示文稿</vt:lpstr>
      <vt:lpstr>PowerPoint 演示文稿</vt:lpstr>
      <vt:lpstr>PowerPoint 演示文稿</vt:lpstr>
      <vt:lpstr>PowerPoint 演示文稿</vt:lpstr>
      <vt:lpstr>2、连续ARQ协议(又称Go-Back-N)【协议5】</vt:lpstr>
      <vt:lpstr>PowerPoint 演示文稿</vt:lpstr>
      <vt:lpstr>PowerPoint 演示文稿</vt:lpstr>
      <vt:lpstr>PowerPoint 演示文稿</vt:lpstr>
      <vt:lpstr>PowerPoint 演示文稿</vt:lpstr>
      <vt:lpstr>PowerPoint 演示文稿</vt:lpstr>
      <vt:lpstr>3．选择重传ARQ协议(SR) 【协议6】</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协议性能(不考虑丢包情况下的近似分析)</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本章内容</vt:lpstr>
      <vt:lpstr>高级数据链路控制规程HDLC （扩展阅读）</vt:lpstr>
      <vt:lpstr>2. 面向比特的链路控制规程</vt:lpstr>
      <vt:lpstr>本章内容</vt:lpstr>
      <vt:lpstr>PPP协议简介</vt:lpstr>
      <vt:lpstr>PPP协议实现的功能</vt:lpstr>
      <vt:lpstr>PPP协议未实现的功能</vt:lpstr>
      <vt:lpstr>PPP协议的构成</vt:lpstr>
      <vt:lpstr>PPP协议的帧格式</vt:lpstr>
      <vt:lpstr>PPP协议的帧格式</vt:lpstr>
      <vt:lpstr>PPP协议的帧格式</vt:lpstr>
      <vt:lpstr>PPP协议的帧格式</vt:lpstr>
      <vt:lpstr>PPP协议的帧格式</vt:lpstr>
      <vt:lpstr>PPP协议的帧格式</vt:lpstr>
      <vt:lpstr>PPP协议的工作状态及转换</vt:lpstr>
      <vt:lpstr>PPP协议的工作状态及转换</vt:lpstr>
      <vt:lpstr>PPP协议的工作状态及转换</vt:lpstr>
      <vt:lpstr>PPP协议的工作状态及转换</vt:lpstr>
      <vt:lpstr>PPP协议的工作状态及转换</vt:lpstr>
      <vt:lpstr>PPP协议的工作状态及转换</vt:lpstr>
      <vt:lpstr>PPP协议的工作状态及转换</vt:lpstr>
      <vt:lpstr>PPP协议的工作状态及转换</vt:lpstr>
      <vt:lpstr>PPP协议的工作状态及转换</vt:lpstr>
      <vt:lpstr>PPP协议的工作状态及转换</vt:lpstr>
      <vt:lpstr>PPP协议的工作状态及转换</vt:lpstr>
      <vt:lpstr>PPP协议的工作状态及转换</vt:lpstr>
      <vt:lpstr>PPP协议的工作状态及转换</vt:lpstr>
      <vt:lpstr>PPP协议的工作状态及转换</vt:lpstr>
      <vt:lpstr>PPP协议的工作状态及转换</vt:lpstr>
      <vt:lpstr>本章内容</vt:lpstr>
      <vt:lpstr>PPPoE概述</vt:lpstr>
      <vt:lpstr>PPPoE概述</vt:lpstr>
      <vt:lpstr>PPPoE组网方式</vt:lpstr>
      <vt:lpstr>PPPoE组网方式</vt:lpstr>
      <vt:lpstr>PPPoE报文格式</vt:lpstr>
      <vt:lpstr>PPPoE报文格式</vt:lpstr>
      <vt:lpstr>PPPoE工作过程</vt:lpstr>
      <vt:lpstr>PPPoE工作过程</vt:lpstr>
      <vt:lpstr>PPPoE工作过程</vt:lpstr>
      <vt:lpstr>PPPoE工作过程</vt:lpstr>
      <vt:lpstr>PPPoE工作过程</vt:lpstr>
      <vt:lpstr>本章总结</vt:lpstr>
      <vt:lpstr>习 题 （作业交1、2、3、6-9）</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Yong Cui</dc:creator>
  <cp:lastModifiedBy>2432</cp:lastModifiedBy>
  <cp:revision>1417</cp:revision>
  <dcterms:created xsi:type="dcterms:W3CDTF">2021-01-06T05:35:51Z</dcterms:created>
  <dcterms:modified xsi:type="dcterms:W3CDTF">2024-10-18T04:16:49Z</dcterms:modified>
</cp:coreProperties>
</file>