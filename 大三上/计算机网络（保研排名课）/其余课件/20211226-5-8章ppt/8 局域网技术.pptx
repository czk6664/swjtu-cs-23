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5" r:id="rId1"/>
  </p:sldMasterIdLst>
  <p:notesMasterIdLst>
    <p:notesMasterId r:id="rId30"/>
  </p:notesMasterIdLst>
  <p:handoutMasterIdLst>
    <p:handoutMasterId r:id="rId31"/>
  </p:handoutMasterIdLst>
  <p:sldIdLst>
    <p:sldId id="490" r:id="rId2"/>
    <p:sldId id="315" r:id="rId3"/>
    <p:sldId id="369" r:id="rId4"/>
    <p:sldId id="349" r:id="rId5"/>
    <p:sldId id="492" r:id="rId6"/>
    <p:sldId id="316" r:id="rId7"/>
    <p:sldId id="327" r:id="rId8"/>
    <p:sldId id="351" r:id="rId9"/>
    <p:sldId id="546" r:id="rId10"/>
    <p:sldId id="547" r:id="rId11"/>
    <p:sldId id="554" r:id="rId12"/>
    <p:sldId id="555" r:id="rId13"/>
    <p:sldId id="357" r:id="rId14"/>
    <p:sldId id="358" r:id="rId15"/>
    <p:sldId id="478" r:id="rId16"/>
    <p:sldId id="481" r:id="rId17"/>
    <p:sldId id="360" r:id="rId18"/>
    <p:sldId id="322" r:id="rId19"/>
    <p:sldId id="485" r:id="rId20"/>
    <p:sldId id="493" r:id="rId21"/>
    <p:sldId id="330" r:id="rId22"/>
    <p:sldId id="331" r:id="rId23"/>
    <p:sldId id="332" r:id="rId24"/>
    <p:sldId id="519" r:id="rId25"/>
    <p:sldId id="362" r:id="rId26"/>
    <p:sldId id="323" r:id="rId27"/>
    <p:sldId id="324" r:id="rId28"/>
    <p:sldId id="347"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60093"/>
    <a:srgbClr val="006600"/>
    <a:srgbClr val="CC0000"/>
    <a:srgbClr val="DDDDFF"/>
    <a:srgbClr val="DDDDDD"/>
    <a:srgbClr val="808080"/>
    <a:srgbClr val="F8F8F8"/>
    <a:srgbClr val="F8FD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577" autoAdjust="0"/>
    <p:restoredTop sz="90929"/>
  </p:normalViewPr>
  <p:slideViewPr>
    <p:cSldViewPr snapToGrid="0">
      <p:cViewPr>
        <p:scale>
          <a:sx n="100" d="100"/>
          <a:sy n="100" d="100"/>
        </p:scale>
        <p:origin x="1014" y="438"/>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3942"/>
    </p:cViewPr>
  </p:sorterViewPr>
  <p:notesViewPr>
    <p:cSldViewPr snapToGrid="0">
      <p:cViewPr varScale="1">
        <p:scale>
          <a:sx n="38" d="100"/>
          <a:sy n="38" d="100"/>
        </p:scale>
        <p:origin x="-1368"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png"/></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latin typeface="Tahoma" panose="020B0604030504040204" pitchFamily="34" charset="0"/>
              </a:defRPr>
            </a:lvl1pPr>
          </a:lstStyle>
          <a:p>
            <a:pPr>
              <a:defRPr/>
            </a:pPr>
            <a:endParaRPr lang="en-US" altLang="zh-CN"/>
          </a:p>
        </p:txBody>
      </p:sp>
      <p:sp>
        <p:nvSpPr>
          <p:cNvPr id="25603"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atin typeface="Tahoma" panose="020B0604030504040204" pitchFamily="34" charset="0"/>
              </a:defRPr>
            </a:lvl1pPr>
          </a:lstStyle>
          <a:p>
            <a:pPr>
              <a:defRPr/>
            </a:pPr>
            <a:endParaRPr lang="en-US" altLang="zh-CN"/>
          </a:p>
        </p:txBody>
      </p:sp>
      <p:sp>
        <p:nvSpPr>
          <p:cNvPr id="25604"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latin typeface="Tahoma" panose="020B0604030504040204" pitchFamily="34" charset="0"/>
              </a:defRPr>
            </a:lvl1pPr>
          </a:lstStyle>
          <a:p>
            <a:pPr>
              <a:defRPr/>
            </a:pPr>
            <a:endParaRPr lang="en-US" altLang="zh-CN"/>
          </a:p>
        </p:txBody>
      </p:sp>
      <p:sp>
        <p:nvSpPr>
          <p:cNvPr id="25605"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atin typeface="Tahoma" panose="020B0604030504040204" pitchFamily="34" charset="0"/>
              </a:defRPr>
            </a:lvl1pPr>
          </a:lstStyle>
          <a:p>
            <a:pPr>
              <a:defRPr/>
            </a:pPr>
            <a:fld id="{FB5DEF30-DE16-4F0E-A3A6-24D207A27C8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194"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smtClean="0">
                <a:latin typeface="Tahoma" panose="020B0604030504040204" pitchFamily="34" charset="0"/>
              </a:defRPr>
            </a:lvl1pPr>
          </a:lstStyle>
          <a:p>
            <a:pPr>
              <a:defRPr/>
            </a:pPr>
            <a:endParaRPr lang="en-US" altLang="zh-CN"/>
          </a:p>
        </p:txBody>
      </p:sp>
      <p:sp>
        <p:nvSpPr>
          <p:cNvPr id="8195"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smtClean="0">
                <a:latin typeface="Tahoma" panose="020B0604030504040204" pitchFamily="34" charset="0"/>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8197"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8198"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smtClean="0">
                <a:latin typeface="Tahoma" panose="020B0604030504040204" pitchFamily="34" charset="0"/>
              </a:defRPr>
            </a:lvl1pPr>
          </a:lstStyle>
          <a:p>
            <a:pPr>
              <a:defRPr/>
            </a:pPr>
            <a:endParaRPr lang="en-US" altLang="zh-CN"/>
          </a:p>
        </p:txBody>
      </p:sp>
      <p:sp>
        <p:nvSpPr>
          <p:cNvPr id="8199"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smtClean="0">
                <a:latin typeface="Tahoma" panose="020B0604030504040204" pitchFamily="34" charset="0"/>
              </a:defRPr>
            </a:lvl1pPr>
          </a:lstStyle>
          <a:p>
            <a:pPr>
              <a:defRPr/>
            </a:pPr>
            <a:fld id="{4E9852F1-815C-4C84-B7CA-F373E1B25240}"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515CF3AA-14D9-409D-A851-17577A6ECD03}" type="slidenum">
              <a:rPr lang="en-US" altLang="zh-CN" sz="1200">
                <a:latin typeface="Tahoma" panose="020B0604030504040204" pitchFamily="34" charset="0"/>
              </a:rPr>
              <a:pPr/>
              <a:t>7</a:t>
            </a:fld>
            <a:endParaRPr lang="en-US" altLang="zh-CN" sz="1200">
              <a:latin typeface="Tahoma" panose="020B0604030504040204" pitchFamily="34" charset="0"/>
            </a:endParaRPr>
          </a:p>
        </p:txBody>
      </p:sp>
      <p:sp>
        <p:nvSpPr>
          <p:cNvPr id="12291" name="Rectangle 2"/>
          <p:cNvSpPr>
            <a:spLocks noGrp="1" noRot="1" noChangeAspect="1" noChangeArrowheads="1" noTextEdit="1"/>
          </p:cNvSpPr>
          <p:nvPr>
            <p:ph type="sldImg"/>
          </p:nvPr>
        </p:nvSpPr>
        <p:spPr>
          <a:xfrm>
            <a:off x="381000" y="685800"/>
            <a:ext cx="6096000" cy="3429000"/>
          </a:xfrm>
          <a:ln/>
        </p:spPr>
      </p:sp>
      <p:sp>
        <p:nvSpPr>
          <p:cNvPr id="12292" name="Rectangle 3"/>
          <p:cNvSpPr>
            <a:spLocks noGrp="1" noChangeArrowheads="1"/>
          </p:cNvSpPr>
          <p:nvPr>
            <p:ph type="body" idx="1"/>
          </p:nvPr>
        </p:nvSpPr>
        <p:spPr>
          <a:noFill/>
        </p:spPr>
        <p:txBody>
          <a:bodyPr/>
          <a:lstStyle/>
          <a:p>
            <a:pPr eaLnBrk="1" hangingPunct="1"/>
            <a:r>
              <a:rPr lang="zh-CN" altLang="en-US" smtClean="0">
                <a:latin typeface="仿宋_GB2312" pitchFamily="49" charset="-122"/>
                <a:ea typeface="仿宋_GB2312" pitchFamily="49" charset="-122"/>
              </a:rPr>
              <a:t>最早的计算机通信系统都使用前面章节描述的方法。每一个通信信道（例如租用数据线路）只连接两台计算机并只被这两台计算机占用。被称为点对点网络（</a:t>
            </a:r>
            <a:r>
              <a:rPr lang="en-US" altLang="zh-CN" smtClean="0">
                <a:ea typeface="仿宋_GB2312" pitchFamily="49" charset="-122"/>
              </a:rPr>
              <a:t>point to point network </a:t>
            </a:r>
            <a:r>
              <a:rPr lang="zh-CN" altLang="en-US" smtClean="0">
                <a:latin typeface="仿宋_GB2312" pitchFamily="49" charset="-122"/>
                <a:ea typeface="仿宋_GB2312" pitchFamily="49" charset="-122"/>
              </a:rPr>
              <a:t>）或网状网络（</a:t>
            </a:r>
            <a:r>
              <a:rPr lang="en-US" altLang="zh-CN" smtClean="0">
                <a:ea typeface="仿宋_GB2312" pitchFamily="49" charset="-122"/>
              </a:rPr>
              <a:t>mesh network </a:t>
            </a:r>
            <a:r>
              <a:rPr lang="zh-CN" altLang="en-US" smtClean="0">
                <a:latin typeface="仿宋_GB2312" pitchFamily="49" charset="-122"/>
                <a:ea typeface="仿宋_GB2312" pitchFamily="49" charset="-122"/>
              </a:rPr>
              <a:t>）的方案有三个有用的特点。第一，因为每个连接都是独立的，所以能使用任何合适的硬件。例如，底层线路的传输能力（如带宽）和调制解调器不必在所有连接中都相同。第二，因为连接的计算机独占线路，所以它们能确切地决定怎样通过连接来传输数据。它们能选择帧格式、差错检测机制和最大帧尺寸。另外，每个连接是相互独立的，一旦连接着的计算机的主人同意作改变，这些细节就能改变。第三，由于只有这两台计算机能使用信道，容易增强安全性和私有性。没有其他计算机能改变被传输的数据，也没有其他计算机能得到使用权。</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E5C163CB-4BCF-473F-A149-29798CE11E2F}" type="slidenum">
              <a:rPr lang="en-US" altLang="zh-CN" sz="1200">
                <a:latin typeface="Tahoma" panose="020B0604030504040204" pitchFamily="34" charset="0"/>
              </a:rPr>
              <a:pPr/>
              <a:t>18</a:t>
            </a:fld>
            <a:endParaRPr lang="en-US" altLang="zh-CN" sz="1200">
              <a:latin typeface="Tahoma" panose="020B0604030504040204" pitchFamily="34" charset="0"/>
            </a:endParaRPr>
          </a:p>
        </p:txBody>
      </p:sp>
      <p:sp>
        <p:nvSpPr>
          <p:cNvPr id="49155" name="Rectangle 2"/>
          <p:cNvSpPr>
            <a:spLocks noGrp="1" noRot="1" noChangeAspect="1" noChangeArrowheads="1" noTextEdit="1"/>
          </p:cNvSpPr>
          <p:nvPr>
            <p:ph type="sldImg"/>
          </p:nvPr>
        </p:nvSpPr>
        <p:spPr>
          <a:xfrm>
            <a:off x="381000" y="685800"/>
            <a:ext cx="6096000" cy="3429000"/>
          </a:xfrm>
          <a:ln/>
        </p:spPr>
      </p:sp>
      <p:sp>
        <p:nvSpPr>
          <p:cNvPr id="49156" name="Rectangle 3"/>
          <p:cNvSpPr>
            <a:spLocks noGrp="1" noChangeArrowheads="1"/>
          </p:cNvSpPr>
          <p:nvPr>
            <p:ph type="body" idx="1"/>
          </p:nvPr>
        </p:nvSpPr>
        <p:spPr>
          <a:noFill/>
        </p:spPr>
        <p:txBody>
          <a:bodyPr/>
          <a:lstStyle/>
          <a:p>
            <a:pPr eaLnBrk="1" hangingPunct="1"/>
            <a:r>
              <a:rPr lang="zh-CN" altLang="en-US" smtClean="0">
                <a:latin typeface="仿宋_GB2312" pitchFamily="49" charset="-122"/>
                <a:ea typeface="仿宋_GB2312" pitchFamily="49" charset="-122"/>
              </a:rPr>
              <a:t>提高成功率的另一个方法是减少冲突持续的时间。前面，当站点准备好一个帧时，它把整</a:t>
            </a:r>
          </a:p>
          <a:p>
            <a:pPr eaLnBrk="1" hangingPunct="1"/>
            <a:r>
              <a:rPr lang="zh-CN" altLang="en-US" smtClean="0">
                <a:latin typeface="仿宋_GB2312" pitchFamily="49" charset="-122"/>
                <a:ea typeface="仿宋_GB2312" pitchFamily="49" charset="-122"/>
              </a:rPr>
              <a:t>个帧发送出去，如果没有收到响应，它断定发生了一次冲突。问题是媒体在帧碰撞时不能为别的站点所用。有没有方法让一个站点监听媒体以检测冲突呢？如果有的话，站点就能立即停止传输，从而减少信号碰撞的时间。</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00EB0806-9CA0-4F33-B3BC-BF0E90CE672B}" type="slidenum">
              <a:rPr lang="en-US" altLang="zh-CN" sz="1200">
                <a:latin typeface="Tahoma" panose="020B0604030504040204" pitchFamily="34" charset="0"/>
              </a:rPr>
              <a:pPr/>
              <a:t>20</a:t>
            </a:fld>
            <a:endParaRPr lang="en-US" altLang="zh-CN" sz="1200">
              <a:latin typeface="Tahoma" panose="020B0604030504040204" pitchFamily="34" charset="0"/>
            </a:endParaRPr>
          </a:p>
        </p:txBody>
      </p:sp>
      <p:sp>
        <p:nvSpPr>
          <p:cNvPr id="52227" name="Rectangle 2"/>
          <p:cNvSpPr>
            <a:spLocks noGrp="1" noRot="1" noChangeAspect="1" noChangeArrowheads="1" noTextEdit="1"/>
          </p:cNvSpPr>
          <p:nvPr>
            <p:ph type="sldImg"/>
          </p:nvPr>
        </p:nvSpPr>
        <p:spPr>
          <a:xfrm>
            <a:off x="381000" y="685800"/>
            <a:ext cx="6096000" cy="3429000"/>
          </a:xfrm>
          <a:solidFill>
            <a:srgbClr val="FFFFFF"/>
          </a:solidFill>
          <a:ln/>
        </p:spPr>
      </p:sp>
      <p:sp>
        <p:nvSpPr>
          <p:cNvPr id="52228"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zh-CN" smtClean="0">
              <a:latin typeface="仿宋_GB2312" pitchFamily="49" charset="-122"/>
              <a:ea typeface="仿宋_GB2312" pitchFamily="49"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74590946-4A5F-42DB-97B2-A5B385C533DA}" type="slidenum">
              <a:rPr lang="en-US" altLang="zh-CN" sz="1200">
                <a:latin typeface="Tahoma" panose="020B0604030504040204" pitchFamily="34" charset="0"/>
              </a:rPr>
              <a:pPr/>
              <a:t>24</a:t>
            </a:fld>
            <a:endParaRPr lang="en-US" altLang="zh-CN" sz="1200">
              <a:latin typeface="Tahoma" panose="020B0604030504040204" pitchFamily="34" charset="0"/>
            </a:endParaRPr>
          </a:p>
        </p:txBody>
      </p:sp>
      <p:sp>
        <p:nvSpPr>
          <p:cNvPr id="59395" name="Rectangle 2"/>
          <p:cNvSpPr>
            <a:spLocks noGrp="1" noRot="1" noChangeAspect="1" noChangeArrowheads="1" noTextEdit="1"/>
          </p:cNvSpPr>
          <p:nvPr>
            <p:ph type="sldImg"/>
          </p:nvPr>
        </p:nvSpPr>
        <p:spPr>
          <a:xfrm>
            <a:off x="393700" y="692150"/>
            <a:ext cx="6072188" cy="3416300"/>
          </a:xfrm>
          <a:solidFill>
            <a:srgbClr val="FFFFFF"/>
          </a:solidFill>
          <a:ln/>
        </p:spPr>
      </p:sp>
      <p:sp>
        <p:nvSpPr>
          <p:cNvPr id="59396"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eaLnBrk="1" hangingPunct="1"/>
            <a:endParaRPr lang="zh-CN" altLang="zh-CN"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8A4D2E1C-7623-4EB1-8DE1-DB1F2610F9B8}" type="slidenum">
              <a:rPr lang="en-US" altLang="zh-CN" sz="1200">
                <a:latin typeface="Tahoma" panose="020B0604030504040204" pitchFamily="34" charset="0"/>
              </a:rPr>
              <a:pPr/>
              <a:t>26</a:t>
            </a:fld>
            <a:endParaRPr lang="en-US" altLang="zh-CN" sz="1200">
              <a:latin typeface="Tahoma" panose="020B0604030504040204" pitchFamily="34" charset="0"/>
            </a:endParaRPr>
          </a:p>
        </p:txBody>
      </p:sp>
      <p:sp>
        <p:nvSpPr>
          <p:cNvPr id="64515" name="Rectangle 2"/>
          <p:cNvSpPr>
            <a:spLocks noGrp="1" noRot="1" noChangeAspect="1" noChangeArrowheads="1" noTextEdit="1"/>
          </p:cNvSpPr>
          <p:nvPr>
            <p:ph type="sldImg"/>
          </p:nvPr>
        </p:nvSpPr>
        <p:spPr>
          <a:xfrm>
            <a:off x="381000" y="685800"/>
            <a:ext cx="6096000" cy="3429000"/>
          </a:xfrm>
          <a:ln/>
        </p:spPr>
      </p:sp>
      <p:sp>
        <p:nvSpPr>
          <p:cNvPr id="64516" name="Rectangle 3"/>
          <p:cNvSpPr>
            <a:spLocks noGrp="1" noChangeArrowheads="1"/>
          </p:cNvSpPr>
          <p:nvPr>
            <p:ph type="body" idx="1"/>
          </p:nvPr>
        </p:nvSpPr>
        <p:spPr>
          <a:noFill/>
        </p:spPr>
        <p:txBody>
          <a:bodyPr/>
          <a:lstStyle/>
          <a:p>
            <a:pPr eaLnBrk="1" hangingPunct="1"/>
            <a:r>
              <a:rPr lang="zh-CN" altLang="en-US" smtClean="0">
                <a:latin typeface="仿宋_GB2312" pitchFamily="49" charset="-122"/>
                <a:ea typeface="仿宋_GB2312" pitchFamily="49" charset="-122"/>
              </a:rPr>
              <a:t>前述的各种协议让站点在它们想要发送时发送，有点象无政府主义者的行径。这里一个逻</a:t>
            </a:r>
          </a:p>
          <a:p>
            <a:pPr eaLnBrk="1" hangingPunct="1"/>
            <a:r>
              <a:rPr lang="zh-CN" altLang="en-US" smtClean="0">
                <a:latin typeface="仿宋_GB2312" pitchFamily="49" charset="-122"/>
                <a:ea typeface="仿宋_GB2312" pitchFamily="49" charset="-122"/>
              </a:rPr>
              <a:t>辑上的问题是有没有办法让站点在由谁在什么时候发送上预先达成一致。也就是说，有没有办法让它们轮流发送数据呢？</a:t>
            </a:r>
          </a:p>
          <a:p>
            <a:pPr eaLnBrk="1" hangingPunct="1"/>
            <a:r>
              <a:rPr lang="zh-CN" altLang="en-US" smtClean="0">
                <a:latin typeface="仿宋_GB2312" pitchFamily="49" charset="-122"/>
                <a:ea typeface="仿宋_GB2312" pitchFamily="49" charset="-122"/>
              </a:rPr>
              <a:t>与前述的那种</a:t>
            </a:r>
            <a:r>
              <a:rPr lang="zh-CN" altLang="en-US" smtClean="0">
                <a:ea typeface="仿宋_GB2312" pitchFamily="49" charset="-122"/>
              </a:rPr>
              <a:t>“</a:t>
            </a:r>
            <a:r>
              <a:rPr lang="zh-CN" altLang="en-US" smtClean="0">
                <a:latin typeface="仿宋_GB2312" pitchFamily="49" charset="-122"/>
                <a:ea typeface="仿宋_GB2312" pitchFamily="49" charset="-122"/>
              </a:rPr>
              <a:t>只要你能就让你发送</a:t>
            </a:r>
            <a:r>
              <a:rPr lang="zh-CN" altLang="en-US" smtClean="0">
                <a:ea typeface="仿宋_GB2312" pitchFamily="49" charset="-122"/>
              </a:rPr>
              <a:t>”</a:t>
            </a:r>
            <a:r>
              <a:rPr lang="zh-CN" altLang="en-US" smtClean="0">
                <a:latin typeface="仿宋_GB2312" pitchFamily="49" charset="-122"/>
                <a:ea typeface="仿宋_GB2312" pitchFamily="49" charset="-122"/>
              </a:rPr>
              <a:t>的协议相比，这里的竞争协议属于有序的一种。令牌环中的设备执行一个允许它们轮流发送的协议。该过程包含一个特殊格式的帧，称为一个令牌。它包含</a:t>
            </a:r>
            <a:r>
              <a:rPr lang="en-US" altLang="zh-CN" smtClean="0">
                <a:ea typeface="仿宋_GB2312" pitchFamily="49" charset="-122"/>
              </a:rPr>
              <a:t>N I C </a:t>
            </a:r>
            <a:r>
              <a:rPr lang="zh-CN" altLang="en-US" smtClean="0">
                <a:latin typeface="仿宋_GB2312" pitchFamily="49" charset="-122"/>
                <a:ea typeface="仿宋_GB2312" pitchFamily="49" charset="-122"/>
              </a:rPr>
              <a:t>能够辨别的比特代码，绕环访问每一个</a:t>
            </a:r>
            <a:r>
              <a:rPr lang="en-US" altLang="zh-CN" smtClean="0">
                <a:ea typeface="仿宋_GB2312" pitchFamily="49" charset="-122"/>
              </a:rPr>
              <a:t>N I C </a:t>
            </a:r>
            <a:r>
              <a:rPr lang="zh-CN" altLang="en-US" smtClean="0">
                <a:latin typeface="仿宋_GB2312" pitchFamily="49" charset="-122"/>
                <a:ea typeface="仿宋_GB2312" pitchFamily="49" charset="-122"/>
              </a:rPr>
              <a:t>。根据协议，一台</a:t>
            </a:r>
            <a:r>
              <a:rPr lang="en-US" altLang="zh-CN" smtClean="0">
                <a:ea typeface="仿宋_GB2312" pitchFamily="49" charset="-122"/>
              </a:rPr>
              <a:t>P C </a:t>
            </a:r>
            <a:r>
              <a:rPr lang="zh-CN" altLang="en-US" smtClean="0">
                <a:latin typeface="仿宋_GB2312" pitchFamily="49" charset="-122"/>
                <a:ea typeface="仿宋_GB2312" pitchFamily="49" charset="-122"/>
              </a:rPr>
              <a:t>机可以在它的</a:t>
            </a:r>
            <a:r>
              <a:rPr lang="en-US" altLang="zh-CN" smtClean="0">
                <a:ea typeface="仿宋_GB2312" pitchFamily="49" charset="-122"/>
              </a:rPr>
              <a:t>N I C </a:t>
            </a:r>
            <a:r>
              <a:rPr lang="zh-CN" altLang="en-US" smtClean="0">
                <a:latin typeface="仿宋_GB2312" pitchFamily="49" charset="-122"/>
                <a:ea typeface="仿宋_GB2312" pitchFamily="49" charset="-122"/>
              </a:rPr>
              <a:t>获得令牌时发送数据。</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fld id="{BE4C35B4-4F39-41E8-8184-9CC98AD26EC6}" type="slidenum">
              <a:rPr lang="en-US" altLang="zh-CN" sz="1200">
                <a:latin typeface="Tahoma" panose="020B0604030504040204" pitchFamily="34" charset="0"/>
              </a:rPr>
              <a:pPr/>
              <a:t>28</a:t>
            </a:fld>
            <a:endParaRPr lang="en-US" altLang="zh-CN" sz="1200">
              <a:latin typeface="Tahoma" panose="020B0604030504040204" pitchFamily="34" charset="0"/>
            </a:endParaRPr>
          </a:p>
        </p:txBody>
      </p:sp>
      <p:sp>
        <p:nvSpPr>
          <p:cNvPr id="67587" name="Rectangle 2"/>
          <p:cNvSpPr>
            <a:spLocks noGrp="1" noRot="1" noChangeAspect="1" noChangeArrowheads="1" noTextEdit="1"/>
          </p:cNvSpPr>
          <p:nvPr>
            <p:ph type="sldImg"/>
          </p:nvPr>
        </p:nvSpPr>
        <p:spPr>
          <a:xfrm>
            <a:off x="381000" y="685800"/>
            <a:ext cx="6096000" cy="3429000"/>
          </a:xfrm>
          <a:ln/>
        </p:spPr>
      </p:sp>
      <p:sp>
        <p:nvSpPr>
          <p:cNvPr id="67588" name="Rectangle 3"/>
          <p:cNvSpPr>
            <a:spLocks noGrp="1" noChangeArrowheads="1"/>
          </p:cNvSpPr>
          <p:nvPr>
            <p:ph type="body" idx="1"/>
          </p:nvPr>
        </p:nvSpPr>
        <p:spPr>
          <a:noFill/>
        </p:spPr>
        <p:txBody>
          <a:bodyPr/>
          <a:lstStyle/>
          <a:p>
            <a:pPr eaLnBrk="1" hangingPunct="1">
              <a:spcBef>
                <a:spcPct val="50000"/>
              </a:spcBef>
            </a:pPr>
            <a:r>
              <a:rPr lang="en-US" altLang="zh-CN" sz="2800" smtClean="0">
                <a:solidFill>
                  <a:srgbClr val="0000FF"/>
                </a:solidFill>
              </a:rPr>
              <a:t>a </a:t>
            </a:r>
            <a:r>
              <a:rPr lang="zh-CN" altLang="en-US" sz="2800" smtClean="0">
                <a:solidFill>
                  <a:srgbClr val="0000FF"/>
                </a:solidFill>
                <a:latin typeface="仿宋_GB2312" pitchFamily="49" charset="-122"/>
                <a:ea typeface="仿宋_GB2312" pitchFamily="49" charset="-122"/>
              </a:rPr>
              <a:t>）</a:t>
            </a:r>
            <a:r>
              <a:rPr lang="en-US" altLang="zh-CN" sz="2800" smtClean="0">
                <a:solidFill>
                  <a:srgbClr val="0000FF"/>
                </a:solidFill>
              </a:rPr>
              <a:t>F D D I </a:t>
            </a:r>
            <a:r>
              <a:rPr lang="zh-CN" altLang="en-US" sz="2800" smtClean="0">
                <a:solidFill>
                  <a:srgbClr val="0000FF"/>
                </a:solidFill>
                <a:latin typeface="仿宋_GB2312" pitchFamily="49" charset="-122"/>
                <a:ea typeface="仿宋_GB2312" pitchFamily="49" charset="-122"/>
              </a:rPr>
              <a:t>网络，箭头指明数据流动的方向</a:t>
            </a:r>
            <a:r>
              <a:rPr lang="en-US" altLang="zh-CN" sz="2800" smtClean="0">
                <a:solidFill>
                  <a:srgbClr val="0000FF"/>
                </a:solidFill>
              </a:rPr>
              <a:t>b </a:t>
            </a:r>
            <a:r>
              <a:rPr lang="zh-CN" altLang="en-US" sz="2800" smtClean="0">
                <a:solidFill>
                  <a:srgbClr val="0000FF"/>
                </a:solidFill>
                <a:latin typeface="仿宋_GB2312" pitchFamily="49" charset="-122"/>
                <a:ea typeface="仿宋_GB2312" pitchFamily="49" charset="-122"/>
              </a:rPr>
              <a:t>）在一个站点失效后的同一个网络。正常时，</a:t>
            </a:r>
          </a:p>
          <a:p>
            <a:pPr eaLnBrk="1" hangingPunct="1">
              <a:spcBef>
                <a:spcPct val="50000"/>
              </a:spcBef>
            </a:pPr>
            <a:r>
              <a:rPr lang="zh-CN" altLang="en-US" sz="2800" smtClean="0">
                <a:solidFill>
                  <a:srgbClr val="0000FF"/>
                </a:solidFill>
                <a:latin typeface="仿宋_GB2312" pitchFamily="49" charset="-122"/>
                <a:ea typeface="仿宋_GB2312" pitchFamily="49" charset="-122"/>
              </a:rPr>
              <a:t>数据以一个方向传输。在一个站点失效后，相邻站点使用相反路径来形成一个闭环</a:t>
            </a:r>
            <a:r>
              <a:rPr lang="en-US" altLang="zh-CN" sz="2800" smtClean="0">
                <a:solidFill>
                  <a:srgbClr val="0000FF"/>
                </a:solidFill>
                <a:latin typeface="仿宋_GB2312" pitchFamily="49" charset="-122"/>
                <a:ea typeface="仿宋_GB2312" pitchFamily="49" charset="-122"/>
              </a:rPr>
              <a:t>.</a:t>
            </a:r>
          </a:p>
          <a:p>
            <a:pPr eaLnBrk="1" hangingPunct="1">
              <a:spcBef>
                <a:spcPct val="50000"/>
              </a:spcBef>
            </a:pPr>
            <a:r>
              <a:rPr lang="zh-CN" altLang="en-US" sz="2800" smtClean="0">
                <a:solidFill>
                  <a:srgbClr val="0000FF"/>
                </a:solidFill>
                <a:latin typeface="仿宋_GB2312" pitchFamily="49" charset="-122"/>
                <a:ea typeface="仿宋_GB2312" pitchFamily="49" charset="-122"/>
              </a:rPr>
              <a:t>显示了在反旋转环中数据的传输方向，但正常时只有其中的一个环使用。例如在图中，站点总是在外环上传输及接收帧，而网络硬件在内环中转发的位串并没有被解释。表明数据路径中有一个站点失效。与失效站点相邻的站点检测到这一失效，就会重新配置网络使传入的数据沿相反路径循环。这样，失效站点被去除，而其余站点连接在一连续网上。这个重新配置以避免失效的过程叫做自恢复过程，</a:t>
            </a:r>
            <a:r>
              <a:rPr lang="en-US" altLang="zh-CN" sz="2800" smtClean="0">
                <a:solidFill>
                  <a:srgbClr val="0000FF"/>
                </a:solidFill>
                <a:ea typeface="仿宋_GB2312" pitchFamily="49" charset="-122"/>
              </a:rPr>
              <a:t>F D D I </a:t>
            </a:r>
            <a:r>
              <a:rPr lang="zh-CN" altLang="en-US" sz="2800" smtClean="0">
                <a:solidFill>
                  <a:srgbClr val="0000FF"/>
                </a:solidFill>
                <a:latin typeface="仿宋_GB2312" pitchFamily="49" charset="-122"/>
                <a:ea typeface="仿宋_GB2312" pitchFamily="49" charset="-122"/>
              </a:rPr>
              <a:t>也叫做自恢复网络（</a:t>
            </a:r>
            <a:r>
              <a:rPr lang="en-US" altLang="zh-CN" sz="2800" smtClean="0">
                <a:solidFill>
                  <a:srgbClr val="0000FF"/>
                </a:solidFill>
                <a:ea typeface="仿宋_GB2312" pitchFamily="49" charset="-122"/>
              </a:rPr>
              <a:t>self healing n e t w o r k </a:t>
            </a:r>
            <a:r>
              <a:rPr lang="zh-CN" altLang="en-US" sz="2800" smtClean="0">
                <a:solidFill>
                  <a:srgbClr val="0000FF"/>
                </a:solidFill>
                <a:latin typeface="仿宋_GB2312" pitchFamily="49" charset="-122"/>
                <a:ea typeface="仿宋_GB2312" pitchFamily="49" charset="-122"/>
              </a:rPr>
              <a:t>）。我们可以概括为：</a:t>
            </a:r>
            <a:r>
              <a:rPr lang="en-US" altLang="zh-CN" sz="2800" smtClean="0">
                <a:solidFill>
                  <a:srgbClr val="0000FF"/>
                </a:solidFill>
                <a:ea typeface="仿宋_GB2312" pitchFamily="49" charset="-122"/>
              </a:rPr>
              <a:t>F D D I </a:t>
            </a:r>
            <a:r>
              <a:rPr lang="zh-CN" altLang="en-US" sz="2800" smtClean="0">
                <a:solidFill>
                  <a:srgbClr val="0000FF"/>
                </a:solidFill>
                <a:latin typeface="仿宋_GB2312" pitchFamily="49" charset="-122"/>
                <a:ea typeface="仿宋_GB2312" pitchFamily="49" charset="-122"/>
              </a:rPr>
              <a:t>网络被称为自恢复网络，因为硬件能检测出一个异常错误并自动恢复。为了做到这一点，</a:t>
            </a:r>
            <a:r>
              <a:rPr lang="en-US" altLang="zh-CN" sz="2800" smtClean="0">
                <a:solidFill>
                  <a:srgbClr val="0000FF"/>
                </a:solidFill>
                <a:ea typeface="仿宋_GB2312" pitchFamily="49" charset="-122"/>
              </a:rPr>
              <a:t>F D D I </a:t>
            </a:r>
            <a:r>
              <a:rPr lang="zh-CN" altLang="en-US" sz="2800" smtClean="0">
                <a:solidFill>
                  <a:srgbClr val="0000FF"/>
                </a:solidFill>
                <a:latin typeface="仿宋_GB2312" pitchFamily="49" charset="-122"/>
                <a:ea typeface="仿宋_GB2312" pitchFamily="49" charset="-122"/>
              </a:rPr>
              <a:t>使用一对反旋转环。传输数据时只使用一个环。当错误导致环断裂时，相邻站点自动重新配置网络，使用第二个环来跳过这个错误。</a:t>
            </a:r>
          </a:p>
          <a:p>
            <a:pPr eaLnBrk="1" hangingPunct="1"/>
            <a:endParaRPr lang="en-US"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en-US" dirty="0"/>
          </a:p>
        </p:txBody>
      </p:sp>
      <p:sp>
        <p:nvSpPr>
          <p:cNvPr id="4" name="Date Placeholder 3"/>
          <p:cNvSpPr>
            <a:spLocks noGrp="1"/>
          </p:cNvSpPr>
          <p:nvPr>
            <p:ph type="dt" sz="half" idx="10"/>
          </p:nvPr>
        </p:nvSpPr>
        <p:spPr/>
        <p:txBody>
          <a:bodyPr/>
          <a:lstStyle/>
          <a:p>
            <a:pPr>
              <a:defRPr/>
            </a:pPr>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3AB44137-0185-498B-82D5-B7C784F97217}" type="slidenum">
              <a:rPr lang="en-US" altLang="zh-CN" smtClean="0"/>
              <a:pPr>
                <a:defRPr/>
              </a:pPr>
              <a:t>‹#›</a:t>
            </a:fld>
            <a:endParaRPr lang="en-US" altLang="zh-CN"/>
          </a:p>
        </p:txBody>
      </p:sp>
    </p:spTree>
    <p:extLst>
      <p:ext uri="{BB962C8B-B14F-4D97-AF65-F5344CB8AC3E}">
        <p14:creationId xmlns:p14="http://schemas.microsoft.com/office/powerpoint/2010/main" val="3638628539"/>
      </p:ext>
    </p:extLst>
  </p:cSld>
  <p:clrMapOvr>
    <a:masterClrMapping/>
  </p:clrMapOvr>
  <p:transition>
    <p:random/>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407707784"/>
      </p:ext>
    </p:extLst>
  </p:cSld>
  <p:clrMapOvr>
    <a:masterClrMapping/>
  </p:clrMapOvr>
  <p:transition>
    <p:random/>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Date Placeholder 3"/>
          <p:cNvSpPr>
            <a:spLocks noGrp="1"/>
          </p:cNvSpPr>
          <p:nvPr>
            <p:ph type="dt" sz="half" idx="10"/>
          </p:nvPr>
        </p:nvSpPr>
        <p:spPr/>
        <p:txBody>
          <a:bodyPr/>
          <a:lstStyle/>
          <a:p>
            <a:fld id="{C764DE79-268F-4C1A-8933-263129D2AF90}" type="datetimeFigureOut">
              <a:rPr lang="en-US" dirty="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077895105"/>
      </p:ext>
    </p:extLst>
  </p:cSld>
  <p:clrMapOvr>
    <a:masterClrMapping/>
  </p:clrMapOvr>
  <p:transition>
    <p:random/>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64108020"/>
      </p:ext>
    </p:extLst>
  </p:cSld>
  <p:clrMapOvr>
    <a:masterClrMapping/>
  </p:clrMapOvr>
  <p:transition>
    <p:random/>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12/20/2021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766305347"/>
      </p:ext>
    </p:extLst>
  </p:cSld>
  <p:clrMapOvr>
    <a:masterClrMapping/>
  </p:clrMapOvr>
  <p:transition>
    <p:random/>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12/20/2021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06441455"/>
      </p:ext>
    </p:extLst>
  </p:cSld>
  <p:clrMapOvr>
    <a:masterClrMapping/>
  </p:clrMapOvr>
  <p:transition>
    <p:random/>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12/20/2021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238759685"/>
      </p:ext>
    </p:extLst>
  </p:cSld>
  <p:clrMapOvr>
    <a:masterClrMapping/>
  </p:clrMapOvr>
  <p:transition>
    <p:random/>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3509686"/>
      </p:ext>
    </p:extLst>
  </p:cSld>
  <p:clrMapOvr>
    <a:masterClrMapping/>
  </p:clrMapOvr>
  <p:transition>
    <p:random/>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Date Placeholder 4"/>
          <p:cNvSpPr>
            <a:spLocks noGrp="1"/>
          </p:cNvSpPr>
          <p:nvPr>
            <p:ph type="dt" sz="half" idx="10"/>
          </p:nvPr>
        </p:nvSpPr>
        <p:spPr/>
        <p:txBody>
          <a:bodyPr/>
          <a:lstStyle/>
          <a:p>
            <a:fld id="{C764DE79-268F-4C1A-8933-263129D2AF90}" type="datetimeFigureOut">
              <a:rPr lang="en-US" dirty="0"/>
              <a:t>12/20/2021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70614885"/>
      </p:ext>
    </p:extLst>
  </p:cSld>
  <p:clrMapOvr>
    <a:masterClrMapping/>
  </p:clrMapOvr>
  <p:transition>
    <p:random/>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541554605"/>
      </p:ext>
    </p:extLst>
  </p:cSld>
  <p:clrMapOvr>
    <a:masterClrMapping/>
  </p:clrMapOvr>
  <p:transition>
    <p:random/>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12/20/2021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236192616"/>
      </p:ext>
    </p:extLst>
  </p:cSld>
  <p:clrMapOvr>
    <a:masterClrMapping/>
  </p:clrMapOvr>
  <p:transition>
    <p:random/>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dirty="0"/>
              <a:t>12/20/2021</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
        <p:nvSpPr>
          <p:cNvPr id="7" name="AutoShape 23">
            <a:hlinkClick r:id="" action="ppaction://hlinkshowjump?jump=nextslide" highlightClick="1"/>
          </p:cNvPr>
          <p:cNvSpPr>
            <a:spLocks noChangeArrowheads="1"/>
          </p:cNvSpPr>
          <p:nvPr userDrawn="1"/>
        </p:nvSpPr>
        <p:spPr bwMode="auto">
          <a:xfrm>
            <a:off x="11887200" y="1"/>
            <a:ext cx="304800" cy="339725"/>
          </a:xfrm>
          <a:prstGeom prst="actionButtonForwardNext">
            <a:avLst/>
          </a:prstGeom>
          <a:solidFill>
            <a:srgbClr val="00FF00"/>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p>
        </p:txBody>
      </p:sp>
      <p:sp>
        <p:nvSpPr>
          <p:cNvPr id="8" name="AutoShape 24">
            <a:hlinkClick r:id="" action="ppaction://hlinkshowjump?jump=previousslide" highlightClick="1"/>
          </p:cNvPr>
          <p:cNvSpPr>
            <a:spLocks noChangeArrowheads="1"/>
          </p:cNvSpPr>
          <p:nvPr userDrawn="1"/>
        </p:nvSpPr>
        <p:spPr bwMode="auto">
          <a:xfrm>
            <a:off x="11582400" y="1"/>
            <a:ext cx="304800" cy="339725"/>
          </a:xfrm>
          <a:prstGeom prst="actionButtonBackPrevious">
            <a:avLst/>
          </a:prstGeom>
          <a:solidFill>
            <a:srgbClr val="00FF00"/>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p>
        </p:txBody>
      </p:sp>
      <p:sp>
        <p:nvSpPr>
          <p:cNvPr id="9" name="AutoShape 25">
            <a:hlinkClick r:id="" action="ppaction://hlinkshowjump?jump=firstslide" highlightClick="1"/>
          </p:cNvPr>
          <p:cNvSpPr>
            <a:spLocks noChangeArrowheads="1"/>
          </p:cNvSpPr>
          <p:nvPr userDrawn="1"/>
        </p:nvSpPr>
        <p:spPr bwMode="auto">
          <a:xfrm>
            <a:off x="11277600" y="1"/>
            <a:ext cx="304800" cy="339725"/>
          </a:xfrm>
          <a:prstGeom prst="actionButtonHome">
            <a:avLst/>
          </a:prstGeom>
          <a:solidFill>
            <a:srgbClr val="00FF00"/>
          </a:solidFill>
          <a:ln w="9525">
            <a:solidFill>
              <a:srgbClr val="000099"/>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p>
        </p:txBody>
      </p:sp>
      <p:sp>
        <p:nvSpPr>
          <p:cNvPr id="10" name="Rectangle 26"/>
          <p:cNvSpPr>
            <a:spLocks noChangeArrowheads="1"/>
          </p:cNvSpPr>
          <p:nvPr userDrawn="1"/>
        </p:nvSpPr>
        <p:spPr bwMode="auto">
          <a:xfrm>
            <a:off x="0" y="1081089"/>
            <a:ext cx="12192000" cy="85725"/>
          </a:xfrm>
          <a:prstGeom prst="rect">
            <a:avLst/>
          </a:prstGeom>
          <a:gradFill rotWithShape="0">
            <a:gsLst>
              <a:gs pos="0">
                <a:srgbClr val="0000FF"/>
              </a:gs>
              <a:gs pos="100000">
                <a:srgbClr val="66FF33"/>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sz="2800"/>
          </a:p>
        </p:txBody>
      </p:sp>
      <p:pic>
        <p:nvPicPr>
          <p:cNvPr id="11" name="Picture 27" descr="F:\讲义\powerpoint\icon\RED.GIF"/>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 y="0"/>
            <a:ext cx="2148417"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0621323"/>
      </p:ext>
    </p:extLst>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Lst>
  <p:transition>
    <p:random/>
  </p:transition>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http://www.swjtu.edu.cn/images02/head1.jpg" TargetMode="External"/><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http://www.ln.cninfo.net/pc/xueyuan/wangluo/ge2.gif" TargetMode="External"/><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 Id="rId4" Type="http://schemas.openxmlformats.org/officeDocument/2006/relationships/image" Target="../media/image7.wm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vmlDrawing" Target="../drawings/vmlDrawing2.vml"/><Relationship Id="rId5" Type="http://schemas.openxmlformats.org/officeDocument/2006/relationships/image" Target="../media/image14.png"/><Relationship Id="rId4" Type="http://schemas.openxmlformats.org/officeDocument/2006/relationships/oleObject" Target="../embeddings/oleObject2.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2"/>
          <p:cNvSpPr txBox="1">
            <a:spLocks noChangeArrowheads="1"/>
          </p:cNvSpPr>
          <p:nvPr/>
        </p:nvSpPr>
        <p:spPr bwMode="auto">
          <a:xfrm>
            <a:off x="3335338" y="1"/>
            <a:ext cx="4883150"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6000"/>
              <a:t>    </a:t>
            </a:r>
            <a:endParaRPr lang="en-US" altLang="zh-CN"/>
          </a:p>
        </p:txBody>
      </p:sp>
      <p:sp>
        <p:nvSpPr>
          <p:cNvPr id="5123" name="Text Box 3"/>
          <p:cNvSpPr txBox="1">
            <a:spLocks noChangeArrowheads="1"/>
          </p:cNvSpPr>
          <p:nvPr/>
        </p:nvSpPr>
        <p:spPr bwMode="auto">
          <a:xfrm>
            <a:off x="4476751" y="1568451"/>
            <a:ext cx="3146425"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6000" b="1" smtClean="0">
                <a:solidFill>
                  <a:schemeClr val="folHlink"/>
                </a:solidFill>
                <a:latin typeface="新宋体" panose="02010609030101010101" pitchFamily="49" charset="-122"/>
                <a:ea typeface="新宋体" panose="02010609030101010101" pitchFamily="49" charset="-122"/>
              </a:rPr>
              <a:t>第</a:t>
            </a:r>
            <a:r>
              <a:rPr lang="en-US" altLang="zh-CN" sz="6000" b="1" smtClean="0">
                <a:solidFill>
                  <a:schemeClr val="folHlink"/>
                </a:solidFill>
                <a:latin typeface="新宋体" panose="02010609030101010101" pitchFamily="49" charset="-122"/>
                <a:ea typeface="新宋体" panose="02010609030101010101" pitchFamily="49" charset="-122"/>
              </a:rPr>
              <a:t>8</a:t>
            </a:r>
            <a:r>
              <a:rPr lang="zh-CN" altLang="en-US" sz="6000" b="1" smtClean="0">
                <a:solidFill>
                  <a:schemeClr val="folHlink"/>
                </a:solidFill>
                <a:latin typeface="新宋体" panose="02010609030101010101" pitchFamily="49" charset="-122"/>
                <a:ea typeface="新宋体" panose="02010609030101010101" pitchFamily="49" charset="-122"/>
              </a:rPr>
              <a:t>章</a:t>
            </a:r>
            <a:endParaRPr lang="zh-CN" altLang="en-US" sz="6000" b="1">
              <a:solidFill>
                <a:schemeClr val="folHlink"/>
              </a:solidFill>
              <a:latin typeface="新宋体" panose="02010609030101010101" pitchFamily="49" charset="-122"/>
              <a:ea typeface="新宋体" panose="02010609030101010101" pitchFamily="49" charset="-122"/>
            </a:endParaRPr>
          </a:p>
        </p:txBody>
      </p:sp>
      <p:pic>
        <p:nvPicPr>
          <p:cNvPr id="5125" name="Picture 5" descr="http://www.swjtu.edu.cn/images02/head1.jpg"/>
          <p:cNvPicPr>
            <a:picLocks noGrp="1" noChangeAspect="1" noChangeArrowheads="1"/>
          </p:cNvPicPr>
          <p:nvPr>
            <p:ph type="title" idx="4294967295"/>
          </p:nvPr>
        </p:nvPicPr>
        <p:blipFill>
          <a:blip r:embed="rId2" r:link="rId3">
            <a:extLst>
              <a:ext uri="{28A0092B-C50C-407E-A947-70E740481C1C}">
                <a14:useLocalDpi xmlns:a14="http://schemas.microsoft.com/office/drawing/2010/main" val="0"/>
              </a:ext>
            </a:extLst>
          </a:blip>
          <a:srcRect/>
          <a:stretch>
            <a:fillRect/>
          </a:stretch>
        </p:blipFill>
        <p:spPr bwMode="auto">
          <a:xfrm>
            <a:off x="0" y="268288"/>
            <a:ext cx="4494213" cy="9239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6" name="WordArt 6"/>
          <p:cNvSpPr>
            <a:spLocks noChangeArrowheads="1" noChangeShapeType="1" noTextEdit="1"/>
          </p:cNvSpPr>
          <p:nvPr/>
        </p:nvSpPr>
        <p:spPr bwMode="auto">
          <a:xfrm>
            <a:off x="2932113" y="2776538"/>
            <a:ext cx="6248400" cy="1143000"/>
          </a:xfrm>
          <a:prstGeom prst="rect">
            <a:avLst/>
          </a:prstGeom>
        </p:spPr>
        <p:txBody>
          <a:bodyPr wrap="none" fromWordArt="1">
            <a:prstTxWarp prst="textPlain">
              <a:avLst>
                <a:gd name="adj" fmla="val 50000"/>
              </a:avLst>
            </a:prstTxWarp>
          </a:bodyPr>
          <a:lstStyle/>
          <a:p>
            <a:pPr algn="ctr"/>
            <a:r>
              <a:rPr lang="zh-CN" altLang="en-US" sz="6600" b="1" kern="10">
                <a:ln w="12700">
                  <a:solidFill>
                    <a:srgbClr val="EAEAEA"/>
                  </a:solidFill>
                  <a:round/>
                  <a:headEnd/>
                  <a:tailE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outerShdw>
                </a:effectLst>
                <a:latin typeface="隶书" panose="02010509060101010101" pitchFamily="49" charset="-122"/>
                <a:ea typeface="隶书" panose="02010509060101010101" pitchFamily="49" charset="-122"/>
              </a:rPr>
              <a:t>局域网技术</a:t>
            </a:r>
          </a:p>
        </p:txBody>
      </p:sp>
    </p:spTree>
  </p:cSld>
  <p:clrMapOvr>
    <a:masterClrMapping/>
  </p:clrMapOvr>
  <p:transition>
    <p:random/>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4"/>
          <p:cNvSpPr>
            <a:spLocks noGrp="1" noChangeArrowheads="1"/>
          </p:cNvSpPr>
          <p:nvPr>
            <p:ph type="title" idx="4294967295"/>
          </p:nvPr>
        </p:nvSpPr>
        <p:spPr bwMode="auto">
          <a:xfrm>
            <a:off x="6545263" y="417513"/>
            <a:ext cx="5646737"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zh-CN" altLang="en-US" sz="3600" b="1">
                <a:solidFill>
                  <a:srgbClr val="CC3300"/>
                </a:solidFill>
                <a:latin typeface="新宋体" panose="02010609030101010101" pitchFamily="49" charset="-122"/>
                <a:ea typeface="新宋体" panose="02010609030101010101" pitchFamily="49" charset="-122"/>
              </a:rPr>
              <a:t>局域网技术</a:t>
            </a:r>
          </a:p>
        </p:txBody>
      </p:sp>
      <p:sp>
        <p:nvSpPr>
          <p:cNvPr id="6147" name="Text Box 9"/>
          <p:cNvSpPr txBox="1">
            <a:spLocks noChangeArrowheads="1"/>
          </p:cNvSpPr>
          <p:nvPr/>
        </p:nvSpPr>
        <p:spPr bwMode="auto">
          <a:xfrm>
            <a:off x="2831267" y="2408239"/>
            <a:ext cx="677108" cy="2720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a:t>内容提要</a:t>
            </a:r>
          </a:p>
        </p:txBody>
      </p:sp>
      <p:sp>
        <p:nvSpPr>
          <p:cNvPr id="294922" name="Text Box 10"/>
          <p:cNvSpPr txBox="1">
            <a:spLocks noChangeArrowheads="1"/>
          </p:cNvSpPr>
          <p:nvPr/>
        </p:nvSpPr>
        <p:spPr bwMode="auto">
          <a:xfrm>
            <a:off x="4378325" y="1468438"/>
            <a:ext cx="5619750" cy="46212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863600" indent="-663575">
              <a:defRPr kumimoji="1" sz="2800">
                <a:solidFill>
                  <a:schemeClr val="tx1"/>
                </a:solidFill>
                <a:latin typeface="Times New Roman" panose="02020603050405020304" pitchFamily="18" charset="0"/>
                <a:ea typeface="宋体" panose="02010600030101010101" pitchFamily="2" charset="-122"/>
              </a:defRPr>
            </a:lvl1pPr>
            <a:lvl2pPr marL="1511300" indent="-457200">
              <a:defRPr kumimoji="1" sz="2800">
                <a:solidFill>
                  <a:schemeClr val="tx1"/>
                </a:solidFill>
                <a:latin typeface="Times New Roman" panose="02020603050405020304" pitchFamily="18" charset="0"/>
                <a:ea typeface="宋体" panose="02010600030101010101" pitchFamily="2" charset="-122"/>
              </a:defRPr>
            </a:lvl2pPr>
            <a:lvl3pPr marL="1701800" indent="-457200">
              <a:defRPr kumimoji="1" sz="2800">
                <a:solidFill>
                  <a:schemeClr val="tx1"/>
                </a:solidFill>
                <a:latin typeface="Times New Roman" panose="02020603050405020304" pitchFamily="18" charset="0"/>
                <a:ea typeface="宋体" panose="02010600030101010101" pitchFamily="2" charset="-122"/>
              </a:defRPr>
            </a:lvl3pPr>
            <a:lvl4pPr marL="1892300" indent="-457200">
              <a:defRPr kumimoji="1" sz="2800">
                <a:solidFill>
                  <a:schemeClr val="tx1"/>
                </a:solidFill>
                <a:latin typeface="Times New Roman" panose="02020603050405020304" pitchFamily="18" charset="0"/>
                <a:ea typeface="宋体" panose="02010600030101010101" pitchFamily="2" charset="-122"/>
              </a:defRPr>
            </a:lvl4pPr>
            <a:lvl5pPr marL="2286000" indent="-457200">
              <a:defRPr kumimoji="1" sz="28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buFont typeface="Wingdings" panose="05000000000000000000" pitchFamily="2" charset="2"/>
              <a:buAutoNum type="arabicParenR"/>
            </a:pPr>
            <a:r>
              <a:rPr lang="zh-CN" altLang="en-US"/>
              <a:t>局域网的特点 </a:t>
            </a:r>
          </a:p>
          <a:p>
            <a:pPr eaLnBrk="1" hangingPunct="1">
              <a:spcBef>
                <a:spcPct val="20000"/>
              </a:spcBef>
              <a:buFont typeface="Wingdings" panose="05000000000000000000" pitchFamily="2" charset="2"/>
              <a:buAutoNum type="arabicParenR"/>
            </a:pPr>
            <a:r>
              <a:rPr lang="zh-CN" altLang="en-US"/>
              <a:t>局域网结构 </a:t>
            </a:r>
          </a:p>
          <a:p>
            <a:pPr eaLnBrk="1" hangingPunct="1">
              <a:spcBef>
                <a:spcPct val="20000"/>
              </a:spcBef>
              <a:buFont typeface="Wingdings" panose="05000000000000000000" pitchFamily="2" charset="2"/>
              <a:buAutoNum type="arabicParenR"/>
            </a:pPr>
            <a:r>
              <a:rPr lang="zh-CN" altLang="en-US"/>
              <a:t>局域网组成 </a:t>
            </a:r>
          </a:p>
          <a:p>
            <a:pPr eaLnBrk="1" hangingPunct="1">
              <a:spcBef>
                <a:spcPct val="20000"/>
              </a:spcBef>
              <a:buFont typeface="Wingdings" panose="05000000000000000000" pitchFamily="2" charset="2"/>
              <a:buAutoNum type="arabicParenR"/>
            </a:pPr>
            <a:r>
              <a:rPr lang="zh-CN" altLang="en-US"/>
              <a:t>局域网操作系统 </a:t>
            </a:r>
          </a:p>
          <a:p>
            <a:pPr eaLnBrk="1" hangingPunct="1">
              <a:spcBef>
                <a:spcPct val="20000"/>
              </a:spcBef>
              <a:buFont typeface="Wingdings" panose="05000000000000000000" pitchFamily="2" charset="2"/>
              <a:buAutoNum type="arabicParenR"/>
            </a:pPr>
            <a:r>
              <a:rPr lang="zh-CN" altLang="en-US"/>
              <a:t>局域网访问协议 </a:t>
            </a:r>
          </a:p>
          <a:p>
            <a:pPr eaLnBrk="1" hangingPunct="1">
              <a:spcBef>
                <a:spcPct val="20000"/>
              </a:spcBef>
              <a:buFont typeface="Wingdings" panose="05000000000000000000" pitchFamily="2" charset="2"/>
              <a:buAutoNum type="arabicParenR"/>
            </a:pPr>
            <a:r>
              <a:rPr lang="zh-CN" altLang="en-US"/>
              <a:t>局域网标准 </a:t>
            </a:r>
          </a:p>
          <a:p>
            <a:pPr eaLnBrk="1" hangingPunct="1">
              <a:spcBef>
                <a:spcPct val="20000"/>
              </a:spcBef>
              <a:buFont typeface="Wingdings" panose="05000000000000000000" pitchFamily="2" charset="2"/>
              <a:buAutoNum type="arabicParenR"/>
            </a:pPr>
            <a:r>
              <a:rPr lang="zh-CN" altLang="en-US"/>
              <a:t>局域网实例（以太网技术 ）</a:t>
            </a:r>
          </a:p>
          <a:p>
            <a:pPr eaLnBrk="1" hangingPunct="1">
              <a:spcBef>
                <a:spcPct val="20000"/>
              </a:spcBef>
              <a:buFont typeface="Wingdings" panose="05000000000000000000" pitchFamily="2" charset="2"/>
              <a:buAutoNum type="arabicParenR"/>
            </a:pPr>
            <a:r>
              <a:rPr lang="zh-CN" altLang="en-US"/>
              <a:t>网络互连 </a:t>
            </a:r>
          </a:p>
          <a:p>
            <a:pPr eaLnBrk="1" hangingPunct="1">
              <a:spcBef>
                <a:spcPct val="20000"/>
              </a:spcBef>
              <a:buFont typeface="Wingdings" panose="05000000000000000000" pitchFamily="2" charset="2"/>
              <a:buAutoNum type="arabicParenR"/>
            </a:pPr>
            <a:r>
              <a:rPr lang="zh-CN" altLang="en-US"/>
              <a:t>网络交换技术</a:t>
            </a:r>
          </a:p>
        </p:txBody>
      </p:sp>
    </p:spTree>
  </p:cSld>
  <p:clrMapOvr>
    <a:masterClrMapping/>
  </p:clrMapOvr>
  <p:transition>
    <p:pull dir="l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4922">
                                            <p:txEl>
                                              <p:pRg st="0" end="0"/>
                                            </p:txEl>
                                          </p:spTgt>
                                        </p:tgtEl>
                                        <p:attrNameLst>
                                          <p:attrName>style.visibility</p:attrName>
                                        </p:attrNameLst>
                                      </p:cBhvr>
                                      <p:to>
                                        <p:strVal val="visible"/>
                                      </p:to>
                                    </p:set>
                                    <p:anim calcmode="lin" valueType="num">
                                      <p:cBhvr additive="base">
                                        <p:cTn id="7" dur="500" fill="hold"/>
                                        <p:tgtEl>
                                          <p:spTgt spid="294922">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492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4922">
                                            <p:txEl>
                                              <p:pRg st="1" end="1"/>
                                            </p:txEl>
                                          </p:spTgt>
                                        </p:tgtEl>
                                        <p:attrNameLst>
                                          <p:attrName>style.visibility</p:attrName>
                                        </p:attrNameLst>
                                      </p:cBhvr>
                                      <p:to>
                                        <p:strVal val="visible"/>
                                      </p:to>
                                    </p:set>
                                    <p:anim calcmode="lin" valueType="num">
                                      <p:cBhvr additive="base">
                                        <p:cTn id="13" dur="500" fill="hold"/>
                                        <p:tgtEl>
                                          <p:spTgt spid="294922">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492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4922">
                                            <p:txEl>
                                              <p:pRg st="2" end="2"/>
                                            </p:txEl>
                                          </p:spTgt>
                                        </p:tgtEl>
                                        <p:attrNameLst>
                                          <p:attrName>style.visibility</p:attrName>
                                        </p:attrNameLst>
                                      </p:cBhvr>
                                      <p:to>
                                        <p:strVal val="visible"/>
                                      </p:to>
                                    </p:set>
                                    <p:anim calcmode="lin" valueType="num">
                                      <p:cBhvr additive="base">
                                        <p:cTn id="19" dur="500" fill="hold"/>
                                        <p:tgtEl>
                                          <p:spTgt spid="294922">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492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4922">
                                            <p:txEl>
                                              <p:pRg st="3" end="3"/>
                                            </p:txEl>
                                          </p:spTgt>
                                        </p:tgtEl>
                                        <p:attrNameLst>
                                          <p:attrName>style.visibility</p:attrName>
                                        </p:attrNameLst>
                                      </p:cBhvr>
                                      <p:to>
                                        <p:strVal val="visible"/>
                                      </p:to>
                                    </p:set>
                                    <p:anim calcmode="lin" valueType="num">
                                      <p:cBhvr additive="base">
                                        <p:cTn id="25" dur="500" fill="hold"/>
                                        <p:tgtEl>
                                          <p:spTgt spid="294922">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492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94922">
                                            <p:txEl>
                                              <p:pRg st="4" end="4"/>
                                            </p:txEl>
                                          </p:spTgt>
                                        </p:tgtEl>
                                        <p:attrNameLst>
                                          <p:attrName>style.visibility</p:attrName>
                                        </p:attrNameLst>
                                      </p:cBhvr>
                                      <p:to>
                                        <p:strVal val="visible"/>
                                      </p:to>
                                    </p:set>
                                    <p:anim calcmode="lin" valueType="num">
                                      <p:cBhvr additive="base">
                                        <p:cTn id="31" dur="500" fill="hold"/>
                                        <p:tgtEl>
                                          <p:spTgt spid="294922">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294922">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294922">
                                            <p:txEl>
                                              <p:pRg st="5" end="5"/>
                                            </p:txEl>
                                          </p:spTgt>
                                        </p:tgtEl>
                                        <p:attrNameLst>
                                          <p:attrName>style.visibility</p:attrName>
                                        </p:attrNameLst>
                                      </p:cBhvr>
                                      <p:to>
                                        <p:strVal val="visible"/>
                                      </p:to>
                                    </p:set>
                                    <p:anim calcmode="lin" valueType="num">
                                      <p:cBhvr additive="base">
                                        <p:cTn id="37" dur="500" fill="hold"/>
                                        <p:tgtEl>
                                          <p:spTgt spid="294922">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294922">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8" fill="hold" grpId="0" nodeType="clickEffect">
                                  <p:stCondLst>
                                    <p:cond delay="0"/>
                                  </p:stCondLst>
                                  <p:childTnLst>
                                    <p:set>
                                      <p:cBhvr>
                                        <p:cTn id="42" dur="1" fill="hold">
                                          <p:stCondLst>
                                            <p:cond delay="0"/>
                                          </p:stCondLst>
                                        </p:cTn>
                                        <p:tgtEl>
                                          <p:spTgt spid="294922">
                                            <p:txEl>
                                              <p:pRg st="6" end="6"/>
                                            </p:txEl>
                                          </p:spTgt>
                                        </p:tgtEl>
                                        <p:attrNameLst>
                                          <p:attrName>style.visibility</p:attrName>
                                        </p:attrNameLst>
                                      </p:cBhvr>
                                      <p:to>
                                        <p:strVal val="visible"/>
                                      </p:to>
                                    </p:set>
                                    <p:anim calcmode="lin" valueType="num">
                                      <p:cBhvr additive="base">
                                        <p:cTn id="43" dur="500" fill="hold"/>
                                        <p:tgtEl>
                                          <p:spTgt spid="294922">
                                            <p:txEl>
                                              <p:pRg st="6" end="6"/>
                                            </p:txEl>
                                          </p:spTgt>
                                        </p:tgtEl>
                                        <p:attrNameLst>
                                          <p:attrName>ppt_x</p:attrName>
                                        </p:attrNameLst>
                                      </p:cBhvr>
                                      <p:tavLst>
                                        <p:tav tm="0">
                                          <p:val>
                                            <p:strVal val="0-#ppt_w/2"/>
                                          </p:val>
                                        </p:tav>
                                        <p:tav tm="100000">
                                          <p:val>
                                            <p:strVal val="#ppt_x"/>
                                          </p:val>
                                        </p:tav>
                                      </p:tavLst>
                                    </p:anim>
                                    <p:anim calcmode="lin" valueType="num">
                                      <p:cBhvr additive="base">
                                        <p:cTn id="44" dur="500" fill="hold"/>
                                        <p:tgtEl>
                                          <p:spTgt spid="294922">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8" fill="hold" grpId="0" nodeType="clickEffect">
                                  <p:stCondLst>
                                    <p:cond delay="0"/>
                                  </p:stCondLst>
                                  <p:childTnLst>
                                    <p:set>
                                      <p:cBhvr>
                                        <p:cTn id="48" dur="1" fill="hold">
                                          <p:stCondLst>
                                            <p:cond delay="0"/>
                                          </p:stCondLst>
                                        </p:cTn>
                                        <p:tgtEl>
                                          <p:spTgt spid="294922">
                                            <p:txEl>
                                              <p:pRg st="7" end="7"/>
                                            </p:txEl>
                                          </p:spTgt>
                                        </p:tgtEl>
                                        <p:attrNameLst>
                                          <p:attrName>style.visibility</p:attrName>
                                        </p:attrNameLst>
                                      </p:cBhvr>
                                      <p:to>
                                        <p:strVal val="visible"/>
                                      </p:to>
                                    </p:set>
                                    <p:anim calcmode="lin" valueType="num">
                                      <p:cBhvr additive="base">
                                        <p:cTn id="49" dur="500" fill="hold"/>
                                        <p:tgtEl>
                                          <p:spTgt spid="294922">
                                            <p:txEl>
                                              <p:pRg st="7" end="7"/>
                                            </p:txEl>
                                          </p:spTgt>
                                        </p:tgtEl>
                                        <p:attrNameLst>
                                          <p:attrName>ppt_x</p:attrName>
                                        </p:attrNameLst>
                                      </p:cBhvr>
                                      <p:tavLst>
                                        <p:tav tm="0">
                                          <p:val>
                                            <p:strVal val="0-#ppt_w/2"/>
                                          </p:val>
                                        </p:tav>
                                        <p:tav tm="100000">
                                          <p:val>
                                            <p:strVal val="#ppt_x"/>
                                          </p:val>
                                        </p:tav>
                                      </p:tavLst>
                                    </p:anim>
                                    <p:anim calcmode="lin" valueType="num">
                                      <p:cBhvr additive="base">
                                        <p:cTn id="50" dur="500" fill="hold"/>
                                        <p:tgtEl>
                                          <p:spTgt spid="294922">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8" fill="hold" grpId="0" nodeType="clickEffect">
                                  <p:stCondLst>
                                    <p:cond delay="0"/>
                                  </p:stCondLst>
                                  <p:childTnLst>
                                    <p:set>
                                      <p:cBhvr>
                                        <p:cTn id="54" dur="1" fill="hold">
                                          <p:stCondLst>
                                            <p:cond delay="0"/>
                                          </p:stCondLst>
                                        </p:cTn>
                                        <p:tgtEl>
                                          <p:spTgt spid="294922">
                                            <p:txEl>
                                              <p:pRg st="8" end="8"/>
                                            </p:txEl>
                                          </p:spTgt>
                                        </p:tgtEl>
                                        <p:attrNameLst>
                                          <p:attrName>style.visibility</p:attrName>
                                        </p:attrNameLst>
                                      </p:cBhvr>
                                      <p:to>
                                        <p:strVal val="visible"/>
                                      </p:to>
                                    </p:set>
                                    <p:anim calcmode="lin" valueType="num">
                                      <p:cBhvr additive="base">
                                        <p:cTn id="55" dur="500" fill="hold"/>
                                        <p:tgtEl>
                                          <p:spTgt spid="294922">
                                            <p:txEl>
                                              <p:pRg st="8" end="8"/>
                                            </p:txEl>
                                          </p:spTgt>
                                        </p:tgtEl>
                                        <p:attrNameLst>
                                          <p:attrName>ppt_x</p:attrName>
                                        </p:attrNameLst>
                                      </p:cBhvr>
                                      <p:tavLst>
                                        <p:tav tm="0">
                                          <p:val>
                                            <p:strVal val="0-#ppt_w/2"/>
                                          </p:val>
                                        </p:tav>
                                        <p:tav tm="100000">
                                          <p:val>
                                            <p:strVal val="#ppt_x"/>
                                          </p:val>
                                        </p:tav>
                                      </p:tavLst>
                                    </p:anim>
                                    <p:anim calcmode="lin" valueType="num">
                                      <p:cBhvr additive="base">
                                        <p:cTn id="56" dur="500" fill="hold"/>
                                        <p:tgtEl>
                                          <p:spTgt spid="294922">
                                            <p:txEl>
                                              <p:pRg st="8" end="8"/>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4922" grpId="0" build="p"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026"/>
          <p:cNvSpPr>
            <a:spLocks noGrp="1" noChangeArrowheads="1"/>
          </p:cNvSpPr>
          <p:nvPr>
            <p:ph type="title" idx="4294967295"/>
          </p:nvPr>
        </p:nvSpPr>
        <p:spPr bwMode="auto">
          <a:xfrm>
            <a:off x="0" y="325438"/>
            <a:ext cx="3757613" cy="71913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zh-CN" altLang="en-US" b="1" smtClean="0">
                <a:solidFill>
                  <a:srgbClr val="CC3300"/>
                </a:solidFill>
                <a:latin typeface="新宋体" panose="02010609030101010101" pitchFamily="49" charset="-122"/>
                <a:ea typeface="新宋体" panose="02010609030101010101" pitchFamily="49" charset="-122"/>
              </a:rPr>
              <a:t>网络分类</a:t>
            </a:r>
          </a:p>
        </p:txBody>
      </p:sp>
      <p:sp>
        <p:nvSpPr>
          <p:cNvPr id="7171" name="Text Box 1027"/>
          <p:cNvSpPr txBox="1">
            <a:spLocks noChangeArrowheads="1"/>
          </p:cNvSpPr>
          <p:nvPr/>
        </p:nvSpPr>
        <p:spPr bwMode="auto">
          <a:xfrm>
            <a:off x="3479801" y="1520182"/>
            <a:ext cx="4862513"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600"/>
              <a:t>按网络规模划分：</a:t>
            </a:r>
          </a:p>
        </p:txBody>
      </p:sp>
      <p:sp>
        <p:nvSpPr>
          <p:cNvPr id="528388" name="Text Box 1028"/>
          <p:cNvSpPr txBox="1">
            <a:spLocks noChangeArrowheads="1"/>
          </p:cNvSpPr>
          <p:nvPr/>
        </p:nvSpPr>
        <p:spPr bwMode="auto">
          <a:xfrm>
            <a:off x="3898901" y="2455219"/>
            <a:ext cx="343376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ü"/>
            </a:pPr>
            <a:r>
              <a:rPr lang="zh-CN" altLang="en-US" sz="3200"/>
              <a:t>局域网（</a:t>
            </a:r>
            <a:r>
              <a:rPr lang="en-US" altLang="zh-CN" sz="3200"/>
              <a:t>LAN</a:t>
            </a:r>
            <a:r>
              <a:rPr lang="zh-CN" altLang="en-US" sz="3200"/>
              <a:t>）</a:t>
            </a:r>
          </a:p>
        </p:txBody>
      </p:sp>
      <p:sp>
        <p:nvSpPr>
          <p:cNvPr id="528389" name="Text Box 1029"/>
          <p:cNvSpPr txBox="1">
            <a:spLocks noChangeArrowheads="1"/>
          </p:cNvSpPr>
          <p:nvPr/>
        </p:nvSpPr>
        <p:spPr bwMode="auto">
          <a:xfrm>
            <a:off x="3965575" y="5065069"/>
            <a:ext cx="4192588"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ü"/>
            </a:pPr>
            <a:r>
              <a:rPr lang="zh-CN" altLang="en-US" sz="3200"/>
              <a:t>广域网（</a:t>
            </a:r>
            <a:r>
              <a:rPr lang="en-US" altLang="zh-CN" sz="3200"/>
              <a:t>WAN</a:t>
            </a:r>
            <a:r>
              <a:rPr lang="zh-CN" altLang="en-US" sz="3200"/>
              <a:t>）</a:t>
            </a:r>
          </a:p>
        </p:txBody>
      </p:sp>
      <p:sp>
        <p:nvSpPr>
          <p:cNvPr id="528390" name="Text Box 1030"/>
          <p:cNvSpPr txBox="1">
            <a:spLocks noChangeArrowheads="1"/>
          </p:cNvSpPr>
          <p:nvPr/>
        </p:nvSpPr>
        <p:spPr bwMode="auto">
          <a:xfrm>
            <a:off x="3943350" y="4172894"/>
            <a:ext cx="37020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ü"/>
            </a:pPr>
            <a:r>
              <a:rPr lang="zh-CN" altLang="en-US" sz="3200"/>
              <a:t>城域网（</a:t>
            </a:r>
            <a:r>
              <a:rPr lang="en-US" altLang="zh-CN" sz="3200"/>
              <a:t>MAN</a:t>
            </a:r>
            <a:r>
              <a:rPr lang="zh-CN" altLang="en-US" sz="3200"/>
              <a:t>）</a:t>
            </a:r>
          </a:p>
        </p:txBody>
      </p:sp>
      <p:sp>
        <p:nvSpPr>
          <p:cNvPr id="528391" name="Text Box 1031"/>
          <p:cNvSpPr txBox="1">
            <a:spLocks noChangeArrowheads="1"/>
          </p:cNvSpPr>
          <p:nvPr/>
        </p:nvSpPr>
        <p:spPr bwMode="auto">
          <a:xfrm>
            <a:off x="3943351" y="3280719"/>
            <a:ext cx="3211513"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buFont typeface="Wingdings" panose="05000000000000000000" pitchFamily="2" charset="2"/>
              <a:buChar char="ü"/>
            </a:pPr>
            <a:r>
              <a:rPr lang="zh-CN" altLang="en-US" sz="3200"/>
              <a:t>园区网</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28388">
                                            <p:txEl>
                                              <p:pRg st="0" end="0"/>
                                            </p:txEl>
                                          </p:spTgt>
                                        </p:tgtEl>
                                        <p:attrNameLst>
                                          <p:attrName>style.visibility</p:attrName>
                                        </p:attrNameLst>
                                      </p:cBhvr>
                                      <p:to>
                                        <p:strVal val="visible"/>
                                      </p:to>
                                    </p:set>
                                    <p:anim calcmode="lin" valueType="num">
                                      <p:cBhvr additive="base">
                                        <p:cTn id="7" dur="500" fill="hold"/>
                                        <p:tgtEl>
                                          <p:spTgt spid="52838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2838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28389">
                                            <p:txEl>
                                              <p:pRg st="0" end="0"/>
                                            </p:txEl>
                                          </p:spTgt>
                                        </p:tgtEl>
                                        <p:attrNameLst>
                                          <p:attrName>style.visibility</p:attrName>
                                        </p:attrNameLst>
                                      </p:cBhvr>
                                      <p:to>
                                        <p:strVal val="visible"/>
                                      </p:to>
                                    </p:set>
                                    <p:anim calcmode="lin" valueType="num">
                                      <p:cBhvr additive="base">
                                        <p:cTn id="13" dur="500" fill="hold"/>
                                        <p:tgtEl>
                                          <p:spTgt spid="528389">
                                            <p:txEl>
                                              <p:pRg st="0" end="0"/>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2838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528390">
                                            <p:txEl>
                                              <p:pRg st="0" end="0"/>
                                            </p:txEl>
                                          </p:spTgt>
                                        </p:tgtEl>
                                        <p:attrNameLst>
                                          <p:attrName>style.visibility</p:attrName>
                                        </p:attrNameLst>
                                      </p:cBhvr>
                                      <p:to>
                                        <p:strVal val="visible"/>
                                      </p:to>
                                    </p:set>
                                    <p:anim calcmode="lin" valueType="num">
                                      <p:cBhvr additive="base">
                                        <p:cTn id="19" dur="500" fill="hold"/>
                                        <p:tgtEl>
                                          <p:spTgt spid="528390">
                                            <p:txEl>
                                              <p:pRg st="0" end="0"/>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5283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528391">
                                            <p:txEl>
                                              <p:pRg st="0" end="0"/>
                                            </p:txEl>
                                          </p:spTgt>
                                        </p:tgtEl>
                                        <p:attrNameLst>
                                          <p:attrName>style.visibility</p:attrName>
                                        </p:attrNameLst>
                                      </p:cBhvr>
                                      <p:to>
                                        <p:strVal val="visible"/>
                                      </p:to>
                                    </p:set>
                                    <p:anim calcmode="lin" valueType="num">
                                      <p:cBhvr additive="base">
                                        <p:cTn id="25" dur="500" fill="hold"/>
                                        <p:tgtEl>
                                          <p:spTgt spid="528391">
                                            <p:txEl>
                                              <p:pRg st="0" end="0"/>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52839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8388" grpId="0" build="p" autoUpdateAnimBg="0"/>
      <p:bldP spid="528389" grpId="0" build="p" autoUpdateAnimBg="0"/>
      <p:bldP spid="528390" grpId="0" build="p" autoUpdateAnimBg="0"/>
      <p:bldP spid="528391"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4"/>
          <p:cNvSpPr>
            <a:spLocks noGrp="1" noChangeArrowheads="1"/>
          </p:cNvSpPr>
          <p:nvPr>
            <p:ph type="title" idx="4294967295"/>
          </p:nvPr>
        </p:nvSpPr>
        <p:spPr bwMode="auto">
          <a:xfrm>
            <a:off x="2929024" y="355472"/>
            <a:ext cx="4649787" cy="5857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en-US" altLang="zh-CN" sz="3600" b="1">
                <a:solidFill>
                  <a:srgbClr val="CC3300"/>
                </a:solidFill>
                <a:latin typeface="新宋体" panose="02010609030101010101" pitchFamily="49" charset="-122"/>
                <a:ea typeface="新宋体" panose="02010609030101010101" pitchFamily="49" charset="-122"/>
              </a:rPr>
              <a:t>1. </a:t>
            </a:r>
            <a:r>
              <a:rPr lang="zh-CN" altLang="en-US" sz="3600" b="1">
                <a:solidFill>
                  <a:srgbClr val="CC3300"/>
                </a:solidFill>
                <a:latin typeface="新宋体" panose="02010609030101010101" pitchFamily="49" charset="-122"/>
                <a:ea typeface="新宋体" panose="02010609030101010101" pitchFamily="49" charset="-122"/>
              </a:rPr>
              <a:t>局域网的特点</a:t>
            </a:r>
          </a:p>
        </p:txBody>
      </p:sp>
      <p:sp>
        <p:nvSpPr>
          <p:cNvPr id="502790" name="Text Box 6"/>
          <p:cNvSpPr txBox="1">
            <a:spLocks noChangeArrowheads="1"/>
          </p:cNvSpPr>
          <p:nvPr/>
        </p:nvSpPr>
        <p:spPr bwMode="auto">
          <a:xfrm>
            <a:off x="1965111" y="1686440"/>
            <a:ext cx="8653462" cy="4108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indent="-457200">
              <a:defRPr kumimoji="1" sz="2800">
                <a:solidFill>
                  <a:schemeClr val="tx1"/>
                </a:solidFill>
                <a:latin typeface="Times New Roman" panose="02020603050405020304" pitchFamily="18" charset="0"/>
                <a:ea typeface="宋体" panose="02010600030101010101" pitchFamily="2" charset="-122"/>
              </a:defRPr>
            </a:lvl1pPr>
            <a:lvl2pPr marL="914400" indent="-457200">
              <a:defRPr kumimoji="1" sz="2800">
                <a:solidFill>
                  <a:schemeClr val="tx1"/>
                </a:solidFill>
                <a:latin typeface="Times New Roman" panose="02020603050405020304" pitchFamily="18" charset="0"/>
                <a:ea typeface="宋体" panose="02010600030101010101" pitchFamily="2" charset="-122"/>
              </a:defRPr>
            </a:lvl2pPr>
            <a:lvl3pPr marL="1371600" indent="-457200">
              <a:defRPr kumimoji="1" sz="2800">
                <a:solidFill>
                  <a:schemeClr val="tx1"/>
                </a:solidFill>
                <a:latin typeface="Times New Roman" panose="02020603050405020304" pitchFamily="18" charset="0"/>
                <a:ea typeface="宋体" panose="02010600030101010101" pitchFamily="2" charset="-122"/>
              </a:defRPr>
            </a:lvl3pPr>
            <a:lvl4pPr marL="1828800" indent="-457200">
              <a:defRPr kumimoji="1" sz="2800">
                <a:solidFill>
                  <a:schemeClr val="tx1"/>
                </a:solidFill>
                <a:latin typeface="Times New Roman" panose="02020603050405020304" pitchFamily="18" charset="0"/>
                <a:ea typeface="宋体" panose="02010600030101010101" pitchFamily="2" charset="-122"/>
              </a:defRPr>
            </a:lvl4pPr>
            <a:lvl5pPr marL="2286000" indent="-457200">
              <a:defRPr kumimoji="1" sz="2800">
                <a:solidFill>
                  <a:schemeClr val="tx1"/>
                </a:solidFill>
                <a:latin typeface="Times New Roman" panose="02020603050405020304" pitchFamily="18" charset="0"/>
                <a:ea typeface="宋体" panose="02010600030101010101" pitchFamily="2" charset="-122"/>
              </a:defRPr>
            </a:lvl5pPr>
            <a:lvl6pPr marL="27432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32004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6576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4114800" indent="-4572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buFontTx/>
              <a:buAutoNum type="arabicParenR"/>
            </a:pPr>
            <a:r>
              <a:rPr lang="zh-CN" altLang="en-US">
                <a:solidFill>
                  <a:schemeClr val="hlink"/>
                </a:solidFill>
              </a:rPr>
              <a:t>地理范围有限，一般在几公里以内 </a:t>
            </a:r>
          </a:p>
          <a:p>
            <a:pPr algn="just" eaLnBrk="1" hangingPunct="1">
              <a:spcBef>
                <a:spcPct val="20000"/>
              </a:spcBef>
              <a:buFontTx/>
              <a:buAutoNum type="arabicParenR"/>
            </a:pPr>
            <a:r>
              <a:rPr lang="zh-CN" altLang="en-US">
                <a:solidFill>
                  <a:schemeClr val="hlink"/>
                </a:solidFill>
              </a:rPr>
              <a:t>信道频带宽，传输速率高，误码率低 </a:t>
            </a:r>
          </a:p>
          <a:p>
            <a:pPr algn="just" eaLnBrk="1" hangingPunct="1">
              <a:spcBef>
                <a:spcPct val="20000"/>
              </a:spcBef>
              <a:buFontTx/>
              <a:buAutoNum type="arabicParenR"/>
            </a:pPr>
            <a:r>
              <a:rPr lang="zh-CN" altLang="en-US">
                <a:solidFill>
                  <a:schemeClr val="hlink"/>
                </a:solidFill>
              </a:rPr>
              <a:t>通常为同一个单位所有</a:t>
            </a:r>
          </a:p>
          <a:p>
            <a:pPr algn="just" eaLnBrk="1" hangingPunct="1">
              <a:spcBef>
                <a:spcPct val="20000"/>
              </a:spcBef>
              <a:buFontTx/>
              <a:buAutoNum type="arabicParenR"/>
            </a:pPr>
            <a:r>
              <a:rPr lang="zh-CN" altLang="en-US">
                <a:solidFill>
                  <a:srgbClr val="000000"/>
                </a:solidFill>
              </a:rPr>
              <a:t>主要用于微机连网</a:t>
            </a:r>
          </a:p>
          <a:p>
            <a:pPr algn="just" eaLnBrk="1" hangingPunct="1">
              <a:spcBef>
                <a:spcPct val="20000"/>
              </a:spcBef>
              <a:buFontTx/>
              <a:buAutoNum type="arabicParenR"/>
            </a:pPr>
            <a:r>
              <a:rPr lang="zh-CN" altLang="en-US">
                <a:solidFill>
                  <a:srgbClr val="000000"/>
                </a:solidFill>
              </a:rPr>
              <a:t>通信线路费用所占的比例不大，设计较为简单 </a:t>
            </a:r>
          </a:p>
          <a:p>
            <a:pPr algn="just" eaLnBrk="1" hangingPunct="1">
              <a:spcBef>
                <a:spcPct val="20000"/>
              </a:spcBef>
              <a:buFontTx/>
              <a:buAutoNum type="arabicParenR"/>
            </a:pPr>
            <a:r>
              <a:rPr lang="zh-CN" altLang="en-US">
                <a:solidFill>
                  <a:srgbClr val="000000"/>
                </a:solidFill>
              </a:rPr>
              <a:t>传输距离短，多为广播工作方式，一般不设网络层 </a:t>
            </a:r>
          </a:p>
          <a:p>
            <a:pPr algn="just" eaLnBrk="1" hangingPunct="1">
              <a:spcBef>
                <a:spcPct val="20000"/>
              </a:spcBef>
              <a:buFontTx/>
              <a:buAutoNum type="arabicParenR"/>
            </a:pPr>
            <a:r>
              <a:rPr lang="zh-CN" altLang="en-US">
                <a:solidFill>
                  <a:srgbClr val="000000"/>
                </a:solidFill>
              </a:rPr>
              <a:t>扩充性性能好</a:t>
            </a:r>
          </a:p>
          <a:p>
            <a:pPr algn="just" eaLnBrk="1" hangingPunct="1">
              <a:spcBef>
                <a:spcPct val="20000"/>
              </a:spcBef>
              <a:buFontTx/>
              <a:buAutoNum type="arabicParenR"/>
            </a:pPr>
            <a:r>
              <a:rPr lang="zh-CN" altLang="en-US">
                <a:solidFill>
                  <a:srgbClr val="000000"/>
                </a:solidFill>
              </a:rPr>
              <a:t>建网费用低，周期短，见效快</a:t>
            </a:r>
            <a:endParaRPr lang="zh-CN" altLang="en-US"/>
          </a:p>
        </p:txBody>
      </p:sp>
    </p:spTree>
  </p:cSld>
  <p:clrMapOvr>
    <a:masterClrMapping/>
  </p:clrMapOvr>
  <p:transition>
    <p:cut thruBlk="1"/>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02790">
                                            <p:txEl>
                                              <p:pRg st="0" end="0"/>
                                            </p:txEl>
                                          </p:spTgt>
                                        </p:tgtEl>
                                        <p:attrNameLst>
                                          <p:attrName>style.visibility</p:attrName>
                                        </p:attrNameLst>
                                      </p:cBhvr>
                                      <p:to>
                                        <p:strVal val="visible"/>
                                      </p:to>
                                    </p:set>
                                    <p:anim calcmode="lin" valueType="num">
                                      <p:cBhvr additive="base">
                                        <p:cTn id="7" dur="500" fill="hold"/>
                                        <p:tgtEl>
                                          <p:spTgt spid="502790">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02790">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02790">
                                            <p:txEl>
                                              <p:pRg st="1" end="1"/>
                                            </p:txEl>
                                          </p:spTgt>
                                        </p:tgtEl>
                                        <p:attrNameLst>
                                          <p:attrName>style.visibility</p:attrName>
                                        </p:attrNameLst>
                                      </p:cBhvr>
                                      <p:to>
                                        <p:strVal val="visible"/>
                                      </p:to>
                                    </p:set>
                                    <p:anim calcmode="lin" valueType="num">
                                      <p:cBhvr additive="base">
                                        <p:cTn id="13" dur="500" fill="hold"/>
                                        <p:tgtEl>
                                          <p:spTgt spid="502790">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02790">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02790">
                                            <p:txEl>
                                              <p:pRg st="2" end="2"/>
                                            </p:txEl>
                                          </p:spTgt>
                                        </p:tgtEl>
                                        <p:attrNameLst>
                                          <p:attrName>style.visibility</p:attrName>
                                        </p:attrNameLst>
                                      </p:cBhvr>
                                      <p:to>
                                        <p:strVal val="visible"/>
                                      </p:to>
                                    </p:set>
                                    <p:anim calcmode="lin" valueType="num">
                                      <p:cBhvr additive="base">
                                        <p:cTn id="19" dur="500" fill="hold"/>
                                        <p:tgtEl>
                                          <p:spTgt spid="502790">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02790">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02790">
                                            <p:txEl>
                                              <p:pRg st="3" end="3"/>
                                            </p:txEl>
                                          </p:spTgt>
                                        </p:tgtEl>
                                        <p:attrNameLst>
                                          <p:attrName>style.visibility</p:attrName>
                                        </p:attrNameLst>
                                      </p:cBhvr>
                                      <p:to>
                                        <p:strVal val="visible"/>
                                      </p:to>
                                    </p:set>
                                    <p:anim calcmode="lin" valueType="num">
                                      <p:cBhvr additive="base">
                                        <p:cTn id="25" dur="500" fill="hold"/>
                                        <p:tgtEl>
                                          <p:spTgt spid="502790">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02790">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02790">
                                            <p:txEl>
                                              <p:pRg st="4" end="4"/>
                                            </p:txEl>
                                          </p:spTgt>
                                        </p:tgtEl>
                                        <p:attrNameLst>
                                          <p:attrName>style.visibility</p:attrName>
                                        </p:attrNameLst>
                                      </p:cBhvr>
                                      <p:to>
                                        <p:strVal val="visible"/>
                                      </p:to>
                                    </p:set>
                                    <p:anim calcmode="lin" valueType="num">
                                      <p:cBhvr additive="base">
                                        <p:cTn id="31" dur="500" fill="hold"/>
                                        <p:tgtEl>
                                          <p:spTgt spid="502790">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02790">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502790">
                                            <p:txEl>
                                              <p:pRg st="5" end="5"/>
                                            </p:txEl>
                                          </p:spTgt>
                                        </p:tgtEl>
                                        <p:attrNameLst>
                                          <p:attrName>style.visibility</p:attrName>
                                        </p:attrNameLst>
                                      </p:cBhvr>
                                      <p:to>
                                        <p:strVal val="visible"/>
                                      </p:to>
                                    </p:set>
                                    <p:anim calcmode="lin" valueType="num">
                                      <p:cBhvr additive="base">
                                        <p:cTn id="37" dur="500" fill="hold"/>
                                        <p:tgtEl>
                                          <p:spTgt spid="502790">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502790">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502790">
                                            <p:txEl>
                                              <p:pRg st="6" end="6"/>
                                            </p:txEl>
                                          </p:spTgt>
                                        </p:tgtEl>
                                        <p:attrNameLst>
                                          <p:attrName>style.visibility</p:attrName>
                                        </p:attrNameLst>
                                      </p:cBhvr>
                                      <p:to>
                                        <p:strVal val="visible"/>
                                      </p:to>
                                    </p:set>
                                    <p:anim calcmode="lin" valueType="num">
                                      <p:cBhvr additive="base">
                                        <p:cTn id="43" dur="500" fill="hold"/>
                                        <p:tgtEl>
                                          <p:spTgt spid="502790">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02790">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02790">
                                            <p:txEl>
                                              <p:pRg st="7" end="7"/>
                                            </p:txEl>
                                          </p:spTgt>
                                        </p:tgtEl>
                                        <p:attrNameLst>
                                          <p:attrName>style.visibility</p:attrName>
                                        </p:attrNameLst>
                                      </p:cBhvr>
                                      <p:to>
                                        <p:strVal val="visible"/>
                                      </p:to>
                                    </p:set>
                                    <p:anim calcmode="lin" valueType="num">
                                      <p:cBhvr additive="base">
                                        <p:cTn id="49" dur="500" fill="hold"/>
                                        <p:tgtEl>
                                          <p:spTgt spid="502790">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02790">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2790"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050"/>
          <p:cNvSpPr txBox="1">
            <a:spLocks noChangeArrowheads="1"/>
          </p:cNvSpPr>
          <p:nvPr/>
        </p:nvSpPr>
        <p:spPr bwMode="auto">
          <a:xfrm>
            <a:off x="1359243" y="1338264"/>
            <a:ext cx="977831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10000"/>
              </a:spcBef>
            </a:pPr>
            <a:r>
              <a:rPr lang="en-US" altLang="zh-CN" sz="3600"/>
              <a:t> </a:t>
            </a:r>
            <a:r>
              <a:rPr lang="zh-CN" altLang="en-US"/>
              <a:t>满足上述特点（特别是前三个特点）的网络称为局域网</a:t>
            </a:r>
          </a:p>
        </p:txBody>
      </p:sp>
      <p:sp>
        <p:nvSpPr>
          <p:cNvPr id="9219" name="Rectangle 2051"/>
          <p:cNvSpPr>
            <a:spLocks noGrp="1" noChangeArrowheads="1"/>
          </p:cNvSpPr>
          <p:nvPr>
            <p:ph type="title" idx="4294967295"/>
          </p:nvPr>
        </p:nvSpPr>
        <p:spPr bwMode="auto">
          <a:xfrm>
            <a:off x="1293340" y="0"/>
            <a:ext cx="6211888" cy="114300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zh-CN" altLang="en-US" sz="3200" b="1">
                <a:solidFill>
                  <a:srgbClr val="CC3300"/>
                </a:solidFill>
                <a:latin typeface="新宋体" panose="02010609030101010101" pitchFamily="49" charset="-122"/>
                <a:ea typeface="新宋体" panose="02010609030101010101" pitchFamily="49" charset="-122"/>
              </a:rPr>
              <a:t>局域网的定义</a:t>
            </a:r>
          </a:p>
        </p:txBody>
      </p:sp>
      <p:pic>
        <p:nvPicPr>
          <p:cNvPr id="688132" name="Picture 20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9838" y="2179859"/>
            <a:ext cx="7097712" cy="41957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overrideClrMapping bg1="lt1" tx1="dk1" bg2="lt2" tx2="dk2" accent1="accent1" accent2="accent2" accent3="accent3" accent4="accent4" accent5="accent5" accent6="accent6" hlink="hlink" folHlink="folHlink"/>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688132"/>
                                        </p:tgtEl>
                                        <p:attrNameLst>
                                          <p:attrName>style.visibility</p:attrName>
                                        </p:attrNameLst>
                                      </p:cBhvr>
                                      <p:to>
                                        <p:strVal val="visible"/>
                                      </p:to>
                                    </p:set>
                                    <p:anim calcmode="lin" valueType="num">
                                      <p:cBhvr additive="base">
                                        <p:cTn id="7" dur="500" fill="hold"/>
                                        <p:tgtEl>
                                          <p:spTgt spid="688132"/>
                                        </p:tgtEl>
                                        <p:attrNameLst>
                                          <p:attrName>ppt_x</p:attrName>
                                        </p:attrNameLst>
                                      </p:cBhvr>
                                      <p:tavLst>
                                        <p:tav tm="0">
                                          <p:val>
                                            <p:strVal val="0-#ppt_w/2"/>
                                          </p:val>
                                        </p:tav>
                                        <p:tav tm="100000">
                                          <p:val>
                                            <p:strVal val="#ppt_x"/>
                                          </p:val>
                                        </p:tav>
                                      </p:tavLst>
                                    </p:anim>
                                    <p:anim calcmode="lin" valueType="num">
                                      <p:cBhvr additive="base">
                                        <p:cTn id="8" dur="500" fill="hold"/>
                                        <p:tgtEl>
                                          <p:spTgt spid="6881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bwMode="auto">
          <a:xfrm>
            <a:off x="0" y="323850"/>
            <a:ext cx="6799263"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rmAutofit fontScale="90000"/>
          </a:bodyPr>
          <a:lstStyle/>
          <a:p>
            <a:pPr algn="ctr" eaLnBrk="1" hangingPunct="1"/>
            <a:r>
              <a:rPr lang="en-US" altLang="zh-CN" b="1" smtClean="0">
                <a:solidFill>
                  <a:srgbClr val="CC3300"/>
                </a:solidFill>
                <a:latin typeface="新宋体" panose="02010609030101010101" pitchFamily="49" charset="-122"/>
                <a:ea typeface="新宋体" panose="02010609030101010101" pitchFamily="49" charset="-122"/>
              </a:rPr>
              <a:t> </a:t>
            </a:r>
            <a:r>
              <a:rPr lang="en-US" altLang="zh-CN" sz="3600" b="1">
                <a:solidFill>
                  <a:srgbClr val="CC3300"/>
                </a:solidFill>
                <a:latin typeface="新宋体" panose="02010609030101010101" pitchFamily="49" charset="-122"/>
                <a:ea typeface="新宋体" panose="02010609030101010101" pitchFamily="49" charset="-122"/>
              </a:rPr>
              <a:t>2. </a:t>
            </a:r>
            <a:r>
              <a:rPr lang="zh-CN" altLang="en-US" sz="3600" b="1">
                <a:solidFill>
                  <a:srgbClr val="CC3300"/>
                </a:solidFill>
                <a:latin typeface="新宋体" panose="02010609030101010101" pitchFamily="49" charset="-122"/>
                <a:ea typeface="新宋体" panose="02010609030101010101" pitchFamily="49" charset="-122"/>
              </a:rPr>
              <a:t>局域网拓扑结构</a:t>
            </a:r>
          </a:p>
        </p:txBody>
      </p:sp>
      <p:sp>
        <p:nvSpPr>
          <p:cNvPr id="295975" name="Rectangle 39"/>
          <p:cNvSpPr>
            <a:spLocks noChangeArrowheads="1"/>
          </p:cNvSpPr>
          <p:nvPr/>
        </p:nvSpPr>
        <p:spPr bwMode="auto">
          <a:xfrm>
            <a:off x="4122739" y="1179513"/>
            <a:ext cx="5761037"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243013" indent="-290513">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buFont typeface="Wingdings" panose="05000000000000000000" pitchFamily="2" charset="2"/>
              <a:buNone/>
            </a:pPr>
            <a:r>
              <a:rPr lang="zh-CN" altLang="en-US" sz="2400">
                <a:latin typeface="宋体" panose="02010600030101010101" pitchFamily="2" charset="-122"/>
              </a:rPr>
              <a:t>局域网</a:t>
            </a:r>
          </a:p>
          <a:p>
            <a:pPr eaLnBrk="1" hangingPunct="1">
              <a:buClr>
                <a:schemeClr val="hlink"/>
              </a:buClr>
              <a:buFont typeface="Wingdings" panose="05000000000000000000" pitchFamily="2" charset="2"/>
              <a:buChar char="§"/>
            </a:pPr>
            <a:r>
              <a:rPr lang="zh-CN" altLang="en-US" sz="2400">
                <a:latin typeface="宋体" panose="02010600030101010101" pitchFamily="2" charset="-122"/>
              </a:rPr>
              <a:t> 总线</a:t>
            </a:r>
          </a:p>
          <a:p>
            <a:pPr eaLnBrk="1" hangingPunct="1">
              <a:buClr>
                <a:schemeClr val="hlink"/>
              </a:buClr>
              <a:buFont typeface="Wingdings" panose="05000000000000000000" pitchFamily="2" charset="2"/>
              <a:buChar char="§"/>
            </a:pPr>
            <a:r>
              <a:rPr lang="zh-CN" altLang="en-US" sz="2400">
                <a:latin typeface="宋体" panose="02010600030101010101" pitchFamily="2" charset="-122"/>
              </a:rPr>
              <a:t> 环型 </a:t>
            </a:r>
          </a:p>
          <a:p>
            <a:pPr eaLnBrk="1" hangingPunct="1">
              <a:buClr>
                <a:schemeClr val="hlink"/>
              </a:buClr>
              <a:buFont typeface="Wingdings" panose="05000000000000000000" pitchFamily="2" charset="2"/>
              <a:buChar char="§"/>
            </a:pPr>
            <a:r>
              <a:rPr lang="zh-CN" altLang="en-US" sz="2400">
                <a:latin typeface="宋体" panose="02010600030101010101" pitchFamily="2" charset="-122"/>
              </a:rPr>
              <a:t> </a:t>
            </a:r>
            <a:r>
              <a:rPr lang="zh-CN" altLang="en-US" sz="2400" smtClean="0">
                <a:latin typeface="宋体" panose="02010600030101010101" pitchFamily="2" charset="-122"/>
              </a:rPr>
              <a:t>星型或树型</a:t>
            </a:r>
            <a:endParaRPr lang="zh-CN" altLang="en-US" sz="2400">
              <a:latin typeface="宋体" panose="02010600030101010101" pitchFamily="2" charset="-122"/>
            </a:endParaRPr>
          </a:p>
        </p:txBody>
      </p:sp>
      <p:pic>
        <p:nvPicPr>
          <p:cNvPr id="10244" name="Picture 4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464" y="2740026"/>
            <a:ext cx="8435975" cy="38084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295975">
                                            <p:txEl>
                                              <p:pRg st="0" end="0"/>
                                            </p:txEl>
                                          </p:spTgt>
                                        </p:tgtEl>
                                        <p:attrNameLst>
                                          <p:attrName>style.visibility</p:attrName>
                                        </p:attrNameLst>
                                      </p:cBhvr>
                                      <p:to>
                                        <p:strVal val="visible"/>
                                      </p:to>
                                    </p:set>
                                    <p:anim calcmode="lin" valueType="num">
                                      <p:cBhvr additive="base">
                                        <p:cTn id="7" dur="500" fill="hold"/>
                                        <p:tgtEl>
                                          <p:spTgt spid="2959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2959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95975">
                                            <p:txEl>
                                              <p:pRg st="1" end="1"/>
                                            </p:txEl>
                                          </p:spTgt>
                                        </p:tgtEl>
                                        <p:attrNameLst>
                                          <p:attrName>style.visibility</p:attrName>
                                        </p:attrNameLst>
                                      </p:cBhvr>
                                      <p:to>
                                        <p:strVal val="visible"/>
                                      </p:to>
                                    </p:set>
                                    <p:anim calcmode="lin" valueType="num">
                                      <p:cBhvr additive="base">
                                        <p:cTn id="13" dur="500" fill="hold"/>
                                        <p:tgtEl>
                                          <p:spTgt spid="2959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2959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95975">
                                            <p:txEl>
                                              <p:pRg st="2" end="2"/>
                                            </p:txEl>
                                          </p:spTgt>
                                        </p:tgtEl>
                                        <p:attrNameLst>
                                          <p:attrName>style.visibility</p:attrName>
                                        </p:attrNameLst>
                                      </p:cBhvr>
                                      <p:to>
                                        <p:strVal val="visible"/>
                                      </p:to>
                                    </p:set>
                                    <p:anim calcmode="lin" valueType="num">
                                      <p:cBhvr additive="base">
                                        <p:cTn id="19" dur="500" fill="hold"/>
                                        <p:tgtEl>
                                          <p:spTgt spid="2959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2959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95975">
                                            <p:txEl>
                                              <p:pRg st="3" end="3"/>
                                            </p:txEl>
                                          </p:spTgt>
                                        </p:tgtEl>
                                        <p:attrNameLst>
                                          <p:attrName>style.visibility</p:attrName>
                                        </p:attrNameLst>
                                      </p:cBhvr>
                                      <p:to>
                                        <p:strVal val="visible"/>
                                      </p:to>
                                    </p:set>
                                    <p:anim calcmode="lin" valueType="num">
                                      <p:cBhvr additive="base">
                                        <p:cTn id="25" dur="500" fill="hold"/>
                                        <p:tgtEl>
                                          <p:spTgt spid="2959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295975">
                                            <p:txEl>
                                              <p:pRg st="3" end="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5975"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idx="4294967295"/>
          </p:nvPr>
        </p:nvSpPr>
        <p:spPr bwMode="auto">
          <a:xfrm>
            <a:off x="2163505" y="260823"/>
            <a:ext cx="6799262"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ormAutofit fontScale="90000"/>
          </a:bodyPr>
          <a:lstStyle/>
          <a:p>
            <a:pPr algn="ctr" eaLnBrk="1" hangingPunct="1"/>
            <a:r>
              <a:rPr lang="en-US" altLang="zh-CN" b="1" smtClean="0">
                <a:solidFill>
                  <a:srgbClr val="CC3300"/>
                </a:solidFill>
                <a:latin typeface="新宋体" panose="02010609030101010101" pitchFamily="49" charset="-122"/>
                <a:ea typeface="新宋体" panose="02010609030101010101" pitchFamily="49" charset="-122"/>
              </a:rPr>
              <a:t>  </a:t>
            </a:r>
            <a:r>
              <a:rPr lang="zh-CN" altLang="en-US" sz="3600" b="1">
                <a:solidFill>
                  <a:srgbClr val="CC3300"/>
                </a:solidFill>
                <a:latin typeface="新宋体" panose="02010609030101010101" pitchFamily="49" charset="-122"/>
                <a:ea typeface="新宋体" panose="02010609030101010101" pitchFamily="49" charset="-122"/>
              </a:rPr>
              <a:t>广播通信方式</a:t>
            </a:r>
          </a:p>
        </p:txBody>
      </p:sp>
      <p:pic>
        <p:nvPicPr>
          <p:cNvPr id="11267" name="Picture 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7675" y="1593851"/>
            <a:ext cx="11334750" cy="477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051"/>
          <p:cNvSpPr>
            <a:spLocks noChangeArrowheads="1"/>
          </p:cNvSpPr>
          <p:nvPr/>
        </p:nvSpPr>
        <p:spPr bwMode="auto">
          <a:xfrm>
            <a:off x="3962400" y="2128838"/>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pic>
        <p:nvPicPr>
          <p:cNvPr id="22531" name="Picture 2050" descr="ge2.gif (12028 字节)"/>
          <p:cNvPicPr>
            <a:picLocks noChangeAspect="1" noChangeArrowheads="1"/>
          </p:cNvPicPr>
          <p:nvPr/>
        </p:nvPicPr>
        <p:blipFill>
          <a:blip r:embed="rId2" r:link="rId3">
            <a:extLst>
              <a:ext uri="{28A0092B-C50C-407E-A947-70E740481C1C}">
                <a14:useLocalDpi xmlns:a14="http://schemas.microsoft.com/office/drawing/2010/main" val="0"/>
              </a:ext>
            </a:extLst>
          </a:blip>
          <a:srcRect/>
          <a:stretch>
            <a:fillRect/>
          </a:stretch>
        </p:blipFill>
        <p:spPr bwMode="auto">
          <a:xfrm>
            <a:off x="1524000" y="1225551"/>
            <a:ext cx="91440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2" name="Rectangle 2052"/>
          <p:cNvSpPr>
            <a:spLocks noGrp="1" noChangeArrowheads="1"/>
          </p:cNvSpPr>
          <p:nvPr>
            <p:ph type="title" idx="4294967295"/>
          </p:nvPr>
        </p:nvSpPr>
        <p:spPr bwMode="auto">
          <a:xfrm>
            <a:off x="2437328" y="121981"/>
            <a:ext cx="5849937" cy="862012"/>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zh-CN" altLang="en-US" sz="3600" b="1" smtClean="0">
                <a:solidFill>
                  <a:srgbClr val="CC3300"/>
                </a:solidFill>
                <a:latin typeface="新宋体" panose="02010609030101010101" pitchFamily="49" charset="-122"/>
                <a:ea typeface="新宋体" panose="02010609030101010101" pitchFamily="49" charset="-122"/>
              </a:rPr>
              <a:t>扩展星型结构为树型结构</a:t>
            </a:r>
            <a:endParaRPr lang="zh-CN" altLang="en-US" sz="3600" b="1">
              <a:solidFill>
                <a:srgbClr val="CC3300"/>
              </a:solidFill>
              <a:latin typeface="新宋体" panose="02010609030101010101" pitchFamily="49" charset="-122"/>
              <a:ea typeface="新宋体" panose="02010609030101010101" pitchFamily="49" charset="-122"/>
            </a:endParaRPr>
          </a:p>
        </p:txBody>
      </p:sp>
    </p:spTree>
  </p:cSld>
  <p:clrMapOvr>
    <a:masterClrMapping/>
  </p:clrMapOvr>
  <p:transition>
    <p:pull/>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026"/>
          <p:cNvSpPr>
            <a:spLocks noGrp="1" noChangeArrowheads="1"/>
          </p:cNvSpPr>
          <p:nvPr>
            <p:ph type="title" idx="4294967295"/>
          </p:nvPr>
        </p:nvSpPr>
        <p:spPr bwMode="auto">
          <a:xfrm>
            <a:off x="1627415" y="331343"/>
            <a:ext cx="6746875" cy="6318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1.2 </a:t>
            </a:r>
            <a:r>
              <a:rPr lang="zh-CN" altLang="en-US" sz="3600" b="1">
                <a:solidFill>
                  <a:srgbClr val="CC3300"/>
                </a:solidFill>
                <a:latin typeface="新宋体" panose="02010609030101010101" pitchFamily="49" charset="-122"/>
                <a:ea typeface="新宋体" panose="02010609030101010101" pitchFamily="49" charset="-122"/>
              </a:rPr>
              <a:t>局域网的组成部分</a:t>
            </a:r>
          </a:p>
        </p:txBody>
      </p:sp>
      <p:sp>
        <p:nvSpPr>
          <p:cNvPr id="24579" name="Rectangle 1027"/>
          <p:cNvSpPr>
            <a:spLocks noChangeArrowheads="1"/>
          </p:cNvSpPr>
          <p:nvPr/>
        </p:nvSpPr>
        <p:spPr bwMode="auto">
          <a:xfrm>
            <a:off x="5067300" y="2790825"/>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580" name="Text Box 1028"/>
          <p:cNvSpPr txBox="1">
            <a:spLocks noChangeArrowheads="1"/>
          </p:cNvSpPr>
          <p:nvPr/>
        </p:nvSpPr>
        <p:spPr bwMode="auto">
          <a:xfrm>
            <a:off x="3413126" y="2536826"/>
            <a:ext cx="569913"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1800"/>
              <a:t>(a)</a:t>
            </a:r>
          </a:p>
        </p:txBody>
      </p:sp>
      <p:grpSp>
        <p:nvGrpSpPr>
          <p:cNvPr id="762885" name="Group 1029"/>
          <p:cNvGrpSpPr>
            <a:grpSpLocks/>
          </p:cNvGrpSpPr>
          <p:nvPr/>
        </p:nvGrpSpPr>
        <p:grpSpPr bwMode="auto">
          <a:xfrm>
            <a:off x="2528889" y="3687764"/>
            <a:ext cx="7521575" cy="3011487"/>
            <a:chOff x="633" y="2182"/>
            <a:chExt cx="4738" cy="1986"/>
          </a:xfrm>
        </p:grpSpPr>
        <p:sp>
          <p:nvSpPr>
            <p:cNvPr id="24585" name="AutoShape 1030"/>
            <p:cNvSpPr>
              <a:spLocks noChangeArrowheads="1"/>
            </p:cNvSpPr>
            <p:nvPr/>
          </p:nvSpPr>
          <p:spPr bwMode="auto">
            <a:xfrm flipH="1">
              <a:off x="4383" y="2772"/>
              <a:ext cx="988" cy="483"/>
            </a:xfrm>
            <a:prstGeom prst="cube">
              <a:avLst>
                <a:gd name="adj" fmla="val 56630"/>
              </a:avLst>
            </a:prstGeom>
            <a:solidFill>
              <a:srgbClr val="EAEAEA"/>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586" name="Freeform 1031"/>
            <p:cNvSpPr>
              <a:spLocks/>
            </p:cNvSpPr>
            <p:nvPr/>
          </p:nvSpPr>
          <p:spPr bwMode="auto">
            <a:xfrm>
              <a:off x="4614" y="2917"/>
              <a:ext cx="17" cy="35"/>
            </a:xfrm>
            <a:custGeom>
              <a:avLst/>
              <a:gdLst>
                <a:gd name="T0" fmla="*/ 0 w 34"/>
                <a:gd name="T1" fmla="*/ 0 h 71"/>
                <a:gd name="T2" fmla="*/ 0 w 34"/>
                <a:gd name="T3" fmla="*/ 0 h 71"/>
                <a:gd name="T4" fmla="*/ 2 w 34"/>
                <a:gd name="T5" fmla="*/ 10 h 71"/>
                <a:gd name="T6" fmla="*/ 5 w 34"/>
                <a:gd name="T7" fmla="*/ 19 h 71"/>
                <a:gd name="T8" fmla="*/ 8 w 34"/>
                <a:gd name="T9" fmla="*/ 27 h 71"/>
                <a:gd name="T10" fmla="*/ 12 w 34"/>
                <a:gd name="T11" fmla="*/ 35 h 71"/>
                <a:gd name="T12" fmla="*/ 17 w 34"/>
                <a:gd name="T13" fmla="*/ 32 h 71"/>
                <a:gd name="T14" fmla="*/ 13 w 34"/>
                <a:gd name="T15" fmla="*/ 25 h 71"/>
                <a:gd name="T16" fmla="*/ 10 w 34"/>
                <a:gd name="T17" fmla="*/ 17 h 71"/>
                <a:gd name="T18" fmla="*/ 7 w 34"/>
                <a:gd name="T19" fmla="*/ 10 h 71"/>
                <a:gd name="T20" fmla="*/ 7 w 34"/>
                <a:gd name="T21" fmla="*/ 0 h 71"/>
                <a:gd name="T22" fmla="*/ 7 w 34"/>
                <a:gd name="T23" fmla="*/ 0 h 71"/>
                <a:gd name="T24" fmla="*/ 0 w 34"/>
                <a:gd name="T25" fmla="*/ 0 h 7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4" h="71">
                  <a:moveTo>
                    <a:pt x="0" y="0"/>
                  </a:moveTo>
                  <a:lnTo>
                    <a:pt x="0" y="0"/>
                  </a:lnTo>
                  <a:lnTo>
                    <a:pt x="4" y="20"/>
                  </a:lnTo>
                  <a:lnTo>
                    <a:pt x="9" y="39"/>
                  </a:lnTo>
                  <a:lnTo>
                    <a:pt x="16" y="54"/>
                  </a:lnTo>
                  <a:lnTo>
                    <a:pt x="24" y="71"/>
                  </a:lnTo>
                  <a:lnTo>
                    <a:pt x="34" y="64"/>
                  </a:lnTo>
                  <a:lnTo>
                    <a:pt x="26" y="50"/>
                  </a:lnTo>
                  <a:lnTo>
                    <a:pt x="19" y="35"/>
                  </a:lnTo>
                  <a:lnTo>
                    <a:pt x="14" y="20"/>
                  </a:lnTo>
                  <a:lnTo>
                    <a:pt x="1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7" name="Freeform 1032"/>
            <p:cNvSpPr>
              <a:spLocks/>
            </p:cNvSpPr>
            <p:nvPr/>
          </p:nvSpPr>
          <p:spPr bwMode="auto">
            <a:xfrm>
              <a:off x="4614" y="2408"/>
              <a:ext cx="7" cy="509"/>
            </a:xfrm>
            <a:custGeom>
              <a:avLst/>
              <a:gdLst>
                <a:gd name="T0" fmla="*/ 0 w 14"/>
                <a:gd name="T1" fmla="*/ 0 h 1018"/>
                <a:gd name="T2" fmla="*/ 0 w 14"/>
                <a:gd name="T3" fmla="*/ 0 h 1018"/>
                <a:gd name="T4" fmla="*/ 0 w 14"/>
                <a:gd name="T5" fmla="*/ 83 h 1018"/>
                <a:gd name="T6" fmla="*/ 0 w 14"/>
                <a:gd name="T7" fmla="*/ 254 h 1018"/>
                <a:gd name="T8" fmla="*/ 0 w 14"/>
                <a:gd name="T9" fmla="*/ 425 h 1018"/>
                <a:gd name="T10" fmla="*/ 0 w 14"/>
                <a:gd name="T11" fmla="*/ 509 h 1018"/>
                <a:gd name="T12" fmla="*/ 7 w 14"/>
                <a:gd name="T13" fmla="*/ 509 h 1018"/>
                <a:gd name="T14" fmla="*/ 7 w 14"/>
                <a:gd name="T15" fmla="*/ 425 h 1018"/>
                <a:gd name="T16" fmla="*/ 7 w 14"/>
                <a:gd name="T17" fmla="*/ 254 h 1018"/>
                <a:gd name="T18" fmla="*/ 7 w 14"/>
                <a:gd name="T19" fmla="*/ 83 h 1018"/>
                <a:gd name="T20" fmla="*/ 7 w 14"/>
                <a:gd name="T21" fmla="*/ 0 h 1018"/>
                <a:gd name="T22" fmla="*/ 7 w 14"/>
                <a:gd name="T23" fmla="*/ 0 h 1018"/>
                <a:gd name="T24" fmla="*/ 0 w 14"/>
                <a:gd name="T25" fmla="*/ 0 h 1018"/>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4" h="1018">
                  <a:moveTo>
                    <a:pt x="0" y="0"/>
                  </a:moveTo>
                  <a:lnTo>
                    <a:pt x="0" y="0"/>
                  </a:lnTo>
                  <a:lnTo>
                    <a:pt x="0" y="166"/>
                  </a:lnTo>
                  <a:lnTo>
                    <a:pt x="0" y="507"/>
                  </a:lnTo>
                  <a:lnTo>
                    <a:pt x="0" y="850"/>
                  </a:lnTo>
                  <a:lnTo>
                    <a:pt x="0" y="1018"/>
                  </a:lnTo>
                  <a:lnTo>
                    <a:pt x="14" y="1018"/>
                  </a:lnTo>
                  <a:lnTo>
                    <a:pt x="14" y="850"/>
                  </a:lnTo>
                  <a:lnTo>
                    <a:pt x="14" y="507"/>
                  </a:lnTo>
                  <a:lnTo>
                    <a:pt x="14" y="166"/>
                  </a:lnTo>
                  <a:lnTo>
                    <a:pt x="14"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8" name="Freeform 1033"/>
            <p:cNvSpPr>
              <a:spLocks/>
            </p:cNvSpPr>
            <p:nvPr/>
          </p:nvSpPr>
          <p:spPr bwMode="auto">
            <a:xfrm>
              <a:off x="4614" y="2376"/>
              <a:ext cx="17" cy="32"/>
            </a:xfrm>
            <a:custGeom>
              <a:avLst/>
              <a:gdLst>
                <a:gd name="T0" fmla="*/ 17 w 34"/>
                <a:gd name="T1" fmla="*/ 0 h 64"/>
                <a:gd name="T2" fmla="*/ 9 w 34"/>
                <a:gd name="T3" fmla="*/ 5 h 64"/>
                <a:gd name="T4" fmla="*/ 4 w 34"/>
                <a:gd name="T5" fmla="*/ 13 h 64"/>
                <a:gd name="T6" fmla="*/ 2 w 34"/>
                <a:gd name="T7" fmla="*/ 22 h 64"/>
                <a:gd name="T8" fmla="*/ 0 w 34"/>
                <a:gd name="T9" fmla="*/ 32 h 64"/>
                <a:gd name="T10" fmla="*/ 7 w 34"/>
                <a:gd name="T11" fmla="*/ 32 h 64"/>
                <a:gd name="T12" fmla="*/ 7 w 34"/>
                <a:gd name="T13" fmla="*/ 22 h 64"/>
                <a:gd name="T14" fmla="*/ 9 w 34"/>
                <a:gd name="T15" fmla="*/ 15 h 64"/>
                <a:gd name="T16" fmla="*/ 12 w 34"/>
                <a:gd name="T17" fmla="*/ 8 h 64"/>
                <a:gd name="T18" fmla="*/ 17 w 34"/>
                <a:gd name="T19" fmla="*/ 5 h 64"/>
                <a:gd name="T20" fmla="*/ 17 w 34"/>
                <a:gd name="T21" fmla="*/ 0 h 6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4" h="64">
                  <a:moveTo>
                    <a:pt x="34" y="0"/>
                  </a:moveTo>
                  <a:lnTo>
                    <a:pt x="17" y="9"/>
                  </a:lnTo>
                  <a:lnTo>
                    <a:pt x="7" y="26"/>
                  </a:lnTo>
                  <a:lnTo>
                    <a:pt x="4" y="44"/>
                  </a:lnTo>
                  <a:lnTo>
                    <a:pt x="0" y="64"/>
                  </a:lnTo>
                  <a:lnTo>
                    <a:pt x="14" y="64"/>
                  </a:lnTo>
                  <a:lnTo>
                    <a:pt x="14" y="44"/>
                  </a:lnTo>
                  <a:lnTo>
                    <a:pt x="17" y="29"/>
                  </a:lnTo>
                  <a:lnTo>
                    <a:pt x="24" y="16"/>
                  </a:lnTo>
                  <a:lnTo>
                    <a:pt x="34" y="1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89" name="Freeform 1034"/>
            <p:cNvSpPr>
              <a:spLocks/>
            </p:cNvSpPr>
            <p:nvPr/>
          </p:nvSpPr>
          <p:spPr bwMode="auto">
            <a:xfrm>
              <a:off x="4663" y="2429"/>
              <a:ext cx="19" cy="20"/>
            </a:xfrm>
            <a:custGeom>
              <a:avLst/>
              <a:gdLst>
                <a:gd name="T0" fmla="*/ 6 w 39"/>
                <a:gd name="T1" fmla="*/ 20 h 41"/>
                <a:gd name="T2" fmla="*/ 6 w 39"/>
                <a:gd name="T3" fmla="*/ 20 h 41"/>
                <a:gd name="T4" fmla="*/ 6 w 39"/>
                <a:gd name="T5" fmla="*/ 14 h 41"/>
                <a:gd name="T6" fmla="*/ 9 w 39"/>
                <a:gd name="T7" fmla="*/ 9 h 41"/>
                <a:gd name="T8" fmla="*/ 13 w 39"/>
                <a:gd name="T9" fmla="*/ 7 h 41"/>
                <a:gd name="T10" fmla="*/ 19 w 39"/>
                <a:gd name="T11" fmla="*/ 7 h 41"/>
                <a:gd name="T12" fmla="*/ 19 w 39"/>
                <a:gd name="T13" fmla="*/ 0 h 41"/>
                <a:gd name="T14" fmla="*/ 11 w 39"/>
                <a:gd name="T15" fmla="*/ 2 h 41"/>
                <a:gd name="T16" fmla="*/ 6 w 39"/>
                <a:gd name="T17" fmla="*/ 6 h 41"/>
                <a:gd name="T18" fmla="*/ 1 w 39"/>
                <a:gd name="T19" fmla="*/ 12 h 41"/>
                <a:gd name="T20" fmla="*/ 0 w 39"/>
                <a:gd name="T21" fmla="*/ 20 h 41"/>
                <a:gd name="T22" fmla="*/ 0 w 39"/>
                <a:gd name="T23" fmla="*/ 20 h 41"/>
                <a:gd name="T24" fmla="*/ 6 w 39"/>
                <a:gd name="T25" fmla="*/ 2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41">
                  <a:moveTo>
                    <a:pt x="13" y="41"/>
                  </a:moveTo>
                  <a:lnTo>
                    <a:pt x="13" y="41"/>
                  </a:lnTo>
                  <a:lnTo>
                    <a:pt x="13" y="29"/>
                  </a:lnTo>
                  <a:lnTo>
                    <a:pt x="18" y="19"/>
                  </a:lnTo>
                  <a:lnTo>
                    <a:pt x="27" y="14"/>
                  </a:lnTo>
                  <a:lnTo>
                    <a:pt x="39" y="14"/>
                  </a:lnTo>
                  <a:lnTo>
                    <a:pt x="39" y="0"/>
                  </a:lnTo>
                  <a:lnTo>
                    <a:pt x="23" y="4"/>
                  </a:lnTo>
                  <a:lnTo>
                    <a:pt x="12" y="12"/>
                  </a:lnTo>
                  <a:lnTo>
                    <a:pt x="3" y="25"/>
                  </a:lnTo>
                  <a:lnTo>
                    <a:pt x="0" y="41"/>
                  </a:lnTo>
                  <a:lnTo>
                    <a:pt x="13"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0" name="Freeform 1035"/>
            <p:cNvSpPr>
              <a:spLocks/>
            </p:cNvSpPr>
            <p:nvPr/>
          </p:nvSpPr>
          <p:spPr bwMode="auto">
            <a:xfrm>
              <a:off x="4663" y="2449"/>
              <a:ext cx="7" cy="433"/>
            </a:xfrm>
            <a:custGeom>
              <a:avLst/>
              <a:gdLst>
                <a:gd name="T0" fmla="*/ 7 w 13"/>
                <a:gd name="T1" fmla="*/ 433 h 864"/>
                <a:gd name="T2" fmla="*/ 7 w 13"/>
                <a:gd name="T3" fmla="*/ 433 h 864"/>
                <a:gd name="T4" fmla="*/ 7 w 13"/>
                <a:gd name="T5" fmla="*/ 361 h 864"/>
                <a:gd name="T6" fmla="*/ 7 w 13"/>
                <a:gd name="T7" fmla="*/ 215 h 864"/>
                <a:gd name="T8" fmla="*/ 7 w 13"/>
                <a:gd name="T9" fmla="*/ 71 h 864"/>
                <a:gd name="T10" fmla="*/ 7 w 13"/>
                <a:gd name="T11" fmla="*/ 0 h 864"/>
                <a:gd name="T12" fmla="*/ 0 w 13"/>
                <a:gd name="T13" fmla="*/ 0 h 864"/>
                <a:gd name="T14" fmla="*/ 0 w 13"/>
                <a:gd name="T15" fmla="*/ 71 h 864"/>
                <a:gd name="T16" fmla="*/ 0 w 13"/>
                <a:gd name="T17" fmla="*/ 215 h 864"/>
                <a:gd name="T18" fmla="*/ 0 w 13"/>
                <a:gd name="T19" fmla="*/ 361 h 864"/>
                <a:gd name="T20" fmla="*/ 0 w 13"/>
                <a:gd name="T21" fmla="*/ 433 h 864"/>
                <a:gd name="T22" fmla="*/ 0 w 13"/>
                <a:gd name="T23" fmla="*/ 433 h 864"/>
                <a:gd name="T24" fmla="*/ 7 w 13"/>
                <a:gd name="T25" fmla="*/ 433 h 8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864">
                  <a:moveTo>
                    <a:pt x="13" y="864"/>
                  </a:moveTo>
                  <a:lnTo>
                    <a:pt x="13" y="864"/>
                  </a:lnTo>
                  <a:lnTo>
                    <a:pt x="13" y="720"/>
                  </a:lnTo>
                  <a:lnTo>
                    <a:pt x="13" y="429"/>
                  </a:lnTo>
                  <a:lnTo>
                    <a:pt x="13" y="141"/>
                  </a:lnTo>
                  <a:lnTo>
                    <a:pt x="13" y="0"/>
                  </a:lnTo>
                  <a:lnTo>
                    <a:pt x="0" y="0"/>
                  </a:lnTo>
                  <a:lnTo>
                    <a:pt x="0" y="141"/>
                  </a:lnTo>
                  <a:lnTo>
                    <a:pt x="0" y="429"/>
                  </a:lnTo>
                  <a:lnTo>
                    <a:pt x="0" y="720"/>
                  </a:lnTo>
                  <a:lnTo>
                    <a:pt x="0" y="864"/>
                  </a:lnTo>
                  <a:lnTo>
                    <a:pt x="13" y="8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1" name="Freeform 1036"/>
            <p:cNvSpPr>
              <a:spLocks/>
            </p:cNvSpPr>
            <p:nvPr/>
          </p:nvSpPr>
          <p:spPr bwMode="auto">
            <a:xfrm>
              <a:off x="4663" y="2882"/>
              <a:ext cx="17" cy="20"/>
            </a:xfrm>
            <a:custGeom>
              <a:avLst/>
              <a:gdLst>
                <a:gd name="T0" fmla="*/ 17 w 33"/>
                <a:gd name="T1" fmla="*/ 13 h 41"/>
                <a:gd name="T2" fmla="*/ 17 w 33"/>
                <a:gd name="T3" fmla="*/ 13 h 41"/>
                <a:gd name="T4" fmla="*/ 13 w 33"/>
                <a:gd name="T5" fmla="*/ 13 h 41"/>
                <a:gd name="T6" fmla="*/ 9 w 33"/>
                <a:gd name="T7" fmla="*/ 13 h 41"/>
                <a:gd name="T8" fmla="*/ 7 w 33"/>
                <a:gd name="T9" fmla="*/ 8 h 41"/>
                <a:gd name="T10" fmla="*/ 7 w 33"/>
                <a:gd name="T11" fmla="*/ 0 h 41"/>
                <a:gd name="T12" fmla="*/ 0 w 33"/>
                <a:gd name="T13" fmla="*/ 0 h 41"/>
                <a:gd name="T14" fmla="*/ 2 w 33"/>
                <a:gd name="T15" fmla="*/ 10 h 41"/>
                <a:gd name="T16" fmla="*/ 6 w 33"/>
                <a:gd name="T17" fmla="*/ 16 h 41"/>
                <a:gd name="T18" fmla="*/ 11 w 33"/>
                <a:gd name="T19" fmla="*/ 18 h 41"/>
                <a:gd name="T20" fmla="*/ 17 w 33"/>
                <a:gd name="T21" fmla="*/ 20 h 41"/>
                <a:gd name="T22" fmla="*/ 17 w 33"/>
                <a:gd name="T23" fmla="*/ 20 h 41"/>
                <a:gd name="T24" fmla="*/ 17 w 33"/>
                <a:gd name="T25" fmla="*/ 13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 h="41">
                  <a:moveTo>
                    <a:pt x="33" y="27"/>
                  </a:moveTo>
                  <a:lnTo>
                    <a:pt x="33" y="27"/>
                  </a:lnTo>
                  <a:lnTo>
                    <a:pt x="25" y="27"/>
                  </a:lnTo>
                  <a:lnTo>
                    <a:pt x="18" y="26"/>
                  </a:lnTo>
                  <a:lnTo>
                    <a:pt x="13" y="17"/>
                  </a:lnTo>
                  <a:lnTo>
                    <a:pt x="13" y="0"/>
                  </a:lnTo>
                  <a:lnTo>
                    <a:pt x="0" y="0"/>
                  </a:lnTo>
                  <a:lnTo>
                    <a:pt x="3" y="21"/>
                  </a:lnTo>
                  <a:lnTo>
                    <a:pt x="12" y="32"/>
                  </a:lnTo>
                  <a:lnTo>
                    <a:pt x="22" y="37"/>
                  </a:lnTo>
                  <a:lnTo>
                    <a:pt x="33" y="41"/>
                  </a:lnTo>
                  <a:lnTo>
                    <a:pt x="33"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2" name="Freeform 1037"/>
            <p:cNvSpPr>
              <a:spLocks/>
            </p:cNvSpPr>
            <p:nvPr/>
          </p:nvSpPr>
          <p:spPr bwMode="auto">
            <a:xfrm>
              <a:off x="4680" y="2881"/>
              <a:ext cx="477" cy="21"/>
            </a:xfrm>
            <a:custGeom>
              <a:avLst/>
              <a:gdLst>
                <a:gd name="T0" fmla="*/ 477 w 955"/>
                <a:gd name="T1" fmla="*/ 0 h 42"/>
                <a:gd name="T2" fmla="*/ 477 w 955"/>
                <a:gd name="T3" fmla="*/ 0 h 42"/>
                <a:gd name="T4" fmla="*/ 470 w 955"/>
                <a:gd name="T5" fmla="*/ 1 h 42"/>
                <a:gd name="T6" fmla="*/ 453 w 955"/>
                <a:gd name="T7" fmla="*/ 2 h 42"/>
                <a:gd name="T8" fmla="*/ 428 w 955"/>
                <a:gd name="T9" fmla="*/ 2 h 42"/>
                <a:gd name="T10" fmla="*/ 398 w 955"/>
                <a:gd name="T11" fmla="*/ 4 h 42"/>
                <a:gd name="T12" fmla="*/ 362 w 955"/>
                <a:gd name="T13" fmla="*/ 5 h 42"/>
                <a:gd name="T14" fmla="*/ 322 w 955"/>
                <a:gd name="T15" fmla="*/ 6 h 42"/>
                <a:gd name="T16" fmla="*/ 280 w 955"/>
                <a:gd name="T17" fmla="*/ 8 h 42"/>
                <a:gd name="T18" fmla="*/ 236 w 955"/>
                <a:gd name="T19" fmla="*/ 9 h 42"/>
                <a:gd name="T20" fmla="*/ 192 w 955"/>
                <a:gd name="T21" fmla="*/ 10 h 42"/>
                <a:gd name="T22" fmla="*/ 150 w 955"/>
                <a:gd name="T23" fmla="*/ 10 h 42"/>
                <a:gd name="T24" fmla="*/ 111 w 955"/>
                <a:gd name="T25" fmla="*/ 12 h 42"/>
                <a:gd name="T26" fmla="*/ 76 w 955"/>
                <a:gd name="T27" fmla="*/ 14 h 42"/>
                <a:gd name="T28" fmla="*/ 45 w 955"/>
                <a:gd name="T29" fmla="*/ 14 h 42"/>
                <a:gd name="T30" fmla="*/ 22 w 955"/>
                <a:gd name="T31" fmla="*/ 14 h 42"/>
                <a:gd name="T32" fmla="*/ 7 w 955"/>
                <a:gd name="T33" fmla="*/ 14 h 42"/>
                <a:gd name="T34" fmla="*/ 0 w 955"/>
                <a:gd name="T35" fmla="*/ 14 h 42"/>
                <a:gd name="T36" fmla="*/ 0 w 955"/>
                <a:gd name="T37" fmla="*/ 21 h 42"/>
                <a:gd name="T38" fmla="*/ 7 w 955"/>
                <a:gd name="T39" fmla="*/ 21 h 42"/>
                <a:gd name="T40" fmla="*/ 22 w 955"/>
                <a:gd name="T41" fmla="*/ 20 h 42"/>
                <a:gd name="T42" fmla="*/ 45 w 955"/>
                <a:gd name="T43" fmla="*/ 20 h 42"/>
                <a:gd name="T44" fmla="*/ 76 w 955"/>
                <a:gd name="T45" fmla="*/ 19 h 42"/>
                <a:gd name="T46" fmla="*/ 111 w 955"/>
                <a:gd name="T47" fmla="*/ 17 h 42"/>
                <a:gd name="T48" fmla="*/ 150 w 955"/>
                <a:gd name="T49" fmla="*/ 17 h 42"/>
                <a:gd name="T50" fmla="*/ 192 w 955"/>
                <a:gd name="T51" fmla="*/ 15 h 42"/>
                <a:gd name="T52" fmla="*/ 236 w 955"/>
                <a:gd name="T53" fmla="*/ 14 h 42"/>
                <a:gd name="T54" fmla="*/ 280 w 955"/>
                <a:gd name="T55" fmla="*/ 13 h 42"/>
                <a:gd name="T56" fmla="*/ 322 w 955"/>
                <a:gd name="T57" fmla="*/ 11 h 42"/>
                <a:gd name="T58" fmla="*/ 362 w 955"/>
                <a:gd name="T59" fmla="*/ 10 h 42"/>
                <a:gd name="T60" fmla="*/ 398 w 955"/>
                <a:gd name="T61" fmla="*/ 9 h 42"/>
                <a:gd name="T62" fmla="*/ 428 w 955"/>
                <a:gd name="T63" fmla="*/ 9 h 42"/>
                <a:gd name="T64" fmla="*/ 453 w 955"/>
                <a:gd name="T65" fmla="*/ 7 h 42"/>
                <a:gd name="T66" fmla="*/ 470 w 955"/>
                <a:gd name="T67" fmla="*/ 6 h 42"/>
                <a:gd name="T68" fmla="*/ 477 w 955"/>
                <a:gd name="T69" fmla="*/ 5 h 42"/>
                <a:gd name="T70" fmla="*/ 477 w 955"/>
                <a:gd name="T71" fmla="*/ 5 h 42"/>
                <a:gd name="T72" fmla="*/ 477 w 955"/>
                <a:gd name="T73" fmla="*/ 0 h 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55" h="42">
                  <a:moveTo>
                    <a:pt x="955" y="0"/>
                  </a:moveTo>
                  <a:lnTo>
                    <a:pt x="955" y="0"/>
                  </a:lnTo>
                  <a:lnTo>
                    <a:pt x="940" y="1"/>
                  </a:lnTo>
                  <a:lnTo>
                    <a:pt x="906" y="3"/>
                  </a:lnTo>
                  <a:lnTo>
                    <a:pt x="857" y="3"/>
                  </a:lnTo>
                  <a:lnTo>
                    <a:pt x="797" y="7"/>
                  </a:lnTo>
                  <a:lnTo>
                    <a:pt x="725" y="10"/>
                  </a:lnTo>
                  <a:lnTo>
                    <a:pt x="644" y="12"/>
                  </a:lnTo>
                  <a:lnTo>
                    <a:pt x="560" y="15"/>
                  </a:lnTo>
                  <a:lnTo>
                    <a:pt x="473" y="17"/>
                  </a:lnTo>
                  <a:lnTo>
                    <a:pt x="385" y="20"/>
                  </a:lnTo>
                  <a:lnTo>
                    <a:pt x="301" y="20"/>
                  </a:lnTo>
                  <a:lnTo>
                    <a:pt x="222" y="23"/>
                  </a:lnTo>
                  <a:lnTo>
                    <a:pt x="152" y="27"/>
                  </a:lnTo>
                  <a:lnTo>
                    <a:pt x="91" y="27"/>
                  </a:lnTo>
                  <a:lnTo>
                    <a:pt x="44" y="27"/>
                  </a:lnTo>
                  <a:lnTo>
                    <a:pt x="14" y="28"/>
                  </a:lnTo>
                  <a:lnTo>
                    <a:pt x="0" y="28"/>
                  </a:lnTo>
                  <a:lnTo>
                    <a:pt x="0" y="42"/>
                  </a:lnTo>
                  <a:lnTo>
                    <a:pt x="14" y="42"/>
                  </a:lnTo>
                  <a:lnTo>
                    <a:pt x="44" y="40"/>
                  </a:lnTo>
                  <a:lnTo>
                    <a:pt x="91" y="40"/>
                  </a:lnTo>
                  <a:lnTo>
                    <a:pt x="152" y="37"/>
                  </a:lnTo>
                  <a:lnTo>
                    <a:pt x="222" y="33"/>
                  </a:lnTo>
                  <a:lnTo>
                    <a:pt x="301" y="33"/>
                  </a:lnTo>
                  <a:lnTo>
                    <a:pt x="385" y="30"/>
                  </a:lnTo>
                  <a:lnTo>
                    <a:pt x="473" y="27"/>
                  </a:lnTo>
                  <a:lnTo>
                    <a:pt x="560" y="25"/>
                  </a:lnTo>
                  <a:lnTo>
                    <a:pt x="644" y="22"/>
                  </a:lnTo>
                  <a:lnTo>
                    <a:pt x="725" y="20"/>
                  </a:lnTo>
                  <a:lnTo>
                    <a:pt x="797" y="17"/>
                  </a:lnTo>
                  <a:lnTo>
                    <a:pt x="857" y="17"/>
                  </a:lnTo>
                  <a:lnTo>
                    <a:pt x="906" y="13"/>
                  </a:lnTo>
                  <a:lnTo>
                    <a:pt x="940" y="12"/>
                  </a:lnTo>
                  <a:lnTo>
                    <a:pt x="955" y="10"/>
                  </a:lnTo>
                  <a:lnTo>
                    <a:pt x="9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3" name="Freeform 1038"/>
            <p:cNvSpPr>
              <a:spLocks/>
            </p:cNvSpPr>
            <p:nvPr/>
          </p:nvSpPr>
          <p:spPr bwMode="auto">
            <a:xfrm>
              <a:off x="5157" y="2861"/>
              <a:ext cx="24" cy="25"/>
            </a:xfrm>
            <a:custGeom>
              <a:avLst/>
              <a:gdLst>
                <a:gd name="T0" fmla="*/ 17 w 47"/>
                <a:gd name="T1" fmla="*/ 0 h 51"/>
                <a:gd name="T2" fmla="*/ 17 w 47"/>
                <a:gd name="T3" fmla="*/ 0 h 51"/>
                <a:gd name="T4" fmla="*/ 17 w 47"/>
                <a:gd name="T5" fmla="*/ 8 h 51"/>
                <a:gd name="T6" fmla="*/ 14 w 47"/>
                <a:gd name="T7" fmla="*/ 14 h 51"/>
                <a:gd name="T8" fmla="*/ 9 w 47"/>
                <a:gd name="T9" fmla="*/ 18 h 51"/>
                <a:gd name="T10" fmla="*/ 0 w 47"/>
                <a:gd name="T11" fmla="*/ 20 h 51"/>
                <a:gd name="T12" fmla="*/ 0 w 47"/>
                <a:gd name="T13" fmla="*/ 25 h 51"/>
                <a:gd name="T14" fmla="*/ 10 w 47"/>
                <a:gd name="T15" fmla="*/ 23 h 51"/>
                <a:gd name="T16" fmla="*/ 17 w 47"/>
                <a:gd name="T17" fmla="*/ 18 h 51"/>
                <a:gd name="T18" fmla="*/ 22 w 47"/>
                <a:gd name="T19" fmla="*/ 10 h 51"/>
                <a:gd name="T20" fmla="*/ 24 w 47"/>
                <a:gd name="T21" fmla="*/ 0 h 51"/>
                <a:gd name="T22" fmla="*/ 24 w 47"/>
                <a:gd name="T23" fmla="*/ 0 h 51"/>
                <a:gd name="T24" fmla="*/ 17 w 47"/>
                <a:gd name="T25" fmla="*/ 0 h 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 h="51">
                  <a:moveTo>
                    <a:pt x="34" y="0"/>
                  </a:moveTo>
                  <a:lnTo>
                    <a:pt x="34" y="0"/>
                  </a:lnTo>
                  <a:lnTo>
                    <a:pt x="34" y="17"/>
                  </a:lnTo>
                  <a:lnTo>
                    <a:pt x="27" y="29"/>
                  </a:lnTo>
                  <a:lnTo>
                    <a:pt x="17" y="36"/>
                  </a:lnTo>
                  <a:lnTo>
                    <a:pt x="0" y="41"/>
                  </a:lnTo>
                  <a:lnTo>
                    <a:pt x="0" y="51"/>
                  </a:lnTo>
                  <a:lnTo>
                    <a:pt x="20" y="46"/>
                  </a:lnTo>
                  <a:lnTo>
                    <a:pt x="34" y="36"/>
                  </a:lnTo>
                  <a:lnTo>
                    <a:pt x="44" y="21"/>
                  </a:lnTo>
                  <a:lnTo>
                    <a:pt x="47" y="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4" name="Freeform 1039"/>
            <p:cNvSpPr>
              <a:spLocks/>
            </p:cNvSpPr>
            <p:nvPr/>
          </p:nvSpPr>
          <p:spPr bwMode="auto">
            <a:xfrm>
              <a:off x="5174" y="2443"/>
              <a:ext cx="7" cy="418"/>
            </a:xfrm>
            <a:custGeom>
              <a:avLst/>
              <a:gdLst>
                <a:gd name="T0" fmla="*/ 0 w 13"/>
                <a:gd name="T1" fmla="*/ 0 h 836"/>
                <a:gd name="T2" fmla="*/ 0 w 13"/>
                <a:gd name="T3" fmla="*/ 0 h 836"/>
                <a:gd name="T4" fmla="*/ 0 w 13"/>
                <a:gd name="T5" fmla="*/ 67 h 836"/>
                <a:gd name="T6" fmla="*/ 0 w 13"/>
                <a:gd name="T7" fmla="*/ 207 h 836"/>
                <a:gd name="T8" fmla="*/ 0 w 13"/>
                <a:gd name="T9" fmla="*/ 348 h 836"/>
                <a:gd name="T10" fmla="*/ 0 w 13"/>
                <a:gd name="T11" fmla="*/ 418 h 836"/>
                <a:gd name="T12" fmla="*/ 7 w 13"/>
                <a:gd name="T13" fmla="*/ 418 h 836"/>
                <a:gd name="T14" fmla="*/ 7 w 13"/>
                <a:gd name="T15" fmla="*/ 348 h 836"/>
                <a:gd name="T16" fmla="*/ 7 w 13"/>
                <a:gd name="T17" fmla="*/ 207 h 836"/>
                <a:gd name="T18" fmla="*/ 7 w 13"/>
                <a:gd name="T19" fmla="*/ 67 h 836"/>
                <a:gd name="T20" fmla="*/ 7 w 13"/>
                <a:gd name="T21" fmla="*/ 0 h 836"/>
                <a:gd name="T22" fmla="*/ 7 w 13"/>
                <a:gd name="T23" fmla="*/ 0 h 836"/>
                <a:gd name="T24" fmla="*/ 0 w 13"/>
                <a:gd name="T25" fmla="*/ 0 h 8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836">
                  <a:moveTo>
                    <a:pt x="0" y="0"/>
                  </a:moveTo>
                  <a:lnTo>
                    <a:pt x="0" y="0"/>
                  </a:lnTo>
                  <a:lnTo>
                    <a:pt x="0" y="133"/>
                  </a:lnTo>
                  <a:lnTo>
                    <a:pt x="0" y="413"/>
                  </a:lnTo>
                  <a:lnTo>
                    <a:pt x="0" y="695"/>
                  </a:lnTo>
                  <a:lnTo>
                    <a:pt x="0" y="836"/>
                  </a:lnTo>
                  <a:lnTo>
                    <a:pt x="13" y="836"/>
                  </a:lnTo>
                  <a:lnTo>
                    <a:pt x="13" y="695"/>
                  </a:lnTo>
                  <a:lnTo>
                    <a:pt x="13" y="413"/>
                  </a:lnTo>
                  <a:lnTo>
                    <a:pt x="13" y="133"/>
                  </a:lnTo>
                  <a:lnTo>
                    <a:pt x="1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5" name="Freeform 1040"/>
            <p:cNvSpPr>
              <a:spLocks/>
            </p:cNvSpPr>
            <p:nvPr/>
          </p:nvSpPr>
          <p:spPr bwMode="auto">
            <a:xfrm>
              <a:off x="5155" y="2423"/>
              <a:ext cx="26" cy="20"/>
            </a:xfrm>
            <a:custGeom>
              <a:avLst/>
              <a:gdLst>
                <a:gd name="T0" fmla="*/ 0 w 50"/>
                <a:gd name="T1" fmla="*/ 6 h 39"/>
                <a:gd name="T2" fmla="*/ 0 w 50"/>
                <a:gd name="T3" fmla="*/ 6 h 39"/>
                <a:gd name="T4" fmla="*/ 11 w 50"/>
                <a:gd name="T5" fmla="*/ 6 h 39"/>
                <a:gd name="T6" fmla="*/ 17 w 50"/>
                <a:gd name="T7" fmla="*/ 9 h 39"/>
                <a:gd name="T8" fmla="*/ 19 w 50"/>
                <a:gd name="T9" fmla="*/ 14 h 39"/>
                <a:gd name="T10" fmla="*/ 19 w 50"/>
                <a:gd name="T11" fmla="*/ 20 h 39"/>
                <a:gd name="T12" fmla="*/ 26 w 50"/>
                <a:gd name="T13" fmla="*/ 20 h 39"/>
                <a:gd name="T14" fmla="*/ 24 w 50"/>
                <a:gd name="T15" fmla="*/ 12 h 39"/>
                <a:gd name="T16" fmla="*/ 20 w 50"/>
                <a:gd name="T17" fmla="*/ 6 h 39"/>
                <a:gd name="T18" fmla="*/ 11 w 50"/>
                <a:gd name="T19" fmla="*/ 0 h 39"/>
                <a:gd name="T20" fmla="*/ 0 w 50"/>
                <a:gd name="T21" fmla="*/ 0 h 39"/>
                <a:gd name="T22" fmla="*/ 0 w 50"/>
                <a:gd name="T23" fmla="*/ 0 h 39"/>
                <a:gd name="T24" fmla="*/ 0 w 50"/>
                <a:gd name="T25" fmla="*/ 6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39">
                  <a:moveTo>
                    <a:pt x="0" y="11"/>
                  </a:moveTo>
                  <a:lnTo>
                    <a:pt x="0" y="11"/>
                  </a:lnTo>
                  <a:lnTo>
                    <a:pt x="21" y="11"/>
                  </a:lnTo>
                  <a:lnTo>
                    <a:pt x="32" y="17"/>
                  </a:lnTo>
                  <a:lnTo>
                    <a:pt x="37" y="27"/>
                  </a:lnTo>
                  <a:lnTo>
                    <a:pt x="37" y="39"/>
                  </a:lnTo>
                  <a:lnTo>
                    <a:pt x="50" y="39"/>
                  </a:lnTo>
                  <a:lnTo>
                    <a:pt x="47" y="24"/>
                  </a:lnTo>
                  <a:lnTo>
                    <a:pt x="38" y="11"/>
                  </a:lnTo>
                  <a:lnTo>
                    <a:pt x="21" y="0"/>
                  </a:lnTo>
                  <a:lnTo>
                    <a:pt x="0"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6" name="Freeform 1041"/>
            <p:cNvSpPr>
              <a:spLocks/>
            </p:cNvSpPr>
            <p:nvPr/>
          </p:nvSpPr>
          <p:spPr bwMode="auto">
            <a:xfrm>
              <a:off x="4682" y="2422"/>
              <a:ext cx="473" cy="14"/>
            </a:xfrm>
            <a:custGeom>
              <a:avLst/>
              <a:gdLst>
                <a:gd name="T0" fmla="*/ 0 w 946"/>
                <a:gd name="T1" fmla="*/ 14 h 27"/>
                <a:gd name="T2" fmla="*/ 0 w 946"/>
                <a:gd name="T3" fmla="*/ 14 h 27"/>
                <a:gd name="T4" fmla="*/ 5 w 946"/>
                <a:gd name="T5" fmla="*/ 14 h 27"/>
                <a:gd name="T6" fmla="*/ 19 w 946"/>
                <a:gd name="T7" fmla="*/ 14 h 27"/>
                <a:gd name="T8" fmla="*/ 42 w 946"/>
                <a:gd name="T9" fmla="*/ 13 h 27"/>
                <a:gd name="T10" fmla="*/ 71 w 946"/>
                <a:gd name="T11" fmla="*/ 13 h 27"/>
                <a:gd name="T12" fmla="*/ 106 w 946"/>
                <a:gd name="T13" fmla="*/ 13 h 27"/>
                <a:gd name="T14" fmla="*/ 145 w 946"/>
                <a:gd name="T15" fmla="*/ 12 h 27"/>
                <a:gd name="T16" fmla="*/ 187 w 946"/>
                <a:gd name="T17" fmla="*/ 11 h 27"/>
                <a:gd name="T18" fmla="*/ 229 w 946"/>
                <a:gd name="T19" fmla="*/ 11 h 27"/>
                <a:gd name="T20" fmla="*/ 273 w 946"/>
                <a:gd name="T21" fmla="*/ 10 h 27"/>
                <a:gd name="T22" fmla="*/ 315 w 946"/>
                <a:gd name="T23" fmla="*/ 9 h 27"/>
                <a:gd name="T24" fmla="*/ 355 w 946"/>
                <a:gd name="T25" fmla="*/ 9 h 27"/>
                <a:gd name="T26" fmla="*/ 392 w 946"/>
                <a:gd name="T27" fmla="*/ 9 h 27"/>
                <a:gd name="T28" fmla="*/ 423 w 946"/>
                <a:gd name="T29" fmla="*/ 8 h 27"/>
                <a:gd name="T30" fmla="*/ 447 w 946"/>
                <a:gd name="T31" fmla="*/ 8 h 27"/>
                <a:gd name="T32" fmla="*/ 465 w 946"/>
                <a:gd name="T33" fmla="*/ 7 h 27"/>
                <a:gd name="T34" fmla="*/ 473 w 946"/>
                <a:gd name="T35" fmla="*/ 6 h 27"/>
                <a:gd name="T36" fmla="*/ 473 w 946"/>
                <a:gd name="T37" fmla="*/ 1 h 27"/>
                <a:gd name="T38" fmla="*/ 465 w 946"/>
                <a:gd name="T39" fmla="*/ 0 h 27"/>
                <a:gd name="T40" fmla="*/ 447 w 946"/>
                <a:gd name="T41" fmla="*/ 1 h 27"/>
                <a:gd name="T42" fmla="*/ 423 w 946"/>
                <a:gd name="T43" fmla="*/ 1 h 27"/>
                <a:gd name="T44" fmla="*/ 392 w 946"/>
                <a:gd name="T45" fmla="*/ 2 h 27"/>
                <a:gd name="T46" fmla="*/ 355 w 946"/>
                <a:gd name="T47" fmla="*/ 3 h 27"/>
                <a:gd name="T48" fmla="*/ 315 w 946"/>
                <a:gd name="T49" fmla="*/ 3 h 27"/>
                <a:gd name="T50" fmla="*/ 273 w 946"/>
                <a:gd name="T51" fmla="*/ 3 h 27"/>
                <a:gd name="T52" fmla="*/ 229 w 946"/>
                <a:gd name="T53" fmla="*/ 4 h 27"/>
                <a:gd name="T54" fmla="*/ 187 w 946"/>
                <a:gd name="T55" fmla="*/ 4 h 27"/>
                <a:gd name="T56" fmla="*/ 145 w 946"/>
                <a:gd name="T57" fmla="*/ 5 h 27"/>
                <a:gd name="T58" fmla="*/ 106 w 946"/>
                <a:gd name="T59" fmla="*/ 6 h 27"/>
                <a:gd name="T60" fmla="*/ 71 w 946"/>
                <a:gd name="T61" fmla="*/ 6 h 27"/>
                <a:gd name="T62" fmla="*/ 42 w 946"/>
                <a:gd name="T63" fmla="*/ 6 h 27"/>
                <a:gd name="T64" fmla="*/ 19 w 946"/>
                <a:gd name="T65" fmla="*/ 7 h 27"/>
                <a:gd name="T66" fmla="*/ 5 w 946"/>
                <a:gd name="T67" fmla="*/ 7 h 27"/>
                <a:gd name="T68" fmla="*/ 0 w 946"/>
                <a:gd name="T69" fmla="*/ 7 h 27"/>
                <a:gd name="T70" fmla="*/ 0 w 946"/>
                <a:gd name="T71" fmla="*/ 7 h 27"/>
                <a:gd name="T72" fmla="*/ 0 w 946"/>
                <a:gd name="T73" fmla="*/ 14 h 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46" h="27">
                  <a:moveTo>
                    <a:pt x="0" y="27"/>
                  </a:moveTo>
                  <a:lnTo>
                    <a:pt x="0" y="27"/>
                  </a:lnTo>
                  <a:lnTo>
                    <a:pt x="10" y="27"/>
                  </a:lnTo>
                  <a:lnTo>
                    <a:pt x="38" y="27"/>
                  </a:lnTo>
                  <a:lnTo>
                    <a:pt x="84" y="25"/>
                  </a:lnTo>
                  <a:lnTo>
                    <a:pt x="142" y="25"/>
                  </a:lnTo>
                  <a:lnTo>
                    <a:pt x="211" y="25"/>
                  </a:lnTo>
                  <a:lnTo>
                    <a:pt x="289" y="23"/>
                  </a:lnTo>
                  <a:lnTo>
                    <a:pt x="373" y="22"/>
                  </a:lnTo>
                  <a:lnTo>
                    <a:pt x="458" y="22"/>
                  </a:lnTo>
                  <a:lnTo>
                    <a:pt x="546" y="20"/>
                  </a:lnTo>
                  <a:lnTo>
                    <a:pt x="630" y="18"/>
                  </a:lnTo>
                  <a:lnTo>
                    <a:pt x="710" y="18"/>
                  </a:lnTo>
                  <a:lnTo>
                    <a:pt x="783" y="17"/>
                  </a:lnTo>
                  <a:lnTo>
                    <a:pt x="845" y="15"/>
                  </a:lnTo>
                  <a:lnTo>
                    <a:pt x="894" y="15"/>
                  </a:lnTo>
                  <a:lnTo>
                    <a:pt x="929" y="13"/>
                  </a:lnTo>
                  <a:lnTo>
                    <a:pt x="946" y="12"/>
                  </a:lnTo>
                  <a:lnTo>
                    <a:pt x="946" y="1"/>
                  </a:lnTo>
                  <a:lnTo>
                    <a:pt x="929" y="0"/>
                  </a:lnTo>
                  <a:lnTo>
                    <a:pt x="894" y="1"/>
                  </a:lnTo>
                  <a:lnTo>
                    <a:pt x="845" y="1"/>
                  </a:lnTo>
                  <a:lnTo>
                    <a:pt x="783" y="3"/>
                  </a:lnTo>
                  <a:lnTo>
                    <a:pt x="710" y="5"/>
                  </a:lnTo>
                  <a:lnTo>
                    <a:pt x="630" y="5"/>
                  </a:lnTo>
                  <a:lnTo>
                    <a:pt x="546" y="6"/>
                  </a:lnTo>
                  <a:lnTo>
                    <a:pt x="458" y="8"/>
                  </a:lnTo>
                  <a:lnTo>
                    <a:pt x="373" y="8"/>
                  </a:lnTo>
                  <a:lnTo>
                    <a:pt x="289" y="10"/>
                  </a:lnTo>
                  <a:lnTo>
                    <a:pt x="211" y="12"/>
                  </a:lnTo>
                  <a:lnTo>
                    <a:pt x="142" y="12"/>
                  </a:lnTo>
                  <a:lnTo>
                    <a:pt x="84" y="12"/>
                  </a:lnTo>
                  <a:lnTo>
                    <a:pt x="38" y="13"/>
                  </a:lnTo>
                  <a:lnTo>
                    <a:pt x="10" y="13"/>
                  </a:lnTo>
                  <a:lnTo>
                    <a:pt x="0" y="13"/>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7" name="Freeform 1042"/>
            <p:cNvSpPr>
              <a:spLocks/>
            </p:cNvSpPr>
            <p:nvPr/>
          </p:nvSpPr>
          <p:spPr bwMode="auto">
            <a:xfrm>
              <a:off x="4489" y="2372"/>
              <a:ext cx="752" cy="587"/>
            </a:xfrm>
            <a:custGeom>
              <a:avLst/>
              <a:gdLst>
                <a:gd name="T0" fmla="*/ 164 w 1504"/>
                <a:gd name="T1" fmla="*/ 587 h 1174"/>
                <a:gd name="T2" fmla="*/ 191 w 1504"/>
                <a:gd name="T3" fmla="*/ 587 h 1174"/>
                <a:gd name="T4" fmla="*/ 232 w 1504"/>
                <a:gd name="T5" fmla="*/ 587 h 1174"/>
                <a:gd name="T6" fmla="*/ 286 w 1504"/>
                <a:gd name="T7" fmla="*/ 586 h 1174"/>
                <a:gd name="T8" fmla="*/ 347 w 1504"/>
                <a:gd name="T9" fmla="*/ 586 h 1174"/>
                <a:gd name="T10" fmla="*/ 414 w 1504"/>
                <a:gd name="T11" fmla="*/ 585 h 1174"/>
                <a:gd name="T12" fmla="*/ 483 w 1504"/>
                <a:gd name="T13" fmla="*/ 583 h 1174"/>
                <a:gd name="T14" fmla="*/ 551 w 1504"/>
                <a:gd name="T15" fmla="*/ 581 h 1174"/>
                <a:gd name="T16" fmla="*/ 614 w 1504"/>
                <a:gd name="T17" fmla="*/ 579 h 1174"/>
                <a:gd name="T18" fmla="*/ 669 w 1504"/>
                <a:gd name="T19" fmla="*/ 575 h 1174"/>
                <a:gd name="T20" fmla="*/ 714 w 1504"/>
                <a:gd name="T21" fmla="*/ 572 h 1174"/>
                <a:gd name="T22" fmla="*/ 740 w 1504"/>
                <a:gd name="T23" fmla="*/ 560 h 1174"/>
                <a:gd name="T24" fmla="*/ 751 w 1504"/>
                <a:gd name="T25" fmla="*/ 539 h 1174"/>
                <a:gd name="T26" fmla="*/ 752 w 1504"/>
                <a:gd name="T27" fmla="*/ 451 h 1174"/>
                <a:gd name="T28" fmla="*/ 752 w 1504"/>
                <a:gd name="T29" fmla="*/ 30 h 1174"/>
                <a:gd name="T30" fmla="*/ 748 w 1504"/>
                <a:gd name="T31" fmla="*/ 16 h 1174"/>
                <a:gd name="T32" fmla="*/ 736 w 1504"/>
                <a:gd name="T33" fmla="*/ 4 h 1174"/>
                <a:gd name="T34" fmla="*/ 720 w 1504"/>
                <a:gd name="T35" fmla="*/ 0 h 1174"/>
                <a:gd name="T36" fmla="*/ 695 w 1504"/>
                <a:gd name="T37" fmla="*/ 0 h 1174"/>
                <a:gd name="T38" fmla="*/ 649 w 1504"/>
                <a:gd name="T39" fmla="*/ 0 h 1174"/>
                <a:gd name="T40" fmla="*/ 588 w 1504"/>
                <a:gd name="T41" fmla="*/ 1 h 1174"/>
                <a:gd name="T42" fmla="*/ 516 w 1504"/>
                <a:gd name="T43" fmla="*/ 1 h 1174"/>
                <a:gd name="T44" fmla="*/ 440 w 1504"/>
                <a:gd name="T45" fmla="*/ 1 h 1174"/>
                <a:gd name="T46" fmla="*/ 363 w 1504"/>
                <a:gd name="T47" fmla="*/ 2 h 1174"/>
                <a:gd name="T48" fmla="*/ 291 w 1504"/>
                <a:gd name="T49" fmla="*/ 2 h 1174"/>
                <a:gd name="T50" fmla="*/ 228 w 1504"/>
                <a:gd name="T51" fmla="*/ 3 h 1174"/>
                <a:gd name="T52" fmla="*/ 181 w 1504"/>
                <a:gd name="T53" fmla="*/ 3 h 1174"/>
                <a:gd name="T54" fmla="*/ 153 w 1504"/>
                <a:gd name="T55" fmla="*/ 3 h 1174"/>
                <a:gd name="T56" fmla="*/ 128 w 1504"/>
                <a:gd name="T57" fmla="*/ 4 h 1174"/>
                <a:gd name="T58" fmla="*/ 100 w 1504"/>
                <a:gd name="T59" fmla="*/ 11 h 1174"/>
                <a:gd name="T60" fmla="*/ 86 w 1504"/>
                <a:gd name="T61" fmla="*/ 28 h 1174"/>
                <a:gd name="T62" fmla="*/ 69 w 1504"/>
                <a:gd name="T63" fmla="*/ 31 h 1174"/>
                <a:gd name="T64" fmla="*/ 37 w 1504"/>
                <a:gd name="T65" fmla="*/ 37 h 1174"/>
                <a:gd name="T66" fmla="*/ 15 w 1504"/>
                <a:gd name="T67" fmla="*/ 42 h 1174"/>
                <a:gd name="T68" fmla="*/ 0 w 1504"/>
                <a:gd name="T69" fmla="*/ 62 h 1174"/>
                <a:gd name="T70" fmla="*/ 0 w 1504"/>
                <a:gd name="T71" fmla="*/ 403 h 1174"/>
                <a:gd name="T72" fmla="*/ 4 w 1504"/>
                <a:gd name="T73" fmla="*/ 485 h 1174"/>
                <a:gd name="T74" fmla="*/ 22 w 1504"/>
                <a:gd name="T75" fmla="*/ 498 h 1174"/>
                <a:gd name="T76" fmla="*/ 54 w 1504"/>
                <a:gd name="T77" fmla="*/ 518 h 1174"/>
                <a:gd name="T78" fmla="*/ 81 w 1504"/>
                <a:gd name="T79" fmla="*/ 535 h 1174"/>
                <a:gd name="T80" fmla="*/ 84 w 1504"/>
                <a:gd name="T81" fmla="*/ 552 h 1174"/>
                <a:gd name="T82" fmla="*/ 108 w 1504"/>
                <a:gd name="T83" fmla="*/ 575 h 1174"/>
                <a:gd name="T84" fmla="*/ 136 w 1504"/>
                <a:gd name="T85" fmla="*/ 582 h 1174"/>
                <a:gd name="T86" fmla="*/ 154 w 1504"/>
                <a:gd name="T87" fmla="*/ 587 h 117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504" h="1174">
                  <a:moveTo>
                    <a:pt x="311" y="1174"/>
                  </a:moveTo>
                  <a:lnTo>
                    <a:pt x="318" y="1174"/>
                  </a:lnTo>
                  <a:lnTo>
                    <a:pt x="328" y="1174"/>
                  </a:lnTo>
                  <a:lnTo>
                    <a:pt x="341" y="1174"/>
                  </a:lnTo>
                  <a:lnTo>
                    <a:pt x="360" y="1174"/>
                  </a:lnTo>
                  <a:lnTo>
                    <a:pt x="381" y="1174"/>
                  </a:lnTo>
                  <a:lnTo>
                    <a:pt x="405" y="1174"/>
                  </a:lnTo>
                  <a:lnTo>
                    <a:pt x="434" y="1174"/>
                  </a:lnTo>
                  <a:lnTo>
                    <a:pt x="464" y="1174"/>
                  </a:lnTo>
                  <a:lnTo>
                    <a:pt x="497" y="1172"/>
                  </a:lnTo>
                  <a:lnTo>
                    <a:pt x="533" y="1172"/>
                  </a:lnTo>
                  <a:lnTo>
                    <a:pt x="571" y="1172"/>
                  </a:lnTo>
                  <a:lnTo>
                    <a:pt x="610" y="1172"/>
                  </a:lnTo>
                  <a:lnTo>
                    <a:pt x="652" y="1171"/>
                  </a:lnTo>
                  <a:lnTo>
                    <a:pt x="694" y="1171"/>
                  </a:lnTo>
                  <a:lnTo>
                    <a:pt x="738" y="1171"/>
                  </a:lnTo>
                  <a:lnTo>
                    <a:pt x="783" y="1169"/>
                  </a:lnTo>
                  <a:lnTo>
                    <a:pt x="828" y="1169"/>
                  </a:lnTo>
                  <a:lnTo>
                    <a:pt x="874" y="1167"/>
                  </a:lnTo>
                  <a:lnTo>
                    <a:pt x="921" y="1167"/>
                  </a:lnTo>
                  <a:lnTo>
                    <a:pt x="966" y="1166"/>
                  </a:lnTo>
                  <a:lnTo>
                    <a:pt x="1012" y="1164"/>
                  </a:lnTo>
                  <a:lnTo>
                    <a:pt x="1057" y="1164"/>
                  </a:lnTo>
                  <a:lnTo>
                    <a:pt x="1101" y="1162"/>
                  </a:lnTo>
                  <a:lnTo>
                    <a:pt x="1144" y="1161"/>
                  </a:lnTo>
                  <a:lnTo>
                    <a:pt x="1186" y="1159"/>
                  </a:lnTo>
                  <a:lnTo>
                    <a:pt x="1227" y="1157"/>
                  </a:lnTo>
                  <a:lnTo>
                    <a:pt x="1267" y="1156"/>
                  </a:lnTo>
                  <a:lnTo>
                    <a:pt x="1304" y="1154"/>
                  </a:lnTo>
                  <a:lnTo>
                    <a:pt x="1338" y="1150"/>
                  </a:lnTo>
                  <a:lnTo>
                    <a:pt x="1370" y="1149"/>
                  </a:lnTo>
                  <a:lnTo>
                    <a:pt x="1400" y="1147"/>
                  </a:lnTo>
                  <a:lnTo>
                    <a:pt x="1427" y="1144"/>
                  </a:lnTo>
                  <a:lnTo>
                    <a:pt x="1449" y="1139"/>
                  </a:lnTo>
                  <a:lnTo>
                    <a:pt x="1467" y="1130"/>
                  </a:lnTo>
                  <a:lnTo>
                    <a:pt x="1480" y="1119"/>
                  </a:lnTo>
                  <a:lnTo>
                    <a:pt x="1491" y="1103"/>
                  </a:lnTo>
                  <a:lnTo>
                    <a:pt x="1497" y="1090"/>
                  </a:lnTo>
                  <a:lnTo>
                    <a:pt x="1501" y="1078"/>
                  </a:lnTo>
                  <a:lnTo>
                    <a:pt x="1504" y="1067"/>
                  </a:lnTo>
                  <a:lnTo>
                    <a:pt x="1504" y="1060"/>
                  </a:lnTo>
                  <a:lnTo>
                    <a:pt x="1504" y="902"/>
                  </a:lnTo>
                  <a:lnTo>
                    <a:pt x="1504" y="563"/>
                  </a:lnTo>
                  <a:lnTo>
                    <a:pt x="1504" y="223"/>
                  </a:lnTo>
                  <a:lnTo>
                    <a:pt x="1504" y="59"/>
                  </a:lnTo>
                  <a:lnTo>
                    <a:pt x="1502" y="50"/>
                  </a:lnTo>
                  <a:lnTo>
                    <a:pt x="1501" y="40"/>
                  </a:lnTo>
                  <a:lnTo>
                    <a:pt x="1496" y="32"/>
                  </a:lnTo>
                  <a:lnTo>
                    <a:pt x="1489" y="22"/>
                  </a:lnTo>
                  <a:lnTo>
                    <a:pt x="1480" y="13"/>
                  </a:lnTo>
                  <a:lnTo>
                    <a:pt x="1472" y="7"/>
                  </a:lnTo>
                  <a:lnTo>
                    <a:pt x="1460" y="2"/>
                  </a:lnTo>
                  <a:lnTo>
                    <a:pt x="1447" y="0"/>
                  </a:lnTo>
                  <a:lnTo>
                    <a:pt x="1440" y="0"/>
                  </a:lnTo>
                  <a:lnTo>
                    <a:pt x="1428" y="0"/>
                  </a:lnTo>
                  <a:lnTo>
                    <a:pt x="1412" y="0"/>
                  </a:lnTo>
                  <a:lnTo>
                    <a:pt x="1390" y="0"/>
                  </a:lnTo>
                  <a:lnTo>
                    <a:pt x="1363" y="0"/>
                  </a:lnTo>
                  <a:lnTo>
                    <a:pt x="1333" y="0"/>
                  </a:lnTo>
                  <a:lnTo>
                    <a:pt x="1297" y="0"/>
                  </a:lnTo>
                  <a:lnTo>
                    <a:pt x="1260" y="0"/>
                  </a:lnTo>
                  <a:lnTo>
                    <a:pt x="1218" y="2"/>
                  </a:lnTo>
                  <a:lnTo>
                    <a:pt x="1175" y="2"/>
                  </a:lnTo>
                  <a:lnTo>
                    <a:pt x="1129" y="2"/>
                  </a:lnTo>
                  <a:lnTo>
                    <a:pt x="1082" y="2"/>
                  </a:lnTo>
                  <a:lnTo>
                    <a:pt x="1032" y="2"/>
                  </a:lnTo>
                  <a:lnTo>
                    <a:pt x="981" y="2"/>
                  </a:lnTo>
                  <a:lnTo>
                    <a:pt x="931" y="2"/>
                  </a:lnTo>
                  <a:lnTo>
                    <a:pt x="879" y="2"/>
                  </a:lnTo>
                  <a:lnTo>
                    <a:pt x="827" y="3"/>
                  </a:lnTo>
                  <a:lnTo>
                    <a:pt x="776" y="3"/>
                  </a:lnTo>
                  <a:lnTo>
                    <a:pt x="726" y="3"/>
                  </a:lnTo>
                  <a:lnTo>
                    <a:pt x="676" y="3"/>
                  </a:lnTo>
                  <a:lnTo>
                    <a:pt x="627" y="3"/>
                  </a:lnTo>
                  <a:lnTo>
                    <a:pt x="581" y="3"/>
                  </a:lnTo>
                  <a:lnTo>
                    <a:pt x="536" y="3"/>
                  </a:lnTo>
                  <a:lnTo>
                    <a:pt x="494" y="5"/>
                  </a:lnTo>
                  <a:lnTo>
                    <a:pt x="455" y="5"/>
                  </a:lnTo>
                  <a:lnTo>
                    <a:pt x="420" y="5"/>
                  </a:lnTo>
                  <a:lnTo>
                    <a:pt x="388" y="5"/>
                  </a:lnTo>
                  <a:lnTo>
                    <a:pt x="361" y="5"/>
                  </a:lnTo>
                  <a:lnTo>
                    <a:pt x="338" y="5"/>
                  </a:lnTo>
                  <a:lnTo>
                    <a:pt x="319" y="5"/>
                  </a:lnTo>
                  <a:lnTo>
                    <a:pt x="306" y="5"/>
                  </a:lnTo>
                  <a:lnTo>
                    <a:pt x="297" y="5"/>
                  </a:lnTo>
                  <a:lnTo>
                    <a:pt x="277" y="5"/>
                  </a:lnTo>
                  <a:lnTo>
                    <a:pt x="255" y="7"/>
                  </a:lnTo>
                  <a:lnTo>
                    <a:pt x="237" y="10"/>
                  </a:lnTo>
                  <a:lnTo>
                    <a:pt x="217" y="15"/>
                  </a:lnTo>
                  <a:lnTo>
                    <a:pt x="200" y="22"/>
                  </a:lnTo>
                  <a:lnTo>
                    <a:pt x="187" y="32"/>
                  </a:lnTo>
                  <a:lnTo>
                    <a:pt x="176" y="42"/>
                  </a:lnTo>
                  <a:lnTo>
                    <a:pt x="171" y="55"/>
                  </a:lnTo>
                  <a:lnTo>
                    <a:pt x="166" y="57"/>
                  </a:lnTo>
                  <a:lnTo>
                    <a:pt x="155" y="59"/>
                  </a:lnTo>
                  <a:lnTo>
                    <a:pt x="138" y="62"/>
                  </a:lnTo>
                  <a:lnTo>
                    <a:pt x="116" y="66"/>
                  </a:lnTo>
                  <a:lnTo>
                    <a:pt x="94" y="71"/>
                  </a:lnTo>
                  <a:lnTo>
                    <a:pt x="74" y="74"/>
                  </a:lnTo>
                  <a:lnTo>
                    <a:pt x="57" y="77"/>
                  </a:lnTo>
                  <a:lnTo>
                    <a:pt x="45" y="81"/>
                  </a:lnTo>
                  <a:lnTo>
                    <a:pt x="29" y="84"/>
                  </a:lnTo>
                  <a:lnTo>
                    <a:pt x="13" y="91"/>
                  </a:lnTo>
                  <a:lnTo>
                    <a:pt x="3" y="102"/>
                  </a:lnTo>
                  <a:lnTo>
                    <a:pt x="0" y="123"/>
                  </a:lnTo>
                  <a:lnTo>
                    <a:pt x="0" y="260"/>
                  </a:lnTo>
                  <a:lnTo>
                    <a:pt x="0" y="534"/>
                  </a:lnTo>
                  <a:lnTo>
                    <a:pt x="0" y="806"/>
                  </a:lnTo>
                  <a:lnTo>
                    <a:pt x="0" y="939"/>
                  </a:lnTo>
                  <a:lnTo>
                    <a:pt x="2" y="956"/>
                  </a:lnTo>
                  <a:lnTo>
                    <a:pt x="7" y="969"/>
                  </a:lnTo>
                  <a:lnTo>
                    <a:pt x="17" y="979"/>
                  </a:lnTo>
                  <a:lnTo>
                    <a:pt x="30" y="989"/>
                  </a:lnTo>
                  <a:lnTo>
                    <a:pt x="44" y="996"/>
                  </a:lnTo>
                  <a:lnTo>
                    <a:pt x="62" y="1008"/>
                  </a:lnTo>
                  <a:lnTo>
                    <a:pt x="84" y="1021"/>
                  </a:lnTo>
                  <a:lnTo>
                    <a:pt x="108" y="1036"/>
                  </a:lnTo>
                  <a:lnTo>
                    <a:pt x="129" y="1050"/>
                  </a:lnTo>
                  <a:lnTo>
                    <a:pt x="148" y="1061"/>
                  </a:lnTo>
                  <a:lnTo>
                    <a:pt x="161" y="1070"/>
                  </a:lnTo>
                  <a:lnTo>
                    <a:pt x="166" y="1073"/>
                  </a:lnTo>
                  <a:lnTo>
                    <a:pt x="166" y="1083"/>
                  </a:lnTo>
                  <a:lnTo>
                    <a:pt x="168" y="1103"/>
                  </a:lnTo>
                  <a:lnTo>
                    <a:pt x="176" y="1129"/>
                  </a:lnTo>
                  <a:lnTo>
                    <a:pt x="198" y="1145"/>
                  </a:lnTo>
                  <a:lnTo>
                    <a:pt x="215" y="1150"/>
                  </a:lnTo>
                  <a:lnTo>
                    <a:pt x="234" y="1156"/>
                  </a:lnTo>
                  <a:lnTo>
                    <a:pt x="252" y="1159"/>
                  </a:lnTo>
                  <a:lnTo>
                    <a:pt x="271" y="1164"/>
                  </a:lnTo>
                  <a:lnTo>
                    <a:pt x="286" y="1167"/>
                  </a:lnTo>
                  <a:lnTo>
                    <a:pt x="299" y="1171"/>
                  </a:lnTo>
                  <a:lnTo>
                    <a:pt x="308" y="1174"/>
                  </a:lnTo>
                  <a:lnTo>
                    <a:pt x="311" y="1174"/>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8" name="Freeform 1043"/>
            <p:cNvSpPr>
              <a:spLocks/>
            </p:cNvSpPr>
            <p:nvPr/>
          </p:nvSpPr>
          <p:spPr bwMode="auto">
            <a:xfrm>
              <a:off x="4644" y="2940"/>
              <a:ext cx="558" cy="23"/>
            </a:xfrm>
            <a:custGeom>
              <a:avLst/>
              <a:gdLst>
                <a:gd name="T0" fmla="*/ 558 w 1116"/>
                <a:gd name="T1" fmla="*/ 0 h 47"/>
                <a:gd name="T2" fmla="*/ 530 w 1116"/>
                <a:gd name="T3" fmla="*/ 2 h 47"/>
                <a:gd name="T4" fmla="*/ 497 w 1116"/>
                <a:gd name="T5" fmla="*/ 5 h 47"/>
                <a:gd name="T6" fmla="*/ 458 w 1116"/>
                <a:gd name="T7" fmla="*/ 7 h 47"/>
                <a:gd name="T8" fmla="*/ 417 w 1116"/>
                <a:gd name="T9" fmla="*/ 8 h 47"/>
                <a:gd name="T10" fmla="*/ 373 w 1116"/>
                <a:gd name="T11" fmla="*/ 10 h 47"/>
                <a:gd name="T12" fmla="*/ 328 w 1116"/>
                <a:gd name="T13" fmla="*/ 11 h 47"/>
                <a:gd name="T14" fmla="*/ 282 w 1116"/>
                <a:gd name="T15" fmla="*/ 12 h 47"/>
                <a:gd name="T16" fmla="*/ 236 w 1116"/>
                <a:gd name="T17" fmla="*/ 13 h 47"/>
                <a:gd name="T18" fmla="*/ 192 w 1116"/>
                <a:gd name="T19" fmla="*/ 13 h 47"/>
                <a:gd name="T20" fmla="*/ 150 w 1116"/>
                <a:gd name="T21" fmla="*/ 14 h 47"/>
                <a:gd name="T22" fmla="*/ 111 w 1116"/>
                <a:gd name="T23" fmla="*/ 14 h 47"/>
                <a:gd name="T24" fmla="*/ 77 w 1116"/>
                <a:gd name="T25" fmla="*/ 15 h 47"/>
                <a:gd name="T26" fmla="*/ 47 w 1116"/>
                <a:gd name="T27" fmla="*/ 15 h 47"/>
                <a:gd name="T28" fmla="*/ 25 w 1116"/>
                <a:gd name="T29" fmla="*/ 15 h 47"/>
                <a:gd name="T30" fmla="*/ 9 w 1116"/>
                <a:gd name="T31" fmla="*/ 15 h 47"/>
                <a:gd name="T32" fmla="*/ 0 w 1116"/>
                <a:gd name="T33" fmla="*/ 15 h 47"/>
                <a:gd name="T34" fmla="*/ 4 w 1116"/>
                <a:gd name="T35" fmla="*/ 23 h 47"/>
                <a:gd name="T36" fmla="*/ 15 w 1116"/>
                <a:gd name="T37" fmla="*/ 23 h 47"/>
                <a:gd name="T38" fmla="*/ 35 w 1116"/>
                <a:gd name="T39" fmla="*/ 23 h 47"/>
                <a:gd name="T40" fmla="*/ 62 w 1116"/>
                <a:gd name="T41" fmla="*/ 23 h 47"/>
                <a:gd name="T42" fmla="*/ 93 w 1116"/>
                <a:gd name="T43" fmla="*/ 23 h 47"/>
                <a:gd name="T44" fmla="*/ 130 w 1116"/>
                <a:gd name="T45" fmla="*/ 23 h 47"/>
                <a:gd name="T46" fmla="*/ 171 w 1116"/>
                <a:gd name="T47" fmla="*/ 22 h 47"/>
                <a:gd name="T48" fmla="*/ 214 w 1116"/>
                <a:gd name="T49" fmla="*/ 22 h 47"/>
                <a:gd name="T50" fmla="*/ 259 w 1116"/>
                <a:gd name="T51" fmla="*/ 21 h 47"/>
                <a:gd name="T52" fmla="*/ 305 w 1116"/>
                <a:gd name="T53" fmla="*/ 20 h 47"/>
                <a:gd name="T54" fmla="*/ 351 w 1116"/>
                <a:gd name="T55" fmla="*/ 18 h 47"/>
                <a:gd name="T56" fmla="*/ 395 w 1116"/>
                <a:gd name="T57" fmla="*/ 18 h 47"/>
                <a:gd name="T58" fmla="*/ 438 w 1116"/>
                <a:gd name="T59" fmla="*/ 16 h 47"/>
                <a:gd name="T60" fmla="*/ 478 w 1116"/>
                <a:gd name="T61" fmla="*/ 14 h 47"/>
                <a:gd name="T62" fmla="*/ 514 w 1116"/>
                <a:gd name="T63" fmla="*/ 12 h 47"/>
                <a:gd name="T64" fmla="*/ 545 w 1116"/>
                <a:gd name="T65" fmla="*/ 10 h 47"/>
                <a:gd name="T66" fmla="*/ 558 w 1116"/>
                <a:gd name="T67" fmla="*/ 8 h 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16" h="47">
                  <a:moveTo>
                    <a:pt x="1116" y="0"/>
                  </a:moveTo>
                  <a:lnTo>
                    <a:pt x="1116" y="0"/>
                  </a:lnTo>
                  <a:lnTo>
                    <a:pt x="1089" y="4"/>
                  </a:lnTo>
                  <a:lnTo>
                    <a:pt x="1059" y="5"/>
                  </a:lnTo>
                  <a:lnTo>
                    <a:pt x="1027" y="7"/>
                  </a:lnTo>
                  <a:lnTo>
                    <a:pt x="993" y="10"/>
                  </a:lnTo>
                  <a:lnTo>
                    <a:pt x="956" y="12"/>
                  </a:lnTo>
                  <a:lnTo>
                    <a:pt x="916" y="14"/>
                  </a:lnTo>
                  <a:lnTo>
                    <a:pt x="875" y="15"/>
                  </a:lnTo>
                  <a:lnTo>
                    <a:pt x="833" y="17"/>
                  </a:lnTo>
                  <a:lnTo>
                    <a:pt x="790" y="19"/>
                  </a:lnTo>
                  <a:lnTo>
                    <a:pt x="746" y="21"/>
                  </a:lnTo>
                  <a:lnTo>
                    <a:pt x="701" y="21"/>
                  </a:lnTo>
                  <a:lnTo>
                    <a:pt x="655" y="22"/>
                  </a:lnTo>
                  <a:lnTo>
                    <a:pt x="610" y="24"/>
                  </a:lnTo>
                  <a:lnTo>
                    <a:pt x="563" y="24"/>
                  </a:lnTo>
                  <a:lnTo>
                    <a:pt x="517" y="26"/>
                  </a:lnTo>
                  <a:lnTo>
                    <a:pt x="472" y="26"/>
                  </a:lnTo>
                  <a:lnTo>
                    <a:pt x="427" y="27"/>
                  </a:lnTo>
                  <a:lnTo>
                    <a:pt x="383" y="27"/>
                  </a:lnTo>
                  <a:lnTo>
                    <a:pt x="341" y="27"/>
                  </a:lnTo>
                  <a:lnTo>
                    <a:pt x="299" y="29"/>
                  </a:lnTo>
                  <a:lnTo>
                    <a:pt x="260" y="29"/>
                  </a:lnTo>
                  <a:lnTo>
                    <a:pt x="222" y="29"/>
                  </a:lnTo>
                  <a:lnTo>
                    <a:pt x="186" y="29"/>
                  </a:lnTo>
                  <a:lnTo>
                    <a:pt x="153" y="31"/>
                  </a:lnTo>
                  <a:lnTo>
                    <a:pt x="123" y="31"/>
                  </a:lnTo>
                  <a:lnTo>
                    <a:pt x="94" y="31"/>
                  </a:lnTo>
                  <a:lnTo>
                    <a:pt x="70" y="31"/>
                  </a:lnTo>
                  <a:lnTo>
                    <a:pt x="49" y="31"/>
                  </a:lnTo>
                  <a:lnTo>
                    <a:pt x="30" y="31"/>
                  </a:lnTo>
                  <a:lnTo>
                    <a:pt x="17" y="31"/>
                  </a:lnTo>
                  <a:lnTo>
                    <a:pt x="7" y="31"/>
                  </a:lnTo>
                  <a:lnTo>
                    <a:pt x="0" y="31"/>
                  </a:lnTo>
                  <a:lnTo>
                    <a:pt x="0" y="47"/>
                  </a:lnTo>
                  <a:lnTo>
                    <a:pt x="7" y="47"/>
                  </a:lnTo>
                  <a:lnTo>
                    <a:pt x="17" y="47"/>
                  </a:lnTo>
                  <a:lnTo>
                    <a:pt x="30" y="47"/>
                  </a:lnTo>
                  <a:lnTo>
                    <a:pt x="49" y="47"/>
                  </a:lnTo>
                  <a:lnTo>
                    <a:pt x="70" y="47"/>
                  </a:lnTo>
                  <a:lnTo>
                    <a:pt x="94" y="47"/>
                  </a:lnTo>
                  <a:lnTo>
                    <a:pt x="123" y="47"/>
                  </a:lnTo>
                  <a:lnTo>
                    <a:pt x="153" y="47"/>
                  </a:lnTo>
                  <a:lnTo>
                    <a:pt x="186" y="46"/>
                  </a:lnTo>
                  <a:lnTo>
                    <a:pt x="222" y="46"/>
                  </a:lnTo>
                  <a:lnTo>
                    <a:pt x="260" y="46"/>
                  </a:lnTo>
                  <a:lnTo>
                    <a:pt x="299" y="46"/>
                  </a:lnTo>
                  <a:lnTo>
                    <a:pt x="341" y="44"/>
                  </a:lnTo>
                  <a:lnTo>
                    <a:pt x="383" y="44"/>
                  </a:lnTo>
                  <a:lnTo>
                    <a:pt x="427" y="44"/>
                  </a:lnTo>
                  <a:lnTo>
                    <a:pt x="472" y="42"/>
                  </a:lnTo>
                  <a:lnTo>
                    <a:pt x="517" y="42"/>
                  </a:lnTo>
                  <a:lnTo>
                    <a:pt x="563" y="41"/>
                  </a:lnTo>
                  <a:lnTo>
                    <a:pt x="610" y="41"/>
                  </a:lnTo>
                  <a:lnTo>
                    <a:pt x="655" y="39"/>
                  </a:lnTo>
                  <a:lnTo>
                    <a:pt x="701" y="37"/>
                  </a:lnTo>
                  <a:lnTo>
                    <a:pt x="746" y="37"/>
                  </a:lnTo>
                  <a:lnTo>
                    <a:pt x="790" y="36"/>
                  </a:lnTo>
                  <a:lnTo>
                    <a:pt x="833" y="34"/>
                  </a:lnTo>
                  <a:lnTo>
                    <a:pt x="875" y="32"/>
                  </a:lnTo>
                  <a:lnTo>
                    <a:pt x="916" y="31"/>
                  </a:lnTo>
                  <a:lnTo>
                    <a:pt x="956" y="29"/>
                  </a:lnTo>
                  <a:lnTo>
                    <a:pt x="993" y="27"/>
                  </a:lnTo>
                  <a:lnTo>
                    <a:pt x="1027" y="24"/>
                  </a:lnTo>
                  <a:lnTo>
                    <a:pt x="1059" y="22"/>
                  </a:lnTo>
                  <a:lnTo>
                    <a:pt x="1089" y="21"/>
                  </a:lnTo>
                  <a:lnTo>
                    <a:pt x="1116" y="17"/>
                  </a:lnTo>
                  <a:lnTo>
                    <a:pt x="1116"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599" name="Freeform 1044"/>
            <p:cNvSpPr>
              <a:spLocks/>
            </p:cNvSpPr>
            <p:nvPr/>
          </p:nvSpPr>
          <p:spPr bwMode="auto">
            <a:xfrm>
              <a:off x="5202" y="2902"/>
              <a:ext cx="43" cy="46"/>
            </a:xfrm>
            <a:custGeom>
              <a:avLst/>
              <a:gdLst>
                <a:gd name="T0" fmla="*/ 35 w 85"/>
                <a:gd name="T1" fmla="*/ 0 h 92"/>
                <a:gd name="T2" fmla="*/ 35 w 85"/>
                <a:gd name="T3" fmla="*/ 0 h 92"/>
                <a:gd name="T4" fmla="*/ 35 w 85"/>
                <a:gd name="T5" fmla="*/ 4 h 92"/>
                <a:gd name="T6" fmla="*/ 33 w 85"/>
                <a:gd name="T7" fmla="*/ 9 h 92"/>
                <a:gd name="T8" fmla="*/ 31 w 85"/>
                <a:gd name="T9" fmla="*/ 14 h 92"/>
                <a:gd name="T10" fmla="*/ 29 w 85"/>
                <a:gd name="T11" fmla="*/ 20 h 92"/>
                <a:gd name="T12" fmla="*/ 24 w 85"/>
                <a:gd name="T13" fmla="*/ 27 h 92"/>
                <a:gd name="T14" fmla="*/ 19 w 85"/>
                <a:gd name="T15" fmla="*/ 32 h 92"/>
                <a:gd name="T16" fmla="*/ 10 w 85"/>
                <a:gd name="T17" fmla="*/ 35 h 92"/>
                <a:gd name="T18" fmla="*/ 0 w 85"/>
                <a:gd name="T19" fmla="*/ 38 h 92"/>
                <a:gd name="T20" fmla="*/ 0 w 85"/>
                <a:gd name="T21" fmla="*/ 46 h 92"/>
                <a:gd name="T22" fmla="*/ 12 w 85"/>
                <a:gd name="T23" fmla="*/ 44 h 92"/>
                <a:gd name="T24" fmla="*/ 22 w 85"/>
                <a:gd name="T25" fmla="*/ 39 h 92"/>
                <a:gd name="T26" fmla="*/ 30 w 85"/>
                <a:gd name="T27" fmla="*/ 32 h 92"/>
                <a:gd name="T28" fmla="*/ 35 w 85"/>
                <a:gd name="T29" fmla="*/ 24 h 92"/>
                <a:gd name="T30" fmla="*/ 40 w 85"/>
                <a:gd name="T31" fmla="*/ 17 h 92"/>
                <a:gd name="T32" fmla="*/ 41 w 85"/>
                <a:gd name="T33" fmla="*/ 10 h 92"/>
                <a:gd name="T34" fmla="*/ 43 w 85"/>
                <a:gd name="T35" fmla="*/ 4 h 92"/>
                <a:gd name="T36" fmla="*/ 43 w 85"/>
                <a:gd name="T37" fmla="*/ 0 h 92"/>
                <a:gd name="T38" fmla="*/ 43 w 85"/>
                <a:gd name="T39" fmla="*/ 0 h 92"/>
                <a:gd name="T40" fmla="*/ 35 w 85"/>
                <a:gd name="T41" fmla="*/ 0 h 9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85" h="92">
                  <a:moveTo>
                    <a:pt x="69" y="0"/>
                  </a:moveTo>
                  <a:lnTo>
                    <a:pt x="69" y="0"/>
                  </a:lnTo>
                  <a:lnTo>
                    <a:pt x="69" y="7"/>
                  </a:lnTo>
                  <a:lnTo>
                    <a:pt x="65" y="17"/>
                  </a:lnTo>
                  <a:lnTo>
                    <a:pt x="62" y="27"/>
                  </a:lnTo>
                  <a:lnTo>
                    <a:pt x="57" y="40"/>
                  </a:lnTo>
                  <a:lnTo>
                    <a:pt x="47" y="54"/>
                  </a:lnTo>
                  <a:lnTo>
                    <a:pt x="37" y="64"/>
                  </a:lnTo>
                  <a:lnTo>
                    <a:pt x="20" y="70"/>
                  </a:lnTo>
                  <a:lnTo>
                    <a:pt x="0" y="75"/>
                  </a:lnTo>
                  <a:lnTo>
                    <a:pt x="0" y="92"/>
                  </a:lnTo>
                  <a:lnTo>
                    <a:pt x="23" y="87"/>
                  </a:lnTo>
                  <a:lnTo>
                    <a:pt x="43" y="77"/>
                  </a:lnTo>
                  <a:lnTo>
                    <a:pt x="60" y="64"/>
                  </a:lnTo>
                  <a:lnTo>
                    <a:pt x="70" y="47"/>
                  </a:lnTo>
                  <a:lnTo>
                    <a:pt x="79" y="33"/>
                  </a:lnTo>
                  <a:lnTo>
                    <a:pt x="82" y="20"/>
                  </a:lnTo>
                  <a:lnTo>
                    <a:pt x="85" y="7"/>
                  </a:lnTo>
                  <a:lnTo>
                    <a:pt x="85" y="0"/>
                  </a:lnTo>
                  <a:lnTo>
                    <a:pt x="6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0" name="Freeform 1045"/>
            <p:cNvSpPr>
              <a:spLocks/>
            </p:cNvSpPr>
            <p:nvPr/>
          </p:nvSpPr>
          <p:spPr bwMode="auto">
            <a:xfrm>
              <a:off x="5237" y="2401"/>
              <a:ext cx="8" cy="501"/>
            </a:xfrm>
            <a:custGeom>
              <a:avLst/>
              <a:gdLst>
                <a:gd name="T0" fmla="*/ 0 w 16"/>
                <a:gd name="T1" fmla="*/ 0 h 1001"/>
                <a:gd name="T2" fmla="*/ 0 w 16"/>
                <a:gd name="T3" fmla="*/ 0 h 1001"/>
                <a:gd name="T4" fmla="*/ 0 w 16"/>
                <a:gd name="T5" fmla="*/ 82 h 1001"/>
                <a:gd name="T6" fmla="*/ 0 w 16"/>
                <a:gd name="T7" fmla="*/ 252 h 1001"/>
                <a:gd name="T8" fmla="*/ 0 w 16"/>
                <a:gd name="T9" fmla="*/ 422 h 1001"/>
                <a:gd name="T10" fmla="*/ 0 w 16"/>
                <a:gd name="T11" fmla="*/ 501 h 1001"/>
                <a:gd name="T12" fmla="*/ 8 w 16"/>
                <a:gd name="T13" fmla="*/ 501 h 1001"/>
                <a:gd name="T14" fmla="*/ 8 w 16"/>
                <a:gd name="T15" fmla="*/ 422 h 1001"/>
                <a:gd name="T16" fmla="*/ 8 w 16"/>
                <a:gd name="T17" fmla="*/ 252 h 1001"/>
                <a:gd name="T18" fmla="*/ 8 w 16"/>
                <a:gd name="T19" fmla="*/ 82 h 1001"/>
                <a:gd name="T20" fmla="*/ 8 w 16"/>
                <a:gd name="T21" fmla="*/ 0 h 1001"/>
                <a:gd name="T22" fmla="*/ 8 w 16"/>
                <a:gd name="T23" fmla="*/ 0 h 1001"/>
                <a:gd name="T24" fmla="*/ 0 w 16"/>
                <a:gd name="T25" fmla="*/ 0 h 100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1001">
                  <a:moveTo>
                    <a:pt x="0" y="0"/>
                  </a:moveTo>
                  <a:lnTo>
                    <a:pt x="0" y="0"/>
                  </a:lnTo>
                  <a:lnTo>
                    <a:pt x="0" y="164"/>
                  </a:lnTo>
                  <a:lnTo>
                    <a:pt x="0" y="504"/>
                  </a:lnTo>
                  <a:lnTo>
                    <a:pt x="0" y="843"/>
                  </a:lnTo>
                  <a:lnTo>
                    <a:pt x="0" y="1001"/>
                  </a:lnTo>
                  <a:lnTo>
                    <a:pt x="16" y="1001"/>
                  </a:lnTo>
                  <a:lnTo>
                    <a:pt x="16" y="843"/>
                  </a:lnTo>
                  <a:lnTo>
                    <a:pt x="16" y="504"/>
                  </a:lnTo>
                  <a:lnTo>
                    <a:pt x="16" y="164"/>
                  </a:lnTo>
                  <a:lnTo>
                    <a:pt x="16"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1" name="Freeform 1046"/>
            <p:cNvSpPr>
              <a:spLocks/>
            </p:cNvSpPr>
            <p:nvPr/>
          </p:nvSpPr>
          <p:spPr bwMode="auto">
            <a:xfrm>
              <a:off x="5212" y="2368"/>
              <a:ext cx="33" cy="33"/>
            </a:xfrm>
            <a:custGeom>
              <a:avLst/>
              <a:gdLst>
                <a:gd name="T0" fmla="*/ 0 w 65"/>
                <a:gd name="T1" fmla="*/ 8 h 67"/>
                <a:gd name="T2" fmla="*/ 0 w 65"/>
                <a:gd name="T3" fmla="*/ 8 h 67"/>
                <a:gd name="T4" fmla="*/ 6 w 65"/>
                <a:gd name="T5" fmla="*/ 9 h 67"/>
                <a:gd name="T6" fmla="*/ 11 w 65"/>
                <a:gd name="T7" fmla="*/ 10 h 67"/>
                <a:gd name="T8" fmla="*/ 14 w 65"/>
                <a:gd name="T9" fmla="*/ 14 h 67"/>
                <a:gd name="T10" fmla="*/ 18 w 65"/>
                <a:gd name="T11" fmla="*/ 17 h 67"/>
                <a:gd name="T12" fmla="*/ 21 w 65"/>
                <a:gd name="T13" fmla="*/ 21 h 67"/>
                <a:gd name="T14" fmla="*/ 23 w 65"/>
                <a:gd name="T15" fmla="*/ 25 h 67"/>
                <a:gd name="T16" fmla="*/ 24 w 65"/>
                <a:gd name="T17" fmla="*/ 29 h 67"/>
                <a:gd name="T18" fmla="*/ 25 w 65"/>
                <a:gd name="T19" fmla="*/ 33 h 67"/>
                <a:gd name="T20" fmla="*/ 33 w 65"/>
                <a:gd name="T21" fmla="*/ 33 h 67"/>
                <a:gd name="T22" fmla="*/ 32 w 65"/>
                <a:gd name="T23" fmla="*/ 29 h 67"/>
                <a:gd name="T24" fmla="*/ 31 w 65"/>
                <a:gd name="T25" fmla="*/ 23 h 67"/>
                <a:gd name="T26" fmla="*/ 28 w 65"/>
                <a:gd name="T27" fmla="*/ 18 h 67"/>
                <a:gd name="T28" fmla="*/ 25 w 65"/>
                <a:gd name="T29" fmla="*/ 12 h 67"/>
                <a:gd name="T30" fmla="*/ 20 w 65"/>
                <a:gd name="T31" fmla="*/ 7 h 67"/>
                <a:gd name="T32" fmla="*/ 14 w 65"/>
                <a:gd name="T33" fmla="*/ 4 h 67"/>
                <a:gd name="T34" fmla="*/ 8 w 65"/>
                <a:gd name="T35" fmla="*/ 0 h 67"/>
                <a:gd name="T36" fmla="*/ 0 w 65"/>
                <a:gd name="T37" fmla="*/ 0 h 67"/>
                <a:gd name="T38" fmla="*/ 0 w 65"/>
                <a:gd name="T39" fmla="*/ 0 h 67"/>
                <a:gd name="T40" fmla="*/ 0 w 65"/>
                <a:gd name="T41" fmla="*/ 8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65" h="67">
                  <a:moveTo>
                    <a:pt x="0" y="16"/>
                  </a:moveTo>
                  <a:lnTo>
                    <a:pt x="0" y="16"/>
                  </a:lnTo>
                  <a:lnTo>
                    <a:pt x="12" y="18"/>
                  </a:lnTo>
                  <a:lnTo>
                    <a:pt x="22" y="21"/>
                  </a:lnTo>
                  <a:lnTo>
                    <a:pt x="28" y="28"/>
                  </a:lnTo>
                  <a:lnTo>
                    <a:pt x="35" y="35"/>
                  </a:lnTo>
                  <a:lnTo>
                    <a:pt x="42" y="43"/>
                  </a:lnTo>
                  <a:lnTo>
                    <a:pt x="45" y="50"/>
                  </a:lnTo>
                  <a:lnTo>
                    <a:pt x="47" y="58"/>
                  </a:lnTo>
                  <a:lnTo>
                    <a:pt x="49" y="67"/>
                  </a:lnTo>
                  <a:lnTo>
                    <a:pt x="65" y="67"/>
                  </a:lnTo>
                  <a:lnTo>
                    <a:pt x="64" y="58"/>
                  </a:lnTo>
                  <a:lnTo>
                    <a:pt x="62" y="47"/>
                  </a:lnTo>
                  <a:lnTo>
                    <a:pt x="55" y="37"/>
                  </a:lnTo>
                  <a:lnTo>
                    <a:pt x="49" y="25"/>
                  </a:lnTo>
                  <a:lnTo>
                    <a:pt x="39" y="15"/>
                  </a:lnTo>
                  <a:lnTo>
                    <a:pt x="28" y="8"/>
                  </a:lnTo>
                  <a:lnTo>
                    <a:pt x="15" y="1"/>
                  </a:lnTo>
                  <a:lnTo>
                    <a:pt x="0" y="0"/>
                  </a:lnTo>
                  <a:lnTo>
                    <a:pt x="0" y="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2" name="Freeform 1047"/>
            <p:cNvSpPr>
              <a:spLocks/>
            </p:cNvSpPr>
            <p:nvPr/>
          </p:nvSpPr>
          <p:spPr bwMode="auto">
            <a:xfrm>
              <a:off x="4638" y="2368"/>
              <a:ext cx="574" cy="11"/>
            </a:xfrm>
            <a:custGeom>
              <a:avLst/>
              <a:gdLst>
                <a:gd name="T0" fmla="*/ 0 w 1150"/>
                <a:gd name="T1" fmla="*/ 11 h 21"/>
                <a:gd name="T2" fmla="*/ 11 w 1150"/>
                <a:gd name="T3" fmla="*/ 11 h 21"/>
                <a:gd name="T4" fmla="*/ 32 w 1150"/>
                <a:gd name="T5" fmla="*/ 11 h 21"/>
                <a:gd name="T6" fmla="*/ 61 w 1150"/>
                <a:gd name="T7" fmla="*/ 11 h 21"/>
                <a:gd name="T8" fmla="*/ 98 w 1150"/>
                <a:gd name="T9" fmla="*/ 11 h 21"/>
                <a:gd name="T10" fmla="*/ 142 w 1150"/>
                <a:gd name="T11" fmla="*/ 10 h 21"/>
                <a:gd name="T12" fmla="*/ 189 w 1150"/>
                <a:gd name="T13" fmla="*/ 10 h 21"/>
                <a:gd name="T14" fmla="*/ 239 w 1150"/>
                <a:gd name="T15" fmla="*/ 10 h 21"/>
                <a:gd name="T16" fmla="*/ 290 w 1150"/>
                <a:gd name="T17" fmla="*/ 9 h 21"/>
                <a:gd name="T18" fmla="*/ 341 w 1150"/>
                <a:gd name="T19" fmla="*/ 9 h 21"/>
                <a:gd name="T20" fmla="*/ 392 w 1150"/>
                <a:gd name="T21" fmla="*/ 9 h 21"/>
                <a:gd name="T22" fmla="*/ 438 w 1150"/>
                <a:gd name="T23" fmla="*/ 9 h 21"/>
                <a:gd name="T24" fmla="*/ 481 w 1150"/>
                <a:gd name="T25" fmla="*/ 8 h 21"/>
                <a:gd name="T26" fmla="*/ 517 w 1150"/>
                <a:gd name="T27" fmla="*/ 8 h 21"/>
                <a:gd name="T28" fmla="*/ 546 w 1150"/>
                <a:gd name="T29" fmla="*/ 8 h 21"/>
                <a:gd name="T30" fmla="*/ 565 w 1150"/>
                <a:gd name="T31" fmla="*/ 8 h 21"/>
                <a:gd name="T32" fmla="*/ 574 w 1150"/>
                <a:gd name="T33" fmla="*/ 8 h 21"/>
                <a:gd name="T34" fmla="*/ 571 w 1150"/>
                <a:gd name="T35" fmla="*/ 0 h 21"/>
                <a:gd name="T36" fmla="*/ 557 w 1150"/>
                <a:gd name="T37" fmla="*/ 0 h 21"/>
                <a:gd name="T38" fmla="*/ 532 w 1150"/>
                <a:gd name="T39" fmla="*/ 0 h 21"/>
                <a:gd name="T40" fmla="*/ 499 w 1150"/>
                <a:gd name="T41" fmla="*/ 0 h 21"/>
                <a:gd name="T42" fmla="*/ 460 w 1150"/>
                <a:gd name="T43" fmla="*/ 1 h 21"/>
                <a:gd name="T44" fmla="*/ 415 w 1150"/>
                <a:gd name="T45" fmla="*/ 1 h 21"/>
                <a:gd name="T46" fmla="*/ 367 w 1150"/>
                <a:gd name="T47" fmla="*/ 1 h 21"/>
                <a:gd name="T48" fmla="*/ 316 w 1150"/>
                <a:gd name="T49" fmla="*/ 1 h 21"/>
                <a:gd name="T50" fmla="*/ 265 w 1150"/>
                <a:gd name="T51" fmla="*/ 2 h 21"/>
                <a:gd name="T52" fmla="*/ 214 w 1150"/>
                <a:gd name="T53" fmla="*/ 2 h 21"/>
                <a:gd name="T54" fmla="*/ 165 w 1150"/>
                <a:gd name="T55" fmla="*/ 2 h 21"/>
                <a:gd name="T56" fmla="*/ 119 w 1150"/>
                <a:gd name="T57" fmla="*/ 2 h 21"/>
                <a:gd name="T58" fmla="*/ 79 w 1150"/>
                <a:gd name="T59" fmla="*/ 3 h 21"/>
                <a:gd name="T60" fmla="*/ 45 w 1150"/>
                <a:gd name="T61" fmla="*/ 3 h 21"/>
                <a:gd name="T62" fmla="*/ 20 w 1150"/>
                <a:gd name="T63" fmla="*/ 3 h 21"/>
                <a:gd name="T64" fmla="*/ 4 w 1150"/>
                <a:gd name="T65" fmla="*/ 3 h 21"/>
                <a:gd name="T66" fmla="*/ 0 w 1150"/>
                <a:gd name="T67" fmla="*/ 3 h 21"/>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150" h="21">
                  <a:moveTo>
                    <a:pt x="0" y="21"/>
                  </a:moveTo>
                  <a:lnTo>
                    <a:pt x="0" y="21"/>
                  </a:lnTo>
                  <a:lnTo>
                    <a:pt x="9" y="21"/>
                  </a:lnTo>
                  <a:lnTo>
                    <a:pt x="22" y="21"/>
                  </a:lnTo>
                  <a:lnTo>
                    <a:pt x="41" y="21"/>
                  </a:lnTo>
                  <a:lnTo>
                    <a:pt x="64" y="21"/>
                  </a:lnTo>
                  <a:lnTo>
                    <a:pt x="91" y="21"/>
                  </a:lnTo>
                  <a:lnTo>
                    <a:pt x="123" y="21"/>
                  </a:lnTo>
                  <a:lnTo>
                    <a:pt x="158" y="21"/>
                  </a:lnTo>
                  <a:lnTo>
                    <a:pt x="197" y="21"/>
                  </a:lnTo>
                  <a:lnTo>
                    <a:pt x="239" y="20"/>
                  </a:lnTo>
                  <a:lnTo>
                    <a:pt x="284" y="20"/>
                  </a:lnTo>
                  <a:lnTo>
                    <a:pt x="330" y="20"/>
                  </a:lnTo>
                  <a:lnTo>
                    <a:pt x="379" y="20"/>
                  </a:lnTo>
                  <a:lnTo>
                    <a:pt x="429" y="20"/>
                  </a:lnTo>
                  <a:lnTo>
                    <a:pt x="479" y="20"/>
                  </a:lnTo>
                  <a:lnTo>
                    <a:pt x="530" y="20"/>
                  </a:lnTo>
                  <a:lnTo>
                    <a:pt x="582" y="18"/>
                  </a:lnTo>
                  <a:lnTo>
                    <a:pt x="634" y="18"/>
                  </a:lnTo>
                  <a:lnTo>
                    <a:pt x="684" y="18"/>
                  </a:lnTo>
                  <a:lnTo>
                    <a:pt x="735" y="18"/>
                  </a:lnTo>
                  <a:lnTo>
                    <a:pt x="785" y="18"/>
                  </a:lnTo>
                  <a:lnTo>
                    <a:pt x="832" y="18"/>
                  </a:lnTo>
                  <a:lnTo>
                    <a:pt x="878" y="18"/>
                  </a:lnTo>
                  <a:lnTo>
                    <a:pt x="921" y="18"/>
                  </a:lnTo>
                  <a:lnTo>
                    <a:pt x="963" y="16"/>
                  </a:lnTo>
                  <a:lnTo>
                    <a:pt x="1000" y="16"/>
                  </a:lnTo>
                  <a:lnTo>
                    <a:pt x="1036" y="16"/>
                  </a:lnTo>
                  <a:lnTo>
                    <a:pt x="1066" y="16"/>
                  </a:lnTo>
                  <a:lnTo>
                    <a:pt x="1093" y="16"/>
                  </a:lnTo>
                  <a:lnTo>
                    <a:pt x="1115" y="16"/>
                  </a:lnTo>
                  <a:lnTo>
                    <a:pt x="1131" y="16"/>
                  </a:lnTo>
                  <a:lnTo>
                    <a:pt x="1143" y="16"/>
                  </a:lnTo>
                  <a:lnTo>
                    <a:pt x="1150" y="16"/>
                  </a:lnTo>
                  <a:lnTo>
                    <a:pt x="1150" y="0"/>
                  </a:lnTo>
                  <a:lnTo>
                    <a:pt x="1143" y="0"/>
                  </a:lnTo>
                  <a:lnTo>
                    <a:pt x="1131" y="0"/>
                  </a:lnTo>
                  <a:lnTo>
                    <a:pt x="1115" y="0"/>
                  </a:lnTo>
                  <a:lnTo>
                    <a:pt x="1093" y="0"/>
                  </a:lnTo>
                  <a:lnTo>
                    <a:pt x="1066" y="0"/>
                  </a:lnTo>
                  <a:lnTo>
                    <a:pt x="1036" y="0"/>
                  </a:lnTo>
                  <a:lnTo>
                    <a:pt x="1000" y="0"/>
                  </a:lnTo>
                  <a:lnTo>
                    <a:pt x="963" y="0"/>
                  </a:lnTo>
                  <a:lnTo>
                    <a:pt x="921" y="1"/>
                  </a:lnTo>
                  <a:lnTo>
                    <a:pt x="878" y="1"/>
                  </a:lnTo>
                  <a:lnTo>
                    <a:pt x="832" y="1"/>
                  </a:lnTo>
                  <a:lnTo>
                    <a:pt x="785" y="1"/>
                  </a:lnTo>
                  <a:lnTo>
                    <a:pt x="735" y="1"/>
                  </a:lnTo>
                  <a:lnTo>
                    <a:pt x="684" y="1"/>
                  </a:lnTo>
                  <a:lnTo>
                    <a:pt x="634" y="1"/>
                  </a:lnTo>
                  <a:lnTo>
                    <a:pt x="582" y="1"/>
                  </a:lnTo>
                  <a:lnTo>
                    <a:pt x="530" y="3"/>
                  </a:lnTo>
                  <a:lnTo>
                    <a:pt x="479" y="3"/>
                  </a:lnTo>
                  <a:lnTo>
                    <a:pt x="429" y="3"/>
                  </a:lnTo>
                  <a:lnTo>
                    <a:pt x="379" y="3"/>
                  </a:lnTo>
                  <a:lnTo>
                    <a:pt x="330" y="3"/>
                  </a:lnTo>
                  <a:lnTo>
                    <a:pt x="284" y="3"/>
                  </a:lnTo>
                  <a:lnTo>
                    <a:pt x="239" y="3"/>
                  </a:lnTo>
                  <a:lnTo>
                    <a:pt x="197" y="5"/>
                  </a:lnTo>
                  <a:lnTo>
                    <a:pt x="158" y="5"/>
                  </a:lnTo>
                  <a:lnTo>
                    <a:pt x="123" y="5"/>
                  </a:lnTo>
                  <a:lnTo>
                    <a:pt x="91" y="5"/>
                  </a:lnTo>
                  <a:lnTo>
                    <a:pt x="64" y="5"/>
                  </a:lnTo>
                  <a:lnTo>
                    <a:pt x="41" y="5"/>
                  </a:lnTo>
                  <a:lnTo>
                    <a:pt x="22" y="5"/>
                  </a:lnTo>
                  <a:lnTo>
                    <a:pt x="9" y="5"/>
                  </a:lnTo>
                  <a:lnTo>
                    <a:pt x="0" y="5"/>
                  </a:lnTo>
                  <a:lnTo>
                    <a:pt x="0" y="2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3" name="Freeform 1048"/>
            <p:cNvSpPr>
              <a:spLocks/>
            </p:cNvSpPr>
            <p:nvPr/>
          </p:nvSpPr>
          <p:spPr bwMode="auto">
            <a:xfrm>
              <a:off x="4571" y="2370"/>
              <a:ext cx="67" cy="34"/>
            </a:xfrm>
            <a:custGeom>
              <a:avLst/>
              <a:gdLst>
                <a:gd name="T0" fmla="*/ 5 w 134"/>
                <a:gd name="T1" fmla="*/ 34 h 67"/>
                <a:gd name="T2" fmla="*/ 9 w 134"/>
                <a:gd name="T3" fmla="*/ 30 h 67"/>
                <a:gd name="T4" fmla="*/ 10 w 134"/>
                <a:gd name="T5" fmla="*/ 24 h 67"/>
                <a:gd name="T6" fmla="*/ 15 w 134"/>
                <a:gd name="T7" fmla="*/ 21 h 67"/>
                <a:gd name="T8" fmla="*/ 20 w 134"/>
                <a:gd name="T9" fmla="*/ 16 h 67"/>
                <a:gd name="T10" fmla="*/ 28 w 134"/>
                <a:gd name="T11" fmla="*/ 14 h 67"/>
                <a:gd name="T12" fmla="*/ 38 w 134"/>
                <a:gd name="T13" fmla="*/ 11 h 67"/>
                <a:gd name="T14" fmla="*/ 46 w 134"/>
                <a:gd name="T15" fmla="*/ 9 h 67"/>
                <a:gd name="T16" fmla="*/ 57 w 134"/>
                <a:gd name="T17" fmla="*/ 8 h 67"/>
                <a:gd name="T18" fmla="*/ 67 w 134"/>
                <a:gd name="T19" fmla="*/ 8 h 67"/>
                <a:gd name="T20" fmla="*/ 67 w 134"/>
                <a:gd name="T21" fmla="*/ 0 h 67"/>
                <a:gd name="T22" fmla="*/ 57 w 134"/>
                <a:gd name="T23" fmla="*/ 0 h 67"/>
                <a:gd name="T24" fmla="*/ 46 w 134"/>
                <a:gd name="T25" fmla="*/ 1 h 67"/>
                <a:gd name="T26" fmla="*/ 36 w 134"/>
                <a:gd name="T27" fmla="*/ 3 h 67"/>
                <a:gd name="T28" fmla="*/ 26 w 134"/>
                <a:gd name="T29" fmla="*/ 5 h 67"/>
                <a:gd name="T30" fmla="*/ 17 w 134"/>
                <a:gd name="T31" fmla="*/ 9 h 67"/>
                <a:gd name="T32" fmla="*/ 9 w 134"/>
                <a:gd name="T33" fmla="*/ 14 h 67"/>
                <a:gd name="T34" fmla="*/ 4 w 134"/>
                <a:gd name="T35" fmla="*/ 21 h 67"/>
                <a:gd name="T36" fmla="*/ 0 w 134"/>
                <a:gd name="T37" fmla="*/ 29 h 67"/>
                <a:gd name="T38" fmla="*/ 4 w 134"/>
                <a:gd name="T39" fmla="*/ 25 h 67"/>
                <a:gd name="T40" fmla="*/ 5 w 134"/>
                <a:gd name="T41" fmla="*/ 34 h 67"/>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34" h="67">
                  <a:moveTo>
                    <a:pt x="10" y="67"/>
                  </a:moveTo>
                  <a:lnTo>
                    <a:pt x="17" y="60"/>
                  </a:lnTo>
                  <a:lnTo>
                    <a:pt x="20" y="48"/>
                  </a:lnTo>
                  <a:lnTo>
                    <a:pt x="29" y="42"/>
                  </a:lnTo>
                  <a:lnTo>
                    <a:pt x="40" y="32"/>
                  </a:lnTo>
                  <a:lnTo>
                    <a:pt x="55" y="27"/>
                  </a:lnTo>
                  <a:lnTo>
                    <a:pt x="76" y="21"/>
                  </a:lnTo>
                  <a:lnTo>
                    <a:pt x="92" y="18"/>
                  </a:lnTo>
                  <a:lnTo>
                    <a:pt x="114" y="16"/>
                  </a:lnTo>
                  <a:lnTo>
                    <a:pt x="134" y="16"/>
                  </a:lnTo>
                  <a:lnTo>
                    <a:pt x="134" y="0"/>
                  </a:lnTo>
                  <a:lnTo>
                    <a:pt x="114" y="0"/>
                  </a:lnTo>
                  <a:lnTo>
                    <a:pt x="92" y="1"/>
                  </a:lnTo>
                  <a:lnTo>
                    <a:pt x="72" y="5"/>
                  </a:lnTo>
                  <a:lnTo>
                    <a:pt x="52" y="10"/>
                  </a:lnTo>
                  <a:lnTo>
                    <a:pt x="34" y="18"/>
                  </a:lnTo>
                  <a:lnTo>
                    <a:pt x="18" y="28"/>
                  </a:lnTo>
                  <a:lnTo>
                    <a:pt x="7" y="42"/>
                  </a:lnTo>
                  <a:lnTo>
                    <a:pt x="0" y="57"/>
                  </a:lnTo>
                  <a:lnTo>
                    <a:pt x="7" y="50"/>
                  </a:lnTo>
                  <a:lnTo>
                    <a:pt x="10" y="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4" name="Freeform 1049"/>
            <p:cNvSpPr>
              <a:spLocks/>
            </p:cNvSpPr>
            <p:nvPr/>
          </p:nvSpPr>
          <p:spPr bwMode="auto">
            <a:xfrm>
              <a:off x="4511" y="2396"/>
              <a:ext cx="65" cy="21"/>
            </a:xfrm>
            <a:custGeom>
              <a:avLst/>
              <a:gdLst>
                <a:gd name="T0" fmla="*/ 1 w 129"/>
                <a:gd name="T1" fmla="*/ 21 h 42"/>
                <a:gd name="T2" fmla="*/ 2 w 129"/>
                <a:gd name="T3" fmla="*/ 21 h 42"/>
                <a:gd name="T4" fmla="*/ 8 w 129"/>
                <a:gd name="T5" fmla="*/ 20 h 42"/>
                <a:gd name="T6" fmla="*/ 15 w 129"/>
                <a:gd name="T7" fmla="*/ 18 h 42"/>
                <a:gd name="T8" fmla="*/ 26 w 129"/>
                <a:gd name="T9" fmla="*/ 16 h 42"/>
                <a:gd name="T10" fmla="*/ 37 w 129"/>
                <a:gd name="T11" fmla="*/ 14 h 42"/>
                <a:gd name="T12" fmla="*/ 47 w 129"/>
                <a:gd name="T13" fmla="*/ 12 h 42"/>
                <a:gd name="T14" fmla="*/ 56 w 129"/>
                <a:gd name="T15" fmla="*/ 10 h 42"/>
                <a:gd name="T16" fmla="*/ 62 w 129"/>
                <a:gd name="T17" fmla="*/ 10 h 42"/>
                <a:gd name="T18" fmla="*/ 65 w 129"/>
                <a:gd name="T19" fmla="*/ 9 h 42"/>
                <a:gd name="T20" fmla="*/ 63 w 129"/>
                <a:gd name="T21" fmla="*/ 0 h 42"/>
                <a:gd name="T22" fmla="*/ 61 w 129"/>
                <a:gd name="T23" fmla="*/ 1 h 42"/>
                <a:gd name="T24" fmla="*/ 56 w 129"/>
                <a:gd name="T25" fmla="*/ 2 h 42"/>
                <a:gd name="T26" fmla="*/ 47 w 129"/>
                <a:gd name="T27" fmla="*/ 4 h 42"/>
                <a:gd name="T28" fmla="*/ 35 w 129"/>
                <a:gd name="T29" fmla="*/ 5 h 42"/>
                <a:gd name="T30" fmla="*/ 24 w 129"/>
                <a:gd name="T31" fmla="*/ 8 h 42"/>
                <a:gd name="T32" fmla="*/ 15 w 129"/>
                <a:gd name="T33" fmla="*/ 10 h 42"/>
                <a:gd name="T34" fmla="*/ 6 w 129"/>
                <a:gd name="T35" fmla="*/ 11 h 42"/>
                <a:gd name="T36" fmla="*/ 0 w 129"/>
                <a:gd name="T37" fmla="*/ 13 h 42"/>
                <a:gd name="T38" fmla="*/ 1 w 129"/>
                <a:gd name="T39" fmla="*/ 13 h 42"/>
                <a:gd name="T40" fmla="*/ 1 w 129"/>
                <a:gd name="T41" fmla="*/ 21 h 42"/>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129" h="42">
                  <a:moveTo>
                    <a:pt x="1" y="42"/>
                  </a:moveTo>
                  <a:lnTo>
                    <a:pt x="3" y="42"/>
                  </a:lnTo>
                  <a:lnTo>
                    <a:pt x="15" y="39"/>
                  </a:lnTo>
                  <a:lnTo>
                    <a:pt x="30" y="35"/>
                  </a:lnTo>
                  <a:lnTo>
                    <a:pt x="52" y="32"/>
                  </a:lnTo>
                  <a:lnTo>
                    <a:pt x="74" y="27"/>
                  </a:lnTo>
                  <a:lnTo>
                    <a:pt x="94" y="24"/>
                  </a:lnTo>
                  <a:lnTo>
                    <a:pt x="111" y="20"/>
                  </a:lnTo>
                  <a:lnTo>
                    <a:pt x="124" y="19"/>
                  </a:lnTo>
                  <a:lnTo>
                    <a:pt x="129" y="17"/>
                  </a:lnTo>
                  <a:lnTo>
                    <a:pt x="126" y="0"/>
                  </a:lnTo>
                  <a:lnTo>
                    <a:pt x="121" y="2"/>
                  </a:lnTo>
                  <a:lnTo>
                    <a:pt x="111" y="3"/>
                  </a:lnTo>
                  <a:lnTo>
                    <a:pt x="94" y="7"/>
                  </a:lnTo>
                  <a:lnTo>
                    <a:pt x="70" y="10"/>
                  </a:lnTo>
                  <a:lnTo>
                    <a:pt x="48" y="15"/>
                  </a:lnTo>
                  <a:lnTo>
                    <a:pt x="30" y="19"/>
                  </a:lnTo>
                  <a:lnTo>
                    <a:pt x="11" y="22"/>
                  </a:lnTo>
                  <a:lnTo>
                    <a:pt x="0" y="25"/>
                  </a:lnTo>
                  <a:lnTo>
                    <a:pt x="1" y="25"/>
                  </a:lnTo>
                  <a:lnTo>
                    <a:pt x="1"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5" name="Freeform 1050"/>
            <p:cNvSpPr>
              <a:spLocks/>
            </p:cNvSpPr>
            <p:nvPr/>
          </p:nvSpPr>
          <p:spPr bwMode="auto">
            <a:xfrm>
              <a:off x="4485" y="2408"/>
              <a:ext cx="27" cy="25"/>
            </a:xfrm>
            <a:custGeom>
              <a:avLst/>
              <a:gdLst>
                <a:gd name="T0" fmla="*/ 8 w 53"/>
                <a:gd name="T1" fmla="*/ 25 h 51"/>
                <a:gd name="T2" fmla="*/ 8 w 53"/>
                <a:gd name="T3" fmla="*/ 25 h 51"/>
                <a:gd name="T4" fmla="*/ 10 w 53"/>
                <a:gd name="T5" fmla="*/ 17 h 51"/>
                <a:gd name="T6" fmla="*/ 13 w 53"/>
                <a:gd name="T7" fmla="*/ 12 h 51"/>
                <a:gd name="T8" fmla="*/ 19 w 53"/>
                <a:gd name="T9" fmla="*/ 10 h 51"/>
                <a:gd name="T10" fmla="*/ 27 w 53"/>
                <a:gd name="T11" fmla="*/ 8 h 51"/>
                <a:gd name="T12" fmla="*/ 27 w 53"/>
                <a:gd name="T13" fmla="*/ 0 h 51"/>
                <a:gd name="T14" fmla="*/ 18 w 53"/>
                <a:gd name="T15" fmla="*/ 2 h 51"/>
                <a:gd name="T16" fmla="*/ 8 w 53"/>
                <a:gd name="T17" fmla="*/ 6 h 51"/>
                <a:gd name="T18" fmla="*/ 2 w 53"/>
                <a:gd name="T19" fmla="*/ 13 h 51"/>
                <a:gd name="T20" fmla="*/ 0 w 53"/>
                <a:gd name="T21" fmla="*/ 25 h 51"/>
                <a:gd name="T22" fmla="*/ 0 w 53"/>
                <a:gd name="T23" fmla="*/ 25 h 51"/>
                <a:gd name="T24" fmla="*/ 8 w 53"/>
                <a:gd name="T25" fmla="*/ 25 h 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3" h="51">
                  <a:moveTo>
                    <a:pt x="16" y="51"/>
                  </a:moveTo>
                  <a:lnTo>
                    <a:pt x="16" y="51"/>
                  </a:lnTo>
                  <a:lnTo>
                    <a:pt x="20" y="34"/>
                  </a:lnTo>
                  <a:lnTo>
                    <a:pt x="26" y="25"/>
                  </a:lnTo>
                  <a:lnTo>
                    <a:pt x="38" y="20"/>
                  </a:lnTo>
                  <a:lnTo>
                    <a:pt x="53" y="17"/>
                  </a:lnTo>
                  <a:lnTo>
                    <a:pt x="53" y="0"/>
                  </a:lnTo>
                  <a:lnTo>
                    <a:pt x="35" y="4"/>
                  </a:lnTo>
                  <a:lnTo>
                    <a:pt x="16" y="12"/>
                  </a:lnTo>
                  <a:lnTo>
                    <a:pt x="3" y="27"/>
                  </a:lnTo>
                  <a:lnTo>
                    <a:pt x="0" y="51"/>
                  </a:lnTo>
                  <a:lnTo>
                    <a:pt x="16" y="5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6" name="Freeform 1051"/>
            <p:cNvSpPr>
              <a:spLocks/>
            </p:cNvSpPr>
            <p:nvPr/>
          </p:nvSpPr>
          <p:spPr bwMode="auto">
            <a:xfrm>
              <a:off x="4485" y="2433"/>
              <a:ext cx="8" cy="408"/>
            </a:xfrm>
            <a:custGeom>
              <a:avLst/>
              <a:gdLst>
                <a:gd name="T0" fmla="*/ 8 w 16"/>
                <a:gd name="T1" fmla="*/ 408 h 816"/>
                <a:gd name="T2" fmla="*/ 8 w 16"/>
                <a:gd name="T3" fmla="*/ 408 h 816"/>
                <a:gd name="T4" fmla="*/ 8 w 16"/>
                <a:gd name="T5" fmla="*/ 342 h 816"/>
                <a:gd name="T6" fmla="*/ 8 w 16"/>
                <a:gd name="T7" fmla="*/ 206 h 816"/>
                <a:gd name="T8" fmla="*/ 8 w 16"/>
                <a:gd name="T9" fmla="*/ 69 h 816"/>
                <a:gd name="T10" fmla="*/ 8 w 16"/>
                <a:gd name="T11" fmla="*/ 0 h 816"/>
                <a:gd name="T12" fmla="*/ 0 w 16"/>
                <a:gd name="T13" fmla="*/ 0 h 816"/>
                <a:gd name="T14" fmla="*/ 0 w 16"/>
                <a:gd name="T15" fmla="*/ 69 h 816"/>
                <a:gd name="T16" fmla="*/ 0 w 16"/>
                <a:gd name="T17" fmla="*/ 206 h 816"/>
                <a:gd name="T18" fmla="*/ 0 w 16"/>
                <a:gd name="T19" fmla="*/ 342 h 816"/>
                <a:gd name="T20" fmla="*/ 0 w 16"/>
                <a:gd name="T21" fmla="*/ 408 h 816"/>
                <a:gd name="T22" fmla="*/ 0 w 16"/>
                <a:gd name="T23" fmla="*/ 408 h 816"/>
                <a:gd name="T24" fmla="*/ 8 w 16"/>
                <a:gd name="T25" fmla="*/ 408 h 81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6" h="816">
                  <a:moveTo>
                    <a:pt x="16" y="816"/>
                  </a:moveTo>
                  <a:lnTo>
                    <a:pt x="16" y="816"/>
                  </a:lnTo>
                  <a:lnTo>
                    <a:pt x="16" y="683"/>
                  </a:lnTo>
                  <a:lnTo>
                    <a:pt x="16" y="411"/>
                  </a:lnTo>
                  <a:lnTo>
                    <a:pt x="16" y="137"/>
                  </a:lnTo>
                  <a:lnTo>
                    <a:pt x="16" y="0"/>
                  </a:lnTo>
                  <a:lnTo>
                    <a:pt x="0" y="0"/>
                  </a:lnTo>
                  <a:lnTo>
                    <a:pt x="0" y="137"/>
                  </a:lnTo>
                  <a:lnTo>
                    <a:pt x="0" y="411"/>
                  </a:lnTo>
                  <a:lnTo>
                    <a:pt x="0" y="683"/>
                  </a:lnTo>
                  <a:lnTo>
                    <a:pt x="0" y="816"/>
                  </a:lnTo>
                  <a:lnTo>
                    <a:pt x="16" y="81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7" name="Freeform 1052"/>
            <p:cNvSpPr>
              <a:spLocks/>
            </p:cNvSpPr>
            <p:nvPr/>
          </p:nvSpPr>
          <p:spPr bwMode="auto">
            <a:xfrm>
              <a:off x="4485" y="2841"/>
              <a:ext cx="21" cy="29"/>
            </a:xfrm>
            <a:custGeom>
              <a:avLst/>
              <a:gdLst>
                <a:gd name="T0" fmla="*/ 21 w 42"/>
                <a:gd name="T1" fmla="*/ 22 h 57"/>
                <a:gd name="T2" fmla="*/ 21 w 42"/>
                <a:gd name="T3" fmla="*/ 22 h 57"/>
                <a:gd name="T4" fmla="*/ 15 w 42"/>
                <a:gd name="T5" fmla="*/ 17 h 57"/>
                <a:gd name="T6" fmla="*/ 11 w 42"/>
                <a:gd name="T7" fmla="*/ 14 h 57"/>
                <a:gd name="T8" fmla="*/ 9 w 42"/>
                <a:gd name="T9" fmla="*/ 8 h 57"/>
                <a:gd name="T10" fmla="*/ 8 w 42"/>
                <a:gd name="T11" fmla="*/ 0 h 57"/>
                <a:gd name="T12" fmla="*/ 0 w 42"/>
                <a:gd name="T13" fmla="*/ 0 h 57"/>
                <a:gd name="T14" fmla="*/ 1 w 42"/>
                <a:gd name="T15" fmla="*/ 9 h 57"/>
                <a:gd name="T16" fmla="*/ 4 w 42"/>
                <a:gd name="T17" fmla="*/ 17 h 57"/>
                <a:gd name="T18" fmla="*/ 10 w 42"/>
                <a:gd name="T19" fmla="*/ 24 h 57"/>
                <a:gd name="T20" fmla="*/ 18 w 42"/>
                <a:gd name="T21" fmla="*/ 29 h 57"/>
                <a:gd name="T22" fmla="*/ 18 w 42"/>
                <a:gd name="T23" fmla="*/ 29 h 57"/>
                <a:gd name="T24" fmla="*/ 21 w 42"/>
                <a:gd name="T25" fmla="*/ 22 h 57"/>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2" h="57">
                  <a:moveTo>
                    <a:pt x="42" y="44"/>
                  </a:moveTo>
                  <a:lnTo>
                    <a:pt x="42" y="44"/>
                  </a:lnTo>
                  <a:lnTo>
                    <a:pt x="30" y="33"/>
                  </a:lnTo>
                  <a:lnTo>
                    <a:pt x="21" y="27"/>
                  </a:lnTo>
                  <a:lnTo>
                    <a:pt x="18" y="15"/>
                  </a:lnTo>
                  <a:lnTo>
                    <a:pt x="16" y="0"/>
                  </a:lnTo>
                  <a:lnTo>
                    <a:pt x="0" y="0"/>
                  </a:lnTo>
                  <a:lnTo>
                    <a:pt x="1" y="18"/>
                  </a:lnTo>
                  <a:lnTo>
                    <a:pt x="8" y="33"/>
                  </a:lnTo>
                  <a:lnTo>
                    <a:pt x="20" y="47"/>
                  </a:lnTo>
                  <a:lnTo>
                    <a:pt x="35" y="57"/>
                  </a:lnTo>
                  <a:lnTo>
                    <a:pt x="42" y="4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8" name="Freeform 1053"/>
            <p:cNvSpPr>
              <a:spLocks/>
            </p:cNvSpPr>
            <p:nvPr/>
          </p:nvSpPr>
          <p:spPr bwMode="auto">
            <a:xfrm>
              <a:off x="4502" y="2863"/>
              <a:ext cx="74" cy="49"/>
            </a:xfrm>
            <a:custGeom>
              <a:avLst/>
              <a:gdLst>
                <a:gd name="T0" fmla="*/ 74 w 148"/>
                <a:gd name="T1" fmla="*/ 45 h 97"/>
                <a:gd name="T2" fmla="*/ 72 w 148"/>
                <a:gd name="T3" fmla="*/ 42 h 97"/>
                <a:gd name="T4" fmla="*/ 69 w 148"/>
                <a:gd name="T5" fmla="*/ 40 h 97"/>
                <a:gd name="T6" fmla="*/ 62 w 148"/>
                <a:gd name="T7" fmla="*/ 36 h 97"/>
                <a:gd name="T8" fmla="*/ 53 w 148"/>
                <a:gd name="T9" fmla="*/ 30 h 97"/>
                <a:gd name="T10" fmla="*/ 42 w 148"/>
                <a:gd name="T11" fmla="*/ 24 h 97"/>
                <a:gd name="T12" fmla="*/ 30 w 148"/>
                <a:gd name="T13" fmla="*/ 16 h 97"/>
                <a:gd name="T14" fmla="*/ 20 w 148"/>
                <a:gd name="T15" fmla="*/ 9 h 97"/>
                <a:gd name="T16" fmla="*/ 10 w 148"/>
                <a:gd name="T17" fmla="*/ 3 h 97"/>
                <a:gd name="T18" fmla="*/ 4 w 148"/>
                <a:gd name="T19" fmla="*/ 0 h 97"/>
                <a:gd name="T20" fmla="*/ 0 w 148"/>
                <a:gd name="T21" fmla="*/ 7 h 97"/>
                <a:gd name="T22" fmla="*/ 7 w 148"/>
                <a:gd name="T23" fmla="*/ 10 h 97"/>
                <a:gd name="T24" fmla="*/ 16 w 148"/>
                <a:gd name="T25" fmla="*/ 16 h 97"/>
                <a:gd name="T26" fmla="*/ 27 w 148"/>
                <a:gd name="T27" fmla="*/ 23 h 97"/>
                <a:gd name="T28" fmla="*/ 39 w 148"/>
                <a:gd name="T29" fmla="*/ 30 h 97"/>
                <a:gd name="T30" fmla="*/ 50 w 148"/>
                <a:gd name="T31" fmla="*/ 37 h 97"/>
                <a:gd name="T32" fmla="*/ 59 w 148"/>
                <a:gd name="T33" fmla="*/ 43 h 97"/>
                <a:gd name="T34" fmla="*/ 66 w 148"/>
                <a:gd name="T35" fmla="*/ 47 h 97"/>
                <a:gd name="T36" fmla="*/ 68 w 148"/>
                <a:gd name="T37" fmla="*/ 49 h 97"/>
                <a:gd name="T38" fmla="*/ 66 w 148"/>
                <a:gd name="T39" fmla="*/ 45 h 97"/>
                <a:gd name="T40" fmla="*/ 74 w 148"/>
                <a:gd name="T41" fmla="*/ 45 h 97"/>
                <a:gd name="T42" fmla="*/ 74 w 148"/>
                <a:gd name="T43" fmla="*/ 44 h 97"/>
                <a:gd name="T44" fmla="*/ 72 w 148"/>
                <a:gd name="T45" fmla="*/ 42 h 97"/>
                <a:gd name="T46" fmla="*/ 74 w 148"/>
                <a:gd name="T47" fmla="*/ 45 h 97"/>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48" h="97">
                  <a:moveTo>
                    <a:pt x="148" y="90"/>
                  </a:moveTo>
                  <a:lnTo>
                    <a:pt x="143" y="84"/>
                  </a:lnTo>
                  <a:lnTo>
                    <a:pt x="138" y="80"/>
                  </a:lnTo>
                  <a:lnTo>
                    <a:pt x="124" y="72"/>
                  </a:lnTo>
                  <a:lnTo>
                    <a:pt x="106" y="60"/>
                  </a:lnTo>
                  <a:lnTo>
                    <a:pt x="84" y="47"/>
                  </a:lnTo>
                  <a:lnTo>
                    <a:pt x="60" y="31"/>
                  </a:lnTo>
                  <a:lnTo>
                    <a:pt x="39" y="18"/>
                  </a:lnTo>
                  <a:lnTo>
                    <a:pt x="20" y="6"/>
                  </a:lnTo>
                  <a:lnTo>
                    <a:pt x="7" y="0"/>
                  </a:lnTo>
                  <a:lnTo>
                    <a:pt x="0" y="13"/>
                  </a:lnTo>
                  <a:lnTo>
                    <a:pt x="13" y="20"/>
                  </a:lnTo>
                  <a:lnTo>
                    <a:pt x="32" y="31"/>
                  </a:lnTo>
                  <a:lnTo>
                    <a:pt x="54" y="45"/>
                  </a:lnTo>
                  <a:lnTo>
                    <a:pt x="77" y="60"/>
                  </a:lnTo>
                  <a:lnTo>
                    <a:pt x="99" y="73"/>
                  </a:lnTo>
                  <a:lnTo>
                    <a:pt x="118" y="85"/>
                  </a:lnTo>
                  <a:lnTo>
                    <a:pt x="131" y="94"/>
                  </a:lnTo>
                  <a:lnTo>
                    <a:pt x="136" y="97"/>
                  </a:lnTo>
                  <a:lnTo>
                    <a:pt x="131" y="90"/>
                  </a:lnTo>
                  <a:lnTo>
                    <a:pt x="148" y="90"/>
                  </a:lnTo>
                  <a:lnTo>
                    <a:pt x="148" y="87"/>
                  </a:lnTo>
                  <a:lnTo>
                    <a:pt x="143" y="84"/>
                  </a:lnTo>
                  <a:lnTo>
                    <a:pt x="148" y="9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09" name="Freeform 1054"/>
            <p:cNvSpPr>
              <a:spLocks/>
            </p:cNvSpPr>
            <p:nvPr/>
          </p:nvSpPr>
          <p:spPr bwMode="auto">
            <a:xfrm>
              <a:off x="4568" y="2909"/>
              <a:ext cx="21" cy="40"/>
            </a:xfrm>
            <a:custGeom>
              <a:avLst/>
              <a:gdLst>
                <a:gd name="T0" fmla="*/ 21 w 42"/>
                <a:gd name="T1" fmla="*/ 32 h 81"/>
                <a:gd name="T2" fmla="*/ 21 w 42"/>
                <a:gd name="T3" fmla="*/ 32 h 81"/>
                <a:gd name="T4" fmla="*/ 13 w 42"/>
                <a:gd name="T5" fmla="*/ 25 h 81"/>
                <a:gd name="T6" fmla="*/ 9 w 42"/>
                <a:gd name="T7" fmla="*/ 14 h 81"/>
                <a:gd name="T8" fmla="*/ 9 w 42"/>
                <a:gd name="T9" fmla="*/ 5 h 81"/>
                <a:gd name="T10" fmla="*/ 9 w 42"/>
                <a:gd name="T11" fmla="*/ 0 h 81"/>
                <a:gd name="T12" fmla="*/ 0 w 42"/>
                <a:gd name="T13" fmla="*/ 0 h 81"/>
                <a:gd name="T14" fmla="*/ 0 w 42"/>
                <a:gd name="T15" fmla="*/ 5 h 81"/>
                <a:gd name="T16" fmla="*/ 1 w 42"/>
                <a:gd name="T17" fmla="*/ 16 h 81"/>
                <a:gd name="T18" fmla="*/ 6 w 42"/>
                <a:gd name="T19" fmla="*/ 30 h 81"/>
                <a:gd name="T20" fmla="*/ 20 w 42"/>
                <a:gd name="T21" fmla="*/ 40 h 81"/>
                <a:gd name="T22" fmla="*/ 20 w 42"/>
                <a:gd name="T23" fmla="*/ 40 h 81"/>
                <a:gd name="T24" fmla="*/ 21 w 42"/>
                <a:gd name="T25" fmla="*/ 32 h 8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2" h="81">
                  <a:moveTo>
                    <a:pt x="42" y="64"/>
                  </a:moveTo>
                  <a:lnTo>
                    <a:pt x="42" y="64"/>
                  </a:lnTo>
                  <a:lnTo>
                    <a:pt x="25" y="51"/>
                  </a:lnTo>
                  <a:lnTo>
                    <a:pt x="18" y="29"/>
                  </a:lnTo>
                  <a:lnTo>
                    <a:pt x="17" y="10"/>
                  </a:lnTo>
                  <a:lnTo>
                    <a:pt x="17" y="0"/>
                  </a:lnTo>
                  <a:lnTo>
                    <a:pt x="0" y="0"/>
                  </a:lnTo>
                  <a:lnTo>
                    <a:pt x="0" y="10"/>
                  </a:lnTo>
                  <a:lnTo>
                    <a:pt x="2" y="32"/>
                  </a:lnTo>
                  <a:lnTo>
                    <a:pt x="12" y="61"/>
                  </a:lnTo>
                  <a:lnTo>
                    <a:pt x="39" y="81"/>
                  </a:lnTo>
                  <a:lnTo>
                    <a:pt x="42" y="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0" name="Freeform 1055"/>
            <p:cNvSpPr>
              <a:spLocks/>
            </p:cNvSpPr>
            <p:nvPr/>
          </p:nvSpPr>
          <p:spPr bwMode="auto">
            <a:xfrm>
              <a:off x="4587" y="2941"/>
              <a:ext cx="58" cy="22"/>
            </a:xfrm>
            <a:custGeom>
              <a:avLst/>
              <a:gdLst>
                <a:gd name="T0" fmla="*/ 57 w 116"/>
                <a:gd name="T1" fmla="*/ 14 h 45"/>
                <a:gd name="T2" fmla="*/ 58 w 116"/>
                <a:gd name="T3" fmla="*/ 14 h 45"/>
                <a:gd name="T4" fmla="*/ 56 w 116"/>
                <a:gd name="T5" fmla="*/ 14 h 45"/>
                <a:gd name="T6" fmla="*/ 52 w 116"/>
                <a:gd name="T7" fmla="*/ 12 h 45"/>
                <a:gd name="T8" fmla="*/ 45 w 116"/>
                <a:gd name="T9" fmla="*/ 11 h 45"/>
                <a:gd name="T10" fmla="*/ 38 w 116"/>
                <a:gd name="T11" fmla="*/ 9 h 45"/>
                <a:gd name="T12" fmla="*/ 29 w 116"/>
                <a:gd name="T13" fmla="*/ 6 h 45"/>
                <a:gd name="T14" fmla="*/ 19 w 116"/>
                <a:gd name="T15" fmla="*/ 5 h 45"/>
                <a:gd name="T16" fmla="*/ 10 w 116"/>
                <a:gd name="T17" fmla="*/ 2 h 45"/>
                <a:gd name="T18" fmla="*/ 2 w 116"/>
                <a:gd name="T19" fmla="*/ 0 h 45"/>
                <a:gd name="T20" fmla="*/ 0 w 116"/>
                <a:gd name="T21" fmla="*/ 8 h 45"/>
                <a:gd name="T22" fmla="*/ 8 w 116"/>
                <a:gd name="T23" fmla="*/ 11 h 45"/>
                <a:gd name="T24" fmla="*/ 18 w 116"/>
                <a:gd name="T25" fmla="*/ 13 h 45"/>
                <a:gd name="T26" fmla="*/ 27 w 116"/>
                <a:gd name="T27" fmla="*/ 15 h 45"/>
                <a:gd name="T28" fmla="*/ 36 w 116"/>
                <a:gd name="T29" fmla="*/ 17 h 45"/>
                <a:gd name="T30" fmla="*/ 44 w 116"/>
                <a:gd name="T31" fmla="*/ 19 h 45"/>
                <a:gd name="T32" fmla="*/ 50 w 116"/>
                <a:gd name="T33" fmla="*/ 21 h 45"/>
                <a:gd name="T34" fmla="*/ 55 w 116"/>
                <a:gd name="T35" fmla="*/ 22 h 45"/>
                <a:gd name="T36" fmla="*/ 56 w 116"/>
                <a:gd name="T37" fmla="*/ 22 h 45"/>
                <a:gd name="T38" fmla="*/ 57 w 116"/>
                <a:gd name="T39" fmla="*/ 22 h 45"/>
                <a:gd name="T40" fmla="*/ 56 w 116"/>
                <a:gd name="T41" fmla="*/ 22 h 45"/>
                <a:gd name="T42" fmla="*/ 57 w 116"/>
                <a:gd name="T43" fmla="*/ 22 h 45"/>
                <a:gd name="T44" fmla="*/ 57 w 116"/>
                <a:gd name="T45" fmla="*/ 22 h 45"/>
                <a:gd name="T46" fmla="*/ 57 w 116"/>
                <a:gd name="T47" fmla="*/ 14 h 45"/>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116" h="45">
                  <a:moveTo>
                    <a:pt x="114" y="29"/>
                  </a:moveTo>
                  <a:lnTo>
                    <a:pt x="116" y="29"/>
                  </a:lnTo>
                  <a:lnTo>
                    <a:pt x="112" y="29"/>
                  </a:lnTo>
                  <a:lnTo>
                    <a:pt x="104" y="25"/>
                  </a:lnTo>
                  <a:lnTo>
                    <a:pt x="90" y="22"/>
                  </a:lnTo>
                  <a:lnTo>
                    <a:pt x="75" y="19"/>
                  </a:lnTo>
                  <a:lnTo>
                    <a:pt x="57" y="13"/>
                  </a:lnTo>
                  <a:lnTo>
                    <a:pt x="38" y="10"/>
                  </a:lnTo>
                  <a:lnTo>
                    <a:pt x="20" y="5"/>
                  </a:lnTo>
                  <a:lnTo>
                    <a:pt x="3" y="0"/>
                  </a:lnTo>
                  <a:lnTo>
                    <a:pt x="0" y="17"/>
                  </a:lnTo>
                  <a:lnTo>
                    <a:pt x="16" y="22"/>
                  </a:lnTo>
                  <a:lnTo>
                    <a:pt x="35" y="27"/>
                  </a:lnTo>
                  <a:lnTo>
                    <a:pt x="53" y="30"/>
                  </a:lnTo>
                  <a:lnTo>
                    <a:pt x="72" y="35"/>
                  </a:lnTo>
                  <a:lnTo>
                    <a:pt x="87" y="39"/>
                  </a:lnTo>
                  <a:lnTo>
                    <a:pt x="100" y="42"/>
                  </a:lnTo>
                  <a:lnTo>
                    <a:pt x="109" y="45"/>
                  </a:lnTo>
                  <a:lnTo>
                    <a:pt x="112" y="45"/>
                  </a:lnTo>
                  <a:lnTo>
                    <a:pt x="114" y="45"/>
                  </a:lnTo>
                  <a:lnTo>
                    <a:pt x="112" y="45"/>
                  </a:lnTo>
                  <a:lnTo>
                    <a:pt x="114" y="45"/>
                  </a:lnTo>
                  <a:lnTo>
                    <a:pt x="114" y="2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1" name="Freeform 1056"/>
            <p:cNvSpPr>
              <a:spLocks/>
            </p:cNvSpPr>
            <p:nvPr/>
          </p:nvSpPr>
          <p:spPr bwMode="auto">
            <a:xfrm>
              <a:off x="4571" y="2400"/>
              <a:ext cx="7" cy="496"/>
            </a:xfrm>
            <a:custGeom>
              <a:avLst/>
              <a:gdLst>
                <a:gd name="T0" fmla="*/ 7 w 13"/>
                <a:gd name="T1" fmla="*/ 496 h 993"/>
                <a:gd name="T2" fmla="*/ 7 w 13"/>
                <a:gd name="T3" fmla="*/ 422 h 993"/>
                <a:gd name="T4" fmla="*/ 7 w 13"/>
                <a:gd name="T5" fmla="*/ 257 h 993"/>
                <a:gd name="T6" fmla="*/ 7 w 13"/>
                <a:gd name="T7" fmla="*/ 87 h 993"/>
                <a:gd name="T8" fmla="*/ 7 w 13"/>
                <a:gd name="T9" fmla="*/ 0 h 993"/>
                <a:gd name="T10" fmla="*/ 0 w 13"/>
                <a:gd name="T11" fmla="*/ 0 h 993"/>
                <a:gd name="T12" fmla="*/ 0 w 13"/>
                <a:gd name="T13" fmla="*/ 87 h 993"/>
                <a:gd name="T14" fmla="*/ 0 w 13"/>
                <a:gd name="T15" fmla="*/ 257 h 993"/>
                <a:gd name="T16" fmla="*/ 0 w 13"/>
                <a:gd name="T17" fmla="*/ 422 h 993"/>
                <a:gd name="T18" fmla="*/ 0 w 13"/>
                <a:gd name="T19" fmla="*/ 496 h 993"/>
                <a:gd name="T20" fmla="*/ 7 w 13"/>
                <a:gd name="T21" fmla="*/ 496 h 9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 h="993">
                  <a:moveTo>
                    <a:pt x="13" y="993"/>
                  </a:moveTo>
                  <a:lnTo>
                    <a:pt x="13" y="844"/>
                  </a:lnTo>
                  <a:lnTo>
                    <a:pt x="13" y="514"/>
                  </a:lnTo>
                  <a:lnTo>
                    <a:pt x="13" y="175"/>
                  </a:lnTo>
                  <a:lnTo>
                    <a:pt x="13" y="0"/>
                  </a:lnTo>
                  <a:lnTo>
                    <a:pt x="0" y="0"/>
                  </a:lnTo>
                  <a:lnTo>
                    <a:pt x="0" y="175"/>
                  </a:lnTo>
                  <a:lnTo>
                    <a:pt x="0" y="514"/>
                  </a:lnTo>
                  <a:lnTo>
                    <a:pt x="0" y="844"/>
                  </a:lnTo>
                  <a:lnTo>
                    <a:pt x="0" y="993"/>
                  </a:lnTo>
                  <a:lnTo>
                    <a:pt x="13" y="993"/>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2" name="Freeform 1057"/>
            <p:cNvSpPr>
              <a:spLocks/>
            </p:cNvSpPr>
            <p:nvPr/>
          </p:nvSpPr>
          <p:spPr bwMode="auto">
            <a:xfrm>
              <a:off x="4507" y="2416"/>
              <a:ext cx="58" cy="10"/>
            </a:xfrm>
            <a:custGeom>
              <a:avLst/>
              <a:gdLst>
                <a:gd name="T0" fmla="*/ 0 w 118"/>
                <a:gd name="T1" fmla="*/ 5 h 20"/>
                <a:gd name="T2" fmla="*/ 2 w 118"/>
                <a:gd name="T3" fmla="*/ 5 h 20"/>
                <a:gd name="T4" fmla="*/ 7 w 118"/>
                <a:gd name="T5" fmla="*/ 6 h 20"/>
                <a:gd name="T6" fmla="*/ 15 w 118"/>
                <a:gd name="T7" fmla="*/ 8 h 20"/>
                <a:gd name="T8" fmla="*/ 24 w 118"/>
                <a:gd name="T9" fmla="*/ 8 h 20"/>
                <a:gd name="T10" fmla="*/ 34 w 118"/>
                <a:gd name="T11" fmla="*/ 8 h 20"/>
                <a:gd name="T12" fmla="*/ 43 w 118"/>
                <a:gd name="T13" fmla="*/ 9 h 20"/>
                <a:gd name="T14" fmla="*/ 51 w 118"/>
                <a:gd name="T15" fmla="*/ 10 h 20"/>
                <a:gd name="T16" fmla="*/ 58 w 118"/>
                <a:gd name="T17" fmla="*/ 10 h 20"/>
                <a:gd name="T18" fmla="*/ 58 w 118"/>
                <a:gd name="T19" fmla="*/ 4 h 20"/>
                <a:gd name="T20" fmla="*/ 51 w 118"/>
                <a:gd name="T21" fmla="*/ 4 h 20"/>
                <a:gd name="T22" fmla="*/ 43 w 118"/>
                <a:gd name="T23" fmla="*/ 4 h 20"/>
                <a:gd name="T24" fmla="*/ 34 w 118"/>
                <a:gd name="T25" fmla="*/ 3 h 20"/>
                <a:gd name="T26" fmla="*/ 24 w 118"/>
                <a:gd name="T27" fmla="*/ 1 h 20"/>
                <a:gd name="T28" fmla="*/ 15 w 118"/>
                <a:gd name="T29" fmla="*/ 1 h 20"/>
                <a:gd name="T30" fmla="*/ 7 w 118"/>
                <a:gd name="T31" fmla="*/ 1 h 20"/>
                <a:gd name="T32" fmla="*/ 2 w 118"/>
                <a:gd name="T33" fmla="*/ 0 h 20"/>
                <a:gd name="T34" fmla="*/ 0 w 118"/>
                <a:gd name="T35" fmla="*/ 0 h 20"/>
                <a:gd name="T36" fmla="*/ 0 w 118"/>
                <a:gd name="T37" fmla="*/ 5 h 20"/>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118" h="20">
                  <a:moveTo>
                    <a:pt x="0" y="10"/>
                  </a:moveTo>
                  <a:lnTo>
                    <a:pt x="4" y="10"/>
                  </a:lnTo>
                  <a:lnTo>
                    <a:pt x="15" y="12"/>
                  </a:lnTo>
                  <a:lnTo>
                    <a:pt x="31" y="15"/>
                  </a:lnTo>
                  <a:lnTo>
                    <a:pt x="49" y="15"/>
                  </a:lnTo>
                  <a:lnTo>
                    <a:pt x="69" y="15"/>
                  </a:lnTo>
                  <a:lnTo>
                    <a:pt x="88" y="17"/>
                  </a:lnTo>
                  <a:lnTo>
                    <a:pt x="104" y="20"/>
                  </a:lnTo>
                  <a:lnTo>
                    <a:pt x="118" y="20"/>
                  </a:lnTo>
                  <a:lnTo>
                    <a:pt x="118" y="7"/>
                  </a:lnTo>
                  <a:lnTo>
                    <a:pt x="104" y="7"/>
                  </a:lnTo>
                  <a:lnTo>
                    <a:pt x="88" y="7"/>
                  </a:lnTo>
                  <a:lnTo>
                    <a:pt x="69" y="5"/>
                  </a:lnTo>
                  <a:lnTo>
                    <a:pt x="49" y="2"/>
                  </a:lnTo>
                  <a:lnTo>
                    <a:pt x="31" y="2"/>
                  </a:lnTo>
                  <a:lnTo>
                    <a:pt x="15" y="2"/>
                  </a:lnTo>
                  <a:lnTo>
                    <a:pt x="4" y="0"/>
                  </a:lnTo>
                  <a:lnTo>
                    <a:pt x="0" y="0"/>
                  </a:lnTo>
                  <a:lnTo>
                    <a:pt x="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3" name="Freeform 1058"/>
            <p:cNvSpPr>
              <a:spLocks/>
            </p:cNvSpPr>
            <p:nvPr/>
          </p:nvSpPr>
          <p:spPr bwMode="auto">
            <a:xfrm>
              <a:off x="4663" y="2429"/>
              <a:ext cx="19" cy="20"/>
            </a:xfrm>
            <a:custGeom>
              <a:avLst/>
              <a:gdLst>
                <a:gd name="T0" fmla="*/ 6 w 39"/>
                <a:gd name="T1" fmla="*/ 20 h 41"/>
                <a:gd name="T2" fmla="*/ 6 w 39"/>
                <a:gd name="T3" fmla="*/ 20 h 41"/>
                <a:gd name="T4" fmla="*/ 6 w 39"/>
                <a:gd name="T5" fmla="*/ 14 h 41"/>
                <a:gd name="T6" fmla="*/ 9 w 39"/>
                <a:gd name="T7" fmla="*/ 9 h 41"/>
                <a:gd name="T8" fmla="*/ 13 w 39"/>
                <a:gd name="T9" fmla="*/ 7 h 41"/>
                <a:gd name="T10" fmla="*/ 19 w 39"/>
                <a:gd name="T11" fmla="*/ 7 h 41"/>
                <a:gd name="T12" fmla="*/ 19 w 39"/>
                <a:gd name="T13" fmla="*/ 0 h 41"/>
                <a:gd name="T14" fmla="*/ 11 w 39"/>
                <a:gd name="T15" fmla="*/ 2 h 41"/>
                <a:gd name="T16" fmla="*/ 6 w 39"/>
                <a:gd name="T17" fmla="*/ 6 h 41"/>
                <a:gd name="T18" fmla="*/ 1 w 39"/>
                <a:gd name="T19" fmla="*/ 12 h 41"/>
                <a:gd name="T20" fmla="*/ 0 w 39"/>
                <a:gd name="T21" fmla="*/ 20 h 41"/>
                <a:gd name="T22" fmla="*/ 0 w 39"/>
                <a:gd name="T23" fmla="*/ 20 h 41"/>
                <a:gd name="T24" fmla="*/ 6 w 39"/>
                <a:gd name="T25" fmla="*/ 20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9" h="41">
                  <a:moveTo>
                    <a:pt x="13" y="41"/>
                  </a:moveTo>
                  <a:lnTo>
                    <a:pt x="13" y="41"/>
                  </a:lnTo>
                  <a:lnTo>
                    <a:pt x="13" y="29"/>
                  </a:lnTo>
                  <a:lnTo>
                    <a:pt x="18" y="19"/>
                  </a:lnTo>
                  <a:lnTo>
                    <a:pt x="27" y="14"/>
                  </a:lnTo>
                  <a:lnTo>
                    <a:pt x="39" y="14"/>
                  </a:lnTo>
                  <a:lnTo>
                    <a:pt x="39" y="0"/>
                  </a:lnTo>
                  <a:lnTo>
                    <a:pt x="23" y="4"/>
                  </a:lnTo>
                  <a:lnTo>
                    <a:pt x="12" y="12"/>
                  </a:lnTo>
                  <a:lnTo>
                    <a:pt x="3" y="25"/>
                  </a:lnTo>
                  <a:lnTo>
                    <a:pt x="0" y="41"/>
                  </a:lnTo>
                  <a:lnTo>
                    <a:pt x="13" y="4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4" name="Freeform 1059"/>
            <p:cNvSpPr>
              <a:spLocks/>
            </p:cNvSpPr>
            <p:nvPr/>
          </p:nvSpPr>
          <p:spPr bwMode="auto">
            <a:xfrm>
              <a:off x="4663" y="2449"/>
              <a:ext cx="7" cy="433"/>
            </a:xfrm>
            <a:custGeom>
              <a:avLst/>
              <a:gdLst>
                <a:gd name="T0" fmla="*/ 7 w 13"/>
                <a:gd name="T1" fmla="*/ 433 h 864"/>
                <a:gd name="T2" fmla="*/ 7 w 13"/>
                <a:gd name="T3" fmla="*/ 433 h 864"/>
                <a:gd name="T4" fmla="*/ 7 w 13"/>
                <a:gd name="T5" fmla="*/ 361 h 864"/>
                <a:gd name="T6" fmla="*/ 7 w 13"/>
                <a:gd name="T7" fmla="*/ 215 h 864"/>
                <a:gd name="T8" fmla="*/ 7 w 13"/>
                <a:gd name="T9" fmla="*/ 71 h 864"/>
                <a:gd name="T10" fmla="*/ 7 w 13"/>
                <a:gd name="T11" fmla="*/ 0 h 864"/>
                <a:gd name="T12" fmla="*/ 0 w 13"/>
                <a:gd name="T13" fmla="*/ 0 h 864"/>
                <a:gd name="T14" fmla="*/ 0 w 13"/>
                <a:gd name="T15" fmla="*/ 71 h 864"/>
                <a:gd name="T16" fmla="*/ 0 w 13"/>
                <a:gd name="T17" fmla="*/ 215 h 864"/>
                <a:gd name="T18" fmla="*/ 0 w 13"/>
                <a:gd name="T19" fmla="*/ 361 h 864"/>
                <a:gd name="T20" fmla="*/ 0 w 13"/>
                <a:gd name="T21" fmla="*/ 433 h 864"/>
                <a:gd name="T22" fmla="*/ 0 w 13"/>
                <a:gd name="T23" fmla="*/ 433 h 864"/>
                <a:gd name="T24" fmla="*/ 7 w 13"/>
                <a:gd name="T25" fmla="*/ 433 h 86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864">
                  <a:moveTo>
                    <a:pt x="13" y="864"/>
                  </a:moveTo>
                  <a:lnTo>
                    <a:pt x="13" y="864"/>
                  </a:lnTo>
                  <a:lnTo>
                    <a:pt x="13" y="720"/>
                  </a:lnTo>
                  <a:lnTo>
                    <a:pt x="13" y="429"/>
                  </a:lnTo>
                  <a:lnTo>
                    <a:pt x="13" y="141"/>
                  </a:lnTo>
                  <a:lnTo>
                    <a:pt x="13" y="0"/>
                  </a:lnTo>
                  <a:lnTo>
                    <a:pt x="0" y="0"/>
                  </a:lnTo>
                  <a:lnTo>
                    <a:pt x="0" y="141"/>
                  </a:lnTo>
                  <a:lnTo>
                    <a:pt x="0" y="429"/>
                  </a:lnTo>
                  <a:lnTo>
                    <a:pt x="0" y="720"/>
                  </a:lnTo>
                  <a:lnTo>
                    <a:pt x="0" y="864"/>
                  </a:lnTo>
                  <a:lnTo>
                    <a:pt x="13" y="86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5" name="Freeform 1060"/>
            <p:cNvSpPr>
              <a:spLocks/>
            </p:cNvSpPr>
            <p:nvPr/>
          </p:nvSpPr>
          <p:spPr bwMode="auto">
            <a:xfrm>
              <a:off x="4663" y="2882"/>
              <a:ext cx="17" cy="20"/>
            </a:xfrm>
            <a:custGeom>
              <a:avLst/>
              <a:gdLst>
                <a:gd name="T0" fmla="*/ 17 w 33"/>
                <a:gd name="T1" fmla="*/ 13 h 41"/>
                <a:gd name="T2" fmla="*/ 17 w 33"/>
                <a:gd name="T3" fmla="*/ 13 h 41"/>
                <a:gd name="T4" fmla="*/ 13 w 33"/>
                <a:gd name="T5" fmla="*/ 13 h 41"/>
                <a:gd name="T6" fmla="*/ 9 w 33"/>
                <a:gd name="T7" fmla="*/ 13 h 41"/>
                <a:gd name="T8" fmla="*/ 7 w 33"/>
                <a:gd name="T9" fmla="*/ 8 h 41"/>
                <a:gd name="T10" fmla="*/ 7 w 33"/>
                <a:gd name="T11" fmla="*/ 0 h 41"/>
                <a:gd name="T12" fmla="*/ 0 w 33"/>
                <a:gd name="T13" fmla="*/ 0 h 41"/>
                <a:gd name="T14" fmla="*/ 2 w 33"/>
                <a:gd name="T15" fmla="*/ 10 h 41"/>
                <a:gd name="T16" fmla="*/ 6 w 33"/>
                <a:gd name="T17" fmla="*/ 16 h 41"/>
                <a:gd name="T18" fmla="*/ 11 w 33"/>
                <a:gd name="T19" fmla="*/ 18 h 41"/>
                <a:gd name="T20" fmla="*/ 17 w 33"/>
                <a:gd name="T21" fmla="*/ 20 h 41"/>
                <a:gd name="T22" fmla="*/ 17 w 33"/>
                <a:gd name="T23" fmla="*/ 20 h 41"/>
                <a:gd name="T24" fmla="*/ 17 w 33"/>
                <a:gd name="T25" fmla="*/ 13 h 4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33" h="41">
                  <a:moveTo>
                    <a:pt x="33" y="27"/>
                  </a:moveTo>
                  <a:lnTo>
                    <a:pt x="33" y="27"/>
                  </a:lnTo>
                  <a:lnTo>
                    <a:pt x="25" y="27"/>
                  </a:lnTo>
                  <a:lnTo>
                    <a:pt x="18" y="26"/>
                  </a:lnTo>
                  <a:lnTo>
                    <a:pt x="13" y="17"/>
                  </a:lnTo>
                  <a:lnTo>
                    <a:pt x="13" y="0"/>
                  </a:lnTo>
                  <a:lnTo>
                    <a:pt x="0" y="0"/>
                  </a:lnTo>
                  <a:lnTo>
                    <a:pt x="3" y="21"/>
                  </a:lnTo>
                  <a:lnTo>
                    <a:pt x="12" y="32"/>
                  </a:lnTo>
                  <a:lnTo>
                    <a:pt x="22" y="37"/>
                  </a:lnTo>
                  <a:lnTo>
                    <a:pt x="33" y="41"/>
                  </a:lnTo>
                  <a:lnTo>
                    <a:pt x="33"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6" name="Freeform 1061"/>
            <p:cNvSpPr>
              <a:spLocks/>
            </p:cNvSpPr>
            <p:nvPr/>
          </p:nvSpPr>
          <p:spPr bwMode="auto">
            <a:xfrm>
              <a:off x="4680" y="2881"/>
              <a:ext cx="477" cy="21"/>
            </a:xfrm>
            <a:custGeom>
              <a:avLst/>
              <a:gdLst>
                <a:gd name="T0" fmla="*/ 477 w 955"/>
                <a:gd name="T1" fmla="*/ 0 h 42"/>
                <a:gd name="T2" fmla="*/ 477 w 955"/>
                <a:gd name="T3" fmla="*/ 0 h 42"/>
                <a:gd name="T4" fmla="*/ 470 w 955"/>
                <a:gd name="T5" fmla="*/ 1 h 42"/>
                <a:gd name="T6" fmla="*/ 453 w 955"/>
                <a:gd name="T7" fmla="*/ 2 h 42"/>
                <a:gd name="T8" fmla="*/ 428 w 955"/>
                <a:gd name="T9" fmla="*/ 2 h 42"/>
                <a:gd name="T10" fmla="*/ 398 w 955"/>
                <a:gd name="T11" fmla="*/ 4 h 42"/>
                <a:gd name="T12" fmla="*/ 362 w 955"/>
                <a:gd name="T13" fmla="*/ 5 h 42"/>
                <a:gd name="T14" fmla="*/ 322 w 955"/>
                <a:gd name="T15" fmla="*/ 6 h 42"/>
                <a:gd name="T16" fmla="*/ 280 w 955"/>
                <a:gd name="T17" fmla="*/ 8 h 42"/>
                <a:gd name="T18" fmla="*/ 236 w 955"/>
                <a:gd name="T19" fmla="*/ 9 h 42"/>
                <a:gd name="T20" fmla="*/ 192 w 955"/>
                <a:gd name="T21" fmla="*/ 10 h 42"/>
                <a:gd name="T22" fmla="*/ 150 w 955"/>
                <a:gd name="T23" fmla="*/ 10 h 42"/>
                <a:gd name="T24" fmla="*/ 111 w 955"/>
                <a:gd name="T25" fmla="*/ 12 h 42"/>
                <a:gd name="T26" fmla="*/ 76 w 955"/>
                <a:gd name="T27" fmla="*/ 14 h 42"/>
                <a:gd name="T28" fmla="*/ 45 w 955"/>
                <a:gd name="T29" fmla="*/ 14 h 42"/>
                <a:gd name="T30" fmla="*/ 22 w 955"/>
                <a:gd name="T31" fmla="*/ 14 h 42"/>
                <a:gd name="T32" fmla="*/ 7 w 955"/>
                <a:gd name="T33" fmla="*/ 14 h 42"/>
                <a:gd name="T34" fmla="*/ 0 w 955"/>
                <a:gd name="T35" fmla="*/ 14 h 42"/>
                <a:gd name="T36" fmla="*/ 0 w 955"/>
                <a:gd name="T37" fmla="*/ 21 h 42"/>
                <a:gd name="T38" fmla="*/ 7 w 955"/>
                <a:gd name="T39" fmla="*/ 21 h 42"/>
                <a:gd name="T40" fmla="*/ 22 w 955"/>
                <a:gd name="T41" fmla="*/ 20 h 42"/>
                <a:gd name="T42" fmla="*/ 45 w 955"/>
                <a:gd name="T43" fmla="*/ 20 h 42"/>
                <a:gd name="T44" fmla="*/ 76 w 955"/>
                <a:gd name="T45" fmla="*/ 19 h 42"/>
                <a:gd name="T46" fmla="*/ 111 w 955"/>
                <a:gd name="T47" fmla="*/ 17 h 42"/>
                <a:gd name="T48" fmla="*/ 150 w 955"/>
                <a:gd name="T49" fmla="*/ 17 h 42"/>
                <a:gd name="T50" fmla="*/ 192 w 955"/>
                <a:gd name="T51" fmla="*/ 15 h 42"/>
                <a:gd name="T52" fmla="*/ 236 w 955"/>
                <a:gd name="T53" fmla="*/ 14 h 42"/>
                <a:gd name="T54" fmla="*/ 280 w 955"/>
                <a:gd name="T55" fmla="*/ 13 h 42"/>
                <a:gd name="T56" fmla="*/ 322 w 955"/>
                <a:gd name="T57" fmla="*/ 11 h 42"/>
                <a:gd name="T58" fmla="*/ 362 w 955"/>
                <a:gd name="T59" fmla="*/ 10 h 42"/>
                <a:gd name="T60" fmla="*/ 398 w 955"/>
                <a:gd name="T61" fmla="*/ 9 h 42"/>
                <a:gd name="T62" fmla="*/ 428 w 955"/>
                <a:gd name="T63" fmla="*/ 9 h 42"/>
                <a:gd name="T64" fmla="*/ 453 w 955"/>
                <a:gd name="T65" fmla="*/ 7 h 42"/>
                <a:gd name="T66" fmla="*/ 470 w 955"/>
                <a:gd name="T67" fmla="*/ 6 h 42"/>
                <a:gd name="T68" fmla="*/ 477 w 955"/>
                <a:gd name="T69" fmla="*/ 5 h 42"/>
                <a:gd name="T70" fmla="*/ 477 w 955"/>
                <a:gd name="T71" fmla="*/ 5 h 42"/>
                <a:gd name="T72" fmla="*/ 477 w 955"/>
                <a:gd name="T73" fmla="*/ 0 h 4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55" h="42">
                  <a:moveTo>
                    <a:pt x="955" y="0"/>
                  </a:moveTo>
                  <a:lnTo>
                    <a:pt x="955" y="0"/>
                  </a:lnTo>
                  <a:lnTo>
                    <a:pt x="940" y="1"/>
                  </a:lnTo>
                  <a:lnTo>
                    <a:pt x="906" y="3"/>
                  </a:lnTo>
                  <a:lnTo>
                    <a:pt x="857" y="3"/>
                  </a:lnTo>
                  <a:lnTo>
                    <a:pt x="797" y="7"/>
                  </a:lnTo>
                  <a:lnTo>
                    <a:pt x="725" y="10"/>
                  </a:lnTo>
                  <a:lnTo>
                    <a:pt x="644" y="12"/>
                  </a:lnTo>
                  <a:lnTo>
                    <a:pt x="560" y="15"/>
                  </a:lnTo>
                  <a:lnTo>
                    <a:pt x="473" y="17"/>
                  </a:lnTo>
                  <a:lnTo>
                    <a:pt x="385" y="20"/>
                  </a:lnTo>
                  <a:lnTo>
                    <a:pt x="301" y="20"/>
                  </a:lnTo>
                  <a:lnTo>
                    <a:pt x="222" y="23"/>
                  </a:lnTo>
                  <a:lnTo>
                    <a:pt x="152" y="27"/>
                  </a:lnTo>
                  <a:lnTo>
                    <a:pt x="91" y="27"/>
                  </a:lnTo>
                  <a:lnTo>
                    <a:pt x="44" y="27"/>
                  </a:lnTo>
                  <a:lnTo>
                    <a:pt x="14" y="28"/>
                  </a:lnTo>
                  <a:lnTo>
                    <a:pt x="0" y="28"/>
                  </a:lnTo>
                  <a:lnTo>
                    <a:pt x="0" y="42"/>
                  </a:lnTo>
                  <a:lnTo>
                    <a:pt x="14" y="42"/>
                  </a:lnTo>
                  <a:lnTo>
                    <a:pt x="44" y="40"/>
                  </a:lnTo>
                  <a:lnTo>
                    <a:pt x="91" y="40"/>
                  </a:lnTo>
                  <a:lnTo>
                    <a:pt x="152" y="37"/>
                  </a:lnTo>
                  <a:lnTo>
                    <a:pt x="222" y="33"/>
                  </a:lnTo>
                  <a:lnTo>
                    <a:pt x="301" y="33"/>
                  </a:lnTo>
                  <a:lnTo>
                    <a:pt x="385" y="30"/>
                  </a:lnTo>
                  <a:lnTo>
                    <a:pt x="473" y="27"/>
                  </a:lnTo>
                  <a:lnTo>
                    <a:pt x="560" y="25"/>
                  </a:lnTo>
                  <a:lnTo>
                    <a:pt x="644" y="22"/>
                  </a:lnTo>
                  <a:lnTo>
                    <a:pt x="725" y="20"/>
                  </a:lnTo>
                  <a:lnTo>
                    <a:pt x="797" y="17"/>
                  </a:lnTo>
                  <a:lnTo>
                    <a:pt x="857" y="17"/>
                  </a:lnTo>
                  <a:lnTo>
                    <a:pt x="906" y="13"/>
                  </a:lnTo>
                  <a:lnTo>
                    <a:pt x="940" y="12"/>
                  </a:lnTo>
                  <a:lnTo>
                    <a:pt x="955" y="10"/>
                  </a:lnTo>
                  <a:lnTo>
                    <a:pt x="955"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7" name="Freeform 1062"/>
            <p:cNvSpPr>
              <a:spLocks/>
            </p:cNvSpPr>
            <p:nvPr/>
          </p:nvSpPr>
          <p:spPr bwMode="auto">
            <a:xfrm>
              <a:off x="5157" y="2861"/>
              <a:ext cx="24" cy="25"/>
            </a:xfrm>
            <a:custGeom>
              <a:avLst/>
              <a:gdLst>
                <a:gd name="T0" fmla="*/ 17 w 47"/>
                <a:gd name="T1" fmla="*/ 0 h 51"/>
                <a:gd name="T2" fmla="*/ 17 w 47"/>
                <a:gd name="T3" fmla="*/ 0 h 51"/>
                <a:gd name="T4" fmla="*/ 17 w 47"/>
                <a:gd name="T5" fmla="*/ 8 h 51"/>
                <a:gd name="T6" fmla="*/ 14 w 47"/>
                <a:gd name="T7" fmla="*/ 14 h 51"/>
                <a:gd name="T8" fmla="*/ 9 w 47"/>
                <a:gd name="T9" fmla="*/ 18 h 51"/>
                <a:gd name="T10" fmla="*/ 0 w 47"/>
                <a:gd name="T11" fmla="*/ 20 h 51"/>
                <a:gd name="T12" fmla="*/ 0 w 47"/>
                <a:gd name="T13" fmla="*/ 25 h 51"/>
                <a:gd name="T14" fmla="*/ 10 w 47"/>
                <a:gd name="T15" fmla="*/ 23 h 51"/>
                <a:gd name="T16" fmla="*/ 17 w 47"/>
                <a:gd name="T17" fmla="*/ 18 h 51"/>
                <a:gd name="T18" fmla="*/ 22 w 47"/>
                <a:gd name="T19" fmla="*/ 10 h 51"/>
                <a:gd name="T20" fmla="*/ 24 w 47"/>
                <a:gd name="T21" fmla="*/ 0 h 51"/>
                <a:gd name="T22" fmla="*/ 24 w 47"/>
                <a:gd name="T23" fmla="*/ 0 h 51"/>
                <a:gd name="T24" fmla="*/ 17 w 47"/>
                <a:gd name="T25" fmla="*/ 0 h 51"/>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47" h="51">
                  <a:moveTo>
                    <a:pt x="34" y="0"/>
                  </a:moveTo>
                  <a:lnTo>
                    <a:pt x="34" y="0"/>
                  </a:lnTo>
                  <a:lnTo>
                    <a:pt x="34" y="17"/>
                  </a:lnTo>
                  <a:lnTo>
                    <a:pt x="27" y="29"/>
                  </a:lnTo>
                  <a:lnTo>
                    <a:pt x="17" y="36"/>
                  </a:lnTo>
                  <a:lnTo>
                    <a:pt x="0" y="41"/>
                  </a:lnTo>
                  <a:lnTo>
                    <a:pt x="0" y="51"/>
                  </a:lnTo>
                  <a:lnTo>
                    <a:pt x="20" y="46"/>
                  </a:lnTo>
                  <a:lnTo>
                    <a:pt x="34" y="36"/>
                  </a:lnTo>
                  <a:lnTo>
                    <a:pt x="44" y="21"/>
                  </a:lnTo>
                  <a:lnTo>
                    <a:pt x="47" y="0"/>
                  </a:lnTo>
                  <a:lnTo>
                    <a:pt x="3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8" name="Freeform 1063"/>
            <p:cNvSpPr>
              <a:spLocks/>
            </p:cNvSpPr>
            <p:nvPr/>
          </p:nvSpPr>
          <p:spPr bwMode="auto">
            <a:xfrm>
              <a:off x="5174" y="2443"/>
              <a:ext cx="7" cy="418"/>
            </a:xfrm>
            <a:custGeom>
              <a:avLst/>
              <a:gdLst>
                <a:gd name="T0" fmla="*/ 0 w 13"/>
                <a:gd name="T1" fmla="*/ 0 h 836"/>
                <a:gd name="T2" fmla="*/ 0 w 13"/>
                <a:gd name="T3" fmla="*/ 0 h 836"/>
                <a:gd name="T4" fmla="*/ 0 w 13"/>
                <a:gd name="T5" fmla="*/ 67 h 836"/>
                <a:gd name="T6" fmla="*/ 0 w 13"/>
                <a:gd name="T7" fmla="*/ 207 h 836"/>
                <a:gd name="T8" fmla="*/ 0 w 13"/>
                <a:gd name="T9" fmla="*/ 348 h 836"/>
                <a:gd name="T10" fmla="*/ 0 w 13"/>
                <a:gd name="T11" fmla="*/ 418 h 836"/>
                <a:gd name="T12" fmla="*/ 7 w 13"/>
                <a:gd name="T13" fmla="*/ 418 h 836"/>
                <a:gd name="T14" fmla="*/ 7 w 13"/>
                <a:gd name="T15" fmla="*/ 348 h 836"/>
                <a:gd name="T16" fmla="*/ 7 w 13"/>
                <a:gd name="T17" fmla="*/ 207 h 836"/>
                <a:gd name="T18" fmla="*/ 7 w 13"/>
                <a:gd name="T19" fmla="*/ 67 h 836"/>
                <a:gd name="T20" fmla="*/ 7 w 13"/>
                <a:gd name="T21" fmla="*/ 0 h 836"/>
                <a:gd name="T22" fmla="*/ 7 w 13"/>
                <a:gd name="T23" fmla="*/ 0 h 836"/>
                <a:gd name="T24" fmla="*/ 0 w 13"/>
                <a:gd name="T25" fmla="*/ 0 h 8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13" h="836">
                  <a:moveTo>
                    <a:pt x="0" y="0"/>
                  </a:moveTo>
                  <a:lnTo>
                    <a:pt x="0" y="0"/>
                  </a:lnTo>
                  <a:lnTo>
                    <a:pt x="0" y="133"/>
                  </a:lnTo>
                  <a:lnTo>
                    <a:pt x="0" y="413"/>
                  </a:lnTo>
                  <a:lnTo>
                    <a:pt x="0" y="695"/>
                  </a:lnTo>
                  <a:lnTo>
                    <a:pt x="0" y="836"/>
                  </a:lnTo>
                  <a:lnTo>
                    <a:pt x="13" y="836"/>
                  </a:lnTo>
                  <a:lnTo>
                    <a:pt x="13" y="695"/>
                  </a:lnTo>
                  <a:lnTo>
                    <a:pt x="13" y="413"/>
                  </a:lnTo>
                  <a:lnTo>
                    <a:pt x="13" y="133"/>
                  </a:lnTo>
                  <a:lnTo>
                    <a:pt x="13" y="0"/>
                  </a:lnTo>
                  <a:lnTo>
                    <a:pt x="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19" name="Freeform 1064"/>
            <p:cNvSpPr>
              <a:spLocks/>
            </p:cNvSpPr>
            <p:nvPr/>
          </p:nvSpPr>
          <p:spPr bwMode="auto">
            <a:xfrm>
              <a:off x="5155" y="2423"/>
              <a:ext cx="26" cy="20"/>
            </a:xfrm>
            <a:custGeom>
              <a:avLst/>
              <a:gdLst>
                <a:gd name="T0" fmla="*/ 0 w 50"/>
                <a:gd name="T1" fmla="*/ 6 h 39"/>
                <a:gd name="T2" fmla="*/ 0 w 50"/>
                <a:gd name="T3" fmla="*/ 6 h 39"/>
                <a:gd name="T4" fmla="*/ 11 w 50"/>
                <a:gd name="T5" fmla="*/ 6 h 39"/>
                <a:gd name="T6" fmla="*/ 17 w 50"/>
                <a:gd name="T7" fmla="*/ 9 h 39"/>
                <a:gd name="T8" fmla="*/ 19 w 50"/>
                <a:gd name="T9" fmla="*/ 14 h 39"/>
                <a:gd name="T10" fmla="*/ 19 w 50"/>
                <a:gd name="T11" fmla="*/ 20 h 39"/>
                <a:gd name="T12" fmla="*/ 26 w 50"/>
                <a:gd name="T13" fmla="*/ 20 h 39"/>
                <a:gd name="T14" fmla="*/ 24 w 50"/>
                <a:gd name="T15" fmla="*/ 12 h 39"/>
                <a:gd name="T16" fmla="*/ 20 w 50"/>
                <a:gd name="T17" fmla="*/ 6 h 39"/>
                <a:gd name="T18" fmla="*/ 11 w 50"/>
                <a:gd name="T19" fmla="*/ 0 h 39"/>
                <a:gd name="T20" fmla="*/ 0 w 50"/>
                <a:gd name="T21" fmla="*/ 0 h 39"/>
                <a:gd name="T22" fmla="*/ 0 w 50"/>
                <a:gd name="T23" fmla="*/ 0 h 39"/>
                <a:gd name="T24" fmla="*/ 0 w 50"/>
                <a:gd name="T25" fmla="*/ 6 h 3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0" h="39">
                  <a:moveTo>
                    <a:pt x="0" y="11"/>
                  </a:moveTo>
                  <a:lnTo>
                    <a:pt x="0" y="11"/>
                  </a:lnTo>
                  <a:lnTo>
                    <a:pt x="21" y="11"/>
                  </a:lnTo>
                  <a:lnTo>
                    <a:pt x="32" y="17"/>
                  </a:lnTo>
                  <a:lnTo>
                    <a:pt x="37" y="27"/>
                  </a:lnTo>
                  <a:lnTo>
                    <a:pt x="37" y="39"/>
                  </a:lnTo>
                  <a:lnTo>
                    <a:pt x="50" y="39"/>
                  </a:lnTo>
                  <a:lnTo>
                    <a:pt x="47" y="24"/>
                  </a:lnTo>
                  <a:lnTo>
                    <a:pt x="38" y="11"/>
                  </a:lnTo>
                  <a:lnTo>
                    <a:pt x="21" y="0"/>
                  </a:lnTo>
                  <a:lnTo>
                    <a:pt x="0" y="0"/>
                  </a:lnTo>
                  <a:lnTo>
                    <a:pt x="0" y="1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20" name="Freeform 1065"/>
            <p:cNvSpPr>
              <a:spLocks/>
            </p:cNvSpPr>
            <p:nvPr/>
          </p:nvSpPr>
          <p:spPr bwMode="auto">
            <a:xfrm>
              <a:off x="4682" y="2422"/>
              <a:ext cx="473" cy="14"/>
            </a:xfrm>
            <a:custGeom>
              <a:avLst/>
              <a:gdLst>
                <a:gd name="T0" fmla="*/ 0 w 946"/>
                <a:gd name="T1" fmla="*/ 14 h 27"/>
                <a:gd name="T2" fmla="*/ 0 w 946"/>
                <a:gd name="T3" fmla="*/ 14 h 27"/>
                <a:gd name="T4" fmla="*/ 5 w 946"/>
                <a:gd name="T5" fmla="*/ 14 h 27"/>
                <a:gd name="T6" fmla="*/ 19 w 946"/>
                <a:gd name="T7" fmla="*/ 14 h 27"/>
                <a:gd name="T8" fmla="*/ 42 w 946"/>
                <a:gd name="T9" fmla="*/ 13 h 27"/>
                <a:gd name="T10" fmla="*/ 71 w 946"/>
                <a:gd name="T11" fmla="*/ 13 h 27"/>
                <a:gd name="T12" fmla="*/ 106 w 946"/>
                <a:gd name="T13" fmla="*/ 13 h 27"/>
                <a:gd name="T14" fmla="*/ 145 w 946"/>
                <a:gd name="T15" fmla="*/ 12 h 27"/>
                <a:gd name="T16" fmla="*/ 187 w 946"/>
                <a:gd name="T17" fmla="*/ 11 h 27"/>
                <a:gd name="T18" fmla="*/ 229 w 946"/>
                <a:gd name="T19" fmla="*/ 11 h 27"/>
                <a:gd name="T20" fmla="*/ 273 w 946"/>
                <a:gd name="T21" fmla="*/ 10 h 27"/>
                <a:gd name="T22" fmla="*/ 315 w 946"/>
                <a:gd name="T23" fmla="*/ 9 h 27"/>
                <a:gd name="T24" fmla="*/ 355 w 946"/>
                <a:gd name="T25" fmla="*/ 9 h 27"/>
                <a:gd name="T26" fmla="*/ 392 w 946"/>
                <a:gd name="T27" fmla="*/ 9 h 27"/>
                <a:gd name="T28" fmla="*/ 423 w 946"/>
                <a:gd name="T29" fmla="*/ 8 h 27"/>
                <a:gd name="T30" fmla="*/ 447 w 946"/>
                <a:gd name="T31" fmla="*/ 8 h 27"/>
                <a:gd name="T32" fmla="*/ 465 w 946"/>
                <a:gd name="T33" fmla="*/ 7 h 27"/>
                <a:gd name="T34" fmla="*/ 473 w 946"/>
                <a:gd name="T35" fmla="*/ 6 h 27"/>
                <a:gd name="T36" fmla="*/ 473 w 946"/>
                <a:gd name="T37" fmla="*/ 1 h 27"/>
                <a:gd name="T38" fmla="*/ 465 w 946"/>
                <a:gd name="T39" fmla="*/ 0 h 27"/>
                <a:gd name="T40" fmla="*/ 447 w 946"/>
                <a:gd name="T41" fmla="*/ 1 h 27"/>
                <a:gd name="T42" fmla="*/ 423 w 946"/>
                <a:gd name="T43" fmla="*/ 1 h 27"/>
                <a:gd name="T44" fmla="*/ 392 w 946"/>
                <a:gd name="T45" fmla="*/ 2 h 27"/>
                <a:gd name="T46" fmla="*/ 355 w 946"/>
                <a:gd name="T47" fmla="*/ 3 h 27"/>
                <a:gd name="T48" fmla="*/ 315 w 946"/>
                <a:gd name="T49" fmla="*/ 3 h 27"/>
                <a:gd name="T50" fmla="*/ 273 w 946"/>
                <a:gd name="T51" fmla="*/ 3 h 27"/>
                <a:gd name="T52" fmla="*/ 229 w 946"/>
                <a:gd name="T53" fmla="*/ 4 h 27"/>
                <a:gd name="T54" fmla="*/ 187 w 946"/>
                <a:gd name="T55" fmla="*/ 4 h 27"/>
                <a:gd name="T56" fmla="*/ 145 w 946"/>
                <a:gd name="T57" fmla="*/ 5 h 27"/>
                <a:gd name="T58" fmla="*/ 106 w 946"/>
                <a:gd name="T59" fmla="*/ 6 h 27"/>
                <a:gd name="T60" fmla="*/ 71 w 946"/>
                <a:gd name="T61" fmla="*/ 6 h 27"/>
                <a:gd name="T62" fmla="*/ 42 w 946"/>
                <a:gd name="T63" fmla="*/ 6 h 27"/>
                <a:gd name="T64" fmla="*/ 19 w 946"/>
                <a:gd name="T65" fmla="*/ 7 h 27"/>
                <a:gd name="T66" fmla="*/ 5 w 946"/>
                <a:gd name="T67" fmla="*/ 7 h 27"/>
                <a:gd name="T68" fmla="*/ 0 w 946"/>
                <a:gd name="T69" fmla="*/ 7 h 27"/>
                <a:gd name="T70" fmla="*/ 0 w 946"/>
                <a:gd name="T71" fmla="*/ 7 h 27"/>
                <a:gd name="T72" fmla="*/ 0 w 946"/>
                <a:gd name="T73" fmla="*/ 14 h 27"/>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46" h="27">
                  <a:moveTo>
                    <a:pt x="0" y="27"/>
                  </a:moveTo>
                  <a:lnTo>
                    <a:pt x="0" y="27"/>
                  </a:lnTo>
                  <a:lnTo>
                    <a:pt x="10" y="27"/>
                  </a:lnTo>
                  <a:lnTo>
                    <a:pt x="38" y="27"/>
                  </a:lnTo>
                  <a:lnTo>
                    <a:pt x="84" y="25"/>
                  </a:lnTo>
                  <a:lnTo>
                    <a:pt x="142" y="25"/>
                  </a:lnTo>
                  <a:lnTo>
                    <a:pt x="211" y="25"/>
                  </a:lnTo>
                  <a:lnTo>
                    <a:pt x="289" y="23"/>
                  </a:lnTo>
                  <a:lnTo>
                    <a:pt x="373" y="22"/>
                  </a:lnTo>
                  <a:lnTo>
                    <a:pt x="458" y="22"/>
                  </a:lnTo>
                  <a:lnTo>
                    <a:pt x="546" y="20"/>
                  </a:lnTo>
                  <a:lnTo>
                    <a:pt x="630" y="18"/>
                  </a:lnTo>
                  <a:lnTo>
                    <a:pt x="710" y="18"/>
                  </a:lnTo>
                  <a:lnTo>
                    <a:pt x="783" y="17"/>
                  </a:lnTo>
                  <a:lnTo>
                    <a:pt x="845" y="15"/>
                  </a:lnTo>
                  <a:lnTo>
                    <a:pt x="894" y="15"/>
                  </a:lnTo>
                  <a:lnTo>
                    <a:pt x="929" y="13"/>
                  </a:lnTo>
                  <a:lnTo>
                    <a:pt x="946" y="12"/>
                  </a:lnTo>
                  <a:lnTo>
                    <a:pt x="946" y="1"/>
                  </a:lnTo>
                  <a:lnTo>
                    <a:pt x="929" y="0"/>
                  </a:lnTo>
                  <a:lnTo>
                    <a:pt x="894" y="1"/>
                  </a:lnTo>
                  <a:lnTo>
                    <a:pt x="845" y="1"/>
                  </a:lnTo>
                  <a:lnTo>
                    <a:pt x="783" y="3"/>
                  </a:lnTo>
                  <a:lnTo>
                    <a:pt x="710" y="5"/>
                  </a:lnTo>
                  <a:lnTo>
                    <a:pt x="630" y="5"/>
                  </a:lnTo>
                  <a:lnTo>
                    <a:pt x="546" y="6"/>
                  </a:lnTo>
                  <a:lnTo>
                    <a:pt x="458" y="8"/>
                  </a:lnTo>
                  <a:lnTo>
                    <a:pt x="373" y="8"/>
                  </a:lnTo>
                  <a:lnTo>
                    <a:pt x="289" y="10"/>
                  </a:lnTo>
                  <a:lnTo>
                    <a:pt x="211" y="12"/>
                  </a:lnTo>
                  <a:lnTo>
                    <a:pt x="142" y="12"/>
                  </a:lnTo>
                  <a:lnTo>
                    <a:pt x="84" y="12"/>
                  </a:lnTo>
                  <a:lnTo>
                    <a:pt x="38" y="13"/>
                  </a:lnTo>
                  <a:lnTo>
                    <a:pt x="10" y="13"/>
                  </a:lnTo>
                  <a:lnTo>
                    <a:pt x="0" y="13"/>
                  </a:lnTo>
                  <a:lnTo>
                    <a:pt x="0" y="2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21" name="Freeform 1066"/>
            <p:cNvSpPr>
              <a:spLocks/>
            </p:cNvSpPr>
            <p:nvPr/>
          </p:nvSpPr>
          <p:spPr bwMode="auto">
            <a:xfrm>
              <a:off x="4670" y="2437"/>
              <a:ext cx="484" cy="451"/>
            </a:xfrm>
            <a:custGeom>
              <a:avLst/>
              <a:gdLst>
                <a:gd name="T0" fmla="*/ 15 w 968"/>
                <a:gd name="T1" fmla="*/ 6 h 902"/>
                <a:gd name="T2" fmla="*/ 9 w 968"/>
                <a:gd name="T3" fmla="*/ 7 h 902"/>
                <a:gd name="T4" fmla="*/ 4 w 968"/>
                <a:gd name="T5" fmla="*/ 10 h 902"/>
                <a:gd name="T6" fmla="*/ 1 w 968"/>
                <a:gd name="T7" fmla="*/ 16 h 902"/>
                <a:gd name="T8" fmla="*/ 0 w 968"/>
                <a:gd name="T9" fmla="*/ 22 h 902"/>
                <a:gd name="T10" fmla="*/ 0 w 968"/>
                <a:gd name="T11" fmla="*/ 89 h 902"/>
                <a:gd name="T12" fmla="*/ 0 w 968"/>
                <a:gd name="T13" fmla="*/ 227 h 902"/>
                <a:gd name="T14" fmla="*/ 0 w 968"/>
                <a:gd name="T15" fmla="*/ 367 h 902"/>
                <a:gd name="T16" fmla="*/ 0 w 968"/>
                <a:gd name="T17" fmla="*/ 435 h 902"/>
                <a:gd name="T18" fmla="*/ 1 w 968"/>
                <a:gd name="T19" fmla="*/ 444 h 902"/>
                <a:gd name="T20" fmla="*/ 4 w 968"/>
                <a:gd name="T21" fmla="*/ 449 h 902"/>
                <a:gd name="T22" fmla="*/ 9 w 968"/>
                <a:gd name="T23" fmla="*/ 451 h 902"/>
                <a:gd name="T24" fmla="*/ 14 w 968"/>
                <a:gd name="T25" fmla="*/ 451 h 902"/>
                <a:gd name="T26" fmla="*/ 20 w 968"/>
                <a:gd name="T27" fmla="*/ 451 h 902"/>
                <a:gd name="T28" fmla="*/ 34 w 968"/>
                <a:gd name="T29" fmla="*/ 451 h 902"/>
                <a:gd name="T30" fmla="*/ 57 w 968"/>
                <a:gd name="T31" fmla="*/ 451 h 902"/>
                <a:gd name="T32" fmla="*/ 85 w 968"/>
                <a:gd name="T33" fmla="*/ 450 h 902"/>
                <a:gd name="T34" fmla="*/ 118 w 968"/>
                <a:gd name="T35" fmla="*/ 449 h 902"/>
                <a:gd name="T36" fmla="*/ 156 w 968"/>
                <a:gd name="T37" fmla="*/ 447 h 902"/>
                <a:gd name="T38" fmla="*/ 195 w 968"/>
                <a:gd name="T39" fmla="*/ 446 h 902"/>
                <a:gd name="T40" fmla="*/ 236 w 968"/>
                <a:gd name="T41" fmla="*/ 445 h 902"/>
                <a:gd name="T42" fmla="*/ 278 w 968"/>
                <a:gd name="T43" fmla="*/ 444 h 902"/>
                <a:gd name="T44" fmla="*/ 318 w 968"/>
                <a:gd name="T45" fmla="*/ 443 h 902"/>
                <a:gd name="T46" fmla="*/ 356 w 968"/>
                <a:gd name="T47" fmla="*/ 441 h 902"/>
                <a:gd name="T48" fmla="*/ 389 w 968"/>
                <a:gd name="T49" fmla="*/ 440 h 902"/>
                <a:gd name="T50" fmla="*/ 419 w 968"/>
                <a:gd name="T51" fmla="*/ 440 h 902"/>
                <a:gd name="T52" fmla="*/ 442 w 968"/>
                <a:gd name="T53" fmla="*/ 439 h 902"/>
                <a:gd name="T54" fmla="*/ 457 w 968"/>
                <a:gd name="T55" fmla="*/ 438 h 902"/>
                <a:gd name="T56" fmla="*/ 465 w 968"/>
                <a:gd name="T57" fmla="*/ 437 h 902"/>
                <a:gd name="T58" fmla="*/ 473 w 968"/>
                <a:gd name="T59" fmla="*/ 435 h 902"/>
                <a:gd name="T60" fmla="*/ 479 w 968"/>
                <a:gd name="T61" fmla="*/ 431 h 902"/>
                <a:gd name="T62" fmla="*/ 483 w 968"/>
                <a:gd name="T63" fmla="*/ 424 h 902"/>
                <a:gd name="T64" fmla="*/ 484 w 968"/>
                <a:gd name="T65" fmla="*/ 415 h 902"/>
                <a:gd name="T66" fmla="*/ 484 w 968"/>
                <a:gd name="T67" fmla="*/ 348 h 902"/>
                <a:gd name="T68" fmla="*/ 484 w 968"/>
                <a:gd name="T69" fmla="*/ 214 h 902"/>
                <a:gd name="T70" fmla="*/ 484 w 968"/>
                <a:gd name="T71" fmla="*/ 80 h 902"/>
                <a:gd name="T72" fmla="*/ 484 w 968"/>
                <a:gd name="T73" fmla="*/ 16 h 902"/>
                <a:gd name="T74" fmla="*/ 483 w 968"/>
                <a:gd name="T75" fmla="*/ 10 h 902"/>
                <a:gd name="T76" fmla="*/ 480 w 968"/>
                <a:gd name="T77" fmla="*/ 5 h 902"/>
                <a:gd name="T78" fmla="*/ 473 w 968"/>
                <a:gd name="T79" fmla="*/ 0 h 902"/>
                <a:gd name="T80" fmla="*/ 462 w 968"/>
                <a:gd name="T81" fmla="*/ 0 h 902"/>
                <a:gd name="T82" fmla="*/ 455 w 968"/>
                <a:gd name="T83" fmla="*/ 0 h 902"/>
                <a:gd name="T84" fmla="*/ 438 w 968"/>
                <a:gd name="T85" fmla="*/ 1 h 902"/>
                <a:gd name="T86" fmla="*/ 414 w 968"/>
                <a:gd name="T87" fmla="*/ 1 h 902"/>
                <a:gd name="T88" fmla="*/ 385 w 968"/>
                <a:gd name="T89" fmla="*/ 2 h 902"/>
                <a:gd name="T90" fmla="*/ 351 w 968"/>
                <a:gd name="T91" fmla="*/ 3 h 902"/>
                <a:gd name="T92" fmla="*/ 314 w 968"/>
                <a:gd name="T93" fmla="*/ 3 h 902"/>
                <a:gd name="T94" fmla="*/ 273 w 968"/>
                <a:gd name="T95" fmla="*/ 4 h 902"/>
                <a:gd name="T96" fmla="*/ 233 w 968"/>
                <a:gd name="T97" fmla="*/ 4 h 902"/>
                <a:gd name="T98" fmla="*/ 192 w 968"/>
                <a:gd name="T99" fmla="*/ 5 h 902"/>
                <a:gd name="T100" fmla="*/ 152 w 968"/>
                <a:gd name="T101" fmla="*/ 5 h 902"/>
                <a:gd name="T102" fmla="*/ 115 w 968"/>
                <a:gd name="T103" fmla="*/ 5 h 902"/>
                <a:gd name="T104" fmla="*/ 83 w 968"/>
                <a:gd name="T105" fmla="*/ 5 h 902"/>
                <a:gd name="T106" fmla="*/ 55 w 968"/>
                <a:gd name="T107" fmla="*/ 6 h 902"/>
                <a:gd name="T108" fmla="*/ 34 w 968"/>
                <a:gd name="T109" fmla="*/ 6 h 902"/>
                <a:gd name="T110" fmla="*/ 20 w 968"/>
                <a:gd name="T111" fmla="*/ 6 h 902"/>
                <a:gd name="T112" fmla="*/ 15 w 968"/>
                <a:gd name="T113" fmla="*/ 6 h 90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0" t="0" r="r" b="b"/>
              <a:pathLst>
                <a:path w="968" h="902">
                  <a:moveTo>
                    <a:pt x="30" y="12"/>
                  </a:moveTo>
                  <a:lnTo>
                    <a:pt x="18" y="14"/>
                  </a:lnTo>
                  <a:lnTo>
                    <a:pt x="8" y="20"/>
                  </a:lnTo>
                  <a:lnTo>
                    <a:pt x="2" y="31"/>
                  </a:lnTo>
                  <a:lnTo>
                    <a:pt x="0" y="44"/>
                  </a:lnTo>
                  <a:lnTo>
                    <a:pt x="0" y="178"/>
                  </a:lnTo>
                  <a:lnTo>
                    <a:pt x="0" y="454"/>
                  </a:lnTo>
                  <a:lnTo>
                    <a:pt x="0" y="733"/>
                  </a:lnTo>
                  <a:lnTo>
                    <a:pt x="0" y="870"/>
                  </a:lnTo>
                  <a:lnTo>
                    <a:pt x="2" y="887"/>
                  </a:lnTo>
                  <a:lnTo>
                    <a:pt x="8" y="897"/>
                  </a:lnTo>
                  <a:lnTo>
                    <a:pt x="17" y="901"/>
                  </a:lnTo>
                  <a:lnTo>
                    <a:pt x="27" y="902"/>
                  </a:lnTo>
                  <a:lnTo>
                    <a:pt x="39" y="902"/>
                  </a:lnTo>
                  <a:lnTo>
                    <a:pt x="67" y="901"/>
                  </a:lnTo>
                  <a:lnTo>
                    <a:pt x="113" y="901"/>
                  </a:lnTo>
                  <a:lnTo>
                    <a:pt x="170" y="899"/>
                  </a:lnTo>
                  <a:lnTo>
                    <a:pt x="235" y="897"/>
                  </a:lnTo>
                  <a:lnTo>
                    <a:pt x="311" y="894"/>
                  </a:lnTo>
                  <a:lnTo>
                    <a:pt x="390" y="892"/>
                  </a:lnTo>
                  <a:lnTo>
                    <a:pt x="472" y="890"/>
                  </a:lnTo>
                  <a:lnTo>
                    <a:pt x="555" y="887"/>
                  </a:lnTo>
                  <a:lnTo>
                    <a:pt x="635" y="885"/>
                  </a:lnTo>
                  <a:lnTo>
                    <a:pt x="711" y="882"/>
                  </a:lnTo>
                  <a:lnTo>
                    <a:pt x="778" y="880"/>
                  </a:lnTo>
                  <a:lnTo>
                    <a:pt x="837" y="879"/>
                  </a:lnTo>
                  <a:lnTo>
                    <a:pt x="884" y="877"/>
                  </a:lnTo>
                  <a:lnTo>
                    <a:pt x="914" y="875"/>
                  </a:lnTo>
                  <a:lnTo>
                    <a:pt x="929" y="874"/>
                  </a:lnTo>
                  <a:lnTo>
                    <a:pt x="946" y="869"/>
                  </a:lnTo>
                  <a:lnTo>
                    <a:pt x="958" y="862"/>
                  </a:lnTo>
                  <a:lnTo>
                    <a:pt x="966" y="848"/>
                  </a:lnTo>
                  <a:lnTo>
                    <a:pt x="968" y="830"/>
                  </a:lnTo>
                  <a:lnTo>
                    <a:pt x="968" y="696"/>
                  </a:lnTo>
                  <a:lnTo>
                    <a:pt x="968" y="427"/>
                  </a:lnTo>
                  <a:lnTo>
                    <a:pt x="968" y="160"/>
                  </a:lnTo>
                  <a:lnTo>
                    <a:pt x="968" y="32"/>
                  </a:lnTo>
                  <a:lnTo>
                    <a:pt x="966" y="19"/>
                  </a:lnTo>
                  <a:lnTo>
                    <a:pt x="960" y="9"/>
                  </a:lnTo>
                  <a:lnTo>
                    <a:pt x="946" y="0"/>
                  </a:lnTo>
                  <a:lnTo>
                    <a:pt x="924" y="0"/>
                  </a:lnTo>
                  <a:lnTo>
                    <a:pt x="909" y="0"/>
                  </a:lnTo>
                  <a:lnTo>
                    <a:pt x="875" y="2"/>
                  </a:lnTo>
                  <a:lnTo>
                    <a:pt x="828" y="2"/>
                  </a:lnTo>
                  <a:lnTo>
                    <a:pt x="770" y="4"/>
                  </a:lnTo>
                  <a:lnTo>
                    <a:pt x="702" y="5"/>
                  </a:lnTo>
                  <a:lnTo>
                    <a:pt x="627" y="5"/>
                  </a:lnTo>
                  <a:lnTo>
                    <a:pt x="546" y="7"/>
                  </a:lnTo>
                  <a:lnTo>
                    <a:pt x="465" y="7"/>
                  </a:lnTo>
                  <a:lnTo>
                    <a:pt x="383" y="9"/>
                  </a:lnTo>
                  <a:lnTo>
                    <a:pt x="304" y="9"/>
                  </a:lnTo>
                  <a:lnTo>
                    <a:pt x="230" y="10"/>
                  </a:lnTo>
                  <a:lnTo>
                    <a:pt x="165" y="10"/>
                  </a:lnTo>
                  <a:lnTo>
                    <a:pt x="109" y="12"/>
                  </a:lnTo>
                  <a:lnTo>
                    <a:pt x="67" y="12"/>
                  </a:lnTo>
                  <a:lnTo>
                    <a:pt x="40" y="12"/>
                  </a:lnTo>
                  <a:lnTo>
                    <a:pt x="30" y="12"/>
                  </a:lnTo>
                  <a:close/>
                </a:path>
              </a:pathLst>
            </a:custGeom>
            <a:solidFill>
              <a:srgbClr val="C0C0C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622" name="Rectangle 1067"/>
            <p:cNvSpPr>
              <a:spLocks noChangeArrowheads="1"/>
            </p:cNvSpPr>
            <p:nvPr/>
          </p:nvSpPr>
          <p:spPr bwMode="auto">
            <a:xfrm>
              <a:off x="5124" y="3079"/>
              <a:ext cx="234" cy="4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nvGrpSpPr>
            <p:cNvPr id="24623" name="Group 1068"/>
            <p:cNvGrpSpPr>
              <a:grpSpLocks/>
            </p:cNvGrpSpPr>
            <p:nvPr/>
          </p:nvGrpSpPr>
          <p:grpSpPr bwMode="auto">
            <a:xfrm>
              <a:off x="4415" y="2839"/>
              <a:ext cx="215" cy="324"/>
              <a:chOff x="1665" y="2586"/>
              <a:chExt cx="289" cy="449"/>
            </a:xfrm>
          </p:grpSpPr>
          <p:sp>
            <p:nvSpPr>
              <p:cNvPr id="24702" name="Line 1069"/>
              <p:cNvSpPr>
                <a:spLocks noChangeShapeType="1"/>
              </p:cNvSpPr>
              <p:nvPr/>
            </p:nvSpPr>
            <p:spPr bwMode="auto">
              <a:xfrm flipH="1">
                <a:off x="1665" y="2586"/>
                <a:ext cx="2" cy="172"/>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03" name="Line 1070"/>
              <p:cNvSpPr>
                <a:spLocks noChangeShapeType="1"/>
              </p:cNvSpPr>
              <p:nvPr/>
            </p:nvSpPr>
            <p:spPr bwMode="auto">
              <a:xfrm>
                <a:off x="1945" y="2871"/>
                <a:ext cx="6" cy="164"/>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04" name="Line 1071"/>
              <p:cNvSpPr>
                <a:spLocks noChangeShapeType="1"/>
              </p:cNvSpPr>
              <p:nvPr/>
            </p:nvSpPr>
            <p:spPr bwMode="auto">
              <a:xfrm>
                <a:off x="1674" y="2596"/>
                <a:ext cx="280" cy="281"/>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705" name="Line 1072"/>
              <p:cNvSpPr>
                <a:spLocks noChangeShapeType="1"/>
              </p:cNvSpPr>
              <p:nvPr/>
            </p:nvSpPr>
            <p:spPr bwMode="auto">
              <a:xfrm>
                <a:off x="1668" y="2754"/>
                <a:ext cx="280" cy="281"/>
              </a:xfrm>
              <a:prstGeom prst="line">
                <a:avLst/>
              </a:prstGeom>
              <a:noFill/>
              <a:ln w="28575">
                <a:solidFill>
                  <a:schemeClr val="tx1"/>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24" name="Group 1073"/>
            <p:cNvGrpSpPr>
              <a:grpSpLocks/>
            </p:cNvGrpSpPr>
            <p:nvPr/>
          </p:nvGrpSpPr>
          <p:grpSpPr bwMode="auto">
            <a:xfrm>
              <a:off x="3432" y="3321"/>
              <a:ext cx="752" cy="315"/>
              <a:chOff x="3742" y="3390"/>
              <a:chExt cx="848" cy="361"/>
            </a:xfrm>
          </p:grpSpPr>
          <p:sp>
            <p:nvSpPr>
              <p:cNvPr id="24699" name="AutoShape 1074"/>
              <p:cNvSpPr>
                <a:spLocks noChangeArrowheads="1"/>
              </p:cNvSpPr>
              <p:nvPr/>
            </p:nvSpPr>
            <p:spPr bwMode="auto">
              <a:xfrm>
                <a:off x="4257" y="3689"/>
                <a:ext cx="93" cy="62"/>
              </a:xfrm>
              <a:prstGeom prst="can">
                <a:avLst>
                  <a:gd name="adj" fmla="val 25000"/>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00" name="AutoShape 1075"/>
              <p:cNvSpPr>
                <a:spLocks noChangeArrowheads="1"/>
              </p:cNvSpPr>
              <p:nvPr/>
            </p:nvSpPr>
            <p:spPr bwMode="auto">
              <a:xfrm>
                <a:off x="4255" y="3390"/>
                <a:ext cx="93" cy="62"/>
              </a:xfrm>
              <a:prstGeom prst="can">
                <a:avLst>
                  <a:gd name="adj" fmla="val 25000"/>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701" name="AutoShape 1076"/>
              <p:cNvSpPr>
                <a:spLocks noChangeArrowheads="1"/>
              </p:cNvSpPr>
              <p:nvPr/>
            </p:nvSpPr>
            <p:spPr bwMode="auto">
              <a:xfrm rot="-5400000">
                <a:off x="4017" y="3147"/>
                <a:ext cx="297" cy="848"/>
              </a:xfrm>
              <a:prstGeom prst="can">
                <a:avLst>
                  <a:gd name="adj" fmla="val 104705"/>
                </a:avLst>
              </a:prstGeom>
              <a:solidFill>
                <a:srgbClr val="EAEAEA"/>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24625" name="Group 1077"/>
            <p:cNvGrpSpPr>
              <a:grpSpLocks/>
            </p:cNvGrpSpPr>
            <p:nvPr/>
          </p:nvGrpSpPr>
          <p:grpSpPr bwMode="auto">
            <a:xfrm>
              <a:off x="3756" y="2364"/>
              <a:ext cx="373" cy="1582"/>
              <a:chOff x="4108" y="2036"/>
              <a:chExt cx="420" cy="2071"/>
            </a:xfrm>
          </p:grpSpPr>
          <p:sp>
            <p:nvSpPr>
              <p:cNvPr id="24697" name="Line 1078"/>
              <p:cNvSpPr>
                <a:spLocks noChangeShapeType="1"/>
              </p:cNvSpPr>
              <p:nvPr/>
            </p:nvSpPr>
            <p:spPr bwMode="auto">
              <a:xfrm flipH="1">
                <a:off x="4138" y="2082"/>
                <a:ext cx="0" cy="2025"/>
              </a:xfrm>
              <a:prstGeom prst="line">
                <a:avLst/>
              </a:prstGeom>
              <a:noFill/>
              <a:ln w="76200">
                <a:solidFill>
                  <a:schemeClr val="folHlink"/>
                </a:solidFill>
                <a:round/>
                <a:headEnd/>
                <a:tailEnd/>
              </a:ln>
              <a:effectLst/>
              <a:scene3d>
                <a:camera prst="legacyObliqueTopRight">
                  <a:rot lat="0" lon="18900000" rev="0"/>
                </a:camera>
                <a:lightRig rig="legacyFlat2" dir="b"/>
              </a:scene3d>
              <a:sp3d extrusionH="430200" prstMaterial="legacyMatte">
                <a:bevelT w="13500" h="13500" prst="angle"/>
                <a:bevelB w="13500" h="13500" prst="angle"/>
                <a:extrusionClr>
                  <a:schemeClr val="bg2"/>
                </a:extrusionClr>
                <a:contourClr>
                  <a:schemeClr val="folHlink"/>
                </a:contourClr>
              </a:sp3d>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sp>
            <p:nvSpPr>
              <p:cNvPr id="24698" name="Line 1079"/>
              <p:cNvSpPr>
                <a:spLocks noChangeShapeType="1"/>
              </p:cNvSpPr>
              <p:nvPr/>
            </p:nvSpPr>
            <p:spPr bwMode="auto">
              <a:xfrm rot="16664694" flipH="1">
                <a:off x="4317" y="1827"/>
                <a:ext cx="1" cy="420"/>
              </a:xfrm>
              <a:prstGeom prst="line">
                <a:avLst/>
              </a:prstGeom>
              <a:noFill/>
              <a:ln w="76200">
                <a:solidFill>
                  <a:schemeClr val="folHlink"/>
                </a:solidFill>
                <a:round/>
                <a:headEnd/>
                <a:tailEnd/>
              </a:ln>
              <a:effectLst/>
              <a:scene3d>
                <a:camera prst="legacyObliqueTopRight">
                  <a:rot lat="0" lon="18900000" rev="0"/>
                </a:camera>
                <a:lightRig rig="legacyFlat2" dir="t"/>
              </a:scene3d>
              <a:sp3d extrusionH="430200" prstMaterial="legacyMatte">
                <a:bevelT w="13500" h="13500" prst="angle"/>
                <a:bevelB w="13500" h="13500" prst="angle"/>
                <a:extrusionClr>
                  <a:schemeClr val="bg2"/>
                </a:extrusionClr>
                <a:contourClr>
                  <a:schemeClr val="folHlink"/>
                </a:contourClr>
              </a:sp3d>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flatTx/>
              </a:bodyPr>
              <a:lstStyle/>
              <a:p>
                <a:endParaRPr lang="zh-CN" altLang="en-US"/>
              </a:p>
            </p:txBody>
          </p:sp>
        </p:grpSp>
        <p:sp>
          <p:nvSpPr>
            <p:cNvPr id="24626" name="Rectangle 1080"/>
            <p:cNvSpPr>
              <a:spLocks noChangeArrowheads="1"/>
            </p:cNvSpPr>
            <p:nvPr/>
          </p:nvSpPr>
          <p:spPr bwMode="auto">
            <a:xfrm>
              <a:off x="633" y="2512"/>
              <a:ext cx="3080" cy="1244"/>
            </a:xfrm>
            <a:prstGeom prst="rect">
              <a:avLst/>
            </a:prstGeom>
            <a:solidFill>
              <a:srgbClr val="C0C0C0"/>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27" name="Line 1081"/>
            <p:cNvSpPr>
              <a:spLocks noChangeShapeType="1"/>
            </p:cNvSpPr>
            <p:nvPr/>
          </p:nvSpPr>
          <p:spPr bwMode="auto">
            <a:xfrm flipH="1">
              <a:off x="1796" y="3753"/>
              <a:ext cx="0" cy="21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28" name="Line 1082"/>
            <p:cNvSpPr>
              <a:spLocks noChangeShapeType="1"/>
            </p:cNvSpPr>
            <p:nvPr/>
          </p:nvSpPr>
          <p:spPr bwMode="auto">
            <a:xfrm flipH="1">
              <a:off x="1620" y="3755"/>
              <a:ext cx="0" cy="210"/>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629" name="Group 1083"/>
            <p:cNvGrpSpPr>
              <a:grpSpLocks/>
            </p:cNvGrpSpPr>
            <p:nvPr/>
          </p:nvGrpSpPr>
          <p:grpSpPr bwMode="auto">
            <a:xfrm>
              <a:off x="2089" y="3753"/>
              <a:ext cx="354" cy="216"/>
              <a:chOff x="2642" y="3886"/>
              <a:chExt cx="399" cy="247"/>
            </a:xfrm>
          </p:grpSpPr>
          <p:sp>
            <p:nvSpPr>
              <p:cNvPr id="24689" name="Line 1084"/>
              <p:cNvSpPr>
                <a:spLocks noChangeShapeType="1"/>
              </p:cNvSpPr>
              <p:nvPr/>
            </p:nvSpPr>
            <p:spPr bwMode="auto">
              <a:xfrm flipH="1">
                <a:off x="2642"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90" name="Line 1085"/>
              <p:cNvSpPr>
                <a:spLocks noChangeShapeType="1"/>
              </p:cNvSpPr>
              <p:nvPr/>
            </p:nvSpPr>
            <p:spPr bwMode="auto">
              <a:xfrm flipH="1">
                <a:off x="2699"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91" name="Line 1086"/>
              <p:cNvSpPr>
                <a:spLocks noChangeShapeType="1"/>
              </p:cNvSpPr>
              <p:nvPr/>
            </p:nvSpPr>
            <p:spPr bwMode="auto">
              <a:xfrm flipH="1">
                <a:off x="2756"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92" name="Line 1087"/>
              <p:cNvSpPr>
                <a:spLocks noChangeShapeType="1"/>
              </p:cNvSpPr>
              <p:nvPr/>
            </p:nvSpPr>
            <p:spPr bwMode="auto">
              <a:xfrm flipH="1">
                <a:off x="2813"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93" name="Line 1088"/>
              <p:cNvSpPr>
                <a:spLocks noChangeShapeType="1"/>
              </p:cNvSpPr>
              <p:nvPr/>
            </p:nvSpPr>
            <p:spPr bwMode="auto">
              <a:xfrm flipH="1">
                <a:off x="2870"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94" name="Line 1089"/>
              <p:cNvSpPr>
                <a:spLocks noChangeShapeType="1"/>
              </p:cNvSpPr>
              <p:nvPr/>
            </p:nvSpPr>
            <p:spPr bwMode="auto">
              <a:xfrm flipH="1">
                <a:off x="2927"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95" name="Line 1090"/>
              <p:cNvSpPr>
                <a:spLocks noChangeShapeType="1"/>
              </p:cNvSpPr>
              <p:nvPr/>
            </p:nvSpPr>
            <p:spPr bwMode="auto">
              <a:xfrm flipH="1">
                <a:off x="2984"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96" name="Line 1091"/>
              <p:cNvSpPr>
                <a:spLocks noChangeShapeType="1"/>
              </p:cNvSpPr>
              <p:nvPr/>
            </p:nvSpPr>
            <p:spPr bwMode="auto">
              <a:xfrm flipH="1">
                <a:off x="3041"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30" name="Group 1092"/>
            <p:cNvGrpSpPr>
              <a:grpSpLocks/>
            </p:cNvGrpSpPr>
            <p:nvPr/>
          </p:nvGrpSpPr>
          <p:grpSpPr bwMode="auto">
            <a:xfrm>
              <a:off x="2485" y="3756"/>
              <a:ext cx="354" cy="215"/>
              <a:chOff x="2642" y="3886"/>
              <a:chExt cx="399" cy="247"/>
            </a:xfrm>
          </p:grpSpPr>
          <p:sp>
            <p:nvSpPr>
              <p:cNvPr id="24681" name="Line 1093"/>
              <p:cNvSpPr>
                <a:spLocks noChangeShapeType="1"/>
              </p:cNvSpPr>
              <p:nvPr/>
            </p:nvSpPr>
            <p:spPr bwMode="auto">
              <a:xfrm flipH="1">
                <a:off x="2642"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2" name="Line 1094"/>
              <p:cNvSpPr>
                <a:spLocks noChangeShapeType="1"/>
              </p:cNvSpPr>
              <p:nvPr/>
            </p:nvSpPr>
            <p:spPr bwMode="auto">
              <a:xfrm flipH="1">
                <a:off x="2699"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3" name="Line 1095"/>
              <p:cNvSpPr>
                <a:spLocks noChangeShapeType="1"/>
              </p:cNvSpPr>
              <p:nvPr/>
            </p:nvSpPr>
            <p:spPr bwMode="auto">
              <a:xfrm flipH="1">
                <a:off x="2756"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4" name="Line 1096"/>
              <p:cNvSpPr>
                <a:spLocks noChangeShapeType="1"/>
              </p:cNvSpPr>
              <p:nvPr/>
            </p:nvSpPr>
            <p:spPr bwMode="auto">
              <a:xfrm flipH="1">
                <a:off x="2813"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5" name="Line 1097"/>
              <p:cNvSpPr>
                <a:spLocks noChangeShapeType="1"/>
              </p:cNvSpPr>
              <p:nvPr/>
            </p:nvSpPr>
            <p:spPr bwMode="auto">
              <a:xfrm flipH="1">
                <a:off x="2870"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6" name="Line 1098"/>
              <p:cNvSpPr>
                <a:spLocks noChangeShapeType="1"/>
              </p:cNvSpPr>
              <p:nvPr/>
            </p:nvSpPr>
            <p:spPr bwMode="auto">
              <a:xfrm flipH="1">
                <a:off x="2927"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7" name="Line 1099"/>
              <p:cNvSpPr>
                <a:spLocks noChangeShapeType="1"/>
              </p:cNvSpPr>
              <p:nvPr/>
            </p:nvSpPr>
            <p:spPr bwMode="auto">
              <a:xfrm flipH="1">
                <a:off x="2984"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8" name="Line 1100"/>
              <p:cNvSpPr>
                <a:spLocks noChangeShapeType="1"/>
              </p:cNvSpPr>
              <p:nvPr/>
            </p:nvSpPr>
            <p:spPr bwMode="auto">
              <a:xfrm flipH="1">
                <a:off x="3041"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31" name="Group 1101"/>
            <p:cNvGrpSpPr>
              <a:grpSpLocks/>
            </p:cNvGrpSpPr>
            <p:nvPr/>
          </p:nvGrpSpPr>
          <p:grpSpPr bwMode="auto">
            <a:xfrm>
              <a:off x="1071" y="3758"/>
              <a:ext cx="354" cy="216"/>
              <a:chOff x="2642" y="3886"/>
              <a:chExt cx="399" cy="247"/>
            </a:xfrm>
          </p:grpSpPr>
          <p:sp>
            <p:nvSpPr>
              <p:cNvPr id="24673" name="Line 1102"/>
              <p:cNvSpPr>
                <a:spLocks noChangeShapeType="1"/>
              </p:cNvSpPr>
              <p:nvPr/>
            </p:nvSpPr>
            <p:spPr bwMode="auto">
              <a:xfrm flipH="1">
                <a:off x="2642"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4" name="Line 1103"/>
              <p:cNvSpPr>
                <a:spLocks noChangeShapeType="1"/>
              </p:cNvSpPr>
              <p:nvPr/>
            </p:nvSpPr>
            <p:spPr bwMode="auto">
              <a:xfrm flipH="1">
                <a:off x="2699"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5" name="Line 1104"/>
              <p:cNvSpPr>
                <a:spLocks noChangeShapeType="1"/>
              </p:cNvSpPr>
              <p:nvPr/>
            </p:nvSpPr>
            <p:spPr bwMode="auto">
              <a:xfrm flipH="1">
                <a:off x="2756"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6" name="Line 1105"/>
              <p:cNvSpPr>
                <a:spLocks noChangeShapeType="1"/>
              </p:cNvSpPr>
              <p:nvPr/>
            </p:nvSpPr>
            <p:spPr bwMode="auto">
              <a:xfrm flipH="1">
                <a:off x="2813"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7" name="Line 1106"/>
              <p:cNvSpPr>
                <a:spLocks noChangeShapeType="1"/>
              </p:cNvSpPr>
              <p:nvPr/>
            </p:nvSpPr>
            <p:spPr bwMode="auto">
              <a:xfrm flipH="1">
                <a:off x="2870"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8" name="Line 1107"/>
              <p:cNvSpPr>
                <a:spLocks noChangeShapeType="1"/>
              </p:cNvSpPr>
              <p:nvPr/>
            </p:nvSpPr>
            <p:spPr bwMode="auto">
              <a:xfrm flipH="1">
                <a:off x="2927"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9" name="Line 1108"/>
              <p:cNvSpPr>
                <a:spLocks noChangeShapeType="1"/>
              </p:cNvSpPr>
              <p:nvPr/>
            </p:nvSpPr>
            <p:spPr bwMode="auto">
              <a:xfrm flipH="1">
                <a:off x="2984"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80" name="Line 1109"/>
              <p:cNvSpPr>
                <a:spLocks noChangeShapeType="1"/>
              </p:cNvSpPr>
              <p:nvPr/>
            </p:nvSpPr>
            <p:spPr bwMode="auto">
              <a:xfrm flipH="1">
                <a:off x="3041"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32" name="Group 1110"/>
            <p:cNvGrpSpPr>
              <a:grpSpLocks/>
            </p:cNvGrpSpPr>
            <p:nvPr/>
          </p:nvGrpSpPr>
          <p:grpSpPr bwMode="auto">
            <a:xfrm>
              <a:off x="2903" y="3758"/>
              <a:ext cx="354" cy="215"/>
              <a:chOff x="2642" y="3886"/>
              <a:chExt cx="399" cy="247"/>
            </a:xfrm>
          </p:grpSpPr>
          <p:sp>
            <p:nvSpPr>
              <p:cNvPr id="24665" name="Line 1111"/>
              <p:cNvSpPr>
                <a:spLocks noChangeShapeType="1"/>
              </p:cNvSpPr>
              <p:nvPr/>
            </p:nvSpPr>
            <p:spPr bwMode="auto">
              <a:xfrm flipH="1">
                <a:off x="2642"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6" name="Line 1112"/>
              <p:cNvSpPr>
                <a:spLocks noChangeShapeType="1"/>
              </p:cNvSpPr>
              <p:nvPr/>
            </p:nvSpPr>
            <p:spPr bwMode="auto">
              <a:xfrm flipH="1">
                <a:off x="2699"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7" name="Line 1113"/>
              <p:cNvSpPr>
                <a:spLocks noChangeShapeType="1"/>
              </p:cNvSpPr>
              <p:nvPr/>
            </p:nvSpPr>
            <p:spPr bwMode="auto">
              <a:xfrm flipH="1">
                <a:off x="2756"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8" name="Line 1114"/>
              <p:cNvSpPr>
                <a:spLocks noChangeShapeType="1"/>
              </p:cNvSpPr>
              <p:nvPr/>
            </p:nvSpPr>
            <p:spPr bwMode="auto">
              <a:xfrm flipH="1">
                <a:off x="2813"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9" name="Line 1115"/>
              <p:cNvSpPr>
                <a:spLocks noChangeShapeType="1"/>
              </p:cNvSpPr>
              <p:nvPr/>
            </p:nvSpPr>
            <p:spPr bwMode="auto">
              <a:xfrm flipH="1">
                <a:off x="2870" y="3892"/>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0" name="Line 1116"/>
              <p:cNvSpPr>
                <a:spLocks noChangeShapeType="1"/>
              </p:cNvSpPr>
              <p:nvPr/>
            </p:nvSpPr>
            <p:spPr bwMode="auto">
              <a:xfrm flipH="1">
                <a:off x="2927" y="3886"/>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1" name="Line 1117"/>
              <p:cNvSpPr>
                <a:spLocks noChangeShapeType="1"/>
              </p:cNvSpPr>
              <p:nvPr/>
            </p:nvSpPr>
            <p:spPr bwMode="auto">
              <a:xfrm flipH="1">
                <a:off x="2984" y="3888"/>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72" name="Line 1118"/>
              <p:cNvSpPr>
                <a:spLocks noChangeShapeType="1"/>
              </p:cNvSpPr>
              <p:nvPr/>
            </p:nvSpPr>
            <p:spPr bwMode="auto">
              <a:xfrm flipH="1">
                <a:off x="3041" y="3890"/>
                <a:ext cx="0" cy="241"/>
              </a:xfrm>
              <a:prstGeom prst="line">
                <a:avLst/>
              </a:prstGeom>
              <a:noFill/>
              <a:ln w="38100">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33" name="Group 1119"/>
            <p:cNvGrpSpPr>
              <a:grpSpLocks/>
            </p:cNvGrpSpPr>
            <p:nvPr/>
          </p:nvGrpSpPr>
          <p:grpSpPr bwMode="auto">
            <a:xfrm>
              <a:off x="700" y="2614"/>
              <a:ext cx="381" cy="442"/>
              <a:chOff x="662" y="2580"/>
              <a:chExt cx="429" cy="506"/>
            </a:xfrm>
          </p:grpSpPr>
          <p:sp>
            <p:nvSpPr>
              <p:cNvPr id="24663" name="Rectangle 1120"/>
              <p:cNvSpPr>
                <a:spLocks noChangeArrowheads="1"/>
              </p:cNvSpPr>
              <p:nvPr/>
            </p:nvSpPr>
            <p:spPr bwMode="auto">
              <a:xfrm>
                <a:off x="678" y="2580"/>
                <a:ext cx="382" cy="506"/>
              </a:xfrm>
              <a:prstGeom prst="rect">
                <a:avLst/>
              </a:prstGeom>
              <a:solidFill>
                <a:schemeClr val="tx2"/>
              </a:solidFill>
              <a:ln>
                <a:noFill/>
              </a:ln>
              <a:effectLst/>
              <a:extLst>
                <a:ext uri="{91240B29-F687-4F45-9708-019B960494DF}">
                  <a14:hiddenLine xmlns:a14="http://schemas.microsoft.com/office/drawing/2010/main" w="19050">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64" name="Text Box 1121"/>
              <p:cNvSpPr txBox="1">
                <a:spLocks noChangeArrowheads="1"/>
              </p:cNvSpPr>
              <p:nvPr/>
            </p:nvSpPr>
            <p:spPr bwMode="auto">
              <a:xfrm>
                <a:off x="662" y="2694"/>
                <a:ext cx="4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1400" b="1">
                    <a:solidFill>
                      <a:schemeClr val="bg1"/>
                    </a:solidFill>
                    <a:latin typeface="Arial" panose="020B0604020202020204" pitchFamily="34" charset="0"/>
                  </a:rPr>
                  <a:t>RAM</a:t>
                </a:r>
                <a:endParaRPr kumimoji="0" lang="en-US" altLang="zh-CN" b="1"/>
              </a:p>
            </p:txBody>
          </p:sp>
        </p:grpSp>
        <p:grpSp>
          <p:nvGrpSpPr>
            <p:cNvPr id="24634" name="Group 1122"/>
            <p:cNvGrpSpPr>
              <a:grpSpLocks/>
            </p:cNvGrpSpPr>
            <p:nvPr/>
          </p:nvGrpSpPr>
          <p:grpSpPr bwMode="auto">
            <a:xfrm>
              <a:off x="703" y="3161"/>
              <a:ext cx="380" cy="441"/>
              <a:chOff x="662" y="2580"/>
              <a:chExt cx="429" cy="506"/>
            </a:xfrm>
          </p:grpSpPr>
          <p:sp>
            <p:nvSpPr>
              <p:cNvPr id="24661" name="Rectangle 1123"/>
              <p:cNvSpPr>
                <a:spLocks noChangeArrowheads="1"/>
              </p:cNvSpPr>
              <p:nvPr/>
            </p:nvSpPr>
            <p:spPr bwMode="auto">
              <a:xfrm>
                <a:off x="678" y="2580"/>
                <a:ext cx="382" cy="506"/>
              </a:xfrm>
              <a:prstGeom prst="rect">
                <a:avLst/>
              </a:prstGeom>
              <a:solidFill>
                <a:schemeClr val="tx2"/>
              </a:solidFill>
              <a:ln>
                <a:noFill/>
              </a:ln>
              <a:effectLst/>
              <a:extLst>
                <a:ext uri="{91240B29-F687-4F45-9708-019B960494DF}">
                  <a14:hiddenLine xmlns:a14="http://schemas.microsoft.com/office/drawing/2010/main" w="19050">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62" name="Text Box 1124"/>
              <p:cNvSpPr txBox="1">
                <a:spLocks noChangeArrowheads="1"/>
              </p:cNvSpPr>
              <p:nvPr/>
            </p:nvSpPr>
            <p:spPr bwMode="auto">
              <a:xfrm>
                <a:off x="662" y="2696"/>
                <a:ext cx="429"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1400" b="1">
                    <a:solidFill>
                      <a:schemeClr val="bg1"/>
                    </a:solidFill>
                    <a:latin typeface="Arial" panose="020B0604020202020204" pitchFamily="34" charset="0"/>
                  </a:rPr>
                  <a:t>RAM</a:t>
                </a:r>
                <a:endParaRPr kumimoji="0" lang="en-US" altLang="zh-CN" b="1"/>
              </a:p>
            </p:txBody>
          </p:sp>
        </p:grpSp>
        <p:sp>
          <p:nvSpPr>
            <p:cNvPr id="24635" name="Line 1125"/>
            <p:cNvSpPr>
              <a:spLocks noChangeShapeType="1"/>
            </p:cNvSpPr>
            <p:nvPr/>
          </p:nvSpPr>
          <p:spPr bwMode="auto">
            <a:xfrm>
              <a:off x="1059" y="3171"/>
              <a:ext cx="0" cy="435"/>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6" name="Line 1126"/>
            <p:cNvSpPr>
              <a:spLocks noChangeShapeType="1"/>
            </p:cNvSpPr>
            <p:nvPr/>
          </p:nvSpPr>
          <p:spPr bwMode="auto">
            <a:xfrm>
              <a:off x="709" y="3172"/>
              <a:ext cx="0" cy="436"/>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7" name="Line 1127"/>
            <p:cNvSpPr>
              <a:spLocks noChangeShapeType="1"/>
            </p:cNvSpPr>
            <p:nvPr/>
          </p:nvSpPr>
          <p:spPr bwMode="auto">
            <a:xfrm>
              <a:off x="711" y="2617"/>
              <a:ext cx="0" cy="435"/>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38" name="Line 1128"/>
            <p:cNvSpPr>
              <a:spLocks noChangeShapeType="1"/>
            </p:cNvSpPr>
            <p:nvPr/>
          </p:nvSpPr>
          <p:spPr bwMode="auto">
            <a:xfrm>
              <a:off x="1052" y="2620"/>
              <a:ext cx="0" cy="435"/>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24639" name="Group 1129"/>
            <p:cNvGrpSpPr>
              <a:grpSpLocks/>
            </p:cNvGrpSpPr>
            <p:nvPr/>
          </p:nvGrpSpPr>
          <p:grpSpPr bwMode="auto">
            <a:xfrm rot="-5400000">
              <a:off x="1584" y="2953"/>
              <a:ext cx="336" cy="540"/>
              <a:chOff x="2010" y="1600"/>
              <a:chExt cx="386" cy="506"/>
            </a:xfrm>
          </p:grpSpPr>
          <p:sp>
            <p:nvSpPr>
              <p:cNvPr id="24658" name="Rectangle 1130"/>
              <p:cNvSpPr>
                <a:spLocks noChangeArrowheads="1"/>
              </p:cNvSpPr>
              <p:nvPr/>
            </p:nvSpPr>
            <p:spPr bwMode="auto">
              <a:xfrm>
                <a:off x="2014" y="1600"/>
                <a:ext cx="382" cy="506"/>
              </a:xfrm>
              <a:prstGeom prst="rect">
                <a:avLst/>
              </a:prstGeom>
              <a:solidFill>
                <a:schemeClr val="tx2"/>
              </a:solidFill>
              <a:ln>
                <a:noFill/>
              </a:ln>
              <a:effectLst/>
              <a:extLst>
                <a:ext uri="{91240B29-F687-4F45-9708-019B960494DF}">
                  <a14:hiddenLine xmlns:a14="http://schemas.microsoft.com/office/drawing/2010/main" w="19050">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59" name="Line 1131"/>
              <p:cNvSpPr>
                <a:spLocks noChangeShapeType="1"/>
              </p:cNvSpPr>
              <p:nvPr/>
            </p:nvSpPr>
            <p:spPr bwMode="auto">
              <a:xfrm>
                <a:off x="2010" y="1603"/>
                <a:ext cx="0" cy="499"/>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60" name="Line 1132"/>
              <p:cNvSpPr>
                <a:spLocks noChangeShapeType="1"/>
              </p:cNvSpPr>
              <p:nvPr/>
            </p:nvSpPr>
            <p:spPr bwMode="auto">
              <a:xfrm>
                <a:off x="2395" y="1606"/>
                <a:ext cx="0" cy="499"/>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40" name="Group 1133"/>
            <p:cNvGrpSpPr>
              <a:grpSpLocks/>
            </p:cNvGrpSpPr>
            <p:nvPr/>
          </p:nvGrpSpPr>
          <p:grpSpPr bwMode="auto">
            <a:xfrm rot="-5400000">
              <a:off x="2466" y="2541"/>
              <a:ext cx="500" cy="539"/>
              <a:chOff x="2010" y="1600"/>
              <a:chExt cx="386" cy="506"/>
            </a:xfrm>
          </p:grpSpPr>
          <p:sp>
            <p:nvSpPr>
              <p:cNvPr id="24655" name="Rectangle 1134"/>
              <p:cNvSpPr>
                <a:spLocks noChangeArrowheads="1"/>
              </p:cNvSpPr>
              <p:nvPr/>
            </p:nvSpPr>
            <p:spPr bwMode="auto">
              <a:xfrm>
                <a:off x="2014" y="1600"/>
                <a:ext cx="382" cy="506"/>
              </a:xfrm>
              <a:prstGeom prst="rect">
                <a:avLst/>
              </a:prstGeom>
              <a:solidFill>
                <a:schemeClr val="tx2"/>
              </a:solidFill>
              <a:ln>
                <a:noFill/>
              </a:ln>
              <a:effectLst/>
              <a:extLst>
                <a:ext uri="{91240B29-F687-4F45-9708-019B960494DF}">
                  <a14:hiddenLine xmlns:a14="http://schemas.microsoft.com/office/drawing/2010/main" w="19050">
                    <a:solidFill>
                      <a:schemeClr val="bg1"/>
                    </a:solidFill>
                    <a:prstDash val="sysDot"/>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24656" name="Line 1135"/>
              <p:cNvSpPr>
                <a:spLocks noChangeShapeType="1"/>
              </p:cNvSpPr>
              <p:nvPr/>
            </p:nvSpPr>
            <p:spPr bwMode="auto">
              <a:xfrm>
                <a:off x="2010" y="1603"/>
                <a:ext cx="0" cy="499"/>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57" name="Line 1136"/>
              <p:cNvSpPr>
                <a:spLocks noChangeShapeType="1"/>
              </p:cNvSpPr>
              <p:nvPr/>
            </p:nvSpPr>
            <p:spPr bwMode="auto">
              <a:xfrm>
                <a:off x="2395" y="1606"/>
                <a:ext cx="0" cy="499"/>
              </a:xfrm>
              <a:prstGeom prst="line">
                <a:avLst/>
              </a:prstGeom>
              <a:noFill/>
              <a:ln w="28575">
                <a:solidFill>
                  <a:schemeClr val="bg1"/>
                </a:solidFill>
                <a:prstDash val="sysDot"/>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641" name="Group 1137"/>
            <p:cNvGrpSpPr>
              <a:grpSpLocks/>
            </p:cNvGrpSpPr>
            <p:nvPr/>
          </p:nvGrpSpPr>
          <p:grpSpPr bwMode="auto">
            <a:xfrm rot="-5400000">
              <a:off x="2875" y="2781"/>
              <a:ext cx="348" cy="123"/>
              <a:chOff x="2642" y="3886"/>
              <a:chExt cx="399" cy="247"/>
            </a:xfrm>
          </p:grpSpPr>
          <p:sp>
            <p:nvSpPr>
              <p:cNvPr id="24647" name="Line 1138"/>
              <p:cNvSpPr>
                <a:spLocks noChangeShapeType="1"/>
              </p:cNvSpPr>
              <p:nvPr/>
            </p:nvSpPr>
            <p:spPr bwMode="auto">
              <a:xfrm flipH="1">
                <a:off x="2642" y="3892"/>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8" name="Line 1139"/>
              <p:cNvSpPr>
                <a:spLocks noChangeShapeType="1"/>
              </p:cNvSpPr>
              <p:nvPr/>
            </p:nvSpPr>
            <p:spPr bwMode="auto">
              <a:xfrm flipH="1">
                <a:off x="2699" y="3886"/>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49" name="Line 1140"/>
              <p:cNvSpPr>
                <a:spLocks noChangeShapeType="1"/>
              </p:cNvSpPr>
              <p:nvPr/>
            </p:nvSpPr>
            <p:spPr bwMode="auto">
              <a:xfrm flipH="1">
                <a:off x="2756" y="3888"/>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50" name="Line 1141"/>
              <p:cNvSpPr>
                <a:spLocks noChangeShapeType="1"/>
              </p:cNvSpPr>
              <p:nvPr/>
            </p:nvSpPr>
            <p:spPr bwMode="auto">
              <a:xfrm flipH="1">
                <a:off x="2813" y="3890"/>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51" name="Line 1142"/>
              <p:cNvSpPr>
                <a:spLocks noChangeShapeType="1"/>
              </p:cNvSpPr>
              <p:nvPr/>
            </p:nvSpPr>
            <p:spPr bwMode="auto">
              <a:xfrm flipH="1">
                <a:off x="2870" y="3892"/>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52" name="Line 1143"/>
              <p:cNvSpPr>
                <a:spLocks noChangeShapeType="1"/>
              </p:cNvSpPr>
              <p:nvPr/>
            </p:nvSpPr>
            <p:spPr bwMode="auto">
              <a:xfrm flipH="1">
                <a:off x="2927" y="3886"/>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53" name="Line 1144"/>
              <p:cNvSpPr>
                <a:spLocks noChangeShapeType="1"/>
              </p:cNvSpPr>
              <p:nvPr/>
            </p:nvSpPr>
            <p:spPr bwMode="auto">
              <a:xfrm flipH="1">
                <a:off x="2984" y="3888"/>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4654" name="Line 1145"/>
              <p:cNvSpPr>
                <a:spLocks noChangeShapeType="1"/>
              </p:cNvSpPr>
              <p:nvPr/>
            </p:nvSpPr>
            <p:spPr bwMode="auto">
              <a:xfrm flipH="1">
                <a:off x="3041" y="3890"/>
                <a:ext cx="0" cy="241"/>
              </a:xfrm>
              <a:prstGeom prst="line">
                <a:avLst/>
              </a:prstGeom>
              <a:noFill/>
              <a:ln w="12700">
                <a:solidFill>
                  <a:schemeClr val="bg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
          <p:nvSpPr>
            <p:cNvPr id="24642" name="Text Box 1146"/>
            <p:cNvSpPr txBox="1">
              <a:spLocks noChangeArrowheads="1"/>
            </p:cNvSpPr>
            <p:nvPr/>
          </p:nvSpPr>
          <p:spPr bwMode="auto">
            <a:xfrm>
              <a:off x="1516" y="3144"/>
              <a:ext cx="518" cy="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1400" b="1">
                  <a:solidFill>
                    <a:schemeClr val="bg1"/>
                  </a:solidFill>
                  <a:latin typeface="Arial" panose="020B0604020202020204" pitchFamily="34" charset="0"/>
                </a:rPr>
                <a:t>ROM</a:t>
              </a:r>
            </a:p>
          </p:txBody>
        </p:sp>
        <p:sp>
          <p:nvSpPr>
            <p:cNvPr id="24643" name="Text Box 1147"/>
            <p:cNvSpPr txBox="1">
              <a:spLocks noChangeArrowheads="1"/>
            </p:cNvSpPr>
            <p:nvPr/>
          </p:nvSpPr>
          <p:spPr bwMode="auto">
            <a:xfrm>
              <a:off x="2409" y="2643"/>
              <a:ext cx="684" cy="3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1400" b="1">
                  <a:solidFill>
                    <a:schemeClr val="bg1"/>
                  </a:solidFill>
                  <a:latin typeface="Arial" panose="020B0604020202020204" pitchFamily="34" charset="0"/>
                </a:rPr>
                <a:t>Ethernet Processor</a:t>
              </a:r>
              <a:endParaRPr kumimoji="0" lang="en-US" altLang="zh-CN" sz="1600" b="1">
                <a:latin typeface="Arial" panose="020B0604020202020204" pitchFamily="34" charset="0"/>
              </a:endParaRPr>
            </a:p>
          </p:txBody>
        </p:sp>
        <p:cxnSp>
          <p:nvCxnSpPr>
            <p:cNvPr id="24644" name="AutoShape 1148"/>
            <p:cNvCxnSpPr>
              <a:cxnSpLocks noChangeShapeType="1"/>
            </p:cNvCxnSpPr>
            <p:nvPr/>
          </p:nvCxnSpPr>
          <p:spPr bwMode="auto">
            <a:xfrm rot="10800000" flipV="1">
              <a:off x="4045" y="2897"/>
              <a:ext cx="373" cy="214"/>
            </a:xfrm>
            <a:prstGeom prst="curvedConnector3">
              <a:avLst>
                <a:gd name="adj1" fmla="val 50000"/>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645" name="Text Box 1149"/>
            <p:cNvSpPr txBox="1">
              <a:spLocks noChangeArrowheads="1"/>
            </p:cNvSpPr>
            <p:nvPr/>
          </p:nvSpPr>
          <p:spPr bwMode="auto">
            <a:xfrm>
              <a:off x="1124" y="2182"/>
              <a:ext cx="345" cy="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50000"/>
                </a:spcBef>
              </a:pPr>
              <a:r>
                <a:rPr kumimoji="0" lang="en-US" altLang="zh-CN" sz="1800"/>
                <a:t>(b)</a:t>
              </a:r>
            </a:p>
          </p:txBody>
        </p:sp>
        <p:sp>
          <p:nvSpPr>
            <p:cNvPr id="24646" name="Text Box 1150"/>
            <p:cNvSpPr txBox="1">
              <a:spLocks noChangeArrowheads="1"/>
            </p:cNvSpPr>
            <p:nvPr/>
          </p:nvSpPr>
          <p:spPr bwMode="auto">
            <a:xfrm>
              <a:off x="4904" y="4007"/>
              <a:ext cx="116" cy="1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50000"/>
                </a:spcBef>
              </a:pPr>
              <a:endParaRPr kumimoji="0" lang="zh-CN" altLang="zh-CN" sz="1000"/>
            </a:p>
          </p:txBody>
        </p:sp>
      </p:grpSp>
      <p:graphicFrame>
        <p:nvGraphicFramePr>
          <p:cNvPr id="24582" name="Object 1151"/>
          <p:cNvGraphicFramePr>
            <a:graphicFrameLocks noChangeAspect="1"/>
          </p:cNvGraphicFramePr>
          <p:nvPr/>
        </p:nvGraphicFramePr>
        <p:xfrm>
          <a:off x="4687889" y="1196976"/>
          <a:ext cx="4306887" cy="2301875"/>
        </p:xfrm>
        <a:graphic>
          <a:graphicData uri="http://schemas.openxmlformats.org/presentationml/2006/ole">
            <mc:AlternateContent xmlns:mc="http://schemas.openxmlformats.org/markup-compatibility/2006">
              <mc:Choice xmlns:v="urn:schemas-microsoft-com:vml" Requires="v">
                <p:oleObj spid="_x0000_s24747" name="Clip" r:id="rId3" imgW="4965584" imgH="2664721" progId="MS_ClipArt_Gallery.2">
                  <p:embed/>
                </p:oleObj>
              </mc:Choice>
              <mc:Fallback>
                <p:oleObj name="Clip" r:id="rId3" imgW="4965584" imgH="2664721" progId="MS_ClipArt_Gallery.2">
                  <p:embed/>
                  <p:pic>
                    <p:nvPicPr>
                      <p:cNvPr id="0" name="Object 11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87889" y="1196976"/>
                        <a:ext cx="4306887" cy="2301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3" name="Line 1152"/>
          <p:cNvSpPr>
            <a:spLocks noChangeShapeType="1"/>
          </p:cNvSpPr>
          <p:nvPr/>
        </p:nvSpPr>
        <p:spPr bwMode="auto">
          <a:xfrm>
            <a:off x="4702175" y="2395538"/>
            <a:ext cx="4464050"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4584" name="Line 1153"/>
          <p:cNvSpPr>
            <a:spLocks noChangeShapeType="1"/>
          </p:cNvSpPr>
          <p:nvPr/>
        </p:nvSpPr>
        <p:spPr bwMode="auto">
          <a:xfrm>
            <a:off x="8339138" y="2025650"/>
            <a:ext cx="0" cy="36988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62885"/>
                                        </p:tgtEl>
                                        <p:attrNameLst>
                                          <p:attrName>style.visibility</p:attrName>
                                        </p:attrNameLst>
                                      </p:cBhvr>
                                      <p:to>
                                        <p:strVal val="visible"/>
                                      </p:to>
                                    </p:set>
                                    <p:anim calcmode="lin" valueType="num">
                                      <p:cBhvr additive="base">
                                        <p:cTn id="7" dur="500" fill="hold"/>
                                        <p:tgtEl>
                                          <p:spTgt spid="762885"/>
                                        </p:tgtEl>
                                        <p:attrNameLst>
                                          <p:attrName>ppt_x</p:attrName>
                                        </p:attrNameLst>
                                      </p:cBhvr>
                                      <p:tavLst>
                                        <p:tav tm="0">
                                          <p:val>
                                            <p:strVal val="1+#ppt_w/2"/>
                                          </p:val>
                                        </p:tav>
                                        <p:tav tm="100000">
                                          <p:val>
                                            <p:strVal val="#ppt_x"/>
                                          </p:val>
                                        </p:tav>
                                      </p:tavLst>
                                    </p:anim>
                                    <p:anim calcmode="lin" valueType="num">
                                      <p:cBhvr additive="base">
                                        <p:cTn id="8" dur="500" fill="hold"/>
                                        <p:tgtEl>
                                          <p:spTgt spid="76288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026"/>
          <p:cNvSpPr>
            <a:spLocks noGrp="1" noChangeArrowheads="1"/>
          </p:cNvSpPr>
          <p:nvPr>
            <p:ph type="title" idx="4294967295"/>
          </p:nvPr>
        </p:nvSpPr>
        <p:spPr bwMode="auto">
          <a:xfrm>
            <a:off x="3147712" y="274422"/>
            <a:ext cx="5073650" cy="6746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sz="3600" b="1">
                <a:solidFill>
                  <a:srgbClr val="CC3300"/>
                </a:solidFill>
                <a:latin typeface="新宋体" panose="02010609030101010101" pitchFamily="49" charset="-122"/>
                <a:ea typeface="新宋体" panose="02010609030101010101" pitchFamily="49" charset="-122"/>
              </a:rPr>
              <a:t>局域网组成（硬件）</a:t>
            </a:r>
          </a:p>
        </p:txBody>
      </p:sp>
      <p:sp>
        <p:nvSpPr>
          <p:cNvPr id="763907" name="Text Box 1027"/>
          <p:cNvSpPr txBox="1">
            <a:spLocks noChangeArrowheads="1"/>
          </p:cNvSpPr>
          <p:nvPr/>
        </p:nvSpPr>
        <p:spPr bwMode="auto">
          <a:xfrm>
            <a:off x="2139951" y="1763714"/>
            <a:ext cx="8061325" cy="42370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85738" indent="-185738">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buFont typeface="Wingdings" panose="05000000000000000000" pitchFamily="2" charset="2"/>
              <a:buChar char="ü"/>
            </a:pPr>
            <a:r>
              <a:rPr lang="en-US" altLang="zh-CN" b="1"/>
              <a:t> </a:t>
            </a:r>
            <a:r>
              <a:rPr lang="en-US" altLang="zh-CN"/>
              <a:t>   </a:t>
            </a:r>
            <a:r>
              <a:rPr lang="zh-CN" altLang="en-US">
                <a:solidFill>
                  <a:schemeClr val="hlink"/>
                </a:solidFill>
              </a:rPr>
              <a:t>计算机</a:t>
            </a:r>
            <a:r>
              <a:rPr lang="zh-CN" altLang="en-US"/>
              <a:t>：服务器、工作站（有盘、无盘）</a:t>
            </a:r>
          </a:p>
          <a:p>
            <a:pPr algn="just" eaLnBrk="1" hangingPunct="1">
              <a:spcBef>
                <a:spcPct val="20000"/>
              </a:spcBef>
              <a:buFont typeface="Wingdings" panose="05000000000000000000" pitchFamily="2" charset="2"/>
              <a:buChar char="ü"/>
            </a:pPr>
            <a:r>
              <a:rPr lang="zh-CN" altLang="en-US"/>
              <a:t>    </a:t>
            </a:r>
            <a:r>
              <a:rPr lang="zh-CN" altLang="en-US">
                <a:solidFill>
                  <a:schemeClr val="hlink"/>
                </a:solidFill>
              </a:rPr>
              <a:t>网络适配器（网卡）</a:t>
            </a:r>
          </a:p>
          <a:p>
            <a:pPr algn="just" eaLnBrk="1" hangingPunct="1">
              <a:spcBef>
                <a:spcPct val="20000"/>
              </a:spcBef>
              <a:buFont typeface="Wingdings" panose="05000000000000000000" pitchFamily="2" charset="2"/>
              <a:buChar char="ü"/>
            </a:pPr>
            <a:r>
              <a:rPr lang="zh-CN" altLang="en-US"/>
              <a:t>    </a:t>
            </a:r>
            <a:r>
              <a:rPr lang="zh-CN" altLang="en-US">
                <a:solidFill>
                  <a:schemeClr val="hlink"/>
                </a:solidFill>
              </a:rPr>
              <a:t>网络互连设备</a:t>
            </a:r>
            <a:r>
              <a:rPr lang="zh-CN" altLang="en-US"/>
              <a:t>（中继器、集线器（</a:t>
            </a:r>
            <a:r>
              <a:rPr lang="en-US" altLang="zh-CN"/>
              <a:t>HUB</a:t>
            </a:r>
            <a:r>
              <a:rPr lang="zh-CN" altLang="en-US"/>
              <a:t>）、网桥、交换机、路由器、网关、访问服务器等）</a:t>
            </a:r>
          </a:p>
          <a:p>
            <a:pPr algn="just" eaLnBrk="1" hangingPunct="1">
              <a:spcBef>
                <a:spcPct val="20000"/>
              </a:spcBef>
              <a:buClr>
                <a:schemeClr val="hlink"/>
              </a:buClr>
              <a:buFont typeface="Wingdings" panose="05000000000000000000" pitchFamily="2" charset="2"/>
              <a:buChar char="§"/>
            </a:pPr>
            <a:r>
              <a:rPr lang="en-US" altLang="zh-CN" sz="2400">
                <a:solidFill>
                  <a:srgbClr val="000099"/>
                </a:solidFill>
              </a:rPr>
              <a:t>LAN:</a:t>
            </a:r>
            <a:r>
              <a:rPr lang="zh-CN" altLang="en-US" sz="2400">
                <a:solidFill>
                  <a:srgbClr val="000099"/>
                </a:solidFill>
              </a:rPr>
              <a:t>中继器、</a:t>
            </a:r>
            <a:r>
              <a:rPr lang="en-US" altLang="zh-CN" sz="2400">
                <a:solidFill>
                  <a:srgbClr val="000099"/>
                </a:solidFill>
              </a:rPr>
              <a:t>HUB</a:t>
            </a:r>
            <a:r>
              <a:rPr lang="zh-CN" altLang="en-US" sz="2400">
                <a:solidFill>
                  <a:srgbClr val="000099"/>
                </a:solidFill>
              </a:rPr>
              <a:t>、网桥、交换机</a:t>
            </a:r>
          </a:p>
          <a:p>
            <a:pPr algn="just" eaLnBrk="1" hangingPunct="1">
              <a:spcBef>
                <a:spcPct val="20000"/>
              </a:spcBef>
              <a:buClr>
                <a:schemeClr val="hlink"/>
              </a:buClr>
              <a:buFont typeface="Wingdings" panose="05000000000000000000" pitchFamily="2" charset="2"/>
              <a:buChar char="§"/>
            </a:pPr>
            <a:r>
              <a:rPr lang="en-US" altLang="zh-CN" sz="2400">
                <a:solidFill>
                  <a:srgbClr val="000099"/>
                </a:solidFill>
              </a:rPr>
              <a:t>WAN </a:t>
            </a:r>
            <a:r>
              <a:rPr lang="zh-CN" altLang="en-US" sz="2400">
                <a:solidFill>
                  <a:srgbClr val="000099"/>
                </a:solidFill>
              </a:rPr>
              <a:t>或 </a:t>
            </a:r>
            <a:r>
              <a:rPr lang="en-US" altLang="zh-CN" sz="2400">
                <a:solidFill>
                  <a:srgbClr val="000099"/>
                </a:solidFill>
              </a:rPr>
              <a:t>LAN-WAN</a:t>
            </a:r>
            <a:r>
              <a:rPr lang="zh-CN" altLang="en-US" sz="2400">
                <a:solidFill>
                  <a:srgbClr val="000099"/>
                </a:solidFill>
              </a:rPr>
              <a:t>：路由器</a:t>
            </a:r>
          </a:p>
          <a:p>
            <a:pPr algn="just" eaLnBrk="1" hangingPunct="1">
              <a:spcBef>
                <a:spcPct val="20000"/>
              </a:spcBef>
              <a:buClr>
                <a:schemeClr val="hlink"/>
              </a:buClr>
              <a:buFont typeface="Wingdings" panose="05000000000000000000" pitchFamily="2" charset="2"/>
              <a:buChar char="§"/>
            </a:pPr>
            <a:r>
              <a:rPr lang="zh-CN" altLang="en-US" sz="2400">
                <a:solidFill>
                  <a:srgbClr val="000099"/>
                </a:solidFill>
              </a:rPr>
              <a:t>不同协议系统之间互连：</a:t>
            </a:r>
            <a:r>
              <a:rPr lang="en-US" altLang="zh-CN" sz="2400">
                <a:solidFill>
                  <a:srgbClr val="000099"/>
                </a:solidFill>
              </a:rPr>
              <a:t>Gateway</a:t>
            </a:r>
            <a:r>
              <a:rPr lang="zh-CN" altLang="en-US" sz="2000">
                <a:solidFill>
                  <a:srgbClr val="000099"/>
                </a:solidFill>
              </a:rPr>
              <a:t>（如以太网与</a:t>
            </a:r>
            <a:r>
              <a:rPr lang="en-US" altLang="zh-CN" sz="2000">
                <a:solidFill>
                  <a:srgbClr val="000099"/>
                </a:solidFill>
              </a:rPr>
              <a:t>NOVELL</a:t>
            </a:r>
            <a:r>
              <a:rPr lang="zh-CN" altLang="en-US" sz="2000">
                <a:solidFill>
                  <a:srgbClr val="000099"/>
                </a:solidFill>
              </a:rPr>
              <a:t>网）</a:t>
            </a:r>
          </a:p>
          <a:p>
            <a:pPr algn="just" eaLnBrk="1" hangingPunct="1">
              <a:spcBef>
                <a:spcPct val="20000"/>
              </a:spcBef>
              <a:buClr>
                <a:schemeClr val="hlink"/>
              </a:buClr>
              <a:buFont typeface="Wingdings" panose="05000000000000000000" pitchFamily="2" charset="2"/>
              <a:buChar char="§"/>
            </a:pPr>
            <a:r>
              <a:rPr lang="zh-CN" altLang="en-US" sz="2400">
                <a:solidFill>
                  <a:srgbClr val="000099"/>
                </a:solidFill>
              </a:rPr>
              <a:t>拨号上网：访问服务器</a:t>
            </a:r>
          </a:p>
          <a:p>
            <a:pPr algn="just" eaLnBrk="1" hangingPunct="1">
              <a:spcBef>
                <a:spcPct val="20000"/>
              </a:spcBef>
              <a:buFont typeface="Wingdings" panose="05000000000000000000" pitchFamily="2" charset="2"/>
              <a:buChar char="ü"/>
            </a:pPr>
            <a:r>
              <a:rPr lang="zh-CN" altLang="en-US"/>
              <a:t>    网络</a:t>
            </a:r>
            <a:r>
              <a:rPr lang="zh-CN" altLang="en-US">
                <a:solidFill>
                  <a:schemeClr val="hlink"/>
                </a:solidFill>
              </a:rPr>
              <a:t>电缆</a:t>
            </a:r>
            <a:r>
              <a:rPr lang="zh-CN" altLang="en-US"/>
              <a:t>及其</a:t>
            </a:r>
            <a:r>
              <a:rPr lang="zh-CN" altLang="en-US">
                <a:solidFill>
                  <a:schemeClr val="hlink"/>
                </a:solidFill>
              </a:rPr>
              <a:t>附属设备</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63907">
                                            <p:txEl>
                                              <p:pRg st="0" end="0"/>
                                            </p:txEl>
                                          </p:spTgt>
                                        </p:tgtEl>
                                        <p:attrNameLst>
                                          <p:attrName>style.visibility</p:attrName>
                                        </p:attrNameLst>
                                      </p:cBhvr>
                                      <p:to>
                                        <p:strVal val="visible"/>
                                      </p:to>
                                    </p:set>
                                    <p:anim calcmode="lin" valueType="num">
                                      <p:cBhvr additive="base">
                                        <p:cTn id="7" dur="500" fill="hold"/>
                                        <p:tgtEl>
                                          <p:spTgt spid="76390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6390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63907">
                                            <p:txEl>
                                              <p:pRg st="1" end="1"/>
                                            </p:txEl>
                                          </p:spTgt>
                                        </p:tgtEl>
                                        <p:attrNameLst>
                                          <p:attrName>style.visibility</p:attrName>
                                        </p:attrNameLst>
                                      </p:cBhvr>
                                      <p:to>
                                        <p:strVal val="visible"/>
                                      </p:to>
                                    </p:set>
                                    <p:anim calcmode="lin" valueType="num">
                                      <p:cBhvr additive="base">
                                        <p:cTn id="13" dur="500" fill="hold"/>
                                        <p:tgtEl>
                                          <p:spTgt spid="76390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6390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63907">
                                            <p:txEl>
                                              <p:pRg st="2" end="2"/>
                                            </p:txEl>
                                          </p:spTgt>
                                        </p:tgtEl>
                                        <p:attrNameLst>
                                          <p:attrName>style.visibility</p:attrName>
                                        </p:attrNameLst>
                                      </p:cBhvr>
                                      <p:to>
                                        <p:strVal val="visible"/>
                                      </p:to>
                                    </p:set>
                                    <p:anim calcmode="lin" valueType="num">
                                      <p:cBhvr additive="base">
                                        <p:cTn id="19" dur="500" fill="hold"/>
                                        <p:tgtEl>
                                          <p:spTgt spid="76390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6390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63907">
                                            <p:txEl>
                                              <p:pRg st="3" end="3"/>
                                            </p:txEl>
                                          </p:spTgt>
                                        </p:tgtEl>
                                        <p:attrNameLst>
                                          <p:attrName>style.visibility</p:attrName>
                                        </p:attrNameLst>
                                      </p:cBhvr>
                                      <p:to>
                                        <p:strVal val="visible"/>
                                      </p:to>
                                    </p:set>
                                    <p:anim calcmode="lin" valueType="num">
                                      <p:cBhvr additive="base">
                                        <p:cTn id="25" dur="500" fill="hold"/>
                                        <p:tgtEl>
                                          <p:spTgt spid="76390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6390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63907">
                                            <p:txEl>
                                              <p:pRg st="4" end="4"/>
                                            </p:txEl>
                                          </p:spTgt>
                                        </p:tgtEl>
                                        <p:attrNameLst>
                                          <p:attrName>style.visibility</p:attrName>
                                        </p:attrNameLst>
                                      </p:cBhvr>
                                      <p:to>
                                        <p:strVal val="visible"/>
                                      </p:to>
                                    </p:set>
                                    <p:anim calcmode="lin" valueType="num">
                                      <p:cBhvr additive="base">
                                        <p:cTn id="31" dur="500" fill="hold"/>
                                        <p:tgtEl>
                                          <p:spTgt spid="76390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63907">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63907">
                                            <p:txEl>
                                              <p:pRg st="5" end="5"/>
                                            </p:txEl>
                                          </p:spTgt>
                                        </p:tgtEl>
                                        <p:attrNameLst>
                                          <p:attrName>style.visibility</p:attrName>
                                        </p:attrNameLst>
                                      </p:cBhvr>
                                      <p:to>
                                        <p:strVal val="visible"/>
                                      </p:to>
                                    </p:set>
                                    <p:anim calcmode="lin" valueType="num">
                                      <p:cBhvr additive="base">
                                        <p:cTn id="37" dur="500" fill="hold"/>
                                        <p:tgtEl>
                                          <p:spTgt spid="763907">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63907">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63907">
                                            <p:txEl>
                                              <p:pRg st="6" end="6"/>
                                            </p:txEl>
                                          </p:spTgt>
                                        </p:tgtEl>
                                        <p:attrNameLst>
                                          <p:attrName>style.visibility</p:attrName>
                                        </p:attrNameLst>
                                      </p:cBhvr>
                                      <p:to>
                                        <p:strVal val="visible"/>
                                      </p:to>
                                    </p:set>
                                    <p:anim calcmode="lin" valueType="num">
                                      <p:cBhvr additive="base">
                                        <p:cTn id="43" dur="500" fill="hold"/>
                                        <p:tgtEl>
                                          <p:spTgt spid="763907">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63907">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63907">
                                            <p:txEl>
                                              <p:pRg st="7" end="7"/>
                                            </p:txEl>
                                          </p:spTgt>
                                        </p:tgtEl>
                                        <p:attrNameLst>
                                          <p:attrName>style.visibility</p:attrName>
                                        </p:attrNameLst>
                                      </p:cBhvr>
                                      <p:to>
                                        <p:strVal val="visible"/>
                                      </p:to>
                                    </p:set>
                                    <p:anim calcmode="lin" valueType="num">
                                      <p:cBhvr additive="base">
                                        <p:cTn id="49" dur="500" fill="hold"/>
                                        <p:tgtEl>
                                          <p:spTgt spid="763907">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63907">
                                            <p:txEl>
                                              <p:pRg st="7" end="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3907" grpId="0" build="p"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bwMode="auto">
          <a:xfrm>
            <a:off x="2823477" y="242244"/>
            <a:ext cx="5430837" cy="76358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r>
              <a:rPr lang="zh-CN" altLang="en-US" sz="3600" b="1">
                <a:solidFill>
                  <a:srgbClr val="CC3300"/>
                </a:solidFill>
                <a:latin typeface="新宋体" panose="02010609030101010101" pitchFamily="49" charset="-122"/>
                <a:ea typeface="新宋体" panose="02010609030101010101" pitchFamily="49" charset="-122"/>
              </a:rPr>
              <a:t>局域网组成（软件）</a:t>
            </a:r>
          </a:p>
        </p:txBody>
      </p:sp>
      <p:sp>
        <p:nvSpPr>
          <p:cNvPr id="771075" name="Text Box 3"/>
          <p:cNvSpPr txBox="1">
            <a:spLocks noChangeArrowheads="1"/>
          </p:cNvSpPr>
          <p:nvPr/>
        </p:nvSpPr>
        <p:spPr bwMode="auto">
          <a:xfrm>
            <a:off x="2271199" y="1699483"/>
            <a:ext cx="7615237" cy="3448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674688" indent="-574675">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buFont typeface="Wingdings" panose="05000000000000000000" pitchFamily="2" charset="2"/>
              <a:buChar char="ü"/>
            </a:pPr>
            <a:r>
              <a:rPr lang="zh-CN" altLang="en-US">
                <a:solidFill>
                  <a:schemeClr val="hlink"/>
                </a:solidFill>
              </a:rPr>
              <a:t>网络操作系统</a:t>
            </a:r>
            <a:r>
              <a:rPr lang="en-US" altLang="zh-CN">
                <a:solidFill>
                  <a:schemeClr val="hlink"/>
                </a:solidFill>
              </a:rPr>
              <a:t>(NOS)</a:t>
            </a:r>
          </a:p>
          <a:p>
            <a:pPr algn="just" eaLnBrk="1" hangingPunct="1">
              <a:spcBef>
                <a:spcPct val="20000"/>
              </a:spcBef>
              <a:buFont typeface="Wingdings" panose="05000000000000000000" pitchFamily="2" charset="2"/>
              <a:buChar char="ü"/>
            </a:pPr>
            <a:r>
              <a:rPr lang="zh-CN" altLang="en-US">
                <a:solidFill>
                  <a:schemeClr val="hlink"/>
                </a:solidFill>
              </a:rPr>
              <a:t>网络设备驱动程序</a:t>
            </a:r>
            <a:r>
              <a:rPr lang="zh-CN" altLang="en-US"/>
              <a:t>（如网卡驱动程序等）</a:t>
            </a:r>
          </a:p>
          <a:p>
            <a:pPr algn="just" eaLnBrk="1" hangingPunct="1">
              <a:spcBef>
                <a:spcPct val="20000"/>
              </a:spcBef>
              <a:buFont typeface="Wingdings" panose="05000000000000000000" pitchFamily="2" charset="2"/>
              <a:buChar char="ü"/>
            </a:pPr>
            <a:r>
              <a:rPr lang="zh-CN" altLang="en-US">
                <a:solidFill>
                  <a:schemeClr val="hlink"/>
                </a:solidFill>
              </a:rPr>
              <a:t>网络协议及协议软件</a:t>
            </a:r>
            <a:r>
              <a:rPr lang="zh-CN" altLang="en-US" sz="2400"/>
              <a:t>（因特网：</a:t>
            </a:r>
            <a:r>
              <a:rPr lang="en-US" altLang="zh-CN" sz="2400"/>
              <a:t>TCP/IP</a:t>
            </a:r>
            <a:r>
              <a:rPr lang="zh-CN" altLang="en-US" sz="2400"/>
              <a:t>、</a:t>
            </a:r>
            <a:r>
              <a:rPr lang="en-US" altLang="zh-CN" sz="2400"/>
              <a:t>NOVELL</a:t>
            </a:r>
            <a:r>
              <a:rPr lang="zh-CN" altLang="en-US" sz="2400"/>
              <a:t>：</a:t>
            </a:r>
            <a:r>
              <a:rPr lang="en-US" altLang="zh-CN" sz="2400" smtClean="0"/>
              <a:t>IPX/SPX</a:t>
            </a:r>
            <a:r>
              <a:rPr lang="zh-CN" altLang="en-US" sz="2400" smtClean="0"/>
              <a:t>）</a:t>
            </a:r>
            <a:endParaRPr lang="zh-CN" altLang="en-US" sz="2400"/>
          </a:p>
          <a:p>
            <a:pPr algn="just" eaLnBrk="1" hangingPunct="1">
              <a:spcBef>
                <a:spcPct val="20000"/>
              </a:spcBef>
              <a:buFont typeface="Wingdings" panose="05000000000000000000" pitchFamily="2" charset="2"/>
              <a:buChar char="ü"/>
            </a:pPr>
            <a:r>
              <a:rPr lang="zh-CN" altLang="en-US"/>
              <a:t>网络通信软件 （如异步通信软件）</a:t>
            </a:r>
          </a:p>
          <a:p>
            <a:pPr algn="just" eaLnBrk="1" hangingPunct="1">
              <a:spcBef>
                <a:spcPct val="20000"/>
              </a:spcBef>
              <a:buFont typeface="Wingdings" panose="05000000000000000000" pitchFamily="2" charset="2"/>
              <a:buChar char="ü"/>
            </a:pPr>
            <a:r>
              <a:rPr lang="zh-CN" altLang="en-US"/>
              <a:t>网络管理</a:t>
            </a:r>
          </a:p>
          <a:p>
            <a:pPr algn="just" eaLnBrk="1" hangingPunct="1">
              <a:spcBef>
                <a:spcPct val="20000"/>
              </a:spcBef>
              <a:buFont typeface="Wingdings" panose="05000000000000000000" pitchFamily="2" charset="2"/>
              <a:buChar char="ü"/>
            </a:pPr>
            <a:r>
              <a:rPr lang="zh-CN" altLang="en-US"/>
              <a:t>网络应用软件 （如防火墙软件等）</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grpId="0" nodeType="clickEffect">
                                  <p:stCondLst>
                                    <p:cond delay="0"/>
                                  </p:stCondLst>
                                  <p:childTnLst>
                                    <p:set>
                                      <p:cBhvr>
                                        <p:cTn id="6" dur="1" fill="hold">
                                          <p:stCondLst>
                                            <p:cond delay="0"/>
                                          </p:stCondLst>
                                        </p:cTn>
                                        <p:tgtEl>
                                          <p:spTgt spid="771075">
                                            <p:txEl>
                                              <p:pRg st="0" end="0"/>
                                            </p:txEl>
                                          </p:spTgt>
                                        </p:tgtEl>
                                        <p:attrNameLst>
                                          <p:attrName>style.visibility</p:attrName>
                                        </p:attrNameLst>
                                      </p:cBhvr>
                                      <p:to>
                                        <p:strVal val="visible"/>
                                      </p:to>
                                    </p:set>
                                    <p:anim calcmode="lin" valueType="num">
                                      <p:cBhvr additive="base">
                                        <p:cTn id="7" dur="500" fill="hold"/>
                                        <p:tgtEl>
                                          <p:spTgt spid="771075">
                                            <p:txEl>
                                              <p:pRg st="0" end="0"/>
                                            </p:txEl>
                                          </p:spTgt>
                                        </p:tgtEl>
                                        <p:attrNameLst>
                                          <p:attrName>ppt_x</p:attrName>
                                        </p:attrNameLst>
                                      </p:cBhvr>
                                      <p:tavLst>
                                        <p:tav tm="0">
                                          <p:val>
                                            <p:strVal val="0-#ppt_w/2"/>
                                          </p:val>
                                        </p:tav>
                                        <p:tav tm="100000">
                                          <p:val>
                                            <p:strVal val="#ppt_x"/>
                                          </p:val>
                                        </p:tav>
                                      </p:tavLst>
                                    </p:anim>
                                    <p:anim calcmode="lin" valueType="num">
                                      <p:cBhvr additive="base">
                                        <p:cTn id="8" dur="500" fill="hold"/>
                                        <p:tgtEl>
                                          <p:spTgt spid="771075">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771075">
                                            <p:txEl>
                                              <p:pRg st="1" end="1"/>
                                            </p:txEl>
                                          </p:spTgt>
                                        </p:tgtEl>
                                        <p:attrNameLst>
                                          <p:attrName>style.visibility</p:attrName>
                                        </p:attrNameLst>
                                      </p:cBhvr>
                                      <p:to>
                                        <p:strVal val="visible"/>
                                      </p:to>
                                    </p:set>
                                    <p:anim calcmode="lin" valueType="num">
                                      <p:cBhvr additive="base">
                                        <p:cTn id="13" dur="500" fill="hold"/>
                                        <p:tgtEl>
                                          <p:spTgt spid="771075">
                                            <p:txEl>
                                              <p:pRg st="1" end="1"/>
                                            </p:tx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771075">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771075">
                                            <p:txEl>
                                              <p:pRg st="2" end="2"/>
                                            </p:txEl>
                                          </p:spTgt>
                                        </p:tgtEl>
                                        <p:attrNameLst>
                                          <p:attrName>style.visibility</p:attrName>
                                        </p:attrNameLst>
                                      </p:cBhvr>
                                      <p:to>
                                        <p:strVal val="visible"/>
                                      </p:to>
                                    </p:set>
                                    <p:anim calcmode="lin" valueType="num">
                                      <p:cBhvr additive="base">
                                        <p:cTn id="19" dur="500" fill="hold"/>
                                        <p:tgtEl>
                                          <p:spTgt spid="771075">
                                            <p:txEl>
                                              <p:pRg st="2" end="2"/>
                                            </p:tx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771075">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771075">
                                            <p:txEl>
                                              <p:pRg st="3" end="3"/>
                                            </p:txEl>
                                          </p:spTgt>
                                        </p:tgtEl>
                                        <p:attrNameLst>
                                          <p:attrName>style.visibility</p:attrName>
                                        </p:attrNameLst>
                                      </p:cBhvr>
                                      <p:to>
                                        <p:strVal val="visible"/>
                                      </p:to>
                                    </p:set>
                                    <p:anim calcmode="lin" valueType="num">
                                      <p:cBhvr additive="base">
                                        <p:cTn id="25" dur="500" fill="hold"/>
                                        <p:tgtEl>
                                          <p:spTgt spid="771075">
                                            <p:txEl>
                                              <p:pRg st="3" end="3"/>
                                            </p:tx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771075">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771075">
                                            <p:txEl>
                                              <p:pRg st="4" end="4"/>
                                            </p:txEl>
                                          </p:spTgt>
                                        </p:tgtEl>
                                        <p:attrNameLst>
                                          <p:attrName>style.visibility</p:attrName>
                                        </p:attrNameLst>
                                      </p:cBhvr>
                                      <p:to>
                                        <p:strVal val="visible"/>
                                      </p:to>
                                    </p:set>
                                    <p:anim calcmode="lin" valueType="num">
                                      <p:cBhvr additive="base">
                                        <p:cTn id="31" dur="500" fill="hold"/>
                                        <p:tgtEl>
                                          <p:spTgt spid="771075">
                                            <p:txEl>
                                              <p:pRg st="4" end="4"/>
                                            </p:tx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771075">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771075">
                                            <p:txEl>
                                              <p:pRg st="5" end="5"/>
                                            </p:txEl>
                                          </p:spTgt>
                                        </p:tgtEl>
                                        <p:attrNameLst>
                                          <p:attrName>style.visibility</p:attrName>
                                        </p:attrNameLst>
                                      </p:cBhvr>
                                      <p:to>
                                        <p:strVal val="visible"/>
                                      </p:to>
                                    </p:set>
                                    <p:anim calcmode="lin" valueType="num">
                                      <p:cBhvr additive="base">
                                        <p:cTn id="37" dur="500" fill="hold"/>
                                        <p:tgtEl>
                                          <p:spTgt spid="771075">
                                            <p:txEl>
                                              <p:pRg st="5" end="5"/>
                                            </p:tx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771075">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1075" grpId="0" build="p"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bwMode="auto">
          <a:xfrm>
            <a:off x="2209800" y="423863"/>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zh-CN" altLang="en-US" sz="3600" b="1">
                <a:solidFill>
                  <a:srgbClr val="CC3300"/>
                </a:solidFill>
                <a:latin typeface="新宋体" panose="02010609030101010101" pitchFamily="49" charset="-122"/>
                <a:ea typeface="新宋体" panose="02010609030101010101" pitchFamily="49" charset="-122"/>
              </a:rPr>
              <a:t>从</a:t>
            </a:r>
            <a:r>
              <a:rPr lang="en-US" altLang="zh-CN" sz="3600" b="1">
                <a:solidFill>
                  <a:srgbClr val="CC3300"/>
                </a:solidFill>
                <a:latin typeface="新宋体" panose="02010609030101010101" pitchFamily="49" charset="-122"/>
                <a:ea typeface="新宋体" panose="02010609030101010101" pitchFamily="49" charset="-122"/>
              </a:rPr>
              <a:t>NOS</a:t>
            </a:r>
            <a:r>
              <a:rPr lang="zh-CN" altLang="en-US" sz="3600" b="1">
                <a:solidFill>
                  <a:srgbClr val="CC3300"/>
                </a:solidFill>
                <a:latin typeface="新宋体" panose="02010609030101010101" pitchFamily="49" charset="-122"/>
                <a:ea typeface="新宋体" panose="02010609030101010101" pitchFamily="49" charset="-122"/>
              </a:rPr>
              <a:t>的安装看</a:t>
            </a:r>
            <a:r>
              <a:rPr lang="en-US" altLang="zh-CN" sz="3600" b="1">
                <a:solidFill>
                  <a:srgbClr val="CC3300"/>
                </a:solidFill>
                <a:latin typeface="新宋体" panose="02010609030101010101" pitchFamily="49" charset="-122"/>
                <a:ea typeface="新宋体" panose="02010609030101010101" pitchFamily="49" charset="-122"/>
              </a:rPr>
              <a:t>LAN</a:t>
            </a:r>
            <a:r>
              <a:rPr lang="zh-CN" altLang="en-US" sz="3600" b="1">
                <a:solidFill>
                  <a:srgbClr val="CC3300"/>
                </a:solidFill>
                <a:latin typeface="新宋体" panose="02010609030101010101" pitchFamily="49" charset="-122"/>
                <a:ea typeface="新宋体" panose="02010609030101010101" pitchFamily="49" charset="-122"/>
              </a:rPr>
              <a:t>软件组成</a:t>
            </a:r>
          </a:p>
        </p:txBody>
      </p:sp>
      <p:sp>
        <p:nvSpPr>
          <p:cNvPr id="772099" name="Rectangle 3"/>
          <p:cNvSpPr>
            <a:spLocks noGrp="1" noChangeArrowheads="1"/>
          </p:cNvSpPr>
          <p:nvPr>
            <p:ph idx="1"/>
          </p:nvPr>
        </p:nvSpPr>
        <p:spPr bwMode="auto">
          <a:xfrm>
            <a:off x="1960563" y="1857375"/>
            <a:ext cx="8375650" cy="41148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92500" lnSpcReduction="20000"/>
          </a:bodyPr>
          <a:lstStyle/>
          <a:p>
            <a:pPr eaLnBrk="1" hangingPunct="1">
              <a:lnSpc>
                <a:spcPct val="90000"/>
              </a:lnSpc>
            </a:pPr>
            <a:r>
              <a:rPr lang="zh-CN" altLang="en-US" sz="2800"/>
              <a:t>安装网络操作系统（</a:t>
            </a:r>
            <a:r>
              <a:rPr lang="en-US" altLang="zh-CN" sz="2800"/>
              <a:t>windows,unix/linux,netware)</a:t>
            </a:r>
          </a:p>
          <a:p>
            <a:pPr eaLnBrk="1" hangingPunct="1">
              <a:lnSpc>
                <a:spcPct val="90000"/>
              </a:lnSpc>
            </a:pPr>
            <a:r>
              <a:rPr lang="zh-CN" altLang="en-US" sz="2800"/>
              <a:t>安装网卡驱动程序</a:t>
            </a:r>
          </a:p>
          <a:p>
            <a:pPr eaLnBrk="1" hangingPunct="1">
              <a:lnSpc>
                <a:spcPct val="90000"/>
              </a:lnSpc>
            </a:pPr>
            <a:r>
              <a:rPr lang="zh-CN" altLang="en-US" sz="2800"/>
              <a:t>添加（安装）网络协议</a:t>
            </a:r>
          </a:p>
          <a:p>
            <a:pPr eaLnBrk="1" hangingPunct="1">
              <a:lnSpc>
                <a:spcPct val="90000"/>
              </a:lnSpc>
              <a:buFont typeface="Wingdings" panose="05000000000000000000" pitchFamily="2" charset="2"/>
              <a:buChar char="ü"/>
            </a:pPr>
            <a:r>
              <a:rPr lang="zh-CN" altLang="en-US" sz="2800"/>
              <a:t>   </a:t>
            </a:r>
            <a:r>
              <a:rPr lang="zh-CN" altLang="en-US" sz="2000">
                <a:solidFill>
                  <a:schemeClr val="hlink"/>
                </a:solidFill>
              </a:rPr>
              <a:t>使用因特网</a:t>
            </a:r>
            <a:r>
              <a:rPr lang="zh-CN" altLang="en-US" sz="2000"/>
              <a:t>：添加</a:t>
            </a:r>
            <a:r>
              <a:rPr lang="en-US" altLang="zh-CN" sz="2000"/>
              <a:t>TCP/IP</a:t>
            </a:r>
            <a:r>
              <a:rPr lang="zh-CN" altLang="en-US" sz="2000"/>
              <a:t>协议</a:t>
            </a:r>
            <a:r>
              <a:rPr lang="zh-CN" altLang="en-US" sz="1800"/>
              <a:t>（</a:t>
            </a:r>
            <a:r>
              <a:rPr lang="en-US" altLang="zh-CN" sz="1800"/>
              <a:t>IP</a:t>
            </a:r>
            <a:r>
              <a:rPr lang="zh-CN" altLang="en-US" sz="1800"/>
              <a:t>地址，地址掩码、网关，</a:t>
            </a:r>
            <a:r>
              <a:rPr lang="en-US" altLang="zh-CN" sz="1800"/>
              <a:t>DNS</a:t>
            </a:r>
            <a:r>
              <a:rPr lang="zh-CN" altLang="en-US" sz="1800"/>
              <a:t>地址）</a:t>
            </a:r>
          </a:p>
          <a:p>
            <a:pPr eaLnBrk="1" hangingPunct="1">
              <a:lnSpc>
                <a:spcPct val="90000"/>
              </a:lnSpc>
              <a:buFont typeface="Wingdings" panose="05000000000000000000" pitchFamily="2" charset="2"/>
              <a:buChar char="ü"/>
            </a:pPr>
            <a:r>
              <a:rPr lang="zh-CN" altLang="en-US" sz="2000"/>
              <a:t>    </a:t>
            </a:r>
            <a:r>
              <a:rPr lang="zh-CN" altLang="en-US" sz="2000">
                <a:solidFill>
                  <a:schemeClr val="hlink"/>
                </a:solidFill>
              </a:rPr>
              <a:t>使用网上邻居</a:t>
            </a:r>
            <a:r>
              <a:rPr lang="zh-CN" altLang="en-US" sz="2000"/>
              <a:t>：添加</a:t>
            </a:r>
            <a:r>
              <a:rPr lang="en-US" altLang="zh-CN" sz="2000"/>
              <a:t>NETBUEI</a:t>
            </a:r>
            <a:r>
              <a:rPr lang="zh-CN" altLang="en-US" sz="2000"/>
              <a:t>协议</a:t>
            </a:r>
          </a:p>
          <a:p>
            <a:pPr eaLnBrk="1" hangingPunct="1">
              <a:lnSpc>
                <a:spcPct val="90000"/>
              </a:lnSpc>
            </a:pPr>
            <a:r>
              <a:rPr lang="zh-CN" altLang="en-US" sz="2800"/>
              <a:t>通过网络客户代理软件使用网络应用</a:t>
            </a:r>
          </a:p>
          <a:p>
            <a:pPr eaLnBrk="1" hangingPunct="1">
              <a:lnSpc>
                <a:spcPct val="90000"/>
              </a:lnSpc>
              <a:buFont typeface="Wingdings" panose="05000000000000000000" pitchFamily="2" charset="2"/>
              <a:buChar char="Ø"/>
            </a:pPr>
            <a:r>
              <a:rPr lang="zh-CN" altLang="en-US" sz="2400"/>
              <a:t> 浏览器</a:t>
            </a:r>
            <a:r>
              <a:rPr lang="en-US" altLang="zh-CN" sz="2400"/>
              <a:t>----WWW</a:t>
            </a:r>
          </a:p>
          <a:p>
            <a:pPr eaLnBrk="1" hangingPunct="1">
              <a:lnSpc>
                <a:spcPct val="90000"/>
              </a:lnSpc>
              <a:buFont typeface="Wingdings" panose="05000000000000000000" pitchFamily="2" charset="2"/>
              <a:buChar char="Ø"/>
            </a:pPr>
            <a:r>
              <a:rPr lang="en-US" altLang="zh-CN" sz="2400"/>
              <a:t> OUTLOOK----</a:t>
            </a:r>
            <a:r>
              <a:rPr lang="zh-CN" altLang="en-US" sz="2400"/>
              <a:t>电子邮件</a:t>
            </a:r>
          </a:p>
          <a:p>
            <a:pPr eaLnBrk="1" hangingPunct="1">
              <a:lnSpc>
                <a:spcPct val="90000"/>
              </a:lnSpc>
              <a:buFont typeface="Wingdings" panose="05000000000000000000" pitchFamily="2" charset="2"/>
              <a:buChar char="Ø"/>
            </a:pPr>
            <a:r>
              <a:rPr lang="zh-CN" altLang="en-US" sz="2400"/>
              <a:t> </a:t>
            </a:r>
            <a:r>
              <a:rPr lang="en-US" altLang="zh-CN" sz="2400"/>
              <a:t>FTP://ftp.lib.pku.edu.cn</a:t>
            </a:r>
          </a:p>
          <a:p>
            <a:pPr eaLnBrk="1" hangingPunct="1">
              <a:lnSpc>
                <a:spcPct val="90000"/>
              </a:lnSpc>
              <a:buFont typeface="Wingdings" panose="05000000000000000000" pitchFamily="2" charset="2"/>
              <a:buChar char="Ø"/>
            </a:pPr>
            <a:r>
              <a:rPr lang="en-US" altLang="zh-CN" sz="2800"/>
              <a:t>     </a:t>
            </a:r>
            <a:r>
              <a:rPr lang="en-US" altLang="zh-CN" sz="2800">
                <a:latin typeface="Times New Roman" panose="02020603050405020304" pitchFamily="18" charset="0"/>
              </a:rPr>
              <a:t>……</a:t>
            </a:r>
            <a:endParaRPr lang="en-US" altLang="zh-CN" sz="28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772099">
                                            <p:txEl>
                                              <p:pRg st="0" end="0"/>
                                            </p:txEl>
                                          </p:spTgt>
                                        </p:tgtEl>
                                        <p:attrNameLst>
                                          <p:attrName>style.visibility</p:attrName>
                                        </p:attrNameLst>
                                      </p:cBhvr>
                                      <p:to>
                                        <p:strVal val="visible"/>
                                      </p:to>
                                    </p:set>
                                    <p:anim calcmode="lin" valueType="num">
                                      <p:cBhvr additive="base">
                                        <p:cTn id="7" dur="500" fill="hold"/>
                                        <p:tgtEl>
                                          <p:spTgt spid="772099">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772099">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772099">
                                            <p:txEl>
                                              <p:pRg st="1" end="1"/>
                                            </p:txEl>
                                          </p:spTgt>
                                        </p:tgtEl>
                                        <p:attrNameLst>
                                          <p:attrName>style.visibility</p:attrName>
                                        </p:attrNameLst>
                                      </p:cBhvr>
                                      <p:to>
                                        <p:strVal val="visible"/>
                                      </p:to>
                                    </p:set>
                                    <p:anim calcmode="lin" valueType="num">
                                      <p:cBhvr additive="base">
                                        <p:cTn id="13" dur="500" fill="hold"/>
                                        <p:tgtEl>
                                          <p:spTgt spid="772099">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772099">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772099">
                                            <p:txEl>
                                              <p:pRg st="2" end="2"/>
                                            </p:txEl>
                                          </p:spTgt>
                                        </p:tgtEl>
                                        <p:attrNameLst>
                                          <p:attrName>style.visibility</p:attrName>
                                        </p:attrNameLst>
                                      </p:cBhvr>
                                      <p:to>
                                        <p:strVal val="visible"/>
                                      </p:to>
                                    </p:set>
                                    <p:anim calcmode="lin" valueType="num">
                                      <p:cBhvr additive="base">
                                        <p:cTn id="19" dur="500" fill="hold"/>
                                        <p:tgtEl>
                                          <p:spTgt spid="772099">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772099">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772099">
                                            <p:txEl>
                                              <p:pRg st="3" end="3"/>
                                            </p:txEl>
                                          </p:spTgt>
                                        </p:tgtEl>
                                        <p:attrNameLst>
                                          <p:attrName>style.visibility</p:attrName>
                                        </p:attrNameLst>
                                      </p:cBhvr>
                                      <p:to>
                                        <p:strVal val="visible"/>
                                      </p:to>
                                    </p:set>
                                    <p:anim calcmode="lin" valueType="num">
                                      <p:cBhvr additive="base">
                                        <p:cTn id="25" dur="500" fill="hold"/>
                                        <p:tgtEl>
                                          <p:spTgt spid="772099">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772099">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772099">
                                            <p:txEl>
                                              <p:pRg st="4" end="4"/>
                                            </p:txEl>
                                          </p:spTgt>
                                        </p:tgtEl>
                                        <p:attrNameLst>
                                          <p:attrName>style.visibility</p:attrName>
                                        </p:attrNameLst>
                                      </p:cBhvr>
                                      <p:to>
                                        <p:strVal val="visible"/>
                                      </p:to>
                                    </p:set>
                                    <p:anim calcmode="lin" valueType="num">
                                      <p:cBhvr additive="base">
                                        <p:cTn id="31" dur="500" fill="hold"/>
                                        <p:tgtEl>
                                          <p:spTgt spid="772099">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772099">
                                            <p:txEl>
                                              <p:pRg st="4" end="4"/>
                                            </p:txEl>
                                          </p:spTgt>
                                        </p:tgtEl>
                                        <p:attrNameLst>
                                          <p:attrName>ppt_y</p:attrName>
                                        </p:attrNameLst>
                                      </p:cBhvr>
                                      <p:tavLst>
                                        <p:tav tm="0">
                                          <p:val>
                                            <p:strVal val="#ppt_y"/>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772099">
                                            <p:txEl>
                                              <p:pRg st="5" end="5"/>
                                            </p:txEl>
                                          </p:spTgt>
                                        </p:tgtEl>
                                        <p:attrNameLst>
                                          <p:attrName>style.visibility</p:attrName>
                                        </p:attrNameLst>
                                      </p:cBhvr>
                                      <p:to>
                                        <p:strVal val="visible"/>
                                      </p:to>
                                    </p:set>
                                    <p:anim calcmode="lin" valueType="num">
                                      <p:cBhvr additive="base">
                                        <p:cTn id="37" dur="500" fill="hold"/>
                                        <p:tgtEl>
                                          <p:spTgt spid="772099">
                                            <p:txEl>
                                              <p:pRg st="5" end="5"/>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772099">
                                            <p:txEl>
                                              <p:pRg st="5" end="5"/>
                                            </p:txEl>
                                          </p:spTgt>
                                        </p:tgtEl>
                                        <p:attrNameLst>
                                          <p:attrName>ppt_y</p:attrName>
                                        </p:attrNameLst>
                                      </p:cBhvr>
                                      <p:tavLst>
                                        <p:tav tm="0">
                                          <p:val>
                                            <p:strVal val="#ppt_y"/>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772099">
                                            <p:txEl>
                                              <p:pRg st="6" end="6"/>
                                            </p:txEl>
                                          </p:spTgt>
                                        </p:tgtEl>
                                        <p:attrNameLst>
                                          <p:attrName>style.visibility</p:attrName>
                                        </p:attrNameLst>
                                      </p:cBhvr>
                                      <p:to>
                                        <p:strVal val="visible"/>
                                      </p:to>
                                    </p:set>
                                    <p:anim calcmode="lin" valueType="num">
                                      <p:cBhvr additive="base">
                                        <p:cTn id="43" dur="500" fill="hold"/>
                                        <p:tgtEl>
                                          <p:spTgt spid="772099">
                                            <p:txEl>
                                              <p:pRg st="6" end="6"/>
                                            </p:tx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772099">
                                            <p:txEl>
                                              <p:pRg st="6" end="6"/>
                                            </p:txEl>
                                          </p:spTgt>
                                        </p:tgtEl>
                                        <p:attrNameLst>
                                          <p:attrName>ppt_y</p:attrName>
                                        </p:attrNameLst>
                                      </p:cBhvr>
                                      <p:tavLst>
                                        <p:tav tm="0">
                                          <p:val>
                                            <p:strVal val="#ppt_y"/>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772099">
                                            <p:txEl>
                                              <p:pRg st="7" end="7"/>
                                            </p:txEl>
                                          </p:spTgt>
                                        </p:tgtEl>
                                        <p:attrNameLst>
                                          <p:attrName>style.visibility</p:attrName>
                                        </p:attrNameLst>
                                      </p:cBhvr>
                                      <p:to>
                                        <p:strVal val="visible"/>
                                      </p:to>
                                    </p:set>
                                    <p:anim calcmode="lin" valueType="num">
                                      <p:cBhvr additive="base">
                                        <p:cTn id="49" dur="500" fill="hold"/>
                                        <p:tgtEl>
                                          <p:spTgt spid="772099">
                                            <p:txEl>
                                              <p:pRg st="7" end="7"/>
                                            </p:tx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772099">
                                            <p:txEl>
                                              <p:pRg st="7" end="7"/>
                                            </p:txEl>
                                          </p:spTgt>
                                        </p:tgtEl>
                                        <p:attrNameLst>
                                          <p:attrName>ppt_y</p:attrName>
                                        </p:attrNameLst>
                                      </p:cBhvr>
                                      <p:tavLst>
                                        <p:tav tm="0">
                                          <p:val>
                                            <p:strVal val="#ppt_y"/>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772099">
                                            <p:txEl>
                                              <p:pRg st="8" end="8"/>
                                            </p:txEl>
                                          </p:spTgt>
                                        </p:tgtEl>
                                        <p:attrNameLst>
                                          <p:attrName>style.visibility</p:attrName>
                                        </p:attrNameLst>
                                      </p:cBhvr>
                                      <p:to>
                                        <p:strVal val="visible"/>
                                      </p:to>
                                    </p:set>
                                    <p:anim calcmode="lin" valueType="num">
                                      <p:cBhvr additive="base">
                                        <p:cTn id="55" dur="500" fill="hold"/>
                                        <p:tgtEl>
                                          <p:spTgt spid="772099">
                                            <p:txEl>
                                              <p:pRg st="8" end="8"/>
                                            </p:tx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772099">
                                            <p:txEl>
                                              <p:pRg st="8" end="8"/>
                                            </p:txEl>
                                          </p:spTgt>
                                        </p:tgtEl>
                                        <p:attrNameLst>
                                          <p:attrName>ppt_y</p:attrName>
                                        </p:attrNameLst>
                                      </p:cBhvr>
                                      <p:tavLst>
                                        <p:tav tm="0">
                                          <p:val>
                                            <p:strVal val="#ppt_y"/>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772099">
                                            <p:txEl>
                                              <p:pRg st="9" end="9"/>
                                            </p:txEl>
                                          </p:spTgt>
                                        </p:tgtEl>
                                        <p:attrNameLst>
                                          <p:attrName>style.visibility</p:attrName>
                                        </p:attrNameLst>
                                      </p:cBhvr>
                                      <p:to>
                                        <p:strVal val="visible"/>
                                      </p:to>
                                    </p:set>
                                    <p:anim calcmode="lin" valueType="num">
                                      <p:cBhvr additive="base">
                                        <p:cTn id="61" dur="500" fill="hold"/>
                                        <p:tgtEl>
                                          <p:spTgt spid="772099">
                                            <p:txEl>
                                              <p:pRg st="9" end="9"/>
                                            </p:tx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772099">
                                            <p:txEl>
                                              <p:pRg st="9" end="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2099"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bwMode="auto">
          <a:xfrm>
            <a:off x="0" y="373063"/>
            <a:ext cx="6680200" cy="71913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4. </a:t>
            </a:r>
            <a:r>
              <a:rPr lang="zh-CN" altLang="en-US" sz="3600" b="1">
                <a:solidFill>
                  <a:srgbClr val="CC3300"/>
                </a:solidFill>
                <a:latin typeface="新宋体" panose="02010609030101010101" pitchFamily="49" charset="-122"/>
                <a:ea typeface="新宋体" panose="02010609030101010101" pitchFamily="49" charset="-122"/>
              </a:rPr>
              <a:t>局域网操作系统</a:t>
            </a:r>
          </a:p>
        </p:txBody>
      </p:sp>
      <p:sp>
        <p:nvSpPr>
          <p:cNvPr id="513027" name="Text Box 3"/>
          <p:cNvSpPr txBox="1">
            <a:spLocks noChangeArrowheads="1"/>
          </p:cNvSpPr>
          <p:nvPr/>
        </p:nvSpPr>
        <p:spPr bwMode="auto">
          <a:xfrm>
            <a:off x="1781175" y="1730375"/>
            <a:ext cx="9486900" cy="27638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674688" indent="-674688">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30000"/>
              </a:spcBef>
            </a:pPr>
            <a:r>
              <a:rPr lang="zh-CN" altLang="en-US"/>
              <a:t>市场主流的四种主要网络操作系统：</a:t>
            </a:r>
          </a:p>
          <a:p>
            <a:pPr algn="just" eaLnBrk="1" hangingPunct="1">
              <a:spcBef>
                <a:spcPct val="30000"/>
              </a:spcBef>
            </a:pPr>
            <a:r>
              <a:rPr lang="en-US" altLang="zh-CN">
                <a:latin typeface="Wingdings" panose="05000000000000000000" pitchFamily="2" charset="2"/>
              </a:rPr>
              <a:t>l</a:t>
            </a:r>
            <a:r>
              <a:rPr lang="en-US" altLang="zh-CN">
                <a:cs typeface="Times New Roman" panose="02020603050405020304" pitchFamily="18" charset="0"/>
              </a:rPr>
              <a:t> </a:t>
            </a:r>
            <a:r>
              <a:rPr lang="en-US" altLang="zh-CN"/>
              <a:t>Microsoft</a:t>
            </a:r>
            <a:r>
              <a:rPr lang="zh-CN" altLang="en-US"/>
              <a:t>的</a:t>
            </a:r>
            <a:r>
              <a:rPr lang="en-US" altLang="zh-CN" smtClean="0"/>
              <a:t>NT</a:t>
            </a:r>
            <a:endParaRPr lang="en-US" altLang="zh-CN"/>
          </a:p>
          <a:p>
            <a:pPr algn="just" eaLnBrk="1" hangingPunct="1">
              <a:spcBef>
                <a:spcPct val="30000"/>
              </a:spcBef>
            </a:pPr>
            <a:r>
              <a:rPr lang="en-US" altLang="zh-CN">
                <a:latin typeface="Wingdings" panose="05000000000000000000" pitchFamily="2" charset="2"/>
              </a:rPr>
              <a:t>l</a:t>
            </a:r>
            <a:r>
              <a:rPr lang="en-US" altLang="zh-CN">
                <a:cs typeface="Times New Roman" panose="02020603050405020304" pitchFamily="18" charset="0"/>
              </a:rPr>
              <a:t>   </a:t>
            </a:r>
            <a:r>
              <a:rPr lang="en-US" altLang="zh-CN"/>
              <a:t>Novell</a:t>
            </a:r>
            <a:r>
              <a:rPr lang="zh-CN" altLang="en-US"/>
              <a:t>公司的</a:t>
            </a:r>
            <a:r>
              <a:rPr lang="en-US" altLang="zh-CN"/>
              <a:t>Novell</a:t>
            </a:r>
            <a:r>
              <a:rPr lang="zh-CN" altLang="en-US"/>
              <a:t>网（</a:t>
            </a:r>
            <a:r>
              <a:rPr lang="en-US" altLang="zh-CN"/>
              <a:t>NetWare </a:t>
            </a:r>
            <a:r>
              <a:rPr lang="zh-CN" altLang="en-US"/>
              <a:t>）</a:t>
            </a:r>
          </a:p>
          <a:p>
            <a:pPr algn="just" eaLnBrk="1" hangingPunct="1">
              <a:spcBef>
                <a:spcPct val="30000"/>
              </a:spcBef>
            </a:pPr>
            <a:r>
              <a:rPr lang="en-US" altLang="zh-CN">
                <a:latin typeface="Wingdings" panose="05000000000000000000" pitchFamily="2" charset="2"/>
              </a:rPr>
              <a:t>l</a:t>
            </a:r>
            <a:r>
              <a:rPr lang="en-US" altLang="zh-CN">
                <a:cs typeface="Times New Roman" panose="02020603050405020304" pitchFamily="18" charset="0"/>
              </a:rPr>
              <a:t>   </a:t>
            </a:r>
            <a:r>
              <a:rPr lang="en-US" altLang="zh-CN"/>
              <a:t>UNIX  </a:t>
            </a:r>
            <a:r>
              <a:rPr lang="zh-CN" altLang="en-US"/>
              <a:t>或  </a:t>
            </a:r>
            <a:r>
              <a:rPr lang="en-US" altLang="zh-CN"/>
              <a:t>Linux </a:t>
            </a:r>
          </a:p>
          <a:p>
            <a:pPr algn="just" eaLnBrk="1" hangingPunct="1">
              <a:spcBef>
                <a:spcPct val="30000"/>
              </a:spcBef>
            </a:pPr>
            <a:r>
              <a:rPr lang="en-US" altLang="zh-CN"/>
              <a:t> </a:t>
            </a:r>
            <a:r>
              <a:rPr lang="en-US" altLang="zh-CN">
                <a:latin typeface="Wingdings" panose="05000000000000000000" pitchFamily="2" charset="2"/>
              </a:rPr>
              <a:t>l</a:t>
            </a:r>
            <a:r>
              <a:rPr lang="en-US" altLang="zh-CN">
                <a:cs typeface="Times New Roman" panose="02020603050405020304" pitchFamily="18" charset="0"/>
              </a:rPr>
              <a:t> </a:t>
            </a:r>
            <a:r>
              <a:rPr lang="en-US" altLang="zh-CN"/>
              <a:t>Santa Cruz Operation</a:t>
            </a:r>
            <a:r>
              <a:rPr lang="zh-CN" altLang="en-US"/>
              <a:t>公司（</a:t>
            </a:r>
            <a:r>
              <a:rPr lang="en-US" altLang="zh-CN"/>
              <a:t>SCO</a:t>
            </a:r>
            <a:r>
              <a:rPr lang="zh-CN" altLang="en-US"/>
              <a:t>）的</a:t>
            </a:r>
            <a:r>
              <a:rPr lang="en-US" altLang="zh-CN"/>
              <a:t>UnixWare  </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3027">
                                            <p:txEl>
                                              <p:pRg st="0" end="0"/>
                                            </p:txEl>
                                          </p:spTgt>
                                        </p:tgtEl>
                                        <p:attrNameLst>
                                          <p:attrName>style.visibility</p:attrName>
                                        </p:attrNameLst>
                                      </p:cBhvr>
                                      <p:to>
                                        <p:strVal val="visible"/>
                                      </p:to>
                                    </p:set>
                                    <p:anim calcmode="lin" valueType="num">
                                      <p:cBhvr additive="base">
                                        <p:cTn id="7" dur="500" fill="hold"/>
                                        <p:tgtEl>
                                          <p:spTgt spid="513027">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3027">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3027">
                                            <p:txEl>
                                              <p:pRg st="1" end="1"/>
                                            </p:txEl>
                                          </p:spTgt>
                                        </p:tgtEl>
                                        <p:attrNameLst>
                                          <p:attrName>style.visibility</p:attrName>
                                        </p:attrNameLst>
                                      </p:cBhvr>
                                      <p:to>
                                        <p:strVal val="visible"/>
                                      </p:to>
                                    </p:set>
                                    <p:anim calcmode="lin" valueType="num">
                                      <p:cBhvr additive="base">
                                        <p:cTn id="13" dur="500" fill="hold"/>
                                        <p:tgtEl>
                                          <p:spTgt spid="513027">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3027">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3027">
                                            <p:txEl>
                                              <p:pRg st="2" end="2"/>
                                            </p:txEl>
                                          </p:spTgt>
                                        </p:tgtEl>
                                        <p:attrNameLst>
                                          <p:attrName>style.visibility</p:attrName>
                                        </p:attrNameLst>
                                      </p:cBhvr>
                                      <p:to>
                                        <p:strVal val="visible"/>
                                      </p:to>
                                    </p:set>
                                    <p:anim calcmode="lin" valueType="num">
                                      <p:cBhvr additive="base">
                                        <p:cTn id="19" dur="500" fill="hold"/>
                                        <p:tgtEl>
                                          <p:spTgt spid="513027">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13027">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513027">
                                            <p:txEl>
                                              <p:pRg st="3" end="3"/>
                                            </p:txEl>
                                          </p:spTgt>
                                        </p:tgtEl>
                                        <p:attrNameLst>
                                          <p:attrName>style.visibility</p:attrName>
                                        </p:attrNameLst>
                                      </p:cBhvr>
                                      <p:to>
                                        <p:strVal val="visible"/>
                                      </p:to>
                                    </p:set>
                                    <p:anim calcmode="lin" valueType="num">
                                      <p:cBhvr additive="base">
                                        <p:cTn id="25" dur="500" fill="hold"/>
                                        <p:tgtEl>
                                          <p:spTgt spid="513027">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13027">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513027">
                                            <p:txEl>
                                              <p:pRg st="4" end="4"/>
                                            </p:txEl>
                                          </p:spTgt>
                                        </p:tgtEl>
                                        <p:attrNameLst>
                                          <p:attrName>style.visibility</p:attrName>
                                        </p:attrNameLst>
                                      </p:cBhvr>
                                      <p:to>
                                        <p:strVal val="visible"/>
                                      </p:to>
                                    </p:set>
                                    <p:anim calcmode="lin" valueType="num">
                                      <p:cBhvr additive="base">
                                        <p:cTn id="31" dur="500" fill="hold"/>
                                        <p:tgtEl>
                                          <p:spTgt spid="513027">
                                            <p:txEl>
                                              <p:pRg st="4" end="4"/>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13027">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027" grpId="0" build="p"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idx="4294967295"/>
          </p:nvPr>
        </p:nvSpPr>
        <p:spPr bwMode="auto">
          <a:xfrm>
            <a:off x="0" y="255588"/>
            <a:ext cx="6411913" cy="85407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 </a:t>
            </a:r>
            <a:r>
              <a:rPr lang="zh-CN" altLang="en-US" sz="3600" b="1">
                <a:solidFill>
                  <a:srgbClr val="CC3300"/>
                </a:solidFill>
                <a:latin typeface="新宋体" panose="02010609030101010101" pitchFamily="49" charset="-122"/>
                <a:ea typeface="新宋体" panose="02010609030101010101" pitchFamily="49" charset="-122"/>
              </a:rPr>
              <a:t>局域网信道访问协议</a:t>
            </a:r>
          </a:p>
        </p:txBody>
      </p:sp>
      <p:sp>
        <p:nvSpPr>
          <p:cNvPr id="514051" name="Text Box 3"/>
          <p:cNvSpPr txBox="1">
            <a:spLocks noChangeArrowheads="1"/>
          </p:cNvSpPr>
          <p:nvPr/>
        </p:nvSpPr>
        <p:spPr bwMode="auto">
          <a:xfrm>
            <a:off x="298449" y="1557339"/>
            <a:ext cx="11417301" cy="24929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defRPr kumimoji="1" sz="2800">
                <a:solidFill>
                  <a:schemeClr val="tx1"/>
                </a:solidFill>
                <a:latin typeface="Times New Roman" panose="02020603050405020304" pitchFamily="18" charset="0"/>
                <a:ea typeface="宋体" panose="02010600030101010101" pitchFamily="2" charset="-122"/>
              </a:defRPr>
            </a:lvl1pPr>
            <a:lvl2pPr marL="854075" indent="-369888">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buClr>
                <a:schemeClr val="hlink"/>
              </a:buClr>
              <a:buFont typeface="Wingdings" panose="05000000000000000000" pitchFamily="2" charset="2"/>
              <a:buChar char="q"/>
            </a:pPr>
            <a:r>
              <a:rPr kumimoji="0" lang="zh-CN" altLang="en-US"/>
              <a:t>信道访问协议：解决共享信道的使用</a:t>
            </a:r>
            <a:r>
              <a:rPr kumimoji="0" lang="zh-CN" altLang="en-US" smtClean="0"/>
              <a:t>问题</a:t>
            </a:r>
            <a:endParaRPr kumimoji="0" lang="en-US" altLang="zh-CN" smtClean="0"/>
          </a:p>
          <a:p>
            <a:pPr eaLnBrk="1" hangingPunct="1">
              <a:buClr>
                <a:schemeClr val="hlink"/>
              </a:buClr>
              <a:buFont typeface="Wingdings" panose="05000000000000000000" pitchFamily="2" charset="2"/>
              <a:buChar char="q"/>
            </a:pPr>
            <a:r>
              <a:rPr kumimoji="0" lang="zh-CN" altLang="en-US" smtClean="0"/>
              <a:t>也</a:t>
            </a:r>
            <a:r>
              <a:rPr kumimoji="0" lang="zh-CN" altLang="en-US"/>
              <a:t>叫</a:t>
            </a:r>
            <a:r>
              <a:rPr kumimoji="0" lang="en-US" altLang="zh-CN"/>
              <a:t>MAC </a:t>
            </a:r>
            <a:r>
              <a:rPr kumimoji="0" lang="zh-CN" altLang="en-US"/>
              <a:t>协议</a:t>
            </a:r>
          </a:p>
          <a:p>
            <a:pPr>
              <a:buClr>
                <a:schemeClr val="hlink"/>
              </a:buClr>
              <a:buFont typeface="Wingdings" panose="05000000000000000000" pitchFamily="2" charset="2"/>
              <a:buChar char="q"/>
            </a:pPr>
            <a:r>
              <a:rPr kumimoji="0" lang="zh-CN" altLang="en-US"/>
              <a:t>分类（</a:t>
            </a:r>
            <a:r>
              <a:rPr kumimoji="0" lang="en-US" altLang="zh-CN"/>
              <a:t>Classification</a:t>
            </a:r>
            <a:r>
              <a:rPr kumimoji="0" lang="zh-CN" altLang="en-US"/>
              <a:t>）</a:t>
            </a:r>
            <a:r>
              <a:rPr kumimoji="0" lang="en-US" altLang="zh-CN"/>
              <a:t>: </a:t>
            </a:r>
          </a:p>
          <a:p>
            <a:pPr lvl="1">
              <a:buClr>
                <a:schemeClr val="folHlink"/>
              </a:buClr>
              <a:buFont typeface="Wingdings" panose="05000000000000000000" pitchFamily="2" charset="2"/>
              <a:buChar char="v"/>
            </a:pPr>
            <a:r>
              <a:rPr kumimoji="0" lang="zh-CN" altLang="en-US" sz="2400" b="1">
                <a:solidFill>
                  <a:schemeClr val="folHlink"/>
                </a:solidFill>
              </a:rPr>
              <a:t>固定分配协议</a:t>
            </a:r>
            <a:r>
              <a:rPr kumimoji="0" lang="zh-CN" altLang="en-US" sz="2400" b="1"/>
              <a:t>（</a:t>
            </a:r>
            <a:r>
              <a:rPr kumimoji="0" lang="en-US" altLang="zh-CN" sz="2400" b="1"/>
              <a:t>Fixed Assignment Protocols</a:t>
            </a:r>
            <a:r>
              <a:rPr kumimoji="0" lang="zh-CN" altLang="en-US" sz="2400" b="1"/>
              <a:t>）</a:t>
            </a:r>
            <a:r>
              <a:rPr kumimoji="0" lang="en-US" altLang="zh-CN" sz="2400" b="1"/>
              <a:t>:</a:t>
            </a:r>
            <a:r>
              <a:rPr kumimoji="0" lang="en-US" altLang="zh-CN" sz="2400"/>
              <a:t> TDMA, FDMA, CDMA</a:t>
            </a:r>
          </a:p>
          <a:p>
            <a:pPr lvl="1">
              <a:buClr>
                <a:schemeClr val="folHlink"/>
              </a:buClr>
              <a:buFont typeface="Wingdings" panose="05000000000000000000" pitchFamily="2" charset="2"/>
              <a:buChar char="v"/>
            </a:pPr>
            <a:r>
              <a:rPr kumimoji="0" lang="zh-CN" altLang="en-US" sz="2400" b="1">
                <a:solidFill>
                  <a:schemeClr val="folHlink"/>
                </a:solidFill>
              </a:rPr>
              <a:t>随机访问协议</a:t>
            </a:r>
            <a:r>
              <a:rPr kumimoji="0" lang="zh-CN" altLang="en-US" sz="2400" b="1"/>
              <a:t>（</a:t>
            </a:r>
            <a:r>
              <a:rPr kumimoji="0" lang="en-US" altLang="zh-CN" sz="2400" b="1"/>
              <a:t>Random Access Protocols</a:t>
            </a:r>
            <a:r>
              <a:rPr kumimoji="0" lang="zh-CN" altLang="en-US" sz="2400" b="1"/>
              <a:t>）</a:t>
            </a:r>
            <a:r>
              <a:rPr kumimoji="0" lang="en-US" altLang="zh-CN" sz="2400" b="1"/>
              <a:t>:</a:t>
            </a:r>
            <a:r>
              <a:rPr kumimoji="0" lang="en-US" altLang="zh-CN" sz="2400"/>
              <a:t> </a:t>
            </a:r>
            <a:r>
              <a:rPr kumimoji="0" lang="en-US" altLang="zh-CN" sz="2400" smtClean="0"/>
              <a:t>CSMA</a:t>
            </a:r>
            <a:r>
              <a:rPr kumimoji="0" lang="en-US" altLang="zh-CN" sz="2400"/>
              <a:t>, CSMA/CD</a:t>
            </a:r>
          </a:p>
          <a:p>
            <a:pPr lvl="1">
              <a:buClr>
                <a:schemeClr val="folHlink"/>
              </a:buClr>
              <a:buFont typeface="Wingdings" panose="05000000000000000000" pitchFamily="2" charset="2"/>
              <a:buChar char="v"/>
            </a:pPr>
            <a:r>
              <a:rPr kumimoji="0" lang="zh-CN" altLang="en-US" sz="2400" b="1">
                <a:solidFill>
                  <a:schemeClr val="folHlink"/>
                </a:solidFill>
              </a:rPr>
              <a:t>按需分配协议</a:t>
            </a:r>
            <a:r>
              <a:rPr kumimoji="0" lang="zh-CN" altLang="en-US" sz="2400" b="1"/>
              <a:t>（</a:t>
            </a:r>
            <a:r>
              <a:rPr kumimoji="0" lang="en-US" altLang="zh-CN" sz="2400" b="1"/>
              <a:t>Demand Assignment Protocols</a:t>
            </a:r>
            <a:r>
              <a:rPr kumimoji="0" lang="zh-CN" altLang="en-US" sz="2400" b="1"/>
              <a:t>）</a:t>
            </a:r>
            <a:r>
              <a:rPr kumimoji="0" lang="en-US" altLang="zh-CN" sz="2400" b="1"/>
              <a:t>:</a:t>
            </a:r>
            <a:r>
              <a:rPr kumimoji="0" lang="en-US" altLang="zh-CN" sz="2400"/>
              <a:t> Polling, Token Passing</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4051">
                                            <p:txEl>
                                              <p:pRg st="0" end="0"/>
                                            </p:txEl>
                                          </p:spTgt>
                                        </p:tgtEl>
                                        <p:attrNameLst>
                                          <p:attrName>style.visibility</p:attrName>
                                        </p:attrNameLst>
                                      </p:cBhvr>
                                      <p:to>
                                        <p:strVal val="visible"/>
                                      </p:to>
                                    </p:set>
                                    <p:anim calcmode="lin" valueType="num">
                                      <p:cBhvr additive="base">
                                        <p:cTn id="7" dur="500" fill="hold"/>
                                        <p:tgtEl>
                                          <p:spTgt spid="51405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405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4051">
                                            <p:txEl>
                                              <p:pRg st="1" end="1"/>
                                            </p:txEl>
                                          </p:spTgt>
                                        </p:tgtEl>
                                        <p:attrNameLst>
                                          <p:attrName>style.visibility</p:attrName>
                                        </p:attrNameLst>
                                      </p:cBhvr>
                                      <p:to>
                                        <p:strVal val="visible"/>
                                      </p:to>
                                    </p:set>
                                    <p:anim calcmode="lin" valueType="num">
                                      <p:cBhvr additive="base">
                                        <p:cTn id="13" dur="500" fill="hold"/>
                                        <p:tgtEl>
                                          <p:spTgt spid="51405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405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4051">
                                            <p:txEl>
                                              <p:pRg st="2" end="2"/>
                                            </p:txEl>
                                          </p:spTgt>
                                        </p:tgtEl>
                                        <p:attrNameLst>
                                          <p:attrName>style.visibility</p:attrName>
                                        </p:attrNameLst>
                                      </p:cBhvr>
                                      <p:to>
                                        <p:strVal val="visible"/>
                                      </p:to>
                                    </p:set>
                                    <p:anim calcmode="lin" valueType="num">
                                      <p:cBhvr additive="base">
                                        <p:cTn id="19" dur="500" fill="hold"/>
                                        <p:tgtEl>
                                          <p:spTgt spid="51405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14051">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514051">
                                            <p:txEl>
                                              <p:pRg st="3" end="3"/>
                                            </p:txEl>
                                          </p:spTgt>
                                        </p:tgtEl>
                                        <p:attrNameLst>
                                          <p:attrName>style.visibility</p:attrName>
                                        </p:attrNameLst>
                                      </p:cBhvr>
                                      <p:to>
                                        <p:strVal val="visible"/>
                                      </p:to>
                                    </p:set>
                                    <p:anim calcmode="lin" valueType="num">
                                      <p:cBhvr additive="base">
                                        <p:cTn id="23" dur="500" fill="hold"/>
                                        <p:tgtEl>
                                          <p:spTgt spid="514051">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514051">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514051">
                                            <p:txEl>
                                              <p:pRg st="4" end="4"/>
                                            </p:txEl>
                                          </p:spTgt>
                                        </p:tgtEl>
                                        <p:attrNameLst>
                                          <p:attrName>style.visibility</p:attrName>
                                        </p:attrNameLst>
                                      </p:cBhvr>
                                      <p:to>
                                        <p:strVal val="visible"/>
                                      </p:to>
                                    </p:set>
                                    <p:anim calcmode="lin" valueType="num">
                                      <p:cBhvr additive="base">
                                        <p:cTn id="27" dur="500" fill="hold"/>
                                        <p:tgtEl>
                                          <p:spTgt spid="514051">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514051">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514051">
                                            <p:txEl>
                                              <p:pRg st="5" end="5"/>
                                            </p:txEl>
                                          </p:spTgt>
                                        </p:tgtEl>
                                        <p:attrNameLst>
                                          <p:attrName>style.visibility</p:attrName>
                                        </p:attrNameLst>
                                      </p:cBhvr>
                                      <p:to>
                                        <p:strVal val="visible"/>
                                      </p:to>
                                    </p:set>
                                    <p:anim calcmode="lin" valueType="num">
                                      <p:cBhvr additive="base">
                                        <p:cTn id="31" dur="500" fill="hold"/>
                                        <p:tgtEl>
                                          <p:spTgt spid="514051">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514051">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4051"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bwMode="auto">
          <a:xfrm>
            <a:off x="3341688" y="320675"/>
            <a:ext cx="7772400" cy="47625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rmAutofit fontScale="90000"/>
          </a:bodyPr>
          <a:lstStyle/>
          <a:p>
            <a:pPr eaLnBrk="1" hangingPunct="1"/>
            <a:r>
              <a:rPr lang="en-US" altLang="zh-CN" sz="3600" b="1">
                <a:solidFill>
                  <a:srgbClr val="CC3300"/>
                </a:solidFill>
                <a:latin typeface="新宋体" panose="02010609030101010101" pitchFamily="49" charset="-122"/>
                <a:ea typeface="新宋体" panose="02010609030101010101" pitchFamily="49" charset="-122"/>
              </a:rPr>
              <a:t>Random Access Protocols</a:t>
            </a:r>
          </a:p>
        </p:txBody>
      </p:sp>
      <p:sp>
        <p:nvSpPr>
          <p:cNvPr id="673812" name="Text Box 20"/>
          <p:cNvSpPr txBox="1">
            <a:spLocks noChangeArrowheads="1"/>
          </p:cNvSpPr>
          <p:nvPr/>
        </p:nvSpPr>
        <p:spPr bwMode="auto">
          <a:xfrm>
            <a:off x="2307431" y="1762125"/>
            <a:ext cx="7821613" cy="2165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buClr>
                <a:schemeClr val="hlink"/>
              </a:buClr>
              <a:buSzPct val="75000"/>
              <a:buFont typeface="Wingdings" panose="05000000000000000000" pitchFamily="2" charset="2"/>
              <a:buChar char="q"/>
            </a:pPr>
            <a:r>
              <a:rPr kumimoji="0" lang="en-US" altLang="zh-CN" u="sng"/>
              <a:t>CSMA</a:t>
            </a:r>
            <a:r>
              <a:rPr kumimoji="0" lang="en-US" altLang="zh-CN"/>
              <a:t>: Carrier Sense Multiple Access</a:t>
            </a:r>
            <a:r>
              <a:rPr kumimoji="0" lang="en-US" altLang="zh-CN" sz="2400"/>
              <a:t> </a:t>
            </a:r>
            <a:br>
              <a:rPr kumimoji="0" lang="en-US" altLang="zh-CN" sz="2400"/>
            </a:br>
            <a:r>
              <a:rPr kumimoji="0" lang="zh-CN" altLang="en-US" sz="2400"/>
              <a:t>发送之前首先侦听信道状态（</a:t>
            </a:r>
            <a:r>
              <a:rPr kumimoji="0" lang="en-US" altLang="zh-CN" sz="2400"/>
              <a:t>Listen before you transmit</a:t>
            </a:r>
            <a:r>
              <a:rPr kumimoji="0" lang="zh-CN" altLang="en-US" sz="2400"/>
              <a:t>）</a:t>
            </a:r>
          </a:p>
          <a:p>
            <a:pPr>
              <a:buClr>
                <a:schemeClr val="hlink"/>
              </a:buClr>
              <a:buSzPct val="75000"/>
              <a:buFont typeface="Wingdings" panose="05000000000000000000" pitchFamily="2" charset="2"/>
              <a:buChar char="q"/>
            </a:pPr>
            <a:r>
              <a:rPr kumimoji="0" lang="en-US" altLang="zh-CN" u="sng"/>
              <a:t>CSMA/CD:</a:t>
            </a:r>
            <a:r>
              <a:rPr kumimoji="0" lang="en-US" altLang="zh-CN"/>
              <a:t> CSMA with Collision Detection</a:t>
            </a:r>
            <a:br>
              <a:rPr kumimoji="0" lang="en-US" altLang="zh-CN"/>
            </a:br>
            <a:r>
              <a:rPr kumimoji="0" lang="zh-CN" altLang="en-US"/>
              <a:t>发送之前首先侦听信道状态；一边发送一边侦听，一旦发生冲突立即停止发送。</a:t>
            </a:r>
            <a:r>
              <a:rPr kumimoji="0" lang="zh-CN" altLang="en-US" sz="2400"/>
              <a:t> </a:t>
            </a:r>
            <a:endParaRPr lang="zh-CN" altLang="en-US" sz="2400"/>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3812">
                                            <p:txEl>
                                              <p:pRg st="0" end="0"/>
                                            </p:txEl>
                                          </p:spTgt>
                                        </p:tgtEl>
                                        <p:attrNameLst>
                                          <p:attrName>style.visibility</p:attrName>
                                        </p:attrNameLst>
                                      </p:cBhvr>
                                      <p:to>
                                        <p:strVal val="visible"/>
                                      </p:to>
                                    </p:set>
                                    <p:anim calcmode="lin" valueType="num">
                                      <p:cBhvr additive="base">
                                        <p:cTn id="7" dur="500" fill="hold"/>
                                        <p:tgtEl>
                                          <p:spTgt spid="673812">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7381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73812">
                                            <p:txEl>
                                              <p:pRg st="1" end="1"/>
                                            </p:txEl>
                                          </p:spTgt>
                                        </p:tgtEl>
                                        <p:attrNameLst>
                                          <p:attrName>style.visibility</p:attrName>
                                        </p:attrNameLst>
                                      </p:cBhvr>
                                      <p:to>
                                        <p:strVal val="visible"/>
                                      </p:to>
                                    </p:set>
                                    <p:anim calcmode="lin" valueType="num">
                                      <p:cBhvr additive="base">
                                        <p:cTn id="13" dur="500" fill="hold"/>
                                        <p:tgtEl>
                                          <p:spTgt spid="673812">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73812">
                                            <p:txEl>
                                              <p:pRg st="1" end="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812"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bwMode="auto">
          <a:xfrm>
            <a:off x="2198688" y="320675"/>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b="1" smtClean="0">
                <a:solidFill>
                  <a:srgbClr val="CC3300"/>
                </a:solidFill>
                <a:latin typeface="新宋体" panose="02010609030101010101" pitchFamily="49" charset="-122"/>
                <a:ea typeface="新宋体" panose="02010609030101010101" pitchFamily="49" charset="-122"/>
              </a:rPr>
              <a:t>CSMA</a:t>
            </a:r>
          </a:p>
        </p:txBody>
      </p:sp>
      <p:sp>
        <p:nvSpPr>
          <p:cNvPr id="676868" name="Text Box 4"/>
          <p:cNvSpPr txBox="1">
            <a:spLocks noChangeArrowheads="1"/>
          </p:cNvSpPr>
          <p:nvPr/>
        </p:nvSpPr>
        <p:spPr bwMode="auto">
          <a:xfrm>
            <a:off x="676275" y="1571626"/>
            <a:ext cx="11172825" cy="40257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293688" indent="-293688">
              <a:defRPr kumimoji="1" sz="2800">
                <a:solidFill>
                  <a:schemeClr val="tx1"/>
                </a:solidFill>
                <a:latin typeface="Times New Roman" panose="02020603050405020304" pitchFamily="18" charset="0"/>
                <a:ea typeface="宋体" panose="02010600030101010101" pitchFamily="2" charset="-122"/>
              </a:defRPr>
            </a:lvl1pPr>
            <a:lvl2pPr marL="854075" indent="-369888">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10000"/>
              </a:spcBef>
              <a:buClr>
                <a:schemeClr val="folHlink"/>
              </a:buClr>
              <a:buSzPct val="75000"/>
              <a:buFont typeface="Wingdings" panose="05000000000000000000" pitchFamily="2" charset="2"/>
              <a:buChar char="q"/>
            </a:pPr>
            <a:r>
              <a:rPr kumimoji="0" lang="zh-CN" altLang="en-US"/>
              <a:t>发送之前进行“载波侦听” </a:t>
            </a:r>
            <a:r>
              <a:rPr kumimoji="0" lang="en-US" altLang="zh-CN"/>
              <a:t>(</a:t>
            </a:r>
            <a:r>
              <a:rPr kumimoji="0" lang="zh-CN" altLang="en-US"/>
              <a:t>无线电行话</a:t>
            </a:r>
            <a:r>
              <a:rPr kumimoji="0" lang="en-US" altLang="zh-CN"/>
              <a:t>)  </a:t>
            </a:r>
          </a:p>
          <a:p>
            <a:pPr>
              <a:spcBef>
                <a:spcPct val="10000"/>
              </a:spcBef>
              <a:buClr>
                <a:schemeClr val="folHlink"/>
              </a:buClr>
              <a:buSzPct val="75000"/>
              <a:buFont typeface="Wingdings" panose="05000000000000000000" pitchFamily="2" charset="2"/>
              <a:buChar char="q"/>
            </a:pPr>
            <a:r>
              <a:rPr kumimoji="0" lang="en-US" altLang="zh-CN" u="sng">
                <a:solidFill>
                  <a:schemeClr val="hlink"/>
                </a:solidFill>
              </a:rPr>
              <a:t>1-persistent CSMA</a:t>
            </a:r>
            <a:r>
              <a:rPr kumimoji="0" lang="en-US" altLang="zh-CN" u="sng"/>
              <a:t>:</a:t>
            </a:r>
            <a:r>
              <a:rPr kumimoji="0" lang="en-US" altLang="zh-CN"/>
              <a:t> </a:t>
            </a:r>
            <a:r>
              <a:rPr kumimoji="0" lang="zh-CN" altLang="en-US"/>
              <a:t>如果信道空闲，发送；如果信道忙，等待，直到信道空闲</a:t>
            </a:r>
            <a:r>
              <a:rPr kumimoji="0" lang="zh-CN" altLang="en-US" smtClean="0"/>
              <a:t>，马上发送</a:t>
            </a:r>
            <a:r>
              <a:rPr kumimoji="0" lang="zh-CN" altLang="en-US"/>
              <a:t>。 </a:t>
            </a:r>
          </a:p>
          <a:p>
            <a:pPr>
              <a:spcBef>
                <a:spcPct val="10000"/>
              </a:spcBef>
              <a:buClr>
                <a:schemeClr val="folHlink"/>
              </a:buClr>
              <a:buSzPct val="75000"/>
              <a:buFont typeface="Wingdings" panose="05000000000000000000" pitchFamily="2" charset="2"/>
              <a:buChar char="q"/>
            </a:pPr>
            <a:r>
              <a:rPr kumimoji="0" lang="en-US" altLang="zh-CN" u="sng">
                <a:solidFill>
                  <a:schemeClr val="hlink"/>
                </a:solidFill>
              </a:rPr>
              <a:t>0-persistent CSMA</a:t>
            </a:r>
            <a:r>
              <a:rPr kumimoji="0" lang="en-US" altLang="zh-CN"/>
              <a:t>:</a:t>
            </a:r>
            <a:r>
              <a:rPr kumimoji="0" lang="zh-CN" altLang="en-US"/>
              <a:t>如果信道空闲，发送；如果信道忙，后退一个随机时间后再试。 </a:t>
            </a:r>
          </a:p>
          <a:p>
            <a:pPr>
              <a:spcBef>
                <a:spcPct val="10000"/>
              </a:spcBef>
              <a:buClr>
                <a:schemeClr val="folHlink"/>
              </a:buClr>
              <a:buSzPct val="75000"/>
              <a:buFont typeface="Wingdings" panose="05000000000000000000" pitchFamily="2" charset="2"/>
              <a:buChar char="q"/>
            </a:pPr>
            <a:r>
              <a:rPr kumimoji="0" lang="en-US" altLang="zh-CN" u="sng">
                <a:solidFill>
                  <a:schemeClr val="hlink"/>
                </a:solidFill>
              </a:rPr>
              <a:t>p-persistent CSMA</a:t>
            </a:r>
            <a:r>
              <a:rPr kumimoji="0" lang="en-US" altLang="zh-CN" u="sng"/>
              <a:t>:</a:t>
            </a:r>
            <a:r>
              <a:rPr kumimoji="0" lang="en-US" altLang="zh-CN"/>
              <a:t> </a:t>
            </a:r>
            <a:r>
              <a:rPr kumimoji="0" lang="zh-CN" altLang="en-US"/>
              <a:t>用于时间片信道</a:t>
            </a:r>
            <a:r>
              <a:rPr kumimoji="0" lang="en-US" altLang="zh-CN"/>
              <a:t>.</a:t>
            </a:r>
          </a:p>
          <a:p>
            <a:pPr lvl="1">
              <a:spcBef>
                <a:spcPct val="10000"/>
              </a:spcBef>
              <a:buClr>
                <a:schemeClr val="folHlink"/>
              </a:buClr>
              <a:buSzPct val="75000"/>
              <a:buFont typeface="Wingdings" panose="05000000000000000000" pitchFamily="2" charset="2"/>
              <a:buChar char="q"/>
            </a:pPr>
            <a:r>
              <a:rPr kumimoji="0" lang="zh-CN" altLang="en-US" sz="2400"/>
              <a:t>如果信道忙，等待，直到下一个时间片。 </a:t>
            </a:r>
          </a:p>
          <a:p>
            <a:pPr lvl="1">
              <a:spcBef>
                <a:spcPct val="10000"/>
              </a:spcBef>
              <a:buClr>
                <a:schemeClr val="folHlink"/>
              </a:buClr>
              <a:buSzPct val="75000"/>
              <a:buFont typeface="Wingdings" panose="05000000000000000000" pitchFamily="2" charset="2"/>
              <a:buChar char="q"/>
            </a:pPr>
            <a:r>
              <a:rPr kumimoji="0" lang="zh-CN" altLang="en-US" sz="2400"/>
              <a:t>如果信道空闲，以</a:t>
            </a:r>
            <a:r>
              <a:rPr kumimoji="0" lang="en-US" altLang="zh-CN" sz="2400"/>
              <a:t>P</a:t>
            </a:r>
            <a:r>
              <a:rPr kumimoji="0" lang="zh-CN" altLang="en-US" sz="2400"/>
              <a:t>的概率发送，以（</a:t>
            </a:r>
            <a:r>
              <a:rPr kumimoji="0" lang="en-US" altLang="zh-CN" sz="2400"/>
              <a:t>1-P</a:t>
            </a:r>
            <a:r>
              <a:rPr kumimoji="0" lang="zh-CN" altLang="en-US" sz="2400"/>
              <a:t>）的概率等待到下一个时间片 </a:t>
            </a:r>
          </a:p>
          <a:p>
            <a:pPr lvl="1">
              <a:spcBef>
                <a:spcPct val="10000"/>
              </a:spcBef>
              <a:buClr>
                <a:schemeClr val="folHlink"/>
              </a:buClr>
              <a:buSzPct val="75000"/>
              <a:buFont typeface="Wingdings" panose="05000000000000000000" pitchFamily="2" charset="2"/>
              <a:buChar char="q"/>
            </a:pPr>
            <a:r>
              <a:rPr kumimoji="0" lang="zh-CN" altLang="en-US" sz="2400"/>
              <a:t>时间片长度 </a:t>
            </a:r>
            <a:r>
              <a:rPr kumimoji="0" lang="en-US" altLang="zh-CN" sz="2400"/>
              <a:t>= </a:t>
            </a:r>
            <a:r>
              <a:rPr kumimoji="0" lang="zh-CN" altLang="en-US" sz="2400"/>
              <a:t>信号传播时延（</a:t>
            </a:r>
            <a:r>
              <a:rPr kumimoji="0" lang="en-US" altLang="zh-CN" sz="2400"/>
              <a:t>propagation delay</a:t>
            </a:r>
            <a:r>
              <a:rPr kumimoji="0" lang="zh-CN" altLang="en-US" sz="2400"/>
              <a:t>）</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76868">
                                            <p:txEl>
                                              <p:pRg st="0" end="0"/>
                                            </p:txEl>
                                          </p:spTgt>
                                        </p:tgtEl>
                                        <p:attrNameLst>
                                          <p:attrName>style.visibility</p:attrName>
                                        </p:attrNameLst>
                                      </p:cBhvr>
                                      <p:to>
                                        <p:strVal val="visible"/>
                                      </p:to>
                                    </p:set>
                                    <p:anim calcmode="lin" valueType="num">
                                      <p:cBhvr additive="base">
                                        <p:cTn id="7" dur="500" fill="hold"/>
                                        <p:tgtEl>
                                          <p:spTgt spid="676868">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76868">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76868">
                                            <p:txEl>
                                              <p:pRg st="1" end="1"/>
                                            </p:txEl>
                                          </p:spTgt>
                                        </p:tgtEl>
                                        <p:attrNameLst>
                                          <p:attrName>style.visibility</p:attrName>
                                        </p:attrNameLst>
                                      </p:cBhvr>
                                      <p:to>
                                        <p:strVal val="visible"/>
                                      </p:to>
                                    </p:set>
                                    <p:anim calcmode="lin" valueType="num">
                                      <p:cBhvr additive="base">
                                        <p:cTn id="13" dur="500" fill="hold"/>
                                        <p:tgtEl>
                                          <p:spTgt spid="676868">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76868">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76868">
                                            <p:txEl>
                                              <p:pRg st="2" end="2"/>
                                            </p:txEl>
                                          </p:spTgt>
                                        </p:tgtEl>
                                        <p:attrNameLst>
                                          <p:attrName>style.visibility</p:attrName>
                                        </p:attrNameLst>
                                      </p:cBhvr>
                                      <p:to>
                                        <p:strVal val="visible"/>
                                      </p:to>
                                    </p:set>
                                    <p:anim calcmode="lin" valueType="num">
                                      <p:cBhvr additive="base">
                                        <p:cTn id="19" dur="500" fill="hold"/>
                                        <p:tgtEl>
                                          <p:spTgt spid="676868">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76868">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676868">
                                            <p:txEl>
                                              <p:pRg st="3" end="3"/>
                                            </p:txEl>
                                          </p:spTgt>
                                        </p:tgtEl>
                                        <p:attrNameLst>
                                          <p:attrName>style.visibility</p:attrName>
                                        </p:attrNameLst>
                                      </p:cBhvr>
                                      <p:to>
                                        <p:strVal val="visible"/>
                                      </p:to>
                                    </p:set>
                                    <p:anim calcmode="lin" valueType="num">
                                      <p:cBhvr additive="base">
                                        <p:cTn id="25" dur="500" fill="hold"/>
                                        <p:tgtEl>
                                          <p:spTgt spid="676868">
                                            <p:txEl>
                                              <p:pRg st="3" end="3"/>
                                            </p:tx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676868">
                                            <p:txEl>
                                              <p:pRg st="3" end="3"/>
                                            </p:tx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676868">
                                            <p:txEl>
                                              <p:pRg st="4" end="4"/>
                                            </p:txEl>
                                          </p:spTgt>
                                        </p:tgtEl>
                                        <p:attrNameLst>
                                          <p:attrName>style.visibility</p:attrName>
                                        </p:attrNameLst>
                                      </p:cBhvr>
                                      <p:to>
                                        <p:strVal val="visible"/>
                                      </p:to>
                                    </p:set>
                                    <p:anim calcmode="lin" valueType="num">
                                      <p:cBhvr additive="base">
                                        <p:cTn id="29" dur="500" fill="hold"/>
                                        <p:tgtEl>
                                          <p:spTgt spid="676868">
                                            <p:txEl>
                                              <p:pRg st="4" end="4"/>
                                            </p:tx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676868">
                                            <p:txEl>
                                              <p:pRg st="4" end="4"/>
                                            </p:txEl>
                                          </p:spTgt>
                                        </p:tgtEl>
                                        <p:attrNameLst>
                                          <p:attrName>ppt_y</p:attrName>
                                        </p:attrNameLst>
                                      </p:cBhvr>
                                      <p:tavLst>
                                        <p:tav tm="0">
                                          <p:val>
                                            <p:strVal val="#ppt_y"/>
                                          </p:val>
                                        </p:tav>
                                        <p:tav tm="100000">
                                          <p:val>
                                            <p:strVal val="#ppt_y"/>
                                          </p:val>
                                        </p:tav>
                                      </p:tavLst>
                                    </p:anim>
                                  </p:childTnLst>
                                </p:cTn>
                              </p:par>
                              <p:par>
                                <p:cTn id="31" presetID="2" presetClass="entr" presetSubtype="2" fill="hold" grpId="0" nodeType="withEffect">
                                  <p:stCondLst>
                                    <p:cond delay="0"/>
                                  </p:stCondLst>
                                  <p:childTnLst>
                                    <p:set>
                                      <p:cBhvr>
                                        <p:cTn id="32" dur="1" fill="hold">
                                          <p:stCondLst>
                                            <p:cond delay="0"/>
                                          </p:stCondLst>
                                        </p:cTn>
                                        <p:tgtEl>
                                          <p:spTgt spid="676868">
                                            <p:txEl>
                                              <p:pRg st="5" end="5"/>
                                            </p:txEl>
                                          </p:spTgt>
                                        </p:tgtEl>
                                        <p:attrNameLst>
                                          <p:attrName>style.visibility</p:attrName>
                                        </p:attrNameLst>
                                      </p:cBhvr>
                                      <p:to>
                                        <p:strVal val="visible"/>
                                      </p:to>
                                    </p:set>
                                    <p:anim calcmode="lin" valueType="num">
                                      <p:cBhvr additive="base">
                                        <p:cTn id="33" dur="500" fill="hold"/>
                                        <p:tgtEl>
                                          <p:spTgt spid="676868">
                                            <p:txEl>
                                              <p:pRg st="5" end="5"/>
                                            </p:txEl>
                                          </p:spTgt>
                                        </p:tgtEl>
                                        <p:attrNameLst>
                                          <p:attrName>ppt_x</p:attrName>
                                        </p:attrNameLst>
                                      </p:cBhvr>
                                      <p:tavLst>
                                        <p:tav tm="0">
                                          <p:val>
                                            <p:strVal val="1+#ppt_w/2"/>
                                          </p:val>
                                        </p:tav>
                                        <p:tav tm="100000">
                                          <p:val>
                                            <p:strVal val="#ppt_x"/>
                                          </p:val>
                                        </p:tav>
                                      </p:tavLst>
                                    </p:anim>
                                    <p:anim calcmode="lin" valueType="num">
                                      <p:cBhvr additive="base">
                                        <p:cTn id="34" dur="500" fill="hold"/>
                                        <p:tgtEl>
                                          <p:spTgt spid="676868">
                                            <p:txEl>
                                              <p:pRg st="5" end="5"/>
                                            </p:txEl>
                                          </p:spTgt>
                                        </p:tgtEl>
                                        <p:attrNameLst>
                                          <p:attrName>ppt_y</p:attrName>
                                        </p:attrNameLst>
                                      </p:cBhvr>
                                      <p:tavLst>
                                        <p:tav tm="0">
                                          <p:val>
                                            <p:strVal val="#ppt_y"/>
                                          </p:val>
                                        </p:tav>
                                        <p:tav tm="100000">
                                          <p:val>
                                            <p:strVal val="#ppt_y"/>
                                          </p:val>
                                        </p:tav>
                                      </p:tavLst>
                                    </p:anim>
                                  </p:childTnLst>
                                </p:cTn>
                              </p:par>
                              <p:par>
                                <p:cTn id="35" presetID="2" presetClass="entr" presetSubtype="2" fill="hold" grpId="0" nodeType="withEffect">
                                  <p:stCondLst>
                                    <p:cond delay="0"/>
                                  </p:stCondLst>
                                  <p:childTnLst>
                                    <p:set>
                                      <p:cBhvr>
                                        <p:cTn id="36" dur="1" fill="hold">
                                          <p:stCondLst>
                                            <p:cond delay="0"/>
                                          </p:stCondLst>
                                        </p:cTn>
                                        <p:tgtEl>
                                          <p:spTgt spid="676868">
                                            <p:txEl>
                                              <p:pRg st="6" end="6"/>
                                            </p:txEl>
                                          </p:spTgt>
                                        </p:tgtEl>
                                        <p:attrNameLst>
                                          <p:attrName>style.visibility</p:attrName>
                                        </p:attrNameLst>
                                      </p:cBhvr>
                                      <p:to>
                                        <p:strVal val="visible"/>
                                      </p:to>
                                    </p:set>
                                    <p:anim calcmode="lin" valueType="num">
                                      <p:cBhvr additive="base">
                                        <p:cTn id="37" dur="500" fill="hold"/>
                                        <p:tgtEl>
                                          <p:spTgt spid="676868">
                                            <p:txEl>
                                              <p:pRg st="6" end="6"/>
                                            </p:tx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676868">
                                            <p:txEl>
                                              <p:pRg st="6" end="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68" grpId="0" build="p"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bwMode="auto">
          <a:xfrm>
            <a:off x="0" y="454025"/>
            <a:ext cx="5029200" cy="696913"/>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sz="3600" b="1" smtClean="0">
                <a:solidFill>
                  <a:srgbClr val="CC3300"/>
                </a:solidFill>
                <a:latin typeface="新宋体" panose="02010609030101010101" pitchFamily="49" charset="-122"/>
                <a:ea typeface="新宋体" panose="02010609030101010101" pitchFamily="49" charset="-122"/>
              </a:rPr>
              <a:t>5.2 </a:t>
            </a:r>
            <a:r>
              <a:rPr lang="en-US" altLang="zh-CN" sz="3600" b="1">
                <a:solidFill>
                  <a:srgbClr val="CC3300"/>
                </a:solidFill>
                <a:latin typeface="新宋体" panose="02010609030101010101" pitchFamily="49" charset="-122"/>
                <a:ea typeface="新宋体" panose="02010609030101010101" pitchFamily="49" charset="-122"/>
              </a:rPr>
              <a:t>CSMA</a:t>
            </a:r>
            <a:r>
              <a:rPr lang="zh-CN" altLang="en-US" sz="3600" b="1">
                <a:solidFill>
                  <a:srgbClr val="CC3300"/>
                </a:solidFill>
                <a:latin typeface="新宋体" panose="02010609030101010101" pitchFamily="49" charset="-122"/>
                <a:ea typeface="新宋体" panose="02010609030101010101" pitchFamily="49" charset="-122"/>
              </a:rPr>
              <a:t>的缺点</a:t>
            </a:r>
          </a:p>
        </p:txBody>
      </p:sp>
      <p:sp>
        <p:nvSpPr>
          <p:cNvPr id="47107" name="Text Box 3"/>
          <p:cNvSpPr txBox="1">
            <a:spLocks noChangeArrowheads="1"/>
          </p:cNvSpPr>
          <p:nvPr/>
        </p:nvSpPr>
        <p:spPr bwMode="auto">
          <a:xfrm>
            <a:off x="2371725" y="1560513"/>
            <a:ext cx="7716838"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47108" name="Text Box 4"/>
          <p:cNvSpPr txBox="1">
            <a:spLocks noChangeArrowheads="1"/>
          </p:cNvSpPr>
          <p:nvPr/>
        </p:nvSpPr>
        <p:spPr bwMode="auto">
          <a:xfrm>
            <a:off x="1028700" y="2054225"/>
            <a:ext cx="10477500" cy="28007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     </a:t>
            </a:r>
            <a:r>
              <a:rPr lang="en-US" altLang="zh-CN" sz="3200" b="1">
                <a:latin typeface="隶书" panose="02010509060101010101" pitchFamily="49" charset="-122"/>
                <a:ea typeface="隶书" panose="02010509060101010101" pitchFamily="49" charset="-122"/>
              </a:rPr>
              <a:t>CSMA</a:t>
            </a:r>
            <a:r>
              <a:rPr lang="zh-CN" altLang="zh-CN" sz="3200" b="1">
                <a:latin typeface="隶书" panose="02010509060101010101" pitchFamily="49" charset="-122"/>
                <a:ea typeface="隶书" panose="02010509060101010101" pitchFamily="49" charset="-122"/>
              </a:rPr>
              <a:t>在发送数据之前进行载波监听，减少了冲突的机会。但由于传播延迟的存在，冲突还是不可避免的。</a:t>
            </a:r>
            <a:r>
              <a:rPr lang="en-US" altLang="zh-CN" sz="3200" b="1" u="sng">
                <a:solidFill>
                  <a:srgbClr val="FF0000"/>
                </a:solidFill>
                <a:latin typeface="隶书" panose="02010509060101010101" pitchFamily="49" charset="-122"/>
                <a:ea typeface="隶书" panose="02010509060101010101" pitchFamily="49" charset="-122"/>
              </a:rPr>
              <a:t>CSMA</a:t>
            </a:r>
            <a:r>
              <a:rPr lang="zh-CN" altLang="en-US" sz="3200" b="1" u="sng">
                <a:solidFill>
                  <a:srgbClr val="FF0000"/>
                </a:solidFill>
                <a:latin typeface="隶书" panose="02010509060101010101" pitchFamily="49" charset="-122"/>
                <a:ea typeface="隶书" panose="02010509060101010101" pitchFamily="49" charset="-122"/>
              </a:rPr>
              <a:t>检测到冲突后继续发送，直到发送完毕，白白浪费了信道</a:t>
            </a:r>
            <a:r>
              <a:rPr lang="zh-CN" altLang="en-US" sz="3200" b="1" smtClean="0">
                <a:latin typeface="隶书" panose="02010509060101010101" pitchFamily="49" charset="-122"/>
                <a:ea typeface="隶书" panose="02010509060101010101" pitchFamily="49" charset="-122"/>
              </a:rPr>
              <a:t>。</a:t>
            </a:r>
            <a:endParaRPr lang="en-US" altLang="zh-CN" sz="3200" b="1" smtClean="0">
              <a:latin typeface="隶书" panose="02010509060101010101" pitchFamily="49" charset="-122"/>
              <a:ea typeface="隶书" panose="02010509060101010101" pitchFamily="49" charset="-122"/>
            </a:endParaRPr>
          </a:p>
          <a:p>
            <a:pPr eaLnBrk="1" hangingPunct="1">
              <a:spcBef>
                <a:spcPct val="50000"/>
              </a:spcBef>
            </a:pPr>
            <a:r>
              <a:rPr lang="zh-CN" altLang="en-US" sz="3200" b="1" smtClean="0">
                <a:latin typeface="隶书" panose="02010509060101010101" pitchFamily="49" charset="-122"/>
                <a:ea typeface="隶书" panose="02010509060101010101" pitchFamily="49" charset="-122"/>
              </a:rPr>
              <a:t>能否</a:t>
            </a:r>
            <a:r>
              <a:rPr lang="zh-CN" altLang="en-US" sz="3200" b="1">
                <a:latin typeface="隶书" panose="02010509060101010101" pitchFamily="49" charset="-122"/>
                <a:ea typeface="隶书" panose="02010509060101010101" pitchFamily="49" charset="-122"/>
              </a:rPr>
              <a:t>一旦发现冲突，就立即停止发送？这就是另外一个协议：</a:t>
            </a:r>
            <a:r>
              <a:rPr lang="en-US" altLang="zh-CN" sz="3200" b="1">
                <a:latin typeface="隶书" panose="02010509060101010101" pitchFamily="49" charset="-122"/>
                <a:ea typeface="隶书" panose="02010509060101010101" pitchFamily="49" charset="-122"/>
              </a:rPr>
              <a:t>CSMA/CD </a:t>
            </a:r>
          </a:p>
        </p:txBody>
      </p:sp>
    </p:spTree>
  </p:cSld>
  <p:clrMapOvr>
    <a:masterClrMapping/>
  </p:clrMapOvr>
  <p:transition>
    <p:random/>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idx="4294967295"/>
          </p:nvPr>
        </p:nvSpPr>
        <p:spPr bwMode="auto">
          <a:xfrm>
            <a:off x="0" y="336550"/>
            <a:ext cx="5175250"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5.3  CSMA/CD</a:t>
            </a:r>
          </a:p>
        </p:txBody>
      </p:sp>
      <p:sp>
        <p:nvSpPr>
          <p:cNvPr id="302083" name="Text Box 3"/>
          <p:cNvSpPr txBox="1">
            <a:spLocks noChangeArrowheads="1"/>
          </p:cNvSpPr>
          <p:nvPr/>
        </p:nvSpPr>
        <p:spPr bwMode="auto">
          <a:xfrm>
            <a:off x="361950" y="1638301"/>
            <a:ext cx="1163955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pPr>
            <a:r>
              <a:rPr lang="en-US" altLang="zh-CN" sz="3200" b="1" smtClean="0">
                <a:latin typeface="隶书" panose="02010509060101010101" pitchFamily="49" charset="-122"/>
                <a:ea typeface="隶书" panose="02010509060101010101" pitchFamily="49" charset="-122"/>
              </a:rPr>
              <a:t>CSMA/CD(Carrier </a:t>
            </a:r>
            <a:r>
              <a:rPr lang="en-US" altLang="zh-CN" sz="3200" b="1">
                <a:latin typeface="隶书" panose="02010509060101010101" pitchFamily="49" charset="-122"/>
                <a:ea typeface="隶书" panose="02010509060101010101" pitchFamily="49" charset="-122"/>
              </a:rPr>
              <a:t>Sense Multiple Access/Collision </a:t>
            </a:r>
            <a:r>
              <a:rPr lang="en-US" altLang="zh-CN" sz="3200" b="1" smtClean="0">
                <a:latin typeface="隶书" panose="02010509060101010101" pitchFamily="49" charset="-122"/>
                <a:ea typeface="隶书" panose="02010509060101010101" pitchFamily="49" charset="-122"/>
              </a:rPr>
              <a:t>Detect</a:t>
            </a:r>
          </a:p>
          <a:p>
            <a:pPr>
              <a:lnSpc>
                <a:spcPct val="120000"/>
              </a:lnSpc>
            </a:pPr>
            <a:r>
              <a:rPr lang="zh-CN" altLang="en-US" sz="3200" b="1" smtClean="0">
                <a:latin typeface="隶书" panose="02010509060101010101" pitchFamily="49" charset="-122"/>
                <a:ea typeface="隶书" panose="02010509060101010101" pitchFamily="49" charset="-122"/>
              </a:rPr>
              <a:t>载波</a:t>
            </a:r>
            <a:r>
              <a:rPr lang="zh-CN" altLang="zh-CN" sz="3200" b="1">
                <a:latin typeface="隶书" panose="02010509060101010101" pitchFamily="49" charset="-122"/>
                <a:ea typeface="隶书" panose="02010509060101010101" pitchFamily="49" charset="-122"/>
              </a:rPr>
              <a:t>监听</a:t>
            </a:r>
            <a:r>
              <a:rPr lang="zh-CN" altLang="en-US" sz="3200" b="1" smtClean="0">
                <a:latin typeface="隶书" panose="02010509060101010101" pitchFamily="49" charset="-122"/>
                <a:ea typeface="隶书" panose="02010509060101010101" pitchFamily="49" charset="-122"/>
              </a:rPr>
              <a:t>多路访问</a:t>
            </a:r>
            <a:r>
              <a:rPr lang="en-US" altLang="zh-CN" sz="3200" b="1">
                <a:latin typeface="隶书" panose="02010509060101010101" pitchFamily="49" charset="-122"/>
                <a:ea typeface="隶书" panose="02010509060101010101" pitchFamily="49" charset="-122"/>
              </a:rPr>
              <a:t>/</a:t>
            </a:r>
            <a:r>
              <a:rPr lang="zh-CN" altLang="en-US" sz="3200" b="1">
                <a:latin typeface="隶书" panose="02010509060101010101" pitchFamily="49" charset="-122"/>
                <a:ea typeface="隶书" panose="02010509060101010101" pitchFamily="49" charset="-122"/>
              </a:rPr>
              <a:t>冲突检测</a:t>
            </a:r>
            <a:r>
              <a:rPr lang="en-US" altLang="zh-CN" sz="3200" b="1">
                <a:latin typeface="隶书" panose="02010509060101010101" pitchFamily="49" charset="-122"/>
                <a:ea typeface="隶书" panose="02010509060101010101" pitchFamily="49" charset="-122"/>
              </a:rPr>
              <a:t>)</a:t>
            </a:r>
            <a:r>
              <a:rPr lang="zh-CN" altLang="zh-CN" sz="3200" b="1">
                <a:latin typeface="隶书" panose="02010509060101010101" pitchFamily="49" charset="-122"/>
                <a:ea typeface="隶书" panose="02010509060101010101" pitchFamily="49" charset="-122"/>
              </a:rPr>
              <a:t>比</a:t>
            </a:r>
            <a:r>
              <a:rPr lang="en-US" altLang="zh-CN" sz="3200" b="1">
                <a:latin typeface="隶书" panose="02010509060101010101" pitchFamily="49" charset="-122"/>
                <a:ea typeface="隶书" panose="02010509060101010101" pitchFamily="49" charset="-122"/>
              </a:rPr>
              <a:t>CSMA</a:t>
            </a:r>
            <a:r>
              <a:rPr lang="zh-CN" altLang="zh-CN" sz="3200" b="1">
                <a:latin typeface="隶书" panose="02010509060101010101" pitchFamily="49" charset="-122"/>
                <a:ea typeface="隶书" panose="02010509060101010101" pitchFamily="49" charset="-122"/>
              </a:rPr>
              <a:t>增加了一个功能，即边发送边监听，称之为冲突检测</a:t>
            </a:r>
            <a:r>
              <a:rPr lang="zh-CN" altLang="zh-CN" sz="3200" b="1" smtClean="0">
                <a:latin typeface="隶书" panose="02010509060101010101" pitchFamily="49" charset="-122"/>
                <a:ea typeface="隶书" panose="02010509060101010101" pitchFamily="49" charset="-122"/>
              </a:rPr>
              <a:t>。</a:t>
            </a:r>
            <a:endParaRPr lang="en-US" altLang="zh-CN" sz="3200" b="1" smtClean="0">
              <a:latin typeface="隶书" panose="02010509060101010101" pitchFamily="49" charset="-122"/>
              <a:ea typeface="隶书" panose="02010509060101010101" pitchFamily="49" charset="-122"/>
            </a:endParaRPr>
          </a:p>
          <a:p>
            <a:pPr>
              <a:lnSpc>
                <a:spcPct val="120000"/>
              </a:lnSpc>
            </a:pPr>
            <a:r>
              <a:rPr lang="zh-CN" altLang="en-US" sz="3200" b="1" smtClean="0">
                <a:latin typeface="隶书" panose="02010509060101010101" pitchFamily="49" charset="-122"/>
                <a:ea typeface="隶书" panose="02010509060101010101" pitchFamily="49" charset="-122"/>
              </a:rPr>
              <a:t>带冲突检测的载波</a:t>
            </a:r>
            <a:r>
              <a:rPr lang="zh-CN" altLang="zh-CN" sz="3200" b="1">
                <a:latin typeface="隶书" panose="02010509060101010101" pitchFamily="49" charset="-122"/>
                <a:ea typeface="隶书" panose="02010509060101010101" pitchFamily="49" charset="-122"/>
              </a:rPr>
              <a:t>监听</a:t>
            </a:r>
            <a:r>
              <a:rPr lang="zh-CN" altLang="en-US" sz="3200" b="1" smtClean="0">
                <a:latin typeface="隶书" panose="02010509060101010101" pitchFamily="49" charset="-122"/>
                <a:ea typeface="隶书" panose="02010509060101010101" pitchFamily="49" charset="-122"/>
              </a:rPr>
              <a:t>多路访问</a:t>
            </a:r>
            <a:endParaRPr lang="zh-CN" altLang="en-US" sz="3200" b="1">
              <a:latin typeface="隶书" panose="02010509060101010101" pitchFamily="49" charset="-122"/>
              <a:ea typeface="隶书" panose="020105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2083">
                                            <p:txEl>
                                              <p:pRg st="0" end="0"/>
                                            </p:txEl>
                                          </p:spTgt>
                                        </p:tgtEl>
                                        <p:attrNameLst>
                                          <p:attrName>style.visibility</p:attrName>
                                        </p:attrNameLst>
                                      </p:cBhvr>
                                      <p:to>
                                        <p:strVal val="visible"/>
                                      </p:to>
                                    </p:set>
                                    <p:animEffect transition="in" filter="wipe(left)">
                                      <p:cBhvr>
                                        <p:cTn id="7" dur="500"/>
                                        <p:tgtEl>
                                          <p:spTgt spid="30208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2083">
                                            <p:txEl>
                                              <p:pRg st="1" end="1"/>
                                            </p:txEl>
                                          </p:spTgt>
                                        </p:tgtEl>
                                        <p:attrNameLst>
                                          <p:attrName>style.visibility</p:attrName>
                                        </p:attrNameLst>
                                      </p:cBhvr>
                                      <p:to>
                                        <p:strVal val="visible"/>
                                      </p:to>
                                    </p:set>
                                    <p:animEffect transition="in" filter="wipe(left)">
                                      <p:cBhvr>
                                        <p:cTn id="12" dur="500"/>
                                        <p:tgtEl>
                                          <p:spTgt spid="30208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2083">
                                            <p:txEl>
                                              <p:pRg st="2" end="2"/>
                                            </p:txEl>
                                          </p:spTgt>
                                        </p:tgtEl>
                                        <p:attrNameLst>
                                          <p:attrName>style.visibility</p:attrName>
                                        </p:attrNameLst>
                                      </p:cBhvr>
                                      <p:to>
                                        <p:strVal val="visible"/>
                                      </p:to>
                                    </p:set>
                                    <p:animEffect transition="in" filter="wipe(left)">
                                      <p:cBhvr>
                                        <p:cTn id="17" dur="500"/>
                                        <p:tgtEl>
                                          <p:spTgt spid="30208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2083"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4" name="Text Box 4"/>
          <p:cNvSpPr txBox="1">
            <a:spLocks noChangeArrowheads="1"/>
          </p:cNvSpPr>
          <p:nvPr/>
        </p:nvSpPr>
        <p:spPr bwMode="auto">
          <a:xfrm>
            <a:off x="847725" y="1733550"/>
            <a:ext cx="10315575" cy="28869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marL="390525" indent="-390525" defTabSz="952500">
              <a:defRPr kumimoji="1" sz="2800">
                <a:solidFill>
                  <a:schemeClr val="tx1"/>
                </a:solidFill>
                <a:latin typeface="Times New Roman" panose="02020603050405020304" pitchFamily="18" charset="0"/>
                <a:ea typeface="宋体" panose="02010600030101010101" pitchFamily="2" charset="-122"/>
              </a:defRPr>
            </a:lvl1pPr>
            <a:lvl2pPr marL="952500" indent="-273050" defTabSz="952500">
              <a:defRPr kumimoji="1" sz="2800">
                <a:solidFill>
                  <a:schemeClr val="tx1"/>
                </a:solidFill>
                <a:latin typeface="Times New Roman" panose="02020603050405020304" pitchFamily="18" charset="0"/>
                <a:ea typeface="宋体" panose="02010600030101010101" pitchFamily="2" charset="-122"/>
              </a:defRPr>
            </a:lvl2pPr>
            <a:lvl3pPr marL="1143000" indent="-228600" defTabSz="952500">
              <a:defRPr kumimoji="1" sz="2800">
                <a:solidFill>
                  <a:schemeClr val="tx1"/>
                </a:solidFill>
                <a:latin typeface="Times New Roman" panose="02020603050405020304" pitchFamily="18" charset="0"/>
                <a:ea typeface="宋体" panose="02010600030101010101" pitchFamily="2" charset="-122"/>
              </a:defRPr>
            </a:lvl3pPr>
            <a:lvl4pPr marL="1600200" indent="-228600" defTabSz="952500">
              <a:defRPr kumimoji="1" sz="2800">
                <a:solidFill>
                  <a:schemeClr val="tx1"/>
                </a:solidFill>
                <a:latin typeface="Times New Roman" panose="02020603050405020304" pitchFamily="18" charset="0"/>
                <a:ea typeface="宋体" panose="02010600030101010101" pitchFamily="2" charset="-122"/>
              </a:defRPr>
            </a:lvl4pPr>
            <a:lvl5pPr marL="2057400" indent="-228600" defTabSz="952500">
              <a:defRPr kumimoji="1" sz="2800">
                <a:solidFill>
                  <a:schemeClr val="tx1"/>
                </a:solidFill>
                <a:latin typeface="Times New Roman" panose="02020603050405020304" pitchFamily="18" charset="0"/>
                <a:ea typeface="宋体" panose="02010600030101010101" pitchFamily="2" charset="-122"/>
              </a:defRPr>
            </a:lvl5pPr>
            <a:lvl6pPr marL="2514600" indent="-228600" defTabSz="9525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defTabSz="9525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defTabSz="9525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defTabSz="9525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spcBef>
                <a:spcPct val="20000"/>
              </a:spcBef>
              <a:buClr>
                <a:schemeClr val="folHlink"/>
              </a:buClr>
              <a:buSzPct val="75000"/>
              <a:buFont typeface="Wingdings" panose="05000000000000000000" pitchFamily="2" charset="2"/>
              <a:buChar char="q"/>
            </a:pPr>
            <a:r>
              <a:rPr kumimoji="0" lang="zh-CN" altLang="en-US"/>
              <a:t>如果信道空闲，发送 </a:t>
            </a:r>
            <a:r>
              <a:rPr kumimoji="0" lang="en-US" altLang="zh-CN"/>
              <a:t>(1-persistent</a:t>
            </a:r>
            <a:r>
              <a:rPr kumimoji="0" lang="en-US" altLang="zh-CN" smtClean="0"/>
              <a:t>)</a:t>
            </a:r>
            <a:endParaRPr kumimoji="0" lang="en-US" altLang="zh-CN"/>
          </a:p>
          <a:p>
            <a:pPr>
              <a:spcBef>
                <a:spcPct val="20000"/>
              </a:spcBef>
              <a:buClr>
                <a:schemeClr val="folHlink"/>
              </a:buClr>
              <a:buSzPct val="75000"/>
              <a:buFont typeface="Wingdings" panose="05000000000000000000" pitchFamily="2" charset="2"/>
              <a:buChar char="q"/>
            </a:pPr>
            <a:r>
              <a:rPr kumimoji="0" lang="zh-CN" altLang="en-US"/>
              <a:t>如果信道忙，等待，直到信道空闲</a:t>
            </a:r>
            <a:r>
              <a:rPr kumimoji="0" lang="zh-CN" altLang="en-US" smtClean="0"/>
              <a:t>，马上发送</a:t>
            </a:r>
            <a:endParaRPr kumimoji="0" lang="zh-CN" altLang="en-US"/>
          </a:p>
          <a:p>
            <a:pPr>
              <a:spcBef>
                <a:spcPct val="20000"/>
              </a:spcBef>
              <a:buClr>
                <a:schemeClr val="folHlink"/>
              </a:buClr>
              <a:buSzPct val="75000"/>
              <a:buFont typeface="Wingdings" panose="05000000000000000000" pitchFamily="2" charset="2"/>
              <a:buChar char="q"/>
            </a:pPr>
            <a:r>
              <a:rPr kumimoji="0" lang="zh-CN" altLang="en-US"/>
              <a:t>一边发送一边检测冲突。如果发送冲突</a:t>
            </a:r>
          </a:p>
          <a:p>
            <a:pPr lvl="1">
              <a:spcBef>
                <a:spcPct val="20000"/>
              </a:spcBef>
              <a:buClr>
                <a:schemeClr val="hlink"/>
              </a:buClr>
              <a:buSzPct val="75000"/>
              <a:buFont typeface="Wingdings" panose="05000000000000000000" pitchFamily="2" charset="2"/>
              <a:buChar char="ü"/>
            </a:pPr>
            <a:r>
              <a:rPr kumimoji="0" lang="zh-CN" altLang="en-US" sz="2400"/>
              <a:t>立即停止</a:t>
            </a:r>
            <a:r>
              <a:rPr kumimoji="0" lang="zh-CN" altLang="en-US" sz="2400" smtClean="0"/>
              <a:t>发送</a:t>
            </a:r>
            <a:endParaRPr kumimoji="0" lang="en-US" altLang="zh-CN" sz="2400" smtClean="0"/>
          </a:p>
          <a:p>
            <a:pPr lvl="1">
              <a:spcBef>
                <a:spcPct val="20000"/>
              </a:spcBef>
              <a:buClr>
                <a:schemeClr val="hlink"/>
              </a:buClr>
              <a:buSzPct val="75000"/>
              <a:buFont typeface="Wingdings" panose="05000000000000000000" pitchFamily="2" charset="2"/>
              <a:buChar char="ü"/>
            </a:pPr>
            <a:r>
              <a:rPr kumimoji="0" lang="zh-CN" altLang="en-US" sz="2400" smtClean="0"/>
              <a:t>并</a:t>
            </a:r>
            <a:r>
              <a:rPr kumimoji="0" lang="zh-CN" altLang="en-US" sz="2400"/>
              <a:t>发送一个长度为一个时间片的 </a:t>
            </a:r>
            <a:r>
              <a:rPr kumimoji="0" lang="en-US" altLang="zh-CN" sz="2400" smtClean="0"/>
              <a:t>(64 </a:t>
            </a:r>
            <a:r>
              <a:rPr kumimoji="0" lang="en-US" altLang="zh-CN" sz="2400"/>
              <a:t>byte times) jam </a:t>
            </a:r>
            <a:r>
              <a:rPr kumimoji="0" lang="zh-CN" altLang="en-US" sz="2400"/>
              <a:t>信号 </a:t>
            </a:r>
          </a:p>
          <a:p>
            <a:pPr lvl="1">
              <a:spcBef>
                <a:spcPct val="20000"/>
              </a:spcBef>
              <a:buClr>
                <a:schemeClr val="hlink"/>
              </a:buClr>
              <a:buSzPct val="75000"/>
              <a:buFont typeface="Wingdings" panose="05000000000000000000" pitchFamily="2" charset="2"/>
              <a:buChar char="ü"/>
            </a:pPr>
            <a:r>
              <a:rPr kumimoji="0" lang="zh-CN" altLang="en-US" sz="2400"/>
              <a:t>后退一个随机时间，然后重发  </a:t>
            </a:r>
            <a:r>
              <a:rPr kumimoji="0" lang="en-US" altLang="zh-CN" sz="2400"/>
              <a:t>(</a:t>
            </a:r>
            <a:r>
              <a:rPr kumimoji="0" lang="zh-CN" altLang="en-US" sz="2400"/>
              <a:t>最多重发 </a:t>
            </a:r>
            <a:r>
              <a:rPr kumimoji="0" lang="en-US" altLang="zh-CN" sz="2400"/>
              <a:t>16</a:t>
            </a:r>
            <a:r>
              <a:rPr kumimoji="0" lang="zh-CN" altLang="en-US" sz="2400"/>
              <a:t>次</a:t>
            </a:r>
            <a:r>
              <a:rPr kumimoji="0" lang="en-US" altLang="zh-CN" sz="2400" smtClean="0"/>
              <a:t>)</a:t>
            </a:r>
            <a:endParaRPr kumimoji="0" lang="zh-CN" altLang="en-US" sz="2400"/>
          </a:p>
        </p:txBody>
      </p:sp>
      <p:sp>
        <p:nvSpPr>
          <p:cNvPr id="50179" name="Rectangle 5"/>
          <p:cNvSpPr>
            <a:spLocks noGrp="1" noChangeArrowheads="1"/>
          </p:cNvSpPr>
          <p:nvPr>
            <p:ph type="title"/>
          </p:nvPr>
        </p:nvSpPr>
        <p:spPr bwMode="auto">
          <a:xfrm>
            <a:off x="2076450" y="355600"/>
            <a:ext cx="7772400" cy="1143000"/>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CSMS/CD</a:t>
            </a: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80964">
                                            <p:txEl>
                                              <p:pRg st="0" end="0"/>
                                            </p:txEl>
                                          </p:spTgt>
                                        </p:tgtEl>
                                        <p:attrNameLst>
                                          <p:attrName>style.visibility</p:attrName>
                                        </p:attrNameLst>
                                      </p:cBhvr>
                                      <p:to>
                                        <p:strVal val="visible"/>
                                      </p:to>
                                    </p:set>
                                    <p:anim calcmode="lin" valueType="num">
                                      <p:cBhvr additive="base">
                                        <p:cTn id="7" dur="500" fill="hold"/>
                                        <p:tgtEl>
                                          <p:spTgt spid="680964">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680964">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680964">
                                            <p:txEl>
                                              <p:pRg st="1" end="1"/>
                                            </p:txEl>
                                          </p:spTgt>
                                        </p:tgtEl>
                                        <p:attrNameLst>
                                          <p:attrName>style.visibility</p:attrName>
                                        </p:attrNameLst>
                                      </p:cBhvr>
                                      <p:to>
                                        <p:strVal val="visible"/>
                                      </p:to>
                                    </p:set>
                                    <p:anim calcmode="lin" valueType="num">
                                      <p:cBhvr additive="base">
                                        <p:cTn id="13" dur="500" fill="hold"/>
                                        <p:tgtEl>
                                          <p:spTgt spid="680964">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680964">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680964">
                                            <p:txEl>
                                              <p:pRg st="2" end="2"/>
                                            </p:txEl>
                                          </p:spTgt>
                                        </p:tgtEl>
                                        <p:attrNameLst>
                                          <p:attrName>style.visibility</p:attrName>
                                        </p:attrNameLst>
                                      </p:cBhvr>
                                      <p:to>
                                        <p:strVal val="visible"/>
                                      </p:to>
                                    </p:set>
                                    <p:anim calcmode="lin" valueType="num">
                                      <p:cBhvr additive="base">
                                        <p:cTn id="19" dur="500" fill="hold"/>
                                        <p:tgtEl>
                                          <p:spTgt spid="680964">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680964">
                                            <p:txEl>
                                              <p:pRg st="2" end="2"/>
                                            </p:txEl>
                                          </p:spTgt>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680964">
                                            <p:txEl>
                                              <p:pRg st="3" end="3"/>
                                            </p:txEl>
                                          </p:spTgt>
                                        </p:tgtEl>
                                        <p:attrNameLst>
                                          <p:attrName>style.visibility</p:attrName>
                                        </p:attrNameLst>
                                      </p:cBhvr>
                                      <p:to>
                                        <p:strVal val="visible"/>
                                      </p:to>
                                    </p:set>
                                    <p:anim calcmode="lin" valueType="num">
                                      <p:cBhvr additive="base">
                                        <p:cTn id="23" dur="500" fill="hold"/>
                                        <p:tgtEl>
                                          <p:spTgt spid="680964">
                                            <p:txEl>
                                              <p:pRg st="3" end="3"/>
                                            </p:tx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680964">
                                            <p:txEl>
                                              <p:pRg st="3" end="3"/>
                                            </p:txEl>
                                          </p:spTgt>
                                        </p:tgtEl>
                                        <p:attrNameLst>
                                          <p:attrName>ppt_y</p:attrName>
                                        </p:attrNameLst>
                                      </p:cBhvr>
                                      <p:tavLst>
                                        <p:tav tm="0">
                                          <p:val>
                                            <p:strVal val="#ppt_y"/>
                                          </p:val>
                                        </p:tav>
                                        <p:tav tm="100000">
                                          <p:val>
                                            <p:strVal val="#ppt_y"/>
                                          </p:val>
                                        </p:tav>
                                      </p:tavLst>
                                    </p:anim>
                                  </p:childTnLst>
                                </p:cTn>
                              </p:par>
                              <p:par>
                                <p:cTn id="25" presetID="2" presetClass="entr" presetSubtype="2" fill="hold" grpId="0" nodeType="withEffect">
                                  <p:stCondLst>
                                    <p:cond delay="0"/>
                                  </p:stCondLst>
                                  <p:childTnLst>
                                    <p:set>
                                      <p:cBhvr>
                                        <p:cTn id="26" dur="1" fill="hold">
                                          <p:stCondLst>
                                            <p:cond delay="0"/>
                                          </p:stCondLst>
                                        </p:cTn>
                                        <p:tgtEl>
                                          <p:spTgt spid="680964">
                                            <p:txEl>
                                              <p:pRg st="4" end="4"/>
                                            </p:txEl>
                                          </p:spTgt>
                                        </p:tgtEl>
                                        <p:attrNameLst>
                                          <p:attrName>style.visibility</p:attrName>
                                        </p:attrNameLst>
                                      </p:cBhvr>
                                      <p:to>
                                        <p:strVal val="visible"/>
                                      </p:to>
                                    </p:set>
                                    <p:anim calcmode="lin" valueType="num">
                                      <p:cBhvr additive="base">
                                        <p:cTn id="27" dur="500" fill="hold"/>
                                        <p:tgtEl>
                                          <p:spTgt spid="680964">
                                            <p:txEl>
                                              <p:pRg st="4" end="4"/>
                                            </p:txEl>
                                          </p:spTgt>
                                        </p:tgtEl>
                                        <p:attrNameLst>
                                          <p:attrName>ppt_x</p:attrName>
                                        </p:attrNameLst>
                                      </p:cBhvr>
                                      <p:tavLst>
                                        <p:tav tm="0">
                                          <p:val>
                                            <p:strVal val="1+#ppt_w/2"/>
                                          </p:val>
                                        </p:tav>
                                        <p:tav tm="100000">
                                          <p:val>
                                            <p:strVal val="#ppt_x"/>
                                          </p:val>
                                        </p:tav>
                                      </p:tavLst>
                                    </p:anim>
                                    <p:anim calcmode="lin" valueType="num">
                                      <p:cBhvr additive="base">
                                        <p:cTn id="28" dur="500" fill="hold"/>
                                        <p:tgtEl>
                                          <p:spTgt spid="680964">
                                            <p:txEl>
                                              <p:pRg st="4" end="4"/>
                                            </p:txEl>
                                          </p:spTgt>
                                        </p:tgtEl>
                                        <p:attrNameLst>
                                          <p:attrName>ppt_y</p:attrName>
                                        </p:attrNameLst>
                                      </p:cBhvr>
                                      <p:tavLst>
                                        <p:tav tm="0">
                                          <p:val>
                                            <p:strVal val="#ppt_y"/>
                                          </p:val>
                                        </p:tav>
                                        <p:tav tm="100000">
                                          <p:val>
                                            <p:strVal val="#ppt_y"/>
                                          </p:val>
                                        </p:tav>
                                      </p:tavLst>
                                    </p:anim>
                                  </p:childTnLst>
                                </p:cTn>
                              </p:par>
                              <p:par>
                                <p:cTn id="29" presetID="2" presetClass="entr" presetSubtype="2" fill="hold" grpId="0" nodeType="withEffect">
                                  <p:stCondLst>
                                    <p:cond delay="0"/>
                                  </p:stCondLst>
                                  <p:childTnLst>
                                    <p:set>
                                      <p:cBhvr>
                                        <p:cTn id="30" dur="1" fill="hold">
                                          <p:stCondLst>
                                            <p:cond delay="0"/>
                                          </p:stCondLst>
                                        </p:cTn>
                                        <p:tgtEl>
                                          <p:spTgt spid="680964">
                                            <p:txEl>
                                              <p:pRg st="5" end="5"/>
                                            </p:txEl>
                                          </p:spTgt>
                                        </p:tgtEl>
                                        <p:attrNameLst>
                                          <p:attrName>style.visibility</p:attrName>
                                        </p:attrNameLst>
                                      </p:cBhvr>
                                      <p:to>
                                        <p:strVal val="visible"/>
                                      </p:to>
                                    </p:set>
                                    <p:anim calcmode="lin" valueType="num">
                                      <p:cBhvr additive="base">
                                        <p:cTn id="31" dur="500" fill="hold"/>
                                        <p:tgtEl>
                                          <p:spTgt spid="680964">
                                            <p:txEl>
                                              <p:pRg st="5" end="5"/>
                                            </p:tx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680964">
                                            <p:txEl>
                                              <p:pRg st="5" end="5"/>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0964"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02" name="Rectangle 2"/>
          <p:cNvSpPr>
            <a:spLocks noGrp="1" noChangeArrowheads="1"/>
          </p:cNvSpPr>
          <p:nvPr>
            <p:ph type="title" idx="4294967295"/>
          </p:nvPr>
        </p:nvSpPr>
        <p:spPr bwMode="auto">
          <a:xfrm>
            <a:off x="7016750" y="609600"/>
            <a:ext cx="5175250"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200" b="1">
                <a:solidFill>
                  <a:schemeClr val="folHlink"/>
                </a:solidFill>
                <a:latin typeface="新宋体" panose="02010609030101010101" pitchFamily="49" charset="-122"/>
                <a:ea typeface="新宋体" panose="02010609030101010101" pitchFamily="49" charset="-122"/>
              </a:rPr>
              <a:t> </a:t>
            </a:r>
            <a:endParaRPr lang="en-US" altLang="zh-CN" smtClean="0">
              <a:solidFill>
                <a:schemeClr val="folHlink"/>
              </a:solidFill>
            </a:endParaRPr>
          </a:p>
        </p:txBody>
      </p:sp>
      <p:sp>
        <p:nvSpPr>
          <p:cNvPr id="51203" name="Rectangle 3"/>
          <p:cNvSpPr>
            <a:spLocks noChangeArrowheads="1"/>
          </p:cNvSpPr>
          <p:nvPr/>
        </p:nvSpPr>
        <p:spPr bwMode="auto">
          <a:xfrm>
            <a:off x="4557713" y="685800"/>
            <a:ext cx="9144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1204" name="Text Box 4"/>
          <p:cNvSpPr txBox="1">
            <a:spLocks noChangeArrowheads="1"/>
          </p:cNvSpPr>
          <p:nvPr/>
        </p:nvSpPr>
        <p:spPr bwMode="auto">
          <a:xfrm>
            <a:off x="2432448" y="1981201"/>
            <a:ext cx="615553" cy="3787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eaVert">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 CSMA/CD </a:t>
            </a:r>
            <a:r>
              <a:rPr lang="zh-CN" altLang="en-US"/>
              <a:t>工作方式</a:t>
            </a:r>
          </a:p>
        </p:txBody>
      </p:sp>
      <p:pic>
        <p:nvPicPr>
          <p:cNvPr id="5120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68664" y="0"/>
            <a:ext cx="6645275"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idx="4294967295"/>
          </p:nvPr>
        </p:nvSpPr>
        <p:spPr bwMode="auto">
          <a:xfrm>
            <a:off x="0" y="400050"/>
            <a:ext cx="7772400"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5.3 CSMA/CD</a:t>
            </a:r>
            <a:r>
              <a:rPr lang="zh-CN" altLang="en-US" sz="3600" b="1">
                <a:solidFill>
                  <a:srgbClr val="CC3300"/>
                </a:solidFill>
                <a:latin typeface="新宋体" panose="02010609030101010101" pitchFamily="49" charset="-122"/>
                <a:ea typeface="新宋体" panose="02010609030101010101" pitchFamily="49" charset="-122"/>
              </a:rPr>
              <a:t>冲突检测方法</a:t>
            </a:r>
          </a:p>
        </p:txBody>
      </p:sp>
      <p:sp>
        <p:nvSpPr>
          <p:cNvPr id="55299" name="Text Box 3"/>
          <p:cNvSpPr txBox="1">
            <a:spLocks noChangeArrowheads="1"/>
          </p:cNvSpPr>
          <p:nvPr/>
        </p:nvSpPr>
        <p:spPr bwMode="auto">
          <a:xfrm>
            <a:off x="1608138" y="1400175"/>
            <a:ext cx="987901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60000"/>
              </a:lnSpc>
            </a:pPr>
            <a:r>
              <a:rPr lang="en-US" altLang="zh-CN" b="1" smtClean="0">
                <a:ea typeface="楷体" panose="02010609060101010101" pitchFamily="49" charset="-122"/>
              </a:rPr>
              <a:t>(1)</a:t>
            </a:r>
            <a:r>
              <a:rPr lang="zh-CN" altLang="en-US" b="1" smtClean="0">
                <a:ea typeface="楷体" panose="02010609060101010101" pitchFamily="49" charset="-122"/>
              </a:rPr>
              <a:t>　</a:t>
            </a:r>
            <a:r>
              <a:rPr lang="zh-CN" altLang="en-US" b="1" smtClean="0">
                <a:solidFill>
                  <a:schemeClr val="hlink"/>
                </a:solidFill>
                <a:ea typeface="楷体" panose="02010609060101010101" pitchFamily="49" charset="-122"/>
              </a:rPr>
              <a:t>信号电平</a:t>
            </a:r>
            <a:r>
              <a:rPr lang="zh-CN" altLang="en-US" b="1">
                <a:solidFill>
                  <a:schemeClr val="hlink"/>
                </a:solidFill>
                <a:ea typeface="楷体" panose="02010609060101010101" pitchFamily="49" charset="-122"/>
              </a:rPr>
              <a:t>法</a:t>
            </a:r>
            <a:r>
              <a:rPr lang="zh-CN" altLang="en-US" b="1">
                <a:ea typeface="楷体" panose="02010609060101010101" pitchFamily="49" charset="-122"/>
              </a:rPr>
              <a:t>：这是一种基于模拟技术的监测方法，它比较接收到的信号的电压大小</a:t>
            </a:r>
            <a:r>
              <a:rPr lang="zh-CN" altLang="en-US" b="1" smtClean="0">
                <a:ea typeface="楷体" panose="02010609060101010101" pitchFamily="49" charset="-122"/>
              </a:rPr>
              <a:t>。</a:t>
            </a:r>
            <a:endParaRPr lang="en-US" altLang="zh-CN" b="1" smtClean="0">
              <a:ea typeface="楷体" panose="02010609060101010101" pitchFamily="49" charset="-122"/>
            </a:endParaRPr>
          </a:p>
          <a:p>
            <a:pPr algn="just" eaLnBrk="1" hangingPunct="1">
              <a:lnSpc>
                <a:spcPct val="160000"/>
              </a:lnSpc>
            </a:pPr>
            <a:r>
              <a:rPr lang="zh-CN" altLang="en-US" b="1" smtClean="0">
                <a:ea typeface="楷体" panose="02010609060101010101" pitchFamily="49" charset="-122"/>
              </a:rPr>
              <a:t>在</a:t>
            </a:r>
            <a:r>
              <a:rPr lang="zh-CN" altLang="en-US" b="1">
                <a:ea typeface="楷体" panose="02010609060101010101" pitchFamily="49" charset="-122"/>
              </a:rPr>
              <a:t>基带传输系统中，当两个帧的信号叠加在信道上时，电压的摆动值要比正常值大一倍。因此，只要接收到的信号电压摆动值超过某一门限值，就可认为是发生了冲突。</a:t>
            </a:r>
          </a:p>
        </p:txBody>
      </p:sp>
    </p:spTree>
  </p:cSld>
  <p:clrMapOvr>
    <a:masterClrMapping/>
  </p:clrMapOvr>
  <p:transition>
    <p:random/>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6146"/>
          <p:cNvSpPr>
            <a:spLocks noGrp="1" noChangeArrowheads="1"/>
          </p:cNvSpPr>
          <p:nvPr>
            <p:ph type="title" idx="4294967295"/>
          </p:nvPr>
        </p:nvSpPr>
        <p:spPr bwMode="auto">
          <a:xfrm>
            <a:off x="1503363" y="285750"/>
            <a:ext cx="7772400"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5.3 CSMA/CD</a:t>
            </a:r>
            <a:r>
              <a:rPr lang="zh-CN" altLang="en-US" sz="3600" b="1">
                <a:solidFill>
                  <a:srgbClr val="CC3300"/>
                </a:solidFill>
                <a:latin typeface="新宋体" panose="02010609030101010101" pitchFamily="49" charset="-122"/>
                <a:ea typeface="新宋体" panose="02010609030101010101" pitchFamily="49" charset="-122"/>
              </a:rPr>
              <a:t>冲突检测方法</a:t>
            </a:r>
          </a:p>
        </p:txBody>
      </p:sp>
      <p:sp>
        <p:nvSpPr>
          <p:cNvPr id="56323" name="Text Box 6147"/>
          <p:cNvSpPr txBox="1">
            <a:spLocks noChangeArrowheads="1"/>
          </p:cNvSpPr>
          <p:nvPr/>
        </p:nvSpPr>
        <p:spPr bwMode="auto">
          <a:xfrm>
            <a:off x="1503363" y="1598614"/>
            <a:ext cx="10031412" cy="2822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60000"/>
              </a:lnSpc>
            </a:pPr>
            <a:r>
              <a:rPr lang="en-US" altLang="zh-CN" b="1">
                <a:ea typeface="楷体" panose="02010609060101010101" pitchFamily="49" charset="-122"/>
              </a:rPr>
              <a:t>(2)</a:t>
            </a:r>
            <a:r>
              <a:rPr lang="zh-CN" altLang="en-US" b="1">
                <a:ea typeface="楷体" panose="02010609060101010101" pitchFamily="49" charset="-122"/>
              </a:rPr>
              <a:t>　</a:t>
            </a:r>
            <a:r>
              <a:rPr lang="zh-CN" altLang="en-US" b="1">
                <a:solidFill>
                  <a:schemeClr val="hlink"/>
                </a:solidFill>
                <a:ea typeface="楷体" panose="02010609060101010101" pitchFamily="49" charset="-122"/>
              </a:rPr>
              <a:t>过零点检测法</a:t>
            </a:r>
            <a:r>
              <a:rPr lang="zh-CN" altLang="en-US" b="1">
                <a:ea typeface="楷体" panose="02010609060101010101" pitchFamily="49" charset="-122"/>
              </a:rPr>
              <a:t>：当采用曼彻斯特编码时，电压的过零点是在每一比特的正中央</a:t>
            </a:r>
            <a:r>
              <a:rPr lang="zh-CN" altLang="en-US" b="1" smtClean="0">
                <a:ea typeface="楷体" panose="02010609060101010101" pitchFamily="49" charset="-122"/>
              </a:rPr>
              <a:t>。</a:t>
            </a:r>
            <a:endParaRPr lang="en-US" altLang="zh-CN" b="1" smtClean="0">
              <a:ea typeface="楷体" panose="02010609060101010101" pitchFamily="49" charset="-122"/>
            </a:endParaRPr>
          </a:p>
          <a:p>
            <a:pPr algn="just" eaLnBrk="1" hangingPunct="1">
              <a:lnSpc>
                <a:spcPct val="160000"/>
              </a:lnSpc>
            </a:pPr>
            <a:r>
              <a:rPr lang="zh-CN" altLang="en-US" b="1" smtClean="0">
                <a:ea typeface="楷体" panose="02010609060101010101" pitchFamily="49" charset="-122"/>
              </a:rPr>
              <a:t>当</a:t>
            </a:r>
            <a:r>
              <a:rPr lang="zh-CN" altLang="en-US" b="1">
                <a:ea typeface="楷体" panose="02010609060101010101" pitchFamily="49" charset="-122"/>
              </a:rPr>
              <a:t>发生冲突时，叠加信号的过零点将在其他地方出现。根据过零点位置的变化，就可以判断是否发生了冲突。</a:t>
            </a:r>
          </a:p>
        </p:txBody>
      </p:sp>
    </p:spTree>
  </p:cSld>
  <p:clrMapOvr>
    <a:masterClrMapping/>
  </p:clrMapOvr>
  <p:transition>
    <p:random/>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idx="4294967295"/>
          </p:nvPr>
        </p:nvSpPr>
        <p:spPr bwMode="auto">
          <a:xfrm>
            <a:off x="1657350" y="304800"/>
            <a:ext cx="7772400"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5.3 CSMA/CD</a:t>
            </a:r>
            <a:r>
              <a:rPr lang="zh-CN" altLang="en-US" sz="3600" b="1">
                <a:solidFill>
                  <a:srgbClr val="CC3300"/>
                </a:solidFill>
                <a:latin typeface="新宋体" panose="02010609030101010101" pitchFamily="49" charset="-122"/>
                <a:ea typeface="新宋体" panose="02010609030101010101" pitchFamily="49" charset="-122"/>
              </a:rPr>
              <a:t>冲突检测方法</a:t>
            </a:r>
          </a:p>
        </p:txBody>
      </p:sp>
      <p:sp>
        <p:nvSpPr>
          <p:cNvPr id="57347" name="Text Box 3"/>
          <p:cNvSpPr txBox="1">
            <a:spLocks noChangeArrowheads="1"/>
          </p:cNvSpPr>
          <p:nvPr/>
        </p:nvSpPr>
        <p:spPr bwMode="auto">
          <a:xfrm>
            <a:off x="1657350" y="1497014"/>
            <a:ext cx="9658350" cy="21605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60000"/>
              </a:lnSpc>
            </a:pPr>
            <a:r>
              <a:rPr lang="en-US" altLang="zh-CN" b="1">
                <a:ea typeface="楷体" panose="02010609060101010101" pitchFamily="49" charset="-122"/>
              </a:rPr>
              <a:t>(3)</a:t>
            </a:r>
            <a:r>
              <a:rPr lang="zh-CN" altLang="en-US" b="1">
                <a:ea typeface="楷体" panose="02010609060101010101" pitchFamily="49" charset="-122"/>
              </a:rPr>
              <a:t>　</a:t>
            </a:r>
            <a:r>
              <a:rPr lang="zh-CN" altLang="en-US" b="1">
                <a:solidFill>
                  <a:schemeClr val="hlink"/>
                </a:solidFill>
                <a:ea typeface="楷体" panose="02010609060101010101" pitchFamily="49" charset="-122"/>
              </a:rPr>
              <a:t>自发自收比较法</a:t>
            </a:r>
            <a:r>
              <a:rPr lang="zh-CN" altLang="en-US" b="1">
                <a:ea typeface="楷体" panose="02010609060101010101" pitchFamily="49" charset="-122"/>
              </a:rPr>
              <a:t>：这种方法是在发送帧的同时，也接收该数据帧，然后将收到的信号逐比特地与发送的比特相比较。若有不符的，就说明有冲突存在。</a:t>
            </a:r>
          </a:p>
        </p:txBody>
      </p:sp>
    </p:spTree>
  </p:cSld>
  <p:clrMapOvr>
    <a:masterClrMapping/>
  </p:clrMapOvr>
  <p:transition>
    <p:random/>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1053"/>
          <p:cNvSpPr txBox="1">
            <a:spLocks noChangeArrowheads="1"/>
          </p:cNvSpPr>
          <p:nvPr/>
        </p:nvSpPr>
        <p:spPr bwMode="auto">
          <a:xfrm>
            <a:off x="1722439" y="346076"/>
            <a:ext cx="865822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08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spcBef>
                <a:spcPct val="50000"/>
              </a:spcBef>
            </a:pPr>
            <a:r>
              <a:rPr lang="en-US" altLang="zh-CN" sz="3600" b="1">
                <a:solidFill>
                  <a:srgbClr val="CC3300"/>
                </a:solidFill>
                <a:latin typeface="新宋体" panose="02010609030101010101" pitchFamily="49" charset="-122"/>
                <a:ea typeface="新宋体" panose="02010609030101010101" pitchFamily="49" charset="-122"/>
              </a:rPr>
              <a:t>5.3 CSMA/CD</a:t>
            </a:r>
            <a:r>
              <a:rPr lang="zh-CN" altLang="en-US" sz="3600" b="1">
                <a:solidFill>
                  <a:srgbClr val="CC3300"/>
                </a:solidFill>
                <a:latin typeface="新宋体" panose="02010609030101010101" pitchFamily="49" charset="-122"/>
                <a:ea typeface="新宋体" panose="02010609030101010101" pitchFamily="49" charset="-122"/>
              </a:rPr>
              <a:t>的碰撞窗口大小</a:t>
            </a:r>
          </a:p>
        </p:txBody>
      </p:sp>
      <p:sp>
        <p:nvSpPr>
          <p:cNvPr id="58371" name="Line 1094"/>
          <p:cNvSpPr>
            <a:spLocks noChangeShapeType="1"/>
          </p:cNvSpPr>
          <p:nvPr/>
        </p:nvSpPr>
        <p:spPr bwMode="auto">
          <a:xfrm>
            <a:off x="3043238" y="3041650"/>
            <a:ext cx="6248400" cy="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2" name="Line 1095"/>
          <p:cNvSpPr>
            <a:spLocks noChangeShapeType="1"/>
          </p:cNvSpPr>
          <p:nvPr/>
        </p:nvSpPr>
        <p:spPr bwMode="auto">
          <a:xfrm>
            <a:off x="3119438" y="3194050"/>
            <a:ext cx="0" cy="16764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3" name="Line 1096"/>
          <p:cNvSpPr>
            <a:spLocks noChangeShapeType="1"/>
          </p:cNvSpPr>
          <p:nvPr/>
        </p:nvSpPr>
        <p:spPr bwMode="auto">
          <a:xfrm>
            <a:off x="9139238" y="3194050"/>
            <a:ext cx="0" cy="1600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4" name="Text Box 1097"/>
          <p:cNvSpPr txBox="1">
            <a:spLocks noChangeArrowheads="1"/>
          </p:cNvSpPr>
          <p:nvPr/>
        </p:nvSpPr>
        <p:spPr bwMode="auto">
          <a:xfrm>
            <a:off x="1619250" y="1382714"/>
            <a:ext cx="9582150"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a:r>
              <a:rPr kumimoji="0" lang="zh-CN" altLang="en-US" sz="2000">
                <a:latin typeface="Comic Sans MS" panose="030F0702030302020204" pitchFamily="66" charset="0"/>
              </a:rPr>
              <a:t>为了保证报文发送不冲突，主机必须在发送期间进行冲突检测</a:t>
            </a:r>
            <a:r>
              <a:rPr kumimoji="0" lang="zh-CN" altLang="en-US" sz="2000" smtClean="0">
                <a:latin typeface="Comic Sans MS" panose="030F0702030302020204" pitchFamily="66" charset="0"/>
              </a:rPr>
              <a:t>。</a:t>
            </a:r>
            <a:endParaRPr kumimoji="0" lang="en-US" altLang="zh-CN" sz="2400">
              <a:latin typeface="Comic Sans MS" panose="030F0702030302020204" pitchFamily="66" charset="0"/>
            </a:endParaRPr>
          </a:p>
        </p:txBody>
      </p:sp>
      <p:sp>
        <p:nvSpPr>
          <p:cNvPr id="58375" name="Rectangle 1098"/>
          <p:cNvSpPr>
            <a:spLocks noChangeArrowheads="1"/>
          </p:cNvSpPr>
          <p:nvPr/>
        </p:nvSpPr>
        <p:spPr bwMode="auto">
          <a:xfrm>
            <a:off x="5746750" y="2965451"/>
            <a:ext cx="268288" cy="200025"/>
          </a:xfrm>
          <a:prstGeom prst="rect">
            <a:avLst/>
          </a:prstGeom>
          <a:solidFill>
            <a:schemeClr val="tx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76" name="Line 1099"/>
          <p:cNvSpPr>
            <a:spLocks noChangeShapeType="1"/>
          </p:cNvSpPr>
          <p:nvPr/>
        </p:nvSpPr>
        <p:spPr bwMode="auto">
          <a:xfrm flipH="1" flipV="1">
            <a:off x="5862638" y="2736850"/>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8377" name="Text Box 1102"/>
          <p:cNvSpPr txBox="1">
            <a:spLocks noChangeArrowheads="1"/>
          </p:cNvSpPr>
          <p:nvPr/>
        </p:nvSpPr>
        <p:spPr bwMode="auto">
          <a:xfrm>
            <a:off x="5481638" y="4181476"/>
            <a:ext cx="7683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800" i="1"/>
              <a:t>PROP</a:t>
            </a:r>
          </a:p>
        </p:txBody>
      </p:sp>
      <p:sp>
        <p:nvSpPr>
          <p:cNvPr id="58378" name="Line 1103"/>
          <p:cNvSpPr>
            <a:spLocks noChangeShapeType="1"/>
          </p:cNvSpPr>
          <p:nvPr/>
        </p:nvSpPr>
        <p:spPr bwMode="auto">
          <a:xfrm>
            <a:off x="3119438" y="4489450"/>
            <a:ext cx="60198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379" name="Text Box 1104"/>
          <p:cNvSpPr txBox="1">
            <a:spLocks noChangeArrowheads="1"/>
          </p:cNvSpPr>
          <p:nvPr/>
        </p:nvSpPr>
        <p:spPr bwMode="auto">
          <a:xfrm>
            <a:off x="5481638" y="4500563"/>
            <a:ext cx="76835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800" i="1"/>
              <a:t>PROP</a:t>
            </a:r>
          </a:p>
        </p:txBody>
      </p:sp>
      <p:sp>
        <p:nvSpPr>
          <p:cNvPr id="58380" name="Line 1105"/>
          <p:cNvSpPr>
            <a:spLocks noChangeShapeType="1"/>
          </p:cNvSpPr>
          <p:nvPr/>
        </p:nvSpPr>
        <p:spPr bwMode="auto">
          <a:xfrm>
            <a:off x="3119438" y="4794250"/>
            <a:ext cx="6019800" cy="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717906" name="Rectangle 1106" descr="Light upward diagonal"/>
          <p:cNvSpPr>
            <a:spLocks noChangeArrowheads="1"/>
          </p:cNvSpPr>
          <p:nvPr/>
        </p:nvSpPr>
        <p:spPr bwMode="auto">
          <a:xfrm>
            <a:off x="3119438" y="3879850"/>
            <a:ext cx="5715000" cy="228600"/>
          </a:xfrm>
          <a:prstGeom prst="rect">
            <a:avLst/>
          </a:prstGeom>
          <a:blipFill dpi="0" rotWithShape="0">
            <a:blip r:embed="rId3"/>
            <a:srcRect/>
            <a:tile tx="0" ty="0" sx="100000" sy="100000" flip="none" algn="tl"/>
          </a:blip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82" name="Text Box 1107"/>
          <p:cNvSpPr txBox="1">
            <a:spLocks noChangeArrowheads="1"/>
          </p:cNvSpPr>
          <p:nvPr/>
        </p:nvSpPr>
        <p:spPr bwMode="auto">
          <a:xfrm>
            <a:off x="2773364" y="3357563"/>
            <a:ext cx="42227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t=0</a:t>
            </a:r>
          </a:p>
        </p:txBody>
      </p:sp>
      <p:grpSp>
        <p:nvGrpSpPr>
          <p:cNvPr id="717921" name="Group 1121"/>
          <p:cNvGrpSpPr>
            <a:grpSpLocks/>
          </p:cNvGrpSpPr>
          <p:nvPr/>
        </p:nvGrpSpPr>
        <p:grpSpPr bwMode="auto">
          <a:xfrm>
            <a:off x="8834438" y="3270250"/>
            <a:ext cx="1319212" cy="609600"/>
            <a:chOff x="4560" y="1920"/>
            <a:chExt cx="831" cy="384"/>
          </a:xfrm>
        </p:grpSpPr>
        <p:sp>
          <p:nvSpPr>
            <p:cNvPr id="58423" name="Text Box 1122"/>
            <p:cNvSpPr txBox="1">
              <a:spLocks noChangeArrowheads="1"/>
            </p:cNvSpPr>
            <p:nvPr/>
          </p:nvSpPr>
          <p:spPr bwMode="auto">
            <a:xfrm>
              <a:off x="4896" y="1920"/>
              <a:ext cx="495"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a:t>
              </a:r>
              <a:r>
                <a:rPr kumimoji="0" lang="en-US" altLang="zh-CN" sz="1400" i="1"/>
                <a:t>PROP</a:t>
              </a:r>
            </a:p>
          </p:txBody>
        </p:sp>
        <p:sp>
          <p:nvSpPr>
            <p:cNvPr id="58424" name="Line 1123"/>
            <p:cNvSpPr>
              <a:spLocks noChangeShapeType="1"/>
            </p:cNvSpPr>
            <p:nvPr/>
          </p:nvSpPr>
          <p:spPr bwMode="auto">
            <a:xfrm flipH="1">
              <a:off x="4752" y="2064"/>
              <a:ext cx="19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58425" name="Line 1124"/>
            <p:cNvSpPr>
              <a:spLocks noChangeShapeType="1"/>
            </p:cNvSpPr>
            <p:nvPr/>
          </p:nvSpPr>
          <p:spPr bwMode="auto">
            <a:xfrm flipH="1">
              <a:off x="4560" y="2064"/>
              <a:ext cx="384" cy="24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pic>
        <p:nvPicPr>
          <p:cNvPr id="58384" name="Picture 1128" descr="D:\PFiles\MSOffice\Clipart\standard\stddir1\bd06908_.wm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46738" y="2155826"/>
            <a:ext cx="5207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Lst>
        </p:spPr>
      </p:pic>
      <p:sp>
        <p:nvSpPr>
          <p:cNvPr id="58385" name="Rectangle 1129"/>
          <p:cNvSpPr>
            <a:spLocks noChangeArrowheads="1"/>
          </p:cNvSpPr>
          <p:nvPr/>
        </p:nvSpPr>
        <p:spPr bwMode="auto">
          <a:xfrm>
            <a:off x="2990850" y="2936876"/>
            <a:ext cx="268288" cy="200025"/>
          </a:xfrm>
          <a:prstGeom prst="rect">
            <a:avLst/>
          </a:prstGeom>
          <a:solidFill>
            <a:schemeClr val="tx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86" name="Line 1130"/>
          <p:cNvSpPr>
            <a:spLocks noChangeShapeType="1"/>
          </p:cNvSpPr>
          <p:nvPr/>
        </p:nvSpPr>
        <p:spPr bwMode="auto">
          <a:xfrm flipH="1" flipV="1">
            <a:off x="3106738" y="2708275"/>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8387" name="Picture 1131" descr="D:\PFiles\MSOffice\Clipart\standard\stddir1\bd06908_.wm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0838" y="2127251"/>
            <a:ext cx="5207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Lst>
        </p:spPr>
      </p:pic>
      <p:sp>
        <p:nvSpPr>
          <p:cNvPr id="58388" name="Rectangle 1132"/>
          <p:cNvSpPr>
            <a:spLocks noChangeArrowheads="1"/>
          </p:cNvSpPr>
          <p:nvPr/>
        </p:nvSpPr>
        <p:spPr bwMode="auto">
          <a:xfrm>
            <a:off x="9010650" y="2936876"/>
            <a:ext cx="268288" cy="200025"/>
          </a:xfrm>
          <a:prstGeom prst="rect">
            <a:avLst/>
          </a:prstGeom>
          <a:solidFill>
            <a:schemeClr val="tx1"/>
          </a:solidFill>
          <a:ln w="381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389" name="Line 1133"/>
          <p:cNvSpPr>
            <a:spLocks noChangeShapeType="1"/>
          </p:cNvSpPr>
          <p:nvPr/>
        </p:nvSpPr>
        <p:spPr bwMode="auto">
          <a:xfrm flipH="1" flipV="1">
            <a:off x="9126538" y="2708275"/>
            <a:ext cx="0" cy="22860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58390" name="Picture 1134" descr="D:\PFiles\MSOffice\Clipart\standard\stddir1\bd06908_.wmf"/>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10638" y="2127251"/>
            <a:ext cx="520700"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99"/>
                </a:solidFill>
                <a:miter lim="800000"/>
                <a:headEnd/>
                <a:tailEnd/>
              </a14:hiddenLine>
            </a:ext>
          </a:extLst>
        </p:spPr>
      </p:pic>
      <p:sp>
        <p:nvSpPr>
          <p:cNvPr id="58391" name="Text Box 1135"/>
          <p:cNvSpPr txBox="1">
            <a:spLocks noChangeArrowheads="1"/>
          </p:cNvSpPr>
          <p:nvPr/>
        </p:nvSpPr>
        <p:spPr bwMode="auto">
          <a:xfrm>
            <a:off x="2967038" y="2124076"/>
            <a:ext cx="349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800"/>
              <a:t>A</a:t>
            </a:r>
          </a:p>
        </p:txBody>
      </p:sp>
      <p:sp>
        <p:nvSpPr>
          <p:cNvPr id="58392" name="Text Box 1136"/>
          <p:cNvSpPr txBox="1">
            <a:spLocks noChangeArrowheads="1"/>
          </p:cNvSpPr>
          <p:nvPr/>
        </p:nvSpPr>
        <p:spPr bwMode="auto">
          <a:xfrm>
            <a:off x="8986838" y="2127251"/>
            <a:ext cx="3365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800"/>
              <a:t>B</a:t>
            </a:r>
          </a:p>
        </p:txBody>
      </p:sp>
      <p:sp>
        <p:nvSpPr>
          <p:cNvPr id="58393" name="Text Box 1137"/>
          <p:cNvSpPr txBox="1">
            <a:spLocks noChangeArrowheads="1"/>
          </p:cNvSpPr>
          <p:nvPr/>
        </p:nvSpPr>
        <p:spPr bwMode="auto">
          <a:xfrm>
            <a:off x="2255838" y="4887913"/>
            <a:ext cx="7493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zh-CN" altLang="en-US" sz="1800" u="sng"/>
              <a:t>事件</a:t>
            </a:r>
            <a:r>
              <a:rPr kumimoji="0" lang="en-US" altLang="zh-CN" sz="1800" u="sng"/>
              <a:t>:</a:t>
            </a:r>
            <a:r>
              <a:rPr kumimoji="0" lang="en-US" altLang="zh-CN" sz="1400"/>
              <a:t>.</a:t>
            </a:r>
          </a:p>
        </p:txBody>
      </p:sp>
      <p:grpSp>
        <p:nvGrpSpPr>
          <p:cNvPr id="717947" name="Group 1147"/>
          <p:cNvGrpSpPr>
            <a:grpSpLocks/>
          </p:cNvGrpSpPr>
          <p:nvPr/>
        </p:nvGrpSpPr>
        <p:grpSpPr bwMode="auto">
          <a:xfrm>
            <a:off x="6486526" y="3575050"/>
            <a:ext cx="3565526" cy="2120900"/>
            <a:chOff x="3126" y="2432"/>
            <a:chExt cx="2246" cy="1336"/>
          </a:xfrm>
        </p:grpSpPr>
        <p:grpSp>
          <p:nvGrpSpPr>
            <p:cNvPr id="58419" name="Group 1108"/>
            <p:cNvGrpSpPr>
              <a:grpSpLocks/>
            </p:cNvGrpSpPr>
            <p:nvPr/>
          </p:nvGrpSpPr>
          <p:grpSpPr bwMode="auto">
            <a:xfrm>
              <a:off x="4605" y="2432"/>
              <a:ext cx="192" cy="336"/>
              <a:chOff x="4560" y="2112"/>
              <a:chExt cx="192" cy="336"/>
            </a:xfrm>
          </p:grpSpPr>
          <p:sp>
            <p:nvSpPr>
              <p:cNvPr id="58421" name="Rectangle 1109" descr="Light downward diagonal"/>
              <p:cNvSpPr>
                <a:spLocks noChangeArrowheads="1"/>
              </p:cNvSpPr>
              <p:nvPr/>
            </p:nvSpPr>
            <p:spPr bwMode="auto">
              <a:xfrm>
                <a:off x="4656" y="2112"/>
                <a:ext cx="96" cy="144"/>
              </a:xfrm>
              <a:prstGeom prst="rect">
                <a:avLst/>
              </a:prstGeom>
              <a:blipFill dpi="0" rotWithShape="0">
                <a:blip r:embed="rId5"/>
                <a:srcRect/>
                <a:tile tx="0" ty="0" sx="100000" sy="100000" flip="none" algn="tl"/>
              </a:blip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422" name="Rectangle 1110" descr="Light upward diagonal"/>
              <p:cNvSpPr>
                <a:spLocks noChangeArrowheads="1"/>
              </p:cNvSpPr>
              <p:nvPr/>
            </p:nvSpPr>
            <p:spPr bwMode="auto">
              <a:xfrm>
                <a:off x="4560" y="2304"/>
                <a:ext cx="96" cy="144"/>
              </a:xfrm>
              <a:prstGeom prst="rect">
                <a:avLst/>
              </a:prstGeom>
              <a:blipFill dpi="0" rotWithShape="0">
                <a:blip r:embed="rId3"/>
                <a:srcRect/>
                <a:tile tx="0" ty="0" sx="100000" sy="100000" flip="none" algn="tl"/>
              </a:blip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sp>
          <p:nvSpPr>
            <p:cNvPr id="58420" name="Text Box 1138"/>
            <p:cNvSpPr txBox="1">
              <a:spLocks noChangeArrowheads="1"/>
            </p:cNvSpPr>
            <p:nvPr/>
          </p:nvSpPr>
          <p:spPr bwMode="auto">
            <a:xfrm>
              <a:off x="3126" y="3438"/>
              <a:ext cx="2246"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a:t>
              </a:r>
              <a:r>
                <a:rPr kumimoji="0" lang="en-US" altLang="zh-CN" sz="1400" i="1"/>
                <a:t>PROP</a:t>
              </a:r>
              <a:r>
                <a:rPr kumimoji="0" lang="en-US" altLang="zh-CN" sz="1400"/>
                <a:t>:    </a:t>
              </a:r>
              <a:r>
                <a:rPr kumimoji="0" lang="zh-CN" altLang="en-US" sz="1400"/>
                <a:t>主机</a:t>
              </a:r>
              <a:r>
                <a:rPr kumimoji="0" lang="en-US" altLang="zh-CN" sz="1400"/>
                <a:t>B</a:t>
              </a:r>
              <a:r>
                <a:rPr kumimoji="0" lang="zh-CN" altLang="en-US" sz="1400"/>
                <a:t>边发送边进行冲突检测，  </a:t>
              </a:r>
            </a:p>
            <a:p>
              <a:r>
                <a:rPr kumimoji="0" lang="zh-CN" altLang="en-US" sz="1400"/>
                <a:t>                    检测到冲突</a:t>
              </a:r>
              <a:r>
                <a:rPr kumimoji="0" lang="en-US" altLang="zh-CN" sz="1400"/>
                <a:t>.</a:t>
              </a:r>
            </a:p>
          </p:txBody>
        </p:sp>
      </p:grpSp>
      <p:sp>
        <p:nvSpPr>
          <p:cNvPr id="58395" name="Line 1139"/>
          <p:cNvSpPr>
            <a:spLocks noChangeShapeType="1"/>
          </p:cNvSpPr>
          <p:nvPr/>
        </p:nvSpPr>
        <p:spPr bwMode="auto">
          <a:xfrm>
            <a:off x="6248400" y="5153025"/>
            <a:ext cx="0" cy="10668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717944" name="Group 1144"/>
          <p:cNvGrpSpPr>
            <a:grpSpLocks/>
          </p:cNvGrpSpPr>
          <p:nvPr/>
        </p:nvGrpSpPr>
        <p:grpSpPr bwMode="auto">
          <a:xfrm>
            <a:off x="2093914" y="3575050"/>
            <a:ext cx="6892925" cy="1951038"/>
            <a:chOff x="359" y="2432"/>
            <a:chExt cx="4342" cy="1229"/>
          </a:xfrm>
        </p:grpSpPr>
        <p:sp>
          <p:nvSpPr>
            <p:cNvPr id="58417" name="Rectangle 1101" descr="Light downward diagonal"/>
            <p:cNvSpPr>
              <a:spLocks noChangeArrowheads="1"/>
            </p:cNvSpPr>
            <p:nvPr/>
          </p:nvSpPr>
          <p:spPr bwMode="auto">
            <a:xfrm>
              <a:off x="1005" y="2432"/>
              <a:ext cx="3696" cy="144"/>
            </a:xfrm>
            <a:prstGeom prst="rect">
              <a:avLst/>
            </a:prstGeom>
            <a:blipFill dpi="0" rotWithShape="0">
              <a:blip r:embed="rId6"/>
              <a:srcRect/>
              <a:tile tx="0" ty="0" sx="100000" sy="100000" flip="none" algn="tl"/>
            </a:blipFill>
            <a:ln w="9525">
              <a:solidFill>
                <a:schemeClr val="accent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418" name="Text Box 1140"/>
            <p:cNvSpPr txBox="1">
              <a:spLocks noChangeArrowheads="1"/>
            </p:cNvSpPr>
            <p:nvPr/>
          </p:nvSpPr>
          <p:spPr bwMode="auto">
            <a:xfrm>
              <a:off x="359" y="3469"/>
              <a:ext cx="2496"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t=0:            </a:t>
              </a:r>
              <a:r>
                <a:rPr kumimoji="0" lang="zh-CN" altLang="en-US" sz="1400"/>
                <a:t>主机</a:t>
              </a:r>
              <a:r>
                <a:rPr kumimoji="0" lang="en-US" altLang="zh-CN" sz="1400"/>
                <a:t>A </a:t>
              </a:r>
              <a:r>
                <a:rPr kumimoji="0" lang="zh-CN" altLang="en-US" sz="1400"/>
                <a:t>开始发送一个报文</a:t>
              </a:r>
              <a:r>
                <a:rPr kumimoji="0" lang="en-US" altLang="zh-CN" sz="1400"/>
                <a:t>.</a:t>
              </a:r>
              <a:endParaRPr lang="en-US" altLang="zh-CN"/>
            </a:p>
          </p:txBody>
        </p:sp>
      </p:grpSp>
      <p:grpSp>
        <p:nvGrpSpPr>
          <p:cNvPr id="717945" name="Group 1145"/>
          <p:cNvGrpSpPr>
            <a:grpSpLocks/>
          </p:cNvGrpSpPr>
          <p:nvPr/>
        </p:nvGrpSpPr>
        <p:grpSpPr bwMode="auto">
          <a:xfrm>
            <a:off x="2112964" y="3879851"/>
            <a:ext cx="7026275" cy="2149475"/>
            <a:chOff x="371" y="2624"/>
            <a:chExt cx="4426" cy="1354"/>
          </a:xfrm>
        </p:grpSpPr>
        <p:sp>
          <p:nvSpPr>
            <p:cNvPr id="58415" name="Rectangle 1100" descr="Light upward diagonal"/>
            <p:cNvSpPr>
              <a:spLocks noChangeArrowheads="1"/>
            </p:cNvSpPr>
            <p:nvPr/>
          </p:nvSpPr>
          <p:spPr bwMode="auto">
            <a:xfrm>
              <a:off x="4701" y="2624"/>
              <a:ext cx="96" cy="144"/>
            </a:xfrm>
            <a:prstGeom prst="rect">
              <a:avLst/>
            </a:prstGeom>
            <a:blipFill dpi="0" rotWithShape="0">
              <a:blip r:embed="rId3"/>
              <a:srcRect/>
              <a:tile tx="0" ty="0" sx="100000" sy="100000" flip="none" algn="tl"/>
            </a:blipFill>
            <a:ln w="9525">
              <a:solidFill>
                <a:srgbClr val="FF33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416" name="Text Box 1141"/>
            <p:cNvSpPr txBox="1">
              <a:spLocks noChangeArrowheads="1"/>
            </p:cNvSpPr>
            <p:nvPr/>
          </p:nvSpPr>
          <p:spPr bwMode="auto">
            <a:xfrm>
              <a:off x="371" y="3648"/>
              <a:ext cx="2752"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a:t>
              </a:r>
              <a:r>
                <a:rPr kumimoji="0" lang="en-US" altLang="zh-CN" sz="1400" i="1"/>
                <a:t>PROP</a:t>
              </a:r>
              <a:r>
                <a:rPr kumimoji="0" lang="en-US" altLang="zh-CN" sz="1400"/>
                <a:t>--: </a:t>
              </a:r>
              <a:r>
                <a:rPr kumimoji="0" lang="zh-CN" altLang="en-US" sz="1400"/>
                <a:t>就在第一个比特数据到达主机</a:t>
              </a:r>
              <a:r>
                <a:rPr kumimoji="0" lang="en-US" altLang="zh-CN" sz="1400"/>
                <a:t>B</a:t>
              </a:r>
              <a:r>
                <a:rPr kumimoji="0" lang="zh-CN" altLang="en-US" sz="1400"/>
                <a:t>前夕，</a:t>
              </a:r>
            </a:p>
            <a:p>
              <a:r>
                <a:rPr kumimoji="0" lang="zh-CN" altLang="en-US" sz="1400"/>
                <a:t>                   主机 </a:t>
              </a:r>
              <a:r>
                <a:rPr kumimoji="0" lang="en-US" altLang="zh-CN" sz="1400"/>
                <a:t>B </a:t>
              </a:r>
              <a:r>
                <a:rPr kumimoji="0" lang="zh-CN" altLang="en-US" sz="1400"/>
                <a:t>检测到信道空闲而发送</a:t>
              </a:r>
              <a:r>
                <a:rPr kumimoji="0" lang="en-US" altLang="zh-CN" sz="1400"/>
                <a:t>.</a:t>
              </a:r>
              <a:endParaRPr lang="en-US" altLang="zh-CN"/>
            </a:p>
          </p:txBody>
        </p:sp>
      </p:grpSp>
      <p:grpSp>
        <p:nvGrpSpPr>
          <p:cNvPr id="717946" name="Group 1146"/>
          <p:cNvGrpSpPr>
            <a:grpSpLocks/>
          </p:cNvGrpSpPr>
          <p:nvPr/>
        </p:nvGrpSpPr>
        <p:grpSpPr bwMode="auto">
          <a:xfrm>
            <a:off x="2174876" y="3117851"/>
            <a:ext cx="7192963" cy="3160713"/>
            <a:chOff x="410" y="2144"/>
            <a:chExt cx="4531" cy="1991"/>
          </a:xfrm>
        </p:grpSpPr>
        <p:grpSp>
          <p:nvGrpSpPr>
            <p:cNvPr id="58404" name="Group 1111"/>
            <p:cNvGrpSpPr>
              <a:grpSpLocks/>
            </p:cNvGrpSpPr>
            <p:nvPr/>
          </p:nvGrpSpPr>
          <p:grpSpPr bwMode="auto">
            <a:xfrm>
              <a:off x="4029" y="2144"/>
              <a:ext cx="912" cy="720"/>
              <a:chOff x="3984" y="1824"/>
              <a:chExt cx="912" cy="720"/>
            </a:xfrm>
          </p:grpSpPr>
          <p:sp>
            <p:nvSpPr>
              <p:cNvPr id="58406" name="Text Box 1112"/>
              <p:cNvSpPr txBox="1">
                <a:spLocks noChangeArrowheads="1"/>
              </p:cNvSpPr>
              <p:nvPr/>
            </p:nvSpPr>
            <p:spPr bwMode="auto">
              <a:xfrm>
                <a:off x="3984" y="1920"/>
                <a:ext cx="532"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a:t>
                </a:r>
                <a:r>
                  <a:rPr kumimoji="0" lang="en-US" altLang="zh-CN" sz="1400" i="1"/>
                  <a:t>PROP</a:t>
                </a:r>
                <a:r>
                  <a:rPr kumimoji="0" lang="en-US" altLang="zh-CN" sz="1400"/>
                  <a:t>-</a:t>
                </a:r>
              </a:p>
            </p:txBody>
          </p:sp>
          <p:grpSp>
            <p:nvGrpSpPr>
              <p:cNvPr id="58407" name="Group 1113"/>
              <p:cNvGrpSpPr>
                <a:grpSpLocks/>
              </p:cNvGrpSpPr>
              <p:nvPr/>
            </p:nvGrpSpPr>
            <p:grpSpPr bwMode="auto">
              <a:xfrm>
                <a:off x="4416" y="1824"/>
                <a:ext cx="480" cy="720"/>
                <a:chOff x="4416" y="1920"/>
                <a:chExt cx="480" cy="720"/>
              </a:xfrm>
            </p:grpSpPr>
            <p:grpSp>
              <p:nvGrpSpPr>
                <p:cNvPr id="58409" name="Group 1114"/>
                <p:cNvGrpSpPr>
                  <a:grpSpLocks/>
                </p:cNvGrpSpPr>
                <p:nvPr/>
              </p:nvGrpSpPr>
              <p:grpSpPr bwMode="auto">
                <a:xfrm>
                  <a:off x="4416" y="1920"/>
                  <a:ext cx="480" cy="288"/>
                  <a:chOff x="4368" y="1872"/>
                  <a:chExt cx="480" cy="288"/>
                </a:xfrm>
              </p:grpSpPr>
              <p:sp>
                <p:nvSpPr>
                  <p:cNvPr id="58413" name="AutoShape 1115"/>
                  <p:cNvSpPr>
                    <a:spLocks noChangeArrowheads="1"/>
                  </p:cNvSpPr>
                  <p:nvPr/>
                </p:nvSpPr>
                <p:spPr bwMode="auto">
                  <a:xfrm>
                    <a:off x="4368" y="1872"/>
                    <a:ext cx="240" cy="288"/>
                  </a:xfrm>
                  <a:prstGeom prst="lightningBolt">
                    <a:avLst/>
                  </a:prstGeom>
                  <a:solidFill>
                    <a:srgbClr val="FF330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414" name="AutoShape 1116"/>
                  <p:cNvSpPr>
                    <a:spLocks noChangeArrowheads="1"/>
                  </p:cNvSpPr>
                  <p:nvPr/>
                </p:nvSpPr>
                <p:spPr bwMode="auto">
                  <a:xfrm flipH="1">
                    <a:off x="4608" y="1872"/>
                    <a:ext cx="240" cy="288"/>
                  </a:xfrm>
                  <a:prstGeom prst="lightningBolt">
                    <a:avLst/>
                  </a:prstGeom>
                  <a:solidFill>
                    <a:srgbClr val="FF330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nvGrpSpPr>
                <p:cNvPr id="58410" name="Group 1117"/>
                <p:cNvGrpSpPr>
                  <a:grpSpLocks/>
                </p:cNvGrpSpPr>
                <p:nvPr/>
              </p:nvGrpSpPr>
              <p:grpSpPr bwMode="auto">
                <a:xfrm flipV="1">
                  <a:off x="4416" y="2352"/>
                  <a:ext cx="480" cy="288"/>
                  <a:chOff x="4368" y="1872"/>
                  <a:chExt cx="480" cy="288"/>
                </a:xfrm>
              </p:grpSpPr>
              <p:sp>
                <p:nvSpPr>
                  <p:cNvPr id="58411" name="AutoShape 1118"/>
                  <p:cNvSpPr>
                    <a:spLocks noChangeArrowheads="1"/>
                  </p:cNvSpPr>
                  <p:nvPr/>
                </p:nvSpPr>
                <p:spPr bwMode="auto">
                  <a:xfrm>
                    <a:off x="4368" y="1872"/>
                    <a:ext cx="240" cy="288"/>
                  </a:xfrm>
                  <a:prstGeom prst="lightningBolt">
                    <a:avLst/>
                  </a:prstGeom>
                  <a:solidFill>
                    <a:srgbClr val="FF330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58412" name="AutoShape 1119"/>
                  <p:cNvSpPr>
                    <a:spLocks noChangeArrowheads="1"/>
                  </p:cNvSpPr>
                  <p:nvPr/>
                </p:nvSpPr>
                <p:spPr bwMode="auto">
                  <a:xfrm flipH="1">
                    <a:off x="4608" y="1872"/>
                    <a:ext cx="240" cy="288"/>
                  </a:xfrm>
                  <a:prstGeom prst="lightningBolt">
                    <a:avLst/>
                  </a:prstGeom>
                  <a:solidFill>
                    <a:srgbClr val="FF3300"/>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grpSp>
          </p:grpSp>
          <p:sp>
            <p:nvSpPr>
              <p:cNvPr id="58408" name="Line 1120"/>
              <p:cNvSpPr>
                <a:spLocks noChangeShapeType="1"/>
              </p:cNvSpPr>
              <p:nvPr/>
            </p:nvSpPr>
            <p:spPr bwMode="auto">
              <a:xfrm>
                <a:off x="4464" y="2064"/>
                <a:ext cx="192"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405" name="Text Box 1142"/>
            <p:cNvSpPr txBox="1">
              <a:spLocks noChangeArrowheads="1"/>
            </p:cNvSpPr>
            <p:nvPr/>
          </p:nvSpPr>
          <p:spPr bwMode="auto">
            <a:xfrm>
              <a:off x="410" y="3943"/>
              <a:ext cx="2457"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kumimoji="0" lang="en-US" altLang="zh-CN" sz="1400"/>
                <a:t>t=</a:t>
              </a:r>
              <a:r>
                <a:rPr kumimoji="0" lang="en-US" altLang="zh-CN" sz="1400" i="1"/>
                <a:t>PROP</a:t>
              </a:r>
              <a:r>
                <a:rPr kumimoji="0" lang="en-US" altLang="zh-CN" sz="1400"/>
                <a:t>-:   </a:t>
              </a:r>
              <a:r>
                <a:rPr kumimoji="0" lang="zh-CN" altLang="en-US" sz="1400"/>
                <a:t>在主机 </a:t>
              </a:r>
              <a:r>
                <a:rPr kumimoji="0" lang="en-US" altLang="zh-CN" sz="1400"/>
                <a:t>B</a:t>
              </a:r>
              <a:r>
                <a:rPr kumimoji="0" lang="zh-CN" altLang="en-US" sz="1400"/>
                <a:t>附近发生冲突</a:t>
              </a:r>
            </a:p>
          </p:txBody>
        </p:sp>
      </p:grpSp>
      <p:grpSp>
        <p:nvGrpSpPr>
          <p:cNvPr id="717948" name="Group 1148"/>
          <p:cNvGrpSpPr>
            <a:grpSpLocks/>
          </p:cNvGrpSpPr>
          <p:nvPr/>
        </p:nvGrpSpPr>
        <p:grpSpPr bwMode="auto">
          <a:xfrm>
            <a:off x="2205038" y="3575050"/>
            <a:ext cx="8075612" cy="2698750"/>
            <a:chOff x="429" y="2432"/>
            <a:chExt cx="5087" cy="1700"/>
          </a:xfrm>
        </p:grpSpPr>
        <p:grpSp>
          <p:nvGrpSpPr>
            <p:cNvPr id="58400" name="Group 1125"/>
            <p:cNvGrpSpPr>
              <a:grpSpLocks/>
            </p:cNvGrpSpPr>
            <p:nvPr/>
          </p:nvGrpSpPr>
          <p:grpSpPr bwMode="auto">
            <a:xfrm>
              <a:off x="429" y="2432"/>
              <a:ext cx="588" cy="192"/>
              <a:chOff x="384" y="2112"/>
              <a:chExt cx="588" cy="192"/>
            </a:xfrm>
          </p:grpSpPr>
          <p:sp>
            <p:nvSpPr>
              <p:cNvPr id="58402" name="Text Box 1126"/>
              <p:cNvSpPr txBox="1">
                <a:spLocks noChangeArrowheads="1"/>
              </p:cNvSpPr>
              <p:nvPr/>
            </p:nvSpPr>
            <p:spPr bwMode="auto">
              <a:xfrm>
                <a:off x="384" y="2112"/>
                <a:ext cx="588"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t=2</a:t>
                </a:r>
                <a:r>
                  <a:rPr kumimoji="0" lang="en-US" altLang="zh-CN" sz="1400" i="1"/>
                  <a:t>PROP</a:t>
                </a:r>
                <a:r>
                  <a:rPr kumimoji="0" lang="en-US" altLang="zh-CN" sz="1400"/>
                  <a:t>-</a:t>
                </a:r>
              </a:p>
            </p:txBody>
          </p:sp>
          <p:sp>
            <p:nvSpPr>
              <p:cNvPr id="58403" name="Line 1127"/>
              <p:cNvSpPr>
                <a:spLocks noChangeShapeType="1"/>
              </p:cNvSpPr>
              <p:nvPr/>
            </p:nvSpPr>
            <p:spPr bwMode="auto">
              <a:xfrm>
                <a:off x="624" y="2256"/>
                <a:ext cx="336" cy="4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sp>
          <p:nvSpPr>
            <p:cNvPr id="58401" name="Text Box 1143"/>
            <p:cNvSpPr txBox="1">
              <a:spLocks noChangeArrowheads="1"/>
            </p:cNvSpPr>
            <p:nvPr/>
          </p:nvSpPr>
          <p:spPr bwMode="auto">
            <a:xfrm>
              <a:off x="3135" y="3802"/>
              <a:ext cx="2381"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r>
                <a:rPr kumimoji="0" lang="en-US" altLang="zh-CN" sz="1400"/>
                <a:t>t=2</a:t>
              </a:r>
              <a:r>
                <a:rPr kumimoji="0" lang="en-US" altLang="zh-CN" sz="1400" i="1"/>
                <a:t>PROP</a:t>
              </a:r>
              <a:r>
                <a:rPr kumimoji="0" lang="en-US" altLang="zh-CN" sz="1400"/>
                <a:t>-:</a:t>
              </a:r>
              <a:r>
                <a:rPr kumimoji="0" lang="zh-CN" altLang="en-US" sz="1400"/>
                <a:t>主机</a:t>
              </a:r>
              <a:r>
                <a:rPr kumimoji="0" lang="en-US" altLang="zh-CN" sz="1400"/>
                <a:t>A</a:t>
              </a:r>
              <a:r>
                <a:rPr kumimoji="0" lang="zh-CN" altLang="en-US" sz="1400"/>
                <a:t>边发送边进行冲突检测，  </a:t>
              </a:r>
            </a:p>
            <a:p>
              <a:r>
                <a:rPr kumimoji="0" lang="zh-CN" altLang="en-US" sz="1400"/>
                <a:t>                    检测到冲突</a:t>
              </a:r>
              <a:r>
                <a:rPr kumimoji="0" lang="en-US" altLang="zh-CN" sz="1400"/>
                <a:t>.</a:t>
              </a:r>
              <a:endParaRPr lang="en-US" altLang="zh-CN"/>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717944"/>
                                        </p:tgtEl>
                                        <p:attrNameLst>
                                          <p:attrName>style.visibility</p:attrName>
                                        </p:attrNameLst>
                                      </p:cBhvr>
                                      <p:to>
                                        <p:strVal val="visible"/>
                                      </p:to>
                                    </p:set>
                                    <p:anim calcmode="lin" valueType="num">
                                      <p:cBhvr additive="base">
                                        <p:cTn id="7" dur="500" fill="hold"/>
                                        <p:tgtEl>
                                          <p:spTgt spid="717944"/>
                                        </p:tgtEl>
                                        <p:attrNameLst>
                                          <p:attrName>ppt_x</p:attrName>
                                        </p:attrNameLst>
                                      </p:cBhvr>
                                      <p:tavLst>
                                        <p:tav tm="0">
                                          <p:val>
                                            <p:strVal val="1+#ppt_w/2"/>
                                          </p:val>
                                        </p:tav>
                                        <p:tav tm="100000">
                                          <p:val>
                                            <p:strVal val="#ppt_x"/>
                                          </p:val>
                                        </p:tav>
                                      </p:tavLst>
                                    </p:anim>
                                    <p:anim calcmode="lin" valueType="num">
                                      <p:cBhvr additive="base">
                                        <p:cTn id="8" dur="500" fill="hold"/>
                                        <p:tgtEl>
                                          <p:spTgt spid="717944"/>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p:cTn id="12" dur="1" fill="hold">
                                          <p:stCondLst>
                                            <p:cond delay="0"/>
                                          </p:stCondLst>
                                        </p:cTn>
                                        <p:tgtEl>
                                          <p:spTgt spid="717945"/>
                                        </p:tgtEl>
                                        <p:attrNameLst>
                                          <p:attrName>style.visibility</p:attrName>
                                        </p:attrNameLst>
                                      </p:cBhvr>
                                      <p:to>
                                        <p:strVal val="visible"/>
                                      </p:to>
                                    </p:set>
                                    <p:anim calcmode="lin" valueType="num">
                                      <p:cBhvr additive="base">
                                        <p:cTn id="13" dur="500" fill="hold"/>
                                        <p:tgtEl>
                                          <p:spTgt spid="717945"/>
                                        </p:tgtEl>
                                        <p:attrNameLst>
                                          <p:attrName>ppt_x</p:attrName>
                                        </p:attrNameLst>
                                      </p:cBhvr>
                                      <p:tavLst>
                                        <p:tav tm="0">
                                          <p:val>
                                            <p:strVal val="1+#ppt_w/2"/>
                                          </p:val>
                                        </p:tav>
                                        <p:tav tm="100000">
                                          <p:val>
                                            <p:strVal val="#ppt_x"/>
                                          </p:val>
                                        </p:tav>
                                      </p:tavLst>
                                    </p:anim>
                                    <p:anim calcmode="lin" valueType="num">
                                      <p:cBhvr additive="base">
                                        <p:cTn id="14" dur="500" fill="hold"/>
                                        <p:tgtEl>
                                          <p:spTgt spid="717945"/>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nodeType="clickEffect">
                                  <p:stCondLst>
                                    <p:cond delay="0"/>
                                  </p:stCondLst>
                                  <p:childTnLst>
                                    <p:set>
                                      <p:cBhvr>
                                        <p:cTn id="18" dur="1" fill="hold">
                                          <p:stCondLst>
                                            <p:cond delay="0"/>
                                          </p:stCondLst>
                                        </p:cTn>
                                        <p:tgtEl>
                                          <p:spTgt spid="717946"/>
                                        </p:tgtEl>
                                        <p:attrNameLst>
                                          <p:attrName>style.visibility</p:attrName>
                                        </p:attrNameLst>
                                      </p:cBhvr>
                                      <p:to>
                                        <p:strVal val="visible"/>
                                      </p:to>
                                    </p:set>
                                    <p:anim calcmode="lin" valueType="num">
                                      <p:cBhvr additive="base">
                                        <p:cTn id="19" dur="500" fill="hold"/>
                                        <p:tgtEl>
                                          <p:spTgt spid="717946"/>
                                        </p:tgtEl>
                                        <p:attrNameLst>
                                          <p:attrName>ppt_x</p:attrName>
                                        </p:attrNameLst>
                                      </p:cBhvr>
                                      <p:tavLst>
                                        <p:tav tm="0">
                                          <p:val>
                                            <p:strVal val="1+#ppt_w/2"/>
                                          </p:val>
                                        </p:tav>
                                        <p:tav tm="100000">
                                          <p:val>
                                            <p:strVal val="#ppt_x"/>
                                          </p:val>
                                        </p:tav>
                                      </p:tavLst>
                                    </p:anim>
                                    <p:anim calcmode="lin" valueType="num">
                                      <p:cBhvr additive="base">
                                        <p:cTn id="20" dur="500" fill="hold"/>
                                        <p:tgtEl>
                                          <p:spTgt spid="717946"/>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nodeType="clickEffect">
                                  <p:stCondLst>
                                    <p:cond delay="0"/>
                                  </p:stCondLst>
                                  <p:childTnLst>
                                    <p:set>
                                      <p:cBhvr>
                                        <p:cTn id="24" dur="1" fill="hold">
                                          <p:stCondLst>
                                            <p:cond delay="0"/>
                                          </p:stCondLst>
                                        </p:cTn>
                                        <p:tgtEl>
                                          <p:spTgt spid="717947"/>
                                        </p:tgtEl>
                                        <p:attrNameLst>
                                          <p:attrName>style.visibility</p:attrName>
                                        </p:attrNameLst>
                                      </p:cBhvr>
                                      <p:to>
                                        <p:strVal val="visible"/>
                                      </p:to>
                                    </p:set>
                                    <p:anim calcmode="lin" valueType="num">
                                      <p:cBhvr additive="base">
                                        <p:cTn id="25" dur="500" fill="hold"/>
                                        <p:tgtEl>
                                          <p:spTgt spid="717947"/>
                                        </p:tgtEl>
                                        <p:attrNameLst>
                                          <p:attrName>ppt_x</p:attrName>
                                        </p:attrNameLst>
                                      </p:cBhvr>
                                      <p:tavLst>
                                        <p:tav tm="0">
                                          <p:val>
                                            <p:strVal val="1+#ppt_w/2"/>
                                          </p:val>
                                        </p:tav>
                                        <p:tav tm="100000">
                                          <p:val>
                                            <p:strVal val="#ppt_x"/>
                                          </p:val>
                                        </p:tav>
                                      </p:tavLst>
                                    </p:anim>
                                    <p:anim calcmode="lin" valueType="num">
                                      <p:cBhvr additive="base">
                                        <p:cTn id="26" dur="500" fill="hold"/>
                                        <p:tgtEl>
                                          <p:spTgt spid="717947"/>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499"/>
                                          </p:stCondLst>
                                        </p:cTn>
                                        <p:tgtEl>
                                          <p:spTgt spid="71792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2" fill="hold" nodeType="clickEffect">
                                  <p:stCondLst>
                                    <p:cond delay="0"/>
                                  </p:stCondLst>
                                  <p:childTnLst>
                                    <p:set>
                                      <p:cBhvr>
                                        <p:cTn id="34" dur="1" fill="hold">
                                          <p:stCondLst>
                                            <p:cond delay="0"/>
                                          </p:stCondLst>
                                        </p:cTn>
                                        <p:tgtEl>
                                          <p:spTgt spid="717906"/>
                                        </p:tgtEl>
                                        <p:attrNameLst>
                                          <p:attrName>style.visibility</p:attrName>
                                        </p:attrNameLst>
                                      </p:cBhvr>
                                      <p:to>
                                        <p:strVal val="visible"/>
                                      </p:to>
                                    </p:set>
                                    <p:animEffect transition="in" filter="wipe(right)">
                                      <p:cBhvr>
                                        <p:cTn id="35" dur="500"/>
                                        <p:tgtEl>
                                          <p:spTgt spid="717906"/>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2" fill="hold" nodeType="clickEffect">
                                  <p:stCondLst>
                                    <p:cond delay="0"/>
                                  </p:stCondLst>
                                  <p:childTnLst>
                                    <p:set>
                                      <p:cBhvr>
                                        <p:cTn id="39" dur="1" fill="hold">
                                          <p:stCondLst>
                                            <p:cond delay="0"/>
                                          </p:stCondLst>
                                        </p:cTn>
                                        <p:tgtEl>
                                          <p:spTgt spid="717948"/>
                                        </p:tgtEl>
                                        <p:attrNameLst>
                                          <p:attrName>style.visibility</p:attrName>
                                        </p:attrNameLst>
                                      </p:cBhvr>
                                      <p:to>
                                        <p:strVal val="visible"/>
                                      </p:to>
                                    </p:set>
                                    <p:anim calcmode="lin" valueType="num">
                                      <p:cBhvr additive="base">
                                        <p:cTn id="40" dur="500" fill="hold"/>
                                        <p:tgtEl>
                                          <p:spTgt spid="717948"/>
                                        </p:tgtEl>
                                        <p:attrNameLst>
                                          <p:attrName>ppt_x</p:attrName>
                                        </p:attrNameLst>
                                      </p:cBhvr>
                                      <p:tavLst>
                                        <p:tav tm="0">
                                          <p:val>
                                            <p:strVal val="1+#ppt_w/2"/>
                                          </p:val>
                                        </p:tav>
                                        <p:tav tm="100000">
                                          <p:val>
                                            <p:strVal val="#ppt_x"/>
                                          </p:val>
                                        </p:tav>
                                      </p:tavLst>
                                    </p:anim>
                                    <p:anim calcmode="lin" valueType="num">
                                      <p:cBhvr additive="base">
                                        <p:cTn id="41" dur="500" fill="hold"/>
                                        <p:tgtEl>
                                          <p:spTgt spid="71794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bwMode="auto">
          <a:xfrm>
            <a:off x="0" y="468313"/>
            <a:ext cx="5876925" cy="674687"/>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ctr" eaLnBrk="1" hangingPunct="1"/>
            <a:r>
              <a:rPr lang="en-US" altLang="zh-CN" sz="3200" b="1">
                <a:solidFill>
                  <a:srgbClr val="CC3300"/>
                </a:solidFill>
                <a:latin typeface="新宋体" panose="02010609030101010101" pitchFamily="49" charset="-122"/>
                <a:ea typeface="新宋体" panose="02010609030101010101" pitchFamily="49" charset="-122"/>
              </a:rPr>
              <a:t>  5.3 CSMA/CD </a:t>
            </a:r>
            <a:r>
              <a:rPr lang="zh-CN" altLang="en-US" sz="3200" b="1">
                <a:solidFill>
                  <a:srgbClr val="CC3300"/>
                </a:solidFill>
                <a:latin typeface="新宋体" panose="02010609030101010101" pitchFamily="49" charset="-122"/>
                <a:ea typeface="新宋体" panose="02010609030101010101" pitchFamily="49" charset="-122"/>
              </a:rPr>
              <a:t>碰撞窗口</a:t>
            </a:r>
          </a:p>
        </p:txBody>
      </p:sp>
      <p:sp>
        <p:nvSpPr>
          <p:cNvPr id="519171" name="Text Box 3"/>
          <p:cNvSpPr txBox="1">
            <a:spLocks noChangeArrowheads="1"/>
          </p:cNvSpPr>
          <p:nvPr/>
        </p:nvSpPr>
        <p:spPr bwMode="auto">
          <a:xfrm>
            <a:off x="790575" y="1449389"/>
            <a:ext cx="10972800" cy="37117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20000"/>
              </a:spcBef>
            </a:pPr>
            <a:r>
              <a:rPr lang="zh-CN" altLang="en-US">
                <a:latin typeface="隶书" panose="02010509060101010101" pitchFamily="49" charset="-122"/>
                <a:ea typeface="隶书" panose="02010509060101010101" pitchFamily="49" charset="-122"/>
              </a:rPr>
              <a:t>结论</a:t>
            </a:r>
            <a:r>
              <a:rPr lang="zh-CN" altLang="en-US" smtClean="0">
                <a:latin typeface="隶书" panose="02010509060101010101" pitchFamily="49" charset="-122"/>
                <a:ea typeface="隶书" panose="02010509060101010101" pitchFamily="49" charset="-122"/>
              </a:rPr>
              <a:t>：</a:t>
            </a:r>
            <a:endParaRPr lang="en-US" altLang="zh-CN" smtClean="0">
              <a:latin typeface="隶书" panose="02010509060101010101" pitchFamily="49" charset="-122"/>
              <a:ea typeface="隶书" panose="02010509060101010101" pitchFamily="49" charset="-122"/>
            </a:endParaRPr>
          </a:p>
          <a:p>
            <a:pPr eaLnBrk="1" hangingPunct="1">
              <a:spcBef>
                <a:spcPct val="20000"/>
              </a:spcBef>
            </a:pPr>
            <a:r>
              <a:rPr lang="zh-CN" altLang="en-US" smtClean="0">
                <a:latin typeface="隶书" panose="02010509060101010101" pitchFamily="49" charset="-122"/>
                <a:ea typeface="隶书" panose="02010509060101010101" pitchFamily="49" charset="-122"/>
              </a:rPr>
              <a:t>（</a:t>
            </a:r>
            <a:r>
              <a:rPr lang="en-US" altLang="zh-CN">
                <a:latin typeface="隶书" panose="02010509060101010101" pitchFamily="49" charset="-122"/>
                <a:ea typeface="隶书" panose="02010509060101010101" pitchFamily="49" charset="-122"/>
              </a:rPr>
              <a:t>1</a:t>
            </a:r>
            <a:r>
              <a:rPr lang="zh-CN" altLang="en-US">
                <a:latin typeface="隶书" panose="02010509060101010101" pitchFamily="49" charset="-122"/>
                <a:ea typeface="隶书" panose="02010509060101010101" pitchFamily="49" charset="-122"/>
              </a:rPr>
              <a:t>）</a:t>
            </a:r>
            <a:r>
              <a:rPr lang="en-US" altLang="zh-CN">
                <a:solidFill>
                  <a:schemeClr val="hlink"/>
                </a:solidFill>
                <a:latin typeface="隶书" panose="02010509060101010101" pitchFamily="49" charset="-122"/>
                <a:ea typeface="隶书" panose="02010509060101010101" pitchFamily="49" charset="-122"/>
              </a:rPr>
              <a:t>CSMA/CD</a:t>
            </a:r>
            <a:r>
              <a:rPr lang="zh-CN" altLang="en-US">
                <a:solidFill>
                  <a:schemeClr val="hlink"/>
                </a:solidFill>
                <a:latin typeface="隶书" panose="02010509060101010101" pitchFamily="49" charset="-122"/>
                <a:ea typeface="隶书" panose="02010509060101010101" pitchFamily="49" charset="-122"/>
              </a:rPr>
              <a:t>协议的碰撞窗口大小</a:t>
            </a:r>
            <a:r>
              <a:rPr lang="en-US" altLang="zh-CN">
                <a:solidFill>
                  <a:schemeClr val="hlink"/>
                </a:solidFill>
                <a:latin typeface="隶书" panose="02010509060101010101" pitchFamily="49" charset="-122"/>
                <a:ea typeface="隶书" panose="02010509060101010101" pitchFamily="49" charset="-122"/>
              </a:rPr>
              <a:t>=2</a:t>
            </a:r>
            <a:r>
              <a:rPr lang="zh-CN" altLang="en-US">
                <a:solidFill>
                  <a:schemeClr val="hlink"/>
                </a:solidFill>
                <a:latin typeface="隶书" panose="02010509060101010101" pitchFamily="49" charset="-122"/>
                <a:ea typeface="隶书" panose="02010509060101010101" pitchFamily="49" charset="-122"/>
              </a:rPr>
              <a:t>倍报文传播时延</a:t>
            </a:r>
          </a:p>
          <a:p>
            <a:pPr eaLnBrk="1" hangingPunct="1">
              <a:spcBef>
                <a:spcPct val="20000"/>
              </a:spcBef>
            </a:pPr>
            <a:r>
              <a:rPr lang="zh-CN" altLang="en-US">
                <a:latin typeface="隶书" panose="02010509060101010101" pitchFamily="49" charset="-122"/>
                <a:ea typeface="隶书" panose="02010509060101010101" pitchFamily="49" charset="-122"/>
              </a:rPr>
              <a:t>（</a:t>
            </a:r>
            <a:r>
              <a:rPr lang="en-US" altLang="zh-CN">
                <a:latin typeface="隶书" panose="02010509060101010101" pitchFamily="49" charset="-122"/>
                <a:ea typeface="隶书" panose="02010509060101010101" pitchFamily="49" charset="-122"/>
              </a:rPr>
              <a:t>2</a:t>
            </a:r>
            <a:r>
              <a:rPr lang="zh-CN" altLang="en-US">
                <a:latin typeface="隶书" panose="02010509060101010101" pitchFamily="49" charset="-122"/>
                <a:ea typeface="隶书" panose="02010509060101010101" pitchFamily="49" charset="-122"/>
              </a:rPr>
              <a:t>）</a:t>
            </a:r>
            <a:r>
              <a:rPr lang="zh-CN" altLang="en-US">
                <a:solidFill>
                  <a:schemeClr val="hlink"/>
                </a:solidFill>
                <a:latin typeface="隶书" panose="02010509060101010101" pitchFamily="49" charset="-122"/>
                <a:ea typeface="隶书" panose="02010509060101010101" pitchFamily="49" charset="-122"/>
              </a:rPr>
              <a:t>报文发送时间＞＞碰撞窗口大小</a:t>
            </a:r>
            <a:r>
              <a:rPr lang="zh-CN" altLang="en-US">
                <a:latin typeface="隶书" panose="02010509060101010101" pitchFamily="49" charset="-122"/>
                <a:ea typeface="隶书" panose="02010509060101010101" pitchFamily="49" charset="-122"/>
              </a:rPr>
              <a:t>。该要求包括两个方面，一方面要限制报文的最小长度，达不到最小长度时要进行填充（</a:t>
            </a:r>
            <a:r>
              <a:rPr lang="en-US" altLang="zh-CN">
                <a:latin typeface="隶书" panose="02010509060101010101" pitchFamily="49" charset="-122"/>
                <a:ea typeface="隶书" panose="02010509060101010101" pitchFamily="49" charset="-122"/>
              </a:rPr>
              <a:t>padding</a:t>
            </a:r>
            <a:r>
              <a:rPr lang="zh-CN" altLang="en-US">
                <a:latin typeface="隶书" panose="02010509060101010101" pitchFamily="49" charset="-122"/>
                <a:ea typeface="隶书" panose="02010509060101010101" pitchFamily="49" charset="-122"/>
              </a:rPr>
              <a:t>）；另一方面要求信号的传播时延要尽可能短 ， 故该协议通常只用于局域网，不能用于卫星通信等广域网场合（同步通信卫星距地面</a:t>
            </a:r>
            <a:r>
              <a:rPr lang="en-US" altLang="zh-CN" smtClean="0">
                <a:latin typeface="隶书" panose="02010509060101010101" pitchFamily="49" charset="-122"/>
                <a:ea typeface="隶书" panose="02010509060101010101" pitchFamily="49" charset="-122"/>
              </a:rPr>
              <a:t>3,600</a:t>
            </a:r>
            <a:r>
              <a:rPr lang="zh-CN" altLang="en-US">
                <a:latin typeface="隶书" panose="02010509060101010101" pitchFamily="49" charset="-122"/>
                <a:ea typeface="隶书" panose="02010509060101010101" pitchFamily="49" charset="-122"/>
              </a:rPr>
              <a:t>公里，信号即使以光速（</a:t>
            </a:r>
            <a:r>
              <a:rPr lang="en-US" altLang="zh-CN">
                <a:latin typeface="隶书" panose="02010509060101010101" pitchFamily="49" charset="-122"/>
                <a:ea typeface="隶书" panose="02010509060101010101" pitchFamily="49" charset="-122"/>
              </a:rPr>
              <a:t>30</a:t>
            </a:r>
            <a:r>
              <a:rPr lang="zh-CN" altLang="en-US">
                <a:latin typeface="隶书" panose="02010509060101010101" pitchFamily="49" charset="-122"/>
                <a:ea typeface="隶书" panose="02010509060101010101" pitchFamily="49" charset="-122"/>
              </a:rPr>
              <a:t>万公里</a:t>
            </a:r>
            <a:r>
              <a:rPr lang="en-US" altLang="zh-CN">
                <a:latin typeface="隶书" panose="02010509060101010101" pitchFamily="49" charset="-122"/>
                <a:ea typeface="隶书" panose="02010509060101010101" pitchFamily="49" charset="-122"/>
              </a:rPr>
              <a:t>/</a:t>
            </a:r>
            <a:r>
              <a:rPr lang="zh-CN" altLang="en-US">
                <a:latin typeface="隶书" panose="02010509060101010101" pitchFamily="49" charset="-122"/>
                <a:ea typeface="隶书" panose="02010509060101010101" pitchFamily="49" charset="-122"/>
              </a:rPr>
              <a:t>秒）传输，来回传播时延一般都要大于报文的发送时间（</a:t>
            </a:r>
            <a:r>
              <a:rPr lang="en-US" altLang="zh-CN">
                <a:latin typeface="隶书" panose="02010509060101010101" pitchFamily="49" charset="-122"/>
                <a:ea typeface="隶书" panose="02010509060101010101" pitchFamily="49" charset="-122"/>
              </a:rPr>
              <a:t>270ms</a:t>
            </a:r>
            <a:r>
              <a:rPr lang="zh-CN" altLang="en-US">
                <a:latin typeface="隶书" panose="02010509060101010101" pitchFamily="49" charset="-122"/>
                <a:ea typeface="隶书" panose="02010509060101010101" pitchFamily="49" charset="-122"/>
              </a:rPr>
              <a:t>）。</a:t>
            </a:r>
          </a:p>
        </p:txBody>
      </p:sp>
    </p:spTree>
  </p:cSld>
  <p:clrMapOvr>
    <a:masterClrMapping/>
  </p:clrMapOvr>
  <p:transition spd="med">
    <p:blinds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19171">
                                            <p:txEl>
                                              <p:pRg st="0" end="0"/>
                                            </p:txEl>
                                          </p:spTgt>
                                        </p:tgtEl>
                                        <p:attrNameLst>
                                          <p:attrName>style.visibility</p:attrName>
                                        </p:attrNameLst>
                                      </p:cBhvr>
                                      <p:to>
                                        <p:strVal val="visible"/>
                                      </p:to>
                                    </p:set>
                                    <p:anim calcmode="lin" valueType="num">
                                      <p:cBhvr additive="base">
                                        <p:cTn id="7" dur="500" fill="hold"/>
                                        <p:tgtEl>
                                          <p:spTgt spid="519171">
                                            <p:txEl>
                                              <p:pRg st="0" end="0"/>
                                            </p:tx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1917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519171">
                                            <p:txEl>
                                              <p:pRg st="1" end="1"/>
                                            </p:txEl>
                                          </p:spTgt>
                                        </p:tgtEl>
                                        <p:attrNameLst>
                                          <p:attrName>style.visibility</p:attrName>
                                        </p:attrNameLst>
                                      </p:cBhvr>
                                      <p:to>
                                        <p:strVal val="visible"/>
                                      </p:to>
                                    </p:set>
                                    <p:anim calcmode="lin" valueType="num">
                                      <p:cBhvr additive="base">
                                        <p:cTn id="13" dur="500" fill="hold"/>
                                        <p:tgtEl>
                                          <p:spTgt spid="519171">
                                            <p:txEl>
                                              <p:pRg st="1" end="1"/>
                                            </p:tx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51917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519171">
                                            <p:txEl>
                                              <p:pRg st="2" end="2"/>
                                            </p:txEl>
                                          </p:spTgt>
                                        </p:tgtEl>
                                        <p:attrNameLst>
                                          <p:attrName>style.visibility</p:attrName>
                                        </p:attrNameLst>
                                      </p:cBhvr>
                                      <p:to>
                                        <p:strVal val="visible"/>
                                      </p:to>
                                    </p:set>
                                    <p:anim calcmode="lin" valueType="num">
                                      <p:cBhvr additive="base">
                                        <p:cTn id="19" dur="500" fill="hold"/>
                                        <p:tgtEl>
                                          <p:spTgt spid="519171">
                                            <p:txEl>
                                              <p:pRg st="2" end="2"/>
                                            </p:tx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51917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9171"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idx="4294967295"/>
          </p:nvPr>
        </p:nvSpPr>
        <p:spPr bwMode="auto">
          <a:xfrm>
            <a:off x="0" y="381000"/>
            <a:ext cx="6970713"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5.4  </a:t>
            </a:r>
            <a:r>
              <a:rPr lang="zh-CN" altLang="en-US" sz="3600" b="1">
                <a:solidFill>
                  <a:srgbClr val="CC3300"/>
                </a:solidFill>
                <a:latin typeface="新宋体" panose="02010609030101010101" pitchFamily="49" charset="-122"/>
                <a:ea typeface="新宋体" panose="02010609030101010101" pitchFamily="49" charset="-122"/>
              </a:rPr>
              <a:t>环网访问控制方式</a:t>
            </a:r>
          </a:p>
        </p:txBody>
      </p:sp>
      <p:sp>
        <p:nvSpPr>
          <p:cNvPr id="303107" name="Text Box 3"/>
          <p:cNvSpPr txBox="1">
            <a:spLocks noChangeArrowheads="1"/>
          </p:cNvSpPr>
          <p:nvPr/>
        </p:nvSpPr>
        <p:spPr bwMode="auto">
          <a:xfrm>
            <a:off x="1895475" y="3336926"/>
            <a:ext cx="8396288" cy="2850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20000"/>
              </a:spcBef>
            </a:pPr>
            <a:r>
              <a:rPr lang="zh-CN" altLang="en-US" b="1">
                <a:ea typeface="楷体" panose="02010609060101010101" pitchFamily="49" charset="-122"/>
              </a:rPr>
              <a:t>令牌环</a:t>
            </a:r>
            <a:r>
              <a:rPr lang="en-US" altLang="zh-CN" b="1">
                <a:ea typeface="楷体" panose="02010609060101010101" pitchFamily="49" charset="-122"/>
              </a:rPr>
              <a:t>(Token Ring)</a:t>
            </a:r>
            <a:r>
              <a:rPr lang="zh-CN" altLang="zh-CN" b="1">
                <a:ea typeface="楷体" panose="02010609060101010101" pitchFamily="49" charset="-122"/>
              </a:rPr>
              <a:t>使用一个称为令牌(</a:t>
            </a:r>
            <a:r>
              <a:rPr lang="en-US" altLang="zh-CN" b="1">
                <a:ea typeface="楷体" panose="02010609060101010101" pitchFamily="49" charset="-122"/>
              </a:rPr>
              <a:t>token)</a:t>
            </a:r>
            <a:r>
              <a:rPr lang="zh-CN" altLang="zh-CN" b="1">
                <a:ea typeface="楷体" panose="02010609060101010101" pitchFamily="49" charset="-122"/>
              </a:rPr>
              <a:t>的比特控制信号控制与令牌环网连接的计算机的发送与接收。</a:t>
            </a:r>
            <a:r>
              <a:rPr lang="zh-CN" altLang="en-US" b="1">
                <a:ea typeface="楷体" panose="02010609060101010101" pitchFamily="49" charset="-122"/>
              </a:rPr>
              <a:t>令牌是一种特殊的帧，它有两种状态：空和忙。</a:t>
            </a:r>
          </a:p>
          <a:p>
            <a:pPr algn="just" eaLnBrk="1" hangingPunct="1">
              <a:spcBef>
                <a:spcPct val="20000"/>
              </a:spcBef>
            </a:pPr>
            <a:r>
              <a:rPr lang="zh-CN" altLang="en-US" b="1">
                <a:ea typeface="楷体" panose="02010609060101010101" pitchFamily="49" charset="-122"/>
              </a:rPr>
              <a:t>．环中只有一个令牌在循环传送。</a:t>
            </a:r>
          </a:p>
          <a:p>
            <a:pPr algn="just" eaLnBrk="1" hangingPunct="1">
              <a:spcBef>
                <a:spcPct val="20000"/>
              </a:spcBef>
            </a:pPr>
            <a:r>
              <a:rPr lang="zh-CN" altLang="en-US" b="1">
                <a:ea typeface="楷体" panose="02010609060101010101" pitchFamily="49" charset="-122"/>
              </a:rPr>
              <a:t>．只有得到空令牌才能传送数据。</a:t>
            </a:r>
          </a:p>
        </p:txBody>
      </p:sp>
      <p:grpSp>
        <p:nvGrpSpPr>
          <p:cNvPr id="303109" name="Group 5"/>
          <p:cNvGrpSpPr>
            <a:grpSpLocks/>
          </p:cNvGrpSpPr>
          <p:nvPr/>
        </p:nvGrpSpPr>
        <p:grpSpPr bwMode="auto">
          <a:xfrm>
            <a:off x="2441575" y="1697038"/>
            <a:ext cx="5551488" cy="652462"/>
            <a:chOff x="188" y="1059"/>
            <a:chExt cx="2506" cy="411"/>
          </a:xfrm>
        </p:grpSpPr>
        <p:sp>
          <p:nvSpPr>
            <p:cNvPr id="63494" name="AutoShape 6"/>
            <p:cNvSpPr>
              <a:spLocks noChangeArrowheads="1"/>
            </p:cNvSpPr>
            <p:nvPr/>
          </p:nvSpPr>
          <p:spPr bwMode="auto">
            <a:xfrm>
              <a:off x="188" y="1059"/>
              <a:ext cx="2506" cy="411"/>
            </a:xfrm>
            <a:prstGeom prst="wave">
              <a:avLst>
                <a:gd name="adj1" fmla="val 7056"/>
                <a:gd name="adj2" fmla="val 5625"/>
              </a:avLst>
            </a:prstGeom>
            <a:solidFill>
              <a:schemeClr val="accent2"/>
            </a:solidFill>
            <a:ln w="9525">
              <a:solidFill>
                <a:schemeClr val="bg1"/>
              </a:solidFill>
              <a:miter lim="800000"/>
              <a:headEnd/>
              <a:tailEnd/>
            </a:ln>
            <a:effectLst>
              <a:outerShdw dist="107763" dir="2700000" algn="ctr" rotWithShape="0">
                <a:schemeClr val="bg2"/>
              </a:outerShdw>
            </a:effectLst>
          </p:spPr>
          <p:txBody>
            <a:bodyPr wrap="none" anchor="ct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endParaRPr lang="zh-CN" altLang="en-US"/>
            </a:p>
          </p:txBody>
        </p:sp>
        <p:sp>
          <p:nvSpPr>
            <p:cNvPr id="63495" name="Text Box 7"/>
            <p:cNvSpPr txBox="1">
              <a:spLocks noChangeArrowheads="1"/>
            </p:cNvSpPr>
            <p:nvPr/>
          </p:nvSpPr>
          <p:spPr bwMode="auto">
            <a:xfrm>
              <a:off x="456" y="1097"/>
              <a:ext cx="1982"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chemeClr val="folHlink"/>
                  </a:solidFill>
                  <a:ea typeface="隶书" panose="02010509060101010101" pitchFamily="49" charset="-122"/>
                </a:rPr>
                <a:t>5.4.1   </a:t>
              </a:r>
              <a:r>
                <a:rPr lang="zh-CN" altLang="en-US" b="1">
                  <a:solidFill>
                    <a:schemeClr val="folHlink"/>
                  </a:solidFill>
                  <a:ea typeface="隶书" panose="02010509060101010101" pitchFamily="49" charset="-122"/>
                </a:rPr>
                <a:t>令牌环访问控制方式</a:t>
              </a:r>
            </a:p>
          </p:txBody>
        </p:sp>
      </p:grpSp>
      <p:pic>
        <p:nvPicPr>
          <p:cNvPr id="63493" name="Picture 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12051" y="1200150"/>
            <a:ext cx="2886075" cy="20907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03109"/>
                                        </p:tgtEl>
                                        <p:attrNameLst>
                                          <p:attrName>style.visibility</p:attrName>
                                        </p:attrNameLst>
                                      </p:cBhvr>
                                      <p:to>
                                        <p:strVal val="visible"/>
                                      </p:to>
                                    </p:set>
                                    <p:animEffect transition="in" filter="wipe(left)">
                                      <p:cBhvr>
                                        <p:cTn id="7" dur="500"/>
                                        <p:tgtEl>
                                          <p:spTgt spid="30310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3107">
                                            <p:txEl>
                                              <p:pRg st="0" end="0"/>
                                            </p:txEl>
                                          </p:spTgt>
                                        </p:tgtEl>
                                        <p:attrNameLst>
                                          <p:attrName>style.visibility</p:attrName>
                                        </p:attrNameLst>
                                      </p:cBhvr>
                                      <p:to>
                                        <p:strVal val="visible"/>
                                      </p:to>
                                    </p:set>
                                    <p:animEffect transition="in" filter="wipe(left)">
                                      <p:cBhvr>
                                        <p:cTn id="12" dur="500"/>
                                        <p:tgtEl>
                                          <p:spTgt spid="30310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3107">
                                            <p:txEl>
                                              <p:pRg st="1" end="1"/>
                                            </p:txEl>
                                          </p:spTgt>
                                        </p:tgtEl>
                                        <p:attrNameLst>
                                          <p:attrName>style.visibility</p:attrName>
                                        </p:attrNameLst>
                                      </p:cBhvr>
                                      <p:to>
                                        <p:strVal val="visible"/>
                                      </p:to>
                                    </p:set>
                                    <p:animEffect transition="in" filter="wipe(left)">
                                      <p:cBhvr>
                                        <p:cTn id="17" dur="500"/>
                                        <p:tgtEl>
                                          <p:spTgt spid="30310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03107">
                                            <p:txEl>
                                              <p:pRg st="2" end="2"/>
                                            </p:txEl>
                                          </p:spTgt>
                                        </p:tgtEl>
                                        <p:attrNameLst>
                                          <p:attrName>style.visibility</p:attrName>
                                        </p:attrNameLst>
                                      </p:cBhvr>
                                      <p:to>
                                        <p:strVal val="visible"/>
                                      </p:to>
                                    </p:set>
                                    <p:animEffect transition="in" filter="wipe(left)">
                                      <p:cBhvr>
                                        <p:cTn id="22" dur="500"/>
                                        <p:tgtEl>
                                          <p:spTgt spid="3031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3107" grpId="0" build="p"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idx="4294967295"/>
          </p:nvPr>
        </p:nvSpPr>
        <p:spPr bwMode="auto">
          <a:xfrm>
            <a:off x="0" y="419100"/>
            <a:ext cx="7772400"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5.5 FDDI</a:t>
            </a:r>
            <a:r>
              <a:rPr lang="zh-CN" altLang="zh-CN" sz="3600" b="1">
                <a:solidFill>
                  <a:srgbClr val="CC3300"/>
                </a:solidFill>
                <a:latin typeface="新宋体" panose="02010609030101010101" pitchFamily="49" charset="-122"/>
                <a:ea typeface="新宋体" panose="02010609030101010101" pitchFamily="49" charset="-122"/>
              </a:rPr>
              <a:t>访问控制方式</a:t>
            </a:r>
            <a:endParaRPr lang="zh-CN" altLang="en-US" sz="3600" b="1">
              <a:solidFill>
                <a:srgbClr val="CC3300"/>
              </a:solidFill>
              <a:latin typeface="新宋体" panose="02010609030101010101" pitchFamily="49" charset="-122"/>
              <a:ea typeface="新宋体" panose="02010609030101010101" pitchFamily="49" charset="-122"/>
            </a:endParaRPr>
          </a:p>
        </p:txBody>
      </p:sp>
      <p:sp>
        <p:nvSpPr>
          <p:cNvPr id="304131" name="Text Box 3"/>
          <p:cNvSpPr txBox="1">
            <a:spLocks noChangeArrowheads="1"/>
          </p:cNvSpPr>
          <p:nvPr/>
        </p:nvSpPr>
        <p:spPr bwMode="auto">
          <a:xfrm>
            <a:off x="1901825" y="2033588"/>
            <a:ext cx="8375650"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40000"/>
              </a:lnSpc>
            </a:pPr>
            <a:r>
              <a:rPr lang="zh-CN" altLang="en-US" b="1">
                <a:ea typeface="楷体" panose="02010609060101010101" pitchFamily="49" charset="-122"/>
              </a:rPr>
              <a:t>光纤分布式数据接口</a:t>
            </a:r>
            <a:r>
              <a:rPr lang="en-US" altLang="zh-CN" b="1">
                <a:ea typeface="楷体" panose="02010609060101010101" pitchFamily="49" charset="-122"/>
              </a:rPr>
              <a:t>(FDDI, fiber distributed data interconnect)</a:t>
            </a:r>
            <a:r>
              <a:rPr lang="zh-CN" altLang="en-US" b="1">
                <a:ea typeface="楷体" panose="02010609060101010101" pitchFamily="49" charset="-122"/>
              </a:rPr>
              <a:t>也采用令牌环访问控制技术。</a:t>
            </a:r>
          </a:p>
        </p:txBody>
      </p:sp>
      <p:sp>
        <p:nvSpPr>
          <p:cNvPr id="304133" name="Text Box 5"/>
          <p:cNvSpPr txBox="1">
            <a:spLocks noChangeArrowheads="1"/>
          </p:cNvSpPr>
          <p:nvPr/>
        </p:nvSpPr>
        <p:spPr bwMode="auto">
          <a:xfrm>
            <a:off x="1901825" y="3492501"/>
            <a:ext cx="8375650" cy="690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40000"/>
              </a:lnSpc>
            </a:pPr>
            <a:r>
              <a:rPr lang="en-US" altLang="zh-CN" b="1">
                <a:ea typeface="楷体" panose="02010609060101010101" pitchFamily="49" charset="-122"/>
              </a:rPr>
              <a:t>FDDI</a:t>
            </a:r>
            <a:r>
              <a:rPr lang="zh-CN" altLang="zh-CN" b="1">
                <a:ea typeface="楷体" panose="02010609060101010101" pitchFamily="49" charset="-122"/>
              </a:rPr>
              <a:t>使用光纤作为传输介质。</a:t>
            </a:r>
            <a:endParaRPr lang="zh-CN" altLang="en-US" b="1">
              <a:ea typeface="楷体" panose="02010609060101010101" pitchFamily="49" charset="-122"/>
            </a:endParaRPr>
          </a:p>
        </p:txBody>
      </p:sp>
      <p:sp>
        <p:nvSpPr>
          <p:cNvPr id="304134" name="Text Box 6"/>
          <p:cNvSpPr txBox="1">
            <a:spLocks noChangeArrowheads="1"/>
          </p:cNvSpPr>
          <p:nvPr/>
        </p:nvSpPr>
        <p:spPr bwMode="auto">
          <a:xfrm>
            <a:off x="1901825" y="4352925"/>
            <a:ext cx="8375650" cy="1289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indent="673100">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just" eaLnBrk="1" hangingPunct="1">
              <a:lnSpc>
                <a:spcPct val="140000"/>
              </a:lnSpc>
            </a:pPr>
            <a:r>
              <a:rPr lang="en-US" altLang="zh-CN" b="1">
                <a:ea typeface="楷体" panose="02010609060101010101" pitchFamily="49" charset="-122"/>
              </a:rPr>
              <a:t>FDDI</a:t>
            </a:r>
            <a:r>
              <a:rPr lang="zh-CN" altLang="zh-CN" b="1">
                <a:ea typeface="楷体" panose="02010609060101010101" pitchFamily="49" charset="-122"/>
              </a:rPr>
              <a:t>使用双环技术解决网络中站点故障后信道中断问题。</a:t>
            </a:r>
            <a:endParaRPr lang="zh-CN" altLang="en-US" b="1">
              <a:ea typeface="楷体" panose="02010609060101010101" pitchFamily="49" charset="-122"/>
            </a:endParaRPr>
          </a:p>
        </p:txBody>
      </p:sp>
    </p:spTree>
  </p:cSld>
  <p:clrMapOvr>
    <a:masterClrMapping/>
  </p:clrMapOvr>
  <p:transition>
    <p:rand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4131">
                                            <p:txEl>
                                              <p:pRg st="0" end="0"/>
                                            </p:txEl>
                                          </p:spTgt>
                                        </p:tgtEl>
                                        <p:attrNameLst>
                                          <p:attrName>style.visibility</p:attrName>
                                        </p:attrNameLst>
                                      </p:cBhvr>
                                      <p:to>
                                        <p:strVal val="visible"/>
                                      </p:to>
                                    </p:set>
                                    <p:animEffect transition="in" filter="wipe(left)">
                                      <p:cBhvr>
                                        <p:cTn id="7" dur="500"/>
                                        <p:tgtEl>
                                          <p:spTgt spid="30413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4133">
                                            <p:txEl>
                                              <p:pRg st="0" end="0"/>
                                            </p:txEl>
                                          </p:spTgt>
                                        </p:tgtEl>
                                        <p:attrNameLst>
                                          <p:attrName>style.visibility</p:attrName>
                                        </p:attrNameLst>
                                      </p:cBhvr>
                                      <p:to>
                                        <p:strVal val="visible"/>
                                      </p:to>
                                    </p:set>
                                    <p:animEffect transition="in" filter="wipe(left)">
                                      <p:cBhvr>
                                        <p:cTn id="12" dur="500"/>
                                        <p:tgtEl>
                                          <p:spTgt spid="30413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04134">
                                            <p:txEl>
                                              <p:pRg st="0" end="0"/>
                                            </p:txEl>
                                          </p:spTgt>
                                        </p:tgtEl>
                                        <p:attrNameLst>
                                          <p:attrName>style.visibility</p:attrName>
                                        </p:attrNameLst>
                                      </p:cBhvr>
                                      <p:to>
                                        <p:strVal val="visible"/>
                                      </p:to>
                                    </p:set>
                                    <p:animEffect transition="in" filter="wipe(left)">
                                      <p:cBhvr>
                                        <p:cTn id="17" dur="500"/>
                                        <p:tgtEl>
                                          <p:spTgt spid="30413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4131" grpId="0" build="p" autoUpdateAnimBg="0"/>
      <p:bldP spid="304133" grpId="0" build="p" autoUpdateAnimBg="0"/>
      <p:bldP spid="304134" grpId="0" build="p" autoUpdateAnimBg="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bwMode="auto">
          <a:xfrm>
            <a:off x="0" y="400050"/>
            <a:ext cx="7772400" cy="657225"/>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pPr algn="ctr" eaLnBrk="1" hangingPunct="1"/>
            <a:r>
              <a:rPr lang="en-US" altLang="zh-CN" sz="3600" b="1">
                <a:solidFill>
                  <a:srgbClr val="CC3300"/>
                </a:solidFill>
                <a:latin typeface="新宋体" panose="02010609030101010101" pitchFamily="49" charset="-122"/>
                <a:ea typeface="新宋体" panose="02010609030101010101" pitchFamily="49" charset="-122"/>
              </a:rPr>
              <a:t>5.5   FDDI</a:t>
            </a:r>
            <a:r>
              <a:rPr lang="zh-CN" altLang="zh-CN" sz="3600" b="1">
                <a:solidFill>
                  <a:srgbClr val="CC3300"/>
                </a:solidFill>
                <a:latin typeface="新宋体" panose="02010609030101010101" pitchFamily="49" charset="-122"/>
                <a:ea typeface="新宋体" panose="02010609030101010101" pitchFamily="49" charset="-122"/>
              </a:rPr>
              <a:t>访问控制方式</a:t>
            </a:r>
            <a:endParaRPr lang="zh-CN" altLang="en-US" sz="3600" b="1">
              <a:solidFill>
                <a:srgbClr val="CC3300"/>
              </a:solidFill>
              <a:latin typeface="新宋体" panose="02010609030101010101" pitchFamily="49" charset="-122"/>
              <a:ea typeface="新宋体" panose="02010609030101010101" pitchFamily="49" charset="-122"/>
            </a:endParaRPr>
          </a:p>
        </p:txBody>
      </p:sp>
      <p:graphicFrame>
        <p:nvGraphicFramePr>
          <p:cNvPr id="66563" name="Object 6"/>
          <p:cNvGraphicFramePr>
            <a:graphicFrameLocks noChangeAspect="1"/>
          </p:cNvGraphicFramePr>
          <p:nvPr/>
        </p:nvGraphicFramePr>
        <p:xfrm>
          <a:off x="2051050" y="2540001"/>
          <a:ext cx="7977188" cy="3400425"/>
        </p:xfrm>
        <a:graphic>
          <a:graphicData uri="http://schemas.openxmlformats.org/presentationml/2006/ole">
            <mc:AlternateContent xmlns:mc="http://schemas.openxmlformats.org/markup-compatibility/2006">
              <mc:Choice xmlns:v="urn:schemas-microsoft-com:vml" Requires="v">
                <p:oleObj spid="_x0000_s66615" name="Image" r:id="rId4" imgW="9295238" imgH="3961905" progId="Photoshop.Image.6">
                  <p:embed/>
                </p:oleObj>
              </mc:Choice>
              <mc:Fallback>
                <p:oleObj name="Image" r:id="rId4" imgW="9295238" imgH="3961905" progId="Photoshop.Image.6">
                  <p:embed/>
                  <p:pic>
                    <p:nvPicPr>
                      <p:cNvPr id="0" name="Object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1050" y="2540001"/>
                        <a:ext cx="7977188" cy="3400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6564" name="Rectangle 7"/>
          <p:cNvSpPr>
            <a:spLocks noChangeArrowheads="1"/>
          </p:cNvSpPr>
          <p:nvPr/>
        </p:nvSpPr>
        <p:spPr bwMode="auto">
          <a:xfrm>
            <a:off x="2509838" y="1603375"/>
            <a:ext cx="30289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外环用于数据传输</a:t>
            </a:r>
          </a:p>
        </p:txBody>
      </p:sp>
      <p:sp>
        <p:nvSpPr>
          <p:cNvPr id="66565" name="Rectangle 8"/>
          <p:cNvSpPr>
            <a:spLocks noChangeArrowheads="1"/>
          </p:cNvSpPr>
          <p:nvPr/>
        </p:nvSpPr>
        <p:spPr bwMode="auto">
          <a:xfrm>
            <a:off x="6002338" y="1581150"/>
            <a:ext cx="160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失效站点</a:t>
            </a:r>
          </a:p>
        </p:txBody>
      </p:sp>
      <p:sp>
        <p:nvSpPr>
          <p:cNvPr id="66566" name="Rectangle 9"/>
          <p:cNvSpPr>
            <a:spLocks noChangeArrowheads="1"/>
          </p:cNvSpPr>
          <p:nvPr/>
        </p:nvSpPr>
        <p:spPr bwMode="auto">
          <a:xfrm>
            <a:off x="7934325" y="1322389"/>
            <a:ext cx="234315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2400" b="1">
                <a:latin typeface="宋体" panose="02010600030101010101" pitchFamily="2" charset="-122"/>
              </a:rPr>
              <a:t>失效站点的相邻站点自我恢复</a:t>
            </a:r>
          </a:p>
        </p:txBody>
      </p:sp>
      <p:sp>
        <p:nvSpPr>
          <p:cNvPr id="66567" name="Rectangle 10"/>
          <p:cNvSpPr>
            <a:spLocks noChangeArrowheads="1"/>
          </p:cNvSpPr>
          <p:nvPr/>
        </p:nvSpPr>
        <p:spPr bwMode="auto">
          <a:xfrm>
            <a:off x="2747964" y="3838576"/>
            <a:ext cx="2332037"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400" b="1">
                <a:latin typeface="宋体" panose="02010600030101010101" pitchFamily="2" charset="-122"/>
              </a:rPr>
              <a:t>内环平时不用，除非发生故障</a:t>
            </a:r>
          </a:p>
        </p:txBody>
      </p:sp>
      <p:sp>
        <p:nvSpPr>
          <p:cNvPr id="66568" name="Line 11"/>
          <p:cNvSpPr>
            <a:spLocks noChangeShapeType="1"/>
          </p:cNvSpPr>
          <p:nvPr/>
        </p:nvSpPr>
        <p:spPr bwMode="auto">
          <a:xfrm>
            <a:off x="6991351" y="2035176"/>
            <a:ext cx="396875" cy="688975"/>
          </a:xfrm>
          <a:prstGeom prst="line">
            <a:avLst/>
          </a:prstGeom>
          <a:noFill/>
          <a:ln w="28575">
            <a:solidFill>
              <a:schemeClr va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569" name="Line 12"/>
          <p:cNvSpPr>
            <a:spLocks noChangeShapeType="1"/>
          </p:cNvSpPr>
          <p:nvPr/>
        </p:nvSpPr>
        <p:spPr bwMode="auto">
          <a:xfrm>
            <a:off x="3819525" y="2052638"/>
            <a:ext cx="0" cy="635000"/>
          </a:xfrm>
          <a:prstGeom prst="line">
            <a:avLst/>
          </a:prstGeom>
          <a:noFill/>
          <a:ln w="28575">
            <a:solidFill>
              <a:schemeClr va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570" name="Line 13"/>
          <p:cNvSpPr>
            <a:spLocks noChangeShapeType="1"/>
          </p:cNvSpPr>
          <p:nvPr/>
        </p:nvSpPr>
        <p:spPr bwMode="auto">
          <a:xfrm>
            <a:off x="3725863" y="4627564"/>
            <a:ext cx="0" cy="784225"/>
          </a:xfrm>
          <a:prstGeom prst="line">
            <a:avLst/>
          </a:prstGeom>
          <a:noFill/>
          <a:ln w="28575">
            <a:solidFill>
              <a:schemeClr va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571" name="Line 14"/>
          <p:cNvSpPr>
            <a:spLocks noChangeShapeType="1"/>
          </p:cNvSpPr>
          <p:nvPr/>
        </p:nvSpPr>
        <p:spPr bwMode="auto">
          <a:xfrm flipH="1">
            <a:off x="9193214" y="2165350"/>
            <a:ext cx="225425" cy="558800"/>
          </a:xfrm>
          <a:prstGeom prst="line">
            <a:avLst/>
          </a:prstGeom>
          <a:noFill/>
          <a:ln w="28575">
            <a:solidFill>
              <a:schemeClr val="hlink"/>
            </a:solidFill>
            <a:miter lim="800000"/>
            <a:headE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6572" name="Rectangle 16"/>
          <p:cNvSpPr>
            <a:spLocks noChangeArrowheads="1"/>
          </p:cNvSpPr>
          <p:nvPr/>
        </p:nvSpPr>
        <p:spPr bwMode="auto">
          <a:xfrm>
            <a:off x="2695576" y="6043613"/>
            <a:ext cx="2333625" cy="5191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FF"/>
                </a:solidFill>
                <a:latin typeface="宋体" panose="02010600030101010101" pitchFamily="2" charset="-122"/>
              </a:rPr>
              <a:t>a . FDDI</a:t>
            </a:r>
            <a:r>
              <a:rPr lang="zh-CN" altLang="en-US" b="1">
                <a:solidFill>
                  <a:srgbClr val="0000FF"/>
                </a:solidFill>
                <a:latin typeface="宋体" panose="02010600030101010101" pitchFamily="2" charset="-122"/>
              </a:rPr>
              <a:t>网络</a:t>
            </a:r>
          </a:p>
        </p:txBody>
      </p:sp>
      <p:sp>
        <p:nvSpPr>
          <p:cNvPr id="66573" name="Rectangle 17"/>
          <p:cNvSpPr>
            <a:spLocks noChangeArrowheads="1"/>
          </p:cNvSpPr>
          <p:nvPr/>
        </p:nvSpPr>
        <p:spPr bwMode="auto">
          <a:xfrm>
            <a:off x="6319838" y="5988051"/>
            <a:ext cx="3579812"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800">
                <a:solidFill>
                  <a:schemeClr val="tx1"/>
                </a:solidFill>
                <a:latin typeface="Times New Roman" panose="02020603050405020304" pitchFamily="18" charset="0"/>
                <a:ea typeface="宋体" panose="02010600030101010101" pitchFamily="2" charset="-122"/>
              </a:defRPr>
            </a:lvl1pPr>
            <a:lvl2pPr marL="742950" indent="-285750">
              <a:defRPr kumimoji="1" sz="2800">
                <a:solidFill>
                  <a:schemeClr val="tx1"/>
                </a:solidFill>
                <a:latin typeface="Times New Roman" panose="02020603050405020304" pitchFamily="18" charset="0"/>
                <a:ea typeface="宋体" panose="02010600030101010101" pitchFamily="2" charset="-122"/>
              </a:defRPr>
            </a:lvl2pPr>
            <a:lvl3pPr marL="1143000" indent="-228600">
              <a:defRPr kumimoji="1" sz="2800">
                <a:solidFill>
                  <a:schemeClr val="tx1"/>
                </a:solidFill>
                <a:latin typeface="Times New Roman" panose="02020603050405020304" pitchFamily="18" charset="0"/>
                <a:ea typeface="宋体" panose="02010600030101010101" pitchFamily="2" charset="-122"/>
              </a:defRPr>
            </a:lvl3pPr>
            <a:lvl4pPr marL="1600200" indent="-228600">
              <a:defRPr kumimoji="1" sz="2800">
                <a:solidFill>
                  <a:schemeClr val="tx1"/>
                </a:solidFill>
                <a:latin typeface="Times New Roman" panose="02020603050405020304" pitchFamily="18" charset="0"/>
                <a:ea typeface="宋体" panose="02010600030101010101" pitchFamily="2" charset="-122"/>
              </a:defRPr>
            </a:lvl4pPr>
            <a:lvl5pPr marL="2057400" indent="-228600">
              <a:defRPr kumimoji="1" sz="28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b="1">
                <a:solidFill>
                  <a:srgbClr val="0000FF"/>
                </a:solidFill>
                <a:latin typeface="宋体" panose="02010600030101010101" pitchFamily="2" charset="-122"/>
              </a:rPr>
              <a:t>b .</a:t>
            </a:r>
            <a:r>
              <a:rPr lang="zh-CN" altLang="en-US" b="1">
                <a:solidFill>
                  <a:srgbClr val="0000FF"/>
                </a:solidFill>
                <a:latin typeface="宋体" panose="02010600030101010101" pitchFamily="2" charset="-122"/>
              </a:rPr>
              <a:t>在一个站点失效后</a:t>
            </a:r>
          </a:p>
        </p:txBody>
      </p:sp>
    </p:spTree>
  </p:cSld>
  <p:clrMapOvr>
    <a:masterClrMapping/>
  </p:clrMapOvr>
  <p:transition>
    <p:random/>
  </p:transition>
</p:sld>
</file>

<file path=ppt/theme/theme1.xml><?xml version="1.0" encoding="utf-8"?>
<a:theme xmlns:a="http://schemas.openxmlformats.org/drawingml/2006/main" name="Blend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7147</TotalTime>
  <Words>2118</Words>
  <Application>Microsoft Office PowerPoint</Application>
  <PresentationFormat>宽屏</PresentationFormat>
  <Paragraphs>174</Paragraphs>
  <Slides>28</Slides>
  <Notes>6</Notes>
  <HiddenSlides>0</HiddenSlides>
  <MMClips>0</MMClips>
  <ScaleCrop>false</ScaleCrop>
  <HeadingPairs>
    <vt:vector size="8" baseType="variant">
      <vt:variant>
        <vt:lpstr>已用的字体</vt:lpstr>
      </vt:variant>
      <vt:variant>
        <vt:i4>14</vt:i4>
      </vt:variant>
      <vt:variant>
        <vt:lpstr>主题</vt:lpstr>
      </vt:variant>
      <vt:variant>
        <vt:i4>1</vt:i4>
      </vt:variant>
      <vt:variant>
        <vt:lpstr>嵌入 OLE 服务器</vt:lpstr>
      </vt:variant>
      <vt:variant>
        <vt:i4>2</vt:i4>
      </vt:variant>
      <vt:variant>
        <vt:lpstr>幻灯片标题</vt:lpstr>
      </vt:variant>
      <vt:variant>
        <vt:i4>28</vt:i4>
      </vt:variant>
    </vt:vector>
  </HeadingPairs>
  <TitlesOfParts>
    <vt:vector size="45" baseType="lpstr">
      <vt:lpstr>等线</vt:lpstr>
      <vt:lpstr>等线 Light</vt:lpstr>
      <vt:lpstr>仿宋_GB2312</vt:lpstr>
      <vt:lpstr>楷体</vt:lpstr>
      <vt:lpstr>隶书</vt:lpstr>
      <vt:lpstr>宋体</vt:lpstr>
      <vt:lpstr>新宋体</vt:lpstr>
      <vt:lpstr>Arial</vt:lpstr>
      <vt:lpstr>Calibri</vt:lpstr>
      <vt:lpstr>Calibri Light</vt:lpstr>
      <vt:lpstr>Comic Sans MS</vt:lpstr>
      <vt:lpstr>Tahoma</vt:lpstr>
      <vt:lpstr>Times New Roman</vt:lpstr>
      <vt:lpstr>Wingdings</vt:lpstr>
      <vt:lpstr>Blends</vt:lpstr>
      <vt:lpstr>Clip</vt:lpstr>
      <vt:lpstr>Image</vt:lpstr>
      <vt:lpstr>PowerPoint 演示文稿</vt:lpstr>
      <vt:lpstr>局域网技术</vt:lpstr>
      <vt:lpstr>网络分类</vt:lpstr>
      <vt:lpstr>1. 局域网的特点</vt:lpstr>
      <vt:lpstr>局域网的定义</vt:lpstr>
      <vt:lpstr> 2. 局域网拓扑结构</vt:lpstr>
      <vt:lpstr>  广播通信方式</vt:lpstr>
      <vt:lpstr>扩展星型结构为树型结构</vt:lpstr>
      <vt:lpstr>1.2 局域网的组成部分</vt:lpstr>
      <vt:lpstr>局域网组成（硬件）</vt:lpstr>
      <vt:lpstr>局域网组成（软件）</vt:lpstr>
      <vt:lpstr>从NOS的安装看LAN软件组成</vt:lpstr>
      <vt:lpstr>4. 局域网操作系统</vt:lpstr>
      <vt:lpstr>5. 局域网信道访问协议</vt:lpstr>
      <vt:lpstr>Random Access Protocols</vt:lpstr>
      <vt:lpstr>CSMA</vt:lpstr>
      <vt:lpstr>5.2 CSMA的缺点</vt:lpstr>
      <vt:lpstr>5.3  CSMA/CD</vt:lpstr>
      <vt:lpstr>CSMS/CD</vt:lpstr>
      <vt:lpstr> </vt:lpstr>
      <vt:lpstr>5.3 CSMA/CD冲突检测方法</vt:lpstr>
      <vt:lpstr>5.3 CSMA/CD冲突检测方法</vt:lpstr>
      <vt:lpstr>5.3 CSMA/CD冲突检测方法</vt:lpstr>
      <vt:lpstr>PowerPoint 演示文稿</vt:lpstr>
      <vt:lpstr>  5.3 CSMA/CD 碰撞窗口</vt:lpstr>
      <vt:lpstr>5.4  环网访问控制方式</vt:lpstr>
      <vt:lpstr>5.5 FDDI访问控制方式</vt:lpstr>
      <vt:lpstr>5.5   FDDI访问控制方式</vt:lpstr>
    </vt:vector>
  </TitlesOfParts>
  <Company>xnjd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谭献海</dc:creator>
  <cp:lastModifiedBy>陈剑波</cp:lastModifiedBy>
  <cp:revision>629</cp:revision>
  <dcterms:created xsi:type="dcterms:W3CDTF">2000-11-07T02:44:39Z</dcterms:created>
  <dcterms:modified xsi:type="dcterms:W3CDTF">2021-12-19T22:02:33Z</dcterms:modified>
</cp:coreProperties>
</file>