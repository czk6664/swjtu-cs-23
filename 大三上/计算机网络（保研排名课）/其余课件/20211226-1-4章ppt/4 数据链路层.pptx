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81"/>
  </p:notesMasterIdLst>
  <p:handoutMasterIdLst>
    <p:handoutMasterId r:id="rId82"/>
  </p:handoutMasterIdLst>
  <p:sldIdLst>
    <p:sldId id="318"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17" r:id="rId16"/>
    <p:sldId id="292" r:id="rId17"/>
    <p:sldId id="333" r:id="rId18"/>
    <p:sldId id="334" r:id="rId19"/>
    <p:sldId id="335" r:id="rId20"/>
    <p:sldId id="336" r:id="rId21"/>
    <p:sldId id="337" r:id="rId22"/>
    <p:sldId id="338" r:id="rId23"/>
    <p:sldId id="339" r:id="rId24"/>
    <p:sldId id="340" r:id="rId25"/>
    <p:sldId id="341" r:id="rId26"/>
    <p:sldId id="325" r:id="rId27"/>
    <p:sldId id="326" r:id="rId28"/>
    <p:sldId id="327" r:id="rId29"/>
    <p:sldId id="328" r:id="rId30"/>
    <p:sldId id="329" r:id="rId31"/>
    <p:sldId id="345" r:id="rId32"/>
    <p:sldId id="360" r:id="rId33"/>
    <p:sldId id="361" r:id="rId34"/>
    <p:sldId id="330" r:id="rId35"/>
    <p:sldId id="346" r:id="rId36"/>
    <p:sldId id="347" r:id="rId37"/>
    <p:sldId id="348" r:id="rId38"/>
    <p:sldId id="349" r:id="rId39"/>
    <p:sldId id="350" r:id="rId40"/>
    <p:sldId id="351" r:id="rId41"/>
    <p:sldId id="378" r:id="rId42"/>
    <p:sldId id="380" r:id="rId43"/>
    <p:sldId id="381" r:id="rId44"/>
    <p:sldId id="363" r:id="rId45"/>
    <p:sldId id="362" r:id="rId46"/>
    <p:sldId id="377" r:id="rId47"/>
    <p:sldId id="319" r:id="rId48"/>
    <p:sldId id="320" r:id="rId49"/>
    <p:sldId id="321" r:id="rId50"/>
    <p:sldId id="322" r:id="rId51"/>
    <p:sldId id="323" r:id="rId52"/>
    <p:sldId id="324" r:id="rId53"/>
    <p:sldId id="382" r:id="rId54"/>
    <p:sldId id="383" r:id="rId55"/>
    <p:sldId id="384" r:id="rId56"/>
    <p:sldId id="385" r:id="rId57"/>
    <p:sldId id="331" r:id="rId58"/>
    <p:sldId id="332" r:id="rId59"/>
    <p:sldId id="386" r:id="rId60"/>
    <p:sldId id="387" r:id="rId61"/>
    <p:sldId id="388" r:id="rId62"/>
    <p:sldId id="389" r:id="rId63"/>
    <p:sldId id="390" r:id="rId64"/>
    <p:sldId id="391" r:id="rId65"/>
    <p:sldId id="392" r:id="rId66"/>
    <p:sldId id="393" r:id="rId67"/>
    <p:sldId id="394" r:id="rId68"/>
    <p:sldId id="342" r:id="rId69"/>
    <p:sldId id="343" r:id="rId70"/>
    <p:sldId id="344" r:id="rId71"/>
    <p:sldId id="395" r:id="rId72"/>
    <p:sldId id="396" r:id="rId73"/>
    <p:sldId id="397" r:id="rId74"/>
    <p:sldId id="398" r:id="rId75"/>
    <p:sldId id="399" r:id="rId76"/>
    <p:sldId id="400" r:id="rId77"/>
    <p:sldId id="358" r:id="rId78"/>
    <p:sldId id="401" r:id="rId79"/>
    <p:sldId id="402" r:id="rId80"/>
  </p:sldIdLst>
  <p:sldSz cx="12192000" cy="6858000"/>
  <p:notesSz cx="9144000" cy="6858000"/>
  <p:defaultTextStyle>
    <a:defPPr>
      <a:defRPr lang="zh-CN"/>
    </a:defPPr>
    <a:lvl1pPr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808080"/>
    <a:srgbClr val="B2B2B2"/>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918" autoAdjust="0"/>
    <p:restoredTop sz="94660"/>
  </p:normalViewPr>
  <p:slideViewPr>
    <p:cSldViewPr snapToGrid="0">
      <p:cViewPr>
        <p:scale>
          <a:sx n="75" d="100"/>
          <a:sy n="75" d="100"/>
        </p:scale>
        <p:origin x="60" y="180"/>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Lst>
  </p:outlineViewPr>
  <p:notesTextViewPr>
    <p:cViewPr>
      <p:scale>
        <a:sx n="100" d="100"/>
        <a:sy n="100" d="100"/>
      </p:scale>
      <p:origin x="0" y="0"/>
    </p:cViewPr>
  </p:notesTextViewPr>
  <p:sorterViewPr>
    <p:cViewPr>
      <p:scale>
        <a:sx n="66" d="100"/>
        <a:sy n="66" d="100"/>
      </p:scale>
      <p:origin x="0" y="432"/>
    </p:cViewPr>
  </p:sorterViewPr>
  <p:notesViewPr>
    <p:cSldViewPr snapToGrid="0">
      <p:cViewPr varScale="1">
        <p:scale>
          <a:sx n="40" d="100"/>
          <a:sy n="40" d="100"/>
        </p:scale>
        <p:origin x="-1464" y="-102"/>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73.xml"/><Relationship Id="rId13" Type="http://schemas.openxmlformats.org/officeDocument/2006/relationships/slide" Target="slides/slide78.xml"/><Relationship Id="rId3" Type="http://schemas.openxmlformats.org/officeDocument/2006/relationships/slide" Target="slides/slide68.xml"/><Relationship Id="rId7" Type="http://schemas.openxmlformats.org/officeDocument/2006/relationships/slide" Target="slides/slide72.xml"/><Relationship Id="rId12" Type="http://schemas.openxmlformats.org/officeDocument/2006/relationships/slide" Target="slides/slide77.xml"/><Relationship Id="rId2" Type="http://schemas.openxmlformats.org/officeDocument/2006/relationships/slide" Target="slides/slide67.xml"/><Relationship Id="rId1" Type="http://schemas.openxmlformats.org/officeDocument/2006/relationships/slide" Target="slides/slide66.xml"/><Relationship Id="rId6" Type="http://schemas.openxmlformats.org/officeDocument/2006/relationships/slide" Target="slides/slide71.xml"/><Relationship Id="rId11" Type="http://schemas.openxmlformats.org/officeDocument/2006/relationships/slide" Target="slides/slide76.xml"/><Relationship Id="rId5" Type="http://schemas.openxmlformats.org/officeDocument/2006/relationships/slide" Target="slides/slide70.xml"/><Relationship Id="rId10" Type="http://schemas.openxmlformats.org/officeDocument/2006/relationships/slide" Target="slides/slide75.xml"/><Relationship Id="rId4" Type="http://schemas.openxmlformats.org/officeDocument/2006/relationships/slide" Target="slides/slide69.xml"/><Relationship Id="rId9" Type="http://schemas.openxmlformats.org/officeDocument/2006/relationships/slide" Target="slides/slide74.xml"/><Relationship Id="rId14" Type="http://schemas.openxmlformats.org/officeDocument/2006/relationships/slide" Target="slides/slide7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962400" cy="3429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1" hangingPunct="1">
              <a:defRPr sz="1200">
                <a:latin typeface="Tahoma" pitchFamily="34" charset="0"/>
              </a:defRPr>
            </a:lvl1pPr>
          </a:lstStyle>
          <a:p>
            <a:pPr>
              <a:defRPr/>
            </a:pPr>
            <a:endParaRPr lang="en-US" altLang="zh-CN"/>
          </a:p>
        </p:txBody>
      </p:sp>
      <p:sp>
        <p:nvSpPr>
          <p:cNvPr id="25603" name="Rectangle 3"/>
          <p:cNvSpPr>
            <a:spLocks noGrp="1" noChangeArrowheads="1"/>
          </p:cNvSpPr>
          <p:nvPr>
            <p:ph type="dt" sz="quarter" idx="1"/>
          </p:nvPr>
        </p:nvSpPr>
        <p:spPr bwMode="auto">
          <a:xfrm>
            <a:off x="5181600" y="0"/>
            <a:ext cx="3962400" cy="3429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defRPr sz="1200">
                <a:latin typeface="Tahoma" pitchFamily="34" charset="0"/>
              </a:defRPr>
            </a:lvl1pPr>
          </a:lstStyle>
          <a:p>
            <a:pPr>
              <a:defRPr/>
            </a:pPr>
            <a:endParaRPr lang="en-US" altLang="zh-CN"/>
          </a:p>
        </p:txBody>
      </p:sp>
      <p:sp>
        <p:nvSpPr>
          <p:cNvPr id="25604" name="Rectangle 4"/>
          <p:cNvSpPr>
            <a:spLocks noGrp="1" noChangeArrowheads="1"/>
          </p:cNvSpPr>
          <p:nvPr>
            <p:ph type="ftr" sz="quarter" idx="2"/>
          </p:nvPr>
        </p:nvSpPr>
        <p:spPr bwMode="auto">
          <a:xfrm>
            <a:off x="0" y="6515100"/>
            <a:ext cx="3962400" cy="3429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eaLnBrk="1" hangingPunct="1">
              <a:defRPr sz="1200">
                <a:latin typeface="Tahoma" pitchFamily="34" charset="0"/>
              </a:defRPr>
            </a:lvl1pPr>
          </a:lstStyle>
          <a:p>
            <a:pPr>
              <a:defRPr/>
            </a:pPr>
            <a:endParaRPr lang="en-US" altLang="zh-CN"/>
          </a:p>
        </p:txBody>
      </p:sp>
      <p:sp>
        <p:nvSpPr>
          <p:cNvPr id="25605" name="Rectangle 5"/>
          <p:cNvSpPr>
            <a:spLocks noGrp="1" noChangeArrowheads="1"/>
          </p:cNvSpPr>
          <p:nvPr>
            <p:ph type="sldNum" sz="quarter" idx="3"/>
          </p:nvPr>
        </p:nvSpPr>
        <p:spPr bwMode="auto">
          <a:xfrm>
            <a:off x="5181600" y="6515100"/>
            <a:ext cx="3962400" cy="3429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3BF23418-6BD0-4747-A523-71B147B334B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962400" cy="3429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1" hangingPunct="1">
              <a:defRPr sz="1200">
                <a:latin typeface="Tahoma" pitchFamily="34" charset="0"/>
              </a:defRPr>
            </a:lvl1pPr>
          </a:lstStyle>
          <a:p>
            <a:pPr>
              <a:defRPr/>
            </a:pPr>
            <a:endParaRPr lang="en-US" altLang="zh-CN"/>
          </a:p>
        </p:txBody>
      </p:sp>
      <p:sp>
        <p:nvSpPr>
          <p:cNvPr id="8195" name="Rectangle 3"/>
          <p:cNvSpPr>
            <a:spLocks noGrp="1" noChangeArrowheads="1"/>
          </p:cNvSpPr>
          <p:nvPr>
            <p:ph type="dt" idx="1"/>
          </p:nvPr>
        </p:nvSpPr>
        <p:spPr bwMode="auto">
          <a:xfrm>
            <a:off x="5181600" y="0"/>
            <a:ext cx="3962400" cy="3429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defRPr sz="1200">
                <a:latin typeface="Tahoma"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2286000" y="514350"/>
            <a:ext cx="4572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1219200" y="3257550"/>
            <a:ext cx="6705600" cy="30861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p:cNvSpPr>
            <a:spLocks noGrp="1" noChangeArrowheads="1"/>
          </p:cNvSpPr>
          <p:nvPr>
            <p:ph type="ftr" sz="quarter" idx="4"/>
          </p:nvPr>
        </p:nvSpPr>
        <p:spPr bwMode="auto">
          <a:xfrm>
            <a:off x="0" y="6515100"/>
            <a:ext cx="3962400" cy="3429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eaLnBrk="1" hangingPunct="1">
              <a:defRPr sz="1200">
                <a:latin typeface="Tahoma" pitchFamily="34" charset="0"/>
              </a:defRPr>
            </a:lvl1pPr>
          </a:lstStyle>
          <a:p>
            <a:pPr>
              <a:defRPr/>
            </a:pPr>
            <a:endParaRPr lang="en-US" altLang="zh-CN"/>
          </a:p>
        </p:txBody>
      </p:sp>
      <p:sp>
        <p:nvSpPr>
          <p:cNvPr id="8199" name="Rectangle 7"/>
          <p:cNvSpPr>
            <a:spLocks noGrp="1" noChangeArrowheads="1"/>
          </p:cNvSpPr>
          <p:nvPr>
            <p:ph type="sldNum" sz="quarter" idx="5"/>
          </p:nvPr>
        </p:nvSpPr>
        <p:spPr bwMode="auto">
          <a:xfrm>
            <a:off x="5181600" y="6515100"/>
            <a:ext cx="3962400" cy="3429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3AFECFE5-3D91-4E73-BD75-C60EBE93B57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xfrm>
            <a:off x="2286000" y="514350"/>
            <a:ext cx="4572000" cy="2571750"/>
          </a:xfrm>
          <a:ln/>
        </p:spPr>
      </p:sp>
      <p:sp>
        <p:nvSpPr>
          <p:cNvPr id="194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latin typeface="Times New Roman" panose="02020603050405020304" pitchFamily="18" charset="0"/>
              </a:rPr>
              <a:t>图（</a:t>
            </a:r>
            <a:r>
              <a:rPr lang="en-US" altLang="zh-CN" b="1">
                <a:latin typeface="Times New Roman" panose="02020603050405020304" pitchFamily="18" charset="0"/>
              </a:rPr>
              <a:t>a</a:t>
            </a:r>
            <a:r>
              <a:rPr lang="zh-CN" altLang="en-US" b="1">
                <a:latin typeface="Times New Roman" panose="02020603050405020304" pitchFamily="18" charset="0"/>
              </a:rPr>
              <a:t>）是不需要任何协议的理想化情况。</a:t>
            </a:r>
            <a:r>
              <a:rPr lang="zh-CN" altLang="en-US">
                <a:latin typeface="Times New Roman" panose="02020603050405020304" pitchFamily="18" charset="0"/>
              </a:rPr>
              <a:t>主机</a:t>
            </a:r>
            <a:r>
              <a:rPr lang="en-US" altLang="zh-CN">
                <a:latin typeface="Times New Roman" panose="02020603050405020304" pitchFamily="18" charset="0"/>
              </a:rPr>
              <a:t>A</a:t>
            </a:r>
            <a:r>
              <a:rPr lang="zh-CN" altLang="en-US">
                <a:latin typeface="Times New Roman" panose="02020603050405020304" pitchFamily="18" charset="0"/>
              </a:rPr>
              <a:t>将数据帧（图中用</a:t>
            </a:r>
            <a:r>
              <a:rPr lang="en-US" altLang="zh-CN">
                <a:latin typeface="Times New Roman" panose="02020603050405020304" pitchFamily="18" charset="0"/>
              </a:rPr>
              <a:t>DATA</a:t>
            </a:r>
            <a:r>
              <a:rPr lang="zh-CN" altLang="en-US">
                <a:latin typeface="Times New Roman" panose="02020603050405020304" pitchFamily="18" charset="0"/>
              </a:rPr>
              <a:t>表示）连续发出，而不管发送速率有多快，收方总能够跟得上，收到一帧即交付给主机</a:t>
            </a:r>
            <a:r>
              <a:rPr lang="en-US" altLang="zh-CN">
                <a:latin typeface="Times New Roman" panose="02020603050405020304" pitchFamily="18" charset="0"/>
              </a:rPr>
              <a:t>B</a:t>
            </a:r>
            <a:r>
              <a:rPr lang="zh-CN" altLang="en-US">
                <a:latin typeface="Times New Roman" panose="02020603050405020304" pitchFamily="18" charset="0"/>
              </a:rPr>
              <a:t>。显然，这种完全理想化情况的</a:t>
            </a:r>
            <a:r>
              <a:rPr lang="zh-CN" altLang="en-US" b="1">
                <a:latin typeface="Times New Roman" panose="02020603050405020304" pitchFamily="18" charset="0"/>
              </a:rPr>
              <a:t>传输效率</a:t>
            </a:r>
            <a:r>
              <a:rPr lang="zh-CN" altLang="en-US">
                <a:latin typeface="Times New Roman" panose="02020603050405020304" pitchFamily="18" charset="0"/>
              </a:rPr>
              <a:t>是很</a:t>
            </a:r>
            <a:r>
              <a:rPr lang="zh-CN" altLang="en-US" b="1">
                <a:latin typeface="Times New Roman" panose="02020603050405020304" pitchFamily="18" charset="0"/>
              </a:rPr>
              <a:t>高</a:t>
            </a:r>
            <a:r>
              <a:rPr lang="zh-CN" altLang="en-US">
                <a:latin typeface="Times New Roman" panose="02020603050405020304" pitchFamily="18" charset="0"/>
              </a:rPr>
              <a:t>的。</a:t>
            </a:r>
          </a:p>
          <a:p>
            <a:r>
              <a:rPr lang="zh-CN" altLang="en-US" b="1">
                <a:latin typeface="Times New Roman" panose="02020603050405020304" pitchFamily="18" charset="0"/>
              </a:rPr>
              <a:t>图（</a:t>
            </a:r>
            <a:r>
              <a:rPr lang="en-US" altLang="zh-CN" b="1">
                <a:latin typeface="Times New Roman" panose="02020603050405020304" pitchFamily="18" charset="0"/>
              </a:rPr>
              <a:t>b</a:t>
            </a:r>
            <a:r>
              <a:rPr lang="zh-CN" altLang="en-US" b="1">
                <a:latin typeface="Times New Roman" panose="02020603050405020304" pitchFamily="18" charset="0"/>
              </a:rPr>
              <a:t>）是由收方控制发方发送速率的情况。</a:t>
            </a:r>
            <a:r>
              <a:rPr lang="zh-CN" altLang="en-US">
                <a:latin typeface="Times New Roman" panose="02020603050405020304" pitchFamily="18" charset="0"/>
              </a:rPr>
              <a:t>发方每发完一帧就必须停下来，等待收方的信息。由于假定了数据在传输过程中不会出差错，因此收方将数据帧交给主机</a:t>
            </a:r>
            <a:r>
              <a:rPr lang="en-US" altLang="zh-CN">
                <a:latin typeface="Times New Roman" panose="02020603050405020304" pitchFamily="18" charset="0"/>
              </a:rPr>
              <a:t>B</a:t>
            </a:r>
            <a:r>
              <a:rPr lang="zh-CN" altLang="en-US">
                <a:latin typeface="Times New Roman" panose="02020603050405020304" pitchFamily="18" charset="0"/>
              </a:rPr>
              <a:t>后向发方主机</a:t>
            </a:r>
            <a:r>
              <a:rPr lang="en-US" altLang="zh-CN">
                <a:latin typeface="Times New Roman" panose="02020603050405020304" pitchFamily="18" charset="0"/>
              </a:rPr>
              <a:t>A</a:t>
            </a:r>
            <a:r>
              <a:rPr lang="zh-CN" altLang="en-US">
                <a:latin typeface="Times New Roman" panose="02020603050405020304" pitchFamily="18" charset="0"/>
              </a:rPr>
              <a:t>发送的信息，不需要有任何具体的内容，即不需要说明所收到的数据是否是正确无误的。这相当于</a:t>
            </a:r>
            <a:r>
              <a:rPr lang="zh-CN" altLang="en-US" b="1">
                <a:latin typeface="Times New Roman" panose="02020603050405020304" pitchFamily="18" charset="0"/>
              </a:rPr>
              <a:t>只要发回一个不需要装入任何信件的空信封就能起到流量控制的作用</a:t>
            </a:r>
            <a:r>
              <a:rPr lang="zh-CN" altLang="en-US">
                <a:latin typeface="Times New Roman" panose="02020603050405020304" pitchFamily="18" charset="0"/>
              </a:rPr>
              <a:t>。</a:t>
            </a:r>
          </a:p>
        </p:txBody>
      </p:sp>
      <p:sp>
        <p:nvSpPr>
          <p:cNvPr id="194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FD91D2C-A88E-4519-A055-95072C6A3258}" type="slidenum">
              <a:rPr lang="en-US" altLang="zh-CN" smtClean="0">
                <a:latin typeface="Tahoma" panose="020B0604030504040204" pitchFamily="34" charset="0"/>
              </a:rPr>
              <a:pPr>
                <a:spcBef>
                  <a:spcPct val="0"/>
                </a:spcBef>
              </a:pPr>
              <a:t>29</a:t>
            </a:fld>
            <a:endParaRPr lang="en-US" altLang="zh-CN">
              <a:latin typeface="Tahoma" panose="020B060403050404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xfrm>
            <a:off x="2286000" y="514350"/>
            <a:ext cx="4572000" cy="2571750"/>
          </a:xfrm>
          <a:ln/>
        </p:spPr>
      </p:sp>
      <p:sp>
        <p:nvSpPr>
          <p:cNvPr id="3" name="备注占位符 2"/>
          <p:cNvSpPr>
            <a:spLocks noGrp="1"/>
          </p:cNvSpPr>
          <p:nvPr>
            <p:ph type="body" idx="1"/>
          </p:nvPr>
        </p:nvSpPr>
        <p:spPr/>
        <p:txBody>
          <a:bodyPr>
            <a:normAutofit fontScale="55000" lnSpcReduction="20000"/>
          </a:bodyPr>
          <a:lstStyle/>
          <a:p>
            <a:pPr>
              <a:defRPr/>
            </a:pPr>
            <a:r>
              <a:rPr lang="en-US" b="1"/>
              <a:t>1 </a:t>
            </a:r>
            <a:r>
              <a:rPr lang="zh-CN" altLang="en-US" b="1"/>
              <a:t>不出差错的情况</a:t>
            </a:r>
            <a:endParaRPr lang="zh-CN" altLang="en-US"/>
          </a:p>
          <a:p>
            <a:pPr>
              <a:defRPr/>
            </a:pPr>
            <a:r>
              <a:rPr lang="en-US" b="1"/>
              <a:t>    </a:t>
            </a:r>
            <a:r>
              <a:rPr lang="zh-CN" altLang="en-US" b="1"/>
              <a:t>下图（</a:t>
            </a:r>
            <a:r>
              <a:rPr lang="en-US" b="1"/>
              <a:t>a</a:t>
            </a:r>
            <a:r>
              <a:rPr lang="zh-CN" altLang="en-US" b="1"/>
              <a:t>）是数据在传输过程中不出差错的情况。</a:t>
            </a:r>
            <a:r>
              <a:rPr lang="zh-CN" altLang="en-US"/>
              <a:t>收方在收到一个正确的数据帧后，即交付给主机</a:t>
            </a:r>
            <a:r>
              <a:rPr lang="en-US"/>
              <a:t>B</a:t>
            </a:r>
            <a:r>
              <a:rPr lang="zh-CN" altLang="en-US"/>
              <a:t>，同时向主机</a:t>
            </a:r>
            <a:r>
              <a:rPr lang="en-US"/>
              <a:t>A</a:t>
            </a:r>
            <a:r>
              <a:rPr lang="zh-CN" altLang="en-US"/>
              <a:t>发送一个确认帧</a:t>
            </a:r>
            <a:r>
              <a:rPr lang="en-US" b="1"/>
              <a:t>ACK</a:t>
            </a:r>
            <a:r>
              <a:rPr lang="zh-CN" altLang="en-US"/>
              <a:t>（ </a:t>
            </a:r>
            <a:r>
              <a:rPr lang="en-US" b="1" err="1"/>
              <a:t>ACKnowledgment</a:t>
            </a:r>
            <a:r>
              <a:rPr lang="en-US" b="1"/>
              <a:t> </a:t>
            </a:r>
            <a:r>
              <a:rPr lang="zh-CN" altLang="en-US"/>
              <a:t>）。当主机</a:t>
            </a:r>
            <a:r>
              <a:rPr lang="en-US"/>
              <a:t>A</a:t>
            </a:r>
            <a:r>
              <a:rPr lang="zh-CN" altLang="en-US"/>
              <a:t>收到确认帧</a:t>
            </a:r>
            <a:r>
              <a:rPr lang="en-US"/>
              <a:t>ACK</a:t>
            </a:r>
            <a:r>
              <a:rPr lang="zh-CN" altLang="en-US"/>
              <a:t>后才能发送一个新的数据帧。这样就</a:t>
            </a:r>
            <a:r>
              <a:rPr lang="zh-CN" altLang="en-US" b="1"/>
              <a:t>实现了收方对发方的流量控制</a:t>
            </a:r>
            <a:r>
              <a:rPr lang="zh-CN" altLang="en-US"/>
              <a:t>。</a:t>
            </a:r>
          </a:p>
          <a:p>
            <a:pPr>
              <a:defRPr/>
            </a:pPr>
            <a:r>
              <a:rPr lang="en-US"/>
              <a:t>   </a:t>
            </a:r>
            <a:r>
              <a:rPr lang="en-US" b="1"/>
              <a:t>2 </a:t>
            </a:r>
            <a:r>
              <a:rPr lang="zh-CN" altLang="en-US" b="1"/>
              <a:t>数据帧出错</a:t>
            </a:r>
            <a:endParaRPr lang="zh-CN" altLang="en-US"/>
          </a:p>
          <a:p>
            <a:pPr>
              <a:defRPr/>
            </a:pPr>
            <a:r>
              <a:rPr lang="en-US" b="1"/>
              <a:t>    </a:t>
            </a:r>
            <a:r>
              <a:rPr lang="zh-CN" altLang="en-US"/>
              <a:t>现在假定</a:t>
            </a:r>
            <a:r>
              <a:rPr lang="zh-CN" altLang="en-US" b="1"/>
              <a:t>数据帧在传输过程中出现了差错</a:t>
            </a:r>
            <a:r>
              <a:rPr lang="zh-CN" altLang="en-US"/>
              <a:t>。由于通常都在数据帧中加上了</a:t>
            </a:r>
            <a:r>
              <a:rPr lang="zh-CN" altLang="en-US" b="1"/>
              <a:t>循环冗余校验</a:t>
            </a:r>
            <a:r>
              <a:rPr lang="en-US" b="1"/>
              <a:t>CRC</a:t>
            </a:r>
            <a:r>
              <a:rPr lang="zh-CN" altLang="en-US" b="1"/>
              <a:t>（</a:t>
            </a:r>
            <a:r>
              <a:rPr lang="en-US" b="1"/>
              <a:t>Cyclic Redundancy Check</a:t>
            </a:r>
            <a:r>
              <a:rPr lang="zh-CN" altLang="en-US" b="1"/>
              <a:t>）</a:t>
            </a:r>
            <a:r>
              <a:rPr lang="zh-CN" altLang="en-US"/>
              <a:t>，所以结点</a:t>
            </a:r>
            <a:r>
              <a:rPr lang="en-US"/>
              <a:t> B</a:t>
            </a:r>
            <a:r>
              <a:rPr lang="zh-CN" altLang="en-US"/>
              <a:t>很容易检验出收到的数据帧是否有差错（一般用硬件检验）。当发现差错时，结点</a:t>
            </a:r>
            <a:r>
              <a:rPr lang="en-US"/>
              <a:t>B</a:t>
            </a:r>
            <a:r>
              <a:rPr lang="zh-CN" altLang="en-US"/>
              <a:t>就向主机</a:t>
            </a:r>
            <a:r>
              <a:rPr lang="en-US"/>
              <a:t>A</a:t>
            </a:r>
            <a:r>
              <a:rPr lang="zh-CN" altLang="en-US"/>
              <a:t>发送一个</a:t>
            </a:r>
            <a:r>
              <a:rPr lang="zh-CN" altLang="en-US" b="1"/>
              <a:t>否认帧</a:t>
            </a:r>
            <a:r>
              <a:rPr lang="en-US" b="1"/>
              <a:t>NAK ( Negative ACK ) </a:t>
            </a:r>
            <a:r>
              <a:rPr lang="zh-CN" altLang="en-US"/>
              <a:t>，以表示主机</a:t>
            </a:r>
            <a:r>
              <a:rPr lang="en-US"/>
              <a:t>A</a:t>
            </a:r>
            <a:r>
              <a:rPr lang="zh-CN" altLang="en-US"/>
              <a:t>应当重发出现差错的那个数据帧。下图（</a:t>
            </a:r>
            <a:r>
              <a:rPr lang="en-US"/>
              <a:t>b</a:t>
            </a:r>
            <a:r>
              <a:rPr lang="zh-CN" altLang="en-US"/>
              <a:t>）画出了主机</a:t>
            </a:r>
            <a:r>
              <a:rPr lang="en-US"/>
              <a:t>A</a:t>
            </a:r>
            <a:r>
              <a:rPr lang="zh-CN" altLang="en-US"/>
              <a:t>重发数据帧。如多次出现差错，就要多次重发数据帧，直到收到结点</a:t>
            </a:r>
            <a:r>
              <a:rPr lang="en-US"/>
              <a:t>B</a:t>
            </a:r>
            <a:r>
              <a:rPr lang="zh-CN" altLang="en-US"/>
              <a:t>发来的确认帧</a:t>
            </a:r>
            <a:r>
              <a:rPr lang="en-US"/>
              <a:t>ACK</a:t>
            </a:r>
            <a:r>
              <a:rPr lang="zh-CN" altLang="en-US"/>
              <a:t>为止。为此，在</a:t>
            </a:r>
            <a:r>
              <a:rPr lang="zh-CN" altLang="en-US" b="1"/>
              <a:t>发送端必须暂时保存已发送过的数据帧的副本。</a:t>
            </a:r>
            <a:r>
              <a:rPr lang="zh-CN" altLang="en-US"/>
              <a:t>当通信</a:t>
            </a:r>
            <a:r>
              <a:rPr lang="zh-CN" altLang="en-US" b="1"/>
              <a:t>线路质量太差</a:t>
            </a:r>
            <a:r>
              <a:rPr lang="zh-CN" altLang="en-US"/>
              <a:t>时，则主机</a:t>
            </a:r>
            <a:r>
              <a:rPr lang="en-US"/>
              <a:t>A</a:t>
            </a:r>
            <a:r>
              <a:rPr lang="zh-CN" altLang="en-US"/>
              <a:t>在重发一定的次数后（如</a:t>
            </a:r>
            <a:r>
              <a:rPr lang="en-US"/>
              <a:t>8</a:t>
            </a:r>
            <a:r>
              <a:rPr lang="zh-CN" altLang="en-US"/>
              <a:t>次或</a:t>
            </a:r>
            <a:r>
              <a:rPr lang="en-US"/>
              <a:t>16</a:t>
            </a:r>
            <a:r>
              <a:rPr lang="zh-CN" altLang="en-US"/>
              <a:t>次，这要事先设定好），即不再进行重发，而是将此情况</a:t>
            </a:r>
            <a:r>
              <a:rPr lang="zh-CN" altLang="en-US" b="1"/>
              <a:t>向上一层报告</a:t>
            </a:r>
            <a:r>
              <a:rPr lang="zh-CN" altLang="en-US"/>
              <a:t>。</a:t>
            </a:r>
          </a:p>
          <a:p>
            <a:pPr>
              <a:defRPr/>
            </a:pPr>
            <a:r>
              <a:rPr lang="en-US"/>
              <a:t> </a:t>
            </a:r>
            <a:r>
              <a:rPr lang="en-US" b="1"/>
              <a:t> 3 </a:t>
            </a:r>
            <a:r>
              <a:rPr lang="zh-CN" altLang="en-US" b="1"/>
              <a:t>帧丢失</a:t>
            </a:r>
            <a:endParaRPr lang="zh-CN" altLang="en-US"/>
          </a:p>
          <a:p>
            <a:pPr>
              <a:defRPr/>
            </a:pPr>
            <a:r>
              <a:rPr lang="zh-CN" altLang="en-US"/>
              <a:t>有时链路上的干扰很严重，结点</a:t>
            </a:r>
            <a:r>
              <a:rPr lang="en-US"/>
              <a:t>B</a:t>
            </a:r>
            <a:r>
              <a:rPr lang="zh-CN" altLang="en-US"/>
              <a:t>收不到结点</a:t>
            </a:r>
            <a:r>
              <a:rPr lang="en-US"/>
              <a:t>A</a:t>
            </a:r>
            <a:r>
              <a:rPr lang="zh-CN" altLang="en-US"/>
              <a:t>发来的数据帧。这种情况称为</a:t>
            </a:r>
            <a:r>
              <a:rPr lang="zh-CN" altLang="en-US" b="1"/>
              <a:t>帧丢失（图（</a:t>
            </a:r>
            <a:r>
              <a:rPr lang="en-US" b="1"/>
              <a:t>c</a:t>
            </a:r>
            <a:r>
              <a:rPr lang="zh-CN" altLang="en-US" b="1"/>
              <a:t>））</a:t>
            </a:r>
            <a:r>
              <a:rPr lang="zh-CN" altLang="en-US"/>
              <a:t>。发生帧丢失时结点</a:t>
            </a:r>
            <a:r>
              <a:rPr lang="en-US"/>
              <a:t>B</a:t>
            </a:r>
            <a:r>
              <a:rPr lang="zh-CN" altLang="en-US"/>
              <a:t>当然不会向结点</a:t>
            </a:r>
            <a:r>
              <a:rPr lang="en-US"/>
              <a:t>A</a:t>
            </a:r>
            <a:r>
              <a:rPr lang="zh-CN" altLang="en-US"/>
              <a:t>发送任何应答帧。</a:t>
            </a:r>
            <a:endParaRPr lang="en-US" altLang="zh-CN"/>
          </a:p>
          <a:p>
            <a:pPr>
              <a:defRPr/>
            </a:pPr>
            <a:r>
              <a:rPr lang="zh-CN" altLang="en-US"/>
              <a:t>如果结点</a:t>
            </a:r>
            <a:r>
              <a:rPr lang="en-US"/>
              <a:t>A</a:t>
            </a:r>
            <a:r>
              <a:rPr lang="zh-CN" altLang="en-US"/>
              <a:t>要等收到结点</a:t>
            </a:r>
            <a:r>
              <a:rPr lang="en-US"/>
              <a:t>B</a:t>
            </a:r>
            <a:r>
              <a:rPr lang="zh-CN" altLang="en-US"/>
              <a:t>的应答信息后再发送下一个数据帧，那么就将永远等待下去。于是就出现了</a:t>
            </a:r>
            <a:r>
              <a:rPr lang="zh-CN" altLang="en-US" b="1"/>
              <a:t>死锁</a:t>
            </a:r>
            <a:r>
              <a:rPr lang="zh-CN" altLang="en-US"/>
              <a:t>现象。同理，若结点</a:t>
            </a:r>
            <a:r>
              <a:rPr lang="en-US"/>
              <a:t>B</a:t>
            </a:r>
            <a:r>
              <a:rPr lang="zh-CN" altLang="en-US"/>
              <a:t>发过来的</a:t>
            </a:r>
            <a:r>
              <a:rPr lang="zh-CN" altLang="en-US" b="1"/>
              <a:t>应答帧丢失</a:t>
            </a:r>
            <a:r>
              <a:rPr lang="zh-CN" altLang="en-US"/>
              <a:t>，也会</a:t>
            </a:r>
            <a:r>
              <a:rPr lang="zh-CN" altLang="en-US" b="1"/>
              <a:t>同样</a:t>
            </a:r>
            <a:r>
              <a:rPr lang="zh-CN" altLang="en-US"/>
              <a:t>出现这种</a:t>
            </a:r>
            <a:r>
              <a:rPr lang="zh-CN" altLang="en-US" b="1"/>
              <a:t>死锁</a:t>
            </a:r>
            <a:r>
              <a:rPr lang="zh-CN" altLang="en-US"/>
              <a:t>现象。</a:t>
            </a:r>
          </a:p>
          <a:p>
            <a:pPr>
              <a:defRPr/>
            </a:pPr>
            <a:r>
              <a:rPr lang="en-US"/>
              <a:t>    </a:t>
            </a:r>
            <a:r>
              <a:rPr lang="zh-CN" altLang="en-US"/>
              <a:t>要解决死锁问题，可在结点</a:t>
            </a:r>
            <a:r>
              <a:rPr lang="en-US"/>
              <a:t>A</a:t>
            </a:r>
            <a:r>
              <a:rPr lang="zh-CN" altLang="en-US"/>
              <a:t>发送完一个数据帧时，就启动一个</a:t>
            </a:r>
            <a:r>
              <a:rPr lang="zh-CN" altLang="en-US" b="1"/>
              <a:t>超时定时器</a:t>
            </a:r>
            <a:r>
              <a:rPr lang="zh-CN" altLang="en-US"/>
              <a:t>。若到了</a:t>
            </a:r>
            <a:r>
              <a:rPr lang="zh-CN" altLang="en-US" b="1"/>
              <a:t>超 时定时器所设立的重发时间</a:t>
            </a:r>
            <a:r>
              <a:rPr lang="en-US" b="1"/>
              <a:t>t</a:t>
            </a:r>
            <a:r>
              <a:rPr lang="en-US" b="1" baseline="-25000"/>
              <a:t>out</a:t>
            </a:r>
            <a:r>
              <a:rPr lang="zh-CN" altLang="en-US"/>
              <a:t>。而仍收不到结点</a:t>
            </a:r>
            <a:r>
              <a:rPr lang="en-US"/>
              <a:t>B</a:t>
            </a:r>
            <a:r>
              <a:rPr lang="zh-CN" altLang="en-US"/>
              <a:t>的任何应答帧，则结点</a:t>
            </a:r>
            <a:r>
              <a:rPr lang="en-US"/>
              <a:t>A</a:t>
            </a:r>
            <a:r>
              <a:rPr lang="zh-CN" altLang="en-US"/>
              <a:t>就</a:t>
            </a:r>
            <a:r>
              <a:rPr lang="zh-CN" altLang="en-US" b="1"/>
              <a:t>重传</a:t>
            </a:r>
            <a:r>
              <a:rPr lang="zh-CN" altLang="en-US"/>
              <a:t>前面所发送的这一数据帧（见</a:t>
            </a:r>
            <a:r>
              <a:rPr lang="zh-CN" altLang="en-US" b="1"/>
              <a:t>图（</a:t>
            </a:r>
            <a:r>
              <a:rPr lang="en-US" b="1"/>
              <a:t>c</a:t>
            </a:r>
            <a:r>
              <a:rPr lang="zh-CN" altLang="en-US" b="1"/>
              <a:t>）</a:t>
            </a:r>
            <a:r>
              <a:rPr lang="en-US" b="1"/>
              <a:t>,</a:t>
            </a:r>
            <a:r>
              <a:rPr lang="zh-CN" altLang="en-US" b="1"/>
              <a:t>（</a:t>
            </a:r>
            <a:r>
              <a:rPr lang="en-US" b="1"/>
              <a:t>d</a:t>
            </a:r>
            <a:r>
              <a:rPr lang="zh-CN" altLang="en-US" b="1"/>
              <a:t>）</a:t>
            </a:r>
            <a:r>
              <a:rPr lang="zh-CN" altLang="en-US"/>
              <a:t>）。显然，超时定时器设置的</a:t>
            </a:r>
            <a:r>
              <a:rPr lang="zh-CN" altLang="en-US" b="1"/>
              <a:t>重发时间应仔细选择确定</a:t>
            </a:r>
            <a:r>
              <a:rPr lang="zh-CN" altLang="en-US"/>
              <a:t>。若重发时间选得太短，则在正常情况下也会在对方的应答信息回到发送方之前就过早地重发数据。若重发时间选得太长，则会浪费时间。一般可将重发时间选为</a:t>
            </a:r>
            <a:r>
              <a:rPr lang="zh-CN" altLang="en-US" b="1"/>
              <a:t>略大于“从发完数据帧到收到应答帧所需的平均时间”</a:t>
            </a:r>
            <a:r>
              <a:rPr lang="zh-CN" altLang="en-US"/>
              <a:t>。</a:t>
            </a:r>
          </a:p>
          <a:p>
            <a:pPr>
              <a:defRPr/>
            </a:pPr>
            <a:r>
              <a:rPr lang="en-US" b="1"/>
              <a:t>4</a:t>
            </a:r>
            <a:r>
              <a:rPr lang="zh-CN" altLang="en-US" b="1"/>
              <a:t>．重复帧</a:t>
            </a:r>
            <a:endParaRPr lang="zh-CN" altLang="en-US"/>
          </a:p>
          <a:p>
            <a:pPr>
              <a:defRPr/>
            </a:pPr>
            <a:r>
              <a:rPr lang="zh-CN" altLang="en-US" b="1"/>
              <a:t>还有问题：</a:t>
            </a:r>
            <a:r>
              <a:rPr lang="zh-CN" altLang="en-US"/>
              <a:t>若</a:t>
            </a:r>
            <a:r>
              <a:rPr lang="zh-CN" altLang="en-US" b="1"/>
              <a:t>丢失</a:t>
            </a:r>
            <a:r>
              <a:rPr lang="zh-CN" altLang="en-US"/>
              <a:t>的是</a:t>
            </a:r>
            <a:r>
              <a:rPr lang="zh-CN" altLang="en-US" b="1"/>
              <a:t>应答帧</a:t>
            </a:r>
            <a:r>
              <a:rPr lang="zh-CN" altLang="en-US"/>
              <a:t>，则超时</a:t>
            </a:r>
            <a:r>
              <a:rPr lang="zh-CN" altLang="en-US" b="1"/>
              <a:t>重发将使主机</a:t>
            </a:r>
            <a:r>
              <a:rPr lang="en-US" b="1"/>
              <a:t>B</a:t>
            </a:r>
            <a:r>
              <a:rPr lang="zh-CN" altLang="en-US" b="1"/>
              <a:t>收到两个同样的数据帧</a:t>
            </a:r>
            <a:r>
              <a:rPr lang="zh-CN" altLang="en-US"/>
              <a:t>。由于主机</a:t>
            </a:r>
            <a:r>
              <a:rPr lang="en-US"/>
              <a:t>B</a:t>
            </a:r>
            <a:r>
              <a:rPr lang="zh-CN" altLang="en-US"/>
              <a:t>现在无法识别重复的数据帧，因而在主机</a:t>
            </a:r>
            <a:r>
              <a:rPr lang="en-US"/>
              <a:t>B</a:t>
            </a:r>
            <a:r>
              <a:rPr lang="zh-CN" altLang="en-US"/>
              <a:t>收到的数据中出现了</a:t>
            </a:r>
            <a:r>
              <a:rPr lang="zh-CN" altLang="en-US" b="1"/>
              <a:t>另一种差错</a:t>
            </a:r>
            <a:r>
              <a:rPr lang="en-US" altLang="zh-CN" b="1"/>
              <a:t>——</a:t>
            </a:r>
            <a:r>
              <a:rPr lang="zh-CN" altLang="en-US" b="1"/>
              <a:t>重复帧</a:t>
            </a:r>
            <a:r>
              <a:rPr lang="zh-CN" altLang="en-US"/>
              <a:t>。要</a:t>
            </a:r>
            <a:r>
              <a:rPr lang="zh-CN" altLang="en-US" b="1"/>
              <a:t>解决重复帧的问题</a:t>
            </a:r>
            <a:r>
              <a:rPr lang="zh-CN" altLang="en-US"/>
              <a:t>，必须使每一个</a:t>
            </a:r>
            <a:r>
              <a:rPr lang="zh-CN" altLang="en-US" b="1"/>
              <a:t>数据帧带上不同的发送序号</a:t>
            </a:r>
            <a:r>
              <a:rPr lang="zh-CN" altLang="en-US"/>
              <a:t>。每</a:t>
            </a:r>
            <a:r>
              <a:rPr lang="zh-CN" altLang="en-US" b="1"/>
              <a:t>发送</a:t>
            </a:r>
            <a:r>
              <a:rPr lang="zh-CN" altLang="en-US"/>
              <a:t>一个</a:t>
            </a:r>
            <a:r>
              <a:rPr lang="zh-CN" altLang="en-US" b="1"/>
              <a:t>新</a:t>
            </a:r>
            <a:r>
              <a:rPr lang="zh-CN" altLang="en-US"/>
              <a:t>的</a:t>
            </a:r>
            <a:r>
              <a:rPr lang="zh-CN" altLang="en-US" b="1"/>
              <a:t>数据帧</a:t>
            </a:r>
            <a:r>
              <a:rPr lang="zh-CN" altLang="en-US"/>
              <a:t>就把它的发送</a:t>
            </a:r>
            <a:r>
              <a:rPr lang="zh-CN" altLang="en-US" b="1"/>
              <a:t>序号加</a:t>
            </a:r>
            <a:r>
              <a:rPr lang="en-US" b="1"/>
              <a:t>1</a:t>
            </a:r>
            <a:r>
              <a:rPr lang="zh-CN" altLang="en-US"/>
              <a:t>。若结点</a:t>
            </a:r>
            <a:r>
              <a:rPr lang="en-US"/>
              <a:t> B</a:t>
            </a:r>
            <a:r>
              <a:rPr lang="zh-CN" altLang="en-US" b="1"/>
              <a:t>收到发送序号相同的数据帧，就表明出现了重复帧</a:t>
            </a:r>
            <a:r>
              <a:rPr lang="zh-CN" altLang="en-US"/>
              <a:t>。这时应当</a:t>
            </a:r>
            <a:r>
              <a:rPr lang="zh-CN" altLang="en-US" b="1"/>
              <a:t>丢弃</a:t>
            </a:r>
            <a:r>
              <a:rPr lang="zh-CN" altLang="en-US"/>
              <a:t>这</a:t>
            </a:r>
            <a:r>
              <a:rPr lang="zh-CN" altLang="en-US" b="1"/>
              <a:t>重复帧</a:t>
            </a:r>
            <a:r>
              <a:rPr lang="zh-CN" altLang="en-US"/>
              <a:t>，因为已经收到过同样的数据帧并且也交给了主机</a:t>
            </a:r>
            <a:r>
              <a:rPr lang="en-US"/>
              <a:t>B</a:t>
            </a:r>
            <a:r>
              <a:rPr lang="zh-CN" altLang="en-US"/>
              <a:t>。但应注意，此时结点</a:t>
            </a:r>
            <a:r>
              <a:rPr lang="en-US"/>
              <a:t>B</a:t>
            </a:r>
            <a:r>
              <a:rPr lang="zh-CN" altLang="en-US"/>
              <a:t>还必须向结点</a:t>
            </a:r>
            <a:r>
              <a:rPr lang="en-US"/>
              <a:t>A</a:t>
            </a:r>
            <a:r>
              <a:rPr lang="zh-CN" altLang="en-US" b="1"/>
              <a:t>发送</a:t>
            </a:r>
            <a:r>
              <a:rPr lang="zh-CN" altLang="en-US"/>
              <a:t>一个确认帧</a:t>
            </a:r>
            <a:r>
              <a:rPr lang="en-US" b="1"/>
              <a:t>ACK</a:t>
            </a:r>
            <a:r>
              <a:rPr lang="zh-CN" altLang="en-US"/>
              <a:t>，</a:t>
            </a:r>
            <a:r>
              <a:rPr lang="zh-CN" altLang="en-US" b="1"/>
              <a:t>因为</a:t>
            </a:r>
            <a:r>
              <a:rPr lang="zh-CN" altLang="en-US"/>
              <a:t>结点</a:t>
            </a:r>
            <a:r>
              <a:rPr lang="en-US"/>
              <a:t>B</a:t>
            </a:r>
            <a:r>
              <a:rPr lang="zh-CN" altLang="en-US"/>
              <a:t>已经知道结点</a:t>
            </a:r>
            <a:r>
              <a:rPr lang="en-US" b="1"/>
              <a:t>A</a:t>
            </a:r>
            <a:r>
              <a:rPr lang="zh-CN" altLang="en-US" b="1"/>
              <a:t>还没有收到上一次发过去的确认帧</a:t>
            </a:r>
            <a:r>
              <a:rPr lang="en-US" b="1"/>
              <a:t>ACK</a:t>
            </a:r>
            <a:r>
              <a:rPr lang="zh-CN" altLang="en-US"/>
              <a:t>。</a:t>
            </a:r>
          </a:p>
          <a:p>
            <a:pPr>
              <a:defRPr/>
            </a:pPr>
            <a:r>
              <a:rPr lang="zh-CN" altLang="en-US" b="1"/>
              <a:t>序号</a:t>
            </a:r>
            <a:r>
              <a:rPr lang="zh-CN" altLang="en-US"/>
              <a:t>所占用的</a:t>
            </a:r>
            <a:r>
              <a:rPr lang="zh-CN" altLang="en-US" b="1"/>
              <a:t>比特数</a:t>
            </a:r>
            <a:r>
              <a:rPr lang="zh-CN" altLang="en-US"/>
              <a:t>是</a:t>
            </a:r>
            <a:r>
              <a:rPr lang="zh-CN" altLang="en-US" b="1"/>
              <a:t>有限</a:t>
            </a:r>
            <a:r>
              <a:rPr lang="zh-CN" altLang="en-US"/>
              <a:t>的。因此，经过</a:t>
            </a:r>
            <a:r>
              <a:rPr lang="zh-CN" altLang="en-US" b="1"/>
              <a:t>一段时间</a:t>
            </a:r>
            <a:r>
              <a:rPr lang="zh-CN" altLang="en-US"/>
              <a:t>后，发送</a:t>
            </a:r>
            <a:r>
              <a:rPr lang="zh-CN" altLang="en-US" b="1"/>
              <a:t>序号</a:t>
            </a:r>
            <a:r>
              <a:rPr lang="zh-CN" altLang="en-US"/>
              <a:t>就会</a:t>
            </a:r>
            <a:r>
              <a:rPr lang="zh-CN" altLang="en-US" b="1"/>
              <a:t>重复</a:t>
            </a:r>
            <a:r>
              <a:rPr lang="zh-CN" altLang="en-US"/>
              <a:t>。例如，当发送序号占用</a:t>
            </a:r>
            <a:r>
              <a:rPr lang="en-US"/>
              <a:t>3</a:t>
            </a:r>
            <a:r>
              <a:rPr lang="zh-CN" altLang="en-US"/>
              <a:t>个比特时，就可组成共有</a:t>
            </a:r>
            <a:r>
              <a:rPr lang="en-US"/>
              <a:t>8</a:t>
            </a:r>
            <a:r>
              <a:rPr lang="zh-CN" altLang="en-US"/>
              <a:t>个不同的发送序号，从</a:t>
            </a:r>
            <a:r>
              <a:rPr lang="en-US"/>
              <a:t>000</a:t>
            </a:r>
            <a:r>
              <a:rPr lang="zh-CN" altLang="en-US"/>
              <a:t>到</a:t>
            </a:r>
            <a:r>
              <a:rPr lang="en-US"/>
              <a:t>111</a:t>
            </a:r>
            <a:r>
              <a:rPr lang="zh-CN" altLang="en-US"/>
              <a:t>。当数据帧的发送序号为</a:t>
            </a:r>
            <a:r>
              <a:rPr lang="en-US"/>
              <a:t>111</a:t>
            </a:r>
            <a:r>
              <a:rPr lang="zh-CN" altLang="en-US"/>
              <a:t>时，下一个发送序号就又是</a:t>
            </a:r>
            <a:r>
              <a:rPr lang="en-US"/>
              <a:t>000</a:t>
            </a:r>
            <a:r>
              <a:rPr lang="zh-CN" altLang="en-US"/>
              <a:t>。因此，要进行编号就要考虑序号到底要占用多少个比特。序号占用的比特数越少，数据传输的额外开销就越小。对于</a:t>
            </a:r>
            <a:r>
              <a:rPr lang="zh-CN" altLang="en-US" b="1"/>
              <a:t>停止等待协议</a:t>
            </a:r>
            <a:r>
              <a:rPr lang="zh-CN" altLang="en-US"/>
              <a:t>，由于每发送一个数据帧就停止等待，因此</a:t>
            </a:r>
            <a:r>
              <a:rPr lang="zh-CN" altLang="en-US" b="1"/>
              <a:t>用一个比特来编号就够了</a:t>
            </a:r>
            <a:r>
              <a:rPr lang="zh-CN" altLang="en-US"/>
              <a:t>。一个比特可以有</a:t>
            </a:r>
            <a:r>
              <a:rPr lang="en-US"/>
              <a:t>0</a:t>
            </a:r>
            <a:r>
              <a:rPr lang="zh-CN" altLang="en-US"/>
              <a:t>和</a:t>
            </a:r>
            <a:r>
              <a:rPr lang="en-US"/>
              <a:t>1</a:t>
            </a:r>
            <a:r>
              <a:rPr lang="zh-CN" altLang="en-US"/>
              <a:t>两种不同的序号。这样，数据帧中的</a:t>
            </a:r>
            <a:r>
              <a:rPr lang="zh-CN" altLang="en-US" b="1"/>
              <a:t>发送序号</a:t>
            </a:r>
            <a:r>
              <a:rPr lang="zh-CN" altLang="en-US"/>
              <a:t>（以后记为</a:t>
            </a:r>
            <a:r>
              <a:rPr lang="en-US" b="1"/>
              <a:t>N</a:t>
            </a:r>
            <a:r>
              <a:rPr lang="zh-CN" altLang="en-US" b="1"/>
              <a:t>（</a:t>
            </a:r>
            <a:r>
              <a:rPr lang="en-US" b="1"/>
              <a:t>S</a:t>
            </a:r>
            <a:r>
              <a:rPr lang="zh-CN" altLang="en-US" b="1"/>
              <a:t>）</a:t>
            </a:r>
            <a:r>
              <a:rPr lang="zh-CN" altLang="en-US"/>
              <a:t>，</a:t>
            </a:r>
            <a:r>
              <a:rPr lang="en-US"/>
              <a:t>S</a:t>
            </a:r>
            <a:r>
              <a:rPr lang="zh-CN" altLang="en-US"/>
              <a:t>表示发送）就以</a:t>
            </a:r>
            <a:r>
              <a:rPr lang="en-US" b="1"/>
              <a:t>0</a:t>
            </a:r>
            <a:r>
              <a:rPr lang="zh-CN" altLang="en-US" b="1"/>
              <a:t>和</a:t>
            </a:r>
            <a:r>
              <a:rPr lang="en-US" b="1"/>
              <a:t>1</a:t>
            </a:r>
            <a:r>
              <a:rPr lang="zh-CN" altLang="en-US" b="1"/>
              <a:t>交替</a:t>
            </a:r>
            <a:r>
              <a:rPr lang="zh-CN" altLang="en-US"/>
              <a:t>的方式</a:t>
            </a:r>
            <a:r>
              <a:rPr lang="zh-CN" altLang="en-US" b="1"/>
              <a:t>出现在数据帧中</a:t>
            </a:r>
            <a:r>
              <a:rPr lang="zh-CN" altLang="en-US"/>
              <a:t>。每发一个新的数据帧，发送序号就和上次发送的不一样。用这样的方法就可以使收方能够区分开新的数据帧和重发的数据帧了。</a:t>
            </a:r>
          </a:p>
          <a:p>
            <a:pPr>
              <a:defRPr/>
            </a:pPr>
            <a:endParaRPr lang="zh-CN" altLang="en-US"/>
          </a:p>
        </p:txBody>
      </p:sp>
      <p:sp>
        <p:nvSpPr>
          <p:cNvPr id="266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C4999D6-7496-43C3-8CAA-1F2B69FD4157}" type="slidenum">
              <a:rPr lang="en-US" altLang="zh-CN" smtClean="0">
                <a:latin typeface="Tahoma" panose="020B0604030504040204" pitchFamily="34" charset="0"/>
              </a:rPr>
              <a:pPr>
                <a:spcBef>
                  <a:spcPct val="0"/>
                </a:spcBef>
              </a:pPr>
              <a:t>34</a:t>
            </a:fld>
            <a:endParaRPr lang="en-US" altLang="zh-CN">
              <a:latin typeface="Tahoma" panose="020B060403050404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41A3DFC-B624-4C14-B770-0FD380116106}" type="slidenum">
              <a:rPr lang="en-US" altLang="zh-CN"/>
              <a:t>50</a:t>
            </a:fld>
            <a:endParaRPr lang="en-US" altLang="zh-CN"/>
          </a:p>
        </p:txBody>
      </p:sp>
      <p:sp>
        <p:nvSpPr>
          <p:cNvPr id="807938" name="Rectangle 2"/>
          <p:cNvSpPr>
            <a:spLocks noGrp="1" noRot="1" noChangeAspect="1" noChangeArrowheads="1" noTextEdit="1"/>
          </p:cNvSpPr>
          <p:nvPr>
            <p:ph type="sldImg"/>
          </p:nvPr>
        </p:nvSpPr>
        <p:spPr>
          <a:xfrm>
            <a:off x="2863850" y="519113"/>
            <a:ext cx="3416300" cy="2562225"/>
          </a:xfrm>
        </p:spPr>
      </p:sp>
      <p:sp>
        <p:nvSpPr>
          <p:cNvPr id="807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26C0A58-0D44-4367-9C06-7D2B6FD1F359}" type="slidenum">
              <a:rPr lang="en-US" altLang="zh-CN"/>
              <a:t>74</a:t>
            </a:fld>
            <a:endParaRPr lang="en-US" altLang="zh-CN"/>
          </a:p>
        </p:txBody>
      </p:sp>
      <p:sp>
        <p:nvSpPr>
          <p:cNvPr id="835586" name="Rectangle 2"/>
          <p:cNvSpPr>
            <a:spLocks noGrp="1" noRot="1" noChangeAspect="1" noChangeArrowheads="1" noTextEdit="1"/>
          </p:cNvSpPr>
          <p:nvPr>
            <p:ph type="sldImg"/>
          </p:nvPr>
        </p:nvSpPr>
        <p:spPr>
          <a:xfrm>
            <a:off x="2863850" y="519113"/>
            <a:ext cx="3416300" cy="2562225"/>
          </a:xfrm>
        </p:spPr>
      </p:sp>
      <p:sp>
        <p:nvSpPr>
          <p:cNvPr id="8355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D815381-B5E8-4F00-BEE5-B1D558863446}" type="slidenum">
              <a:rPr lang="en-US" altLang="zh-CN"/>
              <a:t>78</a:t>
            </a:fld>
            <a:endParaRPr lang="en-US" altLang="zh-CN"/>
          </a:p>
        </p:txBody>
      </p:sp>
      <p:sp>
        <p:nvSpPr>
          <p:cNvPr id="847874" name="Rectangle 2"/>
          <p:cNvSpPr>
            <a:spLocks noGrp="1" noRot="1" noChangeAspect="1" noChangeArrowheads="1" noTextEdit="1"/>
          </p:cNvSpPr>
          <p:nvPr>
            <p:ph type="sldImg"/>
          </p:nvPr>
        </p:nvSpPr>
        <p:spPr>
          <a:xfrm>
            <a:off x="2863850" y="519113"/>
            <a:ext cx="3416300" cy="2562225"/>
          </a:xfrm>
        </p:spPr>
      </p:sp>
      <p:sp>
        <p:nvSpPr>
          <p:cNvPr id="847875"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700"/>
            <a:ext cx="1219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23" name="Rectangle 3"/>
          <p:cNvSpPr>
            <a:spLocks noGrp="1" noChangeArrowheads="1"/>
          </p:cNvSpPr>
          <p:nvPr>
            <p:ph type="ctrTitle"/>
          </p:nvPr>
        </p:nvSpPr>
        <p:spPr>
          <a:xfrm>
            <a:off x="1022351" y="2657476"/>
            <a:ext cx="10399183" cy="1114425"/>
          </a:xfrm>
          <a:effectLst>
            <a:outerShdw dist="17961" dir="2700000" algn="ctr" rotWithShape="0">
              <a:schemeClr val="bg2"/>
            </a:outerShdw>
          </a:effectLst>
        </p:spPr>
        <p:txBody>
          <a:bodyPr/>
          <a:lstStyle>
            <a:lvl1pPr>
              <a:defRPr/>
            </a:lvl1pPr>
          </a:lstStyle>
          <a:p>
            <a:pPr lvl="0"/>
            <a:r>
              <a:rPr lang="en-US" altLang="zh-CN" noProof="0"/>
              <a:t>Click to Edit Master Title Style</a:t>
            </a:r>
          </a:p>
        </p:txBody>
      </p:sp>
      <p:sp>
        <p:nvSpPr>
          <p:cNvPr id="798724" name="Rectangle 4"/>
          <p:cNvSpPr>
            <a:spLocks noGrp="1" noChangeArrowheads="1"/>
          </p:cNvSpPr>
          <p:nvPr>
            <p:ph type="subTitle" idx="1"/>
          </p:nvPr>
        </p:nvSpPr>
        <p:spPr>
          <a:xfrm>
            <a:off x="529167" y="4251325"/>
            <a:ext cx="11120967" cy="1798638"/>
          </a:xfrm>
          <a:effectLst>
            <a:outerShdw algn="ctr" rotWithShape="0">
              <a:schemeClr val="tx1"/>
            </a:outerShdw>
          </a:effectLst>
        </p:spPr>
        <p:txBody>
          <a:bodyPr/>
          <a:lstStyle>
            <a:lvl1pPr marL="0" indent="0" algn="ctr">
              <a:buFont typeface="Wingdings" pitchFamily="2" charset="2"/>
              <a:buNone/>
              <a:defRPr/>
            </a:lvl1pPr>
          </a:lstStyle>
          <a:p>
            <a:pPr lvl="0"/>
            <a:r>
              <a:rPr lang="en-US" altLang="zh-CN" noProof="0"/>
              <a:t>Click to Edit Master Subtitle Style</a:t>
            </a:r>
          </a:p>
        </p:txBody>
      </p:sp>
    </p:spTree>
    <p:extLst>
      <p:ext uri="{BB962C8B-B14F-4D97-AF65-F5344CB8AC3E}">
        <p14:creationId xmlns:p14="http://schemas.microsoft.com/office/powerpoint/2010/main" val="3780847950"/>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78791146"/>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652747526"/>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7484" y="1784350"/>
            <a:ext cx="538056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1251" y="1784350"/>
            <a:ext cx="5382683"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8354930"/>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62265682"/>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50473134"/>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5776230"/>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698457962"/>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409929628"/>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00671624"/>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2851" y="222251"/>
            <a:ext cx="2741083" cy="5133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7485" y="222251"/>
            <a:ext cx="8022167" cy="5133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0501664"/>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userDrawn="1"/>
        </p:nvSpPr>
        <p:spPr bwMode="auto">
          <a:xfrm>
            <a:off x="2667000" y="3409950"/>
            <a:ext cx="12192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800"/>
          </a:p>
        </p:txBody>
      </p:sp>
      <p:sp>
        <p:nvSpPr>
          <p:cNvPr id="1027" name="Rectangle 4"/>
          <p:cNvSpPr>
            <a:spLocks noGrp="1" noChangeArrowheads="1"/>
          </p:cNvSpPr>
          <p:nvPr>
            <p:ph type="title"/>
          </p:nvPr>
        </p:nvSpPr>
        <p:spPr bwMode="auto">
          <a:xfrm>
            <a:off x="723901" y="222250"/>
            <a:ext cx="10742084"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124" tIns="41061" rIns="82124" bIns="41061" numCol="1" anchor="ctr" anchorCtr="0" compatLnSpc="1">
            <a:prstTxWarp prst="textNoShape">
              <a:avLst/>
            </a:prstTxWarp>
          </a:bodyPr>
          <a:lstStyle/>
          <a:p>
            <a:pPr lvl="0"/>
            <a:r>
              <a:rPr lang="en-US" altLang="zh-CN"/>
              <a:t>Slide Title</a:t>
            </a:r>
          </a:p>
        </p:txBody>
      </p:sp>
      <p:sp>
        <p:nvSpPr>
          <p:cNvPr id="1028" name="Rectangle 5"/>
          <p:cNvSpPr>
            <a:spLocks noGrp="1" noChangeArrowheads="1"/>
          </p:cNvSpPr>
          <p:nvPr>
            <p:ph type="body" idx="1"/>
          </p:nvPr>
        </p:nvSpPr>
        <p:spPr bwMode="auto">
          <a:xfrm>
            <a:off x="607485" y="1784350"/>
            <a:ext cx="10966449"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124" tIns="41061" rIns="82124" bIns="41061" numCol="1" anchor="t" anchorCtr="0" compatLnSpc="1">
            <a:prstTxWarp prst="textNoShape">
              <a:avLst/>
            </a:prstTxWarp>
          </a:bodyPr>
          <a:lstStyle/>
          <a:p>
            <a:pPr lvl="0"/>
            <a:r>
              <a:rPr lang="en-US" altLang="zh-CN"/>
              <a:t>Body Text</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3" name="Rectangle 6"/>
          <p:cNvSpPr>
            <a:spLocks noChangeArrowheads="1"/>
          </p:cNvSpPr>
          <p:nvPr userDrawn="1"/>
        </p:nvSpPr>
        <p:spPr bwMode="auto">
          <a:xfrm>
            <a:off x="11482917" y="6601653"/>
            <a:ext cx="300504" cy="221423"/>
          </a:xfrm>
          <a:prstGeom prst="rect">
            <a:avLst/>
          </a:prstGeom>
          <a:noFill/>
          <a:ln w="9525">
            <a:noFill/>
            <a:miter lim="800000"/>
            <a:headEnd/>
            <a:tailEnd/>
          </a:ln>
          <a:effectLst/>
        </p:spPr>
        <p:txBody>
          <a:bodyPr wrap="none" lIns="82124" tIns="41061" rIns="82124" bIns="41061" anchor="b" anchorCtr="1">
            <a:spAutoFit/>
          </a:bodyPr>
          <a:lstStyle>
            <a:lvl1pPr defTabSz="814388"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defTabSz="814388"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defTabSz="814388"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defTabSz="814388"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defTabSz="814388"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defTabSz="814388"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defTabSz="814388"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defTabSz="814388"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defTabSz="814388"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defRPr/>
            </a:pPr>
            <a:fld id="{E583832E-031F-42E4-97BA-C0DCFFAF342B}" type="slidenum">
              <a:rPr kumimoji="0" lang="en-US" altLang="zh-CN" sz="900" smtClean="0">
                <a:solidFill>
                  <a:srgbClr val="808080"/>
                </a:solidFill>
              </a:rPr>
              <a:pPr>
                <a:defRPr/>
              </a:pPr>
              <a:t>‹#›</a:t>
            </a:fld>
            <a:endParaRPr kumimoji="0" lang="en-US" altLang="zh-CN" sz="900">
              <a:solidFill>
                <a:srgbClr val="808080"/>
              </a:solidFill>
            </a:endParaRPr>
          </a:p>
        </p:txBody>
      </p:sp>
      <p:pic>
        <p:nvPicPr>
          <p:cNvPr id="1030" name="图片 3"/>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350" y="960439"/>
            <a:ext cx="12192001"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82"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transition spd="med">
    <p:random/>
  </p:transition>
  <p:txStyles>
    <p:titleStyle>
      <a:lvl1pPr algn="ctr" rtl="0" eaLnBrk="0" fontAlgn="base" hangingPunct="0">
        <a:spcBef>
          <a:spcPct val="0"/>
        </a:spcBef>
        <a:spcAft>
          <a:spcPct val="0"/>
        </a:spcAft>
        <a:defRPr sz="4400" b="1">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宋体" pitchFamily="2" charset="-122"/>
          <a:ea typeface="宋体" pitchFamily="2" charset="-122"/>
        </a:defRPr>
      </a:lvl2pPr>
      <a:lvl3pPr algn="ctr" rtl="0" eaLnBrk="0" fontAlgn="base" hangingPunct="0">
        <a:spcBef>
          <a:spcPct val="0"/>
        </a:spcBef>
        <a:spcAft>
          <a:spcPct val="0"/>
        </a:spcAft>
        <a:defRPr sz="4400" b="1">
          <a:solidFill>
            <a:schemeClr val="tx1"/>
          </a:solidFill>
          <a:latin typeface="宋体" pitchFamily="2" charset="-122"/>
          <a:ea typeface="宋体" pitchFamily="2" charset="-122"/>
        </a:defRPr>
      </a:lvl3pPr>
      <a:lvl4pPr algn="ctr" rtl="0" eaLnBrk="0" fontAlgn="base" hangingPunct="0">
        <a:spcBef>
          <a:spcPct val="0"/>
        </a:spcBef>
        <a:spcAft>
          <a:spcPct val="0"/>
        </a:spcAft>
        <a:defRPr sz="4400" b="1">
          <a:solidFill>
            <a:schemeClr val="tx1"/>
          </a:solidFill>
          <a:latin typeface="宋体" pitchFamily="2" charset="-122"/>
          <a:ea typeface="宋体" pitchFamily="2" charset="-122"/>
        </a:defRPr>
      </a:lvl4pPr>
      <a:lvl5pPr algn="ctr" rtl="0" eaLnBrk="0" fontAlgn="base" hangingPunct="0">
        <a:spcBef>
          <a:spcPct val="0"/>
        </a:spcBef>
        <a:spcAft>
          <a:spcPct val="0"/>
        </a:spcAft>
        <a:defRPr sz="4400" b="1">
          <a:solidFill>
            <a:schemeClr val="tx1"/>
          </a:solidFill>
          <a:latin typeface="宋体" pitchFamily="2" charset="-122"/>
          <a:ea typeface="宋体" pitchFamily="2" charset="-122"/>
        </a:defRPr>
      </a:lvl5pPr>
      <a:lvl6pPr marL="457200" algn="ctr" rtl="0" fontAlgn="base">
        <a:spcBef>
          <a:spcPct val="0"/>
        </a:spcBef>
        <a:spcAft>
          <a:spcPct val="0"/>
        </a:spcAft>
        <a:defRPr sz="4400" b="1">
          <a:solidFill>
            <a:schemeClr val="tx1"/>
          </a:solidFill>
          <a:latin typeface="宋体" pitchFamily="2" charset="-122"/>
          <a:ea typeface="宋体" pitchFamily="2" charset="-122"/>
        </a:defRPr>
      </a:lvl6pPr>
      <a:lvl7pPr marL="914400" algn="ctr" rtl="0" fontAlgn="base">
        <a:spcBef>
          <a:spcPct val="0"/>
        </a:spcBef>
        <a:spcAft>
          <a:spcPct val="0"/>
        </a:spcAft>
        <a:defRPr sz="4400" b="1">
          <a:solidFill>
            <a:schemeClr val="tx1"/>
          </a:solidFill>
          <a:latin typeface="宋体" pitchFamily="2" charset="-122"/>
          <a:ea typeface="宋体" pitchFamily="2" charset="-122"/>
        </a:defRPr>
      </a:lvl7pPr>
      <a:lvl8pPr marL="1371600" algn="ctr" rtl="0" fontAlgn="base">
        <a:spcBef>
          <a:spcPct val="0"/>
        </a:spcBef>
        <a:spcAft>
          <a:spcPct val="0"/>
        </a:spcAft>
        <a:defRPr sz="4400" b="1">
          <a:solidFill>
            <a:schemeClr val="tx1"/>
          </a:solidFill>
          <a:latin typeface="宋体" pitchFamily="2" charset="-122"/>
          <a:ea typeface="宋体" pitchFamily="2" charset="-122"/>
        </a:defRPr>
      </a:lvl8pPr>
      <a:lvl9pPr marL="1828800" algn="ctr" rtl="0" fontAlgn="base">
        <a:spcBef>
          <a:spcPct val="0"/>
        </a:spcBef>
        <a:spcAft>
          <a:spcPct val="0"/>
        </a:spcAft>
        <a:defRPr sz="4400" b="1">
          <a:solidFill>
            <a:schemeClr val="tx1"/>
          </a:solidFill>
          <a:latin typeface="宋体" pitchFamily="2" charset="-122"/>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image" Target="../media/image4.wmf"/><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7" name="Rectangle 3"/>
          <p:cNvSpPr>
            <a:spLocks noChangeArrowheads="1"/>
          </p:cNvSpPr>
          <p:nvPr/>
        </p:nvSpPr>
        <p:spPr bwMode="auto">
          <a:xfrm>
            <a:off x="2608263" y="3614739"/>
            <a:ext cx="7010400" cy="831639"/>
          </a:xfrm>
          <a:prstGeom prst="rect">
            <a:avLst/>
          </a:prstGeom>
          <a:noFill/>
          <a:ln w="9525">
            <a:solidFill>
              <a:schemeClr val="accent2"/>
            </a:solidFill>
            <a:miter lim="800000"/>
            <a:headEnd/>
            <a:tailEnd/>
          </a:ln>
          <a:effectLst/>
          <a:extLst/>
        </p:spPr>
        <p:txBody>
          <a:bodyPr lIns="92075" tIns="46038" rIns="92075" bIns="46038">
            <a:spAutoFit/>
          </a:bodyPr>
          <a:lstStyle/>
          <a:p>
            <a:pPr algn="ctr">
              <a:spcBef>
                <a:spcPct val="50000"/>
              </a:spcBef>
              <a:defRPr/>
            </a:pPr>
            <a:r>
              <a:rPr kumimoji="0" lang="zh-CN" altLang="en-US" sz="4800" b="1">
                <a:solidFill>
                  <a:srgbClr val="CC0000"/>
                </a:solidFill>
                <a:effectLst>
                  <a:outerShdw blurRad="38100" dist="38100" dir="2700000" algn="tl">
                    <a:srgbClr val="C0C0C0"/>
                  </a:outerShdw>
                </a:effectLst>
                <a:latin typeface="Arial" charset="0"/>
                <a:ea typeface="华文新魏" pitchFamily="2" charset="-122"/>
              </a:rPr>
              <a:t>第</a:t>
            </a:r>
            <a:r>
              <a:rPr kumimoji="0" lang="en-US" altLang="zh-CN" sz="4800" b="1">
                <a:solidFill>
                  <a:srgbClr val="CC0000"/>
                </a:solidFill>
                <a:effectLst>
                  <a:outerShdw blurRad="38100" dist="38100" dir="2700000" algn="tl">
                    <a:srgbClr val="C0C0C0"/>
                  </a:outerShdw>
                </a:effectLst>
                <a:latin typeface="Arial" charset="0"/>
                <a:ea typeface="华文新魏" pitchFamily="2" charset="-122"/>
              </a:rPr>
              <a:t>4</a:t>
            </a:r>
            <a:r>
              <a:rPr kumimoji="0" lang="zh-CN" altLang="en-US" sz="4800" b="1">
                <a:solidFill>
                  <a:srgbClr val="CC0000"/>
                </a:solidFill>
                <a:effectLst>
                  <a:outerShdw blurRad="38100" dist="38100" dir="2700000" algn="tl">
                    <a:srgbClr val="C0C0C0"/>
                  </a:outerShdw>
                </a:effectLst>
                <a:latin typeface="Arial" charset="0"/>
                <a:ea typeface="华文新魏" pitchFamily="2" charset="-122"/>
              </a:rPr>
              <a:t>章 数据链路层</a:t>
            </a:r>
            <a:endParaRPr kumimoji="0" lang="zh-CN" altLang="zh-CN" sz="4800" b="1">
              <a:solidFill>
                <a:srgbClr val="CC0000"/>
              </a:solidFill>
              <a:effectLst>
                <a:outerShdw blurRad="38100" dist="38100" dir="2700000" algn="tl">
                  <a:srgbClr val="C0C0C0"/>
                </a:outerShdw>
              </a:effectLst>
              <a:latin typeface="Arial" charset="0"/>
              <a:ea typeface="华文新魏" pitchFamily="2" charset="-122"/>
            </a:endParaRPr>
          </a:p>
        </p:txBody>
      </p:sp>
      <p:sp>
        <p:nvSpPr>
          <p:cNvPr id="5124" name="Text Box 4"/>
          <p:cNvSpPr txBox="1">
            <a:spLocks noChangeArrowheads="1"/>
          </p:cNvSpPr>
          <p:nvPr/>
        </p:nvSpPr>
        <p:spPr bwMode="auto">
          <a:xfrm>
            <a:off x="3792539" y="4803776"/>
            <a:ext cx="6059487" cy="1654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nSpc>
                <a:spcPct val="90000"/>
              </a:lnSpc>
              <a:spcBef>
                <a:spcPct val="40000"/>
              </a:spcBef>
              <a:buClrTx/>
              <a:buSzTx/>
              <a:buFontTx/>
              <a:buNone/>
            </a:pPr>
            <a:r>
              <a:rPr kumimoji="0" lang="zh-CN" altLang="en-US" sz="2900" b="1">
                <a:solidFill>
                  <a:srgbClr val="006C88"/>
                </a:solidFill>
                <a:latin typeface="华文楷体" panose="02010600040101010101" pitchFamily="2" charset="-122"/>
                <a:ea typeface="华文楷体" panose="02010600040101010101" pitchFamily="2" charset="-122"/>
              </a:rPr>
              <a:t>主讲：陈剑波</a:t>
            </a:r>
          </a:p>
          <a:p>
            <a:pPr>
              <a:lnSpc>
                <a:spcPct val="90000"/>
              </a:lnSpc>
              <a:spcBef>
                <a:spcPct val="40000"/>
              </a:spcBef>
              <a:buClrTx/>
              <a:buSzTx/>
              <a:buFontTx/>
              <a:buNone/>
            </a:pPr>
            <a:r>
              <a:rPr kumimoji="0" lang="zh-CN" altLang="en-US" sz="2900" b="1">
                <a:solidFill>
                  <a:srgbClr val="006C88"/>
                </a:solidFill>
                <a:latin typeface="华文楷体" panose="02010600040101010101" pitchFamily="2" charset="-122"/>
                <a:ea typeface="华文楷体" panose="02010600040101010101" pitchFamily="2" charset="-122"/>
              </a:rPr>
              <a:t>电话：</a:t>
            </a:r>
            <a:r>
              <a:rPr kumimoji="0" lang="en-US" altLang="zh-CN" sz="2900" b="1">
                <a:solidFill>
                  <a:srgbClr val="006C88"/>
                </a:solidFill>
                <a:latin typeface="华文楷体" panose="02010600040101010101" pitchFamily="2" charset="-122"/>
                <a:ea typeface="华文楷体" panose="02010600040101010101" pitchFamily="2" charset="-122"/>
              </a:rPr>
              <a:t>13709088388</a:t>
            </a:r>
          </a:p>
          <a:p>
            <a:pPr>
              <a:lnSpc>
                <a:spcPct val="90000"/>
              </a:lnSpc>
              <a:spcBef>
                <a:spcPct val="40000"/>
              </a:spcBef>
              <a:buClrTx/>
              <a:buSzTx/>
              <a:buFontTx/>
              <a:buNone/>
            </a:pPr>
            <a:r>
              <a:rPr kumimoji="0" lang="zh-CN" altLang="en-US" sz="2900" b="1">
                <a:solidFill>
                  <a:srgbClr val="006C88"/>
                </a:solidFill>
                <a:latin typeface="华文楷体" panose="02010600040101010101" pitchFamily="2" charset="-122"/>
                <a:ea typeface="华文楷体" panose="02010600040101010101" pitchFamily="2" charset="-122"/>
              </a:rPr>
              <a:t>邮件：</a:t>
            </a:r>
            <a:r>
              <a:rPr kumimoji="0" lang="en-US" altLang="zh-CN" sz="2900" b="1">
                <a:solidFill>
                  <a:srgbClr val="006C88"/>
                </a:solidFill>
                <a:latin typeface="华文楷体" panose="02010600040101010101" pitchFamily="2" charset="-122"/>
                <a:ea typeface="华文楷体" panose="02010600040101010101" pitchFamily="2" charset="-122"/>
              </a:rPr>
              <a:t>jbchen@swjtu.edu.cn</a:t>
            </a:r>
            <a:endParaRPr kumimoji="0" lang="en-US" altLang="zh-CN" sz="2000" b="1">
              <a:solidFill>
                <a:srgbClr val="006C88"/>
              </a:solidFill>
              <a:latin typeface="Times New Roman" panose="02020603050405020304" pitchFamily="18" charset="0"/>
              <a:ea typeface="华文楷体"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2"/>
          <p:cNvGrpSpPr>
            <a:grpSpLocks/>
          </p:cNvGrpSpPr>
          <p:nvPr/>
        </p:nvGrpSpPr>
        <p:grpSpPr bwMode="auto">
          <a:xfrm>
            <a:off x="895350" y="1274763"/>
            <a:ext cx="4400550" cy="1492250"/>
            <a:chOff x="1775" y="922"/>
            <a:chExt cx="2772" cy="940"/>
          </a:xfrm>
        </p:grpSpPr>
        <p:grpSp>
          <p:nvGrpSpPr>
            <p:cNvPr id="6148" name="Group 3"/>
            <p:cNvGrpSpPr>
              <a:grpSpLocks/>
            </p:cNvGrpSpPr>
            <p:nvPr/>
          </p:nvGrpSpPr>
          <p:grpSpPr bwMode="auto">
            <a:xfrm>
              <a:off x="1775" y="922"/>
              <a:ext cx="2666" cy="940"/>
              <a:chOff x="1200" y="194"/>
              <a:chExt cx="3121" cy="1439"/>
            </a:xfrm>
          </p:grpSpPr>
          <p:sp>
            <p:nvSpPr>
              <p:cNvPr id="6150" name="Freeform 4"/>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802"/>
                  <a:gd name="T94" fmla="*/ 0 h 1141"/>
                  <a:gd name="T95" fmla="*/ 1802 w 1802"/>
                  <a:gd name="T96" fmla="*/ 1141 h 114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a:solidFill>
                  <a:srgbClr val="FFFFFF"/>
                </a:solidFill>
                <a:round/>
                <a:headEnd/>
                <a:tailEnd/>
              </a:ln>
            </p:spPr>
            <p:txBody>
              <a:bodyPr/>
              <a:lstStyle/>
              <a:p>
                <a:endParaRPr lang="zh-CN" altLang="en-US"/>
              </a:p>
            </p:txBody>
          </p:sp>
          <p:sp>
            <p:nvSpPr>
              <p:cNvPr id="6151" name="Freeform 5"/>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97"/>
                  <a:gd name="T94" fmla="*/ 0 h 1032"/>
                  <a:gd name="T95" fmla="*/ 1797 w 1797"/>
                  <a:gd name="T96" fmla="*/ 1032 h 103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a:solidFill>
                  <a:srgbClr val="4C4C4C"/>
                </a:solidFill>
                <a:round/>
                <a:headEnd/>
                <a:tailEnd/>
              </a:ln>
            </p:spPr>
            <p:txBody>
              <a:bodyPr/>
              <a:lstStyle/>
              <a:p>
                <a:endParaRPr lang="zh-CN" altLang="en-US"/>
              </a:p>
            </p:txBody>
          </p:sp>
          <p:sp>
            <p:nvSpPr>
              <p:cNvPr id="6152" name="Freeform 6"/>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7"/>
                  <a:gd name="T40" fmla="*/ 0 h 364"/>
                  <a:gd name="T41" fmla="*/ 607 w 607"/>
                  <a:gd name="T42" fmla="*/ 364 h 36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a:solidFill>
                  <a:srgbClr val="FFFFFF"/>
                </a:solidFill>
                <a:round/>
                <a:headEnd/>
                <a:tailEnd/>
              </a:ln>
            </p:spPr>
            <p:txBody>
              <a:bodyPr/>
              <a:lstStyle/>
              <a:p>
                <a:endParaRPr lang="zh-CN" altLang="en-US"/>
              </a:p>
            </p:txBody>
          </p:sp>
          <p:sp>
            <p:nvSpPr>
              <p:cNvPr id="6153" name="Freeform 7"/>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3"/>
                  <a:gd name="T34" fmla="*/ 0 h 284"/>
                  <a:gd name="T35" fmla="*/ 303 w 303"/>
                  <a:gd name="T36" fmla="*/ 284 h 2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a:solidFill>
                  <a:srgbClr val="FFFF00"/>
                </a:solidFill>
                <a:round/>
                <a:headEnd/>
                <a:tailEnd/>
              </a:ln>
            </p:spPr>
            <p:txBody>
              <a:bodyPr/>
              <a:lstStyle/>
              <a:p>
                <a:endParaRPr lang="zh-CN" altLang="en-US"/>
              </a:p>
            </p:txBody>
          </p:sp>
          <p:sp>
            <p:nvSpPr>
              <p:cNvPr id="6154" name="Freeform 8"/>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00"/>
                  <a:gd name="T76" fmla="*/ 0 h 344"/>
                  <a:gd name="T77" fmla="*/ 700 w 700"/>
                  <a:gd name="T78" fmla="*/ 344 h 3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a:solidFill>
                  <a:srgbClr val="FFC17F"/>
                </a:solidFill>
                <a:round/>
                <a:headEnd/>
                <a:tailEnd/>
              </a:ln>
            </p:spPr>
            <p:txBody>
              <a:bodyPr/>
              <a:lstStyle/>
              <a:p>
                <a:endParaRPr lang="zh-CN" altLang="en-US"/>
              </a:p>
            </p:txBody>
          </p:sp>
          <p:sp>
            <p:nvSpPr>
              <p:cNvPr id="6155" name="Freeform 9"/>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20"/>
                  <a:gd name="T73" fmla="*/ 0 h 151"/>
                  <a:gd name="T74" fmla="*/ 520 w 520"/>
                  <a:gd name="T75" fmla="*/ 151 h 15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a:solidFill>
                  <a:srgbClr val="FFC17F"/>
                </a:solidFill>
                <a:round/>
                <a:headEnd/>
                <a:tailEnd/>
              </a:ln>
            </p:spPr>
            <p:txBody>
              <a:bodyPr/>
              <a:lstStyle/>
              <a:p>
                <a:endParaRPr lang="zh-CN" altLang="en-US"/>
              </a:p>
            </p:txBody>
          </p:sp>
          <p:sp>
            <p:nvSpPr>
              <p:cNvPr id="6156" name="Freeform 10"/>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56"/>
                  <a:gd name="T88" fmla="*/ 0 h 508"/>
                  <a:gd name="T89" fmla="*/ 856 w 856"/>
                  <a:gd name="T90" fmla="*/ 508 h 50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a:solidFill>
                  <a:srgbClr val="FFC17F"/>
                </a:solidFill>
                <a:round/>
                <a:headEnd/>
                <a:tailEnd/>
              </a:ln>
            </p:spPr>
            <p:txBody>
              <a:bodyPr/>
              <a:lstStyle/>
              <a:p>
                <a:endParaRPr lang="zh-CN" altLang="en-US"/>
              </a:p>
            </p:txBody>
          </p:sp>
          <p:sp>
            <p:nvSpPr>
              <p:cNvPr id="6157" name="Freeform 11"/>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 name="T21" fmla="*/ 0 w 156"/>
                  <a:gd name="T22" fmla="*/ 0 h 122"/>
                  <a:gd name="T23" fmla="*/ 156 w 156"/>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a:solidFill>
                  <a:srgbClr val="601E00"/>
                </a:solidFill>
                <a:round/>
                <a:headEnd/>
                <a:tailEnd/>
              </a:ln>
            </p:spPr>
            <p:txBody>
              <a:bodyPr/>
              <a:lstStyle/>
              <a:p>
                <a:endParaRPr lang="zh-CN" altLang="en-US"/>
              </a:p>
            </p:txBody>
          </p:sp>
          <p:sp>
            <p:nvSpPr>
              <p:cNvPr id="6158" name="Freeform 12"/>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 name="T24" fmla="*/ 0 w 454"/>
                  <a:gd name="T25" fmla="*/ 0 h 80"/>
                  <a:gd name="T26" fmla="*/ 454 w 454"/>
                  <a:gd name="T27" fmla="*/ 80 h 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a:solidFill>
                  <a:srgbClr val="601E00"/>
                </a:solidFill>
                <a:round/>
                <a:headEnd/>
                <a:tailEnd/>
              </a:ln>
            </p:spPr>
            <p:txBody>
              <a:bodyPr/>
              <a:lstStyle/>
              <a:p>
                <a:endParaRPr lang="zh-CN" altLang="en-US"/>
              </a:p>
            </p:txBody>
          </p:sp>
          <p:sp>
            <p:nvSpPr>
              <p:cNvPr id="6159" name="Freeform 13"/>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3"/>
                  <a:gd name="T34" fmla="*/ 0 h 57"/>
                  <a:gd name="T35" fmla="*/ 253 w 253"/>
                  <a:gd name="T36" fmla="*/ 57 h 5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a:solidFill>
                  <a:srgbClr val="FFFFFF"/>
                </a:solidFill>
                <a:round/>
                <a:headEnd/>
                <a:tailEnd/>
              </a:ln>
            </p:spPr>
            <p:txBody>
              <a:bodyPr/>
              <a:lstStyle/>
              <a:p>
                <a:endParaRPr lang="zh-CN" altLang="en-US"/>
              </a:p>
            </p:txBody>
          </p:sp>
          <p:sp>
            <p:nvSpPr>
              <p:cNvPr id="6160" name="Freeform 14"/>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44"/>
                  <a:gd name="T169" fmla="*/ 0 h 276"/>
                  <a:gd name="T170" fmla="*/ 744 w 744"/>
                  <a:gd name="T171" fmla="*/ 276 h 27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a:solidFill>
                  <a:srgbClr val="000000"/>
                </a:solidFill>
                <a:round/>
                <a:headEnd/>
                <a:tailEnd/>
              </a:ln>
            </p:spPr>
            <p:txBody>
              <a:bodyPr/>
              <a:lstStyle/>
              <a:p>
                <a:endParaRPr lang="zh-CN" altLang="en-US"/>
              </a:p>
            </p:txBody>
          </p:sp>
          <p:sp>
            <p:nvSpPr>
              <p:cNvPr id="6161" name="Freeform 15"/>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2"/>
                  <a:gd name="T32" fmla="*/ 125 w 12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a:solidFill>
                  <a:srgbClr val="000000"/>
                </a:solidFill>
                <a:round/>
                <a:headEnd/>
                <a:tailEnd/>
              </a:ln>
            </p:spPr>
            <p:txBody>
              <a:bodyPr/>
              <a:lstStyle/>
              <a:p>
                <a:endParaRPr lang="zh-CN" altLang="en-US"/>
              </a:p>
            </p:txBody>
          </p:sp>
          <p:sp>
            <p:nvSpPr>
              <p:cNvPr id="6162" name="Freeform 16"/>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
                  <a:gd name="T37" fmla="*/ 0 h 39"/>
                  <a:gd name="T38" fmla="*/ 119 w 119"/>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a:solidFill>
                  <a:srgbClr val="000000"/>
                </a:solidFill>
                <a:round/>
                <a:headEnd/>
                <a:tailEnd/>
              </a:ln>
            </p:spPr>
            <p:txBody>
              <a:bodyPr/>
              <a:lstStyle/>
              <a:p>
                <a:endParaRPr lang="zh-CN" altLang="en-US"/>
              </a:p>
            </p:txBody>
          </p:sp>
          <p:sp>
            <p:nvSpPr>
              <p:cNvPr id="6163" name="Freeform 17"/>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27" y="4"/>
                    </a:moveTo>
                    <a:lnTo>
                      <a:pt x="13" y="0"/>
                    </a:lnTo>
                    <a:lnTo>
                      <a:pt x="0" y="8"/>
                    </a:lnTo>
                    <a:lnTo>
                      <a:pt x="11" y="15"/>
                    </a:lnTo>
                    <a:lnTo>
                      <a:pt x="25" y="15"/>
                    </a:lnTo>
                    <a:lnTo>
                      <a:pt x="27" y="4"/>
                    </a:lnTo>
                  </a:path>
                </a:pathLst>
              </a:custGeom>
              <a:solidFill>
                <a:srgbClr val="000000"/>
              </a:solidFill>
              <a:ln w="12700" cap="rnd">
                <a:solidFill>
                  <a:srgbClr val="000000"/>
                </a:solidFill>
                <a:round/>
                <a:headEnd/>
                <a:tailEnd/>
              </a:ln>
            </p:spPr>
            <p:txBody>
              <a:bodyPr/>
              <a:lstStyle/>
              <a:p>
                <a:endParaRPr lang="zh-CN" altLang="en-US"/>
              </a:p>
            </p:txBody>
          </p:sp>
          <p:sp>
            <p:nvSpPr>
              <p:cNvPr id="6164" name="Freeform 18"/>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 name="T18" fmla="*/ 0 w 26"/>
                  <a:gd name="T19" fmla="*/ 0 h 13"/>
                  <a:gd name="T20" fmla="*/ 26 w 26"/>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26" h="13">
                    <a:moveTo>
                      <a:pt x="13" y="0"/>
                    </a:moveTo>
                    <a:lnTo>
                      <a:pt x="0" y="7"/>
                    </a:lnTo>
                    <a:lnTo>
                      <a:pt x="9" y="12"/>
                    </a:lnTo>
                    <a:lnTo>
                      <a:pt x="25" y="12"/>
                    </a:lnTo>
                    <a:lnTo>
                      <a:pt x="25" y="2"/>
                    </a:lnTo>
                    <a:lnTo>
                      <a:pt x="13" y="0"/>
                    </a:lnTo>
                  </a:path>
                </a:pathLst>
              </a:custGeom>
              <a:solidFill>
                <a:srgbClr val="000000"/>
              </a:solidFill>
              <a:ln w="12700" cap="rnd">
                <a:solidFill>
                  <a:srgbClr val="000000"/>
                </a:solidFill>
                <a:round/>
                <a:headEnd/>
                <a:tailEnd/>
              </a:ln>
            </p:spPr>
            <p:txBody>
              <a:bodyPr/>
              <a:lstStyle/>
              <a:p>
                <a:endParaRPr lang="zh-CN" altLang="en-US"/>
              </a:p>
            </p:txBody>
          </p:sp>
          <p:sp>
            <p:nvSpPr>
              <p:cNvPr id="6165" name="Freeform 19"/>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66"/>
                  <a:gd name="T67" fmla="*/ 0 h 147"/>
                  <a:gd name="T68" fmla="*/ 166 w 166"/>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a:solidFill>
                  <a:srgbClr val="000000"/>
                </a:solidFill>
                <a:round/>
                <a:headEnd/>
                <a:tailEnd/>
              </a:ln>
            </p:spPr>
            <p:txBody>
              <a:bodyPr/>
              <a:lstStyle/>
              <a:p>
                <a:endParaRPr lang="zh-CN" altLang="en-US"/>
              </a:p>
            </p:txBody>
          </p:sp>
          <p:sp>
            <p:nvSpPr>
              <p:cNvPr id="6166" name="Freeform 20"/>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1"/>
                  <a:gd name="T64" fmla="*/ 0 h 44"/>
                  <a:gd name="T65" fmla="*/ 331 w 331"/>
                  <a:gd name="T66" fmla="*/ 44 h 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a:solidFill>
                  <a:srgbClr val="000000"/>
                </a:solidFill>
                <a:round/>
                <a:headEnd/>
                <a:tailEnd/>
              </a:ln>
            </p:spPr>
            <p:txBody>
              <a:bodyPr/>
              <a:lstStyle/>
              <a:p>
                <a:endParaRPr lang="zh-CN" altLang="en-US"/>
              </a:p>
            </p:txBody>
          </p:sp>
          <p:sp>
            <p:nvSpPr>
              <p:cNvPr id="6167" name="Freeform 21"/>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3"/>
                  <a:gd name="T46" fmla="*/ 0 h 60"/>
                  <a:gd name="T47" fmla="*/ 253 w 253"/>
                  <a:gd name="T48" fmla="*/ 60 h 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6168" name="Freeform 22"/>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79"/>
                  <a:gd name="T145" fmla="*/ 0 h 366"/>
                  <a:gd name="T146" fmla="*/ 879 w 879"/>
                  <a:gd name="T147" fmla="*/ 366 h 36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a:solidFill>
                  <a:srgbClr val="000000"/>
                </a:solidFill>
                <a:round/>
                <a:headEnd/>
                <a:tailEnd/>
              </a:ln>
            </p:spPr>
            <p:txBody>
              <a:bodyPr/>
              <a:lstStyle/>
              <a:p>
                <a:endParaRPr lang="zh-CN" altLang="en-US"/>
              </a:p>
            </p:txBody>
          </p:sp>
          <p:sp>
            <p:nvSpPr>
              <p:cNvPr id="6169" name="Freeform 23"/>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7"/>
                  <a:gd name="T34" fmla="*/ 0 h 18"/>
                  <a:gd name="T35" fmla="*/ 147 w 147"/>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a:solidFill>
                  <a:srgbClr val="000000"/>
                </a:solidFill>
                <a:round/>
                <a:headEnd/>
                <a:tailEnd/>
              </a:ln>
            </p:spPr>
            <p:txBody>
              <a:bodyPr/>
              <a:lstStyle/>
              <a:p>
                <a:endParaRPr lang="zh-CN" altLang="en-US"/>
              </a:p>
            </p:txBody>
          </p:sp>
          <p:sp>
            <p:nvSpPr>
              <p:cNvPr id="6170" name="Freeform 24"/>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
                  <a:gd name="T28" fmla="*/ 0 h 26"/>
                  <a:gd name="T29" fmla="*/ 126 w 126"/>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a:solidFill>
                  <a:srgbClr val="000000"/>
                </a:solidFill>
                <a:round/>
                <a:headEnd/>
                <a:tailEnd/>
              </a:ln>
            </p:spPr>
            <p:txBody>
              <a:bodyPr/>
              <a:lstStyle/>
              <a:p>
                <a:endParaRPr lang="zh-CN" altLang="en-US"/>
              </a:p>
            </p:txBody>
          </p:sp>
          <p:sp>
            <p:nvSpPr>
              <p:cNvPr id="6171" name="Freeform 25"/>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 name="T21" fmla="*/ 0 w 66"/>
                  <a:gd name="T22" fmla="*/ 0 h 44"/>
                  <a:gd name="T23" fmla="*/ 66 w 66"/>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44">
                    <a:moveTo>
                      <a:pt x="0" y="33"/>
                    </a:moveTo>
                    <a:lnTo>
                      <a:pt x="22" y="17"/>
                    </a:lnTo>
                    <a:lnTo>
                      <a:pt x="61" y="0"/>
                    </a:lnTo>
                    <a:lnTo>
                      <a:pt x="65" y="8"/>
                    </a:lnTo>
                    <a:lnTo>
                      <a:pt x="33" y="20"/>
                    </a:lnTo>
                    <a:lnTo>
                      <a:pt x="0" y="43"/>
                    </a:lnTo>
                    <a:lnTo>
                      <a:pt x="0" y="33"/>
                    </a:lnTo>
                  </a:path>
                </a:pathLst>
              </a:custGeom>
              <a:solidFill>
                <a:srgbClr val="000000"/>
              </a:solidFill>
              <a:ln w="12700" cap="rnd">
                <a:solidFill>
                  <a:srgbClr val="000000"/>
                </a:solidFill>
                <a:round/>
                <a:headEnd/>
                <a:tailEnd/>
              </a:ln>
            </p:spPr>
            <p:txBody>
              <a:bodyPr/>
              <a:lstStyle/>
              <a:p>
                <a:endParaRPr lang="zh-CN" altLang="en-US"/>
              </a:p>
            </p:txBody>
          </p:sp>
          <p:sp>
            <p:nvSpPr>
              <p:cNvPr id="6172" name="Freeform 26"/>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60"/>
                  <a:gd name="T127" fmla="*/ 0 h 477"/>
                  <a:gd name="T128" fmla="*/ 660 w 660"/>
                  <a:gd name="T129" fmla="*/ 477 h 47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a:solidFill>
                  <a:srgbClr val="000000"/>
                </a:solidFill>
                <a:round/>
                <a:headEnd/>
                <a:tailEnd/>
              </a:ln>
            </p:spPr>
            <p:txBody>
              <a:bodyPr/>
              <a:lstStyle/>
              <a:p>
                <a:endParaRPr lang="zh-CN" altLang="en-US"/>
              </a:p>
            </p:txBody>
          </p:sp>
          <p:sp>
            <p:nvSpPr>
              <p:cNvPr id="6173" name="Freeform 27"/>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6"/>
                  <a:gd name="T58" fmla="*/ 0 h 259"/>
                  <a:gd name="T59" fmla="*/ 696 w 696"/>
                  <a:gd name="T60" fmla="*/ 259 h 2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6174" name="Freeform 28"/>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 name="T21" fmla="*/ 0 w 131"/>
                  <a:gd name="T22" fmla="*/ 0 h 132"/>
                  <a:gd name="T23" fmla="*/ 131 w 131"/>
                  <a:gd name="T24" fmla="*/ 132 h 1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a:solidFill>
                  <a:srgbClr val="000000"/>
                </a:solidFill>
                <a:round/>
                <a:headEnd/>
                <a:tailEnd/>
              </a:ln>
            </p:spPr>
            <p:txBody>
              <a:bodyPr/>
              <a:lstStyle/>
              <a:p>
                <a:endParaRPr lang="zh-CN" altLang="en-US"/>
              </a:p>
            </p:txBody>
          </p:sp>
          <p:sp>
            <p:nvSpPr>
              <p:cNvPr id="6175" name="Freeform 29"/>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4"/>
                  <a:gd name="T37" fmla="*/ 0 h 348"/>
                  <a:gd name="T38" fmla="*/ 534 w 534"/>
                  <a:gd name="T39" fmla="*/ 348 h 3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a:solidFill>
                  <a:srgbClr val="000000"/>
                </a:solidFill>
                <a:round/>
                <a:headEnd/>
                <a:tailEnd/>
              </a:ln>
            </p:spPr>
            <p:txBody>
              <a:bodyPr/>
              <a:lstStyle/>
              <a:p>
                <a:endParaRPr lang="zh-CN" altLang="en-US"/>
              </a:p>
            </p:txBody>
          </p:sp>
          <p:sp>
            <p:nvSpPr>
              <p:cNvPr id="6176" name="Freeform 30"/>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156"/>
                  <a:gd name="T32" fmla="*/ 169 w 169"/>
                  <a:gd name="T33" fmla="*/ 156 h 1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a:solidFill>
                  <a:srgbClr val="000000"/>
                </a:solidFill>
                <a:round/>
                <a:headEnd/>
                <a:tailEnd/>
              </a:ln>
            </p:spPr>
            <p:txBody>
              <a:bodyPr/>
              <a:lstStyle/>
              <a:p>
                <a:endParaRPr lang="zh-CN" altLang="en-US"/>
              </a:p>
            </p:txBody>
          </p:sp>
          <p:sp>
            <p:nvSpPr>
              <p:cNvPr id="6177" name="Freeform 31"/>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03"/>
                  <a:gd name="T139" fmla="*/ 0 h 348"/>
                  <a:gd name="T140" fmla="*/ 703 w 703"/>
                  <a:gd name="T141" fmla="*/ 348 h 34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a:solidFill>
                  <a:srgbClr val="000000"/>
                </a:solidFill>
                <a:round/>
                <a:headEnd/>
                <a:tailEnd/>
              </a:ln>
            </p:spPr>
            <p:txBody>
              <a:bodyPr/>
              <a:lstStyle/>
              <a:p>
                <a:endParaRPr lang="zh-CN" altLang="en-US"/>
              </a:p>
            </p:txBody>
          </p:sp>
          <p:sp>
            <p:nvSpPr>
              <p:cNvPr id="6178" name="Freeform 32"/>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7"/>
                  <a:gd name="T34" fmla="*/ 0 h 106"/>
                  <a:gd name="T35" fmla="*/ 97 w 97"/>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a:solidFill>
                  <a:srgbClr val="000000"/>
                </a:solidFill>
                <a:round/>
                <a:headEnd/>
                <a:tailEnd/>
              </a:ln>
            </p:spPr>
            <p:txBody>
              <a:bodyPr/>
              <a:lstStyle/>
              <a:p>
                <a:endParaRPr lang="zh-CN" altLang="en-US"/>
              </a:p>
            </p:txBody>
          </p:sp>
          <p:sp>
            <p:nvSpPr>
              <p:cNvPr id="6179" name="Freeform 33"/>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40"/>
                  <a:gd name="T43" fmla="*/ 0 h 230"/>
                  <a:gd name="T44" fmla="*/ 540 w 540"/>
                  <a:gd name="T45" fmla="*/ 230 h 2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a:solidFill>
                  <a:srgbClr val="000000"/>
                </a:solidFill>
                <a:round/>
                <a:headEnd/>
                <a:tailEnd/>
              </a:ln>
            </p:spPr>
            <p:txBody>
              <a:bodyPr/>
              <a:lstStyle/>
              <a:p>
                <a:endParaRPr lang="zh-CN" altLang="en-US"/>
              </a:p>
            </p:txBody>
          </p:sp>
          <p:sp>
            <p:nvSpPr>
              <p:cNvPr id="6180" name="Freeform 34"/>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9"/>
                  <a:gd name="T40" fmla="*/ 0 h 108"/>
                  <a:gd name="T41" fmla="*/ 369 w 369"/>
                  <a:gd name="T42" fmla="*/ 108 h 1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a:solidFill>
                  <a:srgbClr val="000000"/>
                </a:solidFill>
                <a:round/>
                <a:headEnd/>
                <a:tailEnd/>
              </a:ln>
            </p:spPr>
            <p:txBody>
              <a:bodyPr/>
              <a:lstStyle/>
              <a:p>
                <a:endParaRPr lang="zh-CN" altLang="en-US"/>
              </a:p>
            </p:txBody>
          </p:sp>
          <p:sp>
            <p:nvSpPr>
              <p:cNvPr id="6181" name="Freeform 35"/>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6"/>
                  <a:gd name="T34" fmla="*/ 0 h 172"/>
                  <a:gd name="T35" fmla="*/ 196 w 196"/>
                  <a:gd name="T36" fmla="*/ 172 h 17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a:solidFill>
                  <a:srgbClr val="000000"/>
                </a:solidFill>
                <a:round/>
                <a:headEnd/>
                <a:tailEnd/>
              </a:ln>
            </p:spPr>
            <p:txBody>
              <a:bodyPr/>
              <a:lstStyle/>
              <a:p>
                <a:endParaRPr lang="zh-CN" altLang="en-US"/>
              </a:p>
            </p:txBody>
          </p:sp>
          <p:sp>
            <p:nvSpPr>
              <p:cNvPr id="6182" name="Freeform 36"/>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18" y="0"/>
                    </a:moveTo>
                    <a:lnTo>
                      <a:pt x="52" y="64"/>
                    </a:lnTo>
                    <a:lnTo>
                      <a:pt x="52" y="106"/>
                    </a:lnTo>
                    <a:lnTo>
                      <a:pt x="0" y="6"/>
                    </a:lnTo>
                    <a:lnTo>
                      <a:pt x="18" y="0"/>
                    </a:lnTo>
                  </a:path>
                </a:pathLst>
              </a:custGeom>
              <a:solidFill>
                <a:srgbClr val="000000"/>
              </a:solidFill>
              <a:ln w="12700" cap="rnd">
                <a:solidFill>
                  <a:srgbClr val="000000"/>
                </a:solidFill>
                <a:round/>
                <a:headEnd/>
                <a:tailEnd/>
              </a:ln>
            </p:spPr>
            <p:txBody>
              <a:bodyPr/>
              <a:lstStyle/>
              <a:p>
                <a:endParaRPr lang="zh-CN" altLang="en-US"/>
              </a:p>
            </p:txBody>
          </p:sp>
          <p:sp>
            <p:nvSpPr>
              <p:cNvPr id="6183" name="Freeform 37"/>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48"/>
                  <a:gd name="T52" fmla="*/ 0 h 290"/>
                  <a:gd name="T53" fmla="*/ 848 w 848"/>
                  <a:gd name="T54" fmla="*/ 290 h 2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a:solidFill>
                  <a:srgbClr val="000000"/>
                </a:solidFill>
                <a:round/>
                <a:headEnd/>
                <a:tailEnd/>
              </a:ln>
            </p:spPr>
            <p:txBody>
              <a:bodyPr/>
              <a:lstStyle/>
              <a:p>
                <a:endParaRPr lang="zh-CN" altLang="en-US"/>
              </a:p>
            </p:txBody>
          </p:sp>
          <p:sp>
            <p:nvSpPr>
              <p:cNvPr id="6184" name="Freeform 38"/>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00"/>
                  <a:gd name="T163" fmla="*/ 0 h 198"/>
                  <a:gd name="T164" fmla="*/ 900 w 900"/>
                  <a:gd name="T165" fmla="*/ 198 h 19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a:solidFill>
                  <a:srgbClr val="000000"/>
                </a:solidFill>
                <a:round/>
                <a:headEnd/>
                <a:tailEnd/>
              </a:ln>
            </p:spPr>
            <p:txBody>
              <a:bodyPr/>
              <a:lstStyle/>
              <a:p>
                <a:endParaRPr lang="zh-CN" altLang="en-US"/>
              </a:p>
            </p:txBody>
          </p:sp>
          <p:sp>
            <p:nvSpPr>
              <p:cNvPr id="6185" name="Freeform 39"/>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3"/>
                  <a:gd name="T37" fmla="*/ 0 h 95"/>
                  <a:gd name="T38" fmla="*/ 253 w 253"/>
                  <a:gd name="T39" fmla="*/ 95 h 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6186" name="Freeform 40"/>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 name="T21" fmla="*/ 0 w 116"/>
                  <a:gd name="T22" fmla="*/ 0 h 69"/>
                  <a:gd name="T23" fmla="*/ 116 w 116"/>
                  <a:gd name="T24" fmla="*/ 69 h 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6187" name="Freeform 41"/>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8"/>
                  <a:gd name="T40" fmla="*/ 0 h 54"/>
                  <a:gd name="T41" fmla="*/ 158 w 158"/>
                  <a:gd name="T42" fmla="*/ 54 h 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a:solidFill>
                  <a:srgbClr val="000000"/>
                </a:solidFill>
                <a:round/>
                <a:headEnd/>
                <a:tailEnd/>
              </a:ln>
            </p:spPr>
            <p:txBody>
              <a:bodyPr/>
              <a:lstStyle/>
              <a:p>
                <a:endParaRPr lang="zh-CN" altLang="en-US"/>
              </a:p>
            </p:txBody>
          </p:sp>
          <p:sp>
            <p:nvSpPr>
              <p:cNvPr id="6188" name="Freeform 42"/>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761"/>
                  <a:gd name="T115" fmla="*/ 0 h 291"/>
                  <a:gd name="T116" fmla="*/ 761 w 761"/>
                  <a:gd name="T117" fmla="*/ 291 h 29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a:solidFill>
                  <a:srgbClr val="000000"/>
                </a:solidFill>
                <a:round/>
                <a:headEnd/>
                <a:tailEnd/>
              </a:ln>
            </p:spPr>
            <p:txBody>
              <a:bodyPr/>
              <a:lstStyle/>
              <a:p>
                <a:endParaRPr lang="zh-CN" altLang="en-US"/>
              </a:p>
            </p:txBody>
          </p:sp>
          <p:sp>
            <p:nvSpPr>
              <p:cNvPr id="6189" name="Freeform 43"/>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07"/>
                  <a:gd name="T76" fmla="*/ 0 h 1030"/>
                  <a:gd name="T77" fmla="*/ 1807 w 1807"/>
                  <a:gd name="T78" fmla="*/ 1030 h 103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a:solidFill>
                  <a:srgbClr val="000000"/>
                </a:solidFill>
                <a:round/>
                <a:headEnd/>
                <a:tailEnd/>
              </a:ln>
            </p:spPr>
            <p:txBody>
              <a:bodyPr/>
              <a:lstStyle/>
              <a:p>
                <a:endParaRPr lang="zh-CN" altLang="en-US"/>
              </a:p>
            </p:txBody>
          </p:sp>
          <p:sp>
            <p:nvSpPr>
              <p:cNvPr id="6190" name="Freeform 44"/>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9"/>
                  <a:gd name="T34" fmla="*/ 0 h 831"/>
                  <a:gd name="T35" fmla="*/ 89 w 89"/>
                  <a:gd name="T36" fmla="*/ 831 h 8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a:solidFill>
                  <a:srgbClr val="000000"/>
                </a:solidFill>
                <a:round/>
                <a:headEnd/>
                <a:tailEnd/>
              </a:ln>
            </p:spPr>
            <p:txBody>
              <a:bodyPr/>
              <a:lstStyle/>
              <a:p>
                <a:endParaRPr lang="zh-CN" altLang="en-US"/>
              </a:p>
            </p:txBody>
          </p:sp>
        </p:grpSp>
        <p:sp>
          <p:nvSpPr>
            <p:cNvPr id="6149" name="Text Box 45"/>
            <p:cNvSpPr txBox="1">
              <a:spLocks noChangeArrowheads="1"/>
            </p:cNvSpPr>
            <p:nvPr/>
          </p:nvSpPr>
          <p:spPr bwMode="auto">
            <a:xfrm>
              <a:off x="2895" y="1241"/>
              <a:ext cx="165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ClrTx/>
                <a:buSzTx/>
                <a:buFontTx/>
                <a:buNone/>
              </a:pPr>
              <a:r>
                <a:rPr kumimoji="0" lang="en-US" altLang="zh-CN" sz="4400">
                  <a:solidFill>
                    <a:srgbClr val="DC0081"/>
                  </a:solidFill>
                  <a:latin typeface="Times New Roman" panose="02020603050405020304" pitchFamily="18" charset="0"/>
                </a:rPr>
                <a:t>Overview</a:t>
              </a:r>
            </a:p>
          </p:txBody>
        </p:sp>
      </p:grpSp>
      <p:sp>
        <p:nvSpPr>
          <p:cNvPr id="6147" name="Text Box 46"/>
          <p:cNvSpPr txBox="1">
            <a:spLocks noChangeArrowheads="1"/>
          </p:cNvSpPr>
          <p:nvPr/>
        </p:nvSpPr>
        <p:spPr bwMode="auto">
          <a:xfrm>
            <a:off x="1730685" y="3378889"/>
            <a:ext cx="8213725"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ClrTx/>
              <a:buSzTx/>
              <a:buFontTx/>
              <a:buNone/>
            </a:pPr>
            <a:r>
              <a:rPr lang="en-US" altLang="zh-CN" sz="4400"/>
              <a:t>       </a:t>
            </a:r>
            <a:r>
              <a:rPr lang="zh-CN" altLang="en-US" sz="4400"/>
              <a:t>数据链路层的功能：</a:t>
            </a:r>
          </a:p>
          <a:p>
            <a:pPr eaLnBrk="1" hangingPunct="1">
              <a:spcBef>
                <a:spcPct val="50000"/>
              </a:spcBef>
              <a:buClrTx/>
              <a:buSzTx/>
              <a:buFontTx/>
              <a:buNone/>
            </a:pPr>
            <a:r>
              <a:rPr lang="zh-CN" altLang="en-US" sz="4400"/>
              <a:t>确保数据在链路上的可靠传输</a:t>
            </a: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2" name="Text Box 2"/>
          <p:cNvSpPr txBox="1">
            <a:spLocks noChangeArrowheads="1"/>
          </p:cNvSpPr>
          <p:nvPr/>
        </p:nvSpPr>
        <p:spPr bwMode="auto">
          <a:xfrm>
            <a:off x="856458" y="1390651"/>
            <a:ext cx="7313612" cy="367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76250" indent="-476250">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10000"/>
              </a:spcBef>
              <a:buClrTx/>
              <a:buSzTx/>
              <a:buFontTx/>
              <a:buNone/>
            </a:pPr>
            <a:r>
              <a:rPr lang="zh-CN" altLang="en-US" sz="2800"/>
              <a:t>如何避免快的发送将慢的接收给淹没的问题？</a:t>
            </a:r>
            <a:r>
              <a:rPr lang="en-US" altLang="zh-CN" sz="2800"/>
              <a:t>----</a:t>
            </a:r>
            <a:r>
              <a:rPr lang="zh-CN" altLang="en-US" sz="2800">
                <a:solidFill>
                  <a:schemeClr val="hlink"/>
                </a:solidFill>
              </a:rPr>
              <a:t>流量控制</a:t>
            </a:r>
          </a:p>
          <a:p>
            <a:pPr algn="just" eaLnBrk="1" hangingPunct="1">
              <a:spcBef>
                <a:spcPct val="10000"/>
              </a:spcBef>
              <a:buClrTx/>
              <a:buSzTx/>
              <a:buFont typeface="Wingdings" panose="05000000000000000000" pitchFamily="2" charset="2"/>
              <a:buChar char="Ø"/>
            </a:pPr>
            <a:r>
              <a:rPr lang="zh-CN" altLang="en-US" sz="2800"/>
              <a:t>所传输的信息的含义？</a:t>
            </a:r>
            <a:r>
              <a:rPr lang="en-US" altLang="zh-CN" sz="2800"/>
              <a:t>----</a:t>
            </a:r>
            <a:r>
              <a:rPr lang="zh-CN" altLang="en-US" sz="2800"/>
              <a:t>将比特串组合</a:t>
            </a:r>
            <a:r>
              <a:rPr lang="zh-CN" altLang="en-US" sz="2800">
                <a:solidFill>
                  <a:schemeClr val="hlink"/>
                </a:solidFill>
              </a:rPr>
              <a:t>成帧（帧格式）、帧同步</a:t>
            </a:r>
            <a:r>
              <a:rPr lang="zh-CN" altLang="en-US" sz="2800"/>
              <a:t>、</a:t>
            </a:r>
            <a:r>
              <a:rPr lang="zh-CN" altLang="en-US" sz="2800">
                <a:solidFill>
                  <a:schemeClr val="hlink"/>
                </a:solidFill>
              </a:rPr>
              <a:t>帧定界</a:t>
            </a:r>
          </a:p>
          <a:p>
            <a:pPr algn="just" eaLnBrk="1" hangingPunct="1">
              <a:spcBef>
                <a:spcPct val="10000"/>
              </a:spcBef>
              <a:buClrTx/>
              <a:buSzTx/>
              <a:buFont typeface="Wingdings" panose="05000000000000000000" pitchFamily="2" charset="2"/>
              <a:buChar char="Ø"/>
            </a:pPr>
            <a:r>
              <a:rPr lang="zh-CN" altLang="en-US" sz="2800"/>
              <a:t>如何确保帧的可靠传输？</a:t>
            </a:r>
            <a:r>
              <a:rPr lang="en-US" altLang="zh-CN" sz="2800"/>
              <a:t>----</a:t>
            </a:r>
            <a:r>
              <a:rPr lang="zh-CN" altLang="en-US" sz="2800">
                <a:solidFill>
                  <a:schemeClr val="hlink"/>
                </a:solidFill>
              </a:rPr>
              <a:t>差错控制</a:t>
            </a:r>
          </a:p>
          <a:p>
            <a:pPr algn="just" eaLnBrk="1" hangingPunct="1">
              <a:spcBef>
                <a:spcPct val="10000"/>
              </a:spcBef>
              <a:buClrTx/>
              <a:buSzTx/>
              <a:buFont typeface="Wingdings" panose="05000000000000000000" pitchFamily="2" charset="2"/>
              <a:buChar char="Ø"/>
            </a:pPr>
            <a:r>
              <a:rPr lang="zh-CN" altLang="en-US" sz="2800">
                <a:solidFill>
                  <a:schemeClr val="hlink"/>
                </a:solidFill>
              </a:rPr>
              <a:t>链路管理</a:t>
            </a:r>
            <a:r>
              <a:rPr lang="en-US" altLang="zh-CN" sz="2800"/>
              <a:t>----</a:t>
            </a:r>
            <a:r>
              <a:rPr lang="zh-CN" altLang="en-US" sz="2800"/>
              <a:t>数据链路的建立、维护和释放</a:t>
            </a:r>
          </a:p>
          <a:p>
            <a:pPr algn="just" eaLnBrk="1" hangingPunct="1">
              <a:spcBef>
                <a:spcPct val="10000"/>
              </a:spcBef>
              <a:buClrTx/>
              <a:buSzTx/>
              <a:buFont typeface="Wingdings" panose="05000000000000000000" pitchFamily="2" charset="2"/>
              <a:buChar char="Ø"/>
            </a:pPr>
            <a:r>
              <a:rPr lang="en-US" altLang="zh-CN" sz="2800"/>
              <a:t>LAN----</a:t>
            </a:r>
            <a:r>
              <a:rPr lang="zh-CN" altLang="en-US" sz="2800">
                <a:solidFill>
                  <a:schemeClr val="hlink"/>
                </a:solidFill>
              </a:rPr>
              <a:t>信道共享</a:t>
            </a:r>
            <a:r>
              <a:rPr lang="zh-CN" altLang="en-US" sz="2800"/>
              <a:t>技术（信道访问协议）</a:t>
            </a:r>
          </a:p>
        </p:txBody>
      </p:sp>
      <p:sp>
        <p:nvSpPr>
          <p:cNvPr id="7171" name="Rectangle 3"/>
          <p:cNvSpPr>
            <a:spLocks noGrp="1" noChangeArrowheads="1"/>
          </p:cNvSpPr>
          <p:nvPr>
            <p:ph type="title"/>
          </p:nvPr>
        </p:nvSpPr>
        <p:spPr>
          <a:xfrm>
            <a:off x="2222500" y="209551"/>
            <a:ext cx="7772400" cy="690563"/>
          </a:xfrm>
          <a:noFill/>
        </p:spPr>
        <p:txBody>
          <a:bodyPr/>
          <a:lstStyle/>
          <a:p>
            <a:pPr eaLnBrk="1" hangingPunct="1"/>
            <a:r>
              <a:rPr lang="zh-CN" altLang="en-US" sz="3600"/>
              <a:t>链路层主要涉及的问题</a:t>
            </a:r>
          </a:p>
        </p:txBody>
      </p:sp>
      <p:grpSp>
        <p:nvGrpSpPr>
          <p:cNvPr id="2" name="Group 4"/>
          <p:cNvGrpSpPr>
            <a:grpSpLocks/>
          </p:cNvGrpSpPr>
          <p:nvPr/>
        </p:nvGrpSpPr>
        <p:grpSpPr bwMode="auto">
          <a:xfrm>
            <a:off x="9205914" y="1284289"/>
            <a:ext cx="2789237" cy="1749425"/>
            <a:chOff x="3920" y="1417"/>
            <a:chExt cx="1757" cy="1613"/>
          </a:xfrm>
        </p:grpSpPr>
        <p:sp>
          <p:nvSpPr>
            <p:cNvPr id="7173" name="Line 5"/>
            <p:cNvSpPr>
              <a:spLocks noChangeShapeType="1"/>
            </p:cNvSpPr>
            <p:nvPr/>
          </p:nvSpPr>
          <p:spPr bwMode="auto">
            <a:xfrm flipV="1">
              <a:off x="5382" y="1773"/>
              <a:ext cx="0" cy="476"/>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7174" name="Line 6"/>
            <p:cNvSpPr>
              <a:spLocks noChangeShapeType="1"/>
            </p:cNvSpPr>
            <p:nvPr/>
          </p:nvSpPr>
          <p:spPr bwMode="auto">
            <a:xfrm flipV="1">
              <a:off x="5274" y="2234"/>
              <a:ext cx="0" cy="460"/>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7175" name="Line 7"/>
            <p:cNvSpPr>
              <a:spLocks noChangeShapeType="1"/>
            </p:cNvSpPr>
            <p:nvPr/>
          </p:nvSpPr>
          <p:spPr bwMode="auto">
            <a:xfrm flipV="1">
              <a:off x="4140" y="1773"/>
              <a:ext cx="0" cy="458"/>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7176" name="Line 8"/>
            <p:cNvSpPr>
              <a:spLocks noChangeShapeType="1"/>
            </p:cNvSpPr>
            <p:nvPr/>
          </p:nvSpPr>
          <p:spPr bwMode="auto">
            <a:xfrm flipV="1">
              <a:off x="4464" y="2234"/>
              <a:ext cx="0" cy="460"/>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pic>
          <p:nvPicPr>
            <p:cNvPr id="7177" name="Picture 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0" y="1417"/>
              <a:ext cx="526"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7178" name="Picture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0" y="1417"/>
              <a:ext cx="527"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7179" name="Picture 1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18" y="2554"/>
              <a:ext cx="526"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7180" name="Picture 12"/>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09" y="2554"/>
              <a:ext cx="526"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7181" name="Line 13"/>
            <p:cNvSpPr>
              <a:spLocks noChangeShapeType="1"/>
            </p:cNvSpPr>
            <p:nvPr/>
          </p:nvSpPr>
          <p:spPr bwMode="auto">
            <a:xfrm>
              <a:off x="4062" y="2221"/>
              <a:ext cx="1374" cy="0"/>
            </a:xfrm>
            <a:prstGeom prst="line">
              <a:avLst/>
            </a:prstGeom>
            <a:noFill/>
            <a:ln w="762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182" name="Object 14">
              <a:hlinkClick r:id="" action="ppaction://ole?verb=0"/>
            </p:cNvPr>
            <p:cNvGraphicFramePr>
              <a:graphicFrameLocks/>
            </p:cNvGraphicFramePr>
            <p:nvPr/>
          </p:nvGraphicFramePr>
          <p:xfrm>
            <a:off x="4233" y="2015"/>
            <a:ext cx="980" cy="333"/>
          </p:xfrm>
          <a:graphic>
            <a:graphicData uri="http://schemas.openxmlformats.org/presentationml/2006/ole">
              <mc:AlternateContent xmlns:mc="http://schemas.openxmlformats.org/markup-compatibility/2006">
                <mc:Choice xmlns:v="urn:schemas-microsoft-com:vml" Requires="v">
                  <p:oleObj spid="_x0000_s7249" name="Clip" r:id="rId7" imgW="1381901" imgH="469086" progId="MS_ClipArt_Gallery.2">
                    <p:embed/>
                  </p:oleObj>
                </mc:Choice>
                <mc:Fallback>
                  <p:oleObj name="Clip" r:id="rId7" imgW="1381901" imgH="469086" progId="MS_ClipArt_Gallery.2">
                    <p:embed/>
                    <p:pic>
                      <p:nvPicPr>
                        <p:cNvPr id="0" name="Object 1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33" y="2015"/>
                          <a:ext cx="980"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27042">
                                            <p:txEl>
                                              <p:pRg st="0" end="0"/>
                                            </p:txEl>
                                          </p:spTgt>
                                        </p:tgtEl>
                                        <p:attrNameLst>
                                          <p:attrName>style.visibility</p:attrName>
                                        </p:attrNameLst>
                                      </p:cBhvr>
                                      <p:to>
                                        <p:strVal val="visible"/>
                                      </p:to>
                                    </p:set>
                                    <p:anim calcmode="lin" valueType="num">
                                      <p:cBhvr additive="base">
                                        <p:cTn id="7" dur="500" fill="hold"/>
                                        <p:tgtEl>
                                          <p:spTgt spid="72704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2704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27042">
                                            <p:txEl>
                                              <p:pRg st="1" end="1"/>
                                            </p:txEl>
                                          </p:spTgt>
                                        </p:tgtEl>
                                        <p:attrNameLst>
                                          <p:attrName>style.visibility</p:attrName>
                                        </p:attrNameLst>
                                      </p:cBhvr>
                                      <p:to>
                                        <p:strVal val="visible"/>
                                      </p:to>
                                    </p:set>
                                    <p:anim calcmode="lin" valueType="num">
                                      <p:cBhvr additive="base">
                                        <p:cTn id="13" dur="500" fill="hold"/>
                                        <p:tgtEl>
                                          <p:spTgt spid="72704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2704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27042">
                                            <p:txEl>
                                              <p:pRg st="2" end="2"/>
                                            </p:txEl>
                                          </p:spTgt>
                                        </p:tgtEl>
                                        <p:attrNameLst>
                                          <p:attrName>style.visibility</p:attrName>
                                        </p:attrNameLst>
                                      </p:cBhvr>
                                      <p:to>
                                        <p:strVal val="visible"/>
                                      </p:to>
                                    </p:set>
                                    <p:anim calcmode="lin" valueType="num">
                                      <p:cBhvr additive="base">
                                        <p:cTn id="19" dur="500" fill="hold"/>
                                        <p:tgtEl>
                                          <p:spTgt spid="72704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2704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27042">
                                            <p:txEl>
                                              <p:pRg st="3" end="3"/>
                                            </p:txEl>
                                          </p:spTgt>
                                        </p:tgtEl>
                                        <p:attrNameLst>
                                          <p:attrName>style.visibility</p:attrName>
                                        </p:attrNameLst>
                                      </p:cBhvr>
                                      <p:to>
                                        <p:strVal val="visible"/>
                                      </p:to>
                                    </p:set>
                                    <p:anim calcmode="lin" valueType="num">
                                      <p:cBhvr additive="base">
                                        <p:cTn id="25" dur="500" fill="hold"/>
                                        <p:tgtEl>
                                          <p:spTgt spid="72704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2704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27042">
                                            <p:txEl>
                                              <p:pRg st="4" end="4"/>
                                            </p:txEl>
                                          </p:spTgt>
                                        </p:tgtEl>
                                        <p:attrNameLst>
                                          <p:attrName>style.visibility</p:attrName>
                                        </p:attrNameLst>
                                      </p:cBhvr>
                                      <p:to>
                                        <p:strVal val="visible"/>
                                      </p:to>
                                    </p:set>
                                    <p:anim calcmode="lin" valueType="num">
                                      <p:cBhvr additive="base">
                                        <p:cTn id="31" dur="500" fill="hold"/>
                                        <p:tgtEl>
                                          <p:spTgt spid="72704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2704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1+#ppt_w/2"/>
                                          </p:val>
                                        </p:tav>
                                        <p:tav tm="100000">
                                          <p:val>
                                            <p:strVal val="#ppt_x"/>
                                          </p:val>
                                        </p:tav>
                                      </p:tavLst>
                                    </p:anim>
                                    <p:anim calcmode="lin" valueType="num">
                                      <p:cBhvr additive="base">
                                        <p:cTn id="3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42"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139950" y="139701"/>
            <a:ext cx="7772400" cy="841375"/>
          </a:xfrm>
          <a:noFill/>
        </p:spPr>
        <p:txBody>
          <a:bodyPr/>
          <a:lstStyle/>
          <a:p>
            <a:pPr eaLnBrk="1" hangingPunct="1"/>
            <a:r>
              <a:rPr lang="zh-CN" altLang="en-US" sz="3600"/>
              <a:t>链路层模型</a:t>
            </a:r>
          </a:p>
        </p:txBody>
      </p:sp>
      <p:pic>
        <p:nvPicPr>
          <p:cNvPr id="8195" name="Picture 3" descr="linkint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92364" y="1571625"/>
            <a:ext cx="7394575"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8068" name="AutoShape 4"/>
          <p:cNvSpPr>
            <a:spLocks noChangeArrowheads="1"/>
          </p:cNvSpPr>
          <p:nvPr/>
        </p:nvSpPr>
        <p:spPr bwMode="auto">
          <a:xfrm>
            <a:off x="7756525" y="5414964"/>
            <a:ext cx="2501900" cy="1057275"/>
          </a:xfrm>
          <a:prstGeom prst="wedgeRoundRectCallout">
            <a:avLst>
              <a:gd name="adj1" fmla="val -112944"/>
              <a:gd name="adj2" fmla="val -43843"/>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zh-CN" altLang="en-US" sz="1800">
                <a:latin typeface="Times New Roman" panose="02020603050405020304" pitchFamily="18" charset="0"/>
              </a:rPr>
              <a:t>一个路由器有几个出线</a:t>
            </a:r>
            <a:r>
              <a:rPr lang="en-US" altLang="zh-CN" sz="1800">
                <a:latin typeface="Times New Roman" panose="02020603050405020304" pitchFamily="18" charset="0"/>
              </a:rPr>
              <a:t>,</a:t>
            </a:r>
            <a:r>
              <a:rPr lang="zh-CN" altLang="en-US" sz="1800">
                <a:latin typeface="Times New Roman" panose="02020603050405020304" pitchFamily="18" charset="0"/>
              </a:rPr>
              <a:t>就有多少个网络接口</a:t>
            </a:r>
            <a:r>
              <a:rPr lang="en-US" altLang="zh-CN" sz="1800">
                <a:latin typeface="Times New Roman" panose="02020603050405020304" pitchFamily="18" charset="0"/>
              </a:rPr>
              <a:t>(</a:t>
            </a:r>
            <a:r>
              <a:rPr lang="zh-CN" altLang="en-US" sz="1800">
                <a:latin typeface="Times New Roman" panose="02020603050405020304" pitchFamily="18" charset="0"/>
              </a:rPr>
              <a:t>物理层和链路层</a:t>
            </a:r>
            <a:r>
              <a:rPr lang="en-US" altLang="zh-CN" sz="1800">
                <a:latin typeface="Times New Roman" panose="02020603050405020304" pitchFamily="18" charset="0"/>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28068"/>
                                        </p:tgtEl>
                                        <p:attrNameLst>
                                          <p:attrName>style.visibility</p:attrName>
                                        </p:attrNameLst>
                                      </p:cBhvr>
                                      <p:to>
                                        <p:strVal val="visible"/>
                                      </p:to>
                                    </p:set>
                                    <p:anim calcmode="lin" valueType="num">
                                      <p:cBhvr additive="base">
                                        <p:cTn id="7" dur="500" fill="hold"/>
                                        <p:tgtEl>
                                          <p:spTgt spid="728068"/>
                                        </p:tgtEl>
                                        <p:attrNameLst>
                                          <p:attrName>ppt_x</p:attrName>
                                        </p:attrNameLst>
                                      </p:cBhvr>
                                      <p:tavLst>
                                        <p:tav tm="0">
                                          <p:val>
                                            <p:strVal val="1+#ppt_w/2"/>
                                          </p:val>
                                        </p:tav>
                                        <p:tav tm="100000">
                                          <p:val>
                                            <p:strVal val="#ppt_x"/>
                                          </p:val>
                                        </p:tav>
                                      </p:tavLst>
                                    </p:anim>
                                    <p:anim calcmode="lin" valueType="num">
                                      <p:cBhvr additive="base">
                                        <p:cTn id="8" dur="500" fill="hold"/>
                                        <p:tgtEl>
                                          <p:spTgt spid="7280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8068"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3741739" y="1268414"/>
            <a:ext cx="5895975" cy="1709737"/>
          </a:xfrm>
        </p:spPr>
        <p:txBody>
          <a:bodyPr/>
          <a:lstStyle/>
          <a:p>
            <a:pPr eaLnBrk="1" hangingPunct="1"/>
            <a:r>
              <a:rPr lang="zh-CN" altLang="en-US" sz="2400"/>
              <a:t>一般由网络适配器实现</a:t>
            </a:r>
          </a:p>
          <a:p>
            <a:pPr eaLnBrk="1" hangingPunct="1"/>
            <a:r>
              <a:rPr lang="en-US" altLang="zh-CN" sz="2400"/>
              <a:t>Ethernet </a:t>
            </a:r>
            <a:r>
              <a:rPr lang="zh-CN" altLang="en-US" sz="2400"/>
              <a:t>卡，</a:t>
            </a:r>
            <a:r>
              <a:rPr lang="en-US" altLang="zh-CN" sz="2400"/>
              <a:t>X.25</a:t>
            </a:r>
            <a:r>
              <a:rPr lang="zh-CN" altLang="en-US" sz="2400"/>
              <a:t>网卡</a:t>
            </a:r>
            <a:r>
              <a:rPr lang="en-US" altLang="zh-CN" sz="2400"/>
              <a:t>(</a:t>
            </a:r>
            <a:r>
              <a:rPr lang="zh-CN" altLang="en-US" sz="2400"/>
              <a:t>可编程接口</a:t>
            </a:r>
            <a:r>
              <a:rPr lang="en-US" altLang="zh-CN" sz="2400"/>
              <a:t>)</a:t>
            </a:r>
          </a:p>
          <a:p>
            <a:pPr eaLnBrk="1" hangingPunct="1"/>
            <a:r>
              <a:rPr lang="zh-CN" altLang="en-US" sz="2400"/>
              <a:t>网卡组成</a:t>
            </a:r>
            <a:r>
              <a:rPr lang="en-US" altLang="zh-CN" sz="2400"/>
              <a:t>: RAM, DSP </a:t>
            </a:r>
            <a:r>
              <a:rPr lang="zh-CN" altLang="en-US" sz="2400"/>
              <a:t>芯片</a:t>
            </a:r>
            <a:r>
              <a:rPr lang="en-US" altLang="zh-CN" sz="2400"/>
              <a:t>, </a:t>
            </a:r>
            <a:r>
              <a:rPr lang="zh-CN" altLang="en-US" sz="2400"/>
              <a:t>主机总线接口和网络接口</a:t>
            </a:r>
            <a:r>
              <a:rPr lang="en-US" altLang="zh-CN" sz="2400"/>
              <a:t>(BNC,RJ45)</a:t>
            </a:r>
          </a:p>
          <a:p>
            <a:pPr eaLnBrk="1" hangingPunct="1"/>
            <a:endParaRPr lang="en-US" altLang="zh-CN" sz="2400"/>
          </a:p>
        </p:txBody>
      </p:sp>
      <p:grpSp>
        <p:nvGrpSpPr>
          <p:cNvPr id="9219" name="Group 3"/>
          <p:cNvGrpSpPr>
            <a:grpSpLocks/>
          </p:cNvGrpSpPr>
          <p:nvPr/>
        </p:nvGrpSpPr>
        <p:grpSpPr bwMode="auto">
          <a:xfrm>
            <a:off x="3560764" y="3770313"/>
            <a:ext cx="1752601" cy="2038349"/>
            <a:chOff x="1830" y="2837"/>
            <a:chExt cx="1104" cy="1284"/>
          </a:xfrm>
        </p:grpSpPr>
        <p:grpSp>
          <p:nvGrpSpPr>
            <p:cNvPr id="9299" name="Group 4"/>
            <p:cNvGrpSpPr>
              <a:grpSpLocks/>
            </p:cNvGrpSpPr>
            <p:nvPr/>
          </p:nvGrpSpPr>
          <p:grpSpPr bwMode="auto">
            <a:xfrm>
              <a:off x="1842" y="2837"/>
              <a:ext cx="1092" cy="1266"/>
              <a:chOff x="1842" y="2837"/>
              <a:chExt cx="834" cy="942"/>
            </a:xfrm>
          </p:grpSpPr>
          <p:sp>
            <p:nvSpPr>
              <p:cNvPr id="9301" name="Rectangle 5"/>
              <p:cNvSpPr>
                <a:spLocks noChangeArrowheads="1"/>
              </p:cNvSpPr>
              <p:nvPr/>
            </p:nvSpPr>
            <p:spPr bwMode="auto">
              <a:xfrm>
                <a:off x="1878" y="2837"/>
                <a:ext cx="798" cy="90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9302" name="Rectangle 6"/>
              <p:cNvSpPr>
                <a:spLocks noChangeArrowheads="1"/>
              </p:cNvSpPr>
              <p:nvPr/>
            </p:nvSpPr>
            <p:spPr bwMode="auto">
              <a:xfrm>
                <a:off x="1848" y="2876"/>
                <a:ext cx="798" cy="903"/>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9303" name="Line 7"/>
              <p:cNvSpPr>
                <a:spLocks noChangeShapeType="1"/>
              </p:cNvSpPr>
              <p:nvPr/>
            </p:nvSpPr>
            <p:spPr bwMode="auto">
              <a:xfrm flipV="1">
                <a:off x="1845" y="3077"/>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04" name="Line 8"/>
              <p:cNvSpPr>
                <a:spLocks noChangeShapeType="1"/>
              </p:cNvSpPr>
              <p:nvPr/>
            </p:nvSpPr>
            <p:spPr bwMode="auto">
              <a:xfrm flipV="1">
                <a:off x="1857" y="3257"/>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05" name="Line 9"/>
              <p:cNvSpPr>
                <a:spLocks noChangeShapeType="1"/>
              </p:cNvSpPr>
              <p:nvPr/>
            </p:nvSpPr>
            <p:spPr bwMode="auto">
              <a:xfrm flipV="1">
                <a:off x="1857" y="3419"/>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06" name="Line 10"/>
              <p:cNvSpPr>
                <a:spLocks noChangeShapeType="1"/>
              </p:cNvSpPr>
              <p:nvPr/>
            </p:nvSpPr>
            <p:spPr bwMode="auto">
              <a:xfrm flipV="1">
                <a:off x="1842" y="3596"/>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300" name="Text Box 11"/>
            <p:cNvSpPr txBox="1">
              <a:spLocks noChangeArrowheads="1"/>
            </p:cNvSpPr>
            <p:nvPr/>
          </p:nvSpPr>
          <p:spPr bwMode="auto">
            <a:xfrm>
              <a:off x="1830" y="2900"/>
              <a:ext cx="1080" cy="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r>
                <a:rPr kumimoji="0" lang="en-US" altLang="zh-CN" sz="2400">
                  <a:latin typeface="Comic Sans MS" panose="030F0702030302020204" pitchFamily="66" charset="0"/>
                </a:rPr>
                <a:t>application</a:t>
              </a:r>
            </a:p>
            <a:p>
              <a:pPr algn="ctr">
                <a:spcBef>
                  <a:spcPct val="0"/>
                </a:spcBef>
                <a:buClrTx/>
                <a:buSzTx/>
                <a:buFontTx/>
                <a:buNone/>
              </a:pPr>
              <a:r>
                <a:rPr kumimoji="0" lang="en-US" altLang="zh-CN" sz="2400">
                  <a:latin typeface="Comic Sans MS" panose="030F0702030302020204" pitchFamily="66" charset="0"/>
                </a:rPr>
                <a:t>transport</a:t>
              </a:r>
            </a:p>
            <a:p>
              <a:pPr algn="ctr">
                <a:spcBef>
                  <a:spcPct val="0"/>
                </a:spcBef>
                <a:buClrTx/>
                <a:buSzTx/>
                <a:buFontTx/>
                <a:buNone/>
              </a:pPr>
              <a:r>
                <a:rPr kumimoji="0" lang="en-US" altLang="zh-CN" sz="2400">
                  <a:latin typeface="Comic Sans MS" panose="030F0702030302020204" pitchFamily="66" charset="0"/>
                </a:rPr>
                <a:t>network</a:t>
              </a:r>
            </a:p>
            <a:p>
              <a:pPr algn="ctr">
                <a:spcBef>
                  <a:spcPct val="0"/>
                </a:spcBef>
                <a:buClrTx/>
                <a:buSzTx/>
                <a:buFontTx/>
                <a:buNone/>
              </a:pPr>
              <a:r>
                <a:rPr kumimoji="0" lang="en-US" altLang="zh-CN" sz="2400">
                  <a:latin typeface="Comic Sans MS" panose="030F0702030302020204" pitchFamily="66" charset="0"/>
                </a:rPr>
                <a:t>link</a:t>
              </a:r>
            </a:p>
            <a:p>
              <a:pPr algn="ctr">
                <a:spcBef>
                  <a:spcPct val="0"/>
                </a:spcBef>
                <a:buClrTx/>
                <a:buSzTx/>
                <a:buFontTx/>
                <a:buNone/>
              </a:pPr>
              <a:r>
                <a:rPr kumimoji="0" lang="en-US" altLang="zh-CN" sz="2400">
                  <a:latin typeface="Comic Sans MS" panose="030F0702030302020204" pitchFamily="66" charset="0"/>
                </a:rPr>
                <a:t>physical</a:t>
              </a:r>
            </a:p>
          </p:txBody>
        </p:sp>
      </p:grpSp>
      <p:sp>
        <p:nvSpPr>
          <p:cNvPr id="9220" name="Rectangle 12"/>
          <p:cNvSpPr>
            <a:spLocks noChangeArrowheads="1"/>
          </p:cNvSpPr>
          <p:nvPr/>
        </p:nvSpPr>
        <p:spPr bwMode="auto">
          <a:xfrm>
            <a:off x="6992939" y="4540250"/>
            <a:ext cx="1658937" cy="11382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9221" name="Rectangle 13"/>
          <p:cNvSpPr>
            <a:spLocks noChangeArrowheads="1"/>
          </p:cNvSpPr>
          <p:nvPr/>
        </p:nvSpPr>
        <p:spPr bwMode="auto">
          <a:xfrm>
            <a:off x="6931025" y="4646614"/>
            <a:ext cx="1658938" cy="1114425"/>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9222" name="Line 14"/>
          <p:cNvSpPr>
            <a:spLocks noChangeShapeType="1"/>
          </p:cNvSpPr>
          <p:nvPr/>
        </p:nvSpPr>
        <p:spPr bwMode="auto">
          <a:xfrm flipV="1">
            <a:off x="6950075" y="4992688"/>
            <a:ext cx="1639888" cy="63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3" name="Line 15"/>
          <p:cNvSpPr>
            <a:spLocks noChangeShapeType="1"/>
          </p:cNvSpPr>
          <p:nvPr/>
        </p:nvSpPr>
        <p:spPr bwMode="auto">
          <a:xfrm flipV="1">
            <a:off x="6918325" y="5370513"/>
            <a:ext cx="1639888" cy="63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4" name="Text Box 16"/>
          <p:cNvSpPr txBox="1">
            <a:spLocks noChangeArrowheads="1"/>
          </p:cNvSpPr>
          <p:nvPr/>
        </p:nvSpPr>
        <p:spPr bwMode="auto">
          <a:xfrm>
            <a:off x="7115655" y="3829050"/>
            <a:ext cx="134524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endParaRPr kumimoji="0" lang="en-US" altLang="zh-CN" sz="2400">
              <a:latin typeface="Comic Sans MS" panose="030F0702030302020204" pitchFamily="66" charset="0"/>
            </a:endParaRPr>
          </a:p>
          <a:p>
            <a:pPr algn="ctr">
              <a:spcBef>
                <a:spcPct val="0"/>
              </a:spcBef>
              <a:buClrTx/>
              <a:buSzTx/>
              <a:buFontTx/>
              <a:buNone/>
            </a:pPr>
            <a:endParaRPr kumimoji="0" lang="en-US" altLang="zh-CN" sz="2400">
              <a:latin typeface="Comic Sans MS" panose="030F0702030302020204" pitchFamily="66" charset="0"/>
            </a:endParaRPr>
          </a:p>
          <a:p>
            <a:pPr algn="ctr">
              <a:spcBef>
                <a:spcPct val="0"/>
              </a:spcBef>
              <a:buClrTx/>
              <a:buSzTx/>
              <a:buFontTx/>
              <a:buNone/>
            </a:pPr>
            <a:r>
              <a:rPr kumimoji="0" lang="en-US" altLang="zh-CN" sz="2400">
                <a:latin typeface="Comic Sans MS" panose="030F0702030302020204" pitchFamily="66" charset="0"/>
              </a:rPr>
              <a:t>network</a:t>
            </a:r>
          </a:p>
          <a:p>
            <a:pPr algn="ctr">
              <a:spcBef>
                <a:spcPct val="0"/>
              </a:spcBef>
              <a:buClrTx/>
              <a:buSzTx/>
              <a:buFontTx/>
              <a:buNone/>
            </a:pPr>
            <a:r>
              <a:rPr kumimoji="0" lang="en-US" altLang="zh-CN" sz="2400">
                <a:latin typeface="Comic Sans MS" panose="030F0702030302020204" pitchFamily="66" charset="0"/>
              </a:rPr>
              <a:t>link</a:t>
            </a:r>
          </a:p>
          <a:p>
            <a:pPr algn="ctr">
              <a:spcBef>
                <a:spcPct val="0"/>
              </a:spcBef>
              <a:buClrTx/>
              <a:buSzTx/>
              <a:buFontTx/>
              <a:buNone/>
            </a:pPr>
            <a:r>
              <a:rPr kumimoji="0" lang="en-US" altLang="zh-CN" sz="2400">
                <a:latin typeface="Comic Sans MS" panose="030F0702030302020204" pitchFamily="66" charset="0"/>
              </a:rPr>
              <a:t>physical</a:t>
            </a:r>
          </a:p>
        </p:txBody>
      </p:sp>
      <p:grpSp>
        <p:nvGrpSpPr>
          <p:cNvPr id="9225" name="Group 17"/>
          <p:cNvGrpSpPr>
            <a:grpSpLocks/>
          </p:cNvGrpSpPr>
          <p:nvPr/>
        </p:nvGrpSpPr>
        <p:grpSpPr bwMode="auto">
          <a:xfrm>
            <a:off x="1852613" y="3905251"/>
            <a:ext cx="1668462" cy="1552575"/>
            <a:chOff x="230" y="2352"/>
            <a:chExt cx="1051" cy="978"/>
          </a:xfrm>
        </p:grpSpPr>
        <p:sp>
          <p:nvSpPr>
            <p:cNvPr id="9270" name="Rectangle 18"/>
            <p:cNvSpPr>
              <a:spLocks noChangeArrowheads="1"/>
            </p:cNvSpPr>
            <p:nvPr/>
          </p:nvSpPr>
          <p:spPr bwMode="auto">
            <a:xfrm>
              <a:off x="892" y="2352"/>
              <a:ext cx="37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r>
                <a:rPr kumimoji="0" lang="en-US" altLang="zh-CN" sz="2000">
                  <a:latin typeface="Comic Sans MS" panose="030F0702030302020204" pitchFamily="66" charset="0"/>
                </a:rPr>
                <a:t>M</a:t>
              </a:r>
              <a:endParaRPr kumimoji="0" lang="en-US" altLang="zh-CN" sz="2400">
                <a:latin typeface="Times New Roman" panose="02020603050405020304" pitchFamily="18" charset="0"/>
              </a:endParaRPr>
            </a:p>
          </p:txBody>
        </p:sp>
        <p:sp>
          <p:nvSpPr>
            <p:cNvPr id="9271" name="Rectangle 19"/>
            <p:cNvSpPr>
              <a:spLocks noChangeArrowheads="1"/>
            </p:cNvSpPr>
            <p:nvPr/>
          </p:nvSpPr>
          <p:spPr bwMode="auto">
            <a:xfrm>
              <a:off x="892" y="2610"/>
              <a:ext cx="37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r>
                <a:rPr kumimoji="0" lang="en-US" altLang="zh-CN" sz="2000">
                  <a:latin typeface="Comic Sans MS" panose="030F0702030302020204" pitchFamily="66" charset="0"/>
                </a:rPr>
                <a:t>M</a:t>
              </a:r>
              <a:endParaRPr kumimoji="0" lang="en-US" altLang="zh-CN" sz="2400">
                <a:latin typeface="Times New Roman" panose="02020603050405020304" pitchFamily="18" charset="0"/>
              </a:endParaRPr>
            </a:p>
          </p:txBody>
        </p:sp>
        <p:sp>
          <p:nvSpPr>
            <p:cNvPr id="9272" name="Rectangle 20"/>
            <p:cNvSpPr>
              <a:spLocks noChangeArrowheads="1"/>
            </p:cNvSpPr>
            <p:nvPr/>
          </p:nvSpPr>
          <p:spPr bwMode="auto">
            <a:xfrm>
              <a:off x="903" y="2852"/>
              <a:ext cx="37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r>
                <a:rPr kumimoji="0" lang="en-US" altLang="zh-CN" sz="2000">
                  <a:latin typeface="Comic Sans MS" panose="030F0702030302020204" pitchFamily="66" charset="0"/>
                </a:rPr>
                <a:t>M</a:t>
              </a:r>
              <a:endParaRPr kumimoji="0" lang="en-US" altLang="zh-CN" sz="2400">
                <a:latin typeface="Times New Roman" panose="02020603050405020304" pitchFamily="18" charset="0"/>
              </a:endParaRPr>
            </a:p>
          </p:txBody>
        </p:sp>
        <p:sp>
          <p:nvSpPr>
            <p:cNvPr id="9273" name="Rectangle 21"/>
            <p:cNvSpPr>
              <a:spLocks noChangeArrowheads="1"/>
            </p:cNvSpPr>
            <p:nvPr/>
          </p:nvSpPr>
          <p:spPr bwMode="auto">
            <a:xfrm>
              <a:off x="903" y="3092"/>
              <a:ext cx="37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r>
                <a:rPr kumimoji="0" lang="en-US" altLang="zh-CN" sz="2000">
                  <a:latin typeface="Comic Sans MS" panose="030F0702030302020204" pitchFamily="66" charset="0"/>
                </a:rPr>
                <a:t>M</a:t>
              </a:r>
              <a:endParaRPr kumimoji="0" lang="en-US" altLang="zh-CN" sz="2400">
                <a:latin typeface="Times New Roman" panose="02020603050405020304" pitchFamily="18" charset="0"/>
              </a:endParaRPr>
            </a:p>
          </p:txBody>
        </p:sp>
        <p:grpSp>
          <p:nvGrpSpPr>
            <p:cNvPr id="9274" name="Group 22"/>
            <p:cNvGrpSpPr>
              <a:grpSpLocks/>
            </p:cNvGrpSpPr>
            <p:nvPr/>
          </p:nvGrpSpPr>
          <p:grpSpPr bwMode="auto">
            <a:xfrm>
              <a:off x="633" y="2592"/>
              <a:ext cx="307" cy="256"/>
              <a:chOff x="215" y="2368"/>
              <a:chExt cx="307" cy="256"/>
            </a:xfrm>
          </p:grpSpPr>
          <p:sp>
            <p:nvSpPr>
              <p:cNvPr id="9296" name="Rectangle 23"/>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endParaRPr kumimoji="0" lang="zh-CN" altLang="zh-CN" sz="2400">
                  <a:latin typeface="Times New Roman" panose="02020603050405020304" pitchFamily="18" charset="0"/>
                </a:endParaRPr>
              </a:p>
            </p:txBody>
          </p:sp>
          <p:sp>
            <p:nvSpPr>
              <p:cNvPr id="9297" name="Rectangle 24"/>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2000">
                    <a:latin typeface="Comic Sans MS" panose="030F0702030302020204" pitchFamily="66" charset="0"/>
                  </a:rPr>
                  <a:t>H</a:t>
                </a:r>
              </a:p>
            </p:txBody>
          </p:sp>
          <p:sp>
            <p:nvSpPr>
              <p:cNvPr id="9298" name="Text Box 25"/>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t</a:t>
                </a:r>
                <a:endParaRPr kumimoji="0" lang="en-US" altLang="zh-CN" sz="2400">
                  <a:latin typeface="Times New Roman" panose="02020603050405020304" pitchFamily="18" charset="0"/>
                </a:endParaRPr>
              </a:p>
            </p:txBody>
          </p:sp>
        </p:grpSp>
        <p:grpSp>
          <p:nvGrpSpPr>
            <p:cNvPr id="9275" name="Group 26"/>
            <p:cNvGrpSpPr>
              <a:grpSpLocks/>
            </p:cNvGrpSpPr>
            <p:nvPr/>
          </p:nvGrpSpPr>
          <p:grpSpPr bwMode="auto">
            <a:xfrm>
              <a:off x="646" y="2834"/>
              <a:ext cx="307" cy="256"/>
              <a:chOff x="215" y="2368"/>
              <a:chExt cx="307" cy="256"/>
            </a:xfrm>
          </p:grpSpPr>
          <p:sp>
            <p:nvSpPr>
              <p:cNvPr id="9293" name="Rectangle 27"/>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endParaRPr kumimoji="0" lang="zh-CN" altLang="zh-CN" sz="2400">
                  <a:latin typeface="Times New Roman" panose="02020603050405020304" pitchFamily="18" charset="0"/>
                </a:endParaRPr>
              </a:p>
            </p:txBody>
          </p:sp>
          <p:sp>
            <p:nvSpPr>
              <p:cNvPr id="9294" name="Rectangle 28"/>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2000">
                    <a:latin typeface="Comic Sans MS" panose="030F0702030302020204" pitchFamily="66" charset="0"/>
                  </a:rPr>
                  <a:t>H</a:t>
                </a:r>
              </a:p>
            </p:txBody>
          </p:sp>
          <p:sp>
            <p:nvSpPr>
              <p:cNvPr id="9295" name="Text Box 29"/>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t</a:t>
                </a:r>
                <a:endParaRPr kumimoji="0" lang="en-US" altLang="zh-CN" sz="2400">
                  <a:latin typeface="Times New Roman" panose="02020603050405020304" pitchFamily="18" charset="0"/>
                </a:endParaRPr>
              </a:p>
            </p:txBody>
          </p:sp>
        </p:grpSp>
        <p:grpSp>
          <p:nvGrpSpPr>
            <p:cNvPr id="9276" name="Group 30"/>
            <p:cNvGrpSpPr>
              <a:grpSpLocks/>
            </p:cNvGrpSpPr>
            <p:nvPr/>
          </p:nvGrpSpPr>
          <p:grpSpPr bwMode="auto">
            <a:xfrm>
              <a:off x="440" y="2834"/>
              <a:ext cx="307" cy="256"/>
              <a:chOff x="215" y="2368"/>
              <a:chExt cx="307" cy="256"/>
            </a:xfrm>
          </p:grpSpPr>
          <p:sp>
            <p:nvSpPr>
              <p:cNvPr id="9290" name="Rectangle 31"/>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endParaRPr kumimoji="0" lang="zh-CN" altLang="zh-CN" sz="2400">
                  <a:latin typeface="Times New Roman" panose="02020603050405020304" pitchFamily="18" charset="0"/>
                </a:endParaRPr>
              </a:p>
            </p:txBody>
          </p:sp>
          <p:sp>
            <p:nvSpPr>
              <p:cNvPr id="9291" name="Rectangle 32"/>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2000">
                    <a:latin typeface="Comic Sans MS" panose="030F0702030302020204" pitchFamily="66" charset="0"/>
                  </a:rPr>
                  <a:t>H</a:t>
                </a:r>
              </a:p>
            </p:txBody>
          </p:sp>
          <p:sp>
            <p:nvSpPr>
              <p:cNvPr id="9292" name="Text Box 33"/>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n</a:t>
                </a:r>
                <a:endParaRPr kumimoji="0" lang="en-US" altLang="zh-CN" sz="2400">
                  <a:latin typeface="Times New Roman" panose="02020603050405020304" pitchFamily="18" charset="0"/>
                </a:endParaRPr>
              </a:p>
            </p:txBody>
          </p:sp>
        </p:grpSp>
        <p:grpSp>
          <p:nvGrpSpPr>
            <p:cNvPr id="9277" name="Group 34"/>
            <p:cNvGrpSpPr>
              <a:grpSpLocks/>
            </p:cNvGrpSpPr>
            <p:nvPr/>
          </p:nvGrpSpPr>
          <p:grpSpPr bwMode="auto">
            <a:xfrm>
              <a:off x="440" y="3073"/>
              <a:ext cx="513" cy="256"/>
              <a:chOff x="440" y="2834"/>
              <a:chExt cx="513" cy="256"/>
            </a:xfrm>
          </p:grpSpPr>
          <p:grpSp>
            <p:nvGrpSpPr>
              <p:cNvPr id="9282" name="Group 35"/>
              <p:cNvGrpSpPr>
                <a:grpSpLocks/>
              </p:cNvGrpSpPr>
              <p:nvPr/>
            </p:nvGrpSpPr>
            <p:grpSpPr bwMode="auto">
              <a:xfrm>
                <a:off x="646" y="2834"/>
                <a:ext cx="307" cy="256"/>
                <a:chOff x="215" y="2368"/>
                <a:chExt cx="307" cy="256"/>
              </a:xfrm>
            </p:grpSpPr>
            <p:sp>
              <p:nvSpPr>
                <p:cNvPr id="9287" name="Rectangle 36"/>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endParaRPr kumimoji="0" lang="zh-CN" altLang="zh-CN" sz="2400">
                    <a:latin typeface="Times New Roman" panose="02020603050405020304" pitchFamily="18" charset="0"/>
                  </a:endParaRPr>
                </a:p>
              </p:txBody>
            </p:sp>
            <p:sp>
              <p:nvSpPr>
                <p:cNvPr id="9288" name="Rectangle 37"/>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2000">
                      <a:latin typeface="Comic Sans MS" panose="030F0702030302020204" pitchFamily="66" charset="0"/>
                    </a:rPr>
                    <a:t>H</a:t>
                  </a:r>
                </a:p>
              </p:txBody>
            </p:sp>
            <p:sp>
              <p:nvSpPr>
                <p:cNvPr id="9289" name="Text Box 38"/>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t</a:t>
                  </a:r>
                  <a:endParaRPr kumimoji="0" lang="en-US" altLang="zh-CN" sz="2400">
                    <a:latin typeface="Times New Roman" panose="02020603050405020304" pitchFamily="18" charset="0"/>
                  </a:endParaRPr>
                </a:p>
              </p:txBody>
            </p:sp>
          </p:grpSp>
          <p:grpSp>
            <p:nvGrpSpPr>
              <p:cNvPr id="9283" name="Group 39"/>
              <p:cNvGrpSpPr>
                <a:grpSpLocks/>
              </p:cNvGrpSpPr>
              <p:nvPr/>
            </p:nvGrpSpPr>
            <p:grpSpPr bwMode="auto">
              <a:xfrm>
                <a:off x="440" y="2834"/>
                <a:ext cx="307" cy="256"/>
                <a:chOff x="215" y="2368"/>
                <a:chExt cx="307" cy="256"/>
              </a:xfrm>
            </p:grpSpPr>
            <p:sp>
              <p:nvSpPr>
                <p:cNvPr id="9284" name="Rectangle 40"/>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endParaRPr kumimoji="0" lang="zh-CN" altLang="zh-CN" sz="2400">
                    <a:latin typeface="Times New Roman" panose="02020603050405020304" pitchFamily="18" charset="0"/>
                  </a:endParaRPr>
                </a:p>
              </p:txBody>
            </p:sp>
            <p:sp>
              <p:nvSpPr>
                <p:cNvPr id="9285" name="Rectangle 41"/>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2000">
                      <a:latin typeface="Comic Sans MS" panose="030F0702030302020204" pitchFamily="66" charset="0"/>
                    </a:rPr>
                    <a:t>H</a:t>
                  </a:r>
                </a:p>
              </p:txBody>
            </p:sp>
            <p:sp>
              <p:nvSpPr>
                <p:cNvPr id="9286" name="Text Box 42"/>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n</a:t>
                  </a:r>
                  <a:endParaRPr kumimoji="0" lang="en-US" altLang="zh-CN" sz="2400">
                    <a:latin typeface="Times New Roman" panose="02020603050405020304" pitchFamily="18" charset="0"/>
                  </a:endParaRPr>
                </a:p>
              </p:txBody>
            </p:sp>
          </p:grpSp>
        </p:grpSp>
        <p:grpSp>
          <p:nvGrpSpPr>
            <p:cNvPr id="9278" name="Group 43"/>
            <p:cNvGrpSpPr>
              <a:grpSpLocks/>
            </p:cNvGrpSpPr>
            <p:nvPr/>
          </p:nvGrpSpPr>
          <p:grpSpPr bwMode="auto">
            <a:xfrm>
              <a:off x="230" y="3074"/>
              <a:ext cx="307" cy="256"/>
              <a:chOff x="215" y="2368"/>
              <a:chExt cx="307" cy="256"/>
            </a:xfrm>
          </p:grpSpPr>
          <p:sp>
            <p:nvSpPr>
              <p:cNvPr id="9279" name="Rectangle 44"/>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endParaRPr kumimoji="0" lang="zh-CN" altLang="zh-CN" sz="2400">
                  <a:latin typeface="Times New Roman" panose="02020603050405020304" pitchFamily="18" charset="0"/>
                </a:endParaRPr>
              </a:p>
            </p:txBody>
          </p:sp>
          <p:sp>
            <p:nvSpPr>
              <p:cNvPr id="9280" name="Rectangle 45"/>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2000">
                    <a:latin typeface="Comic Sans MS" panose="030F0702030302020204" pitchFamily="66" charset="0"/>
                  </a:rPr>
                  <a:t>H</a:t>
                </a:r>
              </a:p>
            </p:txBody>
          </p:sp>
          <p:sp>
            <p:nvSpPr>
              <p:cNvPr id="9281" name="Text Box 46"/>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l</a:t>
                </a:r>
                <a:endParaRPr kumimoji="0" lang="en-US" altLang="zh-CN" sz="2400">
                  <a:latin typeface="Times New Roman" panose="02020603050405020304" pitchFamily="18" charset="0"/>
                </a:endParaRPr>
              </a:p>
            </p:txBody>
          </p:sp>
        </p:grpSp>
      </p:grpSp>
      <p:sp>
        <p:nvSpPr>
          <p:cNvPr id="9226" name="Rectangle 47"/>
          <p:cNvSpPr>
            <a:spLocks noChangeArrowheads="1"/>
          </p:cNvSpPr>
          <p:nvPr/>
        </p:nvSpPr>
        <p:spPr bwMode="auto">
          <a:xfrm>
            <a:off x="9771064" y="5022851"/>
            <a:ext cx="600075" cy="314325"/>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r>
              <a:rPr kumimoji="0" lang="en-US" altLang="zh-CN" sz="2000">
                <a:latin typeface="Comic Sans MS" panose="030F0702030302020204" pitchFamily="66" charset="0"/>
              </a:rPr>
              <a:t>M</a:t>
            </a:r>
            <a:endParaRPr kumimoji="0" lang="en-US" altLang="zh-CN" sz="2400">
              <a:latin typeface="Times New Roman" panose="02020603050405020304" pitchFamily="18" charset="0"/>
            </a:endParaRPr>
          </a:p>
        </p:txBody>
      </p:sp>
      <p:grpSp>
        <p:nvGrpSpPr>
          <p:cNvPr id="9227" name="Group 48"/>
          <p:cNvGrpSpPr>
            <a:grpSpLocks/>
          </p:cNvGrpSpPr>
          <p:nvPr/>
        </p:nvGrpSpPr>
        <p:grpSpPr bwMode="auto">
          <a:xfrm>
            <a:off x="9036050" y="4992688"/>
            <a:ext cx="814388" cy="406400"/>
            <a:chOff x="440" y="2834"/>
            <a:chExt cx="513" cy="256"/>
          </a:xfrm>
        </p:grpSpPr>
        <p:grpSp>
          <p:nvGrpSpPr>
            <p:cNvPr id="9262" name="Group 49"/>
            <p:cNvGrpSpPr>
              <a:grpSpLocks/>
            </p:cNvGrpSpPr>
            <p:nvPr/>
          </p:nvGrpSpPr>
          <p:grpSpPr bwMode="auto">
            <a:xfrm>
              <a:off x="646" y="2834"/>
              <a:ext cx="307" cy="256"/>
              <a:chOff x="215" y="2368"/>
              <a:chExt cx="307" cy="256"/>
            </a:xfrm>
          </p:grpSpPr>
          <p:sp>
            <p:nvSpPr>
              <p:cNvPr id="9267" name="Rectangle 50"/>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endParaRPr kumimoji="0" lang="zh-CN" altLang="zh-CN" sz="2400">
                  <a:latin typeface="Times New Roman" panose="02020603050405020304" pitchFamily="18" charset="0"/>
                </a:endParaRPr>
              </a:p>
            </p:txBody>
          </p:sp>
          <p:sp>
            <p:nvSpPr>
              <p:cNvPr id="9268" name="Rectangle 51"/>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2000">
                    <a:latin typeface="Comic Sans MS" panose="030F0702030302020204" pitchFamily="66" charset="0"/>
                  </a:rPr>
                  <a:t>H</a:t>
                </a:r>
              </a:p>
            </p:txBody>
          </p:sp>
          <p:sp>
            <p:nvSpPr>
              <p:cNvPr id="9269" name="Text Box 52"/>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t</a:t>
                </a:r>
                <a:endParaRPr kumimoji="0" lang="en-US" altLang="zh-CN" sz="2400">
                  <a:latin typeface="Times New Roman" panose="02020603050405020304" pitchFamily="18" charset="0"/>
                </a:endParaRPr>
              </a:p>
            </p:txBody>
          </p:sp>
        </p:grpSp>
        <p:grpSp>
          <p:nvGrpSpPr>
            <p:cNvPr id="9263" name="Group 53"/>
            <p:cNvGrpSpPr>
              <a:grpSpLocks/>
            </p:cNvGrpSpPr>
            <p:nvPr/>
          </p:nvGrpSpPr>
          <p:grpSpPr bwMode="auto">
            <a:xfrm>
              <a:off x="440" y="2834"/>
              <a:ext cx="307" cy="256"/>
              <a:chOff x="215" y="2368"/>
              <a:chExt cx="307" cy="256"/>
            </a:xfrm>
          </p:grpSpPr>
          <p:sp>
            <p:nvSpPr>
              <p:cNvPr id="9264" name="Rectangle 54"/>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endParaRPr kumimoji="0" lang="zh-CN" altLang="zh-CN" sz="2400">
                  <a:latin typeface="Times New Roman" panose="02020603050405020304" pitchFamily="18" charset="0"/>
                </a:endParaRPr>
              </a:p>
            </p:txBody>
          </p:sp>
          <p:sp>
            <p:nvSpPr>
              <p:cNvPr id="9265" name="Rectangle 55"/>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2000">
                    <a:latin typeface="Comic Sans MS" panose="030F0702030302020204" pitchFamily="66" charset="0"/>
                  </a:rPr>
                  <a:t>H</a:t>
                </a:r>
              </a:p>
            </p:txBody>
          </p:sp>
          <p:sp>
            <p:nvSpPr>
              <p:cNvPr id="9266" name="Text Box 56"/>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n</a:t>
                </a:r>
                <a:endParaRPr kumimoji="0" lang="en-US" altLang="zh-CN" sz="2400">
                  <a:latin typeface="Times New Roman" panose="02020603050405020304" pitchFamily="18" charset="0"/>
                </a:endParaRPr>
              </a:p>
            </p:txBody>
          </p:sp>
        </p:grpSp>
      </p:grpSp>
      <p:grpSp>
        <p:nvGrpSpPr>
          <p:cNvPr id="9228" name="Group 57"/>
          <p:cNvGrpSpPr>
            <a:grpSpLocks/>
          </p:cNvGrpSpPr>
          <p:nvPr/>
        </p:nvGrpSpPr>
        <p:grpSpPr bwMode="auto">
          <a:xfrm>
            <a:off x="8702676" y="4994275"/>
            <a:ext cx="487363" cy="406400"/>
            <a:chOff x="215" y="2368"/>
            <a:chExt cx="307" cy="256"/>
          </a:xfrm>
        </p:grpSpPr>
        <p:sp>
          <p:nvSpPr>
            <p:cNvPr id="9259" name="Rectangle 58"/>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endParaRPr kumimoji="0" lang="zh-CN" altLang="zh-CN" sz="2400">
                <a:latin typeface="Times New Roman" panose="02020603050405020304" pitchFamily="18" charset="0"/>
              </a:endParaRPr>
            </a:p>
          </p:txBody>
        </p:sp>
        <p:sp>
          <p:nvSpPr>
            <p:cNvPr id="9260" name="Rectangle 59"/>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2000">
                  <a:latin typeface="Comic Sans MS" panose="030F0702030302020204" pitchFamily="66" charset="0"/>
                </a:rPr>
                <a:t>H</a:t>
              </a:r>
            </a:p>
          </p:txBody>
        </p:sp>
        <p:sp>
          <p:nvSpPr>
            <p:cNvPr id="9261" name="Text Box 60"/>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l</a:t>
              </a:r>
              <a:endParaRPr kumimoji="0" lang="en-US" altLang="zh-CN" sz="2400">
                <a:latin typeface="Times New Roman" panose="02020603050405020304" pitchFamily="18" charset="0"/>
              </a:endParaRPr>
            </a:p>
          </p:txBody>
        </p:sp>
      </p:grpSp>
      <p:sp>
        <p:nvSpPr>
          <p:cNvPr id="9229" name="Text Box 61"/>
          <p:cNvSpPr txBox="1">
            <a:spLocks noChangeArrowheads="1"/>
          </p:cNvSpPr>
          <p:nvPr/>
        </p:nvSpPr>
        <p:spPr bwMode="auto">
          <a:xfrm>
            <a:off x="9136063" y="5416551"/>
            <a:ext cx="90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2000">
                <a:solidFill>
                  <a:srgbClr val="FF0000"/>
                </a:solidFill>
                <a:latin typeface="Comic Sans MS" panose="030F0702030302020204" pitchFamily="66" charset="0"/>
              </a:rPr>
              <a:t>frame</a:t>
            </a:r>
            <a:endParaRPr kumimoji="0" lang="en-US" altLang="zh-CN" sz="2400">
              <a:solidFill>
                <a:schemeClr val="accent2"/>
              </a:solidFill>
              <a:latin typeface="Comic Sans MS" panose="030F0702030302020204" pitchFamily="66" charset="0"/>
            </a:endParaRPr>
          </a:p>
        </p:txBody>
      </p:sp>
      <p:sp>
        <p:nvSpPr>
          <p:cNvPr id="9230" name="Line 62"/>
          <p:cNvSpPr>
            <a:spLocks noChangeShapeType="1"/>
          </p:cNvSpPr>
          <p:nvPr/>
        </p:nvSpPr>
        <p:spPr bwMode="auto">
          <a:xfrm>
            <a:off x="5243514" y="5564188"/>
            <a:ext cx="165417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31" name="Object 63"/>
          <p:cNvGraphicFramePr>
            <a:graphicFrameLocks noChangeAspect="1"/>
          </p:cNvGraphicFramePr>
          <p:nvPr/>
        </p:nvGraphicFramePr>
        <p:xfrm>
          <a:off x="5183189" y="3262314"/>
          <a:ext cx="460375" cy="382587"/>
        </p:xfrm>
        <a:graphic>
          <a:graphicData uri="http://schemas.openxmlformats.org/presentationml/2006/ole">
            <mc:AlternateContent xmlns:mc="http://schemas.openxmlformats.org/markup-compatibility/2006">
              <mc:Choice xmlns:v="urn:schemas-microsoft-com:vml" Requires="v">
                <p:oleObj spid="_x0000_s9373" name="Clip" r:id="rId3" imgW="1307263" imgH="1084139" progId="MS_ClipArt_Gallery.2">
                  <p:embed/>
                </p:oleObj>
              </mc:Choice>
              <mc:Fallback>
                <p:oleObj name="Clip" r:id="rId3" imgW="1307263" imgH="1084139" progId="MS_ClipArt_Gallery.2">
                  <p:embed/>
                  <p:pic>
                    <p:nvPicPr>
                      <p:cNvPr id="0" name="Object 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3189" y="3262314"/>
                        <a:ext cx="460375" cy="382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232" name="Group 64"/>
          <p:cNvGrpSpPr>
            <a:grpSpLocks/>
          </p:cNvGrpSpPr>
          <p:nvPr/>
        </p:nvGrpSpPr>
        <p:grpSpPr bwMode="auto">
          <a:xfrm>
            <a:off x="7088189" y="3359150"/>
            <a:ext cx="554037" cy="279400"/>
            <a:chOff x="3600" y="219"/>
            <a:chExt cx="360" cy="175"/>
          </a:xfrm>
        </p:grpSpPr>
        <p:sp>
          <p:nvSpPr>
            <p:cNvPr id="9246" name="Oval 6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9247" name="Line 66"/>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8" name="Line 67"/>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9" name="Rectangle 68"/>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endParaRPr kumimoji="0" lang="zh-CN" altLang="zh-CN" sz="2400">
                <a:latin typeface="Times New Roman" panose="02020603050405020304" pitchFamily="18" charset="0"/>
              </a:endParaRPr>
            </a:p>
          </p:txBody>
        </p:sp>
        <p:sp>
          <p:nvSpPr>
            <p:cNvPr id="9250" name="Oval 6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grpSp>
          <p:nvGrpSpPr>
            <p:cNvPr id="9251" name="Group 70"/>
            <p:cNvGrpSpPr>
              <a:grpSpLocks/>
            </p:cNvGrpSpPr>
            <p:nvPr/>
          </p:nvGrpSpPr>
          <p:grpSpPr bwMode="auto">
            <a:xfrm>
              <a:off x="3686" y="244"/>
              <a:ext cx="177" cy="66"/>
              <a:chOff x="2848" y="848"/>
              <a:chExt cx="140" cy="98"/>
            </a:xfrm>
          </p:grpSpPr>
          <p:sp>
            <p:nvSpPr>
              <p:cNvPr id="9256" name="Line 7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7" name="Line 7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8" name="Line 7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252" name="Group 74"/>
            <p:cNvGrpSpPr>
              <a:grpSpLocks/>
            </p:cNvGrpSpPr>
            <p:nvPr/>
          </p:nvGrpSpPr>
          <p:grpSpPr bwMode="auto">
            <a:xfrm flipV="1">
              <a:off x="3686" y="243"/>
              <a:ext cx="177" cy="66"/>
              <a:chOff x="2848" y="848"/>
              <a:chExt cx="140" cy="98"/>
            </a:xfrm>
          </p:grpSpPr>
          <p:sp>
            <p:nvSpPr>
              <p:cNvPr id="9253" name="Line 7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4" name="Line 7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5" name="Line 7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9233" name="Line 78"/>
          <p:cNvSpPr>
            <a:spLocks noChangeShapeType="1"/>
          </p:cNvSpPr>
          <p:nvPr/>
        </p:nvSpPr>
        <p:spPr bwMode="auto">
          <a:xfrm>
            <a:off x="5610226" y="3513139"/>
            <a:ext cx="1501775" cy="79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34" name="Rectangle 79"/>
          <p:cNvSpPr>
            <a:spLocks noChangeArrowheads="1"/>
          </p:cNvSpPr>
          <p:nvPr/>
        </p:nvSpPr>
        <p:spPr bwMode="auto">
          <a:xfrm>
            <a:off x="5151439" y="5008563"/>
            <a:ext cx="407987" cy="7429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9235" name="Rectangle 80"/>
          <p:cNvSpPr>
            <a:spLocks noChangeArrowheads="1"/>
          </p:cNvSpPr>
          <p:nvPr/>
        </p:nvSpPr>
        <p:spPr bwMode="auto">
          <a:xfrm>
            <a:off x="5114925" y="5033963"/>
            <a:ext cx="407988" cy="742950"/>
          </a:xfrm>
          <a:prstGeom prst="rect">
            <a:avLst/>
          </a:prstGeom>
          <a:solidFill>
            <a:srgbClr val="FFFFFF"/>
          </a:solidFill>
          <a:ln w="9525">
            <a:solidFill>
              <a:srgbClr val="FF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9236" name="Rectangle 81"/>
          <p:cNvSpPr>
            <a:spLocks noChangeArrowheads="1"/>
          </p:cNvSpPr>
          <p:nvPr/>
        </p:nvSpPr>
        <p:spPr bwMode="auto">
          <a:xfrm>
            <a:off x="6634164" y="5002213"/>
            <a:ext cx="407987" cy="7429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9237" name="Rectangle 82"/>
          <p:cNvSpPr>
            <a:spLocks noChangeArrowheads="1"/>
          </p:cNvSpPr>
          <p:nvPr/>
        </p:nvSpPr>
        <p:spPr bwMode="auto">
          <a:xfrm>
            <a:off x="6650039" y="5038725"/>
            <a:ext cx="407987" cy="742950"/>
          </a:xfrm>
          <a:prstGeom prst="rect">
            <a:avLst/>
          </a:prstGeom>
          <a:solidFill>
            <a:srgbClr val="FFFFFF"/>
          </a:solidFill>
          <a:ln w="9525">
            <a:solidFill>
              <a:srgbClr val="FF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9238" name="Text Box 83"/>
          <p:cNvSpPr txBox="1">
            <a:spLocks noChangeArrowheads="1"/>
          </p:cNvSpPr>
          <p:nvPr/>
        </p:nvSpPr>
        <p:spPr bwMode="auto">
          <a:xfrm>
            <a:off x="5614988" y="5564188"/>
            <a:ext cx="1054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1600">
                <a:latin typeface="Comic Sans MS" panose="030F0702030302020204" pitchFamily="66" charset="0"/>
              </a:rPr>
              <a:t>phys. link</a:t>
            </a:r>
            <a:endParaRPr kumimoji="0" lang="en-US" altLang="zh-CN" sz="2400">
              <a:solidFill>
                <a:schemeClr val="accent2"/>
              </a:solidFill>
              <a:latin typeface="Comic Sans MS" panose="030F0702030302020204" pitchFamily="66" charset="0"/>
            </a:endParaRPr>
          </a:p>
        </p:txBody>
      </p:sp>
      <p:sp>
        <p:nvSpPr>
          <p:cNvPr id="9239" name="Line 84"/>
          <p:cNvSpPr>
            <a:spLocks noChangeShapeType="1"/>
          </p:cNvSpPr>
          <p:nvPr/>
        </p:nvSpPr>
        <p:spPr bwMode="auto">
          <a:xfrm>
            <a:off x="5154614" y="5226050"/>
            <a:ext cx="1863725" cy="0"/>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0" name="Text Box 85"/>
          <p:cNvSpPr txBox="1">
            <a:spLocks noChangeArrowheads="1"/>
          </p:cNvSpPr>
          <p:nvPr/>
        </p:nvSpPr>
        <p:spPr bwMode="auto">
          <a:xfrm>
            <a:off x="5591175" y="4659314"/>
            <a:ext cx="9969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en-US" altLang="zh-CN" sz="1600">
                <a:solidFill>
                  <a:srgbClr val="FF0000"/>
                </a:solidFill>
                <a:latin typeface="Comic Sans MS" panose="030F0702030302020204" pitchFamily="66" charset="0"/>
              </a:rPr>
              <a:t>data link</a:t>
            </a:r>
          </a:p>
          <a:p>
            <a:pPr>
              <a:spcBef>
                <a:spcPct val="0"/>
              </a:spcBef>
              <a:buClrTx/>
              <a:buSzTx/>
              <a:buFontTx/>
              <a:buNone/>
            </a:pPr>
            <a:r>
              <a:rPr kumimoji="0" lang="en-US" altLang="zh-CN" sz="1600">
                <a:solidFill>
                  <a:srgbClr val="FF0000"/>
                </a:solidFill>
                <a:latin typeface="Comic Sans MS" panose="030F0702030302020204" pitchFamily="66" charset="0"/>
              </a:rPr>
              <a:t>protocol</a:t>
            </a:r>
            <a:endParaRPr kumimoji="0" lang="en-US" altLang="zh-CN" sz="2400">
              <a:solidFill>
                <a:schemeClr val="accent2"/>
              </a:solidFill>
              <a:latin typeface="Comic Sans MS" panose="030F0702030302020204" pitchFamily="66" charset="0"/>
            </a:endParaRPr>
          </a:p>
        </p:txBody>
      </p:sp>
      <p:sp>
        <p:nvSpPr>
          <p:cNvPr id="9241" name="Line 86"/>
          <p:cNvSpPr>
            <a:spLocks noChangeShapeType="1"/>
          </p:cNvSpPr>
          <p:nvPr/>
        </p:nvSpPr>
        <p:spPr bwMode="auto">
          <a:xfrm flipH="1" flipV="1">
            <a:off x="5322888" y="5851525"/>
            <a:ext cx="336550" cy="471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2" name="Text Box 87"/>
          <p:cNvSpPr txBox="1">
            <a:spLocks noChangeArrowheads="1"/>
          </p:cNvSpPr>
          <p:nvPr/>
        </p:nvSpPr>
        <p:spPr bwMode="auto">
          <a:xfrm>
            <a:off x="5156200" y="6259513"/>
            <a:ext cx="2012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Tx/>
              <a:buSzTx/>
              <a:buFontTx/>
              <a:buNone/>
            </a:pPr>
            <a:r>
              <a:rPr kumimoji="0" lang="zh-CN" altLang="en-US" sz="1600">
                <a:latin typeface="Comic Sans MS" panose="030F0702030302020204" pitchFamily="66" charset="0"/>
              </a:rPr>
              <a:t>网络适配器（网卡）</a:t>
            </a:r>
            <a:endParaRPr kumimoji="0" lang="zh-CN" altLang="en-US" sz="2400">
              <a:solidFill>
                <a:schemeClr val="accent2"/>
              </a:solidFill>
              <a:latin typeface="Comic Sans MS" panose="030F0702030302020204" pitchFamily="66" charset="0"/>
            </a:endParaRPr>
          </a:p>
        </p:txBody>
      </p:sp>
      <p:sp>
        <p:nvSpPr>
          <p:cNvPr id="9243" name="Line 88"/>
          <p:cNvSpPr>
            <a:spLocks noChangeShapeType="1"/>
          </p:cNvSpPr>
          <p:nvPr/>
        </p:nvSpPr>
        <p:spPr bwMode="auto">
          <a:xfrm flipV="1">
            <a:off x="6448426" y="5846764"/>
            <a:ext cx="417513" cy="492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4" name="Rectangle 89"/>
          <p:cNvSpPr>
            <a:spLocks noGrp="1" noChangeArrowheads="1"/>
          </p:cNvSpPr>
          <p:nvPr>
            <p:ph type="title"/>
          </p:nvPr>
        </p:nvSpPr>
        <p:spPr>
          <a:xfrm>
            <a:off x="2200275" y="150813"/>
            <a:ext cx="7772400" cy="819150"/>
          </a:xfrm>
          <a:noFill/>
        </p:spPr>
        <p:txBody>
          <a:bodyPr/>
          <a:lstStyle/>
          <a:p>
            <a:pPr eaLnBrk="1" hangingPunct="1"/>
            <a:r>
              <a:rPr lang="zh-CN" altLang="en-US" sz="3600"/>
              <a:t>链路层实现</a:t>
            </a:r>
            <a:endParaRPr lang="zh-CN" altLang="en-US"/>
          </a:p>
        </p:txBody>
      </p:sp>
      <p:sp>
        <p:nvSpPr>
          <p:cNvPr id="729178" name="Text Box 90"/>
          <p:cNvSpPr txBox="1">
            <a:spLocks noChangeArrowheads="1"/>
          </p:cNvSpPr>
          <p:nvPr/>
        </p:nvSpPr>
        <p:spPr bwMode="auto">
          <a:xfrm>
            <a:off x="8045450" y="3032126"/>
            <a:ext cx="2190750" cy="1381125"/>
          </a:xfrm>
          <a:prstGeom prst="rect">
            <a:avLst/>
          </a:prstGeom>
          <a:noFill/>
          <a:ln w="9525">
            <a:solidFill>
              <a:srgbClr val="CCFF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ClrTx/>
              <a:buSzTx/>
              <a:buFontTx/>
              <a:buNone/>
            </a:pPr>
            <a:r>
              <a:rPr kumimoji="0" lang="zh-CN" altLang="en-US" sz="2000">
                <a:solidFill>
                  <a:schemeClr val="folHlink"/>
                </a:solidFill>
              </a:rPr>
              <a:t>网卡从 </a:t>
            </a:r>
            <a:r>
              <a:rPr kumimoji="0" lang="en-US" altLang="zh-CN" sz="2000">
                <a:solidFill>
                  <a:schemeClr val="folHlink"/>
                </a:solidFill>
              </a:rPr>
              <a:t>(</a:t>
            </a:r>
            <a:r>
              <a:rPr kumimoji="0" lang="zh-CN" altLang="en-US" sz="2000">
                <a:solidFill>
                  <a:schemeClr val="folHlink"/>
                </a:solidFill>
              </a:rPr>
              <a:t>往</a:t>
            </a:r>
            <a:r>
              <a:rPr kumimoji="0" lang="en-US" altLang="zh-CN" sz="2000">
                <a:solidFill>
                  <a:schemeClr val="folHlink"/>
                </a:solidFill>
              </a:rPr>
              <a:t>) </a:t>
            </a:r>
            <a:r>
              <a:rPr kumimoji="0" lang="zh-CN" altLang="en-US" sz="2000">
                <a:solidFill>
                  <a:schemeClr val="folHlink"/>
                </a:solidFill>
              </a:rPr>
              <a:t>主机内存取 </a:t>
            </a:r>
            <a:r>
              <a:rPr kumimoji="0" lang="en-US" altLang="zh-CN" sz="2000">
                <a:solidFill>
                  <a:schemeClr val="folHlink"/>
                </a:solidFill>
              </a:rPr>
              <a:t>(</a:t>
            </a:r>
            <a:r>
              <a:rPr kumimoji="0" lang="zh-CN" altLang="en-US" sz="2000">
                <a:solidFill>
                  <a:schemeClr val="folHlink"/>
                </a:solidFill>
              </a:rPr>
              <a:t>存</a:t>
            </a:r>
            <a:r>
              <a:rPr kumimoji="0" lang="en-US" altLang="zh-CN" sz="2000">
                <a:solidFill>
                  <a:schemeClr val="folHlink"/>
                </a:solidFill>
              </a:rPr>
              <a:t>) </a:t>
            </a:r>
            <a:r>
              <a:rPr kumimoji="0" lang="zh-CN" altLang="en-US" sz="2000">
                <a:solidFill>
                  <a:schemeClr val="folHlink"/>
                </a:solidFill>
              </a:rPr>
              <a:t>数据，然后在后台发送（接收</a:t>
            </a:r>
            <a:r>
              <a:rPr kumimoji="0" lang="zh-CN" altLang="en-US" sz="2400">
                <a:solidFill>
                  <a:schemeClr val="folHlink"/>
                </a:solidFill>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29178"/>
                                        </p:tgtEl>
                                        <p:attrNameLst>
                                          <p:attrName>style.visibility</p:attrName>
                                        </p:attrNameLst>
                                      </p:cBhvr>
                                      <p:to>
                                        <p:strVal val="visible"/>
                                      </p:to>
                                    </p:set>
                                    <p:anim calcmode="lin" valueType="num">
                                      <p:cBhvr additive="base">
                                        <p:cTn id="7" dur="500" fill="hold"/>
                                        <p:tgtEl>
                                          <p:spTgt spid="729178"/>
                                        </p:tgtEl>
                                        <p:attrNameLst>
                                          <p:attrName>ppt_x</p:attrName>
                                        </p:attrNameLst>
                                      </p:cBhvr>
                                      <p:tavLst>
                                        <p:tav tm="0">
                                          <p:val>
                                            <p:strVal val="1+#ppt_w/2"/>
                                          </p:val>
                                        </p:tav>
                                        <p:tav tm="100000">
                                          <p:val>
                                            <p:strVal val="#ppt_x"/>
                                          </p:val>
                                        </p:tav>
                                      </p:tavLst>
                                    </p:anim>
                                    <p:anim calcmode="lin" valueType="num">
                                      <p:cBhvr additive="base">
                                        <p:cTn id="8" dur="500" fill="hold"/>
                                        <p:tgtEl>
                                          <p:spTgt spid="7291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9178"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41288" y="142876"/>
            <a:ext cx="7772400" cy="669925"/>
          </a:xfrm>
          <a:noFill/>
        </p:spPr>
        <p:txBody>
          <a:bodyPr/>
          <a:lstStyle/>
          <a:p>
            <a:pPr algn="l" eaLnBrk="1" hangingPunct="1"/>
            <a:r>
              <a:rPr lang="en-US" altLang="zh-CN" sz="3600" b="0"/>
              <a:t>4.1 </a:t>
            </a:r>
            <a:r>
              <a:rPr lang="zh-CN" altLang="en-US" sz="3600" b="0"/>
              <a:t>数据链路层服务</a:t>
            </a:r>
          </a:p>
        </p:txBody>
      </p:sp>
      <p:sp>
        <p:nvSpPr>
          <p:cNvPr id="730115" name="Text Box 3"/>
          <p:cNvSpPr txBox="1">
            <a:spLocks noChangeArrowheads="1"/>
          </p:cNvSpPr>
          <p:nvPr/>
        </p:nvSpPr>
        <p:spPr bwMode="auto">
          <a:xfrm>
            <a:off x="2074863" y="1619250"/>
            <a:ext cx="8037512" cy="359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914400" indent="-45720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buSzPct val="75000"/>
              <a:buFont typeface="Wingdings" panose="05000000000000000000" pitchFamily="2" charset="2"/>
              <a:buAutoNum type="arabicParenR"/>
            </a:pPr>
            <a:r>
              <a:rPr kumimoji="0" lang="zh-CN" altLang="en-US" sz="2800">
                <a:solidFill>
                  <a:schemeClr val="folHlink"/>
                </a:solidFill>
              </a:rPr>
              <a:t>无应答非连接服务</a:t>
            </a:r>
          </a:p>
          <a:p>
            <a:pPr lvl="1">
              <a:buClr>
                <a:schemeClr val="folHlink"/>
              </a:buClr>
              <a:buSzPct val="75000"/>
              <a:buFont typeface="Wingdings" panose="05000000000000000000" pitchFamily="2" charset="2"/>
              <a:buChar char="Ø"/>
            </a:pPr>
            <a:r>
              <a:rPr kumimoji="0" lang="zh-CN" altLang="en-US"/>
              <a:t>无应答，无连接</a:t>
            </a:r>
          </a:p>
          <a:p>
            <a:pPr lvl="1">
              <a:buClr>
                <a:schemeClr val="folHlink"/>
              </a:buClr>
              <a:buSzPct val="75000"/>
              <a:buFont typeface="Wingdings" panose="05000000000000000000" pitchFamily="2" charset="2"/>
              <a:buChar char="Ø"/>
            </a:pPr>
            <a:r>
              <a:rPr kumimoji="0" lang="zh-CN" altLang="en-US"/>
              <a:t>错误恢复由高层负责</a:t>
            </a:r>
          </a:p>
          <a:p>
            <a:pPr lvl="1">
              <a:buClr>
                <a:schemeClr val="folHlink"/>
              </a:buClr>
              <a:buSzPct val="75000"/>
              <a:buFont typeface="Wingdings" panose="05000000000000000000" pitchFamily="2" charset="2"/>
              <a:buChar char="Ø"/>
            </a:pPr>
            <a:r>
              <a:rPr kumimoji="0" lang="zh-CN" altLang="en-US"/>
              <a:t>一般用于低误码率和语音通信场合</a:t>
            </a:r>
          </a:p>
          <a:p>
            <a:pPr>
              <a:buSzPct val="75000"/>
              <a:buFont typeface="Wingdings" panose="05000000000000000000" pitchFamily="2" charset="2"/>
              <a:buAutoNum type="arabicParenR" startAt="2"/>
            </a:pPr>
            <a:r>
              <a:rPr kumimoji="0" lang="zh-CN" altLang="en-US" sz="2800">
                <a:solidFill>
                  <a:schemeClr val="folHlink"/>
                </a:solidFill>
              </a:rPr>
              <a:t>有应答无连接服务</a:t>
            </a:r>
          </a:p>
          <a:p>
            <a:pPr lvl="1">
              <a:buClr>
                <a:schemeClr val="folHlink"/>
              </a:buClr>
              <a:buSzPct val="75000"/>
              <a:buFont typeface="Wingdings" panose="05000000000000000000" pitchFamily="2" charset="2"/>
              <a:buChar char="Ø"/>
            </a:pPr>
            <a:r>
              <a:rPr kumimoji="0" lang="zh-CN" altLang="en-US"/>
              <a:t>通过应答改善可靠性</a:t>
            </a:r>
          </a:p>
          <a:p>
            <a:pPr lvl="1">
              <a:buClr>
                <a:schemeClr val="folHlink"/>
              </a:buClr>
              <a:buSzPct val="75000"/>
              <a:buFont typeface="Wingdings" panose="05000000000000000000" pitchFamily="2" charset="2"/>
              <a:buChar char="Ø"/>
            </a:pPr>
            <a:r>
              <a:rPr kumimoji="0" lang="zh-CN" altLang="en-US"/>
              <a:t>一般用于不可靠信道，比如，无线通信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30115">
                                            <p:txEl>
                                              <p:pRg st="0" end="0"/>
                                            </p:txEl>
                                          </p:spTgt>
                                        </p:tgtEl>
                                        <p:attrNameLst>
                                          <p:attrName>style.visibility</p:attrName>
                                        </p:attrNameLst>
                                      </p:cBhvr>
                                      <p:to>
                                        <p:strVal val="visible"/>
                                      </p:to>
                                    </p:set>
                                    <p:anim calcmode="lin" valueType="num">
                                      <p:cBhvr additive="base">
                                        <p:cTn id="7" dur="500" fill="hold"/>
                                        <p:tgtEl>
                                          <p:spTgt spid="7301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3011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30115">
                                            <p:txEl>
                                              <p:pRg st="1" end="1"/>
                                            </p:txEl>
                                          </p:spTgt>
                                        </p:tgtEl>
                                        <p:attrNameLst>
                                          <p:attrName>style.visibility</p:attrName>
                                        </p:attrNameLst>
                                      </p:cBhvr>
                                      <p:to>
                                        <p:strVal val="visible"/>
                                      </p:to>
                                    </p:set>
                                    <p:anim calcmode="lin" valueType="num">
                                      <p:cBhvr additive="base">
                                        <p:cTn id="11" dur="500" fill="hold"/>
                                        <p:tgtEl>
                                          <p:spTgt spid="73011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73011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30115">
                                            <p:txEl>
                                              <p:pRg st="2" end="2"/>
                                            </p:txEl>
                                          </p:spTgt>
                                        </p:tgtEl>
                                        <p:attrNameLst>
                                          <p:attrName>style.visibility</p:attrName>
                                        </p:attrNameLst>
                                      </p:cBhvr>
                                      <p:to>
                                        <p:strVal val="visible"/>
                                      </p:to>
                                    </p:set>
                                    <p:anim calcmode="lin" valueType="num">
                                      <p:cBhvr additive="base">
                                        <p:cTn id="15" dur="500" fill="hold"/>
                                        <p:tgtEl>
                                          <p:spTgt spid="73011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73011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730115">
                                            <p:txEl>
                                              <p:pRg st="3" end="3"/>
                                            </p:txEl>
                                          </p:spTgt>
                                        </p:tgtEl>
                                        <p:attrNameLst>
                                          <p:attrName>style.visibility</p:attrName>
                                        </p:attrNameLst>
                                      </p:cBhvr>
                                      <p:to>
                                        <p:strVal val="visible"/>
                                      </p:to>
                                    </p:set>
                                    <p:anim calcmode="lin" valueType="num">
                                      <p:cBhvr additive="base">
                                        <p:cTn id="19" dur="500" fill="hold"/>
                                        <p:tgtEl>
                                          <p:spTgt spid="730115">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3011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30115">
                                            <p:txEl>
                                              <p:pRg st="4" end="4"/>
                                            </p:txEl>
                                          </p:spTgt>
                                        </p:tgtEl>
                                        <p:attrNameLst>
                                          <p:attrName>style.visibility</p:attrName>
                                        </p:attrNameLst>
                                      </p:cBhvr>
                                      <p:to>
                                        <p:strVal val="visible"/>
                                      </p:to>
                                    </p:set>
                                    <p:anim calcmode="lin" valueType="num">
                                      <p:cBhvr additive="base">
                                        <p:cTn id="25" dur="500" fill="hold"/>
                                        <p:tgtEl>
                                          <p:spTgt spid="730115">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30115">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730115">
                                            <p:txEl>
                                              <p:pRg st="5" end="5"/>
                                            </p:txEl>
                                          </p:spTgt>
                                        </p:tgtEl>
                                        <p:attrNameLst>
                                          <p:attrName>style.visibility</p:attrName>
                                        </p:attrNameLst>
                                      </p:cBhvr>
                                      <p:to>
                                        <p:strVal val="visible"/>
                                      </p:to>
                                    </p:set>
                                    <p:anim calcmode="lin" valueType="num">
                                      <p:cBhvr additive="base">
                                        <p:cTn id="29" dur="500" fill="hold"/>
                                        <p:tgtEl>
                                          <p:spTgt spid="730115">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730115">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730115">
                                            <p:txEl>
                                              <p:pRg st="6" end="6"/>
                                            </p:txEl>
                                          </p:spTgt>
                                        </p:tgtEl>
                                        <p:attrNameLst>
                                          <p:attrName>style.visibility</p:attrName>
                                        </p:attrNameLst>
                                      </p:cBhvr>
                                      <p:to>
                                        <p:strVal val="visible"/>
                                      </p:to>
                                    </p:set>
                                    <p:anim calcmode="lin" valueType="num">
                                      <p:cBhvr additive="base">
                                        <p:cTn id="33" dur="500" fill="hold"/>
                                        <p:tgtEl>
                                          <p:spTgt spid="730115">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73011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15"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259013" y="177800"/>
            <a:ext cx="7772400" cy="679450"/>
          </a:xfrm>
          <a:noFill/>
        </p:spPr>
        <p:txBody>
          <a:bodyPr/>
          <a:lstStyle/>
          <a:p>
            <a:pPr eaLnBrk="1" hangingPunct="1"/>
            <a:r>
              <a:rPr lang="zh-CN" altLang="en-US" sz="3600"/>
              <a:t>数据链路服务 </a:t>
            </a:r>
            <a:r>
              <a:rPr lang="en-US" altLang="zh-CN" sz="3600"/>
              <a:t>(</a:t>
            </a:r>
            <a:r>
              <a:rPr lang="zh-CN" altLang="en-US" sz="3600"/>
              <a:t>续</a:t>
            </a:r>
            <a:r>
              <a:rPr lang="en-US" altLang="zh-CN" sz="3600"/>
              <a:t>)</a:t>
            </a:r>
          </a:p>
        </p:txBody>
      </p:sp>
      <p:sp>
        <p:nvSpPr>
          <p:cNvPr id="731139" name="Text Box 3"/>
          <p:cNvSpPr txBox="1">
            <a:spLocks noChangeArrowheads="1"/>
          </p:cNvSpPr>
          <p:nvPr/>
        </p:nvSpPr>
        <p:spPr bwMode="auto">
          <a:xfrm>
            <a:off x="2873376" y="1435101"/>
            <a:ext cx="6735763"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914400" indent="-45720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buSzPct val="75000"/>
              <a:buFont typeface="Wingdings" panose="05000000000000000000" pitchFamily="2" charset="2"/>
              <a:buAutoNum type="arabicParenR" startAt="3"/>
            </a:pPr>
            <a:r>
              <a:rPr kumimoji="0" lang="zh-CN" altLang="en-US" sz="2800">
                <a:solidFill>
                  <a:schemeClr val="folHlink"/>
                </a:solidFill>
              </a:rPr>
              <a:t>有应答面向连接服务</a:t>
            </a:r>
          </a:p>
          <a:p>
            <a:pPr lvl="1">
              <a:buClr>
                <a:schemeClr val="folHlink"/>
              </a:buClr>
              <a:buSzPct val="75000"/>
              <a:buFont typeface="Wingdings" panose="05000000000000000000" pitchFamily="2" charset="2"/>
              <a:buChar char="Ø"/>
            </a:pPr>
            <a:r>
              <a:rPr kumimoji="0" lang="zh-CN" altLang="en-US"/>
              <a:t> 提供可靠的比特流服务</a:t>
            </a:r>
          </a:p>
          <a:p>
            <a:pPr lvl="1">
              <a:buClr>
                <a:schemeClr val="folHlink"/>
              </a:buClr>
              <a:buSzPct val="75000"/>
              <a:buFont typeface="Wingdings" panose="05000000000000000000" pitchFamily="2" charset="2"/>
              <a:buChar char="Ø"/>
            </a:pPr>
            <a:r>
              <a:rPr kumimoji="0" lang="zh-CN" altLang="en-US"/>
              <a:t> 三个工作阶段</a:t>
            </a:r>
          </a:p>
          <a:p>
            <a:pPr lvl="1">
              <a:buClr>
                <a:schemeClr val="tx2"/>
              </a:buClr>
              <a:buSzPct val="75000"/>
              <a:buFont typeface="Wingdings" panose="05000000000000000000" pitchFamily="2" charset="2"/>
              <a:buChar char="ü"/>
            </a:pPr>
            <a:r>
              <a:rPr kumimoji="0" lang="zh-CN" altLang="en-US"/>
              <a:t> 连接建立</a:t>
            </a:r>
          </a:p>
          <a:p>
            <a:pPr lvl="1">
              <a:buClr>
                <a:schemeClr val="tx2"/>
              </a:buClr>
              <a:buSzPct val="75000"/>
              <a:buFont typeface="Wingdings" panose="05000000000000000000" pitchFamily="2" charset="2"/>
              <a:buChar char="ü"/>
            </a:pPr>
            <a:r>
              <a:rPr kumimoji="0" lang="zh-CN" altLang="en-US"/>
              <a:t> 分组按序传送</a:t>
            </a:r>
          </a:p>
          <a:p>
            <a:pPr lvl="1">
              <a:buClr>
                <a:schemeClr val="tx2"/>
              </a:buClr>
              <a:buSzPct val="75000"/>
              <a:buFont typeface="Wingdings" panose="05000000000000000000" pitchFamily="2" charset="2"/>
              <a:buChar char="ü"/>
            </a:pPr>
            <a:r>
              <a:rPr kumimoji="0" lang="zh-CN" altLang="en-US"/>
              <a:t> 释放连接</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31139">
                                            <p:txEl>
                                              <p:pRg st="0" end="0"/>
                                            </p:txEl>
                                          </p:spTgt>
                                        </p:tgtEl>
                                        <p:attrNameLst>
                                          <p:attrName>style.visibility</p:attrName>
                                        </p:attrNameLst>
                                      </p:cBhvr>
                                      <p:to>
                                        <p:strVal val="visible"/>
                                      </p:to>
                                    </p:set>
                                    <p:anim calcmode="lin" valueType="num">
                                      <p:cBhvr additive="base">
                                        <p:cTn id="7" dur="500" fill="hold"/>
                                        <p:tgtEl>
                                          <p:spTgt spid="73113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3113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31139">
                                            <p:txEl>
                                              <p:pRg st="1" end="1"/>
                                            </p:txEl>
                                          </p:spTgt>
                                        </p:tgtEl>
                                        <p:attrNameLst>
                                          <p:attrName>style.visibility</p:attrName>
                                        </p:attrNameLst>
                                      </p:cBhvr>
                                      <p:to>
                                        <p:strVal val="visible"/>
                                      </p:to>
                                    </p:set>
                                    <p:anim calcmode="lin" valueType="num">
                                      <p:cBhvr additive="base">
                                        <p:cTn id="11" dur="500" fill="hold"/>
                                        <p:tgtEl>
                                          <p:spTgt spid="73113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73113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31139">
                                            <p:txEl>
                                              <p:pRg st="2" end="2"/>
                                            </p:txEl>
                                          </p:spTgt>
                                        </p:tgtEl>
                                        <p:attrNameLst>
                                          <p:attrName>style.visibility</p:attrName>
                                        </p:attrNameLst>
                                      </p:cBhvr>
                                      <p:to>
                                        <p:strVal val="visible"/>
                                      </p:to>
                                    </p:set>
                                    <p:anim calcmode="lin" valueType="num">
                                      <p:cBhvr additive="base">
                                        <p:cTn id="15" dur="500" fill="hold"/>
                                        <p:tgtEl>
                                          <p:spTgt spid="731139">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731139">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731139">
                                            <p:txEl>
                                              <p:pRg st="3" end="3"/>
                                            </p:txEl>
                                          </p:spTgt>
                                        </p:tgtEl>
                                        <p:attrNameLst>
                                          <p:attrName>style.visibility</p:attrName>
                                        </p:attrNameLst>
                                      </p:cBhvr>
                                      <p:to>
                                        <p:strVal val="visible"/>
                                      </p:to>
                                    </p:set>
                                    <p:anim calcmode="lin" valueType="num">
                                      <p:cBhvr additive="base">
                                        <p:cTn id="19" dur="500" fill="hold"/>
                                        <p:tgtEl>
                                          <p:spTgt spid="731139">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31139">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731139">
                                            <p:txEl>
                                              <p:pRg st="4" end="4"/>
                                            </p:txEl>
                                          </p:spTgt>
                                        </p:tgtEl>
                                        <p:attrNameLst>
                                          <p:attrName>style.visibility</p:attrName>
                                        </p:attrNameLst>
                                      </p:cBhvr>
                                      <p:to>
                                        <p:strVal val="visible"/>
                                      </p:to>
                                    </p:set>
                                    <p:anim calcmode="lin" valueType="num">
                                      <p:cBhvr additive="base">
                                        <p:cTn id="23" dur="500" fill="hold"/>
                                        <p:tgtEl>
                                          <p:spTgt spid="731139">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731139">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731139">
                                            <p:txEl>
                                              <p:pRg st="5" end="5"/>
                                            </p:txEl>
                                          </p:spTgt>
                                        </p:tgtEl>
                                        <p:attrNameLst>
                                          <p:attrName>style.visibility</p:attrName>
                                        </p:attrNameLst>
                                      </p:cBhvr>
                                      <p:to>
                                        <p:strVal val="visible"/>
                                      </p:to>
                                    </p:set>
                                    <p:anim calcmode="lin" valueType="num">
                                      <p:cBhvr additive="base">
                                        <p:cTn id="27" dur="500" fill="hold"/>
                                        <p:tgtEl>
                                          <p:spTgt spid="731139">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73113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1139"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90500" y="287336"/>
            <a:ext cx="4248150" cy="509587"/>
          </a:xfrm>
          <a:noFill/>
        </p:spPr>
        <p:txBody>
          <a:bodyPr/>
          <a:lstStyle/>
          <a:p>
            <a:pPr algn="l" eaLnBrk="1" hangingPunct="1"/>
            <a:r>
              <a:rPr lang="en-US" altLang="zh-CN" sz="3600" b="0"/>
              <a:t>4.2  </a:t>
            </a:r>
            <a:r>
              <a:rPr lang="zh-CN" altLang="en-US" sz="3600" b="0"/>
              <a:t>组帧</a:t>
            </a:r>
          </a:p>
        </p:txBody>
      </p:sp>
      <p:sp>
        <p:nvSpPr>
          <p:cNvPr id="12291" name="Text Box 3"/>
          <p:cNvSpPr txBox="1">
            <a:spLocks noChangeArrowheads="1"/>
          </p:cNvSpPr>
          <p:nvPr/>
        </p:nvSpPr>
        <p:spPr bwMode="auto">
          <a:xfrm>
            <a:off x="1870075" y="1582739"/>
            <a:ext cx="8377238" cy="525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just" eaLnBrk="1" hangingPunct="1">
              <a:spcBef>
                <a:spcPct val="10000"/>
              </a:spcBef>
              <a:buClrTx/>
              <a:buSzTx/>
              <a:buFontTx/>
              <a:buNone/>
            </a:pPr>
            <a:r>
              <a:rPr lang="en-US" altLang="zh-CN" sz="2800" b="1" i="1">
                <a:solidFill>
                  <a:srgbClr val="000000"/>
                </a:solidFill>
                <a:latin typeface="Times New Roman" panose="02020603050405020304" pitchFamily="18" charset="0"/>
              </a:rPr>
              <a:t>            </a:t>
            </a:r>
            <a:r>
              <a:rPr lang="zh-CN" altLang="en-US" sz="2800" b="1" i="1">
                <a:solidFill>
                  <a:srgbClr val="000000"/>
                </a:solidFill>
                <a:latin typeface="Times New Roman" panose="02020603050405020304" pitchFamily="18" charset="0"/>
              </a:rPr>
              <a:t>一个从</a:t>
            </a:r>
            <a:r>
              <a:rPr lang="en-US" altLang="zh-CN" sz="2800" b="1" i="1">
                <a:solidFill>
                  <a:srgbClr val="000000"/>
                </a:solidFill>
                <a:latin typeface="Times New Roman" panose="02020603050405020304" pitchFamily="18" charset="0"/>
              </a:rPr>
              <a:t>Internet</a:t>
            </a:r>
            <a:r>
              <a:rPr lang="zh-CN" altLang="en-US" sz="2800" b="1" i="1">
                <a:solidFill>
                  <a:srgbClr val="000000"/>
                </a:solidFill>
                <a:latin typeface="Times New Roman" panose="02020603050405020304" pitchFamily="18" charset="0"/>
              </a:rPr>
              <a:t>上拦截下来的实际比特流</a:t>
            </a:r>
            <a:endParaRPr lang="zh-CN" altLang="en-US" sz="2800">
              <a:solidFill>
                <a:srgbClr val="000000"/>
              </a:solidFill>
              <a:latin typeface="Times New Roman" panose="02020603050405020304" pitchFamily="18" charset="0"/>
            </a:endParaRPr>
          </a:p>
          <a:p>
            <a:pPr algn="just" eaLnBrk="1" hangingPunct="1">
              <a:spcBef>
                <a:spcPct val="10000"/>
              </a:spcBef>
              <a:buClrTx/>
              <a:buSzTx/>
              <a:buFontTx/>
              <a:buNone/>
            </a:pPr>
            <a:r>
              <a:rPr lang="en-US" altLang="zh-CN" sz="2800">
                <a:solidFill>
                  <a:srgbClr val="000000"/>
                </a:solidFill>
                <a:latin typeface="Times New Roman" panose="02020603050405020304" pitchFamily="18" charset="0"/>
              </a:rPr>
              <a:t>101010101010……10101011000000001000000010101101000110000101110110001110010100100101010010101011001000111110101101110000000010000000000001000101000000000000000000101000001110000111011001000000000000000100000000000110111110110100111111000000101010000000000001111101110010100110001001111011100000100000100000011000000000000101000000110010000001011110010110000101000110011001011010100000000110110101000000000100000000000000000011001111001100010000000000000000001000000010000000100000001000000010000000100000</a:t>
            </a:r>
            <a:endParaRPr lang="en-US" altLang="zh-CN" sz="2800">
              <a:latin typeface="Times New Roman" panose="02020603050405020304" pitchFamily="18" charset="0"/>
            </a:endParaRPr>
          </a:p>
        </p:txBody>
      </p:sp>
      <p:sp>
        <p:nvSpPr>
          <p:cNvPr id="732164" name="Text Box 4"/>
          <p:cNvSpPr txBox="1">
            <a:spLocks noChangeArrowheads="1"/>
          </p:cNvSpPr>
          <p:nvPr/>
        </p:nvSpPr>
        <p:spPr bwMode="auto">
          <a:xfrm>
            <a:off x="1524000" y="1208088"/>
            <a:ext cx="9144000" cy="56499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ClrTx/>
              <a:buSzTx/>
              <a:buFontTx/>
              <a:buNone/>
            </a:pPr>
            <a:endParaRPr lang="en-US" altLang="zh-CN" sz="2800">
              <a:latin typeface="Times New Roman" panose="02020603050405020304" pitchFamily="18" charset="0"/>
            </a:endParaRPr>
          </a:p>
          <a:p>
            <a:pPr algn="ctr" eaLnBrk="1" hangingPunct="1">
              <a:spcBef>
                <a:spcPct val="50000"/>
              </a:spcBef>
              <a:buClrTx/>
              <a:buSzTx/>
              <a:buFontTx/>
              <a:buNone/>
            </a:pPr>
            <a:endParaRPr lang="en-US" altLang="zh-CN" sz="2800">
              <a:latin typeface="Times New Roman" panose="02020603050405020304" pitchFamily="18" charset="0"/>
            </a:endParaRPr>
          </a:p>
          <a:p>
            <a:pPr algn="ctr" eaLnBrk="1" hangingPunct="1">
              <a:spcBef>
                <a:spcPct val="50000"/>
              </a:spcBef>
              <a:buClrTx/>
              <a:buSzTx/>
              <a:buFontTx/>
              <a:buNone/>
            </a:pPr>
            <a:endParaRPr lang="en-US" altLang="zh-CN" sz="2800">
              <a:latin typeface="Times New Roman" panose="02020603050405020304" pitchFamily="18" charset="0"/>
            </a:endParaRPr>
          </a:p>
          <a:p>
            <a:pPr algn="ctr" eaLnBrk="1" hangingPunct="1">
              <a:spcBef>
                <a:spcPct val="50000"/>
              </a:spcBef>
              <a:buClrTx/>
              <a:buSzTx/>
              <a:buFontTx/>
              <a:buNone/>
            </a:pPr>
            <a:endParaRPr lang="en-US" altLang="zh-CN" sz="2800">
              <a:latin typeface="Times New Roman" panose="02020603050405020304" pitchFamily="18" charset="0"/>
            </a:endParaRPr>
          </a:p>
          <a:p>
            <a:pPr algn="ctr" eaLnBrk="1" hangingPunct="1">
              <a:spcBef>
                <a:spcPct val="50000"/>
              </a:spcBef>
              <a:buClrTx/>
              <a:buSzTx/>
              <a:buFontTx/>
              <a:buNone/>
            </a:pPr>
            <a:endParaRPr lang="en-US" altLang="zh-CN" sz="2800">
              <a:latin typeface="Times New Roman" panose="02020603050405020304" pitchFamily="18" charset="0"/>
            </a:endParaRPr>
          </a:p>
          <a:p>
            <a:pPr algn="ctr" eaLnBrk="1" hangingPunct="1">
              <a:spcBef>
                <a:spcPct val="50000"/>
              </a:spcBef>
              <a:buClrTx/>
              <a:buSzTx/>
              <a:buFontTx/>
              <a:buNone/>
            </a:pPr>
            <a:endParaRPr lang="en-US" altLang="zh-CN" sz="2800">
              <a:latin typeface="Times New Roman" panose="02020603050405020304" pitchFamily="18" charset="0"/>
            </a:endParaRPr>
          </a:p>
          <a:p>
            <a:pPr algn="ctr" eaLnBrk="1" hangingPunct="1">
              <a:spcBef>
                <a:spcPct val="50000"/>
              </a:spcBef>
              <a:buClrTx/>
              <a:buSzTx/>
              <a:buFontTx/>
              <a:buNone/>
            </a:pPr>
            <a:endParaRPr lang="en-US" altLang="zh-CN" sz="2800">
              <a:latin typeface="Times New Roman" panose="02020603050405020304" pitchFamily="18" charset="0"/>
            </a:endParaRPr>
          </a:p>
          <a:p>
            <a:pPr algn="ctr" eaLnBrk="1" hangingPunct="1">
              <a:spcBef>
                <a:spcPct val="50000"/>
              </a:spcBef>
              <a:buClrTx/>
              <a:buSzTx/>
              <a:buFontTx/>
              <a:buNone/>
            </a:pPr>
            <a:endParaRPr lang="en-US" altLang="zh-CN" sz="2800">
              <a:latin typeface="Times New Roman" panose="02020603050405020304" pitchFamily="18" charset="0"/>
            </a:endParaRPr>
          </a:p>
          <a:p>
            <a:pPr algn="ctr" eaLnBrk="1" hangingPunct="1">
              <a:spcBef>
                <a:spcPct val="50000"/>
              </a:spcBef>
              <a:buClrTx/>
              <a:buSzTx/>
              <a:buFontTx/>
              <a:buNone/>
            </a:pPr>
            <a:endParaRPr lang="en-US" altLang="zh-CN" sz="2800">
              <a:latin typeface="Times New Roman" panose="02020603050405020304" pitchFamily="18" charset="0"/>
            </a:endParaRPr>
          </a:p>
        </p:txBody>
      </p:sp>
      <p:sp>
        <p:nvSpPr>
          <p:cNvPr id="732165" name="Text Box 5"/>
          <p:cNvSpPr txBox="1">
            <a:spLocks noChangeArrowheads="1"/>
          </p:cNvSpPr>
          <p:nvPr/>
        </p:nvSpPr>
        <p:spPr bwMode="auto">
          <a:xfrm>
            <a:off x="1827213" y="1354139"/>
            <a:ext cx="845185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just" eaLnBrk="1" hangingPunct="1">
              <a:spcBef>
                <a:spcPct val="0"/>
              </a:spcBef>
              <a:buClrTx/>
              <a:buSzTx/>
              <a:buFontTx/>
              <a:buNone/>
            </a:pPr>
            <a:r>
              <a:rPr lang="en-US" altLang="zh-CN" sz="2800">
                <a:solidFill>
                  <a:srgbClr val="000000"/>
                </a:solidFill>
                <a:latin typeface="Times New Roman" panose="02020603050405020304" pitchFamily="18" charset="0"/>
              </a:rPr>
              <a:t>                          </a:t>
            </a:r>
            <a:r>
              <a:rPr lang="zh-CN" altLang="en-US" sz="2800">
                <a:solidFill>
                  <a:schemeClr val="hlink"/>
                </a:solidFill>
                <a:latin typeface="Times New Roman" panose="02020603050405020304" pitchFamily="18" charset="0"/>
              </a:rPr>
              <a:t>上述比特流的含义</a:t>
            </a:r>
          </a:p>
          <a:p>
            <a:pPr algn="just" eaLnBrk="1" hangingPunct="1">
              <a:spcBef>
                <a:spcPct val="0"/>
              </a:spcBef>
              <a:buClrTx/>
              <a:buSzTx/>
              <a:buFontTx/>
              <a:buNone/>
            </a:pPr>
            <a:r>
              <a:rPr lang="en-US" altLang="zh-CN" sz="2800" i="1">
                <a:solidFill>
                  <a:srgbClr val="3366FF"/>
                </a:solidFill>
                <a:latin typeface="Times New Roman" panose="02020603050405020304" pitchFamily="18" charset="0"/>
              </a:rPr>
              <a:t>101010101010……101010</a:t>
            </a:r>
            <a:r>
              <a:rPr lang="en-US" altLang="zh-CN" sz="2800" i="1">
                <a:solidFill>
                  <a:srgbClr val="800000"/>
                </a:solidFill>
                <a:latin typeface="Times New Roman" panose="02020603050405020304" pitchFamily="18" charset="0"/>
              </a:rPr>
              <a:t>11</a:t>
            </a:r>
            <a:r>
              <a:rPr lang="en-US" altLang="zh-CN" sz="2800">
                <a:solidFill>
                  <a:srgbClr val="33CCCC"/>
                </a:solidFill>
                <a:latin typeface="Times New Roman" panose="02020603050405020304" pitchFamily="18" charset="0"/>
              </a:rPr>
              <a:t>0000000010000000101011010001100001011101100011100101001001010100101010110010001111101011011100000000100000000000</a:t>
            </a:r>
            <a:r>
              <a:rPr lang="en-US" altLang="zh-CN" sz="2800">
                <a:solidFill>
                  <a:srgbClr val="000080"/>
                </a:solidFill>
                <a:latin typeface="Times New Roman" panose="02020603050405020304" pitchFamily="18" charset="0"/>
              </a:rPr>
              <a:t>0100010100000000000000000010100000111000011101100100000000000000010000000000011011111011010011111100000010101000000000000111110111001010011000100111101110000010</a:t>
            </a:r>
            <a:r>
              <a:rPr lang="en-US" altLang="zh-CN" sz="2800">
                <a:solidFill>
                  <a:srgbClr val="00FF00"/>
                </a:solidFill>
                <a:latin typeface="Times New Roman" panose="02020603050405020304" pitchFamily="18" charset="0"/>
              </a:rPr>
              <a:t>000010000001100000000000010100000011001000000101111001011000010100011001100101101010000000011011010100000000010000000000000000001100111100110001</a:t>
            </a:r>
            <a:r>
              <a:rPr lang="en-US" altLang="zh-CN" sz="2800">
                <a:solidFill>
                  <a:srgbClr val="3366FF"/>
                </a:solidFill>
                <a:latin typeface="Times New Roman" panose="02020603050405020304" pitchFamily="18" charset="0"/>
              </a:rPr>
              <a:t>0000000000000000001000000010000000100000001000000010000000100000</a:t>
            </a:r>
          </a:p>
        </p:txBody>
      </p:sp>
      <p:sp>
        <p:nvSpPr>
          <p:cNvPr id="732166" name="AutoShape 6"/>
          <p:cNvSpPr>
            <a:spLocks noChangeArrowheads="1"/>
          </p:cNvSpPr>
          <p:nvPr/>
        </p:nvSpPr>
        <p:spPr bwMode="auto">
          <a:xfrm>
            <a:off x="5395914" y="1112839"/>
            <a:ext cx="1978025" cy="765175"/>
          </a:xfrm>
          <a:prstGeom prst="wedgeRoundRectCallout">
            <a:avLst>
              <a:gd name="adj1" fmla="val -132102"/>
              <a:gd name="adj2" fmla="val 105394"/>
              <a:gd name="adj3" fmla="val 16667"/>
            </a:avLst>
          </a:prstGeom>
          <a:solidFill>
            <a:schemeClr val="accent1"/>
          </a:solidFill>
          <a:ln w="9525">
            <a:solidFill>
              <a:schemeClr val="tx1"/>
            </a:solidFill>
            <a:miter lim="800000"/>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SzTx/>
              <a:buFontTx/>
              <a:buNone/>
            </a:pPr>
            <a:r>
              <a:rPr lang="zh-CN" altLang="en-US" sz="2400">
                <a:latin typeface="Times New Roman" panose="02020603050405020304" pitchFamily="18" charset="0"/>
              </a:rPr>
              <a:t>同步序列</a:t>
            </a:r>
            <a:r>
              <a:rPr lang="en-US" altLang="zh-CN" sz="2400">
                <a:latin typeface="Times New Roman" panose="02020603050405020304" pitchFamily="18" charset="0"/>
              </a:rPr>
              <a:t>,</a:t>
            </a:r>
          </a:p>
          <a:p>
            <a:pPr algn="ctr" eaLnBrk="1" hangingPunct="1">
              <a:spcBef>
                <a:spcPct val="0"/>
              </a:spcBef>
              <a:buClrTx/>
              <a:buSzTx/>
              <a:buFontTx/>
              <a:buNone/>
            </a:pPr>
            <a:r>
              <a:rPr lang="en-US" altLang="zh-CN" sz="2400">
                <a:latin typeface="Times New Roman" panose="02020603050405020304" pitchFamily="18" charset="0"/>
              </a:rPr>
              <a:t>(≧ 8</a:t>
            </a:r>
            <a:r>
              <a:rPr lang="zh-CN" altLang="en-US" sz="2400">
                <a:latin typeface="Times New Roman" panose="02020603050405020304" pitchFamily="18" charset="0"/>
              </a:rPr>
              <a:t>字节</a:t>
            </a:r>
            <a:r>
              <a:rPr lang="en-US" altLang="zh-CN" sz="2400">
                <a:latin typeface="Times New Roman" panose="02020603050405020304" pitchFamily="18" charset="0"/>
              </a:rPr>
              <a:t>)</a:t>
            </a:r>
          </a:p>
        </p:txBody>
      </p:sp>
      <p:sp>
        <p:nvSpPr>
          <p:cNvPr id="732167" name="AutoShape 7"/>
          <p:cNvSpPr>
            <a:spLocks noChangeArrowheads="1"/>
          </p:cNvSpPr>
          <p:nvPr/>
        </p:nvSpPr>
        <p:spPr bwMode="auto">
          <a:xfrm>
            <a:off x="7677150" y="1758951"/>
            <a:ext cx="1976438" cy="790575"/>
          </a:xfrm>
          <a:prstGeom prst="wedgeRoundRectCallout">
            <a:avLst>
              <a:gd name="adj1" fmla="val -72491"/>
              <a:gd name="adj2" fmla="val 79319"/>
              <a:gd name="adj3" fmla="val 16667"/>
            </a:avLst>
          </a:prstGeom>
          <a:solidFill>
            <a:schemeClr val="accent1"/>
          </a:solidFill>
          <a:ln w="9525">
            <a:solidFill>
              <a:schemeClr val="tx1"/>
            </a:solidFill>
            <a:miter lim="800000"/>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SzTx/>
              <a:buFontTx/>
              <a:buNone/>
            </a:pPr>
            <a:r>
              <a:rPr lang="zh-CN" altLang="en-US" sz="2400">
                <a:solidFill>
                  <a:schemeClr val="hlink"/>
                </a:solidFill>
                <a:latin typeface="Times New Roman" panose="02020603050405020304" pitchFamily="18" charset="0"/>
              </a:rPr>
              <a:t>以太帧头</a:t>
            </a:r>
          </a:p>
          <a:p>
            <a:pPr algn="ctr" eaLnBrk="1" hangingPunct="1">
              <a:spcBef>
                <a:spcPct val="0"/>
              </a:spcBef>
              <a:buClrTx/>
              <a:buSzTx/>
              <a:buFontTx/>
              <a:buNone/>
            </a:pPr>
            <a:r>
              <a:rPr lang="en-US" altLang="zh-CN" sz="2400">
                <a:solidFill>
                  <a:schemeClr val="hlink"/>
                </a:solidFill>
                <a:latin typeface="Times New Roman" panose="02020603050405020304" pitchFamily="18" charset="0"/>
              </a:rPr>
              <a:t>(14</a:t>
            </a:r>
            <a:r>
              <a:rPr lang="zh-CN" altLang="en-US" sz="2400">
                <a:solidFill>
                  <a:schemeClr val="hlink"/>
                </a:solidFill>
                <a:latin typeface="Times New Roman" panose="02020603050405020304" pitchFamily="18" charset="0"/>
              </a:rPr>
              <a:t>字节</a:t>
            </a:r>
            <a:r>
              <a:rPr lang="en-US" altLang="zh-CN" sz="2400">
                <a:solidFill>
                  <a:schemeClr val="hlink"/>
                </a:solidFill>
                <a:latin typeface="Times New Roman" panose="02020603050405020304" pitchFamily="18" charset="0"/>
              </a:rPr>
              <a:t>)</a:t>
            </a:r>
          </a:p>
        </p:txBody>
      </p:sp>
      <p:sp>
        <p:nvSpPr>
          <p:cNvPr id="732168" name="AutoShape 8"/>
          <p:cNvSpPr>
            <a:spLocks noChangeArrowheads="1"/>
          </p:cNvSpPr>
          <p:nvPr/>
        </p:nvSpPr>
        <p:spPr bwMode="auto">
          <a:xfrm>
            <a:off x="7513639" y="2798763"/>
            <a:ext cx="1952625" cy="741362"/>
          </a:xfrm>
          <a:prstGeom prst="wedgeRoundRectCallout">
            <a:avLst>
              <a:gd name="adj1" fmla="val -56421"/>
              <a:gd name="adj2" fmla="val 73343"/>
              <a:gd name="adj3" fmla="val 16667"/>
            </a:avLst>
          </a:prstGeom>
          <a:solidFill>
            <a:schemeClr val="accent1"/>
          </a:solidFill>
          <a:ln w="9525">
            <a:solidFill>
              <a:schemeClr val="tx1"/>
            </a:solidFill>
            <a:miter lim="800000"/>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IP</a:t>
            </a:r>
            <a:r>
              <a:rPr lang="zh-CN" altLang="en-US" sz="2400">
                <a:latin typeface="Times New Roman" panose="02020603050405020304" pitchFamily="18" charset="0"/>
              </a:rPr>
              <a:t>报头</a:t>
            </a:r>
          </a:p>
          <a:p>
            <a:pPr algn="ctr" eaLnBrk="1" hangingPunct="1">
              <a:spcBef>
                <a:spcPct val="0"/>
              </a:spcBef>
              <a:buClrTx/>
              <a:buSzTx/>
              <a:buFontTx/>
              <a:buNone/>
            </a:pPr>
            <a:r>
              <a:rPr lang="en-US" altLang="zh-CN" sz="2400">
                <a:latin typeface="Times New Roman" panose="02020603050405020304" pitchFamily="18" charset="0"/>
              </a:rPr>
              <a:t>(20</a:t>
            </a:r>
            <a:r>
              <a:rPr lang="zh-CN" altLang="en-US" sz="2400">
                <a:latin typeface="Times New Roman" panose="02020603050405020304" pitchFamily="18" charset="0"/>
              </a:rPr>
              <a:t>字节</a:t>
            </a:r>
            <a:r>
              <a:rPr lang="en-US" altLang="zh-CN" sz="2400">
                <a:latin typeface="Times New Roman" panose="02020603050405020304" pitchFamily="18" charset="0"/>
              </a:rPr>
              <a:t>)</a:t>
            </a:r>
          </a:p>
        </p:txBody>
      </p:sp>
      <p:sp>
        <p:nvSpPr>
          <p:cNvPr id="732169" name="AutoShape 9"/>
          <p:cNvSpPr>
            <a:spLocks noChangeArrowheads="1"/>
          </p:cNvSpPr>
          <p:nvPr/>
        </p:nvSpPr>
        <p:spPr bwMode="auto">
          <a:xfrm>
            <a:off x="6726238" y="4081463"/>
            <a:ext cx="2247900" cy="741362"/>
          </a:xfrm>
          <a:prstGeom prst="wedgeRoundRectCallout">
            <a:avLst>
              <a:gd name="adj1" fmla="val -43750"/>
              <a:gd name="adj2" fmla="val 70000"/>
              <a:gd name="adj3" fmla="val 16667"/>
            </a:avLst>
          </a:prstGeom>
          <a:solidFill>
            <a:schemeClr val="accent1"/>
          </a:solidFill>
          <a:ln w="9525">
            <a:solidFill>
              <a:schemeClr val="tx1"/>
            </a:solidFill>
            <a:miter lim="800000"/>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SzTx/>
              <a:buFontTx/>
              <a:buNone/>
            </a:pPr>
            <a:r>
              <a:rPr lang="en-US" altLang="zh-CN" sz="2400">
                <a:solidFill>
                  <a:schemeClr val="hlink"/>
                </a:solidFill>
                <a:latin typeface="Times New Roman" panose="02020603050405020304" pitchFamily="18" charset="0"/>
              </a:rPr>
              <a:t>TCP</a:t>
            </a:r>
            <a:r>
              <a:rPr lang="zh-CN" altLang="en-US" sz="2400">
                <a:solidFill>
                  <a:schemeClr val="hlink"/>
                </a:solidFill>
                <a:latin typeface="Times New Roman" panose="02020603050405020304" pitchFamily="18" charset="0"/>
              </a:rPr>
              <a:t>报头</a:t>
            </a:r>
          </a:p>
          <a:p>
            <a:pPr algn="ctr" eaLnBrk="1" hangingPunct="1">
              <a:spcBef>
                <a:spcPct val="0"/>
              </a:spcBef>
              <a:buClrTx/>
              <a:buSzTx/>
              <a:buFontTx/>
              <a:buNone/>
            </a:pPr>
            <a:r>
              <a:rPr lang="en-US" altLang="zh-CN" sz="2400">
                <a:solidFill>
                  <a:schemeClr val="hlink"/>
                </a:solidFill>
                <a:latin typeface="Times New Roman" panose="02020603050405020304" pitchFamily="18" charset="0"/>
              </a:rPr>
              <a:t>(20</a:t>
            </a:r>
            <a:r>
              <a:rPr lang="zh-CN" altLang="en-US" sz="2400">
                <a:solidFill>
                  <a:schemeClr val="hlink"/>
                </a:solidFill>
                <a:latin typeface="Times New Roman" panose="02020603050405020304" pitchFamily="18" charset="0"/>
              </a:rPr>
              <a:t>字节</a:t>
            </a:r>
            <a:r>
              <a:rPr lang="en-US" altLang="zh-CN" sz="2400">
                <a:solidFill>
                  <a:schemeClr val="hlink"/>
                </a:solidFill>
                <a:latin typeface="Times New Roman" panose="02020603050405020304" pitchFamily="18" charset="0"/>
              </a:rPr>
              <a:t>)</a:t>
            </a:r>
          </a:p>
        </p:txBody>
      </p:sp>
      <p:sp>
        <p:nvSpPr>
          <p:cNvPr id="732170" name="AutoShape 10"/>
          <p:cNvSpPr>
            <a:spLocks noChangeArrowheads="1"/>
          </p:cNvSpPr>
          <p:nvPr/>
        </p:nvSpPr>
        <p:spPr bwMode="auto">
          <a:xfrm>
            <a:off x="7840663" y="5516563"/>
            <a:ext cx="1854200" cy="754062"/>
          </a:xfrm>
          <a:prstGeom prst="wedgeRoundRectCallout">
            <a:avLst>
              <a:gd name="adj1" fmla="val -93065"/>
              <a:gd name="adj2" fmla="val 30630"/>
              <a:gd name="adj3" fmla="val 16667"/>
            </a:avLst>
          </a:prstGeom>
          <a:solidFill>
            <a:schemeClr val="accent1"/>
          </a:solidFill>
          <a:ln w="9525">
            <a:solidFill>
              <a:schemeClr val="tx1"/>
            </a:solidFill>
            <a:miter lim="800000"/>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ClrTx/>
              <a:buSzTx/>
              <a:buFontTx/>
              <a:buNone/>
            </a:pPr>
            <a:r>
              <a:rPr lang="zh-CN" altLang="en-US" sz="2800">
                <a:latin typeface="Times New Roman" panose="02020603050405020304" pitchFamily="18" charset="0"/>
              </a:rPr>
              <a:t>数据</a:t>
            </a:r>
          </a:p>
        </p:txBody>
      </p:sp>
      <p:sp>
        <p:nvSpPr>
          <p:cNvPr id="732171" name="AutoShape 11"/>
          <p:cNvSpPr>
            <a:spLocks noChangeArrowheads="1"/>
          </p:cNvSpPr>
          <p:nvPr/>
        </p:nvSpPr>
        <p:spPr bwMode="auto">
          <a:xfrm>
            <a:off x="7716839" y="955676"/>
            <a:ext cx="1978025" cy="836613"/>
          </a:xfrm>
          <a:prstGeom prst="wedgeRoundRectCallout">
            <a:avLst>
              <a:gd name="adj1" fmla="val -138204"/>
              <a:gd name="adj2" fmla="val 80551"/>
              <a:gd name="adj3" fmla="val 16667"/>
            </a:avLst>
          </a:prstGeom>
          <a:solidFill>
            <a:schemeClr val="accent1"/>
          </a:solidFill>
          <a:ln w="9525">
            <a:solidFill>
              <a:schemeClr val="tx1"/>
            </a:solidFill>
            <a:miter lim="800000"/>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lang="zh-CN" altLang="en-US" sz="2400">
                <a:latin typeface="Times New Roman" panose="02020603050405020304" pitchFamily="18" charset="0"/>
              </a:rPr>
              <a:t>同步结束</a:t>
            </a:r>
            <a:r>
              <a:rPr lang="en-US" altLang="zh-CN" sz="2400">
                <a:latin typeface="Times New Roman" panose="02020603050405020304" pitchFamily="18" charset="0"/>
              </a:rPr>
              <a:t>,</a:t>
            </a:r>
            <a:r>
              <a:rPr lang="zh-CN" altLang="en-US" sz="2400">
                <a:latin typeface="Times New Roman" panose="02020603050405020304" pitchFamily="18" charset="0"/>
              </a:rPr>
              <a:t>数据开始</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32164"/>
                                        </p:tgtEl>
                                        <p:attrNameLst>
                                          <p:attrName>style.visibility</p:attrName>
                                        </p:attrNameLst>
                                      </p:cBhvr>
                                      <p:to>
                                        <p:strVal val="visible"/>
                                      </p:to>
                                    </p:set>
                                    <p:anim calcmode="lin" valueType="num">
                                      <p:cBhvr additive="base">
                                        <p:cTn id="7" dur="500" fill="hold"/>
                                        <p:tgtEl>
                                          <p:spTgt spid="732164"/>
                                        </p:tgtEl>
                                        <p:attrNameLst>
                                          <p:attrName>ppt_x</p:attrName>
                                        </p:attrNameLst>
                                      </p:cBhvr>
                                      <p:tavLst>
                                        <p:tav tm="0">
                                          <p:val>
                                            <p:strVal val="1+#ppt_w/2"/>
                                          </p:val>
                                        </p:tav>
                                        <p:tav tm="100000">
                                          <p:val>
                                            <p:strVal val="#ppt_x"/>
                                          </p:val>
                                        </p:tav>
                                      </p:tavLst>
                                    </p:anim>
                                    <p:anim calcmode="lin" valueType="num">
                                      <p:cBhvr additive="base">
                                        <p:cTn id="8" dur="500" fill="hold"/>
                                        <p:tgtEl>
                                          <p:spTgt spid="73216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32165">
                                            <p:txEl>
                                              <p:pRg st="0" end="0"/>
                                            </p:txEl>
                                          </p:spTgt>
                                        </p:tgtEl>
                                        <p:attrNameLst>
                                          <p:attrName>style.visibility</p:attrName>
                                        </p:attrNameLst>
                                      </p:cBhvr>
                                      <p:to>
                                        <p:strVal val="visible"/>
                                      </p:to>
                                    </p:set>
                                    <p:anim calcmode="lin" valueType="num">
                                      <p:cBhvr additive="base">
                                        <p:cTn id="13" dur="500" fill="hold"/>
                                        <p:tgtEl>
                                          <p:spTgt spid="732165">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3216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32165">
                                            <p:txEl>
                                              <p:pRg st="1" end="1"/>
                                            </p:txEl>
                                          </p:spTgt>
                                        </p:tgtEl>
                                        <p:attrNameLst>
                                          <p:attrName>style.visibility</p:attrName>
                                        </p:attrNameLst>
                                      </p:cBhvr>
                                      <p:to>
                                        <p:strVal val="visible"/>
                                      </p:to>
                                    </p:set>
                                    <p:anim calcmode="lin" valueType="num">
                                      <p:cBhvr additive="base">
                                        <p:cTn id="19" dur="500" fill="hold"/>
                                        <p:tgtEl>
                                          <p:spTgt spid="732165">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3216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32166"/>
                                        </p:tgtEl>
                                        <p:attrNameLst>
                                          <p:attrName>style.visibility</p:attrName>
                                        </p:attrNameLst>
                                      </p:cBhvr>
                                      <p:to>
                                        <p:strVal val="visible"/>
                                      </p:to>
                                    </p:set>
                                    <p:anim calcmode="lin" valueType="num">
                                      <p:cBhvr additive="base">
                                        <p:cTn id="25" dur="500" fill="hold"/>
                                        <p:tgtEl>
                                          <p:spTgt spid="732166"/>
                                        </p:tgtEl>
                                        <p:attrNameLst>
                                          <p:attrName>ppt_x</p:attrName>
                                        </p:attrNameLst>
                                      </p:cBhvr>
                                      <p:tavLst>
                                        <p:tav tm="0">
                                          <p:val>
                                            <p:strVal val="1+#ppt_w/2"/>
                                          </p:val>
                                        </p:tav>
                                        <p:tav tm="100000">
                                          <p:val>
                                            <p:strVal val="#ppt_x"/>
                                          </p:val>
                                        </p:tav>
                                      </p:tavLst>
                                    </p:anim>
                                    <p:anim calcmode="lin" valueType="num">
                                      <p:cBhvr additive="base">
                                        <p:cTn id="26" dur="500" fill="hold"/>
                                        <p:tgtEl>
                                          <p:spTgt spid="73216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32171"/>
                                        </p:tgtEl>
                                        <p:attrNameLst>
                                          <p:attrName>style.visibility</p:attrName>
                                        </p:attrNameLst>
                                      </p:cBhvr>
                                      <p:to>
                                        <p:strVal val="visible"/>
                                      </p:to>
                                    </p:set>
                                    <p:anim calcmode="lin" valueType="num">
                                      <p:cBhvr additive="base">
                                        <p:cTn id="31" dur="500" fill="hold"/>
                                        <p:tgtEl>
                                          <p:spTgt spid="732171"/>
                                        </p:tgtEl>
                                        <p:attrNameLst>
                                          <p:attrName>ppt_x</p:attrName>
                                        </p:attrNameLst>
                                      </p:cBhvr>
                                      <p:tavLst>
                                        <p:tav tm="0">
                                          <p:val>
                                            <p:strVal val="1+#ppt_w/2"/>
                                          </p:val>
                                        </p:tav>
                                        <p:tav tm="100000">
                                          <p:val>
                                            <p:strVal val="#ppt_x"/>
                                          </p:val>
                                        </p:tav>
                                      </p:tavLst>
                                    </p:anim>
                                    <p:anim calcmode="lin" valueType="num">
                                      <p:cBhvr additive="base">
                                        <p:cTn id="32" dur="500" fill="hold"/>
                                        <p:tgtEl>
                                          <p:spTgt spid="73217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732167"/>
                                        </p:tgtEl>
                                        <p:attrNameLst>
                                          <p:attrName>style.visibility</p:attrName>
                                        </p:attrNameLst>
                                      </p:cBhvr>
                                      <p:to>
                                        <p:strVal val="visible"/>
                                      </p:to>
                                    </p:set>
                                    <p:anim calcmode="lin" valueType="num">
                                      <p:cBhvr additive="base">
                                        <p:cTn id="37" dur="500" fill="hold"/>
                                        <p:tgtEl>
                                          <p:spTgt spid="732167"/>
                                        </p:tgtEl>
                                        <p:attrNameLst>
                                          <p:attrName>ppt_x</p:attrName>
                                        </p:attrNameLst>
                                      </p:cBhvr>
                                      <p:tavLst>
                                        <p:tav tm="0">
                                          <p:val>
                                            <p:strVal val="1+#ppt_w/2"/>
                                          </p:val>
                                        </p:tav>
                                        <p:tav tm="100000">
                                          <p:val>
                                            <p:strVal val="#ppt_x"/>
                                          </p:val>
                                        </p:tav>
                                      </p:tavLst>
                                    </p:anim>
                                    <p:anim calcmode="lin" valueType="num">
                                      <p:cBhvr additive="base">
                                        <p:cTn id="38" dur="500" fill="hold"/>
                                        <p:tgtEl>
                                          <p:spTgt spid="732167"/>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32168"/>
                                        </p:tgtEl>
                                        <p:attrNameLst>
                                          <p:attrName>style.visibility</p:attrName>
                                        </p:attrNameLst>
                                      </p:cBhvr>
                                      <p:to>
                                        <p:strVal val="visible"/>
                                      </p:to>
                                    </p:set>
                                    <p:anim calcmode="lin" valueType="num">
                                      <p:cBhvr additive="base">
                                        <p:cTn id="43" dur="500" fill="hold"/>
                                        <p:tgtEl>
                                          <p:spTgt spid="732168"/>
                                        </p:tgtEl>
                                        <p:attrNameLst>
                                          <p:attrName>ppt_x</p:attrName>
                                        </p:attrNameLst>
                                      </p:cBhvr>
                                      <p:tavLst>
                                        <p:tav tm="0">
                                          <p:val>
                                            <p:strVal val="1+#ppt_w/2"/>
                                          </p:val>
                                        </p:tav>
                                        <p:tav tm="100000">
                                          <p:val>
                                            <p:strVal val="#ppt_x"/>
                                          </p:val>
                                        </p:tav>
                                      </p:tavLst>
                                    </p:anim>
                                    <p:anim calcmode="lin" valueType="num">
                                      <p:cBhvr additive="base">
                                        <p:cTn id="44" dur="500" fill="hold"/>
                                        <p:tgtEl>
                                          <p:spTgt spid="732168"/>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732169"/>
                                        </p:tgtEl>
                                        <p:attrNameLst>
                                          <p:attrName>style.visibility</p:attrName>
                                        </p:attrNameLst>
                                      </p:cBhvr>
                                      <p:to>
                                        <p:strVal val="visible"/>
                                      </p:to>
                                    </p:set>
                                    <p:anim calcmode="lin" valueType="num">
                                      <p:cBhvr additive="base">
                                        <p:cTn id="49" dur="500" fill="hold"/>
                                        <p:tgtEl>
                                          <p:spTgt spid="732169"/>
                                        </p:tgtEl>
                                        <p:attrNameLst>
                                          <p:attrName>ppt_x</p:attrName>
                                        </p:attrNameLst>
                                      </p:cBhvr>
                                      <p:tavLst>
                                        <p:tav tm="0">
                                          <p:val>
                                            <p:strVal val="1+#ppt_w/2"/>
                                          </p:val>
                                        </p:tav>
                                        <p:tav tm="100000">
                                          <p:val>
                                            <p:strVal val="#ppt_x"/>
                                          </p:val>
                                        </p:tav>
                                      </p:tavLst>
                                    </p:anim>
                                    <p:anim calcmode="lin" valueType="num">
                                      <p:cBhvr additive="base">
                                        <p:cTn id="50" dur="500" fill="hold"/>
                                        <p:tgtEl>
                                          <p:spTgt spid="732169"/>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732170"/>
                                        </p:tgtEl>
                                        <p:attrNameLst>
                                          <p:attrName>style.visibility</p:attrName>
                                        </p:attrNameLst>
                                      </p:cBhvr>
                                      <p:to>
                                        <p:strVal val="visible"/>
                                      </p:to>
                                    </p:set>
                                    <p:anim calcmode="lin" valueType="num">
                                      <p:cBhvr additive="base">
                                        <p:cTn id="55" dur="500" fill="hold"/>
                                        <p:tgtEl>
                                          <p:spTgt spid="732170"/>
                                        </p:tgtEl>
                                        <p:attrNameLst>
                                          <p:attrName>ppt_x</p:attrName>
                                        </p:attrNameLst>
                                      </p:cBhvr>
                                      <p:tavLst>
                                        <p:tav tm="0">
                                          <p:val>
                                            <p:strVal val="1+#ppt_w/2"/>
                                          </p:val>
                                        </p:tav>
                                        <p:tav tm="100000">
                                          <p:val>
                                            <p:strVal val="#ppt_x"/>
                                          </p:val>
                                        </p:tav>
                                      </p:tavLst>
                                    </p:anim>
                                    <p:anim calcmode="lin" valueType="num">
                                      <p:cBhvr additive="base">
                                        <p:cTn id="56" dur="500" fill="hold"/>
                                        <p:tgtEl>
                                          <p:spTgt spid="7321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2164" grpId="0" animBg="1" autoUpdateAnimBg="0"/>
      <p:bldP spid="732165" grpId="0" build="p" autoUpdateAnimBg="0"/>
      <p:bldP spid="732166" grpId="0" animBg="1" autoUpdateAnimBg="0"/>
      <p:bldP spid="732167" grpId="0" animBg="1" autoUpdateAnimBg="0"/>
      <p:bldP spid="732168" grpId="0" animBg="1" autoUpdateAnimBg="0"/>
      <p:bldP spid="732169" grpId="0" animBg="1" autoUpdateAnimBg="0"/>
      <p:bldP spid="732170" grpId="0" animBg="1" autoUpdateAnimBg="0"/>
      <p:bldP spid="732171"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187575" y="206375"/>
            <a:ext cx="7772400" cy="609600"/>
          </a:xfrm>
          <a:noFill/>
        </p:spPr>
        <p:txBody>
          <a:bodyPr/>
          <a:lstStyle/>
          <a:p>
            <a:pPr eaLnBrk="1" hangingPunct="1"/>
            <a:r>
              <a:rPr lang="zh-CN" altLang="en-US" sz="3600"/>
              <a:t>组帧</a:t>
            </a:r>
          </a:p>
        </p:txBody>
      </p:sp>
      <p:sp>
        <p:nvSpPr>
          <p:cNvPr id="733187" name="Text Box 3"/>
          <p:cNvSpPr txBox="1">
            <a:spLocks noChangeArrowheads="1"/>
          </p:cNvSpPr>
          <p:nvPr/>
        </p:nvSpPr>
        <p:spPr bwMode="auto">
          <a:xfrm>
            <a:off x="1793875" y="1549401"/>
            <a:ext cx="8662988" cy="4142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8572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buSzPct val="75000"/>
              <a:buFont typeface="Wingdings" panose="05000000000000000000" pitchFamily="2" charset="2"/>
              <a:buChar char="ü"/>
            </a:pPr>
            <a:r>
              <a:rPr kumimoji="0" lang="zh-CN" altLang="en-US" sz="2800">
                <a:solidFill>
                  <a:schemeClr val="folHlink"/>
                </a:solidFill>
                <a:latin typeface="Arial" panose="020B0604020202020204" pitchFamily="34" charset="0"/>
              </a:rPr>
              <a:t>组帧</a:t>
            </a:r>
            <a:r>
              <a:rPr kumimoji="0" lang="zh-CN" altLang="en-US" sz="2800">
                <a:latin typeface="Arial" panose="020B0604020202020204" pitchFamily="34" charset="0"/>
              </a:rPr>
              <a:t>：比特流分段，封装成数据帧 </a:t>
            </a:r>
          </a:p>
          <a:p>
            <a:pPr>
              <a:buSzPct val="75000"/>
              <a:buFont typeface="Wingdings" panose="05000000000000000000" pitchFamily="2" charset="2"/>
              <a:buChar char="ü"/>
            </a:pPr>
            <a:r>
              <a:rPr kumimoji="0" lang="zh-CN" altLang="en-US" sz="2800">
                <a:solidFill>
                  <a:schemeClr val="folHlink"/>
                </a:solidFill>
                <a:latin typeface="Arial" panose="020B0604020202020204" pitchFamily="34" charset="0"/>
              </a:rPr>
              <a:t>组帧的目的</a:t>
            </a:r>
            <a:r>
              <a:rPr kumimoji="0" lang="zh-CN" altLang="en-US" sz="2800">
                <a:latin typeface="Arial" panose="020B0604020202020204" pitchFamily="34" charset="0"/>
              </a:rPr>
              <a:t>：将数据按块进行错误检测</a:t>
            </a:r>
            <a:r>
              <a:rPr kumimoji="0" lang="en-US" altLang="zh-CN" sz="2800">
                <a:latin typeface="Arial" panose="020B0604020202020204" pitchFamily="34" charset="0"/>
              </a:rPr>
              <a:t>/</a:t>
            </a:r>
            <a:r>
              <a:rPr kumimoji="0" lang="zh-CN" altLang="en-US" sz="2800">
                <a:latin typeface="Arial" panose="020B0604020202020204" pitchFamily="34" charset="0"/>
              </a:rPr>
              <a:t>控制 </a:t>
            </a:r>
          </a:p>
          <a:p>
            <a:pPr>
              <a:buSzPct val="75000"/>
              <a:buFont typeface="Wingdings" panose="05000000000000000000" pitchFamily="2" charset="2"/>
              <a:buChar char="ü"/>
            </a:pPr>
            <a:r>
              <a:rPr kumimoji="0" lang="zh-CN" altLang="en-US" sz="2800">
                <a:solidFill>
                  <a:schemeClr val="folHlink"/>
                </a:solidFill>
                <a:latin typeface="Arial" panose="020B0604020202020204" pitchFamily="34" charset="0"/>
              </a:rPr>
              <a:t>组帧方法</a:t>
            </a:r>
            <a:r>
              <a:rPr kumimoji="0" lang="zh-CN" altLang="en-US" sz="2800">
                <a:latin typeface="Arial" panose="020B0604020202020204" pitchFamily="34" charset="0"/>
              </a:rPr>
              <a:t>：</a:t>
            </a:r>
          </a:p>
          <a:p>
            <a:pPr lvl="1">
              <a:buClr>
                <a:schemeClr val="folHlink"/>
              </a:buClr>
              <a:buSzPct val="75000"/>
              <a:buFont typeface="Wingdings" panose="05000000000000000000" pitchFamily="2" charset="2"/>
              <a:buChar char="ü"/>
            </a:pPr>
            <a:r>
              <a:rPr kumimoji="0" lang="en-US" altLang="zh-CN" sz="2400">
                <a:solidFill>
                  <a:schemeClr val="tx2"/>
                </a:solidFill>
                <a:latin typeface="Arial" panose="020B0604020202020204" pitchFamily="34" charset="0"/>
              </a:rPr>
              <a:t>Timing</a:t>
            </a:r>
            <a:r>
              <a:rPr kumimoji="0" lang="en-US" altLang="zh-CN" sz="2400">
                <a:latin typeface="Arial" panose="020B0604020202020204" pitchFamily="34" charset="0"/>
              </a:rPr>
              <a:t> </a:t>
            </a:r>
            <a:r>
              <a:rPr kumimoji="0" lang="zh-CN" altLang="en-US" sz="2400">
                <a:latin typeface="Arial" panose="020B0604020202020204" pitchFamily="34" charset="0"/>
              </a:rPr>
              <a:t>：危险，无保障</a:t>
            </a:r>
          </a:p>
          <a:p>
            <a:pPr lvl="1">
              <a:buClr>
                <a:schemeClr val="folHlink"/>
              </a:buClr>
              <a:buSzPct val="75000"/>
              <a:buFont typeface="Wingdings" panose="05000000000000000000" pitchFamily="2" charset="2"/>
              <a:buChar char="ü"/>
            </a:pPr>
            <a:r>
              <a:rPr kumimoji="0" lang="en-US" altLang="zh-CN" sz="2400">
                <a:solidFill>
                  <a:schemeClr val="tx2"/>
                </a:solidFill>
                <a:latin typeface="Arial" panose="020B0604020202020204" pitchFamily="34" charset="0"/>
              </a:rPr>
              <a:t>Character count</a:t>
            </a:r>
            <a:r>
              <a:rPr kumimoji="0" lang="en-US" altLang="zh-CN" sz="2400" b="1" i="1">
                <a:latin typeface="Arial" panose="020B0604020202020204" pitchFamily="34" charset="0"/>
              </a:rPr>
              <a:t>:</a:t>
            </a:r>
            <a:r>
              <a:rPr kumimoji="0" lang="en-US" altLang="zh-CN" sz="2400">
                <a:latin typeface="Arial" panose="020B0604020202020204" pitchFamily="34" charset="0"/>
              </a:rPr>
              <a:t> </a:t>
            </a:r>
            <a:r>
              <a:rPr kumimoji="0" lang="zh-CN" altLang="en-US" sz="2400">
                <a:latin typeface="Arial" panose="020B0604020202020204" pitchFamily="34" charset="0"/>
              </a:rPr>
              <a:t>错误会引起误解</a:t>
            </a:r>
          </a:p>
          <a:p>
            <a:pPr lvl="1">
              <a:buClr>
                <a:schemeClr val="folHlink"/>
              </a:buClr>
              <a:buSzPct val="75000"/>
              <a:buFont typeface="Wingdings" panose="05000000000000000000" pitchFamily="2" charset="2"/>
              <a:buChar char="ü"/>
            </a:pPr>
            <a:r>
              <a:rPr kumimoji="0" lang="en-US" altLang="zh-CN" sz="2400">
                <a:solidFill>
                  <a:schemeClr val="tx2"/>
                </a:solidFill>
                <a:latin typeface="Arial" panose="020B0604020202020204" pitchFamily="34" charset="0"/>
              </a:rPr>
              <a:t>Character delimiter and stuffing</a:t>
            </a:r>
            <a:r>
              <a:rPr kumimoji="0" lang="en-US" altLang="zh-CN" sz="2400" b="1" i="1">
                <a:latin typeface="Arial" panose="020B0604020202020204" pitchFamily="34" charset="0"/>
              </a:rPr>
              <a:t>:</a:t>
            </a:r>
            <a:r>
              <a:rPr kumimoji="0" lang="en-US" altLang="zh-CN" sz="2400">
                <a:latin typeface="Arial" panose="020B0604020202020204" pitchFamily="34" charset="0"/>
              </a:rPr>
              <a:t> </a:t>
            </a:r>
            <a:r>
              <a:rPr kumimoji="0" lang="zh-CN" altLang="en-US" sz="2400">
                <a:latin typeface="Arial" panose="020B0604020202020204" pitchFamily="34" charset="0"/>
              </a:rPr>
              <a:t>用特殊的控制字符进行帧定界</a:t>
            </a:r>
            <a:r>
              <a:rPr kumimoji="0" lang="en-US" altLang="zh-CN" sz="2400">
                <a:solidFill>
                  <a:schemeClr val="tx2"/>
                </a:solidFill>
                <a:latin typeface="Arial" panose="020B0604020202020204" pitchFamily="34" charset="0"/>
              </a:rPr>
              <a:t>(</a:t>
            </a:r>
            <a:r>
              <a:rPr kumimoji="0" lang="zh-CN" altLang="en-US" sz="2400">
                <a:solidFill>
                  <a:schemeClr val="tx2"/>
                </a:solidFill>
                <a:latin typeface="Arial" panose="020B0604020202020204" pitchFamily="34" charset="0"/>
              </a:rPr>
              <a:t>面向字符协议</a:t>
            </a:r>
            <a:r>
              <a:rPr kumimoji="0" lang="en-US" altLang="zh-CN" sz="2400">
                <a:solidFill>
                  <a:schemeClr val="tx2"/>
                </a:solidFill>
                <a:latin typeface="Arial" panose="020B0604020202020204" pitchFamily="34" charset="0"/>
              </a:rPr>
              <a:t>)</a:t>
            </a:r>
          </a:p>
          <a:p>
            <a:pPr lvl="1">
              <a:buClr>
                <a:schemeClr val="folHlink"/>
              </a:buClr>
              <a:buSzPct val="75000"/>
              <a:buFont typeface="Wingdings" panose="05000000000000000000" pitchFamily="2" charset="2"/>
              <a:buChar char="ü"/>
            </a:pPr>
            <a:r>
              <a:rPr kumimoji="0" lang="en-US" altLang="zh-CN" sz="2400">
                <a:solidFill>
                  <a:schemeClr val="tx2"/>
                </a:solidFill>
                <a:latin typeface="Arial" panose="020B0604020202020204" pitchFamily="34" charset="0"/>
              </a:rPr>
              <a:t>Bit stuffing</a:t>
            </a:r>
            <a:r>
              <a:rPr kumimoji="0" lang="en-US" altLang="zh-CN" sz="2400" b="1" i="1">
                <a:latin typeface="Arial" panose="020B0604020202020204" pitchFamily="34" charset="0"/>
              </a:rPr>
              <a:t>:</a:t>
            </a:r>
            <a:r>
              <a:rPr kumimoji="0" lang="en-US" altLang="zh-CN" sz="2400">
                <a:latin typeface="Arial" panose="020B0604020202020204" pitchFamily="34" charset="0"/>
              </a:rPr>
              <a:t> </a:t>
            </a:r>
            <a:r>
              <a:rPr kumimoji="0" lang="zh-CN" altLang="en-US" sz="2400">
                <a:latin typeface="Arial" panose="020B0604020202020204" pitchFamily="34" charset="0"/>
              </a:rPr>
              <a:t>用特殊的比特序列作帧定界</a:t>
            </a:r>
            <a:r>
              <a:rPr kumimoji="0" lang="en-US" altLang="zh-CN" sz="2400">
                <a:solidFill>
                  <a:schemeClr val="tx2"/>
                </a:solidFill>
                <a:latin typeface="Arial" panose="020B0604020202020204" pitchFamily="34" charset="0"/>
              </a:rPr>
              <a:t>(</a:t>
            </a:r>
            <a:r>
              <a:rPr kumimoji="0" lang="zh-CN" altLang="en-US" sz="2400">
                <a:solidFill>
                  <a:schemeClr val="tx2"/>
                </a:solidFill>
                <a:latin typeface="Arial" panose="020B0604020202020204" pitchFamily="34" charset="0"/>
              </a:rPr>
              <a:t>面向比特协议</a:t>
            </a:r>
            <a:r>
              <a:rPr kumimoji="0" lang="en-US" altLang="zh-CN" sz="2400">
                <a:solidFill>
                  <a:schemeClr val="tx2"/>
                </a:solidFill>
                <a:latin typeface="Arial" panose="020B0604020202020204" pitchFamily="34" charset="0"/>
              </a:rPr>
              <a:t>)</a:t>
            </a:r>
          </a:p>
          <a:p>
            <a:pPr lvl="1">
              <a:buClr>
                <a:schemeClr val="folHlink"/>
              </a:buClr>
              <a:buSzPct val="75000"/>
              <a:buFont typeface="Wingdings" panose="05000000000000000000" pitchFamily="2" charset="2"/>
              <a:buChar char="ü"/>
            </a:pPr>
            <a:r>
              <a:rPr kumimoji="0" lang="zh-CN" altLang="en-US" sz="2400">
                <a:solidFill>
                  <a:schemeClr val="tx2"/>
                </a:solidFill>
                <a:latin typeface="Arial" panose="020B0604020202020204" pitchFamily="34" charset="0"/>
              </a:rPr>
              <a:t>物理层编码违例</a:t>
            </a:r>
            <a:r>
              <a:rPr kumimoji="0" lang="zh-CN" altLang="en-US" sz="2400">
                <a:latin typeface="Arial" panose="020B0604020202020204" pitchFamily="34" charset="0"/>
              </a:rPr>
              <a:t>（ </a:t>
            </a:r>
            <a:r>
              <a:rPr kumimoji="0" lang="en-US" altLang="zh-CN" sz="2400" b="1" i="1">
                <a:latin typeface="Arial" panose="020B0604020202020204" pitchFamily="34" charset="0"/>
              </a:rPr>
              <a:t>coding violations</a:t>
            </a:r>
            <a:r>
              <a:rPr kumimoji="0" lang="zh-CN" altLang="en-US" sz="2400" b="1" i="1">
                <a:latin typeface="Arial" panose="020B0604020202020204" pitchFamily="34" charset="0"/>
              </a:rPr>
              <a:t>）</a:t>
            </a:r>
            <a:endParaRPr kumimoji="0" lang="zh-CN" altLang="en-US" b="1" i="1">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33187">
                                            <p:txEl>
                                              <p:pRg st="0" end="0"/>
                                            </p:txEl>
                                          </p:spTgt>
                                        </p:tgtEl>
                                        <p:attrNameLst>
                                          <p:attrName>style.visibility</p:attrName>
                                        </p:attrNameLst>
                                      </p:cBhvr>
                                      <p:to>
                                        <p:strVal val="visible"/>
                                      </p:to>
                                    </p:set>
                                    <p:anim calcmode="lin" valueType="num">
                                      <p:cBhvr additive="base">
                                        <p:cTn id="7" dur="500" fill="hold"/>
                                        <p:tgtEl>
                                          <p:spTgt spid="7331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331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33187">
                                            <p:txEl>
                                              <p:pRg st="1" end="1"/>
                                            </p:txEl>
                                          </p:spTgt>
                                        </p:tgtEl>
                                        <p:attrNameLst>
                                          <p:attrName>style.visibility</p:attrName>
                                        </p:attrNameLst>
                                      </p:cBhvr>
                                      <p:to>
                                        <p:strVal val="visible"/>
                                      </p:to>
                                    </p:set>
                                    <p:anim calcmode="lin" valueType="num">
                                      <p:cBhvr additive="base">
                                        <p:cTn id="13" dur="500" fill="hold"/>
                                        <p:tgtEl>
                                          <p:spTgt spid="73318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331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33187">
                                            <p:txEl>
                                              <p:pRg st="2" end="2"/>
                                            </p:txEl>
                                          </p:spTgt>
                                        </p:tgtEl>
                                        <p:attrNameLst>
                                          <p:attrName>style.visibility</p:attrName>
                                        </p:attrNameLst>
                                      </p:cBhvr>
                                      <p:to>
                                        <p:strVal val="visible"/>
                                      </p:to>
                                    </p:set>
                                    <p:anim calcmode="lin" valueType="num">
                                      <p:cBhvr additive="base">
                                        <p:cTn id="19" dur="500" fill="hold"/>
                                        <p:tgtEl>
                                          <p:spTgt spid="73318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33187">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733187">
                                            <p:txEl>
                                              <p:pRg st="3" end="3"/>
                                            </p:txEl>
                                          </p:spTgt>
                                        </p:tgtEl>
                                        <p:attrNameLst>
                                          <p:attrName>style.visibility</p:attrName>
                                        </p:attrNameLst>
                                      </p:cBhvr>
                                      <p:to>
                                        <p:strVal val="visible"/>
                                      </p:to>
                                    </p:set>
                                    <p:anim calcmode="lin" valueType="num">
                                      <p:cBhvr additive="base">
                                        <p:cTn id="23" dur="500" fill="hold"/>
                                        <p:tgtEl>
                                          <p:spTgt spid="733187">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733187">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733187">
                                            <p:txEl>
                                              <p:pRg st="4" end="4"/>
                                            </p:txEl>
                                          </p:spTgt>
                                        </p:tgtEl>
                                        <p:attrNameLst>
                                          <p:attrName>style.visibility</p:attrName>
                                        </p:attrNameLst>
                                      </p:cBhvr>
                                      <p:to>
                                        <p:strVal val="visible"/>
                                      </p:to>
                                    </p:set>
                                    <p:anim calcmode="lin" valueType="num">
                                      <p:cBhvr additive="base">
                                        <p:cTn id="27" dur="500" fill="hold"/>
                                        <p:tgtEl>
                                          <p:spTgt spid="733187">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733187">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733187">
                                            <p:txEl>
                                              <p:pRg st="5" end="5"/>
                                            </p:txEl>
                                          </p:spTgt>
                                        </p:tgtEl>
                                        <p:attrNameLst>
                                          <p:attrName>style.visibility</p:attrName>
                                        </p:attrNameLst>
                                      </p:cBhvr>
                                      <p:to>
                                        <p:strVal val="visible"/>
                                      </p:to>
                                    </p:set>
                                    <p:anim calcmode="lin" valueType="num">
                                      <p:cBhvr additive="base">
                                        <p:cTn id="31" dur="500" fill="hold"/>
                                        <p:tgtEl>
                                          <p:spTgt spid="733187">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33187">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733187">
                                            <p:txEl>
                                              <p:pRg st="6" end="6"/>
                                            </p:txEl>
                                          </p:spTgt>
                                        </p:tgtEl>
                                        <p:attrNameLst>
                                          <p:attrName>style.visibility</p:attrName>
                                        </p:attrNameLst>
                                      </p:cBhvr>
                                      <p:to>
                                        <p:strVal val="visible"/>
                                      </p:to>
                                    </p:set>
                                    <p:anim calcmode="lin" valueType="num">
                                      <p:cBhvr additive="base">
                                        <p:cTn id="35" dur="500" fill="hold"/>
                                        <p:tgtEl>
                                          <p:spTgt spid="733187">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733187">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733187">
                                            <p:txEl>
                                              <p:pRg st="7" end="7"/>
                                            </p:txEl>
                                          </p:spTgt>
                                        </p:tgtEl>
                                        <p:attrNameLst>
                                          <p:attrName>style.visibility</p:attrName>
                                        </p:attrNameLst>
                                      </p:cBhvr>
                                      <p:to>
                                        <p:strVal val="visible"/>
                                      </p:to>
                                    </p:set>
                                    <p:anim calcmode="lin" valueType="num">
                                      <p:cBhvr additive="base">
                                        <p:cTn id="39" dur="500" fill="hold"/>
                                        <p:tgtEl>
                                          <p:spTgt spid="733187">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73318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3187"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33613" y="187326"/>
            <a:ext cx="7772400" cy="727075"/>
          </a:xfrm>
          <a:noFill/>
        </p:spPr>
        <p:txBody>
          <a:bodyPr/>
          <a:lstStyle/>
          <a:p>
            <a:pPr eaLnBrk="1" hangingPunct="1"/>
            <a:r>
              <a:rPr lang="zh-CN" altLang="en-US" sz="3600"/>
              <a:t>字符填充</a:t>
            </a:r>
          </a:p>
        </p:txBody>
      </p:sp>
      <p:sp>
        <p:nvSpPr>
          <p:cNvPr id="14339" name="Text Box 3"/>
          <p:cNvSpPr txBox="1">
            <a:spLocks noChangeArrowheads="1"/>
          </p:cNvSpPr>
          <p:nvPr/>
        </p:nvSpPr>
        <p:spPr bwMode="auto">
          <a:xfrm>
            <a:off x="2298701" y="1295400"/>
            <a:ext cx="8012113"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buSzPct val="75000"/>
              <a:buFont typeface="Wingdings" panose="05000000000000000000" pitchFamily="2" charset="2"/>
              <a:buChar char="ü"/>
            </a:pPr>
            <a:r>
              <a:rPr kumimoji="0" lang="zh-CN" altLang="en-US" sz="2800"/>
              <a:t>用 </a:t>
            </a:r>
            <a:r>
              <a:rPr kumimoji="0" lang="en-US" altLang="zh-CN" sz="2800"/>
              <a:t>DLE STX </a:t>
            </a:r>
            <a:r>
              <a:rPr kumimoji="0" lang="zh-CN" altLang="en-US" sz="2800"/>
              <a:t>或 </a:t>
            </a:r>
            <a:r>
              <a:rPr kumimoji="0" lang="en-US" altLang="zh-CN" sz="2800"/>
              <a:t>DLE ETX </a:t>
            </a:r>
            <a:r>
              <a:rPr kumimoji="0" lang="zh-CN" altLang="en-US" sz="2800"/>
              <a:t>字符标志进行定界</a:t>
            </a:r>
          </a:p>
          <a:p>
            <a:pPr>
              <a:buSzPct val="75000"/>
              <a:buFont typeface="Wingdings" panose="05000000000000000000" pitchFamily="2" charset="2"/>
              <a:buChar char="ü"/>
            </a:pPr>
            <a:r>
              <a:rPr kumimoji="0" lang="zh-CN" altLang="en-US" sz="2800"/>
              <a:t>数据中出现‘</a:t>
            </a:r>
            <a:r>
              <a:rPr kumimoji="0" lang="en-US" altLang="zh-CN" sz="2800"/>
              <a:t>DLE’</a:t>
            </a:r>
            <a:r>
              <a:rPr kumimoji="0" lang="zh-CN" altLang="en-US" sz="2800"/>
              <a:t>时</a:t>
            </a:r>
            <a:r>
              <a:rPr kumimoji="0" lang="zh-CN" altLang="en-US" sz="2800">
                <a:solidFill>
                  <a:schemeClr val="folHlink"/>
                </a:solidFill>
              </a:rPr>
              <a:t>转义</a:t>
            </a:r>
            <a:r>
              <a:rPr kumimoji="0" lang="en-US" altLang="zh-CN" sz="2800"/>
              <a:t>----</a:t>
            </a:r>
            <a:r>
              <a:rPr kumimoji="0" lang="zh-CN" altLang="en-US" sz="2800"/>
              <a:t>插入 </a:t>
            </a:r>
            <a:r>
              <a:rPr kumimoji="0" lang="en-US" altLang="zh-CN" sz="2800"/>
              <a:t>'DLE'  </a:t>
            </a:r>
          </a:p>
          <a:p>
            <a:pPr>
              <a:buSzPct val="75000"/>
              <a:buFont typeface="Wingdings" panose="05000000000000000000" pitchFamily="2" charset="2"/>
              <a:buChar char="ü"/>
            </a:pPr>
            <a:r>
              <a:rPr kumimoji="0" lang="zh-CN" altLang="en-US" sz="2800"/>
              <a:t>接收时由目的站去掉</a:t>
            </a:r>
            <a:r>
              <a:rPr kumimoji="0" lang="en-US" altLang="zh-CN" sz="2800"/>
              <a:t>(</a:t>
            </a:r>
            <a:r>
              <a:rPr kumimoji="0" lang="zh-CN" altLang="en-US" sz="2800"/>
              <a:t>转义</a:t>
            </a:r>
            <a:r>
              <a:rPr kumimoji="0" lang="en-US" altLang="zh-CN" sz="2800"/>
              <a:t>)</a:t>
            </a:r>
            <a:r>
              <a:rPr kumimoji="0" lang="zh-CN" altLang="en-US" sz="2800"/>
              <a:t>填充字符</a:t>
            </a:r>
          </a:p>
        </p:txBody>
      </p:sp>
      <p:pic>
        <p:nvPicPr>
          <p:cNvPr id="734212"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2038" y="3136900"/>
            <a:ext cx="74803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34212"/>
                                        </p:tgtEl>
                                        <p:attrNameLst>
                                          <p:attrName>style.visibility</p:attrName>
                                        </p:attrNameLst>
                                      </p:cBhvr>
                                      <p:to>
                                        <p:strVal val="visible"/>
                                      </p:to>
                                    </p:set>
                                    <p:anim calcmode="lin" valueType="num">
                                      <p:cBhvr additive="base">
                                        <p:cTn id="7" dur="500" fill="hold"/>
                                        <p:tgtEl>
                                          <p:spTgt spid="734212"/>
                                        </p:tgtEl>
                                        <p:attrNameLst>
                                          <p:attrName>ppt_x</p:attrName>
                                        </p:attrNameLst>
                                      </p:cBhvr>
                                      <p:tavLst>
                                        <p:tav tm="0">
                                          <p:val>
                                            <p:strVal val="1+#ppt_w/2"/>
                                          </p:val>
                                        </p:tav>
                                        <p:tav tm="100000">
                                          <p:val>
                                            <p:strVal val="#ppt_x"/>
                                          </p:val>
                                        </p:tav>
                                      </p:tavLst>
                                    </p:anim>
                                    <p:anim calcmode="lin" valueType="num">
                                      <p:cBhvr additive="base">
                                        <p:cTn id="8" dur="500" fill="hold"/>
                                        <p:tgtEl>
                                          <p:spTgt spid="7342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187575" y="163514"/>
            <a:ext cx="7772400" cy="727075"/>
          </a:xfrm>
          <a:noFill/>
        </p:spPr>
        <p:txBody>
          <a:bodyPr/>
          <a:lstStyle/>
          <a:p>
            <a:pPr eaLnBrk="1" hangingPunct="1"/>
            <a:r>
              <a:rPr lang="zh-CN" altLang="en-US" sz="3600"/>
              <a:t>比特填充</a:t>
            </a:r>
          </a:p>
        </p:txBody>
      </p:sp>
      <p:sp>
        <p:nvSpPr>
          <p:cNvPr id="15363" name="Text Box 3"/>
          <p:cNvSpPr txBox="1">
            <a:spLocks noChangeArrowheads="1"/>
          </p:cNvSpPr>
          <p:nvPr/>
        </p:nvSpPr>
        <p:spPr bwMode="auto">
          <a:xfrm>
            <a:off x="2392363" y="1477964"/>
            <a:ext cx="7916862"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buSzPct val="75000"/>
              <a:buFont typeface="Wingdings" panose="05000000000000000000" pitchFamily="2" charset="2"/>
              <a:buChar char="q"/>
            </a:pPr>
            <a:r>
              <a:rPr kumimoji="0" lang="zh-CN" altLang="en-US" sz="2400">
                <a:latin typeface="Times New Roman" panose="02020603050405020304" pitchFamily="18" charset="0"/>
              </a:rPr>
              <a:t>用特殊的比特序列 </a:t>
            </a:r>
            <a:r>
              <a:rPr kumimoji="0" lang="en-US" altLang="zh-CN" sz="2400">
                <a:latin typeface="Times New Roman" panose="02020603050405020304" pitchFamily="18" charset="0"/>
              </a:rPr>
              <a:t>(</a:t>
            </a:r>
            <a:r>
              <a:rPr kumimoji="0" lang="zh-CN" altLang="en-US" sz="2400">
                <a:latin typeface="Times New Roman" panose="02020603050405020304" pitchFamily="18" charset="0"/>
              </a:rPr>
              <a:t>比特标志</a:t>
            </a:r>
            <a:r>
              <a:rPr kumimoji="0" lang="en-US" altLang="zh-CN" sz="2400">
                <a:latin typeface="Times New Roman" panose="02020603050405020304" pitchFamily="18" charset="0"/>
              </a:rPr>
              <a:t>)</a:t>
            </a:r>
            <a:r>
              <a:rPr kumimoji="0" lang="zh-CN" altLang="en-US" sz="2400">
                <a:latin typeface="Times New Roman" panose="02020603050405020304" pitchFamily="18" charset="0"/>
              </a:rPr>
              <a:t>进行定界</a:t>
            </a:r>
          </a:p>
          <a:p>
            <a:pPr>
              <a:buSzPct val="75000"/>
              <a:buFont typeface="Wingdings" panose="05000000000000000000" pitchFamily="2" charset="2"/>
              <a:buChar char="q"/>
            </a:pPr>
            <a:r>
              <a:rPr kumimoji="0" lang="zh-CN" altLang="en-US" sz="2400">
                <a:latin typeface="Times New Roman" panose="02020603050405020304" pitchFamily="18" charset="0"/>
              </a:rPr>
              <a:t>当数据中出现定界标志时需转义（</a:t>
            </a:r>
            <a:r>
              <a:rPr kumimoji="0" lang="en-US" altLang="zh-CN" sz="2400">
                <a:solidFill>
                  <a:schemeClr val="folHlink"/>
                </a:solidFill>
                <a:latin typeface="Times New Roman" panose="02020603050405020304" pitchFamily="18" charset="0"/>
              </a:rPr>
              <a:t>0</a:t>
            </a:r>
            <a:r>
              <a:rPr kumimoji="0" lang="zh-CN" altLang="en-US" sz="2400">
                <a:solidFill>
                  <a:schemeClr val="folHlink"/>
                </a:solidFill>
                <a:latin typeface="Times New Roman" panose="02020603050405020304" pitchFamily="18" charset="0"/>
              </a:rPr>
              <a:t>比特插入技术</a:t>
            </a:r>
            <a:r>
              <a:rPr kumimoji="0" lang="en-US" altLang="zh-CN" sz="2400">
                <a:latin typeface="Times New Roman" panose="02020603050405020304" pitchFamily="18" charset="0"/>
              </a:rPr>
              <a:t>:</a:t>
            </a:r>
            <a:r>
              <a:rPr kumimoji="0" lang="zh-CN" altLang="en-US" sz="2400">
                <a:latin typeface="Times New Roman" panose="02020603050405020304" pitchFamily="18" charset="0"/>
              </a:rPr>
              <a:t>连续</a:t>
            </a:r>
            <a:r>
              <a:rPr kumimoji="0" lang="en-US" altLang="zh-CN" sz="2400">
                <a:latin typeface="Times New Roman" panose="02020603050405020304" pitchFamily="18" charset="0"/>
              </a:rPr>
              <a:t>5</a:t>
            </a:r>
            <a:r>
              <a:rPr kumimoji="0" lang="zh-CN" altLang="en-US" sz="2400">
                <a:latin typeface="Times New Roman" panose="02020603050405020304" pitchFamily="18" charset="0"/>
              </a:rPr>
              <a:t>个</a:t>
            </a:r>
            <a:r>
              <a:rPr kumimoji="0" lang="en-US" altLang="zh-CN" sz="2400">
                <a:latin typeface="Times New Roman" panose="02020603050405020304" pitchFamily="18" charset="0"/>
              </a:rPr>
              <a:t>1</a:t>
            </a:r>
            <a:r>
              <a:rPr kumimoji="0" lang="zh-CN" altLang="en-US" sz="2400">
                <a:latin typeface="Times New Roman" panose="02020603050405020304" pitchFamily="18" charset="0"/>
              </a:rPr>
              <a:t>的后面自动插入一个</a:t>
            </a:r>
            <a:r>
              <a:rPr kumimoji="0" lang="en-US" altLang="zh-CN" sz="2400">
                <a:latin typeface="Times New Roman" panose="02020603050405020304" pitchFamily="18" charset="0"/>
              </a:rPr>
              <a:t>0</a:t>
            </a:r>
            <a:r>
              <a:rPr kumimoji="0" lang="zh-CN" altLang="en-US" sz="2400">
                <a:latin typeface="Times New Roman" panose="02020603050405020304" pitchFamily="18" charset="0"/>
              </a:rPr>
              <a:t>）</a:t>
            </a:r>
          </a:p>
          <a:p>
            <a:pPr>
              <a:buSzPct val="75000"/>
              <a:buFont typeface="Wingdings" panose="05000000000000000000" pitchFamily="2" charset="2"/>
              <a:buChar char="q"/>
            </a:pPr>
            <a:r>
              <a:rPr kumimoji="0" lang="zh-CN" altLang="en-US" sz="2400">
                <a:latin typeface="Times New Roman" panose="02020603050405020304" pitchFamily="18" charset="0"/>
              </a:rPr>
              <a:t>接收时去掉填充字符</a:t>
            </a:r>
            <a:endParaRPr lang="zh-CN" altLang="en-US" sz="2400">
              <a:latin typeface="Times New Roman" panose="02020603050405020304" pitchFamily="18" charset="0"/>
            </a:endParaRPr>
          </a:p>
        </p:txBody>
      </p:sp>
      <p:sp>
        <p:nvSpPr>
          <p:cNvPr id="735241" name="Text Box 9"/>
          <p:cNvSpPr txBox="1">
            <a:spLocks noChangeArrowheads="1"/>
          </p:cNvSpPr>
          <p:nvPr/>
        </p:nvSpPr>
        <p:spPr bwMode="auto">
          <a:xfrm>
            <a:off x="2420938" y="3640138"/>
            <a:ext cx="6970712" cy="239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buClrTx/>
              <a:buSzTx/>
              <a:buFontTx/>
              <a:buNone/>
            </a:pPr>
            <a:r>
              <a:rPr kumimoji="0" lang="en-US" altLang="zh-CN" sz="2800">
                <a:solidFill>
                  <a:srgbClr val="000000"/>
                </a:solidFill>
                <a:latin typeface="Arial" panose="020B0604020202020204" pitchFamily="34" charset="0"/>
              </a:rPr>
              <a:t>Original Pattern</a:t>
            </a:r>
          </a:p>
          <a:p>
            <a:pPr>
              <a:buClrTx/>
              <a:buSzTx/>
              <a:buFontTx/>
              <a:buNone/>
            </a:pPr>
            <a:r>
              <a:rPr kumimoji="0" lang="en-US" altLang="zh-CN" sz="2800">
                <a:solidFill>
                  <a:schemeClr val="folHlink"/>
                </a:solidFill>
                <a:latin typeface="Arial" panose="020B0604020202020204" pitchFamily="34" charset="0"/>
              </a:rPr>
              <a:t>11111</a:t>
            </a:r>
            <a:r>
              <a:rPr kumimoji="0" lang="en-US" altLang="zh-CN" sz="2800">
                <a:solidFill>
                  <a:srgbClr val="000000"/>
                </a:solidFill>
                <a:latin typeface="Arial" panose="020B0604020202020204" pitchFamily="34" charset="0"/>
              </a:rPr>
              <a:t>1</a:t>
            </a:r>
            <a:r>
              <a:rPr kumimoji="0" lang="en-US" altLang="zh-CN" sz="2800">
                <a:solidFill>
                  <a:schemeClr val="hlink"/>
                </a:solidFill>
                <a:latin typeface="Arial" panose="020B0604020202020204" pitchFamily="34" charset="0"/>
              </a:rPr>
              <a:t>1111</a:t>
            </a:r>
            <a:r>
              <a:rPr kumimoji="0" lang="en-US" altLang="zh-CN" sz="2800">
                <a:solidFill>
                  <a:srgbClr val="000000"/>
                </a:solidFill>
                <a:latin typeface="Arial" panose="020B0604020202020204" pitchFamily="34" charset="0"/>
              </a:rPr>
              <a:t>110</a:t>
            </a:r>
            <a:r>
              <a:rPr kumimoji="0" lang="en-US" altLang="zh-CN" sz="2800">
                <a:solidFill>
                  <a:schemeClr val="folHlink"/>
                </a:solidFill>
                <a:latin typeface="Arial" panose="020B0604020202020204" pitchFamily="34" charset="0"/>
              </a:rPr>
              <a:t>11111</a:t>
            </a:r>
            <a:r>
              <a:rPr kumimoji="0" lang="en-US" altLang="zh-CN" sz="2800">
                <a:solidFill>
                  <a:srgbClr val="000000"/>
                </a:solidFill>
                <a:latin typeface="Arial" panose="020B0604020202020204" pitchFamily="34" charset="0"/>
              </a:rPr>
              <a:t>10</a:t>
            </a:r>
            <a:r>
              <a:rPr kumimoji="0" lang="en-US" altLang="zh-CN" sz="2800">
                <a:solidFill>
                  <a:schemeClr val="hlink"/>
                </a:solidFill>
                <a:latin typeface="Arial" panose="020B0604020202020204" pitchFamily="34" charset="0"/>
              </a:rPr>
              <a:t>11111</a:t>
            </a:r>
            <a:r>
              <a:rPr kumimoji="0" lang="en-US" altLang="zh-CN" sz="2800">
                <a:solidFill>
                  <a:srgbClr val="000000"/>
                </a:solidFill>
                <a:latin typeface="Arial" panose="020B0604020202020204" pitchFamily="34" charset="0"/>
              </a:rPr>
              <a:t>10</a:t>
            </a:r>
          </a:p>
          <a:p>
            <a:pPr>
              <a:buClrTx/>
              <a:buSzTx/>
              <a:buFontTx/>
              <a:buNone/>
            </a:pPr>
            <a:r>
              <a:rPr kumimoji="0" lang="en-US" altLang="zh-CN" sz="2800">
                <a:solidFill>
                  <a:srgbClr val="000000"/>
                </a:solidFill>
                <a:latin typeface="Arial" panose="020B0604020202020204" pitchFamily="34" charset="0"/>
              </a:rPr>
              <a:t>After bit-stuffing</a:t>
            </a:r>
          </a:p>
          <a:p>
            <a:pPr>
              <a:spcBef>
                <a:spcPct val="0"/>
              </a:spcBef>
              <a:buClrTx/>
              <a:buSzTx/>
              <a:buFontTx/>
              <a:buNone/>
            </a:pPr>
            <a:r>
              <a:rPr kumimoji="0" lang="en-US" altLang="zh-CN" sz="2800">
                <a:solidFill>
                  <a:schemeClr val="folHlink"/>
                </a:solidFill>
                <a:latin typeface="Arial" panose="020B0604020202020204" pitchFamily="34" charset="0"/>
              </a:rPr>
              <a:t>11111</a:t>
            </a:r>
            <a:r>
              <a:rPr kumimoji="0" lang="en-US" altLang="zh-CN" sz="2800">
                <a:solidFill>
                  <a:srgbClr val="000000"/>
                </a:solidFill>
                <a:latin typeface="Arial" panose="020B0604020202020204" pitchFamily="34" charset="0"/>
              </a:rPr>
              <a:t>0</a:t>
            </a:r>
            <a:r>
              <a:rPr kumimoji="0" lang="en-US" altLang="zh-CN" sz="2800">
                <a:solidFill>
                  <a:schemeClr val="hlink"/>
                </a:solidFill>
                <a:latin typeface="Arial" panose="020B0604020202020204" pitchFamily="34" charset="0"/>
              </a:rPr>
              <a:t>11111</a:t>
            </a:r>
            <a:r>
              <a:rPr kumimoji="0" lang="en-US" altLang="zh-CN" sz="2800">
                <a:solidFill>
                  <a:srgbClr val="000000"/>
                </a:solidFill>
                <a:latin typeface="Arial" panose="020B0604020202020204" pitchFamily="34" charset="0"/>
              </a:rPr>
              <a:t>0110</a:t>
            </a:r>
            <a:r>
              <a:rPr kumimoji="0" lang="en-US" altLang="zh-CN" sz="2800">
                <a:solidFill>
                  <a:schemeClr val="folHlink"/>
                </a:solidFill>
                <a:latin typeface="Arial" panose="020B0604020202020204" pitchFamily="34" charset="0"/>
              </a:rPr>
              <a:t>11111</a:t>
            </a:r>
            <a:r>
              <a:rPr kumimoji="0" lang="en-US" altLang="zh-CN" sz="2800">
                <a:solidFill>
                  <a:srgbClr val="000000"/>
                </a:solidFill>
                <a:latin typeface="Arial" panose="020B0604020202020204" pitchFamily="34" charset="0"/>
              </a:rPr>
              <a:t>010</a:t>
            </a:r>
            <a:r>
              <a:rPr kumimoji="0" lang="en-US" altLang="zh-CN" sz="2800">
                <a:solidFill>
                  <a:schemeClr val="hlink"/>
                </a:solidFill>
                <a:latin typeface="Arial" panose="020B0604020202020204" pitchFamily="34" charset="0"/>
              </a:rPr>
              <a:t>11111</a:t>
            </a:r>
            <a:r>
              <a:rPr kumimoji="0" lang="en-US" altLang="zh-CN" sz="2800">
                <a:solidFill>
                  <a:srgbClr val="000000"/>
                </a:solidFill>
                <a:latin typeface="Arial" panose="020B0604020202020204" pitchFamily="34" charset="0"/>
              </a:rPr>
              <a:t>010</a:t>
            </a:r>
          </a:p>
          <a:p>
            <a:pPr>
              <a:spcBef>
                <a:spcPct val="0"/>
              </a:spcBef>
              <a:buClrTx/>
              <a:buSzTx/>
              <a:buFontTx/>
              <a:buNone/>
            </a:pPr>
            <a:r>
              <a:rPr kumimoji="0" lang="en-US" altLang="zh-CN" sz="2800" b="1">
                <a:solidFill>
                  <a:srgbClr val="FD022D"/>
                </a:solidFill>
                <a:latin typeface="Times New Roman" panose="02020603050405020304" pitchFamily="18" charset="0"/>
              </a:rPr>
              <a:t>          ↑         ↑                 ↑              ↑</a:t>
            </a:r>
            <a:endParaRPr kumimoji="0" lang="en-US" altLang="zh-CN" sz="2800">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35241">
                                            <p:txEl>
                                              <p:pRg st="0" end="0"/>
                                            </p:txEl>
                                          </p:spTgt>
                                        </p:tgtEl>
                                        <p:attrNameLst>
                                          <p:attrName>style.visibility</p:attrName>
                                        </p:attrNameLst>
                                      </p:cBhvr>
                                      <p:to>
                                        <p:strVal val="visible"/>
                                      </p:to>
                                    </p:set>
                                    <p:anim calcmode="lin" valueType="num">
                                      <p:cBhvr additive="base">
                                        <p:cTn id="7" dur="500" fill="hold"/>
                                        <p:tgtEl>
                                          <p:spTgt spid="73524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3524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35241">
                                            <p:txEl>
                                              <p:pRg st="1" end="1"/>
                                            </p:txEl>
                                          </p:spTgt>
                                        </p:tgtEl>
                                        <p:attrNameLst>
                                          <p:attrName>style.visibility</p:attrName>
                                        </p:attrNameLst>
                                      </p:cBhvr>
                                      <p:to>
                                        <p:strVal val="visible"/>
                                      </p:to>
                                    </p:set>
                                    <p:anim calcmode="lin" valueType="num">
                                      <p:cBhvr additive="base">
                                        <p:cTn id="13" dur="500" fill="hold"/>
                                        <p:tgtEl>
                                          <p:spTgt spid="73524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3524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35241">
                                            <p:txEl>
                                              <p:pRg st="2" end="2"/>
                                            </p:txEl>
                                          </p:spTgt>
                                        </p:tgtEl>
                                        <p:attrNameLst>
                                          <p:attrName>style.visibility</p:attrName>
                                        </p:attrNameLst>
                                      </p:cBhvr>
                                      <p:to>
                                        <p:strVal val="visible"/>
                                      </p:to>
                                    </p:set>
                                    <p:anim calcmode="lin" valueType="num">
                                      <p:cBhvr additive="base">
                                        <p:cTn id="19" dur="500" fill="hold"/>
                                        <p:tgtEl>
                                          <p:spTgt spid="73524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3524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35241">
                                            <p:txEl>
                                              <p:pRg st="3" end="3"/>
                                            </p:txEl>
                                          </p:spTgt>
                                        </p:tgtEl>
                                        <p:attrNameLst>
                                          <p:attrName>style.visibility</p:attrName>
                                        </p:attrNameLst>
                                      </p:cBhvr>
                                      <p:to>
                                        <p:strVal val="visible"/>
                                      </p:to>
                                    </p:set>
                                    <p:anim calcmode="lin" valueType="num">
                                      <p:cBhvr additive="base">
                                        <p:cTn id="25" dur="500" fill="hold"/>
                                        <p:tgtEl>
                                          <p:spTgt spid="73524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3524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35241">
                                            <p:txEl>
                                              <p:pRg st="4" end="4"/>
                                            </p:txEl>
                                          </p:spTgt>
                                        </p:tgtEl>
                                        <p:attrNameLst>
                                          <p:attrName>style.visibility</p:attrName>
                                        </p:attrNameLst>
                                      </p:cBhvr>
                                      <p:to>
                                        <p:strVal val="visible"/>
                                      </p:to>
                                    </p:set>
                                    <p:anim calcmode="lin" valueType="num">
                                      <p:cBhvr additive="base">
                                        <p:cTn id="31" dur="500" fill="hold"/>
                                        <p:tgtEl>
                                          <p:spTgt spid="73524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3524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5241"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152650" y="144463"/>
            <a:ext cx="7772400" cy="819150"/>
          </a:xfrm>
          <a:noFill/>
        </p:spPr>
        <p:txBody>
          <a:bodyPr/>
          <a:lstStyle/>
          <a:p>
            <a:pPr eaLnBrk="1" hangingPunct="1"/>
            <a:r>
              <a:rPr lang="zh-CN" altLang="en-US" sz="3600"/>
              <a:t>物理层编码</a:t>
            </a:r>
            <a:r>
              <a:rPr lang="zh-CN" altLang="en-US" sz="3600">
                <a:solidFill>
                  <a:srgbClr val="FF0000"/>
                </a:solidFill>
              </a:rPr>
              <a:t>违例</a:t>
            </a:r>
            <a:r>
              <a:rPr lang="zh-CN" altLang="en-US"/>
              <a:t>  </a:t>
            </a:r>
          </a:p>
        </p:txBody>
      </p:sp>
      <p:sp>
        <p:nvSpPr>
          <p:cNvPr id="16387" name="Text Box 3"/>
          <p:cNvSpPr txBox="1">
            <a:spLocks noChangeArrowheads="1"/>
          </p:cNvSpPr>
          <p:nvPr/>
        </p:nvSpPr>
        <p:spPr bwMode="auto">
          <a:xfrm>
            <a:off x="827313" y="1528763"/>
            <a:ext cx="10609943"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just" eaLnBrk="1" hangingPunct="1">
              <a:spcBef>
                <a:spcPct val="50000"/>
              </a:spcBef>
              <a:buClrTx/>
              <a:buSzTx/>
              <a:buFontTx/>
              <a:buNone/>
            </a:pPr>
            <a:r>
              <a:rPr lang="zh-CN" altLang="en-US" sz="2800"/>
              <a:t>这种方法只适用于那些在物理介质的编码策略中采用了冗余技术的网络。例如，以太网中的</a:t>
            </a:r>
            <a:r>
              <a:rPr lang="zh-CN" altLang="en-US" sz="2800">
                <a:solidFill>
                  <a:schemeClr val="folHlink"/>
                </a:solidFill>
              </a:rPr>
              <a:t>曼彻斯特编码</a:t>
            </a:r>
            <a:r>
              <a:rPr lang="zh-CN" altLang="en-US" sz="2800"/>
              <a:t>，通常，数据位</a:t>
            </a:r>
            <a:r>
              <a:rPr lang="en-US" altLang="zh-CN" sz="2800"/>
              <a:t>1</a:t>
            </a:r>
            <a:r>
              <a:rPr lang="zh-CN" altLang="en-US" sz="2800"/>
              <a:t>编码成高－低电平对，将数据位</a:t>
            </a:r>
            <a:r>
              <a:rPr lang="en-US" altLang="zh-CN" sz="2800"/>
              <a:t>0</a:t>
            </a:r>
            <a:r>
              <a:rPr lang="zh-CN" altLang="en-US" sz="2800"/>
              <a:t>编码为低－高电平对时，高－高电平对和低－低电平对在数据编码中没有使用。此方案意味着每个数据位都要在</a:t>
            </a:r>
            <a:r>
              <a:rPr lang="zh-CN" altLang="en-US" sz="2800">
                <a:solidFill>
                  <a:schemeClr val="folHlink"/>
                </a:solidFill>
              </a:rPr>
              <a:t>中间变换</a:t>
            </a:r>
            <a:r>
              <a:rPr lang="zh-CN" altLang="en-US" sz="2800"/>
              <a:t>。</a:t>
            </a:r>
            <a:endParaRPr lang="en-US" altLang="zh-CN" sz="2800"/>
          </a:p>
          <a:p>
            <a:pPr algn="just" eaLnBrk="1" hangingPunct="1">
              <a:spcBef>
                <a:spcPct val="50000"/>
              </a:spcBef>
              <a:buClrTx/>
              <a:buSzTx/>
              <a:buFontTx/>
              <a:buNone/>
            </a:pPr>
            <a:r>
              <a:rPr lang="zh-CN" altLang="en-US" sz="2800"/>
              <a:t>这样使接收方容易将位边界确定，这种使用无效物理编码来分帧的方法是</a:t>
            </a:r>
            <a:r>
              <a:rPr lang="en-US" altLang="zh-CN" sz="2800"/>
              <a:t>802</a:t>
            </a:r>
            <a:r>
              <a:rPr lang="zh-CN" altLang="en-US" sz="2800"/>
              <a:t>局域网标准的组成部分。其优点是：</a:t>
            </a:r>
            <a:r>
              <a:rPr lang="zh-CN" altLang="en-US" sz="2800">
                <a:solidFill>
                  <a:schemeClr val="folHlink"/>
                </a:solidFill>
              </a:rPr>
              <a:t>不需要填充</a:t>
            </a:r>
            <a:r>
              <a:rPr lang="zh-CN" altLang="en-US" sz="2800"/>
              <a:t>。</a:t>
            </a:r>
          </a:p>
        </p:txBody>
      </p:sp>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3"/>
          <p:cNvSpPr>
            <a:spLocks noGrp="1" noChangeArrowheads="1"/>
          </p:cNvSpPr>
          <p:nvPr>
            <p:ph type="title"/>
          </p:nvPr>
        </p:nvSpPr>
        <p:spPr>
          <a:xfrm>
            <a:off x="290514" y="196539"/>
            <a:ext cx="7772400" cy="598487"/>
          </a:xfrm>
          <a:noFill/>
        </p:spPr>
        <p:txBody>
          <a:bodyPr/>
          <a:lstStyle/>
          <a:p>
            <a:pPr algn="l" eaLnBrk="1" hangingPunct="1"/>
            <a:r>
              <a:rPr lang="en-US" altLang="zh-CN" sz="3600"/>
              <a:t>4.3 </a:t>
            </a:r>
            <a:r>
              <a:rPr lang="zh-CN" altLang="en-US" sz="3600"/>
              <a:t>错误控制</a:t>
            </a:r>
            <a:endParaRPr lang="zh-CN" altLang="en-US"/>
          </a:p>
        </p:txBody>
      </p:sp>
      <p:sp>
        <p:nvSpPr>
          <p:cNvPr id="737296" name="Text Box 16"/>
          <p:cNvSpPr txBox="1">
            <a:spLocks noChangeArrowheads="1"/>
          </p:cNvSpPr>
          <p:nvPr/>
        </p:nvSpPr>
        <p:spPr bwMode="auto">
          <a:xfrm>
            <a:off x="1947863" y="1277938"/>
            <a:ext cx="6858000" cy="4487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r>
              <a:rPr kumimoji="0" lang="zh-CN" altLang="en-US" sz="2800">
                <a:solidFill>
                  <a:schemeClr val="folHlink"/>
                </a:solidFill>
              </a:rPr>
              <a:t>目的</a:t>
            </a:r>
            <a:r>
              <a:rPr kumimoji="0" lang="zh-CN" altLang="en-US" sz="2800"/>
              <a:t>：避免数据丢失或损坏 </a:t>
            </a:r>
          </a:p>
          <a:p>
            <a:pPr eaLnBrk="1" hangingPunct="1">
              <a:spcBef>
                <a:spcPct val="0"/>
              </a:spcBef>
              <a:buClrTx/>
              <a:buSzTx/>
              <a:buFontTx/>
              <a:buNone/>
            </a:pPr>
            <a:r>
              <a:rPr kumimoji="0" lang="zh-CN" altLang="en-US" sz="2800">
                <a:solidFill>
                  <a:schemeClr val="folHlink"/>
                </a:solidFill>
              </a:rPr>
              <a:t>错误检测</a:t>
            </a:r>
          </a:p>
          <a:p>
            <a:pPr lvl="1" eaLnBrk="1" hangingPunct="1">
              <a:spcBef>
                <a:spcPct val="0"/>
              </a:spcBef>
              <a:buClrTx/>
              <a:buSzTx/>
              <a:buFontTx/>
              <a:buNone/>
            </a:pPr>
            <a:r>
              <a:rPr kumimoji="0" lang="zh-CN" altLang="en-US" sz="2000"/>
              <a:t>发送方在报文中插入错误检测位</a:t>
            </a:r>
          </a:p>
          <a:p>
            <a:pPr lvl="1" eaLnBrk="1" hangingPunct="1">
              <a:spcBef>
                <a:spcPct val="0"/>
              </a:spcBef>
              <a:buClrTx/>
              <a:buSzTx/>
              <a:buFontTx/>
              <a:buNone/>
            </a:pPr>
            <a:r>
              <a:rPr kumimoji="0" lang="zh-CN" altLang="en-US" sz="2000"/>
              <a:t>接收方根据这些检测位进行错误检测</a:t>
            </a:r>
          </a:p>
          <a:p>
            <a:pPr lvl="1" eaLnBrk="1" hangingPunct="1">
              <a:spcBef>
                <a:spcPct val="0"/>
              </a:spcBef>
              <a:buClrTx/>
              <a:buSzTx/>
              <a:buFontTx/>
              <a:buNone/>
            </a:pPr>
            <a:r>
              <a:rPr kumimoji="0" lang="zh-CN" altLang="en-US" sz="2000"/>
              <a:t>如果正确，则接受，并应答</a:t>
            </a:r>
            <a:r>
              <a:rPr kumimoji="0" lang="en-US" altLang="zh-CN" sz="2000"/>
              <a:t>ACK</a:t>
            </a:r>
          </a:p>
          <a:p>
            <a:pPr lvl="1" eaLnBrk="1" hangingPunct="1">
              <a:spcBef>
                <a:spcPct val="0"/>
              </a:spcBef>
              <a:buClrTx/>
              <a:buSzTx/>
              <a:buFontTx/>
              <a:buNone/>
            </a:pPr>
            <a:r>
              <a:rPr kumimoji="0" lang="zh-CN" altLang="en-US" sz="2000"/>
              <a:t>如果错误，则丢弃，或应答</a:t>
            </a:r>
            <a:r>
              <a:rPr kumimoji="0" lang="en-US" altLang="zh-CN" sz="2000"/>
              <a:t>NAK</a:t>
            </a:r>
          </a:p>
          <a:p>
            <a:pPr eaLnBrk="1" hangingPunct="1">
              <a:spcBef>
                <a:spcPct val="0"/>
              </a:spcBef>
              <a:buClrTx/>
              <a:buSzTx/>
              <a:buFontTx/>
              <a:buNone/>
            </a:pPr>
            <a:r>
              <a:rPr lang="zh-CN" altLang="en-US" sz="2800">
                <a:solidFill>
                  <a:schemeClr val="folHlink"/>
                </a:solidFill>
              </a:rPr>
              <a:t>重传</a:t>
            </a:r>
          </a:p>
          <a:p>
            <a:pPr lvl="1" eaLnBrk="1" hangingPunct="1">
              <a:lnSpc>
                <a:spcPct val="90000"/>
              </a:lnSpc>
              <a:spcBef>
                <a:spcPct val="10000"/>
              </a:spcBef>
            </a:pPr>
            <a:r>
              <a:rPr lang="zh-CN" altLang="en-US" sz="2400"/>
              <a:t>如果收到</a:t>
            </a:r>
            <a:r>
              <a:rPr lang="en-US" altLang="zh-CN" sz="2400"/>
              <a:t>NAK</a:t>
            </a:r>
            <a:r>
              <a:rPr lang="zh-CN" altLang="en-US" sz="2400"/>
              <a:t>，或在规定时间内没有应答（超时），则重传</a:t>
            </a:r>
          </a:p>
          <a:p>
            <a:pPr eaLnBrk="1" hangingPunct="1">
              <a:lnSpc>
                <a:spcPct val="90000"/>
              </a:lnSpc>
              <a:spcBef>
                <a:spcPct val="10000"/>
              </a:spcBef>
            </a:pPr>
            <a:r>
              <a:rPr lang="zh-CN" altLang="en-US" sz="2800">
                <a:solidFill>
                  <a:schemeClr val="folHlink"/>
                </a:solidFill>
              </a:rPr>
              <a:t>错误纠正</a:t>
            </a:r>
          </a:p>
          <a:p>
            <a:pPr lvl="1" eaLnBrk="1" hangingPunct="1">
              <a:lnSpc>
                <a:spcPct val="90000"/>
              </a:lnSpc>
              <a:spcBef>
                <a:spcPct val="10000"/>
              </a:spcBef>
            </a:pPr>
            <a:r>
              <a:rPr lang="zh-CN" altLang="en-US" sz="2400"/>
              <a:t>发送方在报文中插入错误纠正码</a:t>
            </a:r>
          </a:p>
          <a:p>
            <a:pPr lvl="1" eaLnBrk="1" hangingPunct="1">
              <a:lnSpc>
                <a:spcPct val="90000"/>
              </a:lnSpc>
              <a:spcBef>
                <a:spcPct val="10000"/>
              </a:spcBef>
            </a:pPr>
            <a:r>
              <a:rPr lang="zh-CN" altLang="en-US" sz="2400"/>
              <a:t>接收方根据纠错码进行错误纠正</a:t>
            </a:r>
          </a:p>
        </p:txBody>
      </p:sp>
      <p:grpSp>
        <p:nvGrpSpPr>
          <p:cNvPr id="2" name="Group 17"/>
          <p:cNvGrpSpPr>
            <a:grpSpLocks/>
          </p:cNvGrpSpPr>
          <p:nvPr/>
        </p:nvGrpSpPr>
        <p:grpSpPr bwMode="auto">
          <a:xfrm>
            <a:off x="6654801" y="1679576"/>
            <a:ext cx="3902075" cy="1450975"/>
            <a:chOff x="3302" y="622"/>
            <a:chExt cx="2458" cy="914"/>
          </a:xfrm>
        </p:grpSpPr>
        <p:sp>
          <p:nvSpPr>
            <p:cNvPr id="17413" name="Line 5"/>
            <p:cNvSpPr>
              <a:spLocks noChangeShapeType="1"/>
            </p:cNvSpPr>
            <p:nvPr/>
          </p:nvSpPr>
          <p:spPr bwMode="auto">
            <a:xfrm>
              <a:off x="3302" y="1536"/>
              <a:ext cx="245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4" name="Line 6"/>
            <p:cNvSpPr>
              <a:spLocks noChangeShapeType="1"/>
            </p:cNvSpPr>
            <p:nvPr/>
          </p:nvSpPr>
          <p:spPr bwMode="auto">
            <a:xfrm flipV="1">
              <a:off x="3682" y="1152"/>
              <a:ext cx="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5" name="Line 7"/>
            <p:cNvSpPr>
              <a:spLocks noChangeShapeType="1"/>
            </p:cNvSpPr>
            <p:nvPr/>
          </p:nvSpPr>
          <p:spPr bwMode="auto">
            <a:xfrm flipV="1">
              <a:off x="5355" y="1152"/>
              <a:ext cx="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6" name="Line 8"/>
            <p:cNvSpPr>
              <a:spLocks noChangeShapeType="1"/>
            </p:cNvSpPr>
            <p:nvPr/>
          </p:nvSpPr>
          <p:spPr bwMode="auto">
            <a:xfrm>
              <a:off x="3910" y="910"/>
              <a:ext cx="124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7" name="Line 9"/>
            <p:cNvSpPr>
              <a:spLocks noChangeShapeType="1"/>
            </p:cNvSpPr>
            <p:nvPr/>
          </p:nvSpPr>
          <p:spPr bwMode="auto">
            <a:xfrm flipH="1">
              <a:off x="3910" y="1344"/>
              <a:ext cx="126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8" name="Rectangle 10"/>
            <p:cNvSpPr>
              <a:spLocks noChangeArrowheads="1"/>
            </p:cNvSpPr>
            <p:nvPr/>
          </p:nvSpPr>
          <p:spPr bwMode="auto">
            <a:xfrm>
              <a:off x="4189" y="622"/>
              <a:ext cx="304"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r>
                <a:rPr kumimoji="0" lang="en-US" altLang="zh-CN" sz="2400">
                  <a:latin typeface="Comic Sans MS" panose="030F0702030302020204" pitchFamily="66" charset="0"/>
                </a:rPr>
                <a:t>D</a:t>
              </a:r>
            </a:p>
          </p:txBody>
        </p:sp>
        <p:sp>
          <p:nvSpPr>
            <p:cNvPr id="17419" name="Rectangle 11"/>
            <p:cNvSpPr>
              <a:spLocks noChangeArrowheads="1"/>
            </p:cNvSpPr>
            <p:nvPr/>
          </p:nvSpPr>
          <p:spPr bwMode="auto">
            <a:xfrm>
              <a:off x="4341" y="1056"/>
              <a:ext cx="304"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r>
                <a:rPr kumimoji="0" lang="en-US" altLang="zh-CN" sz="2400">
                  <a:latin typeface="Comic Sans MS" panose="030F0702030302020204" pitchFamily="66" charset="0"/>
                </a:rPr>
                <a:t>ACK</a:t>
              </a:r>
            </a:p>
          </p:txBody>
        </p:sp>
        <p:sp>
          <p:nvSpPr>
            <p:cNvPr id="17420" name="Rectangle 12"/>
            <p:cNvSpPr>
              <a:spLocks noChangeArrowheads="1"/>
            </p:cNvSpPr>
            <p:nvPr/>
          </p:nvSpPr>
          <p:spPr bwMode="auto">
            <a:xfrm>
              <a:off x="4189" y="1056"/>
              <a:ext cx="152" cy="240"/>
            </a:xfrm>
            <a:prstGeom prst="rect">
              <a:avLst/>
            </a:prstGeom>
            <a:solidFill>
              <a:schemeClr val="bg2"/>
            </a:solid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r>
                <a:rPr kumimoji="0" lang="en-US" altLang="zh-CN" sz="2400">
                  <a:latin typeface="Comic Sans MS" panose="030F0702030302020204" pitchFamily="66" charset="0"/>
                </a:rPr>
                <a:t>H</a:t>
              </a:r>
            </a:p>
          </p:txBody>
        </p:sp>
        <p:sp>
          <p:nvSpPr>
            <p:cNvPr id="17421" name="Rectangle 13"/>
            <p:cNvSpPr>
              <a:spLocks noChangeArrowheads="1"/>
            </p:cNvSpPr>
            <p:nvPr/>
          </p:nvSpPr>
          <p:spPr bwMode="auto">
            <a:xfrm>
              <a:off x="4493" y="622"/>
              <a:ext cx="152" cy="240"/>
            </a:xfrm>
            <a:prstGeom prst="rect">
              <a:avLst/>
            </a:prstGeom>
            <a:solidFill>
              <a:schemeClr val="bg2"/>
            </a:solid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r>
                <a:rPr kumimoji="0" lang="en-US" altLang="zh-CN" sz="2400">
                  <a:latin typeface="Comic Sans MS" panose="030F0702030302020204" pitchFamily="66" charset="0"/>
                </a:rPr>
                <a:t>H</a:t>
              </a:r>
            </a:p>
          </p:txBody>
        </p:sp>
        <p:pic>
          <p:nvPicPr>
            <p:cNvPr id="17422" name="Picture 14" descr="bd06908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5" y="642"/>
              <a:ext cx="24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3" name="Picture 15" descr="bd06908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8" y="642"/>
              <a:ext cx="241"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37296">
                                            <p:txEl>
                                              <p:pRg st="0" end="0"/>
                                            </p:txEl>
                                          </p:spTgt>
                                        </p:tgtEl>
                                        <p:attrNameLst>
                                          <p:attrName>style.visibility</p:attrName>
                                        </p:attrNameLst>
                                      </p:cBhvr>
                                      <p:to>
                                        <p:strVal val="visible"/>
                                      </p:to>
                                    </p:set>
                                    <p:anim calcmode="lin" valueType="num">
                                      <p:cBhvr additive="base">
                                        <p:cTn id="13" dur="500" fill="hold"/>
                                        <p:tgtEl>
                                          <p:spTgt spid="737296">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372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37296">
                                            <p:txEl>
                                              <p:pRg st="1" end="1"/>
                                            </p:txEl>
                                          </p:spTgt>
                                        </p:tgtEl>
                                        <p:attrNameLst>
                                          <p:attrName>style.visibility</p:attrName>
                                        </p:attrNameLst>
                                      </p:cBhvr>
                                      <p:to>
                                        <p:strVal val="visible"/>
                                      </p:to>
                                    </p:set>
                                    <p:anim calcmode="lin" valueType="num">
                                      <p:cBhvr additive="base">
                                        <p:cTn id="19" dur="500" fill="hold"/>
                                        <p:tgtEl>
                                          <p:spTgt spid="737296">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37296">
                                            <p:txEl>
                                              <p:pRg st="1" end="1"/>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737296">
                                            <p:txEl>
                                              <p:pRg st="2" end="2"/>
                                            </p:txEl>
                                          </p:spTgt>
                                        </p:tgtEl>
                                        <p:attrNameLst>
                                          <p:attrName>style.visibility</p:attrName>
                                        </p:attrNameLst>
                                      </p:cBhvr>
                                      <p:to>
                                        <p:strVal val="visible"/>
                                      </p:to>
                                    </p:set>
                                    <p:anim calcmode="lin" valueType="num">
                                      <p:cBhvr additive="base">
                                        <p:cTn id="23" dur="500" fill="hold"/>
                                        <p:tgtEl>
                                          <p:spTgt spid="737296">
                                            <p:txEl>
                                              <p:pRg st="2" end="2"/>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737296">
                                            <p:txEl>
                                              <p:pRg st="2" end="2"/>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737296">
                                            <p:txEl>
                                              <p:pRg st="3" end="3"/>
                                            </p:txEl>
                                          </p:spTgt>
                                        </p:tgtEl>
                                        <p:attrNameLst>
                                          <p:attrName>style.visibility</p:attrName>
                                        </p:attrNameLst>
                                      </p:cBhvr>
                                      <p:to>
                                        <p:strVal val="visible"/>
                                      </p:to>
                                    </p:set>
                                    <p:anim calcmode="lin" valueType="num">
                                      <p:cBhvr additive="base">
                                        <p:cTn id="27" dur="500" fill="hold"/>
                                        <p:tgtEl>
                                          <p:spTgt spid="737296">
                                            <p:txEl>
                                              <p:pRg st="3" end="3"/>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737296">
                                            <p:txEl>
                                              <p:pRg st="3" end="3"/>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737296">
                                            <p:txEl>
                                              <p:pRg st="4" end="4"/>
                                            </p:txEl>
                                          </p:spTgt>
                                        </p:tgtEl>
                                        <p:attrNameLst>
                                          <p:attrName>style.visibility</p:attrName>
                                        </p:attrNameLst>
                                      </p:cBhvr>
                                      <p:to>
                                        <p:strVal val="visible"/>
                                      </p:to>
                                    </p:set>
                                    <p:anim calcmode="lin" valueType="num">
                                      <p:cBhvr additive="base">
                                        <p:cTn id="31" dur="500" fill="hold"/>
                                        <p:tgtEl>
                                          <p:spTgt spid="737296">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37296">
                                            <p:txEl>
                                              <p:pRg st="4" end="4"/>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737296">
                                            <p:txEl>
                                              <p:pRg st="5" end="5"/>
                                            </p:txEl>
                                          </p:spTgt>
                                        </p:tgtEl>
                                        <p:attrNameLst>
                                          <p:attrName>style.visibility</p:attrName>
                                        </p:attrNameLst>
                                      </p:cBhvr>
                                      <p:to>
                                        <p:strVal val="visible"/>
                                      </p:to>
                                    </p:set>
                                    <p:anim calcmode="lin" valueType="num">
                                      <p:cBhvr additive="base">
                                        <p:cTn id="35" dur="500" fill="hold"/>
                                        <p:tgtEl>
                                          <p:spTgt spid="737296">
                                            <p:txEl>
                                              <p:pRg st="5" end="5"/>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73729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737296">
                                            <p:txEl>
                                              <p:pRg st="6" end="6"/>
                                            </p:txEl>
                                          </p:spTgt>
                                        </p:tgtEl>
                                        <p:attrNameLst>
                                          <p:attrName>style.visibility</p:attrName>
                                        </p:attrNameLst>
                                      </p:cBhvr>
                                      <p:to>
                                        <p:strVal val="visible"/>
                                      </p:to>
                                    </p:set>
                                    <p:anim calcmode="lin" valueType="num">
                                      <p:cBhvr additive="base">
                                        <p:cTn id="41" dur="500" fill="hold"/>
                                        <p:tgtEl>
                                          <p:spTgt spid="737296">
                                            <p:txEl>
                                              <p:pRg st="6" end="6"/>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737296">
                                            <p:txEl>
                                              <p:pRg st="6" end="6"/>
                                            </p:txEl>
                                          </p:spTgt>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737296">
                                            <p:txEl>
                                              <p:pRg st="7" end="7"/>
                                            </p:txEl>
                                          </p:spTgt>
                                        </p:tgtEl>
                                        <p:attrNameLst>
                                          <p:attrName>style.visibility</p:attrName>
                                        </p:attrNameLst>
                                      </p:cBhvr>
                                      <p:to>
                                        <p:strVal val="visible"/>
                                      </p:to>
                                    </p:set>
                                    <p:anim calcmode="lin" valueType="num">
                                      <p:cBhvr additive="base">
                                        <p:cTn id="45" dur="500" fill="hold"/>
                                        <p:tgtEl>
                                          <p:spTgt spid="737296">
                                            <p:txEl>
                                              <p:pRg st="7" end="7"/>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737296">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737296">
                                            <p:txEl>
                                              <p:pRg st="8" end="8"/>
                                            </p:txEl>
                                          </p:spTgt>
                                        </p:tgtEl>
                                        <p:attrNameLst>
                                          <p:attrName>style.visibility</p:attrName>
                                        </p:attrNameLst>
                                      </p:cBhvr>
                                      <p:to>
                                        <p:strVal val="visible"/>
                                      </p:to>
                                    </p:set>
                                    <p:anim calcmode="lin" valueType="num">
                                      <p:cBhvr additive="base">
                                        <p:cTn id="51" dur="500" fill="hold"/>
                                        <p:tgtEl>
                                          <p:spTgt spid="737296">
                                            <p:txEl>
                                              <p:pRg st="8" end="8"/>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737296">
                                            <p:txEl>
                                              <p:pRg st="8" end="8"/>
                                            </p:txEl>
                                          </p:spTgt>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737296">
                                            <p:txEl>
                                              <p:pRg st="9" end="9"/>
                                            </p:txEl>
                                          </p:spTgt>
                                        </p:tgtEl>
                                        <p:attrNameLst>
                                          <p:attrName>style.visibility</p:attrName>
                                        </p:attrNameLst>
                                      </p:cBhvr>
                                      <p:to>
                                        <p:strVal val="visible"/>
                                      </p:to>
                                    </p:set>
                                    <p:anim calcmode="lin" valueType="num">
                                      <p:cBhvr additive="base">
                                        <p:cTn id="55" dur="500" fill="hold"/>
                                        <p:tgtEl>
                                          <p:spTgt spid="737296">
                                            <p:txEl>
                                              <p:pRg st="9" end="9"/>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737296">
                                            <p:txEl>
                                              <p:pRg st="9" end="9"/>
                                            </p:txEl>
                                          </p:spTgt>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737296">
                                            <p:txEl>
                                              <p:pRg st="10" end="10"/>
                                            </p:txEl>
                                          </p:spTgt>
                                        </p:tgtEl>
                                        <p:attrNameLst>
                                          <p:attrName>style.visibility</p:attrName>
                                        </p:attrNameLst>
                                      </p:cBhvr>
                                      <p:to>
                                        <p:strVal val="visible"/>
                                      </p:to>
                                    </p:set>
                                    <p:anim calcmode="lin" valueType="num">
                                      <p:cBhvr additive="base">
                                        <p:cTn id="59" dur="500" fill="hold"/>
                                        <p:tgtEl>
                                          <p:spTgt spid="737296">
                                            <p:txEl>
                                              <p:pRg st="10" end="10"/>
                                            </p:txEl>
                                          </p:spTgt>
                                        </p:tgtEl>
                                        <p:attrNameLst>
                                          <p:attrName>ppt_x</p:attrName>
                                        </p:attrNameLst>
                                      </p:cBhvr>
                                      <p:tavLst>
                                        <p:tav tm="0">
                                          <p:val>
                                            <p:strVal val="1+#ppt_w/2"/>
                                          </p:val>
                                        </p:tav>
                                        <p:tav tm="100000">
                                          <p:val>
                                            <p:strVal val="#ppt_x"/>
                                          </p:val>
                                        </p:tav>
                                      </p:tavLst>
                                    </p:anim>
                                    <p:anim calcmode="lin" valueType="num">
                                      <p:cBhvr additive="base">
                                        <p:cTn id="60" dur="500" fill="hold"/>
                                        <p:tgtEl>
                                          <p:spTgt spid="737296">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296"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521 Error Dete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6163" y="2781300"/>
            <a:ext cx="5670550"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 Box 3"/>
          <p:cNvSpPr txBox="1">
            <a:spLocks noChangeArrowheads="1"/>
          </p:cNvSpPr>
          <p:nvPr/>
        </p:nvSpPr>
        <p:spPr bwMode="auto">
          <a:xfrm>
            <a:off x="3502025" y="1300164"/>
            <a:ext cx="611663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90500" indent="-190500">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
                <a:schemeClr val="tx2"/>
              </a:buClr>
              <a:buSzTx/>
              <a:buFont typeface="Wingdings" panose="05000000000000000000" pitchFamily="2" charset="2"/>
              <a:buChar char="§"/>
            </a:pPr>
            <a:r>
              <a:rPr kumimoji="0" lang="en-US" altLang="zh-CN" sz="2400"/>
              <a:t>EDC= </a:t>
            </a:r>
            <a:r>
              <a:rPr kumimoji="0" lang="zh-CN" altLang="en-US" sz="2400"/>
              <a:t>错误检测与纠正比特 </a:t>
            </a:r>
            <a:r>
              <a:rPr kumimoji="0" lang="en-US" altLang="zh-CN" sz="2400"/>
              <a:t>(</a:t>
            </a:r>
            <a:r>
              <a:rPr kumimoji="0" lang="zh-CN" altLang="en-US" sz="2400"/>
              <a:t>冗余位</a:t>
            </a:r>
            <a:r>
              <a:rPr kumimoji="0" lang="en-US" altLang="zh-CN" sz="2400"/>
              <a:t>)</a:t>
            </a:r>
          </a:p>
          <a:p>
            <a:pPr>
              <a:spcBef>
                <a:spcPct val="0"/>
              </a:spcBef>
              <a:buClr>
                <a:schemeClr val="tx2"/>
              </a:buClr>
              <a:buSzTx/>
              <a:buFont typeface="Wingdings" panose="05000000000000000000" pitchFamily="2" charset="2"/>
              <a:buChar char="§"/>
            </a:pPr>
            <a:r>
              <a:rPr kumimoji="0" lang="en-US" altLang="zh-CN" sz="2400"/>
              <a:t>EDC</a:t>
            </a:r>
            <a:r>
              <a:rPr kumimoji="0" lang="zh-CN" altLang="en-US" sz="2400"/>
              <a:t>越长</a:t>
            </a:r>
            <a:r>
              <a:rPr kumimoji="0" lang="en-US" altLang="zh-CN" sz="2400"/>
              <a:t>,</a:t>
            </a:r>
            <a:r>
              <a:rPr kumimoji="0" lang="zh-CN" altLang="en-US" sz="2400"/>
              <a:t>检错和纠错的性能越好</a:t>
            </a:r>
          </a:p>
          <a:p>
            <a:pPr>
              <a:spcBef>
                <a:spcPct val="0"/>
              </a:spcBef>
              <a:buClr>
                <a:schemeClr val="tx2"/>
              </a:buClr>
              <a:buSzTx/>
              <a:buFont typeface="Wingdings" panose="05000000000000000000" pitchFamily="2" charset="2"/>
              <a:buChar char="§"/>
            </a:pPr>
            <a:r>
              <a:rPr kumimoji="0" lang="en-US" altLang="zh-CN" sz="2400"/>
              <a:t>EDC</a:t>
            </a:r>
            <a:r>
              <a:rPr kumimoji="0" lang="zh-CN" altLang="en-US" sz="2400"/>
              <a:t>越长，开销越大</a:t>
            </a:r>
            <a:endParaRPr kumimoji="0" lang="zh-CN" altLang="en-US" sz="2000">
              <a:latin typeface="Comic Sans MS" panose="030F0702030302020204" pitchFamily="66" charset="0"/>
            </a:endParaRPr>
          </a:p>
        </p:txBody>
      </p:sp>
      <p:sp>
        <p:nvSpPr>
          <p:cNvPr id="18436" name="Rectangle 4"/>
          <p:cNvSpPr>
            <a:spLocks noGrp="1" noChangeArrowheads="1"/>
          </p:cNvSpPr>
          <p:nvPr>
            <p:ph type="title"/>
          </p:nvPr>
        </p:nvSpPr>
        <p:spPr>
          <a:xfrm>
            <a:off x="2246313" y="158751"/>
            <a:ext cx="7772400" cy="784225"/>
          </a:xfrm>
          <a:noFill/>
        </p:spPr>
        <p:txBody>
          <a:bodyPr/>
          <a:lstStyle/>
          <a:p>
            <a:pPr eaLnBrk="1" hangingPunct="1"/>
            <a:r>
              <a:rPr lang="zh-CN" altLang="en-US" sz="3600" b="0"/>
              <a:t>错误检测与纠正</a:t>
            </a:r>
            <a:endParaRPr lang="zh-CN" altLang="en-US"/>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3"/>
          <p:cNvSpPr txBox="1">
            <a:spLocks noChangeArrowheads="1"/>
          </p:cNvSpPr>
          <p:nvPr/>
        </p:nvSpPr>
        <p:spPr bwMode="auto">
          <a:xfrm>
            <a:off x="3054350" y="1551563"/>
            <a:ext cx="306705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90500" indent="-190500">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spcBef>
                <a:spcPct val="0"/>
              </a:spcBef>
              <a:buClr>
                <a:schemeClr val="tx2"/>
              </a:buClr>
              <a:buSzTx/>
              <a:buFont typeface="Wingdings" panose="05000000000000000000" pitchFamily="2" charset="2"/>
              <a:buChar char="§"/>
            </a:pPr>
            <a:r>
              <a:rPr kumimoji="0" lang="zh-CN" altLang="en-US" sz="2400"/>
              <a:t>奇偶校验</a:t>
            </a:r>
          </a:p>
          <a:p>
            <a:pPr>
              <a:spcBef>
                <a:spcPct val="0"/>
              </a:spcBef>
              <a:buClr>
                <a:schemeClr val="tx2"/>
              </a:buClr>
              <a:buSzTx/>
              <a:buFont typeface="Wingdings" panose="05000000000000000000" pitchFamily="2" charset="2"/>
              <a:buChar char="§"/>
            </a:pPr>
            <a:endParaRPr kumimoji="0" lang="zh-CN" altLang="en-US" sz="2400"/>
          </a:p>
          <a:p>
            <a:pPr>
              <a:spcBef>
                <a:spcPct val="0"/>
              </a:spcBef>
              <a:buClr>
                <a:schemeClr val="tx2"/>
              </a:buClr>
              <a:buSzTx/>
              <a:buFont typeface="Wingdings" panose="05000000000000000000" pitchFamily="2" charset="2"/>
              <a:buChar char="§"/>
            </a:pPr>
            <a:r>
              <a:rPr kumimoji="0" lang="zh-CN" altLang="en-US" sz="2400"/>
              <a:t>循环冗余校验</a:t>
            </a:r>
          </a:p>
          <a:p>
            <a:pPr>
              <a:spcBef>
                <a:spcPct val="0"/>
              </a:spcBef>
              <a:buClr>
                <a:schemeClr val="tx2"/>
              </a:buClr>
              <a:buSzTx/>
              <a:buFont typeface="Wingdings" panose="05000000000000000000" pitchFamily="2" charset="2"/>
              <a:buChar char="§"/>
            </a:pPr>
            <a:endParaRPr kumimoji="0" lang="zh-CN" altLang="en-US" sz="2400"/>
          </a:p>
          <a:p>
            <a:pPr>
              <a:spcBef>
                <a:spcPct val="0"/>
              </a:spcBef>
              <a:buClr>
                <a:schemeClr val="tx2"/>
              </a:buClr>
              <a:buSzTx/>
              <a:buFont typeface="Wingdings" panose="05000000000000000000" pitchFamily="2" charset="2"/>
              <a:buChar char="§"/>
            </a:pPr>
            <a:r>
              <a:rPr kumimoji="0" lang="en-US" altLang="zh-CN" sz="2000">
                <a:latin typeface="Comic Sans MS" panose="030F0702030302020204" pitchFamily="66" charset="0"/>
              </a:rPr>
              <a:t>……</a:t>
            </a:r>
          </a:p>
        </p:txBody>
      </p:sp>
      <p:sp>
        <p:nvSpPr>
          <p:cNvPr id="19459" name="Rectangle 4"/>
          <p:cNvSpPr>
            <a:spLocks noGrp="1" noChangeArrowheads="1"/>
          </p:cNvSpPr>
          <p:nvPr>
            <p:ph type="title"/>
          </p:nvPr>
        </p:nvSpPr>
        <p:spPr>
          <a:xfrm>
            <a:off x="2235200" y="320676"/>
            <a:ext cx="7772400" cy="627063"/>
          </a:xfrm>
          <a:noFill/>
        </p:spPr>
        <p:txBody>
          <a:bodyPr/>
          <a:lstStyle/>
          <a:p>
            <a:pPr eaLnBrk="1" hangingPunct="1"/>
            <a:r>
              <a:rPr lang="zh-CN" altLang="en-US" sz="3600"/>
              <a:t>方法和实现</a:t>
            </a:r>
            <a:endParaRPr lang="zh-CN" altLang="en-US"/>
          </a:p>
        </p:txBody>
      </p:sp>
      <p:sp>
        <p:nvSpPr>
          <p:cNvPr id="4" name="Text Box 4">
            <a:extLst>
              <a:ext uri="{FF2B5EF4-FFF2-40B4-BE49-F238E27FC236}">
                <a16:creationId xmlns:a16="http://schemas.microsoft.com/office/drawing/2014/main" id="{09B07F4F-D900-4A48-910E-488CD34F3B80}"/>
              </a:ext>
            </a:extLst>
          </p:cNvPr>
          <p:cNvSpPr txBox="1">
            <a:spLocks noChangeArrowheads="1"/>
          </p:cNvSpPr>
          <p:nvPr/>
        </p:nvSpPr>
        <p:spPr bwMode="auto">
          <a:xfrm>
            <a:off x="7434264" y="1757363"/>
            <a:ext cx="4090987"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Clr>
                <a:schemeClr val="tx2"/>
              </a:buClr>
              <a:buSzTx/>
              <a:buFont typeface="Wingdings" panose="05000000000000000000" pitchFamily="2" charset="2"/>
              <a:buChar char="ü"/>
            </a:pPr>
            <a:r>
              <a:rPr lang="zh-CN" altLang="en-US" sz="2800">
                <a:latin typeface="Times New Roman" panose="02020603050405020304" pitchFamily="18" charset="0"/>
              </a:rPr>
              <a:t>硬件实现</a:t>
            </a:r>
          </a:p>
          <a:p>
            <a:pPr eaLnBrk="1" hangingPunct="1">
              <a:spcBef>
                <a:spcPct val="50000"/>
              </a:spcBef>
              <a:buClr>
                <a:schemeClr val="tx2"/>
              </a:buClr>
              <a:buSzTx/>
              <a:buFont typeface="Wingdings" panose="05000000000000000000" pitchFamily="2" charset="2"/>
              <a:buChar char="ü"/>
            </a:pPr>
            <a:r>
              <a:rPr lang="zh-CN" altLang="en-US" sz="2800">
                <a:latin typeface="Times New Roman" panose="02020603050405020304" pitchFamily="18" charset="0"/>
              </a:rPr>
              <a:t>软件实现 </a:t>
            </a:r>
            <a:endParaRPr lang="zh-CN" altLang="en-US" sz="2000">
              <a:latin typeface="Times New Roman" panose="02020603050405020304" pitchFamily="18" charset="0"/>
            </a:endParaRPr>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93700" y="173038"/>
            <a:ext cx="9601200" cy="755650"/>
          </a:xfrm>
          <a:noFill/>
        </p:spPr>
        <p:txBody>
          <a:bodyPr/>
          <a:lstStyle/>
          <a:p>
            <a:pPr algn="l" eaLnBrk="1" hangingPunct="1"/>
            <a:r>
              <a:rPr lang="en-US" altLang="zh-CN" sz="3600" b="0"/>
              <a:t>4.4 </a:t>
            </a:r>
            <a:r>
              <a:rPr lang="zh-CN" altLang="en-US" sz="3600" b="0"/>
              <a:t>流量控制</a:t>
            </a:r>
          </a:p>
        </p:txBody>
      </p:sp>
      <p:sp>
        <p:nvSpPr>
          <p:cNvPr id="762883" name="Text Box 3"/>
          <p:cNvSpPr txBox="1">
            <a:spLocks noChangeArrowheads="1"/>
          </p:cNvSpPr>
          <p:nvPr/>
        </p:nvSpPr>
        <p:spPr bwMode="auto">
          <a:xfrm>
            <a:off x="2401888" y="1397000"/>
            <a:ext cx="7796212"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buSzPct val="75000"/>
              <a:buFont typeface="Wingdings" panose="05000000000000000000" pitchFamily="2" charset="2"/>
              <a:buChar char="Ø"/>
            </a:pPr>
            <a:r>
              <a:rPr kumimoji="0" lang="zh-CN" altLang="en-US" sz="2800">
                <a:latin typeface="Times New Roman" panose="02020603050405020304" pitchFamily="18" charset="0"/>
              </a:rPr>
              <a:t>流量控制 </a:t>
            </a:r>
            <a:r>
              <a:rPr kumimoji="0" lang="en-US" altLang="zh-CN" sz="2800">
                <a:latin typeface="Times New Roman" panose="02020603050405020304" pitchFamily="18" charset="0"/>
              </a:rPr>
              <a:t>= </a:t>
            </a:r>
            <a:r>
              <a:rPr kumimoji="0" lang="zh-CN" altLang="en-US" sz="2800">
                <a:latin typeface="Times New Roman" panose="02020603050405020304" pitchFamily="18" charset="0"/>
              </a:rPr>
              <a:t>寻求最大吞吐率，并且快的发送方不会将慢的接收方给淹没了</a:t>
            </a:r>
            <a:r>
              <a:rPr kumimoji="0" lang="en-US" altLang="zh-CN" sz="2800">
                <a:latin typeface="Times New Roman" panose="02020603050405020304" pitchFamily="18" charset="0"/>
              </a:rPr>
              <a:t>(</a:t>
            </a:r>
            <a:r>
              <a:rPr kumimoji="0" lang="zh-CN" altLang="en-US" sz="2800">
                <a:latin typeface="Times New Roman" panose="02020603050405020304" pitchFamily="18" charset="0"/>
              </a:rPr>
              <a:t>速率匹配</a:t>
            </a:r>
            <a:r>
              <a:rPr kumimoji="0" lang="en-US" altLang="zh-CN" sz="2800">
                <a:latin typeface="Times New Roman" panose="02020603050405020304" pitchFamily="18" charset="0"/>
              </a:rPr>
              <a:t>)</a:t>
            </a:r>
            <a:r>
              <a:rPr kumimoji="0" lang="zh-CN" altLang="en-US" sz="2800">
                <a:latin typeface="Times New Roman" panose="02020603050405020304" pitchFamily="18" charset="0"/>
              </a:rPr>
              <a:t>。</a:t>
            </a:r>
          </a:p>
          <a:p>
            <a:pPr>
              <a:buSzPct val="75000"/>
              <a:buFont typeface="Wingdings" panose="05000000000000000000" pitchFamily="2" charset="2"/>
              <a:buChar char="Ø"/>
            </a:pPr>
            <a:r>
              <a:rPr kumimoji="0" lang="zh-CN" altLang="en-US" sz="2800">
                <a:latin typeface="Times New Roman" panose="02020603050405020304" pitchFamily="18" charset="0"/>
              </a:rPr>
              <a:t>发送方节流（</a:t>
            </a:r>
            <a:r>
              <a:rPr kumimoji="0" lang="en-US" altLang="zh-CN" sz="2800">
                <a:latin typeface="Times New Roman" panose="02020603050405020304" pitchFamily="18" charset="0"/>
              </a:rPr>
              <a:t>throttled</a:t>
            </a:r>
            <a:r>
              <a:rPr kumimoji="0" lang="zh-CN" altLang="en-US" sz="2800">
                <a:latin typeface="Times New Roman" panose="02020603050405020304" pitchFamily="18" charset="0"/>
              </a:rPr>
              <a:t>）直到接收方同意发送</a:t>
            </a:r>
            <a:r>
              <a:rPr kumimoji="0" lang="zh-CN" altLang="en-US">
                <a:latin typeface="Times New Roman" panose="02020603050405020304" pitchFamily="18" charset="0"/>
              </a:rPr>
              <a:t>  </a:t>
            </a:r>
            <a:endParaRPr lang="zh-CN" altLang="en-US">
              <a:latin typeface="Times New Roman" panose="02020603050405020304" pitchFamily="18" charset="0"/>
            </a:endParaRPr>
          </a:p>
        </p:txBody>
      </p:sp>
      <p:sp>
        <p:nvSpPr>
          <p:cNvPr id="762884" name="Text Box 4"/>
          <p:cNvSpPr txBox="1">
            <a:spLocks noChangeArrowheads="1"/>
          </p:cNvSpPr>
          <p:nvPr/>
        </p:nvSpPr>
        <p:spPr bwMode="auto">
          <a:xfrm>
            <a:off x="2560638" y="3128964"/>
            <a:ext cx="7218362" cy="263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76250" indent="-476250">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buClrTx/>
              <a:buSzTx/>
              <a:buFont typeface="Wingdings" panose="05000000000000000000" pitchFamily="2" charset="2"/>
              <a:buNone/>
            </a:pPr>
            <a:r>
              <a:rPr lang="en-US" altLang="zh-CN">
                <a:solidFill>
                  <a:schemeClr val="tx2"/>
                </a:solidFill>
                <a:latin typeface="Tahoma" panose="020B0604030504040204" pitchFamily="34" charset="0"/>
              </a:rPr>
              <a:t>    </a:t>
            </a:r>
            <a:r>
              <a:rPr lang="zh-CN" altLang="en-US">
                <a:solidFill>
                  <a:schemeClr val="tx2"/>
                </a:solidFill>
                <a:latin typeface="Tahoma" panose="020B0604030504040204" pitchFamily="34" charset="0"/>
              </a:rPr>
              <a:t>流量控制协议</a:t>
            </a:r>
            <a:endParaRPr kumimoji="0" lang="zh-CN" altLang="en-US" b="1">
              <a:solidFill>
                <a:schemeClr val="accent1"/>
              </a:solidFill>
              <a:latin typeface="Times New Roman" panose="02020603050405020304" pitchFamily="18" charset="0"/>
            </a:endParaRPr>
          </a:p>
          <a:p>
            <a:pPr eaLnBrk="1" hangingPunct="1">
              <a:buClrTx/>
              <a:buSzTx/>
              <a:buFont typeface="Wingdings" panose="05000000000000000000" pitchFamily="2" charset="2"/>
              <a:buChar char="v"/>
            </a:pPr>
            <a:r>
              <a:rPr kumimoji="0" lang="zh-CN" altLang="en-US" sz="2800" b="1">
                <a:latin typeface="Times New Roman" panose="02020603050405020304" pitchFamily="18" charset="0"/>
              </a:rPr>
              <a:t>停等</a:t>
            </a:r>
            <a:r>
              <a:rPr kumimoji="0" lang="zh-CN" altLang="en-US" sz="2400" b="1">
                <a:latin typeface="Times New Roman" panose="02020603050405020304" pitchFamily="18" charset="0"/>
              </a:rPr>
              <a:t>（</a:t>
            </a:r>
            <a:r>
              <a:rPr kumimoji="0" lang="en-US" altLang="zh-CN" sz="2400" b="1">
                <a:latin typeface="Times New Roman" panose="02020603050405020304" pitchFamily="18" charset="0"/>
              </a:rPr>
              <a:t>Stop and Wait </a:t>
            </a:r>
            <a:r>
              <a:rPr kumimoji="0" lang="zh-CN" altLang="en-US" sz="2400" b="1">
                <a:latin typeface="Times New Roman" panose="02020603050405020304" pitchFamily="18" charset="0"/>
              </a:rPr>
              <a:t>）</a:t>
            </a:r>
            <a:r>
              <a:rPr kumimoji="0" lang="zh-CN" altLang="en-US" sz="2800" b="1">
                <a:latin typeface="Times New Roman" panose="02020603050405020304" pitchFamily="18" charset="0"/>
              </a:rPr>
              <a:t>协议</a:t>
            </a:r>
          </a:p>
          <a:p>
            <a:pPr eaLnBrk="1" hangingPunct="1">
              <a:buClrTx/>
              <a:buSzTx/>
              <a:buFont typeface="Wingdings" panose="05000000000000000000" pitchFamily="2" charset="2"/>
              <a:buChar char="v"/>
            </a:pPr>
            <a:r>
              <a:rPr kumimoji="0" lang="zh-CN" altLang="en-US" sz="2800" b="1">
                <a:latin typeface="Times New Roman" panose="02020603050405020304" pitchFamily="18" charset="0"/>
              </a:rPr>
              <a:t>滑动窗口</a:t>
            </a:r>
            <a:r>
              <a:rPr kumimoji="0" lang="zh-CN" altLang="en-US" sz="2400" b="1">
                <a:latin typeface="Times New Roman" panose="02020603050405020304" pitchFamily="18" charset="0"/>
              </a:rPr>
              <a:t>（</a:t>
            </a:r>
            <a:r>
              <a:rPr kumimoji="0" lang="en-US" altLang="zh-CN" sz="2400" b="1">
                <a:latin typeface="Times New Roman" panose="02020603050405020304" pitchFamily="18" charset="0"/>
              </a:rPr>
              <a:t>Sliding Window</a:t>
            </a:r>
            <a:r>
              <a:rPr kumimoji="0" lang="zh-CN" altLang="en-US" sz="2400" b="1">
                <a:latin typeface="Times New Roman" panose="02020603050405020304" pitchFamily="18" charset="0"/>
              </a:rPr>
              <a:t>）</a:t>
            </a:r>
            <a:r>
              <a:rPr kumimoji="0" lang="zh-CN" altLang="en-US" sz="2800" b="1">
                <a:latin typeface="Times New Roman" panose="02020603050405020304" pitchFamily="18" charset="0"/>
              </a:rPr>
              <a:t>协议</a:t>
            </a:r>
          </a:p>
          <a:p>
            <a:pPr eaLnBrk="1" hangingPunct="1">
              <a:buClrTx/>
              <a:buSzTx/>
              <a:buFont typeface="Wingdings" panose="05000000000000000000" pitchFamily="2" charset="2"/>
              <a:buChar char="v"/>
            </a:pPr>
            <a:r>
              <a:rPr kumimoji="0" lang="zh-CN" altLang="en-US" sz="2800" b="1">
                <a:latin typeface="Times New Roman" panose="02020603050405020304" pitchFamily="18" charset="0"/>
              </a:rPr>
              <a:t>选择重传协议</a:t>
            </a:r>
          </a:p>
          <a:p>
            <a:pPr eaLnBrk="1" hangingPunct="1">
              <a:buClrTx/>
              <a:buSzTx/>
              <a:buFont typeface="Wingdings" panose="05000000000000000000" pitchFamily="2" charset="2"/>
              <a:buChar char="v"/>
            </a:pPr>
            <a:r>
              <a:rPr kumimoji="0" lang="en-US" altLang="zh-CN" sz="2800" b="1">
                <a:latin typeface="Times New Roman" panose="02020603050405020304" pitchFamily="18" charset="0"/>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62883">
                                            <p:txEl>
                                              <p:pRg st="0" end="0"/>
                                            </p:txEl>
                                          </p:spTgt>
                                        </p:tgtEl>
                                        <p:attrNameLst>
                                          <p:attrName>style.visibility</p:attrName>
                                        </p:attrNameLst>
                                      </p:cBhvr>
                                      <p:to>
                                        <p:strVal val="visible"/>
                                      </p:to>
                                    </p:set>
                                    <p:anim calcmode="lin" valueType="num">
                                      <p:cBhvr additive="base">
                                        <p:cTn id="7" dur="500" fill="hold"/>
                                        <p:tgtEl>
                                          <p:spTgt spid="7628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62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62883">
                                            <p:txEl>
                                              <p:pRg st="1" end="1"/>
                                            </p:txEl>
                                          </p:spTgt>
                                        </p:tgtEl>
                                        <p:attrNameLst>
                                          <p:attrName>style.visibility</p:attrName>
                                        </p:attrNameLst>
                                      </p:cBhvr>
                                      <p:to>
                                        <p:strVal val="visible"/>
                                      </p:to>
                                    </p:set>
                                    <p:anim calcmode="lin" valueType="num">
                                      <p:cBhvr additive="base">
                                        <p:cTn id="13" dur="500" fill="hold"/>
                                        <p:tgtEl>
                                          <p:spTgt spid="76288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628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62884">
                                            <p:txEl>
                                              <p:pRg st="0" end="0"/>
                                            </p:txEl>
                                          </p:spTgt>
                                        </p:tgtEl>
                                        <p:attrNameLst>
                                          <p:attrName>style.visibility</p:attrName>
                                        </p:attrNameLst>
                                      </p:cBhvr>
                                      <p:to>
                                        <p:strVal val="visible"/>
                                      </p:to>
                                    </p:set>
                                    <p:anim calcmode="lin" valueType="num">
                                      <p:cBhvr additive="base">
                                        <p:cTn id="19" dur="500" fill="hold"/>
                                        <p:tgtEl>
                                          <p:spTgt spid="762884">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6288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62884">
                                            <p:txEl>
                                              <p:pRg st="1" end="1"/>
                                            </p:txEl>
                                          </p:spTgt>
                                        </p:tgtEl>
                                        <p:attrNameLst>
                                          <p:attrName>style.visibility</p:attrName>
                                        </p:attrNameLst>
                                      </p:cBhvr>
                                      <p:to>
                                        <p:strVal val="visible"/>
                                      </p:to>
                                    </p:set>
                                    <p:anim calcmode="lin" valueType="num">
                                      <p:cBhvr additive="base">
                                        <p:cTn id="25" dur="500" fill="hold"/>
                                        <p:tgtEl>
                                          <p:spTgt spid="762884">
                                            <p:txEl>
                                              <p:pRg st="1" end="1"/>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6288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62884">
                                            <p:txEl>
                                              <p:pRg st="2" end="2"/>
                                            </p:txEl>
                                          </p:spTgt>
                                        </p:tgtEl>
                                        <p:attrNameLst>
                                          <p:attrName>style.visibility</p:attrName>
                                        </p:attrNameLst>
                                      </p:cBhvr>
                                      <p:to>
                                        <p:strVal val="visible"/>
                                      </p:to>
                                    </p:set>
                                    <p:anim calcmode="lin" valueType="num">
                                      <p:cBhvr additive="base">
                                        <p:cTn id="31" dur="500" fill="hold"/>
                                        <p:tgtEl>
                                          <p:spTgt spid="762884">
                                            <p:txEl>
                                              <p:pRg st="2" end="2"/>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6288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762884">
                                            <p:txEl>
                                              <p:pRg st="3" end="3"/>
                                            </p:txEl>
                                          </p:spTgt>
                                        </p:tgtEl>
                                        <p:attrNameLst>
                                          <p:attrName>style.visibility</p:attrName>
                                        </p:attrNameLst>
                                      </p:cBhvr>
                                      <p:to>
                                        <p:strVal val="visible"/>
                                      </p:to>
                                    </p:set>
                                    <p:anim calcmode="lin" valueType="num">
                                      <p:cBhvr additive="base">
                                        <p:cTn id="37" dur="500" fill="hold"/>
                                        <p:tgtEl>
                                          <p:spTgt spid="762884">
                                            <p:txEl>
                                              <p:pRg st="3" end="3"/>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6288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62884">
                                            <p:txEl>
                                              <p:pRg st="4" end="4"/>
                                            </p:txEl>
                                          </p:spTgt>
                                        </p:tgtEl>
                                        <p:attrNameLst>
                                          <p:attrName>style.visibility</p:attrName>
                                        </p:attrNameLst>
                                      </p:cBhvr>
                                      <p:to>
                                        <p:strVal val="visible"/>
                                      </p:to>
                                    </p:set>
                                    <p:anim calcmode="lin" valueType="num">
                                      <p:cBhvr additive="base">
                                        <p:cTn id="43" dur="500" fill="hold"/>
                                        <p:tgtEl>
                                          <p:spTgt spid="762884">
                                            <p:txEl>
                                              <p:pRg st="4" end="4"/>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6288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2883" grpId="0" build="p" autoUpdateAnimBg="0"/>
      <p:bldP spid="762884"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algn="l"/>
            <a:r>
              <a:rPr lang="en-US" altLang="zh-CN"/>
              <a:t>4.4.1 </a:t>
            </a:r>
            <a:r>
              <a:rPr lang="zh-CN" altLang="zh-CN"/>
              <a:t>停止等待协议</a:t>
            </a:r>
            <a:endParaRPr lang="zh-CN" altLang="en-US"/>
          </a:p>
        </p:txBody>
      </p:sp>
      <p:sp>
        <p:nvSpPr>
          <p:cNvPr id="6147" name="内容占位符 2"/>
          <p:cNvSpPr>
            <a:spLocks noGrp="1"/>
          </p:cNvSpPr>
          <p:nvPr>
            <p:ph idx="1"/>
          </p:nvPr>
        </p:nvSpPr>
        <p:spPr/>
        <p:txBody>
          <a:bodyPr/>
          <a:lstStyle/>
          <a:p>
            <a:r>
              <a:rPr lang="zh-CN" altLang="zh-CN" b="1"/>
              <a:t>停止等待（</a:t>
            </a:r>
            <a:r>
              <a:rPr lang="en-US" altLang="zh-CN" b="1"/>
              <a:t>stop</a:t>
            </a:r>
            <a:r>
              <a:rPr lang="zh-CN" altLang="zh-CN" b="1"/>
              <a:t>－</a:t>
            </a:r>
            <a:r>
              <a:rPr lang="en-US" altLang="zh-CN" b="1"/>
              <a:t>and</a:t>
            </a:r>
            <a:r>
              <a:rPr lang="zh-CN" altLang="zh-CN" b="1"/>
              <a:t>－</a:t>
            </a:r>
            <a:r>
              <a:rPr lang="en-US" altLang="zh-CN" b="1"/>
              <a:t>wait</a:t>
            </a:r>
            <a:r>
              <a:rPr lang="zh-CN" altLang="zh-CN" b="1"/>
              <a:t>）协议</a:t>
            </a:r>
            <a:r>
              <a:rPr lang="zh-CN" altLang="zh-CN"/>
              <a:t>是</a:t>
            </a:r>
            <a:r>
              <a:rPr lang="zh-CN" altLang="zh-CN" b="1"/>
              <a:t>最简单</a:t>
            </a:r>
            <a:r>
              <a:rPr lang="zh-CN" altLang="zh-CN"/>
              <a:t>但也是</a:t>
            </a:r>
            <a:r>
              <a:rPr lang="zh-CN" altLang="zh-CN" b="1"/>
              <a:t>最基本</a:t>
            </a:r>
            <a:r>
              <a:rPr lang="zh-CN" altLang="zh-CN"/>
              <a:t>的数据链路层协议。很多有关协议的</a:t>
            </a:r>
            <a:r>
              <a:rPr lang="zh-CN" altLang="zh-CN" b="1"/>
              <a:t>基本概念都可以从这个协议中学习到</a:t>
            </a:r>
            <a:r>
              <a:rPr lang="zh-CN" altLang="zh-CN"/>
              <a:t>。我们先从最简单的情况讲起。</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zh-CN" sz="3600"/>
              <a:t>一、不需要数据链路层协议的数据传输</a:t>
            </a:r>
            <a:endParaRPr lang="zh-CN" altLang="en-US" sz="3600"/>
          </a:p>
        </p:txBody>
      </p:sp>
      <p:sp>
        <p:nvSpPr>
          <p:cNvPr id="7171" name="内容占位符 2"/>
          <p:cNvSpPr>
            <a:spLocks noGrp="1"/>
          </p:cNvSpPr>
          <p:nvPr>
            <p:ph idx="1"/>
          </p:nvPr>
        </p:nvSpPr>
        <p:spPr/>
        <p:txBody>
          <a:bodyPr/>
          <a:lstStyle/>
          <a:p>
            <a:r>
              <a:rPr lang="zh-CN" altLang="zh-CN"/>
              <a:t>当两个主机进行通信时，应用进程要将数据从应用层逐层往下传，经物理层到达通信线路。通信线路将数据传到远端主机的物理层后，再逐层向上传，最后由应用层交给远程的应用进程。</a:t>
            </a:r>
            <a:endParaRPr lang="zh-CN" altLang="en-US"/>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zh-CN" sz="3600"/>
              <a:t>一、不需要数据链路层协议的数据传输</a:t>
            </a:r>
            <a:endParaRPr lang="zh-CN" altLang="en-US" sz="3600"/>
          </a:p>
        </p:txBody>
      </p:sp>
      <p:sp>
        <p:nvSpPr>
          <p:cNvPr id="8195" name="内容占位符 2"/>
          <p:cNvSpPr>
            <a:spLocks noGrp="1"/>
          </p:cNvSpPr>
          <p:nvPr>
            <p:ph idx="1"/>
          </p:nvPr>
        </p:nvSpPr>
        <p:spPr/>
        <p:txBody>
          <a:bodyPr/>
          <a:lstStyle/>
          <a:p>
            <a:r>
              <a:rPr lang="zh-CN" altLang="zh-CN"/>
              <a:t>但现在</a:t>
            </a:r>
            <a:r>
              <a:rPr lang="zh-CN" altLang="zh-CN" b="1"/>
              <a:t>为</a:t>
            </a:r>
            <a:r>
              <a:rPr lang="zh-CN" altLang="zh-CN"/>
              <a:t>了把</a:t>
            </a:r>
            <a:r>
              <a:rPr lang="zh-CN" altLang="zh-CN" b="1"/>
              <a:t>主要精力放在数据链路层的协议上</a:t>
            </a:r>
            <a:r>
              <a:rPr lang="zh-CN" altLang="zh-CN"/>
              <a:t>，可以</a:t>
            </a:r>
            <a:r>
              <a:rPr lang="zh-CN" altLang="zh-CN" b="1"/>
              <a:t>采用一个简化的模型</a:t>
            </a:r>
            <a:r>
              <a:rPr lang="zh-CN" altLang="zh-CN"/>
              <a:t>（见下</a:t>
            </a:r>
            <a:r>
              <a:rPr lang="zh-CN" altLang="zh-CN" b="1"/>
              <a:t>图</a:t>
            </a:r>
            <a:r>
              <a:rPr lang="zh-CN" altLang="zh-CN"/>
              <a:t>），即把</a:t>
            </a:r>
            <a:r>
              <a:rPr lang="zh-CN" altLang="zh-CN" b="1"/>
              <a:t>数据链路层以上的各层用一个主机来代替</a:t>
            </a:r>
            <a:r>
              <a:rPr lang="zh-CN" altLang="zh-CN"/>
              <a:t>，而</a:t>
            </a:r>
            <a:r>
              <a:rPr lang="zh-CN" altLang="zh-CN" b="1"/>
              <a:t>物理层和通信线路则等效成一条简单的链路</a:t>
            </a:r>
            <a:r>
              <a:rPr lang="zh-CN" altLang="zh-CN"/>
              <a:t>。</a:t>
            </a:r>
            <a:endParaRPr lang="zh-CN" altLang="en-US"/>
          </a:p>
        </p:txBody>
      </p:sp>
      <p:pic>
        <p:nvPicPr>
          <p:cNvPr id="4" name="Picture 2" descr="两机一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6926" y="1784350"/>
            <a:ext cx="7948613" cy="3529012"/>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zh-CN" sz="3600">
                <a:latin typeface="Times New Roman" panose="02020603050405020304" pitchFamily="18" charset="0"/>
              </a:rPr>
              <a:t>缓冲区</a:t>
            </a:r>
            <a:endParaRPr lang="zh-CN" altLang="en-US" sz="3600"/>
          </a:p>
        </p:txBody>
      </p:sp>
      <p:sp>
        <p:nvSpPr>
          <p:cNvPr id="9219" name="矩形 3"/>
          <p:cNvSpPr>
            <a:spLocks noChangeArrowheads="1"/>
          </p:cNvSpPr>
          <p:nvPr/>
        </p:nvSpPr>
        <p:spPr bwMode="auto">
          <a:xfrm>
            <a:off x="468843" y="1413063"/>
            <a:ext cx="11252200"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76225">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indent="0" algn="just" eaLnBrk="1" hangingPunct="1">
              <a:spcBef>
                <a:spcPct val="0"/>
              </a:spcBef>
              <a:buClrTx/>
              <a:buSzTx/>
              <a:buFontTx/>
              <a:buNone/>
            </a:pPr>
            <a:r>
              <a:rPr lang="zh-CN" altLang="zh-CN">
                <a:latin typeface="Times New Roman" panose="02020603050405020304" pitchFamily="18" charset="0"/>
              </a:rPr>
              <a:t>在发方和收方的链路层分别有一个发送缓冲区和接收缓冲区。若进行全双工通信，则在每一方都要同时设有发送缓冲区和接收缓冲区。</a:t>
            </a:r>
            <a:endParaRPr lang="en-US" altLang="zh-CN">
              <a:latin typeface="Times New Roman" panose="02020603050405020304" pitchFamily="18" charset="0"/>
            </a:endParaRPr>
          </a:p>
          <a:p>
            <a:pPr algn="ctr" eaLnBrk="1" hangingPunct="1">
              <a:spcBef>
                <a:spcPct val="0"/>
              </a:spcBef>
              <a:buClrTx/>
              <a:buSzTx/>
              <a:buFontTx/>
              <a:buNone/>
            </a:pPr>
            <a:r>
              <a:rPr lang="zh-CN" altLang="zh-CN" b="1">
                <a:solidFill>
                  <a:srgbClr val="0000FF"/>
                </a:solidFill>
                <a:latin typeface="Times New Roman" panose="02020603050405020304" pitchFamily="18" charset="0"/>
              </a:rPr>
              <a:t>缓冲区是必不可少的</a:t>
            </a:r>
            <a:r>
              <a:rPr lang="zh-CN" altLang="zh-CN">
                <a:latin typeface="Times New Roman" panose="02020603050405020304" pitchFamily="18" charset="0"/>
              </a:rPr>
              <a:t>。</a:t>
            </a:r>
            <a:endParaRPr lang="en-US" altLang="zh-CN">
              <a:latin typeface="Times New Roman" panose="02020603050405020304" pitchFamily="18" charset="0"/>
            </a:endParaRPr>
          </a:p>
          <a:p>
            <a:pPr indent="0" algn="just" eaLnBrk="1" hangingPunct="1">
              <a:spcBef>
                <a:spcPct val="0"/>
              </a:spcBef>
              <a:buClrTx/>
              <a:buSzTx/>
              <a:buFontTx/>
              <a:buNone/>
            </a:pPr>
            <a:r>
              <a:rPr lang="zh-CN" altLang="zh-CN">
                <a:latin typeface="Times New Roman" panose="02020603050405020304" pitchFamily="18" charset="0"/>
              </a:rPr>
              <a:t>这是因为在通信线路上数据是以比特流的形式串行传输的，但在计算机内部数据的传输则是以字节（或若干个字节）为单位并行传输的。因此，必须在计算机的内存中设置一定容量的缓冲区，以便</a:t>
            </a:r>
            <a:r>
              <a:rPr lang="zh-CN" altLang="zh-CN" b="1">
                <a:solidFill>
                  <a:srgbClr val="0000FF"/>
                </a:solidFill>
                <a:latin typeface="Times New Roman" panose="02020603050405020304" pitchFamily="18" charset="0"/>
              </a:rPr>
              <a:t>解决数据传输速率不一致的矛盾</a:t>
            </a:r>
            <a:r>
              <a:rPr lang="zh-CN" altLang="zh-CN">
                <a:latin typeface="Times New Roman" panose="02020603050405020304" pitchFamily="18" charset="0"/>
              </a:rPr>
              <a:t>。</a:t>
            </a:r>
          </a:p>
        </p:txBody>
      </p:sp>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a:t>补充说明</a:t>
            </a:r>
          </a:p>
        </p:txBody>
      </p:sp>
      <p:sp>
        <p:nvSpPr>
          <p:cNvPr id="10243" name="内容占位符 2"/>
          <p:cNvSpPr>
            <a:spLocks noGrp="1"/>
          </p:cNvSpPr>
          <p:nvPr>
            <p:ph idx="1"/>
          </p:nvPr>
        </p:nvSpPr>
        <p:spPr/>
        <p:txBody>
          <a:bodyPr/>
          <a:lstStyle/>
          <a:p>
            <a:r>
              <a:rPr lang="zh-CN" altLang="zh-CN" b="1"/>
              <a:t>图上</a:t>
            </a:r>
            <a:r>
              <a:rPr lang="zh-CN" altLang="zh-CN"/>
              <a:t>所示的简化模型对于一个计算机网络中任意一条链路上的数据传输情况都是适用的。</a:t>
            </a:r>
            <a:endParaRPr lang="en-US" altLang="zh-CN"/>
          </a:p>
          <a:p>
            <a:r>
              <a:rPr lang="zh-CN" altLang="zh-CN"/>
              <a:t>在网络内部，各交换结点的数据链路层的上面只有一个网络层。对于这种交换结点，网络层就相当于简化模型中的主机。</a:t>
            </a:r>
            <a:endParaRPr lang="zh-CN" altLang="en-US"/>
          </a:p>
        </p:txBody>
      </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a:t>补充说明（续）</a:t>
            </a:r>
          </a:p>
        </p:txBody>
      </p:sp>
      <p:sp>
        <p:nvSpPr>
          <p:cNvPr id="11267" name="内容占位符 2"/>
          <p:cNvSpPr>
            <a:spLocks noGrp="1"/>
          </p:cNvSpPr>
          <p:nvPr>
            <p:ph idx="1"/>
          </p:nvPr>
        </p:nvSpPr>
        <p:spPr/>
        <p:txBody>
          <a:bodyPr/>
          <a:lstStyle/>
          <a:p>
            <a:r>
              <a:rPr lang="zh-CN" altLang="zh-CN"/>
              <a:t>为了深入理解数据链路层的协议，我们先从一种</a:t>
            </a:r>
            <a:r>
              <a:rPr lang="zh-CN" altLang="zh-CN" b="1"/>
              <a:t>假想的、完全理想化的数据传输过程</a:t>
            </a:r>
            <a:r>
              <a:rPr lang="zh-CN" altLang="zh-CN"/>
              <a:t>开始讨论</a:t>
            </a:r>
            <a:endParaRPr lang="en-US" altLang="zh-CN"/>
          </a:p>
          <a:p>
            <a:r>
              <a:rPr lang="zh-CN" altLang="zh-CN"/>
              <a:t>下面即可看出，对于这种完全理想化的数据传输，</a:t>
            </a:r>
            <a:r>
              <a:rPr lang="zh-CN" altLang="zh-CN" b="1"/>
              <a:t>数据链路层协议是根本不需要的</a:t>
            </a:r>
            <a:endParaRPr lang="zh-CN" altLang="en-US"/>
          </a:p>
        </p:txBody>
      </p:sp>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a:t>假定</a:t>
            </a:r>
          </a:p>
        </p:txBody>
      </p:sp>
      <p:sp>
        <p:nvSpPr>
          <p:cNvPr id="12291" name="内容占位符 2"/>
          <p:cNvSpPr>
            <a:spLocks noGrp="1"/>
          </p:cNvSpPr>
          <p:nvPr>
            <p:ph idx="1"/>
          </p:nvPr>
        </p:nvSpPr>
        <p:spPr>
          <a:xfrm>
            <a:off x="246744" y="1784350"/>
            <a:ext cx="11742056" cy="3571875"/>
          </a:xfrm>
        </p:spPr>
        <p:txBody>
          <a:bodyPr/>
          <a:lstStyle/>
          <a:p>
            <a:r>
              <a:rPr lang="zh-CN" altLang="zh-CN"/>
              <a:t>为了和后面的讨论相衔接，我们假定数据</a:t>
            </a:r>
            <a:r>
              <a:rPr lang="zh-CN" altLang="zh-CN" b="1"/>
              <a:t>传输是以帧为单位</a:t>
            </a:r>
            <a:r>
              <a:rPr lang="zh-CN" altLang="zh-CN"/>
              <a:t>。</a:t>
            </a:r>
          </a:p>
          <a:p>
            <a:r>
              <a:rPr lang="zh-CN" altLang="zh-CN" b="1"/>
              <a:t>假定</a:t>
            </a:r>
            <a:r>
              <a:rPr lang="en-US" altLang="zh-CN" b="1"/>
              <a:t>1</a:t>
            </a:r>
            <a:r>
              <a:rPr lang="zh-CN" altLang="zh-CN"/>
              <a:t>：链路是理想的传输信道，所传送的任何数据既</a:t>
            </a:r>
            <a:r>
              <a:rPr lang="zh-CN" altLang="zh-CN" b="1"/>
              <a:t>不会出差错也不会丢失</a:t>
            </a:r>
            <a:r>
              <a:rPr lang="zh-CN" altLang="zh-CN"/>
              <a:t>。</a:t>
            </a:r>
          </a:p>
          <a:p>
            <a:r>
              <a:rPr lang="zh-CN" altLang="zh-CN" b="1"/>
              <a:t>假定</a:t>
            </a:r>
            <a:r>
              <a:rPr lang="en-US" altLang="zh-CN" b="1"/>
              <a:t>2</a:t>
            </a:r>
            <a:r>
              <a:rPr lang="zh-CN" altLang="zh-CN"/>
              <a:t>：不管发方以多快的速率发送数据，</a:t>
            </a:r>
            <a:r>
              <a:rPr lang="zh-CN" altLang="zh-CN" b="1"/>
              <a:t>收方总是来得及收下，并及时上交主机</a:t>
            </a:r>
            <a:r>
              <a:rPr lang="zh-CN" altLang="zh-CN"/>
              <a:t>。</a:t>
            </a:r>
            <a:endParaRPr lang="zh-CN" altLang="en-US"/>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a:t>说明</a:t>
            </a:r>
          </a:p>
        </p:txBody>
      </p:sp>
      <p:sp>
        <p:nvSpPr>
          <p:cNvPr id="13315" name="内容占位符 2"/>
          <p:cNvSpPr>
            <a:spLocks noGrp="1"/>
          </p:cNvSpPr>
          <p:nvPr>
            <p:ph idx="1"/>
          </p:nvPr>
        </p:nvSpPr>
        <p:spPr>
          <a:xfrm>
            <a:off x="723900" y="1287462"/>
            <a:ext cx="10985499" cy="4283075"/>
          </a:xfrm>
        </p:spPr>
        <p:txBody>
          <a:bodyPr/>
          <a:lstStyle/>
          <a:p>
            <a:r>
              <a:rPr lang="zh-CN" altLang="zh-CN" sz="2800"/>
              <a:t>第一个假定很容易理解。对</a:t>
            </a:r>
            <a:r>
              <a:rPr lang="zh-CN" altLang="zh-CN" sz="2800" b="1"/>
              <a:t>第二个假定则需加以解释。</a:t>
            </a:r>
            <a:endParaRPr lang="zh-CN" altLang="zh-CN" sz="2800"/>
          </a:p>
          <a:p>
            <a:r>
              <a:rPr lang="zh-CN" altLang="zh-CN" sz="2800"/>
              <a:t>我们假设主机</a:t>
            </a:r>
            <a:r>
              <a:rPr lang="en-US" altLang="zh-CN" sz="2800"/>
              <a:t>A</a:t>
            </a:r>
            <a:r>
              <a:rPr lang="zh-CN" altLang="zh-CN" sz="2800"/>
              <a:t>连续不断地向主机</a:t>
            </a:r>
            <a:r>
              <a:rPr lang="en-US" altLang="zh-CN" sz="2800"/>
              <a:t>B</a:t>
            </a:r>
            <a:r>
              <a:rPr lang="zh-CN" altLang="zh-CN" sz="2800"/>
              <a:t>发送数据。在收方，主机</a:t>
            </a:r>
            <a:r>
              <a:rPr lang="en-US" altLang="zh-CN" sz="2800"/>
              <a:t>B</a:t>
            </a:r>
            <a:r>
              <a:rPr lang="zh-CN" altLang="zh-CN" sz="2800"/>
              <a:t>的链路层也就将收到的数据一帧接一帧地交给主机</a:t>
            </a:r>
            <a:r>
              <a:rPr lang="en-US" altLang="zh-CN" sz="2800"/>
              <a:t>B</a:t>
            </a:r>
            <a:r>
              <a:rPr lang="zh-CN" altLang="zh-CN" sz="2800"/>
              <a:t>。在理想情况下，收方链路层的缓冲区每存满一帧就向主机</a:t>
            </a:r>
            <a:r>
              <a:rPr lang="en-US" altLang="zh-CN" sz="2800"/>
              <a:t>B</a:t>
            </a:r>
            <a:r>
              <a:rPr lang="zh-CN" altLang="zh-CN" sz="2800"/>
              <a:t>交付一帧。如果没有专门的流量控制协议，则收方并没有办法控制发方的发送速率，而收方也很难做到和发方绝对精确同步。</a:t>
            </a:r>
            <a:endParaRPr lang="en-US" altLang="zh-CN" sz="2800"/>
          </a:p>
          <a:p>
            <a:r>
              <a:rPr lang="zh-CN" altLang="zh-CN" sz="2800" b="1"/>
              <a:t>当收方链路层向主机交付数据的速率略低于发方发送数据的速率时，缓冲区暂时存放的数据帧就会逐渐堆积起来，最后造成缓冲区溢出和数据帧丢失。</a:t>
            </a:r>
            <a:endParaRPr lang="zh-CN" altLang="en-US" sz="2800"/>
          </a:p>
        </p:txBody>
      </p:sp>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a:t>说明（续）</a:t>
            </a:r>
          </a:p>
        </p:txBody>
      </p:sp>
      <p:sp>
        <p:nvSpPr>
          <p:cNvPr id="14339" name="内容占位符 2"/>
          <p:cNvSpPr>
            <a:spLocks noGrp="1"/>
          </p:cNvSpPr>
          <p:nvPr>
            <p:ph idx="1"/>
          </p:nvPr>
        </p:nvSpPr>
        <p:spPr>
          <a:xfrm>
            <a:off x="611718" y="1543050"/>
            <a:ext cx="10966449" cy="3571875"/>
          </a:xfrm>
        </p:spPr>
        <p:txBody>
          <a:bodyPr/>
          <a:lstStyle/>
          <a:p>
            <a:r>
              <a:rPr lang="zh-CN" altLang="zh-CN" sz="2800"/>
              <a:t>因此，上述第二个假定就相当于认为</a:t>
            </a:r>
            <a:endParaRPr lang="en-US" altLang="zh-CN" sz="2800"/>
          </a:p>
          <a:p>
            <a:pPr lvl="1"/>
            <a:r>
              <a:rPr lang="zh-CN" altLang="zh-CN"/>
              <a:t>（</a:t>
            </a:r>
            <a:r>
              <a:rPr lang="en-US" altLang="zh-CN"/>
              <a:t>1</a:t>
            </a:r>
            <a:r>
              <a:rPr lang="zh-CN" altLang="zh-CN"/>
              <a:t>）</a:t>
            </a:r>
            <a:r>
              <a:rPr lang="zh-CN" altLang="zh-CN" b="1"/>
              <a:t>接收缓冲区的容量为无限大而永远不会溢出</a:t>
            </a:r>
            <a:endParaRPr lang="en-US" altLang="zh-CN" b="1"/>
          </a:p>
          <a:p>
            <a:pPr lvl="1"/>
            <a:r>
              <a:rPr lang="zh-CN" altLang="zh-CN"/>
              <a:t>（</a:t>
            </a:r>
            <a:r>
              <a:rPr lang="en-US" altLang="zh-CN"/>
              <a:t>2</a:t>
            </a:r>
            <a:r>
              <a:rPr lang="zh-CN" altLang="zh-CN"/>
              <a:t>）</a:t>
            </a:r>
            <a:r>
              <a:rPr lang="zh-CN" altLang="zh-CN" b="1"/>
              <a:t>接收速率与发送速率绝对精确相等</a:t>
            </a:r>
            <a:r>
              <a:rPr lang="zh-CN" altLang="zh-CN"/>
              <a:t>。</a:t>
            </a:r>
          </a:p>
          <a:p>
            <a:r>
              <a:rPr lang="zh-CN" altLang="zh-CN" sz="2800"/>
              <a:t>在这样</a:t>
            </a:r>
            <a:r>
              <a:rPr lang="zh-CN" altLang="zh-CN" sz="2800" b="1"/>
              <a:t>理想化</a:t>
            </a:r>
            <a:r>
              <a:rPr lang="zh-CN" altLang="zh-CN" sz="2800"/>
              <a:t>的条件下，数据链路层当然就</a:t>
            </a:r>
            <a:r>
              <a:rPr lang="zh-CN" altLang="zh-CN" sz="2800" b="1"/>
              <a:t>不需要任何协议</a:t>
            </a:r>
            <a:r>
              <a:rPr lang="zh-CN" altLang="zh-CN" sz="2800"/>
              <a:t>就可以保证数据传输的正确。</a:t>
            </a:r>
            <a:endParaRPr lang="zh-CN" altLang="en-US" sz="2800"/>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sz="3200"/>
              <a:t>二、具有最简单流量控制的数据链路层协议</a:t>
            </a:r>
          </a:p>
        </p:txBody>
      </p:sp>
      <p:sp>
        <p:nvSpPr>
          <p:cNvPr id="15363" name="内容占位符 2"/>
          <p:cNvSpPr>
            <a:spLocks noGrp="1"/>
          </p:cNvSpPr>
          <p:nvPr>
            <p:ph idx="1"/>
          </p:nvPr>
        </p:nvSpPr>
        <p:spPr>
          <a:xfrm>
            <a:off x="487893" y="1390650"/>
            <a:ext cx="11214100" cy="4711700"/>
          </a:xfrm>
        </p:spPr>
        <p:txBody>
          <a:bodyPr/>
          <a:lstStyle/>
          <a:p>
            <a:r>
              <a:rPr lang="zh-CN" altLang="zh-CN" sz="2400" b="1"/>
              <a:t>去掉上述第二个假定，保留第一个假定，</a:t>
            </a:r>
            <a:r>
              <a:rPr lang="zh-CN" altLang="zh-CN" sz="2400"/>
              <a:t>即主机</a:t>
            </a:r>
            <a:r>
              <a:rPr lang="en-US" altLang="zh-CN" sz="2400"/>
              <a:t>A</a:t>
            </a:r>
            <a:r>
              <a:rPr lang="zh-CN" altLang="zh-CN" sz="2400"/>
              <a:t>向主机</a:t>
            </a:r>
            <a:r>
              <a:rPr lang="en-US" altLang="zh-CN" sz="2400"/>
              <a:t>B</a:t>
            </a:r>
            <a:r>
              <a:rPr lang="zh-CN" altLang="zh-CN" sz="2400"/>
              <a:t>传输数据的信道仍然是</a:t>
            </a:r>
            <a:r>
              <a:rPr lang="zh-CN" altLang="zh-CN" sz="2400" b="1"/>
              <a:t>无差错的理想信道</a:t>
            </a:r>
            <a:r>
              <a:rPr lang="zh-CN" altLang="zh-CN" sz="2400"/>
              <a:t>。</a:t>
            </a:r>
          </a:p>
          <a:p>
            <a:r>
              <a:rPr lang="zh-CN" altLang="zh-CN" sz="2400"/>
              <a:t>为了使收方的接收缓冲区在任何情况下都不会溢出，在最简单的情况下，就是发方每发送一帧就暂时停下来。收方收到数据帧后就交付给主机，然后发一信息给发方，表示接收的任务已经完成。这时，发方才再发送下一个数据帧。在这种情况下，收方的接收缓冲区的大小只要能够装得下一个数据帧即可。</a:t>
            </a:r>
            <a:endParaRPr lang="en-US" altLang="zh-CN" sz="2400"/>
          </a:p>
          <a:p>
            <a:r>
              <a:rPr lang="zh-CN" altLang="zh-CN" sz="2400"/>
              <a:t>显然，用这样的方法收发双方能够同步得很好，</a:t>
            </a:r>
            <a:r>
              <a:rPr lang="zh-CN" altLang="zh-CN" sz="2400" b="1"/>
              <a:t>发方发送数据的流量受收方的控制</a:t>
            </a:r>
            <a:r>
              <a:rPr lang="zh-CN" altLang="zh-CN" sz="2400"/>
              <a:t>。由收方控制发方的数据流量，乃是计算机网络中</a:t>
            </a:r>
            <a:r>
              <a:rPr lang="zh-CN" altLang="zh-CN" sz="2400" b="1"/>
              <a:t>流量控制（</a:t>
            </a:r>
            <a:r>
              <a:rPr lang="en-US" altLang="zh-CN" sz="2400" b="1"/>
              <a:t>flow control</a:t>
            </a:r>
            <a:r>
              <a:rPr lang="zh-CN" altLang="zh-CN" sz="2400" b="1"/>
              <a:t>）的一个基本方法。</a:t>
            </a:r>
            <a:endParaRPr lang="zh-CN" altLang="en-US" sz="2400"/>
          </a:p>
        </p:txBody>
      </p:sp>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内容占位符 2"/>
          <p:cNvSpPr>
            <a:spLocks noGrp="1"/>
          </p:cNvSpPr>
          <p:nvPr>
            <p:ph idx="1"/>
          </p:nvPr>
        </p:nvSpPr>
        <p:spPr>
          <a:xfrm>
            <a:off x="514464" y="1480457"/>
            <a:ext cx="11161485" cy="4803095"/>
          </a:xfrm>
        </p:spPr>
        <p:txBody>
          <a:bodyPr/>
          <a:lstStyle/>
          <a:p>
            <a:r>
              <a:rPr lang="zh-CN" altLang="zh-CN" sz="2800" b="1"/>
              <a:t>在发送结点：</a:t>
            </a:r>
            <a:endParaRPr lang="zh-CN" altLang="zh-CN" sz="2800"/>
          </a:p>
          <a:p>
            <a:r>
              <a:rPr lang="en-US" altLang="zh-CN" sz="2800"/>
              <a:t> (1</a:t>
            </a:r>
            <a:r>
              <a:rPr lang="zh-CN" altLang="zh-CN" sz="2800"/>
              <a:t>）从主机取一个数据帧；</a:t>
            </a:r>
          </a:p>
          <a:p>
            <a:r>
              <a:rPr lang="zh-CN" altLang="zh-CN" sz="2800"/>
              <a:t>（</a:t>
            </a:r>
            <a:r>
              <a:rPr lang="en-US" altLang="zh-CN" sz="2800"/>
              <a:t>2</a:t>
            </a:r>
            <a:r>
              <a:rPr lang="zh-CN" altLang="zh-CN" sz="2800"/>
              <a:t>）将数据帧送到数据链路层的发送缓冲区；</a:t>
            </a:r>
          </a:p>
          <a:p>
            <a:r>
              <a:rPr lang="zh-CN" altLang="zh-CN" sz="2800"/>
              <a:t>（</a:t>
            </a:r>
            <a:r>
              <a:rPr lang="en-US" altLang="zh-CN" sz="2800"/>
              <a:t>3</a:t>
            </a:r>
            <a:r>
              <a:rPr lang="zh-CN" altLang="zh-CN" sz="2800"/>
              <a:t>）将发送缓冲区中的数据帧发送出去；</a:t>
            </a:r>
          </a:p>
          <a:p>
            <a:r>
              <a:rPr lang="zh-CN" altLang="zh-CN" sz="2800"/>
              <a:t>（</a:t>
            </a:r>
            <a:r>
              <a:rPr lang="en-US" altLang="zh-CN" sz="2800"/>
              <a:t>4</a:t>
            </a:r>
            <a:r>
              <a:rPr lang="zh-CN" altLang="zh-CN" sz="2800"/>
              <a:t>）等待；</a:t>
            </a:r>
          </a:p>
          <a:p>
            <a:r>
              <a:rPr lang="zh-CN" altLang="zh-CN" sz="2800"/>
              <a:t>（</a:t>
            </a:r>
            <a:r>
              <a:rPr lang="en-US" altLang="zh-CN" sz="2800"/>
              <a:t>5</a:t>
            </a:r>
            <a:r>
              <a:rPr lang="zh-CN" altLang="zh-CN" sz="2800"/>
              <a:t>）若收到由接收结点发过来的信息（此信息的格式与内容可由双方事先商定好），则从主机取一个新的数据帧，然后转到（</a:t>
            </a:r>
            <a:r>
              <a:rPr lang="en-US" altLang="zh-CN" sz="2800"/>
              <a:t>2</a:t>
            </a:r>
            <a:r>
              <a:rPr lang="zh-CN" altLang="zh-CN" sz="2800"/>
              <a:t>）。</a:t>
            </a:r>
            <a:endParaRPr lang="zh-CN" altLang="en-US" sz="2800"/>
          </a:p>
        </p:txBody>
      </p:sp>
      <p:sp>
        <p:nvSpPr>
          <p:cNvPr id="6" name="标题 1"/>
          <p:cNvSpPr>
            <a:spLocks noGrp="1"/>
          </p:cNvSpPr>
          <p:nvPr>
            <p:ph type="title"/>
          </p:nvPr>
        </p:nvSpPr>
        <p:spPr>
          <a:xfrm>
            <a:off x="2066926" y="222250"/>
            <a:ext cx="8056563" cy="630238"/>
          </a:xfrm>
        </p:spPr>
        <p:txBody>
          <a:bodyPr/>
          <a:lstStyle/>
          <a:p>
            <a:r>
              <a:rPr lang="zh-CN" altLang="en-US" sz="3200"/>
              <a:t>二、具有最简单流量控制的数据链路层协议</a:t>
            </a:r>
          </a:p>
        </p:txBody>
      </p:sp>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sz="3200"/>
              <a:t>二、具有最简单流量控制的数据链路层协议</a:t>
            </a:r>
          </a:p>
        </p:txBody>
      </p:sp>
      <p:sp>
        <p:nvSpPr>
          <p:cNvPr id="17411" name="内容占位符 2"/>
          <p:cNvSpPr>
            <a:spLocks noGrp="1"/>
          </p:cNvSpPr>
          <p:nvPr>
            <p:ph idx="1"/>
          </p:nvPr>
        </p:nvSpPr>
        <p:spPr>
          <a:xfrm>
            <a:off x="723901" y="1390650"/>
            <a:ext cx="11202986" cy="4273550"/>
          </a:xfrm>
        </p:spPr>
        <p:txBody>
          <a:bodyPr/>
          <a:lstStyle/>
          <a:p>
            <a:r>
              <a:rPr lang="zh-CN" altLang="en-US" sz="2800"/>
              <a:t>在接收结点</a:t>
            </a:r>
            <a:endParaRPr lang="en-US" altLang="zh-CN" sz="2800"/>
          </a:p>
          <a:p>
            <a:r>
              <a:rPr lang="zh-CN" altLang="zh-CN" sz="2800"/>
              <a:t>（</a:t>
            </a:r>
            <a:r>
              <a:rPr lang="en-US" altLang="zh-CN" sz="2800"/>
              <a:t>l</a:t>
            </a:r>
            <a:r>
              <a:rPr lang="zh-CN" altLang="zh-CN" sz="2800"/>
              <a:t>）等待；</a:t>
            </a:r>
          </a:p>
          <a:p>
            <a:r>
              <a:rPr lang="zh-CN" altLang="zh-CN" sz="2800"/>
              <a:t>（</a:t>
            </a:r>
            <a:r>
              <a:rPr lang="en-US" altLang="zh-CN" sz="2800"/>
              <a:t>2</a:t>
            </a:r>
            <a:r>
              <a:rPr lang="zh-CN" altLang="zh-CN" sz="2800"/>
              <a:t>）若收到由发送结点发过来的数据帧，则将其放入数据链路层的接收缓冲区；</a:t>
            </a:r>
          </a:p>
          <a:p>
            <a:r>
              <a:rPr lang="zh-CN" altLang="zh-CN" sz="2800"/>
              <a:t>（</a:t>
            </a:r>
            <a:r>
              <a:rPr lang="en-US" altLang="zh-CN" sz="2800"/>
              <a:t>3</a:t>
            </a:r>
            <a:r>
              <a:rPr lang="zh-CN" altLang="zh-CN" sz="2800"/>
              <a:t>）将接收缓冲区中的数据帧上交主机；</a:t>
            </a:r>
          </a:p>
          <a:p>
            <a:r>
              <a:rPr lang="zh-CN" altLang="zh-CN" sz="2800"/>
              <a:t>（</a:t>
            </a:r>
            <a:r>
              <a:rPr lang="en-US" altLang="zh-CN" sz="2800"/>
              <a:t>4</a:t>
            </a:r>
            <a:r>
              <a:rPr lang="zh-CN" altLang="zh-CN" sz="2800"/>
              <a:t>）向发送结点发一信息，表示数据帧已经上交给主机；</a:t>
            </a:r>
          </a:p>
          <a:p>
            <a:r>
              <a:rPr lang="zh-CN" altLang="zh-CN" sz="2800"/>
              <a:t>（</a:t>
            </a:r>
            <a:r>
              <a:rPr lang="en-US" altLang="zh-CN" sz="2800"/>
              <a:t>5</a:t>
            </a:r>
            <a:r>
              <a:rPr lang="zh-CN" altLang="zh-CN" sz="2800"/>
              <a:t>）转到（</a:t>
            </a:r>
            <a:r>
              <a:rPr lang="en-US" altLang="zh-CN" sz="2800"/>
              <a:t>l</a:t>
            </a:r>
            <a:r>
              <a:rPr lang="zh-CN" altLang="zh-CN" sz="2800"/>
              <a:t>）。</a:t>
            </a:r>
          </a:p>
          <a:p>
            <a:endParaRPr lang="zh-CN" altLang="en-US" sz="2800"/>
          </a:p>
        </p:txBody>
      </p:sp>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sz="3600"/>
              <a:t>两种情况对比</a:t>
            </a:r>
          </a:p>
        </p:txBody>
      </p:sp>
      <p:sp>
        <p:nvSpPr>
          <p:cNvPr id="18435" name="Rectangle 2"/>
          <p:cNvSpPr>
            <a:spLocks noChangeArrowheads="1"/>
          </p:cNvSpPr>
          <p:nvPr/>
        </p:nvSpPr>
        <p:spPr bwMode="auto">
          <a:xfrm>
            <a:off x="1524001" y="-330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18436" name="Rectangle 3"/>
          <p:cNvSpPr>
            <a:spLocks noChangeArrowheads="1"/>
          </p:cNvSpPr>
          <p:nvPr/>
        </p:nvSpPr>
        <p:spPr bwMode="auto">
          <a:xfrm>
            <a:off x="1933576" y="5959475"/>
            <a:ext cx="87344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6700">
              <a:spcBef>
                <a:spcPct val="20000"/>
              </a:spcBef>
              <a:buClr>
                <a:schemeClr val="folHlink"/>
              </a:buClr>
              <a:buSzPct val="60000"/>
              <a:buFont typeface="Wingdings" panose="05000000000000000000" pitchFamily="2" charset="2"/>
              <a:buChar char="n"/>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宋体" panose="02010600030101010101" pitchFamily="2" charset="-122"/>
                <a:ea typeface="宋体" panose="02010600030101010101" pitchFamily="2" charset="-122"/>
              </a:defRPr>
            </a:lvl9pPr>
          </a:lstStyle>
          <a:p>
            <a:pPr algn="ctr">
              <a:spcBef>
                <a:spcPct val="0"/>
              </a:spcBef>
              <a:buClrTx/>
              <a:buSzTx/>
              <a:buFontTx/>
              <a:buNone/>
            </a:pPr>
            <a:r>
              <a:rPr lang="en-US" altLang="zh-CN" sz="1600">
                <a:latin typeface="Times New Roman" panose="02020603050405020304" pitchFamily="18" charset="0"/>
              </a:rPr>
              <a:t>        </a:t>
            </a:r>
            <a:endParaRPr lang="en-US" altLang="zh-CN" sz="1400">
              <a:latin typeface="Times New Roman" panose="02020603050405020304" pitchFamily="18" charset="0"/>
            </a:endParaRPr>
          </a:p>
          <a:p>
            <a:pPr algn="ctr">
              <a:spcBef>
                <a:spcPct val="0"/>
              </a:spcBef>
              <a:buClrTx/>
              <a:buSzTx/>
              <a:buFontTx/>
              <a:buNone/>
            </a:pPr>
            <a:r>
              <a:rPr lang="zh-CN" altLang="en-US" sz="1600" b="1">
                <a:solidFill>
                  <a:srgbClr val="FF0000"/>
                </a:solidFill>
                <a:latin typeface="Times New Roman" panose="02020603050405020304" pitchFamily="18" charset="0"/>
              </a:rPr>
              <a:t>图（</a:t>
            </a:r>
            <a:r>
              <a:rPr lang="en-US" altLang="zh-CN" sz="1600" b="1">
                <a:solidFill>
                  <a:srgbClr val="FF0000"/>
                </a:solidFill>
                <a:latin typeface="Times New Roman" panose="02020603050405020304" pitchFamily="18" charset="0"/>
              </a:rPr>
              <a:t>a</a:t>
            </a:r>
            <a:r>
              <a:rPr lang="zh-CN" altLang="en-US" sz="1600" b="1">
                <a:solidFill>
                  <a:srgbClr val="FF0000"/>
                </a:solidFill>
                <a:latin typeface="Times New Roman" panose="02020603050405020304" pitchFamily="18" charset="0"/>
              </a:rPr>
              <a:t>）</a:t>
            </a:r>
            <a:r>
              <a:rPr lang="zh-CN" altLang="en-US" sz="1600" b="1">
                <a:solidFill>
                  <a:srgbClr val="000000"/>
                </a:solidFill>
                <a:latin typeface="Times New Roman" panose="02020603050405020304" pitchFamily="18" charset="0"/>
              </a:rPr>
              <a:t>不需要任何数据键路层协议的数据传输</a:t>
            </a:r>
            <a:r>
              <a:rPr lang="zh-CN" altLang="en-US" sz="1600" b="1">
                <a:solidFill>
                  <a:srgbClr val="FF0000"/>
                </a:solidFill>
                <a:latin typeface="Times New Roman" panose="02020603050405020304" pitchFamily="18" charset="0"/>
              </a:rPr>
              <a:t>（</a:t>
            </a:r>
            <a:r>
              <a:rPr lang="en-US" altLang="zh-CN" sz="1600" b="1">
                <a:solidFill>
                  <a:srgbClr val="FF0000"/>
                </a:solidFill>
                <a:latin typeface="Times New Roman" panose="02020603050405020304" pitchFamily="18" charset="0"/>
              </a:rPr>
              <a:t>b</a:t>
            </a:r>
            <a:r>
              <a:rPr lang="zh-CN" altLang="en-US" sz="1600" b="1">
                <a:solidFill>
                  <a:srgbClr val="FF0000"/>
                </a:solidFill>
                <a:latin typeface="Times New Roman" panose="02020603050405020304" pitchFamily="18" charset="0"/>
              </a:rPr>
              <a:t>）</a:t>
            </a:r>
            <a:r>
              <a:rPr lang="zh-CN" altLang="en-US" sz="1600" b="1">
                <a:latin typeface="Times New Roman" panose="02020603050405020304" pitchFamily="18" charset="0"/>
              </a:rPr>
              <a:t>具有最简单流量控制的数据键路层协议</a:t>
            </a:r>
            <a:endParaRPr lang="zh-CN" altLang="en-US" sz="4800">
              <a:latin typeface="Times New Roman" panose="02020603050405020304" pitchFamily="18" charset="0"/>
            </a:endParaRPr>
          </a:p>
        </p:txBody>
      </p:sp>
      <p:sp>
        <p:nvSpPr>
          <p:cNvPr id="2" name="矩形 1"/>
          <p:cNvSpPr/>
          <p:nvPr/>
        </p:nvSpPr>
        <p:spPr>
          <a:xfrm>
            <a:off x="1933576" y="1778000"/>
            <a:ext cx="8715375" cy="3786188"/>
          </a:xfrm>
          <a:prstGeom prst="rect">
            <a:avLst/>
          </a:prstGeom>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a:r>
              <a:rPr lang="zh-CN" altLang="zh-CN" sz="2400" b="1">
                <a:solidFill>
                  <a:srgbClr val="FF0000"/>
                </a:solidFill>
              </a:rPr>
              <a:t>图</a:t>
            </a:r>
            <a:r>
              <a:rPr lang="zh-CN" altLang="zh-CN" sz="2400" b="1">
                <a:solidFill>
                  <a:srgbClr val="0000FF"/>
                </a:solidFill>
              </a:rPr>
              <a:t>（</a:t>
            </a:r>
            <a:r>
              <a:rPr lang="en-US" altLang="zh-CN" sz="2400" b="1">
                <a:solidFill>
                  <a:srgbClr val="0000FF"/>
                </a:solidFill>
              </a:rPr>
              <a:t>a</a:t>
            </a:r>
            <a:r>
              <a:rPr lang="zh-CN" altLang="zh-CN" sz="2400" b="1">
                <a:solidFill>
                  <a:srgbClr val="0000FF"/>
                </a:solidFill>
              </a:rPr>
              <a:t>）是不需要任何协议的理想化情况。</a:t>
            </a:r>
            <a:r>
              <a:rPr lang="zh-CN" altLang="zh-CN" sz="2400"/>
              <a:t>主机</a:t>
            </a:r>
            <a:r>
              <a:rPr lang="en-US" altLang="zh-CN" sz="2400"/>
              <a:t>A</a:t>
            </a:r>
            <a:r>
              <a:rPr lang="zh-CN" altLang="zh-CN" sz="2400"/>
              <a:t>将数据帧（图中用</a:t>
            </a:r>
            <a:r>
              <a:rPr lang="en-US" altLang="zh-CN" sz="2400"/>
              <a:t>DATA</a:t>
            </a:r>
            <a:r>
              <a:rPr lang="zh-CN" altLang="zh-CN" sz="2400"/>
              <a:t>表示）连续发出，而不管发送速率有多快，收方总能够跟得上，收到一帧即交付给主机</a:t>
            </a:r>
            <a:r>
              <a:rPr lang="en-US" altLang="zh-CN" sz="2400"/>
              <a:t>B</a:t>
            </a:r>
            <a:r>
              <a:rPr lang="zh-CN" altLang="zh-CN" sz="2400"/>
              <a:t>。显然，这种完全理想化情况的</a:t>
            </a:r>
            <a:r>
              <a:rPr lang="zh-CN" altLang="zh-CN" sz="2400" b="1">
                <a:solidFill>
                  <a:srgbClr val="0000FF"/>
                </a:solidFill>
              </a:rPr>
              <a:t>传输效率</a:t>
            </a:r>
            <a:r>
              <a:rPr lang="zh-CN" altLang="zh-CN" sz="2400"/>
              <a:t>是很</a:t>
            </a:r>
            <a:r>
              <a:rPr lang="zh-CN" altLang="zh-CN" sz="2400" b="1">
                <a:solidFill>
                  <a:srgbClr val="0000FF"/>
                </a:solidFill>
              </a:rPr>
              <a:t>高</a:t>
            </a:r>
            <a:r>
              <a:rPr lang="zh-CN" altLang="zh-CN" sz="2400"/>
              <a:t>的。</a:t>
            </a:r>
          </a:p>
          <a:p>
            <a:r>
              <a:rPr lang="zh-CN" altLang="zh-CN" sz="2400" b="1">
                <a:solidFill>
                  <a:srgbClr val="FF0000"/>
                </a:solidFill>
                <a:cs typeface="Times New Roman" panose="02020603050405020304" pitchFamily="18" charset="0"/>
              </a:rPr>
              <a:t>图</a:t>
            </a:r>
            <a:r>
              <a:rPr lang="zh-CN" altLang="zh-CN" sz="2400" b="1">
                <a:solidFill>
                  <a:srgbClr val="0000FF"/>
                </a:solidFill>
                <a:cs typeface="Times New Roman" panose="02020603050405020304" pitchFamily="18" charset="0"/>
              </a:rPr>
              <a:t>（</a:t>
            </a:r>
            <a:r>
              <a:rPr lang="en-US" altLang="zh-CN" sz="2400" b="1">
                <a:solidFill>
                  <a:srgbClr val="0000FF"/>
                </a:solidFill>
              </a:rPr>
              <a:t>b</a:t>
            </a:r>
            <a:r>
              <a:rPr lang="zh-CN" altLang="zh-CN" sz="2400" b="1">
                <a:solidFill>
                  <a:srgbClr val="0000FF"/>
                </a:solidFill>
                <a:cs typeface="Times New Roman" panose="02020603050405020304" pitchFamily="18" charset="0"/>
              </a:rPr>
              <a:t>）是由收方控制发方发送速率的情况。</a:t>
            </a:r>
            <a:r>
              <a:rPr lang="zh-CN" altLang="zh-CN" sz="2400">
                <a:cs typeface="Times New Roman" panose="02020603050405020304" pitchFamily="18" charset="0"/>
              </a:rPr>
              <a:t>发方每发完一帧就必须停下来，等待收方的信息。由于假定了数据在传输过程中不会出差错，因此收方将数据帧交给主机</a:t>
            </a:r>
            <a:r>
              <a:rPr lang="en-US" altLang="zh-CN" sz="2400"/>
              <a:t>B</a:t>
            </a:r>
            <a:r>
              <a:rPr lang="zh-CN" altLang="zh-CN" sz="2400">
                <a:cs typeface="Times New Roman" panose="02020603050405020304" pitchFamily="18" charset="0"/>
              </a:rPr>
              <a:t>后向发方主机</a:t>
            </a:r>
            <a:r>
              <a:rPr lang="en-US" altLang="zh-CN" sz="2400"/>
              <a:t>A</a:t>
            </a:r>
            <a:r>
              <a:rPr lang="zh-CN" altLang="zh-CN" sz="2400">
                <a:cs typeface="Times New Roman" panose="02020603050405020304" pitchFamily="18" charset="0"/>
              </a:rPr>
              <a:t>发送的信息，不需要有任何具体的内容，即不需要说明所收到的数据是否是正确无误的。这相当于</a:t>
            </a:r>
            <a:r>
              <a:rPr lang="zh-CN" altLang="zh-CN" sz="2400" b="1">
                <a:solidFill>
                  <a:srgbClr val="0000FF"/>
                </a:solidFill>
                <a:cs typeface="Times New Roman" panose="02020603050405020304" pitchFamily="18" charset="0"/>
              </a:rPr>
              <a:t>只要发回一个不需要装入任何信件的空信封就能起到流量控制的作用</a:t>
            </a:r>
            <a:r>
              <a:rPr lang="zh-CN" altLang="zh-CN" sz="2400">
                <a:cs typeface="Times New Roman" panose="02020603050405020304" pitchFamily="18" charset="0"/>
              </a:rPr>
              <a:t>。</a:t>
            </a:r>
            <a:endParaRPr lang="zh-CN" altLang="en-US" sz="2400"/>
          </a:p>
        </p:txBody>
      </p:sp>
      <p:pic>
        <p:nvPicPr>
          <p:cNvPr id="9" name="Picture 1" descr="stopwa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2" y="1600994"/>
            <a:ext cx="7685087" cy="416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fltVal val="0"/>
                                          </p:val>
                                        </p:tav>
                                        <p:tav tm="100000">
                                          <p:val>
                                            <p:strVal val="#ppt_h"/>
                                          </p:val>
                                        </p:tav>
                                      </p:tavLst>
                                    </p:anim>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a:t>三、实用的停止等待协议</a:t>
            </a:r>
          </a:p>
        </p:txBody>
      </p:sp>
      <p:sp>
        <p:nvSpPr>
          <p:cNvPr id="20483" name="内容占位符 2"/>
          <p:cNvSpPr>
            <a:spLocks noGrp="1"/>
          </p:cNvSpPr>
          <p:nvPr>
            <p:ph idx="1"/>
          </p:nvPr>
        </p:nvSpPr>
        <p:spPr/>
        <p:txBody>
          <a:bodyPr/>
          <a:lstStyle/>
          <a:p>
            <a:r>
              <a:rPr lang="zh-CN" altLang="zh-CN"/>
              <a:t>去掉前面的两个假定，讨论实用的数据链路层协议。这就是说，传输数据的</a:t>
            </a:r>
            <a:r>
              <a:rPr lang="zh-CN" altLang="zh-CN" b="1"/>
              <a:t>信道不是可靠的</a:t>
            </a:r>
            <a:r>
              <a:rPr lang="zh-CN" altLang="zh-CN"/>
              <a:t>（即不能保证所传的数据不产生差错），并且还</a:t>
            </a:r>
            <a:r>
              <a:rPr lang="zh-CN" altLang="zh-CN" b="1"/>
              <a:t>需要对数据的发送端进行流量控制</a:t>
            </a:r>
            <a:r>
              <a:rPr lang="zh-CN" altLang="zh-CN"/>
              <a:t>。</a:t>
            </a:r>
            <a:endParaRPr lang="en-US" altLang="zh-CN"/>
          </a:p>
          <a:p>
            <a:r>
              <a:rPr lang="zh-CN" altLang="en-US"/>
              <a:t>另外，我们还要进一步理解帧丢失和重复帧、死锁的问题。</a:t>
            </a:r>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zh-CN" sz="3600"/>
              <a:t>帧丢失</a:t>
            </a:r>
            <a:endParaRPr lang="zh-CN" altLang="en-US" sz="3600"/>
          </a:p>
        </p:txBody>
      </p:sp>
      <p:sp>
        <p:nvSpPr>
          <p:cNvPr id="3" name="内容占位符 2"/>
          <p:cNvSpPr>
            <a:spLocks noGrp="1"/>
          </p:cNvSpPr>
          <p:nvPr>
            <p:ph idx="1"/>
          </p:nvPr>
        </p:nvSpPr>
        <p:spPr/>
        <p:txBody>
          <a:bodyPr/>
          <a:lstStyle/>
          <a:p>
            <a:r>
              <a:rPr lang="zh-CN" altLang="zh-CN" sz="2800"/>
              <a:t>有时链路上的干扰很严重，结点</a:t>
            </a:r>
            <a:r>
              <a:rPr lang="en-US" altLang="zh-CN" sz="2800"/>
              <a:t>B</a:t>
            </a:r>
            <a:r>
              <a:rPr lang="zh-CN" altLang="zh-CN" sz="2800"/>
              <a:t>收不到结点</a:t>
            </a:r>
            <a:r>
              <a:rPr lang="en-US" altLang="zh-CN" sz="2800"/>
              <a:t>A</a:t>
            </a:r>
            <a:r>
              <a:rPr lang="zh-CN" altLang="zh-CN" sz="2800"/>
              <a:t>发来的数据帧。这种情况称为</a:t>
            </a:r>
            <a:r>
              <a:rPr lang="zh-CN" altLang="zh-CN" sz="2800" b="1"/>
              <a:t>帧丢失（图（</a:t>
            </a:r>
            <a:r>
              <a:rPr lang="en-US" altLang="zh-CN" sz="2800" b="1"/>
              <a:t>c</a:t>
            </a:r>
            <a:r>
              <a:rPr lang="zh-CN" altLang="zh-CN" sz="2800" b="1"/>
              <a:t>））</a:t>
            </a:r>
            <a:r>
              <a:rPr lang="zh-CN" altLang="zh-CN" sz="2800"/>
              <a:t>。发生帧丢失时结点</a:t>
            </a:r>
            <a:r>
              <a:rPr lang="en-US" altLang="zh-CN" sz="2800"/>
              <a:t>B</a:t>
            </a:r>
            <a:r>
              <a:rPr lang="zh-CN" altLang="zh-CN" sz="2800"/>
              <a:t>当然不会向结点</a:t>
            </a:r>
            <a:r>
              <a:rPr lang="en-US" altLang="zh-CN" sz="2800"/>
              <a:t>A</a:t>
            </a:r>
            <a:r>
              <a:rPr lang="zh-CN" altLang="zh-CN" sz="2800"/>
              <a:t>发送任何应答帧。</a:t>
            </a:r>
            <a:endParaRPr lang="en-US" altLang="zh-CN" sz="2800"/>
          </a:p>
          <a:p>
            <a:r>
              <a:rPr lang="zh-CN" altLang="zh-CN" sz="2800"/>
              <a:t>如果结点</a:t>
            </a:r>
            <a:r>
              <a:rPr lang="en-US" altLang="zh-CN" sz="2800"/>
              <a:t>A</a:t>
            </a:r>
            <a:r>
              <a:rPr lang="zh-CN" altLang="zh-CN" sz="2800"/>
              <a:t>要等收到结点</a:t>
            </a:r>
            <a:r>
              <a:rPr lang="en-US" altLang="zh-CN" sz="2800"/>
              <a:t>B</a:t>
            </a:r>
            <a:r>
              <a:rPr lang="zh-CN" altLang="zh-CN" sz="2800"/>
              <a:t>的应答信息后再发送下一个数据帧，那么就将永远等待下去。于是就出现了</a:t>
            </a:r>
            <a:r>
              <a:rPr lang="zh-CN" altLang="zh-CN" sz="2800" b="1"/>
              <a:t>死锁</a:t>
            </a:r>
            <a:r>
              <a:rPr lang="zh-CN" altLang="zh-CN" sz="2800"/>
              <a:t>现象。同理，若结点</a:t>
            </a:r>
            <a:r>
              <a:rPr lang="en-US" altLang="zh-CN" sz="2800"/>
              <a:t>B</a:t>
            </a:r>
            <a:r>
              <a:rPr lang="zh-CN" altLang="zh-CN" sz="2800"/>
              <a:t>发过来的</a:t>
            </a:r>
            <a:r>
              <a:rPr lang="zh-CN" altLang="zh-CN" sz="2800" b="1"/>
              <a:t>应答帧丢失</a:t>
            </a:r>
            <a:r>
              <a:rPr lang="zh-CN" altLang="zh-CN" sz="2800"/>
              <a:t>，也会</a:t>
            </a:r>
            <a:r>
              <a:rPr lang="zh-CN" altLang="zh-CN" sz="2800" b="1"/>
              <a:t>同样</a:t>
            </a:r>
            <a:r>
              <a:rPr lang="zh-CN" altLang="zh-CN" sz="2800"/>
              <a:t>出现这种</a:t>
            </a:r>
            <a:r>
              <a:rPr lang="zh-CN" altLang="zh-CN" sz="2800" b="1"/>
              <a:t>死锁</a:t>
            </a:r>
            <a:r>
              <a:rPr lang="zh-CN" altLang="zh-CN" sz="2800"/>
              <a:t>现象。</a:t>
            </a:r>
            <a:endParaRPr lang="zh-CN" altLang="en-US" sz="28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xit" presetSubtype="4" fill="hold" grpId="1" nodeType="clickEffect">
                                  <p:stCondLst>
                                    <p:cond delay="0"/>
                                  </p:stCondLst>
                                  <p:childTnLst>
                                    <p:anim calcmode="lin" valueType="num">
                                      <p:cBhvr additive="base">
                                        <p:cTn id="14" dur="500"/>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p:tgtEl>
                                          <p:spTgt spid="3">
                                            <p:txEl>
                                              <p:pRg st="0" end="0"/>
                                            </p:txEl>
                                          </p:spTgt>
                                        </p:tgtEl>
                                        <p:attrNameLst>
                                          <p:attrName>ppt_y</p:attrName>
                                        </p:attrNameLst>
                                      </p:cBhvr>
                                      <p:tavLst>
                                        <p:tav tm="0">
                                          <p:val>
                                            <p:strVal val="ppt_y"/>
                                          </p:val>
                                        </p:tav>
                                        <p:tav tm="100000">
                                          <p:val>
                                            <p:strVal val="1+ppt_h/2"/>
                                          </p:val>
                                        </p:tav>
                                      </p:tavLst>
                                    </p:anim>
                                    <p:set>
                                      <p:cBhvr>
                                        <p:cTn id="16"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xit" presetSubtype="4" fill="hold" grpId="1" nodeType="clickEffect">
                                  <p:stCondLst>
                                    <p:cond delay="0"/>
                                  </p:stCondLst>
                                  <p:childTnLst>
                                    <p:anim calcmode="lin" valueType="num">
                                      <p:cBhvr additive="base">
                                        <p:cTn id="20" dur="500"/>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p:tgtEl>
                                          <p:spTgt spid="3">
                                            <p:txEl>
                                              <p:pRg st="1" end="1"/>
                                            </p:txEl>
                                          </p:spTgt>
                                        </p:tgtEl>
                                        <p:attrNameLst>
                                          <p:attrName>ppt_y</p:attrName>
                                        </p:attrNameLst>
                                      </p:cBhvr>
                                      <p:tavLst>
                                        <p:tav tm="0">
                                          <p:val>
                                            <p:strVal val="ppt_y"/>
                                          </p:val>
                                        </p:tav>
                                        <p:tav tm="100000">
                                          <p:val>
                                            <p:strVal val="1+ppt_h/2"/>
                                          </p:val>
                                        </p:tav>
                                      </p:tavLst>
                                    </p:anim>
                                    <p:set>
                                      <p:cBhvr>
                                        <p:cTn id="22" dur="1" fill="hold">
                                          <p:stCondLst>
                                            <p:cond delay="499"/>
                                          </p:stCondLst>
                                        </p:cTn>
                                        <p:tgtEl>
                                          <p:spTgt spid="3">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zh-CN" sz="4000"/>
              <a:t>重复帧</a:t>
            </a:r>
            <a:endParaRPr lang="zh-CN" altLang="en-US" sz="4000"/>
          </a:p>
        </p:txBody>
      </p:sp>
      <p:sp>
        <p:nvSpPr>
          <p:cNvPr id="28675" name="内容占位符 2"/>
          <p:cNvSpPr>
            <a:spLocks noGrp="1"/>
          </p:cNvSpPr>
          <p:nvPr>
            <p:ph idx="1"/>
          </p:nvPr>
        </p:nvSpPr>
        <p:spPr>
          <a:xfrm>
            <a:off x="419100" y="1784350"/>
            <a:ext cx="11518900" cy="4025900"/>
          </a:xfrm>
        </p:spPr>
        <p:txBody>
          <a:bodyPr/>
          <a:lstStyle/>
          <a:p>
            <a:r>
              <a:rPr lang="zh-CN" altLang="zh-CN" sz="2800" b="1"/>
              <a:t>还有问题：</a:t>
            </a:r>
            <a:r>
              <a:rPr lang="zh-CN" altLang="zh-CN" sz="2800"/>
              <a:t>若</a:t>
            </a:r>
            <a:r>
              <a:rPr lang="zh-CN" altLang="zh-CN" sz="2800" b="1"/>
              <a:t>丢失</a:t>
            </a:r>
            <a:r>
              <a:rPr lang="zh-CN" altLang="zh-CN" sz="2800"/>
              <a:t>的是</a:t>
            </a:r>
            <a:r>
              <a:rPr lang="zh-CN" altLang="zh-CN" sz="2800" b="1"/>
              <a:t>应答帧</a:t>
            </a:r>
            <a:r>
              <a:rPr lang="zh-CN" altLang="zh-CN" sz="2800"/>
              <a:t>，则超时</a:t>
            </a:r>
            <a:r>
              <a:rPr lang="zh-CN" altLang="zh-CN" sz="2800" b="1"/>
              <a:t>重发将使主机</a:t>
            </a:r>
            <a:r>
              <a:rPr lang="en-US" altLang="zh-CN" sz="2800" b="1"/>
              <a:t>B</a:t>
            </a:r>
            <a:r>
              <a:rPr lang="zh-CN" altLang="zh-CN" sz="2800" b="1"/>
              <a:t>收到两个同样的数据帧</a:t>
            </a:r>
            <a:r>
              <a:rPr lang="zh-CN" altLang="zh-CN" sz="2800"/>
              <a:t>。由于主机</a:t>
            </a:r>
            <a:r>
              <a:rPr lang="en-US" altLang="zh-CN" sz="2800"/>
              <a:t>B</a:t>
            </a:r>
            <a:r>
              <a:rPr lang="zh-CN" altLang="zh-CN" sz="2800"/>
              <a:t>现在无法识别重复的数据帧，因而在主机</a:t>
            </a:r>
            <a:r>
              <a:rPr lang="en-US" altLang="zh-CN" sz="2800"/>
              <a:t>B</a:t>
            </a:r>
            <a:r>
              <a:rPr lang="zh-CN" altLang="zh-CN" sz="2800"/>
              <a:t>收到的数据中出现了</a:t>
            </a:r>
            <a:r>
              <a:rPr lang="zh-CN" altLang="zh-CN" sz="2800" b="1"/>
              <a:t>另一种差错——重复帧</a:t>
            </a:r>
            <a:r>
              <a:rPr lang="zh-CN" altLang="zh-CN" sz="2800"/>
              <a:t>。要</a:t>
            </a:r>
            <a:r>
              <a:rPr lang="zh-CN" altLang="zh-CN" sz="2800" b="1"/>
              <a:t>解决重复帧的问题</a:t>
            </a:r>
            <a:r>
              <a:rPr lang="zh-CN" altLang="zh-CN" sz="2800"/>
              <a:t>，必须使每一个</a:t>
            </a:r>
            <a:r>
              <a:rPr lang="zh-CN" altLang="zh-CN" sz="2800" b="1"/>
              <a:t>数据帧带上不同的发送序号</a:t>
            </a:r>
            <a:r>
              <a:rPr lang="zh-CN" altLang="zh-CN" sz="2800"/>
              <a:t>。每</a:t>
            </a:r>
            <a:r>
              <a:rPr lang="zh-CN" altLang="zh-CN" sz="2800" b="1"/>
              <a:t>发送</a:t>
            </a:r>
            <a:r>
              <a:rPr lang="zh-CN" altLang="zh-CN" sz="2800"/>
              <a:t>一个</a:t>
            </a:r>
            <a:r>
              <a:rPr lang="zh-CN" altLang="zh-CN" sz="2800" b="1"/>
              <a:t>新</a:t>
            </a:r>
            <a:r>
              <a:rPr lang="zh-CN" altLang="zh-CN" sz="2800"/>
              <a:t>的</a:t>
            </a:r>
            <a:r>
              <a:rPr lang="zh-CN" altLang="zh-CN" sz="2800" b="1"/>
              <a:t>数据帧</a:t>
            </a:r>
            <a:r>
              <a:rPr lang="zh-CN" altLang="zh-CN" sz="2800"/>
              <a:t>就把它的发送</a:t>
            </a:r>
            <a:r>
              <a:rPr lang="zh-CN" altLang="zh-CN" sz="2800" b="1"/>
              <a:t>序号加</a:t>
            </a:r>
            <a:r>
              <a:rPr lang="en-US" altLang="zh-CN" sz="2800" b="1"/>
              <a:t>1</a:t>
            </a:r>
            <a:r>
              <a:rPr lang="zh-CN" altLang="zh-CN" sz="2800"/>
              <a:t>。若结点</a:t>
            </a:r>
            <a:r>
              <a:rPr lang="en-US" altLang="zh-CN" sz="2800"/>
              <a:t> B</a:t>
            </a:r>
            <a:r>
              <a:rPr lang="zh-CN" altLang="zh-CN" sz="2800" b="1"/>
              <a:t>收到发送序号相同的数据帧，就表明出现了重复帧</a:t>
            </a:r>
            <a:r>
              <a:rPr lang="zh-CN" altLang="zh-CN" sz="2800"/>
              <a:t>。这时应当</a:t>
            </a:r>
            <a:r>
              <a:rPr lang="zh-CN" altLang="zh-CN" sz="2800" b="1"/>
              <a:t>丢弃</a:t>
            </a:r>
            <a:r>
              <a:rPr lang="zh-CN" altLang="zh-CN" sz="2800"/>
              <a:t>这</a:t>
            </a:r>
            <a:r>
              <a:rPr lang="zh-CN" altLang="zh-CN" sz="2800" b="1"/>
              <a:t>重复帧</a:t>
            </a:r>
            <a:r>
              <a:rPr lang="zh-CN" altLang="zh-CN" sz="2800"/>
              <a:t>，因为已经收到过同样的数据帧并且也交给了主机</a:t>
            </a:r>
            <a:r>
              <a:rPr lang="en-US" altLang="zh-CN" sz="2800"/>
              <a:t>B</a:t>
            </a:r>
            <a:r>
              <a:rPr lang="zh-CN" altLang="zh-CN" sz="2800"/>
              <a:t>。但应注意，此时结点</a:t>
            </a:r>
            <a:r>
              <a:rPr lang="en-US" altLang="zh-CN" sz="2800"/>
              <a:t>B</a:t>
            </a:r>
            <a:r>
              <a:rPr lang="zh-CN" altLang="zh-CN" sz="2800"/>
              <a:t>还必须向结点</a:t>
            </a:r>
            <a:r>
              <a:rPr lang="en-US" altLang="zh-CN" sz="2800"/>
              <a:t>A</a:t>
            </a:r>
            <a:r>
              <a:rPr lang="zh-CN" altLang="zh-CN" sz="2800" b="1"/>
              <a:t>发送</a:t>
            </a:r>
            <a:r>
              <a:rPr lang="zh-CN" altLang="zh-CN" sz="2800"/>
              <a:t>一个确认帧</a:t>
            </a:r>
            <a:r>
              <a:rPr lang="en-US" altLang="zh-CN" sz="2800" b="1"/>
              <a:t>ACK</a:t>
            </a:r>
            <a:r>
              <a:rPr lang="zh-CN" altLang="zh-CN" sz="2800"/>
              <a:t>，</a:t>
            </a:r>
            <a:r>
              <a:rPr lang="zh-CN" altLang="zh-CN" sz="2800" b="1"/>
              <a:t>因为</a:t>
            </a:r>
            <a:r>
              <a:rPr lang="zh-CN" altLang="zh-CN" sz="2800"/>
              <a:t>结点</a:t>
            </a:r>
            <a:r>
              <a:rPr lang="en-US" altLang="zh-CN" sz="2800"/>
              <a:t>B</a:t>
            </a:r>
            <a:r>
              <a:rPr lang="zh-CN" altLang="zh-CN" sz="2800"/>
              <a:t>已经知道结点</a:t>
            </a:r>
            <a:r>
              <a:rPr lang="en-US" altLang="zh-CN" sz="2800" b="1"/>
              <a:t>A</a:t>
            </a:r>
            <a:r>
              <a:rPr lang="zh-CN" altLang="zh-CN" sz="2800" b="1"/>
              <a:t>还没有收到上一次发过去的确认帧</a:t>
            </a:r>
            <a:r>
              <a:rPr lang="en-US" altLang="zh-CN" sz="2800" b="1"/>
              <a:t>ACK</a:t>
            </a:r>
            <a:r>
              <a:rPr lang="zh-CN" altLang="zh-CN" sz="2800"/>
              <a:t>。</a:t>
            </a:r>
            <a:endParaRPr lang="zh-CN" altLang="en-US" sz="2800"/>
          </a:p>
        </p:txBody>
      </p:sp>
    </p:spTree>
    <p:extLst>
      <p:ext uri="{BB962C8B-B14F-4D97-AF65-F5344CB8AC3E}">
        <p14:creationId xmlns:p14="http://schemas.microsoft.com/office/powerpoint/2010/main" val="1979859048"/>
      </p:ext>
    </p:extLst>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zh-CN" sz="3600"/>
              <a:t>死锁问题</a:t>
            </a:r>
            <a:endParaRPr lang="zh-CN" altLang="en-US" sz="3600"/>
          </a:p>
        </p:txBody>
      </p:sp>
      <p:sp>
        <p:nvSpPr>
          <p:cNvPr id="27651" name="内容占位符 2"/>
          <p:cNvSpPr>
            <a:spLocks noGrp="1"/>
          </p:cNvSpPr>
          <p:nvPr>
            <p:ph idx="1"/>
          </p:nvPr>
        </p:nvSpPr>
        <p:spPr>
          <a:xfrm>
            <a:off x="622300" y="1365250"/>
            <a:ext cx="11176000" cy="4502150"/>
          </a:xfrm>
        </p:spPr>
        <p:txBody>
          <a:bodyPr/>
          <a:lstStyle/>
          <a:p>
            <a:r>
              <a:rPr lang="zh-CN" altLang="zh-CN" sz="2800"/>
              <a:t>可在结点</a:t>
            </a:r>
            <a:r>
              <a:rPr lang="en-US" altLang="zh-CN" sz="2800"/>
              <a:t>A</a:t>
            </a:r>
            <a:r>
              <a:rPr lang="zh-CN" altLang="zh-CN" sz="2800"/>
              <a:t>发送完一个数据帧时，就启动一个</a:t>
            </a:r>
            <a:r>
              <a:rPr lang="zh-CN" altLang="zh-CN" sz="2800" b="1"/>
              <a:t>超时定时器</a:t>
            </a:r>
            <a:r>
              <a:rPr lang="zh-CN" altLang="zh-CN" sz="2800"/>
              <a:t>。若到了</a:t>
            </a:r>
            <a:r>
              <a:rPr lang="zh-CN" altLang="zh-CN" sz="2800" b="1"/>
              <a:t>超 时定时器所设立的重发时间</a:t>
            </a:r>
            <a:r>
              <a:rPr lang="en-US" altLang="zh-CN" sz="2800" b="1"/>
              <a:t>t</a:t>
            </a:r>
            <a:r>
              <a:rPr lang="en-US" altLang="zh-CN" sz="2800" b="1" baseline="-25000"/>
              <a:t>out</a:t>
            </a:r>
            <a:r>
              <a:rPr lang="zh-CN" altLang="zh-CN" sz="2800"/>
              <a:t>。而仍收不到结点</a:t>
            </a:r>
            <a:r>
              <a:rPr lang="en-US" altLang="zh-CN" sz="2800"/>
              <a:t>B</a:t>
            </a:r>
            <a:r>
              <a:rPr lang="zh-CN" altLang="zh-CN" sz="2800"/>
              <a:t>的任何应答帧，则结点</a:t>
            </a:r>
            <a:r>
              <a:rPr lang="en-US" altLang="zh-CN" sz="2800"/>
              <a:t>A</a:t>
            </a:r>
            <a:r>
              <a:rPr lang="zh-CN" altLang="zh-CN" sz="2800"/>
              <a:t>就</a:t>
            </a:r>
            <a:r>
              <a:rPr lang="zh-CN" altLang="zh-CN" sz="2800" b="1"/>
              <a:t>重传</a:t>
            </a:r>
            <a:r>
              <a:rPr lang="zh-CN" altLang="zh-CN" sz="2800"/>
              <a:t>前面所发送的这一数据帧（见</a:t>
            </a:r>
            <a:r>
              <a:rPr lang="zh-CN" altLang="zh-CN" sz="2800" b="1"/>
              <a:t>图（</a:t>
            </a:r>
            <a:r>
              <a:rPr lang="en-US" altLang="zh-CN" sz="2800" b="1"/>
              <a:t>c</a:t>
            </a:r>
            <a:r>
              <a:rPr lang="zh-CN" altLang="zh-CN" sz="2800" b="1"/>
              <a:t>）</a:t>
            </a:r>
            <a:r>
              <a:rPr lang="en-US" altLang="zh-CN" sz="2800" b="1"/>
              <a:t>,</a:t>
            </a:r>
            <a:r>
              <a:rPr lang="zh-CN" altLang="zh-CN" sz="2800" b="1"/>
              <a:t>（</a:t>
            </a:r>
            <a:r>
              <a:rPr lang="en-US" altLang="zh-CN" sz="2800" b="1"/>
              <a:t>d</a:t>
            </a:r>
            <a:r>
              <a:rPr lang="zh-CN" altLang="zh-CN" sz="2800" b="1"/>
              <a:t>）</a:t>
            </a:r>
            <a:r>
              <a:rPr lang="zh-CN" altLang="zh-CN" sz="2800"/>
              <a:t>）。显然，超时定时器设置的</a:t>
            </a:r>
            <a:r>
              <a:rPr lang="zh-CN" altLang="zh-CN" sz="2800" b="1"/>
              <a:t>重发时间应仔细选择确定</a:t>
            </a:r>
            <a:r>
              <a:rPr lang="zh-CN" altLang="zh-CN" sz="2800"/>
              <a:t>。若重发时间选得太短，则在正常情况下也会在对方的应答信息回到发送方之前就过早地重发数据。若重发时间选得太长，则会浪费时间。一般可将重发时间选为</a:t>
            </a:r>
            <a:r>
              <a:rPr lang="zh-CN" altLang="zh-CN" sz="2800" b="1"/>
              <a:t>略大于“从发完数据帧到收到应答帧所需的平均时间”</a:t>
            </a:r>
            <a:r>
              <a:rPr lang="zh-CN" altLang="zh-CN" sz="2800"/>
              <a:t>。</a:t>
            </a:r>
            <a:endParaRPr lang="zh-CN" altLang="en-US" sz="2800"/>
          </a:p>
        </p:txBody>
      </p:sp>
    </p:spTree>
    <p:extLst>
      <p:ext uri="{BB962C8B-B14F-4D97-AF65-F5344CB8AC3E}">
        <p14:creationId xmlns:p14="http://schemas.microsoft.com/office/powerpoint/2010/main" val="4010696113"/>
      </p:ext>
    </p:extLst>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a:t>数据帧在链路上传输的几种情况</a:t>
            </a:r>
          </a:p>
        </p:txBody>
      </p:sp>
      <p:pic>
        <p:nvPicPr>
          <p:cNvPr id="25603" name="Picture 2" descr="stopwa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2464" y="1562100"/>
            <a:ext cx="8745537"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sz="3600"/>
              <a:t>序号的设定</a:t>
            </a:r>
          </a:p>
        </p:txBody>
      </p:sp>
      <p:sp>
        <p:nvSpPr>
          <p:cNvPr id="29699" name="内容占位符 2"/>
          <p:cNvSpPr>
            <a:spLocks noGrp="1"/>
          </p:cNvSpPr>
          <p:nvPr>
            <p:ph idx="1"/>
          </p:nvPr>
        </p:nvSpPr>
        <p:spPr>
          <a:xfrm>
            <a:off x="406400" y="1365250"/>
            <a:ext cx="11544300" cy="4787900"/>
          </a:xfrm>
        </p:spPr>
        <p:txBody>
          <a:bodyPr/>
          <a:lstStyle/>
          <a:p>
            <a:r>
              <a:rPr lang="zh-CN" altLang="zh-CN" sz="2800" b="1"/>
              <a:t>序号</a:t>
            </a:r>
            <a:r>
              <a:rPr lang="zh-CN" altLang="zh-CN" sz="2800"/>
              <a:t>所占用的</a:t>
            </a:r>
            <a:r>
              <a:rPr lang="zh-CN" altLang="zh-CN" sz="2800" b="1"/>
              <a:t>比特数</a:t>
            </a:r>
            <a:r>
              <a:rPr lang="zh-CN" altLang="zh-CN" sz="2800"/>
              <a:t>是</a:t>
            </a:r>
            <a:r>
              <a:rPr lang="zh-CN" altLang="zh-CN" sz="2800" b="1"/>
              <a:t>有限</a:t>
            </a:r>
            <a:r>
              <a:rPr lang="zh-CN" altLang="zh-CN" sz="2800"/>
              <a:t>的。因此，经过</a:t>
            </a:r>
            <a:r>
              <a:rPr lang="zh-CN" altLang="zh-CN" sz="2800" b="1"/>
              <a:t>一段时间</a:t>
            </a:r>
            <a:r>
              <a:rPr lang="zh-CN" altLang="zh-CN" sz="2800"/>
              <a:t>后，发送</a:t>
            </a:r>
            <a:r>
              <a:rPr lang="zh-CN" altLang="zh-CN" sz="2800" b="1"/>
              <a:t>序号</a:t>
            </a:r>
            <a:r>
              <a:rPr lang="zh-CN" altLang="zh-CN" sz="2800"/>
              <a:t>就会</a:t>
            </a:r>
            <a:r>
              <a:rPr lang="zh-CN" altLang="zh-CN" sz="2800" b="1"/>
              <a:t>重复</a:t>
            </a:r>
            <a:r>
              <a:rPr lang="zh-CN" altLang="zh-CN" sz="2800"/>
              <a:t>。例如，当发送序号占用</a:t>
            </a:r>
            <a:r>
              <a:rPr lang="en-US" altLang="zh-CN" sz="2800"/>
              <a:t>3</a:t>
            </a:r>
            <a:r>
              <a:rPr lang="zh-CN" altLang="zh-CN" sz="2800"/>
              <a:t>个比特时，就可组成共有</a:t>
            </a:r>
            <a:r>
              <a:rPr lang="en-US" altLang="zh-CN" sz="2800"/>
              <a:t>8</a:t>
            </a:r>
            <a:r>
              <a:rPr lang="zh-CN" altLang="zh-CN" sz="2800"/>
              <a:t>个不同的发送序号，从</a:t>
            </a:r>
            <a:r>
              <a:rPr lang="en-US" altLang="zh-CN" sz="2800"/>
              <a:t>000</a:t>
            </a:r>
            <a:r>
              <a:rPr lang="zh-CN" altLang="zh-CN" sz="2800"/>
              <a:t>到</a:t>
            </a:r>
            <a:r>
              <a:rPr lang="en-US" altLang="zh-CN" sz="2800"/>
              <a:t>111</a:t>
            </a:r>
            <a:r>
              <a:rPr lang="zh-CN" altLang="zh-CN" sz="2800"/>
              <a:t>。当数据帧的发送序号为</a:t>
            </a:r>
            <a:r>
              <a:rPr lang="en-US" altLang="zh-CN" sz="2800"/>
              <a:t>111</a:t>
            </a:r>
            <a:r>
              <a:rPr lang="zh-CN" altLang="zh-CN" sz="2800"/>
              <a:t>时，下一个发送序号就又是</a:t>
            </a:r>
            <a:r>
              <a:rPr lang="en-US" altLang="zh-CN" sz="2800"/>
              <a:t>000</a:t>
            </a:r>
            <a:r>
              <a:rPr lang="zh-CN" altLang="zh-CN" sz="2800"/>
              <a:t>。因此，要进行编号就要考虑序号到底要占用多少个比特。序号占用的比特数越少，数据传输的额外开销就越小。对于</a:t>
            </a:r>
            <a:r>
              <a:rPr lang="zh-CN" altLang="zh-CN" sz="2800" b="1"/>
              <a:t>停止等待协议</a:t>
            </a:r>
            <a:r>
              <a:rPr lang="zh-CN" altLang="zh-CN" sz="2800"/>
              <a:t>，由于每发送一个数据帧就停止等待，因此</a:t>
            </a:r>
            <a:r>
              <a:rPr lang="zh-CN" altLang="zh-CN" sz="2800" b="1"/>
              <a:t>用一个比特来编号就够了</a:t>
            </a:r>
            <a:r>
              <a:rPr lang="zh-CN" altLang="zh-CN" sz="2800"/>
              <a:t>。一个比特可以有</a:t>
            </a:r>
            <a:r>
              <a:rPr lang="en-US" altLang="zh-CN" sz="2800"/>
              <a:t>0</a:t>
            </a:r>
            <a:r>
              <a:rPr lang="zh-CN" altLang="zh-CN" sz="2800"/>
              <a:t>和</a:t>
            </a:r>
            <a:r>
              <a:rPr lang="en-US" altLang="zh-CN" sz="2800"/>
              <a:t>1</a:t>
            </a:r>
            <a:r>
              <a:rPr lang="zh-CN" altLang="zh-CN" sz="2800"/>
              <a:t>两种不同的序号。这样，数据帧中的</a:t>
            </a:r>
            <a:r>
              <a:rPr lang="zh-CN" altLang="zh-CN" sz="2800" b="1"/>
              <a:t>发送序号</a:t>
            </a:r>
            <a:r>
              <a:rPr lang="zh-CN" altLang="zh-CN" sz="2800"/>
              <a:t>（以后记为</a:t>
            </a:r>
            <a:r>
              <a:rPr lang="en-US" altLang="zh-CN" sz="2800" b="1"/>
              <a:t>N</a:t>
            </a:r>
            <a:r>
              <a:rPr lang="zh-CN" altLang="zh-CN" sz="2800" b="1"/>
              <a:t>（</a:t>
            </a:r>
            <a:r>
              <a:rPr lang="en-US" altLang="zh-CN" sz="2800" b="1"/>
              <a:t>S</a:t>
            </a:r>
            <a:r>
              <a:rPr lang="zh-CN" altLang="zh-CN" sz="2800" b="1"/>
              <a:t>）</a:t>
            </a:r>
            <a:r>
              <a:rPr lang="zh-CN" altLang="zh-CN" sz="2800"/>
              <a:t>，</a:t>
            </a:r>
            <a:r>
              <a:rPr lang="en-US" altLang="zh-CN" sz="2800"/>
              <a:t>S</a:t>
            </a:r>
            <a:r>
              <a:rPr lang="zh-CN" altLang="zh-CN" sz="2800"/>
              <a:t>表示发送）就以</a:t>
            </a:r>
            <a:r>
              <a:rPr lang="en-US" altLang="zh-CN" sz="2800" b="1"/>
              <a:t>0</a:t>
            </a:r>
            <a:r>
              <a:rPr lang="zh-CN" altLang="zh-CN" sz="2800" b="1"/>
              <a:t>和</a:t>
            </a:r>
            <a:r>
              <a:rPr lang="en-US" altLang="zh-CN" sz="2800" b="1"/>
              <a:t>1</a:t>
            </a:r>
            <a:r>
              <a:rPr lang="zh-CN" altLang="zh-CN" sz="2800" b="1"/>
              <a:t>交替</a:t>
            </a:r>
            <a:r>
              <a:rPr lang="zh-CN" altLang="zh-CN" sz="2800"/>
              <a:t>的方式</a:t>
            </a:r>
            <a:r>
              <a:rPr lang="zh-CN" altLang="zh-CN" sz="2800" b="1"/>
              <a:t>出现在数据帧中</a:t>
            </a:r>
            <a:r>
              <a:rPr lang="zh-CN" altLang="zh-CN" sz="2800"/>
              <a:t>。每发一个新的数据帧，发送序号就和上次发送的不一样。用这样的方法就可以使收方能够区分开新的数据帧和重发的数据帧了。</a:t>
            </a:r>
            <a:endParaRPr lang="zh-CN" altLang="en-US" sz="2800"/>
          </a:p>
        </p:txBody>
      </p:sp>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zh-CN" sz="3600"/>
              <a:t>四、停止等待协议的算法</a:t>
            </a:r>
            <a:endParaRPr lang="zh-CN" altLang="en-US" sz="3600"/>
          </a:p>
        </p:txBody>
      </p:sp>
      <p:sp>
        <p:nvSpPr>
          <p:cNvPr id="3" name="内容占位符 2"/>
          <p:cNvSpPr>
            <a:spLocks noGrp="1"/>
          </p:cNvSpPr>
          <p:nvPr>
            <p:ph idx="1"/>
          </p:nvPr>
        </p:nvSpPr>
        <p:spPr>
          <a:xfrm>
            <a:off x="2066925" y="1327150"/>
            <a:ext cx="8224838" cy="5145088"/>
          </a:xfrm>
        </p:spPr>
        <p:txBody>
          <a:bodyPr/>
          <a:lstStyle/>
          <a:p>
            <a:r>
              <a:rPr lang="zh-CN" altLang="zh-CN" sz="2800"/>
              <a:t>为了对上面所述的停止等待协议有一个完整而准确的理解，下面给出此协议的算法。</a:t>
            </a:r>
            <a:endParaRPr lang="en-US" altLang="zh-CN" sz="2800"/>
          </a:p>
          <a:p>
            <a:r>
              <a:rPr lang="en-US" altLang="zh-CN" sz="2800" b="1"/>
              <a:t>V</a:t>
            </a:r>
            <a:r>
              <a:rPr lang="zh-CN" altLang="zh-CN" sz="2800" b="1"/>
              <a:t>（</a:t>
            </a:r>
            <a:r>
              <a:rPr lang="en-US" altLang="zh-CN" sz="2800" b="1"/>
              <a:t>S</a:t>
            </a:r>
            <a:r>
              <a:rPr lang="zh-CN" altLang="zh-CN" sz="2800" b="1"/>
              <a:t>）：发送状态变量</a:t>
            </a:r>
            <a:endParaRPr lang="zh-CN" altLang="zh-CN" sz="2800"/>
          </a:p>
          <a:p>
            <a:r>
              <a:rPr lang="en-US" altLang="zh-CN" sz="2800" b="1"/>
              <a:t>V</a:t>
            </a:r>
            <a:r>
              <a:rPr lang="zh-CN" altLang="zh-CN" sz="2800" b="1"/>
              <a:t>（</a:t>
            </a:r>
            <a:r>
              <a:rPr lang="en-US" altLang="zh-CN" sz="2800" b="1"/>
              <a:t>R</a:t>
            </a:r>
            <a:r>
              <a:rPr lang="zh-CN" altLang="zh-CN" sz="2800" b="1"/>
              <a:t>）：接收状态变量</a:t>
            </a:r>
            <a:endParaRPr lang="zh-CN" altLang="zh-CN" sz="2800"/>
          </a:p>
          <a:p>
            <a:r>
              <a:rPr lang="en-US" altLang="zh-CN" sz="2800" b="1"/>
              <a:t>N (S)</a:t>
            </a:r>
            <a:r>
              <a:rPr lang="zh-CN" altLang="zh-CN" sz="2800" b="1"/>
              <a:t>：发送序号</a:t>
            </a:r>
            <a:endParaRPr lang="zh-CN" altLang="en-US" sz="2800"/>
          </a:p>
        </p:txBody>
      </p:sp>
      <p:pic>
        <p:nvPicPr>
          <p:cNvPr id="30724"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81350" y="4030663"/>
            <a:ext cx="6237288"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circle(in)">
                                      <p:cBhvr>
                                        <p:cTn id="16" dur="2000"/>
                                        <p:tgtEl>
                                          <p:spTgt spid="3">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xit" presetSubtype="21" fill="hold" grpId="0" nodeType="clickEffect">
                                  <p:stCondLst>
                                    <p:cond delay="0"/>
                                  </p:stCondLst>
                                  <p:childTnLst>
                                    <p:animEffect transition="out" filter="barn(inVertical)">
                                      <p:cBhvr>
                                        <p:cTn id="20" dur="500"/>
                                        <p:tgtEl>
                                          <p:spTgt spid="3">
                                            <p:txEl>
                                              <p:pRg st="0" end="0"/>
                                            </p:txEl>
                                          </p:spTgt>
                                        </p:tgtEl>
                                      </p:cBhvr>
                                    </p:animEffect>
                                    <p:set>
                                      <p:cBhvr>
                                        <p:cTn id="21"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6" presetClass="exit" presetSubtype="21" fill="hold" grpId="0" nodeType="clickEffect">
                                  <p:stCondLst>
                                    <p:cond delay="0"/>
                                  </p:stCondLst>
                                  <p:childTnLst>
                                    <p:animEffect transition="out" filter="barn(inVertical)">
                                      <p:cBhvr>
                                        <p:cTn id="25" dur="500"/>
                                        <p:tgtEl>
                                          <p:spTgt spid="3">
                                            <p:txEl>
                                              <p:pRg st="1" end="1"/>
                                            </p:txEl>
                                          </p:spTgt>
                                        </p:tgtEl>
                                      </p:cBhvr>
                                    </p:animEffect>
                                    <p:set>
                                      <p:cBhvr>
                                        <p:cTn id="26" dur="1" fill="hold">
                                          <p:stCondLst>
                                            <p:cond delay="499"/>
                                          </p:stCondLst>
                                        </p:cTn>
                                        <p:tgtEl>
                                          <p:spTgt spid="3">
                                            <p:txEl>
                                              <p:pRg st="1" end="1"/>
                                            </p:txEl>
                                          </p:spTgt>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xit" presetSubtype="21" fill="hold" grpId="0" nodeType="clickEffect">
                                  <p:stCondLst>
                                    <p:cond delay="0"/>
                                  </p:stCondLst>
                                  <p:childTnLst>
                                    <p:animEffect transition="out" filter="barn(inVertical)">
                                      <p:cBhvr>
                                        <p:cTn id="30" dur="500"/>
                                        <p:tgtEl>
                                          <p:spTgt spid="3">
                                            <p:txEl>
                                              <p:pRg st="2" end="2"/>
                                            </p:txEl>
                                          </p:spTgt>
                                        </p:tgtEl>
                                      </p:cBhvr>
                                    </p:animEffect>
                                    <p:set>
                                      <p:cBhvr>
                                        <p:cTn id="31"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6" presetClass="exit" presetSubtype="21" fill="hold" grpId="0" nodeType="clickEffect">
                                  <p:stCondLst>
                                    <p:cond delay="0"/>
                                  </p:stCondLst>
                                  <p:childTnLst>
                                    <p:animEffect transition="out" filter="barn(inVertical)">
                                      <p:cBhvr>
                                        <p:cTn id="35" dur="500"/>
                                        <p:tgtEl>
                                          <p:spTgt spid="3">
                                            <p:txEl>
                                              <p:pRg st="3" end="3"/>
                                            </p:txEl>
                                          </p:spTgt>
                                        </p:tgtEl>
                                      </p:cBhvr>
                                    </p:animEffect>
                                    <p:set>
                                      <p:cBhvr>
                                        <p:cTn id="36" dur="1" fill="hold">
                                          <p:stCondLst>
                                            <p:cond delay="499"/>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zh-CN" sz="3600"/>
              <a:t>在发送结点</a:t>
            </a:r>
            <a:endParaRPr lang="zh-CN" altLang="en-US" sz="3600"/>
          </a:p>
        </p:txBody>
      </p:sp>
      <p:sp>
        <p:nvSpPr>
          <p:cNvPr id="31747" name="内容占位符 2"/>
          <p:cNvSpPr>
            <a:spLocks noGrp="1"/>
          </p:cNvSpPr>
          <p:nvPr>
            <p:ph idx="1"/>
          </p:nvPr>
        </p:nvSpPr>
        <p:spPr>
          <a:xfrm>
            <a:off x="453761" y="1236663"/>
            <a:ext cx="11282363" cy="5540375"/>
          </a:xfrm>
        </p:spPr>
        <p:txBody>
          <a:bodyPr/>
          <a:lstStyle/>
          <a:p>
            <a:r>
              <a:rPr lang="zh-CN" altLang="zh-CN" sz="2400"/>
              <a:t>（</a:t>
            </a:r>
            <a:r>
              <a:rPr lang="en-US" altLang="zh-CN" sz="2400"/>
              <a:t>1</a:t>
            </a:r>
            <a:r>
              <a:rPr lang="zh-CN" altLang="zh-CN" sz="2400"/>
              <a:t>）从主机取一个数据帧。</a:t>
            </a:r>
          </a:p>
          <a:p>
            <a:r>
              <a:rPr lang="zh-CN" altLang="zh-CN" sz="2400"/>
              <a:t>（</a:t>
            </a:r>
            <a:r>
              <a:rPr lang="en-US" altLang="zh-CN" sz="2400"/>
              <a:t>2</a:t>
            </a:r>
            <a:r>
              <a:rPr lang="zh-CN" altLang="zh-CN" sz="2400"/>
              <a:t>）</a:t>
            </a:r>
            <a:r>
              <a:rPr lang="en-US" altLang="zh-CN" sz="2400" b="1"/>
              <a:t>V</a:t>
            </a:r>
            <a:r>
              <a:rPr lang="zh-CN" altLang="zh-CN" sz="2400" b="1"/>
              <a:t>（</a:t>
            </a:r>
            <a:r>
              <a:rPr lang="en-US" altLang="zh-CN" sz="2400" b="1"/>
              <a:t>S</a:t>
            </a:r>
            <a:r>
              <a:rPr lang="zh-CN" altLang="zh-CN" sz="2400" b="1"/>
              <a:t>）</a:t>
            </a:r>
            <a:r>
              <a:rPr lang="zh-CN" altLang="zh-CN" sz="2400"/>
              <a:t>← </a:t>
            </a:r>
            <a:r>
              <a:rPr lang="en-US" altLang="zh-CN" sz="2400"/>
              <a:t>0</a:t>
            </a:r>
            <a:r>
              <a:rPr lang="zh-CN" altLang="zh-CN" sz="2400"/>
              <a:t>。（</a:t>
            </a:r>
            <a:r>
              <a:rPr lang="zh-CN" altLang="zh-CN" sz="2400" b="1"/>
              <a:t>发送状态变量</a:t>
            </a:r>
            <a:r>
              <a:rPr lang="zh-CN" altLang="zh-CN" sz="2400"/>
              <a:t>初始化）</a:t>
            </a:r>
          </a:p>
          <a:p>
            <a:r>
              <a:rPr lang="zh-CN" altLang="zh-CN" sz="2400"/>
              <a:t>（</a:t>
            </a:r>
            <a:r>
              <a:rPr lang="en-US" altLang="zh-CN" sz="2400"/>
              <a:t>3</a:t>
            </a:r>
            <a:r>
              <a:rPr lang="zh-CN" altLang="zh-CN" sz="2400"/>
              <a:t>）</a:t>
            </a:r>
            <a:r>
              <a:rPr lang="en-US" altLang="zh-CN" sz="2400" b="1"/>
              <a:t>N</a:t>
            </a:r>
            <a:r>
              <a:rPr lang="zh-CN" altLang="zh-CN" sz="2400" b="1"/>
              <a:t>（</a:t>
            </a:r>
            <a:r>
              <a:rPr lang="en-US" altLang="zh-CN" sz="2400" b="1"/>
              <a:t>S</a:t>
            </a:r>
            <a:r>
              <a:rPr lang="zh-CN" altLang="zh-CN" sz="2400" b="1"/>
              <a:t>）</a:t>
            </a:r>
            <a:r>
              <a:rPr lang="zh-CN" altLang="zh-CN" sz="2400"/>
              <a:t>← </a:t>
            </a:r>
            <a:r>
              <a:rPr lang="en-US" altLang="zh-CN" sz="2400"/>
              <a:t>V</a:t>
            </a:r>
            <a:r>
              <a:rPr lang="zh-CN" altLang="zh-CN" sz="2400"/>
              <a:t>（</a:t>
            </a:r>
            <a:r>
              <a:rPr lang="en-US" altLang="zh-CN" sz="2400"/>
              <a:t>S</a:t>
            </a:r>
            <a:r>
              <a:rPr lang="zh-CN" altLang="zh-CN" sz="2400"/>
              <a:t>）；（将发送状态变量的数值写入</a:t>
            </a:r>
            <a:r>
              <a:rPr lang="zh-CN" altLang="zh-CN" sz="2400" b="1"/>
              <a:t>发送序号</a:t>
            </a:r>
            <a:r>
              <a:rPr lang="zh-CN" altLang="zh-CN" sz="2400"/>
              <a:t>）， 将数据帧送交发送缓冲区。</a:t>
            </a:r>
          </a:p>
          <a:p>
            <a:r>
              <a:rPr lang="zh-CN" altLang="zh-CN" sz="2400"/>
              <a:t>（</a:t>
            </a:r>
            <a:r>
              <a:rPr lang="en-US" altLang="zh-CN" sz="2400"/>
              <a:t>4</a:t>
            </a:r>
            <a:r>
              <a:rPr lang="zh-CN" altLang="zh-CN" sz="2400"/>
              <a:t>）将发送缓冲区中的数据帧发送出去。</a:t>
            </a:r>
          </a:p>
          <a:p>
            <a:r>
              <a:rPr lang="zh-CN" altLang="zh-CN" sz="2400"/>
              <a:t>（</a:t>
            </a:r>
            <a:r>
              <a:rPr lang="en-US" altLang="zh-CN" sz="2400"/>
              <a:t>5</a:t>
            </a:r>
            <a:r>
              <a:rPr lang="zh-CN" altLang="zh-CN" sz="2400"/>
              <a:t>）设置</a:t>
            </a:r>
            <a:r>
              <a:rPr lang="zh-CN" altLang="zh-CN" sz="2400" b="1"/>
              <a:t>超时定时器</a:t>
            </a:r>
            <a:r>
              <a:rPr lang="zh-CN" altLang="zh-CN" sz="2400"/>
              <a:t>。（</a:t>
            </a:r>
            <a:r>
              <a:rPr lang="zh-CN" altLang="zh-CN" sz="2400" b="1"/>
              <a:t>选择适当的超时重发时间</a:t>
            </a:r>
            <a:r>
              <a:rPr lang="en-US" altLang="zh-CN" sz="2400" b="1"/>
              <a:t>tout</a:t>
            </a:r>
            <a:r>
              <a:rPr lang="zh-CN" altLang="zh-CN" sz="2400"/>
              <a:t>）</a:t>
            </a:r>
          </a:p>
          <a:p>
            <a:r>
              <a:rPr lang="zh-CN" altLang="zh-CN" sz="2400"/>
              <a:t>（</a:t>
            </a:r>
            <a:r>
              <a:rPr lang="en-US" altLang="zh-CN" sz="2400"/>
              <a:t>6</a:t>
            </a:r>
            <a:r>
              <a:rPr lang="zh-CN" altLang="zh-CN" sz="2400"/>
              <a:t>）等待。</a:t>
            </a:r>
            <a:r>
              <a:rPr lang="en-US" altLang="zh-CN" sz="2400"/>
              <a:t>( </a:t>
            </a:r>
            <a:r>
              <a:rPr lang="zh-CN" altLang="zh-CN" sz="2400"/>
              <a:t>等待以下</a:t>
            </a:r>
            <a:r>
              <a:rPr lang="en-US" altLang="zh-CN" sz="2400"/>
              <a:t>3</a:t>
            </a:r>
            <a:r>
              <a:rPr lang="zh-CN" altLang="zh-CN" sz="2400"/>
              <a:t>个事件中最先出现的一个</a:t>
            </a:r>
            <a:r>
              <a:rPr lang="en-US" altLang="zh-CN" sz="2400"/>
              <a:t>)</a:t>
            </a:r>
            <a:endParaRPr lang="zh-CN" altLang="zh-CN" sz="2400"/>
          </a:p>
          <a:p>
            <a:r>
              <a:rPr lang="zh-CN" altLang="zh-CN" sz="2400"/>
              <a:t>（</a:t>
            </a:r>
            <a:r>
              <a:rPr lang="en-US" altLang="zh-CN" sz="2400"/>
              <a:t>7</a:t>
            </a:r>
            <a:r>
              <a:rPr lang="zh-CN" altLang="zh-CN" sz="2400"/>
              <a:t>）若收到确认帧</a:t>
            </a:r>
            <a:r>
              <a:rPr lang="en-US" altLang="zh-CN" sz="2400"/>
              <a:t>ACK</a:t>
            </a:r>
            <a:r>
              <a:rPr lang="zh-CN" altLang="zh-CN" sz="2400"/>
              <a:t>，则：</a:t>
            </a:r>
            <a:br>
              <a:rPr lang="en-US" altLang="zh-CN" sz="2400"/>
            </a:br>
            <a:r>
              <a:rPr lang="en-US" altLang="zh-CN" sz="2400"/>
              <a:t>	</a:t>
            </a:r>
            <a:r>
              <a:rPr lang="zh-CN" altLang="zh-CN" sz="2400"/>
              <a:t>从主机取一个新的数据帧</a:t>
            </a:r>
            <a:br>
              <a:rPr lang="en-US" altLang="zh-CN" sz="2400"/>
            </a:br>
            <a:r>
              <a:rPr lang="en-US" altLang="zh-CN" sz="2400"/>
              <a:t>	V(S) </a:t>
            </a:r>
            <a:r>
              <a:rPr lang="zh-CN" altLang="zh-CN" sz="2400"/>
              <a:t>← </a:t>
            </a:r>
            <a:r>
              <a:rPr lang="en-US" altLang="zh-CN" sz="2400"/>
              <a:t>[1-V</a:t>
            </a:r>
            <a:r>
              <a:rPr lang="zh-CN" altLang="zh-CN" sz="2400"/>
              <a:t>（</a:t>
            </a:r>
            <a:r>
              <a:rPr lang="en-US" altLang="zh-CN" sz="2400"/>
              <a:t>S</a:t>
            </a:r>
            <a:r>
              <a:rPr lang="zh-CN" altLang="zh-CN" sz="2400"/>
              <a:t>）</a:t>
            </a:r>
            <a:r>
              <a:rPr lang="en-US" altLang="zh-CN" sz="2400"/>
              <a:t>](</a:t>
            </a:r>
            <a:r>
              <a:rPr lang="zh-CN" altLang="zh-CN" sz="2400"/>
              <a:t>更新发送状态变量，变为下一个序号</a:t>
            </a:r>
            <a:r>
              <a:rPr lang="en-US" altLang="zh-CN" sz="2400"/>
              <a:t>)</a:t>
            </a:r>
            <a:br>
              <a:rPr lang="en-US" altLang="zh-CN" sz="2400"/>
            </a:br>
            <a:r>
              <a:rPr lang="en-US" altLang="zh-CN" sz="2400"/>
              <a:t>	</a:t>
            </a:r>
            <a:r>
              <a:rPr lang="zh-CN" altLang="zh-CN" sz="2400"/>
              <a:t>转到（</a:t>
            </a:r>
            <a:r>
              <a:rPr lang="en-US" altLang="zh-CN" sz="2400"/>
              <a:t>3</a:t>
            </a:r>
            <a:r>
              <a:rPr lang="zh-CN" altLang="zh-CN" sz="2400"/>
              <a:t>）。</a:t>
            </a:r>
          </a:p>
          <a:p>
            <a:r>
              <a:rPr lang="zh-CN" altLang="zh-CN" sz="2400"/>
              <a:t>（</a:t>
            </a:r>
            <a:r>
              <a:rPr lang="en-US" altLang="zh-CN" sz="2400"/>
              <a:t>8</a:t>
            </a:r>
            <a:r>
              <a:rPr lang="zh-CN" altLang="zh-CN" sz="2400"/>
              <a:t>）若收到否认帧</a:t>
            </a:r>
            <a:r>
              <a:rPr lang="en-US" altLang="zh-CN" sz="2400"/>
              <a:t>NAK</a:t>
            </a:r>
            <a:r>
              <a:rPr lang="zh-CN" altLang="zh-CN" sz="2400"/>
              <a:t>，则转到（</a:t>
            </a:r>
            <a:r>
              <a:rPr lang="en-US" altLang="zh-CN" sz="2400"/>
              <a:t>4</a:t>
            </a:r>
            <a:r>
              <a:rPr lang="zh-CN" altLang="zh-CN" sz="2400"/>
              <a:t>）。（重发数据帧）</a:t>
            </a:r>
          </a:p>
          <a:p>
            <a:r>
              <a:rPr lang="zh-CN" altLang="zh-CN" sz="2400"/>
              <a:t>（</a:t>
            </a:r>
            <a:r>
              <a:rPr lang="en-US" altLang="zh-CN" sz="2400"/>
              <a:t>9</a:t>
            </a:r>
            <a:r>
              <a:rPr lang="zh-CN" altLang="zh-CN" sz="2400"/>
              <a:t>）若超时定时器时间到，则转到（</a:t>
            </a:r>
            <a:r>
              <a:rPr lang="en-US" altLang="zh-CN" sz="2400"/>
              <a:t>4</a:t>
            </a:r>
            <a:r>
              <a:rPr lang="zh-CN" altLang="zh-CN" sz="2400"/>
              <a:t>）。（重发数据帧）</a:t>
            </a:r>
            <a:endParaRPr lang="zh-CN" altLang="en-US" sz="2400"/>
          </a:p>
        </p:txBody>
      </p:sp>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zh-CN" sz="3600"/>
              <a:t>在接收结点</a:t>
            </a:r>
            <a:endParaRPr lang="zh-CN" altLang="en-US" sz="3600"/>
          </a:p>
        </p:txBody>
      </p:sp>
      <p:sp>
        <p:nvSpPr>
          <p:cNvPr id="32771" name="内容占位符 2"/>
          <p:cNvSpPr>
            <a:spLocks noGrp="1"/>
          </p:cNvSpPr>
          <p:nvPr>
            <p:ph idx="1"/>
          </p:nvPr>
        </p:nvSpPr>
        <p:spPr>
          <a:xfrm>
            <a:off x="-33338" y="1365250"/>
            <a:ext cx="12225338" cy="4940300"/>
          </a:xfrm>
        </p:spPr>
        <p:txBody>
          <a:bodyPr/>
          <a:lstStyle/>
          <a:p>
            <a:r>
              <a:rPr lang="zh-CN" altLang="zh-CN" sz="2400"/>
              <a:t>（</a:t>
            </a:r>
            <a:r>
              <a:rPr lang="en-US" altLang="zh-CN" sz="2400"/>
              <a:t>1</a:t>
            </a:r>
            <a:r>
              <a:rPr lang="zh-CN" altLang="zh-CN" sz="2400"/>
              <a:t>） </a:t>
            </a:r>
            <a:r>
              <a:rPr lang="en-US" altLang="zh-CN" sz="2400" b="1"/>
              <a:t>V</a:t>
            </a:r>
            <a:r>
              <a:rPr lang="zh-CN" altLang="zh-CN" sz="2400" b="1"/>
              <a:t>（</a:t>
            </a:r>
            <a:r>
              <a:rPr lang="en-US" altLang="zh-CN" sz="2400" b="1"/>
              <a:t>R</a:t>
            </a:r>
            <a:r>
              <a:rPr lang="zh-CN" altLang="zh-CN" sz="2400" b="1"/>
              <a:t>）</a:t>
            </a:r>
            <a:r>
              <a:rPr lang="zh-CN" altLang="zh-CN" sz="2400"/>
              <a:t>←</a:t>
            </a:r>
            <a:r>
              <a:rPr lang="en-US" altLang="zh-CN" sz="2400"/>
              <a:t> 0</a:t>
            </a:r>
            <a:r>
              <a:rPr lang="zh-CN" altLang="zh-CN" sz="2400"/>
              <a:t>。（</a:t>
            </a:r>
            <a:r>
              <a:rPr lang="zh-CN" altLang="zh-CN" sz="2400" b="1"/>
              <a:t>接收状态变量</a:t>
            </a:r>
            <a:r>
              <a:rPr lang="zh-CN" altLang="zh-CN" sz="2400"/>
              <a:t>初始化，其数值等于欲接收的数据帧的发送序号）</a:t>
            </a:r>
          </a:p>
          <a:p>
            <a:r>
              <a:rPr lang="zh-CN" altLang="zh-CN" sz="2400"/>
              <a:t>（</a:t>
            </a:r>
            <a:r>
              <a:rPr lang="en-US" altLang="zh-CN" sz="2400"/>
              <a:t>2</a:t>
            </a:r>
            <a:r>
              <a:rPr lang="zh-CN" altLang="zh-CN" sz="2400"/>
              <a:t>）等待。</a:t>
            </a:r>
          </a:p>
          <a:p>
            <a:r>
              <a:rPr lang="zh-CN" altLang="zh-CN" sz="2400"/>
              <a:t>（</a:t>
            </a:r>
            <a:r>
              <a:rPr lang="en-US" altLang="zh-CN" sz="2400"/>
              <a:t>3</a:t>
            </a:r>
            <a:r>
              <a:rPr lang="zh-CN" altLang="zh-CN" sz="2400"/>
              <a:t>）当收到一个数据帧，就检查有无产生传输差错（如用</a:t>
            </a:r>
            <a:r>
              <a:rPr lang="en-US" altLang="zh-CN" sz="2400"/>
              <a:t>CRC</a:t>
            </a:r>
            <a:r>
              <a:rPr lang="zh-CN" altLang="zh-CN" sz="2400"/>
              <a:t>）</a:t>
            </a:r>
            <a:br>
              <a:rPr lang="en-US" altLang="zh-CN" sz="2400"/>
            </a:br>
            <a:r>
              <a:rPr lang="en-US" altLang="zh-CN" sz="2400"/>
              <a:t>	</a:t>
            </a:r>
            <a:r>
              <a:rPr lang="zh-CN" altLang="zh-CN" sz="2400"/>
              <a:t>若检查结果正确无误，则执行后续算法；</a:t>
            </a:r>
            <a:br>
              <a:rPr lang="en-US" altLang="zh-CN" sz="2400"/>
            </a:br>
            <a:r>
              <a:rPr lang="en-US" altLang="zh-CN" sz="2400"/>
              <a:t>	</a:t>
            </a:r>
            <a:r>
              <a:rPr lang="zh-CN" altLang="zh-CN" sz="2400"/>
              <a:t>否则转到（</a:t>
            </a:r>
            <a:r>
              <a:rPr lang="en-US" altLang="zh-CN" sz="2400"/>
              <a:t>8</a:t>
            </a:r>
            <a:r>
              <a:rPr lang="zh-CN" altLang="zh-CN" sz="2400"/>
              <a:t>）。</a:t>
            </a:r>
          </a:p>
          <a:p>
            <a:r>
              <a:rPr lang="zh-CN" altLang="zh-CN" sz="2400"/>
              <a:t>（</a:t>
            </a:r>
            <a:r>
              <a:rPr lang="en-US" altLang="zh-CN" sz="2400"/>
              <a:t>4</a:t>
            </a:r>
            <a:r>
              <a:rPr lang="zh-CN" altLang="zh-CN" sz="2400"/>
              <a:t>）若</a:t>
            </a:r>
            <a:r>
              <a:rPr lang="en-US" altLang="zh-CN" sz="2400"/>
              <a:t>N</a:t>
            </a:r>
            <a:r>
              <a:rPr lang="zh-CN" altLang="zh-CN" sz="2400"/>
              <a:t>（</a:t>
            </a:r>
            <a:r>
              <a:rPr lang="en-US" altLang="zh-CN" sz="2400"/>
              <a:t>S</a:t>
            </a:r>
            <a:r>
              <a:rPr lang="zh-CN" altLang="zh-CN" sz="2400"/>
              <a:t>）</a:t>
            </a:r>
            <a:r>
              <a:rPr lang="en-US" altLang="zh-CN" sz="2400"/>
              <a:t>=V</a:t>
            </a:r>
            <a:r>
              <a:rPr lang="zh-CN" altLang="zh-CN" sz="2400"/>
              <a:t>（</a:t>
            </a:r>
            <a:r>
              <a:rPr lang="en-US" altLang="zh-CN" sz="2400"/>
              <a:t>R</a:t>
            </a:r>
            <a:r>
              <a:rPr lang="zh-CN" altLang="zh-CN" sz="2400"/>
              <a:t>），则执行后续算法</a:t>
            </a:r>
            <a:r>
              <a:rPr lang="en-US" altLang="zh-CN" sz="2400"/>
              <a:t>(</a:t>
            </a:r>
            <a:r>
              <a:rPr lang="zh-CN" altLang="zh-CN" sz="2400"/>
              <a:t>收到发送序号正确的数据帧</a:t>
            </a:r>
            <a:r>
              <a:rPr lang="en-US" altLang="zh-CN" sz="2400"/>
              <a:t>)</a:t>
            </a:r>
            <a:r>
              <a:rPr lang="zh-CN" altLang="zh-CN" sz="2400"/>
              <a:t>；</a:t>
            </a:r>
            <a:br>
              <a:rPr lang="en-US" altLang="zh-CN" sz="2400"/>
            </a:br>
            <a:r>
              <a:rPr lang="en-US" altLang="zh-CN" sz="2400"/>
              <a:t>	</a:t>
            </a:r>
            <a:r>
              <a:rPr lang="zh-CN" altLang="zh-CN" sz="2400"/>
              <a:t>否则丢弃此数据帧，然后转到（</a:t>
            </a:r>
            <a:r>
              <a:rPr lang="en-US" altLang="zh-CN" sz="2400"/>
              <a:t>7</a:t>
            </a:r>
            <a:r>
              <a:rPr lang="zh-CN" altLang="zh-CN" sz="2400"/>
              <a:t>）。</a:t>
            </a:r>
          </a:p>
          <a:p>
            <a:r>
              <a:rPr lang="zh-CN" altLang="zh-CN" sz="2400"/>
              <a:t>（</a:t>
            </a:r>
            <a:r>
              <a:rPr lang="en-US" altLang="zh-CN" sz="2400"/>
              <a:t>5</a:t>
            </a:r>
            <a:r>
              <a:rPr lang="zh-CN" altLang="zh-CN" sz="2400"/>
              <a:t>）将收到的数据帧中的数据部分送交主机。</a:t>
            </a:r>
          </a:p>
          <a:p>
            <a:r>
              <a:rPr lang="zh-CN" altLang="zh-CN" sz="2400"/>
              <a:t>（</a:t>
            </a:r>
            <a:r>
              <a:rPr lang="en-US" altLang="zh-CN" sz="2400"/>
              <a:t>6</a:t>
            </a:r>
            <a:r>
              <a:rPr lang="zh-CN" altLang="zh-CN" sz="2400"/>
              <a:t>）</a:t>
            </a:r>
            <a:r>
              <a:rPr lang="en-US" altLang="zh-CN" sz="2400" b="1"/>
              <a:t>V</a:t>
            </a:r>
            <a:r>
              <a:rPr lang="zh-CN" altLang="zh-CN" sz="2400" b="1"/>
              <a:t>（</a:t>
            </a:r>
            <a:r>
              <a:rPr lang="en-US" altLang="zh-CN" sz="2400" b="1"/>
              <a:t>R</a:t>
            </a:r>
            <a:r>
              <a:rPr lang="zh-CN" altLang="zh-CN" sz="2400" b="1"/>
              <a:t>）←</a:t>
            </a:r>
            <a:r>
              <a:rPr lang="en-US" altLang="zh-CN" sz="2400" b="1"/>
              <a:t>[1</a:t>
            </a:r>
            <a:r>
              <a:rPr lang="zh-CN" altLang="zh-CN" sz="2400" b="1"/>
              <a:t>－</a:t>
            </a:r>
            <a:r>
              <a:rPr lang="en-US" altLang="zh-CN" sz="2400" b="1"/>
              <a:t>V</a:t>
            </a:r>
            <a:r>
              <a:rPr lang="zh-CN" altLang="zh-CN" sz="2400" b="1"/>
              <a:t>（</a:t>
            </a:r>
            <a:r>
              <a:rPr lang="en-US" altLang="zh-CN" sz="2400" b="1"/>
              <a:t>R</a:t>
            </a:r>
            <a:r>
              <a:rPr lang="zh-CN" altLang="zh-CN" sz="2400" b="1"/>
              <a:t>）］</a:t>
            </a:r>
            <a:r>
              <a:rPr lang="zh-CN" altLang="zh-CN" sz="2400"/>
              <a:t>。</a:t>
            </a:r>
            <a:r>
              <a:rPr lang="en-US" altLang="zh-CN" sz="2400"/>
              <a:t>  </a:t>
            </a:r>
            <a:r>
              <a:rPr lang="zh-CN" altLang="zh-CN" sz="2400"/>
              <a:t>（更新接收状态变量，准备接收下一个数据帧）</a:t>
            </a:r>
          </a:p>
          <a:p>
            <a:r>
              <a:rPr lang="zh-CN" altLang="zh-CN" sz="2400"/>
              <a:t>（</a:t>
            </a:r>
            <a:r>
              <a:rPr lang="en-US" altLang="zh-CN" sz="2400"/>
              <a:t>7</a:t>
            </a:r>
            <a:r>
              <a:rPr lang="zh-CN" altLang="zh-CN" sz="2400"/>
              <a:t>）发送确认帧</a:t>
            </a:r>
            <a:r>
              <a:rPr lang="en-US" altLang="zh-CN" sz="2400"/>
              <a:t>ACK</a:t>
            </a:r>
            <a:r>
              <a:rPr lang="zh-CN" altLang="zh-CN" sz="2400"/>
              <a:t>，并转到（</a:t>
            </a:r>
            <a:r>
              <a:rPr lang="en-US" altLang="zh-CN" sz="2400"/>
              <a:t>2</a:t>
            </a:r>
            <a:r>
              <a:rPr lang="zh-CN" altLang="zh-CN" sz="2400"/>
              <a:t>）。</a:t>
            </a:r>
          </a:p>
          <a:p>
            <a:r>
              <a:rPr lang="zh-CN" altLang="zh-CN" sz="2400"/>
              <a:t>（</a:t>
            </a:r>
            <a:r>
              <a:rPr lang="en-US" altLang="zh-CN" sz="2400"/>
              <a:t>8</a:t>
            </a:r>
            <a:r>
              <a:rPr lang="zh-CN" altLang="zh-CN" sz="2400"/>
              <a:t>）发送否认帧</a:t>
            </a:r>
            <a:r>
              <a:rPr lang="en-US" altLang="zh-CN" sz="2400"/>
              <a:t>NAK</a:t>
            </a:r>
            <a:r>
              <a:rPr lang="zh-CN" altLang="zh-CN" sz="2400"/>
              <a:t>，并转到（</a:t>
            </a:r>
            <a:r>
              <a:rPr lang="en-US" altLang="zh-CN" sz="2400"/>
              <a:t>2</a:t>
            </a:r>
            <a:r>
              <a:rPr lang="zh-CN" altLang="zh-CN" sz="2400"/>
              <a:t>）。</a:t>
            </a:r>
            <a:endParaRPr lang="zh-CN" altLang="en-US" sz="2400"/>
          </a:p>
        </p:txBody>
      </p:sp>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sz="3600"/>
              <a:t>小结</a:t>
            </a:r>
          </a:p>
        </p:txBody>
      </p:sp>
      <p:sp>
        <p:nvSpPr>
          <p:cNvPr id="33795" name="内容占位符 2"/>
          <p:cNvSpPr>
            <a:spLocks noGrp="1"/>
          </p:cNvSpPr>
          <p:nvPr>
            <p:ph idx="1"/>
          </p:nvPr>
        </p:nvSpPr>
        <p:spPr>
          <a:xfrm>
            <a:off x="385763" y="1298575"/>
            <a:ext cx="11558587" cy="5187950"/>
          </a:xfrm>
        </p:spPr>
        <p:txBody>
          <a:bodyPr/>
          <a:lstStyle/>
          <a:p>
            <a:r>
              <a:rPr lang="zh-CN" altLang="zh-CN" sz="2400"/>
              <a:t>从以上算法可知，停止等待协议中需要特别注意的地方，就是</a:t>
            </a:r>
            <a:r>
              <a:rPr lang="zh-CN" altLang="zh-CN" sz="2400" b="1"/>
              <a:t>在收发两端各设置一个本地状态变量（仅占</a:t>
            </a:r>
            <a:r>
              <a:rPr lang="en-US" altLang="zh-CN" sz="2400" b="1"/>
              <a:t>1</a:t>
            </a:r>
            <a:r>
              <a:rPr lang="zh-CN" altLang="zh-CN" sz="2400" b="1"/>
              <a:t>个比特）</a:t>
            </a:r>
            <a:r>
              <a:rPr lang="zh-CN" altLang="zh-CN" sz="2400"/>
              <a:t>。对于</a:t>
            </a:r>
            <a:r>
              <a:rPr lang="zh-CN" altLang="zh-CN" sz="2400" b="1"/>
              <a:t>状态变量</a:t>
            </a:r>
            <a:r>
              <a:rPr lang="zh-CN" altLang="zh-CN" sz="2400"/>
              <a:t>需要</a:t>
            </a:r>
            <a:r>
              <a:rPr lang="zh-CN" altLang="zh-CN" sz="2400" b="1"/>
              <a:t>注意以下几点：</a:t>
            </a:r>
            <a:endParaRPr lang="zh-CN" altLang="zh-CN" sz="2400"/>
          </a:p>
          <a:p>
            <a:r>
              <a:rPr lang="zh-CN" altLang="zh-CN" sz="2400"/>
              <a:t>（</a:t>
            </a:r>
            <a:r>
              <a:rPr lang="en-US" altLang="zh-CN" sz="2400"/>
              <a:t>l</a:t>
            </a:r>
            <a:r>
              <a:rPr lang="zh-CN" altLang="zh-CN" sz="2400"/>
              <a:t>）每</a:t>
            </a:r>
            <a:r>
              <a:rPr lang="zh-CN" altLang="zh-CN" sz="2400" b="1"/>
              <a:t>发送</a:t>
            </a:r>
            <a:r>
              <a:rPr lang="zh-CN" altLang="zh-CN" sz="2400"/>
              <a:t>一个数据帧，都必须将发送状态变量</a:t>
            </a:r>
            <a:r>
              <a:rPr lang="en-US" altLang="zh-CN" sz="2400" b="1"/>
              <a:t>V</a:t>
            </a:r>
            <a:r>
              <a:rPr lang="zh-CN" altLang="zh-CN" sz="2400" b="1"/>
              <a:t>（</a:t>
            </a:r>
            <a:r>
              <a:rPr lang="en-US" altLang="zh-CN" sz="2400" b="1"/>
              <a:t>S</a:t>
            </a:r>
            <a:r>
              <a:rPr lang="zh-CN" altLang="zh-CN" sz="2400" b="1"/>
              <a:t>）的值</a:t>
            </a:r>
            <a:r>
              <a:rPr lang="zh-CN" altLang="zh-CN" sz="2400"/>
              <a:t>（</a:t>
            </a:r>
            <a:r>
              <a:rPr lang="en-US" altLang="zh-CN" sz="2400"/>
              <a:t>0</a:t>
            </a:r>
            <a:r>
              <a:rPr lang="zh-CN" altLang="zh-CN" sz="2400"/>
              <a:t>或</a:t>
            </a:r>
            <a:r>
              <a:rPr lang="en-US" altLang="zh-CN" sz="2400"/>
              <a:t>1</a:t>
            </a:r>
            <a:r>
              <a:rPr lang="zh-CN" altLang="zh-CN" sz="2400"/>
              <a:t>）</a:t>
            </a:r>
            <a:r>
              <a:rPr lang="zh-CN" altLang="zh-CN" sz="2400" b="1"/>
              <a:t>写</a:t>
            </a:r>
            <a:r>
              <a:rPr lang="zh-CN" altLang="zh-CN" sz="2400"/>
              <a:t>到数据帧的发送序号</a:t>
            </a:r>
            <a:r>
              <a:rPr lang="en-US" altLang="zh-CN" sz="2400" b="1"/>
              <a:t>N</a:t>
            </a:r>
            <a:r>
              <a:rPr lang="zh-CN" altLang="zh-CN" sz="2400" b="1"/>
              <a:t>（</a:t>
            </a:r>
            <a:r>
              <a:rPr lang="en-US" altLang="zh-CN" sz="2400" b="1"/>
              <a:t>S</a:t>
            </a:r>
            <a:r>
              <a:rPr lang="zh-CN" altLang="zh-CN" sz="2400" b="1"/>
              <a:t>）</a:t>
            </a:r>
            <a:r>
              <a:rPr lang="zh-CN" altLang="zh-CN" sz="2400"/>
              <a:t>上。但只有</a:t>
            </a:r>
            <a:r>
              <a:rPr lang="zh-CN" altLang="zh-CN" sz="2400" b="1"/>
              <a:t>收到</a:t>
            </a:r>
            <a:r>
              <a:rPr lang="zh-CN" altLang="zh-CN" sz="2400"/>
              <a:t>一个确认帧</a:t>
            </a:r>
            <a:r>
              <a:rPr lang="en-US" altLang="zh-CN" sz="2400" b="1"/>
              <a:t>ACK</a:t>
            </a:r>
            <a:r>
              <a:rPr lang="zh-CN" altLang="zh-CN" sz="2400"/>
              <a:t>后，才</a:t>
            </a:r>
            <a:r>
              <a:rPr lang="zh-CN" altLang="zh-CN" sz="2400" b="1"/>
              <a:t>更新</a:t>
            </a:r>
            <a:r>
              <a:rPr lang="zh-CN" altLang="zh-CN" sz="2400"/>
              <a:t>发送状态变量</a:t>
            </a:r>
            <a:r>
              <a:rPr lang="en-US" altLang="zh-CN" sz="2400" b="1"/>
              <a:t>V</a:t>
            </a:r>
            <a:r>
              <a:rPr lang="zh-CN" altLang="zh-CN" sz="2400" b="1"/>
              <a:t>（</a:t>
            </a:r>
            <a:r>
              <a:rPr lang="en-US" altLang="zh-CN" sz="2400" b="1"/>
              <a:t>S</a:t>
            </a:r>
            <a:r>
              <a:rPr lang="zh-CN" altLang="zh-CN" sz="2400" b="1"/>
              <a:t>）</a:t>
            </a:r>
            <a:r>
              <a:rPr lang="zh-CN" altLang="zh-CN" sz="2400"/>
              <a:t>一次（将</a:t>
            </a:r>
            <a:r>
              <a:rPr lang="en-US" altLang="zh-CN" sz="2400"/>
              <a:t>1</a:t>
            </a:r>
            <a:r>
              <a:rPr lang="zh-CN" altLang="zh-CN" sz="2400"/>
              <a:t>变成</a:t>
            </a:r>
            <a:r>
              <a:rPr lang="en-US" altLang="zh-CN" sz="2400"/>
              <a:t>0</a:t>
            </a:r>
            <a:r>
              <a:rPr lang="zh-CN" altLang="zh-CN" sz="2400"/>
              <a:t>或</a:t>
            </a:r>
            <a:r>
              <a:rPr lang="en-US" altLang="zh-CN" sz="2400"/>
              <a:t>0</a:t>
            </a:r>
            <a:r>
              <a:rPr lang="zh-CN" altLang="zh-CN" sz="2400"/>
              <a:t>变成</a:t>
            </a:r>
            <a:r>
              <a:rPr lang="en-US" altLang="zh-CN" sz="2400"/>
              <a:t>1</a:t>
            </a:r>
            <a:r>
              <a:rPr lang="zh-CN" altLang="zh-CN" sz="2400"/>
              <a:t>）并</a:t>
            </a:r>
            <a:r>
              <a:rPr lang="zh-CN" altLang="zh-CN" sz="2400" b="1"/>
              <a:t>发</a:t>
            </a:r>
            <a:r>
              <a:rPr lang="zh-CN" altLang="zh-CN" sz="2400"/>
              <a:t>送</a:t>
            </a:r>
            <a:r>
              <a:rPr lang="zh-CN" altLang="zh-CN" sz="2400" b="1"/>
              <a:t>新</a:t>
            </a:r>
            <a:r>
              <a:rPr lang="zh-CN" altLang="zh-CN" sz="2400"/>
              <a:t>的</a:t>
            </a:r>
            <a:r>
              <a:rPr lang="zh-CN" altLang="zh-CN" sz="2400" b="1"/>
              <a:t>数据帧</a:t>
            </a:r>
            <a:r>
              <a:rPr lang="zh-CN" altLang="zh-CN" sz="2400"/>
              <a:t>。</a:t>
            </a:r>
          </a:p>
          <a:p>
            <a:r>
              <a:rPr lang="zh-CN" altLang="zh-CN" sz="2400"/>
              <a:t>（</a:t>
            </a:r>
            <a:r>
              <a:rPr lang="en-US" altLang="zh-CN" sz="2400"/>
              <a:t>2</a:t>
            </a:r>
            <a:r>
              <a:rPr lang="zh-CN" altLang="zh-CN" sz="2400"/>
              <a:t>）在接收端，每</a:t>
            </a:r>
            <a:r>
              <a:rPr lang="zh-CN" altLang="zh-CN" sz="2400" b="1"/>
              <a:t>接收</a:t>
            </a:r>
            <a:r>
              <a:rPr lang="zh-CN" altLang="zh-CN" sz="2400"/>
              <a:t>到一个数据帧，就要将发方在数据帧上设置的发送序号</a:t>
            </a:r>
            <a:r>
              <a:rPr lang="en-US" altLang="zh-CN" sz="2400" b="1"/>
              <a:t>N</a:t>
            </a:r>
            <a:r>
              <a:rPr lang="zh-CN" altLang="zh-CN" sz="2400" b="1"/>
              <a:t>（</a:t>
            </a:r>
            <a:r>
              <a:rPr lang="en-US" altLang="zh-CN" sz="2400" b="1"/>
              <a:t>S</a:t>
            </a:r>
            <a:r>
              <a:rPr lang="zh-CN" altLang="zh-CN" sz="2400" b="1"/>
              <a:t>）</a:t>
            </a:r>
            <a:r>
              <a:rPr lang="zh-CN" altLang="zh-CN" sz="2400"/>
              <a:t>与本地的接收状态变量</a:t>
            </a:r>
            <a:r>
              <a:rPr lang="en-US" altLang="zh-CN" sz="2400" b="1"/>
              <a:t>V</a:t>
            </a:r>
            <a:r>
              <a:rPr lang="zh-CN" altLang="zh-CN" sz="2400" b="1"/>
              <a:t>（</a:t>
            </a:r>
            <a:r>
              <a:rPr lang="en-US" altLang="zh-CN" sz="2400" b="1"/>
              <a:t>R</a:t>
            </a:r>
            <a:r>
              <a:rPr lang="zh-CN" altLang="zh-CN" sz="2400" b="1"/>
              <a:t>）</a:t>
            </a:r>
            <a:r>
              <a:rPr lang="zh-CN" altLang="zh-CN" sz="2400"/>
              <a:t>相</a:t>
            </a:r>
            <a:r>
              <a:rPr lang="zh-CN" altLang="zh-CN" sz="2400" b="1"/>
              <a:t>比较</a:t>
            </a:r>
            <a:r>
              <a:rPr lang="zh-CN" altLang="zh-CN" sz="2400"/>
              <a:t>。若二者</a:t>
            </a:r>
            <a:r>
              <a:rPr lang="zh-CN" altLang="zh-CN" sz="2400" b="1"/>
              <a:t>相等</a:t>
            </a:r>
            <a:r>
              <a:rPr lang="zh-CN" altLang="zh-CN" sz="2400"/>
              <a:t>就表明是</a:t>
            </a:r>
            <a:r>
              <a:rPr lang="zh-CN" altLang="zh-CN" sz="2400" b="1"/>
              <a:t>新</a:t>
            </a:r>
            <a:r>
              <a:rPr lang="zh-CN" altLang="zh-CN" sz="2400"/>
              <a:t>的数据顿，</a:t>
            </a:r>
            <a:r>
              <a:rPr lang="zh-CN" altLang="zh-CN" sz="2400" b="1"/>
              <a:t>否则为重复帧</a:t>
            </a:r>
            <a:r>
              <a:rPr lang="zh-CN" altLang="zh-CN" sz="2400"/>
              <a:t>。</a:t>
            </a:r>
          </a:p>
          <a:p>
            <a:r>
              <a:rPr lang="zh-CN" altLang="zh-CN" sz="2400"/>
              <a:t>（</a:t>
            </a:r>
            <a:r>
              <a:rPr lang="en-US" altLang="zh-CN" sz="2400"/>
              <a:t>3</a:t>
            </a:r>
            <a:r>
              <a:rPr lang="zh-CN" altLang="zh-CN" sz="2400"/>
              <a:t>）在接收端，若</a:t>
            </a:r>
            <a:r>
              <a:rPr lang="zh-CN" altLang="zh-CN" sz="2400" b="1"/>
              <a:t>收</a:t>
            </a:r>
            <a:r>
              <a:rPr lang="zh-CN" altLang="zh-CN" sz="2400"/>
              <a:t>到一个</a:t>
            </a:r>
            <a:r>
              <a:rPr lang="zh-CN" altLang="zh-CN" sz="2400" b="1"/>
              <a:t>重复帧</a:t>
            </a:r>
            <a:r>
              <a:rPr lang="zh-CN" altLang="zh-CN" sz="2400"/>
              <a:t>，则</a:t>
            </a:r>
            <a:r>
              <a:rPr lang="zh-CN" altLang="zh-CN" sz="2400" b="1"/>
              <a:t>丢弃</a:t>
            </a:r>
            <a:r>
              <a:rPr lang="zh-CN" altLang="zh-CN" sz="2400"/>
              <a:t>之（即不做任何处理），且接收状态变量不变，但此时仍须向发送端</a:t>
            </a:r>
            <a:r>
              <a:rPr lang="zh-CN" altLang="zh-CN" sz="2400" b="1"/>
              <a:t>发送</a:t>
            </a:r>
            <a:r>
              <a:rPr lang="zh-CN" altLang="zh-CN" sz="2400"/>
              <a:t>一个确认帧</a:t>
            </a:r>
            <a:r>
              <a:rPr lang="en-US" altLang="zh-CN" sz="2400" b="1"/>
              <a:t>ACK</a:t>
            </a:r>
            <a:r>
              <a:rPr lang="zh-CN" altLang="zh-CN" sz="2400"/>
              <a:t>。</a:t>
            </a:r>
            <a:endParaRPr lang="zh-CN" altLang="en-US" sz="2400"/>
          </a:p>
        </p:txBody>
      </p:sp>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sz="3600"/>
              <a:t>小结（续）</a:t>
            </a:r>
          </a:p>
        </p:txBody>
      </p:sp>
      <p:sp>
        <p:nvSpPr>
          <p:cNvPr id="34819" name="内容占位符 2"/>
          <p:cNvSpPr>
            <a:spLocks noGrp="1"/>
          </p:cNvSpPr>
          <p:nvPr>
            <p:ph idx="1"/>
          </p:nvPr>
        </p:nvSpPr>
        <p:spPr>
          <a:xfrm>
            <a:off x="678391" y="1381125"/>
            <a:ext cx="10742084" cy="4933950"/>
          </a:xfrm>
        </p:spPr>
        <p:txBody>
          <a:bodyPr/>
          <a:lstStyle/>
          <a:p>
            <a:r>
              <a:rPr lang="zh-CN" altLang="zh-CN" sz="2800"/>
              <a:t>我们还应注意到，发送端在发送完数据帧时，必须在其</a:t>
            </a:r>
            <a:r>
              <a:rPr lang="zh-CN" altLang="zh-CN" sz="2800" b="1"/>
              <a:t>发送缓冲区</a:t>
            </a:r>
            <a:r>
              <a:rPr lang="zh-CN" altLang="zh-CN" sz="2800"/>
              <a:t>中保留此数据帧的</a:t>
            </a:r>
            <a:r>
              <a:rPr lang="zh-CN" altLang="zh-CN" sz="2800" b="1"/>
              <a:t>副本</a:t>
            </a:r>
            <a:r>
              <a:rPr lang="zh-CN" altLang="zh-CN" sz="2800"/>
              <a:t>。这样才能在出差错时进行重发。只有在</a:t>
            </a:r>
            <a:r>
              <a:rPr lang="zh-CN" altLang="zh-CN" sz="2800" b="1"/>
              <a:t>收</a:t>
            </a:r>
            <a:r>
              <a:rPr lang="zh-CN" altLang="zh-CN" sz="2800"/>
              <a:t>到对方发来的确认帧</a:t>
            </a:r>
            <a:r>
              <a:rPr lang="en-US" altLang="zh-CN" sz="2800" b="1"/>
              <a:t>ACK</a:t>
            </a:r>
            <a:r>
              <a:rPr lang="zh-CN" altLang="zh-CN" sz="2800"/>
              <a:t>时，方可</a:t>
            </a:r>
            <a:r>
              <a:rPr lang="zh-CN" altLang="zh-CN" sz="2800" b="1"/>
              <a:t>清除</a:t>
            </a:r>
            <a:r>
              <a:rPr lang="zh-CN" altLang="zh-CN" sz="2800"/>
              <a:t>此副本。</a:t>
            </a:r>
          </a:p>
          <a:p>
            <a:r>
              <a:rPr lang="zh-CN" altLang="zh-CN" sz="2800"/>
              <a:t>由于</a:t>
            </a:r>
            <a:r>
              <a:rPr lang="zh-CN" altLang="zh-CN" sz="2800" b="1"/>
              <a:t>发送端对出错的数据帧进行重发是自动进行</a:t>
            </a:r>
            <a:r>
              <a:rPr lang="zh-CN" altLang="zh-CN" sz="2800"/>
              <a:t>的，所以这种差错控制体制常简称为</a:t>
            </a:r>
            <a:r>
              <a:rPr lang="en-US" altLang="zh-CN" sz="2800" b="1"/>
              <a:t>ARQ</a:t>
            </a:r>
            <a:r>
              <a:rPr lang="zh-CN" altLang="zh-CN" sz="2800" b="1"/>
              <a:t>（</a:t>
            </a:r>
            <a:r>
              <a:rPr lang="en-US" altLang="zh-CN" sz="2800" b="1"/>
              <a:t>Automatic  Repeat  reQuest </a:t>
            </a:r>
            <a:r>
              <a:rPr lang="zh-CN" altLang="zh-CN" sz="2800" b="1"/>
              <a:t>）</a:t>
            </a:r>
            <a:r>
              <a:rPr lang="en-US" altLang="zh-CN" sz="2800"/>
              <a:t>, </a:t>
            </a:r>
            <a:r>
              <a:rPr lang="zh-CN" altLang="zh-CN" sz="2800"/>
              <a:t>称为</a:t>
            </a:r>
            <a:r>
              <a:rPr lang="zh-CN" altLang="zh-CN" sz="2800" b="1"/>
              <a:t>自动重发请求</a:t>
            </a:r>
            <a:r>
              <a:rPr lang="zh-CN" altLang="zh-CN" sz="2800"/>
              <a:t>或</a:t>
            </a:r>
            <a:r>
              <a:rPr lang="zh-CN" altLang="zh-CN" sz="2800" b="1"/>
              <a:t>自动请求重发</a:t>
            </a:r>
            <a:r>
              <a:rPr lang="zh-CN" altLang="zh-CN" sz="2800"/>
              <a:t>。</a:t>
            </a:r>
            <a:endParaRPr lang="en-US" altLang="zh-CN" sz="2800"/>
          </a:p>
          <a:p>
            <a:r>
              <a:rPr lang="zh-CN" altLang="zh-CN" sz="2800"/>
              <a:t>以上所讨论的</a:t>
            </a:r>
            <a:r>
              <a:rPr lang="zh-CN" altLang="zh-CN" sz="2800" b="1"/>
              <a:t>停止等待协议</a:t>
            </a:r>
            <a:r>
              <a:rPr lang="en-US" altLang="zh-CN" sz="2800" b="1"/>
              <a:t>ARQ</a:t>
            </a:r>
            <a:r>
              <a:rPr lang="zh-CN" altLang="zh-CN" sz="2800" b="1"/>
              <a:t>的优点</a:t>
            </a:r>
            <a:r>
              <a:rPr lang="zh-CN" altLang="zh-CN" sz="2800"/>
              <a:t>是：比较</a:t>
            </a:r>
            <a:r>
              <a:rPr lang="zh-CN" altLang="zh-CN" sz="2800" b="1"/>
              <a:t>简单</a:t>
            </a:r>
            <a:r>
              <a:rPr lang="zh-CN" altLang="zh-CN" sz="2800"/>
              <a:t>，但</a:t>
            </a:r>
            <a:r>
              <a:rPr lang="zh-CN" altLang="zh-CN" sz="2800" b="1"/>
              <a:t>缺点</a:t>
            </a:r>
            <a:r>
              <a:rPr lang="zh-CN" altLang="zh-CN" sz="2800"/>
              <a:t>是：通信</a:t>
            </a:r>
            <a:r>
              <a:rPr lang="zh-CN" altLang="zh-CN" sz="2800" b="1"/>
              <a:t>信道</a:t>
            </a:r>
            <a:r>
              <a:rPr lang="zh-CN" altLang="zh-CN" sz="2800"/>
              <a:t>的</a:t>
            </a:r>
            <a:r>
              <a:rPr lang="zh-CN" altLang="zh-CN" sz="2800" b="1"/>
              <a:t>利用率不高</a:t>
            </a:r>
            <a:r>
              <a:rPr lang="zh-CN" altLang="zh-CN" sz="2800"/>
              <a:t>。为了克服这一缺点，就产生了另外两种协议，即连续</a:t>
            </a:r>
            <a:r>
              <a:rPr lang="en-US" altLang="zh-CN" sz="2800"/>
              <a:t>ARQ</a:t>
            </a:r>
            <a:r>
              <a:rPr lang="zh-CN" altLang="zh-CN" sz="2800"/>
              <a:t>和选择重传</a:t>
            </a:r>
            <a:r>
              <a:rPr lang="en-US" altLang="zh-CN" sz="2800"/>
              <a:t>ARQ </a:t>
            </a:r>
            <a:endParaRPr lang="zh-CN" altLang="en-US" sz="2800"/>
          </a:p>
        </p:txBody>
      </p:sp>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algn="l"/>
            <a:r>
              <a:rPr lang="en-US" altLang="zh-CN"/>
              <a:t>4.4.2 </a:t>
            </a:r>
            <a:r>
              <a:rPr lang="zh-CN" altLang="en-US"/>
              <a:t>连续</a:t>
            </a:r>
            <a:r>
              <a:rPr lang="en-US" altLang="zh-CN"/>
              <a:t>ARQ</a:t>
            </a:r>
            <a:r>
              <a:rPr lang="zh-CN" altLang="zh-CN"/>
              <a:t>协议</a:t>
            </a:r>
            <a:endParaRPr lang="zh-CN" altLang="en-US"/>
          </a:p>
        </p:txBody>
      </p:sp>
      <p:sp>
        <p:nvSpPr>
          <p:cNvPr id="6147" name="内容占位符 2"/>
          <p:cNvSpPr>
            <a:spLocks noGrp="1"/>
          </p:cNvSpPr>
          <p:nvPr>
            <p:ph idx="1"/>
          </p:nvPr>
        </p:nvSpPr>
        <p:spPr/>
        <p:txBody>
          <a:bodyPr/>
          <a:lstStyle/>
          <a:p>
            <a:r>
              <a:rPr lang="zh-CN" altLang="en-US"/>
              <a:t>工作原理</a:t>
            </a:r>
            <a:endParaRPr lang="en-US" altLang="zh-CN"/>
          </a:p>
          <a:p>
            <a:r>
              <a:rPr lang="zh-CN" altLang="zh-CN" b="1"/>
              <a:t>连续</a:t>
            </a:r>
            <a:r>
              <a:rPr lang="en-US" altLang="zh-CN" b="1"/>
              <a:t> ARQ</a:t>
            </a:r>
            <a:r>
              <a:rPr lang="zh-CN" altLang="zh-CN" b="1"/>
              <a:t>协议</a:t>
            </a:r>
            <a:r>
              <a:rPr lang="zh-CN" altLang="zh-CN"/>
              <a:t>的的要点就是在</a:t>
            </a:r>
            <a:r>
              <a:rPr lang="zh-CN" altLang="zh-CN" b="1"/>
              <a:t>发送</a:t>
            </a:r>
            <a:r>
              <a:rPr lang="zh-CN" altLang="zh-CN"/>
              <a:t>完一个数据</a:t>
            </a:r>
            <a:r>
              <a:rPr lang="zh-CN" altLang="zh-CN" b="1"/>
              <a:t>帧后</a:t>
            </a:r>
            <a:r>
              <a:rPr lang="zh-CN" altLang="zh-CN"/>
              <a:t>，</a:t>
            </a:r>
            <a:r>
              <a:rPr lang="zh-CN" altLang="zh-CN" b="1"/>
              <a:t>不</a:t>
            </a:r>
            <a:r>
              <a:rPr lang="zh-CN" altLang="zh-CN"/>
              <a:t>是停下来</a:t>
            </a:r>
            <a:r>
              <a:rPr lang="zh-CN" altLang="zh-CN" b="1"/>
              <a:t>等待应答</a:t>
            </a:r>
            <a:r>
              <a:rPr lang="zh-CN" altLang="zh-CN"/>
              <a:t>帧，而是可以</a:t>
            </a:r>
            <a:r>
              <a:rPr lang="zh-CN" altLang="zh-CN" b="1"/>
              <a:t>连续再发送</a:t>
            </a:r>
            <a:r>
              <a:rPr lang="zh-CN" altLang="zh-CN"/>
              <a:t>若干个数据</a:t>
            </a:r>
            <a:r>
              <a:rPr lang="zh-CN" altLang="zh-CN" b="1"/>
              <a:t>帧</a:t>
            </a:r>
            <a:r>
              <a:rPr lang="zh-CN" altLang="zh-CN"/>
              <a:t>。如果这时</a:t>
            </a:r>
            <a:r>
              <a:rPr lang="zh-CN" altLang="zh-CN" b="1"/>
              <a:t>收到</a:t>
            </a:r>
            <a:r>
              <a:rPr lang="zh-CN" altLang="zh-CN"/>
              <a:t>了接收端发来的</a:t>
            </a:r>
            <a:r>
              <a:rPr lang="zh-CN" altLang="zh-CN" b="1"/>
              <a:t>确认</a:t>
            </a:r>
            <a:r>
              <a:rPr lang="zh-CN" altLang="zh-CN"/>
              <a:t>帧，那么</a:t>
            </a:r>
            <a:r>
              <a:rPr lang="zh-CN" altLang="zh-CN" b="1"/>
              <a:t>还可以接着发送数据帧</a:t>
            </a:r>
            <a:r>
              <a:rPr lang="zh-CN" altLang="zh-CN"/>
              <a:t>。由于减少了等待时间，整个通信的</a:t>
            </a:r>
            <a:r>
              <a:rPr lang="zh-CN" altLang="zh-CN" b="1"/>
              <a:t>吞吐量</a:t>
            </a:r>
            <a:r>
              <a:rPr lang="zh-CN" altLang="zh-CN"/>
              <a:t>就</a:t>
            </a:r>
            <a:r>
              <a:rPr lang="zh-CN" altLang="zh-CN" b="1"/>
              <a:t>提高</a:t>
            </a:r>
            <a:r>
              <a:rPr lang="zh-CN" altLang="zh-CN"/>
              <a:t>了。</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4958" y="104462"/>
            <a:ext cx="10742084" cy="630238"/>
          </a:xfrm>
        </p:spPr>
        <p:txBody>
          <a:bodyPr/>
          <a:lstStyle/>
          <a:p>
            <a:r>
              <a:rPr lang="zh-CN" altLang="en-US"/>
              <a:t>连续</a:t>
            </a:r>
            <a:r>
              <a:rPr lang="en-US" altLang="zh-CN"/>
              <a:t>ARQ</a:t>
            </a:r>
            <a:r>
              <a:rPr lang="zh-CN" altLang="en-US"/>
              <a:t>协议的工作原理</a:t>
            </a:r>
          </a:p>
        </p:txBody>
      </p:sp>
      <p:sp>
        <p:nvSpPr>
          <p:cNvPr id="3" name="内容占位符 2"/>
          <p:cNvSpPr>
            <a:spLocks noGrp="1"/>
          </p:cNvSpPr>
          <p:nvPr>
            <p:ph idx="1"/>
          </p:nvPr>
        </p:nvSpPr>
        <p:spPr>
          <a:xfrm>
            <a:off x="838200" y="1498602"/>
            <a:ext cx="10925175" cy="2759074"/>
          </a:xfrm>
        </p:spPr>
        <p:txBody>
          <a:bodyPr/>
          <a:lstStyle/>
          <a:p>
            <a:r>
              <a:rPr lang="zh-CN" altLang="zh-CN" sz="2400"/>
              <a:t>如</a:t>
            </a:r>
            <a:r>
              <a:rPr lang="zh-CN" altLang="zh-CN" sz="2400" b="1"/>
              <a:t>图</a:t>
            </a:r>
            <a:r>
              <a:rPr lang="zh-CN" altLang="zh-CN" sz="2400"/>
              <a:t>所示，结点</a:t>
            </a:r>
            <a:r>
              <a:rPr lang="en-US" altLang="zh-CN" sz="2400"/>
              <a:t>A</a:t>
            </a:r>
            <a:r>
              <a:rPr lang="zh-CN" altLang="zh-CN" sz="2400"/>
              <a:t>向结点</a:t>
            </a:r>
            <a:r>
              <a:rPr lang="en-US" altLang="zh-CN" sz="2400"/>
              <a:t>B</a:t>
            </a:r>
            <a:r>
              <a:rPr lang="zh-CN" altLang="zh-CN" sz="2400"/>
              <a:t>发送数据帧。当结点</a:t>
            </a:r>
            <a:r>
              <a:rPr lang="en-US" altLang="zh-CN" sz="2400"/>
              <a:t>A</a:t>
            </a:r>
            <a:r>
              <a:rPr lang="zh-CN" altLang="zh-CN" sz="2400"/>
              <a:t>发完</a:t>
            </a:r>
            <a:r>
              <a:rPr lang="en-US" altLang="zh-CN" sz="2400"/>
              <a:t>0</a:t>
            </a:r>
            <a:r>
              <a:rPr lang="zh-CN" altLang="zh-CN" sz="2400"/>
              <a:t>号帧后，不是停止等待，而是继续发送后续的</a:t>
            </a:r>
            <a:r>
              <a:rPr lang="en-US" altLang="zh-CN" sz="2400"/>
              <a:t>1</a:t>
            </a:r>
            <a:r>
              <a:rPr lang="zh-CN" altLang="zh-CN" sz="2400"/>
              <a:t>号帧、</a:t>
            </a:r>
            <a:r>
              <a:rPr lang="en-US" altLang="zh-CN" sz="2400"/>
              <a:t>2</a:t>
            </a:r>
            <a:r>
              <a:rPr lang="zh-CN" altLang="zh-CN" sz="2400"/>
              <a:t>号帧等。由于连续发送了许多帧，所以</a:t>
            </a:r>
            <a:r>
              <a:rPr lang="zh-CN" altLang="zh-CN" sz="2400" b="1"/>
              <a:t>应答帧</a:t>
            </a:r>
            <a:r>
              <a:rPr lang="zh-CN" altLang="zh-CN" sz="2400"/>
              <a:t>不仅要说明是</a:t>
            </a:r>
            <a:r>
              <a:rPr lang="zh-CN" altLang="zh-CN" sz="2400" b="1"/>
              <a:t>对哪一帧</a:t>
            </a:r>
            <a:r>
              <a:rPr lang="zh-CN" altLang="zh-CN" sz="2400"/>
              <a:t>进行</a:t>
            </a:r>
            <a:r>
              <a:rPr lang="zh-CN" altLang="zh-CN" sz="2400" b="1"/>
              <a:t>确认或否认</a:t>
            </a:r>
            <a:r>
              <a:rPr lang="zh-CN" altLang="zh-CN" sz="2400"/>
              <a:t>，而且应答帧本身也必须编号。</a:t>
            </a:r>
          </a:p>
          <a:p>
            <a:r>
              <a:rPr lang="zh-CN" altLang="zh-CN" sz="2400" b="1"/>
              <a:t>结点</a:t>
            </a:r>
            <a:r>
              <a:rPr lang="en-US" altLang="zh-CN" sz="2400" b="1"/>
              <a:t>B</a:t>
            </a:r>
            <a:r>
              <a:rPr lang="zh-CN" altLang="zh-CN" sz="2400" b="1"/>
              <a:t>正确地收到了</a:t>
            </a:r>
            <a:r>
              <a:rPr lang="en-US" altLang="zh-CN" sz="2400" b="1"/>
              <a:t>0</a:t>
            </a:r>
            <a:r>
              <a:rPr lang="zh-CN" altLang="zh-CN" sz="2400" b="1"/>
              <a:t>号帧和</a:t>
            </a:r>
            <a:r>
              <a:rPr lang="en-US" altLang="zh-CN" sz="2400" b="1"/>
              <a:t>1</a:t>
            </a:r>
            <a:r>
              <a:rPr lang="zh-CN" altLang="zh-CN" sz="2400" b="1"/>
              <a:t>号帧，并送交其主机</a:t>
            </a:r>
            <a:r>
              <a:rPr lang="zh-CN" altLang="zh-CN" sz="2400"/>
              <a:t>。现在设</a:t>
            </a:r>
            <a:r>
              <a:rPr lang="en-US" altLang="zh-CN" sz="2400"/>
              <a:t>2</a:t>
            </a:r>
            <a:r>
              <a:rPr lang="zh-CN" altLang="zh-CN" sz="2400"/>
              <a:t>号帧出了差错，于是结点</a:t>
            </a:r>
            <a:r>
              <a:rPr lang="en-US" altLang="zh-CN" sz="2400"/>
              <a:t>B</a:t>
            </a:r>
            <a:r>
              <a:rPr lang="zh-CN" altLang="zh-CN" sz="2400"/>
              <a:t>就</a:t>
            </a:r>
            <a:r>
              <a:rPr lang="zh-CN" altLang="zh-CN" sz="2400" b="1"/>
              <a:t>将有差错的</a:t>
            </a:r>
            <a:r>
              <a:rPr lang="en-US" altLang="zh-CN" sz="2400" b="1"/>
              <a:t>2</a:t>
            </a:r>
            <a:r>
              <a:rPr lang="zh-CN" altLang="zh-CN" sz="2400" b="1"/>
              <a:t>号帧丢弃</a:t>
            </a:r>
            <a:r>
              <a:rPr lang="zh-CN" altLang="zh-CN" sz="2400"/>
              <a:t>。结点</a:t>
            </a:r>
            <a:r>
              <a:rPr lang="en-US" altLang="zh-CN" sz="2400"/>
              <a:t>B</a:t>
            </a:r>
            <a:r>
              <a:rPr lang="zh-CN" altLang="zh-CN" sz="2400"/>
              <a:t>运行的协议可以有两种选择：一种是在出现差错时就向结点</a:t>
            </a:r>
            <a:r>
              <a:rPr lang="en-US" altLang="zh-CN" sz="2400"/>
              <a:t>A</a:t>
            </a:r>
            <a:r>
              <a:rPr lang="zh-CN" altLang="zh-CN" sz="2400"/>
              <a:t>发送否认帧，另一种则是在</a:t>
            </a:r>
            <a:r>
              <a:rPr lang="zh-CN" altLang="zh-CN" sz="2400" b="1"/>
              <a:t>出现差错时不做任何响应</a:t>
            </a:r>
            <a:r>
              <a:rPr lang="zh-CN" altLang="zh-CN" sz="2400"/>
              <a:t>。我们现在假定采用后一种协议，这种协议比较简单，使用得较多。</a:t>
            </a:r>
          </a:p>
          <a:p>
            <a:endParaRPr lang="zh-CN" altLang="en-US" sz="2400"/>
          </a:p>
        </p:txBody>
      </p:sp>
      <p:pic>
        <p:nvPicPr>
          <p:cNvPr id="4" name="图片 3">
            <a:extLst>
              <a:ext uri="{FF2B5EF4-FFF2-40B4-BE49-F238E27FC236}">
                <a16:creationId xmlns:a16="http://schemas.microsoft.com/office/drawing/2014/main" id="{330C52E7-34C3-4A2A-8B81-5E752B993EE1}"/>
              </a:ext>
            </a:extLst>
          </p:cNvPr>
          <p:cNvPicPr>
            <a:picLocks noChangeAspect="1"/>
          </p:cNvPicPr>
          <p:nvPr/>
        </p:nvPicPr>
        <p:blipFill>
          <a:blip r:embed="rId2"/>
          <a:stretch>
            <a:fillRect/>
          </a:stretch>
        </p:blipFill>
        <p:spPr>
          <a:xfrm>
            <a:off x="838200" y="1148003"/>
            <a:ext cx="10768112" cy="4414597"/>
          </a:xfrm>
          <a:prstGeom prst="rect">
            <a:avLst/>
          </a:prstGeom>
        </p:spPr>
      </p:pic>
    </p:spTree>
    <p:extLst>
      <p:ext uri="{BB962C8B-B14F-4D97-AF65-F5344CB8AC3E}">
        <p14:creationId xmlns:p14="http://schemas.microsoft.com/office/powerpoint/2010/main" val="1917517881"/>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xit" presetSubtype="0" fill="hold" nodeType="clickEffect">
                                  <p:stCondLst>
                                    <p:cond delay="0"/>
                                  </p:stCondLst>
                                  <p:childTnLst>
                                    <p:animEffect transition="out" filter="fade">
                                      <p:cBhvr>
                                        <p:cTn id="16" dur="1000"/>
                                        <p:tgtEl>
                                          <p:spTgt spid="4"/>
                                        </p:tgtEl>
                                      </p:cBhvr>
                                    </p:animEffect>
                                    <p:anim calcmode="lin" valueType="num">
                                      <p:cBhvr>
                                        <p:cTn id="17" dur="1000"/>
                                        <p:tgtEl>
                                          <p:spTgt spid="4"/>
                                        </p:tgtEl>
                                        <p:attrNameLst>
                                          <p:attrName>ppt_x</p:attrName>
                                        </p:attrNameLst>
                                      </p:cBhvr>
                                      <p:tavLst>
                                        <p:tav tm="0">
                                          <p:val>
                                            <p:strVal val="ppt_x"/>
                                          </p:val>
                                        </p:tav>
                                        <p:tav tm="100000">
                                          <p:val>
                                            <p:strVal val="ppt_x"/>
                                          </p:val>
                                        </p:tav>
                                      </p:tavLst>
                                    </p:anim>
                                    <p:anim calcmode="lin" valueType="num">
                                      <p:cBhvr>
                                        <p:cTn id="18" dur="1000"/>
                                        <p:tgtEl>
                                          <p:spTgt spid="4"/>
                                        </p:tgtEl>
                                        <p:attrNameLst>
                                          <p:attrName>ppt_y</p:attrName>
                                        </p:attrNameLst>
                                      </p:cBhvr>
                                      <p:tavLst>
                                        <p:tav tm="0">
                                          <p:val>
                                            <p:strVal val="ppt_y"/>
                                          </p:val>
                                        </p:tav>
                                        <p:tav tm="100000">
                                          <p:val>
                                            <p:strVal val="ppt_y+.1"/>
                                          </p:val>
                                        </p:tav>
                                      </p:tavLst>
                                    </p:anim>
                                    <p:set>
                                      <p:cBhvr>
                                        <p:cTn id="19" dur="1" fill="hold">
                                          <p:stCondLst>
                                            <p:cond delay="999"/>
                                          </p:stCondLst>
                                        </p:cTn>
                                        <p:tgtEl>
                                          <p:spTgt spid="4"/>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4"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4958" y="155575"/>
            <a:ext cx="10742084" cy="630238"/>
          </a:xfrm>
        </p:spPr>
        <p:txBody>
          <a:bodyPr/>
          <a:lstStyle/>
          <a:p>
            <a:r>
              <a:rPr lang="zh-CN" altLang="en-US"/>
              <a:t>这里要注意两点</a:t>
            </a:r>
          </a:p>
        </p:txBody>
      </p:sp>
      <p:sp>
        <p:nvSpPr>
          <p:cNvPr id="3" name="内容占位符 2"/>
          <p:cNvSpPr>
            <a:spLocks noGrp="1"/>
          </p:cNvSpPr>
          <p:nvPr>
            <p:ph idx="1"/>
          </p:nvPr>
        </p:nvSpPr>
        <p:spPr>
          <a:xfrm>
            <a:off x="514350" y="1365250"/>
            <a:ext cx="11239499" cy="4826000"/>
          </a:xfrm>
        </p:spPr>
        <p:txBody>
          <a:bodyPr/>
          <a:lstStyle/>
          <a:p>
            <a:r>
              <a:rPr lang="zh-CN" altLang="zh-CN" sz="2400"/>
              <a:t>（</a:t>
            </a:r>
            <a:r>
              <a:rPr lang="en-US" altLang="zh-CN" sz="2400"/>
              <a:t>1</a:t>
            </a:r>
            <a:r>
              <a:rPr lang="zh-CN" altLang="zh-CN" sz="2400"/>
              <a:t>）</a:t>
            </a:r>
            <a:r>
              <a:rPr lang="zh-CN" altLang="zh-CN" sz="2400" b="1"/>
              <a:t>接收端只按序接收数据帧</a:t>
            </a:r>
            <a:r>
              <a:rPr lang="zh-CN" altLang="zh-CN" sz="2400"/>
              <a:t>。虽然在有</a:t>
            </a:r>
            <a:r>
              <a:rPr lang="zh-CN" altLang="zh-CN" sz="2400" b="1"/>
              <a:t>差错的</a:t>
            </a:r>
            <a:r>
              <a:rPr lang="en-US" altLang="zh-CN" sz="2400" b="1"/>
              <a:t>2</a:t>
            </a:r>
            <a:r>
              <a:rPr lang="zh-CN" altLang="zh-CN" sz="2400" b="1"/>
              <a:t>号帧之后</a:t>
            </a:r>
            <a:r>
              <a:rPr lang="zh-CN" altLang="zh-CN" sz="2400"/>
              <a:t>接着又收到了</a:t>
            </a:r>
            <a:r>
              <a:rPr lang="zh-CN" altLang="zh-CN" sz="2400" b="1"/>
              <a:t>正确的</a:t>
            </a:r>
            <a:r>
              <a:rPr lang="en-US" altLang="zh-CN" sz="2400" b="1"/>
              <a:t>6</a:t>
            </a:r>
            <a:r>
              <a:rPr lang="zh-CN" altLang="zh-CN" sz="2400" b="1"/>
              <a:t>个</a:t>
            </a:r>
            <a:r>
              <a:rPr lang="zh-CN" altLang="zh-CN" sz="2400"/>
              <a:t>数据帧，但都</a:t>
            </a:r>
            <a:r>
              <a:rPr lang="zh-CN" altLang="zh-CN" sz="2400" b="1"/>
              <a:t>必须</a:t>
            </a:r>
            <a:r>
              <a:rPr lang="zh-CN" altLang="zh-CN" sz="2400"/>
              <a:t>将它们</a:t>
            </a:r>
            <a:r>
              <a:rPr lang="zh-CN" altLang="zh-CN" sz="2400" b="1"/>
              <a:t>丢弃</a:t>
            </a:r>
            <a:r>
              <a:rPr lang="zh-CN" altLang="zh-CN" sz="2400"/>
              <a:t>，因为这些帧的发送序号都不是所</a:t>
            </a:r>
            <a:r>
              <a:rPr lang="zh-CN" altLang="zh-CN" sz="2400" b="1"/>
              <a:t>需</a:t>
            </a:r>
            <a:r>
              <a:rPr lang="zh-CN" altLang="zh-CN" sz="2400"/>
              <a:t>的</a:t>
            </a:r>
            <a:r>
              <a:rPr lang="en-US" altLang="zh-CN" sz="2400" b="1"/>
              <a:t>2</a:t>
            </a:r>
            <a:r>
              <a:rPr lang="zh-CN" altLang="zh-CN" sz="2400" b="1"/>
              <a:t>号</a:t>
            </a:r>
            <a:r>
              <a:rPr lang="zh-CN" altLang="zh-CN" sz="2400"/>
              <a:t>。</a:t>
            </a:r>
          </a:p>
          <a:p>
            <a:r>
              <a:rPr lang="zh-CN" altLang="zh-CN" sz="2400"/>
              <a:t>（</a:t>
            </a:r>
            <a:r>
              <a:rPr lang="en-US" altLang="zh-CN" sz="2400"/>
              <a:t>2</a:t>
            </a:r>
            <a:r>
              <a:rPr lang="zh-CN" altLang="zh-CN" sz="2400"/>
              <a:t>）结点</a:t>
            </a:r>
            <a:r>
              <a:rPr lang="en-US" altLang="zh-CN" sz="2400"/>
              <a:t>A</a:t>
            </a:r>
            <a:r>
              <a:rPr lang="zh-CN" altLang="zh-CN" sz="2400"/>
              <a:t>在每</a:t>
            </a:r>
            <a:r>
              <a:rPr lang="zh-CN" altLang="zh-CN" sz="2400" b="1"/>
              <a:t>发送完</a:t>
            </a:r>
            <a:r>
              <a:rPr lang="zh-CN" altLang="zh-CN" sz="2400"/>
              <a:t>一个数据</a:t>
            </a:r>
            <a:r>
              <a:rPr lang="zh-CN" altLang="zh-CN" sz="2400" b="1"/>
              <a:t>帧</a:t>
            </a:r>
            <a:r>
              <a:rPr lang="zh-CN" altLang="zh-CN" sz="2400"/>
              <a:t>时都要</a:t>
            </a:r>
            <a:r>
              <a:rPr lang="zh-CN" altLang="zh-CN" sz="2400" b="1"/>
              <a:t>设置超时定时器</a:t>
            </a:r>
            <a:r>
              <a:rPr lang="zh-CN" altLang="zh-CN" sz="2400"/>
              <a:t>。只要在所设置的超时时间</a:t>
            </a:r>
            <a:r>
              <a:rPr lang="en-US" altLang="zh-CN" sz="2400" b="1"/>
              <a:t>t</a:t>
            </a:r>
            <a:r>
              <a:rPr lang="en-US" altLang="zh-CN" sz="2400" b="1" baseline="-25000"/>
              <a:t>out</a:t>
            </a:r>
            <a:r>
              <a:rPr lang="zh-CN" altLang="zh-CN" sz="2400" b="1"/>
              <a:t>到</a:t>
            </a:r>
            <a:r>
              <a:rPr lang="zh-CN" altLang="zh-CN" sz="2400"/>
              <a:t>而仍</a:t>
            </a:r>
            <a:r>
              <a:rPr lang="zh-CN" altLang="zh-CN" sz="2400" b="1"/>
              <a:t>未收到确认帧</a:t>
            </a:r>
            <a:r>
              <a:rPr lang="zh-CN" altLang="zh-CN" sz="2400"/>
              <a:t>，就要</a:t>
            </a:r>
            <a:r>
              <a:rPr lang="zh-CN" altLang="zh-CN" sz="2400" b="1"/>
              <a:t>重发</a:t>
            </a:r>
            <a:r>
              <a:rPr lang="zh-CN" altLang="zh-CN" sz="2400"/>
              <a:t>相应的数据帧。在等不到</a:t>
            </a:r>
            <a:r>
              <a:rPr lang="en-US" altLang="zh-CN" sz="2400"/>
              <a:t> 2</a:t>
            </a:r>
            <a:r>
              <a:rPr lang="zh-CN" altLang="zh-CN" sz="2400"/>
              <a:t>号帧的确认而重发</a:t>
            </a:r>
            <a:r>
              <a:rPr lang="en-US" altLang="zh-CN" sz="2400"/>
              <a:t> 2</a:t>
            </a:r>
            <a:r>
              <a:rPr lang="zh-CN" altLang="zh-CN" sz="2400"/>
              <a:t>号数据帧时，虽然</a:t>
            </a:r>
            <a:r>
              <a:rPr lang="zh-CN" altLang="zh-CN" sz="2400" b="1"/>
              <a:t>结点</a:t>
            </a:r>
            <a:r>
              <a:rPr lang="en-US" altLang="zh-CN" sz="2400" b="1"/>
              <a:t>A</a:t>
            </a:r>
            <a:r>
              <a:rPr lang="zh-CN" altLang="zh-CN" sz="2400"/>
              <a:t>已经发完了</a:t>
            </a:r>
            <a:r>
              <a:rPr lang="en-US" altLang="zh-CN" sz="2400" b="1"/>
              <a:t>8</a:t>
            </a:r>
            <a:r>
              <a:rPr lang="zh-CN" altLang="zh-CN" sz="2400"/>
              <a:t>号帧，但仍必须</a:t>
            </a:r>
            <a:r>
              <a:rPr lang="zh-CN" altLang="zh-CN" sz="2400" b="1"/>
              <a:t>向回走</a:t>
            </a:r>
            <a:r>
              <a:rPr lang="zh-CN" altLang="zh-CN" sz="2400"/>
              <a:t>，将</a:t>
            </a:r>
            <a:r>
              <a:rPr lang="en-US" altLang="zh-CN" sz="2400"/>
              <a:t>2</a:t>
            </a:r>
            <a:r>
              <a:rPr lang="zh-CN" altLang="zh-CN" sz="2400"/>
              <a:t>号帧及其以后的各帧</a:t>
            </a:r>
            <a:r>
              <a:rPr lang="zh-CN" altLang="zh-CN" sz="2400" b="1"/>
              <a:t>全部</a:t>
            </a:r>
            <a:r>
              <a:rPr lang="zh-CN" altLang="zh-CN" sz="2400"/>
              <a:t>进行</a:t>
            </a:r>
            <a:r>
              <a:rPr lang="zh-CN" altLang="zh-CN" sz="2400" b="1"/>
              <a:t>重传</a:t>
            </a:r>
            <a:r>
              <a:rPr lang="zh-CN" altLang="zh-CN" sz="2400"/>
              <a:t>。正因如此，连续</a:t>
            </a:r>
            <a:r>
              <a:rPr lang="en-US" altLang="zh-CN" sz="2400"/>
              <a:t>ARQ</a:t>
            </a:r>
            <a:r>
              <a:rPr lang="zh-CN" altLang="zh-CN" sz="2400"/>
              <a:t>又称为</a:t>
            </a:r>
            <a:r>
              <a:rPr lang="en-US" altLang="zh-CN" sz="2400" b="1"/>
              <a:t>GO</a:t>
            </a:r>
            <a:r>
              <a:rPr lang="zh-CN" altLang="zh-CN" sz="2400" b="1"/>
              <a:t>－</a:t>
            </a:r>
            <a:r>
              <a:rPr lang="en-US" altLang="zh-CN" sz="2400" b="1"/>
              <a:t>back</a:t>
            </a:r>
            <a:r>
              <a:rPr lang="zh-CN" altLang="zh-CN" sz="2400" b="1"/>
              <a:t>－</a:t>
            </a:r>
            <a:r>
              <a:rPr lang="en-US" altLang="zh-CN" sz="2400" b="1"/>
              <a:t>N  ARQ</a:t>
            </a:r>
            <a:r>
              <a:rPr lang="zh-CN" altLang="zh-CN" sz="2400"/>
              <a:t>，意思是当出现差错必须重传时，要向</a:t>
            </a:r>
            <a:r>
              <a:rPr lang="zh-CN" altLang="zh-CN" sz="2400" b="1"/>
              <a:t>回退</a:t>
            </a:r>
            <a:r>
              <a:rPr lang="en-US" altLang="zh-CN" sz="2400" b="1"/>
              <a:t>N</a:t>
            </a:r>
            <a:r>
              <a:rPr lang="zh-CN" altLang="zh-CN" sz="2400" b="1"/>
              <a:t>个帧</a:t>
            </a:r>
            <a:r>
              <a:rPr lang="zh-CN" altLang="zh-CN" sz="2400"/>
              <a:t>，然后再开始重传。这个</a:t>
            </a:r>
            <a:r>
              <a:rPr lang="en-US" altLang="zh-CN" sz="2400" b="1"/>
              <a:t>N</a:t>
            </a:r>
            <a:r>
              <a:rPr lang="zh-CN" altLang="zh-CN" sz="2400" b="1"/>
              <a:t>是一个抽象的表示，由具体的</a:t>
            </a:r>
            <a:r>
              <a:rPr lang="en-US" altLang="zh-CN" sz="2400" b="1"/>
              <a:t>LINK</a:t>
            </a:r>
            <a:r>
              <a:rPr lang="zh-CN" altLang="zh-CN" sz="2400" b="1"/>
              <a:t>速率、帧长等确定</a:t>
            </a:r>
            <a:r>
              <a:rPr lang="zh-CN" altLang="zh-CN" sz="2400"/>
              <a:t>。</a:t>
            </a:r>
            <a:endParaRPr lang="zh-CN" altLang="en-US" sz="2400"/>
          </a:p>
        </p:txBody>
      </p:sp>
    </p:spTree>
    <p:extLst>
      <p:ext uri="{BB962C8B-B14F-4D97-AF65-F5344CB8AC3E}">
        <p14:creationId xmlns:p14="http://schemas.microsoft.com/office/powerpoint/2010/main" val="1438312826"/>
      </p:ext>
    </p:extLst>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协议分析</a:t>
            </a:r>
          </a:p>
        </p:txBody>
      </p:sp>
      <p:sp>
        <p:nvSpPr>
          <p:cNvPr id="3" name="内容占位符 2"/>
          <p:cNvSpPr>
            <a:spLocks noGrp="1"/>
          </p:cNvSpPr>
          <p:nvPr>
            <p:ph idx="1"/>
          </p:nvPr>
        </p:nvSpPr>
        <p:spPr>
          <a:xfrm>
            <a:off x="723901" y="1489075"/>
            <a:ext cx="10944223" cy="3244850"/>
          </a:xfrm>
        </p:spPr>
        <p:txBody>
          <a:bodyPr/>
          <a:lstStyle/>
          <a:p>
            <a:r>
              <a:rPr lang="zh-CN" altLang="zh-CN" sz="2800"/>
              <a:t>从这里不难看出，连续</a:t>
            </a:r>
            <a:r>
              <a:rPr lang="en-US" altLang="zh-CN" sz="2800"/>
              <a:t>ARQ </a:t>
            </a:r>
            <a:r>
              <a:rPr lang="zh-CN" altLang="zh-CN" sz="2800"/>
              <a:t>协议一方面因</a:t>
            </a:r>
            <a:r>
              <a:rPr lang="zh-CN" altLang="zh-CN" sz="2800" b="1"/>
              <a:t>连续发送</a:t>
            </a:r>
            <a:r>
              <a:rPr lang="zh-CN" altLang="zh-CN" sz="2800"/>
              <a:t>数据帧而</a:t>
            </a:r>
            <a:r>
              <a:rPr lang="zh-CN" altLang="zh-CN" sz="2800" b="1"/>
              <a:t>提高</a:t>
            </a:r>
            <a:r>
              <a:rPr lang="zh-CN" altLang="zh-CN" sz="2800"/>
              <a:t>了</a:t>
            </a:r>
            <a:r>
              <a:rPr lang="zh-CN" altLang="zh-CN" sz="2800" b="1"/>
              <a:t>效率</a:t>
            </a:r>
            <a:r>
              <a:rPr lang="zh-CN" altLang="zh-CN" sz="2800"/>
              <a:t>，但另一方面，在重传时又必须把原来</a:t>
            </a:r>
            <a:r>
              <a:rPr lang="zh-CN" altLang="zh-CN" sz="2800" b="1"/>
              <a:t>已正确传送过的数据帧进行重传</a:t>
            </a:r>
            <a:r>
              <a:rPr lang="zh-CN" altLang="zh-CN" sz="2800"/>
              <a:t>（仅因这些数据帧之前有一个数据帧出了错），这种做法又</a:t>
            </a:r>
            <a:r>
              <a:rPr lang="zh-CN" altLang="zh-CN" sz="2800" b="1"/>
              <a:t>使传送效率降低</a:t>
            </a:r>
            <a:r>
              <a:rPr lang="zh-CN" altLang="zh-CN" sz="2800"/>
              <a:t>。由此可见，若传输信道的传输质量很差因而</a:t>
            </a:r>
            <a:r>
              <a:rPr lang="zh-CN" altLang="zh-CN" sz="2800" b="1"/>
              <a:t>误码率较大时</a:t>
            </a:r>
            <a:r>
              <a:rPr lang="zh-CN" altLang="zh-CN" sz="2800"/>
              <a:t>，连续</a:t>
            </a:r>
            <a:r>
              <a:rPr lang="en-US" altLang="zh-CN" sz="2800"/>
              <a:t>ARQ </a:t>
            </a:r>
            <a:r>
              <a:rPr lang="zh-CN" altLang="zh-CN" sz="2800"/>
              <a:t>协议</a:t>
            </a:r>
            <a:r>
              <a:rPr lang="zh-CN" altLang="zh-CN" sz="2800" b="1"/>
              <a:t>不一定优于停止等待协议</a:t>
            </a:r>
            <a:r>
              <a:rPr lang="zh-CN" altLang="zh-CN" sz="2800"/>
              <a:t>。</a:t>
            </a:r>
          </a:p>
          <a:p>
            <a:r>
              <a:rPr lang="zh-CN" altLang="zh-CN" sz="2800"/>
              <a:t>如果</a:t>
            </a:r>
            <a:r>
              <a:rPr lang="en-US" altLang="zh-CN" sz="2800" b="1"/>
              <a:t>2</a:t>
            </a:r>
            <a:r>
              <a:rPr lang="zh-CN" altLang="zh-CN" sz="2800" b="1"/>
              <a:t>号数据帧</a:t>
            </a:r>
            <a:r>
              <a:rPr lang="zh-CN" altLang="zh-CN" sz="2800"/>
              <a:t>不是出现差错而是彻底</a:t>
            </a:r>
            <a:r>
              <a:rPr lang="zh-CN" altLang="zh-CN" sz="2800" b="1"/>
              <a:t>丢失</a:t>
            </a:r>
            <a:r>
              <a:rPr lang="zh-CN" altLang="zh-CN" sz="2800"/>
              <a:t>了，那么</a:t>
            </a:r>
            <a:r>
              <a:rPr lang="zh-CN" altLang="zh-CN" sz="2800" b="1"/>
              <a:t>情况</a:t>
            </a:r>
            <a:r>
              <a:rPr lang="zh-CN" altLang="zh-CN" sz="2800"/>
              <a:t>也</a:t>
            </a:r>
            <a:r>
              <a:rPr lang="zh-CN" altLang="zh-CN" sz="2800" b="1"/>
              <a:t>类似</a:t>
            </a:r>
            <a:r>
              <a:rPr lang="zh-CN" altLang="zh-CN" sz="2800"/>
              <a:t>。</a:t>
            </a:r>
            <a:endParaRPr lang="zh-CN" altLang="en-US" sz="2800"/>
          </a:p>
        </p:txBody>
      </p:sp>
    </p:spTree>
    <p:extLst>
      <p:ext uri="{BB962C8B-B14F-4D97-AF65-F5344CB8AC3E}">
        <p14:creationId xmlns:p14="http://schemas.microsoft.com/office/powerpoint/2010/main" val="230214078"/>
      </p:ext>
    </p:extLst>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algn="just"/>
            <a:r>
              <a:rPr lang="en-US" altLang="zh-CN" sz="3600"/>
              <a:t>4.5 </a:t>
            </a:r>
            <a:r>
              <a:rPr lang="zh-CN" altLang="zh-CN" sz="3600"/>
              <a:t>信道利用率与最佳帧长度</a:t>
            </a:r>
            <a:endParaRPr lang="zh-CN" altLang="en-US" sz="3600"/>
          </a:p>
        </p:txBody>
      </p:sp>
      <p:sp>
        <p:nvSpPr>
          <p:cNvPr id="6147" name="内容占位符 2"/>
          <p:cNvSpPr>
            <a:spLocks noGrp="1"/>
          </p:cNvSpPr>
          <p:nvPr>
            <p:ph idx="1"/>
          </p:nvPr>
        </p:nvSpPr>
        <p:spPr>
          <a:xfrm>
            <a:off x="723901" y="1289051"/>
            <a:ext cx="11077574" cy="4797519"/>
          </a:xfrm>
        </p:spPr>
        <p:txBody>
          <a:bodyPr/>
          <a:lstStyle/>
          <a:p>
            <a:r>
              <a:rPr lang="zh-CN" altLang="zh-CN" sz="2400"/>
              <a:t>由于每个</a:t>
            </a:r>
            <a:r>
              <a:rPr lang="zh-CN" altLang="zh-CN" sz="2400" b="1"/>
              <a:t>数据帧</a:t>
            </a:r>
            <a:r>
              <a:rPr lang="zh-CN" altLang="zh-CN" sz="2400"/>
              <a:t>都必须</a:t>
            </a:r>
            <a:r>
              <a:rPr lang="zh-CN" altLang="zh-CN" sz="2400" b="1"/>
              <a:t>包含</a:t>
            </a:r>
            <a:r>
              <a:rPr lang="zh-CN" altLang="zh-CN" sz="2400"/>
              <a:t>一定的</a:t>
            </a:r>
            <a:r>
              <a:rPr lang="zh-CN" altLang="zh-CN" sz="2400" b="1"/>
              <a:t>控制信息</a:t>
            </a:r>
            <a:r>
              <a:rPr lang="zh-CN" altLang="zh-CN" sz="2400"/>
              <a:t>（如帧的序号、地址、同步信息以及其他的一些控制信息），所以即使连续不停地发送数据帧，</a:t>
            </a:r>
            <a:r>
              <a:rPr lang="zh-CN" altLang="zh-CN" sz="2400" b="1"/>
              <a:t>信道</a:t>
            </a:r>
            <a:r>
              <a:rPr lang="zh-CN" altLang="zh-CN" sz="2400"/>
              <a:t>的</a:t>
            </a:r>
            <a:r>
              <a:rPr lang="zh-CN" altLang="zh-CN" sz="2400" b="1"/>
              <a:t>利用率</a:t>
            </a:r>
            <a:r>
              <a:rPr lang="zh-CN" altLang="zh-CN" sz="2400"/>
              <a:t>（即扣除全部的控制信息后的数据率与信道容量之比）也</a:t>
            </a:r>
            <a:r>
              <a:rPr lang="zh-CN" altLang="zh-CN" sz="2400" b="1"/>
              <a:t>不可能达到</a:t>
            </a:r>
            <a:r>
              <a:rPr lang="en-US" altLang="zh-CN" sz="2400" b="1"/>
              <a:t> 100</a:t>
            </a:r>
            <a:r>
              <a:rPr lang="zh-CN" altLang="zh-CN" sz="2400" b="1"/>
              <a:t>％</a:t>
            </a:r>
            <a:r>
              <a:rPr lang="zh-CN" altLang="zh-CN" sz="2400"/>
              <a:t>。当出现差错时（这是不可避免的），数据帧的不断重传将进一步使信道利用率降低。</a:t>
            </a:r>
          </a:p>
          <a:p>
            <a:r>
              <a:rPr lang="zh-CN" altLang="zh-CN" sz="2400"/>
              <a:t>很明显，若数据帧的帧长取得很短，那么控制信息在每一帧中所占的比例就增大，因而额外开销增大，这就导致信道利用率的下降。但反过来，若帧长取得太长，则数据帧在传输过程中出错的概率就增大，于是重传次数将增大，这也会使信道利用率下降。由此可见，</a:t>
            </a:r>
            <a:r>
              <a:rPr lang="zh-CN" altLang="zh-CN" sz="2400" b="1"/>
              <a:t>存在</a:t>
            </a:r>
            <a:r>
              <a:rPr lang="zh-CN" altLang="zh-CN" sz="2400"/>
              <a:t>一个</a:t>
            </a:r>
            <a:r>
              <a:rPr lang="zh-CN" altLang="zh-CN" sz="2400" b="1"/>
              <a:t>最佳帧长</a:t>
            </a:r>
            <a:r>
              <a:rPr lang="zh-CN" altLang="zh-CN" sz="2400"/>
              <a:t>，在</a:t>
            </a:r>
            <a:r>
              <a:rPr lang="zh-CN" altLang="zh-CN" sz="2400" b="1"/>
              <a:t>此帧长下信道的利用率最高</a:t>
            </a:r>
            <a:r>
              <a:rPr lang="zh-CN" altLang="zh-CN" sz="2400"/>
              <a:t>。</a:t>
            </a:r>
            <a:endParaRPr lang="zh-CN" altLang="en-US" sz="240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sz="2400"/>
              <a:t>信道利用率</a:t>
            </a:r>
            <a:r>
              <a:rPr lang="en-US" altLang="zh-CN" sz="2400"/>
              <a:t>U</a:t>
            </a:r>
            <a:r>
              <a:rPr lang="zh-CN" altLang="zh-CN" sz="2400"/>
              <a:t>与每帧中的数据长度</a:t>
            </a:r>
            <a:r>
              <a:rPr lang="en-US" altLang="zh-CN" sz="2400"/>
              <a:t>l</a:t>
            </a:r>
            <a:r>
              <a:rPr lang="en-US" altLang="zh-CN" sz="2400" baseline="-25000"/>
              <a:t>d</a:t>
            </a:r>
            <a:r>
              <a:rPr lang="en-US" altLang="zh-CN" sz="2400"/>
              <a:t> </a:t>
            </a:r>
            <a:r>
              <a:rPr lang="zh-CN" altLang="zh-CN" sz="2400"/>
              <a:t>的关系曲线</a:t>
            </a:r>
            <a:endParaRPr lang="zh-CN" altLang="en-US" sz="2400"/>
          </a:p>
        </p:txBody>
      </p:sp>
      <p:sp>
        <p:nvSpPr>
          <p:cNvPr id="3" name="内容占位符 2"/>
          <p:cNvSpPr>
            <a:spLocks noGrp="1"/>
          </p:cNvSpPr>
          <p:nvPr>
            <p:ph idx="1"/>
          </p:nvPr>
        </p:nvSpPr>
        <p:spPr>
          <a:xfrm>
            <a:off x="927100" y="1385181"/>
            <a:ext cx="10742084" cy="1612019"/>
          </a:xfrm>
        </p:spPr>
        <p:txBody>
          <a:bodyPr/>
          <a:lstStyle/>
          <a:p>
            <a:r>
              <a:rPr lang="zh-CN" altLang="zh-CN" sz="2400"/>
              <a:t>所得的信道利用率</a:t>
            </a:r>
            <a:r>
              <a:rPr lang="en-US" altLang="zh-CN" sz="2400" b="1"/>
              <a:t>U</a:t>
            </a:r>
            <a:r>
              <a:rPr lang="zh-CN" altLang="zh-CN" sz="2400"/>
              <a:t>与每帧中的数据长度</a:t>
            </a:r>
            <a:r>
              <a:rPr lang="en-US" altLang="zh-CN" sz="2400" b="1"/>
              <a:t>l</a:t>
            </a:r>
            <a:r>
              <a:rPr lang="en-US" altLang="zh-CN" sz="2400" b="1" baseline="-25000"/>
              <a:t>d</a:t>
            </a:r>
            <a:r>
              <a:rPr lang="en-US" altLang="zh-CN" sz="2400"/>
              <a:t> </a:t>
            </a:r>
            <a:r>
              <a:rPr lang="zh-CN" altLang="zh-CN" sz="2400"/>
              <a:t>的关系曲线如下图所示。</a:t>
            </a:r>
            <a:endParaRPr lang="en-US" altLang="zh-CN" sz="2400"/>
          </a:p>
          <a:p>
            <a:r>
              <a:rPr lang="zh-CN" altLang="zh-CN" sz="2400"/>
              <a:t>图中曲线的变化趋势与上面的理论分析完全一致。</a:t>
            </a:r>
            <a:endParaRPr lang="en-US" altLang="zh-CN" sz="2400"/>
          </a:p>
          <a:p>
            <a:r>
              <a:rPr lang="zh-CN" altLang="zh-CN" sz="2400"/>
              <a:t>我们还可看出，无论是哪种情况，</a:t>
            </a:r>
            <a:r>
              <a:rPr lang="zh-CN" altLang="zh-CN" sz="2400" b="1"/>
              <a:t>最佳帧长</a:t>
            </a:r>
            <a:r>
              <a:rPr lang="zh-CN" altLang="zh-CN" sz="2400"/>
              <a:t>大体在</a:t>
            </a:r>
            <a:r>
              <a:rPr lang="en-US" altLang="zh-CN" sz="2400" b="1"/>
              <a:t> 1000</a:t>
            </a:r>
            <a:r>
              <a:rPr lang="zh-CN" altLang="zh-CN" sz="2400" b="1"/>
              <a:t>－</a:t>
            </a:r>
            <a:r>
              <a:rPr lang="en-US" altLang="zh-CN" sz="2400" b="1"/>
              <a:t>2000 bit</a:t>
            </a:r>
            <a:r>
              <a:rPr lang="zh-CN" altLang="zh-CN" sz="2400"/>
              <a:t>之</a:t>
            </a:r>
            <a:r>
              <a:rPr lang="zh-CN" altLang="zh-CN" sz="2400" b="1"/>
              <a:t>间</a:t>
            </a:r>
            <a:r>
              <a:rPr lang="zh-CN" altLang="zh-CN" sz="2400"/>
              <a:t>。</a:t>
            </a:r>
            <a:endParaRPr lang="zh-CN" altLang="en-US" sz="2400"/>
          </a:p>
        </p:txBody>
      </p:sp>
      <p:pic>
        <p:nvPicPr>
          <p:cNvPr id="46083" name="Picture 3" descr="利用率"/>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9902" y="3184816"/>
            <a:ext cx="9390082" cy="3450934"/>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2696811"/>
      </p:ext>
    </p:extLst>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2" name="Text Box 2"/>
          <p:cNvSpPr txBox="1">
            <a:spLocks noChangeArrowheads="1"/>
          </p:cNvSpPr>
          <p:nvPr/>
        </p:nvSpPr>
        <p:spPr bwMode="auto">
          <a:xfrm>
            <a:off x="2895601" y="2814638"/>
            <a:ext cx="6448425" cy="143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sz="8800">
              <a:latin typeface="华文行楷" panose="02010800040101010101" pitchFamily="2" charset="-122"/>
              <a:ea typeface="华文行楷" panose="02010800040101010101" pitchFamily="2" charset="-122"/>
            </a:endParaRPr>
          </a:p>
        </p:txBody>
      </p:sp>
      <p:sp>
        <p:nvSpPr>
          <p:cNvPr id="803843" name="Rectangle 3"/>
          <p:cNvSpPr>
            <a:spLocks noGrp="1" noChangeArrowheads="1"/>
          </p:cNvSpPr>
          <p:nvPr>
            <p:ph type="title"/>
          </p:nvPr>
        </p:nvSpPr>
        <p:spPr>
          <a:xfrm>
            <a:off x="304800" y="0"/>
            <a:ext cx="9701213" cy="996950"/>
          </a:xfrm>
          <a:noFill/>
        </p:spPr>
        <p:txBody>
          <a:bodyPr/>
          <a:lstStyle/>
          <a:p>
            <a:pPr algn="l"/>
            <a:r>
              <a:rPr lang="en-US" altLang="zh-CN" sz="3600">
                <a:latin typeface="新宋体" pitchFamily="49" charset="-122"/>
                <a:ea typeface="新宋体" pitchFamily="49" charset="-122"/>
              </a:rPr>
              <a:t>4.6 </a:t>
            </a:r>
            <a:r>
              <a:rPr lang="zh-CN" altLang="en-US" sz="3600">
                <a:latin typeface="新宋体" pitchFamily="49" charset="-122"/>
                <a:ea typeface="新宋体" pitchFamily="49" charset="-122"/>
              </a:rPr>
              <a:t>链路层协议</a:t>
            </a:r>
          </a:p>
        </p:txBody>
      </p:sp>
      <p:sp>
        <p:nvSpPr>
          <p:cNvPr id="803844" name="Text Box 4"/>
          <p:cNvSpPr txBox="1">
            <a:spLocks noChangeArrowheads="1"/>
          </p:cNvSpPr>
          <p:nvPr/>
        </p:nvSpPr>
        <p:spPr bwMode="auto">
          <a:xfrm>
            <a:off x="3792538" y="1600201"/>
            <a:ext cx="5054600"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kumimoji="1" sz="2400">
                <a:solidFill>
                  <a:schemeClr val="tx1"/>
                </a:solidFill>
                <a:latin typeface="Times New Roman" pitchFamily="18" charset="0"/>
                <a:ea typeface="宋体" pitchFamily="2" charset="-122"/>
              </a:defRPr>
            </a:lvl1pPr>
            <a:lvl2pPr marL="66675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Clr>
                <a:schemeClr val="tx2"/>
              </a:buClr>
              <a:buFont typeface="Wingdings" pitchFamily="2" charset="2"/>
              <a:buChar char="§"/>
            </a:pPr>
            <a:r>
              <a:rPr lang="en-US" altLang="zh-CN" sz="3600"/>
              <a:t>LAN: Ethernet</a:t>
            </a:r>
          </a:p>
          <a:p>
            <a:pPr>
              <a:spcBef>
                <a:spcPct val="50000"/>
              </a:spcBef>
              <a:buClr>
                <a:schemeClr val="tx2"/>
              </a:buClr>
              <a:buFont typeface="Wingdings" pitchFamily="2" charset="2"/>
              <a:buChar char="§"/>
            </a:pPr>
            <a:r>
              <a:rPr lang="en-US" altLang="zh-CN" sz="3600">
                <a:solidFill>
                  <a:srgbClr val="FF0000"/>
                </a:solidFill>
              </a:rPr>
              <a:t>WAN: HDLC</a:t>
            </a:r>
          </a:p>
          <a:p>
            <a:pPr>
              <a:spcBef>
                <a:spcPct val="50000"/>
              </a:spcBef>
              <a:buClr>
                <a:schemeClr val="tx2"/>
              </a:buClr>
              <a:buFont typeface="Wingdings" pitchFamily="2" charset="2"/>
              <a:buChar char="§"/>
            </a:pPr>
            <a:r>
              <a:rPr lang="en-US" altLang="zh-CN" sz="3600">
                <a:solidFill>
                  <a:srgbClr val="FF0000"/>
                </a:solidFill>
              </a:rPr>
              <a:t>Internet: SLIP</a:t>
            </a:r>
            <a:r>
              <a:rPr lang="zh-CN" altLang="en-US" sz="3600">
                <a:solidFill>
                  <a:srgbClr val="FF0000"/>
                </a:solidFill>
              </a:rPr>
              <a:t>，</a:t>
            </a:r>
            <a:r>
              <a:rPr lang="en-US" altLang="zh-CN" sz="3600">
                <a:solidFill>
                  <a:srgbClr val="FF0000"/>
                </a:solidFill>
              </a:rPr>
              <a:t>PPP</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03844">
                                            <p:txEl>
                                              <p:pRg st="0" end="0"/>
                                            </p:txEl>
                                          </p:spTgt>
                                        </p:tgtEl>
                                        <p:attrNameLst>
                                          <p:attrName>style.visibility</p:attrName>
                                        </p:attrNameLst>
                                      </p:cBhvr>
                                      <p:to>
                                        <p:strVal val="visible"/>
                                      </p:to>
                                    </p:set>
                                    <p:anim calcmode="lin" valueType="num">
                                      <p:cBhvr additive="base">
                                        <p:cTn id="7" dur="500" fill="hold"/>
                                        <p:tgtEl>
                                          <p:spTgt spid="80384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0384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03844">
                                            <p:txEl>
                                              <p:pRg st="1" end="1"/>
                                            </p:txEl>
                                          </p:spTgt>
                                        </p:tgtEl>
                                        <p:attrNameLst>
                                          <p:attrName>style.visibility</p:attrName>
                                        </p:attrNameLst>
                                      </p:cBhvr>
                                      <p:to>
                                        <p:strVal val="visible"/>
                                      </p:to>
                                    </p:set>
                                    <p:anim calcmode="lin" valueType="num">
                                      <p:cBhvr additive="base">
                                        <p:cTn id="13" dur="500" fill="hold"/>
                                        <p:tgtEl>
                                          <p:spTgt spid="80384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0384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03844">
                                            <p:txEl>
                                              <p:pRg st="2" end="2"/>
                                            </p:txEl>
                                          </p:spTgt>
                                        </p:tgtEl>
                                        <p:attrNameLst>
                                          <p:attrName>style.visibility</p:attrName>
                                        </p:attrNameLst>
                                      </p:cBhvr>
                                      <p:to>
                                        <p:strVal val="visible"/>
                                      </p:to>
                                    </p:set>
                                    <p:anim calcmode="lin" valueType="num">
                                      <p:cBhvr additive="base">
                                        <p:cTn id="19" dur="500" fill="hold"/>
                                        <p:tgtEl>
                                          <p:spTgt spid="80384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03844">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3844"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6" name="Rectangle 2"/>
          <p:cNvSpPr>
            <a:spLocks noGrp="1" noChangeArrowheads="1"/>
          </p:cNvSpPr>
          <p:nvPr>
            <p:ph type="title"/>
          </p:nvPr>
        </p:nvSpPr>
        <p:spPr>
          <a:xfrm>
            <a:off x="0" y="1"/>
            <a:ext cx="10031413" cy="1058863"/>
          </a:xfrm>
          <a:noFill/>
        </p:spPr>
        <p:txBody>
          <a:bodyPr/>
          <a:lstStyle/>
          <a:p>
            <a:pPr algn="l"/>
            <a:r>
              <a:rPr lang="en-US" altLang="zh-CN" sz="3600">
                <a:latin typeface="新宋体" pitchFamily="49" charset="-122"/>
                <a:ea typeface="新宋体" pitchFamily="49" charset="-122"/>
              </a:rPr>
              <a:t>4.6.1 WAN</a:t>
            </a:r>
            <a:r>
              <a:rPr lang="zh-CN" altLang="en-US" sz="3600">
                <a:latin typeface="新宋体" pitchFamily="49" charset="-122"/>
                <a:ea typeface="新宋体" pitchFamily="49" charset="-122"/>
              </a:rPr>
              <a:t>链路协议簇</a:t>
            </a:r>
          </a:p>
        </p:txBody>
      </p:sp>
      <p:sp>
        <p:nvSpPr>
          <p:cNvPr id="804867" name="Text Box 3"/>
          <p:cNvSpPr txBox="1">
            <a:spLocks noChangeArrowheads="1"/>
          </p:cNvSpPr>
          <p:nvPr/>
        </p:nvSpPr>
        <p:spPr bwMode="auto">
          <a:xfrm>
            <a:off x="1881188" y="1585914"/>
            <a:ext cx="8591550" cy="326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kumimoji="1" sz="2400">
                <a:solidFill>
                  <a:schemeClr val="tx1"/>
                </a:solidFill>
                <a:latin typeface="Times New Roman" pitchFamily="18" charset="0"/>
                <a:ea typeface="宋体" pitchFamily="2" charset="-122"/>
              </a:defRPr>
            </a:lvl1pPr>
            <a:lvl2pPr marL="57150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spcBef>
                <a:spcPct val="10000"/>
              </a:spcBef>
              <a:buClr>
                <a:schemeClr val="hlink"/>
              </a:buClr>
              <a:buSzPct val="75000"/>
              <a:buFont typeface="Monotype Sorts" pitchFamily="2" charset="2"/>
              <a:buChar char="q"/>
            </a:pPr>
            <a:r>
              <a:rPr kumimoji="0" lang="en-US" altLang="zh-CN"/>
              <a:t>Synchronous Data Link Control (</a:t>
            </a:r>
            <a:r>
              <a:rPr kumimoji="0" lang="en-US" altLang="zh-CN">
                <a:solidFill>
                  <a:schemeClr val="tx2"/>
                </a:solidFill>
              </a:rPr>
              <a:t>SDLC</a:t>
            </a:r>
            <a:r>
              <a:rPr kumimoji="0" lang="en-US" altLang="zh-CN"/>
              <a:t>): IBM</a:t>
            </a:r>
          </a:p>
          <a:p>
            <a:pPr eaLnBrk="0" hangingPunct="0">
              <a:spcBef>
                <a:spcPct val="10000"/>
              </a:spcBef>
              <a:buClr>
                <a:schemeClr val="hlink"/>
              </a:buClr>
              <a:buSzPct val="75000"/>
              <a:buFont typeface="Monotype Sorts" pitchFamily="2" charset="2"/>
              <a:buChar char="q"/>
            </a:pPr>
            <a:r>
              <a:rPr kumimoji="0" lang="en-US" altLang="zh-CN" b="1">
                <a:solidFill>
                  <a:schemeClr val="tx2"/>
                </a:solidFill>
              </a:rPr>
              <a:t>High-Level Data Link Control (</a:t>
            </a:r>
            <a:r>
              <a:rPr kumimoji="0" lang="en-US" altLang="zh-CN">
                <a:solidFill>
                  <a:schemeClr val="tx2"/>
                </a:solidFill>
              </a:rPr>
              <a:t>HDLC</a:t>
            </a:r>
            <a:r>
              <a:rPr kumimoji="0" lang="en-US" altLang="zh-CN" b="1">
                <a:solidFill>
                  <a:schemeClr val="tx2"/>
                </a:solidFill>
              </a:rPr>
              <a:t>): ISO</a:t>
            </a:r>
            <a:endParaRPr kumimoji="0" lang="en-US" altLang="zh-CN">
              <a:solidFill>
                <a:schemeClr val="tx2"/>
              </a:solidFill>
            </a:endParaRPr>
          </a:p>
          <a:p>
            <a:pPr eaLnBrk="0" hangingPunct="0">
              <a:spcBef>
                <a:spcPct val="10000"/>
              </a:spcBef>
              <a:buClr>
                <a:schemeClr val="hlink"/>
              </a:buClr>
              <a:buSzPct val="75000"/>
              <a:buFont typeface="Monotype Sorts" pitchFamily="2" charset="2"/>
              <a:buChar char="q"/>
            </a:pPr>
            <a:r>
              <a:rPr kumimoji="0" lang="en-US" altLang="zh-CN"/>
              <a:t>Link Access Procedure-Balanced (</a:t>
            </a:r>
            <a:r>
              <a:rPr kumimoji="0" lang="en-US" altLang="zh-CN">
                <a:solidFill>
                  <a:schemeClr val="tx2"/>
                </a:solidFill>
              </a:rPr>
              <a:t>LAPB</a:t>
            </a:r>
            <a:r>
              <a:rPr kumimoji="0" lang="en-US" altLang="zh-CN"/>
              <a:t>): X.25</a:t>
            </a:r>
          </a:p>
          <a:p>
            <a:pPr eaLnBrk="0" hangingPunct="0">
              <a:spcBef>
                <a:spcPct val="10000"/>
              </a:spcBef>
              <a:buClr>
                <a:schemeClr val="hlink"/>
              </a:buClr>
              <a:buSzPct val="75000"/>
              <a:buFont typeface="Monotype Sorts" pitchFamily="2" charset="2"/>
              <a:buChar char="q"/>
            </a:pPr>
            <a:r>
              <a:rPr kumimoji="0" lang="en-US" altLang="zh-CN"/>
              <a:t>Link Access Procedure for the D channel (</a:t>
            </a:r>
            <a:r>
              <a:rPr kumimoji="0" lang="en-US" altLang="zh-CN">
                <a:solidFill>
                  <a:schemeClr val="tx2"/>
                </a:solidFill>
              </a:rPr>
              <a:t>LAPD</a:t>
            </a:r>
            <a:r>
              <a:rPr kumimoji="0" lang="en-US" altLang="zh-CN"/>
              <a:t>): ISDN</a:t>
            </a:r>
          </a:p>
          <a:p>
            <a:pPr eaLnBrk="0" hangingPunct="0">
              <a:spcBef>
                <a:spcPct val="10000"/>
              </a:spcBef>
              <a:buClr>
                <a:schemeClr val="hlink"/>
              </a:buClr>
              <a:buSzPct val="75000"/>
              <a:buFont typeface="Monotype Sorts" pitchFamily="2" charset="2"/>
              <a:buChar char="q"/>
            </a:pPr>
            <a:r>
              <a:rPr kumimoji="0" lang="en-US" altLang="zh-CN"/>
              <a:t>Link Access Procedure for modems (</a:t>
            </a:r>
            <a:r>
              <a:rPr kumimoji="0" lang="en-US" altLang="zh-CN">
                <a:solidFill>
                  <a:schemeClr val="tx2"/>
                </a:solidFill>
              </a:rPr>
              <a:t>LAPM</a:t>
            </a:r>
            <a:r>
              <a:rPr kumimoji="0" lang="en-US" altLang="zh-CN"/>
              <a:t>): V.42</a:t>
            </a:r>
          </a:p>
          <a:p>
            <a:pPr eaLnBrk="0" hangingPunct="0">
              <a:spcBef>
                <a:spcPct val="10000"/>
              </a:spcBef>
              <a:buClr>
                <a:schemeClr val="hlink"/>
              </a:buClr>
              <a:buSzPct val="75000"/>
              <a:buFont typeface="Monotype Sorts" pitchFamily="2" charset="2"/>
              <a:buChar char="q"/>
            </a:pPr>
            <a:r>
              <a:rPr kumimoji="0" lang="en-US" altLang="zh-CN"/>
              <a:t>Link Access Procedure for half-duplex links (</a:t>
            </a:r>
            <a:r>
              <a:rPr kumimoji="0" lang="en-US" altLang="zh-CN">
                <a:solidFill>
                  <a:schemeClr val="tx2"/>
                </a:solidFill>
              </a:rPr>
              <a:t>LAPX</a:t>
            </a:r>
            <a:r>
              <a:rPr kumimoji="0" lang="en-US" altLang="zh-CN"/>
              <a:t>): Teletex</a:t>
            </a:r>
          </a:p>
          <a:p>
            <a:pPr eaLnBrk="0" hangingPunct="0">
              <a:spcBef>
                <a:spcPct val="10000"/>
              </a:spcBef>
              <a:buClr>
                <a:schemeClr val="hlink"/>
              </a:buClr>
              <a:buSzPct val="75000"/>
              <a:buFont typeface="Monotype Sorts" pitchFamily="2" charset="2"/>
              <a:buChar char="q"/>
            </a:pPr>
            <a:r>
              <a:rPr kumimoji="0" lang="en-US" altLang="zh-CN"/>
              <a:t>Advanced Data Communications Control Procedures (</a:t>
            </a:r>
            <a:r>
              <a:rPr kumimoji="0" lang="en-US" altLang="zh-CN">
                <a:solidFill>
                  <a:schemeClr val="tx2"/>
                </a:solidFill>
              </a:rPr>
              <a:t>ADCCP</a:t>
            </a:r>
            <a:r>
              <a:rPr kumimoji="0" lang="en-US" altLang="zh-CN"/>
              <a:t>): ANSI</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04867">
                                            <p:txEl>
                                              <p:pRg st="0" end="0"/>
                                            </p:txEl>
                                          </p:spTgt>
                                        </p:tgtEl>
                                        <p:attrNameLst>
                                          <p:attrName>style.visibility</p:attrName>
                                        </p:attrNameLst>
                                      </p:cBhvr>
                                      <p:to>
                                        <p:strVal val="visible"/>
                                      </p:to>
                                    </p:set>
                                    <p:anim calcmode="lin" valueType="num">
                                      <p:cBhvr additive="base">
                                        <p:cTn id="7" dur="500" fill="hold"/>
                                        <p:tgtEl>
                                          <p:spTgt spid="8048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048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04867">
                                            <p:txEl>
                                              <p:pRg st="1" end="1"/>
                                            </p:txEl>
                                          </p:spTgt>
                                        </p:tgtEl>
                                        <p:attrNameLst>
                                          <p:attrName>style.visibility</p:attrName>
                                        </p:attrNameLst>
                                      </p:cBhvr>
                                      <p:to>
                                        <p:strVal val="visible"/>
                                      </p:to>
                                    </p:set>
                                    <p:anim calcmode="lin" valueType="num">
                                      <p:cBhvr additive="base">
                                        <p:cTn id="13" dur="500" fill="hold"/>
                                        <p:tgtEl>
                                          <p:spTgt spid="80486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048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04867">
                                            <p:txEl>
                                              <p:pRg st="2" end="2"/>
                                            </p:txEl>
                                          </p:spTgt>
                                        </p:tgtEl>
                                        <p:attrNameLst>
                                          <p:attrName>style.visibility</p:attrName>
                                        </p:attrNameLst>
                                      </p:cBhvr>
                                      <p:to>
                                        <p:strVal val="visible"/>
                                      </p:to>
                                    </p:set>
                                    <p:anim calcmode="lin" valueType="num">
                                      <p:cBhvr additive="base">
                                        <p:cTn id="19" dur="500" fill="hold"/>
                                        <p:tgtEl>
                                          <p:spTgt spid="80486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048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04867">
                                            <p:txEl>
                                              <p:pRg st="3" end="3"/>
                                            </p:txEl>
                                          </p:spTgt>
                                        </p:tgtEl>
                                        <p:attrNameLst>
                                          <p:attrName>style.visibility</p:attrName>
                                        </p:attrNameLst>
                                      </p:cBhvr>
                                      <p:to>
                                        <p:strVal val="visible"/>
                                      </p:to>
                                    </p:set>
                                    <p:anim calcmode="lin" valueType="num">
                                      <p:cBhvr additive="base">
                                        <p:cTn id="25" dur="500" fill="hold"/>
                                        <p:tgtEl>
                                          <p:spTgt spid="80486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048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04867">
                                            <p:txEl>
                                              <p:pRg st="4" end="4"/>
                                            </p:txEl>
                                          </p:spTgt>
                                        </p:tgtEl>
                                        <p:attrNameLst>
                                          <p:attrName>style.visibility</p:attrName>
                                        </p:attrNameLst>
                                      </p:cBhvr>
                                      <p:to>
                                        <p:strVal val="visible"/>
                                      </p:to>
                                    </p:set>
                                    <p:anim calcmode="lin" valueType="num">
                                      <p:cBhvr additive="base">
                                        <p:cTn id="31" dur="500" fill="hold"/>
                                        <p:tgtEl>
                                          <p:spTgt spid="80486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048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04867">
                                            <p:txEl>
                                              <p:pRg st="5" end="5"/>
                                            </p:txEl>
                                          </p:spTgt>
                                        </p:tgtEl>
                                        <p:attrNameLst>
                                          <p:attrName>style.visibility</p:attrName>
                                        </p:attrNameLst>
                                      </p:cBhvr>
                                      <p:to>
                                        <p:strVal val="visible"/>
                                      </p:to>
                                    </p:set>
                                    <p:anim calcmode="lin" valueType="num">
                                      <p:cBhvr additive="base">
                                        <p:cTn id="37" dur="500" fill="hold"/>
                                        <p:tgtEl>
                                          <p:spTgt spid="80486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048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04867">
                                            <p:txEl>
                                              <p:pRg st="6" end="6"/>
                                            </p:txEl>
                                          </p:spTgt>
                                        </p:tgtEl>
                                        <p:attrNameLst>
                                          <p:attrName>style.visibility</p:attrName>
                                        </p:attrNameLst>
                                      </p:cBhvr>
                                      <p:to>
                                        <p:strVal val="visible"/>
                                      </p:to>
                                    </p:set>
                                    <p:anim calcmode="lin" valueType="num">
                                      <p:cBhvr additive="base">
                                        <p:cTn id="43" dur="500" fill="hold"/>
                                        <p:tgtEl>
                                          <p:spTgt spid="804867">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0486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867"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890" name="Rectangle 2"/>
          <p:cNvSpPr>
            <a:spLocks noGrp="1" noChangeArrowheads="1"/>
          </p:cNvSpPr>
          <p:nvPr>
            <p:ph type="title"/>
          </p:nvPr>
        </p:nvSpPr>
        <p:spPr>
          <a:xfrm>
            <a:off x="2220913" y="1"/>
            <a:ext cx="7772400" cy="1033463"/>
          </a:xfrm>
          <a:noFill/>
        </p:spPr>
        <p:txBody>
          <a:bodyPr/>
          <a:lstStyle/>
          <a:p>
            <a:r>
              <a:rPr lang="en-US" altLang="zh-CN" sz="3600">
                <a:latin typeface="新宋体" pitchFamily="49" charset="-122"/>
                <a:ea typeface="新宋体" pitchFamily="49" charset="-122"/>
              </a:rPr>
              <a:t>HDLC</a:t>
            </a:r>
            <a:r>
              <a:rPr lang="zh-CN" altLang="en-US" sz="3600">
                <a:latin typeface="新宋体" pitchFamily="49" charset="-122"/>
                <a:ea typeface="新宋体" pitchFamily="49" charset="-122"/>
              </a:rPr>
              <a:t>站点类型</a:t>
            </a:r>
          </a:p>
        </p:txBody>
      </p:sp>
      <p:sp>
        <p:nvSpPr>
          <p:cNvPr id="805891" name="Text Box 3"/>
          <p:cNvSpPr txBox="1">
            <a:spLocks noChangeArrowheads="1"/>
          </p:cNvSpPr>
          <p:nvPr/>
        </p:nvSpPr>
        <p:spPr bwMode="auto">
          <a:xfrm>
            <a:off x="3022601" y="5719763"/>
            <a:ext cx="58975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62000" indent="-476250">
              <a:defRPr kumimoji="1" sz="2400">
                <a:solidFill>
                  <a:schemeClr val="tx1"/>
                </a:solidFill>
                <a:latin typeface="Times New Roman" pitchFamily="18" charset="0"/>
                <a:ea typeface="宋体" pitchFamily="2" charset="-122"/>
              </a:defRPr>
            </a:lvl1pPr>
            <a:lvl2pPr marL="952500">
              <a:defRPr kumimoji="1" sz="2400">
                <a:solidFill>
                  <a:schemeClr val="tx1"/>
                </a:solidFill>
                <a:latin typeface="Times New Roman" pitchFamily="18" charset="0"/>
                <a:ea typeface="宋体" pitchFamily="2" charset="-122"/>
              </a:defRPr>
            </a:lvl2pPr>
            <a:lvl3pPr marL="1143000">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10000"/>
              </a:spcBef>
              <a:buFont typeface="Wingdings" pitchFamily="2" charset="2"/>
              <a:buChar char="v"/>
            </a:pPr>
            <a:r>
              <a:rPr lang="zh-CN" altLang="en-US" sz="2800">
                <a:solidFill>
                  <a:schemeClr val="folHlink"/>
                </a:solidFill>
                <a:latin typeface="Tahoma" pitchFamily="34" charset="0"/>
              </a:rPr>
              <a:t>同时具备主站和从站的功能</a:t>
            </a:r>
          </a:p>
        </p:txBody>
      </p:sp>
      <p:sp>
        <p:nvSpPr>
          <p:cNvPr id="805892" name="Text Box 4"/>
          <p:cNvSpPr txBox="1">
            <a:spLocks noChangeArrowheads="1"/>
          </p:cNvSpPr>
          <p:nvPr/>
        </p:nvSpPr>
        <p:spPr bwMode="auto">
          <a:xfrm>
            <a:off x="3135313" y="1373189"/>
            <a:ext cx="5943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a:defRPr kumimoji="1" sz="2400">
                <a:solidFill>
                  <a:schemeClr val="tx1"/>
                </a:solidFill>
                <a:latin typeface="Times New Roman" pitchFamily="18" charset="0"/>
                <a:ea typeface="宋体" pitchFamily="2" charset="-122"/>
              </a:defRPr>
            </a:lvl1pPr>
            <a:lvl2pPr marL="47625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Font typeface="Wingdings" pitchFamily="2" charset="2"/>
              <a:buChar char="Ø"/>
            </a:pPr>
            <a:r>
              <a:rPr lang="en-US" altLang="zh-CN" sz="3200">
                <a:solidFill>
                  <a:srgbClr val="000000"/>
                </a:solidFill>
                <a:latin typeface="Tahoma" pitchFamily="34" charset="0"/>
              </a:rPr>
              <a:t> Primary station</a:t>
            </a:r>
            <a:r>
              <a:rPr lang="zh-CN" altLang="en-US" sz="3200">
                <a:solidFill>
                  <a:srgbClr val="000000"/>
                </a:solidFill>
                <a:latin typeface="宋体" pitchFamily="2" charset="-122"/>
              </a:rPr>
              <a:t>：主站</a:t>
            </a:r>
          </a:p>
        </p:txBody>
      </p:sp>
      <p:sp>
        <p:nvSpPr>
          <p:cNvPr id="805893" name="Text Box 5"/>
          <p:cNvSpPr txBox="1">
            <a:spLocks noChangeArrowheads="1"/>
          </p:cNvSpPr>
          <p:nvPr/>
        </p:nvSpPr>
        <p:spPr bwMode="auto">
          <a:xfrm>
            <a:off x="3629026" y="2047876"/>
            <a:ext cx="4918075" cy="143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kumimoji="1" sz="2400">
                <a:solidFill>
                  <a:schemeClr val="tx1"/>
                </a:solidFill>
                <a:latin typeface="Times New Roman" pitchFamily="18" charset="0"/>
                <a:ea typeface="宋体" pitchFamily="2" charset="-122"/>
              </a:defRPr>
            </a:lvl1pPr>
            <a:lvl2pPr marL="57150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buFont typeface="Wingdings" pitchFamily="2" charset="2"/>
              <a:buChar char="v"/>
            </a:pPr>
            <a:r>
              <a:rPr lang="zh-CN" altLang="en-US" sz="2800">
                <a:solidFill>
                  <a:schemeClr val="folHlink"/>
                </a:solidFill>
                <a:latin typeface="Tahoma" pitchFamily="34" charset="0"/>
              </a:rPr>
              <a:t>链路控制操作 </a:t>
            </a:r>
            <a:endParaRPr lang="zh-CN" altLang="en-US" sz="2800">
              <a:solidFill>
                <a:schemeClr val="folHlink"/>
              </a:solidFill>
              <a:latin typeface="Arial Black" pitchFamily="34" charset="0"/>
            </a:endParaRPr>
          </a:p>
          <a:p>
            <a:pPr>
              <a:buFont typeface="Wingdings" pitchFamily="2" charset="2"/>
              <a:buChar char="v"/>
            </a:pPr>
            <a:r>
              <a:rPr lang="zh-CN" altLang="en-US" sz="2800">
                <a:solidFill>
                  <a:schemeClr val="folHlink"/>
                </a:solidFill>
                <a:latin typeface="Tahoma" pitchFamily="34" charset="0"/>
              </a:rPr>
              <a:t>发送的帧叫命令帧 </a:t>
            </a:r>
            <a:endParaRPr lang="zh-CN" altLang="en-US" sz="2800">
              <a:solidFill>
                <a:schemeClr val="folHlink"/>
              </a:solidFill>
              <a:latin typeface="Arial Black" pitchFamily="34" charset="0"/>
            </a:endParaRPr>
          </a:p>
          <a:p>
            <a:pPr>
              <a:buFont typeface="Wingdings" pitchFamily="2" charset="2"/>
              <a:buChar char="v"/>
            </a:pPr>
            <a:r>
              <a:rPr lang="zh-CN" altLang="en-US" sz="2800">
                <a:solidFill>
                  <a:schemeClr val="folHlink"/>
                </a:solidFill>
                <a:latin typeface="Tahoma" pitchFamily="34" charset="0"/>
              </a:rPr>
              <a:t>维护连接从站的逻辑链路</a:t>
            </a:r>
            <a:r>
              <a:rPr lang="zh-CN" altLang="en-US" sz="3200">
                <a:solidFill>
                  <a:schemeClr val="folHlink"/>
                </a:solidFill>
                <a:latin typeface="Tahoma" pitchFamily="34" charset="0"/>
              </a:rPr>
              <a:t> </a:t>
            </a:r>
            <a:endParaRPr lang="zh-CN" altLang="en-US" sz="2800"/>
          </a:p>
        </p:txBody>
      </p:sp>
      <p:sp>
        <p:nvSpPr>
          <p:cNvPr id="805894" name="Text Box 6"/>
          <p:cNvSpPr txBox="1">
            <a:spLocks noChangeArrowheads="1"/>
          </p:cNvSpPr>
          <p:nvPr/>
        </p:nvSpPr>
        <p:spPr bwMode="auto">
          <a:xfrm>
            <a:off x="3206750" y="3525839"/>
            <a:ext cx="5715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itchFamily="2" charset="2"/>
              <a:buChar char="Ø"/>
            </a:pPr>
            <a:r>
              <a:rPr lang="en-US" altLang="zh-CN" sz="3200">
                <a:solidFill>
                  <a:srgbClr val="000000"/>
                </a:solidFill>
                <a:latin typeface="Tahoma" pitchFamily="34" charset="0"/>
              </a:rPr>
              <a:t> Secondary station</a:t>
            </a:r>
            <a:r>
              <a:rPr lang="zh-CN" altLang="en-US" sz="3200">
                <a:solidFill>
                  <a:srgbClr val="000000"/>
                </a:solidFill>
                <a:latin typeface="宋体" pitchFamily="2" charset="-122"/>
              </a:rPr>
              <a:t>：从站</a:t>
            </a:r>
          </a:p>
        </p:txBody>
      </p:sp>
      <p:sp>
        <p:nvSpPr>
          <p:cNvPr id="805895" name="Text Box 7"/>
          <p:cNvSpPr txBox="1">
            <a:spLocks noChangeArrowheads="1"/>
          </p:cNvSpPr>
          <p:nvPr/>
        </p:nvSpPr>
        <p:spPr bwMode="auto">
          <a:xfrm>
            <a:off x="3211513" y="4064001"/>
            <a:ext cx="6743700" cy="98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66750" indent="-476250">
              <a:defRPr kumimoji="1" sz="2400">
                <a:solidFill>
                  <a:schemeClr val="tx1"/>
                </a:solidFill>
                <a:latin typeface="Times New Roman" pitchFamily="18" charset="0"/>
                <a:ea typeface="宋体" pitchFamily="2" charset="-122"/>
              </a:defRPr>
            </a:lvl1pPr>
            <a:lvl2pPr marL="857250">
              <a:defRPr kumimoji="1" sz="2400">
                <a:solidFill>
                  <a:schemeClr val="tx1"/>
                </a:solidFill>
                <a:latin typeface="Times New Roman" pitchFamily="18" charset="0"/>
                <a:ea typeface="宋体" pitchFamily="2" charset="-122"/>
              </a:defRPr>
            </a:lvl2pPr>
            <a:lvl3pPr marL="1047750">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10000"/>
              </a:spcBef>
              <a:buFont typeface="Wingdings" pitchFamily="2" charset="2"/>
              <a:buChar char="v"/>
            </a:pPr>
            <a:r>
              <a:rPr lang="zh-CN" altLang="en-US" sz="2800">
                <a:solidFill>
                  <a:schemeClr val="folHlink"/>
                </a:solidFill>
                <a:latin typeface="Tahoma" pitchFamily="34" charset="0"/>
              </a:rPr>
              <a:t>受主站控制 </a:t>
            </a:r>
          </a:p>
          <a:p>
            <a:pPr>
              <a:spcBef>
                <a:spcPct val="10000"/>
              </a:spcBef>
              <a:buFont typeface="Wingdings" pitchFamily="2" charset="2"/>
              <a:buChar char="v"/>
            </a:pPr>
            <a:r>
              <a:rPr lang="zh-CN" altLang="en-US" sz="2800">
                <a:solidFill>
                  <a:schemeClr val="folHlink"/>
                </a:solidFill>
                <a:latin typeface="Tahoma" pitchFamily="34" charset="0"/>
              </a:rPr>
              <a:t>发送的帧叫响应帧</a:t>
            </a:r>
          </a:p>
        </p:txBody>
      </p:sp>
      <p:sp>
        <p:nvSpPr>
          <p:cNvPr id="805896" name="Text Box 8"/>
          <p:cNvSpPr txBox="1">
            <a:spLocks noChangeArrowheads="1"/>
          </p:cNvSpPr>
          <p:nvPr/>
        </p:nvSpPr>
        <p:spPr bwMode="auto">
          <a:xfrm>
            <a:off x="3063875" y="5205414"/>
            <a:ext cx="6705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itchFamily="2" charset="2"/>
              <a:buChar char="Ø"/>
            </a:pPr>
            <a:r>
              <a:rPr lang="en-US" altLang="zh-CN" sz="3200">
                <a:solidFill>
                  <a:srgbClr val="000000"/>
                </a:solidFill>
                <a:latin typeface="Tahoma" pitchFamily="34" charset="0"/>
              </a:rPr>
              <a:t> Combined station</a:t>
            </a:r>
            <a:r>
              <a:rPr lang="zh-CN" altLang="en-US" sz="3200">
                <a:solidFill>
                  <a:srgbClr val="000000"/>
                </a:solidFill>
                <a:latin typeface="宋体" pitchFamily="2" charset="-122"/>
              </a:rPr>
              <a:t>：混合站</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05892">
                                            <p:txEl>
                                              <p:pRg st="0" end="0"/>
                                            </p:txEl>
                                          </p:spTgt>
                                        </p:tgtEl>
                                        <p:attrNameLst>
                                          <p:attrName>style.visibility</p:attrName>
                                        </p:attrNameLst>
                                      </p:cBhvr>
                                      <p:to>
                                        <p:strVal val="visible"/>
                                      </p:to>
                                    </p:set>
                                    <p:anim calcmode="lin" valueType="num">
                                      <p:cBhvr additive="base">
                                        <p:cTn id="7" dur="500" fill="hold"/>
                                        <p:tgtEl>
                                          <p:spTgt spid="80589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058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5894">
                                            <p:txEl>
                                              <p:pRg st="0" end="0"/>
                                            </p:txEl>
                                          </p:spTgt>
                                        </p:tgtEl>
                                        <p:attrNameLst>
                                          <p:attrName>style.visibility</p:attrName>
                                        </p:attrNameLst>
                                      </p:cBhvr>
                                      <p:to>
                                        <p:strVal val="visible"/>
                                      </p:to>
                                    </p:set>
                                    <p:anim calcmode="lin" valueType="num">
                                      <p:cBhvr additive="base">
                                        <p:cTn id="13" dur="500" fill="hold"/>
                                        <p:tgtEl>
                                          <p:spTgt spid="805894">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589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05896">
                                            <p:txEl>
                                              <p:pRg st="0" end="0"/>
                                            </p:txEl>
                                          </p:spTgt>
                                        </p:tgtEl>
                                        <p:attrNameLst>
                                          <p:attrName>style.visibility</p:attrName>
                                        </p:attrNameLst>
                                      </p:cBhvr>
                                      <p:to>
                                        <p:strVal val="visible"/>
                                      </p:to>
                                    </p:set>
                                    <p:anim calcmode="lin" valueType="num">
                                      <p:cBhvr additive="base">
                                        <p:cTn id="19" dur="500" fill="hold"/>
                                        <p:tgtEl>
                                          <p:spTgt spid="805896">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058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05893">
                                            <p:txEl>
                                              <p:pRg st="0" end="0"/>
                                            </p:txEl>
                                          </p:spTgt>
                                        </p:tgtEl>
                                        <p:attrNameLst>
                                          <p:attrName>style.visibility</p:attrName>
                                        </p:attrNameLst>
                                      </p:cBhvr>
                                      <p:to>
                                        <p:strVal val="visible"/>
                                      </p:to>
                                    </p:set>
                                    <p:anim calcmode="lin" valueType="num">
                                      <p:cBhvr additive="base">
                                        <p:cTn id="25" dur="500" fill="hold"/>
                                        <p:tgtEl>
                                          <p:spTgt spid="805893">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058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05893">
                                            <p:txEl>
                                              <p:pRg st="1" end="1"/>
                                            </p:txEl>
                                          </p:spTgt>
                                        </p:tgtEl>
                                        <p:attrNameLst>
                                          <p:attrName>style.visibility</p:attrName>
                                        </p:attrNameLst>
                                      </p:cBhvr>
                                      <p:to>
                                        <p:strVal val="visible"/>
                                      </p:to>
                                    </p:set>
                                    <p:anim calcmode="lin" valueType="num">
                                      <p:cBhvr additive="base">
                                        <p:cTn id="31" dur="500" fill="hold"/>
                                        <p:tgtEl>
                                          <p:spTgt spid="805893">
                                            <p:txEl>
                                              <p:pRg st="1" end="1"/>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0589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05893">
                                            <p:txEl>
                                              <p:pRg st="2" end="2"/>
                                            </p:txEl>
                                          </p:spTgt>
                                        </p:tgtEl>
                                        <p:attrNameLst>
                                          <p:attrName>style.visibility</p:attrName>
                                        </p:attrNameLst>
                                      </p:cBhvr>
                                      <p:to>
                                        <p:strVal val="visible"/>
                                      </p:to>
                                    </p:set>
                                    <p:anim calcmode="lin" valueType="num">
                                      <p:cBhvr additive="base">
                                        <p:cTn id="37" dur="500" fill="hold"/>
                                        <p:tgtEl>
                                          <p:spTgt spid="805893">
                                            <p:txEl>
                                              <p:pRg st="2" end="2"/>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0589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05895">
                                            <p:txEl>
                                              <p:pRg st="0" end="0"/>
                                            </p:txEl>
                                          </p:spTgt>
                                        </p:tgtEl>
                                        <p:attrNameLst>
                                          <p:attrName>style.visibility</p:attrName>
                                        </p:attrNameLst>
                                      </p:cBhvr>
                                      <p:to>
                                        <p:strVal val="visible"/>
                                      </p:to>
                                    </p:set>
                                    <p:anim calcmode="lin" valueType="num">
                                      <p:cBhvr additive="base">
                                        <p:cTn id="43" dur="500" fill="hold"/>
                                        <p:tgtEl>
                                          <p:spTgt spid="805895">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058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805895">
                                            <p:txEl>
                                              <p:pRg st="1" end="1"/>
                                            </p:txEl>
                                          </p:spTgt>
                                        </p:tgtEl>
                                        <p:attrNameLst>
                                          <p:attrName>style.visibility</p:attrName>
                                        </p:attrNameLst>
                                      </p:cBhvr>
                                      <p:to>
                                        <p:strVal val="visible"/>
                                      </p:to>
                                    </p:set>
                                    <p:anim calcmode="lin" valueType="num">
                                      <p:cBhvr additive="base">
                                        <p:cTn id="49" dur="500" fill="hold"/>
                                        <p:tgtEl>
                                          <p:spTgt spid="805895">
                                            <p:txEl>
                                              <p:pRg st="1" end="1"/>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8058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805891">
                                            <p:txEl>
                                              <p:pRg st="0" end="0"/>
                                            </p:txEl>
                                          </p:spTgt>
                                        </p:tgtEl>
                                        <p:attrNameLst>
                                          <p:attrName>style.visibility</p:attrName>
                                        </p:attrNameLst>
                                      </p:cBhvr>
                                      <p:to>
                                        <p:strVal val="visible"/>
                                      </p:to>
                                    </p:set>
                                    <p:anim calcmode="lin" valueType="num">
                                      <p:cBhvr additive="base">
                                        <p:cTn id="55" dur="500" fill="hold"/>
                                        <p:tgtEl>
                                          <p:spTgt spid="805891">
                                            <p:txEl>
                                              <p:pRg st="0" end="0"/>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80589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891" grpId="0" build="p" autoUpdateAnimBg="0"/>
      <p:bldP spid="805892" grpId="0" build="p" autoUpdateAnimBg="0"/>
      <p:bldP spid="805893" grpId="0" build="p" autoUpdateAnimBg="0"/>
      <p:bldP spid="805894" grpId="0" build="p" autoUpdateAnimBg="0"/>
      <p:bldP spid="805895" grpId="0" build="p" autoUpdateAnimBg="0"/>
      <p:bldP spid="805896"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6914" name="Group 2"/>
          <p:cNvGrpSpPr/>
          <p:nvPr/>
        </p:nvGrpSpPr>
        <p:grpSpPr bwMode="auto">
          <a:xfrm>
            <a:off x="3397250" y="1185863"/>
            <a:ext cx="5238750" cy="1384300"/>
            <a:chOff x="1165" y="816"/>
            <a:chExt cx="3300" cy="872"/>
          </a:xfrm>
        </p:grpSpPr>
        <p:sp>
          <p:nvSpPr>
            <p:cNvPr id="806915" name="Rectangle 3"/>
            <p:cNvSpPr>
              <a:spLocks noChangeArrowheads="1"/>
            </p:cNvSpPr>
            <p:nvPr/>
          </p:nvSpPr>
          <p:spPr bwMode="auto">
            <a:xfrm>
              <a:off x="1165" y="1163"/>
              <a:ext cx="700" cy="507"/>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16" name="Rectangle 4"/>
            <p:cNvSpPr>
              <a:spLocks noChangeArrowheads="1"/>
            </p:cNvSpPr>
            <p:nvPr/>
          </p:nvSpPr>
          <p:spPr bwMode="auto">
            <a:xfrm>
              <a:off x="1260" y="1312"/>
              <a:ext cx="5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Primary</a:t>
              </a:r>
            </a:p>
          </p:txBody>
        </p:sp>
        <p:sp>
          <p:nvSpPr>
            <p:cNvPr id="806917" name="Rectangle 5"/>
            <p:cNvSpPr>
              <a:spLocks noChangeArrowheads="1"/>
            </p:cNvSpPr>
            <p:nvPr/>
          </p:nvSpPr>
          <p:spPr bwMode="auto">
            <a:xfrm>
              <a:off x="3757" y="1152"/>
              <a:ext cx="700" cy="507"/>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18" name="Rectangle 6"/>
            <p:cNvSpPr>
              <a:spLocks noChangeArrowheads="1"/>
            </p:cNvSpPr>
            <p:nvPr/>
          </p:nvSpPr>
          <p:spPr bwMode="auto">
            <a:xfrm>
              <a:off x="3804" y="1312"/>
              <a:ext cx="66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Secondary</a:t>
              </a:r>
            </a:p>
          </p:txBody>
        </p:sp>
        <p:sp>
          <p:nvSpPr>
            <p:cNvPr id="806919" name="Line 7"/>
            <p:cNvSpPr>
              <a:spLocks noChangeShapeType="1"/>
            </p:cNvSpPr>
            <p:nvPr/>
          </p:nvSpPr>
          <p:spPr bwMode="auto">
            <a:xfrm>
              <a:off x="1873" y="1400"/>
              <a:ext cx="18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20" name="Rectangle 8"/>
            <p:cNvSpPr>
              <a:spLocks noChangeArrowheads="1"/>
            </p:cNvSpPr>
            <p:nvPr/>
          </p:nvSpPr>
          <p:spPr bwMode="auto">
            <a:xfrm>
              <a:off x="1872" y="1170"/>
              <a:ext cx="70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Commands</a:t>
              </a:r>
            </a:p>
          </p:txBody>
        </p:sp>
        <p:sp>
          <p:nvSpPr>
            <p:cNvPr id="806921" name="Line 9"/>
            <p:cNvSpPr>
              <a:spLocks noChangeShapeType="1"/>
            </p:cNvSpPr>
            <p:nvPr/>
          </p:nvSpPr>
          <p:spPr bwMode="auto">
            <a:xfrm>
              <a:off x="2605" y="1257"/>
              <a:ext cx="285" cy="7"/>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22" name="Rectangle 10"/>
            <p:cNvSpPr>
              <a:spLocks noChangeArrowheads="1"/>
            </p:cNvSpPr>
            <p:nvPr/>
          </p:nvSpPr>
          <p:spPr bwMode="auto">
            <a:xfrm>
              <a:off x="2964" y="1476"/>
              <a:ext cx="66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Responses</a:t>
              </a:r>
            </a:p>
          </p:txBody>
        </p:sp>
        <p:sp>
          <p:nvSpPr>
            <p:cNvPr id="806923" name="Line 11"/>
            <p:cNvSpPr>
              <a:spLocks noChangeShapeType="1"/>
            </p:cNvSpPr>
            <p:nvPr/>
          </p:nvSpPr>
          <p:spPr bwMode="auto">
            <a:xfrm>
              <a:off x="2629" y="1531"/>
              <a:ext cx="292" cy="0"/>
            </a:xfrm>
            <a:prstGeom prst="line">
              <a:avLst/>
            </a:prstGeom>
            <a:noFill/>
            <a:ln w="1270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24" name="Rectangle 12"/>
            <p:cNvSpPr>
              <a:spLocks noChangeArrowheads="1"/>
            </p:cNvSpPr>
            <p:nvPr/>
          </p:nvSpPr>
          <p:spPr bwMode="auto">
            <a:xfrm>
              <a:off x="1871" y="816"/>
              <a:ext cx="15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a:t>       </a:t>
              </a:r>
              <a:r>
                <a:rPr kumimoji="0" lang="zh-CN" altLang="en-US" sz="1800">
                  <a:solidFill>
                    <a:schemeClr val="folHlink"/>
                  </a:solidFill>
                </a:rPr>
                <a:t>非平衡点到点链路</a:t>
              </a:r>
            </a:p>
          </p:txBody>
        </p:sp>
      </p:grpSp>
      <p:grpSp>
        <p:nvGrpSpPr>
          <p:cNvPr id="806925" name="Group 13"/>
          <p:cNvGrpSpPr/>
          <p:nvPr/>
        </p:nvGrpSpPr>
        <p:grpSpPr bwMode="auto">
          <a:xfrm>
            <a:off x="2387600" y="2749551"/>
            <a:ext cx="7048500" cy="2073275"/>
            <a:chOff x="544" y="1801"/>
            <a:chExt cx="4440" cy="1306"/>
          </a:xfrm>
        </p:grpSpPr>
        <p:sp>
          <p:nvSpPr>
            <p:cNvPr id="806926" name="Rectangle 14"/>
            <p:cNvSpPr>
              <a:spLocks noChangeArrowheads="1"/>
            </p:cNvSpPr>
            <p:nvPr/>
          </p:nvSpPr>
          <p:spPr bwMode="auto">
            <a:xfrm>
              <a:off x="544" y="2064"/>
              <a:ext cx="700" cy="507"/>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27" name="Rectangle 15"/>
            <p:cNvSpPr>
              <a:spLocks noChangeArrowheads="1"/>
            </p:cNvSpPr>
            <p:nvPr/>
          </p:nvSpPr>
          <p:spPr bwMode="auto">
            <a:xfrm>
              <a:off x="639" y="2213"/>
              <a:ext cx="5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Primary</a:t>
              </a:r>
            </a:p>
          </p:txBody>
        </p:sp>
        <p:sp>
          <p:nvSpPr>
            <p:cNvPr id="806928" name="Rectangle 16"/>
            <p:cNvSpPr>
              <a:spLocks noChangeArrowheads="1"/>
            </p:cNvSpPr>
            <p:nvPr/>
          </p:nvSpPr>
          <p:spPr bwMode="auto">
            <a:xfrm>
              <a:off x="1251" y="2071"/>
              <a:ext cx="70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Commands</a:t>
              </a:r>
            </a:p>
          </p:txBody>
        </p:sp>
        <p:sp>
          <p:nvSpPr>
            <p:cNvPr id="806929" name="Line 17"/>
            <p:cNvSpPr>
              <a:spLocks noChangeShapeType="1"/>
            </p:cNvSpPr>
            <p:nvPr/>
          </p:nvSpPr>
          <p:spPr bwMode="auto">
            <a:xfrm>
              <a:off x="1984" y="2159"/>
              <a:ext cx="29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30" name="Rectangle 18"/>
            <p:cNvSpPr>
              <a:spLocks noChangeArrowheads="1"/>
            </p:cNvSpPr>
            <p:nvPr/>
          </p:nvSpPr>
          <p:spPr bwMode="auto">
            <a:xfrm>
              <a:off x="4323" y="2366"/>
              <a:ext cx="66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Responses</a:t>
              </a:r>
            </a:p>
          </p:txBody>
        </p:sp>
        <p:sp>
          <p:nvSpPr>
            <p:cNvPr id="806931" name="Line 19"/>
            <p:cNvSpPr>
              <a:spLocks noChangeShapeType="1"/>
            </p:cNvSpPr>
            <p:nvPr/>
          </p:nvSpPr>
          <p:spPr bwMode="auto">
            <a:xfrm>
              <a:off x="1276" y="2323"/>
              <a:ext cx="28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32" name="Rectangle 20"/>
            <p:cNvSpPr>
              <a:spLocks noChangeArrowheads="1"/>
            </p:cNvSpPr>
            <p:nvPr/>
          </p:nvSpPr>
          <p:spPr bwMode="auto">
            <a:xfrm>
              <a:off x="1636" y="2578"/>
              <a:ext cx="700" cy="507"/>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33" name="Rectangle 21"/>
            <p:cNvSpPr>
              <a:spLocks noChangeArrowheads="1"/>
            </p:cNvSpPr>
            <p:nvPr/>
          </p:nvSpPr>
          <p:spPr bwMode="auto">
            <a:xfrm>
              <a:off x="1683" y="2739"/>
              <a:ext cx="66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Secondary</a:t>
              </a:r>
            </a:p>
          </p:txBody>
        </p:sp>
        <p:sp>
          <p:nvSpPr>
            <p:cNvPr id="806934" name="Rectangle 22"/>
            <p:cNvSpPr>
              <a:spLocks noChangeArrowheads="1"/>
            </p:cNvSpPr>
            <p:nvPr/>
          </p:nvSpPr>
          <p:spPr bwMode="auto">
            <a:xfrm>
              <a:off x="2644" y="2589"/>
              <a:ext cx="700" cy="507"/>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35" name="Rectangle 23"/>
            <p:cNvSpPr>
              <a:spLocks noChangeArrowheads="1"/>
            </p:cNvSpPr>
            <p:nvPr/>
          </p:nvSpPr>
          <p:spPr bwMode="auto">
            <a:xfrm>
              <a:off x="2691" y="2749"/>
              <a:ext cx="66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Secondary</a:t>
              </a:r>
            </a:p>
          </p:txBody>
        </p:sp>
        <p:sp>
          <p:nvSpPr>
            <p:cNvPr id="806936" name="Rectangle 24"/>
            <p:cNvSpPr>
              <a:spLocks noChangeArrowheads="1"/>
            </p:cNvSpPr>
            <p:nvPr/>
          </p:nvSpPr>
          <p:spPr bwMode="auto">
            <a:xfrm>
              <a:off x="3652" y="2600"/>
              <a:ext cx="700" cy="507"/>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37" name="Rectangle 25"/>
            <p:cNvSpPr>
              <a:spLocks noChangeArrowheads="1"/>
            </p:cNvSpPr>
            <p:nvPr/>
          </p:nvSpPr>
          <p:spPr bwMode="auto">
            <a:xfrm>
              <a:off x="3699" y="2760"/>
              <a:ext cx="66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Secondary</a:t>
              </a:r>
            </a:p>
          </p:txBody>
        </p:sp>
        <p:sp>
          <p:nvSpPr>
            <p:cNvPr id="806938" name="Line 26"/>
            <p:cNvSpPr>
              <a:spLocks noChangeShapeType="1"/>
            </p:cNvSpPr>
            <p:nvPr/>
          </p:nvSpPr>
          <p:spPr bwMode="auto">
            <a:xfrm flipV="1">
              <a:off x="1980" y="2319"/>
              <a:ext cx="0" cy="259"/>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39" name="Line 27"/>
            <p:cNvSpPr>
              <a:spLocks noChangeShapeType="1"/>
            </p:cNvSpPr>
            <p:nvPr/>
          </p:nvSpPr>
          <p:spPr bwMode="auto">
            <a:xfrm flipV="1">
              <a:off x="3012" y="2319"/>
              <a:ext cx="0" cy="259"/>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40" name="Line 28"/>
            <p:cNvSpPr>
              <a:spLocks noChangeShapeType="1"/>
            </p:cNvSpPr>
            <p:nvPr/>
          </p:nvSpPr>
          <p:spPr bwMode="auto">
            <a:xfrm flipV="1">
              <a:off x="4044" y="2319"/>
              <a:ext cx="0" cy="259"/>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41" name="Rectangle 29"/>
            <p:cNvSpPr>
              <a:spLocks noChangeArrowheads="1"/>
            </p:cNvSpPr>
            <p:nvPr/>
          </p:nvSpPr>
          <p:spPr bwMode="auto">
            <a:xfrm>
              <a:off x="1939" y="1801"/>
              <a:ext cx="13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a:t>       </a:t>
              </a:r>
              <a:r>
                <a:rPr kumimoji="0" lang="zh-CN" altLang="en-US" sz="1800">
                  <a:solidFill>
                    <a:schemeClr val="folHlink"/>
                  </a:solidFill>
                </a:rPr>
                <a:t>非平衡多点链路</a:t>
              </a:r>
            </a:p>
          </p:txBody>
        </p:sp>
      </p:grpSp>
      <p:grpSp>
        <p:nvGrpSpPr>
          <p:cNvPr id="806942" name="Group 30"/>
          <p:cNvGrpSpPr/>
          <p:nvPr/>
        </p:nvGrpSpPr>
        <p:grpSpPr bwMode="auto">
          <a:xfrm>
            <a:off x="2978151" y="5019676"/>
            <a:ext cx="6799263" cy="1679575"/>
            <a:chOff x="916" y="3231"/>
            <a:chExt cx="4283" cy="1058"/>
          </a:xfrm>
        </p:grpSpPr>
        <p:sp>
          <p:nvSpPr>
            <p:cNvPr id="806943" name="Rectangle 31"/>
            <p:cNvSpPr>
              <a:spLocks noChangeArrowheads="1"/>
            </p:cNvSpPr>
            <p:nvPr/>
          </p:nvSpPr>
          <p:spPr bwMode="auto">
            <a:xfrm>
              <a:off x="916" y="3565"/>
              <a:ext cx="700" cy="507"/>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44" name="Rectangle 32"/>
            <p:cNvSpPr>
              <a:spLocks noChangeArrowheads="1"/>
            </p:cNvSpPr>
            <p:nvPr/>
          </p:nvSpPr>
          <p:spPr bwMode="auto">
            <a:xfrm>
              <a:off x="1023" y="3605"/>
              <a:ext cx="5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Primary</a:t>
              </a:r>
            </a:p>
          </p:txBody>
        </p:sp>
        <p:sp>
          <p:nvSpPr>
            <p:cNvPr id="806945" name="Rectangle 33"/>
            <p:cNvSpPr>
              <a:spLocks noChangeArrowheads="1"/>
            </p:cNvSpPr>
            <p:nvPr/>
          </p:nvSpPr>
          <p:spPr bwMode="auto">
            <a:xfrm>
              <a:off x="4384" y="3554"/>
              <a:ext cx="700" cy="507"/>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46" name="Rectangle 34"/>
            <p:cNvSpPr>
              <a:spLocks noChangeArrowheads="1"/>
            </p:cNvSpPr>
            <p:nvPr/>
          </p:nvSpPr>
          <p:spPr bwMode="auto">
            <a:xfrm>
              <a:off x="951" y="3835"/>
              <a:ext cx="66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Secondary</a:t>
              </a:r>
            </a:p>
          </p:txBody>
        </p:sp>
        <p:sp>
          <p:nvSpPr>
            <p:cNvPr id="806947" name="Line 35"/>
            <p:cNvSpPr>
              <a:spLocks noChangeShapeType="1"/>
            </p:cNvSpPr>
            <p:nvPr/>
          </p:nvSpPr>
          <p:spPr bwMode="auto">
            <a:xfrm flipV="1">
              <a:off x="1636" y="3812"/>
              <a:ext cx="2752" cy="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48" name="Rectangle 36"/>
            <p:cNvSpPr>
              <a:spLocks noChangeArrowheads="1"/>
            </p:cNvSpPr>
            <p:nvPr/>
          </p:nvSpPr>
          <p:spPr bwMode="auto">
            <a:xfrm>
              <a:off x="1587" y="3583"/>
              <a:ext cx="70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Commands</a:t>
              </a:r>
            </a:p>
          </p:txBody>
        </p:sp>
        <p:sp>
          <p:nvSpPr>
            <p:cNvPr id="806949" name="Line 37"/>
            <p:cNvSpPr>
              <a:spLocks noChangeShapeType="1"/>
            </p:cNvSpPr>
            <p:nvPr/>
          </p:nvSpPr>
          <p:spPr bwMode="auto">
            <a:xfrm>
              <a:off x="2248" y="3682"/>
              <a:ext cx="29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50" name="Rectangle 38"/>
            <p:cNvSpPr>
              <a:spLocks noChangeArrowheads="1"/>
            </p:cNvSpPr>
            <p:nvPr/>
          </p:nvSpPr>
          <p:spPr bwMode="auto">
            <a:xfrm>
              <a:off x="3675" y="3605"/>
              <a:ext cx="66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Responses</a:t>
              </a:r>
            </a:p>
          </p:txBody>
        </p:sp>
        <p:sp>
          <p:nvSpPr>
            <p:cNvPr id="806951" name="Line 39"/>
            <p:cNvSpPr>
              <a:spLocks noChangeShapeType="1"/>
            </p:cNvSpPr>
            <p:nvPr/>
          </p:nvSpPr>
          <p:spPr bwMode="auto">
            <a:xfrm>
              <a:off x="3352" y="3703"/>
              <a:ext cx="292" cy="0"/>
            </a:xfrm>
            <a:prstGeom prst="line">
              <a:avLst/>
            </a:prstGeom>
            <a:noFill/>
            <a:ln w="1270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52" name="Rectangle 40"/>
            <p:cNvSpPr>
              <a:spLocks noChangeArrowheads="1"/>
            </p:cNvSpPr>
            <p:nvPr/>
          </p:nvSpPr>
          <p:spPr bwMode="auto">
            <a:xfrm>
              <a:off x="1071" y="3231"/>
              <a:ext cx="284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a:t>                       </a:t>
              </a:r>
              <a:r>
                <a:rPr kumimoji="0" lang="zh-CN" altLang="en-US" sz="1800">
                  <a:solidFill>
                    <a:schemeClr val="folHlink"/>
                  </a:solidFill>
                </a:rPr>
                <a:t>组合站之间的平衡点到点链路</a:t>
              </a:r>
            </a:p>
          </p:txBody>
        </p:sp>
        <p:sp>
          <p:nvSpPr>
            <p:cNvPr id="806953" name="Rectangle 41"/>
            <p:cNvSpPr>
              <a:spLocks noChangeArrowheads="1"/>
            </p:cNvSpPr>
            <p:nvPr/>
          </p:nvSpPr>
          <p:spPr bwMode="auto">
            <a:xfrm>
              <a:off x="4491" y="3824"/>
              <a:ext cx="5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Primary</a:t>
              </a:r>
            </a:p>
          </p:txBody>
        </p:sp>
        <p:sp>
          <p:nvSpPr>
            <p:cNvPr id="806954" name="Rectangle 42"/>
            <p:cNvSpPr>
              <a:spLocks noChangeArrowheads="1"/>
            </p:cNvSpPr>
            <p:nvPr/>
          </p:nvSpPr>
          <p:spPr bwMode="auto">
            <a:xfrm>
              <a:off x="4395" y="3594"/>
              <a:ext cx="66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Secondary</a:t>
              </a:r>
            </a:p>
          </p:txBody>
        </p:sp>
        <p:sp>
          <p:nvSpPr>
            <p:cNvPr id="806955" name="Rectangle 43"/>
            <p:cNvSpPr>
              <a:spLocks noChangeArrowheads="1"/>
            </p:cNvSpPr>
            <p:nvPr/>
          </p:nvSpPr>
          <p:spPr bwMode="auto">
            <a:xfrm>
              <a:off x="3663" y="3835"/>
              <a:ext cx="70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Commands</a:t>
              </a:r>
            </a:p>
          </p:txBody>
        </p:sp>
        <p:sp>
          <p:nvSpPr>
            <p:cNvPr id="806956" name="Line 44"/>
            <p:cNvSpPr>
              <a:spLocks noChangeShapeType="1"/>
            </p:cNvSpPr>
            <p:nvPr/>
          </p:nvSpPr>
          <p:spPr bwMode="auto">
            <a:xfrm>
              <a:off x="3388" y="3933"/>
              <a:ext cx="292" cy="0"/>
            </a:xfrm>
            <a:prstGeom prst="line">
              <a:avLst/>
            </a:prstGeom>
            <a:noFill/>
            <a:ln w="1270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57" name="Rectangle 45"/>
            <p:cNvSpPr>
              <a:spLocks noChangeArrowheads="1"/>
            </p:cNvSpPr>
            <p:nvPr/>
          </p:nvSpPr>
          <p:spPr bwMode="auto">
            <a:xfrm>
              <a:off x="1707" y="3857"/>
              <a:ext cx="66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Responses</a:t>
              </a:r>
            </a:p>
          </p:txBody>
        </p:sp>
        <p:sp>
          <p:nvSpPr>
            <p:cNvPr id="806958" name="Line 46"/>
            <p:cNvSpPr>
              <a:spLocks noChangeShapeType="1"/>
            </p:cNvSpPr>
            <p:nvPr/>
          </p:nvSpPr>
          <p:spPr bwMode="auto">
            <a:xfrm>
              <a:off x="2404" y="3922"/>
              <a:ext cx="29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59" name="Text Box 47"/>
            <p:cNvSpPr txBox="1">
              <a:spLocks noChangeArrowheads="1"/>
            </p:cNvSpPr>
            <p:nvPr/>
          </p:nvSpPr>
          <p:spPr bwMode="auto">
            <a:xfrm>
              <a:off x="5083" y="4135"/>
              <a:ext cx="11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endParaRPr kumimoji="0" lang="zh-CN" altLang="zh-CN" sz="1000"/>
            </a:p>
          </p:txBody>
        </p:sp>
      </p:grpSp>
      <p:sp>
        <p:nvSpPr>
          <p:cNvPr id="806960" name="Text Box 48"/>
          <p:cNvSpPr txBox="1">
            <a:spLocks noChangeArrowheads="1"/>
          </p:cNvSpPr>
          <p:nvPr/>
        </p:nvSpPr>
        <p:spPr bwMode="auto">
          <a:xfrm>
            <a:off x="1524001" y="390525"/>
            <a:ext cx="86344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0" lang="en-US" altLang="zh-CN" sz="3600" b="1">
                <a:latin typeface="新宋体" pitchFamily="49" charset="-122"/>
                <a:ea typeface="新宋体" pitchFamily="49" charset="-122"/>
              </a:rPr>
              <a:t>HDLC </a:t>
            </a:r>
            <a:r>
              <a:rPr kumimoji="0" lang="zh-CN" altLang="en-US" sz="3600" b="1">
                <a:latin typeface="新宋体" pitchFamily="49" charset="-122"/>
                <a:ea typeface="新宋体" pitchFamily="49" charset="-122"/>
              </a:rPr>
              <a:t>结构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06914"/>
                                        </p:tgtEl>
                                        <p:attrNameLst>
                                          <p:attrName>style.visibility</p:attrName>
                                        </p:attrNameLst>
                                      </p:cBhvr>
                                      <p:to>
                                        <p:strVal val="visible"/>
                                      </p:to>
                                    </p:set>
                                    <p:anim calcmode="lin" valueType="num">
                                      <p:cBhvr additive="base">
                                        <p:cTn id="7" dur="500" fill="hold"/>
                                        <p:tgtEl>
                                          <p:spTgt spid="806914"/>
                                        </p:tgtEl>
                                        <p:attrNameLst>
                                          <p:attrName>ppt_x</p:attrName>
                                        </p:attrNameLst>
                                      </p:cBhvr>
                                      <p:tavLst>
                                        <p:tav tm="0">
                                          <p:val>
                                            <p:strVal val="1+#ppt_w/2"/>
                                          </p:val>
                                        </p:tav>
                                        <p:tav tm="100000">
                                          <p:val>
                                            <p:strVal val="#ppt_x"/>
                                          </p:val>
                                        </p:tav>
                                      </p:tavLst>
                                    </p:anim>
                                    <p:anim calcmode="lin" valueType="num">
                                      <p:cBhvr additive="base">
                                        <p:cTn id="8" dur="500" fill="hold"/>
                                        <p:tgtEl>
                                          <p:spTgt spid="8069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06925"/>
                                        </p:tgtEl>
                                        <p:attrNameLst>
                                          <p:attrName>style.visibility</p:attrName>
                                        </p:attrNameLst>
                                      </p:cBhvr>
                                      <p:to>
                                        <p:strVal val="visible"/>
                                      </p:to>
                                    </p:set>
                                    <p:anim calcmode="lin" valueType="num">
                                      <p:cBhvr additive="base">
                                        <p:cTn id="13" dur="500" fill="hold"/>
                                        <p:tgtEl>
                                          <p:spTgt spid="806925"/>
                                        </p:tgtEl>
                                        <p:attrNameLst>
                                          <p:attrName>ppt_x</p:attrName>
                                        </p:attrNameLst>
                                      </p:cBhvr>
                                      <p:tavLst>
                                        <p:tav tm="0">
                                          <p:val>
                                            <p:strVal val="1+#ppt_w/2"/>
                                          </p:val>
                                        </p:tav>
                                        <p:tav tm="100000">
                                          <p:val>
                                            <p:strVal val="#ppt_x"/>
                                          </p:val>
                                        </p:tav>
                                      </p:tavLst>
                                    </p:anim>
                                    <p:anim calcmode="lin" valueType="num">
                                      <p:cBhvr additive="base">
                                        <p:cTn id="14" dur="500" fill="hold"/>
                                        <p:tgtEl>
                                          <p:spTgt spid="80692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806942"/>
                                        </p:tgtEl>
                                        <p:attrNameLst>
                                          <p:attrName>style.visibility</p:attrName>
                                        </p:attrNameLst>
                                      </p:cBhvr>
                                      <p:to>
                                        <p:strVal val="visible"/>
                                      </p:to>
                                    </p:set>
                                    <p:anim calcmode="lin" valueType="num">
                                      <p:cBhvr additive="base">
                                        <p:cTn id="19" dur="500" fill="hold"/>
                                        <p:tgtEl>
                                          <p:spTgt spid="806942"/>
                                        </p:tgtEl>
                                        <p:attrNameLst>
                                          <p:attrName>ppt_x</p:attrName>
                                        </p:attrNameLst>
                                      </p:cBhvr>
                                      <p:tavLst>
                                        <p:tav tm="0">
                                          <p:val>
                                            <p:strVal val="1+#ppt_w/2"/>
                                          </p:val>
                                        </p:tav>
                                        <p:tav tm="100000">
                                          <p:val>
                                            <p:strVal val="#ppt_x"/>
                                          </p:val>
                                        </p:tav>
                                      </p:tavLst>
                                    </p:anim>
                                    <p:anim calcmode="lin" valueType="num">
                                      <p:cBhvr additive="base">
                                        <p:cTn id="20" dur="500" fill="hold"/>
                                        <p:tgtEl>
                                          <p:spTgt spid="8069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Rectangle 2"/>
          <p:cNvSpPr>
            <a:spLocks noGrp="1" noChangeArrowheads="1"/>
          </p:cNvSpPr>
          <p:nvPr>
            <p:ph type="title"/>
          </p:nvPr>
        </p:nvSpPr>
        <p:spPr>
          <a:xfrm>
            <a:off x="2222500" y="0"/>
            <a:ext cx="7772400" cy="1143000"/>
          </a:xfrm>
          <a:noFill/>
        </p:spPr>
        <p:txBody>
          <a:bodyPr/>
          <a:lstStyle/>
          <a:p>
            <a:r>
              <a:rPr lang="en-US" altLang="zh-CN" sz="3600">
                <a:latin typeface="新宋体" pitchFamily="49" charset="-122"/>
                <a:ea typeface="新宋体" pitchFamily="49" charset="-122"/>
              </a:rPr>
              <a:t>HDLC </a:t>
            </a:r>
            <a:r>
              <a:rPr lang="zh-CN" altLang="en-US" sz="3600">
                <a:latin typeface="新宋体" pitchFamily="49" charset="-122"/>
                <a:ea typeface="新宋体" pitchFamily="49" charset="-122"/>
              </a:rPr>
              <a:t>传输模式</a:t>
            </a:r>
            <a:r>
              <a:rPr lang="en-US" altLang="zh-CN" sz="3600">
                <a:latin typeface="新宋体" pitchFamily="49" charset="-122"/>
                <a:ea typeface="新宋体" pitchFamily="49" charset="-122"/>
              </a:rPr>
              <a:t>(1)</a:t>
            </a:r>
          </a:p>
        </p:txBody>
      </p:sp>
      <p:sp>
        <p:nvSpPr>
          <p:cNvPr id="808963" name="Text Box 3"/>
          <p:cNvSpPr txBox="1">
            <a:spLocks noChangeArrowheads="1"/>
          </p:cNvSpPr>
          <p:nvPr/>
        </p:nvSpPr>
        <p:spPr bwMode="auto">
          <a:xfrm>
            <a:off x="2198688" y="1406526"/>
            <a:ext cx="7859712" cy="390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kumimoji="1" sz="2400">
                <a:solidFill>
                  <a:schemeClr val="tx1"/>
                </a:solidFill>
                <a:latin typeface="Times New Roman" pitchFamily="18" charset="0"/>
                <a:ea typeface="宋体" pitchFamily="2" charset="-122"/>
              </a:defRPr>
            </a:lvl1pPr>
            <a:lvl2pPr marL="57150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10000"/>
              </a:spcBef>
              <a:buFont typeface="Wingdings" pitchFamily="2" charset="2"/>
              <a:buNone/>
            </a:pPr>
            <a:r>
              <a:rPr lang="en-US" altLang="zh-CN" sz="3200" b="1">
                <a:solidFill>
                  <a:srgbClr val="000000"/>
                </a:solidFill>
                <a:latin typeface="+mj-lt"/>
                <a:ea typeface="Wingdings-Regular" charset="-122"/>
              </a:rPr>
              <a:t>Normal Response Mode (NRM) </a:t>
            </a:r>
            <a:r>
              <a:rPr lang="en-US" altLang="zh-CN" sz="2800">
                <a:solidFill>
                  <a:srgbClr val="000000"/>
                </a:solidFill>
                <a:latin typeface="+mj-lt"/>
              </a:rPr>
              <a:t> </a:t>
            </a:r>
          </a:p>
          <a:p>
            <a:pPr>
              <a:spcBef>
                <a:spcPct val="10000"/>
              </a:spcBef>
              <a:buFont typeface="Wingdings" pitchFamily="2" charset="2"/>
              <a:buNone/>
            </a:pPr>
            <a:r>
              <a:rPr lang="en-US" altLang="zh-CN" sz="2800">
                <a:solidFill>
                  <a:srgbClr val="000000"/>
                </a:solidFill>
                <a:latin typeface="+mj-lt"/>
              </a:rPr>
              <a:t>                          </a:t>
            </a:r>
            <a:r>
              <a:rPr lang="en-US" altLang="zh-CN" sz="2800">
                <a:solidFill>
                  <a:srgbClr val="000000"/>
                </a:solidFill>
                <a:latin typeface="+mj-lt"/>
                <a:ea typeface="黑体" pitchFamily="49" charset="-122"/>
              </a:rPr>
              <a:t>----</a:t>
            </a:r>
            <a:r>
              <a:rPr lang="zh-CN" altLang="en-US" sz="2800">
                <a:solidFill>
                  <a:srgbClr val="000000"/>
                </a:solidFill>
                <a:latin typeface="+mj-lt"/>
                <a:ea typeface="黑体" pitchFamily="49" charset="-122"/>
              </a:rPr>
              <a:t>正常响应模式 </a:t>
            </a:r>
            <a:endParaRPr lang="zh-CN" altLang="en-US" sz="3200">
              <a:solidFill>
                <a:srgbClr val="000000"/>
              </a:solidFill>
              <a:latin typeface="+mj-lt"/>
              <a:ea typeface="Wingdings-Regular" charset="-122"/>
            </a:endParaRPr>
          </a:p>
          <a:p>
            <a:pPr>
              <a:spcBef>
                <a:spcPct val="10000"/>
              </a:spcBef>
              <a:buFont typeface="Wingdings" pitchFamily="2" charset="2"/>
              <a:buChar char="Ø"/>
            </a:pPr>
            <a:r>
              <a:rPr lang="zh-CN" altLang="en-US" sz="2800">
                <a:solidFill>
                  <a:srgbClr val="000000"/>
                </a:solidFill>
                <a:latin typeface="+mn-ea"/>
                <a:ea typeface="+mn-ea"/>
              </a:rPr>
              <a:t>非平衡结构 </a:t>
            </a:r>
          </a:p>
          <a:p>
            <a:pPr>
              <a:spcBef>
                <a:spcPct val="10000"/>
              </a:spcBef>
              <a:buFont typeface="Wingdings" pitchFamily="2" charset="2"/>
              <a:buChar char="Ø"/>
            </a:pPr>
            <a:r>
              <a:rPr lang="zh-CN" altLang="en-US" sz="2800">
                <a:solidFill>
                  <a:srgbClr val="000000"/>
                </a:solidFill>
                <a:latin typeface="+mn-ea"/>
                <a:ea typeface="+mn-ea"/>
              </a:rPr>
              <a:t>主站发起与从站的传输 </a:t>
            </a:r>
          </a:p>
          <a:p>
            <a:pPr>
              <a:spcBef>
                <a:spcPct val="10000"/>
              </a:spcBef>
              <a:buFont typeface="Wingdings" pitchFamily="2" charset="2"/>
              <a:buChar char="Ø"/>
            </a:pPr>
            <a:r>
              <a:rPr lang="zh-CN" altLang="en-US" sz="2800">
                <a:solidFill>
                  <a:srgbClr val="000000"/>
                </a:solidFill>
                <a:latin typeface="+mn-ea"/>
                <a:ea typeface="+mn-ea"/>
              </a:rPr>
              <a:t>从站只能通过对主站命令的应答来传输数据。  </a:t>
            </a:r>
          </a:p>
          <a:p>
            <a:pPr>
              <a:spcBef>
                <a:spcPct val="10000"/>
              </a:spcBef>
              <a:buFont typeface="Wingdings" pitchFamily="2" charset="2"/>
              <a:buChar char="Ø"/>
            </a:pPr>
            <a:r>
              <a:rPr lang="zh-CN" altLang="en-US" sz="2800">
                <a:solidFill>
                  <a:srgbClr val="000000"/>
                </a:solidFill>
                <a:latin typeface="+mn-ea"/>
                <a:ea typeface="+mn-ea"/>
              </a:rPr>
              <a:t>用于点对多点（</a:t>
            </a:r>
            <a:r>
              <a:rPr lang="en-US" altLang="zh-CN" sz="2800">
                <a:solidFill>
                  <a:srgbClr val="000000"/>
                </a:solidFill>
                <a:latin typeface="+mn-ea"/>
                <a:ea typeface="+mn-ea"/>
              </a:rPr>
              <a:t>multi-drop</a:t>
            </a:r>
            <a:r>
              <a:rPr lang="zh-CN" altLang="en-US" sz="2800">
                <a:solidFill>
                  <a:srgbClr val="000000"/>
                </a:solidFill>
                <a:latin typeface="+mn-ea"/>
                <a:ea typeface="+mn-ea"/>
              </a:rPr>
              <a:t>）线路 </a:t>
            </a:r>
          </a:p>
          <a:p>
            <a:pPr>
              <a:spcBef>
                <a:spcPct val="10000"/>
              </a:spcBef>
              <a:buClr>
                <a:schemeClr val="tx2"/>
              </a:buClr>
              <a:buFont typeface="Wingdings" pitchFamily="2" charset="2"/>
              <a:buChar char="ü"/>
            </a:pPr>
            <a:r>
              <a:rPr lang="zh-CN" altLang="en-US" sz="2800">
                <a:solidFill>
                  <a:srgbClr val="000000"/>
                </a:solidFill>
                <a:latin typeface="+mn-ea"/>
                <a:ea typeface="+mn-ea"/>
              </a:rPr>
              <a:t>主计算机作为主站    </a:t>
            </a:r>
            <a:r>
              <a:rPr lang="en-US" altLang="zh-CN">
                <a:solidFill>
                  <a:srgbClr val="000000"/>
                </a:solidFill>
                <a:latin typeface="+mn-ea"/>
                <a:ea typeface="+mn-ea"/>
              </a:rPr>
              <a:t>(</a:t>
            </a:r>
            <a:r>
              <a:rPr lang="zh-CN" altLang="en-US">
                <a:solidFill>
                  <a:srgbClr val="000000"/>
                </a:solidFill>
                <a:latin typeface="+mn-ea"/>
                <a:ea typeface="+mn-ea"/>
              </a:rPr>
              <a:t>控制中心</a:t>
            </a:r>
            <a:r>
              <a:rPr lang="en-US" altLang="zh-CN">
                <a:solidFill>
                  <a:srgbClr val="000000"/>
                </a:solidFill>
                <a:latin typeface="+mn-ea"/>
                <a:ea typeface="+mn-ea"/>
              </a:rPr>
              <a:t>)</a:t>
            </a:r>
          </a:p>
          <a:p>
            <a:pPr>
              <a:spcBef>
                <a:spcPct val="10000"/>
              </a:spcBef>
              <a:buClr>
                <a:schemeClr val="tx2"/>
              </a:buClr>
              <a:buFont typeface="Wingdings" pitchFamily="2" charset="2"/>
              <a:buChar char="ü"/>
            </a:pPr>
            <a:r>
              <a:rPr lang="zh-CN" altLang="en-US" sz="2800">
                <a:solidFill>
                  <a:srgbClr val="000000"/>
                </a:solidFill>
                <a:latin typeface="+mn-ea"/>
                <a:ea typeface="+mn-ea"/>
              </a:rPr>
              <a:t>终端作从站</a:t>
            </a:r>
            <a:endParaRPr lang="zh-CN" altLang="en-US">
              <a:solidFill>
                <a:srgbClr val="000000"/>
              </a:solidFill>
              <a:latin typeface="+mn-ea"/>
              <a:ea typeface="+mn-ea"/>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08963">
                                            <p:txEl>
                                              <p:pRg st="0" end="0"/>
                                            </p:txEl>
                                          </p:spTgt>
                                        </p:tgtEl>
                                        <p:attrNameLst>
                                          <p:attrName>style.visibility</p:attrName>
                                        </p:attrNameLst>
                                      </p:cBhvr>
                                      <p:to>
                                        <p:strVal val="visible"/>
                                      </p:to>
                                    </p:set>
                                    <p:anim calcmode="lin" valueType="num">
                                      <p:cBhvr additive="base">
                                        <p:cTn id="7" dur="500" fill="hold"/>
                                        <p:tgtEl>
                                          <p:spTgt spid="80896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089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08963">
                                            <p:txEl>
                                              <p:pRg st="1" end="1"/>
                                            </p:txEl>
                                          </p:spTgt>
                                        </p:tgtEl>
                                        <p:attrNameLst>
                                          <p:attrName>style.visibility</p:attrName>
                                        </p:attrNameLst>
                                      </p:cBhvr>
                                      <p:to>
                                        <p:strVal val="visible"/>
                                      </p:to>
                                    </p:set>
                                    <p:anim calcmode="lin" valueType="num">
                                      <p:cBhvr additive="base">
                                        <p:cTn id="13" dur="500" fill="hold"/>
                                        <p:tgtEl>
                                          <p:spTgt spid="80896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089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08963">
                                            <p:txEl>
                                              <p:pRg st="2" end="2"/>
                                            </p:txEl>
                                          </p:spTgt>
                                        </p:tgtEl>
                                        <p:attrNameLst>
                                          <p:attrName>style.visibility</p:attrName>
                                        </p:attrNameLst>
                                      </p:cBhvr>
                                      <p:to>
                                        <p:strVal val="visible"/>
                                      </p:to>
                                    </p:set>
                                    <p:anim calcmode="lin" valueType="num">
                                      <p:cBhvr additive="base">
                                        <p:cTn id="19" dur="500" fill="hold"/>
                                        <p:tgtEl>
                                          <p:spTgt spid="80896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089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08963">
                                            <p:txEl>
                                              <p:pRg st="3" end="3"/>
                                            </p:txEl>
                                          </p:spTgt>
                                        </p:tgtEl>
                                        <p:attrNameLst>
                                          <p:attrName>style.visibility</p:attrName>
                                        </p:attrNameLst>
                                      </p:cBhvr>
                                      <p:to>
                                        <p:strVal val="visible"/>
                                      </p:to>
                                    </p:set>
                                    <p:anim calcmode="lin" valueType="num">
                                      <p:cBhvr additive="base">
                                        <p:cTn id="25" dur="500" fill="hold"/>
                                        <p:tgtEl>
                                          <p:spTgt spid="80896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089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08963">
                                            <p:txEl>
                                              <p:pRg st="4" end="4"/>
                                            </p:txEl>
                                          </p:spTgt>
                                        </p:tgtEl>
                                        <p:attrNameLst>
                                          <p:attrName>style.visibility</p:attrName>
                                        </p:attrNameLst>
                                      </p:cBhvr>
                                      <p:to>
                                        <p:strVal val="visible"/>
                                      </p:to>
                                    </p:set>
                                    <p:anim calcmode="lin" valueType="num">
                                      <p:cBhvr additive="base">
                                        <p:cTn id="31" dur="500" fill="hold"/>
                                        <p:tgtEl>
                                          <p:spTgt spid="80896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0896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08963">
                                            <p:txEl>
                                              <p:pRg st="5" end="5"/>
                                            </p:txEl>
                                          </p:spTgt>
                                        </p:tgtEl>
                                        <p:attrNameLst>
                                          <p:attrName>style.visibility</p:attrName>
                                        </p:attrNameLst>
                                      </p:cBhvr>
                                      <p:to>
                                        <p:strVal val="visible"/>
                                      </p:to>
                                    </p:set>
                                    <p:anim calcmode="lin" valueType="num">
                                      <p:cBhvr additive="base">
                                        <p:cTn id="37" dur="500" fill="hold"/>
                                        <p:tgtEl>
                                          <p:spTgt spid="808963">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0896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08963">
                                            <p:txEl>
                                              <p:pRg st="6" end="6"/>
                                            </p:txEl>
                                          </p:spTgt>
                                        </p:tgtEl>
                                        <p:attrNameLst>
                                          <p:attrName>style.visibility</p:attrName>
                                        </p:attrNameLst>
                                      </p:cBhvr>
                                      <p:to>
                                        <p:strVal val="visible"/>
                                      </p:to>
                                    </p:set>
                                    <p:anim calcmode="lin" valueType="num">
                                      <p:cBhvr additive="base">
                                        <p:cTn id="43" dur="500" fill="hold"/>
                                        <p:tgtEl>
                                          <p:spTgt spid="808963">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0896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808963">
                                            <p:txEl>
                                              <p:pRg st="7" end="7"/>
                                            </p:txEl>
                                          </p:spTgt>
                                        </p:tgtEl>
                                        <p:attrNameLst>
                                          <p:attrName>style.visibility</p:attrName>
                                        </p:attrNameLst>
                                      </p:cBhvr>
                                      <p:to>
                                        <p:strVal val="visible"/>
                                      </p:to>
                                    </p:set>
                                    <p:anim calcmode="lin" valueType="num">
                                      <p:cBhvr additive="base">
                                        <p:cTn id="49" dur="500" fill="hold"/>
                                        <p:tgtEl>
                                          <p:spTgt spid="808963">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80896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63"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p:cNvSpPr>
            <a:spLocks noGrp="1" noChangeArrowheads="1"/>
          </p:cNvSpPr>
          <p:nvPr>
            <p:ph type="title"/>
          </p:nvPr>
        </p:nvSpPr>
        <p:spPr>
          <a:xfrm>
            <a:off x="2235200" y="1"/>
            <a:ext cx="7772400" cy="1033463"/>
          </a:xfrm>
          <a:noFill/>
        </p:spPr>
        <p:txBody>
          <a:bodyPr/>
          <a:lstStyle/>
          <a:p>
            <a:r>
              <a:rPr lang="en-US" altLang="zh-CN" sz="3600">
                <a:latin typeface="新宋体" pitchFamily="49" charset="-122"/>
                <a:ea typeface="新宋体" pitchFamily="49" charset="-122"/>
              </a:rPr>
              <a:t>HDLC </a:t>
            </a:r>
            <a:r>
              <a:rPr lang="zh-CN" altLang="en-US" sz="3600">
                <a:latin typeface="新宋体" pitchFamily="49" charset="-122"/>
                <a:ea typeface="新宋体" pitchFamily="49" charset="-122"/>
              </a:rPr>
              <a:t>传输模式</a:t>
            </a:r>
            <a:r>
              <a:rPr lang="en-US" altLang="zh-CN" sz="3600">
                <a:latin typeface="新宋体" pitchFamily="49" charset="-122"/>
                <a:ea typeface="新宋体" pitchFamily="49" charset="-122"/>
              </a:rPr>
              <a:t>(2)</a:t>
            </a:r>
          </a:p>
        </p:txBody>
      </p:sp>
      <p:sp>
        <p:nvSpPr>
          <p:cNvPr id="809987" name="Text Box 3"/>
          <p:cNvSpPr txBox="1">
            <a:spLocks noChangeArrowheads="1"/>
          </p:cNvSpPr>
          <p:nvPr/>
        </p:nvSpPr>
        <p:spPr bwMode="auto">
          <a:xfrm>
            <a:off x="2457451" y="1385888"/>
            <a:ext cx="7508875" cy="308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kumimoji="1" sz="2400">
                <a:solidFill>
                  <a:schemeClr val="tx1"/>
                </a:solidFill>
                <a:latin typeface="Times New Roman" pitchFamily="18" charset="0"/>
                <a:ea typeface="宋体" pitchFamily="2" charset="-122"/>
              </a:defRPr>
            </a:lvl1pPr>
            <a:lvl2pPr marL="57150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en-US" altLang="zh-CN" sz="2800" b="1">
                <a:solidFill>
                  <a:srgbClr val="000000"/>
                </a:solidFill>
                <a:latin typeface="Tahoma" pitchFamily="34" charset="0"/>
              </a:rPr>
              <a:t>Asynchronous Balanced Mode (ABM) </a:t>
            </a:r>
            <a:endParaRPr lang="en-US" altLang="zh-CN" sz="2800">
              <a:solidFill>
                <a:srgbClr val="000000"/>
              </a:solidFill>
              <a:latin typeface="Arial Black" pitchFamily="34" charset="0"/>
            </a:endParaRPr>
          </a:p>
          <a:p>
            <a:pPr>
              <a:spcBef>
                <a:spcPct val="50000"/>
              </a:spcBef>
            </a:pPr>
            <a:r>
              <a:rPr lang="en-US" altLang="zh-CN" sz="2800">
                <a:solidFill>
                  <a:srgbClr val="000000"/>
                </a:solidFill>
                <a:latin typeface="Arial Black" pitchFamily="34" charset="0"/>
              </a:rPr>
              <a:t>                                ----</a:t>
            </a:r>
            <a:r>
              <a:rPr lang="zh-CN" altLang="en-US" sz="2800">
                <a:solidFill>
                  <a:srgbClr val="000000"/>
                </a:solidFill>
                <a:latin typeface="黑体" pitchFamily="49" charset="-122"/>
                <a:ea typeface="黑体" pitchFamily="49" charset="-122"/>
              </a:rPr>
              <a:t>异步平衡模式</a:t>
            </a:r>
            <a:endParaRPr lang="zh-CN" altLang="en-US" sz="2800">
              <a:solidFill>
                <a:srgbClr val="000000"/>
              </a:solidFill>
              <a:latin typeface="Arial Black" pitchFamily="34" charset="0"/>
            </a:endParaRPr>
          </a:p>
          <a:p>
            <a:pPr>
              <a:spcBef>
                <a:spcPct val="50000"/>
              </a:spcBef>
              <a:buFont typeface="Wingdings" pitchFamily="2" charset="2"/>
              <a:buChar char="Ø"/>
            </a:pPr>
            <a:r>
              <a:rPr lang="zh-CN" altLang="en-US" sz="2800">
                <a:solidFill>
                  <a:srgbClr val="000000"/>
                </a:solidFill>
                <a:latin typeface="Tahoma" pitchFamily="34" charset="0"/>
              </a:rPr>
              <a:t>平衡结构 </a:t>
            </a:r>
            <a:endParaRPr lang="zh-CN" altLang="en-US" sz="2800">
              <a:solidFill>
                <a:srgbClr val="000000"/>
              </a:solidFill>
              <a:latin typeface="Arial Black" pitchFamily="34" charset="0"/>
            </a:endParaRPr>
          </a:p>
          <a:p>
            <a:pPr>
              <a:spcBef>
                <a:spcPct val="50000"/>
              </a:spcBef>
              <a:buFont typeface="Wingdings" pitchFamily="2" charset="2"/>
              <a:buChar char="Ø"/>
            </a:pPr>
            <a:r>
              <a:rPr lang="zh-CN" altLang="en-US" sz="2800">
                <a:solidFill>
                  <a:srgbClr val="000000"/>
                </a:solidFill>
                <a:latin typeface="Tahoma" pitchFamily="34" charset="0"/>
              </a:rPr>
              <a:t>不需收到许可，任何站均可发起传输 </a:t>
            </a:r>
            <a:endParaRPr lang="zh-CN" altLang="en-US" sz="2800">
              <a:solidFill>
                <a:srgbClr val="000000"/>
              </a:solidFill>
              <a:latin typeface="Arial Black" pitchFamily="34" charset="0"/>
            </a:endParaRPr>
          </a:p>
          <a:p>
            <a:pPr>
              <a:spcBef>
                <a:spcPct val="50000"/>
              </a:spcBef>
              <a:buFont typeface="Wingdings" pitchFamily="2" charset="2"/>
              <a:buChar char="Ø"/>
            </a:pPr>
            <a:r>
              <a:rPr lang="zh-CN" altLang="en-US" sz="2800">
                <a:solidFill>
                  <a:srgbClr val="000000"/>
                </a:solidFill>
                <a:latin typeface="Tahoma" pitchFamily="34" charset="0"/>
              </a:rPr>
              <a:t>使用非常广泛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09987">
                                            <p:txEl>
                                              <p:pRg st="0" end="0"/>
                                            </p:txEl>
                                          </p:spTgt>
                                        </p:tgtEl>
                                        <p:attrNameLst>
                                          <p:attrName>style.visibility</p:attrName>
                                        </p:attrNameLst>
                                      </p:cBhvr>
                                      <p:to>
                                        <p:strVal val="visible"/>
                                      </p:to>
                                    </p:set>
                                    <p:anim calcmode="lin" valueType="num">
                                      <p:cBhvr additive="base">
                                        <p:cTn id="7" dur="500" fill="hold"/>
                                        <p:tgtEl>
                                          <p:spTgt spid="8099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099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09987">
                                            <p:txEl>
                                              <p:pRg st="1" end="1"/>
                                            </p:txEl>
                                          </p:spTgt>
                                        </p:tgtEl>
                                        <p:attrNameLst>
                                          <p:attrName>style.visibility</p:attrName>
                                        </p:attrNameLst>
                                      </p:cBhvr>
                                      <p:to>
                                        <p:strVal val="visible"/>
                                      </p:to>
                                    </p:set>
                                    <p:anim calcmode="lin" valueType="num">
                                      <p:cBhvr additive="base">
                                        <p:cTn id="13" dur="500" fill="hold"/>
                                        <p:tgtEl>
                                          <p:spTgt spid="80998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099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09987">
                                            <p:txEl>
                                              <p:pRg st="2" end="2"/>
                                            </p:txEl>
                                          </p:spTgt>
                                        </p:tgtEl>
                                        <p:attrNameLst>
                                          <p:attrName>style.visibility</p:attrName>
                                        </p:attrNameLst>
                                      </p:cBhvr>
                                      <p:to>
                                        <p:strVal val="visible"/>
                                      </p:to>
                                    </p:set>
                                    <p:anim calcmode="lin" valueType="num">
                                      <p:cBhvr additive="base">
                                        <p:cTn id="19" dur="500" fill="hold"/>
                                        <p:tgtEl>
                                          <p:spTgt spid="80998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099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09987">
                                            <p:txEl>
                                              <p:pRg st="3" end="3"/>
                                            </p:txEl>
                                          </p:spTgt>
                                        </p:tgtEl>
                                        <p:attrNameLst>
                                          <p:attrName>style.visibility</p:attrName>
                                        </p:attrNameLst>
                                      </p:cBhvr>
                                      <p:to>
                                        <p:strVal val="visible"/>
                                      </p:to>
                                    </p:set>
                                    <p:anim calcmode="lin" valueType="num">
                                      <p:cBhvr additive="base">
                                        <p:cTn id="25" dur="500" fill="hold"/>
                                        <p:tgtEl>
                                          <p:spTgt spid="80998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0998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09987">
                                            <p:txEl>
                                              <p:pRg st="4" end="4"/>
                                            </p:txEl>
                                          </p:spTgt>
                                        </p:tgtEl>
                                        <p:attrNameLst>
                                          <p:attrName>style.visibility</p:attrName>
                                        </p:attrNameLst>
                                      </p:cBhvr>
                                      <p:to>
                                        <p:strVal val="visible"/>
                                      </p:to>
                                    </p:set>
                                    <p:anim calcmode="lin" valueType="num">
                                      <p:cBhvr additive="base">
                                        <p:cTn id="31" dur="500" fill="hold"/>
                                        <p:tgtEl>
                                          <p:spTgt spid="80998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0998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987"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0" name="Rectangle 2"/>
          <p:cNvSpPr>
            <a:spLocks noGrp="1" noChangeArrowheads="1"/>
          </p:cNvSpPr>
          <p:nvPr>
            <p:ph type="title"/>
          </p:nvPr>
        </p:nvSpPr>
        <p:spPr>
          <a:xfrm>
            <a:off x="2198688" y="0"/>
            <a:ext cx="7772400" cy="1143000"/>
          </a:xfrm>
          <a:noFill/>
        </p:spPr>
        <p:txBody>
          <a:bodyPr/>
          <a:lstStyle/>
          <a:p>
            <a:r>
              <a:rPr lang="en-US" altLang="zh-CN" sz="3600">
                <a:latin typeface="新宋体" pitchFamily="49" charset="-122"/>
                <a:ea typeface="新宋体" pitchFamily="49" charset="-122"/>
              </a:rPr>
              <a:t>HDLC</a:t>
            </a:r>
            <a:r>
              <a:rPr lang="zh-CN" altLang="en-US" sz="3600">
                <a:latin typeface="新宋体" pitchFamily="49" charset="-122"/>
                <a:ea typeface="新宋体" pitchFamily="49" charset="-122"/>
              </a:rPr>
              <a:t>传输</a:t>
            </a:r>
            <a:r>
              <a:rPr lang="en-US" altLang="zh-CN" sz="3600">
                <a:latin typeface="新宋体" pitchFamily="49" charset="-122"/>
                <a:ea typeface="新宋体" pitchFamily="49" charset="-122"/>
              </a:rPr>
              <a:t>(3) </a:t>
            </a:r>
          </a:p>
        </p:txBody>
      </p:sp>
      <p:sp>
        <p:nvSpPr>
          <p:cNvPr id="811011" name="Text Box 3"/>
          <p:cNvSpPr txBox="1">
            <a:spLocks noChangeArrowheads="1"/>
          </p:cNvSpPr>
          <p:nvPr/>
        </p:nvSpPr>
        <p:spPr bwMode="auto">
          <a:xfrm>
            <a:off x="2408238" y="1335088"/>
            <a:ext cx="773906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kumimoji="1" sz="2400">
                <a:solidFill>
                  <a:schemeClr val="tx1"/>
                </a:solidFill>
                <a:latin typeface="Times New Roman" pitchFamily="18" charset="0"/>
                <a:ea typeface="宋体" pitchFamily="2" charset="-122"/>
              </a:defRPr>
            </a:lvl1pPr>
            <a:lvl2pPr marL="66675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30000"/>
              </a:spcBef>
            </a:pPr>
            <a:r>
              <a:rPr lang="en-US" altLang="zh-CN" sz="3200">
                <a:solidFill>
                  <a:srgbClr val="000000"/>
                </a:solidFill>
                <a:latin typeface="Tahoma" pitchFamily="34" charset="0"/>
              </a:rPr>
              <a:t>Asynchronous Response Mode (ARM) </a:t>
            </a:r>
          </a:p>
          <a:p>
            <a:pPr>
              <a:spcBef>
                <a:spcPct val="30000"/>
              </a:spcBef>
            </a:pPr>
            <a:r>
              <a:rPr lang="en-US" altLang="zh-CN" sz="3200">
                <a:solidFill>
                  <a:srgbClr val="000000"/>
                </a:solidFill>
                <a:latin typeface="Tahoma" pitchFamily="34" charset="0"/>
              </a:rPr>
              <a:t>                           ----</a:t>
            </a:r>
            <a:r>
              <a:rPr lang="zh-CN" altLang="en-US" sz="3200">
                <a:solidFill>
                  <a:srgbClr val="000000"/>
                </a:solidFill>
                <a:latin typeface="黑体" pitchFamily="49" charset="-122"/>
                <a:ea typeface="黑体" pitchFamily="49" charset="-122"/>
              </a:rPr>
              <a:t>异步响应模式</a:t>
            </a:r>
            <a:endParaRPr lang="zh-CN" altLang="en-US" sz="3200">
              <a:solidFill>
                <a:srgbClr val="000000"/>
              </a:solidFill>
              <a:latin typeface="Arial Black" pitchFamily="34" charset="0"/>
            </a:endParaRPr>
          </a:p>
          <a:p>
            <a:pPr>
              <a:spcBef>
                <a:spcPct val="30000"/>
              </a:spcBef>
              <a:buFont typeface="Wingdings" pitchFamily="2" charset="2"/>
              <a:buChar char="v"/>
            </a:pPr>
            <a:r>
              <a:rPr lang="zh-CN" altLang="en-US" sz="3200">
                <a:solidFill>
                  <a:srgbClr val="000000"/>
                </a:solidFill>
                <a:latin typeface="Tahoma" pitchFamily="34" charset="0"/>
              </a:rPr>
              <a:t>非平衡结构 </a:t>
            </a:r>
            <a:endParaRPr lang="zh-CN" altLang="en-US" sz="3200">
              <a:solidFill>
                <a:srgbClr val="000000"/>
              </a:solidFill>
              <a:latin typeface="Arial Black" pitchFamily="34" charset="0"/>
            </a:endParaRPr>
          </a:p>
          <a:p>
            <a:pPr>
              <a:spcBef>
                <a:spcPct val="30000"/>
              </a:spcBef>
              <a:buFont typeface="Wingdings" pitchFamily="2" charset="2"/>
              <a:buChar char="v"/>
            </a:pPr>
            <a:r>
              <a:rPr lang="zh-CN" altLang="en-US" sz="3200">
                <a:solidFill>
                  <a:srgbClr val="000000"/>
                </a:solidFill>
                <a:latin typeface="Tahoma" pitchFamily="34" charset="0"/>
              </a:rPr>
              <a:t>无须主站的许可，从站也可以主动发送 </a:t>
            </a:r>
            <a:endParaRPr lang="zh-CN" altLang="en-US" sz="3200">
              <a:solidFill>
                <a:srgbClr val="000000"/>
              </a:solidFill>
              <a:latin typeface="Arial Black" pitchFamily="34" charset="0"/>
            </a:endParaRPr>
          </a:p>
          <a:p>
            <a:pPr>
              <a:spcBef>
                <a:spcPct val="30000"/>
              </a:spcBef>
              <a:buFont typeface="Wingdings" pitchFamily="2" charset="2"/>
              <a:buChar char="v"/>
            </a:pPr>
            <a:r>
              <a:rPr lang="zh-CN" altLang="en-US" sz="3200">
                <a:solidFill>
                  <a:srgbClr val="000000"/>
                </a:solidFill>
                <a:latin typeface="Tahoma" pitchFamily="34" charset="0"/>
              </a:rPr>
              <a:t>主站负责链路管理 </a:t>
            </a:r>
            <a:endParaRPr lang="zh-CN" altLang="en-US" sz="3200">
              <a:solidFill>
                <a:srgbClr val="000000"/>
              </a:solidFill>
              <a:latin typeface="Arial Black" pitchFamily="34" charset="0"/>
            </a:endParaRPr>
          </a:p>
          <a:p>
            <a:pPr>
              <a:spcBef>
                <a:spcPct val="30000"/>
              </a:spcBef>
              <a:buFont typeface="Wingdings" pitchFamily="2" charset="2"/>
              <a:buChar char="v"/>
            </a:pPr>
            <a:r>
              <a:rPr lang="zh-CN" altLang="en-US" sz="3200">
                <a:solidFill>
                  <a:srgbClr val="000000"/>
                </a:solidFill>
                <a:latin typeface="Tahoma" pitchFamily="34" charset="0"/>
              </a:rPr>
              <a:t>很少使用 </a:t>
            </a:r>
            <a:endParaRPr lang="zh-CN" altLang="en-US" sz="32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1011">
                                            <p:txEl>
                                              <p:pRg st="0" end="0"/>
                                            </p:txEl>
                                          </p:spTgt>
                                        </p:tgtEl>
                                        <p:attrNameLst>
                                          <p:attrName>style.visibility</p:attrName>
                                        </p:attrNameLst>
                                      </p:cBhvr>
                                      <p:to>
                                        <p:strVal val="visible"/>
                                      </p:to>
                                    </p:set>
                                    <p:anim calcmode="lin" valueType="num">
                                      <p:cBhvr additive="base">
                                        <p:cTn id="7" dur="500" fill="hold"/>
                                        <p:tgtEl>
                                          <p:spTgt spid="8110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110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11011">
                                            <p:txEl>
                                              <p:pRg st="1" end="1"/>
                                            </p:txEl>
                                          </p:spTgt>
                                        </p:tgtEl>
                                        <p:attrNameLst>
                                          <p:attrName>style.visibility</p:attrName>
                                        </p:attrNameLst>
                                      </p:cBhvr>
                                      <p:to>
                                        <p:strVal val="visible"/>
                                      </p:to>
                                    </p:set>
                                    <p:anim calcmode="lin" valueType="num">
                                      <p:cBhvr additive="base">
                                        <p:cTn id="13" dur="500" fill="hold"/>
                                        <p:tgtEl>
                                          <p:spTgt spid="81101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110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11011">
                                            <p:txEl>
                                              <p:pRg st="2" end="2"/>
                                            </p:txEl>
                                          </p:spTgt>
                                        </p:tgtEl>
                                        <p:attrNameLst>
                                          <p:attrName>style.visibility</p:attrName>
                                        </p:attrNameLst>
                                      </p:cBhvr>
                                      <p:to>
                                        <p:strVal val="visible"/>
                                      </p:to>
                                    </p:set>
                                    <p:anim calcmode="lin" valueType="num">
                                      <p:cBhvr additive="base">
                                        <p:cTn id="19" dur="500" fill="hold"/>
                                        <p:tgtEl>
                                          <p:spTgt spid="81101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110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11011">
                                            <p:txEl>
                                              <p:pRg st="3" end="3"/>
                                            </p:txEl>
                                          </p:spTgt>
                                        </p:tgtEl>
                                        <p:attrNameLst>
                                          <p:attrName>style.visibility</p:attrName>
                                        </p:attrNameLst>
                                      </p:cBhvr>
                                      <p:to>
                                        <p:strVal val="visible"/>
                                      </p:to>
                                    </p:set>
                                    <p:anim calcmode="lin" valueType="num">
                                      <p:cBhvr additive="base">
                                        <p:cTn id="25" dur="500" fill="hold"/>
                                        <p:tgtEl>
                                          <p:spTgt spid="81101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110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11011">
                                            <p:txEl>
                                              <p:pRg st="4" end="4"/>
                                            </p:txEl>
                                          </p:spTgt>
                                        </p:tgtEl>
                                        <p:attrNameLst>
                                          <p:attrName>style.visibility</p:attrName>
                                        </p:attrNameLst>
                                      </p:cBhvr>
                                      <p:to>
                                        <p:strVal val="visible"/>
                                      </p:to>
                                    </p:set>
                                    <p:anim calcmode="lin" valueType="num">
                                      <p:cBhvr additive="base">
                                        <p:cTn id="31" dur="500" fill="hold"/>
                                        <p:tgtEl>
                                          <p:spTgt spid="81101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110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11011">
                                            <p:txEl>
                                              <p:pRg st="5" end="5"/>
                                            </p:txEl>
                                          </p:spTgt>
                                        </p:tgtEl>
                                        <p:attrNameLst>
                                          <p:attrName>style.visibility</p:attrName>
                                        </p:attrNameLst>
                                      </p:cBhvr>
                                      <p:to>
                                        <p:strVal val="visible"/>
                                      </p:to>
                                    </p:set>
                                    <p:anim calcmode="lin" valueType="num">
                                      <p:cBhvr additive="base">
                                        <p:cTn id="37" dur="500" fill="hold"/>
                                        <p:tgtEl>
                                          <p:spTgt spid="811011">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1101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11"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4" name="Rectangle 2"/>
          <p:cNvSpPr>
            <a:spLocks noGrp="1" noChangeArrowheads="1"/>
          </p:cNvSpPr>
          <p:nvPr>
            <p:ph type="title"/>
          </p:nvPr>
        </p:nvSpPr>
        <p:spPr>
          <a:xfrm>
            <a:off x="2173288" y="0"/>
            <a:ext cx="7772400" cy="1143000"/>
          </a:xfrm>
          <a:noFill/>
        </p:spPr>
        <p:txBody>
          <a:bodyPr/>
          <a:lstStyle/>
          <a:p>
            <a:r>
              <a:rPr lang="en-US" altLang="zh-CN" sz="3600">
                <a:latin typeface="新宋体" pitchFamily="49" charset="-122"/>
                <a:ea typeface="新宋体" pitchFamily="49" charset="-122"/>
              </a:rPr>
              <a:t>HDLC</a:t>
            </a:r>
            <a:r>
              <a:rPr lang="zh-CN" altLang="en-US" sz="3600">
                <a:latin typeface="新宋体" pitchFamily="49" charset="-122"/>
                <a:ea typeface="新宋体" pitchFamily="49" charset="-122"/>
              </a:rPr>
              <a:t>帧结构  </a:t>
            </a:r>
          </a:p>
        </p:txBody>
      </p:sp>
      <p:pic>
        <p:nvPicPr>
          <p:cNvPr id="8120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7550" y="1249364"/>
            <a:ext cx="8058150" cy="290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58" name="Rectangle 2"/>
          <p:cNvSpPr>
            <a:spLocks noGrp="1" noChangeArrowheads="1"/>
          </p:cNvSpPr>
          <p:nvPr>
            <p:ph type="title"/>
          </p:nvPr>
        </p:nvSpPr>
        <p:spPr>
          <a:xfrm>
            <a:off x="2233613" y="1"/>
            <a:ext cx="7772400" cy="1058863"/>
          </a:xfrm>
          <a:noFill/>
        </p:spPr>
        <p:txBody>
          <a:bodyPr/>
          <a:lstStyle/>
          <a:p>
            <a:r>
              <a:rPr lang="en-US" altLang="zh-CN" sz="3600">
                <a:latin typeface="新宋体" pitchFamily="49" charset="-122"/>
                <a:ea typeface="新宋体" pitchFamily="49" charset="-122"/>
              </a:rPr>
              <a:t>Flag Fields-</a:t>
            </a:r>
            <a:r>
              <a:rPr lang="zh-CN" altLang="en-US" sz="3600">
                <a:latin typeface="新宋体" pitchFamily="49" charset="-122"/>
                <a:ea typeface="新宋体" pitchFamily="49" charset="-122"/>
              </a:rPr>
              <a:t>标志域</a:t>
            </a:r>
          </a:p>
        </p:txBody>
      </p:sp>
      <p:sp>
        <p:nvSpPr>
          <p:cNvPr id="813059" name="Text Box 3"/>
          <p:cNvSpPr txBox="1">
            <a:spLocks noChangeArrowheads="1"/>
          </p:cNvSpPr>
          <p:nvPr/>
        </p:nvSpPr>
        <p:spPr bwMode="auto">
          <a:xfrm>
            <a:off x="2794001" y="1349376"/>
            <a:ext cx="706596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kumimoji="1" sz="2400">
                <a:solidFill>
                  <a:schemeClr val="tx1"/>
                </a:solidFill>
                <a:latin typeface="Times New Roman" pitchFamily="18" charset="0"/>
                <a:ea typeface="宋体" pitchFamily="2" charset="-122"/>
              </a:defRPr>
            </a:lvl1pPr>
            <a:lvl2pPr marL="66675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buFont typeface="Wingdings" pitchFamily="2" charset="2"/>
              <a:buChar char="Ø"/>
            </a:pPr>
            <a:r>
              <a:rPr lang="zh-CN" altLang="en-US" sz="2800">
                <a:solidFill>
                  <a:srgbClr val="000000"/>
                </a:solidFill>
                <a:latin typeface="Tahoma" pitchFamily="34" charset="0"/>
              </a:rPr>
              <a:t>作用：帧定界 </a:t>
            </a:r>
            <a:endParaRPr lang="zh-CN" altLang="en-US" sz="2800">
              <a:solidFill>
                <a:srgbClr val="000000"/>
              </a:solidFill>
              <a:latin typeface="Arial Black" pitchFamily="34" charset="0"/>
            </a:endParaRPr>
          </a:p>
          <a:p>
            <a:pPr>
              <a:buFont typeface="Wingdings" pitchFamily="2" charset="2"/>
              <a:buChar char="Ø"/>
            </a:pPr>
            <a:r>
              <a:rPr lang="zh-CN" altLang="en-US" sz="2800">
                <a:solidFill>
                  <a:srgbClr val="000000"/>
                </a:solidFill>
                <a:latin typeface="Tahoma" pitchFamily="34" charset="0"/>
              </a:rPr>
              <a:t>标志值：</a:t>
            </a:r>
            <a:r>
              <a:rPr lang="en-US" altLang="zh-CN" sz="2800">
                <a:solidFill>
                  <a:srgbClr val="000000"/>
                </a:solidFill>
                <a:latin typeface="Tahoma" pitchFamily="34" charset="0"/>
              </a:rPr>
              <a:t>01111110 </a:t>
            </a:r>
            <a:endParaRPr lang="en-US" altLang="zh-CN" sz="2800">
              <a:solidFill>
                <a:srgbClr val="000000"/>
              </a:solidFill>
              <a:latin typeface="Arial Black" pitchFamily="34" charset="0"/>
            </a:endParaRPr>
          </a:p>
          <a:p>
            <a:pPr>
              <a:buFont typeface="Wingdings" pitchFamily="2" charset="2"/>
              <a:buChar char="Ø"/>
            </a:pPr>
            <a:r>
              <a:rPr lang="zh-CN" altLang="en-US" sz="2800">
                <a:solidFill>
                  <a:srgbClr val="000000"/>
                </a:solidFill>
                <a:latin typeface="Tahoma" pitchFamily="34" charset="0"/>
              </a:rPr>
              <a:t>接收器通过搜索标志序列来同步 </a:t>
            </a:r>
            <a:endParaRPr lang="zh-CN" altLang="en-US" sz="2800">
              <a:solidFill>
                <a:srgbClr val="000000"/>
              </a:solidFill>
              <a:latin typeface="Arial Black" pitchFamily="34" charset="0"/>
            </a:endParaRPr>
          </a:p>
          <a:p>
            <a:pPr>
              <a:buFont typeface="Wingdings" pitchFamily="2" charset="2"/>
              <a:buChar char="Ø"/>
            </a:pPr>
            <a:r>
              <a:rPr lang="en-US" altLang="zh-CN" sz="2800" b="1">
                <a:solidFill>
                  <a:srgbClr val="00CD65"/>
                </a:solidFill>
                <a:latin typeface="Tahoma" pitchFamily="34" charset="0"/>
              </a:rPr>
              <a:t>Bit stuffing </a:t>
            </a:r>
            <a:r>
              <a:rPr lang="zh-CN" altLang="en-US">
                <a:solidFill>
                  <a:srgbClr val="000000"/>
                </a:solidFill>
                <a:latin typeface="宋体" pitchFamily="2" charset="-122"/>
              </a:rPr>
              <a:t>（</a:t>
            </a:r>
            <a:r>
              <a:rPr lang="en-US" altLang="zh-CN">
                <a:solidFill>
                  <a:schemeClr val="folHlink"/>
                </a:solidFill>
                <a:latin typeface="宋体" pitchFamily="2" charset="-122"/>
              </a:rPr>
              <a:t>0</a:t>
            </a:r>
            <a:r>
              <a:rPr lang="zh-CN" altLang="en-US">
                <a:solidFill>
                  <a:schemeClr val="folHlink"/>
                </a:solidFill>
                <a:latin typeface="宋体" pitchFamily="2" charset="-122"/>
              </a:rPr>
              <a:t>比特插入技术</a:t>
            </a:r>
            <a:r>
              <a:rPr lang="zh-CN" altLang="en-US">
                <a:solidFill>
                  <a:srgbClr val="000000"/>
                </a:solidFill>
                <a:latin typeface="宋体" pitchFamily="2" charset="-122"/>
              </a:rPr>
              <a:t>）</a:t>
            </a:r>
            <a:r>
              <a:rPr lang="zh-CN" altLang="en-US">
                <a:solidFill>
                  <a:srgbClr val="000000"/>
                </a:solidFill>
                <a:latin typeface="Tahoma" pitchFamily="34" charset="0"/>
              </a:rPr>
              <a:t>以避免由于数据中出现 </a:t>
            </a:r>
            <a:r>
              <a:rPr lang="en-US" altLang="zh-CN">
                <a:solidFill>
                  <a:srgbClr val="000000"/>
                </a:solidFill>
                <a:latin typeface="Tahoma" pitchFamily="34" charset="0"/>
              </a:rPr>
              <a:t>01111110</a:t>
            </a:r>
            <a:r>
              <a:rPr lang="zh-CN" altLang="en-US">
                <a:solidFill>
                  <a:srgbClr val="000000"/>
                </a:solidFill>
                <a:latin typeface="Tahoma" pitchFamily="34" charset="0"/>
              </a:rPr>
              <a:t>而引起混乱</a:t>
            </a:r>
            <a:endParaRPr lang="zh-CN" altLang="en-US">
              <a:solidFill>
                <a:srgbClr val="000000"/>
              </a:solidFill>
              <a:latin typeface="Arial Black" pitchFamily="34" charset="0"/>
            </a:endParaRPr>
          </a:p>
          <a:p>
            <a:pPr>
              <a:buFont typeface="Wingdings" pitchFamily="2" charset="2"/>
              <a:buChar char="v"/>
            </a:pPr>
            <a:r>
              <a:rPr lang="zh-CN" altLang="en-US">
                <a:solidFill>
                  <a:schemeClr val="hlink"/>
                </a:solidFill>
                <a:latin typeface="Tahoma" pitchFamily="34" charset="0"/>
              </a:rPr>
              <a:t>数据中每出现</a:t>
            </a:r>
            <a:r>
              <a:rPr lang="en-US" altLang="zh-CN">
                <a:solidFill>
                  <a:schemeClr val="hlink"/>
                </a:solidFill>
                <a:latin typeface="Tahoma" pitchFamily="34" charset="0"/>
              </a:rPr>
              <a:t>5</a:t>
            </a:r>
            <a:r>
              <a:rPr lang="zh-CN" altLang="en-US">
                <a:solidFill>
                  <a:schemeClr val="hlink"/>
                </a:solidFill>
                <a:latin typeface="Tahoma" pitchFamily="34" charset="0"/>
              </a:rPr>
              <a:t>个连续的</a:t>
            </a:r>
            <a:r>
              <a:rPr lang="en-US" altLang="zh-CN">
                <a:solidFill>
                  <a:schemeClr val="hlink"/>
                </a:solidFill>
                <a:latin typeface="Tahoma" pitchFamily="34" charset="0"/>
              </a:rPr>
              <a:t>1</a:t>
            </a:r>
            <a:r>
              <a:rPr lang="zh-CN" altLang="en-US">
                <a:solidFill>
                  <a:schemeClr val="hlink"/>
                </a:solidFill>
                <a:latin typeface="Tahoma" pitchFamily="34" charset="0"/>
              </a:rPr>
              <a:t>，自动插入一个</a:t>
            </a:r>
            <a:r>
              <a:rPr lang="en-US" altLang="zh-CN">
                <a:solidFill>
                  <a:schemeClr val="hlink"/>
                </a:solidFill>
                <a:latin typeface="Tahoma" pitchFamily="34" charset="0"/>
              </a:rPr>
              <a:t>0 </a:t>
            </a:r>
            <a:endParaRPr lang="en-US" altLang="zh-CN">
              <a:solidFill>
                <a:schemeClr val="hlink"/>
              </a:solidFill>
              <a:latin typeface="Arial Black" pitchFamily="34" charset="0"/>
            </a:endParaRPr>
          </a:p>
          <a:p>
            <a:pPr>
              <a:buFont typeface="Wingdings" pitchFamily="2" charset="2"/>
              <a:buChar char="v"/>
            </a:pPr>
            <a:r>
              <a:rPr lang="zh-CN" altLang="en-US">
                <a:solidFill>
                  <a:schemeClr val="hlink"/>
                </a:solidFill>
                <a:latin typeface="Tahoma" pitchFamily="34" charset="0"/>
              </a:rPr>
              <a:t>接收器收到</a:t>
            </a:r>
            <a:r>
              <a:rPr lang="en-US" altLang="zh-CN">
                <a:solidFill>
                  <a:schemeClr val="hlink"/>
                </a:solidFill>
                <a:latin typeface="Tahoma" pitchFamily="34" charset="0"/>
              </a:rPr>
              <a:t>5</a:t>
            </a:r>
            <a:r>
              <a:rPr lang="zh-CN" altLang="en-US">
                <a:solidFill>
                  <a:schemeClr val="hlink"/>
                </a:solidFill>
                <a:latin typeface="Tahoma" pitchFamily="34" charset="0"/>
              </a:rPr>
              <a:t>个连续的</a:t>
            </a:r>
            <a:r>
              <a:rPr lang="en-US" altLang="zh-CN">
                <a:solidFill>
                  <a:schemeClr val="hlink"/>
                </a:solidFill>
                <a:latin typeface="Tahoma" pitchFamily="34" charset="0"/>
              </a:rPr>
              <a:t>1</a:t>
            </a:r>
            <a:r>
              <a:rPr lang="zh-CN" altLang="en-US">
                <a:solidFill>
                  <a:schemeClr val="hlink"/>
                </a:solidFill>
                <a:latin typeface="Tahoma" pitchFamily="34" charset="0"/>
              </a:rPr>
              <a:t>后，检测下一比特： </a:t>
            </a:r>
            <a:endParaRPr lang="zh-CN" altLang="en-US">
              <a:solidFill>
                <a:schemeClr val="hlink"/>
              </a:solidFill>
              <a:latin typeface="Arial Black" pitchFamily="34" charset="0"/>
            </a:endParaRPr>
          </a:p>
          <a:p>
            <a:pPr>
              <a:buFont typeface="Wingdings" pitchFamily="2" charset="2"/>
              <a:buChar char="v"/>
            </a:pPr>
            <a:r>
              <a:rPr lang="zh-CN" altLang="en-US">
                <a:solidFill>
                  <a:schemeClr val="hlink"/>
                </a:solidFill>
                <a:latin typeface="Tahoma" pitchFamily="34" charset="0"/>
              </a:rPr>
              <a:t>如果为</a:t>
            </a:r>
            <a:r>
              <a:rPr lang="en-US" altLang="zh-CN">
                <a:solidFill>
                  <a:schemeClr val="hlink"/>
                </a:solidFill>
                <a:latin typeface="Tahoma" pitchFamily="34" charset="0"/>
              </a:rPr>
              <a:t>0</a:t>
            </a:r>
            <a:r>
              <a:rPr lang="zh-CN" altLang="en-US">
                <a:solidFill>
                  <a:schemeClr val="hlink"/>
                </a:solidFill>
                <a:latin typeface="Tahoma" pitchFamily="34" charset="0"/>
              </a:rPr>
              <a:t>，则去掉 </a:t>
            </a:r>
            <a:endParaRPr lang="zh-CN" altLang="en-US">
              <a:solidFill>
                <a:schemeClr val="hlink"/>
              </a:solidFill>
              <a:latin typeface="Arial Black" pitchFamily="34" charset="0"/>
            </a:endParaRPr>
          </a:p>
          <a:p>
            <a:pPr>
              <a:buFont typeface="Wingdings" pitchFamily="2" charset="2"/>
              <a:buChar char="v"/>
            </a:pPr>
            <a:r>
              <a:rPr lang="zh-CN" altLang="en-US">
                <a:solidFill>
                  <a:schemeClr val="hlink"/>
                </a:solidFill>
                <a:latin typeface="Tahoma" pitchFamily="34" charset="0"/>
              </a:rPr>
              <a:t>如果为</a:t>
            </a:r>
            <a:r>
              <a:rPr lang="en-US" altLang="zh-CN">
                <a:solidFill>
                  <a:schemeClr val="hlink"/>
                </a:solidFill>
                <a:latin typeface="Tahoma" pitchFamily="34" charset="0"/>
              </a:rPr>
              <a:t>1 </a:t>
            </a:r>
            <a:r>
              <a:rPr lang="zh-CN" altLang="en-US">
                <a:solidFill>
                  <a:schemeClr val="hlink"/>
                </a:solidFill>
                <a:latin typeface="Tahoma" pitchFamily="34" charset="0"/>
              </a:rPr>
              <a:t>并且第七比特为 </a:t>
            </a:r>
            <a:r>
              <a:rPr lang="en-US" altLang="zh-CN">
                <a:solidFill>
                  <a:schemeClr val="hlink"/>
                </a:solidFill>
                <a:latin typeface="Tahoma" pitchFamily="34" charset="0"/>
              </a:rPr>
              <a:t>0, </a:t>
            </a:r>
            <a:r>
              <a:rPr lang="zh-CN" altLang="en-US">
                <a:solidFill>
                  <a:schemeClr val="hlink"/>
                </a:solidFill>
                <a:latin typeface="Tahoma" pitchFamily="34" charset="0"/>
              </a:rPr>
              <a:t>作为</a:t>
            </a:r>
            <a:r>
              <a:rPr lang="zh-CN" altLang="en-US">
                <a:solidFill>
                  <a:schemeClr val="hlink"/>
                </a:solidFill>
                <a:latin typeface="宋体" pitchFamily="2" charset="-122"/>
              </a:rPr>
              <a:t>标志</a:t>
            </a:r>
            <a:r>
              <a:rPr lang="zh-CN" altLang="en-US" b="1">
                <a:solidFill>
                  <a:schemeClr val="hlink"/>
                </a:solidFill>
                <a:latin typeface="Tahoma" pitchFamily="34" charset="0"/>
              </a:rPr>
              <a:t>接受 </a:t>
            </a:r>
            <a:endParaRPr lang="zh-CN" altLang="en-US">
              <a:solidFill>
                <a:schemeClr val="hlink"/>
              </a:solidFill>
              <a:latin typeface="Arial Black" pitchFamily="34" charset="0"/>
            </a:endParaRPr>
          </a:p>
          <a:p>
            <a:pPr>
              <a:buFont typeface="Wingdings" pitchFamily="2" charset="2"/>
              <a:buChar char="v"/>
            </a:pPr>
            <a:r>
              <a:rPr lang="zh-CN" altLang="en-US">
                <a:solidFill>
                  <a:schemeClr val="hlink"/>
                </a:solidFill>
                <a:latin typeface="Tahoma" pitchFamily="34" charset="0"/>
              </a:rPr>
              <a:t>如果第</a:t>
            </a:r>
            <a:r>
              <a:rPr lang="en-US" altLang="zh-CN">
                <a:solidFill>
                  <a:schemeClr val="hlink"/>
                </a:solidFill>
                <a:latin typeface="Tahoma" pitchFamily="34" charset="0"/>
              </a:rPr>
              <a:t>6</a:t>
            </a:r>
            <a:r>
              <a:rPr lang="zh-CN" altLang="en-US">
                <a:solidFill>
                  <a:schemeClr val="hlink"/>
                </a:solidFill>
                <a:latin typeface="Tahoma" pitchFamily="34" charset="0"/>
              </a:rPr>
              <a:t>、</a:t>
            </a:r>
            <a:r>
              <a:rPr lang="en-US" altLang="zh-CN">
                <a:solidFill>
                  <a:schemeClr val="hlink"/>
                </a:solidFill>
                <a:latin typeface="Tahoma" pitchFamily="34" charset="0"/>
              </a:rPr>
              <a:t>7</a:t>
            </a:r>
            <a:r>
              <a:rPr lang="zh-CN" altLang="en-US">
                <a:solidFill>
                  <a:schemeClr val="hlink"/>
                </a:solidFill>
                <a:latin typeface="Tahoma" pitchFamily="34" charset="0"/>
              </a:rPr>
              <a:t>比特均为 </a:t>
            </a:r>
            <a:r>
              <a:rPr lang="en-US" altLang="zh-CN">
                <a:solidFill>
                  <a:schemeClr val="hlink"/>
                </a:solidFill>
                <a:latin typeface="Tahoma" pitchFamily="34" charset="0"/>
              </a:rPr>
              <a:t>1,</a:t>
            </a:r>
            <a:r>
              <a:rPr lang="zh-CN" altLang="en-US">
                <a:solidFill>
                  <a:schemeClr val="hlink"/>
                </a:solidFill>
                <a:latin typeface="Tahoma" pitchFamily="34" charset="0"/>
              </a:rPr>
              <a:t>则表示发送方异常终止</a:t>
            </a:r>
          </a:p>
          <a:p>
            <a:pPr>
              <a:buFont typeface="Wingdings" pitchFamily="2" charset="2"/>
              <a:buChar char="v"/>
            </a:pPr>
            <a:r>
              <a:rPr lang="zh-CN" altLang="en-US">
                <a:solidFill>
                  <a:schemeClr val="hlink"/>
                </a:solidFill>
                <a:latin typeface="Tahoma" pitchFamily="34" charset="0"/>
              </a:rPr>
              <a:t>连续</a:t>
            </a:r>
            <a:r>
              <a:rPr lang="en-US" altLang="zh-CN">
                <a:solidFill>
                  <a:schemeClr val="hlink"/>
                </a:solidFill>
                <a:latin typeface="Tahoma" pitchFamily="34" charset="0"/>
              </a:rPr>
              <a:t>15</a:t>
            </a:r>
            <a:r>
              <a:rPr lang="zh-CN" altLang="en-US">
                <a:solidFill>
                  <a:schemeClr val="hlink"/>
                </a:solidFill>
                <a:latin typeface="Tahoma" pitchFamily="34" charset="0"/>
              </a:rPr>
              <a:t>个以上的</a:t>
            </a:r>
            <a:r>
              <a:rPr lang="en-US" altLang="zh-CN">
                <a:solidFill>
                  <a:schemeClr val="hlink"/>
                </a:solidFill>
                <a:latin typeface="Tahoma" pitchFamily="34" charset="0"/>
              </a:rPr>
              <a:t>1</a:t>
            </a:r>
            <a:r>
              <a:rPr lang="zh-CN" altLang="en-US">
                <a:solidFill>
                  <a:schemeClr val="hlink"/>
                </a:solidFill>
                <a:latin typeface="Tahoma" pitchFamily="34" charset="0"/>
              </a:rPr>
              <a:t>表示信道空闲</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3059">
                                            <p:txEl>
                                              <p:pRg st="0" end="0"/>
                                            </p:txEl>
                                          </p:spTgt>
                                        </p:tgtEl>
                                        <p:attrNameLst>
                                          <p:attrName>style.visibility</p:attrName>
                                        </p:attrNameLst>
                                      </p:cBhvr>
                                      <p:to>
                                        <p:strVal val="visible"/>
                                      </p:to>
                                    </p:set>
                                    <p:anim calcmode="lin" valueType="num">
                                      <p:cBhvr additive="base">
                                        <p:cTn id="7" dur="500" fill="hold"/>
                                        <p:tgtEl>
                                          <p:spTgt spid="81305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130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13059">
                                            <p:txEl>
                                              <p:pRg st="1" end="1"/>
                                            </p:txEl>
                                          </p:spTgt>
                                        </p:tgtEl>
                                        <p:attrNameLst>
                                          <p:attrName>style.visibility</p:attrName>
                                        </p:attrNameLst>
                                      </p:cBhvr>
                                      <p:to>
                                        <p:strVal val="visible"/>
                                      </p:to>
                                    </p:set>
                                    <p:anim calcmode="lin" valueType="num">
                                      <p:cBhvr additive="base">
                                        <p:cTn id="13" dur="500" fill="hold"/>
                                        <p:tgtEl>
                                          <p:spTgt spid="81305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130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13059">
                                            <p:txEl>
                                              <p:pRg st="2" end="2"/>
                                            </p:txEl>
                                          </p:spTgt>
                                        </p:tgtEl>
                                        <p:attrNameLst>
                                          <p:attrName>style.visibility</p:attrName>
                                        </p:attrNameLst>
                                      </p:cBhvr>
                                      <p:to>
                                        <p:strVal val="visible"/>
                                      </p:to>
                                    </p:set>
                                    <p:anim calcmode="lin" valueType="num">
                                      <p:cBhvr additive="base">
                                        <p:cTn id="19" dur="500" fill="hold"/>
                                        <p:tgtEl>
                                          <p:spTgt spid="81305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130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13059">
                                            <p:txEl>
                                              <p:pRg st="3" end="3"/>
                                            </p:txEl>
                                          </p:spTgt>
                                        </p:tgtEl>
                                        <p:attrNameLst>
                                          <p:attrName>style.visibility</p:attrName>
                                        </p:attrNameLst>
                                      </p:cBhvr>
                                      <p:to>
                                        <p:strVal val="visible"/>
                                      </p:to>
                                    </p:set>
                                    <p:anim calcmode="lin" valueType="num">
                                      <p:cBhvr additive="base">
                                        <p:cTn id="25" dur="500" fill="hold"/>
                                        <p:tgtEl>
                                          <p:spTgt spid="81305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130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13059">
                                            <p:txEl>
                                              <p:pRg st="4" end="4"/>
                                            </p:txEl>
                                          </p:spTgt>
                                        </p:tgtEl>
                                        <p:attrNameLst>
                                          <p:attrName>style.visibility</p:attrName>
                                        </p:attrNameLst>
                                      </p:cBhvr>
                                      <p:to>
                                        <p:strVal val="visible"/>
                                      </p:to>
                                    </p:set>
                                    <p:anim calcmode="lin" valueType="num">
                                      <p:cBhvr additive="base">
                                        <p:cTn id="31" dur="500" fill="hold"/>
                                        <p:tgtEl>
                                          <p:spTgt spid="81305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130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13059">
                                            <p:txEl>
                                              <p:pRg st="5" end="5"/>
                                            </p:txEl>
                                          </p:spTgt>
                                        </p:tgtEl>
                                        <p:attrNameLst>
                                          <p:attrName>style.visibility</p:attrName>
                                        </p:attrNameLst>
                                      </p:cBhvr>
                                      <p:to>
                                        <p:strVal val="visible"/>
                                      </p:to>
                                    </p:set>
                                    <p:anim calcmode="lin" valueType="num">
                                      <p:cBhvr additive="base">
                                        <p:cTn id="37" dur="500" fill="hold"/>
                                        <p:tgtEl>
                                          <p:spTgt spid="813059">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1305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13059">
                                            <p:txEl>
                                              <p:pRg st="6" end="6"/>
                                            </p:txEl>
                                          </p:spTgt>
                                        </p:tgtEl>
                                        <p:attrNameLst>
                                          <p:attrName>style.visibility</p:attrName>
                                        </p:attrNameLst>
                                      </p:cBhvr>
                                      <p:to>
                                        <p:strVal val="visible"/>
                                      </p:to>
                                    </p:set>
                                    <p:anim calcmode="lin" valueType="num">
                                      <p:cBhvr additive="base">
                                        <p:cTn id="43" dur="500" fill="hold"/>
                                        <p:tgtEl>
                                          <p:spTgt spid="813059">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1305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813059">
                                            <p:txEl>
                                              <p:pRg st="7" end="7"/>
                                            </p:txEl>
                                          </p:spTgt>
                                        </p:tgtEl>
                                        <p:attrNameLst>
                                          <p:attrName>style.visibility</p:attrName>
                                        </p:attrNameLst>
                                      </p:cBhvr>
                                      <p:to>
                                        <p:strVal val="visible"/>
                                      </p:to>
                                    </p:set>
                                    <p:anim calcmode="lin" valueType="num">
                                      <p:cBhvr additive="base">
                                        <p:cTn id="49" dur="500" fill="hold"/>
                                        <p:tgtEl>
                                          <p:spTgt spid="813059">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81305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813059">
                                            <p:txEl>
                                              <p:pRg st="8" end="8"/>
                                            </p:txEl>
                                          </p:spTgt>
                                        </p:tgtEl>
                                        <p:attrNameLst>
                                          <p:attrName>style.visibility</p:attrName>
                                        </p:attrNameLst>
                                      </p:cBhvr>
                                      <p:to>
                                        <p:strVal val="visible"/>
                                      </p:to>
                                    </p:set>
                                    <p:anim calcmode="lin" valueType="num">
                                      <p:cBhvr additive="base">
                                        <p:cTn id="55" dur="500" fill="hold"/>
                                        <p:tgtEl>
                                          <p:spTgt spid="813059">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813059">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813059">
                                            <p:txEl>
                                              <p:pRg st="9" end="9"/>
                                            </p:txEl>
                                          </p:spTgt>
                                        </p:tgtEl>
                                        <p:attrNameLst>
                                          <p:attrName>style.visibility</p:attrName>
                                        </p:attrNameLst>
                                      </p:cBhvr>
                                      <p:to>
                                        <p:strVal val="visible"/>
                                      </p:to>
                                    </p:set>
                                    <p:anim calcmode="lin" valueType="num">
                                      <p:cBhvr additive="base">
                                        <p:cTn id="61" dur="500" fill="hold"/>
                                        <p:tgtEl>
                                          <p:spTgt spid="813059">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813059">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059"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0" name="Rectangle 2"/>
          <p:cNvSpPr>
            <a:spLocks noGrp="1" noChangeArrowheads="1"/>
          </p:cNvSpPr>
          <p:nvPr>
            <p:ph type="title"/>
          </p:nvPr>
        </p:nvSpPr>
        <p:spPr>
          <a:xfrm>
            <a:off x="2209800" y="0"/>
            <a:ext cx="7772400" cy="1143000"/>
          </a:xfrm>
          <a:noFill/>
        </p:spPr>
        <p:txBody>
          <a:bodyPr/>
          <a:lstStyle/>
          <a:p>
            <a:r>
              <a:rPr lang="zh-CN" altLang="en-US" sz="3600">
                <a:latin typeface="新宋体" pitchFamily="49" charset="-122"/>
                <a:ea typeface="新宋体" pitchFamily="49" charset="-122"/>
              </a:rPr>
              <a:t>地址域</a:t>
            </a:r>
          </a:p>
        </p:txBody>
      </p:sp>
      <p:sp>
        <p:nvSpPr>
          <p:cNvPr id="816131" name="Text Box 3"/>
          <p:cNvSpPr txBox="1">
            <a:spLocks noChangeArrowheads="1"/>
          </p:cNvSpPr>
          <p:nvPr/>
        </p:nvSpPr>
        <p:spPr bwMode="auto">
          <a:xfrm>
            <a:off x="2163763" y="1509714"/>
            <a:ext cx="7943850" cy="436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kumimoji="1" sz="2400">
                <a:solidFill>
                  <a:schemeClr val="tx1"/>
                </a:solidFill>
                <a:latin typeface="Times New Roman" pitchFamily="18" charset="0"/>
                <a:ea typeface="宋体" pitchFamily="2" charset="-122"/>
              </a:defRPr>
            </a:lvl1pPr>
            <a:lvl2pPr marL="57150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40000"/>
              </a:spcBef>
              <a:buFont typeface="Wingdings" pitchFamily="2" charset="2"/>
              <a:buChar char="Ø"/>
            </a:pPr>
            <a:r>
              <a:rPr lang="zh-CN" altLang="en-US" sz="2800">
                <a:solidFill>
                  <a:schemeClr val="tx2"/>
                </a:solidFill>
                <a:latin typeface="宋体" pitchFamily="2" charset="-122"/>
              </a:rPr>
              <a:t>作用：指明发送或接收帧的从站</a:t>
            </a:r>
            <a:r>
              <a:rPr lang="zh-CN" altLang="en-US" sz="2800">
                <a:solidFill>
                  <a:srgbClr val="000000"/>
                </a:solidFill>
                <a:latin typeface="宋体" pitchFamily="2" charset="-122"/>
              </a:rPr>
              <a:t>  </a:t>
            </a:r>
          </a:p>
          <a:p>
            <a:pPr>
              <a:spcBef>
                <a:spcPct val="40000"/>
              </a:spcBef>
              <a:buFont typeface="Wingdings" pitchFamily="2" charset="2"/>
              <a:buChar char="Ø"/>
            </a:pPr>
            <a:r>
              <a:rPr lang="zh-CN" altLang="en-US" sz="2800">
                <a:solidFill>
                  <a:srgbClr val="000000"/>
                </a:solidFill>
                <a:latin typeface="宋体" pitchFamily="2" charset="-122"/>
              </a:rPr>
              <a:t>一般使用</a:t>
            </a:r>
            <a:r>
              <a:rPr lang="en-US" altLang="zh-CN" sz="2800">
                <a:solidFill>
                  <a:srgbClr val="000000"/>
                </a:solidFill>
                <a:latin typeface="宋体" pitchFamily="2" charset="-122"/>
              </a:rPr>
              <a:t>8</a:t>
            </a:r>
            <a:r>
              <a:rPr lang="zh-CN" altLang="en-US" sz="2800">
                <a:solidFill>
                  <a:srgbClr val="000000"/>
                </a:solidFill>
                <a:latin typeface="宋体" pitchFamily="2" charset="-122"/>
              </a:rPr>
              <a:t>比特长度 </a:t>
            </a:r>
          </a:p>
          <a:p>
            <a:pPr>
              <a:spcBef>
                <a:spcPct val="40000"/>
              </a:spcBef>
              <a:buFont typeface="Wingdings" pitchFamily="2" charset="2"/>
              <a:buChar char="Ø"/>
            </a:pPr>
            <a:r>
              <a:rPr lang="zh-CN" altLang="en-US" sz="2800">
                <a:solidFill>
                  <a:srgbClr val="000000"/>
                </a:solidFill>
                <a:latin typeface="宋体" pitchFamily="2" charset="-122"/>
              </a:rPr>
              <a:t>可扩展到多个字节</a:t>
            </a:r>
            <a:r>
              <a:rPr lang="en-US" altLang="zh-CN" sz="2800">
                <a:solidFill>
                  <a:srgbClr val="000000"/>
                </a:solidFill>
                <a:latin typeface="宋体" pitchFamily="2" charset="-122"/>
              </a:rPr>
              <a:t>(7</a:t>
            </a:r>
            <a:r>
              <a:rPr lang="zh-CN" altLang="en-US" sz="2800">
                <a:solidFill>
                  <a:srgbClr val="000000"/>
                </a:solidFill>
                <a:latin typeface="宋体" pitchFamily="2" charset="-122"/>
              </a:rPr>
              <a:t>比特</a:t>
            </a:r>
            <a:r>
              <a:rPr lang="en-US" altLang="zh-CN" sz="2800">
                <a:solidFill>
                  <a:srgbClr val="000000"/>
                </a:solidFill>
                <a:latin typeface="宋体" pitchFamily="2" charset="-122"/>
              </a:rPr>
              <a:t>)</a:t>
            </a:r>
          </a:p>
          <a:p>
            <a:pPr>
              <a:spcBef>
                <a:spcPct val="40000"/>
              </a:spcBef>
              <a:buFont typeface="Wingdings" pitchFamily="2" charset="2"/>
              <a:buChar char="Ø"/>
            </a:pPr>
            <a:r>
              <a:rPr lang="zh-CN" altLang="en-US" sz="2800">
                <a:solidFill>
                  <a:srgbClr val="000000"/>
                </a:solidFill>
                <a:latin typeface="宋体" pitchFamily="2" charset="-122"/>
              </a:rPr>
              <a:t>每个</a:t>
            </a:r>
            <a:r>
              <a:rPr lang="en-US" altLang="zh-CN" sz="2800">
                <a:solidFill>
                  <a:srgbClr val="000000"/>
                </a:solidFill>
                <a:latin typeface="宋体" pitchFamily="2" charset="-122"/>
              </a:rPr>
              <a:t>8</a:t>
            </a:r>
            <a:r>
              <a:rPr lang="zh-CN" altLang="en-US" sz="2800">
                <a:solidFill>
                  <a:srgbClr val="000000"/>
                </a:solidFill>
                <a:latin typeface="宋体" pitchFamily="2" charset="-122"/>
              </a:rPr>
              <a:t>位组的第一个发送</a:t>
            </a:r>
            <a:r>
              <a:rPr lang="en-US" altLang="zh-CN" sz="2800">
                <a:solidFill>
                  <a:srgbClr val="000000"/>
                </a:solidFill>
                <a:latin typeface="宋体" pitchFamily="2" charset="-122"/>
              </a:rPr>
              <a:t>bit</a:t>
            </a:r>
            <a:r>
              <a:rPr lang="zh-CN" altLang="en-US" sz="2800">
                <a:solidFill>
                  <a:srgbClr val="000000"/>
                </a:solidFill>
                <a:latin typeface="宋体" pitchFamily="2" charset="-122"/>
              </a:rPr>
              <a:t>的取值指明：</a:t>
            </a:r>
            <a:br>
              <a:rPr lang="zh-CN" altLang="en-US" sz="2800">
                <a:solidFill>
                  <a:srgbClr val="000000"/>
                </a:solidFill>
                <a:latin typeface="宋体" pitchFamily="2" charset="-122"/>
              </a:rPr>
            </a:br>
            <a:r>
              <a:rPr lang="zh-CN" altLang="en-US" sz="2800">
                <a:solidFill>
                  <a:srgbClr val="000000"/>
                </a:solidFill>
                <a:latin typeface="宋体" pitchFamily="2" charset="-122"/>
              </a:rPr>
              <a:t>如果是</a:t>
            </a:r>
            <a:r>
              <a:rPr lang="en-US" altLang="zh-CN" sz="2800">
                <a:solidFill>
                  <a:srgbClr val="000000"/>
                </a:solidFill>
                <a:latin typeface="宋体" pitchFamily="2" charset="-122"/>
              </a:rPr>
              <a:t>1</a:t>
            </a:r>
            <a:r>
              <a:rPr lang="zh-CN" altLang="en-US" sz="2800">
                <a:solidFill>
                  <a:srgbClr val="000000"/>
                </a:solidFill>
                <a:latin typeface="宋体" pitchFamily="2" charset="-122"/>
              </a:rPr>
              <a:t>，则是最后一个</a:t>
            </a:r>
            <a:r>
              <a:rPr lang="en-US" altLang="zh-CN" sz="2800">
                <a:solidFill>
                  <a:srgbClr val="000000"/>
                </a:solidFill>
                <a:latin typeface="宋体" pitchFamily="2" charset="-122"/>
              </a:rPr>
              <a:t>8</a:t>
            </a:r>
            <a:r>
              <a:rPr lang="zh-CN" altLang="en-US" sz="2800">
                <a:solidFill>
                  <a:srgbClr val="000000"/>
                </a:solidFill>
                <a:latin typeface="宋体" pitchFamily="2" charset="-122"/>
              </a:rPr>
              <a:t>位组</a:t>
            </a:r>
            <a:br>
              <a:rPr lang="zh-CN" altLang="en-US" sz="2800">
                <a:solidFill>
                  <a:srgbClr val="000000"/>
                </a:solidFill>
                <a:latin typeface="宋体" pitchFamily="2" charset="-122"/>
              </a:rPr>
            </a:br>
            <a:r>
              <a:rPr lang="zh-CN" altLang="en-US" sz="2800">
                <a:solidFill>
                  <a:srgbClr val="000000"/>
                </a:solidFill>
                <a:latin typeface="宋体" pitchFamily="2" charset="-122"/>
              </a:rPr>
              <a:t>否则后面的仍为地址域</a:t>
            </a:r>
          </a:p>
          <a:p>
            <a:pPr>
              <a:spcBef>
                <a:spcPct val="40000"/>
              </a:spcBef>
              <a:buFont typeface="Wingdings" pitchFamily="2" charset="2"/>
              <a:buChar char="Ø"/>
            </a:pPr>
            <a:r>
              <a:rPr lang="zh-CN" altLang="en-US" sz="2800">
                <a:solidFill>
                  <a:srgbClr val="000000"/>
                </a:solidFill>
                <a:latin typeface="宋体" pitchFamily="2" charset="-122"/>
              </a:rPr>
              <a:t>全</a:t>
            </a:r>
            <a:r>
              <a:rPr lang="en-US" altLang="zh-CN" sz="2800">
                <a:solidFill>
                  <a:srgbClr val="000000"/>
                </a:solidFill>
                <a:latin typeface="宋体" pitchFamily="2" charset="-122"/>
              </a:rPr>
              <a:t>1 (11111111) </a:t>
            </a:r>
            <a:r>
              <a:rPr lang="zh-CN" altLang="en-US" sz="2800">
                <a:solidFill>
                  <a:srgbClr val="000000"/>
                </a:solidFill>
                <a:latin typeface="宋体" pitchFamily="2" charset="-122"/>
              </a:rPr>
              <a:t>为广播地址</a:t>
            </a:r>
          </a:p>
          <a:p>
            <a:pPr>
              <a:spcBef>
                <a:spcPct val="40000"/>
              </a:spcBef>
              <a:buFont typeface="Wingdings" pitchFamily="2" charset="2"/>
              <a:buChar char="Ø"/>
            </a:pPr>
            <a:r>
              <a:rPr lang="zh-CN" altLang="en-US" sz="2800">
                <a:solidFill>
                  <a:srgbClr val="000000"/>
                </a:solidFill>
                <a:latin typeface="宋体" pitchFamily="2" charset="-122"/>
              </a:rPr>
              <a:t>全</a:t>
            </a:r>
            <a:r>
              <a:rPr lang="en-US" altLang="zh-CN" sz="2800">
                <a:solidFill>
                  <a:srgbClr val="000000"/>
                </a:solidFill>
                <a:latin typeface="宋体" pitchFamily="2" charset="-122"/>
              </a:rPr>
              <a:t>0(00000000)</a:t>
            </a:r>
            <a:r>
              <a:rPr lang="zh-CN" altLang="en-US" sz="2800">
                <a:solidFill>
                  <a:srgbClr val="000000"/>
                </a:solidFill>
                <a:latin typeface="宋体" pitchFamily="2" charset="-122"/>
              </a:rPr>
              <a:t>为无效地址</a:t>
            </a:r>
            <a:endParaRPr lang="zh-CN" altLang="en-US" sz="2800">
              <a:latin typeface="宋体"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6131">
                                            <p:txEl>
                                              <p:pRg st="0" end="0"/>
                                            </p:txEl>
                                          </p:spTgt>
                                        </p:tgtEl>
                                        <p:attrNameLst>
                                          <p:attrName>style.visibility</p:attrName>
                                        </p:attrNameLst>
                                      </p:cBhvr>
                                      <p:to>
                                        <p:strVal val="visible"/>
                                      </p:to>
                                    </p:set>
                                    <p:anim calcmode="lin" valueType="num">
                                      <p:cBhvr additive="base">
                                        <p:cTn id="7" dur="500" fill="hold"/>
                                        <p:tgtEl>
                                          <p:spTgt spid="8161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161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16131">
                                            <p:txEl>
                                              <p:pRg st="1" end="1"/>
                                            </p:txEl>
                                          </p:spTgt>
                                        </p:tgtEl>
                                        <p:attrNameLst>
                                          <p:attrName>style.visibility</p:attrName>
                                        </p:attrNameLst>
                                      </p:cBhvr>
                                      <p:to>
                                        <p:strVal val="visible"/>
                                      </p:to>
                                    </p:set>
                                    <p:anim calcmode="lin" valueType="num">
                                      <p:cBhvr additive="base">
                                        <p:cTn id="13" dur="500" fill="hold"/>
                                        <p:tgtEl>
                                          <p:spTgt spid="81613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161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16131">
                                            <p:txEl>
                                              <p:pRg st="2" end="2"/>
                                            </p:txEl>
                                          </p:spTgt>
                                        </p:tgtEl>
                                        <p:attrNameLst>
                                          <p:attrName>style.visibility</p:attrName>
                                        </p:attrNameLst>
                                      </p:cBhvr>
                                      <p:to>
                                        <p:strVal val="visible"/>
                                      </p:to>
                                    </p:set>
                                    <p:anim calcmode="lin" valueType="num">
                                      <p:cBhvr additive="base">
                                        <p:cTn id="19" dur="500" fill="hold"/>
                                        <p:tgtEl>
                                          <p:spTgt spid="81613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161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16131">
                                            <p:txEl>
                                              <p:pRg st="3" end="3"/>
                                            </p:txEl>
                                          </p:spTgt>
                                        </p:tgtEl>
                                        <p:attrNameLst>
                                          <p:attrName>style.visibility</p:attrName>
                                        </p:attrNameLst>
                                      </p:cBhvr>
                                      <p:to>
                                        <p:strVal val="visible"/>
                                      </p:to>
                                    </p:set>
                                    <p:anim calcmode="lin" valueType="num">
                                      <p:cBhvr additive="base">
                                        <p:cTn id="25" dur="500" fill="hold"/>
                                        <p:tgtEl>
                                          <p:spTgt spid="81613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161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16131">
                                            <p:txEl>
                                              <p:pRg st="4" end="4"/>
                                            </p:txEl>
                                          </p:spTgt>
                                        </p:tgtEl>
                                        <p:attrNameLst>
                                          <p:attrName>style.visibility</p:attrName>
                                        </p:attrNameLst>
                                      </p:cBhvr>
                                      <p:to>
                                        <p:strVal val="visible"/>
                                      </p:to>
                                    </p:set>
                                    <p:anim calcmode="lin" valueType="num">
                                      <p:cBhvr additive="base">
                                        <p:cTn id="31" dur="500" fill="hold"/>
                                        <p:tgtEl>
                                          <p:spTgt spid="81613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161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16131">
                                            <p:txEl>
                                              <p:pRg st="5" end="5"/>
                                            </p:txEl>
                                          </p:spTgt>
                                        </p:tgtEl>
                                        <p:attrNameLst>
                                          <p:attrName>style.visibility</p:attrName>
                                        </p:attrNameLst>
                                      </p:cBhvr>
                                      <p:to>
                                        <p:strVal val="visible"/>
                                      </p:to>
                                    </p:set>
                                    <p:anim calcmode="lin" valueType="num">
                                      <p:cBhvr additive="base">
                                        <p:cTn id="37" dur="500" fill="hold"/>
                                        <p:tgtEl>
                                          <p:spTgt spid="816131">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1613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6131"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154" name="Rectangle 2"/>
          <p:cNvSpPr>
            <a:spLocks noGrp="1" noChangeArrowheads="1"/>
          </p:cNvSpPr>
          <p:nvPr>
            <p:ph type="title"/>
          </p:nvPr>
        </p:nvSpPr>
        <p:spPr>
          <a:xfrm>
            <a:off x="2233613" y="0"/>
            <a:ext cx="7772400" cy="1143000"/>
          </a:xfrm>
          <a:noFill/>
        </p:spPr>
        <p:txBody>
          <a:bodyPr/>
          <a:lstStyle/>
          <a:p>
            <a:r>
              <a:rPr lang="zh-CN" altLang="en-US" sz="3600">
                <a:latin typeface="新宋体" pitchFamily="49" charset="-122"/>
                <a:ea typeface="新宋体" pitchFamily="49" charset="-122"/>
              </a:rPr>
              <a:t>地址域</a:t>
            </a:r>
          </a:p>
        </p:txBody>
      </p:sp>
      <p:pic>
        <p:nvPicPr>
          <p:cNvPr id="8171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4875" y="1652588"/>
            <a:ext cx="7823200" cy="178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71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225" y="3760789"/>
            <a:ext cx="2573338" cy="839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715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6038" y="4862513"/>
            <a:ext cx="7243762"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17155"/>
                                        </p:tgtEl>
                                        <p:attrNameLst>
                                          <p:attrName>style.visibility</p:attrName>
                                        </p:attrNameLst>
                                      </p:cBhvr>
                                      <p:to>
                                        <p:strVal val="visible"/>
                                      </p:to>
                                    </p:set>
                                    <p:anim calcmode="lin" valueType="num">
                                      <p:cBhvr additive="base">
                                        <p:cTn id="7" dur="500" fill="hold"/>
                                        <p:tgtEl>
                                          <p:spTgt spid="817155"/>
                                        </p:tgtEl>
                                        <p:attrNameLst>
                                          <p:attrName>ppt_x</p:attrName>
                                        </p:attrNameLst>
                                      </p:cBhvr>
                                      <p:tavLst>
                                        <p:tav tm="0">
                                          <p:val>
                                            <p:strVal val="1+#ppt_w/2"/>
                                          </p:val>
                                        </p:tav>
                                        <p:tav tm="100000">
                                          <p:val>
                                            <p:strVal val="#ppt_x"/>
                                          </p:val>
                                        </p:tav>
                                      </p:tavLst>
                                    </p:anim>
                                    <p:anim calcmode="lin" valueType="num">
                                      <p:cBhvr additive="base">
                                        <p:cTn id="8" dur="500" fill="hold"/>
                                        <p:tgtEl>
                                          <p:spTgt spid="8171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17156"/>
                                        </p:tgtEl>
                                        <p:attrNameLst>
                                          <p:attrName>style.visibility</p:attrName>
                                        </p:attrNameLst>
                                      </p:cBhvr>
                                      <p:to>
                                        <p:strVal val="visible"/>
                                      </p:to>
                                    </p:set>
                                    <p:anim calcmode="lin" valueType="num">
                                      <p:cBhvr additive="base">
                                        <p:cTn id="13" dur="500" fill="hold"/>
                                        <p:tgtEl>
                                          <p:spTgt spid="817156"/>
                                        </p:tgtEl>
                                        <p:attrNameLst>
                                          <p:attrName>ppt_x</p:attrName>
                                        </p:attrNameLst>
                                      </p:cBhvr>
                                      <p:tavLst>
                                        <p:tav tm="0">
                                          <p:val>
                                            <p:strVal val="0-#ppt_w/2"/>
                                          </p:val>
                                        </p:tav>
                                        <p:tav tm="100000">
                                          <p:val>
                                            <p:strVal val="#ppt_x"/>
                                          </p:val>
                                        </p:tav>
                                      </p:tavLst>
                                    </p:anim>
                                    <p:anim calcmode="lin" valueType="num">
                                      <p:cBhvr additive="base">
                                        <p:cTn id="14" dur="500" fill="hold"/>
                                        <p:tgtEl>
                                          <p:spTgt spid="81715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817157"/>
                                        </p:tgtEl>
                                        <p:attrNameLst>
                                          <p:attrName>style.visibility</p:attrName>
                                        </p:attrNameLst>
                                      </p:cBhvr>
                                      <p:to>
                                        <p:strVal val="visible"/>
                                      </p:to>
                                    </p:set>
                                    <p:anim calcmode="lin" valueType="num">
                                      <p:cBhvr additive="base">
                                        <p:cTn id="19" dur="500" fill="hold"/>
                                        <p:tgtEl>
                                          <p:spTgt spid="817157"/>
                                        </p:tgtEl>
                                        <p:attrNameLst>
                                          <p:attrName>ppt_x</p:attrName>
                                        </p:attrNameLst>
                                      </p:cBhvr>
                                      <p:tavLst>
                                        <p:tav tm="0">
                                          <p:val>
                                            <p:strVal val="1+#ppt_w/2"/>
                                          </p:val>
                                        </p:tav>
                                        <p:tav tm="100000">
                                          <p:val>
                                            <p:strVal val="#ppt_x"/>
                                          </p:val>
                                        </p:tav>
                                      </p:tavLst>
                                    </p:anim>
                                    <p:anim calcmode="lin" valueType="num">
                                      <p:cBhvr additive="base">
                                        <p:cTn id="20" dur="500" fill="hold"/>
                                        <p:tgtEl>
                                          <p:spTgt spid="8171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78" name="Rectangle 2"/>
          <p:cNvSpPr>
            <a:spLocks noGrp="1" noChangeArrowheads="1"/>
          </p:cNvSpPr>
          <p:nvPr>
            <p:ph type="title"/>
          </p:nvPr>
        </p:nvSpPr>
        <p:spPr>
          <a:xfrm>
            <a:off x="2187575" y="0"/>
            <a:ext cx="7772400" cy="1143000"/>
          </a:xfrm>
          <a:noFill/>
        </p:spPr>
        <p:txBody>
          <a:bodyPr/>
          <a:lstStyle/>
          <a:p>
            <a:r>
              <a:rPr lang="zh-CN" altLang="en-US" sz="3600">
                <a:latin typeface="新宋体" pitchFamily="49" charset="-122"/>
                <a:ea typeface="新宋体" pitchFamily="49" charset="-122"/>
              </a:rPr>
              <a:t>控制域</a:t>
            </a:r>
          </a:p>
        </p:txBody>
      </p:sp>
      <p:sp>
        <p:nvSpPr>
          <p:cNvPr id="818179" name="Text Box 3"/>
          <p:cNvSpPr txBox="1">
            <a:spLocks noChangeArrowheads="1"/>
          </p:cNvSpPr>
          <p:nvPr/>
        </p:nvSpPr>
        <p:spPr bwMode="auto">
          <a:xfrm>
            <a:off x="2130426" y="1460500"/>
            <a:ext cx="7972425" cy="401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kumimoji="1" sz="2400">
                <a:solidFill>
                  <a:schemeClr val="tx1"/>
                </a:solidFill>
                <a:latin typeface="Times New Roman" pitchFamily="18" charset="0"/>
                <a:ea typeface="宋体" pitchFamily="2" charset="-122"/>
              </a:defRPr>
            </a:lvl1pPr>
            <a:lvl2pPr marL="66675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10000"/>
              </a:spcBef>
              <a:buFont typeface="Wingdings" pitchFamily="2" charset="2"/>
              <a:buChar char="Ø"/>
            </a:pPr>
            <a:r>
              <a:rPr lang="zh-CN" altLang="en-US" sz="2800">
                <a:solidFill>
                  <a:srgbClr val="000000"/>
                </a:solidFill>
                <a:latin typeface="宋体" pitchFamily="2" charset="-122"/>
              </a:rPr>
              <a:t>作用：区分不同的帧类型</a:t>
            </a:r>
            <a:r>
              <a:rPr lang="zh-CN" altLang="en-US" sz="2800">
                <a:solidFill>
                  <a:srgbClr val="0000FF"/>
                </a:solidFill>
                <a:latin typeface="宋体" pitchFamily="2" charset="-122"/>
              </a:rPr>
              <a:t> </a:t>
            </a:r>
          </a:p>
          <a:p>
            <a:pPr>
              <a:spcBef>
                <a:spcPct val="10000"/>
              </a:spcBef>
              <a:buFont typeface="Wingdings" pitchFamily="2" charset="2"/>
              <a:buChar char="v"/>
            </a:pPr>
            <a:r>
              <a:rPr lang="en-US" altLang="zh-CN" sz="2800">
                <a:solidFill>
                  <a:srgbClr val="0000FF"/>
                </a:solidFill>
                <a:latin typeface="宋体" pitchFamily="2" charset="-122"/>
              </a:rPr>
              <a:t>Information</a:t>
            </a:r>
            <a:r>
              <a:rPr lang="zh-CN" altLang="en-US" sz="2800">
                <a:solidFill>
                  <a:srgbClr val="0000FF"/>
                </a:solidFill>
                <a:latin typeface="宋体" pitchFamily="2" charset="-122"/>
              </a:rPr>
              <a:t>（信息帧）</a:t>
            </a:r>
            <a:r>
              <a:rPr lang="en-US" altLang="zh-CN" sz="2800">
                <a:latin typeface="宋体" pitchFamily="2" charset="-122"/>
              </a:rPr>
              <a:t>- </a:t>
            </a:r>
            <a:r>
              <a:rPr lang="zh-CN" altLang="en-US" sz="2800">
                <a:latin typeface="宋体" pitchFamily="2" charset="-122"/>
              </a:rPr>
              <a:t>传输给用户 </a:t>
            </a:r>
            <a:r>
              <a:rPr lang="en-US" altLang="zh-CN" sz="2800">
                <a:latin typeface="宋体" pitchFamily="2" charset="-122"/>
              </a:rPr>
              <a:t>(</a:t>
            </a:r>
            <a:r>
              <a:rPr lang="zh-CN" altLang="en-US" sz="2800">
                <a:latin typeface="宋体" pitchFamily="2" charset="-122"/>
              </a:rPr>
              <a:t>上一层）的数据。</a:t>
            </a:r>
          </a:p>
          <a:p>
            <a:pPr>
              <a:spcBef>
                <a:spcPct val="10000"/>
              </a:spcBef>
              <a:buClr>
                <a:schemeClr val="tx2"/>
              </a:buClr>
              <a:buFont typeface="Wingdings" pitchFamily="2" charset="2"/>
              <a:buChar char="§"/>
            </a:pPr>
            <a:r>
              <a:rPr lang="zh-CN" altLang="en-US">
                <a:latin typeface="宋体" pitchFamily="2" charset="-122"/>
              </a:rPr>
              <a:t>流控和错误控制等通过信息帧捎带应答（</a:t>
            </a:r>
            <a:r>
              <a:rPr lang="en-US" altLang="zh-CN">
                <a:latin typeface="宋体" pitchFamily="2" charset="-122"/>
              </a:rPr>
              <a:t>piggybacked </a:t>
            </a:r>
            <a:r>
              <a:rPr lang="zh-CN" altLang="en-US">
                <a:latin typeface="宋体" pitchFamily="2" charset="-122"/>
              </a:rPr>
              <a:t>）</a:t>
            </a:r>
            <a:r>
              <a:rPr lang="zh-CN" altLang="en-US">
                <a:solidFill>
                  <a:srgbClr val="0000FF"/>
                </a:solidFill>
                <a:latin typeface="宋体" pitchFamily="2" charset="-122"/>
              </a:rPr>
              <a:t> </a:t>
            </a:r>
          </a:p>
          <a:p>
            <a:pPr>
              <a:spcBef>
                <a:spcPct val="10000"/>
              </a:spcBef>
              <a:buFont typeface="Wingdings" pitchFamily="2" charset="2"/>
              <a:buChar char="v"/>
            </a:pPr>
            <a:r>
              <a:rPr lang="en-US" altLang="zh-CN" sz="2800">
                <a:solidFill>
                  <a:srgbClr val="0000FF"/>
                </a:solidFill>
                <a:latin typeface="宋体" pitchFamily="2" charset="-122"/>
              </a:rPr>
              <a:t>Supervisory</a:t>
            </a:r>
            <a:r>
              <a:rPr lang="zh-CN" altLang="en-US" sz="2800">
                <a:solidFill>
                  <a:srgbClr val="0000FF"/>
                </a:solidFill>
                <a:latin typeface="宋体" pitchFamily="2" charset="-122"/>
              </a:rPr>
              <a:t>（监控帧）</a:t>
            </a:r>
            <a:r>
              <a:rPr lang="en-US" altLang="zh-CN" sz="2800">
                <a:latin typeface="宋体" pitchFamily="2" charset="-122"/>
              </a:rPr>
              <a:t>- </a:t>
            </a:r>
            <a:r>
              <a:rPr lang="zh-CN" altLang="en-US" sz="2800">
                <a:latin typeface="宋体" pitchFamily="2" charset="-122"/>
              </a:rPr>
              <a:t>当不使用捎带应答时的</a:t>
            </a:r>
            <a:r>
              <a:rPr lang="en-US" altLang="zh-CN" sz="2800">
                <a:latin typeface="宋体" pitchFamily="2" charset="-122"/>
              </a:rPr>
              <a:t>ARQ  </a:t>
            </a:r>
          </a:p>
          <a:p>
            <a:pPr>
              <a:spcBef>
                <a:spcPct val="10000"/>
              </a:spcBef>
              <a:buFont typeface="Wingdings" pitchFamily="2" charset="2"/>
              <a:buChar char="v"/>
            </a:pPr>
            <a:r>
              <a:rPr lang="en-US" altLang="zh-CN" sz="2800">
                <a:solidFill>
                  <a:srgbClr val="0000FF"/>
                </a:solidFill>
                <a:latin typeface="宋体" pitchFamily="2" charset="-122"/>
              </a:rPr>
              <a:t>Unnumbered</a:t>
            </a:r>
            <a:r>
              <a:rPr lang="zh-CN" altLang="en-US" sz="2800">
                <a:solidFill>
                  <a:srgbClr val="0000FF"/>
                </a:solidFill>
                <a:latin typeface="宋体" pitchFamily="2" charset="-122"/>
              </a:rPr>
              <a:t>（无编号帧）</a:t>
            </a:r>
            <a:r>
              <a:rPr lang="en-US" altLang="zh-CN" sz="2800">
                <a:latin typeface="宋体" pitchFamily="2" charset="-122"/>
              </a:rPr>
              <a:t>- </a:t>
            </a:r>
            <a:r>
              <a:rPr lang="zh-CN" altLang="en-US" sz="2800">
                <a:latin typeface="宋体" pitchFamily="2" charset="-122"/>
              </a:rPr>
              <a:t>辅助链路控制</a:t>
            </a:r>
            <a:r>
              <a:rPr lang="zh-CN" altLang="en-US" sz="2800">
                <a:solidFill>
                  <a:srgbClr val="0000FF"/>
                </a:solidFill>
                <a:latin typeface="宋体" pitchFamily="2" charset="-122"/>
              </a:rPr>
              <a:t> </a:t>
            </a:r>
          </a:p>
          <a:p>
            <a:pPr>
              <a:spcBef>
                <a:spcPct val="10000"/>
              </a:spcBef>
              <a:buFont typeface="Wingdings" pitchFamily="2" charset="2"/>
              <a:buChar char="Ø"/>
            </a:pPr>
            <a:r>
              <a:rPr lang="zh-CN" altLang="en-US" sz="2800">
                <a:solidFill>
                  <a:srgbClr val="000000"/>
                </a:solidFill>
                <a:latin typeface="宋体" pitchFamily="2" charset="-122"/>
              </a:rPr>
              <a:t>控制域的前</a:t>
            </a:r>
            <a:r>
              <a:rPr lang="en-US" altLang="zh-CN" sz="2800">
                <a:solidFill>
                  <a:srgbClr val="000000"/>
                </a:solidFill>
                <a:latin typeface="宋体" pitchFamily="2" charset="-122"/>
              </a:rPr>
              <a:t>1</a:t>
            </a:r>
            <a:r>
              <a:rPr lang="zh-CN" altLang="en-US" sz="2800">
                <a:solidFill>
                  <a:srgbClr val="000000"/>
                </a:solidFill>
                <a:latin typeface="宋体" pitchFamily="2" charset="-122"/>
              </a:rPr>
              <a:t>或</a:t>
            </a:r>
            <a:r>
              <a:rPr lang="en-US" altLang="zh-CN" sz="2800">
                <a:solidFill>
                  <a:srgbClr val="000000"/>
                </a:solidFill>
                <a:latin typeface="宋体" pitchFamily="2" charset="-122"/>
              </a:rPr>
              <a:t>2</a:t>
            </a:r>
            <a:r>
              <a:rPr lang="zh-CN" altLang="en-US" sz="2800">
                <a:solidFill>
                  <a:srgbClr val="000000"/>
                </a:solidFill>
                <a:latin typeface="宋体" pitchFamily="2" charset="-122"/>
              </a:rPr>
              <a:t>比特是帧类型 </a:t>
            </a:r>
            <a:r>
              <a:rPr lang="zh-CN" altLang="en-US" sz="2800">
                <a:solidFill>
                  <a:srgbClr val="0000FF"/>
                </a:solidFill>
                <a:latin typeface="宋体" pitchFamily="2" charset="-122"/>
              </a:rPr>
              <a:t>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8179">
                                            <p:txEl>
                                              <p:pRg st="0" end="0"/>
                                            </p:txEl>
                                          </p:spTgt>
                                        </p:tgtEl>
                                        <p:attrNameLst>
                                          <p:attrName>style.visibility</p:attrName>
                                        </p:attrNameLst>
                                      </p:cBhvr>
                                      <p:to>
                                        <p:strVal val="visible"/>
                                      </p:to>
                                    </p:set>
                                    <p:anim calcmode="lin" valueType="num">
                                      <p:cBhvr additive="base">
                                        <p:cTn id="7" dur="500" fill="hold"/>
                                        <p:tgtEl>
                                          <p:spTgt spid="8181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181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8179">
                                            <p:txEl>
                                              <p:pRg st="1" end="1"/>
                                            </p:txEl>
                                          </p:spTgt>
                                        </p:tgtEl>
                                        <p:attrNameLst>
                                          <p:attrName>style.visibility</p:attrName>
                                        </p:attrNameLst>
                                      </p:cBhvr>
                                      <p:to>
                                        <p:strVal val="visible"/>
                                      </p:to>
                                    </p:set>
                                    <p:anim calcmode="lin" valueType="num">
                                      <p:cBhvr additive="base">
                                        <p:cTn id="13" dur="500" fill="hold"/>
                                        <p:tgtEl>
                                          <p:spTgt spid="81817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81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8179">
                                            <p:txEl>
                                              <p:pRg st="2" end="2"/>
                                            </p:txEl>
                                          </p:spTgt>
                                        </p:tgtEl>
                                        <p:attrNameLst>
                                          <p:attrName>style.visibility</p:attrName>
                                        </p:attrNameLst>
                                      </p:cBhvr>
                                      <p:to>
                                        <p:strVal val="visible"/>
                                      </p:to>
                                    </p:set>
                                    <p:anim calcmode="lin" valueType="num">
                                      <p:cBhvr additive="base">
                                        <p:cTn id="19" dur="500" fill="hold"/>
                                        <p:tgtEl>
                                          <p:spTgt spid="81817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181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18179">
                                            <p:txEl>
                                              <p:pRg st="3" end="3"/>
                                            </p:txEl>
                                          </p:spTgt>
                                        </p:tgtEl>
                                        <p:attrNameLst>
                                          <p:attrName>style.visibility</p:attrName>
                                        </p:attrNameLst>
                                      </p:cBhvr>
                                      <p:to>
                                        <p:strVal val="visible"/>
                                      </p:to>
                                    </p:set>
                                    <p:anim calcmode="lin" valueType="num">
                                      <p:cBhvr additive="base">
                                        <p:cTn id="25" dur="500" fill="hold"/>
                                        <p:tgtEl>
                                          <p:spTgt spid="81817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1817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18179">
                                            <p:txEl>
                                              <p:pRg st="4" end="4"/>
                                            </p:txEl>
                                          </p:spTgt>
                                        </p:tgtEl>
                                        <p:attrNameLst>
                                          <p:attrName>style.visibility</p:attrName>
                                        </p:attrNameLst>
                                      </p:cBhvr>
                                      <p:to>
                                        <p:strVal val="visible"/>
                                      </p:to>
                                    </p:set>
                                    <p:anim calcmode="lin" valueType="num">
                                      <p:cBhvr additive="base">
                                        <p:cTn id="31" dur="500" fill="hold"/>
                                        <p:tgtEl>
                                          <p:spTgt spid="81817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1817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18179">
                                            <p:txEl>
                                              <p:pRg st="5" end="5"/>
                                            </p:txEl>
                                          </p:spTgt>
                                        </p:tgtEl>
                                        <p:attrNameLst>
                                          <p:attrName>style.visibility</p:attrName>
                                        </p:attrNameLst>
                                      </p:cBhvr>
                                      <p:to>
                                        <p:strVal val="visible"/>
                                      </p:to>
                                    </p:set>
                                    <p:anim calcmode="lin" valueType="num">
                                      <p:cBhvr additive="base">
                                        <p:cTn id="37" dur="500" fill="hold"/>
                                        <p:tgtEl>
                                          <p:spTgt spid="81817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1817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8179"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02" name="Rectangle 2"/>
          <p:cNvSpPr>
            <a:spLocks noGrp="1" noChangeArrowheads="1"/>
          </p:cNvSpPr>
          <p:nvPr>
            <p:ph type="title"/>
          </p:nvPr>
        </p:nvSpPr>
        <p:spPr>
          <a:xfrm>
            <a:off x="2185988" y="0"/>
            <a:ext cx="7772400" cy="1143000"/>
          </a:xfrm>
          <a:noFill/>
        </p:spPr>
        <p:txBody>
          <a:bodyPr/>
          <a:lstStyle/>
          <a:p>
            <a:r>
              <a:rPr lang="zh-CN" altLang="en-US" sz="3600">
                <a:latin typeface="新宋体" pitchFamily="49" charset="-122"/>
                <a:ea typeface="新宋体" pitchFamily="49" charset="-122"/>
              </a:rPr>
              <a:t>控制域 </a:t>
            </a:r>
          </a:p>
        </p:txBody>
      </p:sp>
      <p:pic>
        <p:nvPicPr>
          <p:cNvPr id="8192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5989" y="1342232"/>
            <a:ext cx="7837487" cy="448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204" name="Text Box 4"/>
          <p:cNvSpPr txBox="1">
            <a:spLocks noChangeArrowheads="1"/>
          </p:cNvSpPr>
          <p:nvPr/>
        </p:nvSpPr>
        <p:spPr bwMode="auto">
          <a:xfrm>
            <a:off x="4916489" y="3584576"/>
            <a:ext cx="2598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(3</a:t>
            </a:r>
            <a:r>
              <a:rPr lang="zh-CN" altLang="en-US" sz="2000"/>
              <a:t>比特序号</a:t>
            </a:r>
            <a:r>
              <a:rPr lang="en-US" altLang="zh-CN" sz="2000"/>
              <a:t>)</a:t>
            </a:r>
          </a:p>
        </p:txBody>
      </p:sp>
      <p:sp>
        <p:nvSpPr>
          <p:cNvPr id="819205" name="Text Box 5"/>
          <p:cNvSpPr txBox="1">
            <a:spLocks noChangeArrowheads="1"/>
          </p:cNvSpPr>
          <p:nvPr/>
        </p:nvSpPr>
        <p:spPr bwMode="auto">
          <a:xfrm>
            <a:off x="4973639" y="5929314"/>
            <a:ext cx="2598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t>(7</a:t>
            </a:r>
            <a:r>
              <a:rPr lang="zh-CN" altLang="en-US" sz="2000"/>
              <a:t>比特序号</a:t>
            </a:r>
            <a:r>
              <a:rPr lang="en-US" altLang="zh-CN" sz="2000"/>
              <a:t>)</a:t>
            </a:r>
          </a:p>
        </p:txBody>
      </p:sp>
    </p:spTree>
  </p:cSld>
  <p:clrMapOvr>
    <a:masterClrMapping/>
  </p:clrMapOvr>
  <p:transition spd="med">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6" name="Rectangle 2"/>
          <p:cNvSpPr>
            <a:spLocks noGrp="1" noChangeArrowheads="1"/>
          </p:cNvSpPr>
          <p:nvPr>
            <p:ph type="title"/>
          </p:nvPr>
        </p:nvSpPr>
        <p:spPr>
          <a:xfrm>
            <a:off x="2173288" y="0"/>
            <a:ext cx="7772400" cy="1143000"/>
          </a:xfrm>
          <a:noFill/>
        </p:spPr>
        <p:txBody>
          <a:bodyPr/>
          <a:lstStyle/>
          <a:p>
            <a:r>
              <a:rPr lang="en-US" altLang="zh-CN" sz="3600">
                <a:latin typeface="新宋体" pitchFamily="49" charset="-122"/>
                <a:ea typeface="新宋体" pitchFamily="49" charset="-122"/>
              </a:rPr>
              <a:t>I-frame </a:t>
            </a:r>
          </a:p>
        </p:txBody>
      </p:sp>
      <p:pic>
        <p:nvPicPr>
          <p:cNvPr id="8202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5650" y="1289051"/>
            <a:ext cx="8001000"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0228" name="AutoShape 4"/>
          <p:cNvSpPr>
            <a:spLocks noChangeArrowheads="1"/>
          </p:cNvSpPr>
          <p:nvPr/>
        </p:nvSpPr>
        <p:spPr bwMode="auto">
          <a:xfrm>
            <a:off x="3124201" y="4508500"/>
            <a:ext cx="2454275" cy="865188"/>
          </a:xfrm>
          <a:prstGeom prst="wedgeRoundRectCallout">
            <a:avLst>
              <a:gd name="adj1" fmla="val 40556"/>
              <a:gd name="adj2" fmla="val -80273"/>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t>发送序号和</a:t>
            </a:r>
          </a:p>
          <a:p>
            <a:pPr algn="ctr"/>
            <a:r>
              <a:rPr lang="zh-CN" altLang="en-US" sz="2400"/>
              <a:t>接收序号</a:t>
            </a:r>
          </a:p>
        </p:txBody>
      </p:sp>
    </p:spTree>
  </p:cSld>
  <p:clrMapOvr>
    <a:masterClrMapping/>
  </p:clrMapOvr>
  <p:transition spd="med">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50" name="Rectangle 2"/>
          <p:cNvSpPr>
            <a:spLocks noGrp="1" noChangeArrowheads="1"/>
          </p:cNvSpPr>
          <p:nvPr>
            <p:ph type="title"/>
          </p:nvPr>
        </p:nvSpPr>
        <p:spPr>
          <a:xfrm>
            <a:off x="2185988" y="0"/>
            <a:ext cx="7772400" cy="1143000"/>
          </a:xfrm>
          <a:noFill/>
        </p:spPr>
        <p:txBody>
          <a:bodyPr/>
          <a:lstStyle/>
          <a:p>
            <a:r>
              <a:rPr lang="en-US" altLang="zh-CN" sz="3600">
                <a:latin typeface="新宋体" pitchFamily="49" charset="-122"/>
                <a:ea typeface="新宋体" pitchFamily="49" charset="-122"/>
              </a:rPr>
              <a:t>S-frame</a:t>
            </a:r>
            <a:r>
              <a:rPr lang="en-US" altLang="zh-CN" sz="2800">
                <a:solidFill>
                  <a:srgbClr val="000000"/>
                </a:solidFill>
                <a:latin typeface="Arial Black" pitchFamily="34" charset="0"/>
              </a:rPr>
              <a:t> </a:t>
            </a:r>
          </a:p>
        </p:txBody>
      </p:sp>
      <p:pic>
        <p:nvPicPr>
          <p:cNvPr id="8212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3738" y="1314450"/>
            <a:ext cx="7008812" cy="277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12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9888" y="4183064"/>
            <a:ext cx="6197600" cy="160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1253" name="AutoShape 5"/>
          <p:cNvSpPr>
            <a:spLocks noChangeArrowheads="1"/>
          </p:cNvSpPr>
          <p:nvPr/>
        </p:nvSpPr>
        <p:spPr bwMode="auto">
          <a:xfrm>
            <a:off x="8656639" y="4616451"/>
            <a:ext cx="1779587" cy="479425"/>
          </a:xfrm>
          <a:prstGeom prst="wedgeRoundRectCallout">
            <a:avLst>
              <a:gd name="adj1" fmla="val -106023"/>
              <a:gd name="adj2" fmla="val 23843"/>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a:t>GO-BACK-N</a:t>
            </a:r>
          </a:p>
        </p:txBody>
      </p:sp>
      <p:sp>
        <p:nvSpPr>
          <p:cNvPr id="821254" name="AutoShape 6"/>
          <p:cNvSpPr>
            <a:spLocks noChangeArrowheads="1"/>
          </p:cNvSpPr>
          <p:nvPr/>
        </p:nvSpPr>
        <p:spPr bwMode="auto">
          <a:xfrm>
            <a:off x="8656639" y="5722939"/>
            <a:ext cx="1779587" cy="407987"/>
          </a:xfrm>
          <a:prstGeom prst="wedgeRoundRectCallout">
            <a:avLst>
              <a:gd name="adj1" fmla="val -106023"/>
              <a:gd name="adj2" fmla="val -74903"/>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000"/>
              <a:t>选择拒绝</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21251"/>
                                        </p:tgtEl>
                                        <p:attrNameLst>
                                          <p:attrName>style.visibility</p:attrName>
                                        </p:attrNameLst>
                                      </p:cBhvr>
                                      <p:to>
                                        <p:strVal val="visible"/>
                                      </p:to>
                                    </p:set>
                                    <p:anim calcmode="lin" valueType="num">
                                      <p:cBhvr additive="base">
                                        <p:cTn id="7" dur="500" fill="hold"/>
                                        <p:tgtEl>
                                          <p:spTgt spid="821251"/>
                                        </p:tgtEl>
                                        <p:attrNameLst>
                                          <p:attrName>ppt_x</p:attrName>
                                        </p:attrNameLst>
                                      </p:cBhvr>
                                      <p:tavLst>
                                        <p:tav tm="0">
                                          <p:val>
                                            <p:strVal val="1+#ppt_w/2"/>
                                          </p:val>
                                        </p:tav>
                                        <p:tav tm="100000">
                                          <p:val>
                                            <p:strVal val="#ppt_x"/>
                                          </p:val>
                                        </p:tav>
                                      </p:tavLst>
                                    </p:anim>
                                    <p:anim calcmode="lin" valueType="num">
                                      <p:cBhvr additive="base">
                                        <p:cTn id="8" dur="500" fill="hold"/>
                                        <p:tgtEl>
                                          <p:spTgt spid="82125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21252"/>
                                        </p:tgtEl>
                                        <p:attrNameLst>
                                          <p:attrName>style.visibility</p:attrName>
                                        </p:attrNameLst>
                                      </p:cBhvr>
                                      <p:to>
                                        <p:strVal val="visible"/>
                                      </p:to>
                                    </p:set>
                                    <p:anim calcmode="lin" valueType="num">
                                      <p:cBhvr additive="base">
                                        <p:cTn id="13" dur="500" fill="hold"/>
                                        <p:tgtEl>
                                          <p:spTgt spid="821252"/>
                                        </p:tgtEl>
                                        <p:attrNameLst>
                                          <p:attrName>ppt_x</p:attrName>
                                        </p:attrNameLst>
                                      </p:cBhvr>
                                      <p:tavLst>
                                        <p:tav tm="0">
                                          <p:val>
                                            <p:strVal val="0-#ppt_w/2"/>
                                          </p:val>
                                        </p:tav>
                                        <p:tav tm="100000">
                                          <p:val>
                                            <p:strVal val="#ppt_x"/>
                                          </p:val>
                                        </p:tav>
                                      </p:tavLst>
                                    </p:anim>
                                    <p:anim calcmode="lin" valueType="num">
                                      <p:cBhvr additive="base">
                                        <p:cTn id="14" dur="500" fill="hold"/>
                                        <p:tgtEl>
                                          <p:spTgt spid="82125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21253"/>
                                        </p:tgtEl>
                                        <p:attrNameLst>
                                          <p:attrName>style.visibility</p:attrName>
                                        </p:attrNameLst>
                                      </p:cBhvr>
                                      <p:to>
                                        <p:strVal val="visible"/>
                                      </p:to>
                                    </p:set>
                                    <p:anim calcmode="lin" valueType="num">
                                      <p:cBhvr additive="base">
                                        <p:cTn id="19" dur="500" fill="hold"/>
                                        <p:tgtEl>
                                          <p:spTgt spid="821253"/>
                                        </p:tgtEl>
                                        <p:attrNameLst>
                                          <p:attrName>ppt_x</p:attrName>
                                        </p:attrNameLst>
                                      </p:cBhvr>
                                      <p:tavLst>
                                        <p:tav tm="0">
                                          <p:val>
                                            <p:strVal val="1+#ppt_w/2"/>
                                          </p:val>
                                        </p:tav>
                                        <p:tav tm="100000">
                                          <p:val>
                                            <p:strVal val="#ppt_x"/>
                                          </p:val>
                                        </p:tav>
                                      </p:tavLst>
                                    </p:anim>
                                    <p:anim calcmode="lin" valueType="num">
                                      <p:cBhvr additive="base">
                                        <p:cTn id="20" dur="500" fill="hold"/>
                                        <p:tgtEl>
                                          <p:spTgt spid="82125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21254"/>
                                        </p:tgtEl>
                                        <p:attrNameLst>
                                          <p:attrName>style.visibility</p:attrName>
                                        </p:attrNameLst>
                                      </p:cBhvr>
                                      <p:to>
                                        <p:strVal val="visible"/>
                                      </p:to>
                                    </p:set>
                                    <p:anim calcmode="lin" valueType="num">
                                      <p:cBhvr additive="base">
                                        <p:cTn id="25" dur="500" fill="hold"/>
                                        <p:tgtEl>
                                          <p:spTgt spid="821254"/>
                                        </p:tgtEl>
                                        <p:attrNameLst>
                                          <p:attrName>ppt_x</p:attrName>
                                        </p:attrNameLst>
                                      </p:cBhvr>
                                      <p:tavLst>
                                        <p:tav tm="0">
                                          <p:val>
                                            <p:strVal val="1+#ppt_w/2"/>
                                          </p:val>
                                        </p:tav>
                                        <p:tav tm="100000">
                                          <p:val>
                                            <p:strVal val="#ppt_x"/>
                                          </p:val>
                                        </p:tav>
                                      </p:tavLst>
                                    </p:anim>
                                    <p:anim calcmode="lin" valueType="num">
                                      <p:cBhvr additive="base">
                                        <p:cTn id="26" dur="500" fill="hold"/>
                                        <p:tgtEl>
                                          <p:spTgt spid="8212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253" grpId="0" animBg="1" autoUpdateAnimBg="0"/>
      <p:bldP spid="821254" grpId="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Rectangle 2"/>
          <p:cNvSpPr>
            <a:spLocks noGrp="1" noChangeArrowheads="1"/>
          </p:cNvSpPr>
          <p:nvPr>
            <p:ph type="title"/>
          </p:nvPr>
        </p:nvSpPr>
        <p:spPr>
          <a:xfrm>
            <a:off x="2233613" y="0"/>
            <a:ext cx="7772400" cy="1143000"/>
          </a:xfrm>
          <a:noFill/>
        </p:spPr>
        <p:txBody>
          <a:bodyPr/>
          <a:lstStyle/>
          <a:p>
            <a:r>
              <a:rPr lang="en-US" altLang="zh-CN" sz="3600">
                <a:latin typeface="新宋体" pitchFamily="49" charset="-122"/>
                <a:ea typeface="新宋体" pitchFamily="49" charset="-122"/>
              </a:rPr>
              <a:t>U-frame</a:t>
            </a:r>
            <a:r>
              <a:rPr lang="en-US" altLang="zh-CN" sz="2800">
                <a:solidFill>
                  <a:srgbClr val="000000"/>
                </a:solidFill>
                <a:latin typeface="Arial Black" pitchFamily="34" charset="0"/>
              </a:rPr>
              <a:t> </a:t>
            </a:r>
          </a:p>
        </p:txBody>
      </p:sp>
      <p:pic>
        <p:nvPicPr>
          <p:cNvPr id="8222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313" y="1296988"/>
            <a:ext cx="8039100" cy="344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2276" name="Text Box 4"/>
          <p:cNvSpPr txBox="1">
            <a:spLocks noChangeArrowheads="1"/>
          </p:cNvSpPr>
          <p:nvPr/>
        </p:nvSpPr>
        <p:spPr bwMode="auto">
          <a:xfrm>
            <a:off x="6865938" y="4549776"/>
            <a:ext cx="3224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命令编码</a:t>
            </a:r>
          </a:p>
        </p:txBody>
      </p:sp>
    </p:spTree>
  </p:cSld>
  <p:clrMapOvr>
    <a:masterClrMapping/>
  </p:clrMapOvr>
  <p:transition spd="med">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p:cNvSpPr>
            <a:spLocks noGrp="1" noChangeArrowheads="1"/>
          </p:cNvSpPr>
          <p:nvPr>
            <p:ph type="title"/>
          </p:nvPr>
        </p:nvSpPr>
        <p:spPr>
          <a:xfrm>
            <a:off x="2160588" y="0"/>
            <a:ext cx="7772400" cy="1143000"/>
          </a:xfrm>
          <a:noFill/>
        </p:spPr>
        <p:txBody>
          <a:bodyPr/>
          <a:lstStyle/>
          <a:p>
            <a:r>
              <a:rPr lang="en-US" altLang="zh-CN" sz="3600">
                <a:latin typeface="新宋体" pitchFamily="49" charset="-122"/>
                <a:ea typeface="新宋体" pitchFamily="49" charset="-122"/>
              </a:rPr>
              <a:t>U</a:t>
            </a:r>
            <a:r>
              <a:rPr lang="zh-CN" altLang="en-US" sz="3600">
                <a:latin typeface="新宋体" pitchFamily="49" charset="-122"/>
                <a:ea typeface="新宋体" pitchFamily="49" charset="-122"/>
              </a:rPr>
              <a:t>帧控制域定义</a:t>
            </a:r>
          </a:p>
        </p:txBody>
      </p:sp>
      <p:pic>
        <p:nvPicPr>
          <p:cNvPr id="8232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7039" y="1309688"/>
            <a:ext cx="7102475" cy="531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3300" name="Text Box 4"/>
          <p:cNvSpPr txBox="1">
            <a:spLocks noChangeArrowheads="1"/>
          </p:cNvSpPr>
          <p:nvPr/>
        </p:nvSpPr>
        <p:spPr bwMode="auto">
          <a:xfrm>
            <a:off x="7034213" y="1755775"/>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置正常响应模式</a:t>
            </a:r>
            <a:r>
              <a:rPr lang="en-US" altLang="zh-CN" sz="1600"/>
              <a:t>)</a:t>
            </a:r>
          </a:p>
        </p:txBody>
      </p:sp>
      <p:sp>
        <p:nvSpPr>
          <p:cNvPr id="823301" name="Text Box 5"/>
          <p:cNvSpPr txBox="1">
            <a:spLocks noChangeArrowheads="1"/>
          </p:cNvSpPr>
          <p:nvPr/>
        </p:nvSpPr>
        <p:spPr bwMode="auto">
          <a:xfrm>
            <a:off x="7113588" y="2125663"/>
            <a:ext cx="2190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置扩充正常响应模式</a:t>
            </a:r>
            <a:r>
              <a:rPr lang="en-US" altLang="zh-CN" sz="1600"/>
              <a:t>)</a:t>
            </a:r>
          </a:p>
        </p:txBody>
      </p:sp>
      <p:sp>
        <p:nvSpPr>
          <p:cNvPr id="823302" name="Text Box 6"/>
          <p:cNvSpPr txBox="1">
            <a:spLocks noChangeArrowheads="1"/>
          </p:cNvSpPr>
          <p:nvPr/>
        </p:nvSpPr>
        <p:spPr bwMode="auto">
          <a:xfrm>
            <a:off x="7121525" y="2422525"/>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置异步响应模式</a:t>
            </a:r>
            <a:r>
              <a:rPr lang="en-US" altLang="zh-CN" sz="1600"/>
              <a:t>)</a:t>
            </a:r>
          </a:p>
        </p:txBody>
      </p:sp>
      <p:sp>
        <p:nvSpPr>
          <p:cNvPr id="823303" name="Text Box 7"/>
          <p:cNvSpPr txBox="1">
            <a:spLocks noChangeArrowheads="1"/>
          </p:cNvSpPr>
          <p:nvPr/>
        </p:nvSpPr>
        <p:spPr bwMode="auto">
          <a:xfrm>
            <a:off x="7121525" y="2711450"/>
            <a:ext cx="2262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置扩充异步响应模式</a:t>
            </a:r>
            <a:r>
              <a:rPr lang="en-US" altLang="zh-CN" sz="1600"/>
              <a:t>)</a:t>
            </a:r>
          </a:p>
        </p:txBody>
      </p:sp>
      <p:sp>
        <p:nvSpPr>
          <p:cNvPr id="823304" name="Text Box 8"/>
          <p:cNvSpPr txBox="1">
            <a:spLocks noChangeArrowheads="1"/>
          </p:cNvSpPr>
          <p:nvPr/>
        </p:nvSpPr>
        <p:spPr bwMode="auto">
          <a:xfrm>
            <a:off x="6978650" y="3095625"/>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置异步平衡模式</a:t>
            </a:r>
            <a:r>
              <a:rPr lang="en-US" altLang="zh-CN" sz="1600"/>
              <a:t>)</a:t>
            </a:r>
          </a:p>
        </p:txBody>
      </p:sp>
      <p:sp>
        <p:nvSpPr>
          <p:cNvPr id="823305" name="Text Box 9"/>
          <p:cNvSpPr txBox="1">
            <a:spLocks noChangeArrowheads="1"/>
          </p:cNvSpPr>
          <p:nvPr/>
        </p:nvSpPr>
        <p:spPr bwMode="auto">
          <a:xfrm>
            <a:off x="7075489" y="3455988"/>
            <a:ext cx="25987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置扩充异步平衡模式</a:t>
            </a:r>
            <a:r>
              <a:rPr lang="en-US" altLang="zh-CN" sz="1600"/>
              <a:t>)</a:t>
            </a:r>
          </a:p>
        </p:txBody>
      </p:sp>
      <p:sp>
        <p:nvSpPr>
          <p:cNvPr id="823306" name="Text Box 10"/>
          <p:cNvSpPr txBox="1">
            <a:spLocks noChangeArrowheads="1"/>
          </p:cNvSpPr>
          <p:nvPr/>
        </p:nvSpPr>
        <p:spPr bwMode="auto">
          <a:xfrm>
            <a:off x="6591300" y="3768725"/>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无编号信息</a:t>
            </a:r>
            <a:r>
              <a:rPr lang="en-US" altLang="zh-CN" sz="1600"/>
              <a:t>)</a:t>
            </a:r>
          </a:p>
        </p:txBody>
      </p:sp>
      <p:sp>
        <p:nvSpPr>
          <p:cNvPr id="823307" name="Text Box 11"/>
          <p:cNvSpPr txBox="1">
            <a:spLocks noChangeArrowheads="1"/>
          </p:cNvSpPr>
          <p:nvPr/>
        </p:nvSpPr>
        <p:spPr bwMode="auto">
          <a:xfrm>
            <a:off x="6832600" y="4395788"/>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 </a:t>
            </a:r>
            <a:r>
              <a:rPr lang="zh-CN" altLang="en-US" sz="1600"/>
              <a:t>请求断连</a:t>
            </a:r>
            <a:r>
              <a:rPr lang="en-US" altLang="zh-CN" sz="1600"/>
              <a:t>)</a:t>
            </a:r>
          </a:p>
        </p:txBody>
      </p:sp>
      <p:sp>
        <p:nvSpPr>
          <p:cNvPr id="823308" name="Text Box 12"/>
          <p:cNvSpPr txBox="1">
            <a:spLocks noChangeArrowheads="1"/>
          </p:cNvSpPr>
          <p:nvPr/>
        </p:nvSpPr>
        <p:spPr bwMode="auto">
          <a:xfrm>
            <a:off x="6737350" y="4756150"/>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设置初始模式</a:t>
            </a:r>
            <a:r>
              <a:rPr lang="en-US" altLang="zh-CN" sz="1600"/>
              <a:t>)</a:t>
            </a:r>
          </a:p>
        </p:txBody>
      </p:sp>
      <p:sp>
        <p:nvSpPr>
          <p:cNvPr id="823309" name="Text Box 13"/>
          <p:cNvSpPr txBox="1">
            <a:spLocks noChangeArrowheads="1"/>
          </p:cNvSpPr>
          <p:nvPr/>
        </p:nvSpPr>
        <p:spPr bwMode="auto">
          <a:xfrm>
            <a:off x="6761163" y="5094288"/>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无编号探询</a:t>
            </a:r>
            <a:r>
              <a:rPr lang="en-US" altLang="zh-CN" sz="1600"/>
              <a:t>)</a:t>
            </a:r>
          </a:p>
        </p:txBody>
      </p:sp>
      <p:sp>
        <p:nvSpPr>
          <p:cNvPr id="823310" name="Text Box 14"/>
          <p:cNvSpPr txBox="1">
            <a:spLocks noChangeArrowheads="1"/>
          </p:cNvSpPr>
          <p:nvPr/>
        </p:nvSpPr>
        <p:spPr bwMode="auto">
          <a:xfrm>
            <a:off x="6808788" y="5430838"/>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复位</a:t>
            </a:r>
            <a:r>
              <a:rPr lang="en-US" altLang="zh-CN" sz="1600"/>
              <a:t>)</a:t>
            </a:r>
          </a:p>
        </p:txBody>
      </p:sp>
      <p:sp>
        <p:nvSpPr>
          <p:cNvPr id="823311" name="Text Box 15"/>
          <p:cNvSpPr txBox="1">
            <a:spLocks noChangeArrowheads="1"/>
          </p:cNvSpPr>
          <p:nvPr/>
        </p:nvSpPr>
        <p:spPr bwMode="auto">
          <a:xfrm>
            <a:off x="6688138" y="5767388"/>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交换标志</a:t>
            </a:r>
            <a:r>
              <a:rPr lang="en-US" altLang="zh-CN" sz="1600"/>
              <a:t>)</a:t>
            </a:r>
          </a:p>
        </p:txBody>
      </p:sp>
      <p:sp>
        <p:nvSpPr>
          <p:cNvPr id="823312" name="Text Box 16"/>
          <p:cNvSpPr txBox="1">
            <a:spLocks noChangeArrowheads="1"/>
          </p:cNvSpPr>
          <p:nvPr/>
        </p:nvSpPr>
        <p:spPr bwMode="auto">
          <a:xfrm>
            <a:off x="9128125" y="4057650"/>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无编号应答</a:t>
            </a:r>
            <a:r>
              <a:rPr lang="en-US" altLang="zh-CN" sz="1600"/>
              <a:t>)</a:t>
            </a:r>
          </a:p>
        </p:txBody>
      </p:sp>
      <p:sp>
        <p:nvSpPr>
          <p:cNvPr id="823313" name="Text Box 17"/>
          <p:cNvSpPr txBox="1">
            <a:spLocks noChangeArrowheads="1"/>
          </p:cNvSpPr>
          <p:nvPr/>
        </p:nvSpPr>
        <p:spPr bwMode="auto">
          <a:xfrm>
            <a:off x="9312275" y="4419600"/>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断连</a:t>
            </a:r>
            <a:r>
              <a:rPr lang="en-US" altLang="zh-CN" sz="1600"/>
              <a:t>)</a:t>
            </a:r>
          </a:p>
        </p:txBody>
      </p:sp>
      <p:sp>
        <p:nvSpPr>
          <p:cNvPr id="823315" name="Text Box 19"/>
          <p:cNvSpPr txBox="1">
            <a:spLocks noChangeArrowheads="1"/>
          </p:cNvSpPr>
          <p:nvPr/>
        </p:nvSpPr>
        <p:spPr bwMode="auto">
          <a:xfrm>
            <a:off x="9693275" y="6080125"/>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帧拒绝</a:t>
            </a:r>
            <a:r>
              <a:rPr lang="en-US" altLang="zh-CN" sz="1600"/>
              <a:t>)</a:t>
            </a:r>
          </a:p>
        </p:txBody>
      </p:sp>
      <p:sp>
        <p:nvSpPr>
          <p:cNvPr id="823316" name="Rectangle 20"/>
          <p:cNvSpPr>
            <a:spLocks noChangeArrowheads="1"/>
          </p:cNvSpPr>
          <p:nvPr/>
        </p:nvSpPr>
        <p:spPr bwMode="auto">
          <a:xfrm>
            <a:off x="6048375" y="4451350"/>
            <a:ext cx="769938"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17" name="Rectangle 21"/>
          <p:cNvSpPr>
            <a:spLocks noChangeArrowheads="1"/>
          </p:cNvSpPr>
          <p:nvPr/>
        </p:nvSpPr>
        <p:spPr bwMode="auto">
          <a:xfrm>
            <a:off x="8582025" y="4435475"/>
            <a:ext cx="769938"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18" name="Text Box 22"/>
          <p:cNvSpPr txBox="1">
            <a:spLocks noChangeArrowheads="1"/>
          </p:cNvSpPr>
          <p:nvPr/>
        </p:nvSpPr>
        <p:spPr bwMode="auto">
          <a:xfrm>
            <a:off x="6096001" y="4306888"/>
            <a:ext cx="6969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chemeClr val="folHlink"/>
                </a:solidFill>
              </a:rPr>
              <a:t>RD</a:t>
            </a:r>
          </a:p>
        </p:txBody>
      </p:sp>
      <p:sp>
        <p:nvSpPr>
          <p:cNvPr id="823319" name="Text Box 23"/>
          <p:cNvSpPr txBox="1">
            <a:spLocks noChangeArrowheads="1"/>
          </p:cNvSpPr>
          <p:nvPr/>
        </p:nvSpPr>
        <p:spPr bwMode="auto">
          <a:xfrm>
            <a:off x="8509000" y="4362450"/>
            <a:ext cx="1009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chemeClr val="folHlink"/>
                </a:solidFill>
              </a:rPr>
              <a:t>DISC</a:t>
            </a:r>
          </a:p>
        </p:txBody>
      </p:sp>
      <p:sp>
        <p:nvSpPr>
          <p:cNvPr id="823320" name="Rectangle 24"/>
          <p:cNvSpPr>
            <a:spLocks noChangeArrowheads="1"/>
          </p:cNvSpPr>
          <p:nvPr/>
        </p:nvSpPr>
        <p:spPr bwMode="auto">
          <a:xfrm>
            <a:off x="8742363" y="2430463"/>
            <a:ext cx="698500"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14" name="Text Box 18"/>
          <p:cNvSpPr txBox="1">
            <a:spLocks noChangeArrowheads="1"/>
          </p:cNvSpPr>
          <p:nvPr/>
        </p:nvSpPr>
        <p:spPr bwMode="auto">
          <a:xfrm>
            <a:off x="9286875" y="4781550"/>
            <a:ext cx="1949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a:t>
            </a:r>
            <a:r>
              <a:rPr lang="zh-CN" altLang="en-US" sz="1600"/>
              <a:t>请求初始模式</a:t>
            </a:r>
            <a:r>
              <a:rPr lang="en-US" altLang="zh-CN" sz="1600"/>
              <a:t>)</a:t>
            </a:r>
          </a:p>
        </p:txBody>
      </p:sp>
    </p:spTree>
  </p:cSld>
  <p:clrMapOvr>
    <a:masterClrMapping/>
  </p:clrMapOvr>
  <p:transition spd="med">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Rectangle 2"/>
          <p:cNvSpPr>
            <a:spLocks noGrp="1" noChangeArrowheads="1"/>
          </p:cNvSpPr>
          <p:nvPr>
            <p:ph type="title"/>
          </p:nvPr>
        </p:nvSpPr>
        <p:spPr>
          <a:xfrm>
            <a:off x="2209800" y="0"/>
            <a:ext cx="7772400" cy="1143000"/>
          </a:xfrm>
          <a:noFill/>
        </p:spPr>
        <p:txBody>
          <a:bodyPr/>
          <a:lstStyle/>
          <a:p>
            <a:r>
              <a:rPr lang="en-US" altLang="zh-CN" sz="3600">
                <a:latin typeface="新宋体" pitchFamily="49" charset="-122"/>
                <a:ea typeface="新宋体" pitchFamily="49" charset="-122"/>
              </a:rPr>
              <a:t>Polling/Final Bit-</a:t>
            </a:r>
            <a:r>
              <a:rPr lang="zh-CN" altLang="en-US" sz="3600">
                <a:latin typeface="新宋体" pitchFamily="49" charset="-122"/>
                <a:ea typeface="新宋体" pitchFamily="49" charset="-122"/>
              </a:rPr>
              <a:t>轮询</a:t>
            </a:r>
            <a:r>
              <a:rPr lang="en-US" altLang="zh-CN" sz="3600">
                <a:latin typeface="新宋体" pitchFamily="49" charset="-122"/>
                <a:ea typeface="新宋体" pitchFamily="49" charset="-122"/>
              </a:rPr>
              <a:t>/</a:t>
            </a:r>
            <a:r>
              <a:rPr lang="zh-CN" altLang="en-US" sz="3600">
                <a:latin typeface="新宋体" pitchFamily="49" charset="-122"/>
                <a:ea typeface="新宋体" pitchFamily="49" charset="-122"/>
              </a:rPr>
              <a:t>结束位</a:t>
            </a:r>
          </a:p>
        </p:txBody>
      </p:sp>
      <p:pic>
        <p:nvPicPr>
          <p:cNvPr id="8243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7813" y="5102226"/>
            <a:ext cx="7219950"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4324" name="Text Box 4"/>
          <p:cNvSpPr txBox="1">
            <a:spLocks noChangeArrowheads="1"/>
          </p:cNvSpPr>
          <p:nvPr/>
        </p:nvSpPr>
        <p:spPr bwMode="auto">
          <a:xfrm>
            <a:off x="3965575" y="1289050"/>
            <a:ext cx="4922838"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kumimoji="1" sz="2400">
                <a:solidFill>
                  <a:schemeClr val="tx1"/>
                </a:solidFill>
                <a:latin typeface="Times New Roman" pitchFamily="18" charset="0"/>
                <a:ea typeface="宋体" pitchFamily="2" charset="-122"/>
              </a:defRPr>
            </a:lvl1pPr>
            <a:lvl2pPr marL="66675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buFont typeface="Wingdings" pitchFamily="2" charset="2"/>
              <a:buChar char="Ø"/>
            </a:pPr>
            <a:r>
              <a:rPr lang="zh-CN" altLang="en-US" sz="2800">
                <a:solidFill>
                  <a:srgbClr val="000000"/>
                </a:solidFill>
                <a:latin typeface="Tahoma" pitchFamily="34" charset="0"/>
              </a:rPr>
              <a:t>含义取决于上下文 ：</a:t>
            </a:r>
            <a:endParaRPr lang="zh-CN" altLang="en-US" sz="2800">
              <a:solidFill>
                <a:srgbClr val="000000"/>
              </a:solidFill>
              <a:latin typeface="Arial Black" pitchFamily="34" charset="0"/>
            </a:endParaRPr>
          </a:p>
          <a:p>
            <a:pPr>
              <a:buFont typeface="Wingdings" pitchFamily="2" charset="2"/>
              <a:buChar char="Ø"/>
            </a:pPr>
            <a:r>
              <a:rPr lang="zh-CN" altLang="en-US" sz="2800">
                <a:solidFill>
                  <a:srgbClr val="000000"/>
                </a:solidFill>
                <a:latin typeface="Tahoma" pitchFamily="34" charset="0"/>
              </a:rPr>
              <a:t>监督帧 </a:t>
            </a:r>
            <a:endParaRPr lang="zh-CN" altLang="en-US" sz="2800">
              <a:solidFill>
                <a:srgbClr val="000000"/>
              </a:solidFill>
              <a:latin typeface="Arial Black" pitchFamily="34" charset="0"/>
            </a:endParaRPr>
          </a:p>
          <a:p>
            <a:pPr>
              <a:buFont typeface="Wingdings" pitchFamily="2" charset="2"/>
              <a:buChar char="ü"/>
            </a:pPr>
            <a:r>
              <a:rPr lang="en-US" altLang="zh-CN" sz="2800">
                <a:solidFill>
                  <a:schemeClr val="hlink"/>
                </a:solidFill>
                <a:latin typeface="Tahoma" pitchFamily="34" charset="0"/>
              </a:rPr>
              <a:t>P bit </a:t>
            </a:r>
            <a:endParaRPr lang="en-US" altLang="zh-CN" sz="2800">
              <a:solidFill>
                <a:schemeClr val="hlink"/>
              </a:solidFill>
              <a:latin typeface="Arial Black" pitchFamily="34" charset="0"/>
            </a:endParaRPr>
          </a:p>
          <a:p>
            <a:pPr>
              <a:buFont typeface="Wingdings" pitchFamily="2" charset="2"/>
              <a:buChar char="ü"/>
            </a:pPr>
            <a:r>
              <a:rPr lang="en-US" altLang="zh-CN" sz="2800">
                <a:solidFill>
                  <a:schemeClr val="hlink"/>
                </a:solidFill>
                <a:latin typeface="Tahoma" pitchFamily="34" charset="0"/>
              </a:rPr>
              <a:t>1 </a:t>
            </a:r>
            <a:r>
              <a:rPr lang="zh-CN" altLang="en-US" sz="2800">
                <a:solidFill>
                  <a:schemeClr val="hlink"/>
                </a:solidFill>
                <a:latin typeface="Tahoma" pitchFamily="34" charset="0"/>
              </a:rPr>
              <a:t>请求 </a:t>
            </a:r>
            <a:r>
              <a:rPr lang="en-US" altLang="zh-CN" sz="2800">
                <a:solidFill>
                  <a:schemeClr val="hlink"/>
                </a:solidFill>
                <a:latin typeface="Tahoma" pitchFamily="34" charset="0"/>
              </a:rPr>
              <a:t>(polling) </a:t>
            </a:r>
            <a:r>
              <a:rPr lang="zh-CN" altLang="en-US" sz="2800">
                <a:solidFill>
                  <a:schemeClr val="hlink"/>
                </a:solidFill>
                <a:latin typeface="Tahoma" pitchFamily="34" charset="0"/>
              </a:rPr>
              <a:t>对方响应</a:t>
            </a:r>
            <a:r>
              <a:rPr lang="zh-CN" altLang="en-US" sz="2800">
                <a:solidFill>
                  <a:srgbClr val="000000"/>
                </a:solidFill>
                <a:latin typeface="Tahoma" pitchFamily="34" charset="0"/>
              </a:rPr>
              <a:t> </a:t>
            </a:r>
            <a:endParaRPr lang="zh-CN" altLang="en-US" sz="2800">
              <a:solidFill>
                <a:srgbClr val="000000"/>
              </a:solidFill>
              <a:latin typeface="Arial Black" pitchFamily="34" charset="0"/>
            </a:endParaRPr>
          </a:p>
          <a:p>
            <a:pPr>
              <a:buFont typeface="Wingdings" pitchFamily="2" charset="2"/>
              <a:buChar char="Ø"/>
            </a:pPr>
            <a:r>
              <a:rPr lang="zh-CN" altLang="en-US" sz="2800">
                <a:solidFill>
                  <a:srgbClr val="000000"/>
                </a:solidFill>
                <a:latin typeface="Tahoma" pitchFamily="34" charset="0"/>
              </a:rPr>
              <a:t>应答帧 </a:t>
            </a:r>
            <a:endParaRPr lang="zh-CN" altLang="en-US" sz="2800">
              <a:solidFill>
                <a:srgbClr val="000000"/>
              </a:solidFill>
              <a:latin typeface="Arial Black" pitchFamily="34" charset="0"/>
            </a:endParaRPr>
          </a:p>
          <a:p>
            <a:pPr>
              <a:buFont typeface="Wingdings" pitchFamily="2" charset="2"/>
              <a:buChar char="ü"/>
            </a:pPr>
            <a:r>
              <a:rPr lang="en-US" altLang="zh-CN" sz="2800">
                <a:solidFill>
                  <a:schemeClr val="hlink"/>
                </a:solidFill>
                <a:latin typeface="Tahoma" pitchFamily="34" charset="0"/>
              </a:rPr>
              <a:t>F bit </a:t>
            </a:r>
          </a:p>
          <a:p>
            <a:pPr>
              <a:buFont typeface="Wingdings" pitchFamily="2" charset="2"/>
              <a:buChar char="ü"/>
            </a:pPr>
            <a:r>
              <a:rPr lang="en-US" altLang="zh-CN" sz="2800">
                <a:solidFill>
                  <a:schemeClr val="hlink"/>
                </a:solidFill>
                <a:latin typeface="Tahoma" pitchFamily="34" charset="0"/>
              </a:rPr>
              <a:t>1 </a:t>
            </a:r>
            <a:r>
              <a:rPr lang="zh-CN" altLang="en-US" sz="2800">
                <a:solidFill>
                  <a:schemeClr val="hlink"/>
                </a:solidFill>
                <a:latin typeface="Tahoma" pitchFamily="34" charset="0"/>
              </a:rPr>
              <a:t>表示对请求命令的响应</a:t>
            </a:r>
            <a:r>
              <a:rPr lang="zh-CN" altLang="en-US" sz="2800">
                <a:solidFill>
                  <a:srgbClr val="000000"/>
                </a:solidFill>
                <a:latin typeface="Tahoma" pitchFamily="34" charset="0"/>
              </a:rPr>
              <a:t> </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24324">
                                            <p:txEl>
                                              <p:pRg st="0" end="0"/>
                                            </p:txEl>
                                          </p:spTgt>
                                        </p:tgtEl>
                                        <p:attrNameLst>
                                          <p:attrName>style.visibility</p:attrName>
                                        </p:attrNameLst>
                                      </p:cBhvr>
                                      <p:to>
                                        <p:strVal val="visible"/>
                                      </p:to>
                                    </p:set>
                                    <p:anim calcmode="lin" valueType="num">
                                      <p:cBhvr additive="base">
                                        <p:cTn id="7" dur="500" fill="hold"/>
                                        <p:tgtEl>
                                          <p:spTgt spid="82432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243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24324">
                                            <p:txEl>
                                              <p:pRg st="1" end="1"/>
                                            </p:txEl>
                                          </p:spTgt>
                                        </p:tgtEl>
                                        <p:attrNameLst>
                                          <p:attrName>style.visibility</p:attrName>
                                        </p:attrNameLst>
                                      </p:cBhvr>
                                      <p:to>
                                        <p:strVal val="visible"/>
                                      </p:to>
                                    </p:set>
                                    <p:anim calcmode="lin" valueType="num">
                                      <p:cBhvr additive="base">
                                        <p:cTn id="13" dur="500" fill="hold"/>
                                        <p:tgtEl>
                                          <p:spTgt spid="82432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243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24324">
                                            <p:txEl>
                                              <p:pRg st="2" end="2"/>
                                            </p:txEl>
                                          </p:spTgt>
                                        </p:tgtEl>
                                        <p:attrNameLst>
                                          <p:attrName>style.visibility</p:attrName>
                                        </p:attrNameLst>
                                      </p:cBhvr>
                                      <p:to>
                                        <p:strVal val="visible"/>
                                      </p:to>
                                    </p:set>
                                    <p:anim calcmode="lin" valueType="num">
                                      <p:cBhvr additive="base">
                                        <p:cTn id="19" dur="500" fill="hold"/>
                                        <p:tgtEl>
                                          <p:spTgt spid="82432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2432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24324">
                                            <p:txEl>
                                              <p:pRg st="3" end="3"/>
                                            </p:txEl>
                                          </p:spTgt>
                                        </p:tgtEl>
                                        <p:attrNameLst>
                                          <p:attrName>style.visibility</p:attrName>
                                        </p:attrNameLst>
                                      </p:cBhvr>
                                      <p:to>
                                        <p:strVal val="visible"/>
                                      </p:to>
                                    </p:set>
                                    <p:anim calcmode="lin" valueType="num">
                                      <p:cBhvr additive="base">
                                        <p:cTn id="25" dur="500" fill="hold"/>
                                        <p:tgtEl>
                                          <p:spTgt spid="82432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2432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24324">
                                            <p:txEl>
                                              <p:pRg st="4" end="4"/>
                                            </p:txEl>
                                          </p:spTgt>
                                        </p:tgtEl>
                                        <p:attrNameLst>
                                          <p:attrName>style.visibility</p:attrName>
                                        </p:attrNameLst>
                                      </p:cBhvr>
                                      <p:to>
                                        <p:strVal val="visible"/>
                                      </p:to>
                                    </p:set>
                                    <p:anim calcmode="lin" valueType="num">
                                      <p:cBhvr additive="base">
                                        <p:cTn id="31" dur="500" fill="hold"/>
                                        <p:tgtEl>
                                          <p:spTgt spid="82432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2432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24324">
                                            <p:txEl>
                                              <p:pRg st="5" end="5"/>
                                            </p:txEl>
                                          </p:spTgt>
                                        </p:tgtEl>
                                        <p:attrNameLst>
                                          <p:attrName>style.visibility</p:attrName>
                                        </p:attrNameLst>
                                      </p:cBhvr>
                                      <p:to>
                                        <p:strVal val="visible"/>
                                      </p:to>
                                    </p:set>
                                    <p:anim calcmode="lin" valueType="num">
                                      <p:cBhvr additive="base">
                                        <p:cTn id="37" dur="500" fill="hold"/>
                                        <p:tgtEl>
                                          <p:spTgt spid="824324">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2432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24324">
                                            <p:txEl>
                                              <p:pRg st="6" end="6"/>
                                            </p:txEl>
                                          </p:spTgt>
                                        </p:tgtEl>
                                        <p:attrNameLst>
                                          <p:attrName>style.visibility</p:attrName>
                                        </p:attrNameLst>
                                      </p:cBhvr>
                                      <p:to>
                                        <p:strVal val="visible"/>
                                      </p:to>
                                    </p:set>
                                    <p:anim calcmode="lin" valueType="num">
                                      <p:cBhvr additive="base">
                                        <p:cTn id="43" dur="500" fill="hold"/>
                                        <p:tgtEl>
                                          <p:spTgt spid="824324">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824324">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24"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a:xfrm>
            <a:off x="2270125" y="0"/>
            <a:ext cx="7772400" cy="1143000"/>
          </a:xfrm>
          <a:noFill/>
        </p:spPr>
        <p:txBody>
          <a:bodyPr/>
          <a:lstStyle/>
          <a:p>
            <a:r>
              <a:rPr lang="zh-CN" altLang="en-US" sz="3600">
                <a:latin typeface="新宋体" pitchFamily="49" charset="-122"/>
                <a:ea typeface="新宋体" pitchFamily="49" charset="-122"/>
              </a:rPr>
              <a:t>帧校验和</a:t>
            </a:r>
          </a:p>
        </p:txBody>
      </p:sp>
      <p:sp>
        <p:nvSpPr>
          <p:cNvPr id="825347" name="Text Box 3"/>
          <p:cNvSpPr txBox="1">
            <a:spLocks noChangeArrowheads="1"/>
          </p:cNvSpPr>
          <p:nvPr/>
        </p:nvSpPr>
        <p:spPr bwMode="auto">
          <a:xfrm>
            <a:off x="3598863" y="1368425"/>
            <a:ext cx="5276850" cy="311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66750" indent="-666750">
              <a:defRPr kumimoji="1" sz="2400">
                <a:solidFill>
                  <a:schemeClr val="tx1"/>
                </a:solidFill>
                <a:latin typeface="Times New Roman" pitchFamily="18" charset="0"/>
                <a:ea typeface="宋体" pitchFamily="2" charset="-122"/>
              </a:defRPr>
            </a:lvl1pPr>
            <a:lvl2pPr marL="857250">
              <a:defRPr kumimoji="1" sz="2400">
                <a:solidFill>
                  <a:schemeClr val="tx1"/>
                </a:solidFill>
                <a:latin typeface="Times New Roman" pitchFamily="18" charset="0"/>
                <a:ea typeface="宋体" pitchFamily="2" charset="-122"/>
              </a:defRPr>
            </a:lvl2pPr>
            <a:lvl3pPr marL="1047750">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buClr>
                <a:schemeClr val="tx1"/>
              </a:buClr>
              <a:buSzPct val="75000"/>
              <a:buFont typeface="Wingdings" pitchFamily="2" charset="2"/>
              <a:buChar char="l"/>
            </a:pPr>
            <a:r>
              <a:rPr lang="en-US" altLang="zh-CN" sz="3600">
                <a:solidFill>
                  <a:srgbClr val="000000"/>
                </a:solidFill>
                <a:latin typeface="Tahoma" pitchFamily="34" charset="0"/>
              </a:rPr>
              <a:t>FCS</a:t>
            </a:r>
            <a:r>
              <a:rPr lang="zh-CN" altLang="en-US" sz="2800">
                <a:solidFill>
                  <a:srgbClr val="000000"/>
                </a:solidFill>
                <a:latin typeface="Tahoma" pitchFamily="34" charset="0"/>
              </a:rPr>
              <a:t>（帧校验和）</a:t>
            </a:r>
            <a:endParaRPr lang="zh-CN" altLang="en-US" sz="2800">
              <a:solidFill>
                <a:srgbClr val="000000"/>
              </a:solidFill>
              <a:latin typeface="Arial Black" pitchFamily="34" charset="0"/>
            </a:endParaRPr>
          </a:p>
          <a:p>
            <a:pPr>
              <a:spcBef>
                <a:spcPct val="50000"/>
              </a:spcBef>
              <a:buFont typeface="Wingdings" pitchFamily="2" charset="2"/>
              <a:buChar char="Ø"/>
            </a:pPr>
            <a:r>
              <a:rPr lang="zh-CN" altLang="en-US" sz="3600">
                <a:solidFill>
                  <a:srgbClr val="000000"/>
                </a:solidFill>
                <a:latin typeface="Tahoma" pitchFamily="34" charset="0"/>
              </a:rPr>
              <a:t>错误检测 </a:t>
            </a:r>
            <a:endParaRPr lang="zh-CN" altLang="en-US" sz="3600">
              <a:solidFill>
                <a:srgbClr val="000000"/>
              </a:solidFill>
              <a:latin typeface="Arial Black" pitchFamily="34" charset="0"/>
            </a:endParaRPr>
          </a:p>
          <a:p>
            <a:pPr>
              <a:spcBef>
                <a:spcPct val="50000"/>
              </a:spcBef>
              <a:buFont typeface="Wingdings" pitchFamily="2" charset="2"/>
              <a:buChar char="Ø"/>
            </a:pPr>
            <a:r>
              <a:rPr lang="en-US" altLang="zh-CN" sz="3600">
                <a:solidFill>
                  <a:srgbClr val="000000"/>
                </a:solidFill>
                <a:latin typeface="Tahoma" pitchFamily="34" charset="0"/>
              </a:rPr>
              <a:t>16 </a:t>
            </a:r>
            <a:r>
              <a:rPr lang="zh-CN" altLang="en-US" sz="3600">
                <a:solidFill>
                  <a:srgbClr val="000000"/>
                </a:solidFill>
                <a:latin typeface="Tahoma" pitchFamily="34" charset="0"/>
              </a:rPr>
              <a:t>比特 </a:t>
            </a:r>
            <a:r>
              <a:rPr lang="en-US" altLang="zh-CN" sz="3600">
                <a:solidFill>
                  <a:srgbClr val="000000"/>
                </a:solidFill>
                <a:latin typeface="Tahoma" pitchFamily="34" charset="0"/>
              </a:rPr>
              <a:t>CRC </a:t>
            </a:r>
            <a:endParaRPr lang="en-US" altLang="zh-CN" sz="3600">
              <a:solidFill>
                <a:srgbClr val="000000"/>
              </a:solidFill>
              <a:latin typeface="Arial Black" pitchFamily="34" charset="0"/>
            </a:endParaRPr>
          </a:p>
          <a:p>
            <a:pPr>
              <a:spcBef>
                <a:spcPct val="50000"/>
              </a:spcBef>
              <a:buFont typeface="Wingdings" pitchFamily="2" charset="2"/>
              <a:buChar char="Ø"/>
            </a:pPr>
            <a:r>
              <a:rPr lang="zh-CN" altLang="en-US" sz="3600">
                <a:solidFill>
                  <a:srgbClr val="000000"/>
                </a:solidFill>
                <a:latin typeface="Tahoma" pitchFamily="34" charset="0"/>
              </a:rPr>
              <a:t>可选 </a:t>
            </a:r>
            <a:r>
              <a:rPr lang="en-US" altLang="zh-CN" sz="3600">
                <a:solidFill>
                  <a:srgbClr val="000000"/>
                </a:solidFill>
                <a:latin typeface="Tahoma" pitchFamily="34" charset="0"/>
              </a:rPr>
              <a:t>32 </a:t>
            </a:r>
            <a:r>
              <a:rPr lang="zh-CN" altLang="en-US" sz="3600">
                <a:solidFill>
                  <a:srgbClr val="000000"/>
                </a:solidFill>
                <a:latin typeface="Tahoma" pitchFamily="34" charset="0"/>
              </a:rPr>
              <a:t>比特 </a:t>
            </a:r>
            <a:r>
              <a:rPr lang="en-US" altLang="zh-CN" sz="3600">
                <a:solidFill>
                  <a:srgbClr val="000000"/>
                </a:solidFill>
                <a:latin typeface="Tahoma" pitchFamily="34" charset="0"/>
              </a:rPr>
              <a:t>CRC</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25347">
                                            <p:txEl>
                                              <p:pRg st="0" end="0"/>
                                            </p:txEl>
                                          </p:spTgt>
                                        </p:tgtEl>
                                        <p:attrNameLst>
                                          <p:attrName>style.visibility</p:attrName>
                                        </p:attrNameLst>
                                      </p:cBhvr>
                                      <p:to>
                                        <p:strVal val="visible"/>
                                      </p:to>
                                    </p:set>
                                    <p:anim calcmode="lin" valueType="num">
                                      <p:cBhvr additive="base">
                                        <p:cTn id="7" dur="500" fill="hold"/>
                                        <p:tgtEl>
                                          <p:spTgt spid="8253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253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25347">
                                            <p:txEl>
                                              <p:pRg st="1" end="1"/>
                                            </p:txEl>
                                          </p:spTgt>
                                        </p:tgtEl>
                                        <p:attrNameLst>
                                          <p:attrName>style.visibility</p:attrName>
                                        </p:attrNameLst>
                                      </p:cBhvr>
                                      <p:to>
                                        <p:strVal val="visible"/>
                                      </p:to>
                                    </p:set>
                                    <p:anim calcmode="lin" valueType="num">
                                      <p:cBhvr additive="base">
                                        <p:cTn id="13" dur="500" fill="hold"/>
                                        <p:tgtEl>
                                          <p:spTgt spid="82534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253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25347">
                                            <p:txEl>
                                              <p:pRg st="2" end="2"/>
                                            </p:txEl>
                                          </p:spTgt>
                                        </p:tgtEl>
                                        <p:attrNameLst>
                                          <p:attrName>style.visibility</p:attrName>
                                        </p:attrNameLst>
                                      </p:cBhvr>
                                      <p:to>
                                        <p:strVal val="visible"/>
                                      </p:to>
                                    </p:set>
                                    <p:anim calcmode="lin" valueType="num">
                                      <p:cBhvr additive="base">
                                        <p:cTn id="19" dur="500" fill="hold"/>
                                        <p:tgtEl>
                                          <p:spTgt spid="82534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253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25347">
                                            <p:txEl>
                                              <p:pRg st="3" end="3"/>
                                            </p:txEl>
                                          </p:spTgt>
                                        </p:tgtEl>
                                        <p:attrNameLst>
                                          <p:attrName>style.visibility</p:attrName>
                                        </p:attrNameLst>
                                      </p:cBhvr>
                                      <p:to>
                                        <p:strVal val="visible"/>
                                      </p:to>
                                    </p:set>
                                    <p:anim calcmode="lin" valueType="num">
                                      <p:cBhvr additive="base">
                                        <p:cTn id="25" dur="500" fill="hold"/>
                                        <p:tgtEl>
                                          <p:spTgt spid="82534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2534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47" grpId="0"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a:xfrm>
            <a:off x="2136775" y="0"/>
            <a:ext cx="7772400" cy="1143000"/>
          </a:xfrm>
          <a:noFill/>
        </p:spPr>
        <p:txBody>
          <a:bodyPr/>
          <a:lstStyle/>
          <a:p>
            <a:r>
              <a:rPr lang="en-US" altLang="zh-CN" sz="3600">
                <a:latin typeface="新宋体" pitchFamily="49" charset="-122"/>
                <a:ea typeface="新宋体" pitchFamily="49" charset="-122"/>
              </a:rPr>
              <a:t>HDLC </a:t>
            </a:r>
            <a:r>
              <a:rPr lang="zh-CN" altLang="en-US" sz="3600">
                <a:latin typeface="新宋体" pitchFamily="49" charset="-122"/>
                <a:ea typeface="新宋体" pitchFamily="49" charset="-122"/>
              </a:rPr>
              <a:t>操作</a:t>
            </a:r>
          </a:p>
        </p:txBody>
      </p:sp>
      <p:sp>
        <p:nvSpPr>
          <p:cNvPr id="826371" name="Text Box 3"/>
          <p:cNvSpPr txBox="1">
            <a:spLocks noChangeArrowheads="1"/>
          </p:cNvSpPr>
          <p:nvPr/>
        </p:nvSpPr>
        <p:spPr bwMode="auto">
          <a:xfrm>
            <a:off x="2509838" y="1319214"/>
            <a:ext cx="7567612" cy="323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71500" indent="-571500">
              <a:defRPr kumimoji="1" sz="2400">
                <a:solidFill>
                  <a:schemeClr val="tx1"/>
                </a:solidFill>
                <a:latin typeface="Times New Roman" pitchFamily="18" charset="0"/>
                <a:ea typeface="宋体" pitchFamily="2" charset="-122"/>
              </a:defRPr>
            </a:lvl1pPr>
            <a:lvl2pPr marL="1219200" indent="-457200">
              <a:defRPr kumimoji="1" sz="2400">
                <a:solidFill>
                  <a:schemeClr val="tx1"/>
                </a:solidFill>
                <a:latin typeface="Times New Roman" pitchFamily="18" charset="0"/>
                <a:ea typeface="宋体" pitchFamily="2" charset="-122"/>
              </a:defRPr>
            </a:lvl2pPr>
            <a:lvl3pPr marL="1409700" indent="-457200">
              <a:defRPr kumimoji="1" sz="2400">
                <a:solidFill>
                  <a:schemeClr val="tx1"/>
                </a:solidFill>
                <a:latin typeface="Times New Roman" pitchFamily="18" charset="0"/>
                <a:ea typeface="宋体" pitchFamily="2" charset="-122"/>
              </a:defRPr>
            </a:lvl3pPr>
            <a:lvl4pPr marL="1828800" indent="-457200">
              <a:defRPr kumimoji="1" sz="2400">
                <a:solidFill>
                  <a:schemeClr val="tx1"/>
                </a:solidFill>
                <a:latin typeface="Times New Roman" pitchFamily="18" charset="0"/>
                <a:ea typeface="宋体" pitchFamily="2" charset="-122"/>
              </a:defRPr>
            </a:lvl4pPr>
            <a:lvl5pPr marL="2286000" indent="-457200">
              <a:defRPr kumimoji="1" sz="2400">
                <a:solidFill>
                  <a:schemeClr val="tx1"/>
                </a:solidFill>
                <a:latin typeface="Times New Roman" pitchFamily="18" charset="0"/>
                <a:ea typeface="宋体" pitchFamily="2" charset="-122"/>
              </a:defRPr>
            </a:lvl5pPr>
            <a:lvl6pPr marL="2743200" indent="-457200" fontAlgn="base">
              <a:spcBef>
                <a:spcPct val="0"/>
              </a:spcBef>
              <a:spcAft>
                <a:spcPct val="0"/>
              </a:spcAft>
              <a:defRPr kumimoji="1" sz="2400">
                <a:solidFill>
                  <a:schemeClr val="tx1"/>
                </a:solidFill>
                <a:latin typeface="Times New Roman" pitchFamily="18" charset="0"/>
                <a:ea typeface="宋体" pitchFamily="2" charset="-122"/>
              </a:defRPr>
            </a:lvl6pPr>
            <a:lvl7pPr marL="3200400" indent="-457200" fontAlgn="base">
              <a:spcBef>
                <a:spcPct val="0"/>
              </a:spcBef>
              <a:spcAft>
                <a:spcPct val="0"/>
              </a:spcAft>
              <a:defRPr kumimoji="1" sz="2400">
                <a:solidFill>
                  <a:schemeClr val="tx1"/>
                </a:solidFill>
                <a:latin typeface="Times New Roman" pitchFamily="18" charset="0"/>
                <a:ea typeface="宋体" pitchFamily="2" charset="-122"/>
              </a:defRPr>
            </a:lvl7pPr>
            <a:lvl8pPr marL="3657600" indent="-457200" fontAlgn="base">
              <a:spcBef>
                <a:spcPct val="0"/>
              </a:spcBef>
              <a:spcAft>
                <a:spcPct val="0"/>
              </a:spcAft>
              <a:defRPr kumimoji="1" sz="2400">
                <a:solidFill>
                  <a:schemeClr val="tx1"/>
                </a:solidFill>
                <a:latin typeface="Times New Roman" pitchFamily="18" charset="0"/>
                <a:ea typeface="宋体" pitchFamily="2" charset="-122"/>
              </a:defRPr>
            </a:lvl8pPr>
            <a:lvl9pPr marL="4114800"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Font typeface="Wingdings" pitchFamily="2" charset="2"/>
              <a:buChar char="Ø"/>
            </a:pPr>
            <a:r>
              <a:rPr lang="zh-CN" altLang="en-US" sz="3200">
                <a:solidFill>
                  <a:srgbClr val="000000"/>
                </a:solidFill>
                <a:latin typeface="Tahoma" pitchFamily="34" charset="0"/>
              </a:rPr>
              <a:t>通过交换信息、监督和无编号帧进行</a:t>
            </a:r>
            <a:endParaRPr lang="zh-CN" altLang="en-US" sz="3200">
              <a:solidFill>
                <a:srgbClr val="000000"/>
              </a:solidFill>
              <a:latin typeface="Arial Black" pitchFamily="34" charset="0"/>
            </a:endParaRPr>
          </a:p>
          <a:p>
            <a:pPr>
              <a:spcBef>
                <a:spcPct val="50000"/>
              </a:spcBef>
              <a:buFont typeface="Wingdings" pitchFamily="2" charset="2"/>
              <a:buChar char="Ø"/>
            </a:pPr>
            <a:r>
              <a:rPr lang="zh-CN" altLang="en-US" sz="3200">
                <a:solidFill>
                  <a:srgbClr val="000000"/>
                </a:solidFill>
                <a:latin typeface="Tahoma" pitchFamily="34" charset="0"/>
              </a:rPr>
              <a:t>三个阶段 </a:t>
            </a:r>
            <a:endParaRPr lang="zh-CN" altLang="en-US" sz="3200">
              <a:solidFill>
                <a:srgbClr val="000000"/>
              </a:solidFill>
              <a:latin typeface="Arial Black" pitchFamily="34" charset="0"/>
            </a:endParaRPr>
          </a:p>
          <a:p>
            <a:pPr>
              <a:spcBef>
                <a:spcPct val="50000"/>
              </a:spcBef>
              <a:buFont typeface="Wingdings" pitchFamily="2" charset="2"/>
              <a:buAutoNum type="arabicParenR"/>
            </a:pPr>
            <a:r>
              <a:rPr lang="en-US" altLang="zh-CN" sz="2800">
                <a:solidFill>
                  <a:schemeClr val="hlink"/>
                </a:solidFill>
                <a:latin typeface="Tahoma" pitchFamily="34" charset="0"/>
              </a:rPr>
              <a:t>Initialization----</a:t>
            </a:r>
            <a:r>
              <a:rPr lang="zh-CN" altLang="en-US" sz="2800">
                <a:solidFill>
                  <a:schemeClr val="hlink"/>
                </a:solidFill>
                <a:latin typeface="宋体" pitchFamily="2" charset="-122"/>
              </a:rPr>
              <a:t>初始化</a:t>
            </a:r>
            <a:r>
              <a:rPr lang="en-US" altLang="zh-CN" sz="2800">
                <a:solidFill>
                  <a:schemeClr val="hlink"/>
                </a:solidFill>
                <a:latin typeface="宋体" pitchFamily="2" charset="-122"/>
              </a:rPr>
              <a:t>(</a:t>
            </a:r>
            <a:r>
              <a:rPr lang="zh-CN" altLang="en-US" sz="2800">
                <a:solidFill>
                  <a:schemeClr val="hlink"/>
                </a:solidFill>
                <a:latin typeface="宋体" pitchFamily="2" charset="-122"/>
              </a:rPr>
              <a:t>建立连接）</a:t>
            </a:r>
            <a:endParaRPr lang="zh-CN" altLang="en-US" sz="2800">
              <a:solidFill>
                <a:schemeClr val="hlink"/>
              </a:solidFill>
              <a:latin typeface="Arial Black" pitchFamily="34" charset="0"/>
            </a:endParaRPr>
          </a:p>
          <a:p>
            <a:pPr>
              <a:spcBef>
                <a:spcPct val="50000"/>
              </a:spcBef>
              <a:buFont typeface="Wingdings" pitchFamily="2" charset="2"/>
              <a:buAutoNum type="arabicParenR"/>
            </a:pPr>
            <a:r>
              <a:rPr lang="en-US" altLang="zh-CN" sz="2800">
                <a:solidFill>
                  <a:schemeClr val="hlink"/>
                </a:solidFill>
                <a:latin typeface="Tahoma" pitchFamily="34" charset="0"/>
              </a:rPr>
              <a:t>Data transfer-----</a:t>
            </a:r>
            <a:r>
              <a:rPr lang="zh-CN" altLang="en-US" sz="2800">
                <a:solidFill>
                  <a:schemeClr val="hlink"/>
                </a:solidFill>
                <a:latin typeface="宋体" pitchFamily="2" charset="-122"/>
              </a:rPr>
              <a:t>数据传输 </a:t>
            </a:r>
            <a:endParaRPr lang="zh-CN" altLang="en-US" sz="2800">
              <a:solidFill>
                <a:schemeClr val="hlink"/>
              </a:solidFill>
              <a:latin typeface="Arial Black" pitchFamily="34" charset="0"/>
            </a:endParaRPr>
          </a:p>
          <a:p>
            <a:pPr>
              <a:spcBef>
                <a:spcPct val="50000"/>
              </a:spcBef>
              <a:buFont typeface="Wingdings" pitchFamily="2" charset="2"/>
              <a:buAutoNum type="arabicParenR"/>
            </a:pPr>
            <a:r>
              <a:rPr lang="en-US" altLang="zh-CN" sz="2800">
                <a:solidFill>
                  <a:schemeClr val="hlink"/>
                </a:solidFill>
                <a:latin typeface="Tahoma" pitchFamily="34" charset="0"/>
              </a:rPr>
              <a:t>Disconnect----</a:t>
            </a:r>
            <a:r>
              <a:rPr lang="zh-CN" altLang="en-US" sz="2800">
                <a:solidFill>
                  <a:schemeClr val="hlink"/>
                </a:solidFill>
                <a:latin typeface="宋体" pitchFamily="2" charset="-122"/>
              </a:rPr>
              <a:t>断开连接</a:t>
            </a:r>
            <a:endParaRPr lang="zh-CN" altLang="en-US" sz="2800">
              <a:solidFill>
                <a:schemeClr val="hlink"/>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26371">
                                            <p:txEl>
                                              <p:pRg st="0" end="0"/>
                                            </p:txEl>
                                          </p:spTgt>
                                        </p:tgtEl>
                                        <p:attrNameLst>
                                          <p:attrName>style.visibility</p:attrName>
                                        </p:attrNameLst>
                                      </p:cBhvr>
                                      <p:to>
                                        <p:strVal val="visible"/>
                                      </p:to>
                                    </p:set>
                                    <p:anim calcmode="lin" valueType="num">
                                      <p:cBhvr additive="base">
                                        <p:cTn id="7" dur="500" fill="hold"/>
                                        <p:tgtEl>
                                          <p:spTgt spid="8263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263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26371">
                                            <p:txEl>
                                              <p:pRg st="1" end="1"/>
                                            </p:txEl>
                                          </p:spTgt>
                                        </p:tgtEl>
                                        <p:attrNameLst>
                                          <p:attrName>style.visibility</p:attrName>
                                        </p:attrNameLst>
                                      </p:cBhvr>
                                      <p:to>
                                        <p:strVal val="visible"/>
                                      </p:to>
                                    </p:set>
                                    <p:anim calcmode="lin" valueType="num">
                                      <p:cBhvr additive="base">
                                        <p:cTn id="13" dur="500" fill="hold"/>
                                        <p:tgtEl>
                                          <p:spTgt spid="8263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263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26371">
                                            <p:txEl>
                                              <p:pRg st="2" end="2"/>
                                            </p:txEl>
                                          </p:spTgt>
                                        </p:tgtEl>
                                        <p:attrNameLst>
                                          <p:attrName>style.visibility</p:attrName>
                                        </p:attrNameLst>
                                      </p:cBhvr>
                                      <p:to>
                                        <p:strVal val="visible"/>
                                      </p:to>
                                    </p:set>
                                    <p:anim calcmode="lin" valueType="num">
                                      <p:cBhvr additive="base">
                                        <p:cTn id="19" dur="500" fill="hold"/>
                                        <p:tgtEl>
                                          <p:spTgt spid="8263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263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26371">
                                            <p:txEl>
                                              <p:pRg st="3" end="3"/>
                                            </p:txEl>
                                          </p:spTgt>
                                        </p:tgtEl>
                                        <p:attrNameLst>
                                          <p:attrName>style.visibility</p:attrName>
                                        </p:attrNameLst>
                                      </p:cBhvr>
                                      <p:to>
                                        <p:strVal val="visible"/>
                                      </p:to>
                                    </p:set>
                                    <p:anim calcmode="lin" valueType="num">
                                      <p:cBhvr additive="base">
                                        <p:cTn id="25" dur="500" fill="hold"/>
                                        <p:tgtEl>
                                          <p:spTgt spid="82637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263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26371">
                                            <p:txEl>
                                              <p:pRg st="4" end="4"/>
                                            </p:txEl>
                                          </p:spTgt>
                                        </p:tgtEl>
                                        <p:attrNameLst>
                                          <p:attrName>style.visibility</p:attrName>
                                        </p:attrNameLst>
                                      </p:cBhvr>
                                      <p:to>
                                        <p:strVal val="visible"/>
                                      </p:to>
                                    </p:set>
                                    <p:anim calcmode="lin" valueType="num">
                                      <p:cBhvr additive="base">
                                        <p:cTn id="31" dur="500" fill="hold"/>
                                        <p:tgtEl>
                                          <p:spTgt spid="82637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2637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371"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a:xfrm>
            <a:off x="2209800" y="0"/>
            <a:ext cx="7772400" cy="1143000"/>
          </a:xfrm>
          <a:noFill/>
        </p:spPr>
        <p:txBody>
          <a:bodyPr/>
          <a:lstStyle/>
          <a:p>
            <a:r>
              <a:rPr lang="zh-CN" altLang="en-US" sz="3600">
                <a:latin typeface="新宋体" pitchFamily="49" charset="-122"/>
                <a:ea typeface="新宋体" pitchFamily="49" charset="-122"/>
              </a:rPr>
              <a:t>初始化</a:t>
            </a:r>
          </a:p>
        </p:txBody>
      </p:sp>
      <p:sp>
        <p:nvSpPr>
          <p:cNvPr id="827395" name="Text Box 3"/>
          <p:cNvSpPr txBox="1">
            <a:spLocks noChangeArrowheads="1"/>
          </p:cNvSpPr>
          <p:nvPr/>
        </p:nvSpPr>
        <p:spPr bwMode="auto">
          <a:xfrm>
            <a:off x="2703513" y="1338264"/>
            <a:ext cx="7169150"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71500" indent="-571500">
              <a:defRPr kumimoji="1" sz="2400">
                <a:solidFill>
                  <a:schemeClr val="tx1"/>
                </a:solidFill>
                <a:latin typeface="Times New Roman" pitchFamily="18" charset="0"/>
                <a:ea typeface="宋体" pitchFamily="2" charset="-122"/>
              </a:defRPr>
            </a:lvl1pPr>
            <a:lvl2pPr marL="762000">
              <a:defRPr kumimoji="1" sz="2400">
                <a:solidFill>
                  <a:schemeClr val="tx1"/>
                </a:solidFill>
                <a:latin typeface="Times New Roman" pitchFamily="18" charset="0"/>
                <a:ea typeface="宋体" pitchFamily="2" charset="-122"/>
              </a:defRPr>
            </a:lvl2pPr>
            <a:lvl3pPr marL="952500">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Font typeface="Wingdings" pitchFamily="2" charset="2"/>
              <a:buChar char="v"/>
            </a:pPr>
            <a:r>
              <a:rPr lang="zh-CN" altLang="en-US" sz="3200">
                <a:solidFill>
                  <a:srgbClr val="000000"/>
                </a:solidFill>
                <a:latin typeface="宋体" pitchFamily="2" charset="-122"/>
              </a:rPr>
              <a:t>任何一方都可以通过六个</a:t>
            </a:r>
            <a:r>
              <a:rPr lang="zh-CN" altLang="en-US" sz="3200">
                <a:solidFill>
                  <a:schemeClr val="folHlink"/>
                </a:solidFill>
                <a:latin typeface="宋体" pitchFamily="2" charset="-122"/>
              </a:rPr>
              <a:t>置位方式命令</a:t>
            </a:r>
            <a:r>
              <a:rPr lang="zh-CN" altLang="en-US" sz="3200">
                <a:solidFill>
                  <a:srgbClr val="000000"/>
                </a:solidFill>
                <a:latin typeface="宋体" pitchFamily="2" charset="-122"/>
              </a:rPr>
              <a:t>之一来请求初始化。 </a:t>
            </a:r>
          </a:p>
          <a:p>
            <a:pPr>
              <a:spcBef>
                <a:spcPct val="50000"/>
              </a:spcBef>
              <a:buClr>
                <a:schemeClr val="folHlink"/>
              </a:buClr>
              <a:buFont typeface="Wingdings" pitchFamily="2" charset="2"/>
              <a:buChar char="§"/>
            </a:pPr>
            <a:r>
              <a:rPr lang="zh-CN" altLang="en-US" sz="3200">
                <a:solidFill>
                  <a:srgbClr val="000000"/>
                </a:solidFill>
                <a:latin typeface="宋体" pitchFamily="2" charset="-122"/>
              </a:rPr>
              <a:t>通知对方</a:t>
            </a:r>
            <a:r>
              <a:rPr lang="zh-CN" altLang="en-US" sz="3200">
                <a:solidFill>
                  <a:srgbClr val="000000"/>
                </a:solidFill>
              </a:rPr>
              <a:t>“</a:t>
            </a:r>
            <a:r>
              <a:rPr lang="zh-CN" altLang="en-US" sz="3200">
                <a:solidFill>
                  <a:srgbClr val="000000"/>
                </a:solidFill>
                <a:latin typeface="宋体" pitchFamily="2" charset="-122"/>
              </a:rPr>
              <a:t>请求初始化</a:t>
            </a:r>
            <a:r>
              <a:rPr lang="zh-CN" altLang="en-US" sz="3200">
                <a:solidFill>
                  <a:srgbClr val="000000"/>
                </a:solidFill>
              </a:rPr>
              <a:t>”</a:t>
            </a:r>
            <a:r>
              <a:rPr lang="zh-CN" altLang="en-US" sz="3200">
                <a:solidFill>
                  <a:srgbClr val="000000"/>
                </a:solidFill>
                <a:latin typeface="宋体" pitchFamily="2" charset="-122"/>
              </a:rPr>
              <a:t>。 </a:t>
            </a:r>
          </a:p>
          <a:p>
            <a:pPr>
              <a:spcBef>
                <a:spcPct val="50000"/>
              </a:spcBef>
              <a:buClr>
                <a:schemeClr val="folHlink"/>
              </a:buClr>
              <a:buFont typeface="Wingdings" pitchFamily="2" charset="2"/>
              <a:buChar char="§"/>
            </a:pPr>
            <a:r>
              <a:rPr lang="zh-CN" altLang="en-US" sz="3200">
                <a:solidFill>
                  <a:srgbClr val="000000"/>
                </a:solidFill>
                <a:latin typeface="宋体" pitchFamily="2" charset="-122"/>
              </a:rPr>
              <a:t>指出请求的是那种方式</a:t>
            </a:r>
            <a:r>
              <a:rPr lang="en-US" altLang="zh-CN" sz="3200" b="1">
                <a:solidFill>
                  <a:srgbClr val="000000"/>
                </a:solidFill>
                <a:latin typeface="Tahoma" pitchFamily="34" charset="0"/>
              </a:rPr>
              <a:t>(NRM,ABM,ARM)</a:t>
            </a:r>
            <a:r>
              <a:rPr lang="zh-CN" altLang="en-US" sz="3200">
                <a:solidFill>
                  <a:srgbClr val="000000"/>
                </a:solidFill>
                <a:latin typeface="宋体" pitchFamily="2" charset="-122"/>
              </a:rPr>
              <a:t>？ </a:t>
            </a:r>
          </a:p>
          <a:p>
            <a:pPr>
              <a:spcBef>
                <a:spcPct val="50000"/>
              </a:spcBef>
              <a:buClr>
                <a:schemeClr val="folHlink"/>
              </a:buClr>
              <a:buFont typeface="Wingdings" pitchFamily="2" charset="2"/>
              <a:buChar char="§"/>
            </a:pPr>
            <a:r>
              <a:rPr lang="zh-CN" altLang="en-US" sz="3200">
                <a:solidFill>
                  <a:srgbClr val="000000"/>
                </a:solidFill>
                <a:latin typeface="宋体" pitchFamily="2" charset="-122"/>
              </a:rPr>
              <a:t>指出使用的是</a:t>
            </a:r>
            <a:r>
              <a:rPr lang="en-US" altLang="zh-CN" sz="3200" b="1">
                <a:solidFill>
                  <a:srgbClr val="000000"/>
                </a:solidFill>
                <a:latin typeface="Tahoma" pitchFamily="34" charset="0"/>
              </a:rPr>
              <a:t>3</a:t>
            </a:r>
            <a:r>
              <a:rPr lang="zh-CN" altLang="en-US" sz="3200">
                <a:solidFill>
                  <a:srgbClr val="000000"/>
                </a:solidFill>
                <a:latin typeface="宋体" pitchFamily="2" charset="-122"/>
              </a:rPr>
              <a:t>位还是</a:t>
            </a:r>
            <a:r>
              <a:rPr lang="en-US" altLang="zh-CN" sz="3200" b="1">
                <a:solidFill>
                  <a:srgbClr val="000000"/>
                </a:solidFill>
                <a:latin typeface="Tahoma" pitchFamily="34" charset="0"/>
              </a:rPr>
              <a:t>7</a:t>
            </a:r>
            <a:r>
              <a:rPr lang="zh-CN" altLang="en-US" sz="3200">
                <a:solidFill>
                  <a:srgbClr val="000000"/>
                </a:solidFill>
                <a:latin typeface="宋体" pitchFamily="2" charset="-122"/>
              </a:rPr>
              <a:t>位的序号</a:t>
            </a:r>
            <a:endParaRPr lang="zh-CN" altLang="en-US" sz="32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27395">
                                            <p:txEl>
                                              <p:pRg st="0" end="0"/>
                                            </p:txEl>
                                          </p:spTgt>
                                        </p:tgtEl>
                                        <p:attrNameLst>
                                          <p:attrName>style.visibility</p:attrName>
                                        </p:attrNameLst>
                                      </p:cBhvr>
                                      <p:to>
                                        <p:strVal val="visible"/>
                                      </p:to>
                                    </p:set>
                                    <p:anim calcmode="lin" valueType="num">
                                      <p:cBhvr additive="base">
                                        <p:cTn id="7" dur="500" fill="hold"/>
                                        <p:tgtEl>
                                          <p:spTgt spid="8273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273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27395">
                                            <p:txEl>
                                              <p:pRg st="1" end="1"/>
                                            </p:txEl>
                                          </p:spTgt>
                                        </p:tgtEl>
                                        <p:attrNameLst>
                                          <p:attrName>style.visibility</p:attrName>
                                        </p:attrNameLst>
                                      </p:cBhvr>
                                      <p:to>
                                        <p:strVal val="visible"/>
                                      </p:to>
                                    </p:set>
                                    <p:anim calcmode="lin" valueType="num">
                                      <p:cBhvr additive="base">
                                        <p:cTn id="13" dur="500" fill="hold"/>
                                        <p:tgtEl>
                                          <p:spTgt spid="82739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273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27395">
                                            <p:txEl>
                                              <p:pRg st="2" end="2"/>
                                            </p:txEl>
                                          </p:spTgt>
                                        </p:tgtEl>
                                        <p:attrNameLst>
                                          <p:attrName>style.visibility</p:attrName>
                                        </p:attrNameLst>
                                      </p:cBhvr>
                                      <p:to>
                                        <p:strVal val="visible"/>
                                      </p:to>
                                    </p:set>
                                    <p:anim calcmode="lin" valueType="num">
                                      <p:cBhvr additive="base">
                                        <p:cTn id="19" dur="500" fill="hold"/>
                                        <p:tgtEl>
                                          <p:spTgt spid="82739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273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27395">
                                            <p:txEl>
                                              <p:pRg st="3" end="3"/>
                                            </p:txEl>
                                          </p:spTgt>
                                        </p:tgtEl>
                                        <p:attrNameLst>
                                          <p:attrName>style.visibility</p:attrName>
                                        </p:attrNameLst>
                                      </p:cBhvr>
                                      <p:to>
                                        <p:strVal val="visible"/>
                                      </p:to>
                                    </p:set>
                                    <p:anim calcmode="lin" valueType="num">
                                      <p:cBhvr additive="base">
                                        <p:cTn id="25" dur="500" fill="hold"/>
                                        <p:tgtEl>
                                          <p:spTgt spid="82739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2739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395" grpId="0"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p:cNvSpPr>
            <a:spLocks noGrp="1" noChangeArrowheads="1"/>
          </p:cNvSpPr>
          <p:nvPr>
            <p:ph type="title"/>
          </p:nvPr>
        </p:nvSpPr>
        <p:spPr>
          <a:xfrm>
            <a:off x="2173288" y="0"/>
            <a:ext cx="7772400" cy="1143000"/>
          </a:xfrm>
          <a:noFill/>
        </p:spPr>
        <p:txBody>
          <a:bodyPr/>
          <a:lstStyle/>
          <a:p>
            <a:r>
              <a:rPr lang="en-US" altLang="zh-CN" sz="3600">
                <a:latin typeface="新宋体" pitchFamily="49" charset="-122"/>
                <a:ea typeface="新宋体" pitchFamily="49" charset="-122"/>
              </a:rPr>
              <a:t> </a:t>
            </a:r>
            <a:r>
              <a:rPr lang="zh-CN" altLang="en-US" sz="3600">
                <a:latin typeface="新宋体" pitchFamily="49" charset="-122"/>
                <a:ea typeface="新宋体" pitchFamily="49" charset="-122"/>
              </a:rPr>
              <a:t>操作实例</a:t>
            </a:r>
            <a:r>
              <a:rPr lang="en-US" altLang="zh-CN" sz="3600">
                <a:latin typeface="新宋体" pitchFamily="49" charset="-122"/>
                <a:ea typeface="新宋体" pitchFamily="49" charset="-122"/>
              </a:rPr>
              <a:t>(1) </a:t>
            </a:r>
          </a:p>
        </p:txBody>
      </p:sp>
      <p:pic>
        <p:nvPicPr>
          <p:cNvPr id="8284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489" y="1371600"/>
            <a:ext cx="7534275"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8420" name="Text Box 4"/>
          <p:cNvSpPr txBox="1">
            <a:spLocks noChangeArrowheads="1"/>
          </p:cNvSpPr>
          <p:nvPr/>
        </p:nvSpPr>
        <p:spPr bwMode="auto">
          <a:xfrm>
            <a:off x="3376614" y="2359025"/>
            <a:ext cx="16589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t>置扩充异步平衡模式</a:t>
            </a:r>
          </a:p>
        </p:txBody>
      </p:sp>
      <p:sp>
        <p:nvSpPr>
          <p:cNvPr id="828421" name="Text Box 5"/>
          <p:cNvSpPr txBox="1">
            <a:spLocks noChangeArrowheads="1"/>
          </p:cNvSpPr>
          <p:nvPr/>
        </p:nvSpPr>
        <p:spPr bwMode="auto">
          <a:xfrm>
            <a:off x="3786189" y="3970339"/>
            <a:ext cx="12033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t>无编号确认</a:t>
            </a:r>
          </a:p>
        </p:txBody>
      </p:sp>
      <p:sp>
        <p:nvSpPr>
          <p:cNvPr id="828422" name="Text Box 6"/>
          <p:cNvSpPr txBox="1">
            <a:spLocks noChangeArrowheads="1"/>
          </p:cNvSpPr>
          <p:nvPr/>
        </p:nvSpPr>
        <p:spPr bwMode="auto">
          <a:xfrm>
            <a:off x="9850438" y="2333626"/>
            <a:ext cx="817562"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t>接收未</a:t>
            </a:r>
          </a:p>
          <a:p>
            <a:pPr>
              <a:spcBef>
                <a:spcPct val="50000"/>
              </a:spcBef>
            </a:pPr>
            <a:r>
              <a:rPr lang="zh-CN" altLang="en-US" sz="1200"/>
              <a:t>准备好</a:t>
            </a:r>
          </a:p>
        </p:txBody>
      </p:sp>
      <p:sp>
        <p:nvSpPr>
          <p:cNvPr id="828423" name="Text Box 7"/>
          <p:cNvSpPr txBox="1">
            <a:spLocks noChangeArrowheads="1"/>
          </p:cNvSpPr>
          <p:nvPr/>
        </p:nvSpPr>
        <p:spPr bwMode="auto">
          <a:xfrm>
            <a:off x="9850438" y="3113089"/>
            <a:ext cx="817562"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t>接收 </a:t>
            </a:r>
          </a:p>
          <a:p>
            <a:pPr>
              <a:spcBef>
                <a:spcPct val="50000"/>
              </a:spcBef>
            </a:pPr>
            <a:r>
              <a:rPr lang="zh-CN" altLang="en-US" sz="1200"/>
              <a:t>准备好</a:t>
            </a:r>
          </a:p>
        </p:txBody>
      </p:sp>
    </p:spTree>
  </p:cSld>
  <p:clrMapOvr>
    <a:masterClrMapping/>
  </p:clrMapOvr>
  <p:transition spd="med">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Grp="1" noChangeArrowheads="1"/>
          </p:cNvSpPr>
          <p:nvPr>
            <p:ph type="title"/>
          </p:nvPr>
        </p:nvSpPr>
        <p:spPr>
          <a:xfrm>
            <a:off x="2185988" y="0"/>
            <a:ext cx="7772400" cy="1143000"/>
          </a:xfrm>
          <a:noFill/>
        </p:spPr>
        <p:txBody>
          <a:bodyPr/>
          <a:lstStyle/>
          <a:p>
            <a:r>
              <a:rPr lang="zh-CN" altLang="en-US" sz="3600">
                <a:latin typeface="新宋体" pitchFamily="49" charset="-122"/>
                <a:ea typeface="新宋体" pitchFamily="49" charset="-122"/>
              </a:rPr>
              <a:t>操作实例</a:t>
            </a:r>
            <a:r>
              <a:rPr lang="en-US" altLang="zh-CN" sz="3600">
                <a:latin typeface="新宋体" pitchFamily="49" charset="-122"/>
                <a:ea typeface="新宋体" pitchFamily="49" charset="-122"/>
              </a:rPr>
              <a:t>(2) </a:t>
            </a:r>
          </a:p>
        </p:txBody>
      </p:sp>
      <p:pic>
        <p:nvPicPr>
          <p:cNvPr id="8294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6150" y="1343025"/>
            <a:ext cx="6180138"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9444" name="Text Box 4"/>
          <p:cNvSpPr txBox="1">
            <a:spLocks noChangeArrowheads="1"/>
          </p:cNvSpPr>
          <p:nvPr/>
        </p:nvSpPr>
        <p:spPr bwMode="auto">
          <a:xfrm>
            <a:off x="2608264" y="3752851"/>
            <a:ext cx="14430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solidFill>
                  <a:schemeClr val="hlink"/>
                </a:solidFill>
                <a:latin typeface="Tahoma" pitchFamily="34" charset="0"/>
              </a:rPr>
              <a:t>拒绝第</a:t>
            </a:r>
            <a:r>
              <a:rPr lang="en-US" altLang="zh-CN" sz="1200">
                <a:solidFill>
                  <a:schemeClr val="hlink"/>
                </a:solidFill>
                <a:latin typeface="Tahoma" pitchFamily="34" charset="0"/>
              </a:rPr>
              <a:t>4</a:t>
            </a:r>
            <a:r>
              <a:rPr lang="zh-CN" altLang="en-US" sz="1200">
                <a:solidFill>
                  <a:schemeClr val="hlink"/>
                </a:solidFill>
                <a:latin typeface="Tahoma" pitchFamily="34" charset="0"/>
              </a:rPr>
              <a:t>帧</a:t>
            </a:r>
          </a:p>
          <a:p>
            <a:pPr>
              <a:spcBef>
                <a:spcPct val="50000"/>
              </a:spcBef>
            </a:pPr>
            <a:r>
              <a:rPr lang="zh-CN" altLang="en-US" sz="1200">
                <a:solidFill>
                  <a:schemeClr val="hlink"/>
                </a:solidFill>
                <a:latin typeface="Tahoma" pitchFamily="34" charset="0"/>
              </a:rPr>
              <a:t>以后的所有帧</a:t>
            </a:r>
          </a:p>
        </p:txBody>
      </p:sp>
      <p:sp>
        <p:nvSpPr>
          <p:cNvPr id="829445" name="Text Box 5"/>
          <p:cNvSpPr txBox="1">
            <a:spLocks noChangeArrowheads="1"/>
          </p:cNvSpPr>
          <p:nvPr/>
        </p:nvSpPr>
        <p:spPr bwMode="auto">
          <a:xfrm>
            <a:off x="9488488" y="4211639"/>
            <a:ext cx="11795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solidFill>
                  <a:schemeClr val="hlink"/>
                </a:solidFill>
                <a:latin typeface="Tahoma" pitchFamily="34" charset="0"/>
              </a:rPr>
              <a:t>请求 对方响应</a:t>
            </a:r>
          </a:p>
        </p:txBody>
      </p:sp>
      <p:sp>
        <p:nvSpPr>
          <p:cNvPr id="829446" name="Text Box 6"/>
          <p:cNvSpPr txBox="1">
            <a:spLocks noChangeArrowheads="1"/>
          </p:cNvSpPr>
          <p:nvPr/>
        </p:nvSpPr>
        <p:spPr bwMode="auto">
          <a:xfrm>
            <a:off x="9512300" y="4595813"/>
            <a:ext cx="1155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a:solidFill>
                  <a:schemeClr val="hlink"/>
                </a:solidFill>
                <a:latin typeface="Tahoma" pitchFamily="34" charset="0"/>
              </a:rPr>
              <a:t>对请求命令的响应</a:t>
            </a:r>
          </a:p>
        </p:txBody>
      </p:sp>
    </p:spTree>
  </p:cSld>
  <p:clrMapOvr>
    <a:masterClrMapping/>
  </p:clrMapOvr>
  <p:transition spd="med">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ChangeArrowheads="1"/>
          </p:cNvSpPr>
          <p:nvPr>
            <p:ph type="title"/>
          </p:nvPr>
        </p:nvSpPr>
        <p:spPr>
          <a:xfrm>
            <a:off x="165100" y="0"/>
            <a:ext cx="9840913" cy="889000"/>
          </a:xfrm>
          <a:noFill/>
        </p:spPr>
        <p:txBody>
          <a:bodyPr/>
          <a:lstStyle/>
          <a:p>
            <a:pPr algn="l"/>
            <a:r>
              <a:rPr lang="en-US" altLang="zh-CN" sz="3600">
                <a:latin typeface="新宋体" pitchFamily="49" charset="-122"/>
                <a:ea typeface="新宋体" pitchFamily="49" charset="-122"/>
              </a:rPr>
              <a:t>4.6.2 Internet</a:t>
            </a:r>
            <a:r>
              <a:rPr lang="zh-CN" altLang="en-US" sz="3600">
                <a:latin typeface="新宋体" pitchFamily="49" charset="-122"/>
                <a:ea typeface="新宋体" pitchFamily="49" charset="-122"/>
              </a:rPr>
              <a:t>数据链路层</a:t>
            </a:r>
          </a:p>
        </p:txBody>
      </p:sp>
      <p:sp>
        <p:nvSpPr>
          <p:cNvPr id="830467" name="Text Box 3"/>
          <p:cNvSpPr txBox="1">
            <a:spLocks noChangeArrowheads="1"/>
          </p:cNvSpPr>
          <p:nvPr/>
        </p:nvSpPr>
        <p:spPr bwMode="auto">
          <a:xfrm>
            <a:off x="2330450" y="3570288"/>
            <a:ext cx="7970838" cy="239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kumimoji="1" sz="2400">
                <a:solidFill>
                  <a:schemeClr val="tx1"/>
                </a:solidFill>
                <a:latin typeface="Times New Roman" pitchFamily="18" charset="0"/>
                <a:ea typeface="宋体" pitchFamily="2" charset="-122"/>
              </a:defRPr>
            </a:lvl1pPr>
            <a:lvl2pPr marL="57150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spcBef>
                <a:spcPct val="10000"/>
              </a:spcBef>
              <a:buClr>
                <a:schemeClr val="folHlink"/>
              </a:buClr>
              <a:buSzPct val="75000"/>
              <a:buFont typeface="Wingdings" pitchFamily="2" charset="2"/>
              <a:buChar char="Ø"/>
            </a:pPr>
            <a:r>
              <a:rPr kumimoji="0" lang="zh-CN" altLang="en-US" sz="2800"/>
              <a:t>点到点链路</a:t>
            </a:r>
          </a:p>
          <a:p>
            <a:pPr eaLnBrk="0" hangingPunct="0">
              <a:spcBef>
                <a:spcPct val="10000"/>
              </a:spcBef>
              <a:buClr>
                <a:schemeClr val="folHlink"/>
              </a:buClr>
              <a:buSzPct val="75000"/>
              <a:buFont typeface="Wingdings" pitchFamily="2" charset="2"/>
              <a:buChar char="Ø"/>
            </a:pPr>
            <a:r>
              <a:rPr kumimoji="0" lang="zh-CN" altLang="en-US" sz="2800"/>
              <a:t>路由器</a:t>
            </a:r>
            <a:r>
              <a:rPr kumimoji="0" lang="en-US" altLang="zh-CN" sz="2800"/>
              <a:t>--</a:t>
            </a:r>
            <a:r>
              <a:rPr kumimoji="0" lang="zh-CN" altLang="en-US" sz="2800"/>
              <a:t>路由器租用线路 </a:t>
            </a:r>
            <a:r>
              <a:rPr kumimoji="0" lang="en-US" altLang="zh-CN" sz="2800"/>
              <a:t>(PPP)</a:t>
            </a:r>
          </a:p>
          <a:p>
            <a:pPr eaLnBrk="0" hangingPunct="0">
              <a:spcBef>
                <a:spcPct val="10000"/>
              </a:spcBef>
              <a:buClr>
                <a:schemeClr val="folHlink"/>
              </a:buClr>
              <a:buSzPct val="75000"/>
              <a:buFont typeface="Wingdings" pitchFamily="2" charset="2"/>
              <a:buChar char="Ø"/>
            </a:pPr>
            <a:r>
              <a:rPr kumimoji="0" lang="zh-CN" altLang="en-US" sz="2800"/>
              <a:t>拨号主机</a:t>
            </a:r>
            <a:r>
              <a:rPr kumimoji="0" lang="en-US" altLang="zh-CN" sz="2800"/>
              <a:t>--</a:t>
            </a:r>
            <a:r>
              <a:rPr kumimoji="0" lang="zh-CN" altLang="en-US" sz="2800"/>
              <a:t>路由器连接 </a:t>
            </a:r>
            <a:r>
              <a:rPr kumimoji="0" lang="en-US" altLang="zh-CN" sz="2800"/>
              <a:t>(old SLIP, now PPP)</a:t>
            </a:r>
          </a:p>
          <a:p>
            <a:pPr eaLnBrk="0" hangingPunct="0">
              <a:spcBef>
                <a:spcPct val="10000"/>
              </a:spcBef>
              <a:buClr>
                <a:schemeClr val="folHlink"/>
              </a:buClr>
              <a:buSzPct val="75000"/>
              <a:buFont typeface="Wingdings" pitchFamily="2" charset="2"/>
              <a:buChar char="Ø"/>
            </a:pPr>
            <a:r>
              <a:rPr kumimoji="0" lang="en-US" altLang="zh-CN" sz="2800"/>
              <a:t>SLIP: </a:t>
            </a:r>
            <a:r>
              <a:rPr kumimoji="0" lang="zh-CN" altLang="en-US" sz="2800"/>
              <a:t>非推荐的</a:t>
            </a:r>
            <a:r>
              <a:rPr kumimoji="0" lang="en-US" altLang="zh-CN" sz="2800"/>
              <a:t>Internet</a:t>
            </a:r>
            <a:r>
              <a:rPr kumimoji="0" lang="zh-CN" altLang="en-US" sz="2800"/>
              <a:t>标准 </a:t>
            </a:r>
            <a:r>
              <a:rPr kumimoji="0" lang="zh-CN" altLang="en-US" sz="2800">
                <a:latin typeface="Symbol" pitchFamily="18" charset="2"/>
              </a:rPr>
              <a:t></a:t>
            </a:r>
            <a:r>
              <a:rPr kumimoji="0" lang="zh-CN" altLang="en-US" sz="2800"/>
              <a:t> 不兼容</a:t>
            </a:r>
          </a:p>
          <a:p>
            <a:pPr eaLnBrk="0" hangingPunct="0">
              <a:spcBef>
                <a:spcPct val="10000"/>
              </a:spcBef>
              <a:buClr>
                <a:schemeClr val="folHlink"/>
              </a:buClr>
              <a:buSzPct val="75000"/>
              <a:buFont typeface="Wingdings" pitchFamily="2" charset="2"/>
              <a:buChar char="Ø"/>
            </a:pPr>
            <a:r>
              <a:rPr kumimoji="0" lang="en-US" altLang="zh-CN" sz="2800"/>
              <a:t>PPP: </a:t>
            </a:r>
            <a:r>
              <a:rPr kumimoji="0" lang="zh-CN" altLang="en-US" sz="2800"/>
              <a:t>推荐的</a:t>
            </a:r>
            <a:r>
              <a:rPr kumimoji="0" lang="en-US" altLang="zh-CN" sz="2800"/>
              <a:t>Internet </a:t>
            </a:r>
            <a:r>
              <a:rPr kumimoji="0" lang="zh-CN" altLang="en-US" sz="2800"/>
              <a:t>标准。</a:t>
            </a:r>
          </a:p>
        </p:txBody>
      </p:sp>
      <p:pic>
        <p:nvPicPr>
          <p:cNvPr id="830468"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4063" y="1241426"/>
            <a:ext cx="5981700" cy="223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30468"/>
                                        </p:tgtEl>
                                        <p:attrNameLst>
                                          <p:attrName>style.visibility</p:attrName>
                                        </p:attrNameLst>
                                      </p:cBhvr>
                                      <p:to>
                                        <p:strVal val="visible"/>
                                      </p:to>
                                    </p:set>
                                    <p:anim calcmode="lin" valueType="num">
                                      <p:cBhvr additive="base">
                                        <p:cTn id="7" dur="500" fill="hold"/>
                                        <p:tgtEl>
                                          <p:spTgt spid="830468"/>
                                        </p:tgtEl>
                                        <p:attrNameLst>
                                          <p:attrName>ppt_x</p:attrName>
                                        </p:attrNameLst>
                                      </p:cBhvr>
                                      <p:tavLst>
                                        <p:tav tm="0">
                                          <p:val>
                                            <p:strVal val="1+#ppt_w/2"/>
                                          </p:val>
                                        </p:tav>
                                        <p:tav tm="100000">
                                          <p:val>
                                            <p:strVal val="#ppt_x"/>
                                          </p:val>
                                        </p:tav>
                                      </p:tavLst>
                                    </p:anim>
                                    <p:anim calcmode="lin" valueType="num">
                                      <p:cBhvr additive="base">
                                        <p:cTn id="8" dur="500" fill="hold"/>
                                        <p:tgtEl>
                                          <p:spTgt spid="83046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30467">
                                            <p:txEl>
                                              <p:pRg st="0" end="0"/>
                                            </p:txEl>
                                          </p:spTgt>
                                        </p:tgtEl>
                                        <p:attrNameLst>
                                          <p:attrName>style.visibility</p:attrName>
                                        </p:attrNameLst>
                                      </p:cBhvr>
                                      <p:to>
                                        <p:strVal val="visible"/>
                                      </p:to>
                                    </p:set>
                                    <p:anim calcmode="lin" valueType="num">
                                      <p:cBhvr additive="base">
                                        <p:cTn id="13" dur="500" fill="hold"/>
                                        <p:tgtEl>
                                          <p:spTgt spid="830467">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304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30467">
                                            <p:txEl>
                                              <p:pRg st="1" end="1"/>
                                            </p:txEl>
                                          </p:spTgt>
                                        </p:tgtEl>
                                        <p:attrNameLst>
                                          <p:attrName>style.visibility</p:attrName>
                                        </p:attrNameLst>
                                      </p:cBhvr>
                                      <p:to>
                                        <p:strVal val="visible"/>
                                      </p:to>
                                    </p:set>
                                    <p:anim calcmode="lin" valueType="num">
                                      <p:cBhvr additive="base">
                                        <p:cTn id="19" dur="500" fill="hold"/>
                                        <p:tgtEl>
                                          <p:spTgt spid="830467">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304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30467">
                                            <p:txEl>
                                              <p:pRg st="2" end="2"/>
                                            </p:txEl>
                                          </p:spTgt>
                                        </p:tgtEl>
                                        <p:attrNameLst>
                                          <p:attrName>style.visibility</p:attrName>
                                        </p:attrNameLst>
                                      </p:cBhvr>
                                      <p:to>
                                        <p:strVal val="visible"/>
                                      </p:to>
                                    </p:set>
                                    <p:anim calcmode="lin" valueType="num">
                                      <p:cBhvr additive="base">
                                        <p:cTn id="25" dur="500" fill="hold"/>
                                        <p:tgtEl>
                                          <p:spTgt spid="830467">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304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30467">
                                            <p:txEl>
                                              <p:pRg st="3" end="3"/>
                                            </p:txEl>
                                          </p:spTgt>
                                        </p:tgtEl>
                                        <p:attrNameLst>
                                          <p:attrName>style.visibility</p:attrName>
                                        </p:attrNameLst>
                                      </p:cBhvr>
                                      <p:to>
                                        <p:strVal val="visible"/>
                                      </p:to>
                                    </p:set>
                                    <p:anim calcmode="lin" valueType="num">
                                      <p:cBhvr additive="base">
                                        <p:cTn id="31" dur="500" fill="hold"/>
                                        <p:tgtEl>
                                          <p:spTgt spid="830467">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304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30467">
                                            <p:txEl>
                                              <p:pRg st="4" end="4"/>
                                            </p:txEl>
                                          </p:spTgt>
                                        </p:tgtEl>
                                        <p:attrNameLst>
                                          <p:attrName>style.visibility</p:attrName>
                                        </p:attrNameLst>
                                      </p:cBhvr>
                                      <p:to>
                                        <p:strVal val="visible"/>
                                      </p:to>
                                    </p:set>
                                    <p:anim calcmode="lin" valueType="num">
                                      <p:cBhvr additive="base">
                                        <p:cTn id="37" dur="500" fill="hold"/>
                                        <p:tgtEl>
                                          <p:spTgt spid="830467">
                                            <p:txEl>
                                              <p:pRg st="4" end="4"/>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3046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0467" grpId="0" build="p"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ChangeArrowheads="1"/>
          </p:cNvSpPr>
          <p:nvPr>
            <p:ph type="title"/>
          </p:nvPr>
        </p:nvSpPr>
        <p:spPr>
          <a:xfrm>
            <a:off x="2246313" y="0"/>
            <a:ext cx="7772400" cy="1143000"/>
          </a:xfrm>
          <a:noFill/>
        </p:spPr>
        <p:txBody>
          <a:bodyPr/>
          <a:lstStyle/>
          <a:p>
            <a:r>
              <a:rPr lang="en-US" altLang="zh-CN" sz="3600">
                <a:latin typeface="新宋体" pitchFamily="49" charset="-122"/>
                <a:ea typeface="新宋体" pitchFamily="49" charset="-122"/>
              </a:rPr>
              <a:t>Serial IP (SLIP)</a:t>
            </a:r>
          </a:p>
        </p:txBody>
      </p:sp>
      <p:sp>
        <p:nvSpPr>
          <p:cNvPr id="831491" name="Text Box 3"/>
          <p:cNvSpPr txBox="1">
            <a:spLocks noChangeArrowheads="1"/>
          </p:cNvSpPr>
          <p:nvPr/>
        </p:nvSpPr>
        <p:spPr bwMode="auto">
          <a:xfrm>
            <a:off x="2619376" y="2960688"/>
            <a:ext cx="7313613"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        </a:t>
            </a:r>
            <a:r>
              <a:rPr lang="zh-CN" altLang="en-US"/>
              <a:t>如果标志字节</a:t>
            </a:r>
            <a:r>
              <a:rPr lang="en-US" altLang="zh-CN"/>
              <a:t>(</a:t>
            </a:r>
            <a:r>
              <a:rPr lang="en-US" altLang="zh-CN">
                <a:solidFill>
                  <a:schemeClr val="hlink"/>
                </a:solidFill>
              </a:rPr>
              <a:t>0xC0</a:t>
            </a:r>
            <a:r>
              <a:rPr lang="en-US" altLang="zh-CN"/>
              <a:t>)</a:t>
            </a:r>
            <a:r>
              <a:rPr lang="zh-CN" altLang="en-US"/>
              <a:t>出现在</a:t>
            </a:r>
            <a:r>
              <a:rPr lang="en-US" altLang="zh-CN"/>
              <a:t>IP</a:t>
            </a:r>
            <a:r>
              <a:rPr lang="zh-CN" altLang="en-US"/>
              <a:t>数据报内部，就使用一种字符填充形式来</a:t>
            </a:r>
            <a:r>
              <a:rPr lang="zh-CN" altLang="en-US">
                <a:solidFill>
                  <a:schemeClr val="hlink"/>
                </a:solidFill>
              </a:rPr>
              <a:t>转义</a:t>
            </a:r>
            <a:r>
              <a:rPr lang="zh-CN" altLang="en-US"/>
              <a:t>，在其位置上顺序发送两个字节</a:t>
            </a:r>
            <a:r>
              <a:rPr lang="en-US" altLang="zh-CN">
                <a:solidFill>
                  <a:schemeClr val="hlink"/>
                </a:solidFill>
              </a:rPr>
              <a:t>0xDB,0xDC</a:t>
            </a:r>
            <a:r>
              <a:rPr lang="zh-CN" altLang="en-US"/>
              <a:t>。如果</a:t>
            </a:r>
            <a:r>
              <a:rPr lang="en-US" altLang="zh-CN">
                <a:solidFill>
                  <a:schemeClr val="folHlink"/>
                </a:solidFill>
              </a:rPr>
              <a:t>0xDB</a:t>
            </a:r>
            <a:r>
              <a:rPr lang="zh-CN" altLang="en-US"/>
              <a:t>出现在</a:t>
            </a:r>
            <a:r>
              <a:rPr lang="en-US" altLang="zh-CN"/>
              <a:t>IP</a:t>
            </a:r>
            <a:r>
              <a:rPr lang="zh-CN" altLang="en-US"/>
              <a:t>数据报内部，则也要填充为</a:t>
            </a:r>
            <a:r>
              <a:rPr lang="en-US" altLang="zh-CN">
                <a:solidFill>
                  <a:schemeClr val="folHlink"/>
                </a:solidFill>
              </a:rPr>
              <a:t>0xDB,0xDD</a:t>
            </a:r>
            <a:r>
              <a:rPr lang="zh-CN" altLang="en-US"/>
              <a:t>。 </a:t>
            </a:r>
          </a:p>
        </p:txBody>
      </p:sp>
      <p:sp>
        <p:nvSpPr>
          <p:cNvPr id="831492" name="Text Box 4"/>
          <p:cNvSpPr txBox="1">
            <a:spLocks noChangeArrowheads="1"/>
          </p:cNvSpPr>
          <p:nvPr/>
        </p:nvSpPr>
        <p:spPr bwMode="auto">
          <a:xfrm>
            <a:off x="4002089" y="1360488"/>
            <a:ext cx="40909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 </a:t>
            </a:r>
            <a:r>
              <a:rPr kumimoji="0" lang="en-US" altLang="zh-CN"/>
              <a:t>RFCs: 1055, 1144</a:t>
            </a:r>
            <a:endParaRPr lang="en-US" altLang="zh-CN"/>
          </a:p>
        </p:txBody>
      </p:sp>
      <p:grpSp>
        <p:nvGrpSpPr>
          <p:cNvPr id="831493" name="Group 5"/>
          <p:cNvGrpSpPr/>
          <p:nvPr/>
        </p:nvGrpSpPr>
        <p:grpSpPr bwMode="auto">
          <a:xfrm>
            <a:off x="3484564" y="2165351"/>
            <a:ext cx="5102225" cy="555625"/>
            <a:chOff x="667" y="1743"/>
            <a:chExt cx="3214" cy="350"/>
          </a:xfrm>
        </p:grpSpPr>
        <p:sp>
          <p:nvSpPr>
            <p:cNvPr id="831494" name="Text Box 6"/>
            <p:cNvSpPr txBox="1">
              <a:spLocks noChangeArrowheads="1"/>
            </p:cNvSpPr>
            <p:nvPr/>
          </p:nvSpPr>
          <p:spPr bwMode="auto">
            <a:xfrm>
              <a:off x="667" y="1743"/>
              <a:ext cx="3214" cy="33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0xc0         IP</a:t>
              </a:r>
              <a:r>
                <a:rPr lang="zh-CN" altLang="en-US"/>
                <a:t>分组           </a:t>
              </a:r>
              <a:r>
                <a:rPr lang="en-US" altLang="zh-CN"/>
                <a:t>0xc0</a:t>
              </a:r>
            </a:p>
          </p:txBody>
        </p:sp>
        <p:sp>
          <p:nvSpPr>
            <p:cNvPr id="831495" name="Line 7"/>
            <p:cNvSpPr>
              <a:spLocks noChangeShapeType="1"/>
            </p:cNvSpPr>
            <p:nvPr/>
          </p:nvSpPr>
          <p:spPr bwMode="auto">
            <a:xfrm flipH="1">
              <a:off x="1409" y="1758"/>
              <a:ext cx="1" cy="335"/>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31496" name="Line 8"/>
            <p:cNvSpPr>
              <a:spLocks noChangeShapeType="1"/>
            </p:cNvSpPr>
            <p:nvPr/>
          </p:nvSpPr>
          <p:spPr bwMode="auto">
            <a:xfrm>
              <a:off x="2653" y="1743"/>
              <a:ext cx="0" cy="334"/>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31493"/>
                                        </p:tgtEl>
                                        <p:attrNameLst>
                                          <p:attrName>style.visibility</p:attrName>
                                        </p:attrNameLst>
                                      </p:cBhvr>
                                      <p:to>
                                        <p:strVal val="visible"/>
                                      </p:to>
                                    </p:set>
                                    <p:anim calcmode="lin" valueType="num">
                                      <p:cBhvr additive="base">
                                        <p:cTn id="7" dur="500" fill="hold"/>
                                        <p:tgtEl>
                                          <p:spTgt spid="831493"/>
                                        </p:tgtEl>
                                        <p:attrNameLst>
                                          <p:attrName>ppt_x</p:attrName>
                                        </p:attrNameLst>
                                      </p:cBhvr>
                                      <p:tavLst>
                                        <p:tav tm="0">
                                          <p:val>
                                            <p:strVal val="1+#ppt_w/2"/>
                                          </p:val>
                                        </p:tav>
                                        <p:tav tm="100000">
                                          <p:val>
                                            <p:strVal val="#ppt_x"/>
                                          </p:val>
                                        </p:tav>
                                      </p:tavLst>
                                    </p:anim>
                                    <p:anim calcmode="lin" valueType="num">
                                      <p:cBhvr additive="base">
                                        <p:cTn id="8" dur="500" fill="hold"/>
                                        <p:tgtEl>
                                          <p:spTgt spid="83149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31491">
                                            <p:txEl>
                                              <p:pRg st="0" end="0"/>
                                            </p:txEl>
                                          </p:spTgt>
                                        </p:tgtEl>
                                        <p:attrNameLst>
                                          <p:attrName>style.visibility</p:attrName>
                                        </p:attrNameLst>
                                      </p:cBhvr>
                                      <p:to>
                                        <p:strVal val="visible"/>
                                      </p:to>
                                    </p:set>
                                    <p:anim calcmode="lin" valueType="num">
                                      <p:cBhvr additive="base">
                                        <p:cTn id="13" dur="500" fill="hold"/>
                                        <p:tgtEl>
                                          <p:spTgt spid="831491">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3149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1491"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ChangeArrowheads="1"/>
          </p:cNvSpPr>
          <p:nvPr>
            <p:ph type="title"/>
          </p:nvPr>
        </p:nvSpPr>
        <p:spPr>
          <a:xfrm>
            <a:off x="2222500" y="0"/>
            <a:ext cx="7772400" cy="1143000"/>
          </a:xfrm>
          <a:noFill/>
        </p:spPr>
        <p:txBody>
          <a:bodyPr/>
          <a:lstStyle/>
          <a:p>
            <a:r>
              <a:rPr lang="en-US" altLang="zh-CN" sz="3600">
                <a:latin typeface="新宋体" pitchFamily="49" charset="-122"/>
                <a:ea typeface="新宋体" pitchFamily="49" charset="-122"/>
              </a:rPr>
              <a:t>Serial IP (SLIP)</a:t>
            </a:r>
          </a:p>
        </p:txBody>
      </p:sp>
      <p:sp>
        <p:nvSpPr>
          <p:cNvPr id="832515" name="Text Box 3"/>
          <p:cNvSpPr txBox="1">
            <a:spLocks noChangeArrowheads="1"/>
          </p:cNvSpPr>
          <p:nvPr/>
        </p:nvSpPr>
        <p:spPr bwMode="auto">
          <a:xfrm>
            <a:off x="2208213" y="1284289"/>
            <a:ext cx="7797800" cy="3722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a:defRPr kumimoji="1" sz="2400">
                <a:solidFill>
                  <a:schemeClr val="tx1"/>
                </a:solidFill>
                <a:latin typeface="Times New Roman" pitchFamily="18" charset="0"/>
                <a:ea typeface="宋体" pitchFamily="2" charset="-122"/>
              </a:defRPr>
            </a:lvl1pPr>
            <a:lvl2pPr marL="781050" indent="-304800">
              <a:defRPr kumimoji="1" sz="2400">
                <a:solidFill>
                  <a:schemeClr val="tx1"/>
                </a:solidFill>
                <a:latin typeface="Times New Roman" pitchFamily="18" charset="0"/>
                <a:ea typeface="宋体" pitchFamily="2" charset="-122"/>
              </a:defRPr>
            </a:lvl2pPr>
            <a:lvl3pPr marL="1238250">
              <a:defRPr kumimoji="1" sz="2400">
                <a:solidFill>
                  <a:schemeClr val="tx1"/>
                </a:solidFill>
                <a:latin typeface="Times New Roman" pitchFamily="18" charset="0"/>
                <a:ea typeface="宋体" pitchFamily="2" charset="-122"/>
              </a:defRPr>
            </a:lvl3pPr>
            <a:lvl4pPr marL="1428750">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spcBef>
                <a:spcPct val="10000"/>
              </a:spcBef>
              <a:buClr>
                <a:schemeClr val="folHlink"/>
              </a:buClr>
              <a:buSzPct val="75000"/>
              <a:buFont typeface="Wingdings" pitchFamily="2" charset="2"/>
              <a:buChar char="ü"/>
            </a:pPr>
            <a:r>
              <a:rPr kumimoji="0" lang="zh-CN" altLang="en-US" sz="2800" b="1">
                <a:solidFill>
                  <a:schemeClr val="folHlink"/>
                </a:solidFill>
              </a:rPr>
              <a:t>简单</a:t>
            </a:r>
            <a:r>
              <a:rPr kumimoji="0" lang="zh-CN" altLang="en-US" sz="2800" b="1"/>
              <a:t>： </a:t>
            </a:r>
            <a:r>
              <a:rPr kumimoji="0" lang="en-US" altLang="zh-CN" sz="2800" b="1"/>
              <a:t>only framing = Flags + byte-stuffing</a:t>
            </a:r>
          </a:p>
          <a:p>
            <a:pPr eaLnBrk="0" hangingPunct="0">
              <a:spcBef>
                <a:spcPct val="10000"/>
              </a:spcBef>
              <a:buClr>
                <a:schemeClr val="folHlink"/>
              </a:buClr>
              <a:buSzPct val="75000"/>
              <a:buFont typeface="Wingdings" pitchFamily="2" charset="2"/>
              <a:buChar char="ü"/>
            </a:pPr>
            <a:r>
              <a:rPr kumimoji="0" lang="zh-CN" altLang="en-US" sz="2800" b="1"/>
              <a:t>可选择对报头进行</a:t>
            </a:r>
            <a:r>
              <a:rPr kumimoji="0" lang="zh-CN" altLang="en-US" sz="2800" b="1">
                <a:solidFill>
                  <a:schemeClr val="folHlink"/>
                </a:solidFill>
              </a:rPr>
              <a:t>压缩</a:t>
            </a:r>
            <a:r>
              <a:rPr kumimoji="0" lang="zh-CN" altLang="en-US" sz="2800" b="1"/>
              <a:t> </a:t>
            </a:r>
            <a:r>
              <a:rPr kumimoji="0" lang="en-US" altLang="zh-CN" sz="2800" b="1"/>
              <a:t>(CSLIP) </a:t>
            </a:r>
            <a:r>
              <a:rPr kumimoji="0" lang="zh-CN" altLang="en-US" sz="2800" b="1"/>
              <a:t>以提高效率。</a:t>
            </a:r>
          </a:p>
          <a:p>
            <a:pPr eaLnBrk="0" hangingPunct="0">
              <a:spcBef>
                <a:spcPct val="10000"/>
              </a:spcBef>
              <a:buClr>
                <a:schemeClr val="folHlink"/>
              </a:buClr>
              <a:buSzPct val="75000"/>
              <a:buFont typeface="Wingdings" pitchFamily="2" charset="2"/>
              <a:buChar char="ü"/>
            </a:pPr>
            <a:r>
              <a:rPr kumimoji="0" lang="zh-CN" altLang="en-US" sz="2800" b="1">
                <a:solidFill>
                  <a:schemeClr val="folHlink"/>
                </a:solidFill>
              </a:rPr>
              <a:t>问题</a:t>
            </a:r>
            <a:r>
              <a:rPr kumimoji="0" lang="zh-CN" altLang="en-US" sz="2800" b="1"/>
              <a:t>：</a:t>
            </a:r>
          </a:p>
          <a:p>
            <a:pPr lvl="1" eaLnBrk="0" hangingPunct="0">
              <a:spcBef>
                <a:spcPct val="10000"/>
              </a:spcBef>
              <a:buClr>
                <a:schemeClr val="hlink"/>
              </a:buClr>
              <a:buSzPct val="75000"/>
              <a:buFont typeface="Wingdings" pitchFamily="2" charset="2"/>
              <a:buChar char="v"/>
            </a:pPr>
            <a:r>
              <a:rPr kumimoji="0" lang="zh-CN" altLang="en-US" sz="2800" b="1"/>
              <a:t>需要预先了解对方的 </a:t>
            </a:r>
            <a:r>
              <a:rPr kumimoji="0" lang="en-US" altLang="zh-CN" sz="2800" b="1"/>
              <a:t>IP </a:t>
            </a:r>
            <a:r>
              <a:rPr kumimoji="0" lang="zh-CN" altLang="en-US" sz="2800" b="1"/>
              <a:t>地址 </a:t>
            </a:r>
            <a:r>
              <a:rPr kumimoji="0" lang="en-US" altLang="zh-CN" sz="2800" b="1"/>
              <a:t>(</a:t>
            </a:r>
            <a:r>
              <a:rPr kumimoji="0" lang="zh-CN" altLang="en-US" sz="2800" b="1"/>
              <a:t>不能动态分配 </a:t>
            </a:r>
            <a:r>
              <a:rPr kumimoji="0" lang="en-US" altLang="zh-CN" sz="2800" b="1"/>
              <a:t>IP</a:t>
            </a:r>
            <a:r>
              <a:rPr kumimoji="0" lang="zh-CN" altLang="en-US" sz="2800" b="1"/>
              <a:t>地址</a:t>
            </a:r>
            <a:r>
              <a:rPr kumimoji="0" lang="en-US" altLang="zh-CN" sz="2800" b="1"/>
              <a:t>)</a:t>
            </a:r>
          </a:p>
          <a:p>
            <a:pPr lvl="1" eaLnBrk="0" hangingPunct="0">
              <a:spcBef>
                <a:spcPct val="10000"/>
              </a:spcBef>
              <a:buClr>
                <a:schemeClr val="hlink"/>
              </a:buClr>
              <a:buSzPct val="75000"/>
              <a:buFont typeface="Wingdings" pitchFamily="2" charset="2"/>
              <a:buChar char="v"/>
            </a:pPr>
            <a:r>
              <a:rPr kumimoji="0" lang="zh-CN" altLang="en-US" sz="2800" b="1"/>
              <a:t>无 “</a:t>
            </a:r>
            <a:r>
              <a:rPr kumimoji="0" lang="en-US" altLang="zh-CN" sz="2800" b="1"/>
              <a:t>type” </a:t>
            </a:r>
            <a:r>
              <a:rPr kumimoji="0" lang="zh-CN" altLang="en-US" sz="2800" b="1"/>
              <a:t>域 </a:t>
            </a:r>
            <a:r>
              <a:rPr kumimoji="0" lang="en-US" altLang="zh-CN" sz="2800" b="1"/>
              <a:t>=&gt;</a:t>
            </a:r>
            <a:r>
              <a:rPr kumimoji="0" lang="zh-CN" altLang="en-US" sz="2800" b="1"/>
              <a:t>不能多路协议封装</a:t>
            </a:r>
          </a:p>
          <a:p>
            <a:pPr lvl="1" eaLnBrk="0" hangingPunct="0">
              <a:spcBef>
                <a:spcPct val="10000"/>
              </a:spcBef>
              <a:buClr>
                <a:schemeClr val="hlink"/>
              </a:buClr>
              <a:buSzPct val="75000"/>
              <a:buFont typeface="Wingdings" pitchFamily="2" charset="2"/>
              <a:buChar char="v"/>
            </a:pPr>
            <a:r>
              <a:rPr kumimoji="0" lang="zh-CN" altLang="en-US" sz="2800" b="1"/>
              <a:t>无校验和 </a:t>
            </a:r>
            <a:r>
              <a:rPr kumimoji="0" lang="en-US" altLang="zh-CN" sz="2800" b="1"/>
              <a:t>=&gt; </a:t>
            </a:r>
            <a:r>
              <a:rPr kumimoji="0" lang="zh-CN" altLang="en-US" sz="2800" b="1"/>
              <a:t>所有的错误检测</a:t>
            </a:r>
            <a:r>
              <a:rPr kumimoji="0" lang="en-US" altLang="zh-CN" sz="2800" b="1"/>
              <a:t>/</a:t>
            </a:r>
            <a:r>
              <a:rPr kumimoji="0" lang="zh-CN" altLang="en-US" sz="2800" b="1"/>
              <a:t>纠正均由高层进行。</a:t>
            </a:r>
            <a:endParaRPr lang="zh-CN" altLang="en-US" sz="2800" b="1"/>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32515">
                                            <p:txEl>
                                              <p:pRg st="0" end="0"/>
                                            </p:txEl>
                                          </p:spTgt>
                                        </p:tgtEl>
                                        <p:attrNameLst>
                                          <p:attrName>style.visibility</p:attrName>
                                        </p:attrNameLst>
                                      </p:cBhvr>
                                      <p:to>
                                        <p:strVal val="visible"/>
                                      </p:to>
                                    </p:set>
                                    <p:anim calcmode="lin" valueType="num">
                                      <p:cBhvr additive="base">
                                        <p:cTn id="7" dur="500" fill="hold"/>
                                        <p:tgtEl>
                                          <p:spTgt spid="8325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325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32515">
                                            <p:txEl>
                                              <p:pRg st="1" end="1"/>
                                            </p:txEl>
                                          </p:spTgt>
                                        </p:tgtEl>
                                        <p:attrNameLst>
                                          <p:attrName>style.visibility</p:attrName>
                                        </p:attrNameLst>
                                      </p:cBhvr>
                                      <p:to>
                                        <p:strVal val="visible"/>
                                      </p:to>
                                    </p:set>
                                    <p:anim calcmode="lin" valueType="num">
                                      <p:cBhvr additive="base">
                                        <p:cTn id="13" dur="500" fill="hold"/>
                                        <p:tgtEl>
                                          <p:spTgt spid="83251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325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32515">
                                            <p:txEl>
                                              <p:pRg st="2" end="2"/>
                                            </p:txEl>
                                          </p:spTgt>
                                        </p:tgtEl>
                                        <p:attrNameLst>
                                          <p:attrName>style.visibility</p:attrName>
                                        </p:attrNameLst>
                                      </p:cBhvr>
                                      <p:to>
                                        <p:strVal val="visible"/>
                                      </p:to>
                                    </p:set>
                                    <p:anim calcmode="lin" valueType="num">
                                      <p:cBhvr additive="base">
                                        <p:cTn id="19" dur="500" fill="hold"/>
                                        <p:tgtEl>
                                          <p:spTgt spid="83251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32515">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832515">
                                            <p:txEl>
                                              <p:pRg st="3" end="3"/>
                                            </p:txEl>
                                          </p:spTgt>
                                        </p:tgtEl>
                                        <p:attrNameLst>
                                          <p:attrName>style.visibility</p:attrName>
                                        </p:attrNameLst>
                                      </p:cBhvr>
                                      <p:to>
                                        <p:strVal val="visible"/>
                                      </p:to>
                                    </p:set>
                                    <p:anim calcmode="lin" valueType="num">
                                      <p:cBhvr additive="base">
                                        <p:cTn id="23" dur="500" fill="hold"/>
                                        <p:tgtEl>
                                          <p:spTgt spid="832515">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832515">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832515">
                                            <p:txEl>
                                              <p:pRg st="4" end="4"/>
                                            </p:txEl>
                                          </p:spTgt>
                                        </p:tgtEl>
                                        <p:attrNameLst>
                                          <p:attrName>style.visibility</p:attrName>
                                        </p:attrNameLst>
                                      </p:cBhvr>
                                      <p:to>
                                        <p:strVal val="visible"/>
                                      </p:to>
                                    </p:set>
                                    <p:anim calcmode="lin" valueType="num">
                                      <p:cBhvr additive="base">
                                        <p:cTn id="27" dur="500" fill="hold"/>
                                        <p:tgtEl>
                                          <p:spTgt spid="832515">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832515">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832515">
                                            <p:txEl>
                                              <p:pRg st="5" end="5"/>
                                            </p:txEl>
                                          </p:spTgt>
                                        </p:tgtEl>
                                        <p:attrNameLst>
                                          <p:attrName>style.visibility</p:attrName>
                                        </p:attrNameLst>
                                      </p:cBhvr>
                                      <p:to>
                                        <p:strVal val="visible"/>
                                      </p:to>
                                    </p:set>
                                    <p:anim calcmode="lin" valueType="num">
                                      <p:cBhvr additive="base">
                                        <p:cTn id="31" dur="500" fill="hold"/>
                                        <p:tgtEl>
                                          <p:spTgt spid="832515">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3251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515" grpId="0"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8" name="Rectangle 2"/>
          <p:cNvSpPr>
            <a:spLocks noGrp="1" noChangeArrowheads="1"/>
          </p:cNvSpPr>
          <p:nvPr>
            <p:ph type="title"/>
          </p:nvPr>
        </p:nvSpPr>
        <p:spPr>
          <a:xfrm>
            <a:off x="2233613" y="0"/>
            <a:ext cx="7772400" cy="1143000"/>
          </a:xfrm>
          <a:noFill/>
        </p:spPr>
        <p:txBody>
          <a:bodyPr/>
          <a:lstStyle/>
          <a:p>
            <a:r>
              <a:rPr lang="en-US" altLang="zh-CN" sz="3600">
                <a:latin typeface="新宋体" pitchFamily="49" charset="-122"/>
                <a:ea typeface="新宋体" pitchFamily="49" charset="-122"/>
              </a:rPr>
              <a:t>PPP</a:t>
            </a:r>
            <a:r>
              <a:rPr lang="zh-CN" altLang="en-US" sz="3600">
                <a:latin typeface="新宋体" pitchFamily="49" charset="-122"/>
                <a:ea typeface="新宋体" pitchFamily="49" charset="-122"/>
              </a:rPr>
              <a:t>的内容及位置</a:t>
            </a:r>
            <a:r>
              <a:rPr lang="en-US" altLang="zh-CN" sz="3600">
                <a:latin typeface="新宋体" pitchFamily="49" charset="-122"/>
                <a:ea typeface="新宋体" pitchFamily="49" charset="-122"/>
              </a:rPr>
              <a:t>20211025</a:t>
            </a:r>
            <a:endParaRPr lang="zh-CN" altLang="en-US" sz="3600">
              <a:latin typeface="新宋体" pitchFamily="49" charset="-122"/>
              <a:ea typeface="新宋体" pitchFamily="49" charset="-122"/>
            </a:endParaRPr>
          </a:p>
        </p:txBody>
      </p:sp>
      <p:sp>
        <p:nvSpPr>
          <p:cNvPr id="833539" name="Text Box 3"/>
          <p:cNvSpPr txBox="1">
            <a:spLocks noChangeArrowheads="1"/>
          </p:cNvSpPr>
          <p:nvPr/>
        </p:nvSpPr>
        <p:spPr bwMode="auto">
          <a:xfrm>
            <a:off x="3665539" y="1308101"/>
            <a:ext cx="51022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a:defRPr kumimoji="1" sz="2400">
                <a:solidFill>
                  <a:schemeClr val="tx1"/>
                </a:solidFill>
                <a:latin typeface="Times New Roman" pitchFamily="18" charset="0"/>
                <a:ea typeface="宋体" pitchFamily="2" charset="-122"/>
              </a:defRPr>
            </a:lvl1pPr>
            <a:lvl2pPr marL="685800" indent="-20955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spcBef>
                <a:spcPct val="10000"/>
              </a:spcBef>
              <a:buClr>
                <a:schemeClr val="folHlink"/>
              </a:buClr>
              <a:buSzPct val="75000"/>
              <a:buFont typeface="Wingdings" pitchFamily="2" charset="2"/>
              <a:buChar char="q"/>
            </a:pPr>
            <a:r>
              <a:rPr kumimoji="0" lang="en-US" altLang="zh-CN" sz="2800" b="1"/>
              <a:t> RFCs: 1548, 1332</a:t>
            </a:r>
          </a:p>
        </p:txBody>
      </p:sp>
      <p:grpSp>
        <p:nvGrpSpPr>
          <p:cNvPr id="833540" name="Group 4"/>
          <p:cNvGrpSpPr/>
          <p:nvPr/>
        </p:nvGrpSpPr>
        <p:grpSpPr bwMode="auto">
          <a:xfrm>
            <a:off x="2762251" y="2284414"/>
            <a:ext cx="6170613" cy="3208337"/>
            <a:chOff x="-3" y="-3"/>
            <a:chExt cx="1964" cy="2021"/>
          </a:xfrm>
        </p:grpSpPr>
        <p:grpSp>
          <p:nvGrpSpPr>
            <p:cNvPr id="833541" name="Group 5"/>
            <p:cNvGrpSpPr/>
            <p:nvPr/>
          </p:nvGrpSpPr>
          <p:grpSpPr bwMode="auto">
            <a:xfrm>
              <a:off x="0" y="0"/>
              <a:ext cx="1958" cy="2015"/>
              <a:chOff x="0" y="0"/>
              <a:chExt cx="1958" cy="2015"/>
            </a:xfrm>
          </p:grpSpPr>
          <p:grpSp>
            <p:nvGrpSpPr>
              <p:cNvPr id="833542" name="Group 6"/>
              <p:cNvGrpSpPr/>
              <p:nvPr/>
            </p:nvGrpSpPr>
            <p:grpSpPr bwMode="auto">
              <a:xfrm>
                <a:off x="0" y="0"/>
                <a:ext cx="1958" cy="403"/>
                <a:chOff x="0" y="0"/>
                <a:chExt cx="1958" cy="403"/>
              </a:xfrm>
            </p:grpSpPr>
            <p:sp>
              <p:nvSpPr>
                <p:cNvPr id="833543" name="Rectangle 7"/>
                <p:cNvSpPr>
                  <a:spLocks noChangeArrowheads="1"/>
                </p:cNvSpPr>
                <p:nvPr/>
              </p:nvSpPr>
              <p:spPr bwMode="auto">
                <a:xfrm>
                  <a:off x="43" y="0"/>
                  <a:ext cx="18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a:t>网络层协议（</a:t>
                  </a:r>
                  <a:r>
                    <a:rPr lang="en-US" altLang="zh-CN" sz="2400" b="1"/>
                    <a:t>IP</a:t>
                  </a:r>
                  <a:r>
                    <a:rPr lang="zh-CN" altLang="en-US" sz="2400" b="1"/>
                    <a:t>，</a:t>
                  </a:r>
                  <a:r>
                    <a:rPr lang="en-US" altLang="zh-CN" sz="2400" b="1"/>
                    <a:t>IPX</a:t>
                  </a:r>
                  <a:r>
                    <a:rPr lang="zh-CN" altLang="en-US" sz="2400" b="1"/>
                    <a:t>）</a:t>
                  </a:r>
                </a:p>
                <a:p>
                  <a:pPr algn="ctr" eaLnBrk="0" hangingPunct="0"/>
                  <a:endParaRPr lang="en-US" altLang="zh-CN" sz="2400" b="1"/>
                </a:p>
              </p:txBody>
            </p:sp>
            <p:sp>
              <p:nvSpPr>
                <p:cNvPr id="833544" name="Rectangle 8"/>
                <p:cNvSpPr>
                  <a:spLocks noChangeArrowheads="1"/>
                </p:cNvSpPr>
                <p:nvPr/>
              </p:nvSpPr>
              <p:spPr bwMode="auto">
                <a:xfrm>
                  <a:off x="0" y="0"/>
                  <a:ext cx="1958"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3545" name="Group 9"/>
              <p:cNvGrpSpPr/>
              <p:nvPr/>
            </p:nvGrpSpPr>
            <p:grpSpPr bwMode="auto">
              <a:xfrm>
                <a:off x="0" y="403"/>
                <a:ext cx="1958" cy="403"/>
                <a:chOff x="0" y="403"/>
                <a:chExt cx="1958" cy="403"/>
              </a:xfrm>
            </p:grpSpPr>
            <p:sp>
              <p:nvSpPr>
                <p:cNvPr id="833546" name="Rectangle 10"/>
                <p:cNvSpPr>
                  <a:spLocks noChangeArrowheads="1"/>
                </p:cNvSpPr>
                <p:nvPr/>
              </p:nvSpPr>
              <p:spPr bwMode="auto">
                <a:xfrm>
                  <a:off x="43" y="403"/>
                  <a:ext cx="18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a:solidFill>
                        <a:schemeClr val="tx2"/>
                      </a:solidFill>
                    </a:rPr>
                    <a:t>网络控制协议</a:t>
                  </a:r>
                  <a:r>
                    <a:rPr lang="en-US" altLang="zh-CN" sz="2400" b="1">
                      <a:solidFill>
                        <a:schemeClr val="tx2"/>
                      </a:solidFill>
                    </a:rPr>
                    <a:t>NCP</a:t>
                  </a:r>
                  <a:r>
                    <a:rPr lang="zh-CN" altLang="en-US" sz="2400" b="1">
                      <a:solidFill>
                        <a:schemeClr val="tx2"/>
                      </a:solidFill>
                    </a:rPr>
                    <a:t>（如</a:t>
                  </a:r>
                  <a:r>
                    <a:rPr lang="en-US" altLang="zh-CN" sz="2400" b="1">
                      <a:solidFill>
                        <a:schemeClr val="tx2"/>
                      </a:solidFill>
                    </a:rPr>
                    <a:t>IPCP</a:t>
                  </a:r>
                  <a:r>
                    <a:rPr lang="zh-CN" altLang="en-US" sz="2400" b="1">
                      <a:solidFill>
                        <a:schemeClr val="tx2"/>
                      </a:solidFill>
                    </a:rPr>
                    <a:t>，</a:t>
                  </a:r>
                  <a:r>
                    <a:rPr lang="en-US" altLang="zh-CN" sz="2400" b="1">
                      <a:solidFill>
                        <a:schemeClr val="tx2"/>
                      </a:solidFill>
                    </a:rPr>
                    <a:t>IPXCP</a:t>
                  </a:r>
                  <a:r>
                    <a:rPr lang="zh-CN" altLang="en-US" sz="2400" b="1">
                      <a:solidFill>
                        <a:schemeClr val="tx2"/>
                      </a:solidFill>
                    </a:rPr>
                    <a:t>）</a:t>
                  </a:r>
                </a:p>
                <a:p>
                  <a:pPr algn="ctr" eaLnBrk="0" hangingPunct="0"/>
                  <a:endParaRPr lang="en-US" altLang="zh-CN" sz="2400" b="1">
                    <a:solidFill>
                      <a:schemeClr val="tx2"/>
                    </a:solidFill>
                  </a:endParaRPr>
                </a:p>
              </p:txBody>
            </p:sp>
            <p:sp>
              <p:nvSpPr>
                <p:cNvPr id="833547" name="Rectangle 11"/>
                <p:cNvSpPr>
                  <a:spLocks noChangeArrowheads="1"/>
                </p:cNvSpPr>
                <p:nvPr/>
              </p:nvSpPr>
              <p:spPr bwMode="auto">
                <a:xfrm>
                  <a:off x="0" y="403"/>
                  <a:ext cx="1958"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3548" name="Group 12"/>
              <p:cNvGrpSpPr/>
              <p:nvPr/>
            </p:nvGrpSpPr>
            <p:grpSpPr bwMode="auto">
              <a:xfrm>
                <a:off x="0" y="806"/>
                <a:ext cx="1958" cy="403"/>
                <a:chOff x="0" y="806"/>
                <a:chExt cx="1958" cy="403"/>
              </a:xfrm>
            </p:grpSpPr>
            <p:sp>
              <p:nvSpPr>
                <p:cNvPr id="833549" name="Rectangle 13"/>
                <p:cNvSpPr>
                  <a:spLocks noChangeArrowheads="1"/>
                </p:cNvSpPr>
                <p:nvPr/>
              </p:nvSpPr>
              <p:spPr bwMode="auto">
                <a:xfrm>
                  <a:off x="43" y="806"/>
                  <a:ext cx="18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635">
                    <a:tabLst>
                      <a:tab pos="1419225" algn="l"/>
                    </a:tabLst>
                    <a:defRPr kumimoji="1" sz="2400">
                      <a:solidFill>
                        <a:schemeClr val="tx1"/>
                      </a:solidFill>
                      <a:latin typeface="Times New Roman" pitchFamily="18" charset="0"/>
                      <a:ea typeface="宋体" pitchFamily="2" charset="-122"/>
                    </a:defRPr>
                  </a:lvl1pPr>
                  <a:lvl2pPr defTabSz="-635">
                    <a:tabLst>
                      <a:tab pos="1419225" algn="l"/>
                    </a:tabLst>
                    <a:defRPr kumimoji="1" sz="2400">
                      <a:solidFill>
                        <a:schemeClr val="tx1"/>
                      </a:solidFill>
                      <a:latin typeface="Times New Roman" pitchFamily="18" charset="0"/>
                      <a:ea typeface="宋体" pitchFamily="2" charset="-122"/>
                    </a:defRPr>
                  </a:lvl2pPr>
                  <a:lvl3pPr defTabSz="-635">
                    <a:tabLst>
                      <a:tab pos="1419225" algn="l"/>
                    </a:tabLst>
                    <a:defRPr kumimoji="1" sz="2400">
                      <a:solidFill>
                        <a:schemeClr val="tx1"/>
                      </a:solidFill>
                      <a:latin typeface="Times New Roman" pitchFamily="18" charset="0"/>
                      <a:ea typeface="宋体" pitchFamily="2" charset="-122"/>
                    </a:defRPr>
                  </a:lvl3pPr>
                  <a:lvl4pPr defTabSz="-635">
                    <a:tabLst>
                      <a:tab pos="1419225" algn="l"/>
                    </a:tabLst>
                    <a:defRPr kumimoji="1" sz="2400">
                      <a:solidFill>
                        <a:schemeClr val="tx1"/>
                      </a:solidFill>
                      <a:latin typeface="Times New Roman" pitchFamily="18" charset="0"/>
                      <a:ea typeface="宋体" pitchFamily="2" charset="-122"/>
                    </a:defRPr>
                  </a:lvl4pPr>
                  <a:lvl5pPr defTabSz="-635">
                    <a:tabLst>
                      <a:tab pos="1419225" algn="l"/>
                    </a:tabLst>
                    <a:defRPr kumimoji="1" sz="2400">
                      <a:solidFill>
                        <a:schemeClr val="tx1"/>
                      </a:solidFill>
                      <a:latin typeface="Times New Roman" pitchFamily="18" charset="0"/>
                      <a:ea typeface="宋体" pitchFamily="2" charset="-122"/>
                    </a:defRPr>
                  </a:lvl5pPr>
                  <a:lvl6pPr defTabSz="-635" fontAlgn="base">
                    <a:spcBef>
                      <a:spcPct val="0"/>
                    </a:spcBef>
                    <a:spcAft>
                      <a:spcPct val="0"/>
                    </a:spcAft>
                    <a:tabLst>
                      <a:tab pos="1419225" algn="l"/>
                    </a:tabLst>
                    <a:defRPr kumimoji="1" sz="2400">
                      <a:solidFill>
                        <a:schemeClr val="tx1"/>
                      </a:solidFill>
                      <a:latin typeface="Times New Roman" pitchFamily="18" charset="0"/>
                      <a:ea typeface="宋体" pitchFamily="2" charset="-122"/>
                    </a:defRPr>
                  </a:lvl6pPr>
                  <a:lvl7pPr defTabSz="-635" fontAlgn="base">
                    <a:spcBef>
                      <a:spcPct val="0"/>
                    </a:spcBef>
                    <a:spcAft>
                      <a:spcPct val="0"/>
                    </a:spcAft>
                    <a:tabLst>
                      <a:tab pos="1419225" algn="l"/>
                    </a:tabLst>
                    <a:defRPr kumimoji="1" sz="2400">
                      <a:solidFill>
                        <a:schemeClr val="tx1"/>
                      </a:solidFill>
                      <a:latin typeface="Times New Roman" pitchFamily="18" charset="0"/>
                      <a:ea typeface="宋体" pitchFamily="2" charset="-122"/>
                    </a:defRPr>
                  </a:lvl7pPr>
                  <a:lvl8pPr defTabSz="-635" fontAlgn="base">
                    <a:spcBef>
                      <a:spcPct val="0"/>
                    </a:spcBef>
                    <a:spcAft>
                      <a:spcPct val="0"/>
                    </a:spcAft>
                    <a:tabLst>
                      <a:tab pos="1419225" algn="l"/>
                    </a:tabLst>
                    <a:defRPr kumimoji="1" sz="2400">
                      <a:solidFill>
                        <a:schemeClr val="tx1"/>
                      </a:solidFill>
                      <a:latin typeface="Times New Roman" pitchFamily="18" charset="0"/>
                      <a:ea typeface="宋体" pitchFamily="2" charset="-122"/>
                    </a:defRPr>
                  </a:lvl8pPr>
                  <a:lvl9pPr defTabSz="-635" fontAlgn="base">
                    <a:spcBef>
                      <a:spcPct val="0"/>
                    </a:spcBef>
                    <a:spcAft>
                      <a:spcPct val="0"/>
                    </a:spcAft>
                    <a:tabLst>
                      <a:tab pos="1419225" algn="l"/>
                    </a:tabLst>
                    <a:defRPr kumimoji="1" sz="2400">
                      <a:solidFill>
                        <a:schemeClr val="tx1"/>
                      </a:solidFill>
                      <a:latin typeface="Times New Roman" pitchFamily="18" charset="0"/>
                      <a:ea typeface="宋体" pitchFamily="2" charset="-122"/>
                    </a:defRPr>
                  </a:lvl9pPr>
                </a:lstStyle>
                <a:p>
                  <a:pPr algn="ctr"/>
                  <a:r>
                    <a:rPr lang="zh-CN" altLang="en-US" b="1">
                      <a:solidFill>
                        <a:schemeClr val="tx2"/>
                      </a:solidFill>
                    </a:rPr>
                    <a:t>链路控制协议</a:t>
                  </a:r>
                  <a:r>
                    <a:rPr lang="en-US" altLang="zh-CN" b="1">
                      <a:solidFill>
                        <a:schemeClr val="tx2"/>
                      </a:solidFill>
                    </a:rPr>
                    <a:t>LCP</a:t>
                  </a:r>
                </a:p>
                <a:p>
                  <a:pPr algn="ctr" eaLnBrk="0" hangingPunct="0"/>
                  <a:endParaRPr lang="en-US" altLang="zh-CN" b="1"/>
                </a:p>
              </p:txBody>
            </p:sp>
            <p:sp>
              <p:nvSpPr>
                <p:cNvPr id="833550" name="Rectangle 14"/>
                <p:cNvSpPr>
                  <a:spLocks noChangeArrowheads="1"/>
                </p:cNvSpPr>
                <p:nvPr/>
              </p:nvSpPr>
              <p:spPr bwMode="auto">
                <a:xfrm>
                  <a:off x="0" y="806"/>
                  <a:ext cx="1958"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3551" name="Group 15"/>
              <p:cNvGrpSpPr/>
              <p:nvPr/>
            </p:nvGrpSpPr>
            <p:grpSpPr bwMode="auto">
              <a:xfrm>
                <a:off x="0" y="1209"/>
                <a:ext cx="1958" cy="403"/>
                <a:chOff x="0" y="1209"/>
                <a:chExt cx="1958" cy="403"/>
              </a:xfrm>
            </p:grpSpPr>
            <p:sp>
              <p:nvSpPr>
                <p:cNvPr id="833552" name="Rectangle 16"/>
                <p:cNvSpPr>
                  <a:spLocks noChangeArrowheads="1"/>
                </p:cNvSpPr>
                <p:nvPr/>
              </p:nvSpPr>
              <p:spPr bwMode="auto">
                <a:xfrm>
                  <a:off x="43" y="1209"/>
                  <a:ext cx="18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a:solidFill>
                        <a:schemeClr val="tx2"/>
                      </a:solidFill>
                    </a:rPr>
                    <a:t>链路层封装格式 </a:t>
                  </a:r>
                  <a:r>
                    <a:rPr lang="en-US" altLang="zh-CN" sz="2400" b="1">
                      <a:solidFill>
                        <a:schemeClr val="tx2"/>
                      </a:solidFill>
                    </a:rPr>
                    <a:t>(</a:t>
                  </a:r>
                  <a:r>
                    <a:rPr lang="zh-CN" altLang="en-US" sz="2400" b="1">
                      <a:solidFill>
                        <a:schemeClr val="tx2"/>
                      </a:solidFill>
                    </a:rPr>
                    <a:t>帧格式</a:t>
                  </a:r>
                  <a:r>
                    <a:rPr lang="en-US" altLang="zh-CN" sz="2400" b="1">
                      <a:solidFill>
                        <a:schemeClr val="tx2"/>
                      </a:solidFill>
                    </a:rPr>
                    <a:t>)</a:t>
                  </a:r>
                </a:p>
                <a:p>
                  <a:pPr algn="ctr" eaLnBrk="0" hangingPunct="0"/>
                  <a:endParaRPr lang="en-US" altLang="zh-CN" sz="2400" b="1"/>
                </a:p>
              </p:txBody>
            </p:sp>
            <p:sp>
              <p:nvSpPr>
                <p:cNvPr id="833553" name="Rectangle 17"/>
                <p:cNvSpPr>
                  <a:spLocks noChangeArrowheads="1"/>
                </p:cNvSpPr>
                <p:nvPr/>
              </p:nvSpPr>
              <p:spPr bwMode="auto">
                <a:xfrm>
                  <a:off x="0" y="1209"/>
                  <a:ext cx="1958"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3554" name="Group 18"/>
              <p:cNvGrpSpPr/>
              <p:nvPr/>
            </p:nvGrpSpPr>
            <p:grpSpPr bwMode="auto">
              <a:xfrm>
                <a:off x="0" y="1612"/>
                <a:ext cx="1958" cy="403"/>
                <a:chOff x="0" y="1612"/>
                <a:chExt cx="1958" cy="403"/>
              </a:xfrm>
            </p:grpSpPr>
            <p:sp>
              <p:nvSpPr>
                <p:cNvPr id="833555" name="Rectangle 19"/>
                <p:cNvSpPr>
                  <a:spLocks noChangeArrowheads="1"/>
                </p:cNvSpPr>
                <p:nvPr/>
              </p:nvSpPr>
              <p:spPr bwMode="auto">
                <a:xfrm>
                  <a:off x="43" y="1612"/>
                  <a:ext cx="18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a:t>物理层（如</a:t>
                  </a:r>
                  <a:r>
                    <a:rPr lang="en-US" altLang="zh-CN" sz="2400" b="1"/>
                    <a:t>EIA RS-232</a:t>
                  </a:r>
                  <a:r>
                    <a:rPr lang="zh-CN" altLang="en-US" sz="2400" b="1"/>
                    <a:t>，</a:t>
                  </a:r>
                  <a:r>
                    <a:rPr lang="en-US" altLang="zh-CN" sz="2400" b="1"/>
                    <a:t>V.24</a:t>
                  </a:r>
                  <a:r>
                    <a:rPr lang="zh-CN" altLang="en-US" sz="2400" b="1"/>
                    <a:t>，</a:t>
                  </a:r>
                  <a:r>
                    <a:rPr lang="en-US" altLang="zh-CN" sz="2400" b="1"/>
                    <a:t>V.35</a:t>
                  </a:r>
                  <a:r>
                    <a:rPr lang="zh-CN" altLang="en-US" sz="2400" b="1"/>
                    <a:t>）</a:t>
                  </a:r>
                </a:p>
                <a:p>
                  <a:pPr algn="ctr" eaLnBrk="0" hangingPunct="0"/>
                  <a:endParaRPr lang="en-US" altLang="zh-CN" sz="2400" b="1"/>
                </a:p>
              </p:txBody>
            </p:sp>
            <p:sp>
              <p:nvSpPr>
                <p:cNvPr id="833556" name="Rectangle 20"/>
                <p:cNvSpPr>
                  <a:spLocks noChangeArrowheads="1"/>
                </p:cNvSpPr>
                <p:nvPr/>
              </p:nvSpPr>
              <p:spPr bwMode="auto">
                <a:xfrm>
                  <a:off x="0" y="1612"/>
                  <a:ext cx="1958"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833557" name="Rectangle 21"/>
            <p:cNvSpPr>
              <a:spLocks noChangeArrowheads="1"/>
            </p:cNvSpPr>
            <p:nvPr/>
          </p:nvSpPr>
          <p:spPr bwMode="auto">
            <a:xfrm>
              <a:off x="-3" y="-3"/>
              <a:ext cx="1964" cy="2021"/>
            </a:xfrm>
            <a:prstGeom prst="rect">
              <a:avLst/>
            </a:prstGeom>
            <a:noFill/>
            <a:ln w="11112">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833558" name="AutoShape 22"/>
          <p:cNvSpPr/>
          <p:nvPr/>
        </p:nvSpPr>
        <p:spPr bwMode="auto">
          <a:xfrm>
            <a:off x="9056689" y="2960688"/>
            <a:ext cx="344487" cy="1828800"/>
          </a:xfrm>
          <a:prstGeom prst="rightBrace">
            <a:avLst>
              <a:gd name="adj1" fmla="val 44240"/>
              <a:gd name="adj2" fmla="val 50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9" name="Text Box 23"/>
          <p:cNvSpPr txBox="1">
            <a:spLocks noChangeArrowheads="1"/>
          </p:cNvSpPr>
          <p:nvPr/>
        </p:nvSpPr>
        <p:spPr bwMode="auto">
          <a:xfrm>
            <a:off x="9369426" y="3057525"/>
            <a:ext cx="93662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PPP</a:t>
            </a:r>
            <a:r>
              <a:rPr lang="zh-CN" altLang="en-US" b="1"/>
              <a:t>链路层</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33539">
                                            <p:txEl>
                                              <p:pRg st="0" end="0"/>
                                            </p:txEl>
                                          </p:spTgt>
                                        </p:tgtEl>
                                        <p:attrNameLst>
                                          <p:attrName>style.visibility</p:attrName>
                                        </p:attrNameLst>
                                      </p:cBhvr>
                                      <p:to>
                                        <p:strVal val="visible"/>
                                      </p:to>
                                    </p:set>
                                    <p:anim calcmode="lin" valueType="num">
                                      <p:cBhvr additive="base">
                                        <p:cTn id="7" dur="500" fill="hold"/>
                                        <p:tgtEl>
                                          <p:spTgt spid="83353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335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33540"/>
                                        </p:tgtEl>
                                        <p:attrNameLst>
                                          <p:attrName>style.visibility</p:attrName>
                                        </p:attrNameLst>
                                      </p:cBhvr>
                                      <p:to>
                                        <p:strVal val="visible"/>
                                      </p:to>
                                    </p:set>
                                    <p:anim calcmode="lin" valueType="num">
                                      <p:cBhvr additive="base">
                                        <p:cTn id="13" dur="500" fill="hold"/>
                                        <p:tgtEl>
                                          <p:spTgt spid="833540"/>
                                        </p:tgtEl>
                                        <p:attrNameLst>
                                          <p:attrName>ppt_x</p:attrName>
                                        </p:attrNameLst>
                                      </p:cBhvr>
                                      <p:tavLst>
                                        <p:tav tm="0">
                                          <p:val>
                                            <p:strVal val="1+#ppt_w/2"/>
                                          </p:val>
                                        </p:tav>
                                        <p:tav tm="100000">
                                          <p:val>
                                            <p:strVal val="#ppt_x"/>
                                          </p:val>
                                        </p:tav>
                                      </p:tavLst>
                                    </p:anim>
                                    <p:anim calcmode="lin" valueType="num">
                                      <p:cBhvr additive="base">
                                        <p:cTn id="14" dur="500" fill="hold"/>
                                        <p:tgtEl>
                                          <p:spTgt spid="8335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39" grpId="0" build="p"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2" name="Rectangle 2"/>
          <p:cNvSpPr>
            <a:spLocks noChangeArrowheads="1"/>
          </p:cNvSpPr>
          <p:nvPr/>
        </p:nvSpPr>
        <p:spPr bwMode="auto">
          <a:xfrm>
            <a:off x="2211388" y="1644090"/>
            <a:ext cx="7378700" cy="520700"/>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63" name="Line 3"/>
          <p:cNvSpPr>
            <a:spLocks noChangeShapeType="1"/>
          </p:cNvSpPr>
          <p:nvPr/>
        </p:nvSpPr>
        <p:spPr bwMode="auto">
          <a:xfrm>
            <a:off x="3119438" y="1644090"/>
            <a:ext cx="0" cy="5207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64" name="Line 4"/>
          <p:cNvSpPr>
            <a:spLocks noChangeShapeType="1"/>
          </p:cNvSpPr>
          <p:nvPr/>
        </p:nvSpPr>
        <p:spPr bwMode="auto">
          <a:xfrm>
            <a:off x="4148138" y="1644090"/>
            <a:ext cx="0" cy="5207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65" name="Line 5"/>
          <p:cNvSpPr>
            <a:spLocks noChangeShapeType="1"/>
          </p:cNvSpPr>
          <p:nvPr/>
        </p:nvSpPr>
        <p:spPr bwMode="auto">
          <a:xfrm>
            <a:off x="5062538" y="1644090"/>
            <a:ext cx="0" cy="5207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66" name="Line 6"/>
          <p:cNvSpPr>
            <a:spLocks noChangeShapeType="1"/>
          </p:cNvSpPr>
          <p:nvPr/>
        </p:nvSpPr>
        <p:spPr bwMode="auto">
          <a:xfrm>
            <a:off x="7577138" y="1663140"/>
            <a:ext cx="0" cy="5207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67" name="Line 7"/>
          <p:cNvSpPr>
            <a:spLocks noChangeShapeType="1"/>
          </p:cNvSpPr>
          <p:nvPr/>
        </p:nvSpPr>
        <p:spPr bwMode="auto">
          <a:xfrm>
            <a:off x="8701088" y="1663140"/>
            <a:ext cx="0" cy="5207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68" name="Rectangle 8"/>
          <p:cNvSpPr>
            <a:spLocks noChangeArrowheads="1"/>
          </p:cNvSpPr>
          <p:nvPr/>
        </p:nvSpPr>
        <p:spPr bwMode="auto">
          <a:xfrm>
            <a:off x="2381250" y="1640916"/>
            <a:ext cx="59311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a:t>Flag</a:t>
            </a:r>
          </a:p>
        </p:txBody>
      </p:sp>
      <p:sp>
        <p:nvSpPr>
          <p:cNvPr id="834569" name="Rectangle 9"/>
          <p:cNvSpPr>
            <a:spLocks noChangeArrowheads="1"/>
          </p:cNvSpPr>
          <p:nvPr/>
        </p:nvSpPr>
        <p:spPr bwMode="auto">
          <a:xfrm>
            <a:off x="8851900" y="1596466"/>
            <a:ext cx="54181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a:t>flag</a:t>
            </a:r>
          </a:p>
        </p:txBody>
      </p:sp>
      <p:sp>
        <p:nvSpPr>
          <p:cNvPr id="834570" name="Rectangle 10"/>
          <p:cNvSpPr>
            <a:spLocks noChangeArrowheads="1"/>
          </p:cNvSpPr>
          <p:nvPr/>
        </p:nvSpPr>
        <p:spPr bwMode="auto">
          <a:xfrm>
            <a:off x="3124201" y="1615516"/>
            <a:ext cx="93936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a:t>Address</a:t>
            </a:r>
          </a:p>
        </p:txBody>
      </p:sp>
      <p:sp>
        <p:nvSpPr>
          <p:cNvPr id="834571" name="Rectangle 11"/>
          <p:cNvSpPr>
            <a:spLocks noChangeArrowheads="1"/>
          </p:cNvSpPr>
          <p:nvPr/>
        </p:nvSpPr>
        <p:spPr bwMode="auto">
          <a:xfrm>
            <a:off x="4197351" y="1647266"/>
            <a:ext cx="88806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a:t>Control</a:t>
            </a:r>
          </a:p>
        </p:txBody>
      </p:sp>
      <p:sp>
        <p:nvSpPr>
          <p:cNvPr id="834572" name="Rectangle 12"/>
          <p:cNvSpPr>
            <a:spLocks noChangeArrowheads="1"/>
          </p:cNvSpPr>
          <p:nvPr/>
        </p:nvSpPr>
        <p:spPr bwMode="auto">
          <a:xfrm>
            <a:off x="6254751" y="1698066"/>
            <a:ext cx="128560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a:t>Information</a:t>
            </a:r>
          </a:p>
        </p:txBody>
      </p:sp>
      <p:sp>
        <p:nvSpPr>
          <p:cNvPr id="834573" name="Rectangle 13"/>
          <p:cNvSpPr>
            <a:spLocks noChangeArrowheads="1"/>
          </p:cNvSpPr>
          <p:nvPr/>
        </p:nvSpPr>
        <p:spPr bwMode="auto">
          <a:xfrm>
            <a:off x="7810500" y="1717116"/>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a:t>CRC</a:t>
            </a:r>
          </a:p>
        </p:txBody>
      </p:sp>
      <p:sp>
        <p:nvSpPr>
          <p:cNvPr id="834574" name="Line 14"/>
          <p:cNvSpPr>
            <a:spLocks noChangeShapeType="1"/>
          </p:cNvSpPr>
          <p:nvPr/>
        </p:nvSpPr>
        <p:spPr bwMode="auto">
          <a:xfrm>
            <a:off x="6116638" y="1644090"/>
            <a:ext cx="0" cy="5207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75" name="Rectangle 15"/>
          <p:cNvSpPr>
            <a:spLocks noChangeArrowheads="1"/>
          </p:cNvSpPr>
          <p:nvPr/>
        </p:nvSpPr>
        <p:spPr bwMode="auto">
          <a:xfrm>
            <a:off x="5175251" y="1685366"/>
            <a:ext cx="96500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a:t>Protocol</a:t>
            </a:r>
          </a:p>
        </p:txBody>
      </p:sp>
      <p:sp>
        <p:nvSpPr>
          <p:cNvPr id="834576" name="Rectangle 16"/>
          <p:cNvSpPr>
            <a:spLocks noChangeArrowheads="1"/>
          </p:cNvSpPr>
          <p:nvPr/>
        </p:nvSpPr>
        <p:spPr bwMode="auto">
          <a:xfrm>
            <a:off x="2171701" y="1859991"/>
            <a:ext cx="9937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01111110</a:t>
            </a:r>
          </a:p>
        </p:txBody>
      </p:sp>
      <p:sp>
        <p:nvSpPr>
          <p:cNvPr id="834577" name="Rectangle 17"/>
          <p:cNvSpPr>
            <a:spLocks noChangeArrowheads="1"/>
          </p:cNvSpPr>
          <p:nvPr/>
        </p:nvSpPr>
        <p:spPr bwMode="auto">
          <a:xfrm>
            <a:off x="8661401" y="1847291"/>
            <a:ext cx="9937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01111110</a:t>
            </a:r>
          </a:p>
        </p:txBody>
      </p:sp>
      <p:sp>
        <p:nvSpPr>
          <p:cNvPr id="834578" name="Rectangle 18"/>
          <p:cNvSpPr>
            <a:spLocks noChangeArrowheads="1"/>
          </p:cNvSpPr>
          <p:nvPr/>
        </p:nvSpPr>
        <p:spPr bwMode="auto">
          <a:xfrm>
            <a:off x="3111501" y="1872691"/>
            <a:ext cx="85510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1111111</a:t>
            </a:r>
          </a:p>
        </p:txBody>
      </p:sp>
      <p:sp>
        <p:nvSpPr>
          <p:cNvPr id="834579" name="Rectangle 19"/>
          <p:cNvSpPr>
            <a:spLocks noChangeArrowheads="1"/>
          </p:cNvSpPr>
          <p:nvPr/>
        </p:nvSpPr>
        <p:spPr bwMode="auto">
          <a:xfrm>
            <a:off x="4140201" y="1885391"/>
            <a:ext cx="9937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600"/>
              <a:t>00000011</a:t>
            </a:r>
          </a:p>
        </p:txBody>
      </p:sp>
      <p:grpSp>
        <p:nvGrpSpPr>
          <p:cNvPr id="834580" name="Group 20"/>
          <p:cNvGrpSpPr/>
          <p:nvPr/>
        </p:nvGrpSpPr>
        <p:grpSpPr bwMode="auto">
          <a:xfrm>
            <a:off x="4011613" y="2279091"/>
            <a:ext cx="1498600" cy="1006475"/>
            <a:chOff x="1540" y="2170"/>
            <a:chExt cx="944" cy="634"/>
          </a:xfrm>
        </p:grpSpPr>
        <p:sp>
          <p:nvSpPr>
            <p:cNvPr id="834581" name="Rectangle 21"/>
            <p:cNvSpPr>
              <a:spLocks noChangeArrowheads="1"/>
            </p:cNvSpPr>
            <p:nvPr/>
          </p:nvSpPr>
          <p:spPr bwMode="auto">
            <a:xfrm>
              <a:off x="1540" y="2575"/>
              <a:ext cx="944"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kumimoji="0" lang="zh-CN" altLang="en-US" sz="1800">
                  <a:solidFill>
                    <a:schemeClr val="folHlink"/>
                  </a:solidFill>
                </a:rPr>
                <a:t>无编号帧</a:t>
              </a:r>
            </a:p>
          </p:txBody>
        </p:sp>
        <p:sp>
          <p:nvSpPr>
            <p:cNvPr id="834582" name="Line 22"/>
            <p:cNvSpPr>
              <a:spLocks noChangeShapeType="1"/>
            </p:cNvSpPr>
            <p:nvPr/>
          </p:nvSpPr>
          <p:spPr bwMode="auto">
            <a:xfrm flipV="1">
              <a:off x="1976" y="2170"/>
              <a:ext cx="1" cy="455"/>
            </a:xfrm>
            <a:prstGeom prst="line">
              <a:avLst/>
            </a:prstGeom>
            <a:noFill/>
            <a:ln w="12700">
              <a:solidFill>
                <a:schemeClr val="folHlink"/>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4583" name="Group 23"/>
          <p:cNvGrpSpPr/>
          <p:nvPr/>
        </p:nvGrpSpPr>
        <p:grpSpPr bwMode="auto">
          <a:xfrm>
            <a:off x="5453063" y="2247341"/>
            <a:ext cx="4711700" cy="1216025"/>
            <a:chOff x="2509" y="2210"/>
            <a:chExt cx="2968" cy="766"/>
          </a:xfrm>
        </p:grpSpPr>
        <p:sp>
          <p:nvSpPr>
            <p:cNvPr id="834584" name="Line 24"/>
            <p:cNvSpPr>
              <a:spLocks noChangeShapeType="1"/>
            </p:cNvSpPr>
            <p:nvPr/>
          </p:nvSpPr>
          <p:spPr bwMode="auto">
            <a:xfrm flipH="1" flipV="1">
              <a:off x="2663" y="2210"/>
              <a:ext cx="156" cy="403"/>
            </a:xfrm>
            <a:prstGeom prst="line">
              <a:avLst/>
            </a:prstGeom>
            <a:noFill/>
            <a:ln w="12700">
              <a:solidFill>
                <a:schemeClr val="folHlink"/>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85" name="Rectangle 25"/>
            <p:cNvSpPr>
              <a:spLocks noChangeArrowheads="1"/>
            </p:cNvSpPr>
            <p:nvPr/>
          </p:nvSpPr>
          <p:spPr bwMode="auto">
            <a:xfrm>
              <a:off x="2509" y="2574"/>
              <a:ext cx="2968"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kumimoji="0" lang="zh-CN" altLang="en-US" sz="1800">
                  <a:solidFill>
                    <a:schemeClr val="folHlink"/>
                  </a:solidFill>
                </a:rPr>
                <a:t>定义负载数据的报文类型</a:t>
              </a:r>
              <a:r>
                <a:rPr kumimoji="0" lang="en-US" altLang="zh-CN" sz="1800">
                  <a:solidFill>
                    <a:schemeClr val="folHlink"/>
                  </a:solidFill>
                </a:rPr>
                <a:t>,</a:t>
              </a:r>
              <a:r>
                <a:rPr kumimoji="0" lang="zh-CN" altLang="en-US" sz="1800">
                  <a:solidFill>
                    <a:schemeClr val="folHlink"/>
                  </a:solidFill>
                </a:rPr>
                <a:t>比如   </a:t>
              </a:r>
              <a:r>
                <a:rPr kumimoji="0" lang="en-US" altLang="zh-CN" sz="1800">
                  <a:solidFill>
                    <a:schemeClr val="folHlink"/>
                  </a:solidFill>
                </a:rPr>
                <a:t>LCP, NCP, IP, OSI CLNP, IPX</a:t>
              </a:r>
              <a:r>
                <a:rPr kumimoji="0" lang="zh-CN" altLang="en-US" sz="1800">
                  <a:solidFill>
                    <a:schemeClr val="folHlink"/>
                  </a:solidFill>
                </a:rPr>
                <a:t>等</a:t>
              </a:r>
              <a:r>
                <a:rPr kumimoji="0" lang="en-US" altLang="zh-CN" sz="1800">
                  <a:solidFill>
                    <a:schemeClr val="folHlink"/>
                  </a:solidFill>
                </a:rPr>
                <a:t>,</a:t>
              </a:r>
              <a:r>
                <a:rPr kumimoji="0" lang="zh-CN" altLang="en-US" sz="1800">
                  <a:solidFill>
                    <a:schemeClr val="folHlink"/>
                  </a:solidFill>
                </a:rPr>
                <a:t>定义如下</a:t>
              </a:r>
            </a:p>
          </p:txBody>
        </p:sp>
      </p:grpSp>
      <p:grpSp>
        <p:nvGrpSpPr>
          <p:cNvPr id="834586" name="Group 26"/>
          <p:cNvGrpSpPr/>
          <p:nvPr/>
        </p:nvGrpSpPr>
        <p:grpSpPr bwMode="auto">
          <a:xfrm>
            <a:off x="1887539" y="2247342"/>
            <a:ext cx="2028825" cy="1471613"/>
            <a:chOff x="263" y="2210"/>
            <a:chExt cx="1278" cy="927"/>
          </a:xfrm>
        </p:grpSpPr>
        <p:sp>
          <p:nvSpPr>
            <p:cNvPr id="834587" name="Line 27"/>
            <p:cNvSpPr>
              <a:spLocks noChangeShapeType="1"/>
            </p:cNvSpPr>
            <p:nvPr/>
          </p:nvSpPr>
          <p:spPr bwMode="auto">
            <a:xfrm flipV="1">
              <a:off x="1215" y="2210"/>
              <a:ext cx="128" cy="336"/>
            </a:xfrm>
            <a:prstGeom prst="line">
              <a:avLst/>
            </a:prstGeom>
            <a:noFill/>
            <a:ln w="12700" cap="rnd">
              <a:solidFill>
                <a:schemeClr val="folHlink"/>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88" name="Rectangle 28"/>
            <p:cNvSpPr>
              <a:spLocks noChangeArrowheads="1"/>
            </p:cNvSpPr>
            <p:nvPr/>
          </p:nvSpPr>
          <p:spPr bwMode="auto">
            <a:xfrm>
              <a:off x="263" y="2557"/>
              <a:ext cx="127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zh-CN" altLang="en-US" sz="1800">
                  <a:solidFill>
                    <a:schemeClr val="folHlink"/>
                  </a:solidFill>
                </a:rPr>
                <a:t>因为是点</a:t>
              </a:r>
              <a:r>
                <a:rPr kumimoji="0" lang="en-US" altLang="zh-CN" sz="1800">
                  <a:solidFill>
                    <a:schemeClr val="folHlink"/>
                  </a:solidFill>
                </a:rPr>
                <a:t>—</a:t>
              </a:r>
              <a:r>
                <a:rPr kumimoji="0" lang="zh-CN" altLang="en-US" sz="1800">
                  <a:solidFill>
                    <a:schemeClr val="folHlink"/>
                  </a:solidFill>
                </a:rPr>
                <a:t>点连接</a:t>
              </a:r>
            </a:p>
            <a:p>
              <a:pPr eaLnBrk="0" hangingPunct="0"/>
              <a:r>
                <a:rPr kumimoji="0" lang="zh-CN" altLang="en-US" sz="1800">
                  <a:solidFill>
                    <a:schemeClr val="folHlink"/>
                  </a:solidFill>
                </a:rPr>
                <a:t>→所以地址域</a:t>
              </a:r>
            </a:p>
            <a:p>
              <a:pPr eaLnBrk="0" hangingPunct="0"/>
              <a:r>
                <a:rPr kumimoji="0" lang="zh-CN" altLang="en-US" sz="1800">
                  <a:solidFill>
                    <a:schemeClr val="folHlink"/>
                  </a:solidFill>
                </a:rPr>
                <a:t>无意义，</a:t>
              </a:r>
            </a:p>
          </p:txBody>
        </p:sp>
      </p:grpSp>
      <p:sp>
        <p:nvSpPr>
          <p:cNvPr id="834589" name="Text Box 29"/>
          <p:cNvSpPr txBox="1">
            <a:spLocks noChangeArrowheads="1"/>
          </p:cNvSpPr>
          <p:nvPr/>
        </p:nvSpPr>
        <p:spPr bwMode="auto">
          <a:xfrm>
            <a:off x="9593263" y="6553201"/>
            <a:ext cx="1841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endParaRPr kumimoji="0" lang="zh-CN" altLang="zh-CN" sz="1000"/>
          </a:p>
        </p:txBody>
      </p:sp>
      <p:sp>
        <p:nvSpPr>
          <p:cNvPr id="834590" name="Text Box 30"/>
          <p:cNvSpPr txBox="1">
            <a:spLocks noChangeArrowheads="1"/>
          </p:cNvSpPr>
          <p:nvPr/>
        </p:nvSpPr>
        <p:spPr bwMode="auto">
          <a:xfrm>
            <a:off x="1733550" y="260350"/>
            <a:ext cx="8586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endParaRPr lang="zh-CN" altLang="zh-CN" sz="3600">
              <a:solidFill>
                <a:schemeClr val="hlink"/>
              </a:solidFill>
              <a:latin typeface="新宋体" pitchFamily="49" charset="-122"/>
              <a:ea typeface="新宋体" pitchFamily="49" charset="-122"/>
            </a:endParaRPr>
          </a:p>
        </p:txBody>
      </p:sp>
      <p:sp>
        <p:nvSpPr>
          <p:cNvPr id="834591" name="Rectangle 31"/>
          <p:cNvSpPr>
            <a:spLocks noGrp="1" noChangeArrowheads="1"/>
          </p:cNvSpPr>
          <p:nvPr>
            <p:ph type="title"/>
          </p:nvPr>
        </p:nvSpPr>
        <p:spPr>
          <a:xfrm>
            <a:off x="2211388" y="0"/>
            <a:ext cx="7772400" cy="1143000"/>
          </a:xfrm>
          <a:noFill/>
        </p:spPr>
        <p:txBody>
          <a:bodyPr/>
          <a:lstStyle/>
          <a:p>
            <a:r>
              <a:rPr lang="en-US" altLang="zh-CN" sz="3600" b="0">
                <a:latin typeface="新宋体" pitchFamily="49" charset="-122"/>
                <a:ea typeface="新宋体" pitchFamily="49" charset="-122"/>
              </a:rPr>
              <a:t>PPP </a:t>
            </a:r>
            <a:r>
              <a:rPr lang="zh-CN" altLang="en-US" sz="3600" b="0">
                <a:latin typeface="新宋体" pitchFamily="49" charset="-122"/>
                <a:ea typeface="新宋体" pitchFamily="49" charset="-122"/>
              </a:rPr>
              <a:t>帧格式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34586"/>
                                        </p:tgtEl>
                                        <p:attrNameLst>
                                          <p:attrName>style.visibility</p:attrName>
                                        </p:attrNameLst>
                                      </p:cBhvr>
                                      <p:to>
                                        <p:strVal val="visible"/>
                                      </p:to>
                                    </p:set>
                                    <p:anim calcmode="lin" valueType="num">
                                      <p:cBhvr additive="base">
                                        <p:cTn id="7" dur="500" fill="hold"/>
                                        <p:tgtEl>
                                          <p:spTgt spid="834586"/>
                                        </p:tgtEl>
                                        <p:attrNameLst>
                                          <p:attrName>ppt_x</p:attrName>
                                        </p:attrNameLst>
                                      </p:cBhvr>
                                      <p:tavLst>
                                        <p:tav tm="0">
                                          <p:val>
                                            <p:strVal val="1+#ppt_w/2"/>
                                          </p:val>
                                        </p:tav>
                                        <p:tav tm="100000">
                                          <p:val>
                                            <p:strVal val="#ppt_x"/>
                                          </p:val>
                                        </p:tav>
                                      </p:tavLst>
                                    </p:anim>
                                    <p:anim calcmode="lin" valueType="num">
                                      <p:cBhvr additive="base">
                                        <p:cTn id="8" dur="500" fill="hold"/>
                                        <p:tgtEl>
                                          <p:spTgt spid="8345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34580"/>
                                        </p:tgtEl>
                                        <p:attrNameLst>
                                          <p:attrName>style.visibility</p:attrName>
                                        </p:attrNameLst>
                                      </p:cBhvr>
                                      <p:to>
                                        <p:strVal val="visible"/>
                                      </p:to>
                                    </p:set>
                                    <p:anim calcmode="lin" valueType="num">
                                      <p:cBhvr additive="base">
                                        <p:cTn id="13" dur="500" fill="hold"/>
                                        <p:tgtEl>
                                          <p:spTgt spid="834580"/>
                                        </p:tgtEl>
                                        <p:attrNameLst>
                                          <p:attrName>ppt_x</p:attrName>
                                        </p:attrNameLst>
                                      </p:cBhvr>
                                      <p:tavLst>
                                        <p:tav tm="0">
                                          <p:val>
                                            <p:strVal val="1+#ppt_w/2"/>
                                          </p:val>
                                        </p:tav>
                                        <p:tav tm="100000">
                                          <p:val>
                                            <p:strVal val="#ppt_x"/>
                                          </p:val>
                                        </p:tav>
                                      </p:tavLst>
                                    </p:anim>
                                    <p:anim calcmode="lin" valueType="num">
                                      <p:cBhvr additive="base">
                                        <p:cTn id="14" dur="500" fill="hold"/>
                                        <p:tgtEl>
                                          <p:spTgt spid="83458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834583"/>
                                        </p:tgtEl>
                                        <p:attrNameLst>
                                          <p:attrName>style.visibility</p:attrName>
                                        </p:attrNameLst>
                                      </p:cBhvr>
                                      <p:to>
                                        <p:strVal val="visible"/>
                                      </p:to>
                                    </p:set>
                                    <p:anim calcmode="lin" valueType="num">
                                      <p:cBhvr additive="base">
                                        <p:cTn id="19" dur="500" fill="hold"/>
                                        <p:tgtEl>
                                          <p:spTgt spid="834583"/>
                                        </p:tgtEl>
                                        <p:attrNameLst>
                                          <p:attrName>ppt_x</p:attrName>
                                        </p:attrNameLst>
                                      </p:cBhvr>
                                      <p:tavLst>
                                        <p:tav tm="0">
                                          <p:val>
                                            <p:strVal val="1+#ppt_w/2"/>
                                          </p:val>
                                        </p:tav>
                                        <p:tav tm="100000">
                                          <p:val>
                                            <p:strVal val="#ppt_x"/>
                                          </p:val>
                                        </p:tav>
                                      </p:tavLst>
                                    </p:anim>
                                    <p:anim calcmode="lin" valueType="num">
                                      <p:cBhvr additive="base">
                                        <p:cTn id="20" dur="500" fill="hold"/>
                                        <p:tgtEl>
                                          <p:spTgt spid="8345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Rectangle 2"/>
          <p:cNvSpPr>
            <a:spLocks noGrp="1" noChangeArrowheads="1"/>
          </p:cNvSpPr>
          <p:nvPr>
            <p:ph type="title"/>
          </p:nvPr>
        </p:nvSpPr>
        <p:spPr>
          <a:xfrm>
            <a:off x="2173288" y="0"/>
            <a:ext cx="7772400" cy="1143000"/>
          </a:xfrm>
          <a:noFill/>
        </p:spPr>
        <p:txBody>
          <a:bodyPr/>
          <a:lstStyle/>
          <a:p>
            <a:r>
              <a:rPr lang="en-US" altLang="zh-CN" sz="3600">
                <a:latin typeface="新宋体" pitchFamily="49" charset="-122"/>
                <a:ea typeface="新宋体" pitchFamily="49" charset="-122"/>
              </a:rPr>
              <a:t>PPP</a:t>
            </a:r>
            <a:r>
              <a:rPr lang="zh-CN" altLang="en-US" sz="3600">
                <a:latin typeface="新宋体" pitchFamily="49" charset="-122"/>
                <a:ea typeface="新宋体" pitchFamily="49" charset="-122"/>
              </a:rPr>
              <a:t>协议域定义</a:t>
            </a:r>
          </a:p>
        </p:txBody>
      </p:sp>
      <p:grpSp>
        <p:nvGrpSpPr>
          <p:cNvPr id="836611" name="Group 3"/>
          <p:cNvGrpSpPr/>
          <p:nvPr/>
        </p:nvGrpSpPr>
        <p:grpSpPr bwMode="auto">
          <a:xfrm>
            <a:off x="901700" y="1341438"/>
            <a:ext cx="10680700" cy="5516562"/>
            <a:chOff x="-3" y="-3"/>
            <a:chExt cx="4153" cy="3633"/>
          </a:xfrm>
        </p:grpSpPr>
        <p:grpSp>
          <p:nvGrpSpPr>
            <p:cNvPr id="836612" name="Group 4"/>
            <p:cNvGrpSpPr/>
            <p:nvPr/>
          </p:nvGrpSpPr>
          <p:grpSpPr bwMode="auto">
            <a:xfrm>
              <a:off x="0" y="0"/>
              <a:ext cx="4147" cy="3627"/>
              <a:chOff x="0" y="0"/>
              <a:chExt cx="4147" cy="3627"/>
            </a:xfrm>
          </p:grpSpPr>
          <p:grpSp>
            <p:nvGrpSpPr>
              <p:cNvPr id="836613" name="Group 5"/>
              <p:cNvGrpSpPr/>
              <p:nvPr/>
            </p:nvGrpSpPr>
            <p:grpSpPr bwMode="auto">
              <a:xfrm>
                <a:off x="0" y="0"/>
                <a:ext cx="881" cy="403"/>
                <a:chOff x="0" y="0"/>
                <a:chExt cx="881" cy="403"/>
              </a:xfrm>
            </p:grpSpPr>
            <p:sp>
              <p:nvSpPr>
                <p:cNvPr id="836614" name="Rectangle 6"/>
                <p:cNvSpPr>
                  <a:spLocks noChangeArrowheads="1"/>
                </p:cNvSpPr>
                <p:nvPr/>
              </p:nvSpPr>
              <p:spPr bwMode="auto">
                <a:xfrm>
                  <a:off x="43" y="0"/>
                  <a:ext cx="7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zh-CN" altLang="en-US" sz="2000" b="1"/>
                    <a:t>协议域值</a:t>
                  </a:r>
                </a:p>
                <a:p>
                  <a:pPr algn="just" eaLnBrk="0" hangingPunct="0"/>
                  <a:endParaRPr lang="en-US" altLang="zh-CN" sz="2000" b="1"/>
                </a:p>
              </p:txBody>
            </p:sp>
            <p:sp>
              <p:nvSpPr>
                <p:cNvPr id="836615" name="Rectangle 7"/>
                <p:cNvSpPr>
                  <a:spLocks noChangeArrowheads="1"/>
                </p:cNvSpPr>
                <p:nvPr/>
              </p:nvSpPr>
              <p:spPr bwMode="auto">
                <a:xfrm>
                  <a:off x="0" y="0"/>
                  <a:ext cx="8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16" name="Group 8"/>
              <p:cNvGrpSpPr/>
              <p:nvPr/>
            </p:nvGrpSpPr>
            <p:grpSpPr bwMode="auto">
              <a:xfrm>
                <a:off x="881" y="0"/>
                <a:ext cx="3266" cy="403"/>
                <a:chOff x="881" y="0"/>
                <a:chExt cx="3266" cy="403"/>
              </a:xfrm>
            </p:grpSpPr>
            <p:sp>
              <p:nvSpPr>
                <p:cNvPr id="836617" name="Rectangle 9"/>
                <p:cNvSpPr>
                  <a:spLocks noChangeArrowheads="1"/>
                </p:cNvSpPr>
                <p:nvPr/>
              </p:nvSpPr>
              <p:spPr bwMode="auto">
                <a:xfrm>
                  <a:off x="924" y="0"/>
                  <a:ext cx="318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zh-CN" altLang="en-US" sz="2000" b="1"/>
                    <a:t>含义</a:t>
                  </a:r>
                </a:p>
                <a:p>
                  <a:pPr algn="just" eaLnBrk="0" hangingPunct="0"/>
                  <a:endParaRPr lang="en-US" altLang="zh-CN" sz="2000" b="1"/>
                </a:p>
              </p:txBody>
            </p:sp>
            <p:sp>
              <p:nvSpPr>
                <p:cNvPr id="836618" name="Rectangle 10"/>
                <p:cNvSpPr>
                  <a:spLocks noChangeArrowheads="1"/>
                </p:cNvSpPr>
                <p:nvPr/>
              </p:nvSpPr>
              <p:spPr bwMode="auto">
                <a:xfrm>
                  <a:off x="881" y="0"/>
                  <a:ext cx="326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19" name="Group 11"/>
              <p:cNvGrpSpPr/>
              <p:nvPr/>
            </p:nvGrpSpPr>
            <p:grpSpPr bwMode="auto">
              <a:xfrm>
                <a:off x="0" y="403"/>
                <a:ext cx="881" cy="403"/>
                <a:chOff x="0" y="403"/>
                <a:chExt cx="881" cy="403"/>
              </a:xfrm>
            </p:grpSpPr>
            <p:sp>
              <p:nvSpPr>
                <p:cNvPr id="836620" name="Rectangle 12"/>
                <p:cNvSpPr>
                  <a:spLocks noChangeArrowheads="1"/>
                </p:cNvSpPr>
                <p:nvPr/>
              </p:nvSpPr>
              <p:spPr bwMode="auto">
                <a:xfrm>
                  <a:off x="43" y="403"/>
                  <a:ext cx="7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solidFill>
                        <a:schemeClr val="hlink"/>
                      </a:solidFill>
                    </a:rPr>
                    <a:t>0021</a:t>
                  </a:r>
                </a:p>
                <a:p>
                  <a:pPr algn="just" eaLnBrk="0" hangingPunct="0"/>
                  <a:endParaRPr lang="en-US" altLang="zh-CN" sz="2000" b="1"/>
                </a:p>
              </p:txBody>
            </p:sp>
            <p:sp>
              <p:nvSpPr>
                <p:cNvPr id="836621" name="Rectangle 13"/>
                <p:cNvSpPr>
                  <a:spLocks noChangeArrowheads="1"/>
                </p:cNvSpPr>
                <p:nvPr/>
              </p:nvSpPr>
              <p:spPr bwMode="auto">
                <a:xfrm>
                  <a:off x="0" y="403"/>
                  <a:ext cx="8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22" name="Group 14"/>
              <p:cNvGrpSpPr/>
              <p:nvPr/>
            </p:nvGrpSpPr>
            <p:grpSpPr bwMode="auto">
              <a:xfrm>
                <a:off x="881" y="403"/>
                <a:ext cx="3266" cy="403"/>
                <a:chOff x="881" y="403"/>
                <a:chExt cx="3266" cy="403"/>
              </a:xfrm>
            </p:grpSpPr>
            <p:sp>
              <p:nvSpPr>
                <p:cNvPr id="836623" name="Rectangle 15"/>
                <p:cNvSpPr>
                  <a:spLocks noChangeArrowheads="1"/>
                </p:cNvSpPr>
                <p:nvPr/>
              </p:nvSpPr>
              <p:spPr bwMode="auto">
                <a:xfrm>
                  <a:off x="924" y="403"/>
                  <a:ext cx="318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solidFill>
                        <a:schemeClr val="hlink"/>
                      </a:solidFill>
                    </a:rPr>
                    <a:t>Internet protocol</a:t>
                  </a:r>
                  <a:r>
                    <a:rPr lang="zh-CN" altLang="en-US" sz="2000" b="1">
                      <a:solidFill>
                        <a:schemeClr val="hlink"/>
                      </a:solidFill>
                    </a:rPr>
                    <a:t>（</a:t>
                  </a:r>
                  <a:r>
                    <a:rPr lang="en-US" altLang="zh-CN" sz="2000" b="1">
                      <a:solidFill>
                        <a:schemeClr val="hlink"/>
                      </a:solidFill>
                    </a:rPr>
                    <a:t>IP</a:t>
                  </a:r>
                  <a:r>
                    <a:rPr lang="zh-CN" altLang="en-US" sz="2000" b="1">
                      <a:solidFill>
                        <a:schemeClr val="hlink"/>
                      </a:solidFill>
                    </a:rPr>
                    <a:t>协议）</a:t>
                  </a:r>
                </a:p>
                <a:p>
                  <a:pPr algn="just" eaLnBrk="0" hangingPunct="0"/>
                  <a:endParaRPr lang="en-US" altLang="zh-CN" sz="2000" b="1"/>
                </a:p>
              </p:txBody>
            </p:sp>
            <p:sp>
              <p:nvSpPr>
                <p:cNvPr id="836624" name="Rectangle 16"/>
                <p:cNvSpPr>
                  <a:spLocks noChangeArrowheads="1"/>
                </p:cNvSpPr>
                <p:nvPr/>
              </p:nvSpPr>
              <p:spPr bwMode="auto">
                <a:xfrm>
                  <a:off x="881" y="403"/>
                  <a:ext cx="326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25" name="Group 17"/>
              <p:cNvGrpSpPr/>
              <p:nvPr/>
            </p:nvGrpSpPr>
            <p:grpSpPr bwMode="auto">
              <a:xfrm>
                <a:off x="0" y="806"/>
                <a:ext cx="881" cy="403"/>
                <a:chOff x="0" y="806"/>
                <a:chExt cx="881" cy="403"/>
              </a:xfrm>
            </p:grpSpPr>
            <p:sp>
              <p:nvSpPr>
                <p:cNvPr id="836626" name="Rectangle 18"/>
                <p:cNvSpPr>
                  <a:spLocks noChangeArrowheads="1"/>
                </p:cNvSpPr>
                <p:nvPr/>
              </p:nvSpPr>
              <p:spPr bwMode="auto">
                <a:xfrm>
                  <a:off x="43" y="806"/>
                  <a:ext cx="7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t>002D</a:t>
                  </a:r>
                </a:p>
              </p:txBody>
            </p:sp>
            <p:sp>
              <p:nvSpPr>
                <p:cNvPr id="836627" name="Rectangle 19"/>
                <p:cNvSpPr>
                  <a:spLocks noChangeArrowheads="1"/>
                </p:cNvSpPr>
                <p:nvPr/>
              </p:nvSpPr>
              <p:spPr bwMode="auto">
                <a:xfrm>
                  <a:off x="0" y="806"/>
                  <a:ext cx="8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28" name="Group 20"/>
              <p:cNvGrpSpPr/>
              <p:nvPr/>
            </p:nvGrpSpPr>
            <p:grpSpPr bwMode="auto">
              <a:xfrm>
                <a:off x="881" y="806"/>
                <a:ext cx="3266" cy="403"/>
                <a:chOff x="881" y="806"/>
                <a:chExt cx="3266" cy="403"/>
              </a:xfrm>
            </p:grpSpPr>
            <p:sp>
              <p:nvSpPr>
                <p:cNvPr id="836629" name="Rectangle 21"/>
                <p:cNvSpPr>
                  <a:spLocks noChangeArrowheads="1"/>
                </p:cNvSpPr>
                <p:nvPr/>
              </p:nvSpPr>
              <p:spPr bwMode="auto">
                <a:xfrm>
                  <a:off x="924" y="806"/>
                  <a:ext cx="318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t>Van Jacobson Compressed TCP/IP</a:t>
                  </a:r>
                  <a:r>
                    <a:rPr lang="zh-CN" altLang="en-US" sz="2000" b="1"/>
                    <a:t>（压缩的</a:t>
                  </a:r>
                  <a:r>
                    <a:rPr lang="en-US" altLang="zh-CN" sz="2000" b="1"/>
                    <a:t>TCP/IP</a:t>
                  </a:r>
                  <a:r>
                    <a:rPr lang="zh-CN" altLang="en-US" sz="2000" b="1"/>
                    <a:t>）</a:t>
                  </a:r>
                </a:p>
                <a:p>
                  <a:pPr algn="just" eaLnBrk="0" hangingPunct="0"/>
                  <a:endParaRPr lang="en-US" altLang="zh-CN" sz="2000" b="1"/>
                </a:p>
              </p:txBody>
            </p:sp>
            <p:sp>
              <p:nvSpPr>
                <p:cNvPr id="836630" name="Rectangle 22"/>
                <p:cNvSpPr>
                  <a:spLocks noChangeArrowheads="1"/>
                </p:cNvSpPr>
                <p:nvPr/>
              </p:nvSpPr>
              <p:spPr bwMode="auto">
                <a:xfrm>
                  <a:off x="881" y="806"/>
                  <a:ext cx="326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31" name="Group 23"/>
              <p:cNvGrpSpPr/>
              <p:nvPr/>
            </p:nvGrpSpPr>
            <p:grpSpPr bwMode="auto">
              <a:xfrm>
                <a:off x="0" y="1209"/>
                <a:ext cx="881" cy="403"/>
                <a:chOff x="0" y="1209"/>
                <a:chExt cx="881" cy="403"/>
              </a:xfrm>
            </p:grpSpPr>
            <p:sp>
              <p:nvSpPr>
                <p:cNvPr id="836632" name="Rectangle 24"/>
                <p:cNvSpPr>
                  <a:spLocks noChangeArrowheads="1"/>
                </p:cNvSpPr>
                <p:nvPr/>
              </p:nvSpPr>
              <p:spPr bwMode="auto">
                <a:xfrm>
                  <a:off x="43" y="1209"/>
                  <a:ext cx="7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t>002F</a:t>
                  </a:r>
                </a:p>
                <a:p>
                  <a:pPr algn="just" eaLnBrk="0" hangingPunct="0"/>
                  <a:endParaRPr lang="en-US" altLang="zh-CN" sz="2000" b="1"/>
                </a:p>
              </p:txBody>
            </p:sp>
            <p:sp>
              <p:nvSpPr>
                <p:cNvPr id="836633" name="Rectangle 25"/>
                <p:cNvSpPr>
                  <a:spLocks noChangeArrowheads="1"/>
                </p:cNvSpPr>
                <p:nvPr/>
              </p:nvSpPr>
              <p:spPr bwMode="auto">
                <a:xfrm>
                  <a:off x="0" y="1209"/>
                  <a:ext cx="8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34" name="Group 26"/>
              <p:cNvGrpSpPr/>
              <p:nvPr/>
            </p:nvGrpSpPr>
            <p:grpSpPr bwMode="auto">
              <a:xfrm>
                <a:off x="881" y="1209"/>
                <a:ext cx="3266" cy="403"/>
                <a:chOff x="881" y="1209"/>
                <a:chExt cx="3266" cy="403"/>
              </a:xfrm>
            </p:grpSpPr>
            <p:sp>
              <p:nvSpPr>
                <p:cNvPr id="836635" name="Rectangle 27"/>
                <p:cNvSpPr>
                  <a:spLocks noChangeArrowheads="1"/>
                </p:cNvSpPr>
                <p:nvPr/>
              </p:nvSpPr>
              <p:spPr bwMode="auto">
                <a:xfrm>
                  <a:off x="924" y="1209"/>
                  <a:ext cx="318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t>Van Jacobson Uncompressed TCP/IP</a:t>
                  </a:r>
                  <a:r>
                    <a:rPr lang="zh-CN" altLang="en-US" sz="2000" b="1"/>
                    <a:t>（未压缩的</a:t>
                  </a:r>
                  <a:r>
                    <a:rPr lang="en-US" altLang="zh-CN" sz="2000" b="1"/>
                    <a:t>TCP/IP</a:t>
                  </a:r>
                  <a:r>
                    <a:rPr lang="zh-CN" altLang="en-US" sz="2000" b="1"/>
                    <a:t>）</a:t>
                  </a:r>
                </a:p>
                <a:p>
                  <a:pPr algn="just" eaLnBrk="0" hangingPunct="0"/>
                  <a:endParaRPr lang="en-US" altLang="zh-CN" sz="2000" b="1"/>
                </a:p>
              </p:txBody>
            </p:sp>
            <p:sp>
              <p:nvSpPr>
                <p:cNvPr id="836636" name="Rectangle 28"/>
                <p:cNvSpPr>
                  <a:spLocks noChangeArrowheads="1"/>
                </p:cNvSpPr>
                <p:nvPr/>
              </p:nvSpPr>
              <p:spPr bwMode="auto">
                <a:xfrm>
                  <a:off x="881" y="1209"/>
                  <a:ext cx="326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37" name="Group 29"/>
              <p:cNvGrpSpPr/>
              <p:nvPr/>
            </p:nvGrpSpPr>
            <p:grpSpPr bwMode="auto">
              <a:xfrm>
                <a:off x="0" y="1612"/>
                <a:ext cx="881" cy="403"/>
                <a:chOff x="0" y="1612"/>
                <a:chExt cx="881" cy="403"/>
              </a:xfrm>
            </p:grpSpPr>
            <p:sp>
              <p:nvSpPr>
                <p:cNvPr id="836638" name="Rectangle 30"/>
                <p:cNvSpPr>
                  <a:spLocks noChangeArrowheads="1"/>
                </p:cNvSpPr>
                <p:nvPr/>
              </p:nvSpPr>
              <p:spPr bwMode="auto">
                <a:xfrm>
                  <a:off x="43" y="1612"/>
                  <a:ext cx="7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solidFill>
                        <a:schemeClr val="hlink"/>
                      </a:solidFill>
                    </a:rPr>
                    <a:t>8021</a:t>
                  </a:r>
                </a:p>
                <a:p>
                  <a:pPr algn="just" eaLnBrk="0" hangingPunct="0"/>
                  <a:endParaRPr lang="en-US" altLang="zh-CN" sz="2000" b="1"/>
                </a:p>
              </p:txBody>
            </p:sp>
            <p:sp>
              <p:nvSpPr>
                <p:cNvPr id="836639" name="Rectangle 31"/>
                <p:cNvSpPr>
                  <a:spLocks noChangeArrowheads="1"/>
                </p:cNvSpPr>
                <p:nvPr/>
              </p:nvSpPr>
              <p:spPr bwMode="auto">
                <a:xfrm>
                  <a:off x="0" y="1612"/>
                  <a:ext cx="8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40" name="Group 32"/>
              <p:cNvGrpSpPr/>
              <p:nvPr/>
            </p:nvGrpSpPr>
            <p:grpSpPr bwMode="auto">
              <a:xfrm>
                <a:off x="881" y="1612"/>
                <a:ext cx="3266" cy="403"/>
                <a:chOff x="881" y="1612"/>
                <a:chExt cx="3266" cy="403"/>
              </a:xfrm>
            </p:grpSpPr>
            <p:sp>
              <p:nvSpPr>
                <p:cNvPr id="836641" name="Rectangle 33"/>
                <p:cNvSpPr>
                  <a:spLocks noChangeArrowheads="1"/>
                </p:cNvSpPr>
                <p:nvPr/>
              </p:nvSpPr>
              <p:spPr bwMode="auto">
                <a:xfrm>
                  <a:off x="924" y="1612"/>
                  <a:ext cx="318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solidFill>
                        <a:schemeClr val="hlink"/>
                      </a:solidFill>
                    </a:rPr>
                    <a:t>IPCP</a:t>
                  </a:r>
                  <a:r>
                    <a:rPr lang="zh-CN" altLang="en-US" sz="2000" b="1">
                      <a:solidFill>
                        <a:schemeClr val="hlink"/>
                      </a:solidFill>
                    </a:rPr>
                    <a:t>（</a:t>
                  </a:r>
                  <a:r>
                    <a:rPr lang="en-US" altLang="zh-CN" sz="2000" b="1">
                      <a:solidFill>
                        <a:schemeClr val="hlink"/>
                      </a:solidFill>
                    </a:rPr>
                    <a:t>IP</a:t>
                  </a:r>
                  <a:r>
                    <a:rPr lang="zh-CN" altLang="en-US" sz="2000" b="1">
                      <a:solidFill>
                        <a:schemeClr val="hlink"/>
                      </a:solidFill>
                    </a:rPr>
                    <a:t>控制协议）</a:t>
                  </a:r>
                </a:p>
                <a:p>
                  <a:pPr algn="just" eaLnBrk="0" hangingPunct="0"/>
                  <a:endParaRPr lang="en-US" altLang="zh-CN" sz="2000" b="1"/>
                </a:p>
              </p:txBody>
            </p:sp>
            <p:sp>
              <p:nvSpPr>
                <p:cNvPr id="836642" name="Rectangle 34"/>
                <p:cNvSpPr>
                  <a:spLocks noChangeArrowheads="1"/>
                </p:cNvSpPr>
                <p:nvPr/>
              </p:nvSpPr>
              <p:spPr bwMode="auto">
                <a:xfrm>
                  <a:off x="881" y="1612"/>
                  <a:ext cx="326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43" name="Group 35"/>
              <p:cNvGrpSpPr/>
              <p:nvPr/>
            </p:nvGrpSpPr>
            <p:grpSpPr bwMode="auto">
              <a:xfrm>
                <a:off x="0" y="2015"/>
                <a:ext cx="881" cy="403"/>
                <a:chOff x="0" y="2015"/>
                <a:chExt cx="881" cy="403"/>
              </a:xfrm>
            </p:grpSpPr>
            <p:sp>
              <p:nvSpPr>
                <p:cNvPr id="836644" name="Rectangle 36"/>
                <p:cNvSpPr>
                  <a:spLocks noChangeArrowheads="1"/>
                </p:cNvSpPr>
                <p:nvPr/>
              </p:nvSpPr>
              <p:spPr bwMode="auto">
                <a:xfrm>
                  <a:off x="43" y="2015"/>
                  <a:ext cx="7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solidFill>
                        <a:schemeClr val="hlink"/>
                      </a:solidFill>
                    </a:rPr>
                    <a:t>C021</a:t>
                  </a:r>
                </a:p>
                <a:p>
                  <a:pPr algn="just" eaLnBrk="0" hangingPunct="0"/>
                  <a:endParaRPr lang="en-US" altLang="zh-CN" sz="2000" b="1">
                    <a:solidFill>
                      <a:schemeClr val="hlink"/>
                    </a:solidFill>
                  </a:endParaRPr>
                </a:p>
              </p:txBody>
            </p:sp>
            <p:sp>
              <p:nvSpPr>
                <p:cNvPr id="836645" name="Rectangle 37"/>
                <p:cNvSpPr>
                  <a:spLocks noChangeArrowheads="1"/>
                </p:cNvSpPr>
                <p:nvPr/>
              </p:nvSpPr>
              <p:spPr bwMode="auto">
                <a:xfrm>
                  <a:off x="0" y="2015"/>
                  <a:ext cx="8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46" name="Group 38"/>
              <p:cNvGrpSpPr/>
              <p:nvPr/>
            </p:nvGrpSpPr>
            <p:grpSpPr bwMode="auto">
              <a:xfrm>
                <a:off x="881" y="2015"/>
                <a:ext cx="3266" cy="403"/>
                <a:chOff x="881" y="2015"/>
                <a:chExt cx="3266" cy="403"/>
              </a:xfrm>
            </p:grpSpPr>
            <p:sp>
              <p:nvSpPr>
                <p:cNvPr id="836647" name="Rectangle 39"/>
                <p:cNvSpPr>
                  <a:spLocks noChangeArrowheads="1"/>
                </p:cNvSpPr>
                <p:nvPr/>
              </p:nvSpPr>
              <p:spPr bwMode="auto">
                <a:xfrm>
                  <a:off x="924" y="2015"/>
                  <a:ext cx="318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solidFill>
                        <a:schemeClr val="hlink"/>
                      </a:solidFill>
                    </a:rPr>
                    <a:t>LCP</a:t>
                  </a:r>
                  <a:r>
                    <a:rPr lang="zh-CN" altLang="en-US" sz="2000" b="1">
                      <a:solidFill>
                        <a:schemeClr val="hlink"/>
                      </a:solidFill>
                    </a:rPr>
                    <a:t>（链路控制协议）</a:t>
                  </a:r>
                </a:p>
                <a:p>
                  <a:pPr algn="just" eaLnBrk="0" hangingPunct="0"/>
                  <a:endParaRPr lang="en-US" altLang="zh-CN" sz="2000" b="1"/>
                </a:p>
              </p:txBody>
            </p:sp>
            <p:sp>
              <p:nvSpPr>
                <p:cNvPr id="836648" name="Rectangle 40"/>
                <p:cNvSpPr>
                  <a:spLocks noChangeArrowheads="1"/>
                </p:cNvSpPr>
                <p:nvPr/>
              </p:nvSpPr>
              <p:spPr bwMode="auto">
                <a:xfrm>
                  <a:off x="881" y="2015"/>
                  <a:ext cx="326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49" name="Group 41"/>
              <p:cNvGrpSpPr/>
              <p:nvPr/>
            </p:nvGrpSpPr>
            <p:grpSpPr bwMode="auto">
              <a:xfrm>
                <a:off x="0" y="2418"/>
                <a:ext cx="881" cy="403"/>
                <a:chOff x="0" y="2418"/>
                <a:chExt cx="881" cy="403"/>
              </a:xfrm>
            </p:grpSpPr>
            <p:sp>
              <p:nvSpPr>
                <p:cNvPr id="836650" name="Rectangle 42"/>
                <p:cNvSpPr>
                  <a:spLocks noChangeArrowheads="1"/>
                </p:cNvSpPr>
                <p:nvPr/>
              </p:nvSpPr>
              <p:spPr bwMode="auto">
                <a:xfrm>
                  <a:off x="43" y="2418"/>
                  <a:ext cx="7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t>C023</a:t>
                  </a:r>
                </a:p>
                <a:p>
                  <a:pPr algn="just" eaLnBrk="0" hangingPunct="0"/>
                  <a:endParaRPr lang="en-US" altLang="zh-CN" sz="2000" b="1"/>
                </a:p>
              </p:txBody>
            </p:sp>
            <p:sp>
              <p:nvSpPr>
                <p:cNvPr id="836651" name="Rectangle 43"/>
                <p:cNvSpPr>
                  <a:spLocks noChangeArrowheads="1"/>
                </p:cNvSpPr>
                <p:nvPr/>
              </p:nvSpPr>
              <p:spPr bwMode="auto">
                <a:xfrm>
                  <a:off x="0" y="2418"/>
                  <a:ext cx="8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52" name="Group 44"/>
              <p:cNvGrpSpPr/>
              <p:nvPr/>
            </p:nvGrpSpPr>
            <p:grpSpPr bwMode="auto">
              <a:xfrm>
                <a:off x="881" y="2418"/>
                <a:ext cx="3266" cy="403"/>
                <a:chOff x="881" y="2418"/>
                <a:chExt cx="3266" cy="403"/>
              </a:xfrm>
            </p:grpSpPr>
            <p:sp>
              <p:nvSpPr>
                <p:cNvPr id="836653" name="Rectangle 45"/>
                <p:cNvSpPr>
                  <a:spLocks noChangeArrowheads="1"/>
                </p:cNvSpPr>
                <p:nvPr/>
              </p:nvSpPr>
              <p:spPr bwMode="auto">
                <a:xfrm>
                  <a:off x="924" y="2418"/>
                  <a:ext cx="318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t>PAP(Password Authentication Protocol</a:t>
                  </a:r>
                  <a:r>
                    <a:rPr lang="zh-CN" altLang="en-US" sz="2000" b="1"/>
                    <a:t>，口令认证协议</a:t>
                  </a:r>
                  <a:r>
                    <a:rPr lang="en-US" altLang="zh-CN" sz="2000" b="1"/>
                    <a:t>)</a:t>
                  </a:r>
                </a:p>
                <a:p>
                  <a:pPr algn="just" eaLnBrk="0" hangingPunct="0"/>
                  <a:endParaRPr lang="en-US" altLang="zh-CN" sz="2000" b="1"/>
                </a:p>
              </p:txBody>
            </p:sp>
            <p:sp>
              <p:nvSpPr>
                <p:cNvPr id="836654" name="Rectangle 46"/>
                <p:cNvSpPr>
                  <a:spLocks noChangeArrowheads="1"/>
                </p:cNvSpPr>
                <p:nvPr/>
              </p:nvSpPr>
              <p:spPr bwMode="auto">
                <a:xfrm>
                  <a:off x="881" y="2418"/>
                  <a:ext cx="326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55" name="Group 47"/>
              <p:cNvGrpSpPr/>
              <p:nvPr/>
            </p:nvGrpSpPr>
            <p:grpSpPr bwMode="auto">
              <a:xfrm>
                <a:off x="0" y="2821"/>
                <a:ext cx="881" cy="403"/>
                <a:chOff x="0" y="2821"/>
                <a:chExt cx="881" cy="403"/>
              </a:xfrm>
            </p:grpSpPr>
            <p:sp>
              <p:nvSpPr>
                <p:cNvPr id="836656" name="Rectangle 48"/>
                <p:cNvSpPr>
                  <a:spLocks noChangeArrowheads="1"/>
                </p:cNvSpPr>
                <p:nvPr/>
              </p:nvSpPr>
              <p:spPr bwMode="auto">
                <a:xfrm>
                  <a:off x="43" y="2821"/>
                  <a:ext cx="7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t>*C025	</a:t>
                  </a:r>
                </a:p>
                <a:p>
                  <a:pPr algn="just" eaLnBrk="0" hangingPunct="0"/>
                  <a:endParaRPr lang="en-US" altLang="zh-CN" sz="2000" b="1"/>
                </a:p>
              </p:txBody>
            </p:sp>
            <p:sp>
              <p:nvSpPr>
                <p:cNvPr id="836657" name="Rectangle 49"/>
                <p:cNvSpPr>
                  <a:spLocks noChangeArrowheads="1"/>
                </p:cNvSpPr>
                <p:nvPr/>
              </p:nvSpPr>
              <p:spPr bwMode="auto">
                <a:xfrm>
                  <a:off x="0" y="2821"/>
                  <a:ext cx="8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58" name="Group 50"/>
              <p:cNvGrpSpPr/>
              <p:nvPr/>
            </p:nvGrpSpPr>
            <p:grpSpPr bwMode="auto">
              <a:xfrm>
                <a:off x="881" y="2821"/>
                <a:ext cx="3266" cy="403"/>
                <a:chOff x="881" y="2821"/>
                <a:chExt cx="3266" cy="403"/>
              </a:xfrm>
            </p:grpSpPr>
            <p:sp>
              <p:nvSpPr>
                <p:cNvPr id="836659" name="Rectangle 51"/>
                <p:cNvSpPr>
                  <a:spLocks noChangeArrowheads="1"/>
                </p:cNvSpPr>
                <p:nvPr/>
              </p:nvSpPr>
              <p:spPr bwMode="auto">
                <a:xfrm>
                  <a:off x="924" y="2821"/>
                  <a:ext cx="318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t>LQR</a:t>
                  </a:r>
                  <a:r>
                    <a:rPr lang="zh-CN" altLang="en-US" sz="2000" b="1"/>
                    <a:t>（</a:t>
                  </a:r>
                  <a:r>
                    <a:rPr lang="en-US" altLang="zh-CN" sz="2000" b="1"/>
                    <a:t>Link Quality Report</a:t>
                  </a:r>
                  <a:r>
                    <a:rPr lang="zh-CN" altLang="en-US" sz="2000" b="1"/>
                    <a:t>，链路质量报告）</a:t>
                  </a:r>
                </a:p>
                <a:p>
                  <a:pPr algn="just" eaLnBrk="0" hangingPunct="0"/>
                  <a:endParaRPr lang="en-US" altLang="zh-CN" sz="2000" b="1"/>
                </a:p>
              </p:txBody>
            </p:sp>
            <p:sp>
              <p:nvSpPr>
                <p:cNvPr id="836660" name="Rectangle 52"/>
                <p:cNvSpPr>
                  <a:spLocks noChangeArrowheads="1"/>
                </p:cNvSpPr>
                <p:nvPr/>
              </p:nvSpPr>
              <p:spPr bwMode="auto">
                <a:xfrm>
                  <a:off x="881" y="2821"/>
                  <a:ext cx="326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61" name="Group 53"/>
              <p:cNvGrpSpPr/>
              <p:nvPr/>
            </p:nvGrpSpPr>
            <p:grpSpPr bwMode="auto">
              <a:xfrm>
                <a:off x="0" y="3224"/>
                <a:ext cx="881" cy="403"/>
                <a:chOff x="0" y="3224"/>
                <a:chExt cx="881" cy="403"/>
              </a:xfrm>
            </p:grpSpPr>
            <p:sp>
              <p:nvSpPr>
                <p:cNvPr id="836662" name="Rectangle 54"/>
                <p:cNvSpPr>
                  <a:spLocks noChangeArrowheads="1"/>
                </p:cNvSpPr>
                <p:nvPr/>
              </p:nvSpPr>
              <p:spPr bwMode="auto">
                <a:xfrm>
                  <a:off x="43" y="3224"/>
                  <a:ext cx="7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t>*C223	</a:t>
                  </a:r>
                </a:p>
                <a:p>
                  <a:pPr algn="just" eaLnBrk="0" hangingPunct="0"/>
                  <a:endParaRPr lang="en-US" altLang="zh-CN" sz="2000" b="1"/>
                </a:p>
              </p:txBody>
            </p:sp>
            <p:sp>
              <p:nvSpPr>
                <p:cNvPr id="836663" name="Rectangle 55"/>
                <p:cNvSpPr>
                  <a:spLocks noChangeArrowheads="1"/>
                </p:cNvSpPr>
                <p:nvPr/>
              </p:nvSpPr>
              <p:spPr bwMode="auto">
                <a:xfrm>
                  <a:off x="0" y="3224"/>
                  <a:ext cx="881"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36664" name="Group 56"/>
              <p:cNvGrpSpPr/>
              <p:nvPr/>
            </p:nvGrpSpPr>
            <p:grpSpPr bwMode="auto">
              <a:xfrm>
                <a:off x="881" y="3224"/>
                <a:ext cx="3266" cy="403"/>
                <a:chOff x="881" y="3224"/>
                <a:chExt cx="3266" cy="403"/>
              </a:xfrm>
            </p:grpSpPr>
            <p:sp>
              <p:nvSpPr>
                <p:cNvPr id="836665" name="Rectangle 57"/>
                <p:cNvSpPr>
                  <a:spLocks noChangeArrowheads="1"/>
                </p:cNvSpPr>
                <p:nvPr/>
              </p:nvSpPr>
              <p:spPr bwMode="auto">
                <a:xfrm>
                  <a:off x="924" y="3224"/>
                  <a:ext cx="318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CN" sz="2000" b="1"/>
                    <a:t>CHAP(Change Handshake Authentication Protocol,</a:t>
                  </a:r>
                  <a:r>
                    <a:rPr lang="zh-CN" altLang="en-US" sz="2000" b="1"/>
                    <a:t>竞争握手认证协议</a:t>
                  </a:r>
                  <a:r>
                    <a:rPr lang="en-US" altLang="zh-CN" sz="2000" b="1"/>
                    <a:t>)</a:t>
                  </a:r>
                </a:p>
                <a:p>
                  <a:pPr algn="just" eaLnBrk="0" hangingPunct="0"/>
                  <a:endParaRPr lang="en-US" altLang="zh-CN" sz="2000" b="1"/>
                </a:p>
              </p:txBody>
            </p:sp>
            <p:sp>
              <p:nvSpPr>
                <p:cNvPr id="836666" name="Rectangle 58"/>
                <p:cNvSpPr>
                  <a:spLocks noChangeArrowheads="1"/>
                </p:cNvSpPr>
                <p:nvPr/>
              </p:nvSpPr>
              <p:spPr bwMode="auto">
                <a:xfrm>
                  <a:off x="881" y="3224"/>
                  <a:ext cx="3266" cy="403"/>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836667" name="Rectangle 59"/>
            <p:cNvSpPr>
              <a:spLocks noChangeArrowheads="1"/>
            </p:cNvSpPr>
            <p:nvPr/>
          </p:nvSpPr>
          <p:spPr bwMode="auto">
            <a:xfrm>
              <a:off x="-3" y="-3"/>
              <a:ext cx="4153" cy="3633"/>
            </a:xfrm>
            <a:prstGeom prst="rect">
              <a:avLst/>
            </a:prstGeom>
            <a:noFill/>
            <a:ln w="11112">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Sld>
  <p:clrMapOvr>
    <a:masterClrMapping/>
  </p:clrMapOvr>
  <p:transition spd="med">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p:cNvSpPr>
            <a:spLocks noGrp="1" noChangeArrowheads="1"/>
          </p:cNvSpPr>
          <p:nvPr>
            <p:ph type="title"/>
          </p:nvPr>
        </p:nvSpPr>
        <p:spPr>
          <a:xfrm>
            <a:off x="2160588" y="0"/>
            <a:ext cx="7772400" cy="1143000"/>
          </a:xfrm>
          <a:noFill/>
        </p:spPr>
        <p:txBody>
          <a:bodyPr/>
          <a:lstStyle/>
          <a:p>
            <a:r>
              <a:rPr lang="zh-CN" altLang="en-US" sz="3600">
                <a:latin typeface="新宋体" pitchFamily="49" charset="-122"/>
                <a:ea typeface="新宋体" pitchFamily="49" charset="-122"/>
              </a:rPr>
              <a:t>主要的</a:t>
            </a:r>
            <a:r>
              <a:rPr lang="en-US" altLang="zh-CN" sz="3600">
                <a:latin typeface="新宋体" pitchFamily="49" charset="-122"/>
                <a:ea typeface="新宋体" pitchFamily="49" charset="-122"/>
              </a:rPr>
              <a:t>PPP</a:t>
            </a:r>
            <a:r>
              <a:rPr lang="zh-CN" altLang="en-US" sz="3600">
                <a:latin typeface="新宋体" pitchFamily="49" charset="-122"/>
                <a:ea typeface="新宋体" pitchFamily="49" charset="-122"/>
              </a:rPr>
              <a:t>帧</a:t>
            </a:r>
          </a:p>
        </p:txBody>
      </p:sp>
      <p:pic>
        <p:nvPicPr>
          <p:cNvPr id="8376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8076" y="1778001"/>
            <a:ext cx="7694613" cy="3871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7636" name="Text Box 4"/>
          <p:cNvSpPr txBox="1">
            <a:spLocks noChangeArrowheads="1"/>
          </p:cNvSpPr>
          <p:nvPr/>
        </p:nvSpPr>
        <p:spPr bwMode="auto">
          <a:xfrm>
            <a:off x="2486025" y="3416300"/>
            <a:ext cx="1925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楷体_GB2312" pitchFamily="49" charset="-122"/>
                <a:ea typeface="楷体_GB2312" pitchFamily="49" charset="-122"/>
              </a:rPr>
              <a:t>传送</a:t>
            </a:r>
            <a:r>
              <a:rPr lang="en-US" altLang="zh-CN" sz="2400">
                <a:latin typeface="楷体_GB2312" pitchFamily="49" charset="-122"/>
                <a:ea typeface="楷体_GB2312" pitchFamily="49" charset="-122"/>
              </a:rPr>
              <a:t>IP</a:t>
            </a:r>
            <a:r>
              <a:rPr lang="zh-CN" altLang="en-US" sz="2400">
                <a:latin typeface="楷体_GB2312" pitchFamily="49" charset="-122"/>
                <a:ea typeface="楷体_GB2312" pitchFamily="49" charset="-122"/>
              </a:rPr>
              <a:t>分组</a:t>
            </a:r>
          </a:p>
        </p:txBody>
      </p:sp>
      <p:sp>
        <p:nvSpPr>
          <p:cNvPr id="837637" name="Text Box 5"/>
          <p:cNvSpPr txBox="1">
            <a:spLocks noChangeArrowheads="1"/>
          </p:cNvSpPr>
          <p:nvPr/>
        </p:nvSpPr>
        <p:spPr bwMode="auto">
          <a:xfrm>
            <a:off x="2686050" y="4289425"/>
            <a:ext cx="1925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楷体_GB2312" pitchFamily="49" charset="-122"/>
                <a:ea typeface="楷体_GB2312" pitchFamily="49" charset="-122"/>
              </a:rPr>
              <a:t>传送</a:t>
            </a:r>
            <a:r>
              <a:rPr lang="en-US" altLang="zh-CN" sz="2400">
                <a:latin typeface="楷体_GB2312" pitchFamily="49" charset="-122"/>
                <a:ea typeface="楷体_GB2312" pitchFamily="49" charset="-122"/>
              </a:rPr>
              <a:t>LCP</a:t>
            </a:r>
          </a:p>
        </p:txBody>
      </p:sp>
      <p:sp>
        <p:nvSpPr>
          <p:cNvPr id="837638" name="Text Box 6"/>
          <p:cNvSpPr txBox="1">
            <a:spLocks noChangeArrowheads="1"/>
          </p:cNvSpPr>
          <p:nvPr/>
        </p:nvSpPr>
        <p:spPr bwMode="auto">
          <a:xfrm>
            <a:off x="2613025" y="5108575"/>
            <a:ext cx="1925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latin typeface="楷体_GB2312" pitchFamily="49" charset="-122"/>
                <a:ea typeface="楷体_GB2312" pitchFamily="49" charset="-122"/>
              </a:rPr>
              <a:t>传送</a:t>
            </a:r>
            <a:r>
              <a:rPr lang="en-US" altLang="zh-CN" sz="2400">
                <a:latin typeface="楷体_GB2312" pitchFamily="49" charset="-122"/>
                <a:ea typeface="楷体_GB2312" pitchFamily="49" charset="-122"/>
              </a:rPr>
              <a:t>NCP</a:t>
            </a:r>
          </a:p>
        </p:txBody>
      </p:sp>
      <p:sp>
        <p:nvSpPr>
          <p:cNvPr id="837639" name="AutoShape 7"/>
          <p:cNvSpPr/>
          <p:nvPr/>
        </p:nvSpPr>
        <p:spPr bwMode="auto">
          <a:xfrm>
            <a:off x="8116889" y="4235450"/>
            <a:ext cx="217487" cy="1371600"/>
          </a:xfrm>
          <a:prstGeom prst="rightBrace">
            <a:avLst>
              <a:gd name="adj1" fmla="val 52555"/>
              <a:gd name="adj2" fmla="val 50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7640" name="Text Box 8"/>
          <p:cNvSpPr txBox="1">
            <a:spLocks noChangeArrowheads="1"/>
          </p:cNvSpPr>
          <p:nvPr/>
        </p:nvSpPr>
        <p:spPr bwMode="auto">
          <a:xfrm>
            <a:off x="8550275" y="4330701"/>
            <a:ext cx="1828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初始化建立链路时使用</a:t>
            </a:r>
          </a:p>
        </p:txBody>
      </p:sp>
      <p:sp>
        <p:nvSpPr>
          <p:cNvPr id="837641" name="Text Box 9"/>
          <p:cNvSpPr txBox="1">
            <a:spLocks noChangeArrowheads="1"/>
          </p:cNvSpPr>
          <p:nvPr/>
        </p:nvSpPr>
        <p:spPr bwMode="auto">
          <a:xfrm>
            <a:off x="8043864" y="3344864"/>
            <a:ext cx="26241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正式传输数据时使用</a:t>
            </a:r>
          </a:p>
        </p:txBody>
      </p:sp>
    </p:spTree>
  </p:cSld>
  <p:clrMapOvr>
    <a:masterClrMapping/>
  </p:clrMapOvr>
  <p:transition spd="med">
    <p:random/>
  </p:transition>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5826" name="Rectangle 2"/>
          <p:cNvSpPr>
            <a:spLocks noGrp="1" noChangeArrowheads="1"/>
          </p:cNvSpPr>
          <p:nvPr>
            <p:ph type="body" idx="1"/>
          </p:nvPr>
        </p:nvSpPr>
        <p:spPr>
          <a:xfrm>
            <a:off x="2435226" y="1597026"/>
            <a:ext cx="7288213" cy="3217863"/>
          </a:xfrm>
        </p:spPr>
        <p:txBody>
          <a:bodyPr/>
          <a:lstStyle/>
          <a:p>
            <a:pPr marL="285750" indent="-285750">
              <a:spcBef>
                <a:spcPct val="40000"/>
              </a:spcBef>
              <a:buNone/>
            </a:pPr>
            <a:r>
              <a:rPr lang="en-US" altLang="zh-CN" sz="2800" b="1"/>
              <a:t> </a:t>
            </a:r>
            <a:r>
              <a:rPr lang="zh-CN" altLang="en-US" sz="2800" b="1"/>
              <a:t>开始传输网络层数据之前，数据链路层对等实体必须： </a:t>
            </a:r>
          </a:p>
          <a:p>
            <a:pPr marL="285750" indent="-285750">
              <a:spcBef>
                <a:spcPct val="40000"/>
              </a:spcBef>
            </a:pPr>
            <a:r>
              <a:rPr lang="zh-CN" altLang="en-US" sz="2400" b="1">
                <a:solidFill>
                  <a:srgbClr val="FF0000"/>
                </a:solidFill>
              </a:rPr>
              <a:t>配置 </a:t>
            </a:r>
            <a:r>
              <a:rPr lang="en-US" altLang="zh-CN" sz="2400" b="1">
                <a:solidFill>
                  <a:srgbClr val="FF0000"/>
                </a:solidFill>
              </a:rPr>
              <a:t>PPP</a:t>
            </a:r>
            <a:r>
              <a:rPr lang="zh-CN" altLang="en-US" sz="2400" b="1">
                <a:solidFill>
                  <a:srgbClr val="FF0000"/>
                </a:solidFill>
              </a:rPr>
              <a:t>链路</a:t>
            </a:r>
            <a:r>
              <a:rPr lang="zh-CN" altLang="en-US" sz="2400" b="1"/>
              <a:t> </a:t>
            </a:r>
            <a:r>
              <a:rPr lang="en-US" altLang="zh-CN" sz="2400" b="1"/>
              <a:t>(</a:t>
            </a:r>
            <a:r>
              <a:rPr lang="zh-CN" altLang="en-US" sz="2400" b="1"/>
              <a:t>最大帧长</a:t>
            </a:r>
            <a:r>
              <a:rPr lang="en-US" altLang="zh-CN" sz="2400" b="1"/>
              <a:t>, </a:t>
            </a:r>
            <a:r>
              <a:rPr lang="zh-CN" altLang="en-US" sz="2400" b="1"/>
              <a:t>认证等</a:t>
            </a:r>
            <a:r>
              <a:rPr lang="en-US" altLang="zh-CN" sz="2400" b="1"/>
              <a:t>)</a:t>
            </a:r>
          </a:p>
          <a:p>
            <a:pPr marL="285750" indent="-285750">
              <a:spcBef>
                <a:spcPct val="40000"/>
              </a:spcBef>
            </a:pPr>
            <a:r>
              <a:rPr lang="zh-CN" altLang="en-US" sz="2400" b="1">
                <a:solidFill>
                  <a:srgbClr val="FF0000"/>
                </a:solidFill>
              </a:rPr>
              <a:t>学习</a:t>
            </a:r>
            <a:r>
              <a:rPr lang="en-US" altLang="zh-CN" sz="2400" b="1">
                <a:solidFill>
                  <a:srgbClr val="FF0000"/>
                </a:solidFill>
              </a:rPr>
              <a:t>/</a:t>
            </a:r>
            <a:r>
              <a:rPr lang="zh-CN" altLang="en-US" sz="2400" b="1">
                <a:solidFill>
                  <a:srgbClr val="FF0000"/>
                </a:solidFill>
              </a:rPr>
              <a:t>配置网络层信息</a:t>
            </a:r>
            <a:r>
              <a:rPr lang="zh-CN" altLang="en-US" sz="2400" b="1"/>
              <a:t> </a:t>
            </a:r>
          </a:p>
          <a:p>
            <a:pPr marL="866775" lvl="1">
              <a:spcBef>
                <a:spcPct val="40000"/>
              </a:spcBef>
            </a:pPr>
            <a:r>
              <a:rPr lang="zh-CN" altLang="en-US" sz="2400" b="1"/>
              <a:t>对于</a:t>
            </a:r>
            <a:r>
              <a:rPr lang="en-US" altLang="zh-CN" sz="2400" b="1"/>
              <a:t>IP: </a:t>
            </a:r>
            <a:r>
              <a:rPr lang="zh-CN" altLang="en-US" sz="2400" b="1"/>
              <a:t>通过 </a:t>
            </a:r>
            <a:r>
              <a:rPr lang="en-US" altLang="zh-CN" sz="2400" b="1"/>
              <a:t>IP </a:t>
            </a:r>
            <a:r>
              <a:rPr lang="zh-CN" altLang="en-US" sz="2400" b="1"/>
              <a:t>控制协议 </a:t>
            </a:r>
            <a:r>
              <a:rPr lang="en-US" altLang="zh-CN" sz="2400" b="1"/>
              <a:t>(IPCP) </a:t>
            </a:r>
            <a:r>
              <a:rPr lang="zh-CN" altLang="en-US" sz="2400" b="1"/>
              <a:t>报文</a:t>
            </a:r>
            <a:r>
              <a:rPr lang="en-US" altLang="zh-CN" sz="2400" b="1"/>
              <a:t>(</a:t>
            </a:r>
            <a:r>
              <a:rPr lang="zh-CN" altLang="en-US" sz="2400" b="1"/>
              <a:t>协议域</a:t>
            </a:r>
            <a:r>
              <a:rPr lang="en-US" altLang="zh-CN" sz="2400" b="1"/>
              <a:t>: 8021) </a:t>
            </a:r>
            <a:r>
              <a:rPr lang="zh-CN" altLang="en-US" sz="2400" b="1"/>
              <a:t>；来配置</a:t>
            </a:r>
            <a:r>
              <a:rPr lang="en-US" altLang="zh-CN" sz="2400" b="1"/>
              <a:t>/</a:t>
            </a:r>
            <a:r>
              <a:rPr lang="zh-CN" altLang="en-US" sz="2400" b="1"/>
              <a:t>学习</a:t>
            </a:r>
            <a:r>
              <a:rPr lang="en-US" altLang="zh-CN" sz="2400" b="1"/>
              <a:t>IP</a:t>
            </a:r>
            <a:r>
              <a:rPr lang="zh-CN" altLang="en-US" sz="2400" b="1"/>
              <a:t>地址</a:t>
            </a:r>
          </a:p>
        </p:txBody>
      </p:sp>
      <p:sp>
        <p:nvSpPr>
          <p:cNvPr id="845827" name="Rectangle 3"/>
          <p:cNvSpPr>
            <a:spLocks noGrp="1" noChangeArrowheads="1"/>
          </p:cNvSpPr>
          <p:nvPr>
            <p:ph type="title"/>
          </p:nvPr>
        </p:nvSpPr>
        <p:spPr>
          <a:xfrm>
            <a:off x="2197100" y="0"/>
            <a:ext cx="7772400" cy="1143000"/>
          </a:xfrm>
          <a:noFill/>
        </p:spPr>
        <p:txBody>
          <a:bodyPr/>
          <a:lstStyle/>
          <a:p>
            <a:r>
              <a:rPr lang="en-US" altLang="zh-CN" sz="3600">
                <a:latin typeface="新宋体" pitchFamily="49" charset="-122"/>
                <a:ea typeface="新宋体" pitchFamily="49" charset="-122"/>
              </a:rPr>
              <a:t>PPP </a:t>
            </a:r>
            <a:r>
              <a:rPr lang="zh-CN" altLang="en-US" sz="3600">
                <a:latin typeface="新宋体" pitchFamily="49" charset="-122"/>
                <a:ea typeface="新宋体" pitchFamily="49" charset="-122"/>
              </a:rPr>
              <a:t>数据控制协议</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45826">
                                            <p:txEl>
                                              <p:pRg st="0" end="0"/>
                                            </p:txEl>
                                          </p:spTgt>
                                        </p:tgtEl>
                                        <p:attrNameLst>
                                          <p:attrName>style.visibility</p:attrName>
                                        </p:attrNameLst>
                                      </p:cBhvr>
                                      <p:to>
                                        <p:strVal val="visible"/>
                                      </p:to>
                                    </p:set>
                                    <p:anim calcmode="lin" valueType="num">
                                      <p:cBhvr additive="base">
                                        <p:cTn id="7" dur="500" fill="hold"/>
                                        <p:tgtEl>
                                          <p:spTgt spid="84582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4582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45826">
                                            <p:txEl>
                                              <p:pRg st="1" end="1"/>
                                            </p:txEl>
                                          </p:spTgt>
                                        </p:tgtEl>
                                        <p:attrNameLst>
                                          <p:attrName>style.visibility</p:attrName>
                                        </p:attrNameLst>
                                      </p:cBhvr>
                                      <p:to>
                                        <p:strVal val="visible"/>
                                      </p:to>
                                    </p:set>
                                    <p:anim calcmode="lin" valueType="num">
                                      <p:cBhvr additive="base">
                                        <p:cTn id="13" dur="500" fill="hold"/>
                                        <p:tgtEl>
                                          <p:spTgt spid="845826">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4582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45826">
                                            <p:txEl>
                                              <p:pRg st="2" end="2"/>
                                            </p:txEl>
                                          </p:spTgt>
                                        </p:tgtEl>
                                        <p:attrNameLst>
                                          <p:attrName>style.visibility</p:attrName>
                                        </p:attrNameLst>
                                      </p:cBhvr>
                                      <p:to>
                                        <p:strVal val="visible"/>
                                      </p:to>
                                    </p:set>
                                    <p:anim calcmode="lin" valueType="num">
                                      <p:cBhvr additive="base">
                                        <p:cTn id="19" dur="500" fill="hold"/>
                                        <p:tgtEl>
                                          <p:spTgt spid="845826">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45826">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845826">
                                            <p:txEl>
                                              <p:pRg st="3" end="3"/>
                                            </p:txEl>
                                          </p:spTgt>
                                        </p:tgtEl>
                                        <p:attrNameLst>
                                          <p:attrName>style.visibility</p:attrName>
                                        </p:attrNameLst>
                                      </p:cBhvr>
                                      <p:to>
                                        <p:strVal val="visible"/>
                                      </p:to>
                                    </p:set>
                                    <p:anim calcmode="lin" valueType="num">
                                      <p:cBhvr additive="base">
                                        <p:cTn id="23" dur="500" fill="hold"/>
                                        <p:tgtEl>
                                          <p:spTgt spid="845826">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84582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5826"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6850" name="Rectangle 2"/>
          <p:cNvSpPr>
            <a:spLocks noGrp="1" noChangeArrowheads="1"/>
          </p:cNvSpPr>
          <p:nvPr>
            <p:ph type="title"/>
          </p:nvPr>
        </p:nvSpPr>
        <p:spPr>
          <a:xfrm>
            <a:off x="2070100" y="76200"/>
            <a:ext cx="7772400" cy="1143000"/>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ctr" anchorCtr="0" compatLnSpc="1">
            <a:prstTxWarp prst="textNoShape">
              <a:avLst/>
            </a:prstTxWarp>
          </a:bodyPr>
          <a:lstStyle/>
          <a:p>
            <a:r>
              <a:rPr lang="en-US" altLang="zh-CN" sz="3600">
                <a:latin typeface="新宋体" pitchFamily="49" charset="-122"/>
                <a:ea typeface="新宋体" pitchFamily="49" charset="-122"/>
              </a:rPr>
              <a:t> PPP </a:t>
            </a:r>
            <a:r>
              <a:rPr lang="zh-CN" altLang="en-US" sz="3600">
                <a:latin typeface="新宋体" pitchFamily="49" charset="-122"/>
                <a:ea typeface="新宋体" pitchFamily="49" charset="-122"/>
              </a:rPr>
              <a:t>状态转移图</a:t>
            </a:r>
          </a:p>
        </p:txBody>
      </p:sp>
      <p:sp>
        <p:nvSpPr>
          <p:cNvPr id="846851" name="Rectangle 3"/>
          <p:cNvSpPr>
            <a:spLocks noGrp="1" noChangeArrowheads="1"/>
          </p:cNvSpPr>
          <p:nvPr>
            <p:ph type="body" idx="1"/>
          </p:nvPr>
        </p:nvSpPr>
        <p:spPr>
          <a:xfrm>
            <a:off x="6008688" y="1446213"/>
            <a:ext cx="4241800" cy="4927600"/>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a:lnSpc>
                <a:spcPct val="90000"/>
              </a:lnSpc>
              <a:buFont typeface="Wingdings" pitchFamily="2" charset="2"/>
              <a:buNone/>
            </a:pPr>
            <a:r>
              <a:rPr lang="en-US" altLang="zh-CN" sz="2400" b="1"/>
              <a:t>1.  PC</a:t>
            </a:r>
            <a:r>
              <a:rPr lang="zh-CN" altLang="en-US" sz="2400" b="1"/>
              <a:t>通过</a:t>
            </a:r>
            <a:r>
              <a:rPr lang="en-US" altLang="zh-CN" sz="2400" b="1"/>
              <a:t>modem</a:t>
            </a:r>
            <a:r>
              <a:rPr lang="zh-CN" altLang="en-US" sz="2400" b="1"/>
              <a:t>呼叫路由器</a:t>
            </a:r>
          </a:p>
          <a:p>
            <a:pPr>
              <a:lnSpc>
                <a:spcPct val="90000"/>
              </a:lnSpc>
              <a:buFont typeface="Wingdings" pitchFamily="2" charset="2"/>
              <a:buNone/>
            </a:pPr>
            <a:r>
              <a:rPr lang="en-US" altLang="zh-CN" sz="2400" b="1"/>
              <a:t>2.  PC </a:t>
            </a:r>
            <a:r>
              <a:rPr lang="zh-CN" altLang="en-US" sz="2400" b="1"/>
              <a:t>和路由器交换 </a:t>
            </a:r>
            <a:r>
              <a:rPr lang="en-US" altLang="zh-CN" sz="2400" b="1"/>
              <a:t>LCP </a:t>
            </a:r>
            <a:r>
              <a:rPr lang="zh-CN" altLang="en-US" sz="2400" b="1"/>
              <a:t>报文来协商</a:t>
            </a:r>
            <a:r>
              <a:rPr lang="en-US" altLang="zh-CN" sz="2400" b="1"/>
              <a:t>PPP</a:t>
            </a:r>
            <a:r>
              <a:rPr lang="zh-CN" altLang="en-US" sz="2400" b="1"/>
              <a:t>参数</a:t>
            </a:r>
          </a:p>
          <a:p>
            <a:pPr>
              <a:lnSpc>
                <a:spcPct val="90000"/>
              </a:lnSpc>
              <a:buFont typeface="Wingdings" pitchFamily="2" charset="2"/>
              <a:buNone/>
            </a:pPr>
            <a:r>
              <a:rPr lang="en-US" altLang="zh-CN" sz="2400" b="1"/>
              <a:t>3.  </a:t>
            </a:r>
            <a:r>
              <a:rPr lang="zh-CN" altLang="en-US" sz="2400" b="1"/>
              <a:t>身份认证</a:t>
            </a:r>
            <a:r>
              <a:rPr lang="en-US" altLang="zh-CN" sz="2400" b="1"/>
              <a:t>.</a:t>
            </a:r>
          </a:p>
          <a:p>
            <a:pPr>
              <a:lnSpc>
                <a:spcPct val="90000"/>
              </a:lnSpc>
              <a:buFont typeface="Wingdings" pitchFamily="2" charset="2"/>
              <a:buNone/>
            </a:pPr>
            <a:r>
              <a:rPr lang="en-US" altLang="zh-CN" sz="2400" b="1"/>
              <a:t>4.  </a:t>
            </a:r>
            <a:r>
              <a:rPr lang="zh-CN" altLang="en-US" sz="2400" b="1"/>
              <a:t>交换</a:t>
            </a:r>
            <a:r>
              <a:rPr lang="en-US" altLang="zh-CN" sz="2400" b="1"/>
              <a:t>NCP </a:t>
            </a:r>
            <a:r>
              <a:rPr lang="zh-CN" altLang="en-US" sz="2400" b="1"/>
              <a:t>报文来配置网络层参数，比如</a:t>
            </a:r>
            <a:r>
              <a:rPr lang="en-US" altLang="zh-CN" sz="2400" b="1"/>
              <a:t>TCP/IP ( </a:t>
            </a:r>
            <a:r>
              <a:rPr lang="zh-CN" altLang="en-US" sz="2400" b="1"/>
              <a:t>需要动态分配 </a:t>
            </a:r>
            <a:r>
              <a:rPr lang="en-US" altLang="zh-CN" sz="2400" b="1"/>
              <a:t>IP </a:t>
            </a:r>
            <a:r>
              <a:rPr lang="zh-CN" altLang="en-US" sz="2400" b="1"/>
              <a:t>地址</a:t>
            </a:r>
            <a:r>
              <a:rPr lang="en-US" altLang="zh-CN" sz="2400" b="1"/>
              <a:t>).</a:t>
            </a:r>
          </a:p>
          <a:p>
            <a:pPr>
              <a:lnSpc>
                <a:spcPct val="90000"/>
              </a:lnSpc>
              <a:buFont typeface="Wingdings" pitchFamily="2" charset="2"/>
              <a:buNone/>
            </a:pPr>
            <a:r>
              <a:rPr lang="en-US" altLang="zh-CN" sz="2400" b="1"/>
              <a:t>5.  </a:t>
            </a:r>
            <a:r>
              <a:rPr lang="zh-CN" altLang="en-US" sz="2400" b="1"/>
              <a:t>数据传输</a:t>
            </a:r>
            <a:r>
              <a:rPr lang="en-US" altLang="zh-CN" sz="2400" b="1"/>
              <a:t>, </a:t>
            </a:r>
            <a:r>
              <a:rPr lang="zh-CN" altLang="en-US" sz="2400" b="1"/>
              <a:t>即发送</a:t>
            </a:r>
            <a:r>
              <a:rPr lang="en-US" altLang="zh-CN" sz="2400" b="1"/>
              <a:t>/</a:t>
            </a:r>
            <a:r>
              <a:rPr lang="zh-CN" altLang="en-US" sz="2400" b="1"/>
              <a:t>接收</a:t>
            </a:r>
            <a:r>
              <a:rPr lang="en-US" altLang="zh-CN" sz="2400" b="1"/>
              <a:t>IP</a:t>
            </a:r>
            <a:r>
              <a:rPr lang="zh-CN" altLang="en-US" sz="2400" b="1"/>
              <a:t>报文 </a:t>
            </a:r>
          </a:p>
          <a:p>
            <a:pPr>
              <a:lnSpc>
                <a:spcPct val="90000"/>
              </a:lnSpc>
              <a:buFont typeface="Wingdings" pitchFamily="2" charset="2"/>
              <a:buNone/>
            </a:pPr>
            <a:r>
              <a:rPr lang="en-US" altLang="zh-CN" sz="2400" b="1"/>
              <a:t>6.  </a:t>
            </a:r>
            <a:r>
              <a:rPr lang="zh-CN" altLang="en-US" sz="2400" b="1"/>
              <a:t>采用</a:t>
            </a:r>
            <a:r>
              <a:rPr lang="en-US" altLang="zh-CN" sz="2400" b="1"/>
              <a:t>NCP</a:t>
            </a:r>
            <a:r>
              <a:rPr lang="zh-CN" altLang="en-US" sz="2400" b="1"/>
              <a:t>来释放网络层连接（释放</a:t>
            </a:r>
            <a:r>
              <a:rPr lang="en-US" altLang="zh-CN" sz="2400" b="1"/>
              <a:t>IP</a:t>
            </a:r>
            <a:r>
              <a:rPr lang="zh-CN" altLang="en-US" sz="2400" b="1"/>
              <a:t>地址）； 用</a:t>
            </a:r>
            <a:r>
              <a:rPr lang="en-US" altLang="zh-CN" sz="2400" b="1"/>
              <a:t>LCP </a:t>
            </a:r>
            <a:r>
              <a:rPr lang="zh-CN" altLang="en-US" sz="2400" b="1"/>
              <a:t>来释放链路层连接</a:t>
            </a:r>
            <a:r>
              <a:rPr lang="en-US" altLang="zh-CN" sz="2400" b="1"/>
              <a:t>.</a:t>
            </a:r>
          </a:p>
          <a:p>
            <a:pPr>
              <a:lnSpc>
                <a:spcPct val="90000"/>
              </a:lnSpc>
              <a:buFont typeface="Wingdings" pitchFamily="2" charset="2"/>
              <a:buNone/>
            </a:pPr>
            <a:r>
              <a:rPr lang="en-US" altLang="zh-CN" sz="2400" b="1"/>
              <a:t>7.  Modem </a:t>
            </a:r>
            <a:r>
              <a:rPr lang="zh-CN" altLang="en-US" sz="2400" b="1"/>
              <a:t>挂机</a:t>
            </a:r>
            <a:r>
              <a:rPr lang="en-US" altLang="zh-CN" sz="2400" b="1"/>
              <a:t>. </a:t>
            </a:r>
          </a:p>
        </p:txBody>
      </p:sp>
      <p:grpSp>
        <p:nvGrpSpPr>
          <p:cNvPr id="846882" name="Group 34"/>
          <p:cNvGrpSpPr/>
          <p:nvPr/>
        </p:nvGrpSpPr>
        <p:grpSpPr bwMode="auto">
          <a:xfrm>
            <a:off x="1763714" y="1628776"/>
            <a:ext cx="3933825" cy="4219575"/>
            <a:chOff x="120" y="1410"/>
            <a:chExt cx="2478" cy="2658"/>
          </a:xfrm>
        </p:grpSpPr>
        <p:sp>
          <p:nvSpPr>
            <p:cNvPr id="846852" name="Rectangle 4"/>
            <p:cNvSpPr>
              <a:spLocks noChangeArrowheads="1"/>
            </p:cNvSpPr>
            <p:nvPr/>
          </p:nvSpPr>
          <p:spPr bwMode="auto">
            <a:xfrm>
              <a:off x="944" y="1514"/>
              <a:ext cx="4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Dead</a:t>
              </a:r>
            </a:p>
          </p:txBody>
        </p:sp>
        <p:sp>
          <p:nvSpPr>
            <p:cNvPr id="846853" name="AutoShape 5"/>
            <p:cNvSpPr>
              <a:spLocks noChangeArrowheads="1"/>
            </p:cNvSpPr>
            <p:nvPr/>
          </p:nvSpPr>
          <p:spPr bwMode="auto">
            <a:xfrm>
              <a:off x="909" y="1492"/>
              <a:ext cx="448" cy="264"/>
            </a:xfrm>
            <a:prstGeom prst="roundRect">
              <a:avLst>
                <a:gd name="adj" fmla="val 12495"/>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54" name="Rectangle 6"/>
            <p:cNvSpPr>
              <a:spLocks noChangeArrowheads="1"/>
            </p:cNvSpPr>
            <p:nvPr/>
          </p:nvSpPr>
          <p:spPr bwMode="auto">
            <a:xfrm>
              <a:off x="1664" y="2194"/>
              <a:ext cx="68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Establish</a:t>
              </a:r>
            </a:p>
          </p:txBody>
        </p:sp>
        <p:sp>
          <p:nvSpPr>
            <p:cNvPr id="846855" name="AutoShape 7"/>
            <p:cNvSpPr>
              <a:spLocks noChangeArrowheads="1"/>
            </p:cNvSpPr>
            <p:nvPr/>
          </p:nvSpPr>
          <p:spPr bwMode="auto">
            <a:xfrm>
              <a:off x="1629" y="2172"/>
              <a:ext cx="712" cy="264"/>
            </a:xfrm>
            <a:prstGeom prst="roundRect">
              <a:avLst>
                <a:gd name="adj" fmla="val 12495"/>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56" name="AutoShape 8"/>
            <p:cNvSpPr>
              <a:spLocks noChangeArrowheads="1"/>
            </p:cNvSpPr>
            <p:nvPr/>
          </p:nvSpPr>
          <p:spPr bwMode="auto">
            <a:xfrm>
              <a:off x="1573" y="2980"/>
              <a:ext cx="920" cy="272"/>
            </a:xfrm>
            <a:prstGeom prst="roundRect">
              <a:avLst>
                <a:gd name="adj" fmla="val 12495"/>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57" name="Rectangle 9"/>
            <p:cNvSpPr>
              <a:spLocks noChangeArrowheads="1"/>
            </p:cNvSpPr>
            <p:nvPr/>
          </p:nvSpPr>
          <p:spPr bwMode="auto">
            <a:xfrm>
              <a:off x="1616" y="3002"/>
              <a:ext cx="91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Authenticate</a:t>
              </a:r>
            </a:p>
          </p:txBody>
        </p:sp>
        <p:sp>
          <p:nvSpPr>
            <p:cNvPr id="846858" name="Rectangle 10"/>
            <p:cNvSpPr>
              <a:spLocks noChangeArrowheads="1"/>
            </p:cNvSpPr>
            <p:nvPr/>
          </p:nvSpPr>
          <p:spPr bwMode="auto">
            <a:xfrm>
              <a:off x="992" y="3826"/>
              <a:ext cx="6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Network</a:t>
              </a:r>
            </a:p>
          </p:txBody>
        </p:sp>
        <p:sp>
          <p:nvSpPr>
            <p:cNvPr id="846859" name="AutoShape 11"/>
            <p:cNvSpPr>
              <a:spLocks noChangeArrowheads="1"/>
            </p:cNvSpPr>
            <p:nvPr/>
          </p:nvSpPr>
          <p:spPr bwMode="auto">
            <a:xfrm>
              <a:off x="957" y="3804"/>
              <a:ext cx="712" cy="264"/>
            </a:xfrm>
            <a:prstGeom prst="roundRect">
              <a:avLst>
                <a:gd name="adj" fmla="val 12495"/>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60" name="Rectangle 12"/>
            <p:cNvSpPr>
              <a:spLocks noChangeArrowheads="1"/>
            </p:cNvSpPr>
            <p:nvPr/>
          </p:nvSpPr>
          <p:spPr bwMode="auto">
            <a:xfrm>
              <a:off x="208" y="2226"/>
              <a:ext cx="762"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Terminate</a:t>
              </a:r>
            </a:p>
          </p:txBody>
        </p:sp>
        <p:sp>
          <p:nvSpPr>
            <p:cNvPr id="846861" name="AutoShape 13"/>
            <p:cNvSpPr>
              <a:spLocks noChangeArrowheads="1"/>
            </p:cNvSpPr>
            <p:nvPr/>
          </p:nvSpPr>
          <p:spPr bwMode="auto">
            <a:xfrm>
              <a:off x="173" y="2204"/>
              <a:ext cx="712" cy="264"/>
            </a:xfrm>
            <a:prstGeom prst="roundRect">
              <a:avLst>
                <a:gd name="adj" fmla="val 12495"/>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62" name="Rectangle 14"/>
            <p:cNvSpPr>
              <a:spLocks noChangeArrowheads="1"/>
            </p:cNvSpPr>
            <p:nvPr/>
          </p:nvSpPr>
          <p:spPr bwMode="auto">
            <a:xfrm>
              <a:off x="328" y="3042"/>
              <a:ext cx="4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Open</a:t>
              </a:r>
            </a:p>
          </p:txBody>
        </p:sp>
        <p:sp>
          <p:nvSpPr>
            <p:cNvPr id="846863" name="AutoShape 15"/>
            <p:cNvSpPr>
              <a:spLocks noChangeArrowheads="1"/>
            </p:cNvSpPr>
            <p:nvPr/>
          </p:nvSpPr>
          <p:spPr bwMode="auto">
            <a:xfrm>
              <a:off x="293" y="3020"/>
              <a:ext cx="448" cy="264"/>
            </a:xfrm>
            <a:prstGeom prst="roundRect">
              <a:avLst>
                <a:gd name="adj" fmla="val 12495"/>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64" name="Arc 16"/>
            <p:cNvSpPr/>
            <p:nvPr/>
          </p:nvSpPr>
          <p:spPr bwMode="auto">
            <a:xfrm>
              <a:off x="1377" y="1637"/>
              <a:ext cx="604" cy="5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cap="rnd">
              <a:solidFill>
                <a:schemeClr val="tx1"/>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65" name="Line 17"/>
            <p:cNvSpPr>
              <a:spLocks noChangeShapeType="1"/>
            </p:cNvSpPr>
            <p:nvPr/>
          </p:nvSpPr>
          <p:spPr bwMode="auto">
            <a:xfrm>
              <a:off x="1977" y="2436"/>
              <a:ext cx="0" cy="528"/>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66" name="Arc 18"/>
            <p:cNvSpPr/>
            <p:nvPr/>
          </p:nvSpPr>
          <p:spPr bwMode="auto">
            <a:xfrm>
              <a:off x="1689" y="3328"/>
              <a:ext cx="308" cy="588"/>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close/>
                </a:path>
              </a:pathLst>
            </a:custGeom>
            <a:noFill/>
            <a:ln w="12700" cap="rnd">
              <a:solidFill>
                <a:schemeClr val="tx1"/>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67" name="Arc 19"/>
            <p:cNvSpPr/>
            <p:nvPr/>
          </p:nvSpPr>
          <p:spPr bwMode="auto">
            <a:xfrm>
              <a:off x="510" y="3288"/>
              <a:ext cx="436" cy="652"/>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close/>
                </a:path>
              </a:pathLst>
            </a:custGeom>
            <a:noFill/>
            <a:ln w="12700" cap="rnd">
              <a:solidFill>
                <a:schemeClr val="tx1"/>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68" name="Line 20"/>
            <p:cNvSpPr>
              <a:spLocks noChangeShapeType="1"/>
            </p:cNvSpPr>
            <p:nvPr/>
          </p:nvSpPr>
          <p:spPr bwMode="auto">
            <a:xfrm flipV="1">
              <a:off x="481" y="2476"/>
              <a:ext cx="0" cy="528"/>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69" name="Arc 21"/>
            <p:cNvSpPr/>
            <p:nvPr/>
          </p:nvSpPr>
          <p:spPr bwMode="auto">
            <a:xfrm>
              <a:off x="494" y="1629"/>
              <a:ext cx="404" cy="564"/>
            </a:xfrm>
            <a:custGeom>
              <a:avLst/>
              <a:gdLst>
                <a:gd name="G0" fmla="+- 21600 0 0"/>
                <a:gd name="G1" fmla="+- 21600 0 0"/>
                <a:gd name="G2" fmla="+- 21600 0 0"/>
                <a:gd name="T0" fmla="*/ 0 w 21600"/>
                <a:gd name="T1" fmla="*/ 21600 h 21600"/>
                <a:gd name="T2" fmla="*/ 21547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691"/>
                    <a:pt x="9638" y="29"/>
                    <a:pt x="21547" y="0"/>
                  </a:cubicBezTo>
                </a:path>
                <a:path w="21600" h="21600" stroke="0" extrusionOk="0">
                  <a:moveTo>
                    <a:pt x="0" y="21599"/>
                  </a:moveTo>
                  <a:cubicBezTo>
                    <a:pt x="0" y="9691"/>
                    <a:pt x="9638" y="29"/>
                    <a:pt x="21547" y="0"/>
                  </a:cubicBezTo>
                  <a:lnTo>
                    <a:pt x="21600" y="21600"/>
                  </a:lnTo>
                  <a:close/>
                </a:path>
              </a:pathLst>
            </a:custGeom>
            <a:noFill/>
            <a:ln w="12700" cap="rnd">
              <a:solidFill>
                <a:schemeClr val="tx1"/>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70" name="Line 22"/>
            <p:cNvSpPr>
              <a:spLocks noChangeShapeType="1"/>
            </p:cNvSpPr>
            <p:nvPr/>
          </p:nvSpPr>
          <p:spPr bwMode="auto">
            <a:xfrm flipH="1" flipV="1">
              <a:off x="1197" y="1804"/>
              <a:ext cx="368" cy="50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71" name="Line 23"/>
            <p:cNvSpPr>
              <a:spLocks noChangeShapeType="1"/>
            </p:cNvSpPr>
            <p:nvPr/>
          </p:nvSpPr>
          <p:spPr bwMode="auto">
            <a:xfrm flipH="1" flipV="1">
              <a:off x="917" y="2540"/>
              <a:ext cx="592" cy="568"/>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872" name="Rectangle 24"/>
            <p:cNvSpPr>
              <a:spLocks noChangeArrowheads="1"/>
            </p:cNvSpPr>
            <p:nvPr/>
          </p:nvSpPr>
          <p:spPr bwMode="auto">
            <a:xfrm>
              <a:off x="1168" y="1978"/>
              <a:ext cx="46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failed</a:t>
              </a:r>
            </a:p>
          </p:txBody>
        </p:sp>
        <p:sp>
          <p:nvSpPr>
            <p:cNvPr id="846873" name="Rectangle 25"/>
            <p:cNvSpPr>
              <a:spLocks noChangeArrowheads="1"/>
            </p:cNvSpPr>
            <p:nvPr/>
          </p:nvSpPr>
          <p:spPr bwMode="auto">
            <a:xfrm>
              <a:off x="1024" y="2754"/>
              <a:ext cx="46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failed</a:t>
              </a:r>
            </a:p>
          </p:txBody>
        </p:sp>
        <p:sp>
          <p:nvSpPr>
            <p:cNvPr id="846874" name="Rectangle 26"/>
            <p:cNvSpPr>
              <a:spLocks noChangeArrowheads="1"/>
            </p:cNvSpPr>
            <p:nvPr/>
          </p:nvSpPr>
          <p:spPr bwMode="auto">
            <a:xfrm>
              <a:off x="1656" y="1410"/>
              <a:ext cx="737"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1. Carrier</a:t>
              </a:r>
            </a:p>
            <a:p>
              <a:pPr eaLnBrk="0" hangingPunct="0"/>
              <a:r>
                <a:rPr kumimoji="0" lang="en-US" altLang="zh-CN" sz="1800" b="1"/>
                <a:t>Detected</a:t>
              </a:r>
            </a:p>
          </p:txBody>
        </p:sp>
        <p:sp>
          <p:nvSpPr>
            <p:cNvPr id="846875" name="Rectangle 27"/>
            <p:cNvSpPr>
              <a:spLocks noChangeArrowheads="1"/>
            </p:cNvSpPr>
            <p:nvPr/>
          </p:nvSpPr>
          <p:spPr bwMode="auto">
            <a:xfrm>
              <a:off x="1608" y="2466"/>
              <a:ext cx="78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2. Options</a:t>
              </a:r>
            </a:p>
            <a:p>
              <a:pPr eaLnBrk="0" hangingPunct="0"/>
              <a:r>
                <a:rPr kumimoji="0" lang="en-US" altLang="zh-CN" sz="1800" b="1"/>
                <a:t>Negotiated</a:t>
              </a:r>
            </a:p>
          </p:txBody>
        </p:sp>
        <p:sp>
          <p:nvSpPr>
            <p:cNvPr id="846876" name="Rectangle 28"/>
            <p:cNvSpPr>
              <a:spLocks noChangeArrowheads="1"/>
            </p:cNvSpPr>
            <p:nvPr/>
          </p:nvSpPr>
          <p:spPr bwMode="auto">
            <a:xfrm>
              <a:off x="1384" y="3346"/>
              <a:ext cx="1214"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3.  Authentication</a:t>
              </a:r>
            </a:p>
            <a:p>
              <a:pPr eaLnBrk="0" hangingPunct="0"/>
              <a:r>
                <a:rPr kumimoji="0" lang="en-US" altLang="zh-CN" sz="1800" b="1"/>
                <a:t>Completed</a:t>
              </a:r>
            </a:p>
          </p:txBody>
        </p:sp>
        <p:sp>
          <p:nvSpPr>
            <p:cNvPr id="846877" name="Rectangle 29"/>
            <p:cNvSpPr>
              <a:spLocks noChangeArrowheads="1"/>
            </p:cNvSpPr>
            <p:nvPr/>
          </p:nvSpPr>
          <p:spPr bwMode="auto">
            <a:xfrm>
              <a:off x="120" y="3514"/>
              <a:ext cx="99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4.  NCP</a:t>
              </a:r>
            </a:p>
            <a:p>
              <a:pPr eaLnBrk="0" hangingPunct="0"/>
              <a:r>
                <a:rPr kumimoji="0" lang="en-US" altLang="zh-CN" sz="1800" b="1"/>
                <a:t>Configuration</a:t>
              </a:r>
            </a:p>
          </p:txBody>
        </p:sp>
        <p:sp>
          <p:nvSpPr>
            <p:cNvPr id="846878" name="Rectangle 30"/>
            <p:cNvSpPr>
              <a:spLocks noChangeArrowheads="1"/>
            </p:cNvSpPr>
            <p:nvPr/>
          </p:nvSpPr>
          <p:spPr bwMode="auto">
            <a:xfrm>
              <a:off x="160" y="2634"/>
              <a:ext cx="5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6. Done</a:t>
              </a:r>
            </a:p>
          </p:txBody>
        </p:sp>
        <p:sp>
          <p:nvSpPr>
            <p:cNvPr id="846879" name="Rectangle 31"/>
            <p:cNvSpPr>
              <a:spLocks noChangeArrowheads="1"/>
            </p:cNvSpPr>
            <p:nvPr/>
          </p:nvSpPr>
          <p:spPr bwMode="auto">
            <a:xfrm>
              <a:off x="176" y="1730"/>
              <a:ext cx="737"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7. Carrier</a:t>
              </a:r>
            </a:p>
            <a:p>
              <a:pPr eaLnBrk="0" hangingPunct="0"/>
              <a:r>
                <a:rPr kumimoji="0" lang="en-US" altLang="zh-CN" sz="1800" b="1"/>
                <a:t>Dropped</a:t>
              </a:r>
            </a:p>
          </p:txBody>
        </p:sp>
        <p:sp>
          <p:nvSpPr>
            <p:cNvPr id="846880" name="Rectangle 32"/>
            <p:cNvSpPr>
              <a:spLocks noChangeArrowheads="1"/>
            </p:cNvSpPr>
            <p:nvPr/>
          </p:nvSpPr>
          <p:spPr bwMode="auto">
            <a:xfrm>
              <a:off x="120" y="3010"/>
              <a:ext cx="2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kumimoji="0" lang="en-US" altLang="zh-CN" sz="1800" b="1"/>
                <a:t>5.</a:t>
              </a:r>
            </a:p>
          </p:txBody>
        </p:sp>
      </p:grpSp>
      <p:sp>
        <p:nvSpPr>
          <p:cNvPr id="846881" name="Text Box 33"/>
          <p:cNvSpPr txBox="1">
            <a:spLocks noChangeArrowheads="1"/>
          </p:cNvSpPr>
          <p:nvPr/>
        </p:nvSpPr>
        <p:spPr bwMode="auto">
          <a:xfrm>
            <a:off x="9593263" y="6553201"/>
            <a:ext cx="1841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endParaRPr kumimoji="0" lang="zh-CN" altLang="zh-CN" sz="10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46851">
                                            <p:txEl>
                                              <p:pRg st="0" end="0"/>
                                            </p:txEl>
                                          </p:spTgt>
                                        </p:tgtEl>
                                        <p:attrNameLst>
                                          <p:attrName>style.visibility</p:attrName>
                                        </p:attrNameLst>
                                      </p:cBhvr>
                                      <p:to>
                                        <p:strVal val="visible"/>
                                      </p:to>
                                    </p:set>
                                    <p:anim calcmode="lin" valueType="num">
                                      <p:cBhvr additive="base">
                                        <p:cTn id="7" dur="500" fill="hold"/>
                                        <p:tgtEl>
                                          <p:spTgt spid="8468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468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46851">
                                            <p:txEl>
                                              <p:pRg st="1" end="1"/>
                                            </p:txEl>
                                          </p:spTgt>
                                        </p:tgtEl>
                                        <p:attrNameLst>
                                          <p:attrName>style.visibility</p:attrName>
                                        </p:attrNameLst>
                                      </p:cBhvr>
                                      <p:to>
                                        <p:strVal val="visible"/>
                                      </p:to>
                                    </p:set>
                                    <p:anim calcmode="lin" valueType="num">
                                      <p:cBhvr additive="base">
                                        <p:cTn id="13" dur="500" fill="hold"/>
                                        <p:tgtEl>
                                          <p:spTgt spid="8468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468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46851">
                                            <p:txEl>
                                              <p:pRg st="2" end="2"/>
                                            </p:txEl>
                                          </p:spTgt>
                                        </p:tgtEl>
                                        <p:attrNameLst>
                                          <p:attrName>style.visibility</p:attrName>
                                        </p:attrNameLst>
                                      </p:cBhvr>
                                      <p:to>
                                        <p:strVal val="visible"/>
                                      </p:to>
                                    </p:set>
                                    <p:anim calcmode="lin" valueType="num">
                                      <p:cBhvr additive="base">
                                        <p:cTn id="19" dur="500" fill="hold"/>
                                        <p:tgtEl>
                                          <p:spTgt spid="84685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468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46851">
                                            <p:txEl>
                                              <p:pRg st="3" end="3"/>
                                            </p:txEl>
                                          </p:spTgt>
                                        </p:tgtEl>
                                        <p:attrNameLst>
                                          <p:attrName>style.visibility</p:attrName>
                                        </p:attrNameLst>
                                      </p:cBhvr>
                                      <p:to>
                                        <p:strVal val="visible"/>
                                      </p:to>
                                    </p:set>
                                    <p:anim calcmode="lin" valueType="num">
                                      <p:cBhvr additive="base">
                                        <p:cTn id="25" dur="500" fill="hold"/>
                                        <p:tgtEl>
                                          <p:spTgt spid="84685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468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46851">
                                            <p:txEl>
                                              <p:pRg st="4" end="4"/>
                                            </p:txEl>
                                          </p:spTgt>
                                        </p:tgtEl>
                                        <p:attrNameLst>
                                          <p:attrName>style.visibility</p:attrName>
                                        </p:attrNameLst>
                                      </p:cBhvr>
                                      <p:to>
                                        <p:strVal val="visible"/>
                                      </p:to>
                                    </p:set>
                                    <p:anim calcmode="lin" valueType="num">
                                      <p:cBhvr additive="base">
                                        <p:cTn id="31" dur="500" fill="hold"/>
                                        <p:tgtEl>
                                          <p:spTgt spid="84685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4685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46851">
                                            <p:txEl>
                                              <p:pRg st="5" end="5"/>
                                            </p:txEl>
                                          </p:spTgt>
                                        </p:tgtEl>
                                        <p:attrNameLst>
                                          <p:attrName>style.visibility</p:attrName>
                                        </p:attrNameLst>
                                      </p:cBhvr>
                                      <p:to>
                                        <p:strVal val="visible"/>
                                      </p:to>
                                    </p:set>
                                    <p:anim calcmode="lin" valueType="num">
                                      <p:cBhvr additive="base">
                                        <p:cTn id="37" dur="500" fill="hold"/>
                                        <p:tgtEl>
                                          <p:spTgt spid="84685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4685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46851">
                                            <p:txEl>
                                              <p:pRg st="6" end="6"/>
                                            </p:txEl>
                                          </p:spTgt>
                                        </p:tgtEl>
                                        <p:attrNameLst>
                                          <p:attrName>style.visibility</p:attrName>
                                        </p:attrNameLst>
                                      </p:cBhvr>
                                      <p:to>
                                        <p:strVal val="visible"/>
                                      </p:to>
                                    </p:set>
                                    <p:anim calcmode="lin" valueType="num">
                                      <p:cBhvr additive="base">
                                        <p:cTn id="43" dur="500" fill="hold"/>
                                        <p:tgtEl>
                                          <p:spTgt spid="84685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84685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6851" grpId="0" build="p"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Rectangle 2"/>
          <p:cNvSpPr>
            <a:spLocks noGrp="1" noChangeArrowheads="1"/>
          </p:cNvSpPr>
          <p:nvPr>
            <p:ph type="title"/>
          </p:nvPr>
        </p:nvSpPr>
        <p:spPr>
          <a:xfrm>
            <a:off x="2184400" y="0"/>
            <a:ext cx="7772400" cy="1143000"/>
          </a:xfrm>
          <a:noFill/>
        </p:spPr>
        <p:txBody>
          <a:bodyPr/>
          <a:lstStyle/>
          <a:p>
            <a:r>
              <a:rPr lang="en-US" altLang="zh-CN" sz="3600">
                <a:latin typeface="新宋体" pitchFamily="49" charset="-122"/>
                <a:ea typeface="新宋体" pitchFamily="49" charset="-122"/>
              </a:rPr>
              <a:t>Summary</a:t>
            </a:r>
          </a:p>
        </p:txBody>
      </p:sp>
      <p:sp>
        <p:nvSpPr>
          <p:cNvPr id="848899" name="Text Box 3"/>
          <p:cNvSpPr txBox="1">
            <a:spLocks noChangeArrowheads="1"/>
          </p:cNvSpPr>
          <p:nvPr/>
        </p:nvSpPr>
        <p:spPr bwMode="auto">
          <a:xfrm>
            <a:off x="3810000" y="3271838"/>
            <a:ext cx="6159500" cy="257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kumimoji="1" sz="2400">
                <a:solidFill>
                  <a:schemeClr val="tx1"/>
                </a:solidFill>
                <a:latin typeface="Times New Roman" pitchFamily="18" charset="0"/>
                <a:ea typeface="宋体" pitchFamily="2" charset="-122"/>
              </a:defRPr>
            </a:lvl1pPr>
            <a:lvl2pPr marL="571500">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spcBef>
                <a:spcPct val="20000"/>
              </a:spcBef>
              <a:buClr>
                <a:schemeClr val="folHlink"/>
              </a:buClr>
              <a:buSzPct val="75000"/>
              <a:buFont typeface="Wingdings" pitchFamily="2" charset="2"/>
              <a:buChar char="Ø"/>
            </a:pPr>
            <a:r>
              <a:rPr kumimoji="0" lang="zh-CN" altLang="en-US" sz="2800"/>
              <a:t>数据链路层解决的问题</a:t>
            </a:r>
          </a:p>
          <a:p>
            <a:pPr eaLnBrk="0" hangingPunct="0">
              <a:spcBef>
                <a:spcPct val="20000"/>
              </a:spcBef>
              <a:buClr>
                <a:schemeClr val="folHlink"/>
              </a:buClr>
              <a:buSzPct val="75000"/>
              <a:buFont typeface="Wingdings" pitchFamily="2" charset="2"/>
              <a:buChar char="Ø"/>
            </a:pPr>
            <a:r>
              <a:rPr kumimoji="0" lang="zh-CN" altLang="en-US" sz="2800"/>
              <a:t>组帧、帧定界</a:t>
            </a:r>
          </a:p>
          <a:p>
            <a:pPr eaLnBrk="0" hangingPunct="0">
              <a:spcBef>
                <a:spcPct val="20000"/>
              </a:spcBef>
              <a:buClr>
                <a:schemeClr val="folHlink"/>
              </a:buClr>
              <a:buSzPct val="75000"/>
              <a:buFont typeface="Wingdings" pitchFamily="2" charset="2"/>
              <a:buChar char="Ø"/>
            </a:pPr>
            <a:r>
              <a:rPr kumimoji="0" lang="zh-CN" altLang="en-US" sz="2800"/>
              <a:t>错误控制</a:t>
            </a:r>
          </a:p>
          <a:p>
            <a:pPr eaLnBrk="0" hangingPunct="0">
              <a:spcBef>
                <a:spcPct val="20000"/>
              </a:spcBef>
              <a:buClr>
                <a:schemeClr val="folHlink"/>
              </a:buClr>
              <a:buSzPct val="75000"/>
              <a:buFont typeface="Wingdings" pitchFamily="2" charset="2"/>
              <a:buChar char="Ø"/>
            </a:pPr>
            <a:r>
              <a:rPr kumimoji="0" lang="zh-CN" altLang="en-US" sz="2800"/>
              <a:t>流量控制</a:t>
            </a:r>
          </a:p>
          <a:p>
            <a:pPr eaLnBrk="0" hangingPunct="0">
              <a:spcBef>
                <a:spcPct val="20000"/>
              </a:spcBef>
              <a:buClr>
                <a:schemeClr val="folHlink"/>
              </a:buClr>
              <a:buSzPct val="75000"/>
              <a:buFont typeface="Wingdings" pitchFamily="2" charset="2"/>
              <a:buChar char="Ø"/>
            </a:pPr>
            <a:r>
              <a:rPr kumimoji="0" lang="zh-CN" altLang="en-US" sz="2800"/>
              <a:t>链路层协议：</a:t>
            </a:r>
            <a:r>
              <a:rPr kumimoji="0" lang="en-US" altLang="zh-CN" sz="2800"/>
              <a:t>HDLC, SLIP/PPP</a:t>
            </a:r>
          </a:p>
        </p:txBody>
      </p:sp>
      <p:graphicFrame>
        <p:nvGraphicFramePr>
          <p:cNvPr id="848900" name="Object 4">
            <a:hlinkClick r:id="" action="ppaction://ole?verb=0"/>
          </p:cNvPr>
          <p:cNvGraphicFramePr/>
          <p:nvPr/>
        </p:nvGraphicFramePr>
        <p:xfrm>
          <a:off x="4424363" y="1206501"/>
          <a:ext cx="3276600" cy="1636713"/>
        </p:xfrm>
        <a:graphic>
          <a:graphicData uri="http://schemas.openxmlformats.org/presentationml/2006/ole">
            <mc:AlternateContent xmlns:mc="http://schemas.openxmlformats.org/markup-compatibility/2006">
              <mc:Choice xmlns:v="urn:schemas-microsoft-com:vml" Requires="v">
                <p:oleObj spid="_x0000_s10266" name="Clip" r:id="rId3" imgW="47963455" imgH="48468280" progId="MS_ClipArt_Gallery.2">
                  <p:embed/>
                </p:oleObj>
              </mc:Choice>
              <mc:Fallback>
                <p:oleObj name="Clip" r:id="rId3" imgW="47963455" imgH="48468280" progId="MS_ClipArt_Gallery.2">
                  <p:embed/>
                  <p:pic>
                    <p:nvPicPr>
                      <p:cNvPr id="848900"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4363" y="1206501"/>
                        <a:ext cx="3276600" cy="163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random/>
  </p:transition>
</p:sld>
</file>

<file path=ppt/theme/theme1.xml><?xml version="1.0" encoding="utf-8"?>
<a:theme xmlns:a="http://schemas.openxmlformats.org/drawingml/2006/main" name="1_Blends">
  <a:themeElements>
    <a:clrScheme name="">
      <a:dk1>
        <a:srgbClr val="000000"/>
      </a:dk1>
      <a:lt1>
        <a:srgbClr val="FFFFFF"/>
      </a:lt1>
      <a:dk2>
        <a:srgbClr val="FF0000"/>
      </a:dk2>
      <a:lt2>
        <a:srgbClr val="C0C0C0"/>
      </a:lt2>
      <a:accent1>
        <a:srgbClr val="CCFFFF"/>
      </a:accent1>
      <a:accent2>
        <a:srgbClr val="0000FF"/>
      </a:accent2>
      <a:accent3>
        <a:srgbClr val="FFFFFF"/>
      </a:accent3>
      <a:accent4>
        <a:srgbClr val="000000"/>
      </a:accent4>
      <a:accent5>
        <a:srgbClr val="E2FFFF"/>
      </a:accent5>
      <a:accent6>
        <a:srgbClr val="0000E7"/>
      </a:accent6>
      <a:hlink>
        <a:srgbClr val="FF0000"/>
      </a:hlink>
      <a:folHlink>
        <a:srgbClr val="FF3300"/>
      </a:folHlink>
    </a:clrScheme>
    <a:fontScheme name="1_Blends">
      <a:majorFont>
        <a:latin typeface="宋体"/>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charset="0"/>
            <a:ea typeface="宋体" pitchFamily="2" charset="-122"/>
          </a:defRPr>
        </a:defPPr>
      </a:lstStyle>
    </a:lnDef>
  </a:objectDefaults>
  <a:extraClrSchemeLst>
    <a:extraClrScheme>
      <a:clrScheme name="1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1_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1_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1_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1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1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1_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7245</TotalTime>
  <Words>6553</Words>
  <Application>Microsoft Office PowerPoint</Application>
  <PresentationFormat>宽屏</PresentationFormat>
  <Paragraphs>556</Paragraphs>
  <Slides>79</Slides>
  <Notes>5</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79</vt:i4>
      </vt:variant>
    </vt:vector>
  </HeadingPairs>
  <TitlesOfParts>
    <vt:vector size="97" baseType="lpstr">
      <vt:lpstr>Monotype Sorts</vt:lpstr>
      <vt:lpstr>Wingdings-Regular</vt:lpstr>
      <vt:lpstr>黑体</vt:lpstr>
      <vt:lpstr>华文楷体</vt:lpstr>
      <vt:lpstr>华文新魏</vt:lpstr>
      <vt:lpstr>华文行楷</vt:lpstr>
      <vt:lpstr>楷体_GB2312</vt:lpstr>
      <vt:lpstr>宋体</vt:lpstr>
      <vt:lpstr>新宋体</vt:lpstr>
      <vt:lpstr>Arial</vt:lpstr>
      <vt:lpstr>Arial Black</vt:lpstr>
      <vt:lpstr>Comic Sans MS</vt:lpstr>
      <vt:lpstr>Symbol</vt:lpstr>
      <vt:lpstr>Tahoma</vt:lpstr>
      <vt:lpstr>Times New Roman</vt:lpstr>
      <vt:lpstr>Wingdings</vt:lpstr>
      <vt:lpstr>1_Blends</vt:lpstr>
      <vt:lpstr>Clip</vt:lpstr>
      <vt:lpstr>PowerPoint 演示文稿</vt:lpstr>
      <vt:lpstr>PowerPoint 演示文稿</vt:lpstr>
      <vt:lpstr>链路层主要涉及的问题</vt:lpstr>
      <vt:lpstr>链路层模型</vt:lpstr>
      <vt:lpstr>链路层实现</vt:lpstr>
      <vt:lpstr>4.1 数据链路层服务</vt:lpstr>
      <vt:lpstr>数据链路服务 (续)</vt:lpstr>
      <vt:lpstr>4.2  组帧</vt:lpstr>
      <vt:lpstr>组帧</vt:lpstr>
      <vt:lpstr>字符填充</vt:lpstr>
      <vt:lpstr>比特填充</vt:lpstr>
      <vt:lpstr>物理层编码违例  </vt:lpstr>
      <vt:lpstr>4.3 错误控制</vt:lpstr>
      <vt:lpstr>错误检测与纠正</vt:lpstr>
      <vt:lpstr>方法和实现</vt:lpstr>
      <vt:lpstr>4.4 流量控制</vt:lpstr>
      <vt:lpstr>4.4.1 停止等待协议</vt:lpstr>
      <vt:lpstr>一、不需要数据链路层协议的数据传输</vt:lpstr>
      <vt:lpstr>一、不需要数据链路层协议的数据传输</vt:lpstr>
      <vt:lpstr>缓冲区</vt:lpstr>
      <vt:lpstr>补充说明</vt:lpstr>
      <vt:lpstr>补充说明（续）</vt:lpstr>
      <vt:lpstr>假定</vt:lpstr>
      <vt:lpstr>说明</vt:lpstr>
      <vt:lpstr>说明（续）</vt:lpstr>
      <vt:lpstr>二、具有最简单流量控制的数据链路层协议</vt:lpstr>
      <vt:lpstr>二、具有最简单流量控制的数据链路层协议</vt:lpstr>
      <vt:lpstr>二、具有最简单流量控制的数据链路层协议</vt:lpstr>
      <vt:lpstr>两种情况对比</vt:lpstr>
      <vt:lpstr>三、实用的停止等待协议</vt:lpstr>
      <vt:lpstr>帧丢失</vt:lpstr>
      <vt:lpstr>重复帧</vt:lpstr>
      <vt:lpstr>死锁问题</vt:lpstr>
      <vt:lpstr>数据帧在链路上传输的几种情况</vt:lpstr>
      <vt:lpstr>序号的设定</vt:lpstr>
      <vt:lpstr>四、停止等待协议的算法</vt:lpstr>
      <vt:lpstr>在发送结点</vt:lpstr>
      <vt:lpstr>在接收结点</vt:lpstr>
      <vt:lpstr>小结</vt:lpstr>
      <vt:lpstr>小结（续）</vt:lpstr>
      <vt:lpstr>4.4.2 连续ARQ协议</vt:lpstr>
      <vt:lpstr>连续ARQ协议的工作原理</vt:lpstr>
      <vt:lpstr>这里要注意两点</vt:lpstr>
      <vt:lpstr>协议分析</vt:lpstr>
      <vt:lpstr>4.5 信道利用率与最佳帧长度</vt:lpstr>
      <vt:lpstr>信道利用率U与每帧中的数据长度ld 的关系曲线</vt:lpstr>
      <vt:lpstr>4.6 链路层协议</vt:lpstr>
      <vt:lpstr>4.6.1 WAN链路协议簇</vt:lpstr>
      <vt:lpstr>HDLC站点类型</vt:lpstr>
      <vt:lpstr>PowerPoint 演示文稿</vt:lpstr>
      <vt:lpstr>HDLC 传输模式(1)</vt:lpstr>
      <vt:lpstr>HDLC 传输模式(2)</vt:lpstr>
      <vt:lpstr>HDLC传输(3) </vt:lpstr>
      <vt:lpstr>HDLC帧结构  </vt:lpstr>
      <vt:lpstr>Flag Fields-标志域</vt:lpstr>
      <vt:lpstr>地址域</vt:lpstr>
      <vt:lpstr>地址域</vt:lpstr>
      <vt:lpstr>控制域</vt:lpstr>
      <vt:lpstr>控制域 </vt:lpstr>
      <vt:lpstr>I-frame </vt:lpstr>
      <vt:lpstr>S-frame </vt:lpstr>
      <vt:lpstr>U-frame </vt:lpstr>
      <vt:lpstr>U帧控制域定义</vt:lpstr>
      <vt:lpstr>Polling/Final Bit-轮询/结束位</vt:lpstr>
      <vt:lpstr>帧校验和</vt:lpstr>
      <vt:lpstr>HDLC 操作</vt:lpstr>
      <vt:lpstr>初始化</vt:lpstr>
      <vt:lpstr> 操作实例(1) </vt:lpstr>
      <vt:lpstr>操作实例(2) </vt:lpstr>
      <vt:lpstr>4.6.2 Internet数据链路层</vt:lpstr>
      <vt:lpstr>Serial IP (SLIP)</vt:lpstr>
      <vt:lpstr>Serial IP (SLIP)</vt:lpstr>
      <vt:lpstr>PPP的内容及位置20211025</vt:lpstr>
      <vt:lpstr>PPP 帧格式</vt:lpstr>
      <vt:lpstr>PPP协议域定义</vt:lpstr>
      <vt:lpstr>主要的PPP帧</vt:lpstr>
      <vt:lpstr>PPP 数据控制协议</vt:lpstr>
      <vt:lpstr> PPP 状态转移图</vt:lpstr>
      <vt:lpstr>Summary</vt:lpstr>
    </vt:vector>
  </TitlesOfParts>
  <Company>西南交通大学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谭献海</dc:creator>
  <cp:lastModifiedBy>陈剑波</cp:lastModifiedBy>
  <cp:revision>750</cp:revision>
  <dcterms:created xsi:type="dcterms:W3CDTF">2000-11-07T02:44:39Z</dcterms:created>
  <dcterms:modified xsi:type="dcterms:W3CDTF">2021-10-25T04:12:24Z</dcterms:modified>
</cp:coreProperties>
</file>