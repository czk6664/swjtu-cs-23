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4"/>
  </p:notesMasterIdLst>
  <p:handoutMasterIdLst>
    <p:handoutMasterId r:id="rId45"/>
  </p:handoutMasterIdLst>
  <p:sldIdLst>
    <p:sldId id="495" r:id="rId2"/>
    <p:sldId id="874" r:id="rId3"/>
    <p:sldId id="774" r:id="rId4"/>
    <p:sldId id="540" r:id="rId5"/>
    <p:sldId id="541" r:id="rId6"/>
    <p:sldId id="542" r:id="rId7"/>
    <p:sldId id="500" r:id="rId8"/>
    <p:sldId id="959" r:id="rId9"/>
    <p:sldId id="752" r:id="rId10"/>
    <p:sldId id="753" r:id="rId11"/>
    <p:sldId id="778" r:id="rId12"/>
    <p:sldId id="779" r:id="rId13"/>
    <p:sldId id="780" r:id="rId14"/>
    <p:sldId id="782" r:id="rId15"/>
    <p:sldId id="578" r:id="rId16"/>
    <p:sldId id="579" r:id="rId17"/>
    <p:sldId id="580" r:id="rId18"/>
    <p:sldId id="884" r:id="rId19"/>
    <p:sldId id="772" r:id="rId20"/>
    <p:sldId id="773" r:id="rId21"/>
    <p:sldId id="885" r:id="rId22"/>
    <p:sldId id="883" r:id="rId23"/>
    <p:sldId id="525" r:id="rId24"/>
    <p:sldId id="757" r:id="rId25"/>
    <p:sldId id="760" r:id="rId26"/>
    <p:sldId id="878" r:id="rId27"/>
    <p:sldId id="786" r:id="rId28"/>
    <p:sldId id="787" r:id="rId29"/>
    <p:sldId id="788" r:id="rId30"/>
    <p:sldId id="888" r:id="rId31"/>
    <p:sldId id="792" r:id="rId32"/>
    <p:sldId id="957" r:id="rId33"/>
    <p:sldId id="866" r:id="rId34"/>
    <p:sldId id="901" r:id="rId35"/>
    <p:sldId id="902" r:id="rId36"/>
    <p:sldId id="958" r:id="rId37"/>
    <p:sldId id="807" r:id="rId38"/>
    <p:sldId id="909" r:id="rId39"/>
    <p:sldId id="939" r:id="rId40"/>
    <p:sldId id="942" r:id="rId41"/>
    <p:sldId id="947" r:id="rId42"/>
    <p:sldId id="523" r:id="rId43"/>
  </p:sldIdLst>
  <p:sldSz cx="12192000" cy="6858000"/>
  <p:notesSz cx="6858000" cy="9144000"/>
  <p:defaultTextStyle>
    <a:defPPr>
      <a:defRPr lang="zh-CN"/>
    </a:defPPr>
    <a:lvl1pPr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1pPr>
    <a:lvl2pPr marL="4572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2pPr>
    <a:lvl3pPr marL="9144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3pPr>
    <a:lvl4pPr marL="13716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4pPr>
    <a:lvl5pPr marL="18288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5pPr>
    <a:lvl6pPr marL="2286000" algn="l" defTabSz="914400" rtl="0" eaLnBrk="1" latinLnBrk="0" hangingPunct="1">
      <a:defRPr sz="2800" kern="1200">
        <a:solidFill>
          <a:srgbClr val="CACACA"/>
        </a:solidFill>
        <a:latin typeface="Times New Roman" pitchFamily="18" charset="0"/>
        <a:ea typeface="宋体" pitchFamily="2" charset="-122"/>
        <a:cs typeface="+mn-cs"/>
      </a:defRPr>
    </a:lvl6pPr>
    <a:lvl7pPr marL="2743200" algn="l" defTabSz="914400" rtl="0" eaLnBrk="1" latinLnBrk="0" hangingPunct="1">
      <a:defRPr sz="2800" kern="1200">
        <a:solidFill>
          <a:srgbClr val="CACACA"/>
        </a:solidFill>
        <a:latin typeface="Times New Roman" pitchFamily="18" charset="0"/>
        <a:ea typeface="宋体" pitchFamily="2" charset="-122"/>
        <a:cs typeface="+mn-cs"/>
      </a:defRPr>
    </a:lvl7pPr>
    <a:lvl8pPr marL="3200400" algn="l" defTabSz="914400" rtl="0" eaLnBrk="1" latinLnBrk="0" hangingPunct="1">
      <a:defRPr sz="2800" kern="1200">
        <a:solidFill>
          <a:srgbClr val="CACACA"/>
        </a:solidFill>
        <a:latin typeface="Times New Roman" pitchFamily="18" charset="0"/>
        <a:ea typeface="宋体" pitchFamily="2" charset="-122"/>
        <a:cs typeface="+mn-cs"/>
      </a:defRPr>
    </a:lvl8pPr>
    <a:lvl9pPr marL="3657600" algn="l" defTabSz="914400" rtl="0" eaLnBrk="1" latinLnBrk="0" hangingPunct="1">
      <a:defRPr sz="2800" kern="1200">
        <a:solidFill>
          <a:srgbClr val="CACACA"/>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988" autoAdjust="0"/>
  </p:normalViewPr>
  <p:slideViewPr>
    <p:cSldViewPr snapToGrid="0">
      <p:cViewPr varScale="1">
        <p:scale>
          <a:sx n="52" d="100"/>
          <a:sy n="52" d="100"/>
        </p:scale>
        <p:origin x="1134" y="6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42444"/>
    </p:cViewPr>
  </p:sorterViewPr>
  <p:notesViewPr>
    <p:cSldViewPr snapToGrid="0">
      <p:cViewPr varScale="1">
        <p:scale>
          <a:sx n="54" d="100"/>
          <a:sy n="54" d="100"/>
        </p:scale>
        <p:origin x="-128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fld id="{CB4CAB5D-47FF-44C5-9352-59033C0EC2C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fld id="{19EA4A0F-13BE-4373-A697-E13E76289F1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4" name="AutoShape 22">
            <a:hlinkClick r:id="" action="ppaction://hlinkshowjump?jump=nextslide" highlightClick="1"/>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5" name="AutoShape 23">
            <a:hlinkClick r:id="" action="ppaction://hlinkshowjump?jump=previousslide" highlightClick="1"/>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6" name="AutoShape 24">
            <a:hlinkClick r:id="" action="ppaction://hlinkshowjump?jump=firstslide" highlightClick="1"/>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7" name="Rectangle 25"/>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w="9525">
            <a:noFill/>
            <a:miter lim="800000"/>
            <a:headEnd/>
            <a:tailEnd/>
          </a:ln>
          <a:effectLst/>
        </p:spPr>
        <p:txBody>
          <a:bodyPr wrap="none" anchor="ctr"/>
          <a:lstStyle/>
          <a:p>
            <a:pPr>
              <a:defRPr/>
            </a:pPr>
            <a:endParaRPr lang="zh-CN" altLang="en-US" sz="2800"/>
          </a:p>
        </p:txBody>
      </p:sp>
      <p:pic>
        <p:nvPicPr>
          <p:cNvPr id="6150" name="Picture 26" descr="RED"/>
          <p:cNvPicPr>
            <a:picLocks noChangeAspect="1" noChangeArrowheads="1"/>
          </p:cNvPicPr>
          <p:nvPr userDrawn="1"/>
        </p:nvPicPr>
        <p:blipFill>
          <a:blip r:embed="rId13"/>
          <a:srcRect/>
          <a:stretch>
            <a:fillRect/>
          </a:stretch>
        </p:blipFill>
        <p:spPr bwMode="auto">
          <a:xfrm>
            <a:off x="1" y="0"/>
            <a:ext cx="2148417" cy="3429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random/>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http://www.swjtu.edu.cn/images02/head1.jp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7.bin"/><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6518275" y="3189288"/>
            <a:ext cx="9144000" cy="523220"/>
          </a:xfrm>
          <a:prstGeom prst="rect">
            <a:avLst/>
          </a:prstGeom>
          <a:noFill/>
          <a:ln w="9525">
            <a:noFill/>
            <a:miter lim="800000"/>
            <a:headEnd/>
            <a:tailEnd/>
          </a:ln>
        </p:spPr>
        <p:txBody>
          <a:bodyPr>
            <a:spAutoFit/>
          </a:bodyPr>
          <a:lstStyle/>
          <a:p>
            <a:endParaRPr lang="zh-CN" altLang="en-US"/>
          </a:p>
        </p:txBody>
      </p:sp>
      <p:pic>
        <p:nvPicPr>
          <p:cNvPr id="1028" name="Picture 3" descr="http://www.swjtu.edu.cn/images02/head1.jpg"/>
          <p:cNvPicPr>
            <a:picLocks noChangeAspect="1" noChangeArrowheads="1"/>
          </p:cNvPicPr>
          <p:nvPr/>
        </p:nvPicPr>
        <p:blipFill>
          <a:blip r:embed="rId3" r:link="rId4"/>
          <a:srcRect/>
          <a:stretch>
            <a:fillRect/>
          </a:stretch>
        </p:blipFill>
        <p:spPr bwMode="auto">
          <a:xfrm>
            <a:off x="3165475" y="422276"/>
            <a:ext cx="5062538" cy="639763"/>
          </a:xfrm>
          <a:prstGeom prst="rect">
            <a:avLst/>
          </a:prstGeom>
          <a:noFill/>
          <a:ln w="9525">
            <a:noFill/>
            <a:miter lim="800000"/>
            <a:headEnd/>
            <a:tailEnd/>
          </a:ln>
        </p:spPr>
      </p:pic>
      <p:sp>
        <p:nvSpPr>
          <p:cNvPr id="1029" name="WordArt 4"/>
          <p:cNvSpPr>
            <a:spLocks noChangeArrowheads="1" noChangeShapeType="1" noTextEdit="1"/>
          </p:cNvSpPr>
          <p:nvPr/>
        </p:nvSpPr>
        <p:spPr bwMode="auto">
          <a:xfrm>
            <a:off x="2619375" y="1593850"/>
            <a:ext cx="6248400" cy="1143000"/>
          </a:xfrm>
          <a:prstGeom prst="rect">
            <a:avLst/>
          </a:prstGeom>
        </p:spPr>
        <p:txBody>
          <a:bodyPr wrap="none" fromWordArt="1">
            <a:prstTxWarp prst="textPlain">
              <a:avLst>
                <a:gd name="adj" fmla="val 50000"/>
              </a:avLst>
            </a:prstTxWarp>
          </a:bodyPr>
          <a:lstStyle/>
          <a:p>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第</a:t>
            </a:r>
            <a:r>
              <a:rPr lang="en-US" altLang="zh-CN"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6</a:t>
            </a: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章 传输层</a:t>
            </a:r>
          </a:p>
        </p:txBody>
      </p:sp>
      <p:graphicFrame>
        <p:nvGraphicFramePr>
          <p:cNvPr id="504838" name="Object 6"/>
          <p:cNvGraphicFramePr>
            <a:graphicFrameLocks noChangeAspect="1"/>
          </p:cNvGraphicFramePr>
          <p:nvPr/>
        </p:nvGraphicFramePr>
        <p:xfrm>
          <a:off x="4024314" y="3159125"/>
          <a:ext cx="3113087" cy="1530350"/>
        </p:xfrm>
        <a:graphic>
          <a:graphicData uri="http://schemas.openxmlformats.org/presentationml/2006/ole">
            <mc:AlternateContent xmlns:mc="http://schemas.openxmlformats.org/markup-compatibility/2006">
              <mc:Choice xmlns:v="urn:schemas-microsoft-com:vml" Requires="v">
                <p:oleObj spid="_x0000_s1058" name="文档" r:id="rId5" imgW="2210400" imgH="1405800" progId="Word.Document.8">
                  <p:embed/>
                </p:oleObj>
              </mc:Choice>
              <mc:Fallback>
                <p:oleObj name="文档" r:id="rId5" imgW="2210400" imgH="1405800"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4314" y="3159125"/>
                        <a:ext cx="3113087" cy="153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p:cNvSpPr txBox="1"/>
          <p:nvPr/>
        </p:nvSpPr>
        <p:spPr>
          <a:xfrm>
            <a:off x="4361081" y="5321147"/>
            <a:ext cx="3326552" cy="954107"/>
          </a:xfrm>
          <a:prstGeom prst="rect">
            <a:avLst/>
          </a:prstGeom>
          <a:noFill/>
        </p:spPr>
        <p:txBody>
          <a:bodyPr wrap="none" rtlCol="0">
            <a:spAutoFit/>
          </a:bodyPr>
          <a:lstStyle/>
          <a:p>
            <a:r>
              <a:rPr lang="zh-CN" altLang="en-US">
                <a:solidFill>
                  <a:schemeClr val="tx1"/>
                </a:solidFill>
              </a:rPr>
              <a:t>陈剑波 </a:t>
            </a:r>
            <a:r>
              <a:rPr lang="en-US" altLang="zh-CN">
                <a:solidFill>
                  <a:schemeClr val="tx1"/>
                </a:solidFill>
              </a:rPr>
              <a:t>13709088388</a:t>
            </a:r>
          </a:p>
          <a:p>
            <a:r>
              <a:rPr lang="en-US" altLang="zh-CN">
                <a:solidFill>
                  <a:schemeClr val="tx1"/>
                </a:solidFill>
              </a:rPr>
              <a:t>jbchen@swjtu.edu.cn</a:t>
            </a: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04838"/>
                                        </p:tgtEl>
                                        <p:attrNameLst>
                                          <p:attrName>style.visibility</p:attrName>
                                        </p:attrNameLst>
                                      </p:cBhvr>
                                      <p:to>
                                        <p:strVal val="visible"/>
                                      </p:to>
                                    </p:set>
                                    <p:anim calcmode="lin" valueType="num">
                                      <p:cBhvr additive="base">
                                        <p:cTn id="7" dur="500" fill="hold"/>
                                        <p:tgtEl>
                                          <p:spTgt spid="504838"/>
                                        </p:tgtEl>
                                        <p:attrNameLst>
                                          <p:attrName>ppt_x</p:attrName>
                                        </p:attrNameLst>
                                      </p:cBhvr>
                                      <p:tavLst>
                                        <p:tav tm="0">
                                          <p:val>
                                            <p:strVal val="1+#ppt_w/2"/>
                                          </p:val>
                                        </p:tav>
                                        <p:tav tm="100000">
                                          <p:val>
                                            <p:strVal val="#ppt_x"/>
                                          </p:val>
                                        </p:tav>
                                      </p:tavLst>
                                    </p:anim>
                                    <p:anim calcmode="lin" valueType="num">
                                      <p:cBhvr additive="base">
                                        <p:cTn id="8" dur="500" fill="hold"/>
                                        <p:tgtEl>
                                          <p:spTgt spid="5048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132263" y="333375"/>
            <a:ext cx="41148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传输层</a:t>
            </a:r>
          </a:p>
        </p:txBody>
      </p:sp>
      <p:pic>
        <p:nvPicPr>
          <p:cNvPr id="7171" name="Picture 4"/>
          <p:cNvPicPr>
            <a:picLocks noChangeAspect="1" noChangeArrowheads="1"/>
          </p:cNvPicPr>
          <p:nvPr/>
        </p:nvPicPr>
        <p:blipFill>
          <a:blip r:embed="rId2"/>
          <a:srcRect/>
          <a:stretch>
            <a:fillRect/>
          </a:stretch>
        </p:blipFill>
        <p:spPr bwMode="auto">
          <a:xfrm>
            <a:off x="2649538" y="1438275"/>
            <a:ext cx="7243762" cy="3748088"/>
          </a:xfrm>
          <a:prstGeom prst="rect">
            <a:avLst/>
          </a:prstGeom>
          <a:noFill/>
          <a:ln w="9525">
            <a:noFill/>
            <a:miter lim="800000"/>
            <a:headEnd/>
            <a:tailEnd/>
          </a:ln>
        </p:spPr>
      </p:pic>
      <p:sp>
        <p:nvSpPr>
          <p:cNvPr id="961541" name="Text Box 5"/>
          <p:cNvSpPr txBox="1">
            <a:spLocks noChangeArrowheads="1"/>
          </p:cNvSpPr>
          <p:nvPr/>
        </p:nvSpPr>
        <p:spPr bwMode="auto">
          <a:xfrm>
            <a:off x="1968500" y="5341939"/>
            <a:ext cx="8699500" cy="884237"/>
          </a:xfrm>
          <a:prstGeom prst="rect">
            <a:avLst/>
          </a:prstGeom>
          <a:noFill/>
          <a:ln w="9525">
            <a:noFill/>
            <a:miter lim="800000"/>
            <a:headEnd/>
            <a:tailEnd/>
          </a:ln>
        </p:spPr>
        <p:txBody>
          <a:bodyPr>
            <a:spAutoFit/>
          </a:bodyPr>
          <a:lstStyle/>
          <a:p>
            <a:pPr algn="l" eaLnBrk="1" hangingPunct="1">
              <a:buFont typeface="Wingdings" pitchFamily="2" charset="2"/>
              <a:buNone/>
            </a:pPr>
            <a:r>
              <a:rPr kumimoji="1" lang="zh-CN" altLang="en-US">
                <a:solidFill>
                  <a:schemeClr val="hlink"/>
                </a:solidFill>
                <a:latin typeface="华文中宋" pitchFamily="2" charset="-122"/>
                <a:ea typeface="华文中宋" pitchFamily="2" charset="-122"/>
              </a:rPr>
              <a:t>基本功能：</a:t>
            </a:r>
            <a:r>
              <a:rPr kumimoji="1" lang="zh-CN" altLang="en-US" sz="2400">
                <a:solidFill>
                  <a:schemeClr val="folHlink"/>
                </a:solidFill>
                <a:latin typeface="华文中宋" pitchFamily="2" charset="-122"/>
                <a:ea typeface="华文中宋" pitchFamily="2" charset="-122"/>
              </a:rPr>
              <a:t>提供端</a:t>
            </a:r>
            <a:r>
              <a:rPr kumimoji="1" lang="en-US" altLang="zh-CN" sz="2000">
                <a:solidFill>
                  <a:schemeClr val="folHlink"/>
                </a:solidFill>
                <a:latin typeface="华文中宋" pitchFamily="2" charset="-122"/>
                <a:ea typeface="华文中宋" pitchFamily="2" charset="-122"/>
              </a:rPr>
              <a:t>(</a:t>
            </a:r>
            <a:r>
              <a:rPr kumimoji="1" lang="zh-CN" altLang="en-US" sz="2000">
                <a:solidFill>
                  <a:schemeClr val="folHlink"/>
                </a:solidFill>
                <a:latin typeface="华文中宋" pitchFamily="2" charset="-122"/>
                <a:ea typeface="华文中宋" pitchFamily="2" charset="-122"/>
              </a:rPr>
              <a:t>主机）</a:t>
            </a:r>
            <a:r>
              <a:rPr kumimoji="1" lang="zh-CN" altLang="en-US" sz="2400">
                <a:solidFill>
                  <a:schemeClr val="folHlink"/>
                </a:solidFill>
                <a:latin typeface="华文中宋" pitchFamily="2" charset="-122"/>
                <a:ea typeface="华文中宋" pitchFamily="2" charset="-122"/>
              </a:rPr>
              <a:t>到端</a:t>
            </a:r>
            <a:r>
              <a:rPr kumimoji="1" lang="zh-CN" altLang="en-US" sz="2000">
                <a:solidFill>
                  <a:schemeClr val="folHlink"/>
                </a:solidFill>
                <a:latin typeface="华文中宋" pitchFamily="2" charset="-122"/>
                <a:ea typeface="华文中宋" pitchFamily="2" charset="-122"/>
              </a:rPr>
              <a:t>（主机）（进程</a:t>
            </a:r>
            <a:r>
              <a:rPr kumimoji="1" lang="en-US" altLang="zh-CN" sz="2000">
                <a:solidFill>
                  <a:schemeClr val="folHlink"/>
                </a:solidFill>
                <a:latin typeface="华文中宋" pitchFamily="2" charset="-122"/>
                <a:ea typeface="华文中宋" pitchFamily="2" charset="-122"/>
              </a:rPr>
              <a:t>-</a:t>
            </a:r>
            <a:r>
              <a:rPr kumimoji="1" lang="zh-CN" altLang="en-US" sz="2000">
                <a:solidFill>
                  <a:schemeClr val="folHlink"/>
                </a:solidFill>
                <a:latin typeface="华文中宋" pitchFamily="2" charset="-122"/>
                <a:ea typeface="华文中宋" pitchFamily="2" charset="-122"/>
              </a:rPr>
              <a:t>进程）</a:t>
            </a:r>
            <a:r>
              <a:rPr kumimoji="1" lang="zh-CN" altLang="en-US" sz="2400">
                <a:solidFill>
                  <a:schemeClr val="folHlink"/>
                </a:solidFill>
                <a:latin typeface="华文中宋" pitchFamily="2" charset="-122"/>
                <a:ea typeface="华文中宋" pitchFamily="2" charset="-122"/>
              </a:rPr>
              <a:t>的通信</a:t>
            </a:r>
            <a:r>
              <a:rPr kumimoji="1" lang="zh-CN" altLang="en-US" sz="2400">
                <a:solidFill>
                  <a:srgbClr val="000000"/>
                </a:solidFill>
                <a:latin typeface="华文中宋" pitchFamily="2" charset="-122"/>
                <a:ea typeface="华文中宋" pitchFamily="2" charset="-122"/>
              </a:rPr>
              <a:t>，向高层用户屏蔽通信子网的细节，提供通用的传输接口 </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1541">
                                            <p:txEl>
                                              <p:pRg st="0" end="0"/>
                                            </p:txEl>
                                          </p:spTgt>
                                        </p:tgtEl>
                                        <p:attrNameLst>
                                          <p:attrName>style.visibility</p:attrName>
                                        </p:attrNameLst>
                                      </p:cBhvr>
                                      <p:to>
                                        <p:strVal val="visible"/>
                                      </p:to>
                                    </p:set>
                                    <p:anim calcmode="lin" valueType="num">
                                      <p:cBhvr additive="base">
                                        <p:cTn id="7" dur="500" fill="hold"/>
                                        <p:tgtEl>
                                          <p:spTgt spid="9615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615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035426" y="285750"/>
            <a:ext cx="5046663"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sz="3600" b="1">
                <a:solidFill>
                  <a:schemeClr val="hlink"/>
                </a:solidFill>
                <a:latin typeface="Arial" pitchFamily="34" charset="0"/>
                <a:ea typeface="华文楷体" pitchFamily="2" charset="-122"/>
              </a:rPr>
              <a:t>传输层所处的位置</a:t>
            </a:r>
          </a:p>
        </p:txBody>
      </p:sp>
      <p:pic>
        <p:nvPicPr>
          <p:cNvPr id="8195" name="Picture 3"/>
          <p:cNvPicPr>
            <a:picLocks noChangeAspect="1" noChangeArrowheads="1"/>
          </p:cNvPicPr>
          <p:nvPr/>
        </p:nvPicPr>
        <p:blipFill>
          <a:blip r:embed="rId2"/>
          <a:srcRect/>
          <a:stretch>
            <a:fillRect/>
          </a:stretch>
        </p:blipFill>
        <p:spPr bwMode="auto">
          <a:xfrm>
            <a:off x="2978151" y="2473325"/>
            <a:ext cx="6657975" cy="3360738"/>
          </a:xfrm>
          <a:prstGeom prst="rect">
            <a:avLst/>
          </a:prstGeom>
          <a:noFill/>
          <a:ln w="9525">
            <a:noFill/>
            <a:miter lim="800000"/>
            <a:headEnd/>
            <a:tailEnd/>
          </a:ln>
        </p:spPr>
      </p:pic>
      <p:sp>
        <p:nvSpPr>
          <p:cNvPr id="8196" name="Text Box 5"/>
          <p:cNvSpPr txBox="1">
            <a:spLocks noChangeArrowheads="1"/>
          </p:cNvSpPr>
          <p:nvPr/>
        </p:nvSpPr>
        <p:spPr bwMode="auto">
          <a:xfrm>
            <a:off x="3595689" y="1339851"/>
            <a:ext cx="6021387" cy="1031875"/>
          </a:xfrm>
          <a:prstGeom prst="rect">
            <a:avLst/>
          </a:prstGeom>
          <a:noFill/>
          <a:ln w="9525">
            <a:noFill/>
            <a:miter lim="800000"/>
            <a:headEnd/>
            <a:tailEnd/>
          </a:ln>
        </p:spPr>
        <p:txBody>
          <a:bodyPr>
            <a:spAutoFit/>
          </a:bodyPr>
          <a:lstStyle/>
          <a:p>
            <a:pPr marL="293688" indent="-293688" algn="l">
              <a:spcBef>
                <a:spcPct val="20000"/>
              </a:spcBef>
            </a:pPr>
            <a:r>
              <a:rPr lang="en-US" altLang="zh-CN">
                <a:solidFill>
                  <a:schemeClr val="tx1"/>
                </a:solidFill>
                <a:latin typeface="Arial" pitchFamily="34" charset="0"/>
              </a:rPr>
              <a:t>• </a:t>
            </a:r>
            <a:r>
              <a:rPr lang="zh-CN" altLang="en-US">
                <a:solidFill>
                  <a:schemeClr val="tx1"/>
                </a:solidFill>
                <a:latin typeface="Arial" pitchFamily="34" charset="0"/>
              </a:rPr>
              <a:t>传输层协议是端到端的协议</a:t>
            </a:r>
          </a:p>
          <a:p>
            <a:pPr marL="293688" indent="-293688" algn="l">
              <a:spcBef>
                <a:spcPct val="20000"/>
              </a:spcBef>
            </a:pPr>
            <a:r>
              <a:rPr lang="en-US" altLang="zh-CN">
                <a:solidFill>
                  <a:schemeClr val="tx1"/>
                </a:solidFill>
                <a:latin typeface="Arial" pitchFamily="34" charset="0"/>
              </a:rPr>
              <a:t>• </a:t>
            </a:r>
            <a:r>
              <a:rPr lang="zh-CN" altLang="en-US">
                <a:solidFill>
                  <a:schemeClr val="tx1"/>
                </a:solidFill>
                <a:latin typeface="Arial" pitchFamily="34" charset="0"/>
              </a:rPr>
              <a:t>传输层是在主机上实现的</a:t>
            </a:r>
            <a:endParaRPr lang="zh-CN" altLang="en-US">
              <a:solidFill>
                <a:schemeClr val="tx1"/>
              </a:solidFill>
            </a:endParaRP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735389" y="304801"/>
            <a:ext cx="4435475" cy="796925"/>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本章目的</a:t>
            </a:r>
          </a:p>
        </p:txBody>
      </p:sp>
      <p:sp>
        <p:nvSpPr>
          <p:cNvPr id="552964" name="Text Box 4"/>
          <p:cNvSpPr txBox="1">
            <a:spLocks noChangeArrowheads="1"/>
          </p:cNvSpPr>
          <p:nvPr/>
        </p:nvSpPr>
        <p:spPr bwMode="auto">
          <a:xfrm>
            <a:off x="3549651" y="2709863"/>
            <a:ext cx="6067425" cy="2259080"/>
          </a:xfrm>
          <a:prstGeom prst="rect">
            <a:avLst/>
          </a:prstGeom>
          <a:noFill/>
          <a:ln w="9525">
            <a:noFill/>
            <a:miter lim="800000"/>
            <a:headEnd/>
            <a:tailEnd/>
          </a:ln>
        </p:spPr>
        <p:txBody>
          <a:bodyPr>
            <a:spAutoFit/>
          </a:bodyPr>
          <a:lstStyle/>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理解传输层服务的基本原则</a:t>
            </a:r>
          </a:p>
          <a:p>
            <a:pPr marL="1050925" lvl="1" indent="-469900" algn="l" eaLnBrk="1" hangingPunct="1">
              <a:lnSpc>
                <a:spcPct val="90000"/>
              </a:lnSpc>
              <a:spcBef>
                <a:spcPct val="10000"/>
              </a:spcBef>
              <a:buClr>
                <a:schemeClr val="hlink"/>
              </a:buClr>
              <a:buFont typeface="Wingdings" pitchFamily="2" charset="2"/>
              <a:buChar char="q"/>
            </a:pPr>
            <a:r>
              <a:rPr lang="zh-CN" altLang="en-US" b="1">
                <a:solidFill>
                  <a:schemeClr val="tx1"/>
                </a:solidFill>
                <a:latin typeface="Arial" pitchFamily="34" charset="0"/>
                <a:ea typeface="隶书" pitchFamily="49" charset="-122"/>
              </a:rPr>
              <a:t>复用</a:t>
            </a:r>
            <a:r>
              <a:rPr lang="en-US" altLang="zh-CN" b="1">
                <a:solidFill>
                  <a:schemeClr val="tx1"/>
                </a:solidFill>
                <a:latin typeface="Arial" pitchFamily="34" charset="0"/>
                <a:ea typeface="隶书" pitchFamily="49" charset="-122"/>
              </a:rPr>
              <a:t>/</a:t>
            </a:r>
            <a:r>
              <a:rPr lang="zh-CN" altLang="en-US" b="1">
                <a:solidFill>
                  <a:schemeClr val="tx1"/>
                </a:solidFill>
                <a:latin typeface="Arial" pitchFamily="34" charset="0"/>
                <a:ea typeface="隶书" pitchFamily="49" charset="-122"/>
              </a:rPr>
              <a:t>逆复用</a:t>
            </a:r>
          </a:p>
          <a:p>
            <a:pPr marL="1050925" lvl="1" indent="-469900" algn="l" eaLnBrk="1" hangingPunct="1">
              <a:lnSpc>
                <a:spcPct val="90000"/>
              </a:lnSpc>
              <a:spcBef>
                <a:spcPct val="10000"/>
              </a:spcBef>
              <a:buClr>
                <a:schemeClr val="hlink"/>
              </a:buClr>
              <a:buFont typeface="Wingdings" pitchFamily="2" charset="2"/>
              <a:buChar char="q"/>
            </a:pPr>
            <a:r>
              <a:rPr lang="zh-CN" altLang="en-US" b="1">
                <a:solidFill>
                  <a:schemeClr val="tx1"/>
                </a:solidFill>
                <a:latin typeface="Arial" pitchFamily="34" charset="0"/>
                <a:ea typeface="隶书" pitchFamily="49" charset="-122"/>
              </a:rPr>
              <a:t>可靠的数据传输</a:t>
            </a:r>
          </a:p>
          <a:p>
            <a:pPr marL="1050925" lvl="1" indent="-469900" algn="l" eaLnBrk="1" hangingPunct="1">
              <a:lnSpc>
                <a:spcPct val="90000"/>
              </a:lnSpc>
              <a:spcBef>
                <a:spcPct val="10000"/>
              </a:spcBef>
              <a:buClr>
                <a:schemeClr val="hlink"/>
              </a:buClr>
              <a:buFont typeface="Wingdings" pitchFamily="2" charset="2"/>
              <a:buChar char="q"/>
            </a:pPr>
            <a:r>
              <a:rPr lang="zh-CN" altLang="en-US" b="1">
                <a:solidFill>
                  <a:schemeClr val="tx1"/>
                </a:solidFill>
                <a:latin typeface="Arial" pitchFamily="34" charset="0"/>
                <a:ea typeface="隶书" pitchFamily="49" charset="-122"/>
              </a:rPr>
              <a:t>流量控制</a:t>
            </a:r>
          </a:p>
          <a:p>
            <a:pPr marL="1050925" lvl="1" indent="-469900" algn="l" eaLnBrk="1" hangingPunct="1">
              <a:lnSpc>
                <a:spcPct val="90000"/>
              </a:lnSpc>
              <a:spcBef>
                <a:spcPct val="10000"/>
              </a:spcBef>
              <a:buClr>
                <a:schemeClr val="hlink"/>
              </a:buClr>
              <a:buFont typeface="Wingdings" pitchFamily="2" charset="2"/>
              <a:buChar char="q"/>
            </a:pPr>
            <a:r>
              <a:rPr lang="zh-CN" altLang="en-US" b="1">
                <a:solidFill>
                  <a:schemeClr val="tx1"/>
                </a:solidFill>
                <a:latin typeface="Arial" pitchFamily="34" charset="0"/>
                <a:ea typeface="隶书" pitchFamily="49" charset="-122"/>
              </a:rPr>
              <a:t>拥塞控制</a:t>
            </a:r>
            <a:endParaRPr lang="zh-CN" altLang="en-US" sz="3200" b="1">
              <a:solidFill>
                <a:schemeClr val="tx1"/>
              </a:solidFill>
              <a:latin typeface="Arial" pitchFamily="34" charset="0"/>
              <a:ea typeface="隶书" pitchFamily="49" charset="-122"/>
            </a:endParaRPr>
          </a:p>
        </p:txBody>
      </p:sp>
      <p:grpSp>
        <p:nvGrpSpPr>
          <p:cNvPr id="9220" name="Group 5"/>
          <p:cNvGrpSpPr>
            <a:grpSpLocks/>
          </p:cNvGrpSpPr>
          <p:nvPr/>
        </p:nvGrpSpPr>
        <p:grpSpPr bwMode="auto">
          <a:xfrm>
            <a:off x="3835400" y="1138238"/>
            <a:ext cx="4400550" cy="1270000"/>
            <a:chOff x="1775" y="922"/>
            <a:chExt cx="2772" cy="940"/>
          </a:xfrm>
        </p:grpSpPr>
        <p:grpSp>
          <p:nvGrpSpPr>
            <p:cNvPr id="9221" name="Group 6"/>
            <p:cNvGrpSpPr>
              <a:grpSpLocks/>
            </p:cNvGrpSpPr>
            <p:nvPr/>
          </p:nvGrpSpPr>
          <p:grpSpPr bwMode="auto">
            <a:xfrm>
              <a:off x="1775" y="922"/>
              <a:ext cx="2666" cy="940"/>
              <a:chOff x="1200" y="194"/>
              <a:chExt cx="3121" cy="1439"/>
            </a:xfrm>
          </p:grpSpPr>
          <p:sp>
            <p:nvSpPr>
              <p:cNvPr id="9223" name="Freeform 7"/>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9224" name="Freeform 8"/>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9225" name="Freeform 9"/>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9226" name="Freeform 10"/>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9227" name="Freeform 11"/>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9228" name="Freeform 12"/>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9229" name="Freeform 13"/>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9230" name="Freeform 14"/>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9231" name="Freeform 15"/>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9232" name="Freeform 16"/>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9233" name="Freeform 17"/>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9234" name="Freeform 18"/>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9235" name="Freeform 19"/>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9236" name="Freeform 20"/>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9237" name="Freeform 21"/>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9238" name="Freeform 22"/>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9239" name="Freeform 23"/>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9240" name="Freeform 24"/>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9241" name="Freeform 25"/>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9242" name="Freeform 26"/>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9243" name="Freeform 27"/>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9244" name="Freeform 28"/>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9245" name="Freeform 29"/>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9246" name="Freeform 30"/>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9247" name="Freeform 31"/>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9248" name="Freeform 32"/>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9249" name="Freeform 33"/>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9250" name="Freeform 34"/>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9251" name="Freeform 35"/>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9252" name="Freeform 36"/>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9253" name="Freeform 37"/>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9254" name="Freeform 38"/>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9255" name="Freeform 39"/>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9256" name="Freeform 40"/>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9257" name="Freeform 41"/>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9258" name="Freeform 42"/>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9259" name="Freeform 43"/>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9260" name="Freeform 44"/>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9261" name="Freeform 45"/>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9262" name="Freeform 46"/>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9263" name="Freeform 47"/>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9222" name="Text Box 48"/>
            <p:cNvSpPr txBox="1">
              <a:spLocks noChangeArrowheads="1"/>
            </p:cNvSpPr>
            <p:nvPr/>
          </p:nvSpPr>
          <p:spPr bwMode="auto">
            <a:xfrm>
              <a:off x="2895" y="1240"/>
              <a:ext cx="1652" cy="564"/>
            </a:xfrm>
            <a:prstGeom prst="rect">
              <a:avLst/>
            </a:prstGeom>
            <a:noFill/>
            <a:ln w="9525">
              <a:noFill/>
              <a:miter lim="800000"/>
              <a:headEnd/>
              <a:tailEnd/>
            </a:ln>
          </p:spPr>
          <p:txBody>
            <a:bodyPr>
              <a:spAutoFit/>
            </a:bodyPr>
            <a:lstStyle/>
            <a:p>
              <a:pPr algn="l" eaLnBrk="1" hangingPunct="1">
                <a:spcBef>
                  <a:spcPct val="50000"/>
                </a:spcBef>
              </a:pPr>
              <a:r>
                <a:rPr lang="en-US" altLang="zh-CN" sz="4400">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64">
                                            <p:txEl>
                                              <p:pRg st="0" end="0"/>
                                            </p:txEl>
                                          </p:spTgt>
                                        </p:tgtEl>
                                        <p:attrNameLst>
                                          <p:attrName>style.visibility</p:attrName>
                                        </p:attrNameLst>
                                      </p:cBhvr>
                                      <p:to>
                                        <p:strVal val="visible"/>
                                      </p:to>
                                    </p:set>
                                    <p:anim calcmode="lin" valueType="num">
                                      <p:cBhvr additive="base">
                                        <p:cTn id="7" dur="500" fill="hold"/>
                                        <p:tgtEl>
                                          <p:spTgt spid="55296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6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52964">
                                            <p:txEl>
                                              <p:pRg st="1" end="1"/>
                                            </p:txEl>
                                          </p:spTgt>
                                        </p:tgtEl>
                                        <p:attrNameLst>
                                          <p:attrName>style.visibility</p:attrName>
                                        </p:attrNameLst>
                                      </p:cBhvr>
                                      <p:to>
                                        <p:strVal val="visible"/>
                                      </p:to>
                                    </p:set>
                                    <p:anim calcmode="lin" valueType="num">
                                      <p:cBhvr additive="base">
                                        <p:cTn id="11" dur="500" fill="hold"/>
                                        <p:tgtEl>
                                          <p:spTgt spid="552964">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52964">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52964">
                                            <p:txEl>
                                              <p:pRg st="2" end="2"/>
                                            </p:txEl>
                                          </p:spTgt>
                                        </p:tgtEl>
                                        <p:attrNameLst>
                                          <p:attrName>style.visibility</p:attrName>
                                        </p:attrNameLst>
                                      </p:cBhvr>
                                      <p:to>
                                        <p:strVal val="visible"/>
                                      </p:to>
                                    </p:set>
                                    <p:anim calcmode="lin" valueType="num">
                                      <p:cBhvr additive="base">
                                        <p:cTn id="15" dur="500" fill="hold"/>
                                        <p:tgtEl>
                                          <p:spTgt spid="552964">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52964">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552964">
                                            <p:txEl>
                                              <p:pRg st="3" end="3"/>
                                            </p:txEl>
                                          </p:spTgt>
                                        </p:tgtEl>
                                        <p:attrNameLst>
                                          <p:attrName>style.visibility</p:attrName>
                                        </p:attrNameLst>
                                      </p:cBhvr>
                                      <p:to>
                                        <p:strVal val="visible"/>
                                      </p:to>
                                    </p:set>
                                    <p:anim calcmode="lin" valueType="num">
                                      <p:cBhvr additive="base">
                                        <p:cTn id="19" dur="500" fill="hold"/>
                                        <p:tgtEl>
                                          <p:spTgt spid="552964">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52964">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52964">
                                            <p:txEl>
                                              <p:pRg st="4" end="4"/>
                                            </p:txEl>
                                          </p:spTgt>
                                        </p:tgtEl>
                                        <p:attrNameLst>
                                          <p:attrName>style.visibility</p:attrName>
                                        </p:attrNameLst>
                                      </p:cBhvr>
                                      <p:to>
                                        <p:strVal val="visible"/>
                                      </p:to>
                                    </p:set>
                                    <p:anim calcmode="lin" valueType="num">
                                      <p:cBhvr additive="base">
                                        <p:cTn id="23" dur="500" fill="hold"/>
                                        <p:tgtEl>
                                          <p:spTgt spid="552964">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5296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4"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028825" y="2667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本章主要内容</a:t>
            </a:r>
          </a:p>
        </p:txBody>
      </p:sp>
      <p:sp>
        <p:nvSpPr>
          <p:cNvPr id="553988" name="Text Box 4"/>
          <p:cNvSpPr txBox="1">
            <a:spLocks noChangeArrowheads="1"/>
          </p:cNvSpPr>
          <p:nvPr/>
        </p:nvSpPr>
        <p:spPr bwMode="auto">
          <a:xfrm>
            <a:off x="4010026" y="1682750"/>
            <a:ext cx="5078413" cy="4235450"/>
          </a:xfrm>
          <a:prstGeom prst="rect">
            <a:avLst/>
          </a:prstGeom>
          <a:noFill/>
          <a:ln w="9525">
            <a:noFill/>
            <a:miter lim="800000"/>
            <a:headEnd/>
            <a:tailEnd/>
          </a:ln>
        </p:spPr>
        <p:txBody>
          <a:bodyPr>
            <a:spAutoFit/>
          </a:bodyPr>
          <a:lstStyle/>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传输层服务</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复用</a:t>
            </a:r>
            <a:r>
              <a:rPr lang="en-US" altLang="zh-CN" b="1">
                <a:solidFill>
                  <a:schemeClr val="tx1"/>
                </a:solidFill>
                <a:latin typeface="Arial" pitchFamily="34" charset="0"/>
              </a:rPr>
              <a:t>/</a:t>
            </a:r>
            <a:r>
              <a:rPr lang="zh-CN" altLang="en-US" b="1">
                <a:solidFill>
                  <a:schemeClr val="tx1"/>
                </a:solidFill>
                <a:latin typeface="Arial" pitchFamily="34" charset="0"/>
              </a:rPr>
              <a:t>逆复用</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无连接传输</a:t>
            </a:r>
            <a:r>
              <a:rPr lang="en-US" altLang="zh-CN" b="1">
                <a:solidFill>
                  <a:schemeClr val="tx1"/>
                </a:solidFill>
                <a:latin typeface="Arial" pitchFamily="34" charset="0"/>
              </a:rPr>
              <a:t>: UDP</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可靠数据传输的原则</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面向连接的传输</a:t>
            </a:r>
            <a:r>
              <a:rPr lang="en-US" altLang="zh-CN" b="1">
                <a:solidFill>
                  <a:schemeClr val="tx1"/>
                </a:solidFill>
                <a:latin typeface="Arial" pitchFamily="34" charset="0"/>
              </a:rPr>
              <a:t>: TCP</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可靠传输</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流控制</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连接管理</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拥塞控制</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3988">
                                            <p:txEl>
                                              <p:pRg st="0" end="0"/>
                                            </p:txEl>
                                          </p:spTgt>
                                        </p:tgtEl>
                                        <p:attrNameLst>
                                          <p:attrName>style.visibility</p:attrName>
                                        </p:attrNameLst>
                                      </p:cBhvr>
                                      <p:to>
                                        <p:strVal val="visible"/>
                                      </p:to>
                                    </p:set>
                                    <p:anim calcmode="lin" valueType="num">
                                      <p:cBhvr additive="base">
                                        <p:cTn id="7" dur="500" fill="hold"/>
                                        <p:tgtEl>
                                          <p:spTgt spid="55398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39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53988">
                                            <p:txEl>
                                              <p:pRg st="1" end="1"/>
                                            </p:txEl>
                                          </p:spTgt>
                                        </p:tgtEl>
                                        <p:attrNameLst>
                                          <p:attrName>style.visibility</p:attrName>
                                        </p:attrNameLst>
                                      </p:cBhvr>
                                      <p:to>
                                        <p:strVal val="visible"/>
                                      </p:to>
                                    </p:set>
                                    <p:anim calcmode="lin" valueType="num">
                                      <p:cBhvr additive="base">
                                        <p:cTn id="13" dur="500" fill="hold"/>
                                        <p:tgtEl>
                                          <p:spTgt spid="55398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5398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53988">
                                            <p:txEl>
                                              <p:pRg st="2" end="2"/>
                                            </p:txEl>
                                          </p:spTgt>
                                        </p:tgtEl>
                                        <p:attrNameLst>
                                          <p:attrName>style.visibility</p:attrName>
                                        </p:attrNameLst>
                                      </p:cBhvr>
                                      <p:to>
                                        <p:strVal val="visible"/>
                                      </p:to>
                                    </p:set>
                                    <p:anim calcmode="lin" valueType="num">
                                      <p:cBhvr additive="base">
                                        <p:cTn id="19" dur="500" fill="hold"/>
                                        <p:tgtEl>
                                          <p:spTgt spid="55398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5398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53988">
                                            <p:txEl>
                                              <p:pRg st="3" end="3"/>
                                            </p:txEl>
                                          </p:spTgt>
                                        </p:tgtEl>
                                        <p:attrNameLst>
                                          <p:attrName>style.visibility</p:attrName>
                                        </p:attrNameLst>
                                      </p:cBhvr>
                                      <p:to>
                                        <p:strVal val="visible"/>
                                      </p:to>
                                    </p:set>
                                    <p:anim calcmode="lin" valueType="num">
                                      <p:cBhvr additive="base">
                                        <p:cTn id="25" dur="500" fill="hold"/>
                                        <p:tgtEl>
                                          <p:spTgt spid="55398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5398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53988">
                                            <p:txEl>
                                              <p:pRg st="4" end="4"/>
                                            </p:txEl>
                                          </p:spTgt>
                                        </p:tgtEl>
                                        <p:attrNameLst>
                                          <p:attrName>style.visibility</p:attrName>
                                        </p:attrNameLst>
                                      </p:cBhvr>
                                      <p:to>
                                        <p:strVal val="visible"/>
                                      </p:to>
                                    </p:set>
                                    <p:anim calcmode="lin" valueType="num">
                                      <p:cBhvr additive="base">
                                        <p:cTn id="31" dur="500" fill="hold"/>
                                        <p:tgtEl>
                                          <p:spTgt spid="55398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53988">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53988">
                                            <p:txEl>
                                              <p:pRg st="5" end="5"/>
                                            </p:txEl>
                                          </p:spTgt>
                                        </p:tgtEl>
                                        <p:attrNameLst>
                                          <p:attrName>style.visibility</p:attrName>
                                        </p:attrNameLst>
                                      </p:cBhvr>
                                      <p:to>
                                        <p:strVal val="visible"/>
                                      </p:to>
                                    </p:set>
                                    <p:anim calcmode="lin" valueType="num">
                                      <p:cBhvr additive="base">
                                        <p:cTn id="35" dur="500" fill="hold"/>
                                        <p:tgtEl>
                                          <p:spTgt spid="553988">
                                            <p:txEl>
                                              <p:pRg st="5" end="5"/>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553988">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553988">
                                            <p:txEl>
                                              <p:pRg st="6" end="6"/>
                                            </p:txEl>
                                          </p:spTgt>
                                        </p:tgtEl>
                                        <p:attrNameLst>
                                          <p:attrName>style.visibility</p:attrName>
                                        </p:attrNameLst>
                                      </p:cBhvr>
                                      <p:to>
                                        <p:strVal val="visible"/>
                                      </p:to>
                                    </p:set>
                                    <p:anim calcmode="lin" valueType="num">
                                      <p:cBhvr additive="base">
                                        <p:cTn id="39" dur="500" fill="hold"/>
                                        <p:tgtEl>
                                          <p:spTgt spid="553988">
                                            <p:txEl>
                                              <p:pRg st="6" end="6"/>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553988">
                                            <p:txEl>
                                              <p:pRg st="6" end="6"/>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53988">
                                            <p:txEl>
                                              <p:pRg st="7" end="7"/>
                                            </p:txEl>
                                          </p:spTgt>
                                        </p:tgtEl>
                                        <p:attrNameLst>
                                          <p:attrName>style.visibility</p:attrName>
                                        </p:attrNameLst>
                                      </p:cBhvr>
                                      <p:to>
                                        <p:strVal val="visible"/>
                                      </p:to>
                                    </p:set>
                                    <p:anim calcmode="lin" valueType="num">
                                      <p:cBhvr additive="base">
                                        <p:cTn id="43" dur="500" fill="hold"/>
                                        <p:tgtEl>
                                          <p:spTgt spid="553988">
                                            <p:txEl>
                                              <p:pRg st="7" end="7"/>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5398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53988">
                                            <p:txEl>
                                              <p:pRg st="8" end="8"/>
                                            </p:txEl>
                                          </p:spTgt>
                                        </p:tgtEl>
                                        <p:attrNameLst>
                                          <p:attrName>style.visibility</p:attrName>
                                        </p:attrNameLst>
                                      </p:cBhvr>
                                      <p:to>
                                        <p:strVal val="visible"/>
                                      </p:to>
                                    </p:set>
                                    <p:anim calcmode="lin" valueType="num">
                                      <p:cBhvr additive="base">
                                        <p:cTn id="49" dur="500" fill="hold"/>
                                        <p:tgtEl>
                                          <p:spTgt spid="553988">
                                            <p:txEl>
                                              <p:pRg st="8" end="8"/>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53988">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2176463" y="3556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传输服务与协议</a:t>
            </a:r>
          </a:p>
        </p:txBody>
      </p:sp>
      <p:sp>
        <p:nvSpPr>
          <p:cNvPr id="11267" name="Text Box 4"/>
          <p:cNvSpPr txBox="1">
            <a:spLocks noChangeArrowheads="1"/>
          </p:cNvSpPr>
          <p:nvPr/>
        </p:nvSpPr>
        <p:spPr bwMode="auto">
          <a:xfrm>
            <a:off x="2190750" y="1628775"/>
            <a:ext cx="8180388" cy="2859088"/>
          </a:xfrm>
          <a:prstGeom prst="rect">
            <a:avLst/>
          </a:prstGeom>
          <a:noFill/>
          <a:ln w="9525">
            <a:noFill/>
            <a:miter lim="800000"/>
            <a:headEnd/>
            <a:tailEnd/>
          </a:ln>
        </p:spPr>
        <p:txBody>
          <a:bodyPr>
            <a:spAutoFit/>
          </a:bodyPr>
          <a:lstStyle/>
          <a:p>
            <a:pPr marL="195263" indent="-195263" algn="l" eaLnBrk="1" hangingPunct="1">
              <a:spcBef>
                <a:spcPct val="20000"/>
              </a:spcBef>
              <a:buFontTx/>
              <a:buChar char="•"/>
            </a:pPr>
            <a:r>
              <a:rPr lang="zh-CN" altLang="en-US" b="1">
                <a:solidFill>
                  <a:schemeClr val="tx1"/>
                </a:solidFill>
                <a:latin typeface="Arial" pitchFamily="34" charset="0"/>
              </a:rPr>
              <a:t>在不同的两个进程间提供逻辑通信</a:t>
            </a:r>
          </a:p>
          <a:p>
            <a:pPr marL="195263" indent="-195263" algn="l" eaLnBrk="1" hangingPunct="1">
              <a:spcBef>
                <a:spcPct val="20000"/>
              </a:spcBef>
              <a:buFontTx/>
              <a:buChar char="•"/>
            </a:pPr>
            <a:r>
              <a:rPr lang="zh-CN" altLang="en-US" b="1">
                <a:solidFill>
                  <a:schemeClr val="tx1"/>
                </a:solidFill>
                <a:latin typeface="Arial" pitchFamily="34" charset="0"/>
              </a:rPr>
              <a:t>传输层协议运行于用户端系统</a:t>
            </a:r>
            <a:r>
              <a:rPr lang="zh-CN" altLang="en-US" b="1">
                <a:solidFill>
                  <a:srgbClr val="EAEAEA"/>
                </a:solidFill>
                <a:latin typeface="Arial" pitchFamily="34" charset="0"/>
              </a:rPr>
              <a:t> </a:t>
            </a:r>
          </a:p>
          <a:p>
            <a:pPr marL="195263" indent="-195263" algn="l" eaLnBrk="1" hangingPunct="1">
              <a:spcBef>
                <a:spcPct val="20000"/>
              </a:spcBef>
              <a:buFontTx/>
              <a:buChar char="•"/>
            </a:pPr>
            <a:r>
              <a:rPr lang="zh-CN" altLang="en-US" b="1">
                <a:solidFill>
                  <a:schemeClr val="hlink"/>
                </a:solidFill>
                <a:latin typeface="Arial" pitchFamily="34" charset="0"/>
              </a:rPr>
              <a:t>传输层与网络层的服务比较</a:t>
            </a:r>
            <a:endParaRPr lang="en-US" altLang="zh-CN" b="1">
              <a:solidFill>
                <a:schemeClr val="hlink"/>
              </a:solidFill>
              <a:latin typeface="Arial" pitchFamily="34" charset="0"/>
            </a:endParaRPr>
          </a:p>
          <a:p>
            <a:pPr marL="757238" lvl="1" indent="-300038" algn="l" eaLnBrk="1" hangingPunct="1">
              <a:spcBef>
                <a:spcPct val="20000"/>
              </a:spcBef>
              <a:buFontTx/>
              <a:buChar char="–"/>
            </a:pPr>
            <a:r>
              <a:rPr lang="zh-CN" altLang="en-US" sz="2400" b="1" i="1">
                <a:solidFill>
                  <a:schemeClr val="folHlink"/>
                </a:solidFill>
                <a:latin typeface="Arial" pitchFamily="34" charset="0"/>
              </a:rPr>
              <a:t>网络层</a:t>
            </a:r>
            <a:r>
              <a:rPr lang="en-US" altLang="zh-CN" sz="2400" b="1" i="1">
                <a:solidFill>
                  <a:schemeClr val="folHlink"/>
                </a:solidFill>
                <a:latin typeface="Arial" pitchFamily="34" charset="0"/>
              </a:rPr>
              <a:t>:</a:t>
            </a:r>
            <a:r>
              <a:rPr lang="en-US" altLang="zh-CN" sz="2400" b="1">
                <a:solidFill>
                  <a:srgbClr val="EAEAEA"/>
                </a:solidFill>
                <a:latin typeface="Arial" pitchFamily="34" charset="0"/>
              </a:rPr>
              <a:t> </a:t>
            </a:r>
            <a:r>
              <a:rPr lang="zh-CN" altLang="en-US" sz="2400" b="1">
                <a:solidFill>
                  <a:schemeClr val="tx1"/>
                </a:solidFill>
                <a:latin typeface="Arial" pitchFamily="34" charset="0"/>
              </a:rPr>
              <a:t>通信子网端系统间的数据传输</a:t>
            </a:r>
          </a:p>
          <a:p>
            <a:pPr marL="757238" lvl="1" indent="-300038" algn="l" eaLnBrk="1" hangingPunct="1">
              <a:spcBef>
                <a:spcPct val="20000"/>
              </a:spcBef>
              <a:buFontTx/>
              <a:buChar char="–"/>
            </a:pPr>
            <a:r>
              <a:rPr lang="zh-CN" altLang="en-US" sz="2400" b="1" i="1">
                <a:solidFill>
                  <a:schemeClr val="folHlink"/>
                </a:solidFill>
                <a:latin typeface="Arial" pitchFamily="34" charset="0"/>
              </a:rPr>
              <a:t>传输层</a:t>
            </a:r>
            <a:r>
              <a:rPr lang="en-US" altLang="zh-CN" sz="2400" b="1" i="1">
                <a:solidFill>
                  <a:schemeClr val="folHlink"/>
                </a:solidFill>
                <a:latin typeface="Arial" pitchFamily="34" charset="0"/>
              </a:rPr>
              <a:t>:</a:t>
            </a:r>
            <a:r>
              <a:rPr lang="en-US" altLang="zh-CN" sz="2400" b="1">
                <a:solidFill>
                  <a:srgbClr val="EAEAEA"/>
                </a:solidFill>
                <a:latin typeface="Arial" pitchFamily="34" charset="0"/>
              </a:rPr>
              <a:t> </a:t>
            </a:r>
            <a:r>
              <a:rPr lang="zh-CN" altLang="en-US" sz="2400" b="1">
                <a:solidFill>
                  <a:schemeClr val="tx1"/>
                </a:solidFill>
                <a:latin typeface="Arial" pitchFamily="34" charset="0"/>
              </a:rPr>
              <a:t>进程间的数据传输</a:t>
            </a:r>
            <a:endParaRPr lang="zh-CN" altLang="en-US" sz="2400">
              <a:solidFill>
                <a:schemeClr val="tx1"/>
              </a:solidFill>
              <a:latin typeface="Arial" pitchFamily="34" charset="0"/>
            </a:endParaRPr>
          </a:p>
          <a:p>
            <a:pPr marL="757238" lvl="1" indent="-300038" algn="l" eaLnBrk="1" hangingPunct="1">
              <a:spcBef>
                <a:spcPct val="20000"/>
              </a:spcBef>
              <a:buFontTx/>
              <a:buChar char="–"/>
            </a:pPr>
            <a:r>
              <a:rPr lang="zh-CN" altLang="en-US" sz="2400" b="1">
                <a:solidFill>
                  <a:schemeClr val="tx1"/>
                </a:solidFill>
                <a:latin typeface="Arial" pitchFamily="34" charset="0"/>
              </a:rPr>
              <a:t>传输层依赖于网络层服务，并扩展网络层服务</a:t>
            </a: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2271713" y="4413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QoS </a:t>
            </a:r>
            <a:r>
              <a:rPr lang="zh-CN" altLang="en-US" sz="3600" b="1">
                <a:solidFill>
                  <a:schemeClr val="hlink"/>
                </a:solidFill>
                <a:latin typeface="Arial" pitchFamily="34" charset="0"/>
                <a:ea typeface="华文楷体" pitchFamily="2" charset="-122"/>
              </a:rPr>
              <a:t>参数</a:t>
            </a:r>
          </a:p>
        </p:txBody>
      </p:sp>
      <p:sp>
        <p:nvSpPr>
          <p:cNvPr id="509956" name="Text Box 4"/>
          <p:cNvSpPr txBox="1">
            <a:spLocks noChangeArrowheads="1"/>
          </p:cNvSpPr>
          <p:nvPr/>
        </p:nvSpPr>
        <p:spPr bwMode="auto">
          <a:xfrm>
            <a:off x="2060575" y="1495426"/>
            <a:ext cx="8459788" cy="4031873"/>
          </a:xfrm>
          <a:prstGeom prst="rect">
            <a:avLst/>
          </a:prstGeom>
          <a:noFill/>
          <a:ln w="9525">
            <a:noFill/>
            <a:miter lim="800000"/>
            <a:headEnd/>
            <a:tailEnd/>
          </a:ln>
        </p:spPr>
        <p:txBody>
          <a:bodyPr>
            <a:spAutoFit/>
          </a:bodyPr>
          <a:lstStyle/>
          <a:p>
            <a:pPr marL="293688" indent="-293688" algn="l" eaLnBrk="1" hangingPunct="1">
              <a:buFont typeface="Wingdings" pitchFamily="2" charset="2"/>
              <a:buChar char="v"/>
            </a:pPr>
            <a:r>
              <a:rPr kumimoji="1" lang="zh-CN" altLang="en-US" sz="3200" b="1">
                <a:solidFill>
                  <a:schemeClr val="hlink"/>
                </a:solidFill>
                <a:latin typeface="宋体" pitchFamily="2" charset="-122"/>
              </a:rPr>
              <a:t>连接建立时延</a:t>
            </a:r>
            <a:r>
              <a:rPr kumimoji="1" lang="zh-CN" altLang="en-US" sz="3200">
                <a:solidFill>
                  <a:schemeClr val="tx1"/>
                </a:solidFill>
                <a:latin typeface="宋体" pitchFamily="2" charset="-122"/>
              </a:rPr>
              <a:t>：从传输用户提出连接请求到接收到连接证实的时间</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建立连接失败可能性</a:t>
            </a:r>
            <a:r>
              <a:rPr kumimoji="1" lang="zh-CN" altLang="en-US" sz="3200">
                <a:solidFill>
                  <a:schemeClr val="tx1"/>
                </a:solidFill>
                <a:latin typeface="宋体" pitchFamily="2" charset="-122"/>
              </a:rPr>
              <a:t>：在最大连接建立时延内连接未能建立的比例 </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吞吐量</a:t>
            </a:r>
            <a:r>
              <a:rPr kumimoji="1" lang="zh-CN" altLang="en-US" sz="3200">
                <a:solidFill>
                  <a:schemeClr val="tx1"/>
                </a:solidFill>
                <a:latin typeface="宋体" pitchFamily="2" charset="-122"/>
              </a:rPr>
              <a:t>：在一段时间间隔内，每秒传送的用户数据字节数 </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转接时延</a:t>
            </a:r>
            <a:r>
              <a:rPr kumimoji="1" lang="zh-CN" altLang="en-US" sz="3200">
                <a:solidFill>
                  <a:schemeClr val="tx1"/>
                </a:solidFill>
                <a:latin typeface="宋体" pitchFamily="2" charset="-122"/>
              </a:rPr>
              <a:t>：从源主机传输用户发出消息到目的主机传输用户接收到该消息的时间</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9956">
                                            <p:txEl>
                                              <p:pRg st="0" end="0"/>
                                            </p:txEl>
                                          </p:spTgt>
                                        </p:tgtEl>
                                        <p:attrNameLst>
                                          <p:attrName>style.visibility</p:attrName>
                                        </p:attrNameLst>
                                      </p:cBhvr>
                                      <p:to>
                                        <p:strVal val="visible"/>
                                      </p:to>
                                    </p:set>
                                    <p:anim calcmode="lin" valueType="num">
                                      <p:cBhvr additive="base">
                                        <p:cTn id="7" dur="500" fill="hold"/>
                                        <p:tgtEl>
                                          <p:spTgt spid="50995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099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9956">
                                            <p:txEl>
                                              <p:pRg st="1" end="1"/>
                                            </p:txEl>
                                          </p:spTgt>
                                        </p:tgtEl>
                                        <p:attrNameLst>
                                          <p:attrName>style.visibility</p:attrName>
                                        </p:attrNameLst>
                                      </p:cBhvr>
                                      <p:to>
                                        <p:strVal val="visible"/>
                                      </p:to>
                                    </p:set>
                                    <p:anim calcmode="lin" valueType="num">
                                      <p:cBhvr additive="base">
                                        <p:cTn id="13" dur="500" fill="hold"/>
                                        <p:tgtEl>
                                          <p:spTgt spid="50995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0995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09956">
                                            <p:txEl>
                                              <p:pRg st="2" end="2"/>
                                            </p:txEl>
                                          </p:spTgt>
                                        </p:tgtEl>
                                        <p:attrNameLst>
                                          <p:attrName>style.visibility</p:attrName>
                                        </p:attrNameLst>
                                      </p:cBhvr>
                                      <p:to>
                                        <p:strVal val="visible"/>
                                      </p:to>
                                    </p:set>
                                    <p:anim calcmode="lin" valueType="num">
                                      <p:cBhvr additive="base">
                                        <p:cTn id="19" dur="500" fill="hold"/>
                                        <p:tgtEl>
                                          <p:spTgt spid="50995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0995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09956">
                                            <p:txEl>
                                              <p:pRg st="3" end="3"/>
                                            </p:txEl>
                                          </p:spTgt>
                                        </p:tgtEl>
                                        <p:attrNameLst>
                                          <p:attrName>style.visibility</p:attrName>
                                        </p:attrNameLst>
                                      </p:cBhvr>
                                      <p:to>
                                        <p:strVal val="visible"/>
                                      </p:to>
                                    </p:set>
                                    <p:anim calcmode="lin" valueType="num">
                                      <p:cBhvr additive="base">
                                        <p:cTn id="25" dur="500" fill="hold"/>
                                        <p:tgtEl>
                                          <p:spTgt spid="50995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0995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6"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71713" y="4413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Qos </a:t>
            </a:r>
            <a:r>
              <a:rPr lang="zh-CN" altLang="en-US" sz="3600" b="1">
                <a:solidFill>
                  <a:schemeClr val="hlink"/>
                </a:solidFill>
                <a:latin typeface="Arial" pitchFamily="34" charset="0"/>
                <a:ea typeface="华文楷体" pitchFamily="2" charset="-122"/>
              </a:rPr>
              <a:t>参数</a:t>
            </a:r>
            <a:r>
              <a:rPr lang="en-US" altLang="zh-CN" sz="3600" b="1">
                <a:solidFill>
                  <a:schemeClr val="hlink"/>
                </a:solidFill>
                <a:latin typeface="Arial" pitchFamily="34" charset="0"/>
                <a:ea typeface="华文楷体" pitchFamily="2" charset="-122"/>
              </a:rPr>
              <a:t>(</a:t>
            </a:r>
            <a:r>
              <a:rPr lang="zh-CN" altLang="en-US" sz="3600" b="1">
                <a:solidFill>
                  <a:schemeClr val="hlink"/>
                </a:solidFill>
                <a:latin typeface="Arial" pitchFamily="34" charset="0"/>
                <a:ea typeface="华文楷体" pitchFamily="2" charset="-122"/>
              </a:rPr>
              <a:t>续</a:t>
            </a:r>
            <a:r>
              <a:rPr lang="en-US" altLang="zh-CN" sz="3600" b="1">
                <a:solidFill>
                  <a:schemeClr val="hlink"/>
                </a:solidFill>
                <a:latin typeface="Arial" pitchFamily="34" charset="0"/>
                <a:ea typeface="华文楷体" pitchFamily="2" charset="-122"/>
              </a:rPr>
              <a:t>)</a:t>
            </a:r>
          </a:p>
        </p:txBody>
      </p:sp>
      <p:sp>
        <p:nvSpPr>
          <p:cNvPr id="1064963" name="Text Box 3"/>
          <p:cNvSpPr txBox="1">
            <a:spLocks noChangeArrowheads="1"/>
          </p:cNvSpPr>
          <p:nvPr/>
        </p:nvSpPr>
        <p:spPr bwMode="auto">
          <a:xfrm>
            <a:off x="2060576" y="1495425"/>
            <a:ext cx="8277225" cy="3937000"/>
          </a:xfrm>
          <a:prstGeom prst="rect">
            <a:avLst/>
          </a:prstGeom>
          <a:noFill/>
          <a:ln w="9525">
            <a:noFill/>
            <a:miter lim="800000"/>
            <a:headEnd/>
            <a:tailEnd/>
          </a:ln>
        </p:spPr>
        <p:txBody>
          <a:bodyPr>
            <a:spAutoFit/>
          </a:bodyPr>
          <a:lstStyle/>
          <a:p>
            <a:pPr marL="293688" indent="-293688" algn="l" eaLnBrk="1" hangingPunct="1">
              <a:buFont typeface="Wingdings" pitchFamily="2" charset="2"/>
              <a:buChar char="v"/>
            </a:pPr>
            <a:r>
              <a:rPr kumimoji="1" lang="zh-CN" altLang="en-US" sz="3600" b="1">
                <a:solidFill>
                  <a:schemeClr val="hlink"/>
                </a:solidFill>
                <a:latin typeface="宋体" pitchFamily="2" charset="-122"/>
              </a:rPr>
              <a:t>残余差错率</a:t>
            </a:r>
            <a:r>
              <a:rPr kumimoji="1" lang="zh-CN" altLang="en-US" sz="3600">
                <a:solidFill>
                  <a:schemeClr val="tx1"/>
                </a:solidFill>
                <a:latin typeface="宋体" pitchFamily="2" charset="-122"/>
              </a:rPr>
              <a:t>：丢失</a:t>
            </a:r>
            <a:r>
              <a:rPr kumimoji="1" lang="en-US" altLang="zh-CN" sz="3600">
                <a:solidFill>
                  <a:schemeClr val="tx1"/>
                </a:solidFill>
                <a:latin typeface="宋体" pitchFamily="2" charset="-122"/>
              </a:rPr>
              <a:t>/</a:t>
            </a:r>
            <a:r>
              <a:rPr kumimoji="1" lang="zh-CN" altLang="en-US" sz="3600">
                <a:solidFill>
                  <a:schemeClr val="tx1"/>
                </a:solidFill>
                <a:latin typeface="宋体" pitchFamily="2" charset="-122"/>
              </a:rPr>
              <a:t>出错消息占全部发送的消息的比例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保护</a:t>
            </a:r>
            <a:r>
              <a:rPr kumimoji="1" lang="zh-CN" altLang="en-US" sz="3600">
                <a:solidFill>
                  <a:schemeClr val="tx1"/>
                </a:solidFill>
                <a:latin typeface="宋体" pitchFamily="2" charset="-122"/>
              </a:rPr>
              <a:t>：防止未经授权的第三方读取或修改传输的数据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优先级</a:t>
            </a:r>
            <a:r>
              <a:rPr kumimoji="1" lang="zh-CN" altLang="en-US" sz="3600">
                <a:solidFill>
                  <a:schemeClr val="tx1"/>
                </a:solidFill>
                <a:latin typeface="宋体" pitchFamily="2" charset="-122"/>
              </a:rPr>
              <a:t>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恢复力</a:t>
            </a:r>
            <a:r>
              <a:rPr kumimoji="1" lang="zh-CN" altLang="en-US" sz="3600">
                <a:solidFill>
                  <a:schemeClr val="tx1"/>
                </a:solidFill>
                <a:latin typeface="宋体" pitchFamily="2" charset="-122"/>
              </a:rPr>
              <a:t>：在内部故障或拥塞时，传输层自发终止连接的可能性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anim calcmode="lin" valueType="num">
                                      <p:cBhvr additive="base">
                                        <p:cTn id="7" dur="500" fill="hold"/>
                                        <p:tgtEl>
                                          <p:spTgt spid="10649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64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64963">
                                            <p:txEl>
                                              <p:pRg st="1" end="1"/>
                                            </p:txEl>
                                          </p:spTgt>
                                        </p:tgtEl>
                                        <p:attrNameLst>
                                          <p:attrName>style.visibility</p:attrName>
                                        </p:attrNameLst>
                                      </p:cBhvr>
                                      <p:to>
                                        <p:strVal val="visible"/>
                                      </p:to>
                                    </p:set>
                                    <p:anim calcmode="lin" valueType="num">
                                      <p:cBhvr additive="base">
                                        <p:cTn id="13" dur="500" fill="hold"/>
                                        <p:tgtEl>
                                          <p:spTgt spid="106496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64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64963">
                                            <p:txEl>
                                              <p:pRg st="2" end="2"/>
                                            </p:txEl>
                                          </p:spTgt>
                                        </p:tgtEl>
                                        <p:attrNameLst>
                                          <p:attrName>style.visibility</p:attrName>
                                        </p:attrNameLst>
                                      </p:cBhvr>
                                      <p:to>
                                        <p:strVal val="visible"/>
                                      </p:to>
                                    </p:set>
                                    <p:anim calcmode="lin" valueType="num">
                                      <p:cBhvr additive="base">
                                        <p:cTn id="19" dur="500" fill="hold"/>
                                        <p:tgtEl>
                                          <p:spTgt spid="106496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64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64963">
                                            <p:txEl>
                                              <p:pRg st="3" end="3"/>
                                            </p:txEl>
                                          </p:spTgt>
                                        </p:tgtEl>
                                        <p:attrNameLst>
                                          <p:attrName>style.visibility</p:attrName>
                                        </p:attrNameLst>
                                      </p:cBhvr>
                                      <p:to>
                                        <p:strVal val="visible"/>
                                      </p:to>
                                    </p:set>
                                    <p:anim calcmode="lin" valueType="num">
                                      <p:cBhvr additive="base">
                                        <p:cTn id="25" dur="500" fill="hold"/>
                                        <p:tgtEl>
                                          <p:spTgt spid="106496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649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2209800" y="29686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Internet</a:t>
            </a:r>
            <a:r>
              <a:rPr lang="zh-CN" altLang="en-US" sz="3600" b="1">
                <a:solidFill>
                  <a:schemeClr val="hlink"/>
                </a:solidFill>
                <a:latin typeface="Arial" pitchFamily="34" charset="0"/>
                <a:ea typeface="华文楷体" pitchFamily="2" charset="-122"/>
              </a:rPr>
              <a:t>传输层协议</a:t>
            </a:r>
          </a:p>
        </p:txBody>
      </p:sp>
      <p:sp>
        <p:nvSpPr>
          <p:cNvPr id="14339" name="Text Box 3"/>
          <p:cNvSpPr txBox="1">
            <a:spLocks noChangeArrowheads="1"/>
          </p:cNvSpPr>
          <p:nvPr/>
        </p:nvSpPr>
        <p:spPr bwMode="auto">
          <a:xfrm>
            <a:off x="2386014" y="1308101"/>
            <a:ext cx="7216775" cy="519113"/>
          </a:xfrm>
          <a:prstGeom prst="rect">
            <a:avLst/>
          </a:prstGeom>
          <a:noFill/>
          <a:ln w="9525">
            <a:noFill/>
            <a:miter lim="800000"/>
            <a:headEnd/>
            <a:tailEnd/>
          </a:ln>
        </p:spPr>
        <p:txBody>
          <a:bodyPr>
            <a:spAutoFit/>
          </a:bodyPr>
          <a:lstStyle/>
          <a:p>
            <a:pPr algn="l">
              <a:spcBef>
                <a:spcPct val="50000"/>
              </a:spcBef>
            </a:pPr>
            <a:r>
              <a:rPr lang="en-US" altLang="zh-CN">
                <a:solidFill>
                  <a:schemeClr val="hlink"/>
                </a:solidFill>
                <a:latin typeface="Arial" pitchFamily="34" charset="0"/>
              </a:rPr>
              <a:t>•  Internet </a:t>
            </a:r>
            <a:r>
              <a:rPr lang="zh-CN" altLang="en-US">
                <a:solidFill>
                  <a:schemeClr val="hlink"/>
                </a:solidFill>
                <a:latin typeface="Arial" pitchFamily="34" charset="0"/>
              </a:rPr>
              <a:t>支持两种传输层协议</a:t>
            </a:r>
          </a:p>
        </p:txBody>
      </p:sp>
      <p:sp>
        <p:nvSpPr>
          <p:cNvPr id="787460" name="Text Box 4"/>
          <p:cNvSpPr txBox="1">
            <a:spLocks noChangeArrowheads="1"/>
          </p:cNvSpPr>
          <p:nvPr/>
        </p:nvSpPr>
        <p:spPr bwMode="auto">
          <a:xfrm>
            <a:off x="1546226" y="2133601"/>
            <a:ext cx="4695825" cy="3387725"/>
          </a:xfrm>
          <a:prstGeom prst="rect">
            <a:avLst/>
          </a:prstGeom>
          <a:noFill/>
          <a:ln w="9525">
            <a:solidFill>
              <a:srgbClr val="CCFFCC"/>
            </a:solidFill>
            <a:miter lim="800000"/>
            <a:headEnd/>
            <a:tailEnd/>
          </a:ln>
        </p:spPr>
        <p:txBody>
          <a:bodyPr>
            <a:spAutoFit/>
          </a:bodyPr>
          <a:lstStyle/>
          <a:p>
            <a:pPr marL="195263" indent="-195263" algn="l"/>
            <a:r>
              <a:rPr lang="en-US" altLang="zh-CN" sz="2400" b="1">
                <a:solidFill>
                  <a:schemeClr val="tx1"/>
                </a:solidFill>
                <a:latin typeface="Arial" pitchFamily="34" charset="0"/>
              </a:rPr>
              <a:t>UDP – </a:t>
            </a:r>
            <a:r>
              <a:rPr lang="zh-CN" altLang="en-US" sz="2400" b="1">
                <a:solidFill>
                  <a:schemeClr val="tx1"/>
                </a:solidFill>
                <a:latin typeface="Arial" pitchFamily="34" charset="0"/>
              </a:rPr>
              <a:t>用户数据报协议</a:t>
            </a:r>
            <a:r>
              <a:rPr lang="zh-CN" altLang="en-US" sz="2400" b="1">
                <a:solidFill>
                  <a:srgbClr val="FFFFFF"/>
                </a:solidFill>
                <a:latin typeface="Arial" pitchFamily="34" charset="0"/>
              </a:rPr>
              <a:t> </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面向数据报</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不可靠</a:t>
            </a:r>
            <a:r>
              <a:rPr lang="en-US" altLang="zh-CN" sz="2400">
                <a:solidFill>
                  <a:srgbClr val="000000"/>
                </a:solidFill>
                <a:latin typeface="Arial" pitchFamily="34" charset="0"/>
              </a:rPr>
              <a:t>, </a:t>
            </a:r>
            <a:r>
              <a:rPr lang="zh-CN" altLang="en-US" sz="2400">
                <a:solidFill>
                  <a:srgbClr val="000000"/>
                </a:solidFill>
                <a:latin typeface="Arial" pitchFamily="34" charset="0"/>
              </a:rPr>
              <a:t>无连接</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简单</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单播与多播</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适合于少数应用</a:t>
            </a:r>
            <a:r>
              <a:rPr lang="en-US" altLang="zh-CN" sz="2400">
                <a:solidFill>
                  <a:srgbClr val="000000"/>
                </a:solidFill>
                <a:latin typeface="Arial" pitchFamily="34" charset="0"/>
              </a:rPr>
              <a:t>,</a:t>
            </a:r>
            <a:r>
              <a:rPr lang="zh-CN" altLang="en-US" sz="2400">
                <a:solidFill>
                  <a:srgbClr val="000000"/>
                </a:solidFill>
                <a:latin typeface="Arial" pitchFamily="34" charset="0"/>
              </a:rPr>
              <a:t>如多媒体应用</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大量用于下列服务：网络管理</a:t>
            </a:r>
            <a:r>
              <a:rPr lang="en-US" altLang="zh-CN" sz="2400">
                <a:solidFill>
                  <a:srgbClr val="000000"/>
                </a:solidFill>
                <a:latin typeface="Arial" pitchFamily="34" charset="0"/>
              </a:rPr>
              <a:t>(SNMP), routing (RIP),naming (DNS), etc.</a:t>
            </a:r>
          </a:p>
        </p:txBody>
      </p:sp>
      <p:sp>
        <p:nvSpPr>
          <p:cNvPr id="787461" name="Text Box 5"/>
          <p:cNvSpPr txBox="1">
            <a:spLocks noChangeArrowheads="1"/>
          </p:cNvSpPr>
          <p:nvPr/>
        </p:nvSpPr>
        <p:spPr bwMode="auto">
          <a:xfrm>
            <a:off x="6302376" y="2133601"/>
            <a:ext cx="4327525" cy="3387725"/>
          </a:xfrm>
          <a:prstGeom prst="rect">
            <a:avLst/>
          </a:prstGeom>
          <a:noFill/>
          <a:ln w="9525">
            <a:solidFill>
              <a:srgbClr val="CCFFCC"/>
            </a:solidFill>
            <a:miter lim="800000"/>
            <a:headEnd/>
            <a:tailEnd/>
          </a:ln>
        </p:spPr>
        <p:txBody>
          <a:bodyPr>
            <a:spAutoFit/>
          </a:bodyPr>
          <a:lstStyle/>
          <a:p>
            <a:pPr algn="l"/>
            <a:r>
              <a:rPr lang="en-US" altLang="zh-CN" sz="2400" b="1">
                <a:solidFill>
                  <a:srgbClr val="000000"/>
                </a:solidFill>
                <a:latin typeface="Arial" pitchFamily="34" charset="0"/>
              </a:rPr>
              <a:t>TCP – </a:t>
            </a:r>
            <a:r>
              <a:rPr lang="zh-CN" altLang="en-US" sz="2400" b="1">
                <a:solidFill>
                  <a:srgbClr val="000000"/>
                </a:solidFill>
                <a:latin typeface="Arial" pitchFamily="34" charset="0"/>
              </a:rPr>
              <a:t>传输控制协议</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面向流</a:t>
            </a:r>
          </a:p>
          <a:p>
            <a:pPr algn="l"/>
            <a:r>
              <a:rPr lang="en-US" altLang="zh-CN" sz="2400">
                <a:solidFill>
                  <a:srgbClr val="000000"/>
                </a:solidFill>
                <a:latin typeface="Arial" pitchFamily="34" charset="0"/>
              </a:rPr>
              <a:t>•</a:t>
            </a:r>
            <a:r>
              <a:rPr lang="zh-CN" altLang="en-US" sz="2400">
                <a:solidFill>
                  <a:srgbClr val="000000"/>
                </a:solidFill>
                <a:latin typeface="Arial" pitchFamily="34" charset="0"/>
              </a:rPr>
              <a:t>可靠</a:t>
            </a:r>
            <a:r>
              <a:rPr lang="en-US" altLang="zh-CN" sz="2400">
                <a:solidFill>
                  <a:srgbClr val="000000"/>
                </a:solidFill>
                <a:latin typeface="Arial" pitchFamily="34" charset="0"/>
              </a:rPr>
              <a:t>, </a:t>
            </a:r>
            <a:r>
              <a:rPr lang="zh-CN" altLang="en-US" sz="2400">
                <a:solidFill>
                  <a:srgbClr val="000000"/>
                </a:solidFill>
                <a:latin typeface="Arial" pitchFamily="34" charset="0"/>
              </a:rPr>
              <a:t>面向连接</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复杂</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只有单播</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适合于大多数应用</a:t>
            </a:r>
            <a:r>
              <a:rPr lang="en-US" altLang="zh-CN" sz="2400">
                <a:solidFill>
                  <a:srgbClr val="000000"/>
                </a:solidFill>
                <a:latin typeface="Arial" pitchFamily="34" charset="0"/>
              </a:rPr>
              <a:t>:</a:t>
            </a:r>
          </a:p>
          <a:p>
            <a:pPr algn="l"/>
            <a:r>
              <a:rPr lang="en-US" altLang="zh-CN" sz="2400">
                <a:solidFill>
                  <a:srgbClr val="000000"/>
                </a:solidFill>
                <a:latin typeface="Arial" pitchFamily="34" charset="0"/>
              </a:rPr>
              <a:t>– web (http), email (smtp), file</a:t>
            </a:r>
          </a:p>
          <a:p>
            <a:pPr algn="l"/>
            <a:r>
              <a:rPr lang="en-US" altLang="zh-CN" sz="2400">
                <a:solidFill>
                  <a:srgbClr val="000000"/>
                </a:solidFill>
                <a:latin typeface="Arial" pitchFamily="34" charset="0"/>
              </a:rPr>
              <a:t>transfer (ftp), terminal (telnet),etc.</a:t>
            </a:r>
            <a:endParaRPr lang="en-US" altLang="zh-CN"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7460">
                                            <p:txEl>
                                              <p:pRg st="0" end="0"/>
                                            </p:txEl>
                                          </p:spTgt>
                                        </p:tgtEl>
                                        <p:attrNameLst>
                                          <p:attrName>style.visibility</p:attrName>
                                        </p:attrNameLst>
                                      </p:cBhvr>
                                      <p:to>
                                        <p:strVal val="visible"/>
                                      </p:to>
                                    </p:set>
                                    <p:anim calcmode="lin" valueType="num">
                                      <p:cBhvr additive="base">
                                        <p:cTn id="7" dur="500" fill="hold"/>
                                        <p:tgtEl>
                                          <p:spTgt spid="78746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74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7460">
                                            <p:txEl>
                                              <p:pRg st="1" end="1"/>
                                            </p:txEl>
                                          </p:spTgt>
                                        </p:tgtEl>
                                        <p:attrNameLst>
                                          <p:attrName>style.visibility</p:attrName>
                                        </p:attrNameLst>
                                      </p:cBhvr>
                                      <p:to>
                                        <p:strVal val="visible"/>
                                      </p:to>
                                    </p:set>
                                    <p:anim calcmode="lin" valueType="num">
                                      <p:cBhvr additive="base">
                                        <p:cTn id="13" dur="500" fill="hold"/>
                                        <p:tgtEl>
                                          <p:spTgt spid="78746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874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7460">
                                            <p:txEl>
                                              <p:pRg st="2" end="2"/>
                                            </p:txEl>
                                          </p:spTgt>
                                        </p:tgtEl>
                                        <p:attrNameLst>
                                          <p:attrName>style.visibility</p:attrName>
                                        </p:attrNameLst>
                                      </p:cBhvr>
                                      <p:to>
                                        <p:strVal val="visible"/>
                                      </p:to>
                                    </p:set>
                                    <p:anim calcmode="lin" valueType="num">
                                      <p:cBhvr additive="base">
                                        <p:cTn id="19" dur="500" fill="hold"/>
                                        <p:tgtEl>
                                          <p:spTgt spid="78746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746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87460">
                                            <p:txEl>
                                              <p:pRg st="3" end="3"/>
                                            </p:txEl>
                                          </p:spTgt>
                                        </p:tgtEl>
                                        <p:attrNameLst>
                                          <p:attrName>style.visibility</p:attrName>
                                        </p:attrNameLst>
                                      </p:cBhvr>
                                      <p:to>
                                        <p:strVal val="visible"/>
                                      </p:to>
                                    </p:set>
                                    <p:anim calcmode="lin" valueType="num">
                                      <p:cBhvr additive="base">
                                        <p:cTn id="25" dur="500" fill="hold"/>
                                        <p:tgtEl>
                                          <p:spTgt spid="78746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8746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87460">
                                            <p:txEl>
                                              <p:pRg st="4" end="4"/>
                                            </p:txEl>
                                          </p:spTgt>
                                        </p:tgtEl>
                                        <p:attrNameLst>
                                          <p:attrName>style.visibility</p:attrName>
                                        </p:attrNameLst>
                                      </p:cBhvr>
                                      <p:to>
                                        <p:strVal val="visible"/>
                                      </p:to>
                                    </p:set>
                                    <p:anim calcmode="lin" valueType="num">
                                      <p:cBhvr additive="base">
                                        <p:cTn id="31" dur="500" fill="hold"/>
                                        <p:tgtEl>
                                          <p:spTgt spid="78746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8746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87460">
                                            <p:txEl>
                                              <p:pRg st="5" end="5"/>
                                            </p:txEl>
                                          </p:spTgt>
                                        </p:tgtEl>
                                        <p:attrNameLst>
                                          <p:attrName>style.visibility</p:attrName>
                                        </p:attrNameLst>
                                      </p:cBhvr>
                                      <p:to>
                                        <p:strVal val="visible"/>
                                      </p:to>
                                    </p:set>
                                    <p:anim calcmode="lin" valueType="num">
                                      <p:cBhvr additive="base">
                                        <p:cTn id="37" dur="500" fill="hold"/>
                                        <p:tgtEl>
                                          <p:spTgt spid="78746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8746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87460">
                                            <p:txEl>
                                              <p:pRg st="6" end="6"/>
                                            </p:txEl>
                                          </p:spTgt>
                                        </p:tgtEl>
                                        <p:attrNameLst>
                                          <p:attrName>style.visibility</p:attrName>
                                        </p:attrNameLst>
                                      </p:cBhvr>
                                      <p:to>
                                        <p:strVal val="visible"/>
                                      </p:to>
                                    </p:set>
                                    <p:anim calcmode="lin" valueType="num">
                                      <p:cBhvr additive="base">
                                        <p:cTn id="43" dur="500" fill="hold"/>
                                        <p:tgtEl>
                                          <p:spTgt spid="78746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8746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87461">
                                            <p:txEl>
                                              <p:pRg st="0" end="0"/>
                                            </p:txEl>
                                          </p:spTgt>
                                        </p:tgtEl>
                                        <p:attrNameLst>
                                          <p:attrName>style.visibility</p:attrName>
                                        </p:attrNameLst>
                                      </p:cBhvr>
                                      <p:to>
                                        <p:strVal val="visible"/>
                                      </p:to>
                                    </p:set>
                                    <p:anim calcmode="lin" valueType="num">
                                      <p:cBhvr additive="base">
                                        <p:cTn id="49" dur="500" fill="hold"/>
                                        <p:tgtEl>
                                          <p:spTgt spid="787461">
                                            <p:txEl>
                                              <p:pRg st="0" end="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874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87461">
                                            <p:txEl>
                                              <p:pRg st="1" end="1"/>
                                            </p:txEl>
                                          </p:spTgt>
                                        </p:tgtEl>
                                        <p:attrNameLst>
                                          <p:attrName>style.visibility</p:attrName>
                                        </p:attrNameLst>
                                      </p:cBhvr>
                                      <p:to>
                                        <p:strVal val="visible"/>
                                      </p:to>
                                    </p:set>
                                    <p:anim calcmode="lin" valueType="num">
                                      <p:cBhvr additive="base">
                                        <p:cTn id="55" dur="500" fill="hold"/>
                                        <p:tgtEl>
                                          <p:spTgt spid="787461">
                                            <p:txEl>
                                              <p:pRg st="1" end="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874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787461">
                                            <p:txEl>
                                              <p:pRg st="2" end="2"/>
                                            </p:txEl>
                                          </p:spTgt>
                                        </p:tgtEl>
                                        <p:attrNameLst>
                                          <p:attrName>style.visibility</p:attrName>
                                        </p:attrNameLst>
                                      </p:cBhvr>
                                      <p:to>
                                        <p:strVal val="visible"/>
                                      </p:to>
                                    </p:set>
                                    <p:anim calcmode="lin" valueType="num">
                                      <p:cBhvr additive="base">
                                        <p:cTn id="61" dur="500" fill="hold"/>
                                        <p:tgtEl>
                                          <p:spTgt spid="787461">
                                            <p:txEl>
                                              <p:pRg st="2" end="2"/>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874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787461">
                                            <p:txEl>
                                              <p:pRg st="3" end="3"/>
                                            </p:txEl>
                                          </p:spTgt>
                                        </p:tgtEl>
                                        <p:attrNameLst>
                                          <p:attrName>style.visibility</p:attrName>
                                        </p:attrNameLst>
                                      </p:cBhvr>
                                      <p:to>
                                        <p:strVal val="visible"/>
                                      </p:to>
                                    </p:set>
                                    <p:anim calcmode="lin" valueType="num">
                                      <p:cBhvr additive="base">
                                        <p:cTn id="67" dur="500" fill="hold"/>
                                        <p:tgtEl>
                                          <p:spTgt spid="787461">
                                            <p:txEl>
                                              <p:pRg st="3" end="3"/>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7874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787461">
                                            <p:txEl>
                                              <p:pRg st="4" end="4"/>
                                            </p:txEl>
                                          </p:spTgt>
                                        </p:tgtEl>
                                        <p:attrNameLst>
                                          <p:attrName>style.visibility</p:attrName>
                                        </p:attrNameLst>
                                      </p:cBhvr>
                                      <p:to>
                                        <p:strVal val="visible"/>
                                      </p:to>
                                    </p:set>
                                    <p:anim calcmode="lin" valueType="num">
                                      <p:cBhvr additive="base">
                                        <p:cTn id="73" dur="500" fill="hold"/>
                                        <p:tgtEl>
                                          <p:spTgt spid="787461">
                                            <p:txEl>
                                              <p:pRg st="4" end="4"/>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78746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787461">
                                            <p:txEl>
                                              <p:pRg st="5" end="5"/>
                                            </p:txEl>
                                          </p:spTgt>
                                        </p:tgtEl>
                                        <p:attrNameLst>
                                          <p:attrName>style.visibility</p:attrName>
                                        </p:attrNameLst>
                                      </p:cBhvr>
                                      <p:to>
                                        <p:strVal val="visible"/>
                                      </p:to>
                                    </p:set>
                                    <p:anim calcmode="lin" valueType="num">
                                      <p:cBhvr additive="base">
                                        <p:cTn id="79" dur="500" fill="hold"/>
                                        <p:tgtEl>
                                          <p:spTgt spid="787461">
                                            <p:txEl>
                                              <p:pRg st="5" end="5"/>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78746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787461">
                                            <p:txEl>
                                              <p:pRg st="6" end="6"/>
                                            </p:txEl>
                                          </p:spTgt>
                                        </p:tgtEl>
                                        <p:attrNameLst>
                                          <p:attrName>style.visibility</p:attrName>
                                        </p:attrNameLst>
                                      </p:cBhvr>
                                      <p:to>
                                        <p:strVal val="visible"/>
                                      </p:to>
                                    </p:set>
                                    <p:anim calcmode="lin" valueType="num">
                                      <p:cBhvr additive="base">
                                        <p:cTn id="85" dur="500" fill="hold"/>
                                        <p:tgtEl>
                                          <p:spTgt spid="787461">
                                            <p:txEl>
                                              <p:pRg st="6" end="6"/>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78746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787461">
                                            <p:txEl>
                                              <p:pRg st="7" end="7"/>
                                            </p:txEl>
                                          </p:spTgt>
                                        </p:tgtEl>
                                        <p:attrNameLst>
                                          <p:attrName>style.visibility</p:attrName>
                                        </p:attrNameLst>
                                      </p:cBhvr>
                                      <p:to>
                                        <p:strVal val="visible"/>
                                      </p:to>
                                    </p:set>
                                    <p:anim calcmode="lin" valueType="num">
                                      <p:cBhvr additive="base">
                                        <p:cTn id="91" dur="500" fill="hold"/>
                                        <p:tgtEl>
                                          <p:spTgt spid="787461">
                                            <p:txEl>
                                              <p:pRg st="7" end="7"/>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78746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0" grpId="0" build="p" autoUpdateAnimBg="0"/>
      <p:bldP spid="78746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2301875" y="3016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UDP – </a:t>
            </a:r>
            <a:r>
              <a:rPr lang="zh-CN" altLang="en-US" sz="3600" b="1">
                <a:solidFill>
                  <a:schemeClr val="hlink"/>
                </a:solidFill>
                <a:latin typeface="Arial" pitchFamily="34" charset="0"/>
                <a:ea typeface="华文楷体" pitchFamily="2" charset="-122"/>
              </a:rPr>
              <a:t>用户数据报协议</a:t>
            </a:r>
          </a:p>
        </p:txBody>
      </p:sp>
      <p:sp>
        <p:nvSpPr>
          <p:cNvPr id="788483" name="Text Box 3"/>
          <p:cNvSpPr txBox="1">
            <a:spLocks noChangeArrowheads="1"/>
          </p:cNvSpPr>
          <p:nvPr/>
        </p:nvSpPr>
        <p:spPr bwMode="auto">
          <a:xfrm>
            <a:off x="2952750" y="4098925"/>
            <a:ext cx="6800850" cy="1885950"/>
          </a:xfrm>
          <a:prstGeom prst="rect">
            <a:avLst/>
          </a:prstGeom>
          <a:noFill/>
          <a:ln w="9525">
            <a:noFill/>
            <a:miter lim="800000"/>
            <a:headEnd/>
            <a:tailEnd/>
          </a:ln>
        </p:spPr>
        <p:txBody>
          <a:bodyPr>
            <a:spAutoFit/>
          </a:bodyPr>
          <a:lstStyle/>
          <a:p>
            <a:pPr marL="293688" indent="-293688" algn="l">
              <a:spcBef>
                <a:spcPct val="10000"/>
              </a:spcBef>
            </a:pPr>
            <a:r>
              <a:rPr lang="en-US" altLang="zh-CN">
                <a:solidFill>
                  <a:schemeClr val="tx1"/>
                </a:solidFill>
                <a:latin typeface="Arial" pitchFamily="34" charset="0"/>
              </a:rPr>
              <a:t>• UDP </a:t>
            </a:r>
            <a:r>
              <a:rPr lang="zh-CN" altLang="en-US">
                <a:solidFill>
                  <a:schemeClr val="tx1"/>
                </a:solidFill>
                <a:latin typeface="Arial" pitchFamily="34" charset="0"/>
              </a:rPr>
              <a:t>支持不可靠的数据传输</a:t>
            </a:r>
          </a:p>
          <a:p>
            <a:pPr marL="293688" indent="-293688" algn="l">
              <a:spcBef>
                <a:spcPct val="10000"/>
              </a:spcBef>
            </a:pPr>
            <a:r>
              <a:rPr lang="en-US" altLang="zh-CN">
                <a:solidFill>
                  <a:schemeClr val="tx1"/>
                </a:solidFill>
                <a:latin typeface="Arial" pitchFamily="34" charset="0"/>
              </a:rPr>
              <a:t>• UDP </a:t>
            </a:r>
            <a:r>
              <a:rPr lang="zh-CN" altLang="en-US">
                <a:solidFill>
                  <a:schemeClr val="tx1"/>
                </a:solidFill>
                <a:latin typeface="Arial" pitchFamily="34" charset="0"/>
              </a:rPr>
              <a:t>只是把端到端的</a:t>
            </a:r>
            <a:r>
              <a:rPr lang="en-US" altLang="zh-CN">
                <a:solidFill>
                  <a:schemeClr val="tx1"/>
                </a:solidFill>
                <a:latin typeface="Arial" pitchFamily="34" charset="0"/>
              </a:rPr>
              <a:t>IP</a:t>
            </a:r>
            <a:r>
              <a:rPr lang="zh-CN" altLang="en-US">
                <a:solidFill>
                  <a:schemeClr val="tx1"/>
                </a:solidFill>
                <a:latin typeface="Arial" pitchFamily="34" charset="0"/>
              </a:rPr>
              <a:t>数据报服务扩展到应用到应用的服务</a:t>
            </a:r>
          </a:p>
          <a:p>
            <a:pPr marL="293688" indent="-293688"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主要增加了主机上的复用和逆复用</a:t>
            </a:r>
          </a:p>
        </p:txBody>
      </p:sp>
      <p:pic>
        <p:nvPicPr>
          <p:cNvPr id="788484" name="Picture 4"/>
          <p:cNvPicPr>
            <a:picLocks noChangeAspect="1" noChangeArrowheads="1"/>
          </p:cNvPicPr>
          <p:nvPr/>
        </p:nvPicPr>
        <p:blipFill>
          <a:blip r:embed="rId2"/>
          <a:srcRect/>
          <a:stretch>
            <a:fillRect/>
          </a:stretch>
        </p:blipFill>
        <p:spPr bwMode="auto">
          <a:xfrm>
            <a:off x="3019425" y="1365250"/>
            <a:ext cx="6548438" cy="2668588"/>
          </a:xfrm>
          <a:prstGeom prst="rect">
            <a:avLst/>
          </a:prstGeom>
          <a:noFill/>
          <a:ln w="9525">
            <a:noFill/>
            <a:miter lim="800000"/>
            <a:headEnd/>
            <a:tailEnd/>
          </a:ln>
        </p:spPr>
      </p:pic>
      <p:sp>
        <p:nvSpPr>
          <p:cNvPr id="15365" name="Text Box 5"/>
          <p:cNvSpPr txBox="1">
            <a:spLocks noChangeArrowheads="1"/>
          </p:cNvSpPr>
          <p:nvPr/>
        </p:nvSpPr>
        <p:spPr bwMode="auto">
          <a:xfrm>
            <a:off x="5256214" y="1730375"/>
            <a:ext cx="2397125" cy="641350"/>
          </a:xfrm>
          <a:prstGeom prst="rect">
            <a:avLst/>
          </a:prstGeom>
          <a:noFill/>
          <a:ln w="9525">
            <a:noFill/>
            <a:miter lim="800000"/>
            <a:headEnd/>
            <a:tailEnd/>
          </a:ln>
        </p:spPr>
        <p:txBody>
          <a:bodyPr>
            <a:spAutoFit/>
          </a:bodyPr>
          <a:lstStyle/>
          <a:p>
            <a:pPr algn="l">
              <a:spcBef>
                <a:spcPct val="50000"/>
              </a:spcBef>
            </a:pPr>
            <a:r>
              <a:rPr lang="en-US" altLang="zh-CN" sz="3600" b="1">
                <a:solidFill>
                  <a:schemeClr val="hlink"/>
                </a:solidFill>
                <a:latin typeface="Arial" pitchFamily="34" charset="0"/>
              </a:rPr>
              <a:t>RFC 768</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483">
                                            <p:txEl>
                                              <p:pRg st="0" end="0"/>
                                            </p:txEl>
                                          </p:spTgt>
                                        </p:tgtEl>
                                        <p:attrNameLst>
                                          <p:attrName>style.visibility</p:attrName>
                                        </p:attrNameLst>
                                      </p:cBhvr>
                                      <p:to>
                                        <p:strVal val="visible"/>
                                      </p:to>
                                    </p:set>
                                    <p:anim calcmode="lin" valueType="num">
                                      <p:cBhvr additive="base">
                                        <p:cTn id="7" dur="500" fill="hold"/>
                                        <p:tgtEl>
                                          <p:spTgt spid="7884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8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8483">
                                            <p:txEl>
                                              <p:pRg st="1" end="1"/>
                                            </p:txEl>
                                          </p:spTgt>
                                        </p:tgtEl>
                                        <p:attrNameLst>
                                          <p:attrName>style.visibility</p:attrName>
                                        </p:attrNameLst>
                                      </p:cBhvr>
                                      <p:to>
                                        <p:strVal val="visible"/>
                                      </p:to>
                                    </p:set>
                                    <p:anim calcmode="lin" valueType="num">
                                      <p:cBhvr additive="base">
                                        <p:cTn id="13" dur="500" fill="hold"/>
                                        <p:tgtEl>
                                          <p:spTgt spid="7884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88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8483">
                                            <p:txEl>
                                              <p:pRg st="2" end="2"/>
                                            </p:txEl>
                                          </p:spTgt>
                                        </p:tgtEl>
                                        <p:attrNameLst>
                                          <p:attrName>style.visibility</p:attrName>
                                        </p:attrNameLst>
                                      </p:cBhvr>
                                      <p:to>
                                        <p:strVal val="visible"/>
                                      </p:to>
                                    </p:set>
                                    <p:anim calcmode="lin" valueType="num">
                                      <p:cBhvr additive="base">
                                        <p:cTn id="19" dur="500" fill="hold"/>
                                        <p:tgtEl>
                                          <p:spTgt spid="7884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8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788484"/>
                                        </p:tgtEl>
                                        <p:attrNameLst>
                                          <p:attrName>style.visibility</p:attrName>
                                        </p:attrNameLst>
                                      </p:cBhvr>
                                      <p:to>
                                        <p:strVal val="visible"/>
                                      </p:to>
                                    </p:set>
                                    <p:anim calcmode="lin" valueType="num">
                                      <p:cBhvr additive="base">
                                        <p:cTn id="25" dur="500" fill="hold"/>
                                        <p:tgtEl>
                                          <p:spTgt spid="788484"/>
                                        </p:tgtEl>
                                        <p:attrNameLst>
                                          <p:attrName>ppt_x</p:attrName>
                                        </p:attrNameLst>
                                      </p:cBhvr>
                                      <p:tavLst>
                                        <p:tav tm="0">
                                          <p:val>
                                            <p:strVal val="1+#ppt_w/2"/>
                                          </p:val>
                                        </p:tav>
                                        <p:tav tm="100000">
                                          <p:val>
                                            <p:strVal val="#ppt_x"/>
                                          </p:val>
                                        </p:tav>
                                      </p:tavLst>
                                    </p:anim>
                                    <p:anim calcmode="lin" valueType="num">
                                      <p:cBhvr additive="base">
                                        <p:cTn id="26" dur="500" fill="hold"/>
                                        <p:tgtEl>
                                          <p:spTgt spid="788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366963" y="32543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复用 </a:t>
            </a:r>
            <a:r>
              <a:rPr lang="en-US" altLang="zh-CN" sz="3600" b="1">
                <a:solidFill>
                  <a:schemeClr val="hlink"/>
                </a:solidFill>
                <a:latin typeface="Arial" pitchFamily="34" charset="0"/>
                <a:ea typeface="华文楷体" pitchFamily="2" charset="-122"/>
              </a:rPr>
              <a:t>/ </a:t>
            </a:r>
            <a:r>
              <a:rPr lang="zh-CN" altLang="en-US" sz="3600" b="1">
                <a:solidFill>
                  <a:schemeClr val="hlink"/>
                </a:solidFill>
                <a:latin typeface="Arial" pitchFamily="34" charset="0"/>
                <a:ea typeface="华文楷体" pitchFamily="2" charset="-122"/>
              </a:rPr>
              <a:t>逆复用</a:t>
            </a:r>
          </a:p>
        </p:txBody>
      </p:sp>
      <p:sp>
        <p:nvSpPr>
          <p:cNvPr id="16387" name="Text Box 64"/>
          <p:cNvSpPr txBox="1">
            <a:spLocks noChangeArrowheads="1"/>
          </p:cNvSpPr>
          <p:nvPr/>
        </p:nvSpPr>
        <p:spPr bwMode="auto">
          <a:xfrm>
            <a:off x="2959101" y="1722439"/>
            <a:ext cx="6727825" cy="466725"/>
          </a:xfrm>
          <a:prstGeom prst="rect">
            <a:avLst/>
          </a:prstGeom>
          <a:noFill/>
          <a:ln w="9525">
            <a:solidFill>
              <a:srgbClr val="CCFFFF"/>
            </a:solidFill>
            <a:miter lim="800000"/>
            <a:headEnd/>
            <a:tailEnd/>
          </a:ln>
        </p:spPr>
        <p:txBody>
          <a:bodyPr>
            <a:spAutoFit/>
          </a:bodyPr>
          <a:lstStyle/>
          <a:p>
            <a:pPr algn="l">
              <a:spcBef>
                <a:spcPct val="50000"/>
              </a:spcBef>
            </a:pPr>
            <a:r>
              <a:rPr lang="zh-CN" altLang="en-US" sz="2400" b="1">
                <a:solidFill>
                  <a:schemeClr val="hlink"/>
                </a:solidFill>
                <a:latin typeface="Arial" pitchFamily="34" charset="0"/>
              </a:rPr>
              <a:t>复用</a:t>
            </a:r>
            <a:r>
              <a:rPr lang="en-US" altLang="zh-CN" sz="2400" b="1">
                <a:solidFill>
                  <a:schemeClr val="tx1"/>
                </a:solidFill>
                <a:latin typeface="Arial" pitchFamily="34" charset="0"/>
              </a:rPr>
              <a:t>:</a:t>
            </a:r>
            <a:r>
              <a:rPr lang="zh-CN" altLang="en-US" sz="2400" b="1">
                <a:solidFill>
                  <a:schemeClr val="tx1"/>
                </a:solidFill>
                <a:latin typeface="Arial" pitchFamily="34" charset="0"/>
              </a:rPr>
              <a:t>从多个应用进程收集数据</a:t>
            </a:r>
            <a:r>
              <a:rPr lang="en-US" altLang="zh-CN" sz="2400" b="1">
                <a:solidFill>
                  <a:schemeClr val="tx1"/>
                </a:solidFill>
                <a:latin typeface="Arial" pitchFamily="34" charset="0"/>
              </a:rPr>
              <a:t>, </a:t>
            </a:r>
            <a:r>
              <a:rPr lang="zh-CN" altLang="en-US" sz="2400" b="1">
                <a:solidFill>
                  <a:schemeClr val="tx1"/>
                </a:solidFill>
                <a:latin typeface="Arial" pitchFamily="34" charset="0"/>
              </a:rPr>
              <a:t>通过报头来封装  </a:t>
            </a:r>
          </a:p>
        </p:txBody>
      </p:sp>
      <p:sp>
        <p:nvSpPr>
          <p:cNvPr id="16388" name="Text Box 65"/>
          <p:cNvSpPr txBox="1">
            <a:spLocks noChangeArrowheads="1"/>
          </p:cNvSpPr>
          <p:nvPr/>
        </p:nvSpPr>
        <p:spPr bwMode="auto">
          <a:xfrm>
            <a:off x="2952751" y="2960689"/>
            <a:ext cx="6589713" cy="466725"/>
          </a:xfrm>
          <a:prstGeom prst="rect">
            <a:avLst/>
          </a:prstGeom>
          <a:noFill/>
          <a:ln w="9525">
            <a:solidFill>
              <a:srgbClr val="CCFFFF"/>
            </a:solidFill>
            <a:miter lim="800000"/>
            <a:headEnd/>
            <a:tailEnd/>
          </a:ln>
        </p:spPr>
        <p:txBody>
          <a:bodyPr>
            <a:spAutoFit/>
          </a:bodyPr>
          <a:lstStyle/>
          <a:p>
            <a:pPr algn="l"/>
            <a:r>
              <a:rPr lang="zh-CN" altLang="en-US" sz="2400" b="1">
                <a:solidFill>
                  <a:schemeClr val="hlink"/>
                </a:solidFill>
                <a:latin typeface="Arial" pitchFamily="34" charset="0"/>
              </a:rPr>
              <a:t>逆复用</a:t>
            </a:r>
            <a:r>
              <a:rPr lang="en-US" altLang="zh-CN" sz="2400" b="1">
                <a:solidFill>
                  <a:schemeClr val="tx1"/>
                </a:solidFill>
                <a:latin typeface="Arial" pitchFamily="34" charset="0"/>
              </a:rPr>
              <a:t>: </a:t>
            </a:r>
            <a:r>
              <a:rPr lang="zh-CN" altLang="en-US" sz="2400" b="1">
                <a:solidFill>
                  <a:schemeClr val="tx1"/>
                </a:solidFill>
                <a:latin typeface="Arial" pitchFamily="34" charset="0"/>
              </a:rPr>
              <a:t>把收到的数据段送给正确的应用层进程</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2057400" y="3429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复用 </a:t>
            </a:r>
            <a:r>
              <a:rPr lang="en-US" altLang="zh-CN" sz="3600" b="1">
                <a:solidFill>
                  <a:schemeClr val="hlink"/>
                </a:solidFill>
                <a:latin typeface="Arial" pitchFamily="34" charset="0"/>
                <a:ea typeface="华文楷体" pitchFamily="2" charset="-122"/>
              </a:rPr>
              <a:t>/ </a:t>
            </a:r>
            <a:r>
              <a:rPr lang="zh-CN" altLang="en-US" sz="3600" b="1">
                <a:solidFill>
                  <a:schemeClr val="hlink"/>
                </a:solidFill>
                <a:latin typeface="Arial" pitchFamily="34" charset="0"/>
                <a:ea typeface="华文楷体" pitchFamily="2" charset="-122"/>
              </a:rPr>
              <a:t>逆复用</a:t>
            </a:r>
          </a:p>
        </p:txBody>
      </p:sp>
      <p:sp>
        <p:nvSpPr>
          <p:cNvPr id="819203" name="Text Box 3"/>
          <p:cNvSpPr txBox="1">
            <a:spLocks noChangeArrowheads="1"/>
          </p:cNvSpPr>
          <p:nvPr/>
        </p:nvSpPr>
        <p:spPr bwMode="auto">
          <a:xfrm>
            <a:off x="1858964" y="1825626"/>
            <a:ext cx="4916487" cy="3003899"/>
          </a:xfrm>
          <a:prstGeom prst="rect">
            <a:avLst/>
          </a:prstGeom>
          <a:noFill/>
          <a:ln w="9525">
            <a:noFill/>
            <a:miter lim="800000"/>
            <a:headEnd/>
            <a:tailEnd/>
          </a:ln>
        </p:spPr>
        <p:txBody>
          <a:bodyPr>
            <a:spAutoFit/>
          </a:bodyPr>
          <a:lstStyle/>
          <a:p>
            <a:pPr marL="195263" indent="-195263" algn="l" eaLnBrk="1" hangingPunct="1">
              <a:lnSpc>
                <a:spcPct val="90000"/>
              </a:lnSpc>
              <a:spcBef>
                <a:spcPct val="20000"/>
              </a:spcBef>
            </a:pPr>
            <a:r>
              <a:rPr kumimoji="1" lang="en-US" altLang="zh-CN" sz="3600">
                <a:solidFill>
                  <a:schemeClr val="tx2"/>
                </a:solidFill>
                <a:latin typeface="Tahoma" pitchFamily="34" charset="0"/>
              </a:rPr>
              <a:t>    </a:t>
            </a:r>
            <a:r>
              <a:rPr kumimoji="1" lang="zh-CN" altLang="en-US" sz="3600">
                <a:solidFill>
                  <a:schemeClr val="tx2"/>
                </a:solidFill>
                <a:latin typeface="Tahoma" pitchFamily="34" charset="0"/>
              </a:rPr>
              <a:t>复用 </a:t>
            </a:r>
            <a:r>
              <a:rPr kumimoji="1" lang="en-US" altLang="zh-CN" sz="3600">
                <a:solidFill>
                  <a:schemeClr val="tx2"/>
                </a:solidFill>
                <a:latin typeface="Tahoma" pitchFamily="34" charset="0"/>
              </a:rPr>
              <a:t>/ </a:t>
            </a:r>
            <a:r>
              <a:rPr kumimoji="1" lang="zh-CN" altLang="en-US" sz="3600">
                <a:solidFill>
                  <a:schemeClr val="tx2"/>
                </a:solidFill>
                <a:latin typeface="Tahoma" pitchFamily="34" charset="0"/>
              </a:rPr>
              <a:t>逆复用</a:t>
            </a:r>
            <a:r>
              <a:rPr lang="en-US" altLang="zh-CN">
                <a:solidFill>
                  <a:schemeClr val="tx1"/>
                </a:solidFill>
                <a:latin typeface="Arial" pitchFamily="34" charset="0"/>
              </a:rPr>
              <a:t>:</a:t>
            </a:r>
          </a:p>
          <a:p>
            <a:pPr marL="195263" indent="-195263" algn="l" eaLnBrk="1" hangingPunct="1">
              <a:lnSpc>
                <a:spcPct val="90000"/>
              </a:lnSpc>
              <a:spcBef>
                <a:spcPct val="20000"/>
              </a:spcBef>
              <a:buFontTx/>
              <a:buChar char="•"/>
            </a:pPr>
            <a:r>
              <a:rPr lang="zh-CN" altLang="en-US">
                <a:solidFill>
                  <a:schemeClr val="tx1"/>
                </a:solidFill>
                <a:latin typeface="Arial" pitchFamily="34" charset="0"/>
              </a:rPr>
              <a:t>基于接收者和发送者的端口号和</a:t>
            </a:r>
            <a:r>
              <a:rPr lang="en-US" altLang="zh-CN">
                <a:solidFill>
                  <a:schemeClr val="tx1"/>
                </a:solidFill>
                <a:latin typeface="Arial" pitchFamily="34" charset="0"/>
              </a:rPr>
              <a:t>IP</a:t>
            </a:r>
            <a:r>
              <a:rPr lang="zh-CN" altLang="en-US">
                <a:solidFill>
                  <a:schemeClr val="tx1"/>
                </a:solidFill>
                <a:latin typeface="Arial" pitchFamily="34" charset="0"/>
              </a:rPr>
              <a:t>地址</a:t>
            </a:r>
          </a:p>
          <a:p>
            <a:pPr marL="757238" lvl="1" indent="-300038" algn="l" eaLnBrk="1" hangingPunct="1">
              <a:lnSpc>
                <a:spcPct val="90000"/>
              </a:lnSpc>
              <a:spcBef>
                <a:spcPct val="20000"/>
              </a:spcBef>
              <a:buFontTx/>
              <a:buChar char="–"/>
            </a:pPr>
            <a:r>
              <a:rPr lang="zh-CN" altLang="en-US" sz="2400">
                <a:solidFill>
                  <a:schemeClr val="tx1"/>
                </a:solidFill>
                <a:latin typeface="Arial" pitchFamily="34" charset="0"/>
              </a:rPr>
              <a:t>每个分段都有源</a:t>
            </a:r>
            <a:r>
              <a:rPr lang="en-US" altLang="zh-CN" sz="2400">
                <a:solidFill>
                  <a:schemeClr val="tx1"/>
                </a:solidFill>
                <a:latin typeface="Arial" pitchFamily="34" charset="0"/>
              </a:rPr>
              <a:t>, </a:t>
            </a:r>
            <a:r>
              <a:rPr lang="zh-CN" altLang="en-US" sz="2400">
                <a:solidFill>
                  <a:schemeClr val="tx1"/>
                </a:solidFill>
                <a:latin typeface="Arial" pitchFamily="34" charset="0"/>
              </a:rPr>
              <a:t>目的端口号</a:t>
            </a:r>
          </a:p>
          <a:p>
            <a:pPr marL="757238" lvl="1" indent="-300038" algn="l" eaLnBrk="1" hangingPunct="1">
              <a:lnSpc>
                <a:spcPct val="90000"/>
              </a:lnSpc>
              <a:spcBef>
                <a:spcPct val="20000"/>
              </a:spcBef>
              <a:buFontTx/>
              <a:buChar char="–"/>
            </a:pPr>
            <a:r>
              <a:rPr lang="zh-CN" altLang="en-US" sz="2400">
                <a:solidFill>
                  <a:schemeClr val="tx1"/>
                </a:solidFill>
                <a:latin typeface="Arial" pitchFamily="34" charset="0"/>
              </a:rPr>
              <a:t>常见网络应用：</a:t>
            </a:r>
            <a:r>
              <a:rPr lang="zh-CN" altLang="en-US" sz="2400">
                <a:solidFill>
                  <a:schemeClr val="hlink"/>
                </a:solidFill>
                <a:latin typeface="Arial" pitchFamily="34" charset="0"/>
              </a:rPr>
              <a:t>众所周知的端口号</a:t>
            </a:r>
            <a:r>
              <a:rPr lang="zh-CN" altLang="en-US" sz="2400">
                <a:solidFill>
                  <a:schemeClr val="tx1"/>
                </a:solidFill>
                <a:latin typeface="Arial" pitchFamily="34" charset="0"/>
              </a:rPr>
              <a:t>（</a:t>
            </a:r>
            <a:r>
              <a:rPr lang="en-US" altLang="zh-CN" sz="2400">
                <a:solidFill>
                  <a:schemeClr val="tx1"/>
                </a:solidFill>
                <a:latin typeface="Arial" pitchFamily="34" charset="0"/>
              </a:rPr>
              <a:t>1~1023</a:t>
            </a:r>
            <a:r>
              <a:rPr lang="zh-CN" altLang="en-US" sz="2400">
                <a:solidFill>
                  <a:schemeClr val="tx1"/>
                </a:solidFill>
                <a:latin typeface="Arial" pitchFamily="34" charset="0"/>
              </a:rPr>
              <a:t>）</a:t>
            </a:r>
          </a:p>
          <a:p>
            <a:pPr marL="757238" lvl="1" indent="-300038" algn="l" eaLnBrk="1" hangingPunct="1">
              <a:lnSpc>
                <a:spcPct val="90000"/>
              </a:lnSpc>
              <a:spcBef>
                <a:spcPct val="20000"/>
              </a:spcBef>
              <a:buFontTx/>
              <a:buChar char="–"/>
            </a:pPr>
            <a:r>
              <a:rPr lang="zh-CN" altLang="en-US" sz="2400">
                <a:solidFill>
                  <a:schemeClr val="hlink"/>
                </a:solidFill>
                <a:latin typeface="Arial" pitchFamily="34" charset="0"/>
              </a:rPr>
              <a:t>自由端口号</a:t>
            </a:r>
            <a:r>
              <a:rPr lang="zh-CN" altLang="en-US" sz="2400">
                <a:solidFill>
                  <a:schemeClr val="tx1"/>
                </a:solidFill>
                <a:latin typeface="Arial" pitchFamily="34" charset="0"/>
              </a:rPr>
              <a:t>（</a:t>
            </a:r>
            <a:r>
              <a:rPr lang="en-US" altLang="zh-CN" sz="2400">
                <a:solidFill>
                  <a:schemeClr val="tx1"/>
                </a:solidFill>
                <a:latin typeface="Arial" pitchFamily="34" charset="0"/>
              </a:rPr>
              <a:t>1024~2</a:t>
            </a:r>
            <a:r>
              <a:rPr lang="en-US" altLang="zh-CN" sz="2400" baseline="30000">
                <a:solidFill>
                  <a:schemeClr val="tx1"/>
                </a:solidFill>
                <a:latin typeface="Arial" pitchFamily="34" charset="0"/>
              </a:rPr>
              <a:t>16</a:t>
            </a:r>
            <a:r>
              <a:rPr lang="zh-CN" altLang="en-US" sz="2400">
                <a:solidFill>
                  <a:schemeClr val="tx1"/>
                </a:solidFill>
                <a:latin typeface="Arial" pitchFamily="34" charset="0"/>
              </a:rPr>
              <a:t>）</a:t>
            </a:r>
          </a:p>
        </p:txBody>
      </p:sp>
      <p:grpSp>
        <p:nvGrpSpPr>
          <p:cNvPr id="2" name="Group 4"/>
          <p:cNvGrpSpPr>
            <a:grpSpLocks/>
          </p:cNvGrpSpPr>
          <p:nvPr/>
        </p:nvGrpSpPr>
        <p:grpSpPr bwMode="auto">
          <a:xfrm>
            <a:off x="6777038" y="1454150"/>
            <a:ext cx="3414712" cy="4248150"/>
            <a:chOff x="3309" y="1211"/>
            <a:chExt cx="2151" cy="2676"/>
          </a:xfrm>
        </p:grpSpPr>
        <p:sp>
          <p:nvSpPr>
            <p:cNvPr id="17413" name="Rectangle 5"/>
            <p:cNvSpPr>
              <a:spLocks noChangeArrowheads="1"/>
            </p:cNvSpPr>
            <p:nvPr/>
          </p:nvSpPr>
          <p:spPr bwMode="auto">
            <a:xfrm>
              <a:off x="3366" y="1425"/>
              <a:ext cx="2094" cy="2016"/>
            </a:xfrm>
            <a:prstGeom prst="rect">
              <a:avLst/>
            </a:prstGeom>
            <a:solidFill>
              <a:schemeClr val="accent2"/>
            </a:solidFill>
            <a:ln w="19050">
              <a:noFill/>
              <a:miter lim="800000"/>
              <a:headEnd/>
              <a:tailEnd/>
            </a:ln>
          </p:spPr>
          <p:txBody>
            <a:bodyPr wrap="none" anchor="ctr"/>
            <a:lstStyle/>
            <a:p>
              <a:endParaRPr lang="zh-CN" altLang="en-US"/>
            </a:p>
          </p:txBody>
        </p:sp>
        <p:sp>
          <p:nvSpPr>
            <p:cNvPr id="17414" name="Rectangle 6"/>
            <p:cNvSpPr>
              <a:spLocks noChangeArrowheads="1"/>
            </p:cNvSpPr>
            <p:nvPr/>
          </p:nvSpPr>
          <p:spPr bwMode="auto">
            <a:xfrm>
              <a:off x="3318" y="1485"/>
              <a:ext cx="2094" cy="2016"/>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17415" name="Text Box 7"/>
            <p:cNvSpPr txBox="1">
              <a:spLocks noChangeArrowheads="1"/>
            </p:cNvSpPr>
            <p:nvPr/>
          </p:nvSpPr>
          <p:spPr bwMode="auto">
            <a:xfrm>
              <a:off x="3500" y="1496"/>
              <a:ext cx="671" cy="231"/>
            </a:xfrm>
            <a:prstGeom prst="rect">
              <a:avLst/>
            </a:prstGeom>
            <a:noFill/>
            <a:ln w="9525">
              <a:noFill/>
              <a:miter lim="800000"/>
              <a:headEnd/>
              <a:tailEnd/>
            </a:ln>
          </p:spPr>
          <p:txBody>
            <a:bodyPr wrap="none">
              <a:spAutoFit/>
            </a:bodyPr>
            <a:lstStyle/>
            <a:p>
              <a:r>
                <a:rPr lang="zh-CN" altLang="en-US" sz="1800" b="1">
                  <a:solidFill>
                    <a:srgbClr val="FF0000"/>
                  </a:solidFill>
                  <a:latin typeface="Arial" pitchFamily="34" charset="0"/>
                </a:rPr>
                <a:t>源端口 </a:t>
              </a:r>
              <a:r>
                <a:rPr lang="en-US" altLang="zh-CN" sz="1800" b="1">
                  <a:solidFill>
                    <a:srgbClr val="FF0000"/>
                  </a:solidFill>
                  <a:latin typeface="Arial" pitchFamily="34" charset="0"/>
                </a:rPr>
                <a:t>#</a:t>
              </a:r>
              <a:endParaRPr lang="en-US" altLang="zh-CN" sz="2400" b="1">
                <a:solidFill>
                  <a:schemeClr val="tx1"/>
                </a:solidFill>
                <a:latin typeface="Arial" pitchFamily="34" charset="0"/>
              </a:endParaRPr>
            </a:p>
          </p:txBody>
        </p:sp>
        <p:sp>
          <p:nvSpPr>
            <p:cNvPr id="17416" name="Text Box 8"/>
            <p:cNvSpPr txBox="1">
              <a:spLocks noChangeArrowheads="1"/>
            </p:cNvSpPr>
            <p:nvPr/>
          </p:nvSpPr>
          <p:spPr bwMode="auto">
            <a:xfrm>
              <a:off x="4478" y="1496"/>
              <a:ext cx="816" cy="231"/>
            </a:xfrm>
            <a:prstGeom prst="rect">
              <a:avLst/>
            </a:prstGeom>
            <a:noFill/>
            <a:ln w="9525">
              <a:noFill/>
              <a:miter lim="800000"/>
              <a:headEnd/>
              <a:tailEnd/>
            </a:ln>
          </p:spPr>
          <p:txBody>
            <a:bodyPr wrap="none">
              <a:spAutoFit/>
            </a:bodyPr>
            <a:lstStyle/>
            <a:p>
              <a:r>
                <a:rPr lang="zh-CN" altLang="en-US" sz="1800" b="1">
                  <a:solidFill>
                    <a:srgbClr val="FF0000"/>
                  </a:solidFill>
                  <a:latin typeface="Arial" pitchFamily="34" charset="0"/>
                </a:rPr>
                <a:t>目的端口 </a:t>
              </a:r>
              <a:r>
                <a:rPr lang="en-US" altLang="zh-CN" sz="1800" b="1">
                  <a:solidFill>
                    <a:srgbClr val="FF0000"/>
                  </a:solidFill>
                  <a:latin typeface="Arial" pitchFamily="34" charset="0"/>
                </a:rPr>
                <a:t>#</a:t>
              </a:r>
              <a:endParaRPr lang="en-US" altLang="zh-CN" sz="2400" b="1">
                <a:solidFill>
                  <a:srgbClr val="FF0000"/>
                </a:solidFill>
                <a:latin typeface="Arial" pitchFamily="34" charset="0"/>
              </a:endParaRPr>
            </a:p>
          </p:txBody>
        </p:sp>
        <p:sp>
          <p:nvSpPr>
            <p:cNvPr id="17417" name="Line 9"/>
            <p:cNvSpPr>
              <a:spLocks noChangeShapeType="1"/>
            </p:cNvSpPr>
            <p:nvPr/>
          </p:nvSpPr>
          <p:spPr bwMode="auto">
            <a:xfrm flipV="1">
              <a:off x="3312" y="1737"/>
              <a:ext cx="2097" cy="0"/>
            </a:xfrm>
            <a:prstGeom prst="line">
              <a:avLst/>
            </a:prstGeom>
            <a:noFill/>
            <a:ln w="19050">
              <a:solidFill>
                <a:schemeClr val="tx1"/>
              </a:solidFill>
              <a:round/>
              <a:headEnd/>
              <a:tailEnd/>
            </a:ln>
          </p:spPr>
          <p:txBody>
            <a:bodyPr wrap="none" anchor="ctr"/>
            <a:lstStyle/>
            <a:p>
              <a:endParaRPr lang="zh-CN" altLang="en-US"/>
            </a:p>
          </p:txBody>
        </p:sp>
        <p:sp>
          <p:nvSpPr>
            <p:cNvPr id="17418" name="Line 10"/>
            <p:cNvSpPr>
              <a:spLocks noChangeShapeType="1"/>
            </p:cNvSpPr>
            <p:nvPr/>
          </p:nvSpPr>
          <p:spPr bwMode="auto">
            <a:xfrm flipV="1">
              <a:off x="3318" y="2361"/>
              <a:ext cx="2094" cy="0"/>
            </a:xfrm>
            <a:prstGeom prst="line">
              <a:avLst/>
            </a:prstGeom>
            <a:noFill/>
            <a:ln w="19050">
              <a:solidFill>
                <a:schemeClr val="tx1"/>
              </a:solidFill>
              <a:round/>
              <a:headEnd/>
              <a:tailEnd/>
            </a:ln>
          </p:spPr>
          <p:txBody>
            <a:bodyPr wrap="none" anchor="ctr"/>
            <a:lstStyle/>
            <a:p>
              <a:endParaRPr lang="zh-CN" altLang="en-US"/>
            </a:p>
          </p:txBody>
        </p:sp>
        <p:sp>
          <p:nvSpPr>
            <p:cNvPr id="17419" name="Line 11"/>
            <p:cNvSpPr>
              <a:spLocks noChangeShapeType="1"/>
            </p:cNvSpPr>
            <p:nvPr/>
          </p:nvSpPr>
          <p:spPr bwMode="auto">
            <a:xfrm flipV="1">
              <a:off x="4350" y="1485"/>
              <a:ext cx="0" cy="249"/>
            </a:xfrm>
            <a:prstGeom prst="line">
              <a:avLst/>
            </a:prstGeom>
            <a:noFill/>
            <a:ln w="19050">
              <a:solidFill>
                <a:schemeClr val="tx1"/>
              </a:solidFill>
              <a:round/>
              <a:headEnd/>
              <a:tailEnd/>
            </a:ln>
          </p:spPr>
          <p:txBody>
            <a:bodyPr wrap="none" anchor="ctr"/>
            <a:lstStyle/>
            <a:p>
              <a:endParaRPr lang="zh-CN" altLang="en-US"/>
            </a:p>
          </p:txBody>
        </p:sp>
        <p:sp>
          <p:nvSpPr>
            <p:cNvPr id="17420" name="Text Box 12"/>
            <p:cNvSpPr txBox="1">
              <a:spLocks noChangeArrowheads="1"/>
            </p:cNvSpPr>
            <p:nvPr/>
          </p:nvSpPr>
          <p:spPr bwMode="auto">
            <a:xfrm>
              <a:off x="4049" y="1211"/>
              <a:ext cx="572" cy="231"/>
            </a:xfrm>
            <a:prstGeom prst="rect">
              <a:avLst/>
            </a:prstGeom>
            <a:noFill/>
            <a:ln w="9525">
              <a:noFill/>
              <a:miter lim="800000"/>
              <a:headEnd/>
              <a:tailEnd/>
            </a:ln>
          </p:spPr>
          <p:txBody>
            <a:bodyPr wrap="none">
              <a:spAutoFit/>
            </a:bodyPr>
            <a:lstStyle/>
            <a:p>
              <a:r>
                <a:rPr lang="en-US" altLang="zh-CN" sz="1800" b="1">
                  <a:solidFill>
                    <a:schemeClr val="bg1"/>
                  </a:solidFill>
                  <a:latin typeface="Arial" pitchFamily="34" charset="0"/>
                </a:rPr>
                <a:t>32 bits</a:t>
              </a:r>
              <a:endParaRPr lang="en-US" altLang="zh-CN" sz="2400" b="1">
                <a:solidFill>
                  <a:schemeClr val="bg1"/>
                </a:solidFill>
                <a:latin typeface="Arial" pitchFamily="34" charset="0"/>
              </a:endParaRPr>
            </a:p>
          </p:txBody>
        </p:sp>
        <p:sp>
          <p:nvSpPr>
            <p:cNvPr id="17421" name="Line 13"/>
            <p:cNvSpPr>
              <a:spLocks noChangeShapeType="1"/>
            </p:cNvSpPr>
            <p:nvPr/>
          </p:nvSpPr>
          <p:spPr bwMode="auto">
            <a:xfrm>
              <a:off x="4638" y="1338"/>
              <a:ext cx="756" cy="3"/>
            </a:xfrm>
            <a:prstGeom prst="line">
              <a:avLst/>
            </a:prstGeom>
            <a:noFill/>
            <a:ln w="19050">
              <a:solidFill>
                <a:schemeClr val="bg1"/>
              </a:solidFill>
              <a:round/>
              <a:headEnd/>
              <a:tailEnd type="triangle" w="med" len="med"/>
            </a:ln>
          </p:spPr>
          <p:txBody>
            <a:bodyPr wrap="none" anchor="ctr"/>
            <a:lstStyle/>
            <a:p>
              <a:endParaRPr lang="zh-CN" altLang="en-US"/>
            </a:p>
          </p:txBody>
        </p:sp>
        <p:sp>
          <p:nvSpPr>
            <p:cNvPr id="17422" name="Line 14"/>
            <p:cNvSpPr>
              <a:spLocks noChangeShapeType="1"/>
            </p:cNvSpPr>
            <p:nvPr/>
          </p:nvSpPr>
          <p:spPr bwMode="auto">
            <a:xfrm rot="10800000">
              <a:off x="3309" y="1344"/>
              <a:ext cx="711" cy="0"/>
            </a:xfrm>
            <a:prstGeom prst="line">
              <a:avLst/>
            </a:prstGeom>
            <a:noFill/>
            <a:ln w="19050">
              <a:solidFill>
                <a:schemeClr val="bg1"/>
              </a:solidFill>
              <a:round/>
              <a:headEnd/>
              <a:tailEnd type="triangle" w="med" len="med"/>
            </a:ln>
          </p:spPr>
          <p:txBody>
            <a:bodyPr wrap="none" anchor="ctr"/>
            <a:lstStyle/>
            <a:p>
              <a:endParaRPr lang="zh-CN" altLang="en-US"/>
            </a:p>
          </p:txBody>
        </p:sp>
        <p:sp>
          <p:nvSpPr>
            <p:cNvPr id="17423" name="Text Box 15"/>
            <p:cNvSpPr txBox="1">
              <a:spLocks noChangeArrowheads="1"/>
            </p:cNvSpPr>
            <p:nvPr/>
          </p:nvSpPr>
          <p:spPr bwMode="auto">
            <a:xfrm>
              <a:off x="3876" y="2641"/>
              <a:ext cx="907" cy="442"/>
            </a:xfrm>
            <a:prstGeom prst="rect">
              <a:avLst/>
            </a:prstGeom>
            <a:noFill/>
            <a:ln w="9525">
              <a:noFill/>
              <a:miter lim="800000"/>
              <a:headEnd/>
              <a:tailEnd/>
            </a:ln>
          </p:spPr>
          <p:txBody>
            <a:bodyPr wrap="none">
              <a:spAutoFit/>
            </a:bodyPr>
            <a:lstStyle/>
            <a:p>
              <a:r>
                <a:rPr lang="zh-CN" altLang="en-US" sz="2000" b="1">
                  <a:solidFill>
                    <a:schemeClr val="tx1"/>
                  </a:solidFill>
                  <a:latin typeface="Arial" pitchFamily="34" charset="0"/>
                </a:rPr>
                <a:t>数据</a:t>
              </a:r>
            </a:p>
            <a:p>
              <a:r>
                <a:rPr lang="en-US" altLang="zh-CN" sz="2000" b="1">
                  <a:solidFill>
                    <a:schemeClr val="tx1"/>
                  </a:solidFill>
                  <a:latin typeface="Arial" pitchFamily="34" charset="0"/>
                </a:rPr>
                <a:t>(message)</a:t>
              </a:r>
              <a:endParaRPr lang="en-US" altLang="zh-CN" sz="2400" b="1">
                <a:solidFill>
                  <a:schemeClr val="tx1"/>
                </a:solidFill>
                <a:latin typeface="Arial" pitchFamily="34" charset="0"/>
              </a:endParaRPr>
            </a:p>
          </p:txBody>
        </p:sp>
        <p:sp>
          <p:nvSpPr>
            <p:cNvPr id="17424" name="Text Box 16"/>
            <p:cNvSpPr txBox="1">
              <a:spLocks noChangeArrowheads="1"/>
            </p:cNvSpPr>
            <p:nvPr/>
          </p:nvSpPr>
          <p:spPr bwMode="auto">
            <a:xfrm>
              <a:off x="3980" y="1954"/>
              <a:ext cx="760" cy="250"/>
            </a:xfrm>
            <a:prstGeom prst="rect">
              <a:avLst/>
            </a:prstGeom>
            <a:noFill/>
            <a:ln w="9525">
              <a:noFill/>
              <a:miter lim="800000"/>
              <a:headEnd/>
              <a:tailEnd/>
            </a:ln>
          </p:spPr>
          <p:txBody>
            <a:bodyPr wrap="none">
              <a:spAutoFit/>
            </a:bodyPr>
            <a:lstStyle/>
            <a:p>
              <a:r>
                <a:rPr lang="zh-CN" altLang="en-US" sz="2000" b="1">
                  <a:solidFill>
                    <a:schemeClr val="tx1"/>
                  </a:solidFill>
                  <a:latin typeface="Arial" pitchFamily="34" charset="0"/>
                </a:rPr>
                <a:t>其它头域</a:t>
              </a:r>
              <a:endParaRPr lang="zh-CN" altLang="en-US" sz="2400" b="1">
                <a:solidFill>
                  <a:schemeClr val="tx1"/>
                </a:solidFill>
                <a:latin typeface="Arial" pitchFamily="34" charset="0"/>
              </a:endParaRPr>
            </a:p>
          </p:txBody>
        </p:sp>
        <p:sp>
          <p:nvSpPr>
            <p:cNvPr id="17425" name="Text Box 17"/>
            <p:cNvSpPr txBox="1">
              <a:spLocks noChangeArrowheads="1"/>
            </p:cNvSpPr>
            <p:nvPr/>
          </p:nvSpPr>
          <p:spPr bwMode="auto">
            <a:xfrm>
              <a:off x="3590" y="3637"/>
              <a:ext cx="1669" cy="250"/>
            </a:xfrm>
            <a:prstGeom prst="rect">
              <a:avLst/>
            </a:prstGeom>
            <a:noFill/>
            <a:ln w="9525">
              <a:noFill/>
              <a:miter lim="800000"/>
              <a:headEnd/>
              <a:tailEnd/>
            </a:ln>
          </p:spPr>
          <p:txBody>
            <a:bodyPr wrap="none">
              <a:spAutoFit/>
            </a:bodyPr>
            <a:lstStyle/>
            <a:p>
              <a:r>
                <a:rPr lang="en-US" altLang="zh-CN" sz="2000" b="1">
                  <a:solidFill>
                    <a:schemeClr val="tx1"/>
                  </a:solidFill>
                  <a:latin typeface="Arial" pitchFamily="34" charset="0"/>
                </a:rPr>
                <a:t>TCP/UDP </a:t>
              </a:r>
              <a:r>
                <a:rPr lang="zh-CN" altLang="en-US" sz="2000" b="1">
                  <a:solidFill>
                    <a:schemeClr val="tx1"/>
                  </a:solidFill>
                  <a:latin typeface="Arial" pitchFamily="34" charset="0"/>
                </a:rPr>
                <a:t>报文段格式</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203">
                                            <p:txEl>
                                              <p:pRg st="0" end="0"/>
                                            </p:txEl>
                                          </p:spTgt>
                                        </p:tgtEl>
                                        <p:attrNameLst>
                                          <p:attrName>style.visibility</p:attrName>
                                        </p:attrNameLst>
                                      </p:cBhvr>
                                      <p:to>
                                        <p:strVal val="visible"/>
                                      </p:to>
                                    </p:set>
                                    <p:anim calcmode="lin" valueType="num">
                                      <p:cBhvr additive="base">
                                        <p:cTn id="7" dur="500" fill="hold"/>
                                        <p:tgtEl>
                                          <p:spTgt spid="8192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9203">
                                            <p:txEl>
                                              <p:pRg st="1" end="1"/>
                                            </p:txEl>
                                          </p:spTgt>
                                        </p:tgtEl>
                                        <p:attrNameLst>
                                          <p:attrName>style.visibility</p:attrName>
                                        </p:attrNameLst>
                                      </p:cBhvr>
                                      <p:to>
                                        <p:strVal val="visible"/>
                                      </p:to>
                                    </p:set>
                                    <p:anim calcmode="lin" valueType="num">
                                      <p:cBhvr additive="base">
                                        <p:cTn id="13" dur="500" fill="hold"/>
                                        <p:tgtEl>
                                          <p:spTgt spid="8192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92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819203">
                                            <p:txEl>
                                              <p:pRg st="2" end="2"/>
                                            </p:txEl>
                                          </p:spTgt>
                                        </p:tgtEl>
                                        <p:attrNameLst>
                                          <p:attrName>style.visibility</p:attrName>
                                        </p:attrNameLst>
                                      </p:cBhvr>
                                      <p:to>
                                        <p:strVal val="visible"/>
                                      </p:to>
                                    </p:set>
                                    <p:anim calcmode="lin" valueType="num">
                                      <p:cBhvr additive="base">
                                        <p:cTn id="17" dur="500" fill="hold"/>
                                        <p:tgtEl>
                                          <p:spTgt spid="81920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1920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819203">
                                            <p:txEl>
                                              <p:pRg st="3" end="3"/>
                                            </p:txEl>
                                          </p:spTgt>
                                        </p:tgtEl>
                                        <p:attrNameLst>
                                          <p:attrName>style.visibility</p:attrName>
                                        </p:attrNameLst>
                                      </p:cBhvr>
                                      <p:to>
                                        <p:strVal val="visible"/>
                                      </p:to>
                                    </p:set>
                                    <p:anim calcmode="lin" valueType="num">
                                      <p:cBhvr additive="base">
                                        <p:cTn id="21" dur="500" fill="hold"/>
                                        <p:tgtEl>
                                          <p:spTgt spid="81920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81920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19203">
                                            <p:txEl>
                                              <p:pRg st="4" end="4"/>
                                            </p:txEl>
                                          </p:spTgt>
                                        </p:tgtEl>
                                        <p:attrNameLst>
                                          <p:attrName>style.visibility</p:attrName>
                                        </p:attrNameLst>
                                      </p:cBhvr>
                                      <p:to>
                                        <p:strVal val="visible"/>
                                      </p:to>
                                    </p:set>
                                    <p:anim calcmode="lin" valueType="num">
                                      <p:cBhvr additive="base">
                                        <p:cTn id="25" dur="500" fill="hold"/>
                                        <p:tgtEl>
                                          <p:spTgt spid="81920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92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bwMode="auto">
          <a:xfrm>
            <a:off x="2381250" y="39211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复用 </a:t>
            </a:r>
            <a:r>
              <a:rPr lang="en-US" altLang="zh-CN" sz="3600" b="1">
                <a:solidFill>
                  <a:schemeClr val="hlink"/>
                </a:solidFill>
                <a:latin typeface="Arial" pitchFamily="34" charset="0"/>
                <a:ea typeface="华文楷体" pitchFamily="2" charset="-122"/>
              </a:rPr>
              <a:t>/ </a:t>
            </a:r>
            <a:r>
              <a:rPr lang="zh-CN" altLang="en-US" sz="3600" b="1">
                <a:solidFill>
                  <a:schemeClr val="hlink"/>
                </a:solidFill>
                <a:latin typeface="Arial" pitchFamily="34" charset="0"/>
                <a:ea typeface="华文楷体" pitchFamily="2" charset="-122"/>
              </a:rPr>
              <a:t>逆复用</a:t>
            </a:r>
          </a:p>
        </p:txBody>
      </p:sp>
      <p:grpSp>
        <p:nvGrpSpPr>
          <p:cNvPr id="2" name="Group 3"/>
          <p:cNvGrpSpPr>
            <a:grpSpLocks/>
          </p:cNvGrpSpPr>
          <p:nvPr/>
        </p:nvGrpSpPr>
        <p:grpSpPr bwMode="auto">
          <a:xfrm>
            <a:off x="2624138" y="1697038"/>
            <a:ext cx="3903662" cy="2571750"/>
            <a:chOff x="522" y="1182"/>
            <a:chExt cx="2459" cy="1620"/>
          </a:xfrm>
        </p:grpSpPr>
        <p:sp>
          <p:nvSpPr>
            <p:cNvPr id="2097" name="Rectangle 4"/>
            <p:cNvSpPr>
              <a:spLocks noChangeArrowheads="1"/>
            </p:cNvSpPr>
            <p:nvPr/>
          </p:nvSpPr>
          <p:spPr bwMode="auto">
            <a:xfrm>
              <a:off x="1266" y="1882"/>
              <a:ext cx="906" cy="576"/>
            </a:xfrm>
            <a:prstGeom prst="rect">
              <a:avLst/>
            </a:prstGeom>
            <a:solidFill>
              <a:schemeClr val="accent2"/>
            </a:solidFill>
            <a:ln w="19050">
              <a:noFill/>
              <a:miter lim="800000"/>
              <a:headEnd/>
              <a:tailEnd/>
            </a:ln>
          </p:spPr>
          <p:txBody>
            <a:bodyPr wrap="none" anchor="ctr"/>
            <a:lstStyle/>
            <a:p>
              <a:endParaRPr lang="zh-CN" altLang="en-US"/>
            </a:p>
          </p:txBody>
        </p:sp>
        <p:sp>
          <p:nvSpPr>
            <p:cNvPr id="2098" name="Rectangle 5"/>
            <p:cNvSpPr>
              <a:spLocks noChangeArrowheads="1"/>
            </p:cNvSpPr>
            <p:nvPr/>
          </p:nvSpPr>
          <p:spPr bwMode="auto">
            <a:xfrm>
              <a:off x="1236" y="1186"/>
              <a:ext cx="906" cy="576"/>
            </a:xfrm>
            <a:prstGeom prst="rect">
              <a:avLst/>
            </a:prstGeom>
            <a:solidFill>
              <a:schemeClr val="accent2"/>
            </a:solidFill>
            <a:ln w="19050">
              <a:noFill/>
              <a:miter lim="800000"/>
              <a:headEnd/>
              <a:tailEnd/>
            </a:ln>
          </p:spPr>
          <p:txBody>
            <a:bodyPr wrap="none" anchor="ctr"/>
            <a:lstStyle/>
            <a:p>
              <a:endParaRPr lang="zh-CN" altLang="en-US"/>
            </a:p>
          </p:txBody>
        </p:sp>
        <p:graphicFrame>
          <p:nvGraphicFramePr>
            <p:cNvPr id="2052" name="Object 6"/>
            <p:cNvGraphicFramePr>
              <a:graphicFrameLocks noChangeAspect="1"/>
            </p:cNvGraphicFramePr>
            <p:nvPr/>
          </p:nvGraphicFramePr>
          <p:xfrm>
            <a:off x="522" y="1611"/>
            <a:ext cx="496" cy="394"/>
          </p:xfrm>
          <a:graphic>
            <a:graphicData uri="http://schemas.openxmlformats.org/presentationml/2006/ole">
              <mc:AlternateContent xmlns:mc="http://schemas.openxmlformats.org/markup-compatibility/2006">
                <mc:Choice xmlns:v="urn:schemas-microsoft-com:vml" Requires="v">
                  <p:oleObj spid="_x0000_s2146" name="Clip" r:id="rId3" imgW="1305000" imgH="1085760" progId="MS_ClipArt_Gallery.2">
                    <p:embed/>
                  </p:oleObj>
                </mc:Choice>
                <mc:Fallback>
                  <p:oleObj name="Clip" r:id="rId3" imgW="1305000" imgH="1085760"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 y="1611"/>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99" name="Group 7"/>
            <p:cNvGrpSpPr>
              <a:grpSpLocks/>
            </p:cNvGrpSpPr>
            <p:nvPr/>
          </p:nvGrpSpPr>
          <p:grpSpPr bwMode="auto">
            <a:xfrm>
              <a:off x="2327" y="1599"/>
              <a:ext cx="257" cy="468"/>
              <a:chOff x="1811" y="1379"/>
              <a:chExt cx="131" cy="258"/>
            </a:xfrm>
          </p:grpSpPr>
          <p:sp>
            <p:nvSpPr>
              <p:cNvPr id="2115" name="AutoShape 8"/>
              <p:cNvSpPr>
                <a:spLocks noChangeArrowheads="1"/>
              </p:cNvSpPr>
              <p:nvPr/>
            </p:nvSpPr>
            <p:spPr bwMode="auto">
              <a:xfrm>
                <a:off x="1811" y="1577"/>
                <a:ext cx="131" cy="60"/>
              </a:xfrm>
              <a:prstGeom prst="parallelogram">
                <a:avLst>
                  <a:gd name="adj" fmla="val 84109"/>
                </a:avLst>
              </a:prstGeom>
              <a:solidFill>
                <a:srgbClr val="33CCCC"/>
              </a:solidFill>
              <a:ln w="9525">
                <a:noFill/>
                <a:miter lim="800000"/>
                <a:headEnd/>
                <a:tailEnd/>
              </a:ln>
            </p:spPr>
            <p:txBody>
              <a:bodyPr wrap="none" anchor="ctr"/>
              <a:lstStyle/>
              <a:p>
                <a:endParaRPr lang="zh-CN" altLang="en-US"/>
              </a:p>
            </p:txBody>
          </p:sp>
          <p:sp>
            <p:nvSpPr>
              <p:cNvPr id="2116" name="Rectangle 9"/>
              <p:cNvSpPr>
                <a:spLocks noChangeArrowheads="1"/>
              </p:cNvSpPr>
              <p:nvPr/>
            </p:nvSpPr>
            <p:spPr bwMode="auto">
              <a:xfrm>
                <a:off x="1877" y="1381"/>
                <a:ext cx="61" cy="198"/>
              </a:xfrm>
              <a:prstGeom prst="rect">
                <a:avLst/>
              </a:prstGeom>
              <a:solidFill>
                <a:srgbClr val="33CCCC"/>
              </a:solidFill>
              <a:ln w="9525">
                <a:noFill/>
                <a:miter lim="800000"/>
                <a:headEnd/>
                <a:tailEnd/>
              </a:ln>
            </p:spPr>
            <p:txBody>
              <a:bodyPr wrap="none" anchor="ctr"/>
              <a:lstStyle/>
              <a:p>
                <a:endParaRPr lang="zh-CN" altLang="en-US"/>
              </a:p>
            </p:txBody>
          </p:sp>
          <p:sp>
            <p:nvSpPr>
              <p:cNvPr id="2117" name="Rectangle 10"/>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p:spPr>
            <p:txBody>
              <a:bodyPr wrap="none" anchor="ctr"/>
              <a:lstStyle/>
              <a:p>
                <a:endParaRPr lang="zh-CN" altLang="en-US"/>
              </a:p>
            </p:txBody>
          </p:sp>
          <p:sp>
            <p:nvSpPr>
              <p:cNvPr id="2118" name="AutoShape 11"/>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p:spPr>
            <p:txBody>
              <a:bodyPr wrap="none" anchor="ctr"/>
              <a:lstStyle/>
              <a:p>
                <a:endParaRPr lang="zh-CN" altLang="en-US"/>
              </a:p>
            </p:txBody>
          </p:sp>
          <p:sp>
            <p:nvSpPr>
              <p:cNvPr id="2119" name="Line 12"/>
              <p:cNvSpPr>
                <a:spLocks noChangeShapeType="1"/>
              </p:cNvSpPr>
              <p:nvPr/>
            </p:nvSpPr>
            <p:spPr bwMode="auto">
              <a:xfrm>
                <a:off x="1942" y="1383"/>
                <a:ext cx="0" cy="194"/>
              </a:xfrm>
              <a:prstGeom prst="line">
                <a:avLst/>
              </a:prstGeom>
              <a:noFill/>
              <a:ln w="9525">
                <a:solidFill>
                  <a:schemeClr val="tx1"/>
                </a:solidFill>
                <a:round/>
                <a:headEnd/>
                <a:tailEnd/>
              </a:ln>
            </p:spPr>
            <p:txBody>
              <a:bodyPr wrap="none" anchor="ctr"/>
              <a:lstStyle/>
              <a:p>
                <a:endParaRPr lang="zh-CN" altLang="en-US"/>
              </a:p>
            </p:txBody>
          </p:sp>
          <p:sp>
            <p:nvSpPr>
              <p:cNvPr id="2120" name="Line 13"/>
              <p:cNvSpPr>
                <a:spLocks noChangeShapeType="1"/>
              </p:cNvSpPr>
              <p:nvPr/>
            </p:nvSpPr>
            <p:spPr bwMode="auto">
              <a:xfrm flipH="1">
                <a:off x="1895" y="1577"/>
                <a:ext cx="47" cy="58"/>
              </a:xfrm>
              <a:prstGeom prst="line">
                <a:avLst/>
              </a:prstGeom>
              <a:noFill/>
              <a:ln w="9525">
                <a:solidFill>
                  <a:schemeClr val="tx1"/>
                </a:solidFill>
                <a:round/>
                <a:headEnd/>
                <a:tailEnd/>
              </a:ln>
            </p:spPr>
            <p:txBody>
              <a:bodyPr wrap="none" anchor="ctr"/>
              <a:lstStyle/>
              <a:p>
                <a:endParaRPr lang="zh-CN" altLang="en-US"/>
              </a:p>
            </p:txBody>
          </p:sp>
          <p:sp>
            <p:nvSpPr>
              <p:cNvPr id="2121" name="Rectangle 14"/>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p:spPr>
            <p:txBody>
              <a:bodyPr wrap="none" anchor="ctr"/>
              <a:lstStyle/>
              <a:p>
                <a:endParaRPr lang="zh-CN" altLang="en-US"/>
              </a:p>
            </p:txBody>
          </p:sp>
          <p:sp>
            <p:nvSpPr>
              <p:cNvPr id="2122" name="Rectangle 15"/>
              <p:cNvSpPr>
                <a:spLocks noChangeArrowheads="1"/>
              </p:cNvSpPr>
              <p:nvPr/>
            </p:nvSpPr>
            <p:spPr bwMode="auto">
              <a:xfrm>
                <a:off x="1830" y="1497"/>
                <a:ext cx="42" cy="41"/>
              </a:xfrm>
              <a:prstGeom prst="rect">
                <a:avLst/>
              </a:prstGeom>
              <a:solidFill>
                <a:schemeClr val="bg1"/>
              </a:solidFill>
              <a:ln w="9525">
                <a:noFill/>
                <a:miter lim="800000"/>
                <a:headEnd/>
                <a:tailEnd/>
              </a:ln>
            </p:spPr>
            <p:txBody>
              <a:bodyPr wrap="none" anchor="ctr"/>
              <a:lstStyle/>
              <a:p>
                <a:endParaRPr lang="zh-CN" altLang="en-US"/>
              </a:p>
            </p:txBody>
          </p:sp>
        </p:grpSp>
        <p:sp>
          <p:nvSpPr>
            <p:cNvPr id="2100" name="Text Box 16"/>
            <p:cNvSpPr txBox="1">
              <a:spLocks noChangeArrowheads="1"/>
            </p:cNvSpPr>
            <p:nvPr/>
          </p:nvSpPr>
          <p:spPr bwMode="auto">
            <a:xfrm>
              <a:off x="542" y="1322"/>
              <a:ext cx="614" cy="250"/>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host A</a:t>
              </a:r>
              <a:endParaRPr lang="en-US" altLang="zh-CN" sz="2400" b="1">
                <a:solidFill>
                  <a:schemeClr val="bg1"/>
                </a:solidFill>
                <a:latin typeface="Arial" pitchFamily="34" charset="0"/>
              </a:endParaRPr>
            </a:p>
          </p:txBody>
        </p:sp>
        <p:sp>
          <p:nvSpPr>
            <p:cNvPr id="2101" name="Text Box 17"/>
            <p:cNvSpPr txBox="1">
              <a:spLocks noChangeArrowheads="1"/>
            </p:cNvSpPr>
            <p:nvPr/>
          </p:nvSpPr>
          <p:spPr bwMode="auto">
            <a:xfrm>
              <a:off x="2225" y="1310"/>
              <a:ext cx="756" cy="250"/>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server B</a:t>
              </a:r>
              <a:endParaRPr lang="en-US" altLang="zh-CN" sz="2400" b="1">
                <a:solidFill>
                  <a:schemeClr val="bg1"/>
                </a:solidFill>
                <a:latin typeface="Arial" pitchFamily="34" charset="0"/>
              </a:endParaRPr>
            </a:p>
          </p:txBody>
        </p:sp>
        <p:sp>
          <p:nvSpPr>
            <p:cNvPr id="2102" name="Line 18"/>
            <p:cNvSpPr>
              <a:spLocks noChangeShapeType="1"/>
            </p:cNvSpPr>
            <p:nvPr/>
          </p:nvSpPr>
          <p:spPr bwMode="auto">
            <a:xfrm>
              <a:off x="1050" y="1666"/>
              <a:ext cx="1236" cy="6"/>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103" name="Group 19"/>
            <p:cNvGrpSpPr>
              <a:grpSpLocks/>
            </p:cNvGrpSpPr>
            <p:nvPr/>
          </p:nvGrpSpPr>
          <p:grpSpPr bwMode="auto">
            <a:xfrm>
              <a:off x="1162" y="1182"/>
              <a:ext cx="970" cy="628"/>
              <a:chOff x="340" y="2930"/>
              <a:chExt cx="970" cy="628"/>
            </a:xfrm>
          </p:grpSpPr>
          <p:sp>
            <p:nvSpPr>
              <p:cNvPr id="2111" name="Rectangle 20"/>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p:spPr>
            <p:txBody>
              <a:bodyPr wrap="none" anchor="ctr"/>
              <a:lstStyle/>
              <a:p>
                <a:endParaRPr lang="zh-CN" altLang="en-US"/>
              </a:p>
            </p:txBody>
          </p:sp>
          <p:sp>
            <p:nvSpPr>
              <p:cNvPr id="2112" name="Text Box 21"/>
              <p:cNvSpPr txBox="1">
                <a:spLocks noChangeArrowheads="1"/>
              </p:cNvSpPr>
              <p:nvPr/>
            </p:nvSpPr>
            <p:spPr bwMode="auto">
              <a:xfrm>
                <a:off x="340" y="2930"/>
                <a:ext cx="970" cy="366"/>
              </a:xfrm>
              <a:prstGeom prst="rect">
                <a:avLst/>
              </a:prstGeom>
              <a:noFill/>
              <a:ln w="9525">
                <a:noFill/>
                <a:miter lim="800000"/>
                <a:headEnd/>
                <a:tailEnd/>
              </a:ln>
            </p:spPr>
            <p:txBody>
              <a:bodyPr wrap="none">
                <a:spAutoFit/>
              </a:bodyPr>
              <a:lstStyle/>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23</a:t>
                </a:r>
                <a:endParaRPr lang="en-US" altLang="zh-CN" sz="2400" b="1">
                  <a:solidFill>
                    <a:schemeClr val="tx1"/>
                  </a:solidFill>
                  <a:latin typeface="Arial" pitchFamily="34" charset="0"/>
                </a:endParaRPr>
              </a:p>
            </p:txBody>
          </p:sp>
          <p:sp>
            <p:nvSpPr>
              <p:cNvPr id="2113" name="Line 22"/>
              <p:cNvSpPr>
                <a:spLocks noChangeShapeType="1"/>
              </p:cNvSpPr>
              <p:nvPr/>
            </p:nvSpPr>
            <p:spPr bwMode="auto">
              <a:xfrm>
                <a:off x="384" y="3132"/>
                <a:ext cx="906" cy="0"/>
              </a:xfrm>
              <a:prstGeom prst="line">
                <a:avLst/>
              </a:prstGeom>
              <a:noFill/>
              <a:ln w="19050">
                <a:solidFill>
                  <a:schemeClr val="tx1"/>
                </a:solidFill>
                <a:round/>
                <a:headEnd/>
                <a:tailEnd/>
              </a:ln>
            </p:spPr>
            <p:txBody>
              <a:bodyPr wrap="none" anchor="ctr"/>
              <a:lstStyle/>
              <a:p>
                <a:endParaRPr lang="zh-CN" altLang="en-US"/>
              </a:p>
            </p:txBody>
          </p:sp>
          <p:sp>
            <p:nvSpPr>
              <p:cNvPr id="2114" name="Line 23"/>
              <p:cNvSpPr>
                <a:spLocks noChangeShapeType="1"/>
              </p:cNvSpPr>
              <p:nvPr/>
            </p:nvSpPr>
            <p:spPr bwMode="auto">
              <a:xfrm>
                <a:off x="390" y="3270"/>
                <a:ext cx="906" cy="0"/>
              </a:xfrm>
              <a:prstGeom prst="line">
                <a:avLst/>
              </a:prstGeom>
              <a:noFill/>
              <a:ln w="19050">
                <a:solidFill>
                  <a:schemeClr val="tx1"/>
                </a:solidFill>
                <a:round/>
                <a:headEnd/>
                <a:tailEnd/>
              </a:ln>
            </p:spPr>
            <p:txBody>
              <a:bodyPr wrap="none" anchor="ctr"/>
              <a:lstStyle/>
              <a:p>
                <a:endParaRPr lang="zh-CN" altLang="en-US"/>
              </a:p>
            </p:txBody>
          </p:sp>
        </p:grpSp>
        <p:sp>
          <p:nvSpPr>
            <p:cNvPr id="2104" name="Line 24"/>
            <p:cNvSpPr>
              <a:spLocks noChangeShapeType="1"/>
            </p:cNvSpPr>
            <p:nvPr/>
          </p:nvSpPr>
          <p:spPr bwMode="auto">
            <a:xfrm>
              <a:off x="1062" y="1954"/>
              <a:ext cx="1236" cy="6"/>
            </a:xfrm>
            <a:prstGeom prst="line">
              <a:avLst/>
            </a:prstGeom>
            <a:noFill/>
            <a:ln w="28575">
              <a:solidFill>
                <a:srgbClr val="FF0000"/>
              </a:solidFill>
              <a:round/>
              <a:headEnd type="triangle" w="med" len="med"/>
              <a:tailEnd/>
            </a:ln>
          </p:spPr>
          <p:txBody>
            <a:bodyPr wrap="none" anchor="ctr"/>
            <a:lstStyle/>
            <a:p>
              <a:endParaRPr lang="zh-CN" altLang="en-US"/>
            </a:p>
          </p:txBody>
        </p:sp>
        <p:grpSp>
          <p:nvGrpSpPr>
            <p:cNvPr id="2105" name="Group 25"/>
            <p:cNvGrpSpPr>
              <a:grpSpLocks/>
            </p:cNvGrpSpPr>
            <p:nvPr/>
          </p:nvGrpSpPr>
          <p:grpSpPr bwMode="auto">
            <a:xfrm>
              <a:off x="1174" y="1866"/>
              <a:ext cx="1005" cy="628"/>
              <a:chOff x="322" y="2930"/>
              <a:chExt cx="1005" cy="628"/>
            </a:xfrm>
          </p:grpSpPr>
          <p:sp>
            <p:nvSpPr>
              <p:cNvPr id="2107" name="Rectangle 26"/>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p:spPr>
            <p:txBody>
              <a:bodyPr wrap="none" anchor="ctr"/>
              <a:lstStyle/>
              <a:p>
                <a:endParaRPr lang="zh-CN" altLang="en-US"/>
              </a:p>
            </p:txBody>
          </p:sp>
          <p:sp>
            <p:nvSpPr>
              <p:cNvPr id="2108" name="Text Box 27"/>
              <p:cNvSpPr txBox="1">
                <a:spLocks noChangeArrowheads="1"/>
              </p:cNvSpPr>
              <p:nvPr/>
            </p:nvSpPr>
            <p:spPr bwMode="auto">
              <a:xfrm>
                <a:off x="322" y="2930"/>
                <a:ext cx="1005" cy="366"/>
              </a:xfrm>
              <a:prstGeom prst="rect">
                <a:avLst/>
              </a:prstGeom>
              <a:noFill/>
              <a:ln w="9525">
                <a:noFill/>
                <a:miter lim="800000"/>
                <a:headEnd/>
                <a:tailEnd/>
              </a:ln>
            </p:spPr>
            <p:txBody>
              <a:bodyPr wrap="none">
                <a:spAutoFit/>
              </a:bodyPr>
              <a:lstStyle/>
              <a:p>
                <a:r>
                  <a:rPr lang="en-US" altLang="zh-CN" sz="1600" b="1">
                    <a:solidFill>
                      <a:schemeClr val="tx1"/>
                    </a:solidFill>
                    <a:latin typeface="Arial" pitchFamily="34" charset="0"/>
                  </a:rPr>
                  <a:t>source port:23</a:t>
                </a:r>
              </a:p>
              <a:p>
                <a:r>
                  <a:rPr lang="en-US" altLang="zh-CN" sz="1600" b="1">
                    <a:solidFill>
                      <a:schemeClr val="tx1"/>
                    </a:solidFill>
                    <a:latin typeface="Arial" pitchFamily="34" charset="0"/>
                  </a:rPr>
                  <a:t>dest. port: x</a:t>
                </a:r>
                <a:endParaRPr lang="en-US" altLang="zh-CN" sz="2400" b="1">
                  <a:solidFill>
                    <a:schemeClr val="tx1"/>
                  </a:solidFill>
                  <a:latin typeface="Arial" pitchFamily="34" charset="0"/>
                </a:endParaRPr>
              </a:p>
            </p:txBody>
          </p:sp>
          <p:sp>
            <p:nvSpPr>
              <p:cNvPr id="2109" name="Line 28"/>
              <p:cNvSpPr>
                <a:spLocks noChangeShapeType="1"/>
              </p:cNvSpPr>
              <p:nvPr/>
            </p:nvSpPr>
            <p:spPr bwMode="auto">
              <a:xfrm>
                <a:off x="384" y="3132"/>
                <a:ext cx="906" cy="0"/>
              </a:xfrm>
              <a:prstGeom prst="line">
                <a:avLst/>
              </a:prstGeom>
              <a:noFill/>
              <a:ln w="19050">
                <a:solidFill>
                  <a:schemeClr val="tx1"/>
                </a:solidFill>
                <a:round/>
                <a:headEnd/>
                <a:tailEnd/>
              </a:ln>
            </p:spPr>
            <p:txBody>
              <a:bodyPr wrap="none" anchor="ctr"/>
              <a:lstStyle/>
              <a:p>
                <a:endParaRPr lang="zh-CN" altLang="en-US"/>
              </a:p>
            </p:txBody>
          </p:sp>
          <p:sp>
            <p:nvSpPr>
              <p:cNvPr id="2110" name="Line 29"/>
              <p:cNvSpPr>
                <a:spLocks noChangeShapeType="1"/>
              </p:cNvSpPr>
              <p:nvPr/>
            </p:nvSpPr>
            <p:spPr bwMode="auto">
              <a:xfrm>
                <a:off x="390" y="3270"/>
                <a:ext cx="906" cy="0"/>
              </a:xfrm>
              <a:prstGeom prst="line">
                <a:avLst/>
              </a:prstGeom>
              <a:noFill/>
              <a:ln w="19050">
                <a:solidFill>
                  <a:schemeClr val="tx1"/>
                </a:solidFill>
                <a:round/>
                <a:headEnd/>
                <a:tailEnd/>
              </a:ln>
            </p:spPr>
            <p:txBody>
              <a:bodyPr wrap="none" anchor="ctr"/>
              <a:lstStyle/>
              <a:p>
                <a:endParaRPr lang="zh-CN" altLang="en-US"/>
              </a:p>
            </p:txBody>
          </p:sp>
        </p:grpSp>
        <p:sp>
          <p:nvSpPr>
            <p:cNvPr id="2106" name="Text Box 30"/>
            <p:cNvSpPr txBox="1">
              <a:spLocks noChangeArrowheads="1"/>
            </p:cNvSpPr>
            <p:nvPr/>
          </p:nvSpPr>
          <p:spPr bwMode="auto">
            <a:xfrm>
              <a:off x="664" y="2552"/>
              <a:ext cx="2149" cy="250"/>
            </a:xfrm>
            <a:prstGeom prst="rect">
              <a:avLst/>
            </a:prstGeom>
            <a:noFill/>
            <a:ln w="9525">
              <a:noFill/>
              <a:miter lim="800000"/>
              <a:headEnd/>
              <a:tailEnd/>
            </a:ln>
          </p:spPr>
          <p:txBody>
            <a:bodyPr wrap="none">
              <a:spAutoFit/>
            </a:bodyPr>
            <a:lstStyle/>
            <a:p>
              <a:r>
                <a:rPr lang="en-US" altLang="zh-CN" sz="2000" b="1">
                  <a:solidFill>
                    <a:schemeClr val="tx1"/>
                  </a:solidFill>
                  <a:latin typeface="Arial" pitchFamily="34" charset="0"/>
                </a:rPr>
                <a:t>port use: simple telnet app</a:t>
              </a:r>
            </a:p>
          </p:txBody>
        </p:sp>
      </p:grpSp>
      <p:sp>
        <p:nvSpPr>
          <p:cNvPr id="2055" name="Text Box 31"/>
          <p:cNvSpPr txBox="1">
            <a:spLocks noChangeArrowheads="1"/>
          </p:cNvSpPr>
          <p:nvPr/>
        </p:nvSpPr>
        <p:spPr bwMode="auto">
          <a:xfrm>
            <a:off x="3211513" y="5189539"/>
            <a:ext cx="1452562" cy="701675"/>
          </a:xfrm>
          <a:prstGeom prst="rect">
            <a:avLst/>
          </a:prstGeom>
          <a:noFill/>
          <a:ln w="9525">
            <a:noFill/>
            <a:miter lim="800000"/>
            <a:headEnd/>
            <a:tailEnd/>
          </a:ln>
        </p:spPr>
        <p:txBody>
          <a:bodyPr wrap="none">
            <a:spAutoFit/>
          </a:bodyPr>
          <a:lstStyle/>
          <a:p>
            <a:pPr algn="r"/>
            <a:r>
              <a:rPr lang="en-US" altLang="zh-CN" sz="2000" b="1">
                <a:solidFill>
                  <a:schemeClr val="bg1"/>
                </a:solidFill>
                <a:latin typeface="Arial" pitchFamily="34" charset="0"/>
              </a:rPr>
              <a:t>Web client</a:t>
            </a:r>
          </a:p>
          <a:p>
            <a:pPr algn="r"/>
            <a:r>
              <a:rPr lang="en-US" altLang="zh-CN" sz="2000" b="1">
                <a:solidFill>
                  <a:schemeClr val="bg1"/>
                </a:solidFill>
                <a:latin typeface="Arial" pitchFamily="34" charset="0"/>
              </a:rPr>
              <a:t>host A</a:t>
            </a:r>
            <a:endParaRPr lang="en-US" altLang="zh-CN" sz="2400" b="1">
              <a:solidFill>
                <a:schemeClr val="bg1"/>
              </a:solidFill>
              <a:latin typeface="Arial" pitchFamily="34" charset="0"/>
            </a:endParaRPr>
          </a:p>
        </p:txBody>
      </p:sp>
      <p:grpSp>
        <p:nvGrpSpPr>
          <p:cNvPr id="6" name="Group 32"/>
          <p:cNvGrpSpPr>
            <a:grpSpLocks/>
          </p:cNvGrpSpPr>
          <p:nvPr/>
        </p:nvGrpSpPr>
        <p:grpSpPr bwMode="auto">
          <a:xfrm>
            <a:off x="4306888" y="1527176"/>
            <a:ext cx="6038850" cy="4672013"/>
            <a:chOff x="1956" y="1184"/>
            <a:chExt cx="3804" cy="2943"/>
          </a:xfrm>
        </p:grpSpPr>
        <p:sp>
          <p:nvSpPr>
            <p:cNvPr id="2058" name="Rectangle 33"/>
            <p:cNvSpPr>
              <a:spLocks noChangeArrowheads="1"/>
            </p:cNvSpPr>
            <p:nvPr/>
          </p:nvSpPr>
          <p:spPr bwMode="auto">
            <a:xfrm>
              <a:off x="2778" y="3202"/>
              <a:ext cx="906" cy="888"/>
            </a:xfrm>
            <a:prstGeom prst="rect">
              <a:avLst/>
            </a:prstGeom>
            <a:solidFill>
              <a:schemeClr val="accent2"/>
            </a:solidFill>
            <a:ln w="19050">
              <a:noFill/>
              <a:miter lim="800000"/>
              <a:headEnd/>
              <a:tailEnd/>
            </a:ln>
          </p:spPr>
          <p:txBody>
            <a:bodyPr wrap="none" anchor="ctr"/>
            <a:lstStyle/>
            <a:p>
              <a:endParaRPr lang="zh-CN" altLang="en-US"/>
            </a:p>
          </p:txBody>
        </p:sp>
        <p:sp>
          <p:nvSpPr>
            <p:cNvPr id="2059" name="Rectangle 34"/>
            <p:cNvSpPr>
              <a:spLocks noChangeArrowheads="1"/>
            </p:cNvSpPr>
            <p:nvPr/>
          </p:nvSpPr>
          <p:spPr bwMode="auto">
            <a:xfrm>
              <a:off x="4794" y="2116"/>
              <a:ext cx="906" cy="888"/>
            </a:xfrm>
            <a:prstGeom prst="rect">
              <a:avLst/>
            </a:prstGeom>
            <a:solidFill>
              <a:schemeClr val="accent2"/>
            </a:solidFill>
            <a:ln w="19050">
              <a:noFill/>
              <a:miter lim="800000"/>
              <a:headEnd/>
              <a:tailEnd/>
            </a:ln>
          </p:spPr>
          <p:txBody>
            <a:bodyPr wrap="none" anchor="ctr"/>
            <a:lstStyle/>
            <a:p>
              <a:endParaRPr lang="zh-CN" altLang="en-US"/>
            </a:p>
          </p:txBody>
        </p:sp>
        <p:sp>
          <p:nvSpPr>
            <p:cNvPr id="2060" name="Rectangle 35"/>
            <p:cNvSpPr>
              <a:spLocks noChangeArrowheads="1"/>
            </p:cNvSpPr>
            <p:nvPr/>
          </p:nvSpPr>
          <p:spPr bwMode="auto">
            <a:xfrm>
              <a:off x="3798" y="2116"/>
              <a:ext cx="906" cy="888"/>
            </a:xfrm>
            <a:prstGeom prst="rect">
              <a:avLst/>
            </a:prstGeom>
            <a:solidFill>
              <a:schemeClr val="accent2"/>
            </a:solidFill>
            <a:ln w="19050">
              <a:noFill/>
              <a:miter lim="800000"/>
              <a:headEnd/>
              <a:tailEnd/>
            </a:ln>
          </p:spPr>
          <p:txBody>
            <a:bodyPr wrap="none" anchor="ctr"/>
            <a:lstStyle/>
            <a:p>
              <a:endParaRPr lang="zh-CN" altLang="en-US"/>
            </a:p>
          </p:txBody>
        </p:sp>
        <p:graphicFrame>
          <p:nvGraphicFramePr>
            <p:cNvPr id="2050" name="Object 36"/>
            <p:cNvGraphicFramePr>
              <a:graphicFrameLocks noChangeAspect="1"/>
            </p:cNvGraphicFramePr>
            <p:nvPr/>
          </p:nvGraphicFramePr>
          <p:xfrm>
            <a:off x="1956" y="3513"/>
            <a:ext cx="496" cy="394"/>
          </p:xfrm>
          <a:graphic>
            <a:graphicData uri="http://schemas.openxmlformats.org/presentationml/2006/ole">
              <mc:AlternateContent xmlns:mc="http://schemas.openxmlformats.org/markup-compatibility/2006">
                <mc:Choice xmlns:v="urn:schemas-microsoft-com:vml" Requires="v">
                  <p:oleObj spid="_x0000_s2147" name="Clip" r:id="rId5" imgW="1305000" imgH="1085760" progId="MS_ClipArt_Gallery.2">
                    <p:embed/>
                  </p:oleObj>
                </mc:Choice>
                <mc:Fallback>
                  <p:oleObj name="Clip" r:id="rId5" imgW="1305000" imgH="1085760" progId="MS_ClipArt_Gallery.2">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6" y="3513"/>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61" name="Group 37"/>
            <p:cNvGrpSpPr>
              <a:grpSpLocks/>
            </p:cNvGrpSpPr>
            <p:nvPr/>
          </p:nvGrpSpPr>
          <p:grpSpPr bwMode="auto">
            <a:xfrm>
              <a:off x="4475" y="3249"/>
              <a:ext cx="341" cy="582"/>
              <a:chOff x="1811" y="1379"/>
              <a:chExt cx="131" cy="258"/>
            </a:xfrm>
          </p:grpSpPr>
          <p:sp>
            <p:nvSpPr>
              <p:cNvPr id="2089" name="AutoShape 38"/>
              <p:cNvSpPr>
                <a:spLocks noChangeArrowheads="1"/>
              </p:cNvSpPr>
              <p:nvPr/>
            </p:nvSpPr>
            <p:spPr bwMode="auto">
              <a:xfrm>
                <a:off x="1811" y="1577"/>
                <a:ext cx="131" cy="60"/>
              </a:xfrm>
              <a:prstGeom prst="parallelogram">
                <a:avLst>
                  <a:gd name="adj" fmla="val 84109"/>
                </a:avLst>
              </a:prstGeom>
              <a:solidFill>
                <a:srgbClr val="33CCCC"/>
              </a:solidFill>
              <a:ln w="9525">
                <a:noFill/>
                <a:miter lim="800000"/>
                <a:headEnd/>
                <a:tailEnd/>
              </a:ln>
            </p:spPr>
            <p:txBody>
              <a:bodyPr wrap="none" anchor="ctr"/>
              <a:lstStyle/>
              <a:p>
                <a:endParaRPr lang="zh-CN" altLang="en-US"/>
              </a:p>
            </p:txBody>
          </p:sp>
          <p:sp>
            <p:nvSpPr>
              <p:cNvPr id="2090" name="Rectangle 39"/>
              <p:cNvSpPr>
                <a:spLocks noChangeArrowheads="1"/>
              </p:cNvSpPr>
              <p:nvPr/>
            </p:nvSpPr>
            <p:spPr bwMode="auto">
              <a:xfrm>
                <a:off x="1877" y="1381"/>
                <a:ext cx="61" cy="198"/>
              </a:xfrm>
              <a:prstGeom prst="rect">
                <a:avLst/>
              </a:prstGeom>
              <a:solidFill>
                <a:srgbClr val="33CCCC"/>
              </a:solidFill>
              <a:ln w="9525">
                <a:noFill/>
                <a:miter lim="800000"/>
                <a:headEnd/>
                <a:tailEnd/>
              </a:ln>
            </p:spPr>
            <p:txBody>
              <a:bodyPr wrap="none" anchor="ctr"/>
              <a:lstStyle/>
              <a:p>
                <a:endParaRPr lang="zh-CN" altLang="en-US"/>
              </a:p>
            </p:txBody>
          </p:sp>
          <p:sp>
            <p:nvSpPr>
              <p:cNvPr id="2091" name="Rectangle 40"/>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p:spPr>
            <p:txBody>
              <a:bodyPr wrap="none" anchor="ctr"/>
              <a:lstStyle/>
              <a:p>
                <a:endParaRPr lang="zh-CN" altLang="en-US"/>
              </a:p>
            </p:txBody>
          </p:sp>
          <p:sp>
            <p:nvSpPr>
              <p:cNvPr id="2092" name="AutoShape 41"/>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p:spPr>
            <p:txBody>
              <a:bodyPr wrap="none" anchor="ctr"/>
              <a:lstStyle/>
              <a:p>
                <a:endParaRPr lang="zh-CN" altLang="en-US"/>
              </a:p>
            </p:txBody>
          </p:sp>
          <p:sp>
            <p:nvSpPr>
              <p:cNvPr id="2093" name="Line 42"/>
              <p:cNvSpPr>
                <a:spLocks noChangeShapeType="1"/>
              </p:cNvSpPr>
              <p:nvPr/>
            </p:nvSpPr>
            <p:spPr bwMode="auto">
              <a:xfrm>
                <a:off x="1942" y="1383"/>
                <a:ext cx="0" cy="194"/>
              </a:xfrm>
              <a:prstGeom prst="line">
                <a:avLst/>
              </a:prstGeom>
              <a:noFill/>
              <a:ln w="9525">
                <a:solidFill>
                  <a:schemeClr val="tx1"/>
                </a:solidFill>
                <a:round/>
                <a:headEnd/>
                <a:tailEnd/>
              </a:ln>
            </p:spPr>
            <p:txBody>
              <a:bodyPr wrap="none" anchor="ctr"/>
              <a:lstStyle/>
              <a:p>
                <a:endParaRPr lang="zh-CN" altLang="en-US"/>
              </a:p>
            </p:txBody>
          </p:sp>
          <p:sp>
            <p:nvSpPr>
              <p:cNvPr id="2094" name="Line 43"/>
              <p:cNvSpPr>
                <a:spLocks noChangeShapeType="1"/>
              </p:cNvSpPr>
              <p:nvPr/>
            </p:nvSpPr>
            <p:spPr bwMode="auto">
              <a:xfrm flipH="1">
                <a:off x="1895" y="1577"/>
                <a:ext cx="47" cy="58"/>
              </a:xfrm>
              <a:prstGeom prst="line">
                <a:avLst/>
              </a:prstGeom>
              <a:noFill/>
              <a:ln w="9525">
                <a:solidFill>
                  <a:schemeClr val="tx1"/>
                </a:solidFill>
                <a:round/>
                <a:headEnd/>
                <a:tailEnd/>
              </a:ln>
            </p:spPr>
            <p:txBody>
              <a:bodyPr wrap="none" anchor="ctr"/>
              <a:lstStyle/>
              <a:p>
                <a:endParaRPr lang="zh-CN" altLang="en-US"/>
              </a:p>
            </p:txBody>
          </p:sp>
          <p:sp>
            <p:nvSpPr>
              <p:cNvPr id="2095" name="Rectangle 44"/>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p:spPr>
            <p:txBody>
              <a:bodyPr wrap="none" anchor="ctr"/>
              <a:lstStyle/>
              <a:p>
                <a:endParaRPr lang="zh-CN" altLang="en-US"/>
              </a:p>
            </p:txBody>
          </p:sp>
          <p:sp>
            <p:nvSpPr>
              <p:cNvPr id="2096" name="Rectangle 45"/>
              <p:cNvSpPr>
                <a:spLocks noChangeArrowheads="1"/>
              </p:cNvSpPr>
              <p:nvPr/>
            </p:nvSpPr>
            <p:spPr bwMode="auto">
              <a:xfrm>
                <a:off x="1830" y="1497"/>
                <a:ext cx="42" cy="41"/>
              </a:xfrm>
              <a:prstGeom prst="rect">
                <a:avLst/>
              </a:prstGeom>
              <a:solidFill>
                <a:schemeClr val="bg1"/>
              </a:solidFill>
              <a:ln w="9525">
                <a:noFill/>
                <a:miter lim="800000"/>
                <a:headEnd/>
                <a:tailEnd/>
              </a:ln>
            </p:spPr>
            <p:txBody>
              <a:bodyPr wrap="none" anchor="ctr"/>
              <a:lstStyle/>
              <a:p>
                <a:endParaRPr lang="zh-CN" altLang="en-US"/>
              </a:p>
            </p:txBody>
          </p:sp>
        </p:grpSp>
        <p:sp>
          <p:nvSpPr>
            <p:cNvPr id="2062" name="Text Box 46"/>
            <p:cNvSpPr txBox="1">
              <a:spLocks noChangeArrowheads="1"/>
            </p:cNvSpPr>
            <p:nvPr/>
          </p:nvSpPr>
          <p:spPr bwMode="auto">
            <a:xfrm>
              <a:off x="4877" y="3302"/>
              <a:ext cx="756" cy="442"/>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Web</a:t>
              </a:r>
            </a:p>
            <a:p>
              <a:r>
                <a:rPr lang="en-US" altLang="zh-CN" sz="2000" b="1">
                  <a:solidFill>
                    <a:schemeClr val="bg1"/>
                  </a:solidFill>
                  <a:latin typeface="Arial" pitchFamily="34" charset="0"/>
                </a:rPr>
                <a:t>server B</a:t>
              </a:r>
              <a:endParaRPr lang="en-US" altLang="zh-CN" sz="2400" b="1">
                <a:solidFill>
                  <a:schemeClr val="bg1"/>
                </a:solidFill>
                <a:latin typeface="Arial" pitchFamily="34" charset="0"/>
              </a:endParaRPr>
            </a:p>
          </p:txBody>
        </p:sp>
        <p:sp>
          <p:nvSpPr>
            <p:cNvPr id="2063" name="Line 47"/>
            <p:cNvSpPr>
              <a:spLocks noChangeShapeType="1"/>
            </p:cNvSpPr>
            <p:nvPr/>
          </p:nvSpPr>
          <p:spPr bwMode="auto">
            <a:xfrm>
              <a:off x="2454" y="3526"/>
              <a:ext cx="2004" cy="0"/>
            </a:xfrm>
            <a:prstGeom prst="line">
              <a:avLst/>
            </a:prstGeom>
            <a:noFill/>
            <a:ln w="28575">
              <a:solidFill>
                <a:srgbClr val="FF0000"/>
              </a:solidFill>
              <a:round/>
              <a:headEnd/>
              <a:tailEnd type="triangle" w="med" len="med"/>
            </a:ln>
          </p:spPr>
          <p:txBody>
            <a:bodyPr wrap="none" anchor="ctr"/>
            <a:lstStyle/>
            <a:p>
              <a:endParaRPr lang="zh-CN" altLang="en-US"/>
            </a:p>
          </p:txBody>
        </p:sp>
        <p:graphicFrame>
          <p:nvGraphicFramePr>
            <p:cNvPr id="2051" name="Object 48"/>
            <p:cNvGraphicFramePr>
              <a:graphicFrameLocks noChangeAspect="1"/>
            </p:cNvGraphicFramePr>
            <p:nvPr/>
          </p:nvGraphicFramePr>
          <p:xfrm>
            <a:off x="4434" y="1593"/>
            <a:ext cx="496" cy="394"/>
          </p:xfrm>
          <a:graphic>
            <a:graphicData uri="http://schemas.openxmlformats.org/presentationml/2006/ole">
              <mc:AlternateContent xmlns:mc="http://schemas.openxmlformats.org/markup-compatibility/2006">
                <mc:Choice xmlns:v="urn:schemas-microsoft-com:vml" Requires="v">
                  <p:oleObj spid="_x0000_s2148" name="Clip" r:id="rId6" imgW="1305000" imgH="1085760" progId="MS_ClipArt_Gallery.2">
                    <p:embed/>
                  </p:oleObj>
                </mc:Choice>
                <mc:Fallback>
                  <p:oleObj name="Clip" r:id="rId6" imgW="1305000" imgH="1085760"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4" y="1593"/>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4" name="Text Box 49"/>
            <p:cNvSpPr txBox="1">
              <a:spLocks noChangeArrowheads="1"/>
            </p:cNvSpPr>
            <p:nvPr/>
          </p:nvSpPr>
          <p:spPr bwMode="auto">
            <a:xfrm>
              <a:off x="4251" y="1184"/>
              <a:ext cx="915" cy="442"/>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Web client</a:t>
              </a:r>
            </a:p>
            <a:p>
              <a:r>
                <a:rPr lang="en-US" altLang="zh-CN" sz="2000" b="1">
                  <a:solidFill>
                    <a:schemeClr val="bg1"/>
                  </a:solidFill>
                  <a:latin typeface="Arial" pitchFamily="34" charset="0"/>
                </a:rPr>
                <a:t>host C</a:t>
              </a:r>
              <a:endParaRPr lang="en-US" altLang="zh-CN" sz="2400" b="1">
                <a:solidFill>
                  <a:schemeClr val="bg1"/>
                </a:solidFill>
                <a:latin typeface="Arial" pitchFamily="34" charset="0"/>
              </a:endParaRPr>
            </a:p>
          </p:txBody>
        </p:sp>
        <p:sp>
          <p:nvSpPr>
            <p:cNvPr id="2065" name="Line 50"/>
            <p:cNvSpPr>
              <a:spLocks noChangeShapeType="1"/>
            </p:cNvSpPr>
            <p:nvPr/>
          </p:nvSpPr>
          <p:spPr bwMode="auto">
            <a:xfrm>
              <a:off x="4812" y="2002"/>
              <a:ext cx="0" cy="1218"/>
            </a:xfrm>
            <a:prstGeom prst="line">
              <a:avLst/>
            </a:prstGeom>
            <a:noFill/>
            <a:ln w="28575">
              <a:solidFill>
                <a:srgbClr val="FF0000"/>
              </a:solidFill>
              <a:round/>
              <a:headEnd/>
              <a:tailEnd type="triangle" w="med" len="med"/>
            </a:ln>
          </p:spPr>
          <p:txBody>
            <a:bodyPr wrap="none" anchor="ctr"/>
            <a:lstStyle/>
            <a:p>
              <a:endParaRPr lang="zh-CN" altLang="en-US"/>
            </a:p>
          </p:txBody>
        </p:sp>
        <p:sp>
          <p:nvSpPr>
            <p:cNvPr id="2066" name="Line 51"/>
            <p:cNvSpPr>
              <a:spLocks noChangeShapeType="1"/>
            </p:cNvSpPr>
            <p:nvPr/>
          </p:nvSpPr>
          <p:spPr bwMode="auto">
            <a:xfrm flipH="1">
              <a:off x="4572" y="2002"/>
              <a:ext cx="6" cy="1224"/>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067" name="Group 52"/>
            <p:cNvGrpSpPr>
              <a:grpSpLocks/>
            </p:cNvGrpSpPr>
            <p:nvPr/>
          </p:nvGrpSpPr>
          <p:grpSpPr bwMode="auto">
            <a:xfrm>
              <a:off x="4727" y="2115"/>
              <a:ext cx="1033" cy="926"/>
              <a:chOff x="4631" y="1985"/>
              <a:chExt cx="957" cy="926"/>
            </a:xfrm>
          </p:grpSpPr>
          <p:sp>
            <p:nvSpPr>
              <p:cNvPr id="2083" name="Rectangle 53"/>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84" name="Text Box 54"/>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C</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85" name="Line 55"/>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86" name="Line 56"/>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87" name="Line 57"/>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88" name="Line 58"/>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grpSp>
          <p:nvGrpSpPr>
            <p:cNvPr id="2068" name="Group 59"/>
            <p:cNvGrpSpPr>
              <a:grpSpLocks/>
            </p:cNvGrpSpPr>
            <p:nvPr/>
          </p:nvGrpSpPr>
          <p:grpSpPr bwMode="auto">
            <a:xfrm>
              <a:off x="3648" y="2109"/>
              <a:ext cx="1046" cy="926"/>
              <a:chOff x="4631" y="1985"/>
              <a:chExt cx="957" cy="926"/>
            </a:xfrm>
          </p:grpSpPr>
          <p:sp>
            <p:nvSpPr>
              <p:cNvPr id="2077" name="Rectangle 60"/>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78" name="Text Box 61"/>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C</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y</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79" name="Line 62"/>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80" name="Line 63"/>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81" name="Line 64"/>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82" name="Line 65"/>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sp>
          <p:nvSpPr>
            <p:cNvPr id="2069" name="Text Box 66"/>
            <p:cNvSpPr txBox="1">
              <a:spLocks noChangeArrowheads="1"/>
            </p:cNvSpPr>
            <p:nvPr/>
          </p:nvSpPr>
          <p:spPr bwMode="auto">
            <a:xfrm>
              <a:off x="3987" y="3848"/>
              <a:ext cx="1709" cy="250"/>
            </a:xfrm>
            <a:prstGeom prst="rect">
              <a:avLst/>
            </a:prstGeom>
            <a:noFill/>
            <a:ln w="9525">
              <a:noFill/>
              <a:miter lim="800000"/>
              <a:headEnd/>
              <a:tailEnd/>
            </a:ln>
          </p:spPr>
          <p:txBody>
            <a:bodyPr wrap="none">
              <a:spAutoFit/>
            </a:bodyPr>
            <a:lstStyle/>
            <a:p>
              <a:r>
                <a:rPr lang="en-US" altLang="zh-CN" sz="2000" b="1">
                  <a:solidFill>
                    <a:schemeClr val="tx1"/>
                  </a:solidFill>
                  <a:latin typeface="Arial" pitchFamily="34" charset="0"/>
                </a:rPr>
                <a:t>port use: Web </a:t>
              </a:r>
              <a:r>
                <a:rPr lang="zh-CN" altLang="en-US" sz="2000" b="1">
                  <a:solidFill>
                    <a:schemeClr val="tx1"/>
                  </a:solidFill>
                  <a:latin typeface="Arial" pitchFamily="34" charset="0"/>
                </a:rPr>
                <a:t>服务器</a:t>
              </a:r>
            </a:p>
          </p:txBody>
        </p:sp>
        <p:grpSp>
          <p:nvGrpSpPr>
            <p:cNvPr id="2070" name="Group 67"/>
            <p:cNvGrpSpPr>
              <a:grpSpLocks/>
            </p:cNvGrpSpPr>
            <p:nvPr/>
          </p:nvGrpSpPr>
          <p:grpSpPr bwMode="auto">
            <a:xfrm>
              <a:off x="2705" y="3201"/>
              <a:ext cx="991" cy="926"/>
              <a:chOff x="4631" y="1985"/>
              <a:chExt cx="957" cy="926"/>
            </a:xfrm>
          </p:grpSpPr>
          <p:sp>
            <p:nvSpPr>
              <p:cNvPr id="2071" name="Rectangle 68"/>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72" name="Text Box 69"/>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A</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73" name="Line 70"/>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74" name="Line 71"/>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75" name="Line 72"/>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76" name="Line 73"/>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grpSp>
      <p:sp>
        <p:nvSpPr>
          <p:cNvPr id="820298" name="Text Box 74"/>
          <p:cNvSpPr txBox="1">
            <a:spLocks noChangeArrowheads="1"/>
          </p:cNvSpPr>
          <p:nvPr/>
        </p:nvSpPr>
        <p:spPr bwMode="auto">
          <a:xfrm>
            <a:off x="7007225" y="1406526"/>
            <a:ext cx="3105150" cy="519113"/>
          </a:xfrm>
          <a:prstGeom prst="rect">
            <a:avLst/>
          </a:prstGeom>
          <a:noFill/>
          <a:ln w="9525">
            <a:noFill/>
            <a:miter lim="800000"/>
            <a:headEnd/>
            <a:tailEnd/>
          </a:ln>
        </p:spPr>
        <p:txBody>
          <a:bodyPr>
            <a:spAutoFit/>
          </a:bodyPr>
          <a:lstStyle/>
          <a:p>
            <a:pPr algn="l">
              <a:spcBef>
                <a:spcPct val="50000"/>
              </a:spcBef>
            </a:pPr>
            <a:r>
              <a:rPr lang="zh-CN" altLang="en-US" b="1">
                <a:solidFill>
                  <a:schemeClr val="hlink"/>
                </a:solidFill>
              </a:rPr>
              <a:t>多路复用一个端口</a:t>
            </a:r>
            <a:r>
              <a:rPr lang="zh-CN" altLang="en-US">
                <a:solidFill>
                  <a:schemeClr val="hlink"/>
                </a:solidFill>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0298">
                                            <p:txEl>
                                              <p:pRg st="0" end="0"/>
                                            </p:txEl>
                                          </p:spTgt>
                                        </p:tgtEl>
                                        <p:attrNameLst>
                                          <p:attrName>style.visibility</p:attrName>
                                        </p:attrNameLst>
                                      </p:cBhvr>
                                      <p:to>
                                        <p:strVal val="visible"/>
                                      </p:to>
                                    </p:set>
                                    <p:anim calcmode="lin" valueType="num">
                                      <p:cBhvr additive="base">
                                        <p:cTn id="13" dur="500" fill="hold"/>
                                        <p:tgtEl>
                                          <p:spTgt spid="82029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202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98"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34" name="Group 339"/>
          <p:cNvGrpSpPr>
            <a:grpSpLocks/>
          </p:cNvGrpSpPr>
          <p:nvPr/>
        </p:nvGrpSpPr>
        <p:grpSpPr bwMode="auto">
          <a:xfrm>
            <a:off x="3447459" y="203616"/>
            <a:ext cx="5502275" cy="6515100"/>
            <a:chOff x="-3" y="-3"/>
            <a:chExt cx="3394" cy="14917"/>
          </a:xfrm>
        </p:grpSpPr>
        <p:grpSp>
          <p:nvGrpSpPr>
            <p:cNvPr id="18436" name="Group 337"/>
            <p:cNvGrpSpPr>
              <a:grpSpLocks/>
            </p:cNvGrpSpPr>
            <p:nvPr/>
          </p:nvGrpSpPr>
          <p:grpSpPr bwMode="auto">
            <a:xfrm>
              <a:off x="0" y="0"/>
              <a:ext cx="3388" cy="14911"/>
              <a:chOff x="0" y="0"/>
              <a:chExt cx="3388" cy="14911"/>
            </a:xfrm>
          </p:grpSpPr>
          <p:grpSp>
            <p:nvGrpSpPr>
              <p:cNvPr id="18438" name="Group 116"/>
              <p:cNvGrpSpPr>
                <a:grpSpLocks/>
              </p:cNvGrpSpPr>
              <p:nvPr/>
            </p:nvGrpSpPr>
            <p:grpSpPr bwMode="auto">
              <a:xfrm>
                <a:off x="0" y="0"/>
                <a:ext cx="890" cy="403"/>
                <a:chOff x="0" y="0"/>
                <a:chExt cx="890" cy="403"/>
              </a:xfrm>
            </p:grpSpPr>
            <p:sp>
              <p:nvSpPr>
                <p:cNvPr id="18769" name="Rectangle 4"/>
                <p:cNvSpPr>
                  <a:spLocks noChangeArrowheads="1"/>
                </p:cNvSpPr>
                <p:nvPr/>
              </p:nvSpPr>
              <p:spPr bwMode="auto">
                <a:xfrm>
                  <a:off x="43" y="0"/>
                  <a:ext cx="804" cy="403"/>
                </a:xfrm>
                <a:prstGeom prst="rect">
                  <a:avLst/>
                </a:prstGeom>
                <a:noFill/>
                <a:ln w="9525">
                  <a:noFill/>
                  <a:miter lim="800000"/>
                  <a:headEnd/>
                  <a:tailEnd/>
                </a:ln>
              </p:spPr>
              <p:txBody>
                <a:bodyPr/>
                <a:lstStyle/>
                <a:p>
                  <a:pPr eaLnBrk="1" hangingPunct="1"/>
                  <a:r>
                    <a:rPr kumimoji="1" lang="zh-CN" altLang="en-US" sz="1200">
                      <a:solidFill>
                        <a:srgbClr val="000000"/>
                      </a:solidFill>
                    </a:rPr>
                    <a:t>端口号</a:t>
                  </a:r>
                  <a:r>
                    <a:rPr kumimoji="1" lang="zh-CN" altLang="en-US" sz="1000">
                      <a:solidFill>
                        <a:srgbClr val="000000"/>
                      </a:solidFill>
                    </a:rPr>
                    <a:t>（十进制）</a:t>
                  </a:r>
                  <a:endParaRPr kumimoji="1" lang="zh-CN" altLang="en-US" sz="1200">
                    <a:solidFill>
                      <a:srgbClr val="000000"/>
                    </a:solidFill>
                  </a:endParaRPr>
                </a:p>
                <a:p>
                  <a:endParaRPr kumimoji="1" lang="en-US" altLang="zh-CN" sz="2400">
                    <a:solidFill>
                      <a:schemeClr val="tx1"/>
                    </a:solidFill>
                  </a:endParaRPr>
                </a:p>
              </p:txBody>
            </p:sp>
            <p:sp>
              <p:nvSpPr>
                <p:cNvPr id="18770" name="Rectangle 115"/>
                <p:cNvSpPr>
                  <a:spLocks noChangeArrowheads="1"/>
                </p:cNvSpPr>
                <p:nvPr/>
              </p:nvSpPr>
              <p:spPr bwMode="auto">
                <a:xfrm>
                  <a:off x="0" y="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39" name="Group 118"/>
              <p:cNvGrpSpPr>
                <a:grpSpLocks/>
              </p:cNvGrpSpPr>
              <p:nvPr/>
            </p:nvGrpSpPr>
            <p:grpSpPr bwMode="auto">
              <a:xfrm>
                <a:off x="890" y="0"/>
                <a:ext cx="1144" cy="403"/>
                <a:chOff x="890" y="0"/>
                <a:chExt cx="1144" cy="403"/>
              </a:xfrm>
            </p:grpSpPr>
            <p:sp>
              <p:nvSpPr>
                <p:cNvPr id="18767" name="Rectangle 5"/>
                <p:cNvSpPr>
                  <a:spLocks noChangeArrowheads="1"/>
                </p:cNvSpPr>
                <p:nvPr/>
              </p:nvSpPr>
              <p:spPr bwMode="auto">
                <a:xfrm>
                  <a:off x="933" y="0"/>
                  <a:ext cx="1058" cy="403"/>
                </a:xfrm>
                <a:prstGeom prst="rect">
                  <a:avLst/>
                </a:prstGeom>
                <a:noFill/>
                <a:ln w="9525">
                  <a:noFill/>
                  <a:miter lim="800000"/>
                  <a:headEnd/>
                  <a:tailEnd/>
                </a:ln>
              </p:spPr>
              <p:txBody>
                <a:bodyPr/>
                <a:lstStyle/>
                <a:p>
                  <a:pPr algn="l" eaLnBrk="1" hangingPunct="1"/>
                  <a:r>
                    <a:rPr kumimoji="1" lang="zh-CN" altLang="en-US" sz="1200">
                      <a:solidFill>
                        <a:srgbClr val="000000"/>
                      </a:solidFill>
                    </a:rPr>
                    <a:t>关键字</a:t>
                  </a:r>
                </a:p>
                <a:p>
                  <a:pPr algn="l"/>
                  <a:endParaRPr kumimoji="1" lang="en-US" altLang="zh-CN" sz="2400">
                    <a:solidFill>
                      <a:schemeClr val="tx1"/>
                    </a:solidFill>
                  </a:endParaRPr>
                </a:p>
              </p:txBody>
            </p:sp>
            <p:sp>
              <p:nvSpPr>
                <p:cNvPr id="18768" name="Rectangle 117"/>
                <p:cNvSpPr>
                  <a:spLocks noChangeArrowheads="1"/>
                </p:cNvSpPr>
                <p:nvPr/>
              </p:nvSpPr>
              <p:spPr bwMode="auto">
                <a:xfrm>
                  <a:off x="890" y="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0" name="Group 120"/>
              <p:cNvGrpSpPr>
                <a:grpSpLocks/>
              </p:cNvGrpSpPr>
              <p:nvPr/>
            </p:nvGrpSpPr>
            <p:grpSpPr bwMode="auto">
              <a:xfrm>
                <a:off x="2034" y="0"/>
                <a:ext cx="1354" cy="403"/>
                <a:chOff x="2034" y="0"/>
                <a:chExt cx="1354" cy="403"/>
              </a:xfrm>
            </p:grpSpPr>
            <p:sp>
              <p:nvSpPr>
                <p:cNvPr id="18765" name="Rectangle 6"/>
                <p:cNvSpPr>
                  <a:spLocks noChangeArrowheads="1"/>
                </p:cNvSpPr>
                <p:nvPr/>
              </p:nvSpPr>
              <p:spPr bwMode="auto">
                <a:xfrm>
                  <a:off x="2077" y="0"/>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协议</a:t>
                  </a:r>
                </a:p>
                <a:p>
                  <a:pPr algn="l"/>
                  <a:endParaRPr kumimoji="1" lang="en-US" altLang="zh-CN" sz="2400">
                    <a:solidFill>
                      <a:schemeClr val="tx1"/>
                    </a:solidFill>
                  </a:endParaRPr>
                </a:p>
              </p:txBody>
            </p:sp>
            <p:sp>
              <p:nvSpPr>
                <p:cNvPr id="18766" name="Rectangle 119"/>
                <p:cNvSpPr>
                  <a:spLocks noChangeArrowheads="1"/>
                </p:cNvSpPr>
                <p:nvPr/>
              </p:nvSpPr>
              <p:spPr bwMode="auto">
                <a:xfrm>
                  <a:off x="2034" y="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1" name="Group 122"/>
              <p:cNvGrpSpPr>
                <a:grpSpLocks/>
              </p:cNvGrpSpPr>
              <p:nvPr/>
            </p:nvGrpSpPr>
            <p:grpSpPr bwMode="auto">
              <a:xfrm>
                <a:off x="0" y="403"/>
                <a:ext cx="890" cy="403"/>
                <a:chOff x="0" y="403"/>
                <a:chExt cx="890" cy="403"/>
              </a:xfrm>
            </p:grpSpPr>
            <p:sp>
              <p:nvSpPr>
                <p:cNvPr id="18763" name="Rectangle 7"/>
                <p:cNvSpPr>
                  <a:spLocks noChangeArrowheads="1"/>
                </p:cNvSpPr>
                <p:nvPr/>
              </p:nvSpPr>
              <p:spPr bwMode="auto">
                <a:xfrm>
                  <a:off x="43" y="40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a:t>
                  </a:r>
                </a:p>
                <a:p>
                  <a:pPr algn="l"/>
                  <a:endParaRPr kumimoji="1" lang="en-US" altLang="zh-CN" sz="2400">
                    <a:solidFill>
                      <a:schemeClr val="tx1"/>
                    </a:solidFill>
                  </a:endParaRPr>
                </a:p>
              </p:txBody>
            </p:sp>
            <p:sp>
              <p:nvSpPr>
                <p:cNvPr id="18764" name="Rectangle 121"/>
                <p:cNvSpPr>
                  <a:spLocks noChangeArrowheads="1"/>
                </p:cNvSpPr>
                <p:nvPr/>
              </p:nvSpPr>
              <p:spPr bwMode="auto">
                <a:xfrm>
                  <a:off x="0" y="40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2" name="Group 124"/>
              <p:cNvGrpSpPr>
                <a:grpSpLocks/>
              </p:cNvGrpSpPr>
              <p:nvPr/>
            </p:nvGrpSpPr>
            <p:grpSpPr bwMode="auto">
              <a:xfrm>
                <a:off x="890" y="403"/>
                <a:ext cx="1144" cy="403"/>
                <a:chOff x="890" y="403"/>
                <a:chExt cx="1144" cy="403"/>
              </a:xfrm>
            </p:grpSpPr>
            <p:sp>
              <p:nvSpPr>
                <p:cNvPr id="18761" name="Rectangle 8"/>
                <p:cNvSpPr>
                  <a:spLocks noChangeArrowheads="1"/>
                </p:cNvSpPr>
                <p:nvPr/>
              </p:nvSpPr>
              <p:spPr bwMode="auto">
                <a:xfrm>
                  <a:off x="933" y="40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TCPNUX</a:t>
                  </a:r>
                </a:p>
                <a:p>
                  <a:pPr algn="l"/>
                  <a:endParaRPr kumimoji="1" lang="en-US" altLang="zh-CN" sz="2400">
                    <a:solidFill>
                      <a:schemeClr val="tx1"/>
                    </a:solidFill>
                  </a:endParaRPr>
                </a:p>
              </p:txBody>
            </p:sp>
            <p:sp>
              <p:nvSpPr>
                <p:cNvPr id="18762" name="Rectangle 123"/>
                <p:cNvSpPr>
                  <a:spLocks noChangeArrowheads="1"/>
                </p:cNvSpPr>
                <p:nvPr/>
              </p:nvSpPr>
              <p:spPr bwMode="auto">
                <a:xfrm>
                  <a:off x="890" y="40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3" name="Group 126"/>
              <p:cNvGrpSpPr>
                <a:grpSpLocks/>
              </p:cNvGrpSpPr>
              <p:nvPr/>
            </p:nvGrpSpPr>
            <p:grpSpPr bwMode="auto">
              <a:xfrm>
                <a:off x="2034" y="403"/>
                <a:ext cx="1354" cy="403"/>
                <a:chOff x="2034" y="403"/>
                <a:chExt cx="1354" cy="403"/>
              </a:xfrm>
            </p:grpSpPr>
            <p:sp>
              <p:nvSpPr>
                <p:cNvPr id="18759" name="Rectangle 9"/>
                <p:cNvSpPr>
                  <a:spLocks noChangeArrowheads="1"/>
                </p:cNvSpPr>
                <p:nvPr/>
              </p:nvSpPr>
              <p:spPr bwMode="auto">
                <a:xfrm>
                  <a:off x="2077" y="40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TCP</a:t>
                  </a:r>
                  <a:r>
                    <a:rPr kumimoji="1" lang="zh-CN" altLang="en-US" sz="1200">
                      <a:solidFill>
                        <a:srgbClr val="000000"/>
                      </a:solidFill>
                    </a:rPr>
                    <a:t>端口服务多路复用</a:t>
                  </a:r>
                </a:p>
                <a:p>
                  <a:pPr algn="l"/>
                  <a:endParaRPr kumimoji="1" lang="en-US" altLang="zh-CN" sz="2400">
                    <a:solidFill>
                      <a:schemeClr val="tx1"/>
                    </a:solidFill>
                  </a:endParaRPr>
                </a:p>
              </p:txBody>
            </p:sp>
            <p:sp>
              <p:nvSpPr>
                <p:cNvPr id="18760" name="Rectangle 125"/>
                <p:cNvSpPr>
                  <a:spLocks noChangeArrowheads="1"/>
                </p:cNvSpPr>
                <p:nvPr/>
              </p:nvSpPr>
              <p:spPr bwMode="auto">
                <a:xfrm>
                  <a:off x="2034" y="40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4" name="Group 128"/>
              <p:cNvGrpSpPr>
                <a:grpSpLocks/>
              </p:cNvGrpSpPr>
              <p:nvPr/>
            </p:nvGrpSpPr>
            <p:grpSpPr bwMode="auto">
              <a:xfrm>
                <a:off x="0" y="806"/>
                <a:ext cx="890" cy="403"/>
                <a:chOff x="0" y="806"/>
                <a:chExt cx="890" cy="403"/>
              </a:xfrm>
            </p:grpSpPr>
            <p:sp>
              <p:nvSpPr>
                <p:cNvPr id="18757" name="Rectangle 10"/>
                <p:cNvSpPr>
                  <a:spLocks noChangeArrowheads="1"/>
                </p:cNvSpPr>
                <p:nvPr/>
              </p:nvSpPr>
              <p:spPr bwMode="auto">
                <a:xfrm>
                  <a:off x="43" y="80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a:t>
                  </a:r>
                </a:p>
                <a:p>
                  <a:pPr algn="l"/>
                  <a:endParaRPr kumimoji="1" lang="en-US" altLang="zh-CN" sz="2400">
                    <a:solidFill>
                      <a:schemeClr val="tx1"/>
                    </a:solidFill>
                  </a:endParaRPr>
                </a:p>
              </p:txBody>
            </p:sp>
            <p:sp>
              <p:nvSpPr>
                <p:cNvPr id="18758" name="Rectangle 127"/>
                <p:cNvSpPr>
                  <a:spLocks noChangeArrowheads="1"/>
                </p:cNvSpPr>
                <p:nvPr/>
              </p:nvSpPr>
              <p:spPr bwMode="auto">
                <a:xfrm>
                  <a:off x="0" y="80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5" name="Group 130"/>
              <p:cNvGrpSpPr>
                <a:grpSpLocks/>
              </p:cNvGrpSpPr>
              <p:nvPr/>
            </p:nvGrpSpPr>
            <p:grpSpPr bwMode="auto">
              <a:xfrm>
                <a:off x="890" y="806"/>
                <a:ext cx="1144" cy="403"/>
                <a:chOff x="890" y="806"/>
                <a:chExt cx="1144" cy="403"/>
              </a:xfrm>
            </p:grpSpPr>
            <p:sp>
              <p:nvSpPr>
                <p:cNvPr id="18755" name="Rectangle 11"/>
                <p:cNvSpPr>
                  <a:spLocks noChangeArrowheads="1"/>
                </p:cNvSpPr>
                <p:nvPr/>
              </p:nvSpPr>
              <p:spPr bwMode="auto">
                <a:xfrm>
                  <a:off x="933" y="80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RJE</a:t>
                  </a:r>
                </a:p>
                <a:p>
                  <a:pPr algn="l"/>
                  <a:endParaRPr kumimoji="1" lang="en-US" altLang="zh-CN" sz="2400">
                    <a:solidFill>
                      <a:schemeClr val="tx1"/>
                    </a:solidFill>
                  </a:endParaRPr>
                </a:p>
              </p:txBody>
            </p:sp>
            <p:sp>
              <p:nvSpPr>
                <p:cNvPr id="18756" name="Rectangle 129"/>
                <p:cNvSpPr>
                  <a:spLocks noChangeArrowheads="1"/>
                </p:cNvSpPr>
                <p:nvPr/>
              </p:nvSpPr>
              <p:spPr bwMode="auto">
                <a:xfrm>
                  <a:off x="890" y="80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6" name="Group 132"/>
              <p:cNvGrpSpPr>
                <a:grpSpLocks/>
              </p:cNvGrpSpPr>
              <p:nvPr/>
            </p:nvGrpSpPr>
            <p:grpSpPr bwMode="auto">
              <a:xfrm>
                <a:off x="2034" y="806"/>
                <a:ext cx="1354" cy="403"/>
                <a:chOff x="2034" y="806"/>
                <a:chExt cx="1354" cy="403"/>
              </a:xfrm>
            </p:grpSpPr>
            <p:sp>
              <p:nvSpPr>
                <p:cNvPr id="18753" name="Rectangle 12"/>
                <p:cNvSpPr>
                  <a:spLocks noChangeArrowheads="1"/>
                </p:cNvSpPr>
                <p:nvPr/>
              </p:nvSpPr>
              <p:spPr bwMode="auto">
                <a:xfrm>
                  <a:off x="2077" y="806"/>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远程作业录入</a:t>
                  </a:r>
                </a:p>
                <a:p>
                  <a:pPr algn="l"/>
                  <a:endParaRPr kumimoji="1" lang="en-US" altLang="zh-CN" sz="2400">
                    <a:solidFill>
                      <a:schemeClr val="tx1"/>
                    </a:solidFill>
                  </a:endParaRPr>
                </a:p>
              </p:txBody>
            </p:sp>
            <p:sp>
              <p:nvSpPr>
                <p:cNvPr id="18754" name="Rectangle 131"/>
                <p:cNvSpPr>
                  <a:spLocks noChangeArrowheads="1"/>
                </p:cNvSpPr>
                <p:nvPr/>
              </p:nvSpPr>
              <p:spPr bwMode="auto">
                <a:xfrm>
                  <a:off x="2034" y="80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7" name="Group 134"/>
              <p:cNvGrpSpPr>
                <a:grpSpLocks/>
              </p:cNvGrpSpPr>
              <p:nvPr/>
            </p:nvGrpSpPr>
            <p:grpSpPr bwMode="auto">
              <a:xfrm>
                <a:off x="0" y="1209"/>
                <a:ext cx="890" cy="403"/>
                <a:chOff x="0" y="1209"/>
                <a:chExt cx="890" cy="403"/>
              </a:xfrm>
            </p:grpSpPr>
            <p:sp>
              <p:nvSpPr>
                <p:cNvPr id="18751" name="Rectangle 13"/>
                <p:cNvSpPr>
                  <a:spLocks noChangeArrowheads="1"/>
                </p:cNvSpPr>
                <p:nvPr/>
              </p:nvSpPr>
              <p:spPr bwMode="auto">
                <a:xfrm>
                  <a:off x="43" y="120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a:t>
                  </a:r>
                </a:p>
                <a:p>
                  <a:pPr algn="l"/>
                  <a:endParaRPr kumimoji="1" lang="en-US" altLang="zh-CN" sz="2400">
                    <a:solidFill>
                      <a:schemeClr val="tx1"/>
                    </a:solidFill>
                  </a:endParaRPr>
                </a:p>
              </p:txBody>
            </p:sp>
            <p:sp>
              <p:nvSpPr>
                <p:cNvPr id="18752" name="Rectangle 133"/>
                <p:cNvSpPr>
                  <a:spLocks noChangeArrowheads="1"/>
                </p:cNvSpPr>
                <p:nvPr/>
              </p:nvSpPr>
              <p:spPr bwMode="auto">
                <a:xfrm>
                  <a:off x="0" y="120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8" name="Group 136"/>
              <p:cNvGrpSpPr>
                <a:grpSpLocks/>
              </p:cNvGrpSpPr>
              <p:nvPr/>
            </p:nvGrpSpPr>
            <p:grpSpPr bwMode="auto">
              <a:xfrm>
                <a:off x="890" y="1209"/>
                <a:ext cx="1144" cy="403"/>
                <a:chOff x="890" y="1209"/>
                <a:chExt cx="1144" cy="403"/>
              </a:xfrm>
            </p:grpSpPr>
            <p:sp>
              <p:nvSpPr>
                <p:cNvPr id="18749" name="Rectangle 14"/>
                <p:cNvSpPr>
                  <a:spLocks noChangeArrowheads="1"/>
                </p:cNvSpPr>
                <p:nvPr/>
              </p:nvSpPr>
              <p:spPr bwMode="auto">
                <a:xfrm>
                  <a:off x="933" y="120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ECH </a:t>
                  </a:r>
                </a:p>
                <a:p>
                  <a:pPr algn="l"/>
                  <a:endParaRPr kumimoji="1" lang="en-US" altLang="zh-CN" sz="2400">
                    <a:solidFill>
                      <a:schemeClr val="tx1"/>
                    </a:solidFill>
                  </a:endParaRPr>
                </a:p>
              </p:txBody>
            </p:sp>
            <p:sp>
              <p:nvSpPr>
                <p:cNvPr id="18750" name="Rectangle 135"/>
                <p:cNvSpPr>
                  <a:spLocks noChangeArrowheads="1"/>
                </p:cNvSpPr>
                <p:nvPr/>
              </p:nvSpPr>
              <p:spPr bwMode="auto">
                <a:xfrm>
                  <a:off x="890" y="120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9" name="Group 138"/>
              <p:cNvGrpSpPr>
                <a:grpSpLocks/>
              </p:cNvGrpSpPr>
              <p:nvPr/>
            </p:nvGrpSpPr>
            <p:grpSpPr bwMode="auto">
              <a:xfrm>
                <a:off x="2034" y="1209"/>
                <a:ext cx="1354" cy="403"/>
                <a:chOff x="2034" y="1209"/>
                <a:chExt cx="1354" cy="403"/>
              </a:xfrm>
            </p:grpSpPr>
            <p:sp>
              <p:nvSpPr>
                <p:cNvPr id="18747" name="Rectangle 15"/>
                <p:cNvSpPr>
                  <a:spLocks noChangeArrowheads="1"/>
                </p:cNvSpPr>
                <p:nvPr/>
              </p:nvSpPr>
              <p:spPr bwMode="auto">
                <a:xfrm>
                  <a:off x="2077" y="120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回显协议</a:t>
                  </a:r>
                </a:p>
                <a:p>
                  <a:pPr algn="l"/>
                  <a:endParaRPr kumimoji="1" lang="en-US" altLang="zh-CN" sz="2400">
                    <a:solidFill>
                      <a:schemeClr val="tx1"/>
                    </a:solidFill>
                  </a:endParaRPr>
                </a:p>
              </p:txBody>
            </p:sp>
            <p:sp>
              <p:nvSpPr>
                <p:cNvPr id="18748" name="Rectangle 137"/>
                <p:cNvSpPr>
                  <a:spLocks noChangeArrowheads="1"/>
                </p:cNvSpPr>
                <p:nvPr/>
              </p:nvSpPr>
              <p:spPr bwMode="auto">
                <a:xfrm>
                  <a:off x="2034" y="120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0" name="Group 140"/>
              <p:cNvGrpSpPr>
                <a:grpSpLocks/>
              </p:cNvGrpSpPr>
              <p:nvPr/>
            </p:nvGrpSpPr>
            <p:grpSpPr bwMode="auto">
              <a:xfrm>
                <a:off x="0" y="1612"/>
                <a:ext cx="890" cy="403"/>
                <a:chOff x="0" y="1612"/>
                <a:chExt cx="890" cy="403"/>
              </a:xfrm>
            </p:grpSpPr>
            <p:sp>
              <p:nvSpPr>
                <p:cNvPr id="18745" name="Rectangle 16"/>
                <p:cNvSpPr>
                  <a:spLocks noChangeArrowheads="1"/>
                </p:cNvSpPr>
                <p:nvPr/>
              </p:nvSpPr>
              <p:spPr bwMode="auto">
                <a:xfrm>
                  <a:off x="43" y="161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a:t>
                  </a:r>
                </a:p>
                <a:p>
                  <a:pPr algn="l"/>
                  <a:endParaRPr kumimoji="1" lang="en-US" altLang="zh-CN" sz="2400">
                    <a:solidFill>
                      <a:schemeClr val="tx1"/>
                    </a:solidFill>
                  </a:endParaRPr>
                </a:p>
              </p:txBody>
            </p:sp>
            <p:sp>
              <p:nvSpPr>
                <p:cNvPr id="18746" name="Rectangle 139"/>
                <p:cNvSpPr>
                  <a:spLocks noChangeArrowheads="1"/>
                </p:cNvSpPr>
                <p:nvPr/>
              </p:nvSpPr>
              <p:spPr bwMode="auto">
                <a:xfrm>
                  <a:off x="0" y="161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1" name="Group 142"/>
              <p:cNvGrpSpPr>
                <a:grpSpLocks/>
              </p:cNvGrpSpPr>
              <p:nvPr/>
            </p:nvGrpSpPr>
            <p:grpSpPr bwMode="auto">
              <a:xfrm>
                <a:off x="890" y="1612"/>
                <a:ext cx="1144" cy="403"/>
                <a:chOff x="890" y="1612"/>
                <a:chExt cx="1144" cy="403"/>
              </a:xfrm>
            </p:grpSpPr>
            <p:sp>
              <p:nvSpPr>
                <p:cNvPr id="18743" name="Rectangle 17"/>
                <p:cNvSpPr>
                  <a:spLocks noChangeArrowheads="1"/>
                </p:cNvSpPr>
                <p:nvPr/>
              </p:nvSpPr>
              <p:spPr bwMode="auto">
                <a:xfrm>
                  <a:off x="933" y="161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DAYTIME</a:t>
                  </a:r>
                </a:p>
                <a:p>
                  <a:pPr algn="l"/>
                  <a:endParaRPr kumimoji="1" lang="en-US" altLang="zh-CN" sz="2400">
                    <a:solidFill>
                      <a:schemeClr val="tx1"/>
                    </a:solidFill>
                  </a:endParaRPr>
                </a:p>
              </p:txBody>
            </p:sp>
            <p:sp>
              <p:nvSpPr>
                <p:cNvPr id="18744" name="Rectangle 141"/>
                <p:cNvSpPr>
                  <a:spLocks noChangeArrowheads="1"/>
                </p:cNvSpPr>
                <p:nvPr/>
              </p:nvSpPr>
              <p:spPr bwMode="auto">
                <a:xfrm>
                  <a:off x="890" y="161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2" name="Group 144"/>
              <p:cNvGrpSpPr>
                <a:grpSpLocks/>
              </p:cNvGrpSpPr>
              <p:nvPr/>
            </p:nvGrpSpPr>
            <p:grpSpPr bwMode="auto">
              <a:xfrm>
                <a:off x="2034" y="1612"/>
                <a:ext cx="1354" cy="403"/>
                <a:chOff x="2034" y="1612"/>
                <a:chExt cx="1354" cy="403"/>
              </a:xfrm>
            </p:grpSpPr>
            <p:sp>
              <p:nvSpPr>
                <p:cNvPr id="18741" name="Rectangle 18"/>
                <p:cNvSpPr>
                  <a:spLocks noChangeArrowheads="1"/>
                </p:cNvSpPr>
                <p:nvPr/>
              </p:nvSpPr>
              <p:spPr bwMode="auto">
                <a:xfrm>
                  <a:off x="2077" y="161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日、时间协议</a:t>
                  </a:r>
                </a:p>
                <a:p>
                  <a:pPr algn="l"/>
                  <a:endParaRPr kumimoji="1" lang="en-US" altLang="zh-CN" sz="2400">
                    <a:solidFill>
                      <a:schemeClr val="tx1"/>
                    </a:solidFill>
                  </a:endParaRPr>
                </a:p>
              </p:txBody>
            </p:sp>
            <p:sp>
              <p:nvSpPr>
                <p:cNvPr id="18742" name="Rectangle 143"/>
                <p:cNvSpPr>
                  <a:spLocks noChangeArrowheads="1"/>
                </p:cNvSpPr>
                <p:nvPr/>
              </p:nvSpPr>
              <p:spPr bwMode="auto">
                <a:xfrm>
                  <a:off x="2034" y="161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3" name="Group 146"/>
              <p:cNvGrpSpPr>
                <a:grpSpLocks/>
              </p:cNvGrpSpPr>
              <p:nvPr/>
            </p:nvGrpSpPr>
            <p:grpSpPr bwMode="auto">
              <a:xfrm>
                <a:off x="0" y="2015"/>
                <a:ext cx="890" cy="403"/>
                <a:chOff x="0" y="2015"/>
                <a:chExt cx="890" cy="403"/>
              </a:xfrm>
            </p:grpSpPr>
            <p:sp>
              <p:nvSpPr>
                <p:cNvPr id="18739" name="Rectangle 19"/>
                <p:cNvSpPr>
                  <a:spLocks noChangeArrowheads="1"/>
                </p:cNvSpPr>
                <p:nvPr/>
              </p:nvSpPr>
              <p:spPr bwMode="auto">
                <a:xfrm>
                  <a:off x="43" y="201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37</a:t>
                  </a:r>
                </a:p>
                <a:p>
                  <a:pPr algn="l"/>
                  <a:endParaRPr kumimoji="1" lang="en-US" altLang="zh-CN" sz="2400">
                    <a:solidFill>
                      <a:schemeClr val="tx1"/>
                    </a:solidFill>
                  </a:endParaRPr>
                </a:p>
              </p:txBody>
            </p:sp>
            <p:sp>
              <p:nvSpPr>
                <p:cNvPr id="18740" name="Rectangle 145"/>
                <p:cNvSpPr>
                  <a:spLocks noChangeArrowheads="1"/>
                </p:cNvSpPr>
                <p:nvPr/>
              </p:nvSpPr>
              <p:spPr bwMode="auto">
                <a:xfrm>
                  <a:off x="0" y="201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4" name="Group 148"/>
              <p:cNvGrpSpPr>
                <a:grpSpLocks/>
              </p:cNvGrpSpPr>
              <p:nvPr/>
            </p:nvGrpSpPr>
            <p:grpSpPr bwMode="auto">
              <a:xfrm>
                <a:off x="890" y="2015"/>
                <a:ext cx="1144" cy="403"/>
                <a:chOff x="890" y="2015"/>
                <a:chExt cx="1144" cy="403"/>
              </a:xfrm>
            </p:grpSpPr>
            <p:sp>
              <p:nvSpPr>
                <p:cNvPr id="18737" name="Rectangle 20"/>
                <p:cNvSpPr>
                  <a:spLocks noChangeArrowheads="1"/>
                </p:cNvSpPr>
                <p:nvPr/>
              </p:nvSpPr>
              <p:spPr bwMode="auto">
                <a:xfrm>
                  <a:off x="933" y="201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TIME</a:t>
                  </a:r>
                </a:p>
                <a:p>
                  <a:pPr algn="l"/>
                  <a:endParaRPr kumimoji="1" lang="en-US" altLang="zh-CN" sz="2400">
                    <a:solidFill>
                      <a:schemeClr val="tx1"/>
                    </a:solidFill>
                  </a:endParaRPr>
                </a:p>
              </p:txBody>
            </p:sp>
            <p:sp>
              <p:nvSpPr>
                <p:cNvPr id="18738" name="Rectangle 147"/>
                <p:cNvSpPr>
                  <a:spLocks noChangeArrowheads="1"/>
                </p:cNvSpPr>
                <p:nvPr/>
              </p:nvSpPr>
              <p:spPr bwMode="auto">
                <a:xfrm>
                  <a:off x="890" y="201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5" name="Group 150"/>
              <p:cNvGrpSpPr>
                <a:grpSpLocks/>
              </p:cNvGrpSpPr>
              <p:nvPr/>
            </p:nvGrpSpPr>
            <p:grpSpPr bwMode="auto">
              <a:xfrm>
                <a:off x="2034" y="2015"/>
                <a:ext cx="1354" cy="403"/>
                <a:chOff x="2034" y="2015"/>
                <a:chExt cx="1354" cy="403"/>
              </a:xfrm>
            </p:grpSpPr>
            <p:sp>
              <p:nvSpPr>
                <p:cNvPr id="18735" name="Rectangle 21"/>
                <p:cNvSpPr>
                  <a:spLocks noChangeArrowheads="1"/>
                </p:cNvSpPr>
                <p:nvPr/>
              </p:nvSpPr>
              <p:spPr bwMode="auto">
                <a:xfrm>
                  <a:off x="2077" y="201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时间协议</a:t>
                  </a:r>
                </a:p>
                <a:p>
                  <a:pPr algn="l"/>
                  <a:endParaRPr kumimoji="1" lang="en-US" altLang="zh-CN" sz="2400">
                    <a:solidFill>
                      <a:schemeClr val="tx1"/>
                    </a:solidFill>
                  </a:endParaRPr>
                </a:p>
              </p:txBody>
            </p:sp>
            <p:sp>
              <p:nvSpPr>
                <p:cNvPr id="18736" name="Rectangle 149"/>
                <p:cNvSpPr>
                  <a:spLocks noChangeArrowheads="1"/>
                </p:cNvSpPr>
                <p:nvPr/>
              </p:nvSpPr>
              <p:spPr bwMode="auto">
                <a:xfrm>
                  <a:off x="2034" y="201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6" name="Group 152"/>
              <p:cNvGrpSpPr>
                <a:grpSpLocks/>
              </p:cNvGrpSpPr>
              <p:nvPr/>
            </p:nvGrpSpPr>
            <p:grpSpPr bwMode="auto">
              <a:xfrm>
                <a:off x="0" y="2418"/>
                <a:ext cx="890" cy="403"/>
                <a:chOff x="0" y="2418"/>
                <a:chExt cx="890" cy="403"/>
              </a:xfrm>
            </p:grpSpPr>
            <p:sp>
              <p:nvSpPr>
                <p:cNvPr id="18733" name="Rectangle 22"/>
                <p:cNvSpPr>
                  <a:spLocks noChangeArrowheads="1"/>
                </p:cNvSpPr>
                <p:nvPr/>
              </p:nvSpPr>
              <p:spPr bwMode="auto">
                <a:xfrm>
                  <a:off x="43" y="241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20</a:t>
                  </a:r>
                </a:p>
                <a:p>
                  <a:pPr algn="l"/>
                  <a:endParaRPr kumimoji="1" lang="en-US" altLang="zh-CN" sz="2400">
                    <a:solidFill>
                      <a:schemeClr val="tx1"/>
                    </a:solidFill>
                  </a:endParaRPr>
                </a:p>
              </p:txBody>
            </p:sp>
            <p:sp>
              <p:nvSpPr>
                <p:cNvPr id="18734" name="Rectangle 151"/>
                <p:cNvSpPr>
                  <a:spLocks noChangeArrowheads="1"/>
                </p:cNvSpPr>
                <p:nvPr/>
              </p:nvSpPr>
              <p:spPr bwMode="auto">
                <a:xfrm>
                  <a:off x="0" y="241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7" name="Group 154"/>
              <p:cNvGrpSpPr>
                <a:grpSpLocks/>
              </p:cNvGrpSpPr>
              <p:nvPr/>
            </p:nvGrpSpPr>
            <p:grpSpPr bwMode="auto">
              <a:xfrm>
                <a:off x="890" y="2418"/>
                <a:ext cx="1144" cy="403"/>
                <a:chOff x="890" y="2418"/>
                <a:chExt cx="1144" cy="403"/>
              </a:xfrm>
            </p:grpSpPr>
            <p:sp>
              <p:nvSpPr>
                <p:cNvPr id="18731" name="Rectangle 23"/>
                <p:cNvSpPr>
                  <a:spLocks noChangeArrowheads="1"/>
                </p:cNvSpPr>
                <p:nvPr/>
              </p:nvSpPr>
              <p:spPr bwMode="auto">
                <a:xfrm>
                  <a:off x="933" y="241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FTP-DATA</a:t>
                  </a:r>
                </a:p>
                <a:p>
                  <a:pPr algn="l"/>
                  <a:endParaRPr kumimoji="1" lang="en-US" altLang="zh-CN" sz="2400">
                    <a:solidFill>
                      <a:schemeClr val="tx1"/>
                    </a:solidFill>
                  </a:endParaRPr>
                </a:p>
              </p:txBody>
            </p:sp>
            <p:sp>
              <p:nvSpPr>
                <p:cNvPr id="18732" name="Rectangle 153"/>
                <p:cNvSpPr>
                  <a:spLocks noChangeArrowheads="1"/>
                </p:cNvSpPr>
                <p:nvPr/>
              </p:nvSpPr>
              <p:spPr bwMode="auto">
                <a:xfrm>
                  <a:off x="890" y="241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8" name="Group 156"/>
              <p:cNvGrpSpPr>
                <a:grpSpLocks/>
              </p:cNvGrpSpPr>
              <p:nvPr/>
            </p:nvGrpSpPr>
            <p:grpSpPr bwMode="auto">
              <a:xfrm>
                <a:off x="2034" y="2418"/>
                <a:ext cx="1354" cy="403"/>
                <a:chOff x="2034" y="2418"/>
                <a:chExt cx="1354" cy="403"/>
              </a:xfrm>
            </p:grpSpPr>
            <p:sp>
              <p:nvSpPr>
                <p:cNvPr id="18729" name="Rectangle 24"/>
                <p:cNvSpPr>
                  <a:spLocks noChangeArrowheads="1"/>
                </p:cNvSpPr>
                <p:nvPr/>
              </p:nvSpPr>
              <p:spPr bwMode="auto">
                <a:xfrm>
                  <a:off x="2077" y="2418"/>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文件传输协议（数据）</a:t>
                  </a:r>
                </a:p>
                <a:p>
                  <a:pPr algn="l"/>
                  <a:endParaRPr kumimoji="1" lang="en-US" altLang="zh-CN" sz="2400">
                    <a:solidFill>
                      <a:schemeClr val="tx1"/>
                    </a:solidFill>
                  </a:endParaRPr>
                </a:p>
              </p:txBody>
            </p:sp>
            <p:sp>
              <p:nvSpPr>
                <p:cNvPr id="18730" name="Rectangle 155"/>
                <p:cNvSpPr>
                  <a:spLocks noChangeArrowheads="1"/>
                </p:cNvSpPr>
                <p:nvPr/>
              </p:nvSpPr>
              <p:spPr bwMode="auto">
                <a:xfrm>
                  <a:off x="2034" y="241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9" name="Group 158"/>
              <p:cNvGrpSpPr>
                <a:grpSpLocks/>
              </p:cNvGrpSpPr>
              <p:nvPr/>
            </p:nvGrpSpPr>
            <p:grpSpPr bwMode="auto">
              <a:xfrm>
                <a:off x="0" y="2821"/>
                <a:ext cx="890" cy="403"/>
                <a:chOff x="0" y="2821"/>
                <a:chExt cx="890" cy="403"/>
              </a:xfrm>
            </p:grpSpPr>
            <p:sp>
              <p:nvSpPr>
                <p:cNvPr id="18727" name="Rectangle 25"/>
                <p:cNvSpPr>
                  <a:spLocks noChangeArrowheads="1"/>
                </p:cNvSpPr>
                <p:nvPr/>
              </p:nvSpPr>
              <p:spPr bwMode="auto">
                <a:xfrm>
                  <a:off x="43" y="282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21</a:t>
                  </a:r>
                </a:p>
                <a:p>
                  <a:pPr algn="l"/>
                  <a:endParaRPr kumimoji="1" lang="en-US" altLang="zh-CN" sz="2400">
                    <a:solidFill>
                      <a:schemeClr val="tx1"/>
                    </a:solidFill>
                  </a:endParaRPr>
                </a:p>
              </p:txBody>
            </p:sp>
            <p:sp>
              <p:nvSpPr>
                <p:cNvPr id="18728" name="Rectangle 157"/>
                <p:cNvSpPr>
                  <a:spLocks noChangeArrowheads="1"/>
                </p:cNvSpPr>
                <p:nvPr/>
              </p:nvSpPr>
              <p:spPr bwMode="auto">
                <a:xfrm>
                  <a:off x="0" y="282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0" name="Group 160"/>
              <p:cNvGrpSpPr>
                <a:grpSpLocks/>
              </p:cNvGrpSpPr>
              <p:nvPr/>
            </p:nvGrpSpPr>
            <p:grpSpPr bwMode="auto">
              <a:xfrm>
                <a:off x="890" y="2821"/>
                <a:ext cx="1144" cy="403"/>
                <a:chOff x="890" y="2821"/>
                <a:chExt cx="1144" cy="403"/>
              </a:xfrm>
            </p:grpSpPr>
            <p:sp>
              <p:nvSpPr>
                <p:cNvPr id="18725" name="Rectangle 26"/>
                <p:cNvSpPr>
                  <a:spLocks noChangeArrowheads="1"/>
                </p:cNvSpPr>
                <p:nvPr/>
              </p:nvSpPr>
              <p:spPr bwMode="auto">
                <a:xfrm>
                  <a:off x="933" y="282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FTP-CONTROL</a:t>
                  </a:r>
                </a:p>
                <a:p>
                  <a:pPr algn="l"/>
                  <a:endParaRPr kumimoji="1" lang="en-US" altLang="zh-CN" sz="2400">
                    <a:solidFill>
                      <a:schemeClr val="tx1"/>
                    </a:solidFill>
                  </a:endParaRPr>
                </a:p>
              </p:txBody>
            </p:sp>
            <p:sp>
              <p:nvSpPr>
                <p:cNvPr id="18726" name="Rectangle 159"/>
                <p:cNvSpPr>
                  <a:spLocks noChangeArrowheads="1"/>
                </p:cNvSpPr>
                <p:nvPr/>
              </p:nvSpPr>
              <p:spPr bwMode="auto">
                <a:xfrm>
                  <a:off x="890" y="282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1" name="Group 162"/>
              <p:cNvGrpSpPr>
                <a:grpSpLocks/>
              </p:cNvGrpSpPr>
              <p:nvPr/>
            </p:nvGrpSpPr>
            <p:grpSpPr bwMode="auto">
              <a:xfrm>
                <a:off x="2034" y="2821"/>
                <a:ext cx="1354" cy="403"/>
                <a:chOff x="2034" y="2821"/>
                <a:chExt cx="1354" cy="403"/>
              </a:xfrm>
            </p:grpSpPr>
            <p:sp>
              <p:nvSpPr>
                <p:cNvPr id="18723" name="Rectangle 27"/>
                <p:cNvSpPr>
                  <a:spLocks noChangeArrowheads="1"/>
                </p:cNvSpPr>
                <p:nvPr/>
              </p:nvSpPr>
              <p:spPr bwMode="auto">
                <a:xfrm>
                  <a:off x="2077" y="2821"/>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文件传输协议（控制）</a:t>
                  </a:r>
                </a:p>
                <a:p>
                  <a:pPr algn="l"/>
                  <a:endParaRPr kumimoji="1" lang="en-US" altLang="zh-CN" sz="2400">
                    <a:solidFill>
                      <a:schemeClr val="tx1"/>
                    </a:solidFill>
                  </a:endParaRPr>
                </a:p>
              </p:txBody>
            </p:sp>
            <p:sp>
              <p:nvSpPr>
                <p:cNvPr id="18724" name="Rectangle 161"/>
                <p:cNvSpPr>
                  <a:spLocks noChangeArrowheads="1"/>
                </p:cNvSpPr>
                <p:nvPr/>
              </p:nvSpPr>
              <p:spPr bwMode="auto">
                <a:xfrm>
                  <a:off x="2034" y="282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2" name="Group 164"/>
              <p:cNvGrpSpPr>
                <a:grpSpLocks/>
              </p:cNvGrpSpPr>
              <p:nvPr/>
            </p:nvGrpSpPr>
            <p:grpSpPr bwMode="auto">
              <a:xfrm>
                <a:off x="0" y="3224"/>
                <a:ext cx="890" cy="403"/>
                <a:chOff x="0" y="3224"/>
                <a:chExt cx="890" cy="403"/>
              </a:xfrm>
            </p:grpSpPr>
            <p:sp>
              <p:nvSpPr>
                <p:cNvPr id="18721" name="Rectangle 28"/>
                <p:cNvSpPr>
                  <a:spLocks noChangeArrowheads="1"/>
                </p:cNvSpPr>
                <p:nvPr/>
              </p:nvSpPr>
              <p:spPr bwMode="auto">
                <a:xfrm>
                  <a:off x="43" y="322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69</a:t>
                  </a:r>
                </a:p>
                <a:p>
                  <a:pPr algn="l"/>
                  <a:endParaRPr kumimoji="1" lang="en-US" altLang="zh-CN" sz="2400">
                    <a:solidFill>
                      <a:schemeClr val="tx1"/>
                    </a:solidFill>
                  </a:endParaRPr>
                </a:p>
              </p:txBody>
            </p:sp>
            <p:sp>
              <p:nvSpPr>
                <p:cNvPr id="18722" name="Rectangle 163"/>
                <p:cNvSpPr>
                  <a:spLocks noChangeArrowheads="1"/>
                </p:cNvSpPr>
                <p:nvPr/>
              </p:nvSpPr>
              <p:spPr bwMode="auto">
                <a:xfrm>
                  <a:off x="0" y="322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3" name="Group 166"/>
              <p:cNvGrpSpPr>
                <a:grpSpLocks/>
              </p:cNvGrpSpPr>
              <p:nvPr/>
            </p:nvGrpSpPr>
            <p:grpSpPr bwMode="auto">
              <a:xfrm>
                <a:off x="890" y="3224"/>
                <a:ext cx="1144" cy="403"/>
                <a:chOff x="890" y="3224"/>
                <a:chExt cx="1144" cy="403"/>
              </a:xfrm>
            </p:grpSpPr>
            <p:sp>
              <p:nvSpPr>
                <p:cNvPr id="18719" name="Rectangle 29"/>
                <p:cNvSpPr>
                  <a:spLocks noChangeArrowheads="1"/>
                </p:cNvSpPr>
                <p:nvPr/>
              </p:nvSpPr>
              <p:spPr bwMode="auto">
                <a:xfrm>
                  <a:off x="933" y="322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TFTP</a:t>
                  </a:r>
                </a:p>
                <a:p>
                  <a:pPr algn="l"/>
                  <a:endParaRPr kumimoji="1" lang="en-US" altLang="zh-CN" sz="2400">
                    <a:solidFill>
                      <a:schemeClr val="tx1"/>
                    </a:solidFill>
                  </a:endParaRPr>
                </a:p>
              </p:txBody>
            </p:sp>
            <p:sp>
              <p:nvSpPr>
                <p:cNvPr id="18720" name="Rectangle 165"/>
                <p:cNvSpPr>
                  <a:spLocks noChangeArrowheads="1"/>
                </p:cNvSpPr>
                <p:nvPr/>
              </p:nvSpPr>
              <p:spPr bwMode="auto">
                <a:xfrm>
                  <a:off x="890" y="322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4" name="Group 168"/>
              <p:cNvGrpSpPr>
                <a:grpSpLocks/>
              </p:cNvGrpSpPr>
              <p:nvPr/>
            </p:nvGrpSpPr>
            <p:grpSpPr bwMode="auto">
              <a:xfrm>
                <a:off x="2034" y="3224"/>
                <a:ext cx="1354" cy="403"/>
                <a:chOff x="2034" y="3224"/>
                <a:chExt cx="1354" cy="403"/>
              </a:xfrm>
            </p:grpSpPr>
            <p:sp>
              <p:nvSpPr>
                <p:cNvPr id="18717" name="Rectangle 30"/>
                <p:cNvSpPr>
                  <a:spLocks noChangeArrowheads="1"/>
                </p:cNvSpPr>
                <p:nvPr/>
              </p:nvSpPr>
              <p:spPr bwMode="auto">
                <a:xfrm>
                  <a:off x="2077" y="3224"/>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简单文件传输协议</a:t>
                  </a:r>
                </a:p>
                <a:p>
                  <a:pPr algn="l"/>
                  <a:endParaRPr kumimoji="1" lang="en-US" altLang="zh-CN" sz="2400">
                    <a:solidFill>
                      <a:schemeClr val="tx1"/>
                    </a:solidFill>
                  </a:endParaRPr>
                </a:p>
              </p:txBody>
            </p:sp>
            <p:sp>
              <p:nvSpPr>
                <p:cNvPr id="18718" name="Rectangle 167"/>
                <p:cNvSpPr>
                  <a:spLocks noChangeArrowheads="1"/>
                </p:cNvSpPr>
                <p:nvPr/>
              </p:nvSpPr>
              <p:spPr bwMode="auto">
                <a:xfrm>
                  <a:off x="2034" y="322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5" name="Group 170"/>
              <p:cNvGrpSpPr>
                <a:grpSpLocks/>
              </p:cNvGrpSpPr>
              <p:nvPr/>
            </p:nvGrpSpPr>
            <p:grpSpPr bwMode="auto">
              <a:xfrm>
                <a:off x="0" y="3627"/>
                <a:ext cx="890" cy="403"/>
                <a:chOff x="0" y="3627"/>
                <a:chExt cx="890" cy="403"/>
              </a:xfrm>
            </p:grpSpPr>
            <p:sp>
              <p:nvSpPr>
                <p:cNvPr id="18715" name="Rectangle 31"/>
                <p:cNvSpPr>
                  <a:spLocks noChangeArrowheads="1"/>
                </p:cNvSpPr>
                <p:nvPr/>
              </p:nvSpPr>
              <p:spPr bwMode="auto">
                <a:xfrm>
                  <a:off x="43" y="362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23</a:t>
                  </a:r>
                </a:p>
                <a:p>
                  <a:pPr algn="l"/>
                  <a:endParaRPr kumimoji="1" lang="en-US" altLang="zh-CN" sz="2400">
                    <a:solidFill>
                      <a:schemeClr val="tx1"/>
                    </a:solidFill>
                  </a:endParaRPr>
                </a:p>
              </p:txBody>
            </p:sp>
            <p:sp>
              <p:nvSpPr>
                <p:cNvPr id="18716" name="Rectangle 169"/>
                <p:cNvSpPr>
                  <a:spLocks noChangeArrowheads="1"/>
                </p:cNvSpPr>
                <p:nvPr/>
              </p:nvSpPr>
              <p:spPr bwMode="auto">
                <a:xfrm>
                  <a:off x="0" y="362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6" name="Group 172"/>
              <p:cNvGrpSpPr>
                <a:grpSpLocks/>
              </p:cNvGrpSpPr>
              <p:nvPr/>
            </p:nvGrpSpPr>
            <p:grpSpPr bwMode="auto">
              <a:xfrm>
                <a:off x="890" y="3627"/>
                <a:ext cx="1144" cy="403"/>
                <a:chOff x="890" y="3627"/>
                <a:chExt cx="1144" cy="403"/>
              </a:xfrm>
            </p:grpSpPr>
            <p:sp>
              <p:nvSpPr>
                <p:cNvPr id="18713" name="Rectangle 32"/>
                <p:cNvSpPr>
                  <a:spLocks noChangeArrowheads="1"/>
                </p:cNvSpPr>
                <p:nvPr/>
              </p:nvSpPr>
              <p:spPr bwMode="auto">
                <a:xfrm>
                  <a:off x="933" y="362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TELNET</a:t>
                  </a:r>
                </a:p>
                <a:p>
                  <a:pPr algn="l"/>
                  <a:endParaRPr kumimoji="1" lang="en-US" altLang="zh-CN" sz="2400">
                    <a:solidFill>
                      <a:schemeClr val="tx1"/>
                    </a:solidFill>
                  </a:endParaRPr>
                </a:p>
              </p:txBody>
            </p:sp>
            <p:sp>
              <p:nvSpPr>
                <p:cNvPr id="18714" name="Rectangle 171"/>
                <p:cNvSpPr>
                  <a:spLocks noChangeArrowheads="1"/>
                </p:cNvSpPr>
                <p:nvPr/>
              </p:nvSpPr>
              <p:spPr bwMode="auto">
                <a:xfrm>
                  <a:off x="890" y="362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7" name="Group 174"/>
              <p:cNvGrpSpPr>
                <a:grpSpLocks/>
              </p:cNvGrpSpPr>
              <p:nvPr/>
            </p:nvGrpSpPr>
            <p:grpSpPr bwMode="auto">
              <a:xfrm>
                <a:off x="2034" y="3627"/>
                <a:ext cx="1354" cy="403"/>
                <a:chOff x="2034" y="3627"/>
                <a:chExt cx="1354" cy="403"/>
              </a:xfrm>
            </p:grpSpPr>
            <p:sp>
              <p:nvSpPr>
                <p:cNvPr id="18711" name="Rectangle 33"/>
                <p:cNvSpPr>
                  <a:spLocks noChangeArrowheads="1"/>
                </p:cNvSpPr>
                <p:nvPr/>
              </p:nvSpPr>
              <p:spPr bwMode="auto">
                <a:xfrm>
                  <a:off x="2077" y="3627"/>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远程终端协议</a:t>
                  </a:r>
                </a:p>
                <a:p>
                  <a:pPr algn="l"/>
                  <a:endParaRPr kumimoji="1" lang="en-US" altLang="zh-CN" sz="2400">
                    <a:solidFill>
                      <a:schemeClr val="tx1"/>
                    </a:solidFill>
                  </a:endParaRPr>
                </a:p>
              </p:txBody>
            </p:sp>
            <p:sp>
              <p:nvSpPr>
                <p:cNvPr id="18712" name="Rectangle 173"/>
                <p:cNvSpPr>
                  <a:spLocks noChangeArrowheads="1"/>
                </p:cNvSpPr>
                <p:nvPr/>
              </p:nvSpPr>
              <p:spPr bwMode="auto">
                <a:xfrm>
                  <a:off x="2034" y="362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8" name="Group 176"/>
              <p:cNvGrpSpPr>
                <a:grpSpLocks/>
              </p:cNvGrpSpPr>
              <p:nvPr/>
            </p:nvGrpSpPr>
            <p:grpSpPr bwMode="auto">
              <a:xfrm>
                <a:off x="0" y="4030"/>
                <a:ext cx="890" cy="403"/>
                <a:chOff x="0" y="4030"/>
                <a:chExt cx="890" cy="403"/>
              </a:xfrm>
            </p:grpSpPr>
            <p:sp>
              <p:nvSpPr>
                <p:cNvPr id="18709" name="Rectangle 34"/>
                <p:cNvSpPr>
                  <a:spLocks noChangeArrowheads="1"/>
                </p:cNvSpPr>
                <p:nvPr/>
              </p:nvSpPr>
              <p:spPr bwMode="auto">
                <a:xfrm>
                  <a:off x="43" y="403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25</a:t>
                  </a:r>
                </a:p>
                <a:p>
                  <a:pPr algn="l"/>
                  <a:endParaRPr kumimoji="1" lang="en-US" altLang="zh-CN" sz="2400">
                    <a:solidFill>
                      <a:schemeClr val="tx1"/>
                    </a:solidFill>
                  </a:endParaRPr>
                </a:p>
              </p:txBody>
            </p:sp>
            <p:sp>
              <p:nvSpPr>
                <p:cNvPr id="18710" name="Rectangle 175"/>
                <p:cNvSpPr>
                  <a:spLocks noChangeArrowheads="1"/>
                </p:cNvSpPr>
                <p:nvPr/>
              </p:nvSpPr>
              <p:spPr bwMode="auto">
                <a:xfrm>
                  <a:off x="0" y="403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9" name="Group 178"/>
              <p:cNvGrpSpPr>
                <a:grpSpLocks/>
              </p:cNvGrpSpPr>
              <p:nvPr/>
            </p:nvGrpSpPr>
            <p:grpSpPr bwMode="auto">
              <a:xfrm>
                <a:off x="890" y="4030"/>
                <a:ext cx="1144" cy="403"/>
                <a:chOff x="890" y="4030"/>
                <a:chExt cx="1144" cy="403"/>
              </a:xfrm>
            </p:grpSpPr>
            <p:sp>
              <p:nvSpPr>
                <p:cNvPr id="18707" name="Rectangle 35"/>
                <p:cNvSpPr>
                  <a:spLocks noChangeArrowheads="1"/>
                </p:cNvSpPr>
                <p:nvPr/>
              </p:nvSpPr>
              <p:spPr bwMode="auto">
                <a:xfrm>
                  <a:off x="933" y="403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SMTP</a:t>
                  </a:r>
                </a:p>
                <a:p>
                  <a:pPr algn="l"/>
                  <a:endParaRPr kumimoji="1" lang="en-US" altLang="zh-CN" sz="2400">
                    <a:solidFill>
                      <a:schemeClr val="tx1"/>
                    </a:solidFill>
                  </a:endParaRPr>
                </a:p>
              </p:txBody>
            </p:sp>
            <p:sp>
              <p:nvSpPr>
                <p:cNvPr id="18708" name="Rectangle 177"/>
                <p:cNvSpPr>
                  <a:spLocks noChangeArrowheads="1"/>
                </p:cNvSpPr>
                <p:nvPr/>
              </p:nvSpPr>
              <p:spPr bwMode="auto">
                <a:xfrm>
                  <a:off x="890" y="403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0" name="Group 180"/>
              <p:cNvGrpSpPr>
                <a:grpSpLocks/>
              </p:cNvGrpSpPr>
              <p:nvPr/>
            </p:nvGrpSpPr>
            <p:grpSpPr bwMode="auto">
              <a:xfrm>
                <a:off x="2034" y="4030"/>
                <a:ext cx="1354" cy="403"/>
                <a:chOff x="2034" y="4030"/>
                <a:chExt cx="1354" cy="403"/>
              </a:xfrm>
            </p:grpSpPr>
            <p:sp>
              <p:nvSpPr>
                <p:cNvPr id="18705" name="Rectangle 36"/>
                <p:cNvSpPr>
                  <a:spLocks noChangeArrowheads="1"/>
                </p:cNvSpPr>
                <p:nvPr/>
              </p:nvSpPr>
              <p:spPr bwMode="auto">
                <a:xfrm>
                  <a:off x="2077" y="4030"/>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简单邮件传递协议</a:t>
                  </a:r>
                </a:p>
                <a:p>
                  <a:pPr algn="l"/>
                  <a:endParaRPr kumimoji="1" lang="en-US" altLang="zh-CN" sz="2400">
                    <a:solidFill>
                      <a:schemeClr val="tx1"/>
                    </a:solidFill>
                  </a:endParaRPr>
                </a:p>
              </p:txBody>
            </p:sp>
            <p:sp>
              <p:nvSpPr>
                <p:cNvPr id="18706" name="Rectangle 179"/>
                <p:cNvSpPr>
                  <a:spLocks noChangeArrowheads="1"/>
                </p:cNvSpPr>
                <p:nvPr/>
              </p:nvSpPr>
              <p:spPr bwMode="auto">
                <a:xfrm>
                  <a:off x="2034" y="403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1" name="Group 182"/>
              <p:cNvGrpSpPr>
                <a:grpSpLocks/>
              </p:cNvGrpSpPr>
              <p:nvPr/>
            </p:nvGrpSpPr>
            <p:grpSpPr bwMode="auto">
              <a:xfrm>
                <a:off x="0" y="4433"/>
                <a:ext cx="890" cy="403"/>
                <a:chOff x="0" y="4433"/>
                <a:chExt cx="890" cy="403"/>
              </a:xfrm>
            </p:grpSpPr>
            <p:sp>
              <p:nvSpPr>
                <p:cNvPr id="18703" name="Rectangle 37"/>
                <p:cNvSpPr>
                  <a:spLocks noChangeArrowheads="1"/>
                </p:cNvSpPr>
                <p:nvPr/>
              </p:nvSpPr>
              <p:spPr bwMode="auto">
                <a:xfrm>
                  <a:off x="43" y="443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109</a:t>
                  </a:r>
                </a:p>
                <a:p>
                  <a:pPr algn="l"/>
                  <a:endParaRPr kumimoji="1" lang="en-US" altLang="zh-CN" sz="2400">
                    <a:solidFill>
                      <a:schemeClr val="tx1"/>
                    </a:solidFill>
                  </a:endParaRPr>
                </a:p>
              </p:txBody>
            </p:sp>
            <p:sp>
              <p:nvSpPr>
                <p:cNvPr id="18704" name="Rectangle 181"/>
                <p:cNvSpPr>
                  <a:spLocks noChangeArrowheads="1"/>
                </p:cNvSpPr>
                <p:nvPr/>
              </p:nvSpPr>
              <p:spPr bwMode="auto">
                <a:xfrm>
                  <a:off x="0" y="443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2" name="Group 184"/>
              <p:cNvGrpSpPr>
                <a:grpSpLocks/>
              </p:cNvGrpSpPr>
              <p:nvPr/>
            </p:nvGrpSpPr>
            <p:grpSpPr bwMode="auto">
              <a:xfrm>
                <a:off x="890" y="4433"/>
                <a:ext cx="1144" cy="403"/>
                <a:chOff x="890" y="4433"/>
                <a:chExt cx="1144" cy="403"/>
              </a:xfrm>
            </p:grpSpPr>
            <p:sp>
              <p:nvSpPr>
                <p:cNvPr id="18701" name="Rectangle 38"/>
                <p:cNvSpPr>
                  <a:spLocks noChangeArrowheads="1"/>
                </p:cNvSpPr>
                <p:nvPr/>
              </p:nvSpPr>
              <p:spPr bwMode="auto">
                <a:xfrm>
                  <a:off x="933" y="443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POP2</a:t>
                  </a:r>
                </a:p>
                <a:p>
                  <a:pPr algn="l"/>
                  <a:endParaRPr kumimoji="1" lang="en-US" altLang="zh-CN" sz="2400">
                    <a:solidFill>
                      <a:schemeClr val="tx1"/>
                    </a:solidFill>
                  </a:endParaRPr>
                </a:p>
              </p:txBody>
            </p:sp>
            <p:sp>
              <p:nvSpPr>
                <p:cNvPr id="18702" name="Rectangle 183"/>
                <p:cNvSpPr>
                  <a:spLocks noChangeArrowheads="1"/>
                </p:cNvSpPr>
                <p:nvPr/>
              </p:nvSpPr>
              <p:spPr bwMode="auto">
                <a:xfrm>
                  <a:off x="890" y="443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3" name="Group 186"/>
              <p:cNvGrpSpPr>
                <a:grpSpLocks/>
              </p:cNvGrpSpPr>
              <p:nvPr/>
            </p:nvGrpSpPr>
            <p:grpSpPr bwMode="auto">
              <a:xfrm>
                <a:off x="2034" y="4433"/>
                <a:ext cx="1354" cy="403"/>
                <a:chOff x="2034" y="4433"/>
                <a:chExt cx="1354" cy="403"/>
              </a:xfrm>
            </p:grpSpPr>
            <p:sp>
              <p:nvSpPr>
                <p:cNvPr id="18699" name="Rectangle 39"/>
                <p:cNvSpPr>
                  <a:spLocks noChangeArrowheads="1"/>
                </p:cNvSpPr>
                <p:nvPr/>
              </p:nvSpPr>
              <p:spPr bwMode="auto">
                <a:xfrm>
                  <a:off x="2077" y="4433"/>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邮局协议</a:t>
                  </a:r>
                  <a:r>
                    <a:rPr kumimoji="1" lang="en-US" altLang="zh-CN" sz="1200">
                      <a:solidFill>
                        <a:srgbClr val="000000"/>
                      </a:solidFill>
                    </a:rPr>
                    <a:t>2</a:t>
                  </a:r>
                </a:p>
                <a:p>
                  <a:pPr algn="l"/>
                  <a:endParaRPr kumimoji="1" lang="en-US" altLang="zh-CN" sz="2400">
                    <a:solidFill>
                      <a:schemeClr val="tx1"/>
                    </a:solidFill>
                  </a:endParaRPr>
                </a:p>
              </p:txBody>
            </p:sp>
            <p:sp>
              <p:nvSpPr>
                <p:cNvPr id="18700" name="Rectangle 185"/>
                <p:cNvSpPr>
                  <a:spLocks noChangeArrowheads="1"/>
                </p:cNvSpPr>
                <p:nvPr/>
              </p:nvSpPr>
              <p:spPr bwMode="auto">
                <a:xfrm>
                  <a:off x="2034" y="443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4" name="Group 188"/>
              <p:cNvGrpSpPr>
                <a:grpSpLocks/>
              </p:cNvGrpSpPr>
              <p:nvPr/>
            </p:nvGrpSpPr>
            <p:grpSpPr bwMode="auto">
              <a:xfrm>
                <a:off x="0" y="4836"/>
                <a:ext cx="890" cy="403"/>
                <a:chOff x="0" y="4836"/>
                <a:chExt cx="890" cy="403"/>
              </a:xfrm>
            </p:grpSpPr>
            <p:sp>
              <p:nvSpPr>
                <p:cNvPr id="18697" name="Rectangle 40"/>
                <p:cNvSpPr>
                  <a:spLocks noChangeArrowheads="1"/>
                </p:cNvSpPr>
                <p:nvPr/>
              </p:nvSpPr>
              <p:spPr bwMode="auto">
                <a:xfrm>
                  <a:off x="43" y="483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110</a:t>
                  </a:r>
                </a:p>
                <a:p>
                  <a:pPr algn="l"/>
                  <a:endParaRPr kumimoji="1" lang="en-US" altLang="zh-CN" sz="2400">
                    <a:solidFill>
                      <a:schemeClr val="tx1"/>
                    </a:solidFill>
                  </a:endParaRPr>
                </a:p>
              </p:txBody>
            </p:sp>
            <p:sp>
              <p:nvSpPr>
                <p:cNvPr id="18698" name="Rectangle 187"/>
                <p:cNvSpPr>
                  <a:spLocks noChangeArrowheads="1"/>
                </p:cNvSpPr>
                <p:nvPr/>
              </p:nvSpPr>
              <p:spPr bwMode="auto">
                <a:xfrm>
                  <a:off x="0" y="483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5" name="Group 190"/>
              <p:cNvGrpSpPr>
                <a:grpSpLocks/>
              </p:cNvGrpSpPr>
              <p:nvPr/>
            </p:nvGrpSpPr>
            <p:grpSpPr bwMode="auto">
              <a:xfrm>
                <a:off x="890" y="4836"/>
                <a:ext cx="1144" cy="403"/>
                <a:chOff x="890" y="4836"/>
                <a:chExt cx="1144" cy="403"/>
              </a:xfrm>
            </p:grpSpPr>
            <p:sp>
              <p:nvSpPr>
                <p:cNvPr id="18695" name="Rectangle 41"/>
                <p:cNvSpPr>
                  <a:spLocks noChangeArrowheads="1"/>
                </p:cNvSpPr>
                <p:nvPr/>
              </p:nvSpPr>
              <p:spPr bwMode="auto">
                <a:xfrm>
                  <a:off x="933" y="483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POP3</a:t>
                  </a:r>
                </a:p>
                <a:p>
                  <a:pPr algn="l"/>
                  <a:endParaRPr kumimoji="1" lang="en-US" altLang="zh-CN" sz="2400">
                    <a:solidFill>
                      <a:schemeClr val="tx1"/>
                    </a:solidFill>
                  </a:endParaRPr>
                </a:p>
              </p:txBody>
            </p:sp>
            <p:sp>
              <p:nvSpPr>
                <p:cNvPr id="18696" name="Rectangle 189"/>
                <p:cNvSpPr>
                  <a:spLocks noChangeArrowheads="1"/>
                </p:cNvSpPr>
                <p:nvPr/>
              </p:nvSpPr>
              <p:spPr bwMode="auto">
                <a:xfrm>
                  <a:off x="890" y="483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6" name="Group 192"/>
              <p:cNvGrpSpPr>
                <a:grpSpLocks/>
              </p:cNvGrpSpPr>
              <p:nvPr/>
            </p:nvGrpSpPr>
            <p:grpSpPr bwMode="auto">
              <a:xfrm>
                <a:off x="2034" y="4836"/>
                <a:ext cx="1354" cy="403"/>
                <a:chOff x="2034" y="4836"/>
                <a:chExt cx="1354" cy="403"/>
              </a:xfrm>
            </p:grpSpPr>
            <p:sp>
              <p:nvSpPr>
                <p:cNvPr id="18693" name="Rectangle 42"/>
                <p:cNvSpPr>
                  <a:spLocks noChangeArrowheads="1"/>
                </p:cNvSpPr>
                <p:nvPr/>
              </p:nvSpPr>
              <p:spPr bwMode="auto">
                <a:xfrm>
                  <a:off x="2077" y="4836"/>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邮局协议</a:t>
                  </a:r>
                  <a:r>
                    <a:rPr kumimoji="1" lang="en-US" altLang="zh-CN" sz="1200">
                      <a:solidFill>
                        <a:srgbClr val="000000"/>
                      </a:solidFill>
                    </a:rPr>
                    <a:t>3</a:t>
                  </a:r>
                </a:p>
                <a:p>
                  <a:pPr algn="l"/>
                  <a:endParaRPr kumimoji="1" lang="en-US" altLang="zh-CN" sz="2400">
                    <a:solidFill>
                      <a:schemeClr val="tx1"/>
                    </a:solidFill>
                  </a:endParaRPr>
                </a:p>
              </p:txBody>
            </p:sp>
            <p:sp>
              <p:nvSpPr>
                <p:cNvPr id="18694" name="Rectangle 191"/>
                <p:cNvSpPr>
                  <a:spLocks noChangeArrowheads="1"/>
                </p:cNvSpPr>
                <p:nvPr/>
              </p:nvSpPr>
              <p:spPr bwMode="auto">
                <a:xfrm>
                  <a:off x="2034" y="483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7" name="Group 194"/>
              <p:cNvGrpSpPr>
                <a:grpSpLocks/>
              </p:cNvGrpSpPr>
              <p:nvPr/>
            </p:nvGrpSpPr>
            <p:grpSpPr bwMode="auto">
              <a:xfrm>
                <a:off x="0" y="5239"/>
                <a:ext cx="890" cy="403"/>
                <a:chOff x="0" y="5239"/>
                <a:chExt cx="890" cy="403"/>
              </a:xfrm>
            </p:grpSpPr>
            <p:sp>
              <p:nvSpPr>
                <p:cNvPr id="18691" name="Rectangle 43"/>
                <p:cNvSpPr>
                  <a:spLocks noChangeArrowheads="1"/>
                </p:cNvSpPr>
                <p:nvPr/>
              </p:nvSpPr>
              <p:spPr bwMode="auto">
                <a:xfrm>
                  <a:off x="43" y="523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143</a:t>
                  </a:r>
                </a:p>
                <a:p>
                  <a:pPr algn="l"/>
                  <a:endParaRPr kumimoji="1" lang="en-US" altLang="zh-CN" sz="2400">
                    <a:solidFill>
                      <a:schemeClr val="tx1"/>
                    </a:solidFill>
                  </a:endParaRPr>
                </a:p>
              </p:txBody>
            </p:sp>
            <p:sp>
              <p:nvSpPr>
                <p:cNvPr id="18692" name="Rectangle 193"/>
                <p:cNvSpPr>
                  <a:spLocks noChangeArrowheads="1"/>
                </p:cNvSpPr>
                <p:nvPr/>
              </p:nvSpPr>
              <p:spPr bwMode="auto">
                <a:xfrm>
                  <a:off x="0" y="523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8" name="Group 196"/>
              <p:cNvGrpSpPr>
                <a:grpSpLocks/>
              </p:cNvGrpSpPr>
              <p:nvPr/>
            </p:nvGrpSpPr>
            <p:grpSpPr bwMode="auto">
              <a:xfrm>
                <a:off x="890" y="5239"/>
                <a:ext cx="1144" cy="403"/>
                <a:chOff x="890" y="5239"/>
                <a:chExt cx="1144" cy="403"/>
              </a:xfrm>
            </p:grpSpPr>
            <p:sp>
              <p:nvSpPr>
                <p:cNvPr id="18689" name="Rectangle 44"/>
                <p:cNvSpPr>
                  <a:spLocks noChangeArrowheads="1"/>
                </p:cNvSpPr>
                <p:nvPr/>
              </p:nvSpPr>
              <p:spPr bwMode="auto">
                <a:xfrm>
                  <a:off x="933" y="523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IMAP</a:t>
                  </a:r>
                </a:p>
                <a:p>
                  <a:pPr algn="l"/>
                  <a:endParaRPr kumimoji="1" lang="en-US" altLang="zh-CN" sz="2400">
                    <a:solidFill>
                      <a:schemeClr val="tx1"/>
                    </a:solidFill>
                  </a:endParaRPr>
                </a:p>
              </p:txBody>
            </p:sp>
            <p:sp>
              <p:nvSpPr>
                <p:cNvPr id="18690" name="Rectangle 195"/>
                <p:cNvSpPr>
                  <a:spLocks noChangeArrowheads="1"/>
                </p:cNvSpPr>
                <p:nvPr/>
              </p:nvSpPr>
              <p:spPr bwMode="auto">
                <a:xfrm>
                  <a:off x="890" y="523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9" name="Group 198"/>
              <p:cNvGrpSpPr>
                <a:grpSpLocks/>
              </p:cNvGrpSpPr>
              <p:nvPr/>
            </p:nvGrpSpPr>
            <p:grpSpPr bwMode="auto">
              <a:xfrm>
                <a:off x="2034" y="5239"/>
                <a:ext cx="1354" cy="403"/>
                <a:chOff x="2034" y="5239"/>
                <a:chExt cx="1354" cy="403"/>
              </a:xfrm>
            </p:grpSpPr>
            <p:sp>
              <p:nvSpPr>
                <p:cNvPr id="18687" name="Rectangle 45"/>
                <p:cNvSpPr>
                  <a:spLocks noChangeArrowheads="1"/>
                </p:cNvSpPr>
                <p:nvPr/>
              </p:nvSpPr>
              <p:spPr bwMode="auto">
                <a:xfrm>
                  <a:off x="2077" y="523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因特网邮件访问协议</a:t>
                  </a:r>
                </a:p>
                <a:p>
                  <a:pPr algn="l"/>
                  <a:endParaRPr kumimoji="1" lang="en-US" altLang="zh-CN" sz="2400">
                    <a:solidFill>
                      <a:schemeClr val="tx1"/>
                    </a:solidFill>
                  </a:endParaRPr>
                </a:p>
              </p:txBody>
            </p:sp>
            <p:sp>
              <p:nvSpPr>
                <p:cNvPr id="18688" name="Rectangle 197"/>
                <p:cNvSpPr>
                  <a:spLocks noChangeArrowheads="1"/>
                </p:cNvSpPr>
                <p:nvPr/>
              </p:nvSpPr>
              <p:spPr bwMode="auto">
                <a:xfrm>
                  <a:off x="2034" y="523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0" name="Group 200"/>
              <p:cNvGrpSpPr>
                <a:grpSpLocks/>
              </p:cNvGrpSpPr>
              <p:nvPr/>
            </p:nvGrpSpPr>
            <p:grpSpPr bwMode="auto">
              <a:xfrm>
                <a:off x="0" y="5642"/>
                <a:ext cx="890" cy="403"/>
                <a:chOff x="0" y="5642"/>
                <a:chExt cx="890" cy="403"/>
              </a:xfrm>
            </p:grpSpPr>
            <p:sp>
              <p:nvSpPr>
                <p:cNvPr id="18685" name="Rectangle 46"/>
                <p:cNvSpPr>
                  <a:spLocks noChangeArrowheads="1"/>
                </p:cNvSpPr>
                <p:nvPr/>
              </p:nvSpPr>
              <p:spPr bwMode="auto">
                <a:xfrm>
                  <a:off x="43" y="564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42</a:t>
                  </a:r>
                </a:p>
                <a:p>
                  <a:pPr algn="l"/>
                  <a:endParaRPr kumimoji="1" lang="en-US" altLang="zh-CN" sz="2400">
                    <a:solidFill>
                      <a:schemeClr val="tx1"/>
                    </a:solidFill>
                  </a:endParaRPr>
                </a:p>
              </p:txBody>
            </p:sp>
            <p:sp>
              <p:nvSpPr>
                <p:cNvPr id="18686" name="Rectangle 199"/>
                <p:cNvSpPr>
                  <a:spLocks noChangeArrowheads="1"/>
                </p:cNvSpPr>
                <p:nvPr/>
              </p:nvSpPr>
              <p:spPr bwMode="auto">
                <a:xfrm>
                  <a:off x="0" y="564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1" name="Group 202"/>
              <p:cNvGrpSpPr>
                <a:grpSpLocks/>
              </p:cNvGrpSpPr>
              <p:nvPr/>
            </p:nvGrpSpPr>
            <p:grpSpPr bwMode="auto">
              <a:xfrm>
                <a:off x="890" y="5642"/>
                <a:ext cx="1144" cy="403"/>
                <a:chOff x="890" y="5642"/>
                <a:chExt cx="1144" cy="403"/>
              </a:xfrm>
            </p:grpSpPr>
            <p:sp>
              <p:nvSpPr>
                <p:cNvPr id="18683" name="Rectangle 47"/>
                <p:cNvSpPr>
                  <a:spLocks noChangeArrowheads="1"/>
                </p:cNvSpPr>
                <p:nvPr/>
              </p:nvSpPr>
              <p:spPr bwMode="auto">
                <a:xfrm>
                  <a:off x="933" y="564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NAMESERVER</a:t>
                  </a:r>
                </a:p>
                <a:p>
                  <a:pPr algn="l"/>
                  <a:endParaRPr kumimoji="1" lang="en-US" altLang="zh-CN" sz="2400">
                    <a:solidFill>
                      <a:schemeClr val="tx1"/>
                    </a:solidFill>
                  </a:endParaRPr>
                </a:p>
              </p:txBody>
            </p:sp>
            <p:sp>
              <p:nvSpPr>
                <p:cNvPr id="18684" name="Rectangle 201"/>
                <p:cNvSpPr>
                  <a:spLocks noChangeArrowheads="1"/>
                </p:cNvSpPr>
                <p:nvPr/>
              </p:nvSpPr>
              <p:spPr bwMode="auto">
                <a:xfrm>
                  <a:off x="890" y="564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2" name="Group 204"/>
              <p:cNvGrpSpPr>
                <a:grpSpLocks/>
              </p:cNvGrpSpPr>
              <p:nvPr/>
            </p:nvGrpSpPr>
            <p:grpSpPr bwMode="auto">
              <a:xfrm>
                <a:off x="2034" y="5642"/>
                <a:ext cx="1354" cy="403"/>
                <a:chOff x="2034" y="5642"/>
                <a:chExt cx="1354" cy="403"/>
              </a:xfrm>
            </p:grpSpPr>
            <p:sp>
              <p:nvSpPr>
                <p:cNvPr id="18681" name="Rectangle 48"/>
                <p:cNvSpPr>
                  <a:spLocks noChangeArrowheads="1"/>
                </p:cNvSpPr>
                <p:nvPr/>
              </p:nvSpPr>
              <p:spPr bwMode="auto">
                <a:xfrm>
                  <a:off x="2077" y="564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主机名字服务</a:t>
                  </a:r>
                </a:p>
                <a:p>
                  <a:pPr algn="l"/>
                  <a:endParaRPr kumimoji="1" lang="en-US" altLang="zh-CN" sz="2400">
                    <a:solidFill>
                      <a:schemeClr val="tx1"/>
                    </a:solidFill>
                  </a:endParaRPr>
                </a:p>
              </p:txBody>
            </p:sp>
            <p:sp>
              <p:nvSpPr>
                <p:cNvPr id="18682" name="Rectangle 203"/>
                <p:cNvSpPr>
                  <a:spLocks noChangeArrowheads="1"/>
                </p:cNvSpPr>
                <p:nvPr/>
              </p:nvSpPr>
              <p:spPr bwMode="auto">
                <a:xfrm>
                  <a:off x="2034" y="564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3" name="Group 206"/>
              <p:cNvGrpSpPr>
                <a:grpSpLocks/>
              </p:cNvGrpSpPr>
              <p:nvPr/>
            </p:nvGrpSpPr>
            <p:grpSpPr bwMode="auto">
              <a:xfrm>
                <a:off x="0" y="6045"/>
                <a:ext cx="890" cy="403"/>
                <a:chOff x="0" y="6045"/>
                <a:chExt cx="890" cy="403"/>
              </a:xfrm>
            </p:grpSpPr>
            <p:sp>
              <p:nvSpPr>
                <p:cNvPr id="18679" name="Rectangle 49"/>
                <p:cNvSpPr>
                  <a:spLocks noChangeArrowheads="1"/>
                </p:cNvSpPr>
                <p:nvPr/>
              </p:nvSpPr>
              <p:spPr bwMode="auto">
                <a:xfrm>
                  <a:off x="43" y="604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49</a:t>
                  </a:r>
                </a:p>
                <a:p>
                  <a:pPr algn="l"/>
                  <a:endParaRPr kumimoji="1" lang="en-US" altLang="zh-CN" sz="2400">
                    <a:solidFill>
                      <a:schemeClr val="tx1"/>
                    </a:solidFill>
                  </a:endParaRPr>
                </a:p>
              </p:txBody>
            </p:sp>
            <p:sp>
              <p:nvSpPr>
                <p:cNvPr id="18680" name="Rectangle 205"/>
                <p:cNvSpPr>
                  <a:spLocks noChangeArrowheads="1"/>
                </p:cNvSpPr>
                <p:nvPr/>
              </p:nvSpPr>
              <p:spPr bwMode="auto">
                <a:xfrm>
                  <a:off x="0" y="604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4" name="Group 208"/>
              <p:cNvGrpSpPr>
                <a:grpSpLocks/>
              </p:cNvGrpSpPr>
              <p:nvPr/>
            </p:nvGrpSpPr>
            <p:grpSpPr bwMode="auto">
              <a:xfrm>
                <a:off x="890" y="6045"/>
                <a:ext cx="1144" cy="403"/>
                <a:chOff x="890" y="6045"/>
                <a:chExt cx="1144" cy="403"/>
              </a:xfrm>
            </p:grpSpPr>
            <p:sp>
              <p:nvSpPr>
                <p:cNvPr id="18677" name="Rectangle 50"/>
                <p:cNvSpPr>
                  <a:spLocks noChangeArrowheads="1"/>
                </p:cNvSpPr>
                <p:nvPr/>
              </p:nvSpPr>
              <p:spPr bwMode="auto">
                <a:xfrm>
                  <a:off x="933" y="604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LOGIN</a:t>
                  </a:r>
                </a:p>
                <a:p>
                  <a:pPr algn="l"/>
                  <a:endParaRPr kumimoji="1" lang="en-US" altLang="zh-CN" sz="2400">
                    <a:solidFill>
                      <a:schemeClr val="tx1"/>
                    </a:solidFill>
                  </a:endParaRPr>
                </a:p>
              </p:txBody>
            </p:sp>
            <p:sp>
              <p:nvSpPr>
                <p:cNvPr id="18678" name="Rectangle 207"/>
                <p:cNvSpPr>
                  <a:spLocks noChangeArrowheads="1"/>
                </p:cNvSpPr>
                <p:nvPr/>
              </p:nvSpPr>
              <p:spPr bwMode="auto">
                <a:xfrm>
                  <a:off x="890" y="604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5" name="Group 210"/>
              <p:cNvGrpSpPr>
                <a:grpSpLocks/>
              </p:cNvGrpSpPr>
              <p:nvPr/>
            </p:nvGrpSpPr>
            <p:grpSpPr bwMode="auto">
              <a:xfrm>
                <a:off x="2034" y="6045"/>
                <a:ext cx="1354" cy="403"/>
                <a:chOff x="2034" y="6045"/>
                <a:chExt cx="1354" cy="403"/>
              </a:xfrm>
            </p:grpSpPr>
            <p:sp>
              <p:nvSpPr>
                <p:cNvPr id="18675" name="Rectangle 51"/>
                <p:cNvSpPr>
                  <a:spLocks noChangeArrowheads="1"/>
                </p:cNvSpPr>
                <p:nvPr/>
              </p:nvSpPr>
              <p:spPr bwMode="auto">
                <a:xfrm>
                  <a:off x="2077" y="604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登录主机协议</a:t>
                  </a:r>
                </a:p>
                <a:p>
                  <a:pPr algn="l"/>
                  <a:endParaRPr kumimoji="1" lang="en-US" altLang="zh-CN" sz="2400">
                    <a:solidFill>
                      <a:schemeClr val="tx1"/>
                    </a:solidFill>
                  </a:endParaRPr>
                </a:p>
              </p:txBody>
            </p:sp>
            <p:sp>
              <p:nvSpPr>
                <p:cNvPr id="18676" name="Rectangle 209"/>
                <p:cNvSpPr>
                  <a:spLocks noChangeArrowheads="1"/>
                </p:cNvSpPr>
                <p:nvPr/>
              </p:nvSpPr>
              <p:spPr bwMode="auto">
                <a:xfrm>
                  <a:off x="2034" y="604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6" name="Group 212"/>
              <p:cNvGrpSpPr>
                <a:grpSpLocks/>
              </p:cNvGrpSpPr>
              <p:nvPr/>
            </p:nvGrpSpPr>
            <p:grpSpPr bwMode="auto">
              <a:xfrm>
                <a:off x="0" y="6448"/>
                <a:ext cx="890" cy="403"/>
                <a:chOff x="0" y="6448"/>
                <a:chExt cx="890" cy="403"/>
              </a:xfrm>
            </p:grpSpPr>
            <p:sp>
              <p:nvSpPr>
                <p:cNvPr id="18673" name="Rectangle 52"/>
                <p:cNvSpPr>
                  <a:spLocks noChangeArrowheads="1"/>
                </p:cNvSpPr>
                <p:nvPr/>
              </p:nvSpPr>
              <p:spPr bwMode="auto">
                <a:xfrm>
                  <a:off x="43" y="644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53</a:t>
                  </a:r>
                </a:p>
                <a:p>
                  <a:pPr algn="l"/>
                  <a:endParaRPr kumimoji="1" lang="en-US" altLang="zh-CN" sz="2400">
                    <a:solidFill>
                      <a:schemeClr val="tx1"/>
                    </a:solidFill>
                  </a:endParaRPr>
                </a:p>
              </p:txBody>
            </p:sp>
            <p:sp>
              <p:nvSpPr>
                <p:cNvPr id="18674" name="Rectangle 211"/>
                <p:cNvSpPr>
                  <a:spLocks noChangeArrowheads="1"/>
                </p:cNvSpPr>
                <p:nvPr/>
              </p:nvSpPr>
              <p:spPr bwMode="auto">
                <a:xfrm>
                  <a:off x="0" y="644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7" name="Group 214"/>
              <p:cNvGrpSpPr>
                <a:grpSpLocks/>
              </p:cNvGrpSpPr>
              <p:nvPr/>
            </p:nvGrpSpPr>
            <p:grpSpPr bwMode="auto">
              <a:xfrm>
                <a:off x="890" y="6448"/>
                <a:ext cx="1144" cy="403"/>
                <a:chOff x="890" y="6448"/>
                <a:chExt cx="1144" cy="403"/>
              </a:xfrm>
            </p:grpSpPr>
            <p:sp>
              <p:nvSpPr>
                <p:cNvPr id="18671" name="Rectangle 53"/>
                <p:cNvSpPr>
                  <a:spLocks noChangeArrowheads="1"/>
                </p:cNvSpPr>
                <p:nvPr/>
              </p:nvSpPr>
              <p:spPr bwMode="auto">
                <a:xfrm>
                  <a:off x="933" y="644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DOMAIN</a:t>
                  </a:r>
                </a:p>
                <a:p>
                  <a:pPr algn="l"/>
                  <a:endParaRPr kumimoji="1" lang="en-US" altLang="zh-CN" sz="2400">
                    <a:solidFill>
                      <a:schemeClr val="tx1"/>
                    </a:solidFill>
                  </a:endParaRPr>
                </a:p>
              </p:txBody>
            </p:sp>
            <p:sp>
              <p:nvSpPr>
                <p:cNvPr id="18672" name="Rectangle 213"/>
                <p:cNvSpPr>
                  <a:spLocks noChangeArrowheads="1"/>
                </p:cNvSpPr>
                <p:nvPr/>
              </p:nvSpPr>
              <p:spPr bwMode="auto">
                <a:xfrm>
                  <a:off x="890" y="644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8" name="Group 216"/>
              <p:cNvGrpSpPr>
                <a:grpSpLocks/>
              </p:cNvGrpSpPr>
              <p:nvPr/>
            </p:nvGrpSpPr>
            <p:grpSpPr bwMode="auto">
              <a:xfrm>
                <a:off x="2034" y="6448"/>
                <a:ext cx="1354" cy="403"/>
                <a:chOff x="2034" y="6448"/>
                <a:chExt cx="1354" cy="403"/>
              </a:xfrm>
            </p:grpSpPr>
            <p:sp>
              <p:nvSpPr>
                <p:cNvPr id="18669" name="Rectangle 54"/>
                <p:cNvSpPr>
                  <a:spLocks noChangeArrowheads="1"/>
                </p:cNvSpPr>
                <p:nvPr/>
              </p:nvSpPr>
              <p:spPr bwMode="auto">
                <a:xfrm>
                  <a:off x="2077" y="6448"/>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域名服务器</a:t>
                  </a:r>
                </a:p>
                <a:p>
                  <a:pPr algn="l"/>
                  <a:endParaRPr kumimoji="1" lang="en-US" altLang="zh-CN" sz="2400">
                    <a:solidFill>
                      <a:schemeClr val="tx1"/>
                    </a:solidFill>
                  </a:endParaRPr>
                </a:p>
              </p:txBody>
            </p:sp>
            <p:sp>
              <p:nvSpPr>
                <p:cNvPr id="18670" name="Rectangle 215"/>
                <p:cNvSpPr>
                  <a:spLocks noChangeArrowheads="1"/>
                </p:cNvSpPr>
                <p:nvPr/>
              </p:nvSpPr>
              <p:spPr bwMode="auto">
                <a:xfrm>
                  <a:off x="2034" y="644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9" name="Group 218"/>
              <p:cNvGrpSpPr>
                <a:grpSpLocks/>
              </p:cNvGrpSpPr>
              <p:nvPr/>
            </p:nvGrpSpPr>
            <p:grpSpPr bwMode="auto">
              <a:xfrm>
                <a:off x="0" y="6851"/>
                <a:ext cx="890" cy="403"/>
                <a:chOff x="0" y="6851"/>
                <a:chExt cx="890" cy="403"/>
              </a:xfrm>
            </p:grpSpPr>
            <p:sp>
              <p:nvSpPr>
                <p:cNvPr id="18667" name="Rectangle 55"/>
                <p:cNvSpPr>
                  <a:spLocks noChangeArrowheads="1"/>
                </p:cNvSpPr>
                <p:nvPr/>
              </p:nvSpPr>
              <p:spPr bwMode="auto">
                <a:xfrm>
                  <a:off x="43" y="685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66</a:t>
                  </a:r>
                </a:p>
                <a:p>
                  <a:pPr algn="l"/>
                  <a:endParaRPr kumimoji="1" lang="en-US" altLang="zh-CN" sz="2400">
                    <a:solidFill>
                      <a:schemeClr val="tx1"/>
                    </a:solidFill>
                  </a:endParaRPr>
                </a:p>
              </p:txBody>
            </p:sp>
            <p:sp>
              <p:nvSpPr>
                <p:cNvPr id="18668" name="Rectangle 217"/>
                <p:cNvSpPr>
                  <a:spLocks noChangeArrowheads="1"/>
                </p:cNvSpPr>
                <p:nvPr/>
              </p:nvSpPr>
              <p:spPr bwMode="auto">
                <a:xfrm>
                  <a:off x="0" y="685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0" name="Group 220"/>
              <p:cNvGrpSpPr>
                <a:grpSpLocks/>
              </p:cNvGrpSpPr>
              <p:nvPr/>
            </p:nvGrpSpPr>
            <p:grpSpPr bwMode="auto">
              <a:xfrm>
                <a:off x="890" y="6851"/>
                <a:ext cx="1144" cy="403"/>
                <a:chOff x="890" y="6851"/>
                <a:chExt cx="1144" cy="403"/>
              </a:xfrm>
            </p:grpSpPr>
            <p:sp>
              <p:nvSpPr>
                <p:cNvPr id="18665" name="Rectangle 56"/>
                <p:cNvSpPr>
                  <a:spLocks noChangeArrowheads="1"/>
                </p:cNvSpPr>
                <p:nvPr/>
              </p:nvSpPr>
              <p:spPr bwMode="auto">
                <a:xfrm>
                  <a:off x="933" y="685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SQL*NET</a:t>
                  </a:r>
                </a:p>
                <a:p>
                  <a:pPr algn="l"/>
                  <a:endParaRPr kumimoji="1" lang="en-US" altLang="zh-CN" sz="2400">
                    <a:solidFill>
                      <a:schemeClr val="tx1"/>
                    </a:solidFill>
                  </a:endParaRPr>
                </a:p>
              </p:txBody>
            </p:sp>
            <p:sp>
              <p:nvSpPr>
                <p:cNvPr id="18666" name="Rectangle 219"/>
                <p:cNvSpPr>
                  <a:spLocks noChangeArrowheads="1"/>
                </p:cNvSpPr>
                <p:nvPr/>
              </p:nvSpPr>
              <p:spPr bwMode="auto">
                <a:xfrm>
                  <a:off x="890" y="685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1" name="Group 222"/>
              <p:cNvGrpSpPr>
                <a:grpSpLocks/>
              </p:cNvGrpSpPr>
              <p:nvPr/>
            </p:nvGrpSpPr>
            <p:grpSpPr bwMode="auto">
              <a:xfrm>
                <a:off x="2034" y="6851"/>
                <a:ext cx="1354" cy="403"/>
                <a:chOff x="2034" y="6851"/>
                <a:chExt cx="1354" cy="403"/>
              </a:xfrm>
            </p:grpSpPr>
            <p:sp>
              <p:nvSpPr>
                <p:cNvPr id="18663" name="Rectangle 57"/>
                <p:cNvSpPr>
                  <a:spLocks noChangeArrowheads="1"/>
                </p:cNvSpPr>
                <p:nvPr/>
              </p:nvSpPr>
              <p:spPr bwMode="auto">
                <a:xfrm>
                  <a:off x="2077" y="6851"/>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ORACLE SQL*NET</a:t>
                  </a:r>
                </a:p>
                <a:p>
                  <a:pPr algn="l"/>
                  <a:endParaRPr kumimoji="1" lang="en-US" altLang="zh-CN" sz="2400">
                    <a:solidFill>
                      <a:schemeClr val="tx1"/>
                    </a:solidFill>
                  </a:endParaRPr>
                </a:p>
              </p:txBody>
            </p:sp>
            <p:sp>
              <p:nvSpPr>
                <p:cNvPr id="18664" name="Rectangle 221"/>
                <p:cNvSpPr>
                  <a:spLocks noChangeArrowheads="1"/>
                </p:cNvSpPr>
                <p:nvPr/>
              </p:nvSpPr>
              <p:spPr bwMode="auto">
                <a:xfrm>
                  <a:off x="2034" y="685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2" name="Group 224"/>
              <p:cNvGrpSpPr>
                <a:grpSpLocks/>
              </p:cNvGrpSpPr>
              <p:nvPr/>
            </p:nvGrpSpPr>
            <p:grpSpPr bwMode="auto">
              <a:xfrm>
                <a:off x="0" y="7254"/>
                <a:ext cx="890" cy="403"/>
                <a:chOff x="0" y="7254"/>
                <a:chExt cx="890" cy="403"/>
              </a:xfrm>
            </p:grpSpPr>
            <p:sp>
              <p:nvSpPr>
                <p:cNvPr id="18661" name="Rectangle 58"/>
                <p:cNvSpPr>
                  <a:spLocks noChangeArrowheads="1"/>
                </p:cNvSpPr>
                <p:nvPr/>
              </p:nvSpPr>
              <p:spPr bwMode="auto">
                <a:xfrm>
                  <a:off x="43" y="725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67</a:t>
                  </a:r>
                </a:p>
                <a:p>
                  <a:pPr algn="l"/>
                  <a:endParaRPr kumimoji="1" lang="en-US" altLang="zh-CN" sz="2400">
                    <a:solidFill>
                      <a:schemeClr val="tx1"/>
                    </a:solidFill>
                  </a:endParaRPr>
                </a:p>
              </p:txBody>
            </p:sp>
            <p:sp>
              <p:nvSpPr>
                <p:cNvPr id="18662" name="Rectangle 223"/>
                <p:cNvSpPr>
                  <a:spLocks noChangeArrowheads="1"/>
                </p:cNvSpPr>
                <p:nvPr/>
              </p:nvSpPr>
              <p:spPr bwMode="auto">
                <a:xfrm>
                  <a:off x="0" y="725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3" name="Group 226"/>
              <p:cNvGrpSpPr>
                <a:grpSpLocks/>
              </p:cNvGrpSpPr>
              <p:nvPr/>
            </p:nvGrpSpPr>
            <p:grpSpPr bwMode="auto">
              <a:xfrm>
                <a:off x="890" y="7254"/>
                <a:ext cx="1144" cy="403"/>
                <a:chOff x="890" y="7254"/>
                <a:chExt cx="1144" cy="403"/>
              </a:xfrm>
            </p:grpSpPr>
            <p:sp>
              <p:nvSpPr>
                <p:cNvPr id="18659" name="Rectangle 59"/>
                <p:cNvSpPr>
                  <a:spLocks noChangeArrowheads="1"/>
                </p:cNvSpPr>
                <p:nvPr/>
              </p:nvSpPr>
              <p:spPr bwMode="auto">
                <a:xfrm>
                  <a:off x="933" y="725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BOOTPS</a:t>
                  </a:r>
                </a:p>
                <a:p>
                  <a:pPr algn="l"/>
                  <a:endParaRPr kumimoji="1" lang="en-US" altLang="zh-CN" sz="2400">
                    <a:solidFill>
                      <a:schemeClr val="tx1"/>
                    </a:solidFill>
                  </a:endParaRPr>
                </a:p>
              </p:txBody>
            </p:sp>
            <p:sp>
              <p:nvSpPr>
                <p:cNvPr id="18660" name="Rectangle 225"/>
                <p:cNvSpPr>
                  <a:spLocks noChangeArrowheads="1"/>
                </p:cNvSpPr>
                <p:nvPr/>
              </p:nvSpPr>
              <p:spPr bwMode="auto">
                <a:xfrm>
                  <a:off x="890" y="725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4" name="Group 228"/>
              <p:cNvGrpSpPr>
                <a:grpSpLocks/>
              </p:cNvGrpSpPr>
              <p:nvPr/>
            </p:nvGrpSpPr>
            <p:grpSpPr bwMode="auto">
              <a:xfrm>
                <a:off x="2034" y="7254"/>
                <a:ext cx="1354" cy="403"/>
                <a:chOff x="2034" y="7254"/>
                <a:chExt cx="1354" cy="403"/>
              </a:xfrm>
            </p:grpSpPr>
            <p:sp>
              <p:nvSpPr>
                <p:cNvPr id="18657" name="Rectangle 60"/>
                <p:cNvSpPr>
                  <a:spLocks noChangeArrowheads="1"/>
                </p:cNvSpPr>
                <p:nvPr/>
              </p:nvSpPr>
              <p:spPr bwMode="auto">
                <a:xfrm>
                  <a:off x="2077" y="7254"/>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 SERVER</a:t>
                  </a:r>
                </a:p>
                <a:p>
                  <a:pPr algn="l"/>
                  <a:endParaRPr kumimoji="1" lang="en-US" altLang="zh-CN" sz="2400">
                    <a:solidFill>
                      <a:schemeClr val="tx1"/>
                    </a:solidFill>
                  </a:endParaRPr>
                </a:p>
              </p:txBody>
            </p:sp>
            <p:sp>
              <p:nvSpPr>
                <p:cNvPr id="18658" name="Rectangle 227"/>
                <p:cNvSpPr>
                  <a:spLocks noChangeArrowheads="1"/>
                </p:cNvSpPr>
                <p:nvPr/>
              </p:nvSpPr>
              <p:spPr bwMode="auto">
                <a:xfrm>
                  <a:off x="2034" y="725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5" name="Group 230"/>
              <p:cNvGrpSpPr>
                <a:grpSpLocks/>
              </p:cNvGrpSpPr>
              <p:nvPr/>
            </p:nvGrpSpPr>
            <p:grpSpPr bwMode="auto">
              <a:xfrm>
                <a:off x="0" y="7657"/>
                <a:ext cx="890" cy="403"/>
                <a:chOff x="0" y="7657"/>
                <a:chExt cx="890" cy="403"/>
              </a:xfrm>
            </p:grpSpPr>
            <p:sp>
              <p:nvSpPr>
                <p:cNvPr id="18655" name="Rectangle 61"/>
                <p:cNvSpPr>
                  <a:spLocks noChangeArrowheads="1"/>
                </p:cNvSpPr>
                <p:nvPr/>
              </p:nvSpPr>
              <p:spPr bwMode="auto">
                <a:xfrm>
                  <a:off x="43" y="765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68</a:t>
                  </a:r>
                </a:p>
                <a:p>
                  <a:pPr algn="l"/>
                  <a:endParaRPr kumimoji="1" lang="en-US" altLang="zh-CN" sz="2400">
                    <a:solidFill>
                      <a:schemeClr val="tx1"/>
                    </a:solidFill>
                  </a:endParaRPr>
                </a:p>
              </p:txBody>
            </p:sp>
            <p:sp>
              <p:nvSpPr>
                <p:cNvPr id="18656" name="Rectangle 229"/>
                <p:cNvSpPr>
                  <a:spLocks noChangeArrowheads="1"/>
                </p:cNvSpPr>
                <p:nvPr/>
              </p:nvSpPr>
              <p:spPr bwMode="auto">
                <a:xfrm>
                  <a:off x="0" y="765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6" name="Group 232"/>
              <p:cNvGrpSpPr>
                <a:grpSpLocks/>
              </p:cNvGrpSpPr>
              <p:nvPr/>
            </p:nvGrpSpPr>
            <p:grpSpPr bwMode="auto">
              <a:xfrm>
                <a:off x="890" y="7657"/>
                <a:ext cx="1144" cy="403"/>
                <a:chOff x="890" y="7657"/>
                <a:chExt cx="1144" cy="403"/>
              </a:xfrm>
            </p:grpSpPr>
            <p:sp>
              <p:nvSpPr>
                <p:cNvPr id="18653" name="Rectangle 62"/>
                <p:cNvSpPr>
                  <a:spLocks noChangeArrowheads="1"/>
                </p:cNvSpPr>
                <p:nvPr/>
              </p:nvSpPr>
              <p:spPr bwMode="auto">
                <a:xfrm>
                  <a:off x="933" y="765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BOOTPC</a:t>
                  </a:r>
                </a:p>
                <a:p>
                  <a:pPr algn="l"/>
                  <a:endParaRPr kumimoji="1" lang="en-US" altLang="zh-CN" sz="2400">
                    <a:solidFill>
                      <a:schemeClr val="tx1"/>
                    </a:solidFill>
                  </a:endParaRPr>
                </a:p>
              </p:txBody>
            </p:sp>
            <p:sp>
              <p:nvSpPr>
                <p:cNvPr id="18654" name="Rectangle 231"/>
                <p:cNvSpPr>
                  <a:spLocks noChangeArrowheads="1"/>
                </p:cNvSpPr>
                <p:nvPr/>
              </p:nvSpPr>
              <p:spPr bwMode="auto">
                <a:xfrm>
                  <a:off x="890" y="765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7" name="Group 234"/>
              <p:cNvGrpSpPr>
                <a:grpSpLocks/>
              </p:cNvGrpSpPr>
              <p:nvPr/>
            </p:nvGrpSpPr>
            <p:grpSpPr bwMode="auto">
              <a:xfrm>
                <a:off x="2034" y="7657"/>
                <a:ext cx="1354" cy="403"/>
                <a:chOff x="2034" y="7657"/>
                <a:chExt cx="1354" cy="403"/>
              </a:xfrm>
            </p:grpSpPr>
            <p:sp>
              <p:nvSpPr>
                <p:cNvPr id="18651" name="Rectangle 63"/>
                <p:cNvSpPr>
                  <a:spLocks noChangeArrowheads="1"/>
                </p:cNvSpPr>
                <p:nvPr/>
              </p:nvSpPr>
              <p:spPr bwMode="auto">
                <a:xfrm>
                  <a:off x="2077" y="7657"/>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 CLIENT</a:t>
                  </a:r>
                </a:p>
                <a:p>
                  <a:pPr algn="l"/>
                  <a:endParaRPr kumimoji="1" lang="en-US" altLang="zh-CN" sz="2400">
                    <a:solidFill>
                      <a:schemeClr val="tx1"/>
                    </a:solidFill>
                  </a:endParaRPr>
                </a:p>
              </p:txBody>
            </p:sp>
            <p:sp>
              <p:nvSpPr>
                <p:cNvPr id="18652" name="Rectangle 233"/>
                <p:cNvSpPr>
                  <a:spLocks noChangeArrowheads="1"/>
                </p:cNvSpPr>
                <p:nvPr/>
              </p:nvSpPr>
              <p:spPr bwMode="auto">
                <a:xfrm>
                  <a:off x="2034" y="765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8" name="Group 236"/>
              <p:cNvGrpSpPr>
                <a:grpSpLocks/>
              </p:cNvGrpSpPr>
              <p:nvPr/>
            </p:nvGrpSpPr>
            <p:grpSpPr bwMode="auto">
              <a:xfrm>
                <a:off x="0" y="8060"/>
                <a:ext cx="890" cy="403"/>
                <a:chOff x="0" y="8060"/>
                <a:chExt cx="890" cy="403"/>
              </a:xfrm>
            </p:grpSpPr>
            <p:sp>
              <p:nvSpPr>
                <p:cNvPr id="18649" name="Rectangle 64"/>
                <p:cNvSpPr>
                  <a:spLocks noChangeArrowheads="1"/>
                </p:cNvSpPr>
                <p:nvPr/>
              </p:nvSpPr>
              <p:spPr bwMode="auto">
                <a:xfrm>
                  <a:off x="43" y="806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70</a:t>
                  </a:r>
                </a:p>
                <a:p>
                  <a:pPr algn="l"/>
                  <a:endParaRPr kumimoji="1" lang="en-US" altLang="zh-CN" sz="2400">
                    <a:solidFill>
                      <a:schemeClr val="tx1"/>
                    </a:solidFill>
                  </a:endParaRPr>
                </a:p>
              </p:txBody>
            </p:sp>
            <p:sp>
              <p:nvSpPr>
                <p:cNvPr id="18650" name="Rectangle 235"/>
                <p:cNvSpPr>
                  <a:spLocks noChangeArrowheads="1"/>
                </p:cNvSpPr>
                <p:nvPr/>
              </p:nvSpPr>
              <p:spPr bwMode="auto">
                <a:xfrm>
                  <a:off x="0" y="806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9" name="Group 238"/>
              <p:cNvGrpSpPr>
                <a:grpSpLocks/>
              </p:cNvGrpSpPr>
              <p:nvPr/>
            </p:nvGrpSpPr>
            <p:grpSpPr bwMode="auto">
              <a:xfrm>
                <a:off x="890" y="8060"/>
                <a:ext cx="1144" cy="403"/>
                <a:chOff x="890" y="8060"/>
                <a:chExt cx="1144" cy="403"/>
              </a:xfrm>
            </p:grpSpPr>
            <p:sp>
              <p:nvSpPr>
                <p:cNvPr id="18647" name="Rectangle 65"/>
                <p:cNvSpPr>
                  <a:spLocks noChangeArrowheads="1"/>
                </p:cNvSpPr>
                <p:nvPr/>
              </p:nvSpPr>
              <p:spPr bwMode="auto">
                <a:xfrm>
                  <a:off x="933" y="806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GOPHER</a:t>
                  </a:r>
                </a:p>
                <a:p>
                  <a:pPr algn="l"/>
                  <a:endParaRPr kumimoji="1" lang="en-US" altLang="zh-CN" sz="2400">
                    <a:solidFill>
                      <a:schemeClr val="tx1"/>
                    </a:solidFill>
                  </a:endParaRPr>
                </a:p>
              </p:txBody>
            </p:sp>
            <p:sp>
              <p:nvSpPr>
                <p:cNvPr id="18648" name="Rectangle 237"/>
                <p:cNvSpPr>
                  <a:spLocks noChangeArrowheads="1"/>
                </p:cNvSpPr>
                <p:nvPr/>
              </p:nvSpPr>
              <p:spPr bwMode="auto">
                <a:xfrm>
                  <a:off x="890" y="806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0" name="Group 240"/>
              <p:cNvGrpSpPr>
                <a:grpSpLocks/>
              </p:cNvGrpSpPr>
              <p:nvPr/>
            </p:nvGrpSpPr>
            <p:grpSpPr bwMode="auto">
              <a:xfrm>
                <a:off x="2034" y="8060"/>
                <a:ext cx="1354" cy="403"/>
                <a:chOff x="2034" y="8060"/>
                <a:chExt cx="1354" cy="403"/>
              </a:xfrm>
            </p:grpSpPr>
            <p:sp>
              <p:nvSpPr>
                <p:cNvPr id="18645" name="Rectangle 66"/>
                <p:cNvSpPr>
                  <a:spLocks noChangeArrowheads="1"/>
                </p:cNvSpPr>
                <p:nvPr/>
              </p:nvSpPr>
              <p:spPr bwMode="auto">
                <a:xfrm>
                  <a:off x="2077" y="8060"/>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46" name="Rectangle 239"/>
                <p:cNvSpPr>
                  <a:spLocks noChangeArrowheads="1"/>
                </p:cNvSpPr>
                <p:nvPr/>
              </p:nvSpPr>
              <p:spPr bwMode="auto">
                <a:xfrm>
                  <a:off x="2034" y="806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1" name="Group 242"/>
              <p:cNvGrpSpPr>
                <a:grpSpLocks/>
              </p:cNvGrpSpPr>
              <p:nvPr/>
            </p:nvGrpSpPr>
            <p:grpSpPr bwMode="auto">
              <a:xfrm>
                <a:off x="0" y="8463"/>
                <a:ext cx="890" cy="403"/>
                <a:chOff x="0" y="8463"/>
                <a:chExt cx="890" cy="403"/>
              </a:xfrm>
            </p:grpSpPr>
            <p:sp>
              <p:nvSpPr>
                <p:cNvPr id="18643" name="Rectangle 67"/>
                <p:cNvSpPr>
                  <a:spLocks noChangeArrowheads="1"/>
                </p:cNvSpPr>
                <p:nvPr/>
              </p:nvSpPr>
              <p:spPr bwMode="auto">
                <a:xfrm>
                  <a:off x="43" y="846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79</a:t>
                  </a:r>
                </a:p>
                <a:p>
                  <a:pPr algn="l"/>
                  <a:endParaRPr kumimoji="1" lang="en-US" altLang="zh-CN" sz="2400">
                    <a:solidFill>
                      <a:schemeClr val="tx1"/>
                    </a:solidFill>
                  </a:endParaRPr>
                </a:p>
              </p:txBody>
            </p:sp>
            <p:sp>
              <p:nvSpPr>
                <p:cNvPr id="18644" name="Rectangle 241"/>
                <p:cNvSpPr>
                  <a:spLocks noChangeArrowheads="1"/>
                </p:cNvSpPr>
                <p:nvPr/>
              </p:nvSpPr>
              <p:spPr bwMode="auto">
                <a:xfrm>
                  <a:off x="0" y="846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2" name="Group 244"/>
              <p:cNvGrpSpPr>
                <a:grpSpLocks/>
              </p:cNvGrpSpPr>
              <p:nvPr/>
            </p:nvGrpSpPr>
            <p:grpSpPr bwMode="auto">
              <a:xfrm>
                <a:off x="890" y="8463"/>
                <a:ext cx="1144" cy="403"/>
                <a:chOff x="890" y="8463"/>
                <a:chExt cx="1144" cy="403"/>
              </a:xfrm>
            </p:grpSpPr>
            <p:sp>
              <p:nvSpPr>
                <p:cNvPr id="18641" name="Rectangle 68"/>
                <p:cNvSpPr>
                  <a:spLocks noChangeArrowheads="1"/>
                </p:cNvSpPr>
                <p:nvPr/>
              </p:nvSpPr>
              <p:spPr bwMode="auto">
                <a:xfrm>
                  <a:off x="933" y="846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FINGER</a:t>
                  </a:r>
                </a:p>
                <a:p>
                  <a:pPr algn="l"/>
                  <a:endParaRPr kumimoji="1" lang="en-US" altLang="zh-CN" sz="2400">
                    <a:solidFill>
                      <a:schemeClr val="tx1"/>
                    </a:solidFill>
                  </a:endParaRPr>
                </a:p>
              </p:txBody>
            </p:sp>
            <p:sp>
              <p:nvSpPr>
                <p:cNvPr id="18642" name="Rectangle 243"/>
                <p:cNvSpPr>
                  <a:spLocks noChangeArrowheads="1"/>
                </p:cNvSpPr>
                <p:nvPr/>
              </p:nvSpPr>
              <p:spPr bwMode="auto">
                <a:xfrm>
                  <a:off x="890" y="846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3" name="Group 246"/>
              <p:cNvGrpSpPr>
                <a:grpSpLocks/>
              </p:cNvGrpSpPr>
              <p:nvPr/>
            </p:nvGrpSpPr>
            <p:grpSpPr bwMode="auto">
              <a:xfrm>
                <a:off x="2034" y="8463"/>
                <a:ext cx="1354" cy="403"/>
                <a:chOff x="2034" y="8463"/>
                <a:chExt cx="1354" cy="403"/>
              </a:xfrm>
            </p:grpSpPr>
            <p:sp>
              <p:nvSpPr>
                <p:cNvPr id="18639" name="Rectangle 69"/>
                <p:cNvSpPr>
                  <a:spLocks noChangeArrowheads="1"/>
                </p:cNvSpPr>
                <p:nvPr/>
              </p:nvSpPr>
              <p:spPr bwMode="auto">
                <a:xfrm>
                  <a:off x="2077" y="846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40" name="Rectangle 245"/>
                <p:cNvSpPr>
                  <a:spLocks noChangeArrowheads="1"/>
                </p:cNvSpPr>
                <p:nvPr/>
              </p:nvSpPr>
              <p:spPr bwMode="auto">
                <a:xfrm>
                  <a:off x="2034" y="846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4" name="Group 248"/>
              <p:cNvGrpSpPr>
                <a:grpSpLocks/>
              </p:cNvGrpSpPr>
              <p:nvPr/>
            </p:nvGrpSpPr>
            <p:grpSpPr bwMode="auto">
              <a:xfrm>
                <a:off x="0" y="8866"/>
                <a:ext cx="890" cy="403"/>
                <a:chOff x="0" y="8866"/>
                <a:chExt cx="890" cy="403"/>
              </a:xfrm>
            </p:grpSpPr>
            <p:sp>
              <p:nvSpPr>
                <p:cNvPr id="18637" name="Rectangle 70"/>
                <p:cNvSpPr>
                  <a:spLocks noChangeArrowheads="1"/>
                </p:cNvSpPr>
                <p:nvPr/>
              </p:nvSpPr>
              <p:spPr bwMode="auto">
                <a:xfrm>
                  <a:off x="43" y="886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80</a:t>
                  </a:r>
                </a:p>
                <a:p>
                  <a:pPr algn="l"/>
                  <a:endParaRPr kumimoji="1" lang="en-US" altLang="zh-CN" sz="2400">
                    <a:solidFill>
                      <a:schemeClr val="tx1"/>
                    </a:solidFill>
                  </a:endParaRPr>
                </a:p>
              </p:txBody>
            </p:sp>
            <p:sp>
              <p:nvSpPr>
                <p:cNvPr id="18638" name="Rectangle 247"/>
                <p:cNvSpPr>
                  <a:spLocks noChangeArrowheads="1"/>
                </p:cNvSpPr>
                <p:nvPr/>
              </p:nvSpPr>
              <p:spPr bwMode="auto">
                <a:xfrm>
                  <a:off x="0" y="886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5" name="Group 250"/>
              <p:cNvGrpSpPr>
                <a:grpSpLocks/>
              </p:cNvGrpSpPr>
              <p:nvPr/>
            </p:nvGrpSpPr>
            <p:grpSpPr bwMode="auto">
              <a:xfrm>
                <a:off x="890" y="8866"/>
                <a:ext cx="1144" cy="403"/>
                <a:chOff x="890" y="8866"/>
                <a:chExt cx="1144" cy="403"/>
              </a:xfrm>
            </p:grpSpPr>
            <p:sp>
              <p:nvSpPr>
                <p:cNvPr id="18635" name="Rectangle 71"/>
                <p:cNvSpPr>
                  <a:spLocks noChangeArrowheads="1"/>
                </p:cNvSpPr>
                <p:nvPr/>
              </p:nvSpPr>
              <p:spPr bwMode="auto">
                <a:xfrm>
                  <a:off x="933" y="886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HTTP</a:t>
                  </a:r>
                </a:p>
                <a:p>
                  <a:pPr algn="l"/>
                  <a:endParaRPr kumimoji="1" lang="en-US" altLang="zh-CN" sz="2400">
                    <a:solidFill>
                      <a:schemeClr val="tx1"/>
                    </a:solidFill>
                  </a:endParaRPr>
                </a:p>
              </p:txBody>
            </p:sp>
            <p:sp>
              <p:nvSpPr>
                <p:cNvPr id="18636" name="Rectangle 249"/>
                <p:cNvSpPr>
                  <a:spLocks noChangeArrowheads="1"/>
                </p:cNvSpPr>
                <p:nvPr/>
              </p:nvSpPr>
              <p:spPr bwMode="auto">
                <a:xfrm>
                  <a:off x="890" y="886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6" name="Group 252"/>
              <p:cNvGrpSpPr>
                <a:grpSpLocks/>
              </p:cNvGrpSpPr>
              <p:nvPr/>
            </p:nvGrpSpPr>
            <p:grpSpPr bwMode="auto">
              <a:xfrm>
                <a:off x="2034" y="8866"/>
                <a:ext cx="1354" cy="403"/>
                <a:chOff x="2034" y="8866"/>
                <a:chExt cx="1354" cy="403"/>
              </a:xfrm>
            </p:grpSpPr>
            <p:sp>
              <p:nvSpPr>
                <p:cNvPr id="18633" name="Rectangle 72"/>
                <p:cNvSpPr>
                  <a:spLocks noChangeArrowheads="1"/>
                </p:cNvSpPr>
                <p:nvPr/>
              </p:nvSpPr>
              <p:spPr bwMode="auto">
                <a:xfrm>
                  <a:off x="2077" y="8866"/>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34" name="Rectangle 251"/>
                <p:cNvSpPr>
                  <a:spLocks noChangeArrowheads="1"/>
                </p:cNvSpPr>
                <p:nvPr/>
              </p:nvSpPr>
              <p:spPr bwMode="auto">
                <a:xfrm>
                  <a:off x="2034" y="886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7" name="Group 254"/>
              <p:cNvGrpSpPr>
                <a:grpSpLocks/>
              </p:cNvGrpSpPr>
              <p:nvPr/>
            </p:nvGrpSpPr>
            <p:grpSpPr bwMode="auto">
              <a:xfrm>
                <a:off x="0" y="9269"/>
                <a:ext cx="890" cy="403"/>
                <a:chOff x="0" y="9269"/>
                <a:chExt cx="890" cy="403"/>
              </a:xfrm>
            </p:grpSpPr>
            <p:sp>
              <p:nvSpPr>
                <p:cNvPr id="18631" name="Rectangle 73"/>
                <p:cNvSpPr>
                  <a:spLocks noChangeArrowheads="1"/>
                </p:cNvSpPr>
                <p:nvPr/>
              </p:nvSpPr>
              <p:spPr bwMode="auto">
                <a:xfrm>
                  <a:off x="43" y="926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102</a:t>
                  </a:r>
                </a:p>
                <a:p>
                  <a:pPr algn="l"/>
                  <a:endParaRPr kumimoji="1" lang="en-US" altLang="zh-CN" sz="2400">
                    <a:solidFill>
                      <a:schemeClr val="tx1"/>
                    </a:solidFill>
                  </a:endParaRPr>
                </a:p>
              </p:txBody>
            </p:sp>
            <p:sp>
              <p:nvSpPr>
                <p:cNvPr id="18632" name="Rectangle 253"/>
                <p:cNvSpPr>
                  <a:spLocks noChangeArrowheads="1"/>
                </p:cNvSpPr>
                <p:nvPr/>
              </p:nvSpPr>
              <p:spPr bwMode="auto">
                <a:xfrm>
                  <a:off x="0" y="926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8" name="Group 256"/>
              <p:cNvGrpSpPr>
                <a:grpSpLocks/>
              </p:cNvGrpSpPr>
              <p:nvPr/>
            </p:nvGrpSpPr>
            <p:grpSpPr bwMode="auto">
              <a:xfrm>
                <a:off x="890" y="9269"/>
                <a:ext cx="1144" cy="403"/>
                <a:chOff x="890" y="9269"/>
                <a:chExt cx="1144" cy="403"/>
              </a:xfrm>
            </p:grpSpPr>
            <p:sp>
              <p:nvSpPr>
                <p:cNvPr id="18629" name="Rectangle 74"/>
                <p:cNvSpPr>
                  <a:spLocks noChangeArrowheads="1"/>
                </p:cNvSpPr>
                <p:nvPr/>
              </p:nvSpPr>
              <p:spPr bwMode="auto">
                <a:xfrm>
                  <a:off x="933" y="926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ISO-ISAP</a:t>
                  </a:r>
                </a:p>
                <a:p>
                  <a:pPr algn="l"/>
                  <a:endParaRPr kumimoji="1" lang="en-US" altLang="zh-CN" sz="2400">
                    <a:solidFill>
                      <a:schemeClr val="tx1"/>
                    </a:solidFill>
                  </a:endParaRPr>
                </a:p>
              </p:txBody>
            </p:sp>
            <p:sp>
              <p:nvSpPr>
                <p:cNvPr id="18630" name="Rectangle 255"/>
                <p:cNvSpPr>
                  <a:spLocks noChangeArrowheads="1"/>
                </p:cNvSpPr>
                <p:nvPr/>
              </p:nvSpPr>
              <p:spPr bwMode="auto">
                <a:xfrm>
                  <a:off x="890" y="926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9" name="Group 258"/>
              <p:cNvGrpSpPr>
                <a:grpSpLocks/>
              </p:cNvGrpSpPr>
              <p:nvPr/>
            </p:nvGrpSpPr>
            <p:grpSpPr bwMode="auto">
              <a:xfrm>
                <a:off x="2034" y="9269"/>
                <a:ext cx="1354" cy="403"/>
                <a:chOff x="2034" y="9269"/>
                <a:chExt cx="1354" cy="403"/>
              </a:xfrm>
            </p:grpSpPr>
            <p:sp>
              <p:nvSpPr>
                <p:cNvPr id="18627" name="Rectangle 75"/>
                <p:cNvSpPr>
                  <a:spLocks noChangeArrowheads="1"/>
                </p:cNvSpPr>
                <p:nvPr/>
              </p:nvSpPr>
              <p:spPr bwMode="auto">
                <a:xfrm>
                  <a:off x="2077" y="9269"/>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ISO </a:t>
                  </a:r>
                  <a:r>
                    <a:rPr kumimoji="1" lang="zh-CN" altLang="en-US" sz="1200">
                      <a:solidFill>
                        <a:srgbClr val="000000"/>
                      </a:solidFill>
                    </a:rPr>
                    <a:t>传输服务访问点</a:t>
                  </a:r>
                </a:p>
                <a:p>
                  <a:pPr algn="l"/>
                  <a:endParaRPr kumimoji="1" lang="en-US" altLang="zh-CN" sz="2400">
                    <a:solidFill>
                      <a:schemeClr val="tx1"/>
                    </a:solidFill>
                  </a:endParaRPr>
                </a:p>
              </p:txBody>
            </p:sp>
            <p:sp>
              <p:nvSpPr>
                <p:cNvPr id="18628" name="Rectangle 257"/>
                <p:cNvSpPr>
                  <a:spLocks noChangeArrowheads="1"/>
                </p:cNvSpPr>
                <p:nvPr/>
              </p:nvSpPr>
              <p:spPr bwMode="auto">
                <a:xfrm>
                  <a:off x="2034" y="926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0" name="Group 260"/>
              <p:cNvGrpSpPr>
                <a:grpSpLocks/>
              </p:cNvGrpSpPr>
              <p:nvPr/>
            </p:nvGrpSpPr>
            <p:grpSpPr bwMode="auto">
              <a:xfrm>
                <a:off x="0" y="9672"/>
                <a:ext cx="890" cy="403"/>
                <a:chOff x="0" y="9672"/>
                <a:chExt cx="890" cy="403"/>
              </a:xfrm>
            </p:grpSpPr>
            <p:sp>
              <p:nvSpPr>
                <p:cNvPr id="18625" name="Rectangle 76"/>
                <p:cNvSpPr>
                  <a:spLocks noChangeArrowheads="1"/>
                </p:cNvSpPr>
                <p:nvPr/>
              </p:nvSpPr>
              <p:spPr bwMode="auto">
                <a:xfrm>
                  <a:off x="43" y="967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119</a:t>
                  </a:r>
                </a:p>
                <a:p>
                  <a:pPr algn="l"/>
                  <a:endParaRPr kumimoji="1" lang="en-US" altLang="zh-CN" sz="2400">
                    <a:solidFill>
                      <a:schemeClr val="tx1"/>
                    </a:solidFill>
                  </a:endParaRPr>
                </a:p>
              </p:txBody>
            </p:sp>
            <p:sp>
              <p:nvSpPr>
                <p:cNvPr id="18626" name="Rectangle 259"/>
                <p:cNvSpPr>
                  <a:spLocks noChangeArrowheads="1"/>
                </p:cNvSpPr>
                <p:nvPr/>
              </p:nvSpPr>
              <p:spPr bwMode="auto">
                <a:xfrm>
                  <a:off x="0" y="967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1" name="Group 262"/>
              <p:cNvGrpSpPr>
                <a:grpSpLocks/>
              </p:cNvGrpSpPr>
              <p:nvPr/>
            </p:nvGrpSpPr>
            <p:grpSpPr bwMode="auto">
              <a:xfrm>
                <a:off x="890" y="9672"/>
                <a:ext cx="1144" cy="403"/>
                <a:chOff x="890" y="9672"/>
                <a:chExt cx="1144" cy="403"/>
              </a:xfrm>
            </p:grpSpPr>
            <p:sp>
              <p:nvSpPr>
                <p:cNvPr id="18623" name="Rectangle 77"/>
                <p:cNvSpPr>
                  <a:spLocks noChangeArrowheads="1"/>
                </p:cNvSpPr>
                <p:nvPr/>
              </p:nvSpPr>
              <p:spPr bwMode="auto">
                <a:xfrm>
                  <a:off x="933" y="967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NNTP</a:t>
                  </a:r>
                </a:p>
                <a:p>
                  <a:pPr algn="l"/>
                  <a:endParaRPr kumimoji="1" lang="en-US" altLang="zh-CN" sz="2400">
                    <a:solidFill>
                      <a:schemeClr val="tx1"/>
                    </a:solidFill>
                  </a:endParaRPr>
                </a:p>
              </p:txBody>
            </p:sp>
            <p:sp>
              <p:nvSpPr>
                <p:cNvPr id="18624" name="Rectangle 261"/>
                <p:cNvSpPr>
                  <a:spLocks noChangeArrowheads="1"/>
                </p:cNvSpPr>
                <p:nvPr/>
              </p:nvSpPr>
              <p:spPr bwMode="auto">
                <a:xfrm>
                  <a:off x="890" y="967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2" name="Group 264"/>
              <p:cNvGrpSpPr>
                <a:grpSpLocks/>
              </p:cNvGrpSpPr>
              <p:nvPr/>
            </p:nvGrpSpPr>
            <p:grpSpPr bwMode="auto">
              <a:xfrm>
                <a:off x="2034" y="9672"/>
                <a:ext cx="1354" cy="403"/>
                <a:chOff x="2034" y="9672"/>
                <a:chExt cx="1354" cy="403"/>
              </a:xfrm>
            </p:grpSpPr>
            <p:sp>
              <p:nvSpPr>
                <p:cNvPr id="18621" name="Rectangle 78"/>
                <p:cNvSpPr>
                  <a:spLocks noChangeArrowheads="1"/>
                </p:cNvSpPr>
                <p:nvPr/>
              </p:nvSpPr>
              <p:spPr bwMode="auto">
                <a:xfrm>
                  <a:off x="2077" y="967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网络新闻传送协议</a:t>
                  </a:r>
                </a:p>
                <a:p>
                  <a:pPr algn="l"/>
                  <a:endParaRPr kumimoji="1" lang="en-US" altLang="zh-CN" sz="2400">
                    <a:solidFill>
                      <a:schemeClr val="tx1"/>
                    </a:solidFill>
                  </a:endParaRPr>
                </a:p>
              </p:txBody>
            </p:sp>
            <p:sp>
              <p:nvSpPr>
                <p:cNvPr id="18622" name="Rectangle 263"/>
                <p:cNvSpPr>
                  <a:spLocks noChangeArrowheads="1"/>
                </p:cNvSpPr>
                <p:nvPr/>
              </p:nvSpPr>
              <p:spPr bwMode="auto">
                <a:xfrm>
                  <a:off x="2034" y="967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3" name="Group 266"/>
              <p:cNvGrpSpPr>
                <a:grpSpLocks/>
              </p:cNvGrpSpPr>
              <p:nvPr/>
            </p:nvGrpSpPr>
            <p:grpSpPr bwMode="auto">
              <a:xfrm>
                <a:off x="0" y="10075"/>
                <a:ext cx="890" cy="403"/>
                <a:chOff x="0" y="10075"/>
                <a:chExt cx="890" cy="403"/>
              </a:xfrm>
            </p:grpSpPr>
            <p:sp>
              <p:nvSpPr>
                <p:cNvPr id="18619" name="Rectangle 79"/>
                <p:cNvSpPr>
                  <a:spLocks noChangeArrowheads="1"/>
                </p:cNvSpPr>
                <p:nvPr/>
              </p:nvSpPr>
              <p:spPr bwMode="auto">
                <a:xfrm>
                  <a:off x="43" y="1007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144</a:t>
                  </a:r>
                </a:p>
                <a:p>
                  <a:pPr algn="l"/>
                  <a:endParaRPr kumimoji="1" lang="en-US" altLang="zh-CN" sz="2400">
                    <a:solidFill>
                      <a:schemeClr val="tx1"/>
                    </a:solidFill>
                  </a:endParaRPr>
                </a:p>
              </p:txBody>
            </p:sp>
            <p:sp>
              <p:nvSpPr>
                <p:cNvPr id="18620" name="Rectangle 265"/>
                <p:cNvSpPr>
                  <a:spLocks noChangeArrowheads="1"/>
                </p:cNvSpPr>
                <p:nvPr/>
              </p:nvSpPr>
              <p:spPr bwMode="auto">
                <a:xfrm>
                  <a:off x="0" y="1007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4" name="Group 268"/>
              <p:cNvGrpSpPr>
                <a:grpSpLocks/>
              </p:cNvGrpSpPr>
              <p:nvPr/>
            </p:nvGrpSpPr>
            <p:grpSpPr bwMode="auto">
              <a:xfrm>
                <a:off x="890" y="10075"/>
                <a:ext cx="1144" cy="403"/>
                <a:chOff x="890" y="10075"/>
                <a:chExt cx="1144" cy="403"/>
              </a:xfrm>
            </p:grpSpPr>
            <p:sp>
              <p:nvSpPr>
                <p:cNvPr id="18617" name="Rectangle 80"/>
                <p:cNvSpPr>
                  <a:spLocks noChangeArrowheads="1"/>
                </p:cNvSpPr>
                <p:nvPr/>
              </p:nvSpPr>
              <p:spPr bwMode="auto">
                <a:xfrm>
                  <a:off x="933" y="1007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NEWS</a:t>
                  </a:r>
                </a:p>
                <a:p>
                  <a:pPr algn="l"/>
                  <a:endParaRPr kumimoji="1" lang="en-US" altLang="zh-CN" sz="2400">
                    <a:solidFill>
                      <a:schemeClr val="tx1"/>
                    </a:solidFill>
                  </a:endParaRPr>
                </a:p>
              </p:txBody>
            </p:sp>
            <p:sp>
              <p:nvSpPr>
                <p:cNvPr id="18618" name="Rectangle 267"/>
                <p:cNvSpPr>
                  <a:spLocks noChangeArrowheads="1"/>
                </p:cNvSpPr>
                <p:nvPr/>
              </p:nvSpPr>
              <p:spPr bwMode="auto">
                <a:xfrm>
                  <a:off x="890" y="1007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5" name="Group 270"/>
              <p:cNvGrpSpPr>
                <a:grpSpLocks/>
              </p:cNvGrpSpPr>
              <p:nvPr/>
            </p:nvGrpSpPr>
            <p:grpSpPr bwMode="auto">
              <a:xfrm>
                <a:off x="2034" y="10075"/>
                <a:ext cx="1354" cy="403"/>
                <a:chOff x="2034" y="10075"/>
                <a:chExt cx="1354" cy="403"/>
              </a:xfrm>
            </p:grpSpPr>
            <p:sp>
              <p:nvSpPr>
                <p:cNvPr id="18615" name="Rectangle 81"/>
                <p:cNvSpPr>
                  <a:spLocks noChangeArrowheads="1"/>
                </p:cNvSpPr>
                <p:nvPr/>
              </p:nvSpPr>
              <p:spPr bwMode="auto">
                <a:xfrm>
                  <a:off x="2077" y="1007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网络新闻</a:t>
                  </a:r>
                </a:p>
                <a:p>
                  <a:pPr algn="l"/>
                  <a:endParaRPr kumimoji="1" lang="en-US" altLang="zh-CN" sz="2400">
                    <a:solidFill>
                      <a:schemeClr val="tx1"/>
                    </a:solidFill>
                  </a:endParaRPr>
                </a:p>
              </p:txBody>
            </p:sp>
            <p:sp>
              <p:nvSpPr>
                <p:cNvPr id="18616" name="Rectangle 269"/>
                <p:cNvSpPr>
                  <a:spLocks noChangeArrowheads="1"/>
                </p:cNvSpPr>
                <p:nvPr/>
              </p:nvSpPr>
              <p:spPr bwMode="auto">
                <a:xfrm>
                  <a:off x="2034" y="1007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6" name="Group 272"/>
              <p:cNvGrpSpPr>
                <a:grpSpLocks/>
              </p:cNvGrpSpPr>
              <p:nvPr/>
            </p:nvGrpSpPr>
            <p:grpSpPr bwMode="auto">
              <a:xfrm>
                <a:off x="0" y="10478"/>
                <a:ext cx="890" cy="403"/>
                <a:chOff x="0" y="10478"/>
                <a:chExt cx="890" cy="403"/>
              </a:xfrm>
            </p:grpSpPr>
            <p:sp>
              <p:nvSpPr>
                <p:cNvPr id="18613" name="Rectangle 82"/>
                <p:cNvSpPr>
                  <a:spLocks noChangeArrowheads="1"/>
                </p:cNvSpPr>
                <p:nvPr/>
              </p:nvSpPr>
              <p:spPr bwMode="auto">
                <a:xfrm>
                  <a:off x="43" y="1047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137</a:t>
                  </a:r>
                </a:p>
                <a:p>
                  <a:pPr algn="l"/>
                  <a:endParaRPr kumimoji="1" lang="en-US" altLang="zh-CN" sz="2400">
                    <a:solidFill>
                      <a:schemeClr val="tx1"/>
                    </a:solidFill>
                  </a:endParaRPr>
                </a:p>
              </p:txBody>
            </p:sp>
            <p:sp>
              <p:nvSpPr>
                <p:cNvPr id="18614" name="Rectangle 271"/>
                <p:cNvSpPr>
                  <a:spLocks noChangeArrowheads="1"/>
                </p:cNvSpPr>
                <p:nvPr/>
              </p:nvSpPr>
              <p:spPr bwMode="auto">
                <a:xfrm>
                  <a:off x="0" y="1047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7" name="Group 274"/>
              <p:cNvGrpSpPr>
                <a:grpSpLocks/>
              </p:cNvGrpSpPr>
              <p:nvPr/>
            </p:nvGrpSpPr>
            <p:grpSpPr bwMode="auto">
              <a:xfrm>
                <a:off x="890" y="10478"/>
                <a:ext cx="1144" cy="403"/>
                <a:chOff x="890" y="10478"/>
                <a:chExt cx="1144" cy="403"/>
              </a:xfrm>
            </p:grpSpPr>
            <p:sp>
              <p:nvSpPr>
                <p:cNvPr id="18611" name="Rectangle 83"/>
                <p:cNvSpPr>
                  <a:spLocks noChangeArrowheads="1"/>
                </p:cNvSpPr>
                <p:nvPr/>
              </p:nvSpPr>
              <p:spPr bwMode="auto">
                <a:xfrm>
                  <a:off x="933" y="1047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NETBIOS-NS</a:t>
                  </a:r>
                </a:p>
                <a:p>
                  <a:pPr algn="l"/>
                  <a:endParaRPr kumimoji="1" lang="en-US" altLang="zh-CN" sz="2400">
                    <a:solidFill>
                      <a:schemeClr val="tx1"/>
                    </a:solidFill>
                  </a:endParaRPr>
                </a:p>
              </p:txBody>
            </p:sp>
            <p:sp>
              <p:nvSpPr>
                <p:cNvPr id="18612" name="Rectangle 273"/>
                <p:cNvSpPr>
                  <a:spLocks noChangeArrowheads="1"/>
                </p:cNvSpPr>
                <p:nvPr/>
              </p:nvSpPr>
              <p:spPr bwMode="auto">
                <a:xfrm>
                  <a:off x="890" y="1047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8" name="Group 276"/>
              <p:cNvGrpSpPr>
                <a:grpSpLocks/>
              </p:cNvGrpSpPr>
              <p:nvPr/>
            </p:nvGrpSpPr>
            <p:grpSpPr bwMode="auto">
              <a:xfrm>
                <a:off x="2034" y="10478"/>
                <a:ext cx="1354" cy="403"/>
                <a:chOff x="2034" y="10478"/>
                <a:chExt cx="1354" cy="403"/>
              </a:xfrm>
            </p:grpSpPr>
            <p:sp>
              <p:nvSpPr>
                <p:cNvPr id="18609" name="Rectangle 84"/>
                <p:cNvSpPr>
                  <a:spLocks noChangeArrowheads="1"/>
                </p:cNvSpPr>
                <p:nvPr/>
              </p:nvSpPr>
              <p:spPr bwMode="auto">
                <a:xfrm>
                  <a:off x="2077" y="10478"/>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名字服务</a:t>
                  </a:r>
                </a:p>
                <a:p>
                  <a:pPr algn="l"/>
                  <a:endParaRPr kumimoji="1" lang="en-US" altLang="zh-CN" sz="2400">
                    <a:solidFill>
                      <a:schemeClr val="tx1"/>
                    </a:solidFill>
                  </a:endParaRPr>
                </a:p>
              </p:txBody>
            </p:sp>
            <p:sp>
              <p:nvSpPr>
                <p:cNvPr id="18610" name="Rectangle 275"/>
                <p:cNvSpPr>
                  <a:spLocks noChangeArrowheads="1"/>
                </p:cNvSpPr>
                <p:nvPr/>
              </p:nvSpPr>
              <p:spPr bwMode="auto">
                <a:xfrm>
                  <a:off x="2034" y="1047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9" name="Group 278"/>
              <p:cNvGrpSpPr>
                <a:grpSpLocks/>
              </p:cNvGrpSpPr>
              <p:nvPr/>
            </p:nvGrpSpPr>
            <p:grpSpPr bwMode="auto">
              <a:xfrm>
                <a:off x="0" y="10881"/>
                <a:ext cx="890" cy="403"/>
                <a:chOff x="0" y="10881"/>
                <a:chExt cx="890" cy="403"/>
              </a:xfrm>
            </p:grpSpPr>
            <p:sp>
              <p:nvSpPr>
                <p:cNvPr id="18607" name="Rectangle 85"/>
                <p:cNvSpPr>
                  <a:spLocks noChangeArrowheads="1"/>
                </p:cNvSpPr>
                <p:nvPr/>
              </p:nvSpPr>
              <p:spPr bwMode="auto">
                <a:xfrm>
                  <a:off x="43" y="1088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138</a:t>
                  </a:r>
                </a:p>
                <a:p>
                  <a:pPr algn="l"/>
                  <a:endParaRPr kumimoji="1" lang="en-US" altLang="zh-CN" sz="2400">
                    <a:solidFill>
                      <a:schemeClr val="tx1"/>
                    </a:solidFill>
                  </a:endParaRPr>
                </a:p>
              </p:txBody>
            </p:sp>
            <p:sp>
              <p:nvSpPr>
                <p:cNvPr id="18608" name="Rectangle 277"/>
                <p:cNvSpPr>
                  <a:spLocks noChangeArrowheads="1"/>
                </p:cNvSpPr>
                <p:nvPr/>
              </p:nvSpPr>
              <p:spPr bwMode="auto">
                <a:xfrm>
                  <a:off x="0" y="1088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0" name="Group 280"/>
              <p:cNvGrpSpPr>
                <a:grpSpLocks/>
              </p:cNvGrpSpPr>
              <p:nvPr/>
            </p:nvGrpSpPr>
            <p:grpSpPr bwMode="auto">
              <a:xfrm>
                <a:off x="890" y="10881"/>
                <a:ext cx="1144" cy="403"/>
                <a:chOff x="890" y="10881"/>
                <a:chExt cx="1144" cy="403"/>
              </a:xfrm>
            </p:grpSpPr>
            <p:sp>
              <p:nvSpPr>
                <p:cNvPr id="18605" name="Rectangle 86"/>
                <p:cNvSpPr>
                  <a:spLocks noChangeArrowheads="1"/>
                </p:cNvSpPr>
                <p:nvPr/>
              </p:nvSpPr>
              <p:spPr bwMode="auto">
                <a:xfrm>
                  <a:off x="933" y="1088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NETBIOS-DGM</a:t>
                  </a:r>
                </a:p>
                <a:p>
                  <a:pPr algn="l"/>
                  <a:endParaRPr kumimoji="1" lang="en-US" altLang="zh-CN" sz="2400">
                    <a:solidFill>
                      <a:schemeClr val="tx1"/>
                    </a:solidFill>
                  </a:endParaRPr>
                </a:p>
              </p:txBody>
            </p:sp>
            <p:sp>
              <p:nvSpPr>
                <p:cNvPr id="18606" name="Rectangle 279"/>
                <p:cNvSpPr>
                  <a:spLocks noChangeArrowheads="1"/>
                </p:cNvSpPr>
                <p:nvPr/>
              </p:nvSpPr>
              <p:spPr bwMode="auto">
                <a:xfrm>
                  <a:off x="890" y="1088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1" name="Group 282"/>
              <p:cNvGrpSpPr>
                <a:grpSpLocks/>
              </p:cNvGrpSpPr>
              <p:nvPr/>
            </p:nvGrpSpPr>
            <p:grpSpPr bwMode="auto">
              <a:xfrm>
                <a:off x="2034" y="10881"/>
                <a:ext cx="1354" cy="403"/>
                <a:chOff x="2034" y="10881"/>
                <a:chExt cx="1354" cy="403"/>
              </a:xfrm>
            </p:grpSpPr>
            <p:sp>
              <p:nvSpPr>
                <p:cNvPr id="18603" name="Rectangle 87"/>
                <p:cNvSpPr>
                  <a:spLocks noChangeArrowheads="1"/>
                </p:cNvSpPr>
                <p:nvPr/>
              </p:nvSpPr>
              <p:spPr bwMode="auto">
                <a:xfrm>
                  <a:off x="2077" y="10881"/>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数据报服务</a:t>
                  </a:r>
                </a:p>
                <a:p>
                  <a:pPr algn="l"/>
                  <a:endParaRPr kumimoji="1" lang="en-US" altLang="zh-CN" sz="2400">
                    <a:solidFill>
                      <a:schemeClr val="tx1"/>
                    </a:solidFill>
                  </a:endParaRPr>
                </a:p>
              </p:txBody>
            </p:sp>
            <p:sp>
              <p:nvSpPr>
                <p:cNvPr id="18604" name="Rectangle 281"/>
                <p:cNvSpPr>
                  <a:spLocks noChangeArrowheads="1"/>
                </p:cNvSpPr>
                <p:nvPr/>
              </p:nvSpPr>
              <p:spPr bwMode="auto">
                <a:xfrm>
                  <a:off x="2034" y="1088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2" name="Group 284"/>
              <p:cNvGrpSpPr>
                <a:grpSpLocks/>
              </p:cNvGrpSpPr>
              <p:nvPr/>
            </p:nvGrpSpPr>
            <p:grpSpPr bwMode="auto">
              <a:xfrm>
                <a:off x="0" y="11284"/>
                <a:ext cx="890" cy="403"/>
                <a:chOff x="0" y="11284"/>
                <a:chExt cx="890" cy="403"/>
              </a:xfrm>
            </p:grpSpPr>
            <p:sp>
              <p:nvSpPr>
                <p:cNvPr id="18601" name="Rectangle 88"/>
                <p:cNvSpPr>
                  <a:spLocks noChangeArrowheads="1"/>
                </p:cNvSpPr>
                <p:nvPr/>
              </p:nvSpPr>
              <p:spPr bwMode="auto">
                <a:xfrm>
                  <a:off x="43" y="1128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139</a:t>
                  </a:r>
                </a:p>
                <a:p>
                  <a:pPr algn="l"/>
                  <a:endParaRPr kumimoji="1" lang="en-US" altLang="zh-CN" sz="2400">
                    <a:solidFill>
                      <a:schemeClr val="tx1"/>
                    </a:solidFill>
                  </a:endParaRPr>
                </a:p>
              </p:txBody>
            </p:sp>
            <p:sp>
              <p:nvSpPr>
                <p:cNvPr id="18602" name="Rectangle 283"/>
                <p:cNvSpPr>
                  <a:spLocks noChangeArrowheads="1"/>
                </p:cNvSpPr>
                <p:nvPr/>
              </p:nvSpPr>
              <p:spPr bwMode="auto">
                <a:xfrm>
                  <a:off x="0" y="1128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3" name="Group 286"/>
              <p:cNvGrpSpPr>
                <a:grpSpLocks/>
              </p:cNvGrpSpPr>
              <p:nvPr/>
            </p:nvGrpSpPr>
            <p:grpSpPr bwMode="auto">
              <a:xfrm>
                <a:off x="890" y="11284"/>
                <a:ext cx="1144" cy="403"/>
                <a:chOff x="890" y="11284"/>
                <a:chExt cx="1144" cy="403"/>
              </a:xfrm>
            </p:grpSpPr>
            <p:sp>
              <p:nvSpPr>
                <p:cNvPr id="18599" name="Rectangle 89"/>
                <p:cNvSpPr>
                  <a:spLocks noChangeArrowheads="1"/>
                </p:cNvSpPr>
                <p:nvPr/>
              </p:nvSpPr>
              <p:spPr bwMode="auto">
                <a:xfrm>
                  <a:off x="933" y="1128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NETBIOS-SSN</a:t>
                  </a:r>
                </a:p>
                <a:p>
                  <a:pPr algn="l"/>
                  <a:endParaRPr kumimoji="1" lang="en-US" altLang="zh-CN" sz="2400">
                    <a:solidFill>
                      <a:schemeClr val="tx1"/>
                    </a:solidFill>
                  </a:endParaRPr>
                </a:p>
              </p:txBody>
            </p:sp>
            <p:sp>
              <p:nvSpPr>
                <p:cNvPr id="18600" name="Rectangle 285"/>
                <p:cNvSpPr>
                  <a:spLocks noChangeArrowheads="1"/>
                </p:cNvSpPr>
                <p:nvPr/>
              </p:nvSpPr>
              <p:spPr bwMode="auto">
                <a:xfrm>
                  <a:off x="890" y="1128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4" name="Group 288"/>
              <p:cNvGrpSpPr>
                <a:grpSpLocks/>
              </p:cNvGrpSpPr>
              <p:nvPr/>
            </p:nvGrpSpPr>
            <p:grpSpPr bwMode="auto">
              <a:xfrm>
                <a:off x="2034" y="11284"/>
                <a:ext cx="1354" cy="403"/>
                <a:chOff x="2034" y="11284"/>
                <a:chExt cx="1354" cy="403"/>
              </a:xfrm>
            </p:grpSpPr>
            <p:sp>
              <p:nvSpPr>
                <p:cNvPr id="18597" name="Rectangle 90"/>
                <p:cNvSpPr>
                  <a:spLocks noChangeArrowheads="1"/>
                </p:cNvSpPr>
                <p:nvPr/>
              </p:nvSpPr>
              <p:spPr bwMode="auto">
                <a:xfrm>
                  <a:off x="2077" y="11284"/>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会话服务</a:t>
                  </a:r>
                </a:p>
                <a:p>
                  <a:pPr algn="l"/>
                  <a:endParaRPr kumimoji="1" lang="en-US" altLang="zh-CN" sz="2400">
                    <a:solidFill>
                      <a:schemeClr val="tx1"/>
                    </a:solidFill>
                  </a:endParaRPr>
                </a:p>
              </p:txBody>
            </p:sp>
            <p:sp>
              <p:nvSpPr>
                <p:cNvPr id="18598" name="Rectangle 287"/>
                <p:cNvSpPr>
                  <a:spLocks noChangeArrowheads="1"/>
                </p:cNvSpPr>
                <p:nvPr/>
              </p:nvSpPr>
              <p:spPr bwMode="auto">
                <a:xfrm>
                  <a:off x="2034" y="1128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5" name="Group 290"/>
              <p:cNvGrpSpPr>
                <a:grpSpLocks/>
              </p:cNvGrpSpPr>
              <p:nvPr/>
            </p:nvGrpSpPr>
            <p:grpSpPr bwMode="auto">
              <a:xfrm>
                <a:off x="0" y="11687"/>
                <a:ext cx="890" cy="403"/>
                <a:chOff x="0" y="11687"/>
                <a:chExt cx="890" cy="403"/>
              </a:xfrm>
            </p:grpSpPr>
            <p:sp>
              <p:nvSpPr>
                <p:cNvPr id="18595" name="Rectangle 91"/>
                <p:cNvSpPr>
                  <a:spLocks noChangeArrowheads="1"/>
                </p:cNvSpPr>
                <p:nvPr/>
              </p:nvSpPr>
              <p:spPr bwMode="auto">
                <a:xfrm>
                  <a:off x="43" y="1168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161</a:t>
                  </a:r>
                </a:p>
                <a:p>
                  <a:pPr algn="l"/>
                  <a:endParaRPr kumimoji="1" lang="en-US" altLang="zh-CN" sz="2400">
                    <a:solidFill>
                      <a:schemeClr val="tx1"/>
                    </a:solidFill>
                  </a:endParaRPr>
                </a:p>
              </p:txBody>
            </p:sp>
            <p:sp>
              <p:nvSpPr>
                <p:cNvPr id="18596" name="Rectangle 289"/>
                <p:cNvSpPr>
                  <a:spLocks noChangeArrowheads="1"/>
                </p:cNvSpPr>
                <p:nvPr/>
              </p:nvSpPr>
              <p:spPr bwMode="auto">
                <a:xfrm>
                  <a:off x="0" y="1168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6" name="Group 292"/>
              <p:cNvGrpSpPr>
                <a:grpSpLocks/>
              </p:cNvGrpSpPr>
              <p:nvPr/>
            </p:nvGrpSpPr>
            <p:grpSpPr bwMode="auto">
              <a:xfrm>
                <a:off x="890" y="11687"/>
                <a:ext cx="1144" cy="403"/>
                <a:chOff x="890" y="11687"/>
                <a:chExt cx="1144" cy="403"/>
              </a:xfrm>
            </p:grpSpPr>
            <p:sp>
              <p:nvSpPr>
                <p:cNvPr id="18593" name="Rectangle 92"/>
                <p:cNvSpPr>
                  <a:spLocks noChangeArrowheads="1"/>
                </p:cNvSpPr>
                <p:nvPr/>
              </p:nvSpPr>
              <p:spPr bwMode="auto">
                <a:xfrm>
                  <a:off x="933" y="1168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a:t>
                  </a:r>
                </a:p>
                <a:p>
                  <a:pPr algn="l"/>
                  <a:endParaRPr kumimoji="1" lang="en-US" altLang="zh-CN" sz="2400">
                    <a:solidFill>
                      <a:schemeClr val="tx1"/>
                    </a:solidFill>
                  </a:endParaRPr>
                </a:p>
              </p:txBody>
            </p:sp>
            <p:sp>
              <p:nvSpPr>
                <p:cNvPr id="18594" name="Rectangle 291"/>
                <p:cNvSpPr>
                  <a:spLocks noChangeArrowheads="1"/>
                </p:cNvSpPr>
                <p:nvPr/>
              </p:nvSpPr>
              <p:spPr bwMode="auto">
                <a:xfrm>
                  <a:off x="890" y="1168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7" name="Group 294"/>
              <p:cNvGrpSpPr>
                <a:grpSpLocks/>
              </p:cNvGrpSpPr>
              <p:nvPr/>
            </p:nvGrpSpPr>
            <p:grpSpPr bwMode="auto">
              <a:xfrm>
                <a:off x="2034" y="11687"/>
                <a:ext cx="1354" cy="403"/>
                <a:chOff x="2034" y="11687"/>
                <a:chExt cx="1354" cy="403"/>
              </a:xfrm>
            </p:grpSpPr>
            <p:sp>
              <p:nvSpPr>
                <p:cNvPr id="18591" name="Rectangle 93"/>
                <p:cNvSpPr>
                  <a:spLocks noChangeArrowheads="1"/>
                </p:cNvSpPr>
                <p:nvPr/>
              </p:nvSpPr>
              <p:spPr bwMode="auto">
                <a:xfrm>
                  <a:off x="2077" y="11687"/>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简单网络管理协议</a:t>
                  </a:r>
                </a:p>
                <a:p>
                  <a:pPr algn="l"/>
                  <a:endParaRPr kumimoji="1" lang="en-US" altLang="zh-CN" sz="2400">
                    <a:solidFill>
                      <a:schemeClr val="tx1"/>
                    </a:solidFill>
                  </a:endParaRPr>
                </a:p>
              </p:txBody>
            </p:sp>
            <p:sp>
              <p:nvSpPr>
                <p:cNvPr id="18592" name="Rectangle 293"/>
                <p:cNvSpPr>
                  <a:spLocks noChangeArrowheads="1"/>
                </p:cNvSpPr>
                <p:nvPr/>
              </p:nvSpPr>
              <p:spPr bwMode="auto">
                <a:xfrm>
                  <a:off x="2034" y="1168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8" name="Group 296"/>
              <p:cNvGrpSpPr>
                <a:grpSpLocks/>
              </p:cNvGrpSpPr>
              <p:nvPr/>
            </p:nvGrpSpPr>
            <p:grpSpPr bwMode="auto">
              <a:xfrm>
                <a:off x="0" y="12090"/>
                <a:ext cx="890" cy="403"/>
                <a:chOff x="0" y="12090"/>
                <a:chExt cx="890" cy="403"/>
              </a:xfrm>
            </p:grpSpPr>
            <p:sp>
              <p:nvSpPr>
                <p:cNvPr id="18589" name="Rectangle 94"/>
                <p:cNvSpPr>
                  <a:spLocks noChangeArrowheads="1"/>
                </p:cNvSpPr>
                <p:nvPr/>
              </p:nvSpPr>
              <p:spPr bwMode="auto">
                <a:xfrm>
                  <a:off x="43" y="1209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162</a:t>
                  </a:r>
                </a:p>
                <a:p>
                  <a:pPr algn="l"/>
                  <a:endParaRPr kumimoji="1" lang="en-US" altLang="zh-CN" sz="2400">
                    <a:solidFill>
                      <a:schemeClr val="tx1"/>
                    </a:solidFill>
                  </a:endParaRPr>
                </a:p>
              </p:txBody>
            </p:sp>
            <p:sp>
              <p:nvSpPr>
                <p:cNvPr id="18590" name="Rectangle 295"/>
                <p:cNvSpPr>
                  <a:spLocks noChangeArrowheads="1"/>
                </p:cNvSpPr>
                <p:nvPr/>
              </p:nvSpPr>
              <p:spPr bwMode="auto">
                <a:xfrm>
                  <a:off x="0" y="1209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9" name="Group 298"/>
              <p:cNvGrpSpPr>
                <a:grpSpLocks/>
              </p:cNvGrpSpPr>
              <p:nvPr/>
            </p:nvGrpSpPr>
            <p:grpSpPr bwMode="auto">
              <a:xfrm>
                <a:off x="890" y="12090"/>
                <a:ext cx="1144" cy="403"/>
                <a:chOff x="890" y="12090"/>
                <a:chExt cx="1144" cy="403"/>
              </a:xfrm>
            </p:grpSpPr>
            <p:sp>
              <p:nvSpPr>
                <p:cNvPr id="18587" name="Rectangle 95"/>
                <p:cNvSpPr>
                  <a:spLocks noChangeArrowheads="1"/>
                </p:cNvSpPr>
                <p:nvPr/>
              </p:nvSpPr>
              <p:spPr bwMode="auto">
                <a:xfrm>
                  <a:off x="933" y="1209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SNMP-TRAP</a:t>
                  </a:r>
                </a:p>
                <a:p>
                  <a:pPr algn="l"/>
                  <a:endParaRPr kumimoji="1" lang="en-US" altLang="zh-CN" sz="2400">
                    <a:solidFill>
                      <a:schemeClr val="tx1"/>
                    </a:solidFill>
                  </a:endParaRPr>
                </a:p>
              </p:txBody>
            </p:sp>
            <p:sp>
              <p:nvSpPr>
                <p:cNvPr id="18588" name="Rectangle 297"/>
                <p:cNvSpPr>
                  <a:spLocks noChangeArrowheads="1"/>
                </p:cNvSpPr>
                <p:nvPr/>
              </p:nvSpPr>
              <p:spPr bwMode="auto">
                <a:xfrm>
                  <a:off x="890" y="1209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0" name="Group 300"/>
              <p:cNvGrpSpPr>
                <a:grpSpLocks/>
              </p:cNvGrpSpPr>
              <p:nvPr/>
            </p:nvGrpSpPr>
            <p:grpSpPr bwMode="auto">
              <a:xfrm>
                <a:off x="2034" y="12090"/>
                <a:ext cx="1354" cy="403"/>
                <a:chOff x="2034" y="12090"/>
                <a:chExt cx="1354" cy="403"/>
              </a:xfrm>
            </p:grpSpPr>
            <p:sp>
              <p:nvSpPr>
                <p:cNvPr id="18585" name="Rectangle 96"/>
                <p:cNvSpPr>
                  <a:spLocks noChangeArrowheads="1"/>
                </p:cNvSpPr>
                <p:nvPr/>
              </p:nvSpPr>
              <p:spPr bwMode="auto">
                <a:xfrm>
                  <a:off x="2077" y="12090"/>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 </a:t>
                  </a:r>
                  <a:r>
                    <a:rPr kumimoji="1" lang="zh-CN" altLang="en-US" sz="1200">
                      <a:solidFill>
                        <a:srgbClr val="000000"/>
                      </a:solidFill>
                    </a:rPr>
                    <a:t>陷阱报文</a:t>
                  </a:r>
                </a:p>
                <a:p>
                  <a:pPr algn="l"/>
                  <a:endParaRPr kumimoji="1" lang="en-US" altLang="zh-CN" sz="2400">
                    <a:solidFill>
                      <a:schemeClr val="tx1"/>
                    </a:solidFill>
                  </a:endParaRPr>
                </a:p>
              </p:txBody>
            </p:sp>
            <p:sp>
              <p:nvSpPr>
                <p:cNvPr id="18586" name="Rectangle 299"/>
                <p:cNvSpPr>
                  <a:spLocks noChangeArrowheads="1"/>
                </p:cNvSpPr>
                <p:nvPr/>
              </p:nvSpPr>
              <p:spPr bwMode="auto">
                <a:xfrm>
                  <a:off x="2034" y="1209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1" name="Group 302"/>
              <p:cNvGrpSpPr>
                <a:grpSpLocks/>
              </p:cNvGrpSpPr>
              <p:nvPr/>
            </p:nvGrpSpPr>
            <p:grpSpPr bwMode="auto">
              <a:xfrm>
                <a:off x="0" y="12493"/>
                <a:ext cx="890" cy="403"/>
                <a:chOff x="0" y="12493"/>
                <a:chExt cx="890" cy="403"/>
              </a:xfrm>
            </p:grpSpPr>
            <p:sp>
              <p:nvSpPr>
                <p:cNvPr id="18583" name="Rectangle 97"/>
                <p:cNvSpPr>
                  <a:spLocks noChangeArrowheads="1"/>
                </p:cNvSpPr>
                <p:nvPr/>
              </p:nvSpPr>
              <p:spPr bwMode="auto">
                <a:xfrm>
                  <a:off x="43" y="1249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163</a:t>
                  </a:r>
                </a:p>
                <a:p>
                  <a:pPr algn="l"/>
                  <a:endParaRPr kumimoji="1" lang="en-US" altLang="zh-CN" sz="2400">
                    <a:solidFill>
                      <a:schemeClr val="tx1"/>
                    </a:solidFill>
                  </a:endParaRPr>
                </a:p>
              </p:txBody>
            </p:sp>
            <p:sp>
              <p:nvSpPr>
                <p:cNvPr id="18584" name="Rectangle 301"/>
                <p:cNvSpPr>
                  <a:spLocks noChangeArrowheads="1"/>
                </p:cNvSpPr>
                <p:nvPr/>
              </p:nvSpPr>
              <p:spPr bwMode="auto">
                <a:xfrm>
                  <a:off x="0" y="1249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2" name="Group 304"/>
              <p:cNvGrpSpPr>
                <a:grpSpLocks/>
              </p:cNvGrpSpPr>
              <p:nvPr/>
            </p:nvGrpSpPr>
            <p:grpSpPr bwMode="auto">
              <a:xfrm>
                <a:off x="890" y="12493"/>
                <a:ext cx="1144" cy="403"/>
                <a:chOff x="890" y="12493"/>
                <a:chExt cx="1144" cy="403"/>
              </a:xfrm>
            </p:grpSpPr>
            <p:sp>
              <p:nvSpPr>
                <p:cNvPr id="18581" name="Rectangle 98"/>
                <p:cNvSpPr>
                  <a:spLocks noChangeArrowheads="1"/>
                </p:cNvSpPr>
                <p:nvPr/>
              </p:nvSpPr>
              <p:spPr bwMode="auto">
                <a:xfrm>
                  <a:off x="933" y="1249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CMIP-MANAGER</a:t>
                  </a:r>
                </a:p>
                <a:p>
                  <a:pPr algn="l"/>
                  <a:endParaRPr kumimoji="1" lang="en-US" altLang="zh-CN" sz="2400">
                    <a:solidFill>
                      <a:schemeClr val="tx1"/>
                    </a:solidFill>
                  </a:endParaRPr>
                </a:p>
              </p:txBody>
            </p:sp>
            <p:sp>
              <p:nvSpPr>
                <p:cNvPr id="18582" name="Rectangle 303"/>
                <p:cNvSpPr>
                  <a:spLocks noChangeArrowheads="1"/>
                </p:cNvSpPr>
                <p:nvPr/>
              </p:nvSpPr>
              <p:spPr bwMode="auto">
                <a:xfrm>
                  <a:off x="890" y="1249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3" name="Group 306"/>
              <p:cNvGrpSpPr>
                <a:grpSpLocks/>
              </p:cNvGrpSpPr>
              <p:nvPr/>
            </p:nvGrpSpPr>
            <p:grpSpPr bwMode="auto">
              <a:xfrm>
                <a:off x="2034" y="12493"/>
                <a:ext cx="1354" cy="403"/>
                <a:chOff x="2034" y="12493"/>
                <a:chExt cx="1354" cy="403"/>
              </a:xfrm>
            </p:grpSpPr>
            <p:sp>
              <p:nvSpPr>
                <p:cNvPr id="18579" name="Rectangle 99"/>
                <p:cNvSpPr>
                  <a:spLocks noChangeArrowheads="1"/>
                </p:cNvSpPr>
                <p:nvPr/>
              </p:nvSpPr>
              <p:spPr bwMode="auto">
                <a:xfrm>
                  <a:off x="2077" y="1249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CMIP/TCP </a:t>
                  </a:r>
                  <a:r>
                    <a:rPr kumimoji="1" lang="zh-CN" altLang="en-US" sz="1200">
                      <a:solidFill>
                        <a:srgbClr val="000000"/>
                      </a:solidFill>
                    </a:rPr>
                    <a:t>管理者</a:t>
                  </a:r>
                </a:p>
                <a:p>
                  <a:pPr algn="l"/>
                  <a:endParaRPr kumimoji="1" lang="en-US" altLang="zh-CN" sz="2400">
                    <a:solidFill>
                      <a:schemeClr val="tx1"/>
                    </a:solidFill>
                  </a:endParaRPr>
                </a:p>
              </p:txBody>
            </p:sp>
            <p:sp>
              <p:nvSpPr>
                <p:cNvPr id="18580" name="Rectangle 305"/>
                <p:cNvSpPr>
                  <a:spLocks noChangeArrowheads="1"/>
                </p:cNvSpPr>
                <p:nvPr/>
              </p:nvSpPr>
              <p:spPr bwMode="auto">
                <a:xfrm>
                  <a:off x="2034" y="1249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4" name="Group 308"/>
              <p:cNvGrpSpPr>
                <a:grpSpLocks/>
              </p:cNvGrpSpPr>
              <p:nvPr/>
            </p:nvGrpSpPr>
            <p:grpSpPr bwMode="auto">
              <a:xfrm>
                <a:off x="0" y="12896"/>
                <a:ext cx="890" cy="403"/>
                <a:chOff x="0" y="12896"/>
                <a:chExt cx="890" cy="403"/>
              </a:xfrm>
            </p:grpSpPr>
            <p:sp>
              <p:nvSpPr>
                <p:cNvPr id="18577" name="Rectangle 100"/>
                <p:cNvSpPr>
                  <a:spLocks noChangeArrowheads="1"/>
                </p:cNvSpPr>
                <p:nvPr/>
              </p:nvSpPr>
              <p:spPr bwMode="auto">
                <a:xfrm>
                  <a:off x="43" y="1289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164</a:t>
                  </a:r>
                </a:p>
                <a:p>
                  <a:pPr algn="l"/>
                  <a:endParaRPr kumimoji="1" lang="en-US" altLang="zh-CN" sz="2400">
                    <a:solidFill>
                      <a:schemeClr val="tx1"/>
                    </a:solidFill>
                  </a:endParaRPr>
                </a:p>
              </p:txBody>
            </p:sp>
            <p:sp>
              <p:nvSpPr>
                <p:cNvPr id="18578" name="Rectangle 307"/>
                <p:cNvSpPr>
                  <a:spLocks noChangeArrowheads="1"/>
                </p:cNvSpPr>
                <p:nvPr/>
              </p:nvSpPr>
              <p:spPr bwMode="auto">
                <a:xfrm>
                  <a:off x="0" y="1289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5" name="Group 310"/>
              <p:cNvGrpSpPr>
                <a:grpSpLocks/>
              </p:cNvGrpSpPr>
              <p:nvPr/>
            </p:nvGrpSpPr>
            <p:grpSpPr bwMode="auto">
              <a:xfrm>
                <a:off x="890" y="12896"/>
                <a:ext cx="1144" cy="403"/>
                <a:chOff x="890" y="12896"/>
                <a:chExt cx="1144" cy="403"/>
              </a:xfrm>
            </p:grpSpPr>
            <p:sp>
              <p:nvSpPr>
                <p:cNvPr id="18575" name="Rectangle 101"/>
                <p:cNvSpPr>
                  <a:spLocks noChangeArrowheads="1"/>
                </p:cNvSpPr>
                <p:nvPr/>
              </p:nvSpPr>
              <p:spPr bwMode="auto">
                <a:xfrm>
                  <a:off x="933" y="1289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CMIP-AGENT</a:t>
                  </a:r>
                </a:p>
                <a:p>
                  <a:pPr algn="l"/>
                  <a:endParaRPr kumimoji="1" lang="en-US" altLang="zh-CN" sz="2400">
                    <a:solidFill>
                      <a:schemeClr val="tx1"/>
                    </a:solidFill>
                  </a:endParaRPr>
                </a:p>
              </p:txBody>
            </p:sp>
            <p:sp>
              <p:nvSpPr>
                <p:cNvPr id="18576" name="Rectangle 309"/>
                <p:cNvSpPr>
                  <a:spLocks noChangeArrowheads="1"/>
                </p:cNvSpPr>
                <p:nvPr/>
              </p:nvSpPr>
              <p:spPr bwMode="auto">
                <a:xfrm>
                  <a:off x="890" y="1289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6" name="Group 312"/>
              <p:cNvGrpSpPr>
                <a:grpSpLocks/>
              </p:cNvGrpSpPr>
              <p:nvPr/>
            </p:nvGrpSpPr>
            <p:grpSpPr bwMode="auto">
              <a:xfrm>
                <a:off x="2034" y="12896"/>
                <a:ext cx="1354" cy="403"/>
                <a:chOff x="2034" y="12896"/>
                <a:chExt cx="1354" cy="403"/>
              </a:xfrm>
            </p:grpSpPr>
            <p:sp>
              <p:nvSpPr>
                <p:cNvPr id="18573" name="Rectangle 102"/>
                <p:cNvSpPr>
                  <a:spLocks noChangeArrowheads="1"/>
                </p:cNvSpPr>
                <p:nvPr/>
              </p:nvSpPr>
              <p:spPr bwMode="auto">
                <a:xfrm>
                  <a:off x="2077" y="12896"/>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CMIP/TCP </a:t>
                  </a:r>
                  <a:r>
                    <a:rPr kumimoji="1" lang="zh-CN" altLang="en-US" sz="1200">
                      <a:solidFill>
                        <a:srgbClr val="000000"/>
                      </a:solidFill>
                    </a:rPr>
                    <a:t>代理</a:t>
                  </a:r>
                </a:p>
                <a:p>
                  <a:pPr algn="l"/>
                  <a:endParaRPr kumimoji="1" lang="en-US" altLang="zh-CN" sz="2400">
                    <a:solidFill>
                      <a:schemeClr val="tx1"/>
                    </a:solidFill>
                  </a:endParaRPr>
                </a:p>
              </p:txBody>
            </p:sp>
            <p:sp>
              <p:nvSpPr>
                <p:cNvPr id="18574" name="Rectangle 311"/>
                <p:cNvSpPr>
                  <a:spLocks noChangeArrowheads="1"/>
                </p:cNvSpPr>
                <p:nvPr/>
              </p:nvSpPr>
              <p:spPr bwMode="auto">
                <a:xfrm>
                  <a:off x="2034" y="1289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7" name="Group 314"/>
              <p:cNvGrpSpPr>
                <a:grpSpLocks/>
              </p:cNvGrpSpPr>
              <p:nvPr/>
            </p:nvGrpSpPr>
            <p:grpSpPr bwMode="auto">
              <a:xfrm>
                <a:off x="0" y="13299"/>
                <a:ext cx="890" cy="403"/>
                <a:chOff x="0" y="13299"/>
                <a:chExt cx="890" cy="403"/>
              </a:xfrm>
            </p:grpSpPr>
            <p:sp>
              <p:nvSpPr>
                <p:cNvPr id="18571" name="Rectangle 103"/>
                <p:cNvSpPr>
                  <a:spLocks noChangeArrowheads="1"/>
                </p:cNvSpPr>
                <p:nvPr/>
              </p:nvSpPr>
              <p:spPr bwMode="auto">
                <a:xfrm>
                  <a:off x="43" y="1329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179</a:t>
                  </a:r>
                </a:p>
                <a:p>
                  <a:pPr algn="l"/>
                  <a:endParaRPr kumimoji="1" lang="en-US" altLang="zh-CN" sz="2400">
                    <a:solidFill>
                      <a:schemeClr val="tx1"/>
                    </a:solidFill>
                  </a:endParaRPr>
                </a:p>
              </p:txBody>
            </p:sp>
            <p:sp>
              <p:nvSpPr>
                <p:cNvPr id="18572" name="Rectangle 313"/>
                <p:cNvSpPr>
                  <a:spLocks noChangeArrowheads="1"/>
                </p:cNvSpPr>
                <p:nvPr/>
              </p:nvSpPr>
              <p:spPr bwMode="auto">
                <a:xfrm>
                  <a:off x="0" y="1329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8" name="Group 316"/>
              <p:cNvGrpSpPr>
                <a:grpSpLocks/>
              </p:cNvGrpSpPr>
              <p:nvPr/>
            </p:nvGrpSpPr>
            <p:grpSpPr bwMode="auto">
              <a:xfrm>
                <a:off x="890" y="13299"/>
                <a:ext cx="1144" cy="403"/>
                <a:chOff x="890" y="13299"/>
                <a:chExt cx="1144" cy="403"/>
              </a:xfrm>
            </p:grpSpPr>
            <p:sp>
              <p:nvSpPr>
                <p:cNvPr id="18569" name="Rectangle 104"/>
                <p:cNvSpPr>
                  <a:spLocks noChangeArrowheads="1"/>
                </p:cNvSpPr>
                <p:nvPr/>
              </p:nvSpPr>
              <p:spPr bwMode="auto">
                <a:xfrm>
                  <a:off x="933" y="1329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BGP</a:t>
                  </a:r>
                </a:p>
                <a:p>
                  <a:pPr algn="l"/>
                  <a:endParaRPr kumimoji="1" lang="en-US" altLang="zh-CN" sz="2400">
                    <a:solidFill>
                      <a:schemeClr val="tx1"/>
                    </a:solidFill>
                  </a:endParaRPr>
                </a:p>
              </p:txBody>
            </p:sp>
            <p:sp>
              <p:nvSpPr>
                <p:cNvPr id="18570" name="Rectangle 315"/>
                <p:cNvSpPr>
                  <a:spLocks noChangeArrowheads="1"/>
                </p:cNvSpPr>
                <p:nvPr/>
              </p:nvSpPr>
              <p:spPr bwMode="auto">
                <a:xfrm>
                  <a:off x="890" y="1329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9" name="Group 318"/>
              <p:cNvGrpSpPr>
                <a:grpSpLocks/>
              </p:cNvGrpSpPr>
              <p:nvPr/>
            </p:nvGrpSpPr>
            <p:grpSpPr bwMode="auto">
              <a:xfrm>
                <a:off x="2034" y="13299"/>
                <a:ext cx="1354" cy="403"/>
                <a:chOff x="2034" y="13299"/>
                <a:chExt cx="1354" cy="403"/>
              </a:xfrm>
            </p:grpSpPr>
            <p:sp>
              <p:nvSpPr>
                <p:cNvPr id="18567" name="Rectangle 105"/>
                <p:cNvSpPr>
                  <a:spLocks noChangeArrowheads="1"/>
                </p:cNvSpPr>
                <p:nvPr/>
              </p:nvSpPr>
              <p:spPr bwMode="auto">
                <a:xfrm>
                  <a:off x="2077" y="1329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边界网关协议</a:t>
                  </a:r>
                </a:p>
                <a:p>
                  <a:pPr algn="l"/>
                  <a:endParaRPr kumimoji="1" lang="en-US" altLang="zh-CN" sz="2400">
                    <a:solidFill>
                      <a:schemeClr val="tx1"/>
                    </a:solidFill>
                  </a:endParaRPr>
                </a:p>
              </p:txBody>
            </p:sp>
            <p:sp>
              <p:nvSpPr>
                <p:cNvPr id="18568" name="Rectangle 317"/>
                <p:cNvSpPr>
                  <a:spLocks noChangeArrowheads="1"/>
                </p:cNvSpPr>
                <p:nvPr/>
              </p:nvSpPr>
              <p:spPr bwMode="auto">
                <a:xfrm>
                  <a:off x="2034" y="1329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0" name="Group 320"/>
              <p:cNvGrpSpPr>
                <a:grpSpLocks/>
              </p:cNvGrpSpPr>
              <p:nvPr/>
            </p:nvGrpSpPr>
            <p:grpSpPr bwMode="auto">
              <a:xfrm>
                <a:off x="0" y="13702"/>
                <a:ext cx="890" cy="403"/>
                <a:chOff x="0" y="13702"/>
                <a:chExt cx="890" cy="403"/>
              </a:xfrm>
            </p:grpSpPr>
            <p:sp>
              <p:nvSpPr>
                <p:cNvPr id="18565" name="Rectangle 106"/>
                <p:cNvSpPr>
                  <a:spLocks noChangeArrowheads="1"/>
                </p:cNvSpPr>
                <p:nvPr/>
              </p:nvSpPr>
              <p:spPr bwMode="auto">
                <a:xfrm>
                  <a:off x="43" y="1370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213</a:t>
                  </a:r>
                </a:p>
                <a:p>
                  <a:pPr algn="l"/>
                  <a:endParaRPr kumimoji="1" lang="en-US" altLang="zh-CN" sz="2400">
                    <a:solidFill>
                      <a:schemeClr val="tx1"/>
                    </a:solidFill>
                  </a:endParaRPr>
                </a:p>
              </p:txBody>
            </p:sp>
            <p:sp>
              <p:nvSpPr>
                <p:cNvPr id="18566" name="Rectangle 319"/>
                <p:cNvSpPr>
                  <a:spLocks noChangeArrowheads="1"/>
                </p:cNvSpPr>
                <p:nvPr/>
              </p:nvSpPr>
              <p:spPr bwMode="auto">
                <a:xfrm>
                  <a:off x="0" y="1370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1" name="Group 322"/>
              <p:cNvGrpSpPr>
                <a:grpSpLocks/>
              </p:cNvGrpSpPr>
              <p:nvPr/>
            </p:nvGrpSpPr>
            <p:grpSpPr bwMode="auto">
              <a:xfrm>
                <a:off x="890" y="13702"/>
                <a:ext cx="1144" cy="403"/>
                <a:chOff x="890" y="13702"/>
                <a:chExt cx="1144" cy="403"/>
              </a:xfrm>
            </p:grpSpPr>
            <p:sp>
              <p:nvSpPr>
                <p:cNvPr id="18563" name="Rectangle 107"/>
                <p:cNvSpPr>
                  <a:spLocks noChangeArrowheads="1"/>
                </p:cNvSpPr>
                <p:nvPr/>
              </p:nvSpPr>
              <p:spPr bwMode="auto">
                <a:xfrm>
                  <a:off x="933" y="1370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IPX</a:t>
                  </a:r>
                </a:p>
                <a:p>
                  <a:pPr algn="l"/>
                  <a:endParaRPr kumimoji="1" lang="en-US" altLang="zh-CN" sz="2400">
                    <a:solidFill>
                      <a:schemeClr val="tx1"/>
                    </a:solidFill>
                  </a:endParaRPr>
                </a:p>
              </p:txBody>
            </p:sp>
            <p:sp>
              <p:nvSpPr>
                <p:cNvPr id="18564" name="Rectangle 321"/>
                <p:cNvSpPr>
                  <a:spLocks noChangeArrowheads="1"/>
                </p:cNvSpPr>
                <p:nvPr/>
              </p:nvSpPr>
              <p:spPr bwMode="auto">
                <a:xfrm>
                  <a:off x="890" y="1370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2" name="Group 324"/>
              <p:cNvGrpSpPr>
                <a:grpSpLocks/>
              </p:cNvGrpSpPr>
              <p:nvPr/>
            </p:nvGrpSpPr>
            <p:grpSpPr bwMode="auto">
              <a:xfrm>
                <a:off x="2034" y="13702"/>
                <a:ext cx="1354" cy="403"/>
                <a:chOff x="2034" y="13702"/>
                <a:chExt cx="1354" cy="403"/>
              </a:xfrm>
            </p:grpSpPr>
            <p:sp>
              <p:nvSpPr>
                <p:cNvPr id="18561" name="Rectangle 108"/>
                <p:cNvSpPr>
                  <a:spLocks noChangeArrowheads="1"/>
                </p:cNvSpPr>
                <p:nvPr/>
              </p:nvSpPr>
              <p:spPr bwMode="auto">
                <a:xfrm>
                  <a:off x="2077" y="1370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网间报文交换</a:t>
                  </a:r>
                </a:p>
                <a:p>
                  <a:pPr algn="l"/>
                  <a:endParaRPr kumimoji="1" lang="en-US" altLang="zh-CN" sz="2400">
                    <a:solidFill>
                      <a:schemeClr val="tx1"/>
                    </a:solidFill>
                  </a:endParaRPr>
                </a:p>
              </p:txBody>
            </p:sp>
            <p:sp>
              <p:nvSpPr>
                <p:cNvPr id="18562" name="Rectangle 323"/>
                <p:cNvSpPr>
                  <a:spLocks noChangeArrowheads="1"/>
                </p:cNvSpPr>
                <p:nvPr/>
              </p:nvSpPr>
              <p:spPr bwMode="auto">
                <a:xfrm>
                  <a:off x="2034" y="1370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3" name="Group 326"/>
              <p:cNvGrpSpPr>
                <a:grpSpLocks/>
              </p:cNvGrpSpPr>
              <p:nvPr/>
            </p:nvGrpSpPr>
            <p:grpSpPr bwMode="auto">
              <a:xfrm>
                <a:off x="0" y="14105"/>
                <a:ext cx="890" cy="403"/>
                <a:chOff x="0" y="14105"/>
                <a:chExt cx="890" cy="403"/>
              </a:xfrm>
            </p:grpSpPr>
            <p:sp>
              <p:nvSpPr>
                <p:cNvPr id="18559" name="Rectangle 109"/>
                <p:cNvSpPr>
                  <a:spLocks noChangeArrowheads="1"/>
                </p:cNvSpPr>
                <p:nvPr/>
              </p:nvSpPr>
              <p:spPr bwMode="auto">
                <a:xfrm>
                  <a:off x="43" y="1410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520</a:t>
                  </a:r>
                </a:p>
                <a:p>
                  <a:pPr algn="l"/>
                  <a:endParaRPr kumimoji="1" lang="en-US" altLang="zh-CN" sz="2400">
                    <a:solidFill>
                      <a:schemeClr val="tx1"/>
                    </a:solidFill>
                  </a:endParaRPr>
                </a:p>
              </p:txBody>
            </p:sp>
            <p:sp>
              <p:nvSpPr>
                <p:cNvPr id="18560" name="Rectangle 325"/>
                <p:cNvSpPr>
                  <a:spLocks noChangeArrowheads="1"/>
                </p:cNvSpPr>
                <p:nvPr/>
              </p:nvSpPr>
              <p:spPr bwMode="auto">
                <a:xfrm>
                  <a:off x="0" y="1410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4" name="Group 328"/>
              <p:cNvGrpSpPr>
                <a:grpSpLocks/>
              </p:cNvGrpSpPr>
              <p:nvPr/>
            </p:nvGrpSpPr>
            <p:grpSpPr bwMode="auto">
              <a:xfrm>
                <a:off x="890" y="14105"/>
                <a:ext cx="1144" cy="403"/>
                <a:chOff x="890" y="14105"/>
                <a:chExt cx="1144" cy="403"/>
              </a:xfrm>
            </p:grpSpPr>
            <p:sp>
              <p:nvSpPr>
                <p:cNvPr id="18557" name="Rectangle 110"/>
                <p:cNvSpPr>
                  <a:spLocks noChangeArrowheads="1"/>
                </p:cNvSpPr>
                <p:nvPr/>
              </p:nvSpPr>
              <p:spPr bwMode="auto">
                <a:xfrm>
                  <a:off x="933" y="1410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RIP</a:t>
                  </a:r>
                </a:p>
                <a:p>
                  <a:pPr algn="l"/>
                  <a:endParaRPr kumimoji="1" lang="en-US" altLang="zh-CN" sz="2400">
                    <a:solidFill>
                      <a:schemeClr val="tx1"/>
                    </a:solidFill>
                  </a:endParaRPr>
                </a:p>
              </p:txBody>
            </p:sp>
            <p:sp>
              <p:nvSpPr>
                <p:cNvPr id="18558" name="Rectangle 327"/>
                <p:cNvSpPr>
                  <a:spLocks noChangeArrowheads="1"/>
                </p:cNvSpPr>
                <p:nvPr/>
              </p:nvSpPr>
              <p:spPr bwMode="auto">
                <a:xfrm>
                  <a:off x="890" y="1410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5" name="Group 330"/>
              <p:cNvGrpSpPr>
                <a:grpSpLocks/>
              </p:cNvGrpSpPr>
              <p:nvPr/>
            </p:nvGrpSpPr>
            <p:grpSpPr bwMode="auto">
              <a:xfrm>
                <a:off x="2034" y="14105"/>
                <a:ext cx="1354" cy="403"/>
                <a:chOff x="2034" y="14105"/>
                <a:chExt cx="1354" cy="403"/>
              </a:xfrm>
            </p:grpSpPr>
            <p:sp>
              <p:nvSpPr>
                <p:cNvPr id="18555" name="Rectangle 111"/>
                <p:cNvSpPr>
                  <a:spLocks noChangeArrowheads="1"/>
                </p:cNvSpPr>
                <p:nvPr/>
              </p:nvSpPr>
              <p:spPr bwMode="auto">
                <a:xfrm>
                  <a:off x="2077" y="1410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路由信息协议</a:t>
                  </a:r>
                </a:p>
                <a:p>
                  <a:pPr algn="l"/>
                  <a:endParaRPr kumimoji="1" lang="en-US" altLang="zh-CN" sz="2400">
                    <a:solidFill>
                      <a:schemeClr val="tx1"/>
                    </a:solidFill>
                  </a:endParaRPr>
                </a:p>
              </p:txBody>
            </p:sp>
            <p:sp>
              <p:nvSpPr>
                <p:cNvPr id="18556" name="Rectangle 329"/>
                <p:cNvSpPr>
                  <a:spLocks noChangeArrowheads="1"/>
                </p:cNvSpPr>
                <p:nvPr/>
              </p:nvSpPr>
              <p:spPr bwMode="auto">
                <a:xfrm>
                  <a:off x="2034" y="1410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6" name="Group 332"/>
              <p:cNvGrpSpPr>
                <a:grpSpLocks/>
              </p:cNvGrpSpPr>
              <p:nvPr/>
            </p:nvGrpSpPr>
            <p:grpSpPr bwMode="auto">
              <a:xfrm>
                <a:off x="0" y="14508"/>
                <a:ext cx="890" cy="403"/>
                <a:chOff x="0" y="14508"/>
                <a:chExt cx="890" cy="403"/>
              </a:xfrm>
            </p:grpSpPr>
            <p:sp>
              <p:nvSpPr>
                <p:cNvPr id="18553" name="Rectangle 112"/>
                <p:cNvSpPr>
                  <a:spLocks noChangeArrowheads="1"/>
                </p:cNvSpPr>
                <p:nvPr/>
              </p:nvSpPr>
              <p:spPr bwMode="auto">
                <a:xfrm>
                  <a:off x="43" y="1450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540</a:t>
                  </a:r>
                </a:p>
                <a:p>
                  <a:pPr algn="l"/>
                  <a:endParaRPr kumimoji="1" lang="en-US" altLang="zh-CN" sz="2400">
                    <a:solidFill>
                      <a:schemeClr val="tx1"/>
                    </a:solidFill>
                  </a:endParaRPr>
                </a:p>
              </p:txBody>
            </p:sp>
            <p:sp>
              <p:nvSpPr>
                <p:cNvPr id="18554" name="Rectangle 331"/>
                <p:cNvSpPr>
                  <a:spLocks noChangeArrowheads="1"/>
                </p:cNvSpPr>
                <p:nvPr/>
              </p:nvSpPr>
              <p:spPr bwMode="auto">
                <a:xfrm>
                  <a:off x="0" y="1450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7" name="Group 334"/>
              <p:cNvGrpSpPr>
                <a:grpSpLocks/>
              </p:cNvGrpSpPr>
              <p:nvPr/>
            </p:nvGrpSpPr>
            <p:grpSpPr bwMode="auto">
              <a:xfrm>
                <a:off x="890" y="14508"/>
                <a:ext cx="1144" cy="403"/>
                <a:chOff x="890" y="14508"/>
                <a:chExt cx="1144" cy="403"/>
              </a:xfrm>
            </p:grpSpPr>
            <p:sp>
              <p:nvSpPr>
                <p:cNvPr id="18551" name="Rectangle 113"/>
                <p:cNvSpPr>
                  <a:spLocks noChangeArrowheads="1"/>
                </p:cNvSpPr>
                <p:nvPr/>
              </p:nvSpPr>
              <p:spPr bwMode="auto">
                <a:xfrm>
                  <a:off x="933" y="1450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UUCP</a:t>
                  </a:r>
                </a:p>
                <a:p>
                  <a:pPr algn="l"/>
                  <a:endParaRPr kumimoji="1" lang="en-US" altLang="zh-CN" sz="2400">
                    <a:solidFill>
                      <a:schemeClr val="tx1"/>
                    </a:solidFill>
                  </a:endParaRPr>
                </a:p>
              </p:txBody>
            </p:sp>
            <p:sp>
              <p:nvSpPr>
                <p:cNvPr id="18552" name="Rectangle 333"/>
                <p:cNvSpPr>
                  <a:spLocks noChangeArrowheads="1"/>
                </p:cNvSpPr>
                <p:nvPr/>
              </p:nvSpPr>
              <p:spPr bwMode="auto">
                <a:xfrm>
                  <a:off x="890" y="1450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8" name="Group 336"/>
              <p:cNvGrpSpPr>
                <a:grpSpLocks/>
              </p:cNvGrpSpPr>
              <p:nvPr/>
            </p:nvGrpSpPr>
            <p:grpSpPr bwMode="auto">
              <a:xfrm>
                <a:off x="2034" y="14508"/>
                <a:ext cx="1354" cy="403"/>
                <a:chOff x="2034" y="14508"/>
                <a:chExt cx="1354" cy="403"/>
              </a:xfrm>
            </p:grpSpPr>
            <p:sp>
              <p:nvSpPr>
                <p:cNvPr id="18549" name="Rectangle 114"/>
                <p:cNvSpPr>
                  <a:spLocks noChangeArrowheads="1"/>
                </p:cNvSpPr>
                <p:nvPr/>
              </p:nvSpPr>
              <p:spPr bwMode="auto">
                <a:xfrm>
                  <a:off x="2077" y="14508"/>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UNIX UNIX COPY</a:t>
                  </a:r>
                </a:p>
                <a:p>
                  <a:pPr algn="l"/>
                  <a:endParaRPr kumimoji="1" lang="en-US" altLang="zh-CN" sz="2400">
                    <a:solidFill>
                      <a:schemeClr val="tx1"/>
                    </a:solidFill>
                  </a:endParaRPr>
                </a:p>
              </p:txBody>
            </p:sp>
            <p:sp>
              <p:nvSpPr>
                <p:cNvPr id="18550" name="Rectangle 335"/>
                <p:cNvSpPr>
                  <a:spLocks noChangeArrowheads="1"/>
                </p:cNvSpPr>
                <p:nvPr/>
              </p:nvSpPr>
              <p:spPr bwMode="auto">
                <a:xfrm>
                  <a:off x="2034" y="14508"/>
                  <a:ext cx="1354" cy="403"/>
                </a:xfrm>
                <a:prstGeom prst="rect">
                  <a:avLst/>
                </a:prstGeom>
                <a:noFill/>
                <a:ln w="7">
                  <a:solidFill>
                    <a:srgbClr val="A0A0A0"/>
                  </a:solidFill>
                  <a:miter lim="800000"/>
                  <a:headEnd/>
                  <a:tailEnd/>
                </a:ln>
              </p:spPr>
              <p:txBody>
                <a:bodyPr wrap="none"/>
                <a:lstStyle/>
                <a:p>
                  <a:endParaRPr lang="zh-CN" altLang="en-US"/>
                </a:p>
              </p:txBody>
            </p:sp>
          </p:grpSp>
        </p:grpSp>
        <p:sp>
          <p:nvSpPr>
            <p:cNvPr id="18437" name="Rectangle 338"/>
            <p:cNvSpPr>
              <a:spLocks noChangeArrowheads="1"/>
            </p:cNvSpPr>
            <p:nvPr/>
          </p:nvSpPr>
          <p:spPr bwMode="auto">
            <a:xfrm>
              <a:off x="-3" y="-3"/>
              <a:ext cx="3394" cy="14917"/>
            </a:xfrm>
            <a:prstGeom prst="rect">
              <a:avLst/>
            </a:prstGeom>
            <a:noFill/>
            <a:ln w="11112">
              <a:solidFill>
                <a:srgbClr val="A0A0A0"/>
              </a:solidFill>
              <a:miter lim="800000"/>
              <a:headEnd/>
              <a:tailEnd/>
            </a:ln>
          </p:spPr>
          <p:txBody>
            <a:bodyPr wrap="none"/>
            <a:lstStyle/>
            <a:p>
              <a:endParaRPr lang="zh-CN" altLang="en-US"/>
            </a:p>
          </p:txBody>
        </p:sp>
      </p:grpSp>
      <p:sp>
        <p:nvSpPr>
          <p:cNvPr id="18435" name="Text Box 341"/>
          <p:cNvSpPr txBox="1">
            <a:spLocks noChangeArrowheads="1"/>
          </p:cNvSpPr>
          <p:nvPr/>
        </p:nvSpPr>
        <p:spPr bwMode="auto">
          <a:xfrm>
            <a:off x="2222674" y="1525024"/>
            <a:ext cx="738664" cy="4433887"/>
          </a:xfrm>
          <a:prstGeom prst="rect">
            <a:avLst/>
          </a:prstGeom>
          <a:noFill/>
          <a:ln w="9525">
            <a:noFill/>
            <a:miter lim="800000"/>
            <a:headEnd/>
            <a:tailEnd/>
          </a:ln>
        </p:spPr>
        <p:txBody>
          <a:bodyPr vert="eaVert">
            <a:spAutoFit/>
          </a:bodyPr>
          <a:lstStyle/>
          <a:p>
            <a:pPr algn="l">
              <a:spcBef>
                <a:spcPct val="50000"/>
              </a:spcBef>
            </a:pPr>
            <a:r>
              <a:rPr kumimoji="1" lang="zh-CN" altLang="en-US" sz="3600" b="1">
                <a:solidFill>
                  <a:schemeClr val="hlink"/>
                </a:solidFill>
                <a:latin typeface="Arial" pitchFamily="34" charset="0"/>
                <a:ea typeface="华文楷体" pitchFamily="2" charset="-122"/>
              </a:rPr>
              <a:t>众所周知端口号</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2038350" y="3524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概述</a:t>
            </a:r>
          </a:p>
        </p:txBody>
      </p:sp>
      <p:sp>
        <p:nvSpPr>
          <p:cNvPr id="22531" name="Text Box 4"/>
          <p:cNvSpPr txBox="1">
            <a:spLocks noChangeArrowheads="1"/>
          </p:cNvSpPr>
          <p:nvPr/>
        </p:nvSpPr>
        <p:spPr bwMode="auto">
          <a:xfrm>
            <a:off x="2506664" y="1450975"/>
            <a:ext cx="7735887" cy="4124206"/>
          </a:xfrm>
          <a:prstGeom prst="rect">
            <a:avLst/>
          </a:prstGeom>
          <a:noFill/>
          <a:ln w="9525">
            <a:noFill/>
            <a:miter lim="800000"/>
            <a:headEnd/>
            <a:tailEnd/>
          </a:ln>
        </p:spPr>
        <p:txBody>
          <a:bodyPr>
            <a:spAutoFit/>
          </a:bodyPr>
          <a:lstStyle/>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端到端通信</a:t>
            </a:r>
            <a:endParaRPr lang="zh-CN" altLang="en-US" sz="3600" b="1">
              <a:solidFill>
                <a:schemeClr val="hlink"/>
              </a:solidFill>
              <a:latin typeface="Arial" pitchFamily="34" charset="0"/>
            </a:endParaRP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一个发送者</a:t>
            </a:r>
            <a:r>
              <a:rPr lang="en-US" altLang="zh-CN" b="1">
                <a:solidFill>
                  <a:schemeClr val="tx1"/>
                </a:solidFill>
                <a:latin typeface="Arial" pitchFamily="34" charset="0"/>
              </a:rPr>
              <a:t>, </a:t>
            </a:r>
            <a:r>
              <a:rPr lang="zh-CN" altLang="en-US" b="1">
                <a:solidFill>
                  <a:schemeClr val="tx1"/>
                </a:solidFill>
                <a:latin typeface="Arial" pitchFamily="34" charset="0"/>
              </a:rPr>
              <a:t>一个接收者</a:t>
            </a:r>
            <a:r>
              <a:rPr lang="zh-CN" altLang="en-US" sz="3200" b="1">
                <a:solidFill>
                  <a:schemeClr val="tx1"/>
                </a:solidFill>
                <a:latin typeface="Arial" pitchFamily="34" charset="0"/>
              </a:rPr>
              <a:t> </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可靠</a:t>
            </a:r>
            <a:r>
              <a:rPr lang="en-US" altLang="zh-CN" sz="3200" b="1">
                <a:solidFill>
                  <a:schemeClr val="hlink"/>
                </a:solidFill>
                <a:latin typeface="Arial" pitchFamily="34" charset="0"/>
              </a:rPr>
              <a:t>, </a:t>
            </a:r>
            <a:r>
              <a:rPr lang="zh-CN" altLang="en-US" sz="3200" b="1">
                <a:solidFill>
                  <a:schemeClr val="hlink"/>
                </a:solidFill>
                <a:latin typeface="Arial" pitchFamily="34" charset="0"/>
              </a:rPr>
              <a:t>有序的字节流</a:t>
            </a:r>
            <a:endParaRPr lang="zh-CN" altLang="en-US" sz="3200" b="1" i="1">
              <a:solidFill>
                <a:schemeClr val="folHlink"/>
              </a:solidFill>
              <a:latin typeface="Arial" pitchFamily="34" charset="0"/>
            </a:endParaRPr>
          </a:p>
          <a:p>
            <a:pPr marL="757238" lvl="1" indent="-300038" algn="l" eaLnBrk="1" hangingPunct="1">
              <a:lnSpc>
                <a:spcPct val="90000"/>
              </a:lnSpc>
              <a:spcBef>
                <a:spcPct val="20000"/>
              </a:spcBef>
              <a:buFontTx/>
              <a:buChar char="–"/>
            </a:pPr>
            <a:r>
              <a:rPr lang="en-US" altLang="zh-CN" b="1">
                <a:solidFill>
                  <a:schemeClr val="tx1"/>
                </a:solidFill>
                <a:latin typeface="Arial" pitchFamily="34" charset="0"/>
              </a:rPr>
              <a:t>No “message boundaries”</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但是</a:t>
            </a:r>
            <a:r>
              <a:rPr lang="en-US" altLang="zh-CN" b="1">
                <a:solidFill>
                  <a:schemeClr val="tx1"/>
                </a:solidFill>
                <a:latin typeface="Arial" pitchFamily="34" charset="0"/>
              </a:rPr>
              <a:t>TCP </a:t>
            </a:r>
            <a:r>
              <a:rPr lang="zh-CN" altLang="en-US" b="1">
                <a:solidFill>
                  <a:schemeClr val="tx1"/>
                </a:solidFill>
                <a:latin typeface="Arial" pitchFamily="34" charset="0"/>
              </a:rPr>
              <a:t>在传输中可以把数据流分段</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管道 </a:t>
            </a:r>
            <a:r>
              <a:rPr lang="en-US" altLang="zh-CN" sz="3200" b="1">
                <a:solidFill>
                  <a:schemeClr val="hlink"/>
                </a:solidFill>
                <a:latin typeface="Arial" pitchFamily="34" charset="0"/>
              </a:rPr>
              <a:t>(</a:t>
            </a:r>
            <a:r>
              <a:rPr lang="zh-CN" altLang="en-US" sz="3200" b="1">
                <a:solidFill>
                  <a:schemeClr val="hlink"/>
                </a:solidFill>
                <a:latin typeface="Arial" pitchFamily="34" charset="0"/>
              </a:rPr>
              <a:t>窗口</a:t>
            </a:r>
            <a:r>
              <a:rPr lang="en-US" altLang="zh-CN" sz="3200" b="1">
                <a:solidFill>
                  <a:schemeClr val="hlink"/>
                </a:solidFill>
                <a:latin typeface="Arial" pitchFamily="34" charset="0"/>
              </a:rPr>
              <a:t>)</a:t>
            </a:r>
            <a:r>
              <a:rPr lang="zh-CN" altLang="en-US" sz="3200" b="1">
                <a:solidFill>
                  <a:schemeClr val="hlink"/>
                </a:solidFill>
                <a:latin typeface="Arial" pitchFamily="34" charset="0"/>
              </a:rPr>
              <a:t>流控</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窗口大小由接收者和网络决定</a:t>
            </a:r>
          </a:p>
          <a:p>
            <a:pPr marL="757238" lvl="1" indent="-300038" algn="l" eaLnBrk="1" hangingPunct="1">
              <a:lnSpc>
                <a:spcPct val="90000"/>
              </a:lnSpc>
              <a:spcBef>
                <a:spcPct val="20000"/>
              </a:spcBef>
              <a:buFontTx/>
              <a:buChar char="•"/>
            </a:pPr>
            <a:r>
              <a:rPr lang="zh-CN" altLang="en-US" sz="3200" b="1">
                <a:solidFill>
                  <a:schemeClr val="hlink"/>
                </a:solidFill>
                <a:latin typeface="Arial" pitchFamily="34" charset="0"/>
              </a:rPr>
              <a:t>发送 与接收缓冲</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840289" y="293688"/>
            <a:ext cx="2528887" cy="5969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en-US" altLang="zh-CN" sz="3600"/>
              <a:t> </a:t>
            </a:r>
            <a:r>
              <a:rPr lang="zh-CN" altLang="en-US" sz="3600" b="1">
                <a:solidFill>
                  <a:schemeClr val="hlink"/>
                </a:solidFill>
                <a:latin typeface="Arial" pitchFamily="34" charset="0"/>
                <a:ea typeface="华文楷体" pitchFamily="2" charset="-122"/>
              </a:rPr>
              <a:t>概述</a:t>
            </a:r>
          </a:p>
        </p:txBody>
      </p:sp>
      <p:graphicFrame>
        <p:nvGraphicFramePr>
          <p:cNvPr id="3074" name="Object 4"/>
          <p:cNvGraphicFramePr>
            <a:graphicFrameLocks noChangeAspect="1"/>
          </p:cNvGraphicFramePr>
          <p:nvPr/>
        </p:nvGraphicFramePr>
        <p:xfrm>
          <a:off x="1524000" y="1227139"/>
          <a:ext cx="9144000" cy="3032125"/>
        </p:xfrm>
        <a:graphic>
          <a:graphicData uri="http://schemas.openxmlformats.org/presentationml/2006/ole">
            <mc:AlternateContent xmlns:mc="http://schemas.openxmlformats.org/markup-compatibility/2006">
              <mc:Choice xmlns:v="urn:schemas-microsoft-com:vml" Requires="v">
                <p:oleObj spid="_x0000_s3106" name="VISIO" r:id="rId3" imgW="6602760" imgH="1123200" progId="Visio.Drawing.5">
                  <p:embed/>
                </p:oleObj>
              </mc:Choice>
              <mc:Fallback>
                <p:oleObj name="VISIO" r:id="rId3" imgW="6602760" imgH="1123200" progId="Visio.Drawing.5">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27139"/>
                        <a:ext cx="9144000" cy="303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 name="Text Box 5"/>
          <p:cNvSpPr txBox="1">
            <a:spLocks noChangeArrowheads="1"/>
          </p:cNvSpPr>
          <p:nvPr/>
        </p:nvSpPr>
        <p:spPr bwMode="auto">
          <a:xfrm>
            <a:off x="2338388" y="2768601"/>
            <a:ext cx="1211262" cy="519113"/>
          </a:xfrm>
          <a:prstGeom prst="rect">
            <a:avLst/>
          </a:prstGeom>
          <a:noFill/>
          <a:ln w="9525">
            <a:noFill/>
            <a:miter lim="800000"/>
            <a:headEnd/>
            <a:tailEnd/>
          </a:ln>
        </p:spPr>
        <p:txBody>
          <a:bodyPr>
            <a:spAutoFit/>
          </a:bodyPr>
          <a:lstStyle/>
          <a:p>
            <a:pPr algn="l">
              <a:spcBef>
                <a:spcPct val="50000"/>
              </a:spcBef>
            </a:pPr>
            <a:r>
              <a:rPr lang="en-US" altLang="zh-CN">
                <a:solidFill>
                  <a:schemeClr val="tx2"/>
                </a:solidFill>
              </a:rPr>
              <a:t>(SAP)</a:t>
            </a:r>
          </a:p>
        </p:txBody>
      </p:sp>
      <p:sp>
        <p:nvSpPr>
          <p:cNvPr id="3077" name="Text Box 6"/>
          <p:cNvSpPr txBox="1">
            <a:spLocks noChangeArrowheads="1"/>
          </p:cNvSpPr>
          <p:nvPr/>
        </p:nvSpPr>
        <p:spPr bwMode="auto">
          <a:xfrm>
            <a:off x="9151938" y="2943226"/>
            <a:ext cx="1211262" cy="519113"/>
          </a:xfrm>
          <a:prstGeom prst="rect">
            <a:avLst/>
          </a:prstGeom>
          <a:noFill/>
          <a:ln w="9525">
            <a:noFill/>
            <a:miter lim="800000"/>
            <a:headEnd/>
            <a:tailEnd/>
          </a:ln>
        </p:spPr>
        <p:txBody>
          <a:bodyPr>
            <a:spAutoFit/>
          </a:bodyPr>
          <a:lstStyle/>
          <a:p>
            <a:pPr algn="l">
              <a:spcBef>
                <a:spcPct val="50000"/>
              </a:spcBef>
            </a:pPr>
            <a:r>
              <a:rPr lang="en-US" altLang="zh-CN">
                <a:solidFill>
                  <a:schemeClr val="tx2"/>
                </a:solidFill>
              </a:rPr>
              <a:t>(SAP)</a:t>
            </a:r>
          </a:p>
        </p:txBody>
      </p:sp>
      <p:sp>
        <p:nvSpPr>
          <p:cNvPr id="3078" name="Text Box 7"/>
          <p:cNvSpPr txBox="1">
            <a:spLocks noChangeArrowheads="1"/>
          </p:cNvSpPr>
          <p:nvPr/>
        </p:nvSpPr>
        <p:spPr bwMode="auto">
          <a:xfrm>
            <a:off x="1852614" y="4708525"/>
            <a:ext cx="8353425" cy="1569660"/>
          </a:xfrm>
          <a:prstGeom prst="rect">
            <a:avLst/>
          </a:prstGeom>
          <a:noFill/>
          <a:ln w="9525">
            <a:noFill/>
            <a:miter lim="800000"/>
            <a:headEnd/>
            <a:tailEnd/>
          </a:ln>
        </p:spPr>
        <p:txBody>
          <a:bodyPr>
            <a:spAutoFit/>
          </a:bodyPr>
          <a:lstStyle/>
          <a:p>
            <a:pPr marL="195263" indent="-195263" algn="l"/>
            <a:r>
              <a:rPr lang="en-US" altLang="zh-CN" sz="2400" dirty="0">
                <a:solidFill>
                  <a:srgbClr val="000000"/>
                </a:solidFill>
                <a:latin typeface="Arial" pitchFamily="34" charset="0"/>
              </a:rPr>
              <a:t>•</a:t>
            </a:r>
            <a:r>
              <a:rPr lang="zh-CN" altLang="en-US" sz="2400" dirty="0">
                <a:solidFill>
                  <a:srgbClr val="000000"/>
                </a:solidFill>
                <a:latin typeface="Arial" pitchFamily="34" charset="0"/>
              </a:rPr>
              <a:t>相对于上层，</a:t>
            </a:r>
            <a:r>
              <a:rPr lang="en-US" altLang="zh-CN" sz="2400" dirty="0">
                <a:solidFill>
                  <a:srgbClr val="000000"/>
                </a:solidFill>
                <a:latin typeface="Arial" pitchFamily="34" charset="0"/>
              </a:rPr>
              <a:t>TCP </a:t>
            </a:r>
            <a:r>
              <a:rPr lang="zh-CN" altLang="en-US" sz="2400" dirty="0">
                <a:solidFill>
                  <a:srgbClr val="000000"/>
                </a:solidFill>
                <a:latin typeface="Arial" pitchFamily="34" charset="0"/>
              </a:rPr>
              <a:t>把</a:t>
            </a:r>
            <a:r>
              <a:rPr lang="zh-CN" altLang="en-US" sz="2400" dirty="0">
                <a:solidFill>
                  <a:schemeClr val="folHlink"/>
                </a:solidFill>
                <a:latin typeface="Arial" pitchFamily="34" charset="0"/>
              </a:rPr>
              <a:t>数据流</a:t>
            </a:r>
            <a:r>
              <a:rPr lang="zh-CN" altLang="en-US" sz="2400" dirty="0">
                <a:solidFill>
                  <a:srgbClr val="000000"/>
                </a:solidFill>
                <a:latin typeface="Arial" pitchFamily="34" charset="0"/>
              </a:rPr>
              <a:t>当作字节的序列，并不识别字节间的分界</a:t>
            </a:r>
          </a:p>
          <a:p>
            <a:pPr marL="195263" indent="-195263" algn="l"/>
            <a:r>
              <a:rPr lang="en-US" altLang="zh-CN" sz="2400" dirty="0">
                <a:solidFill>
                  <a:srgbClr val="000000"/>
                </a:solidFill>
                <a:latin typeface="Arial" pitchFamily="34" charset="0"/>
              </a:rPr>
              <a:t>•</a:t>
            </a:r>
            <a:r>
              <a:rPr lang="zh-CN" altLang="en-US" sz="2400" dirty="0">
                <a:solidFill>
                  <a:srgbClr val="000000"/>
                </a:solidFill>
                <a:latin typeface="Arial" pitchFamily="34" charset="0"/>
              </a:rPr>
              <a:t>相对于下层，</a:t>
            </a:r>
            <a:r>
              <a:rPr lang="en-US" altLang="zh-CN" sz="2400" dirty="0">
                <a:solidFill>
                  <a:srgbClr val="000000"/>
                </a:solidFill>
                <a:latin typeface="Arial" pitchFamily="34" charset="0"/>
              </a:rPr>
              <a:t>TCP </a:t>
            </a:r>
            <a:r>
              <a:rPr lang="zh-CN" altLang="en-US" sz="2400" dirty="0">
                <a:solidFill>
                  <a:srgbClr val="000000"/>
                </a:solidFill>
                <a:latin typeface="Arial" pitchFamily="34" charset="0"/>
              </a:rPr>
              <a:t>按块处理数据</a:t>
            </a:r>
            <a:r>
              <a:rPr lang="en-US" altLang="zh-CN" sz="2400" dirty="0">
                <a:solidFill>
                  <a:srgbClr val="000000"/>
                </a:solidFill>
                <a:latin typeface="Arial" pitchFamily="34" charset="0"/>
              </a:rPr>
              <a:t>, </a:t>
            </a:r>
            <a:r>
              <a:rPr lang="zh-CN" altLang="en-US" sz="2400" dirty="0">
                <a:solidFill>
                  <a:srgbClr val="000000"/>
                </a:solidFill>
                <a:latin typeface="Arial" pitchFamily="34" charset="0"/>
              </a:rPr>
              <a:t>即</a:t>
            </a:r>
            <a:r>
              <a:rPr lang="zh-CN" altLang="en-US" sz="2400" dirty="0">
                <a:solidFill>
                  <a:schemeClr val="folHlink"/>
                </a:solidFill>
                <a:latin typeface="Arial" pitchFamily="34" charset="0"/>
              </a:rPr>
              <a:t>分段</a:t>
            </a:r>
            <a:r>
              <a:rPr lang="en-US" altLang="zh-CN" sz="2400" dirty="0">
                <a:solidFill>
                  <a:srgbClr val="000000"/>
                </a:solidFill>
                <a:latin typeface="Arial" pitchFamily="34" charset="0"/>
              </a:rPr>
              <a:t>.</a:t>
            </a:r>
          </a:p>
          <a:p>
            <a:pPr marL="195263" indent="-195263" algn="l"/>
            <a:r>
              <a:rPr lang="en-US" altLang="zh-CN" sz="2400" dirty="0">
                <a:solidFill>
                  <a:srgbClr val="000000"/>
                </a:solidFill>
                <a:latin typeface="Arial" pitchFamily="34" charset="0"/>
              </a:rPr>
              <a:t>• </a:t>
            </a:r>
            <a:r>
              <a:rPr lang="zh-CN" altLang="en-US" sz="2400" dirty="0">
                <a:solidFill>
                  <a:srgbClr val="FF0000"/>
                </a:solidFill>
                <a:latin typeface="Arial" pitchFamily="34" charset="0"/>
              </a:rPr>
              <a:t>因此</a:t>
            </a:r>
            <a:r>
              <a:rPr lang="en-US" altLang="zh-CN" sz="2400" dirty="0">
                <a:solidFill>
                  <a:srgbClr val="FF0000"/>
                </a:solidFill>
                <a:latin typeface="Arial" pitchFamily="34" charset="0"/>
              </a:rPr>
              <a:t>: </a:t>
            </a:r>
            <a:r>
              <a:rPr lang="zh-CN" altLang="en-US" sz="2400" dirty="0">
                <a:solidFill>
                  <a:srgbClr val="000000"/>
                </a:solidFill>
                <a:latin typeface="Arial" pitchFamily="34" charset="0"/>
              </a:rPr>
              <a:t>高层不了解分段的起始与结尾</a:t>
            </a:r>
          </a:p>
        </p:txBody>
      </p:sp>
      <p:sp>
        <p:nvSpPr>
          <p:cNvPr id="3079" name="AutoShape 9"/>
          <p:cNvSpPr>
            <a:spLocks noChangeArrowheads="1"/>
          </p:cNvSpPr>
          <p:nvPr/>
        </p:nvSpPr>
        <p:spPr bwMode="auto">
          <a:xfrm>
            <a:off x="1670051" y="3360739"/>
            <a:ext cx="1801813" cy="803275"/>
          </a:xfrm>
          <a:prstGeom prst="wedgeRoundRectCallout">
            <a:avLst>
              <a:gd name="adj1" fmla="val 86917"/>
              <a:gd name="adj2" fmla="val -170556"/>
              <a:gd name="adj3" fmla="val 16667"/>
            </a:avLst>
          </a:prstGeom>
          <a:solidFill>
            <a:srgbClr val="00FFFF"/>
          </a:solidFill>
          <a:ln w="9525">
            <a:solidFill>
              <a:srgbClr val="CACACA"/>
            </a:solidFill>
            <a:miter lim="800000"/>
            <a:headEnd/>
            <a:tailEnd/>
          </a:ln>
        </p:spPr>
        <p:txBody>
          <a:bodyPr/>
          <a:lstStyle/>
          <a:p>
            <a:pPr algn="l">
              <a:spcBef>
                <a:spcPct val="10000"/>
              </a:spcBef>
            </a:pPr>
            <a:r>
              <a:rPr lang="en-US" altLang="zh-CN" sz="2000" b="1">
                <a:solidFill>
                  <a:srgbClr val="FF0000"/>
                </a:solidFill>
                <a:latin typeface="Courier" charset="0"/>
              </a:rPr>
              <a:t>1. write 100 bytes</a:t>
            </a:r>
          </a:p>
          <a:p>
            <a:pPr algn="l">
              <a:spcBef>
                <a:spcPct val="10000"/>
              </a:spcBef>
            </a:pPr>
            <a:r>
              <a:rPr lang="en-US" altLang="zh-CN" sz="2000" b="1">
                <a:solidFill>
                  <a:srgbClr val="FF0000"/>
                </a:solidFill>
                <a:latin typeface="Courier" charset="0"/>
              </a:rPr>
              <a:t>2. write 20 bytes</a:t>
            </a:r>
            <a:endParaRPr lang="en-US" altLang="zh-CN"/>
          </a:p>
        </p:txBody>
      </p:sp>
      <p:sp>
        <p:nvSpPr>
          <p:cNvPr id="3080" name="AutoShape 10"/>
          <p:cNvSpPr>
            <a:spLocks noChangeArrowheads="1"/>
          </p:cNvSpPr>
          <p:nvPr/>
        </p:nvSpPr>
        <p:spPr bwMode="auto">
          <a:xfrm>
            <a:off x="5873750" y="1595438"/>
            <a:ext cx="1384300" cy="798512"/>
          </a:xfrm>
          <a:prstGeom prst="wedgeRoundRectCallout">
            <a:avLst>
              <a:gd name="adj1" fmla="val 126259"/>
              <a:gd name="adj2" fmla="val 60935"/>
              <a:gd name="adj3" fmla="val 16667"/>
            </a:avLst>
          </a:prstGeom>
          <a:solidFill>
            <a:srgbClr val="00FFFF"/>
          </a:solidFill>
          <a:ln w="9525">
            <a:solidFill>
              <a:srgbClr val="CACACA"/>
            </a:solidFill>
            <a:miter lim="800000"/>
            <a:headEnd/>
            <a:tailEnd/>
          </a:ln>
        </p:spPr>
        <p:txBody>
          <a:bodyPr/>
          <a:lstStyle/>
          <a:p>
            <a:pPr algn="l">
              <a:spcBef>
                <a:spcPct val="10000"/>
              </a:spcBef>
            </a:pPr>
            <a:r>
              <a:rPr lang="en-US" altLang="zh-CN" sz="2000" b="1">
                <a:solidFill>
                  <a:srgbClr val="FF0000"/>
                </a:solidFill>
                <a:latin typeface="Courier" charset="0"/>
              </a:rPr>
              <a:t>1. read 40 bytes</a:t>
            </a:r>
          </a:p>
          <a:p>
            <a:pPr algn="l">
              <a:spcBef>
                <a:spcPct val="10000"/>
              </a:spcBef>
            </a:pPr>
            <a:r>
              <a:rPr lang="en-US" altLang="zh-CN" sz="2000" b="1">
                <a:solidFill>
                  <a:srgbClr val="FF0000"/>
                </a:solidFill>
                <a:latin typeface="Courier" charset="0"/>
              </a:rPr>
              <a:t>2. read 40 bytes</a:t>
            </a:r>
          </a:p>
          <a:p>
            <a:pPr algn="l">
              <a:spcBef>
                <a:spcPct val="10000"/>
              </a:spcBef>
            </a:pPr>
            <a:r>
              <a:rPr lang="en-US" altLang="zh-CN" sz="2000" b="1">
                <a:solidFill>
                  <a:srgbClr val="FF0000"/>
                </a:solidFill>
                <a:latin typeface="Courier" charset="0"/>
              </a:rPr>
              <a:t>3. read 40 bytes</a:t>
            </a:r>
            <a:endParaRPr lang="en-US" altLang="zh-CN"/>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3989388" y="314325"/>
            <a:ext cx="4640262"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概述</a:t>
            </a:r>
          </a:p>
        </p:txBody>
      </p:sp>
      <p:sp>
        <p:nvSpPr>
          <p:cNvPr id="23555" name="Text Box 4"/>
          <p:cNvSpPr txBox="1">
            <a:spLocks noChangeArrowheads="1"/>
          </p:cNvSpPr>
          <p:nvPr/>
        </p:nvSpPr>
        <p:spPr bwMode="auto">
          <a:xfrm>
            <a:off x="2914651" y="1344614"/>
            <a:ext cx="7121525" cy="4290405"/>
          </a:xfrm>
          <a:prstGeom prst="rect">
            <a:avLst/>
          </a:prstGeom>
          <a:noFill/>
          <a:ln w="9525">
            <a:noFill/>
            <a:miter lim="800000"/>
            <a:headEnd/>
            <a:tailEnd/>
          </a:ln>
        </p:spPr>
        <p:txBody>
          <a:bodyPr>
            <a:spAutoFit/>
          </a:bodyPr>
          <a:lstStyle/>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全双工数据</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连接上的双向数据流 </a:t>
            </a:r>
          </a:p>
          <a:p>
            <a:pPr marL="757238" lvl="1" indent="-300038" algn="l" eaLnBrk="1" hangingPunct="1">
              <a:lnSpc>
                <a:spcPct val="90000"/>
              </a:lnSpc>
              <a:spcBef>
                <a:spcPct val="20000"/>
              </a:spcBef>
              <a:buFontTx/>
              <a:buChar char="–"/>
            </a:pPr>
            <a:r>
              <a:rPr lang="en-US" altLang="zh-CN" b="1">
                <a:solidFill>
                  <a:schemeClr val="tx1"/>
                </a:solidFill>
                <a:latin typeface="Arial" pitchFamily="34" charset="0"/>
              </a:rPr>
              <a:t>MSS: </a:t>
            </a:r>
            <a:r>
              <a:rPr lang="zh-CN" altLang="en-US" b="1">
                <a:solidFill>
                  <a:schemeClr val="tx1"/>
                </a:solidFill>
                <a:latin typeface="Arial" pitchFamily="34" charset="0"/>
              </a:rPr>
              <a:t>最大数据段大小</a:t>
            </a:r>
            <a:r>
              <a:rPr lang="en-US" altLang="zh-CN" b="1">
                <a:solidFill>
                  <a:schemeClr val="tx1"/>
                </a:solidFill>
                <a:latin typeface="Arial" pitchFamily="34" charset="0"/>
              </a:rPr>
              <a:t>Max Size of Seg</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面向连接</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通过握手 </a:t>
            </a:r>
            <a:r>
              <a:rPr lang="en-US" altLang="zh-CN" b="1">
                <a:solidFill>
                  <a:schemeClr val="tx1"/>
                </a:solidFill>
                <a:latin typeface="Arial" pitchFamily="34" charset="0"/>
              </a:rPr>
              <a:t>(</a:t>
            </a:r>
            <a:r>
              <a:rPr lang="zh-CN" altLang="en-US" b="1">
                <a:solidFill>
                  <a:schemeClr val="tx1"/>
                </a:solidFill>
                <a:latin typeface="Arial" pitchFamily="34" charset="0"/>
              </a:rPr>
              <a:t>交换控制信息</a:t>
            </a:r>
            <a:r>
              <a:rPr lang="en-US" altLang="zh-CN" b="1">
                <a:solidFill>
                  <a:schemeClr val="tx1"/>
                </a:solidFill>
                <a:latin typeface="Arial" pitchFamily="34" charset="0"/>
              </a:rPr>
              <a:t>) </a:t>
            </a:r>
            <a:r>
              <a:rPr lang="zh-CN" altLang="en-US" b="1">
                <a:solidFill>
                  <a:schemeClr val="tx1"/>
                </a:solidFill>
                <a:latin typeface="Arial" pitchFamily="34" charset="0"/>
              </a:rPr>
              <a:t>在数据交换前初始化发送者和接收者的状态（参数）</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流控与拥塞控制</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发送者发出的数据不至于淹没接收者甚至整个网络</a:t>
            </a: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bwMode="auto">
          <a:xfrm>
            <a:off x="4792663" y="449264"/>
            <a:ext cx="2514600" cy="617537"/>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r>
              <a:rPr lang="en-US" altLang="zh-CN" b="1">
                <a:latin typeface="Arial" pitchFamily="34" charset="0"/>
              </a:rPr>
              <a:t>  </a:t>
            </a:r>
          </a:p>
        </p:txBody>
      </p:sp>
      <p:sp>
        <p:nvSpPr>
          <p:cNvPr id="24579" name="Text Box 1027"/>
          <p:cNvSpPr txBox="1">
            <a:spLocks noChangeArrowheads="1"/>
          </p:cNvSpPr>
          <p:nvPr/>
        </p:nvSpPr>
        <p:spPr bwMode="auto">
          <a:xfrm>
            <a:off x="3479801" y="1687513"/>
            <a:ext cx="5510213" cy="2074414"/>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tx1"/>
                </a:solidFill>
                <a:latin typeface="Arial" pitchFamily="34" charset="0"/>
              </a:rPr>
              <a:t>TCP</a:t>
            </a:r>
            <a:r>
              <a:rPr lang="zh-CN" altLang="en-US">
                <a:solidFill>
                  <a:schemeClr val="tx1"/>
                </a:solidFill>
                <a:latin typeface="Arial" pitchFamily="34" charset="0"/>
              </a:rPr>
              <a:t>中的数据传输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流控与阻塞控制</a:t>
            </a:r>
            <a:endParaRPr lang="en-US" altLang="zh-CN">
              <a:solidFill>
                <a:schemeClr val="tx1"/>
              </a:solidFill>
              <a:latin typeface="Arial" pitchFamily="34" charset="0"/>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284538" y="3571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序列号和确认码 </a:t>
            </a:r>
            <a:r>
              <a:rPr lang="en-US" altLang="zh-CN" sz="3600" b="1">
                <a:solidFill>
                  <a:schemeClr val="hlink"/>
                </a:solidFill>
                <a:latin typeface="Arial" pitchFamily="34" charset="0"/>
                <a:ea typeface="华文楷体" pitchFamily="2" charset="-122"/>
              </a:rPr>
              <a:t>(I)</a:t>
            </a:r>
          </a:p>
        </p:txBody>
      </p:sp>
      <p:sp>
        <p:nvSpPr>
          <p:cNvPr id="27651" name="Text Box 1027"/>
          <p:cNvSpPr txBox="1">
            <a:spLocks noChangeArrowheads="1"/>
          </p:cNvSpPr>
          <p:nvPr/>
        </p:nvSpPr>
        <p:spPr bwMode="auto">
          <a:xfrm>
            <a:off x="2400300" y="1590675"/>
            <a:ext cx="7785100" cy="4204228"/>
          </a:xfrm>
          <a:prstGeom prst="rect">
            <a:avLst/>
          </a:prstGeom>
          <a:noFill/>
          <a:ln w="9525">
            <a:noFill/>
            <a:miter lim="800000"/>
            <a:headEnd/>
            <a:tailEnd/>
          </a:ln>
        </p:spPr>
        <p:txBody>
          <a:bodyPr>
            <a:spAutoFit/>
          </a:bodyPr>
          <a:lstStyle/>
          <a:p>
            <a:pPr algn="l" eaLnBrk="1" hangingPunct="1">
              <a:lnSpc>
                <a:spcPct val="90000"/>
              </a:lnSpc>
              <a:spcBef>
                <a:spcPct val="20000"/>
              </a:spcBef>
            </a:pPr>
            <a:r>
              <a:rPr lang="zh-CN" altLang="en-US" b="1" u="sng">
                <a:solidFill>
                  <a:schemeClr val="hlink"/>
                </a:solidFill>
                <a:latin typeface="Arial" pitchFamily="34" charset="0"/>
              </a:rPr>
              <a:t>序列号</a:t>
            </a:r>
            <a:r>
              <a:rPr lang="en-US" altLang="zh-CN" b="1" u="sng">
                <a:solidFill>
                  <a:schemeClr val="hlink"/>
                </a:solidFill>
                <a:latin typeface="Arial" pitchFamily="34" charset="0"/>
              </a:rPr>
              <a:t>:</a:t>
            </a:r>
            <a:endParaRPr lang="en-US" altLang="zh-CN" b="1">
              <a:solidFill>
                <a:schemeClr val="hlink"/>
              </a:solidFill>
              <a:latin typeface="Arial" pitchFamily="34" charset="0"/>
            </a:endParaRPr>
          </a:p>
          <a:p>
            <a:pPr marL="566738" lvl="1" indent="-271463" algn="l" eaLnBrk="1" hangingPunct="1">
              <a:lnSpc>
                <a:spcPct val="90000"/>
              </a:lnSpc>
              <a:spcBef>
                <a:spcPct val="20000"/>
              </a:spcBef>
              <a:buFontTx/>
              <a:buChar char="–"/>
            </a:pPr>
            <a:r>
              <a:rPr lang="zh-CN" altLang="en-US" sz="2400" b="1">
                <a:solidFill>
                  <a:schemeClr val="tx1"/>
                </a:solidFill>
              </a:rPr>
              <a:t>报文段中第一个字节的序号</a:t>
            </a: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algn="l" eaLnBrk="1" hangingPunct="1">
              <a:lnSpc>
                <a:spcPct val="90000"/>
              </a:lnSpc>
              <a:spcBef>
                <a:spcPct val="20000"/>
              </a:spcBef>
            </a:pPr>
            <a:r>
              <a:rPr lang="zh-CN" altLang="en-US" b="1" u="sng">
                <a:solidFill>
                  <a:schemeClr val="hlink"/>
                </a:solidFill>
                <a:latin typeface="Arial" pitchFamily="34" charset="0"/>
              </a:rPr>
              <a:t>确认号</a:t>
            </a:r>
            <a:r>
              <a:rPr lang="en-US" altLang="zh-CN" b="1" u="sng">
                <a:solidFill>
                  <a:schemeClr val="hlink"/>
                </a:solidFill>
                <a:latin typeface="Arial" pitchFamily="34" charset="0"/>
              </a:rPr>
              <a:t>:</a:t>
            </a:r>
          </a:p>
          <a:p>
            <a:pPr marL="566738" lvl="1" indent="-271463" algn="l" eaLnBrk="1" hangingPunct="1">
              <a:lnSpc>
                <a:spcPct val="90000"/>
              </a:lnSpc>
              <a:spcBef>
                <a:spcPct val="20000"/>
              </a:spcBef>
              <a:buFontTx/>
              <a:buChar char="–"/>
            </a:pPr>
            <a:r>
              <a:rPr lang="zh-CN" altLang="en-US" sz="2400" b="1">
                <a:solidFill>
                  <a:schemeClr val="tx1"/>
                </a:solidFill>
              </a:rPr>
              <a:t>另一方准备接收的分组的序列号</a:t>
            </a:r>
            <a:endParaRPr lang="zh-CN" altLang="en-US" sz="2400" b="1">
              <a:solidFill>
                <a:schemeClr val="tx1"/>
              </a:solidFill>
              <a:latin typeface="Arial" pitchFamily="34" charset="0"/>
            </a:endParaRPr>
          </a:p>
          <a:p>
            <a:pPr marL="566738" lvl="1" indent="-271463" algn="l" eaLnBrk="1" hangingPunct="1">
              <a:lnSpc>
                <a:spcPct val="90000"/>
              </a:lnSpc>
              <a:spcBef>
                <a:spcPct val="20000"/>
              </a:spcBef>
              <a:buFontTx/>
              <a:buChar char="–"/>
            </a:pPr>
            <a:r>
              <a:rPr lang="zh-CN" altLang="en-US" sz="2400" b="1">
                <a:solidFill>
                  <a:schemeClr val="folHlink"/>
                </a:solidFill>
                <a:latin typeface="Arial" pitchFamily="34" charset="0"/>
              </a:rPr>
              <a:t>累计</a:t>
            </a:r>
            <a:r>
              <a:rPr lang="zh-CN" altLang="en-US" sz="2400" b="1">
                <a:solidFill>
                  <a:schemeClr val="tx1"/>
                </a:solidFill>
                <a:latin typeface="Arial" pitchFamily="34" charset="0"/>
              </a:rPr>
              <a:t>确认</a:t>
            </a:r>
          </a:p>
        </p:txBody>
      </p:sp>
      <p:grpSp>
        <p:nvGrpSpPr>
          <p:cNvPr id="27652" name="Group 1028"/>
          <p:cNvGrpSpPr>
            <a:grpSpLocks/>
          </p:cNvGrpSpPr>
          <p:nvPr/>
        </p:nvGrpSpPr>
        <p:grpSpPr bwMode="auto">
          <a:xfrm>
            <a:off x="2311401" y="2944813"/>
            <a:ext cx="7356475" cy="1193800"/>
            <a:chOff x="661" y="3424"/>
            <a:chExt cx="4634" cy="752"/>
          </a:xfrm>
        </p:grpSpPr>
        <p:sp>
          <p:nvSpPr>
            <p:cNvPr id="27653" name="Line 1029"/>
            <p:cNvSpPr>
              <a:spLocks noChangeShapeType="1"/>
            </p:cNvSpPr>
            <p:nvPr/>
          </p:nvSpPr>
          <p:spPr bwMode="auto">
            <a:xfrm>
              <a:off x="661" y="3865"/>
              <a:ext cx="4634" cy="0"/>
            </a:xfrm>
            <a:prstGeom prst="line">
              <a:avLst/>
            </a:prstGeom>
            <a:noFill/>
            <a:ln w="25400">
              <a:solidFill>
                <a:srgbClr val="F1B01F"/>
              </a:solidFill>
              <a:round/>
              <a:headEnd/>
              <a:tailEnd type="triangle" w="med" len="med"/>
            </a:ln>
          </p:spPr>
          <p:txBody>
            <a:bodyPr wrap="none" anchor="ctr"/>
            <a:lstStyle/>
            <a:p>
              <a:endParaRPr lang="zh-CN" altLang="en-US"/>
            </a:p>
          </p:txBody>
        </p:sp>
        <p:sp>
          <p:nvSpPr>
            <p:cNvPr id="27654" name="Oval 1030"/>
            <p:cNvSpPr>
              <a:spLocks noChangeArrowheads="1"/>
            </p:cNvSpPr>
            <p:nvPr/>
          </p:nvSpPr>
          <p:spPr bwMode="auto">
            <a:xfrm>
              <a:off x="1556" y="3845"/>
              <a:ext cx="40"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5" name="Oval 1031"/>
            <p:cNvSpPr>
              <a:spLocks noChangeArrowheads="1"/>
            </p:cNvSpPr>
            <p:nvPr/>
          </p:nvSpPr>
          <p:spPr bwMode="auto">
            <a:xfrm>
              <a:off x="2671" y="3845"/>
              <a:ext cx="39"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6" name="Oval 1032"/>
            <p:cNvSpPr>
              <a:spLocks noChangeArrowheads="1"/>
            </p:cNvSpPr>
            <p:nvPr/>
          </p:nvSpPr>
          <p:spPr bwMode="auto">
            <a:xfrm>
              <a:off x="3390" y="3845"/>
              <a:ext cx="39"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7" name="Oval 1033"/>
            <p:cNvSpPr>
              <a:spLocks noChangeArrowheads="1"/>
            </p:cNvSpPr>
            <p:nvPr/>
          </p:nvSpPr>
          <p:spPr bwMode="auto">
            <a:xfrm>
              <a:off x="4540" y="3845"/>
              <a:ext cx="40"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8" name="Line 1034"/>
            <p:cNvSpPr>
              <a:spLocks noChangeShapeType="1"/>
            </p:cNvSpPr>
            <p:nvPr/>
          </p:nvSpPr>
          <p:spPr bwMode="auto">
            <a:xfrm>
              <a:off x="341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59" name="Rectangle 1035"/>
            <p:cNvSpPr>
              <a:spLocks noChangeArrowheads="1"/>
            </p:cNvSpPr>
            <p:nvPr/>
          </p:nvSpPr>
          <p:spPr bwMode="auto">
            <a:xfrm>
              <a:off x="1843" y="3947"/>
              <a:ext cx="69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8</a:t>
              </a:r>
            </a:p>
          </p:txBody>
        </p:sp>
        <p:sp>
          <p:nvSpPr>
            <p:cNvPr id="27660" name="Rectangle 1036"/>
            <p:cNvSpPr>
              <a:spLocks noChangeArrowheads="1"/>
            </p:cNvSpPr>
            <p:nvPr/>
          </p:nvSpPr>
          <p:spPr bwMode="auto">
            <a:xfrm>
              <a:off x="2753" y="3947"/>
              <a:ext cx="69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9</a:t>
              </a:r>
            </a:p>
          </p:txBody>
        </p:sp>
        <p:sp>
          <p:nvSpPr>
            <p:cNvPr id="27661" name="Rectangle 1037"/>
            <p:cNvSpPr>
              <a:spLocks noChangeArrowheads="1"/>
            </p:cNvSpPr>
            <p:nvPr/>
          </p:nvSpPr>
          <p:spPr bwMode="auto">
            <a:xfrm>
              <a:off x="3712" y="3947"/>
              <a:ext cx="77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10</a:t>
              </a:r>
            </a:p>
          </p:txBody>
        </p:sp>
        <p:sp>
          <p:nvSpPr>
            <p:cNvPr id="27662" name="Line 1038"/>
            <p:cNvSpPr>
              <a:spLocks noChangeShapeType="1"/>
            </p:cNvSpPr>
            <p:nvPr/>
          </p:nvSpPr>
          <p:spPr bwMode="auto">
            <a:xfrm>
              <a:off x="269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3" name="Line 1039"/>
            <p:cNvSpPr>
              <a:spLocks noChangeShapeType="1"/>
            </p:cNvSpPr>
            <p:nvPr/>
          </p:nvSpPr>
          <p:spPr bwMode="auto">
            <a:xfrm>
              <a:off x="1576"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4" name="Line 1040"/>
            <p:cNvSpPr>
              <a:spLocks noChangeShapeType="1"/>
            </p:cNvSpPr>
            <p:nvPr/>
          </p:nvSpPr>
          <p:spPr bwMode="auto">
            <a:xfrm>
              <a:off x="456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5" name="Text Box 1041"/>
            <p:cNvSpPr txBox="1">
              <a:spLocks noChangeArrowheads="1"/>
            </p:cNvSpPr>
            <p:nvPr/>
          </p:nvSpPr>
          <p:spPr bwMode="auto">
            <a:xfrm>
              <a:off x="1320"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13450</a:t>
              </a:r>
            </a:p>
          </p:txBody>
        </p:sp>
        <p:sp>
          <p:nvSpPr>
            <p:cNvPr id="27666" name="Text Box 1042"/>
            <p:cNvSpPr txBox="1">
              <a:spLocks noChangeArrowheads="1"/>
            </p:cNvSpPr>
            <p:nvPr/>
          </p:nvSpPr>
          <p:spPr bwMode="auto">
            <a:xfrm>
              <a:off x="2403"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14950</a:t>
              </a:r>
            </a:p>
          </p:txBody>
        </p:sp>
        <p:sp>
          <p:nvSpPr>
            <p:cNvPr id="27667" name="Text Box 1043"/>
            <p:cNvSpPr txBox="1">
              <a:spLocks noChangeArrowheads="1"/>
            </p:cNvSpPr>
            <p:nvPr/>
          </p:nvSpPr>
          <p:spPr bwMode="auto">
            <a:xfrm>
              <a:off x="3094"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16050</a:t>
              </a:r>
            </a:p>
          </p:txBody>
        </p:sp>
        <p:sp>
          <p:nvSpPr>
            <p:cNvPr id="27668" name="Text Box 1044"/>
            <p:cNvSpPr txBox="1">
              <a:spLocks noChangeArrowheads="1"/>
            </p:cNvSpPr>
            <p:nvPr/>
          </p:nvSpPr>
          <p:spPr bwMode="auto">
            <a:xfrm>
              <a:off x="4304"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17550</a:t>
              </a:r>
            </a:p>
          </p:txBody>
        </p:sp>
      </p:gr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1026"/>
          <p:cNvSpPr>
            <a:spLocks noGrp="1" noChangeArrowheads="1"/>
          </p:cNvSpPr>
          <p:nvPr>
            <p:ph type="title"/>
          </p:nvPr>
        </p:nvSpPr>
        <p:spPr bwMode="auto">
          <a:xfrm>
            <a:off x="1408826" y="341814"/>
            <a:ext cx="9691849" cy="662571"/>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 Seq. #’s and ACKs (II)20201207</a:t>
            </a:r>
          </a:p>
        </p:txBody>
      </p:sp>
      <p:graphicFrame>
        <p:nvGraphicFramePr>
          <p:cNvPr id="4098" name="Object 1027"/>
          <p:cNvGraphicFramePr>
            <a:graphicFrameLocks noChangeAspect="1"/>
          </p:cNvGraphicFramePr>
          <p:nvPr/>
        </p:nvGraphicFramePr>
        <p:xfrm>
          <a:off x="4021139" y="1647826"/>
          <a:ext cx="606425" cy="481013"/>
        </p:xfrm>
        <a:graphic>
          <a:graphicData uri="http://schemas.openxmlformats.org/presentationml/2006/ole">
            <mc:AlternateContent xmlns:mc="http://schemas.openxmlformats.org/markup-compatibility/2006">
              <mc:Choice xmlns:v="urn:schemas-microsoft-com:vml" Requires="v">
                <p:oleObj spid="_x0000_s4162" name="Clip" r:id="rId3" imgW="1305000" imgH="1085760" progId="MS_ClipArt_Gallery.2">
                  <p:embed/>
                </p:oleObj>
              </mc:Choice>
              <mc:Fallback>
                <p:oleObj name="Clip" r:id="rId3" imgW="1305000" imgH="1085760" progId="MS_ClipArt_Gallery.2">
                  <p:embed/>
                  <p:pic>
                    <p:nvPicPr>
                      <p:cNvPr id="0" name="Object 10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1139" y="1647826"/>
                        <a:ext cx="60642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028"/>
          <p:cNvGraphicFramePr>
            <a:graphicFrameLocks noChangeAspect="1"/>
          </p:cNvGraphicFramePr>
          <p:nvPr/>
        </p:nvGraphicFramePr>
        <p:xfrm>
          <a:off x="7545389" y="1562101"/>
          <a:ext cx="606425" cy="481013"/>
        </p:xfrm>
        <a:graphic>
          <a:graphicData uri="http://schemas.openxmlformats.org/presentationml/2006/ole">
            <mc:AlternateContent xmlns:mc="http://schemas.openxmlformats.org/markup-compatibility/2006">
              <mc:Choice xmlns:v="urn:schemas-microsoft-com:vml" Requires="v">
                <p:oleObj spid="_x0000_s4163" name="Clip" r:id="rId5" imgW="1305000" imgH="1085760" progId="MS_ClipArt_Gallery.2">
                  <p:embed/>
                </p:oleObj>
              </mc:Choice>
              <mc:Fallback>
                <p:oleObj name="Clip" r:id="rId5" imgW="1305000" imgH="1085760" progId="MS_ClipArt_Gallery.2">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5389" y="1562101"/>
                        <a:ext cx="60642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1029"/>
          <p:cNvSpPr txBox="1">
            <a:spLocks noChangeArrowheads="1"/>
          </p:cNvSpPr>
          <p:nvPr/>
        </p:nvSpPr>
        <p:spPr bwMode="auto">
          <a:xfrm>
            <a:off x="4670425" y="1700213"/>
            <a:ext cx="935038" cy="366712"/>
          </a:xfrm>
          <a:prstGeom prst="rect">
            <a:avLst/>
          </a:prstGeom>
          <a:noFill/>
          <a:ln w="9525">
            <a:noFill/>
            <a:miter lim="800000"/>
            <a:headEnd/>
            <a:tailEnd/>
          </a:ln>
        </p:spPr>
        <p:txBody>
          <a:bodyPr wrap="none">
            <a:spAutoFit/>
          </a:bodyPr>
          <a:lstStyle/>
          <a:p>
            <a:r>
              <a:rPr lang="en-US" altLang="zh-CN" sz="1800">
                <a:solidFill>
                  <a:schemeClr val="tx1"/>
                </a:solidFill>
                <a:latin typeface="Comic Sans MS" pitchFamily="66" charset="0"/>
              </a:rPr>
              <a:t>Host A</a:t>
            </a:r>
            <a:endParaRPr lang="en-US" altLang="zh-CN" sz="1000">
              <a:solidFill>
                <a:schemeClr val="tx1"/>
              </a:solidFill>
            </a:endParaRPr>
          </a:p>
        </p:txBody>
      </p:sp>
      <p:sp>
        <p:nvSpPr>
          <p:cNvPr id="4102" name="Text Box 1030"/>
          <p:cNvSpPr txBox="1">
            <a:spLocks noChangeArrowheads="1"/>
          </p:cNvSpPr>
          <p:nvPr/>
        </p:nvSpPr>
        <p:spPr bwMode="auto">
          <a:xfrm>
            <a:off x="6662738" y="1690688"/>
            <a:ext cx="912812" cy="366712"/>
          </a:xfrm>
          <a:prstGeom prst="rect">
            <a:avLst/>
          </a:prstGeom>
          <a:noFill/>
          <a:ln w="9525">
            <a:noFill/>
            <a:miter lim="800000"/>
            <a:headEnd/>
            <a:tailEnd/>
          </a:ln>
        </p:spPr>
        <p:txBody>
          <a:bodyPr wrap="none">
            <a:spAutoFit/>
          </a:bodyPr>
          <a:lstStyle/>
          <a:p>
            <a:r>
              <a:rPr lang="en-US" altLang="zh-CN" sz="1800">
                <a:solidFill>
                  <a:schemeClr val="tx1"/>
                </a:solidFill>
                <a:latin typeface="Comic Sans MS" pitchFamily="66" charset="0"/>
              </a:rPr>
              <a:t>Host B</a:t>
            </a:r>
            <a:endParaRPr lang="en-US" altLang="zh-CN" sz="1000">
              <a:solidFill>
                <a:schemeClr val="tx1"/>
              </a:solidFill>
            </a:endParaRPr>
          </a:p>
        </p:txBody>
      </p:sp>
      <p:grpSp>
        <p:nvGrpSpPr>
          <p:cNvPr id="2" name="Group 1031"/>
          <p:cNvGrpSpPr>
            <a:grpSpLocks/>
          </p:cNvGrpSpPr>
          <p:nvPr/>
        </p:nvGrpSpPr>
        <p:grpSpPr bwMode="auto">
          <a:xfrm>
            <a:off x="3910013" y="2171700"/>
            <a:ext cx="3492500" cy="877888"/>
            <a:chOff x="1503" y="1368"/>
            <a:chExt cx="2200" cy="553"/>
          </a:xfrm>
        </p:grpSpPr>
        <p:sp>
          <p:nvSpPr>
            <p:cNvPr id="4114" name="Line 1032"/>
            <p:cNvSpPr>
              <a:spLocks noChangeShapeType="1"/>
            </p:cNvSpPr>
            <p:nvPr/>
          </p:nvSpPr>
          <p:spPr bwMode="auto">
            <a:xfrm>
              <a:off x="2053" y="1561"/>
              <a:ext cx="1650" cy="360"/>
            </a:xfrm>
            <a:prstGeom prst="line">
              <a:avLst/>
            </a:prstGeom>
            <a:noFill/>
            <a:ln w="28575">
              <a:solidFill>
                <a:srgbClr val="A50021"/>
              </a:solidFill>
              <a:round/>
              <a:headEnd/>
              <a:tailEnd type="triangle" w="med" len="med"/>
            </a:ln>
          </p:spPr>
          <p:txBody>
            <a:bodyPr wrap="none" anchor="ctr"/>
            <a:lstStyle/>
            <a:p>
              <a:endParaRPr lang="zh-CN" altLang="en-US"/>
            </a:p>
          </p:txBody>
        </p:sp>
        <p:sp>
          <p:nvSpPr>
            <p:cNvPr id="4115" name="Text Box 1033"/>
            <p:cNvSpPr txBox="1">
              <a:spLocks noChangeArrowheads="1"/>
            </p:cNvSpPr>
            <p:nvPr/>
          </p:nvSpPr>
          <p:spPr bwMode="auto">
            <a:xfrm rot="706751">
              <a:off x="2107" y="1550"/>
              <a:ext cx="1523" cy="192"/>
            </a:xfrm>
            <a:prstGeom prst="rect">
              <a:avLst/>
            </a:prstGeom>
            <a:noFill/>
            <a:ln w="9525">
              <a:noFill/>
              <a:miter lim="800000"/>
              <a:headEnd/>
              <a:tailEnd/>
            </a:ln>
          </p:spPr>
          <p:txBody>
            <a:bodyPr wrap="none">
              <a:spAutoFit/>
            </a:bodyPr>
            <a:lstStyle/>
            <a:p>
              <a:r>
                <a:rPr lang="en-US" altLang="zh-CN" sz="1400">
                  <a:solidFill>
                    <a:schemeClr val="tx1"/>
                  </a:solidFill>
                  <a:latin typeface="Arial" pitchFamily="34" charset="0"/>
                </a:rPr>
                <a:t>Seq=42, ACK=79, data = ‘C’</a:t>
              </a:r>
              <a:endParaRPr lang="en-US" altLang="zh-CN" sz="1000">
                <a:solidFill>
                  <a:schemeClr val="tx1"/>
                </a:solidFill>
              </a:endParaRPr>
            </a:p>
          </p:txBody>
        </p:sp>
        <p:sp>
          <p:nvSpPr>
            <p:cNvPr id="4116" name="Text Box 1034"/>
            <p:cNvSpPr txBox="1">
              <a:spLocks noChangeArrowheads="1"/>
            </p:cNvSpPr>
            <p:nvPr/>
          </p:nvSpPr>
          <p:spPr bwMode="auto">
            <a:xfrm>
              <a:off x="1503" y="1368"/>
              <a:ext cx="443" cy="520"/>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User</a:t>
              </a:r>
            </a:p>
            <a:p>
              <a:r>
                <a:rPr lang="en-US" altLang="zh-CN" sz="1600">
                  <a:solidFill>
                    <a:schemeClr val="tx1"/>
                  </a:solidFill>
                  <a:latin typeface="Comic Sans MS" pitchFamily="66" charset="0"/>
                </a:rPr>
                <a:t>types</a:t>
              </a:r>
            </a:p>
            <a:p>
              <a:r>
                <a:rPr lang="en-US" altLang="zh-CN" sz="1600">
                  <a:solidFill>
                    <a:schemeClr val="tx1"/>
                  </a:solidFill>
                  <a:latin typeface="Comic Sans MS" pitchFamily="66" charset="0"/>
                </a:rPr>
                <a:t>‘C’</a:t>
              </a:r>
              <a:endParaRPr lang="en-US" altLang="zh-CN" sz="1000">
                <a:solidFill>
                  <a:schemeClr val="tx1"/>
                </a:solidFill>
              </a:endParaRPr>
            </a:p>
          </p:txBody>
        </p:sp>
      </p:grpSp>
      <p:grpSp>
        <p:nvGrpSpPr>
          <p:cNvPr id="3" name="Group 1035"/>
          <p:cNvGrpSpPr>
            <a:grpSpLocks/>
          </p:cNvGrpSpPr>
          <p:nvPr/>
        </p:nvGrpSpPr>
        <p:grpSpPr bwMode="auto">
          <a:xfrm>
            <a:off x="3687763" y="4286250"/>
            <a:ext cx="3962400" cy="1201738"/>
            <a:chOff x="1363" y="2700"/>
            <a:chExt cx="2496" cy="757"/>
          </a:xfrm>
        </p:grpSpPr>
        <p:sp>
          <p:nvSpPr>
            <p:cNvPr id="4111" name="Line 1036"/>
            <p:cNvSpPr>
              <a:spLocks noChangeShapeType="1"/>
            </p:cNvSpPr>
            <p:nvPr/>
          </p:nvSpPr>
          <p:spPr bwMode="auto">
            <a:xfrm>
              <a:off x="2101" y="3103"/>
              <a:ext cx="1758" cy="354"/>
            </a:xfrm>
            <a:prstGeom prst="line">
              <a:avLst/>
            </a:prstGeom>
            <a:noFill/>
            <a:ln w="28575">
              <a:solidFill>
                <a:srgbClr val="A50021"/>
              </a:solidFill>
              <a:round/>
              <a:headEnd/>
              <a:tailEnd type="triangle" w="med" len="med"/>
            </a:ln>
          </p:spPr>
          <p:txBody>
            <a:bodyPr wrap="none" anchor="ctr"/>
            <a:lstStyle/>
            <a:p>
              <a:endParaRPr lang="zh-CN" altLang="en-US"/>
            </a:p>
          </p:txBody>
        </p:sp>
        <p:sp>
          <p:nvSpPr>
            <p:cNvPr id="4112" name="Text Box 1037"/>
            <p:cNvSpPr txBox="1">
              <a:spLocks noChangeArrowheads="1"/>
            </p:cNvSpPr>
            <p:nvPr/>
          </p:nvSpPr>
          <p:spPr bwMode="auto">
            <a:xfrm rot="683987">
              <a:off x="2181" y="2998"/>
              <a:ext cx="986" cy="192"/>
            </a:xfrm>
            <a:prstGeom prst="rect">
              <a:avLst/>
            </a:prstGeom>
            <a:noFill/>
            <a:ln w="9525">
              <a:noFill/>
              <a:miter lim="800000"/>
              <a:headEnd/>
              <a:tailEnd/>
            </a:ln>
          </p:spPr>
          <p:txBody>
            <a:bodyPr wrap="none">
              <a:spAutoFit/>
            </a:bodyPr>
            <a:lstStyle/>
            <a:p>
              <a:pPr algn="l"/>
              <a:r>
                <a:rPr lang="en-US" altLang="zh-CN" sz="1400">
                  <a:solidFill>
                    <a:schemeClr val="tx1"/>
                  </a:solidFill>
                  <a:latin typeface="Arial" pitchFamily="34" charset="0"/>
                </a:rPr>
                <a:t>Seq=43, ACK=80</a:t>
              </a:r>
              <a:endParaRPr lang="en-US" altLang="zh-CN" sz="1000">
                <a:solidFill>
                  <a:schemeClr val="tx1"/>
                </a:solidFill>
              </a:endParaRPr>
            </a:p>
          </p:txBody>
        </p:sp>
        <p:sp>
          <p:nvSpPr>
            <p:cNvPr id="4113" name="Text Box 1038"/>
            <p:cNvSpPr txBox="1">
              <a:spLocks noChangeArrowheads="1"/>
            </p:cNvSpPr>
            <p:nvPr/>
          </p:nvSpPr>
          <p:spPr bwMode="auto">
            <a:xfrm>
              <a:off x="1363" y="2700"/>
              <a:ext cx="728" cy="674"/>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host ACKs</a:t>
              </a:r>
            </a:p>
            <a:p>
              <a:r>
                <a:rPr lang="en-US" altLang="zh-CN" sz="1600">
                  <a:solidFill>
                    <a:schemeClr val="tx1"/>
                  </a:solidFill>
                  <a:latin typeface="Comic Sans MS" pitchFamily="66" charset="0"/>
                </a:rPr>
                <a:t>receipt </a:t>
              </a:r>
            </a:p>
            <a:p>
              <a:r>
                <a:rPr lang="en-US" altLang="zh-CN" sz="1600">
                  <a:solidFill>
                    <a:schemeClr val="tx1"/>
                  </a:solidFill>
                  <a:latin typeface="Comic Sans MS" pitchFamily="66" charset="0"/>
                </a:rPr>
                <a:t>of echoed</a:t>
              </a:r>
            </a:p>
            <a:p>
              <a:r>
                <a:rPr lang="en-US" altLang="zh-CN" sz="1600">
                  <a:solidFill>
                    <a:schemeClr val="tx1"/>
                  </a:solidFill>
                  <a:latin typeface="Comic Sans MS" pitchFamily="66" charset="0"/>
                </a:rPr>
                <a:t>‘C’</a:t>
              </a:r>
              <a:endParaRPr lang="en-US" altLang="zh-CN" sz="1000">
                <a:solidFill>
                  <a:schemeClr val="tx1"/>
                </a:solidFill>
              </a:endParaRPr>
            </a:p>
          </p:txBody>
        </p:sp>
      </p:grpSp>
      <p:grpSp>
        <p:nvGrpSpPr>
          <p:cNvPr id="4" name="Group 1039"/>
          <p:cNvGrpSpPr>
            <a:grpSpLocks/>
          </p:cNvGrpSpPr>
          <p:nvPr/>
        </p:nvGrpSpPr>
        <p:grpSpPr bwMode="auto">
          <a:xfrm>
            <a:off x="4773613" y="2828925"/>
            <a:ext cx="3765550" cy="1411288"/>
            <a:chOff x="2047" y="1782"/>
            <a:chExt cx="2372" cy="889"/>
          </a:xfrm>
        </p:grpSpPr>
        <p:sp>
          <p:nvSpPr>
            <p:cNvPr id="4108" name="Text Box 1040"/>
            <p:cNvSpPr txBox="1">
              <a:spLocks noChangeArrowheads="1"/>
            </p:cNvSpPr>
            <p:nvPr/>
          </p:nvSpPr>
          <p:spPr bwMode="auto">
            <a:xfrm rot="-844223">
              <a:off x="2142" y="2216"/>
              <a:ext cx="1523" cy="192"/>
            </a:xfrm>
            <a:prstGeom prst="rect">
              <a:avLst/>
            </a:prstGeom>
            <a:noFill/>
            <a:ln w="9525">
              <a:noFill/>
              <a:miter lim="800000"/>
              <a:headEnd/>
              <a:tailEnd/>
            </a:ln>
          </p:spPr>
          <p:txBody>
            <a:bodyPr wrap="none">
              <a:spAutoFit/>
            </a:bodyPr>
            <a:lstStyle/>
            <a:p>
              <a:r>
                <a:rPr lang="en-US" altLang="zh-CN" sz="1400">
                  <a:solidFill>
                    <a:schemeClr val="tx1"/>
                  </a:solidFill>
                  <a:latin typeface="Arial" pitchFamily="34" charset="0"/>
                </a:rPr>
                <a:t>Seq=79, ACK=43, data = ‘C’</a:t>
              </a:r>
              <a:endParaRPr lang="en-US" altLang="zh-CN" sz="1000">
                <a:solidFill>
                  <a:schemeClr val="tx1"/>
                </a:solidFill>
              </a:endParaRPr>
            </a:p>
          </p:txBody>
        </p:sp>
        <p:sp>
          <p:nvSpPr>
            <p:cNvPr id="4109" name="Text Box 1041"/>
            <p:cNvSpPr txBox="1">
              <a:spLocks noChangeArrowheads="1"/>
            </p:cNvSpPr>
            <p:nvPr/>
          </p:nvSpPr>
          <p:spPr bwMode="auto">
            <a:xfrm>
              <a:off x="3691" y="1782"/>
              <a:ext cx="728" cy="674"/>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host ACKs</a:t>
              </a:r>
            </a:p>
            <a:p>
              <a:r>
                <a:rPr lang="en-US" altLang="zh-CN" sz="1600">
                  <a:solidFill>
                    <a:schemeClr val="tx1"/>
                  </a:solidFill>
                  <a:latin typeface="Comic Sans MS" pitchFamily="66" charset="0"/>
                </a:rPr>
                <a:t>receipt of</a:t>
              </a:r>
            </a:p>
            <a:p>
              <a:r>
                <a:rPr lang="en-US" altLang="zh-CN" sz="1600">
                  <a:solidFill>
                    <a:schemeClr val="tx1"/>
                  </a:solidFill>
                  <a:latin typeface="Comic Sans MS" pitchFamily="66" charset="0"/>
                </a:rPr>
                <a:t>‘C’, echoes</a:t>
              </a:r>
            </a:p>
            <a:p>
              <a:r>
                <a:rPr lang="en-US" altLang="zh-CN" sz="1600">
                  <a:solidFill>
                    <a:schemeClr val="tx1"/>
                  </a:solidFill>
                  <a:latin typeface="Comic Sans MS" pitchFamily="66" charset="0"/>
                </a:rPr>
                <a:t>back ‘C’</a:t>
              </a:r>
              <a:endParaRPr lang="en-US" altLang="zh-CN" sz="1000">
                <a:solidFill>
                  <a:schemeClr val="tx1"/>
                </a:solidFill>
              </a:endParaRPr>
            </a:p>
          </p:txBody>
        </p:sp>
        <p:sp>
          <p:nvSpPr>
            <p:cNvPr id="4110" name="Line 1042"/>
            <p:cNvSpPr>
              <a:spLocks noChangeShapeType="1"/>
            </p:cNvSpPr>
            <p:nvPr/>
          </p:nvSpPr>
          <p:spPr bwMode="auto">
            <a:xfrm flipH="1">
              <a:off x="2047" y="2167"/>
              <a:ext cx="1644" cy="504"/>
            </a:xfrm>
            <a:prstGeom prst="line">
              <a:avLst/>
            </a:prstGeom>
            <a:noFill/>
            <a:ln w="28575">
              <a:solidFill>
                <a:srgbClr val="A50021"/>
              </a:solidFill>
              <a:round/>
              <a:headEnd/>
              <a:tailEnd type="triangle" w="med" len="med"/>
            </a:ln>
          </p:spPr>
          <p:txBody>
            <a:bodyPr wrap="none" anchor="ctr"/>
            <a:lstStyle/>
            <a:p>
              <a:endParaRPr lang="zh-CN" altLang="en-US"/>
            </a:p>
          </p:txBody>
        </p:sp>
      </p:grpSp>
      <p:sp>
        <p:nvSpPr>
          <p:cNvPr id="4106" name="Line 1043"/>
          <p:cNvSpPr>
            <a:spLocks noChangeShapeType="1"/>
          </p:cNvSpPr>
          <p:nvPr/>
        </p:nvSpPr>
        <p:spPr bwMode="auto">
          <a:xfrm flipH="1">
            <a:off x="8507413" y="1954213"/>
            <a:ext cx="0" cy="451485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4107" name="Text Box 1044"/>
          <p:cNvSpPr txBox="1">
            <a:spLocks noChangeArrowheads="1"/>
          </p:cNvSpPr>
          <p:nvPr/>
        </p:nvSpPr>
        <p:spPr bwMode="auto">
          <a:xfrm>
            <a:off x="3627438" y="5962650"/>
            <a:ext cx="5822950" cy="457200"/>
          </a:xfrm>
          <a:prstGeom prst="rect">
            <a:avLst/>
          </a:prstGeom>
          <a:noFill/>
          <a:ln w="9525">
            <a:noFill/>
            <a:miter lim="800000"/>
            <a:headEnd/>
            <a:tailEnd/>
          </a:ln>
        </p:spPr>
        <p:txBody>
          <a:bodyPr wrap="none">
            <a:spAutoFit/>
          </a:bodyPr>
          <a:lstStyle/>
          <a:p>
            <a:r>
              <a:rPr lang="en-US" altLang="zh-CN" sz="2400" u="sng">
                <a:solidFill>
                  <a:schemeClr val="tx1"/>
                </a:solidFill>
                <a:latin typeface="Comic Sans MS" pitchFamily="66" charset="0"/>
              </a:rPr>
              <a:t>simple telnet scenario</a:t>
            </a:r>
            <a:r>
              <a:rPr lang="zh-CN" altLang="en-US" sz="2000" u="sng">
                <a:solidFill>
                  <a:schemeClr val="tx1"/>
                </a:solidFill>
                <a:latin typeface="Comic Sans MS" pitchFamily="66" charset="0"/>
              </a:rPr>
              <a:t>（简单</a:t>
            </a:r>
            <a:r>
              <a:rPr lang="en-US" altLang="zh-CN" sz="2000" u="sng">
                <a:solidFill>
                  <a:schemeClr val="tx1"/>
                </a:solidFill>
                <a:latin typeface="Comic Sans MS" pitchFamily="66" charset="0"/>
              </a:rPr>
              <a:t>TELNET</a:t>
            </a:r>
            <a:r>
              <a:rPr lang="zh-CN" altLang="en-US" sz="2000" u="sng">
                <a:solidFill>
                  <a:schemeClr val="tx1"/>
                </a:solidFill>
                <a:latin typeface="Comic Sans MS" pitchFamily="66" charset="0"/>
              </a:rPr>
              <a:t>情形）</a:t>
            </a:r>
            <a:endParaRPr lang="zh-CN" altLang="en-US" sz="2000" u="sng">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bwMode="auto">
          <a:xfrm>
            <a:off x="4678364" y="404814"/>
            <a:ext cx="2833687" cy="752655"/>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endParaRPr lang="en-US" altLang="zh-CN" b="1">
              <a:latin typeface="Arial" pitchFamily="34" charset="0"/>
            </a:endParaRPr>
          </a:p>
        </p:txBody>
      </p:sp>
      <p:sp>
        <p:nvSpPr>
          <p:cNvPr id="31747" name="Text Box 1027"/>
          <p:cNvSpPr txBox="1">
            <a:spLocks noChangeArrowheads="1"/>
          </p:cNvSpPr>
          <p:nvPr/>
        </p:nvSpPr>
        <p:spPr bwMode="auto">
          <a:xfrm>
            <a:off x="3578226" y="1443039"/>
            <a:ext cx="5510213"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p>
          <a:p>
            <a:pPr marL="390525" indent="-390525" algn="l">
              <a:spcBef>
                <a:spcPct val="20000"/>
              </a:spcBef>
              <a:buClr>
                <a:schemeClr val="hlink"/>
              </a:buClr>
              <a:buFont typeface="Wingdings" pitchFamily="2" charset="2"/>
              <a:buChar char="Ø"/>
            </a:pPr>
            <a:r>
              <a:rPr lang="zh-CN" altLang="en-US">
                <a:solidFill>
                  <a:schemeClr va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tx1"/>
                </a:solidFill>
                <a:latin typeface="Arial" pitchFamily="34" charset="0"/>
              </a:rPr>
              <a:t>TCP</a:t>
            </a:r>
            <a:r>
              <a:rPr lang="zh-CN" altLang="en-US">
                <a:solidFill>
                  <a:schemeClr val="tx1"/>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流控与阻塞控制</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错误控制 </a:t>
            </a:r>
            <a:r>
              <a:rPr lang="en-US" altLang="zh-CN">
                <a:solidFill>
                  <a:schemeClr val="tx1"/>
                </a:solidFill>
                <a:latin typeface="Arial" pitchFamily="34" charset="0"/>
              </a:rPr>
              <a:t>(Timer)</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bwMode="auto">
          <a:xfrm>
            <a:off x="2209800" y="4191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连接管理</a:t>
            </a:r>
          </a:p>
        </p:txBody>
      </p:sp>
      <p:sp>
        <p:nvSpPr>
          <p:cNvPr id="970755" name="Text Box 1027"/>
          <p:cNvSpPr txBox="1">
            <a:spLocks noChangeArrowheads="1"/>
          </p:cNvSpPr>
          <p:nvPr/>
        </p:nvSpPr>
        <p:spPr bwMode="auto">
          <a:xfrm>
            <a:off x="4090988" y="1933576"/>
            <a:ext cx="3954462" cy="1160463"/>
          </a:xfrm>
          <a:prstGeom prst="rect">
            <a:avLst/>
          </a:prstGeom>
          <a:noFill/>
          <a:ln w="9525">
            <a:noFill/>
            <a:miter lim="800000"/>
            <a:headEnd/>
            <a:tailEnd/>
          </a:ln>
        </p:spPr>
        <p:txBody>
          <a:bodyPr>
            <a:spAutoFit/>
          </a:bodyPr>
          <a:lstStyle/>
          <a:p>
            <a:pPr algn="l">
              <a:spcBef>
                <a:spcPct val="50000"/>
              </a:spcBef>
            </a:pPr>
            <a:r>
              <a:rPr lang="en-US" altLang="zh-CN">
                <a:solidFill>
                  <a:schemeClr val="tx1"/>
                </a:solidFill>
                <a:latin typeface="Arial" pitchFamily="34" charset="0"/>
              </a:rPr>
              <a:t>• </a:t>
            </a:r>
            <a:r>
              <a:rPr lang="zh-CN" altLang="en-US" b="1">
                <a:solidFill>
                  <a:schemeClr val="tx1"/>
                </a:solidFill>
                <a:latin typeface="Arial" pitchFamily="34" charset="0"/>
              </a:rPr>
              <a:t>建立 一个</a:t>
            </a:r>
            <a:r>
              <a:rPr lang="en-US" altLang="zh-CN" b="1">
                <a:solidFill>
                  <a:schemeClr val="tx1"/>
                </a:solidFill>
                <a:latin typeface="Arial" pitchFamily="34" charset="0"/>
              </a:rPr>
              <a:t>TCP </a:t>
            </a:r>
            <a:r>
              <a:rPr lang="zh-CN" altLang="en-US" b="1">
                <a:solidFill>
                  <a:schemeClr val="tx1"/>
                </a:solidFill>
                <a:latin typeface="Arial" pitchFamily="34" charset="0"/>
              </a:rPr>
              <a:t>连接</a:t>
            </a:r>
          </a:p>
          <a:p>
            <a:pPr algn="l">
              <a:spcBef>
                <a:spcPct val="50000"/>
              </a:spcBef>
            </a:pPr>
            <a:r>
              <a:rPr lang="en-US" altLang="zh-CN">
                <a:solidFill>
                  <a:schemeClr val="tx1"/>
                </a:solidFill>
                <a:latin typeface="Arial" pitchFamily="34" charset="0"/>
              </a:rPr>
              <a:t>• </a:t>
            </a:r>
            <a:r>
              <a:rPr lang="zh-CN" altLang="en-US" b="1">
                <a:solidFill>
                  <a:schemeClr val="tx1"/>
                </a:solidFill>
                <a:latin typeface="Arial" pitchFamily="34" charset="0"/>
              </a:rPr>
              <a:t>关闭一个 </a:t>
            </a:r>
            <a:r>
              <a:rPr lang="en-US" altLang="zh-CN" b="1">
                <a:solidFill>
                  <a:schemeClr val="tx1"/>
                </a:solidFill>
                <a:latin typeface="Arial" pitchFamily="34" charset="0"/>
              </a:rPr>
              <a:t>TCP </a:t>
            </a:r>
            <a:r>
              <a:rPr lang="zh-CN" altLang="en-US" b="1">
                <a:solidFill>
                  <a:schemeClr val="tx1"/>
                </a:solidFill>
                <a:latin typeface="Arial" pitchFamily="34" charset="0"/>
              </a:rPr>
              <a:t>连接</a:t>
            </a:r>
            <a:endParaRPr lang="zh-CN" altLang="en-US" sz="2400" b="1">
              <a:solidFill>
                <a:schemeClr val="tx1"/>
              </a:solidFill>
              <a:latin typeface="Arial"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70755">
                                            <p:txEl>
                                              <p:pRg st="0" end="0"/>
                                            </p:txEl>
                                          </p:spTgt>
                                        </p:tgtEl>
                                        <p:attrNameLst>
                                          <p:attrName>style.visibility</p:attrName>
                                        </p:attrNameLst>
                                      </p:cBhvr>
                                      <p:to>
                                        <p:strVal val="visible"/>
                                      </p:to>
                                    </p:set>
                                    <p:anim calcmode="lin" valueType="num">
                                      <p:cBhvr additive="base">
                                        <p:cTn id="7" dur="500" fill="hold"/>
                                        <p:tgtEl>
                                          <p:spTgt spid="9707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707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70755">
                                            <p:txEl>
                                              <p:pRg st="1" end="1"/>
                                            </p:txEl>
                                          </p:spTgt>
                                        </p:tgtEl>
                                        <p:attrNameLst>
                                          <p:attrName>style.visibility</p:attrName>
                                        </p:attrNameLst>
                                      </p:cBhvr>
                                      <p:to>
                                        <p:strVal val="visible"/>
                                      </p:to>
                                    </p:set>
                                    <p:anim calcmode="lin" valueType="num">
                                      <p:cBhvr additive="base">
                                        <p:cTn id="13" dur="500" fill="hold"/>
                                        <p:tgtEl>
                                          <p:spTgt spid="9707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7075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5"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2324100"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连接建立</a:t>
            </a:r>
          </a:p>
        </p:txBody>
      </p:sp>
      <p:sp>
        <p:nvSpPr>
          <p:cNvPr id="33795" name="Text Box 4"/>
          <p:cNvSpPr txBox="1">
            <a:spLocks noChangeArrowheads="1"/>
          </p:cNvSpPr>
          <p:nvPr/>
        </p:nvSpPr>
        <p:spPr bwMode="auto">
          <a:xfrm>
            <a:off x="2092326" y="4868864"/>
            <a:ext cx="8081963" cy="1330325"/>
          </a:xfrm>
          <a:prstGeom prst="rect">
            <a:avLst/>
          </a:prstGeom>
          <a:noFill/>
          <a:ln w="9525">
            <a:noFill/>
            <a:miter lim="800000"/>
            <a:headEnd/>
            <a:tailEnd/>
          </a:ln>
        </p:spPr>
        <p:txBody>
          <a:bodyPr>
            <a:spAutoFit/>
          </a:bodyPr>
          <a:lstStyle/>
          <a:p>
            <a:pPr marL="195263" indent="-195263" algn="l">
              <a:lnSpc>
                <a:spcPct val="90000"/>
              </a:lnSpc>
              <a:spcBef>
                <a:spcPct val="20000"/>
              </a:spcBef>
              <a:buClr>
                <a:schemeClr val="accent2"/>
              </a:buClr>
              <a:buSzPct val="75000"/>
              <a:buFont typeface="Monotype Sorts" pitchFamily="2" charset="2"/>
              <a:buChar char="q"/>
            </a:pPr>
            <a:r>
              <a:rPr lang="zh-CN" altLang="en-US">
                <a:solidFill>
                  <a:schemeClr val="tx1"/>
                </a:solidFill>
                <a:latin typeface="Arial" pitchFamily="34" charset="0"/>
              </a:rPr>
              <a:t>通过</a:t>
            </a:r>
            <a:r>
              <a:rPr lang="zh-CN" altLang="en-US">
                <a:solidFill>
                  <a:schemeClr val="hlink"/>
                </a:solidFill>
                <a:latin typeface="Arial" pitchFamily="34" charset="0"/>
              </a:rPr>
              <a:t>三次握手</a:t>
            </a:r>
            <a:r>
              <a:rPr lang="zh-CN" altLang="en-US">
                <a:solidFill>
                  <a:schemeClr val="tx1"/>
                </a:solidFill>
                <a:latin typeface="Arial" pitchFamily="34" charset="0"/>
              </a:rPr>
              <a:t>建立一个</a:t>
            </a:r>
            <a:r>
              <a:rPr lang="en-US" altLang="zh-CN">
                <a:solidFill>
                  <a:schemeClr val="tx1"/>
                </a:solidFill>
                <a:latin typeface="Arial" pitchFamily="34" charset="0"/>
              </a:rPr>
              <a:t>TCP</a:t>
            </a:r>
            <a:r>
              <a:rPr lang="zh-CN" altLang="en-US">
                <a:solidFill>
                  <a:schemeClr val="tx1"/>
                </a:solidFill>
                <a:latin typeface="Arial" pitchFamily="34" charset="0"/>
              </a:rPr>
              <a:t>连接</a:t>
            </a:r>
          </a:p>
          <a:p>
            <a:pPr marL="654050" lvl="1" indent="-263525" algn="l">
              <a:lnSpc>
                <a:spcPct val="90000"/>
              </a:lnSpc>
              <a:spcBef>
                <a:spcPct val="20000"/>
              </a:spcBef>
              <a:buClr>
                <a:schemeClr val="hlink"/>
              </a:buClr>
              <a:buSzPct val="75000"/>
              <a:buFont typeface="Wingdings" pitchFamily="2" charset="2"/>
              <a:buChar char="ü"/>
            </a:pPr>
            <a:r>
              <a:rPr lang="zh-CN" altLang="en-US">
                <a:solidFill>
                  <a:schemeClr val="tx1"/>
                </a:solidFill>
                <a:latin typeface="Arial" pitchFamily="34" charset="0"/>
              </a:rPr>
              <a:t>目的</a:t>
            </a:r>
            <a:r>
              <a:rPr lang="en-US" altLang="zh-CN">
                <a:solidFill>
                  <a:schemeClr val="tx1"/>
                </a:solidFill>
                <a:latin typeface="Arial" pitchFamily="34" charset="0"/>
              </a:rPr>
              <a:t>: </a:t>
            </a:r>
            <a:r>
              <a:rPr lang="zh-CN" altLang="en-US">
                <a:solidFill>
                  <a:schemeClr val="tx1"/>
                </a:solidFill>
                <a:latin typeface="Arial" pitchFamily="34" charset="0"/>
              </a:rPr>
              <a:t>协商一些参数，如</a:t>
            </a:r>
            <a:r>
              <a:rPr lang="en-US" altLang="zh-CN">
                <a:solidFill>
                  <a:schemeClr val="tx1"/>
                </a:solidFill>
                <a:latin typeface="Arial" pitchFamily="34" charset="0"/>
              </a:rPr>
              <a:t>: </a:t>
            </a:r>
            <a:r>
              <a:rPr lang="zh-CN" altLang="en-US">
                <a:solidFill>
                  <a:schemeClr val="tx1"/>
                </a:solidFill>
                <a:latin typeface="Arial" pitchFamily="34" charset="0"/>
              </a:rPr>
              <a:t>双方的初始序列号、分段大小等</a:t>
            </a:r>
          </a:p>
        </p:txBody>
      </p:sp>
      <p:sp>
        <p:nvSpPr>
          <p:cNvPr id="33796" name="Line 6"/>
          <p:cNvSpPr>
            <a:spLocks noChangeShapeType="1"/>
          </p:cNvSpPr>
          <p:nvPr/>
        </p:nvSpPr>
        <p:spPr bwMode="auto">
          <a:xfrm>
            <a:off x="4325938" y="2062163"/>
            <a:ext cx="0" cy="2667000"/>
          </a:xfrm>
          <a:prstGeom prst="line">
            <a:avLst/>
          </a:prstGeom>
          <a:noFill/>
          <a:ln w="25400">
            <a:solidFill>
              <a:schemeClr val="tx2"/>
            </a:solidFill>
            <a:round/>
            <a:headEnd/>
            <a:tailEnd/>
          </a:ln>
        </p:spPr>
        <p:txBody>
          <a:bodyPr lIns="90488" tIns="44450" rIns="90488" bIns="44450"/>
          <a:lstStyle/>
          <a:p>
            <a:endParaRPr lang="zh-CN" altLang="en-US"/>
          </a:p>
        </p:txBody>
      </p:sp>
      <p:sp>
        <p:nvSpPr>
          <p:cNvPr id="33797" name="Text Box 7"/>
          <p:cNvSpPr txBox="1">
            <a:spLocks noChangeArrowheads="1"/>
          </p:cNvSpPr>
          <p:nvPr/>
        </p:nvSpPr>
        <p:spPr bwMode="auto">
          <a:xfrm>
            <a:off x="3415091" y="1635126"/>
            <a:ext cx="1891544" cy="397545"/>
          </a:xfrm>
          <a:prstGeom prst="rect">
            <a:avLst/>
          </a:prstGeom>
          <a:noFill/>
          <a:ln w="25400">
            <a:solidFill>
              <a:schemeClr val="tx1"/>
            </a:solidFill>
            <a:miter lim="800000"/>
            <a:headEnd/>
            <a:tailEnd/>
          </a:ln>
        </p:spPr>
        <p:txBody>
          <a:bodyPr wrap="none" lIns="90488" tIns="44450" rIns="90488" bIns="44450">
            <a:spAutoFit/>
          </a:bodyPr>
          <a:lstStyle/>
          <a:p>
            <a:r>
              <a:rPr lang="zh-CN" altLang="en-US" sz="2000">
                <a:solidFill>
                  <a:schemeClr val="tx1"/>
                </a:solidFill>
                <a:latin typeface="Arial" pitchFamily="34" charset="0"/>
              </a:rPr>
              <a:t>客户机</a:t>
            </a:r>
            <a:r>
              <a:rPr lang="en-US" altLang="zh-CN" sz="2000">
                <a:solidFill>
                  <a:schemeClr val="tx1"/>
                </a:solidFill>
                <a:latin typeface="Arial" pitchFamily="34" charset="0"/>
              </a:rPr>
              <a:t>(</a:t>
            </a:r>
            <a:r>
              <a:rPr lang="zh-CN" altLang="en-US" sz="2000">
                <a:solidFill>
                  <a:schemeClr val="tx1"/>
                </a:solidFill>
                <a:latin typeface="Arial" pitchFamily="34" charset="0"/>
              </a:rPr>
              <a:t>发起者</a:t>
            </a:r>
            <a:r>
              <a:rPr lang="en-US" altLang="zh-CN" sz="2000">
                <a:solidFill>
                  <a:schemeClr val="tx1"/>
                </a:solidFill>
                <a:latin typeface="Arial" pitchFamily="34" charset="0"/>
              </a:rPr>
              <a:t>)</a:t>
            </a:r>
          </a:p>
        </p:txBody>
      </p:sp>
      <p:sp>
        <p:nvSpPr>
          <p:cNvPr id="33798" name="Text Box 8"/>
          <p:cNvSpPr txBox="1">
            <a:spLocks noChangeArrowheads="1"/>
          </p:cNvSpPr>
          <p:nvPr/>
        </p:nvSpPr>
        <p:spPr bwMode="auto">
          <a:xfrm>
            <a:off x="8717121" y="1625601"/>
            <a:ext cx="952185" cy="397545"/>
          </a:xfrm>
          <a:prstGeom prst="rect">
            <a:avLst/>
          </a:prstGeom>
          <a:noFill/>
          <a:ln w="25400">
            <a:solidFill>
              <a:schemeClr val="tx1"/>
            </a:solidFill>
            <a:miter lim="800000"/>
            <a:headEnd/>
            <a:tailEnd/>
          </a:ln>
        </p:spPr>
        <p:txBody>
          <a:bodyPr wrap="none" lIns="90488" tIns="44450" rIns="90488" bIns="44450">
            <a:spAutoFit/>
          </a:bodyPr>
          <a:lstStyle/>
          <a:p>
            <a:r>
              <a:rPr lang="zh-CN" altLang="en-US" sz="2000">
                <a:solidFill>
                  <a:schemeClr val="tx1"/>
                </a:solidFill>
                <a:latin typeface="Arial" pitchFamily="34" charset="0"/>
              </a:rPr>
              <a:t>服务器</a:t>
            </a:r>
          </a:p>
        </p:txBody>
      </p:sp>
      <p:sp>
        <p:nvSpPr>
          <p:cNvPr id="33799" name="Line 9"/>
          <p:cNvSpPr>
            <a:spLocks noChangeShapeType="1"/>
          </p:cNvSpPr>
          <p:nvPr/>
        </p:nvSpPr>
        <p:spPr bwMode="auto">
          <a:xfrm>
            <a:off x="9197975" y="2062164"/>
            <a:ext cx="0" cy="2962275"/>
          </a:xfrm>
          <a:prstGeom prst="line">
            <a:avLst/>
          </a:prstGeom>
          <a:noFill/>
          <a:ln w="25400">
            <a:solidFill>
              <a:schemeClr val="tx2"/>
            </a:solidFill>
            <a:round/>
            <a:headEnd/>
            <a:tailEnd/>
          </a:ln>
        </p:spPr>
        <p:txBody>
          <a:bodyPr lIns="90488" tIns="44450" rIns="90488" bIns="44450"/>
          <a:lstStyle/>
          <a:p>
            <a:endParaRPr lang="zh-CN" altLang="en-US"/>
          </a:p>
        </p:txBody>
      </p:sp>
      <p:sp>
        <p:nvSpPr>
          <p:cNvPr id="33800" name="Line 11"/>
          <p:cNvSpPr>
            <a:spLocks noChangeShapeType="1"/>
          </p:cNvSpPr>
          <p:nvPr/>
        </p:nvSpPr>
        <p:spPr bwMode="auto">
          <a:xfrm rot="-218318">
            <a:off x="4324350" y="2441575"/>
            <a:ext cx="4876800" cy="609600"/>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1" name="Text Box 12"/>
          <p:cNvSpPr txBox="1">
            <a:spLocks noChangeArrowheads="1"/>
          </p:cNvSpPr>
          <p:nvPr/>
        </p:nvSpPr>
        <p:spPr bwMode="auto">
          <a:xfrm rot="195257">
            <a:off x="5512364" y="2356132"/>
            <a:ext cx="1853072" cy="335989"/>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SYN, SeqNum = x</a:t>
            </a:r>
          </a:p>
        </p:txBody>
      </p:sp>
      <p:grpSp>
        <p:nvGrpSpPr>
          <p:cNvPr id="2" name="Group 20"/>
          <p:cNvGrpSpPr>
            <a:grpSpLocks/>
          </p:cNvGrpSpPr>
          <p:nvPr/>
        </p:nvGrpSpPr>
        <p:grpSpPr bwMode="auto">
          <a:xfrm>
            <a:off x="4321175" y="3205163"/>
            <a:ext cx="4876800" cy="609600"/>
            <a:chOff x="1762" y="2019"/>
            <a:chExt cx="3072" cy="384"/>
          </a:xfrm>
        </p:grpSpPr>
        <p:sp>
          <p:nvSpPr>
            <p:cNvPr id="33806" name="Line 14"/>
            <p:cNvSpPr>
              <a:spLocks noChangeShapeType="1"/>
            </p:cNvSpPr>
            <p:nvPr/>
          </p:nvSpPr>
          <p:spPr bwMode="auto">
            <a:xfrm flipH="1">
              <a:off x="1762" y="2067"/>
              <a:ext cx="3072" cy="336"/>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7" name="Text Box 15"/>
            <p:cNvSpPr txBox="1">
              <a:spLocks noChangeArrowheads="1"/>
            </p:cNvSpPr>
            <p:nvPr/>
          </p:nvSpPr>
          <p:spPr bwMode="auto">
            <a:xfrm rot="-375610">
              <a:off x="1954" y="2019"/>
              <a:ext cx="2630" cy="210"/>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SYN and ACK, SeqNum = y and Ack = x + 1</a:t>
              </a:r>
            </a:p>
          </p:txBody>
        </p:sp>
      </p:grpSp>
      <p:grpSp>
        <p:nvGrpSpPr>
          <p:cNvPr id="3" name="Group 21"/>
          <p:cNvGrpSpPr>
            <a:grpSpLocks/>
          </p:cNvGrpSpPr>
          <p:nvPr/>
        </p:nvGrpSpPr>
        <p:grpSpPr bwMode="auto">
          <a:xfrm>
            <a:off x="4321175" y="4014789"/>
            <a:ext cx="4876800" cy="714375"/>
            <a:chOff x="1762" y="2529"/>
            <a:chExt cx="3072" cy="450"/>
          </a:xfrm>
        </p:grpSpPr>
        <p:sp>
          <p:nvSpPr>
            <p:cNvPr id="33804" name="Line 17"/>
            <p:cNvSpPr>
              <a:spLocks noChangeShapeType="1"/>
            </p:cNvSpPr>
            <p:nvPr/>
          </p:nvSpPr>
          <p:spPr bwMode="auto">
            <a:xfrm>
              <a:off x="1762" y="2595"/>
              <a:ext cx="3072" cy="384"/>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5" name="Text Box 18"/>
            <p:cNvSpPr txBox="1">
              <a:spLocks noChangeArrowheads="1"/>
            </p:cNvSpPr>
            <p:nvPr/>
          </p:nvSpPr>
          <p:spPr bwMode="auto">
            <a:xfrm rot="429064">
              <a:off x="2562" y="2529"/>
              <a:ext cx="1090" cy="210"/>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ACK, Ack = y + 1</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7"/>
          <p:cNvSpPr>
            <a:spLocks noGrp="1" noChangeArrowheads="1"/>
          </p:cNvSpPr>
          <p:nvPr>
            <p:ph type="title"/>
          </p:nvPr>
        </p:nvSpPr>
        <p:spPr bwMode="auto">
          <a:xfrm>
            <a:off x="2190750" y="334963"/>
            <a:ext cx="7772400" cy="747712"/>
          </a:xfrm>
          <a:noFill/>
          <a:ln w="12700">
            <a:miter lim="800000"/>
            <a:headEnd/>
            <a:tailEnd/>
          </a:ln>
        </p:spPr>
        <p:txBody>
          <a:bodyPr vert="horz" wrap="square" lIns="90488" tIns="44450" rIns="90488" bIns="44450" numCol="1" anchor="b"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三次握手</a:t>
            </a:r>
            <a:endParaRPr lang="en-US" altLang="zh-CN" sz="3600" b="1">
              <a:solidFill>
                <a:schemeClr val="hlink"/>
              </a:solidFill>
              <a:latin typeface="Arial" pitchFamily="34" charset="0"/>
              <a:ea typeface="华文楷体" pitchFamily="2" charset="-122"/>
            </a:endParaRPr>
          </a:p>
        </p:txBody>
      </p:sp>
      <p:sp>
        <p:nvSpPr>
          <p:cNvPr id="34819" name="Rectangle 1028"/>
          <p:cNvSpPr>
            <a:spLocks noGrp="1" noChangeArrowheads="1"/>
          </p:cNvSpPr>
          <p:nvPr>
            <p:ph type="body" idx="1"/>
          </p:nvPr>
        </p:nvSpPr>
        <p:spPr bwMode="auto">
          <a:xfrm>
            <a:off x="2843213" y="1858963"/>
            <a:ext cx="6858000" cy="1384300"/>
          </a:xfrm>
          <a:noFill/>
          <a:ln w="12700">
            <a:miter lim="800000"/>
            <a:headEnd/>
            <a:tailEnd/>
          </a:ln>
        </p:spPr>
        <p:txBody>
          <a:bodyPr vert="horz" wrap="square" lIns="90488" tIns="44450" rIns="90488" bIns="44450" numCol="1" anchor="t" anchorCtr="0" compatLnSpc="1">
            <a:prstTxWarp prst="textNoShape">
              <a:avLst/>
            </a:prstTxWarp>
          </a:bodyPr>
          <a:lstStyle/>
          <a:p>
            <a:pPr eaLnBrk="1" hangingPunct="1"/>
            <a:r>
              <a:rPr lang="en-US" altLang="zh-CN" sz="2800"/>
              <a:t>TCP </a:t>
            </a:r>
            <a:r>
              <a:rPr lang="zh-CN" altLang="en-US" sz="2800"/>
              <a:t>连接建立</a:t>
            </a:r>
            <a:r>
              <a:rPr lang="en-US" altLang="zh-CN" sz="2800"/>
              <a:t>: </a:t>
            </a:r>
            <a:r>
              <a:rPr lang="zh-CN" altLang="en-US" sz="2800"/>
              <a:t>即使在报文丢失、重复和延迟的情况下，通过三次握手均能可靠地建立一个</a:t>
            </a:r>
            <a:r>
              <a:rPr lang="en-US" altLang="zh-CN" sz="2800"/>
              <a:t>TCP</a:t>
            </a:r>
            <a:r>
              <a:rPr lang="zh-CN" altLang="en-US" sz="2800"/>
              <a:t>连接</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1026"/>
          <p:cNvSpPr>
            <a:spLocks noChangeArrowheads="1"/>
          </p:cNvSpPr>
          <p:nvPr/>
        </p:nvSpPr>
        <p:spPr bwMode="auto">
          <a:xfrm>
            <a:off x="1905000" y="1638300"/>
            <a:ext cx="8229600" cy="48768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zh-CN" altLang="en-US"/>
          </a:p>
        </p:txBody>
      </p:sp>
      <p:sp>
        <p:nvSpPr>
          <p:cNvPr id="35843" name="Line 1027"/>
          <p:cNvSpPr>
            <a:spLocks noChangeShapeType="1"/>
          </p:cNvSpPr>
          <p:nvPr/>
        </p:nvSpPr>
        <p:spPr bwMode="auto">
          <a:xfrm>
            <a:off x="4343400" y="2209800"/>
            <a:ext cx="0" cy="3581400"/>
          </a:xfrm>
          <a:prstGeom prst="line">
            <a:avLst/>
          </a:prstGeom>
          <a:noFill/>
          <a:ln w="38100">
            <a:solidFill>
              <a:srgbClr val="000000"/>
            </a:solidFill>
            <a:round/>
            <a:headEnd/>
            <a:tailEnd type="triangle" w="med" len="med"/>
          </a:ln>
        </p:spPr>
        <p:txBody>
          <a:bodyPr wrap="none" anchor="ctr"/>
          <a:lstStyle/>
          <a:p>
            <a:endParaRPr lang="zh-CN" altLang="en-US"/>
          </a:p>
        </p:txBody>
      </p:sp>
      <p:sp>
        <p:nvSpPr>
          <p:cNvPr id="35844" name="Line 1028"/>
          <p:cNvSpPr>
            <a:spLocks noChangeShapeType="1"/>
          </p:cNvSpPr>
          <p:nvPr/>
        </p:nvSpPr>
        <p:spPr bwMode="auto">
          <a:xfrm>
            <a:off x="7315200" y="2286000"/>
            <a:ext cx="0" cy="3505200"/>
          </a:xfrm>
          <a:prstGeom prst="line">
            <a:avLst/>
          </a:prstGeom>
          <a:noFill/>
          <a:ln w="38100">
            <a:solidFill>
              <a:srgbClr val="000000"/>
            </a:solidFill>
            <a:round/>
            <a:headEnd/>
            <a:tailEnd type="triangle" w="med" len="med"/>
          </a:ln>
        </p:spPr>
        <p:txBody>
          <a:bodyPr wrap="none" anchor="ctr"/>
          <a:lstStyle/>
          <a:p>
            <a:endParaRPr lang="zh-CN" altLang="en-US"/>
          </a:p>
        </p:txBody>
      </p:sp>
      <p:sp>
        <p:nvSpPr>
          <p:cNvPr id="35845" name="Text Box 1029"/>
          <p:cNvSpPr txBox="1">
            <a:spLocks noChangeArrowheads="1"/>
          </p:cNvSpPr>
          <p:nvPr/>
        </p:nvSpPr>
        <p:spPr bwMode="auto">
          <a:xfrm>
            <a:off x="3810000" y="1808163"/>
            <a:ext cx="1098550" cy="457200"/>
          </a:xfrm>
          <a:prstGeom prst="rect">
            <a:avLst/>
          </a:prstGeom>
          <a:noFill/>
          <a:ln w="9525">
            <a:noFill/>
            <a:miter lim="800000"/>
            <a:headEnd/>
            <a:tailEnd/>
          </a:ln>
        </p:spPr>
        <p:txBody>
          <a:bodyPr wrap="none">
            <a:spAutoFit/>
          </a:bodyPr>
          <a:lstStyle/>
          <a:p>
            <a:pPr algn="l"/>
            <a:r>
              <a:rPr lang="zh-CN" altLang="en-US" sz="2400">
                <a:solidFill>
                  <a:srgbClr val="000000"/>
                </a:solidFill>
                <a:latin typeface="Arial" pitchFamily="34" charset="0"/>
              </a:rPr>
              <a:t>发送者</a:t>
            </a:r>
          </a:p>
        </p:txBody>
      </p:sp>
      <p:sp>
        <p:nvSpPr>
          <p:cNvPr id="35846" name="Text Box 1030"/>
          <p:cNvSpPr txBox="1">
            <a:spLocks noChangeArrowheads="1"/>
          </p:cNvSpPr>
          <p:nvPr/>
        </p:nvSpPr>
        <p:spPr bwMode="auto">
          <a:xfrm>
            <a:off x="6781800" y="1808163"/>
            <a:ext cx="1098550" cy="457200"/>
          </a:xfrm>
          <a:prstGeom prst="rect">
            <a:avLst/>
          </a:prstGeom>
          <a:noFill/>
          <a:ln w="9525">
            <a:noFill/>
            <a:miter lim="800000"/>
            <a:headEnd/>
            <a:tailEnd/>
          </a:ln>
        </p:spPr>
        <p:txBody>
          <a:bodyPr wrap="none">
            <a:spAutoFit/>
          </a:bodyPr>
          <a:lstStyle/>
          <a:p>
            <a:pPr algn="l"/>
            <a:r>
              <a:rPr lang="zh-CN" altLang="en-US" sz="2400">
                <a:solidFill>
                  <a:srgbClr val="000000"/>
                </a:solidFill>
                <a:latin typeface="Arial" pitchFamily="34" charset="0"/>
              </a:rPr>
              <a:t>接收者</a:t>
            </a:r>
          </a:p>
        </p:txBody>
      </p:sp>
      <p:sp>
        <p:nvSpPr>
          <p:cNvPr id="35847" name="Line 1031"/>
          <p:cNvSpPr>
            <a:spLocks noChangeShapeType="1"/>
          </p:cNvSpPr>
          <p:nvPr/>
        </p:nvSpPr>
        <p:spPr bwMode="auto">
          <a:xfrm>
            <a:off x="4343400" y="2514600"/>
            <a:ext cx="2971800" cy="2286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48" name="Line 1032"/>
          <p:cNvSpPr>
            <a:spLocks noChangeShapeType="1"/>
          </p:cNvSpPr>
          <p:nvPr/>
        </p:nvSpPr>
        <p:spPr bwMode="auto">
          <a:xfrm flipH="1">
            <a:off x="4368800" y="2895600"/>
            <a:ext cx="2971800" cy="457200"/>
          </a:xfrm>
          <a:prstGeom prst="line">
            <a:avLst/>
          </a:prstGeom>
          <a:noFill/>
          <a:ln w="28575">
            <a:solidFill>
              <a:schemeClr val="tx2"/>
            </a:solidFill>
            <a:prstDash val="dash"/>
            <a:round/>
            <a:headEnd/>
            <a:tailEnd type="triangle" w="med" len="med"/>
          </a:ln>
        </p:spPr>
        <p:txBody>
          <a:bodyPr wrap="none" anchor="ctr"/>
          <a:lstStyle/>
          <a:p>
            <a:endParaRPr lang="zh-CN" altLang="en-US"/>
          </a:p>
        </p:txBody>
      </p:sp>
      <p:sp>
        <p:nvSpPr>
          <p:cNvPr id="35849" name="Line 1033"/>
          <p:cNvSpPr>
            <a:spLocks noChangeShapeType="1"/>
          </p:cNvSpPr>
          <p:nvPr/>
        </p:nvSpPr>
        <p:spPr bwMode="auto">
          <a:xfrm>
            <a:off x="4343400" y="5181600"/>
            <a:ext cx="2971800" cy="2286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50" name="Line 1034"/>
          <p:cNvSpPr>
            <a:spLocks noChangeShapeType="1"/>
          </p:cNvSpPr>
          <p:nvPr/>
        </p:nvSpPr>
        <p:spPr bwMode="auto">
          <a:xfrm flipH="1">
            <a:off x="4343400" y="4495800"/>
            <a:ext cx="2971800" cy="4572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51" name="Text Box 1035"/>
          <p:cNvSpPr txBox="1">
            <a:spLocks noChangeArrowheads="1"/>
          </p:cNvSpPr>
          <p:nvPr/>
        </p:nvSpPr>
        <p:spPr bwMode="auto">
          <a:xfrm>
            <a:off x="5241926" y="2220914"/>
            <a:ext cx="593725"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t>
            </a:r>
          </a:p>
        </p:txBody>
      </p:sp>
      <p:sp>
        <p:nvSpPr>
          <p:cNvPr id="35852" name="Text Box 1036"/>
          <p:cNvSpPr txBox="1">
            <a:spLocks noChangeArrowheads="1"/>
          </p:cNvSpPr>
          <p:nvPr/>
        </p:nvSpPr>
        <p:spPr bwMode="auto">
          <a:xfrm>
            <a:off x="4800600" y="2789239"/>
            <a:ext cx="1201738"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FIN-ACK</a:t>
            </a:r>
          </a:p>
        </p:txBody>
      </p:sp>
      <p:sp>
        <p:nvSpPr>
          <p:cNvPr id="35853" name="Text Box 1037"/>
          <p:cNvSpPr txBox="1">
            <a:spLocks noChangeArrowheads="1"/>
          </p:cNvSpPr>
          <p:nvPr/>
        </p:nvSpPr>
        <p:spPr bwMode="auto">
          <a:xfrm>
            <a:off x="5334001" y="4389439"/>
            <a:ext cx="593725"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t>
            </a:r>
          </a:p>
        </p:txBody>
      </p:sp>
      <p:sp>
        <p:nvSpPr>
          <p:cNvPr id="35854" name="Text Box 1038"/>
          <p:cNvSpPr txBox="1">
            <a:spLocks noChangeArrowheads="1"/>
          </p:cNvSpPr>
          <p:nvPr/>
        </p:nvSpPr>
        <p:spPr bwMode="auto">
          <a:xfrm>
            <a:off x="5257800" y="5303839"/>
            <a:ext cx="1201738"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FIN-ACK</a:t>
            </a:r>
          </a:p>
        </p:txBody>
      </p:sp>
      <p:sp>
        <p:nvSpPr>
          <p:cNvPr id="35855" name="Line 1039"/>
          <p:cNvSpPr>
            <a:spLocks noChangeShapeType="1"/>
          </p:cNvSpPr>
          <p:nvPr/>
        </p:nvSpPr>
        <p:spPr bwMode="auto">
          <a:xfrm flipH="1">
            <a:off x="4368800" y="3352800"/>
            <a:ext cx="2971800" cy="457200"/>
          </a:xfrm>
          <a:prstGeom prst="line">
            <a:avLst/>
          </a:prstGeom>
          <a:noFill/>
          <a:ln w="9525">
            <a:solidFill>
              <a:schemeClr val="tx2"/>
            </a:solidFill>
            <a:round/>
            <a:headEnd/>
            <a:tailEnd type="triangle" w="med" len="med"/>
          </a:ln>
        </p:spPr>
        <p:txBody>
          <a:bodyPr wrap="none" anchor="ctr"/>
          <a:lstStyle/>
          <a:p>
            <a:endParaRPr lang="zh-CN" altLang="en-US"/>
          </a:p>
        </p:txBody>
      </p:sp>
      <p:sp>
        <p:nvSpPr>
          <p:cNvPr id="35856" name="Line 1040"/>
          <p:cNvSpPr>
            <a:spLocks noChangeShapeType="1"/>
          </p:cNvSpPr>
          <p:nvPr/>
        </p:nvSpPr>
        <p:spPr bwMode="auto">
          <a:xfrm>
            <a:off x="4368800" y="3810000"/>
            <a:ext cx="2971800" cy="228600"/>
          </a:xfrm>
          <a:prstGeom prst="line">
            <a:avLst/>
          </a:prstGeom>
          <a:noFill/>
          <a:ln w="9525">
            <a:solidFill>
              <a:schemeClr val="tx2"/>
            </a:solidFill>
            <a:prstDash val="dash"/>
            <a:round/>
            <a:headEnd/>
            <a:tailEnd type="triangle" w="med" len="med"/>
          </a:ln>
        </p:spPr>
        <p:txBody>
          <a:bodyPr wrap="none" anchor="ctr"/>
          <a:lstStyle/>
          <a:p>
            <a:endParaRPr lang="zh-CN" altLang="en-US"/>
          </a:p>
        </p:txBody>
      </p:sp>
      <p:sp>
        <p:nvSpPr>
          <p:cNvPr id="35857" name="Text Box 1041"/>
          <p:cNvSpPr txBox="1">
            <a:spLocks noChangeArrowheads="1"/>
          </p:cNvSpPr>
          <p:nvPr/>
        </p:nvSpPr>
        <p:spPr bwMode="auto">
          <a:xfrm>
            <a:off x="7315200" y="3106739"/>
            <a:ext cx="1200150" cy="396875"/>
          </a:xfrm>
          <a:prstGeom prst="rect">
            <a:avLst/>
          </a:prstGeom>
          <a:noFill/>
          <a:ln w="9525">
            <a:noFill/>
            <a:miter lim="800000"/>
            <a:headEnd/>
            <a:tailEnd/>
          </a:ln>
        </p:spPr>
        <p:txBody>
          <a:bodyPr wrap="none">
            <a:spAutoFit/>
          </a:bodyPr>
          <a:lstStyle/>
          <a:p>
            <a:pPr algn="l"/>
            <a:r>
              <a:rPr lang="zh-CN" altLang="en-US" sz="2000">
                <a:solidFill>
                  <a:srgbClr val="000000"/>
                </a:solidFill>
                <a:latin typeface="Arial" pitchFamily="34" charset="0"/>
              </a:rPr>
              <a:t>发送数据</a:t>
            </a:r>
          </a:p>
        </p:txBody>
      </p:sp>
      <p:sp>
        <p:nvSpPr>
          <p:cNvPr id="35858" name="Text Box 1042"/>
          <p:cNvSpPr txBox="1">
            <a:spLocks noChangeArrowheads="1"/>
          </p:cNvSpPr>
          <p:nvPr/>
        </p:nvSpPr>
        <p:spPr bwMode="auto">
          <a:xfrm>
            <a:off x="7315201" y="3730626"/>
            <a:ext cx="1185863"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Data ack</a:t>
            </a:r>
          </a:p>
        </p:txBody>
      </p:sp>
      <p:sp>
        <p:nvSpPr>
          <p:cNvPr id="35859" name="Rectangle 1043"/>
          <p:cNvSpPr>
            <a:spLocks noGrp="1" noChangeArrowheads="1"/>
          </p:cNvSpPr>
          <p:nvPr>
            <p:ph type="title"/>
          </p:nvPr>
        </p:nvSpPr>
        <p:spPr bwMode="auto">
          <a:xfrm>
            <a:off x="2247900" y="3175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连接释放</a:t>
            </a:r>
          </a:p>
        </p:txBody>
      </p:sp>
      <p:sp>
        <p:nvSpPr>
          <p:cNvPr id="35860" name="Text Box 1044"/>
          <p:cNvSpPr txBox="1">
            <a:spLocks noChangeArrowheads="1"/>
          </p:cNvSpPr>
          <p:nvPr/>
        </p:nvSpPr>
        <p:spPr bwMode="auto">
          <a:xfrm>
            <a:off x="3352800" y="5905501"/>
            <a:ext cx="5924550" cy="519113"/>
          </a:xfrm>
          <a:prstGeom prst="rect">
            <a:avLst/>
          </a:prstGeom>
          <a:noFill/>
          <a:ln w="9525">
            <a:noFill/>
            <a:miter lim="800000"/>
            <a:headEnd/>
            <a:tailEnd/>
          </a:ln>
        </p:spPr>
        <p:txBody>
          <a:bodyPr>
            <a:spAutoFit/>
          </a:bodyPr>
          <a:lstStyle/>
          <a:p>
            <a:pPr algn="l">
              <a:spcBef>
                <a:spcPct val="50000"/>
              </a:spcBef>
            </a:pPr>
            <a:r>
              <a:rPr lang="zh-CN" altLang="en-US">
                <a:solidFill>
                  <a:schemeClr val="hlink"/>
                </a:solidFill>
              </a:rPr>
              <a:t>通过三次握手释放一个</a:t>
            </a:r>
            <a:r>
              <a:rPr lang="en-US" altLang="zh-CN">
                <a:solidFill>
                  <a:schemeClr val="hlink"/>
                </a:solidFill>
              </a:rPr>
              <a:t>TCP</a:t>
            </a:r>
            <a:r>
              <a:rPr lang="zh-CN" altLang="en-US">
                <a:solidFill>
                  <a:schemeClr val="hlink"/>
                </a:solidFill>
              </a:rPr>
              <a:t>连接</a:t>
            </a: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title"/>
          </p:nvPr>
        </p:nvSpPr>
        <p:spPr bwMode="auto">
          <a:xfrm>
            <a:off x="2166938" y="46831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正常的</a:t>
            </a:r>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生命周期</a:t>
            </a:r>
          </a:p>
        </p:txBody>
      </p:sp>
      <p:pic>
        <p:nvPicPr>
          <p:cNvPr id="36867" name="Picture 1027"/>
          <p:cNvPicPr>
            <a:picLocks noChangeAspect="1" noChangeArrowheads="1"/>
          </p:cNvPicPr>
          <p:nvPr/>
        </p:nvPicPr>
        <p:blipFill>
          <a:blip r:embed="rId2"/>
          <a:srcRect/>
          <a:stretch>
            <a:fillRect/>
          </a:stretch>
        </p:blipFill>
        <p:spPr bwMode="auto">
          <a:xfrm>
            <a:off x="2584450" y="1519239"/>
            <a:ext cx="7443788" cy="4027487"/>
          </a:xfrm>
          <a:prstGeom prst="rect">
            <a:avLst/>
          </a:prstGeom>
          <a:noFill/>
          <a:ln w="9525">
            <a:noFill/>
            <a:miter lim="800000"/>
            <a:headEnd/>
            <a:tailEnd/>
          </a:ln>
        </p:spPr>
      </p:pic>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ChangeArrowheads="1"/>
          </p:cNvSpPr>
          <p:nvPr>
            <p:ph type="title"/>
          </p:nvPr>
        </p:nvSpPr>
        <p:spPr bwMode="auto">
          <a:xfrm>
            <a:off x="2138363" y="392113"/>
            <a:ext cx="7772400" cy="626196"/>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复位</a:t>
            </a:r>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连接</a:t>
            </a:r>
          </a:p>
        </p:txBody>
      </p:sp>
      <p:sp>
        <p:nvSpPr>
          <p:cNvPr id="37891" name="Text Box 1027"/>
          <p:cNvSpPr txBox="1">
            <a:spLocks noChangeArrowheads="1"/>
          </p:cNvSpPr>
          <p:nvPr/>
        </p:nvSpPr>
        <p:spPr bwMode="auto">
          <a:xfrm>
            <a:off x="2430463" y="1403350"/>
            <a:ext cx="7537450" cy="3722688"/>
          </a:xfrm>
          <a:prstGeom prst="rect">
            <a:avLst/>
          </a:prstGeom>
          <a:noFill/>
          <a:ln w="9525">
            <a:noFill/>
            <a:miter lim="800000"/>
            <a:headEnd/>
            <a:tailEnd/>
          </a:ln>
        </p:spPr>
        <p:txBody>
          <a:bodyPr>
            <a:spAutoFit/>
          </a:bodyPr>
          <a:lstStyle/>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通过设置</a:t>
            </a:r>
            <a:r>
              <a:rPr lang="en-US" altLang="zh-CN">
                <a:solidFill>
                  <a:schemeClr val="tx1"/>
                </a:solidFill>
                <a:latin typeface="Arial" pitchFamily="34" charset="0"/>
              </a:rPr>
              <a:t>RST</a:t>
            </a:r>
            <a:r>
              <a:rPr lang="zh-CN" altLang="en-US">
                <a:solidFill>
                  <a:schemeClr val="tx1"/>
                </a:solidFill>
                <a:latin typeface="Arial" pitchFamily="34" charset="0"/>
              </a:rPr>
              <a:t>标志来复位</a:t>
            </a:r>
            <a:r>
              <a:rPr lang="en-US" altLang="zh-CN">
                <a:solidFill>
                  <a:schemeClr val="tx1"/>
                </a:solidFill>
                <a:latin typeface="Arial" pitchFamily="34" charset="0"/>
              </a:rPr>
              <a:t>TCP</a:t>
            </a:r>
            <a:r>
              <a:rPr lang="zh-CN" altLang="en-US">
                <a:solidFill>
                  <a:schemeClr val="tx1"/>
                </a:solidFill>
                <a:latin typeface="Arial" pitchFamily="34" charset="0"/>
              </a:rPr>
              <a:t>连接</a:t>
            </a:r>
          </a:p>
          <a:p>
            <a:pPr marL="195263" indent="-195263" algn="l">
              <a:spcBef>
                <a:spcPct val="10000"/>
              </a:spcBef>
            </a:pPr>
            <a:r>
              <a:rPr lang="en-US" altLang="zh-CN">
                <a:solidFill>
                  <a:schemeClr val="tx1"/>
                </a:solidFill>
                <a:latin typeface="Arial" pitchFamily="34" charset="0"/>
              </a:rPr>
              <a:t>• </a:t>
            </a:r>
            <a:r>
              <a:rPr lang="zh-CN" altLang="en-US" b="1">
                <a:solidFill>
                  <a:schemeClr val="hlink"/>
                </a:solidFill>
                <a:latin typeface="Arial" pitchFamily="34" charset="0"/>
              </a:rPr>
              <a:t>设置 </a:t>
            </a:r>
            <a:r>
              <a:rPr lang="en-US" altLang="zh-CN" b="1">
                <a:solidFill>
                  <a:schemeClr val="hlink"/>
                </a:solidFill>
                <a:latin typeface="Arial" pitchFamily="34" charset="0"/>
              </a:rPr>
              <a:t>RST </a:t>
            </a:r>
            <a:r>
              <a:rPr lang="zh-CN" altLang="en-US" b="1">
                <a:solidFill>
                  <a:schemeClr val="hlink"/>
                </a:solidFill>
                <a:latin typeface="Arial" pitchFamily="34" charset="0"/>
              </a:rPr>
              <a:t>标志的时机</a:t>
            </a:r>
            <a:r>
              <a:rPr lang="en-US" altLang="zh-CN" b="1">
                <a:solidFill>
                  <a:schemeClr val="hlink"/>
                </a:solidFill>
                <a:latin typeface="Arial" pitchFamily="34" charset="0"/>
              </a:rPr>
              <a:t>?</a:t>
            </a:r>
          </a:p>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连接请求到达时，服务方端口没有相应的进程处理</a:t>
            </a:r>
          </a:p>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出现严重错误时，终止</a:t>
            </a:r>
            <a:r>
              <a:rPr lang="en-US" altLang="zh-CN">
                <a:solidFill>
                  <a:schemeClr val="tx1"/>
                </a:solidFill>
                <a:latin typeface="Arial" pitchFamily="34" charset="0"/>
              </a:rPr>
              <a:t>TCP</a:t>
            </a:r>
            <a:r>
              <a:rPr lang="zh-CN" altLang="en-US">
                <a:solidFill>
                  <a:schemeClr val="tx1"/>
                </a:solidFill>
                <a:latin typeface="Arial" pitchFamily="34" charset="0"/>
              </a:rPr>
              <a:t>连接 </a:t>
            </a:r>
          </a:p>
          <a:p>
            <a:pPr marL="195263" indent="-195263" algn="l">
              <a:spcBef>
                <a:spcPct val="10000"/>
              </a:spcBef>
            </a:pPr>
            <a:endParaRPr lang="zh-CN" altLang="en-US">
              <a:solidFill>
                <a:schemeClr val="tx1"/>
              </a:solidFill>
              <a:latin typeface="Arial" pitchFamily="34" charset="0"/>
            </a:endParaRPr>
          </a:p>
          <a:p>
            <a:pPr marL="195263" indent="-195263" algn="l">
              <a:spcBef>
                <a:spcPct val="10000"/>
              </a:spcBef>
            </a:pPr>
            <a:r>
              <a:rPr lang="zh-CN" altLang="en-US">
                <a:solidFill>
                  <a:schemeClr val="tx1"/>
                </a:solidFill>
                <a:latin typeface="Arial" pitchFamily="34" charset="0"/>
              </a:rPr>
              <a:t>注：复位</a:t>
            </a:r>
            <a:r>
              <a:rPr lang="en-US" altLang="zh-CN">
                <a:solidFill>
                  <a:schemeClr val="tx1"/>
                </a:solidFill>
                <a:latin typeface="Arial" pitchFamily="34" charset="0"/>
              </a:rPr>
              <a:t>TCP</a:t>
            </a:r>
            <a:r>
              <a:rPr lang="zh-CN" altLang="en-US">
                <a:solidFill>
                  <a:schemeClr val="tx1"/>
                </a:solidFill>
                <a:latin typeface="Arial" pitchFamily="34" charset="0"/>
              </a:rPr>
              <a:t>连接是无条件的，双方必须立即执行，丢弃未完成的数据，释放</a:t>
            </a:r>
            <a:r>
              <a:rPr lang="en-US" altLang="zh-CN">
                <a:solidFill>
                  <a:schemeClr val="tx1"/>
                </a:solidFill>
                <a:latin typeface="Arial" pitchFamily="34" charset="0"/>
              </a:rPr>
              <a:t>TCP</a:t>
            </a:r>
            <a:r>
              <a:rPr lang="zh-CN" altLang="en-US">
                <a:solidFill>
                  <a:schemeClr val="tx1"/>
                </a:solidFill>
                <a:latin typeface="Arial" pitchFamily="34" charset="0"/>
              </a:rPr>
              <a:t>资源</a:t>
            </a:r>
            <a:endParaRPr lang="zh-CN" altLang="en-US">
              <a:solidFill>
                <a:schemeClr val="tx1"/>
              </a:solidFill>
            </a:endParaRP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bwMode="auto">
          <a:xfrm>
            <a:off x="4814889" y="334963"/>
            <a:ext cx="5083175" cy="6858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endParaRPr lang="en-US" altLang="zh-CN" b="1">
              <a:latin typeface="Arial" pitchFamily="34" charset="0"/>
            </a:endParaRPr>
          </a:p>
        </p:txBody>
      </p:sp>
      <p:sp>
        <p:nvSpPr>
          <p:cNvPr id="38915" name="Text Box 1027"/>
          <p:cNvSpPr txBox="1">
            <a:spLocks noChangeArrowheads="1"/>
          </p:cNvSpPr>
          <p:nvPr/>
        </p:nvSpPr>
        <p:spPr bwMode="auto">
          <a:xfrm>
            <a:off x="3519488" y="1652589"/>
            <a:ext cx="5510212"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 </a:t>
            </a:r>
            <a:endParaRPr lang="zh-CN" altLang="en-US">
              <a:solidFill>
                <a:schemeClr val="folHlink"/>
              </a:solidFill>
            </a:endParaRP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报文格式</a:t>
            </a: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hlink"/>
                </a:solidFill>
                <a:latin typeface="Arial" pitchFamily="34" charset="0"/>
              </a:rPr>
              <a:t>TCP</a:t>
            </a:r>
            <a:r>
              <a:rPr lang="zh-CN" altLang="en-US">
                <a:solidFill>
                  <a:schemeClr val="hlink"/>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数据流控制和拥塞控制</a:t>
            </a:r>
            <a:endParaRPr lang="en-US" altLang="zh-CN">
              <a:solidFill>
                <a:schemeClr val="tx1"/>
              </a:solidFill>
              <a:latin typeface="Arial" pitchFamily="34" charset="0"/>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26"/>
          <p:cNvSpPr>
            <a:spLocks noGrp="1" noChangeArrowheads="1"/>
          </p:cNvSpPr>
          <p:nvPr>
            <p:ph type="title"/>
          </p:nvPr>
        </p:nvSpPr>
        <p:spPr bwMode="auto">
          <a:xfrm>
            <a:off x="2303463" y="39687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交互式与海量数据</a:t>
            </a:r>
          </a:p>
        </p:txBody>
      </p:sp>
      <p:sp>
        <p:nvSpPr>
          <p:cNvPr id="39939" name="Text Box 1027"/>
          <p:cNvSpPr txBox="1">
            <a:spLocks noChangeArrowheads="1"/>
          </p:cNvSpPr>
          <p:nvPr/>
        </p:nvSpPr>
        <p:spPr bwMode="auto">
          <a:xfrm>
            <a:off x="3371851" y="1649413"/>
            <a:ext cx="6170613" cy="2443162"/>
          </a:xfrm>
          <a:prstGeom prst="rect">
            <a:avLst/>
          </a:prstGeom>
          <a:noFill/>
          <a:ln w="9525">
            <a:noFill/>
            <a:miter lim="800000"/>
            <a:headEnd/>
            <a:tailEnd/>
          </a:ln>
        </p:spPr>
        <p:txBody>
          <a:bodyPr>
            <a:spAutoFit/>
          </a:bodyPr>
          <a:lstStyle/>
          <a:p>
            <a:pPr marL="293688" indent="-293688" algn="l">
              <a:spcBef>
                <a:spcPct val="50000"/>
              </a:spcBef>
              <a:buFont typeface="Wingdings" pitchFamily="2" charset="2"/>
              <a:buChar char="ü"/>
            </a:pPr>
            <a:r>
              <a:rPr lang="en-US" altLang="zh-CN">
                <a:solidFill>
                  <a:srgbClr val="000000"/>
                </a:solidFill>
                <a:latin typeface="Arial" pitchFamily="34" charset="0"/>
              </a:rPr>
              <a:t>TCP </a:t>
            </a:r>
            <a:r>
              <a:rPr lang="zh-CN" altLang="en-US">
                <a:solidFill>
                  <a:srgbClr val="000000"/>
                </a:solidFill>
                <a:latin typeface="Arial" pitchFamily="34" charset="0"/>
              </a:rPr>
              <a:t>能用于下列应用</a:t>
            </a:r>
          </a:p>
          <a:p>
            <a:pPr marL="293688" indent="-293688" algn="l">
              <a:spcBef>
                <a:spcPct val="50000"/>
              </a:spcBef>
              <a:buFontTx/>
              <a:buChar char="•"/>
            </a:pPr>
            <a:r>
              <a:rPr lang="zh-CN" altLang="en-US" b="1">
                <a:solidFill>
                  <a:srgbClr val="FF0000"/>
                </a:solidFill>
                <a:latin typeface="Arial" pitchFamily="34" charset="0"/>
              </a:rPr>
              <a:t>海量数据传输 </a:t>
            </a:r>
            <a:r>
              <a:rPr lang="en-US" altLang="zh-CN">
                <a:solidFill>
                  <a:srgbClr val="000000"/>
                </a:solidFill>
                <a:latin typeface="Arial" pitchFamily="34" charset="0"/>
              </a:rPr>
              <a:t>- ftp, mail, http</a:t>
            </a:r>
          </a:p>
          <a:p>
            <a:pPr marL="293688" indent="-293688" algn="l">
              <a:spcBef>
                <a:spcPct val="50000"/>
              </a:spcBef>
              <a:buFontTx/>
              <a:buChar char="•"/>
            </a:pPr>
            <a:r>
              <a:rPr lang="zh-CN" altLang="en-US" b="1">
                <a:solidFill>
                  <a:srgbClr val="FF0000"/>
                </a:solidFill>
                <a:latin typeface="Arial" pitchFamily="34" charset="0"/>
              </a:rPr>
              <a:t>交互式数据传输 </a:t>
            </a:r>
            <a:r>
              <a:rPr lang="en-US" altLang="zh-CN">
                <a:solidFill>
                  <a:srgbClr val="000000"/>
                </a:solidFill>
                <a:latin typeface="Arial" pitchFamily="34" charset="0"/>
              </a:rPr>
              <a:t>- telnet, rlogin</a:t>
            </a:r>
          </a:p>
          <a:p>
            <a:pPr marL="293688" indent="-293688" algn="l">
              <a:spcBef>
                <a:spcPct val="50000"/>
              </a:spcBef>
              <a:buFont typeface="Wingdings" pitchFamily="2" charset="2"/>
              <a:buChar char="ü"/>
            </a:pPr>
            <a:r>
              <a:rPr lang="en-US" altLang="zh-CN">
                <a:solidFill>
                  <a:srgbClr val="000000"/>
                </a:solidFill>
                <a:latin typeface="Arial" pitchFamily="34" charset="0"/>
              </a:rPr>
              <a:t>TCP</a:t>
            </a:r>
            <a:r>
              <a:rPr lang="zh-CN" altLang="en-US">
                <a:solidFill>
                  <a:srgbClr val="000000"/>
                </a:solidFill>
                <a:latin typeface="Arial" pitchFamily="34" charset="0"/>
              </a:rPr>
              <a:t>试探性地处理各种应用</a:t>
            </a:r>
            <a:r>
              <a:rPr lang="en-US" altLang="zh-CN">
                <a:solidFill>
                  <a:srgbClr val="000000"/>
                </a:solidFill>
                <a:latin typeface="Arial" pitchFamily="34" charset="0"/>
              </a:rPr>
              <a:t>.</a:t>
            </a: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4930776" y="473075"/>
            <a:ext cx="2949575"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r>
              <a:rPr lang="en-US" altLang="zh-CN" b="1">
                <a:latin typeface="Arial" pitchFamily="34" charset="0"/>
              </a:rPr>
              <a:t>  </a:t>
            </a:r>
          </a:p>
        </p:txBody>
      </p:sp>
      <p:sp>
        <p:nvSpPr>
          <p:cNvPr id="45059" name="Text Box 3"/>
          <p:cNvSpPr txBox="1">
            <a:spLocks noChangeArrowheads="1"/>
          </p:cNvSpPr>
          <p:nvPr/>
        </p:nvSpPr>
        <p:spPr bwMode="auto">
          <a:xfrm>
            <a:off x="3471863" y="1355726"/>
            <a:ext cx="5510212"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endParaRPr lang="zh-CN" altLang="en-US">
              <a:solidFill>
                <a:schemeClr val="folHlink"/>
              </a:solidFill>
            </a:endParaRP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报文格式</a:t>
            </a: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folHlink"/>
                </a:solidFill>
                <a:latin typeface="Arial" pitchFamily="34" charset="0"/>
              </a:rPr>
              <a:t>TCP</a:t>
            </a:r>
            <a:r>
              <a:rPr lang="zh-CN" altLang="en-US">
                <a:solidFill>
                  <a:schemeClr val="folHlink"/>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hlink"/>
                </a:solidFill>
                <a:latin typeface="Arial" pitchFamily="34" charset="0"/>
              </a:rPr>
              <a:t>流控与拥塞控制</a:t>
            </a:r>
            <a:endParaRPr lang="en-US" altLang="zh-CN">
              <a:solidFill>
                <a:schemeClr val="hlink"/>
              </a:solidFill>
              <a:latin typeface="Arial" pitchFamily="34" charset="0"/>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bwMode="auto">
          <a:xfrm>
            <a:off x="2341563" y="334964"/>
            <a:ext cx="7772400" cy="731837"/>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流控与阻塞控制</a:t>
            </a:r>
          </a:p>
        </p:txBody>
      </p:sp>
      <p:sp>
        <p:nvSpPr>
          <p:cNvPr id="869379" name="Text Box 3"/>
          <p:cNvSpPr txBox="1">
            <a:spLocks noChangeArrowheads="1"/>
          </p:cNvSpPr>
          <p:nvPr/>
        </p:nvSpPr>
        <p:spPr bwMode="auto">
          <a:xfrm>
            <a:off x="2627314" y="1808164"/>
            <a:ext cx="6878637" cy="2014537"/>
          </a:xfrm>
          <a:prstGeom prst="rect">
            <a:avLst/>
          </a:prstGeom>
          <a:noFill/>
          <a:ln w="9525">
            <a:noFill/>
            <a:miter lim="800000"/>
            <a:headEnd/>
            <a:tailEnd/>
          </a:ln>
        </p:spPr>
        <p:txBody>
          <a:bodyPr>
            <a:spAutoFit/>
          </a:bodyPr>
          <a:lstStyle/>
          <a:p>
            <a:pPr algn="l">
              <a:spcBef>
                <a:spcPct val="50000"/>
              </a:spcBef>
            </a:pPr>
            <a:r>
              <a:rPr lang="en-US" altLang="zh-CN" b="1">
                <a:solidFill>
                  <a:srgbClr val="FF0000"/>
                </a:solidFill>
                <a:latin typeface="Arial" pitchFamily="34" charset="0"/>
              </a:rPr>
              <a:t>• Flow Control: </a:t>
            </a:r>
            <a:r>
              <a:rPr lang="zh-CN" altLang="en-US">
                <a:solidFill>
                  <a:srgbClr val="000000"/>
                </a:solidFill>
                <a:latin typeface="Arial" pitchFamily="34" charset="0"/>
              </a:rPr>
              <a:t>怎样防止发送方发送的数据量超出接收方的接受能力？</a:t>
            </a:r>
          </a:p>
          <a:p>
            <a:pPr algn="l">
              <a:spcBef>
                <a:spcPct val="50000"/>
              </a:spcBef>
            </a:pPr>
            <a:r>
              <a:rPr lang="en-US" altLang="zh-CN">
                <a:solidFill>
                  <a:srgbClr val="FF0000"/>
                </a:solidFill>
                <a:latin typeface="Arial" pitchFamily="34" charset="0"/>
              </a:rPr>
              <a:t>• </a:t>
            </a:r>
            <a:r>
              <a:rPr lang="en-US" altLang="zh-CN" b="1">
                <a:solidFill>
                  <a:srgbClr val="FF0000"/>
                </a:solidFill>
                <a:latin typeface="Arial" pitchFamily="34" charset="0"/>
              </a:rPr>
              <a:t>Congestion Control: </a:t>
            </a:r>
            <a:r>
              <a:rPr lang="zh-CN" altLang="en-US">
                <a:solidFill>
                  <a:srgbClr val="000000"/>
                </a:solidFill>
                <a:latin typeface="Arial" pitchFamily="34" charset="0"/>
              </a:rPr>
              <a:t>怎样防止发送方</a:t>
            </a:r>
            <a:r>
              <a:rPr lang="zh-CN" altLang="en-US">
                <a:solidFill>
                  <a:schemeClr val="folHlink"/>
                </a:solidFill>
                <a:latin typeface="Arial" pitchFamily="34" charset="0"/>
              </a:rPr>
              <a:t>使网络超载</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9379">
                                            <p:txEl>
                                              <p:pRg st="0" end="0"/>
                                            </p:txEl>
                                          </p:spTgt>
                                        </p:tgtEl>
                                        <p:attrNameLst>
                                          <p:attrName>style.visibility</p:attrName>
                                        </p:attrNameLst>
                                      </p:cBhvr>
                                      <p:to>
                                        <p:strVal val="visible"/>
                                      </p:to>
                                    </p:set>
                                    <p:anim calcmode="lin" valueType="num">
                                      <p:cBhvr additive="base">
                                        <p:cTn id="7" dur="500" fill="hold"/>
                                        <p:tgtEl>
                                          <p:spTgt spid="8693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9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9379">
                                            <p:txEl>
                                              <p:pRg st="1" end="1"/>
                                            </p:txEl>
                                          </p:spTgt>
                                        </p:tgtEl>
                                        <p:attrNameLst>
                                          <p:attrName>style.visibility</p:attrName>
                                        </p:attrNameLst>
                                      </p:cBhvr>
                                      <p:to>
                                        <p:strVal val="visible"/>
                                      </p:to>
                                    </p:set>
                                    <p:anim calcmode="lin" valueType="num">
                                      <p:cBhvr additive="base">
                                        <p:cTn id="13" dur="500" fill="hold"/>
                                        <p:tgtEl>
                                          <p:spTgt spid="86937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937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79"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bwMode="auto">
          <a:xfrm>
            <a:off x="2133600" y="4572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流控</a:t>
            </a:r>
          </a:p>
        </p:txBody>
      </p:sp>
      <p:sp>
        <p:nvSpPr>
          <p:cNvPr id="1056771" name="Rectangle 3"/>
          <p:cNvSpPr>
            <a:spLocks noGrp="1" noChangeArrowheads="1"/>
          </p:cNvSpPr>
          <p:nvPr>
            <p:ph type="body" sz="half" idx="1"/>
          </p:nvPr>
        </p:nvSpPr>
        <p:spPr bwMode="auto">
          <a:xfrm>
            <a:off x="6926263" y="1619251"/>
            <a:ext cx="3333750" cy="4524375"/>
          </a:xfrm>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pPr>
            <a:r>
              <a:rPr lang="zh-CN" altLang="en-US" sz="2800">
                <a:solidFill>
                  <a:schemeClr val="hlink"/>
                </a:solidFill>
              </a:rPr>
              <a:t>接收方</a:t>
            </a:r>
            <a:r>
              <a:rPr lang="en-US" altLang="zh-CN" sz="2800"/>
              <a:t>: </a:t>
            </a:r>
            <a:r>
              <a:rPr lang="zh-CN" altLang="en-US" sz="2400"/>
              <a:t>明确通知发送方空闲</a:t>
            </a:r>
            <a:r>
              <a:rPr kumimoji="0" lang="zh-CN" altLang="en-US" sz="2400">
                <a:latin typeface="Arial" pitchFamily="34" charset="0"/>
              </a:rPr>
              <a:t>缓存空间</a:t>
            </a:r>
            <a:endParaRPr lang="zh-CN" altLang="en-US" sz="2400"/>
          </a:p>
          <a:p>
            <a:pPr lvl="1" eaLnBrk="1" hangingPunct="1"/>
            <a:r>
              <a:rPr lang="en-US" altLang="zh-CN" sz="2400"/>
              <a:t>TCP</a:t>
            </a:r>
            <a:r>
              <a:rPr lang="zh-CN" altLang="en-US" sz="2400"/>
              <a:t>报文段中的接收窗口域</a:t>
            </a:r>
          </a:p>
          <a:p>
            <a:pPr eaLnBrk="1" hangingPunct="1">
              <a:buFont typeface="Wingdings" pitchFamily="2" charset="2"/>
              <a:buNone/>
            </a:pPr>
            <a:r>
              <a:rPr lang="zh-CN" altLang="en-US" sz="2800">
                <a:solidFill>
                  <a:schemeClr val="hlink"/>
                </a:solidFill>
              </a:rPr>
              <a:t>发送方</a:t>
            </a:r>
            <a:r>
              <a:rPr lang="en-US" altLang="zh-CN" sz="2800"/>
              <a:t>: </a:t>
            </a:r>
            <a:r>
              <a:rPr lang="zh-CN" altLang="en-US" sz="2800"/>
              <a:t>保持已发送但未确认的数据少于当前的接收窗口</a:t>
            </a:r>
            <a:endParaRPr lang="zh-CN" altLang="en-US" sz="2400"/>
          </a:p>
        </p:txBody>
      </p:sp>
      <p:grpSp>
        <p:nvGrpSpPr>
          <p:cNvPr id="2" name="Group 4"/>
          <p:cNvGrpSpPr>
            <a:grpSpLocks/>
          </p:cNvGrpSpPr>
          <p:nvPr/>
        </p:nvGrpSpPr>
        <p:grpSpPr bwMode="auto">
          <a:xfrm>
            <a:off x="2601914" y="1501776"/>
            <a:ext cx="3209925" cy="1736725"/>
            <a:chOff x="679" y="946"/>
            <a:chExt cx="2022" cy="1094"/>
          </a:xfrm>
        </p:grpSpPr>
        <p:sp>
          <p:nvSpPr>
            <p:cNvPr id="47113" name="Rectangle 5"/>
            <p:cNvSpPr>
              <a:spLocks noChangeArrowheads="1"/>
            </p:cNvSpPr>
            <p:nvPr/>
          </p:nvSpPr>
          <p:spPr bwMode="auto">
            <a:xfrm>
              <a:off x="679" y="1140"/>
              <a:ext cx="1926" cy="900"/>
            </a:xfrm>
            <a:prstGeom prst="rect">
              <a:avLst/>
            </a:prstGeom>
            <a:solidFill>
              <a:srgbClr val="FFFFFF"/>
            </a:solidFill>
            <a:ln w="28575">
              <a:solidFill>
                <a:srgbClr val="FF0000"/>
              </a:solidFill>
              <a:miter lim="800000"/>
              <a:headEnd/>
              <a:tailEnd/>
            </a:ln>
          </p:spPr>
          <p:txBody>
            <a:bodyPr wrap="none" anchor="ctr"/>
            <a:lstStyle/>
            <a:p>
              <a:endParaRPr lang="zh-CN" altLang="en-US"/>
            </a:p>
          </p:txBody>
        </p:sp>
        <p:sp>
          <p:nvSpPr>
            <p:cNvPr id="47114" name="Text Box 6"/>
            <p:cNvSpPr txBox="1">
              <a:spLocks noChangeArrowheads="1"/>
            </p:cNvSpPr>
            <p:nvPr/>
          </p:nvSpPr>
          <p:spPr bwMode="auto">
            <a:xfrm>
              <a:off x="733" y="1235"/>
              <a:ext cx="1968" cy="634"/>
            </a:xfrm>
            <a:prstGeom prst="rect">
              <a:avLst/>
            </a:prstGeom>
            <a:noFill/>
            <a:ln w="9525">
              <a:noFill/>
              <a:miter lim="800000"/>
              <a:headEnd/>
              <a:tailEnd/>
            </a:ln>
          </p:spPr>
          <p:txBody>
            <a:bodyPr>
              <a:spAutoFit/>
            </a:bodyPr>
            <a:lstStyle/>
            <a:p>
              <a:r>
                <a:rPr lang="zh-CN" altLang="en-US" sz="2000" b="1">
                  <a:solidFill>
                    <a:schemeClr val="tx1"/>
                  </a:solidFill>
                  <a:latin typeface="Arial" pitchFamily="34" charset="0"/>
                </a:rPr>
                <a:t>发送方传输数据不</a:t>
              </a:r>
            </a:p>
            <a:p>
              <a:r>
                <a:rPr lang="zh-CN" altLang="en-US" sz="2000" b="1">
                  <a:solidFill>
                    <a:schemeClr val="tx1"/>
                  </a:solidFill>
                  <a:latin typeface="Arial" pitchFamily="34" charset="0"/>
                </a:rPr>
                <a:t>能太多太快以致于</a:t>
              </a:r>
            </a:p>
            <a:p>
              <a:r>
                <a:rPr lang="zh-CN" altLang="en-US" sz="2000" b="1">
                  <a:solidFill>
                    <a:schemeClr val="tx1"/>
                  </a:solidFill>
                  <a:latin typeface="Arial" pitchFamily="34" charset="0"/>
                </a:rPr>
                <a:t>淹没接收方的缓存</a:t>
              </a:r>
            </a:p>
          </p:txBody>
        </p:sp>
        <p:grpSp>
          <p:nvGrpSpPr>
            <p:cNvPr id="47115" name="Group 7"/>
            <p:cNvGrpSpPr>
              <a:grpSpLocks/>
            </p:cNvGrpSpPr>
            <p:nvPr/>
          </p:nvGrpSpPr>
          <p:grpSpPr bwMode="auto">
            <a:xfrm>
              <a:off x="757" y="946"/>
              <a:ext cx="1134" cy="327"/>
              <a:chOff x="3486" y="256"/>
              <a:chExt cx="1134" cy="327"/>
            </a:xfrm>
          </p:grpSpPr>
          <p:sp>
            <p:nvSpPr>
              <p:cNvPr id="47116" name="Rectangle 8"/>
              <p:cNvSpPr>
                <a:spLocks noChangeArrowheads="1"/>
              </p:cNvSpPr>
              <p:nvPr/>
            </p:nvSpPr>
            <p:spPr bwMode="auto">
              <a:xfrm>
                <a:off x="3486" y="330"/>
                <a:ext cx="1134" cy="222"/>
              </a:xfrm>
              <a:prstGeom prst="rect">
                <a:avLst/>
              </a:prstGeom>
              <a:solidFill>
                <a:schemeClr val="bg1"/>
              </a:solidFill>
              <a:ln w="9525">
                <a:noFill/>
                <a:miter lim="800000"/>
                <a:headEnd/>
                <a:tailEnd/>
              </a:ln>
            </p:spPr>
            <p:txBody>
              <a:bodyPr wrap="none" anchor="ctr"/>
              <a:lstStyle/>
              <a:p>
                <a:endParaRPr lang="zh-CN" altLang="en-US"/>
              </a:p>
            </p:txBody>
          </p:sp>
          <p:sp>
            <p:nvSpPr>
              <p:cNvPr id="47117" name="Text Box 9"/>
              <p:cNvSpPr txBox="1">
                <a:spLocks noChangeArrowheads="1"/>
              </p:cNvSpPr>
              <p:nvPr/>
            </p:nvSpPr>
            <p:spPr bwMode="auto">
              <a:xfrm>
                <a:off x="3762" y="256"/>
                <a:ext cx="564" cy="327"/>
              </a:xfrm>
              <a:prstGeom prst="rect">
                <a:avLst/>
              </a:prstGeom>
              <a:noFill/>
              <a:ln w="9525">
                <a:noFill/>
                <a:miter lim="800000"/>
                <a:headEnd/>
                <a:tailEnd/>
              </a:ln>
            </p:spPr>
            <p:txBody>
              <a:bodyPr wrap="none">
                <a:spAutoFit/>
              </a:bodyPr>
              <a:lstStyle/>
              <a:p>
                <a:r>
                  <a:rPr kumimoji="1" lang="zh-CN" altLang="en-US">
                    <a:solidFill>
                      <a:schemeClr val="tx2"/>
                    </a:solidFill>
                    <a:latin typeface="Tahoma" pitchFamily="34" charset="0"/>
                  </a:rPr>
                  <a:t>流控</a:t>
                </a:r>
              </a:p>
            </p:txBody>
          </p:sp>
        </p:grpSp>
      </p:grpSp>
      <p:grpSp>
        <p:nvGrpSpPr>
          <p:cNvPr id="4" name="Group 10"/>
          <p:cNvGrpSpPr>
            <a:grpSpLocks/>
          </p:cNvGrpSpPr>
          <p:nvPr/>
        </p:nvGrpSpPr>
        <p:grpSpPr bwMode="auto">
          <a:xfrm>
            <a:off x="1903414" y="3562350"/>
            <a:ext cx="4872037" cy="3162300"/>
            <a:chOff x="239" y="2244"/>
            <a:chExt cx="3069" cy="1992"/>
          </a:xfrm>
        </p:grpSpPr>
        <p:pic>
          <p:nvPicPr>
            <p:cNvPr id="47110" name="Picture 11" descr="rcvwin"/>
            <p:cNvPicPr>
              <a:picLocks noChangeAspect="1" noChangeArrowheads="1"/>
            </p:cNvPicPr>
            <p:nvPr/>
          </p:nvPicPr>
          <p:blipFill>
            <a:blip r:embed="rId2"/>
            <a:srcRect/>
            <a:stretch>
              <a:fillRect/>
            </a:stretch>
          </p:blipFill>
          <p:spPr bwMode="auto">
            <a:xfrm>
              <a:off x="284" y="2823"/>
              <a:ext cx="3024" cy="1104"/>
            </a:xfrm>
            <a:prstGeom prst="rect">
              <a:avLst/>
            </a:prstGeom>
            <a:noFill/>
            <a:ln w="38100">
              <a:solidFill>
                <a:srgbClr val="FFFFCC"/>
              </a:solidFill>
              <a:miter lim="800000"/>
              <a:headEnd/>
              <a:tailEnd/>
            </a:ln>
          </p:spPr>
        </p:pic>
        <p:sp>
          <p:nvSpPr>
            <p:cNvPr id="47111" name="Text Box 12"/>
            <p:cNvSpPr txBox="1">
              <a:spLocks noChangeArrowheads="1"/>
            </p:cNvSpPr>
            <p:nvPr/>
          </p:nvSpPr>
          <p:spPr bwMode="auto">
            <a:xfrm>
              <a:off x="1197" y="3984"/>
              <a:ext cx="929" cy="252"/>
            </a:xfrm>
            <a:prstGeom prst="rect">
              <a:avLst/>
            </a:prstGeom>
            <a:noFill/>
            <a:ln w="9525">
              <a:noFill/>
              <a:miter lim="800000"/>
              <a:headEnd/>
              <a:tailEnd/>
            </a:ln>
          </p:spPr>
          <p:txBody>
            <a:bodyPr wrap="none">
              <a:spAutoFit/>
            </a:bodyPr>
            <a:lstStyle/>
            <a:p>
              <a:r>
                <a:rPr lang="zh-CN" altLang="en-US" sz="2000" b="1">
                  <a:solidFill>
                    <a:schemeClr val="tx1"/>
                  </a:solidFill>
                  <a:latin typeface="Arial" pitchFamily="34" charset="0"/>
                </a:rPr>
                <a:t>接收方缓存</a:t>
              </a:r>
            </a:p>
          </p:txBody>
        </p:sp>
        <p:sp>
          <p:nvSpPr>
            <p:cNvPr id="47112" name="Text Box 13"/>
            <p:cNvSpPr txBox="1">
              <a:spLocks noChangeArrowheads="1"/>
            </p:cNvSpPr>
            <p:nvPr/>
          </p:nvSpPr>
          <p:spPr bwMode="auto">
            <a:xfrm>
              <a:off x="239" y="2244"/>
              <a:ext cx="2590" cy="465"/>
            </a:xfrm>
            <a:prstGeom prst="rect">
              <a:avLst/>
            </a:prstGeom>
            <a:noFill/>
            <a:ln w="9525">
              <a:noFill/>
              <a:miter lim="800000"/>
              <a:headEnd/>
              <a:tailEnd/>
            </a:ln>
          </p:spPr>
          <p:txBody>
            <a:bodyPr wrap="none">
              <a:spAutoFit/>
            </a:bodyPr>
            <a:lstStyle/>
            <a:p>
              <a:pPr algn="l"/>
              <a:r>
                <a:rPr lang="en-US" altLang="zh-CN" sz="1400" b="1">
                  <a:solidFill>
                    <a:schemeClr val="tx1"/>
                  </a:solidFill>
                  <a:latin typeface="Arial" pitchFamily="34" charset="0"/>
                </a:rPr>
                <a:t>RcvBuffer = size or TCP Receive Buffer</a:t>
              </a:r>
            </a:p>
            <a:p>
              <a:pPr algn="l"/>
              <a:endParaRPr lang="en-US" altLang="zh-CN" sz="1400" b="1">
                <a:solidFill>
                  <a:schemeClr val="tx1"/>
                </a:solidFill>
                <a:latin typeface="Arial" pitchFamily="34" charset="0"/>
              </a:endParaRPr>
            </a:p>
            <a:p>
              <a:pPr algn="l"/>
              <a:r>
                <a:rPr lang="en-US" altLang="zh-CN" sz="1400" b="1">
                  <a:solidFill>
                    <a:schemeClr val="tx1"/>
                  </a:solidFill>
                  <a:latin typeface="Arial" pitchFamily="34" charset="0"/>
                </a:rPr>
                <a:t>RcvWindow = amount of spare room in Buffer</a:t>
              </a:r>
              <a:r>
                <a:rPr lang="en-US" altLang="zh-CN" sz="1000" b="1">
                  <a:solidFill>
                    <a:schemeClr val="tx1"/>
                  </a:solidFill>
                  <a:latin typeface="Arial" pitchFamily="34" charset="0"/>
                </a:rPr>
                <a:t> </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56771">
                                            <p:txEl>
                                              <p:pRg st="0" end="0"/>
                                            </p:txEl>
                                          </p:spTgt>
                                        </p:tgtEl>
                                        <p:attrNameLst>
                                          <p:attrName>style.visibility</p:attrName>
                                        </p:attrNameLst>
                                      </p:cBhvr>
                                      <p:to>
                                        <p:strVal val="visible"/>
                                      </p:to>
                                    </p:set>
                                    <p:anim calcmode="lin" valueType="num">
                                      <p:cBhvr additive="base">
                                        <p:cTn id="19" dur="500" fill="hold"/>
                                        <p:tgtEl>
                                          <p:spTgt spid="105677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5677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56771">
                                            <p:txEl>
                                              <p:pRg st="1" end="1"/>
                                            </p:txEl>
                                          </p:spTgt>
                                        </p:tgtEl>
                                        <p:attrNameLst>
                                          <p:attrName>style.visibility</p:attrName>
                                        </p:attrNameLst>
                                      </p:cBhvr>
                                      <p:to>
                                        <p:strVal val="visible"/>
                                      </p:to>
                                    </p:set>
                                    <p:anim calcmode="lin" valueType="num">
                                      <p:cBhvr additive="base">
                                        <p:cTn id="23" dur="500" fill="hold"/>
                                        <p:tgtEl>
                                          <p:spTgt spid="1056771">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05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056771">
                                            <p:txEl>
                                              <p:pRg st="2" end="2"/>
                                            </p:txEl>
                                          </p:spTgt>
                                        </p:tgtEl>
                                        <p:attrNameLst>
                                          <p:attrName>style.visibility</p:attrName>
                                        </p:attrNameLst>
                                      </p:cBhvr>
                                      <p:to>
                                        <p:strVal val="visible"/>
                                      </p:to>
                                    </p:set>
                                    <p:anim calcmode="lin" valueType="num">
                                      <p:cBhvr additive="base">
                                        <p:cTn id="29" dur="500" fill="hold"/>
                                        <p:tgtEl>
                                          <p:spTgt spid="1056771">
                                            <p:txEl>
                                              <p:pRg st="2" end="2"/>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0567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bwMode="auto">
          <a:xfrm>
            <a:off x="2286000"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拥塞问题</a:t>
            </a:r>
          </a:p>
        </p:txBody>
      </p:sp>
      <p:sp>
        <p:nvSpPr>
          <p:cNvPr id="48131" name="Text Box 33"/>
          <p:cNvSpPr txBox="1">
            <a:spLocks noChangeArrowheads="1"/>
          </p:cNvSpPr>
          <p:nvPr/>
        </p:nvSpPr>
        <p:spPr bwMode="auto">
          <a:xfrm>
            <a:off x="2070101" y="1884364"/>
            <a:ext cx="8056563" cy="579437"/>
          </a:xfrm>
          <a:prstGeom prst="rect">
            <a:avLst/>
          </a:prstGeom>
          <a:noFill/>
          <a:ln w="9525">
            <a:noFill/>
            <a:miter lim="800000"/>
            <a:headEnd/>
            <a:tailEnd/>
          </a:ln>
        </p:spPr>
        <p:txBody>
          <a:bodyPr>
            <a:spAutoFit/>
          </a:bodyPr>
          <a:lstStyle/>
          <a:p>
            <a:pPr>
              <a:spcBef>
                <a:spcPct val="50000"/>
              </a:spcBef>
            </a:pPr>
            <a:r>
              <a:rPr lang="zh-CN" altLang="en-US" b="1" i="1">
                <a:solidFill>
                  <a:schemeClr val="tx2"/>
                </a:solidFill>
                <a:latin typeface="Arial" pitchFamily="34" charset="0"/>
              </a:rPr>
              <a:t>问题</a:t>
            </a:r>
            <a:r>
              <a:rPr lang="en-US" altLang="zh-CN" b="1" i="1">
                <a:solidFill>
                  <a:schemeClr val="tx2"/>
                </a:solidFill>
                <a:latin typeface="Arial" pitchFamily="34" charset="0"/>
              </a:rPr>
              <a:t>:</a:t>
            </a:r>
            <a:r>
              <a:rPr lang="en-US" altLang="zh-CN" b="1" i="1">
                <a:solidFill>
                  <a:srgbClr val="EAEAEA"/>
                </a:solidFill>
                <a:latin typeface="Arial" pitchFamily="34" charset="0"/>
              </a:rPr>
              <a:t> </a:t>
            </a:r>
            <a:r>
              <a:rPr lang="zh-CN" altLang="en-US" b="1" i="1" u="sng">
                <a:solidFill>
                  <a:schemeClr val="hlink"/>
                </a:solidFill>
                <a:latin typeface="Arial" pitchFamily="34" charset="0"/>
              </a:rPr>
              <a:t>对资源的需求超过了可用资源（ </a:t>
            </a:r>
            <a:r>
              <a:rPr lang="zh-CN" altLang="en-US" sz="3200">
                <a:solidFill>
                  <a:schemeClr val="tx1"/>
                </a:solidFill>
                <a:latin typeface="Arial" pitchFamily="34" charset="0"/>
                <a:sym typeface="Symbol" pitchFamily="18" charset="2"/>
              </a:rPr>
              <a:t></a:t>
            </a:r>
            <a:r>
              <a:rPr lang="en-US" altLang="zh-CN" sz="3200">
                <a:solidFill>
                  <a:schemeClr val="tx1"/>
                </a:solidFill>
                <a:latin typeface="Arial" pitchFamily="34" charset="0"/>
                <a:sym typeface="Symbol" pitchFamily="18" charset="2"/>
              </a:rPr>
              <a:t>&lt; </a:t>
            </a:r>
            <a:r>
              <a:rPr lang="en-US" altLang="zh-CN" b="1">
                <a:solidFill>
                  <a:schemeClr val="tx1"/>
                </a:solidFill>
                <a:latin typeface="Arial" pitchFamily="34" charset="0"/>
                <a:sym typeface="Symbol" pitchFamily="18" charset="2"/>
              </a:rPr>
              <a:t>)</a:t>
            </a:r>
          </a:p>
        </p:txBody>
      </p:sp>
      <p:grpSp>
        <p:nvGrpSpPr>
          <p:cNvPr id="48132" name="Group 39"/>
          <p:cNvGrpSpPr>
            <a:grpSpLocks/>
          </p:cNvGrpSpPr>
          <p:nvPr/>
        </p:nvGrpSpPr>
        <p:grpSpPr bwMode="auto">
          <a:xfrm>
            <a:off x="2089150" y="2447925"/>
            <a:ext cx="7423150" cy="2235200"/>
            <a:chOff x="378" y="2207"/>
            <a:chExt cx="4676" cy="1408"/>
          </a:xfrm>
        </p:grpSpPr>
        <p:sp>
          <p:nvSpPr>
            <p:cNvPr id="48133" name="Rectangle 4"/>
            <p:cNvSpPr>
              <a:spLocks noChangeArrowheads="1"/>
            </p:cNvSpPr>
            <p:nvPr/>
          </p:nvSpPr>
          <p:spPr bwMode="auto">
            <a:xfrm>
              <a:off x="1002" y="2232"/>
              <a:ext cx="324"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r>
                <a:rPr lang="en-US" altLang="zh-CN" b="1" baseline="-25000">
                  <a:solidFill>
                    <a:schemeClr val="tx1"/>
                  </a:solidFill>
                  <a:latin typeface="Arial" pitchFamily="34" charset="0"/>
                  <a:sym typeface="Symbol" pitchFamily="18" charset="2"/>
                </a:rPr>
                <a:t>1</a:t>
              </a:r>
              <a:endParaRPr lang="en-US" altLang="zh-CN" b="1">
                <a:solidFill>
                  <a:schemeClr val="tx1"/>
                </a:solidFill>
                <a:latin typeface="Arial" pitchFamily="34" charset="0"/>
                <a:sym typeface="Symbol" pitchFamily="18" charset="2"/>
              </a:endParaRPr>
            </a:p>
          </p:txBody>
        </p:sp>
        <p:sp>
          <p:nvSpPr>
            <p:cNvPr id="48134" name="Rectangle 5"/>
            <p:cNvSpPr>
              <a:spLocks noChangeArrowheads="1"/>
            </p:cNvSpPr>
            <p:nvPr/>
          </p:nvSpPr>
          <p:spPr bwMode="auto">
            <a:xfrm>
              <a:off x="1002" y="3288"/>
              <a:ext cx="332"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r>
                <a:rPr lang="en-US" altLang="zh-CN" b="1" baseline="-25000">
                  <a:solidFill>
                    <a:schemeClr val="tx1"/>
                  </a:solidFill>
                  <a:latin typeface="Arial" pitchFamily="34" charset="0"/>
                  <a:sym typeface="Symbol" pitchFamily="18" charset="2"/>
                </a:rPr>
                <a:t>n</a:t>
              </a:r>
              <a:endParaRPr lang="en-US" altLang="zh-CN" b="1">
                <a:solidFill>
                  <a:schemeClr val="tx1"/>
                </a:solidFill>
                <a:latin typeface="Arial" pitchFamily="34" charset="0"/>
                <a:sym typeface="Symbol" pitchFamily="18" charset="2"/>
              </a:endParaRPr>
            </a:p>
          </p:txBody>
        </p:sp>
        <p:sp>
          <p:nvSpPr>
            <p:cNvPr id="48135" name="Oval 6"/>
            <p:cNvSpPr>
              <a:spLocks noChangeArrowheads="1"/>
            </p:cNvSpPr>
            <p:nvPr/>
          </p:nvSpPr>
          <p:spPr bwMode="auto">
            <a:xfrm>
              <a:off x="3182" y="2816"/>
              <a:ext cx="334" cy="320"/>
            </a:xfrm>
            <a:prstGeom prst="ellipse">
              <a:avLst/>
            </a:prstGeom>
            <a:solidFill>
              <a:srgbClr val="FFFF00"/>
            </a:solidFill>
            <a:ln w="25400">
              <a:solidFill>
                <a:schemeClr val="tx1"/>
              </a:solidFill>
              <a:round/>
              <a:headEnd/>
              <a:tailEnd/>
            </a:ln>
          </p:spPr>
          <p:txBody>
            <a:bodyPr wrap="none" anchor="ctr"/>
            <a:lstStyle/>
            <a:p>
              <a:endParaRPr lang="zh-CN" altLang="en-US"/>
            </a:p>
          </p:txBody>
        </p:sp>
        <p:sp>
          <p:nvSpPr>
            <p:cNvPr id="48136" name="Line 7"/>
            <p:cNvSpPr>
              <a:spLocks noChangeShapeType="1"/>
            </p:cNvSpPr>
            <p:nvPr/>
          </p:nvSpPr>
          <p:spPr bwMode="auto">
            <a:xfrm>
              <a:off x="1924" y="2904"/>
              <a:ext cx="1250" cy="0"/>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7" name="Line 8"/>
            <p:cNvSpPr>
              <a:spLocks noChangeShapeType="1"/>
            </p:cNvSpPr>
            <p:nvPr/>
          </p:nvSpPr>
          <p:spPr bwMode="auto">
            <a:xfrm>
              <a:off x="3174" y="2904"/>
              <a:ext cx="0" cy="144"/>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8" name="Line 9"/>
            <p:cNvSpPr>
              <a:spLocks noChangeShapeType="1"/>
            </p:cNvSpPr>
            <p:nvPr/>
          </p:nvSpPr>
          <p:spPr bwMode="auto">
            <a:xfrm>
              <a:off x="1924" y="3048"/>
              <a:ext cx="1250" cy="0"/>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9" name="Line 10"/>
            <p:cNvSpPr>
              <a:spLocks noChangeShapeType="1"/>
            </p:cNvSpPr>
            <p:nvPr/>
          </p:nvSpPr>
          <p:spPr bwMode="auto">
            <a:xfrm>
              <a:off x="27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0" name="Line 11"/>
            <p:cNvSpPr>
              <a:spLocks noChangeShapeType="1"/>
            </p:cNvSpPr>
            <p:nvPr/>
          </p:nvSpPr>
          <p:spPr bwMode="auto">
            <a:xfrm>
              <a:off x="3574" y="2952"/>
              <a:ext cx="250" cy="0"/>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41" name="Line 12"/>
            <p:cNvSpPr>
              <a:spLocks noChangeShapeType="1"/>
            </p:cNvSpPr>
            <p:nvPr/>
          </p:nvSpPr>
          <p:spPr bwMode="auto">
            <a:xfrm>
              <a:off x="30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2" name="Line 13"/>
            <p:cNvSpPr>
              <a:spLocks noChangeShapeType="1"/>
            </p:cNvSpPr>
            <p:nvPr/>
          </p:nvSpPr>
          <p:spPr bwMode="auto">
            <a:xfrm>
              <a:off x="29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3" name="Line 14"/>
            <p:cNvSpPr>
              <a:spLocks noChangeShapeType="1"/>
            </p:cNvSpPr>
            <p:nvPr/>
          </p:nvSpPr>
          <p:spPr bwMode="auto">
            <a:xfrm>
              <a:off x="28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4" name="Line 15"/>
            <p:cNvSpPr>
              <a:spLocks noChangeShapeType="1"/>
            </p:cNvSpPr>
            <p:nvPr/>
          </p:nvSpPr>
          <p:spPr bwMode="auto">
            <a:xfrm>
              <a:off x="26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5" name="Line 16"/>
            <p:cNvSpPr>
              <a:spLocks noChangeShapeType="1"/>
            </p:cNvSpPr>
            <p:nvPr/>
          </p:nvSpPr>
          <p:spPr bwMode="auto">
            <a:xfrm>
              <a:off x="25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6" name="Line 17"/>
            <p:cNvSpPr>
              <a:spLocks noChangeShapeType="1"/>
            </p:cNvSpPr>
            <p:nvPr/>
          </p:nvSpPr>
          <p:spPr bwMode="auto">
            <a:xfrm>
              <a:off x="24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7" name="Line 18"/>
            <p:cNvSpPr>
              <a:spLocks noChangeShapeType="1"/>
            </p:cNvSpPr>
            <p:nvPr/>
          </p:nvSpPr>
          <p:spPr bwMode="auto">
            <a:xfrm>
              <a:off x="23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8" name="Line 19"/>
            <p:cNvSpPr>
              <a:spLocks noChangeShapeType="1"/>
            </p:cNvSpPr>
            <p:nvPr/>
          </p:nvSpPr>
          <p:spPr bwMode="auto">
            <a:xfrm>
              <a:off x="22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9" name="Line 20"/>
            <p:cNvSpPr>
              <a:spLocks noChangeShapeType="1"/>
            </p:cNvSpPr>
            <p:nvPr/>
          </p:nvSpPr>
          <p:spPr bwMode="auto">
            <a:xfrm>
              <a:off x="21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0" name="Line 21"/>
            <p:cNvSpPr>
              <a:spLocks noChangeShapeType="1"/>
            </p:cNvSpPr>
            <p:nvPr/>
          </p:nvSpPr>
          <p:spPr bwMode="auto">
            <a:xfrm>
              <a:off x="20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1" name="Line 22"/>
            <p:cNvSpPr>
              <a:spLocks noChangeShapeType="1"/>
            </p:cNvSpPr>
            <p:nvPr/>
          </p:nvSpPr>
          <p:spPr bwMode="auto">
            <a:xfrm>
              <a:off x="19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2" name="Text Box 23"/>
            <p:cNvSpPr txBox="1">
              <a:spLocks noChangeArrowheads="1"/>
            </p:cNvSpPr>
            <p:nvPr/>
          </p:nvSpPr>
          <p:spPr bwMode="auto">
            <a:xfrm>
              <a:off x="4170" y="2747"/>
              <a:ext cx="884" cy="288"/>
            </a:xfrm>
            <a:prstGeom prst="rect">
              <a:avLst/>
            </a:prstGeom>
            <a:noFill/>
            <a:ln w="25400">
              <a:noFill/>
              <a:miter lim="800000"/>
              <a:headEnd/>
              <a:tailEnd/>
            </a:ln>
          </p:spPr>
          <p:txBody>
            <a:bodyPr wrap="none">
              <a:spAutoFit/>
            </a:bodyPr>
            <a:lstStyle/>
            <a:p>
              <a:pPr algn="l"/>
              <a:r>
                <a:rPr lang="zh-CN" altLang="en-US" sz="2400">
                  <a:solidFill>
                    <a:schemeClr val="tx1"/>
                  </a:solidFill>
                  <a:latin typeface="Comic Sans MS" pitchFamily="66" charset="0"/>
                </a:rPr>
                <a:t>可用容量</a:t>
              </a:r>
            </a:p>
          </p:txBody>
        </p:sp>
        <p:sp>
          <p:nvSpPr>
            <p:cNvPr id="48153" name="Line 24"/>
            <p:cNvSpPr>
              <a:spLocks noChangeShapeType="1"/>
            </p:cNvSpPr>
            <p:nvPr/>
          </p:nvSpPr>
          <p:spPr bwMode="auto">
            <a:xfrm>
              <a:off x="1386" y="2808"/>
              <a:ext cx="384" cy="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4" name="Line 25"/>
            <p:cNvSpPr>
              <a:spLocks noChangeShapeType="1"/>
            </p:cNvSpPr>
            <p:nvPr/>
          </p:nvSpPr>
          <p:spPr bwMode="auto">
            <a:xfrm>
              <a:off x="1338" y="2520"/>
              <a:ext cx="548" cy="2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5" name="Line 26"/>
            <p:cNvSpPr>
              <a:spLocks noChangeShapeType="1"/>
            </p:cNvSpPr>
            <p:nvPr/>
          </p:nvSpPr>
          <p:spPr bwMode="auto">
            <a:xfrm flipV="1">
              <a:off x="1434" y="3096"/>
              <a:ext cx="384" cy="33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6" name="Text Box 27"/>
            <p:cNvSpPr txBox="1">
              <a:spLocks noChangeArrowheads="1"/>
            </p:cNvSpPr>
            <p:nvPr/>
          </p:nvSpPr>
          <p:spPr bwMode="auto">
            <a:xfrm>
              <a:off x="378" y="2744"/>
              <a:ext cx="500" cy="288"/>
            </a:xfrm>
            <a:prstGeom prst="rect">
              <a:avLst/>
            </a:prstGeom>
            <a:noFill/>
            <a:ln w="25400">
              <a:noFill/>
              <a:miter lim="800000"/>
              <a:headEnd/>
              <a:tailEnd/>
            </a:ln>
          </p:spPr>
          <p:txBody>
            <a:bodyPr wrap="none">
              <a:spAutoFit/>
            </a:bodyPr>
            <a:lstStyle/>
            <a:p>
              <a:pPr algn="l"/>
              <a:r>
                <a:rPr lang="zh-CN" altLang="en-US" sz="2400">
                  <a:solidFill>
                    <a:schemeClr val="tx1"/>
                  </a:solidFill>
                  <a:latin typeface="Comic Sans MS" pitchFamily="66" charset="0"/>
                </a:rPr>
                <a:t>需求</a:t>
              </a:r>
            </a:p>
          </p:txBody>
        </p:sp>
        <p:sp>
          <p:nvSpPr>
            <p:cNvPr id="48157" name="Line 28"/>
            <p:cNvSpPr>
              <a:spLocks noChangeShapeType="1"/>
            </p:cNvSpPr>
            <p:nvPr/>
          </p:nvSpPr>
          <p:spPr bwMode="auto">
            <a:xfrm flipV="1">
              <a:off x="1386" y="3000"/>
              <a:ext cx="336" cy="144"/>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8" name="Line 29"/>
            <p:cNvSpPr>
              <a:spLocks noChangeShapeType="1"/>
            </p:cNvSpPr>
            <p:nvPr/>
          </p:nvSpPr>
          <p:spPr bwMode="auto">
            <a:xfrm>
              <a:off x="3642" y="3000"/>
              <a:ext cx="384" cy="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9" name="Line 30"/>
            <p:cNvSpPr>
              <a:spLocks noChangeShapeType="1"/>
            </p:cNvSpPr>
            <p:nvPr/>
          </p:nvSpPr>
          <p:spPr bwMode="auto">
            <a:xfrm>
              <a:off x="3594" y="3048"/>
              <a:ext cx="548" cy="2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0" name="Line 31"/>
            <p:cNvSpPr>
              <a:spLocks noChangeShapeType="1"/>
            </p:cNvSpPr>
            <p:nvPr/>
          </p:nvSpPr>
          <p:spPr bwMode="auto">
            <a:xfrm flipV="1">
              <a:off x="3642" y="2520"/>
              <a:ext cx="384" cy="33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1" name="Line 32"/>
            <p:cNvSpPr>
              <a:spLocks noChangeShapeType="1"/>
            </p:cNvSpPr>
            <p:nvPr/>
          </p:nvSpPr>
          <p:spPr bwMode="auto">
            <a:xfrm flipV="1">
              <a:off x="3642" y="2760"/>
              <a:ext cx="336" cy="144"/>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2" name="Text Box 35"/>
            <p:cNvSpPr txBox="1">
              <a:spLocks noChangeArrowheads="1"/>
            </p:cNvSpPr>
            <p:nvPr/>
          </p:nvSpPr>
          <p:spPr bwMode="auto">
            <a:xfrm>
              <a:off x="4179" y="3233"/>
              <a:ext cx="562"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r>
                <a:rPr lang="en-US" altLang="zh-CN" sz="3200" baseline="-25000">
                  <a:solidFill>
                    <a:schemeClr val="tx1"/>
                  </a:solidFill>
                  <a:latin typeface="Arial" pitchFamily="34" charset="0"/>
                  <a:sym typeface="Symbol" pitchFamily="18" charset="2"/>
                </a:rPr>
                <a:t>n</a:t>
              </a:r>
            </a:p>
          </p:txBody>
        </p:sp>
        <p:sp>
          <p:nvSpPr>
            <p:cNvPr id="48163" name="Text Box 36"/>
            <p:cNvSpPr txBox="1">
              <a:spLocks noChangeArrowheads="1"/>
            </p:cNvSpPr>
            <p:nvPr/>
          </p:nvSpPr>
          <p:spPr bwMode="auto">
            <a:xfrm>
              <a:off x="4057" y="2207"/>
              <a:ext cx="562"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r>
                <a:rPr lang="en-US" altLang="zh-CN" sz="3200" baseline="-25000">
                  <a:solidFill>
                    <a:schemeClr val="tx1"/>
                  </a:solidFill>
                  <a:latin typeface="Arial" pitchFamily="34" charset="0"/>
                  <a:sym typeface="Symbol" pitchFamily="18" charset="2"/>
                </a:rPr>
                <a:t>1</a:t>
              </a:r>
            </a:p>
          </p:txBody>
        </p:sp>
        <p:sp>
          <p:nvSpPr>
            <p:cNvPr id="48164" name="Rectangle 37"/>
            <p:cNvSpPr>
              <a:spLocks noChangeArrowheads="1"/>
            </p:cNvSpPr>
            <p:nvPr/>
          </p:nvSpPr>
          <p:spPr bwMode="auto">
            <a:xfrm>
              <a:off x="1846" y="3230"/>
              <a:ext cx="239"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p>
          </p:txBody>
        </p:sp>
        <p:sp>
          <p:nvSpPr>
            <p:cNvPr id="48165" name="Text Box 38"/>
            <p:cNvSpPr txBox="1">
              <a:spLocks noChangeArrowheads="1"/>
            </p:cNvSpPr>
            <p:nvPr/>
          </p:nvSpPr>
          <p:spPr bwMode="auto">
            <a:xfrm>
              <a:off x="3279" y="3190"/>
              <a:ext cx="407"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endParaRPr lang="en-US" altLang="zh-CN" sz="3200" baseline="-25000">
                <a:solidFill>
                  <a:schemeClr val="tx1"/>
                </a:solidFill>
                <a:latin typeface="Arial" pitchFamily="34" charset="0"/>
                <a:sym typeface="Symbol" pitchFamily="18" charset="2"/>
              </a:endParaRPr>
            </a:p>
          </p:txBody>
        </p:sp>
      </p:gr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5943600" y="1295400"/>
            <a:ext cx="4495800" cy="5181600"/>
          </a:xfrm>
          <a:prstGeom prst="rect">
            <a:avLst/>
          </a:prstGeom>
          <a:solidFill>
            <a:schemeClr val="bg1"/>
          </a:solidFill>
          <a:ln w="25400">
            <a:solidFill>
              <a:srgbClr val="FF99CC"/>
            </a:solidFill>
            <a:miter lim="800000"/>
            <a:headEnd/>
            <a:tailEnd/>
          </a:ln>
        </p:spPr>
        <p:txBody>
          <a:bodyPr wrap="none" anchor="ctr"/>
          <a:lstStyle/>
          <a:p>
            <a:endParaRPr lang="zh-CN" altLang="en-US"/>
          </a:p>
        </p:txBody>
      </p:sp>
      <p:sp>
        <p:nvSpPr>
          <p:cNvPr id="49155" name="Rectangle 3"/>
          <p:cNvSpPr>
            <a:spLocks noChangeArrowheads="1"/>
          </p:cNvSpPr>
          <p:nvPr/>
        </p:nvSpPr>
        <p:spPr bwMode="auto">
          <a:xfrm>
            <a:off x="8482013" y="1905000"/>
            <a:ext cx="685800" cy="4191000"/>
          </a:xfrm>
          <a:prstGeom prst="rect">
            <a:avLst/>
          </a:prstGeom>
          <a:solidFill>
            <a:srgbClr val="CCFFFF"/>
          </a:solidFill>
          <a:ln w="25400">
            <a:noFill/>
            <a:miter lim="800000"/>
            <a:headEnd/>
            <a:tailEnd/>
          </a:ln>
        </p:spPr>
        <p:txBody>
          <a:bodyPr wrap="none" lIns="90488" tIns="44450" rIns="90488" bIns="44450" anchor="ctr"/>
          <a:lstStyle/>
          <a:p>
            <a:endParaRPr lang="zh-CN" altLang="en-US"/>
          </a:p>
        </p:txBody>
      </p:sp>
      <p:sp>
        <p:nvSpPr>
          <p:cNvPr id="49156" name="Rectangle 4"/>
          <p:cNvSpPr>
            <a:spLocks noGrp="1" noChangeArrowheads="1"/>
          </p:cNvSpPr>
          <p:nvPr>
            <p:ph type="body" idx="1"/>
          </p:nvPr>
        </p:nvSpPr>
        <p:spPr bwMode="auto">
          <a:xfrm>
            <a:off x="1600200" y="1676400"/>
            <a:ext cx="4229100" cy="4343400"/>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u="sng">
                <a:solidFill>
                  <a:schemeClr val="hlink"/>
                </a:solidFill>
              </a:rPr>
              <a:t>轻度拥塞</a:t>
            </a:r>
            <a:r>
              <a:rPr lang="zh-CN" altLang="en-US"/>
              <a:t> </a:t>
            </a:r>
            <a:r>
              <a:rPr lang="en-US" altLang="zh-CN">
                <a:latin typeface="Arial" pitchFamily="34" charset="0"/>
              </a:rPr>
              <a:t>–</a:t>
            </a:r>
            <a:r>
              <a:rPr lang="en-US" altLang="zh-CN"/>
              <a:t> </a:t>
            </a:r>
            <a:r>
              <a:rPr lang="zh-CN" altLang="en-US"/>
              <a:t>该点后 </a:t>
            </a:r>
          </a:p>
          <a:p>
            <a:pPr lvl="1" eaLnBrk="1" hangingPunct="1"/>
            <a:r>
              <a:rPr lang="zh-CN" altLang="en-US"/>
              <a:t>吞吐量增长缓慢</a:t>
            </a:r>
            <a:endParaRPr lang="zh-CN" altLang="en-US">
              <a:solidFill>
                <a:schemeClr val="folHlink"/>
              </a:solidFill>
            </a:endParaRPr>
          </a:p>
          <a:p>
            <a:pPr lvl="1" eaLnBrk="1" hangingPunct="1"/>
            <a:r>
              <a:rPr lang="zh-CN" altLang="en-US"/>
              <a:t>延迟增加加快</a:t>
            </a:r>
            <a:endParaRPr lang="zh-CN" altLang="en-US">
              <a:solidFill>
                <a:schemeClr val="folHlink"/>
              </a:solidFill>
            </a:endParaRPr>
          </a:p>
          <a:p>
            <a:pPr eaLnBrk="1" hangingPunct="1"/>
            <a:r>
              <a:rPr lang="zh-CN" altLang="en-US" u="sng">
                <a:solidFill>
                  <a:schemeClr val="hlink"/>
                </a:solidFill>
              </a:rPr>
              <a:t>完全拥塞</a:t>
            </a:r>
            <a:r>
              <a:rPr lang="zh-CN" altLang="en-US"/>
              <a:t> </a:t>
            </a:r>
            <a:r>
              <a:rPr lang="en-US" altLang="zh-CN">
                <a:latin typeface="Arial" pitchFamily="34" charset="0"/>
              </a:rPr>
              <a:t>–</a:t>
            </a:r>
            <a:r>
              <a:rPr lang="en-US" altLang="zh-CN"/>
              <a:t> </a:t>
            </a:r>
            <a:r>
              <a:rPr lang="zh-CN" altLang="en-US"/>
              <a:t>该点后</a:t>
            </a:r>
          </a:p>
          <a:p>
            <a:pPr lvl="1" eaLnBrk="1" hangingPunct="1"/>
            <a:r>
              <a:rPr lang="zh-CN" altLang="en-US"/>
              <a:t>吞吐量快速下降直至零 </a:t>
            </a:r>
            <a:r>
              <a:rPr lang="en-US" altLang="zh-CN"/>
              <a:t>(</a:t>
            </a:r>
            <a:r>
              <a:rPr lang="zh-CN" altLang="en-US"/>
              <a:t>拥塞崩溃</a:t>
            </a:r>
            <a:r>
              <a:rPr lang="en-US" altLang="zh-CN"/>
              <a:t>)</a:t>
            </a:r>
          </a:p>
          <a:p>
            <a:pPr lvl="1" eaLnBrk="1" hangingPunct="1"/>
            <a:r>
              <a:rPr lang="zh-CN" altLang="en-US"/>
              <a:t>无穷大延迟</a:t>
            </a:r>
            <a:endParaRPr lang="zh-CN" altLang="en-US">
              <a:solidFill>
                <a:schemeClr val="accent1"/>
              </a:solidFill>
            </a:endParaRPr>
          </a:p>
        </p:txBody>
      </p:sp>
      <p:sp>
        <p:nvSpPr>
          <p:cNvPr id="49157" name="Line 5"/>
          <p:cNvSpPr>
            <a:spLocks noChangeShapeType="1"/>
          </p:cNvSpPr>
          <p:nvPr/>
        </p:nvSpPr>
        <p:spPr bwMode="auto">
          <a:xfrm flipH="1" flipV="1">
            <a:off x="6348413" y="1752600"/>
            <a:ext cx="0" cy="19050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58" name="Line 6"/>
          <p:cNvSpPr>
            <a:spLocks noChangeShapeType="1"/>
          </p:cNvSpPr>
          <p:nvPr/>
        </p:nvSpPr>
        <p:spPr bwMode="auto">
          <a:xfrm>
            <a:off x="6348413" y="3657600"/>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59" name="Freeform 7"/>
          <p:cNvSpPr>
            <a:spLocks/>
          </p:cNvSpPr>
          <p:nvPr/>
        </p:nvSpPr>
        <p:spPr bwMode="auto">
          <a:xfrm>
            <a:off x="6348413" y="1905000"/>
            <a:ext cx="2514600" cy="1771650"/>
          </a:xfrm>
          <a:custGeom>
            <a:avLst/>
            <a:gdLst>
              <a:gd name="T0" fmla="*/ 0 w 1584"/>
              <a:gd name="T1" fmla="*/ 1212 h 1212"/>
              <a:gd name="T2" fmla="*/ 0 w 1584"/>
              <a:gd name="T3" fmla="*/ 1170 h 1212"/>
              <a:gd name="T4" fmla="*/ 96 w 1584"/>
              <a:gd name="T5" fmla="*/ 768 h 1212"/>
              <a:gd name="T6" fmla="*/ 240 w 1584"/>
              <a:gd name="T7" fmla="*/ 480 h 1212"/>
              <a:gd name="T8" fmla="*/ 480 w 1584"/>
              <a:gd name="T9" fmla="*/ 192 h 1212"/>
              <a:gd name="T10" fmla="*/ 816 w 1584"/>
              <a:gd name="T11" fmla="*/ 48 h 1212"/>
              <a:gd name="T12" fmla="*/ 1104 w 1584"/>
              <a:gd name="T13" fmla="*/ 0 h 1212"/>
              <a:gd name="T14" fmla="*/ 1344 w 1584"/>
              <a:gd name="T15" fmla="*/ 0 h 1212"/>
              <a:gd name="T16" fmla="*/ 1392 w 1584"/>
              <a:gd name="T17" fmla="*/ 480 h 1212"/>
              <a:gd name="T18" fmla="*/ 1488 w 1584"/>
              <a:gd name="T19" fmla="*/ 1008 h 1212"/>
              <a:gd name="T20" fmla="*/ 1536 w 1584"/>
              <a:gd name="T21" fmla="*/ 1152 h 1212"/>
              <a:gd name="T22" fmla="*/ 1584 w 1584"/>
              <a:gd name="T23" fmla="*/ 1200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4"/>
              <a:gd name="T37" fmla="*/ 0 h 1212"/>
              <a:gd name="T38" fmla="*/ 1584 w 1584"/>
              <a:gd name="T39" fmla="*/ 1212 h 12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a:solidFill>
              <a:schemeClr val="tx1"/>
            </a:solidFill>
            <a:round/>
            <a:headEnd/>
            <a:tailEnd/>
          </a:ln>
        </p:spPr>
        <p:txBody>
          <a:bodyPr lIns="90488" tIns="44450" rIns="90488" bIns="44450"/>
          <a:lstStyle/>
          <a:p>
            <a:endParaRPr lang="zh-CN" altLang="en-US"/>
          </a:p>
        </p:txBody>
      </p:sp>
      <p:sp>
        <p:nvSpPr>
          <p:cNvPr id="49160" name="Line 8"/>
          <p:cNvSpPr>
            <a:spLocks noChangeShapeType="1"/>
          </p:cNvSpPr>
          <p:nvPr/>
        </p:nvSpPr>
        <p:spPr bwMode="auto">
          <a:xfrm>
            <a:off x="8482013" y="1752600"/>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1" name="Line 9"/>
          <p:cNvSpPr>
            <a:spLocks noChangeShapeType="1"/>
          </p:cNvSpPr>
          <p:nvPr/>
        </p:nvSpPr>
        <p:spPr bwMode="auto">
          <a:xfrm>
            <a:off x="7110413" y="1752600"/>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2" name="Line 10"/>
          <p:cNvSpPr>
            <a:spLocks noChangeShapeType="1"/>
          </p:cNvSpPr>
          <p:nvPr/>
        </p:nvSpPr>
        <p:spPr bwMode="auto">
          <a:xfrm flipH="1" flipV="1">
            <a:off x="6348413" y="3962400"/>
            <a:ext cx="0" cy="21336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63" name="Line 11"/>
          <p:cNvSpPr>
            <a:spLocks noChangeShapeType="1"/>
          </p:cNvSpPr>
          <p:nvPr/>
        </p:nvSpPr>
        <p:spPr bwMode="auto">
          <a:xfrm>
            <a:off x="6348413" y="6096000"/>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64" name="Line 12"/>
          <p:cNvSpPr>
            <a:spLocks noChangeShapeType="1"/>
          </p:cNvSpPr>
          <p:nvPr/>
        </p:nvSpPr>
        <p:spPr bwMode="auto">
          <a:xfrm>
            <a:off x="7110413" y="3962400"/>
            <a:ext cx="0" cy="22098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5" name="Line 13"/>
          <p:cNvSpPr>
            <a:spLocks noChangeShapeType="1"/>
          </p:cNvSpPr>
          <p:nvPr/>
        </p:nvSpPr>
        <p:spPr bwMode="auto">
          <a:xfrm>
            <a:off x="8482013" y="3962400"/>
            <a:ext cx="0" cy="22098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6" name="Line 14"/>
          <p:cNvSpPr>
            <a:spLocks noChangeShapeType="1"/>
          </p:cNvSpPr>
          <p:nvPr/>
        </p:nvSpPr>
        <p:spPr bwMode="auto">
          <a:xfrm>
            <a:off x="7110413" y="1905000"/>
            <a:ext cx="1371600" cy="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7" name="Freeform 15"/>
          <p:cNvSpPr>
            <a:spLocks/>
          </p:cNvSpPr>
          <p:nvPr/>
        </p:nvSpPr>
        <p:spPr bwMode="auto">
          <a:xfrm>
            <a:off x="6348413" y="4572000"/>
            <a:ext cx="2133600" cy="1371600"/>
          </a:xfrm>
          <a:custGeom>
            <a:avLst/>
            <a:gdLst>
              <a:gd name="T0" fmla="*/ 0 w 1344"/>
              <a:gd name="T1" fmla="*/ 864 h 864"/>
              <a:gd name="T2" fmla="*/ 480 w 1344"/>
              <a:gd name="T3" fmla="*/ 864 h 864"/>
              <a:gd name="T4" fmla="*/ 1344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lnTo>
                  <a:pt x="480" y="864"/>
                </a:lnTo>
                <a:lnTo>
                  <a:pt x="1344" y="0"/>
                </a:lnTo>
              </a:path>
            </a:pathLst>
          </a:custGeom>
          <a:noFill/>
          <a:ln w="12700">
            <a:solidFill>
              <a:schemeClr val="tx1"/>
            </a:solidFill>
            <a:prstDash val="dash"/>
            <a:round/>
            <a:headEnd/>
            <a:tailEnd/>
          </a:ln>
        </p:spPr>
        <p:txBody>
          <a:bodyPr lIns="90488" tIns="44450" rIns="90488" bIns="44450"/>
          <a:lstStyle/>
          <a:p>
            <a:endParaRPr lang="zh-CN" altLang="en-US"/>
          </a:p>
        </p:txBody>
      </p:sp>
      <p:sp>
        <p:nvSpPr>
          <p:cNvPr id="49168" name="Freeform 16"/>
          <p:cNvSpPr>
            <a:spLocks/>
          </p:cNvSpPr>
          <p:nvPr/>
        </p:nvSpPr>
        <p:spPr bwMode="auto">
          <a:xfrm>
            <a:off x="6348413" y="3962400"/>
            <a:ext cx="2209800" cy="1981200"/>
          </a:xfrm>
          <a:custGeom>
            <a:avLst/>
            <a:gdLst>
              <a:gd name="T0" fmla="*/ 0 w 1392"/>
              <a:gd name="T1" fmla="*/ 1248 h 1248"/>
              <a:gd name="T2" fmla="*/ 480 w 1392"/>
              <a:gd name="T3" fmla="*/ 1152 h 1248"/>
              <a:gd name="T4" fmla="*/ 816 w 1392"/>
              <a:gd name="T5" fmla="*/ 912 h 1248"/>
              <a:gd name="T6" fmla="*/ 1104 w 1392"/>
              <a:gd name="T7" fmla="*/ 624 h 1248"/>
              <a:gd name="T8" fmla="*/ 1296 w 1392"/>
              <a:gd name="T9" fmla="*/ 384 h 1248"/>
              <a:gd name="T10" fmla="*/ 1344 w 1392"/>
              <a:gd name="T11" fmla="*/ 288 h 1248"/>
              <a:gd name="T12" fmla="*/ 1392 w 1392"/>
              <a:gd name="T13" fmla="*/ 0 h 1248"/>
              <a:gd name="T14" fmla="*/ 0 60000 65536"/>
              <a:gd name="T15" fmla="*/ 0 60000 65536"/>
              <a:gd name="T16" fmla="*/ 0 60000 65536"/>
              <a:gd name="T17" fmla="*/ 0 60000 65536"/>
              <a:gd name="T18" fmla="*/ 0 60000 65536"/>
              <a:gd name="T19" fmla="*/ 0 60000 65536"/>
              <a:gd name="T20" fmla="*/ 0 60000 65536"/>
              <a:gd name="T21" fmla="*/ 0 w 1392"/>
              <a:gd name="T22" fmla="*/ 0 h 1248"/>
              <a:gd name="T23" fmla="*/ 1392 w 1392"/>
              <a:gd name="T24" fmla="*/ 1248 h 12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92" h="1248">
                <a:moveTo>
                  <a:pt x="0" y="1248"/>
                </a:moveTo>
                <a:lnTo>
                  <a:pt x="480" y="1152"/>
                </a:lnTo>
                <a:lnTo>
                  <a:pt x="816" y="912"/>
                </a:lnTo>
                <a:lnTo>
                  <a:pt x="1104" y="624"/>
                </a:lnTo>
                <a:lnTo>
                  <a:pt x="1296" y="384"/>
                </a:lnTo>
                <a:lnTo>
                  <a:pt x="1344" y="288"/>
                </a:lnTo>
                <a:lnTo>
                  <a:pt x="1392" y="0"/>
                </a:lnTo>
              </a:path>
            </a:pathLst>
          </a:custGeom>
          <a:noFill/>
          <a:ln w="25400">
            <a:solidFill>
              <a:schemeClr val="tx1"/>
            </a:solidFill>
            <a:round/>
            <a:headEnd/>
            <a:tailEnd/>
          </a:ln>
        </p:spPr>
        <p:txBody>
          <a:bodyPr lIns="90488" tIns="44450" rIns="90488" bIns="44450"/>
          <a:lstStyle/>
          <a:p>
            <a:endParaRPr lang="zh-CN" altLang="en-US"/>
          </a:p>
        </p:txBody>
      </p:sp>
      <p:sp>
        <p:nvSpPr>
          <p:cNvPr id="49169" name="Text Box 17"/>
          <p:cNvSpPr txBox="1">
            <a:spLocks noChangeArrowheads="1"/>
          </p:cNvSpPr>
          <p:nvPr/>
        </p:nvSpPr>
        <p:spPr bwMode="auto">
          <a:xfrm>
            <a:off x="8735824" y="6081714"/>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负载</a:t>
            </a:r>
          </a:p>
        </p:txBody>
      </p:sp>
      <p:sp>
        <p:nvSpPr>
          <p:cNvPr id="49170" name="Text Box 18"/>
          <p:cNvSpPr txBox="1">
            <a:spLocks noChangeArrowheads="1"/>
          </p:cNvSpPr>
          <p:nvPr/>
        </p:nvSpPr>
        <p:spPr bwMode="auto">
          <a:xfrm>
            <a:off x="8735824" y="3643314"/>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负载</a:t>
            </a:r>
          </a:p>
        </p:txBody>
      </p:sp>
      <p:sp>
        <p:nvSpPr>
          <p:cNvPr id="49171" name="Text Box 19"/>
          <p:cNvSpPr txBox="1">
            <a:spLocks noChangeArrowheads="1"/>
          </p:cNvSpPr>
          <p:nvPr/>
        </p:nvSpPr>
        <p:spPr bwMode="auto">
          <a:xfrm rot="-5400000">
            <a:off x="5659596" y="2215817"/>
            <a:ext cx="95218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吞吐量</a:t>
            </a:r>
          </a:p>
        </p:txBody>
      </p:sp>
      <p:sp>
        <p:nvSpPr>
          <p:cNvPr id="49172" name="Text Box 20"/>
          <p:cNvSpPr txBox="1">
            <a:spLocks noChangeArrowheads="1"/>
          </p:cNvSpPr>
          <p:nvPr/>
        </p:nvSpPr>
        <p:spPr bwMode="auto">
          <a:xfrm rot="-5400000">
            <a:off x="5784661" y="4101767"/>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延迟</a:t>
            </a:r>
          </a:p>
        </p:txBody>
      </p:sp>
      <p:sp>
        <p:nvSpPr>
          <p:cNvPr id="49173" name="Text Box 21"/>
          <p:cNvSpPr txBox="1">
            <a:spLocks noChangeArrowheads="1"/>
          </p:cNvSpPr>
          <p:nvPr/>
        </p:nvSpPr>
        <p:spPr bwMode="auto">
          <a:xfrm>
            <a:off x="6445756" y="14208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轻度拥塞</a:t>
            </a:r>
          </a:p>
        </p:txBody>
      </p:sp>
      <p:sp>
        <p:nvSpPr>
          <p:cNvPr id="49174" name="Text Box 22"/>
          <p:cNvSpPr txBox="1">
            <a:spLocks noChangeArrowheads="1"/>
          </p:cNvSpPr>
          <p:nvPr/>
        </p:nvSpPr>
        <p:spPr bwMode="auto">
          <a:xfrm>
            <a:off x="7891969" y="14208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完全拥塞</a:t>
            </a:r>
          </a:p>
        </p:txBody>
      </p:sp>
      <p:sp>
        <p:nvSpPr>
          <p:cNvPr id="49175" name="Text Box 23"/>
          <p:cNvSpPr txBox="1">
            <a:spLocks noChangeArrowheads="1"/>
          </p:cNvSpPr>
          <p:nvPr/>
        </p:nvSpPr>
        <p:spPr bwMode="auto">
          <a:xfrm>
            <a:off x="9254044" y="23352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拥塞崩溃</a:t>
            </a:r>
          </a:p>
        </p:txBody>
      </p:sp>
      <p:sp>
        <p:nvSpPr>
          <p:cNvPr id="49176" name="AutoShape 24"/>
          <p:cNvSpPr>
            <a:spLocks/>
          </p:cNvSpPr>
          <p:nvPr/>
        </p:nvSpPr>
        <p:spPr bwMode="auto">
          <a:xfrm rot="-5400000">
            <a:off x="8724900" y="1485900"/>
            <a:ext cx="152400" cy="685800"/>
          </a:xfrm>
          <a:prstGeom prst="rightBrace">
            <a:avLst>
              <a:gd name="adj1" fmla="val 37500"/>
              <a:gd name="adj2" fmla="val 50000"/>
            </a:avLst>
          </a:prstGeom>
          <a:noFill/>
          <a:ln w="12700">
            <a:solidFill>
              <a:schemeClr val="tx1"/>
            </a:solidFill>
            <a:round/>
            <a:headEnd/>
            <a:tailEnd/>
          </a:ln>
        </p:spPr>
        <p:txBody>
          <a:bodyPr wrap="none" lIns="90488" tIns="44450" rIns="90488" bIns="44450" anchor="ctr"/>
          <a:lstStyle/>
          <a:p>
            <a:endParaRPr lang="zh-CN" altLang="en-US"/>
          </a:p>
        </p:txBody>
      </p:sp>
      <p:sp>
        <p:nvSpPr>
          <p:cNvPr id="49177" name="Line 25"/>
          <p:cNvSpPr>
            <a:spLocks noChangeShapeType="1"/>
          </p:cNvSpPr>
          <p:nvPr/>
        </p:nvSpPr>
        <p:spPr bwMode="auto">
          <a:xfrm flipH="1">
            <a:off x="8839200" y="2971800"/>
            <a:ext cx="762000" cy="6096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49178" name="Text Box 26"/>
          <p:cNvSpPr txBox="1">
            <a:spLocks noChangeArrowheads="1"/>
          </p:cNvSpPr>
          <p:nvPr/>
        </p:nvSpPr>
        <p:spPr bwMode="auto">
          <a:xfrm>
            <a:off x="9217531" y="12811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丢弃报文</a:t>
            </a:r>
          </a:p>
        </p:txBody>
      </p:sp>
      <p:sp>
        <p:nvSpPr>
          <p:cNvPr id="49179" name="Line 27"/>
          <p:cNvSpPr>
            <a:spLocks noChangeShapeType="1"/>
          </p:cNvSpPr>
          <p:nvPr/>
        </p:nvSpPr>
        <p:spPr bwMode="auto">
          <a:xfrm flipH="1">
            <a:off x="8839200" y="1600200"/>
            <a:ext cx="533400" cy="1524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49180" name="Rectangle 28"/>
          <p:cNvSpPr>
            <a:spLocks noGrp="1" noChangeArrowheads="1"/>
          </p:cNvSpPr>
          <p:nvPr>
            <p:ph type="title"/>
          </p:nvPr>
        </p:nvSpPr>
        <p:spPr bwMode="auto">
          <a:xfrm>
            <a:off x="2362200" y="298450"/>
            <a:ext cx="7772400" cy="6985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a:t>
            </a:r>
            <a:r>
              <a:rPr lang="en-US" altLang="zh-CN" sz="3600" b="1">
                <a:solidFill>
                  <a:schemeClr val="hlink"/>
                </a:solidFill>
                <a:latin typeface="Arial" pitchFamily="34" charset="0"/>
                <a:ea typeface="华文楷体" pitchFamily="2" charset="-122"/>
              </a:rPr>
              <a:t>: A Close-up View</a:t>
            </a: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6000750" y="1320800"/>
            <a:ext cx="4267200" cy="2743200"/>
          </a:xfrm>
          <a:prstGeom prst="rect">
            <a:avLst/>
          </a:prstGeom>
          <a:solidFill>
            <a:schemeClr val="bg1"/>
          </a:solidFill>
          <a:ln w="25400">
            <a:noFill/>
            <a:miter lim="800000"/>
            <a:headEnd/>
            <a:tailEnd/>
          </a:ln>
        </p:spPr>
        <p:txBody>
          <a:bodyPr wrap="none" anchor="ctr"/>
          <a:lstStyle/>
          <a:p>
            <a:endParaRPr lang="zh-CN" altLang="en-US"/>
          </a:p>
        </p:txBody>
      </p:sp>
      <p:sp>
        <p:nvSpPr>
          <p:cNvPr id="50179" name="Rectangle 3"/>
          <p:cNvSpPr>
            <a:spLocks noGrp="1" noChangeArrowheads="1"/>
          </p:cNvSpPr>
          <p:nvPr>
            <p:ph type="body" idx="1"/>
          </p:nvPr>
        </p:nvSpPr>
        <p:spPr bwMode="auto">
          <a:xfrm>
            <a:off x="5491163" y="1330325"/>
            <a:ext cx="4906962" cy="3651250"/>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u="sng">
                <a:solidFill>
                  <a:schemeClr val="hlink"/>
                </a:solidFill>
              </a:rPr>
              <a:t>阻塞控制的目标</a:t>
            </a:r>
            <a:endParaRPr lang="zh-CN" altLang="en-US"/>
          </a:p>
          <a:p>
            <a:pPr lvl="1" eaLnBrk="1" hangingPunct="1"/>
            <a:r>
              <a:rPr lang="zh-CN" altLang="en-US" sz="2400"/>
              <a:t>控制在悬崖</a:t>
            </a:r>
            <a:r>
              <a:rPr kumimoji="0" lang="zh-CN" altLang="en-US" sz="2000">
                <a:latin typeface="Arial" pitchFamily="34" charset="0"/>
              </a:rPr>
              <a:t>（ </a:t>
            </a:r>
            <a:r>
              <a:rPr kumimoji="0" lang="en-US" altLang="zh-CN" sz="2000">
                <a:latin typeface="Arial" pitchFamily="34" charset="0"/>
              </a:rPr>
              <a:t>cliff </a:t>
            </a:r>
            <a:r>
              <a:rPr kumimoji="0" lang="zh-CN" altLang="en-US" sz="2000">
                <a:latin typeface="Arial" pitchFamily="34" charset="0"/>
              </a:rPr>
              <a:t>）</a:t>
            </a:r>
            <a:r>
              <a:rPr lang="zh-CN" altLang="en-US" sz="2400"/>
              <a:t>的左边 </a:t>
            </a:r>
          </a:p>
          <a:p>
            <a:pPr eaLnBrk="1" hangingPunct="1"/>
            <a:r>
              <a:rPr lang="zh-CN" altLang="en-US" u="sng">
                <a:solidFill>
                  <a:schemeClr val="hlink"/>
                </a:solidFill>
              </a:rPr>
              <a:t>阻塞避免的目标</a:t>
            </a:r>
            <a:endParaRPr lang="zh-CN" altLang="en-US"/>
          </a:p>
          <a:p>
            <a:pPr lvl="1" eaLnBrk="1" hangingPunct="1"/>
            <a:r>
              <a:rPr lang="zh-CN" altLang="en-US" sz="2400"/>
              <a:t>控制在拐点</a:t>
            </a:r>
            <a:r>
              <a:rPr lang="zh-CN" altLang="en-US" sz="2000"/>
              <a:t>（ </a:t>
            </a:r>
            <a:r>
              <a:rPr kumimoji="0" lang="en-US" altLang="zh-CN" sz="2000">
                <a:latin typeface="Arial" pitchFamily="34" charset="0"/>
              </a:rPr>
              <a:t>knee</a:t>
            </a:r>
            <a:r>
              <a:rPr lang="en-US" altLang="zh-CN" sz="2000"/>
              <a:t> </a:t>
            </a:r>
            <a:r>
              <a:rPr lang="zh-CN" altLang="en-US" sz="2000"/>
              <a:t>）</a:t>
            </a:r>
            <a:r>
              <a:rPr lang="zh-CN" altLang="en-US" sz="2400"/>
              <a:t>的左边</a:t>
            </a:r>
          </a:p>
          <a:p>
            <a:pPr eaLnBrk="1" hangingPunct="1"/>
            <a:r>
              <a:rPr lang="zh-CN" altLang="en-US"/>
              <a:t>悬崖的右边</a:t>
            </a:r>
            <a:r>
              <a:rPr lang="en-US" altLang="zh-CN"/>
              <a:t>: </a:t>
            </a:r>
          </a:p>
          <a:p>
            <a:pPr lvl="1" eaLnBrk="1" hangingPunct="1"/>
            <a:r>
              <a:rPr lang="zh-CN" altLang="en-US" u="sng">
                <a:solidFill>
                  <a:schemeClr val="hlink"/>
                </a:solidFill>
              </a:rPr>
              <a:t>由于拥塞导致崩溃</a:t>
            </a:r>
          </a:p>
        </p:txBody>
      </p:sp>
      <p:sp>
        <p:nvSpPr>
          <p:cNvPr id="50180" name="Line 4"/>
          <p:cNvSpPr>
            <a:spLocks noChangeShapeType="1"/>
          </p:cNvSpPr>
          <p:nvPr/>
        </p:nvSpPr>
        <p:spPr bwMode="auto">
          <a:xfrm flipH="1" flipV="1">
            <a:off x="2519363" y="3925888"/>
            <a:ext cx="0" cy="19050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50181" name="Line 5"/>
          <p:cNvSpPr>
            <a:spLocks noChangeShapeType="1"/>
          </p:cNvSpPr>
          <p:nvPr/>
        </p:nvSpPr>
        <p:spPr bwMode="auto">
          <a:xfrm>
            <a:off x="2519363" y="5830888"/>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50182" name="Freeform 6"/>
          <p:cNvSpPr>
            <a:spLocks/>
          </p:cNvSpPr>
          <p:nvPr/>
        </p:nvSpPr>
        <p:spPr bwMode="auto">
          <a:xfrm>
            <a:off x="2519363" y="4078288"/>
            <a:ext cx="2514600" cy="1771650"/>
          </a:xfrm>
          <a:custGeom>
            <a:avLst/>
            <a:gdLst>
              <a:gd name="T0" fmla="*/ 0 w 1584"/>
              <a:gd name="T1" fmla="*/ 1212 h 1212"/>
              <a:gd name="T2" fmla="*/ 0 w 1584"/>
              <a:gd name="T3" fmla="*/ 1170 h 1212"/>
              <a:gd name="T4" fmla="*/ 96 w 1584"/>
              <a:gd name="T5" fmla="*/ 768 h 1212"/>
              <a:gd name="T6" fmla="*/ 240 w 1584"/>
              <a:gd name="T7" fmla="*/ 480 h 1212"/>
              <a:gd name="T8" fmla="*/ 480 w 1584"/>
              <a:gd name="T9" fmla="*/ 192 h 1212"/>
              <a:gd name="T10" fmla="*/ 816 w 1584"/>
              <a:gd name="T11" fmla="*/ 48 h 1212"/>
              <a:gd name="T12" fmla="*/ 1104 w 1584"/>
              <a:gd name="T13" fmla="*/ 0 h 1212"/>
              <a:gd name="T14" fmla="*/ 1344 w 1584"/>
              <a:gd name="T15" fmla="*/ 0 h 1212"/>
              <a:gd name="T16" fmla="*/ 1392 w 1584"/>
              <a:gd name="T17" fmla="*/ 480 h 1212"/>
              <a:gd name="T18" fmla="*/ 1488 w 1584"/>
              <a:gd name="T19" fmla="*/ 1008 h 1212"/>
              <a:gd name="T20" fmla="*/ 1536 w 1584"/>
              <a:gd name="T21" fmla="*/ 1152 h 1212"/>
              <a:gd name="T22" fmla="*/ 1584 w 1584"/>
              <a:gd name="T23" fmla="*/ 1200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4"/>
              <a:gd name="T37" fmla="*/ 0 h 1212"/>
              <a:gd name="T38" fmla="*/ 1584 w 1584"/>
              <a:gd name="T39" fmla="*/ 1212 h 12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a:solidFill>
              <a:schemeClr val="tx1"/>
            </a:solidFill>
            <a:round/>
            <a:headEnd/>
            <a:tailEnd/>
          </a:ln>
        </p:spPr>
        <p:txBody>
          <a:bodyPr lIns="90488" tIns="44450" rIns="90488" bIns="44450"/>
          <a:lstStyle/>
          <a:p>
            <a:endParaRPr lang="zh-CN" altLang="en-US"/>
          </a:p>
        </p:txBody>
      </p:sp>
      <p:sp>
        <p:nvSpPr>
          <p:cNvPr id="50183" name="Line 7"/>
          <p:cNvSpPr>
            <a:spLocks noChangeShapeType="1"/>
          </p:cNvSpPr>
          <p:nvPr/>
        </p:nvSpPr>
        <p:spPr bwMode="auto">
          <a:xfrm>
            <a:off x="4652963" y="3925888"/>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4" name="Line 8"/>
          <p:cNvSpPr>
            <a:spLocks noChangeShapeType="1"/>
          </p:cNvSpPr>
          <p:nvPr/>
        </p:nvSpPr>
        <p:spPr bwMode="auto">
          <a:xfrm>
            <a:off x="3281363" y="3925888"/>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5" name="Line 9"/>
          <p:cNvSpPr>
            <a:spLocks noChangeShapeType="1"/>
          </p:cNvSpPr>
          <p:nvPr/>
        </p:nvSpPr>
        <p:spPr bwMode="auto">
          <a:xfrm>
            <a:off x="3281363" y="4078288"/>
            <a:ext cx="1371600" cy="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6" name="Text Box 10"/>
          <p:cNvSpPr txBox="1">
            <a:spLocks noChangeArrowheads="1"/>
          </p:cNvSpPr>
          <p:nvPr/>
        </p:nvSpPr>
        <p:spPr bwMode="auto">
          <a:xfrm>
            <a:off x="4877920" y="5830889"/>
            <a:ext cx="753412"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Load</a:t>
            </a:r>
          </a:p>
        </p:txBody>
      </p:sp>
      <p:sp>
        <p:nvSpPr>
          <p:cNvPr id="50187" name="Text Box 11"/>
          <p:cNvSpPr txBox="1">
            <a:spLocks noChangeArrowheads="1"/>
          </p:cNvSpPr>
          <p:nvPr/>
        </p:nvSpPr>
        <p:spPr bwMode="auto">
          <a:xfrm rot="-5400000">
            <a:off x="1575513" y="4390692"/>
            <a:ext cx="1494000"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Throughput</a:t>
            </a:r>
          </a:p>
        </p:txBody>
      </p:sp>
      <p:sp>
        <p:nvSpPr>
          <p:cNvPr id="50188" name="Text Box 12"/>
          <p:cNvSpPr txBox="1">
            <a:spLocks noChangeArrowheads="1"/>
          </p:cNvSpPr>
          <p:nvPr/>
        </p:nvSpPr>
        <p:spPr bwMode="auto">
          <a:xfrm>
            <a:off x="2850751" y="3608389"/>
            <a:ext cx="738986"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knee</a:t>
            </a:r>
          </a:p>
        </p:txBody>
      </p:sp>
      <p:sp>
        <p:nvSpPr>
          <p:cNvPr id="50189" name="Text Box 13"/>
          <p:cNvSpPr txBox="1">
            <a:spLocks noChangeArrowheads="1"/>
          </p:cNvSpPr>
          <p:nvPr/>
        </p:nvSpPr>
        <p:spPr bwMode="auto">
          <a:xfrm>
            <a:off x="4386264" y="3608388"/>
            <a:ext cx="561975" cy="393700"/>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cliff</a:t>
            </a:r>
          </a:p>
        </p:txBody>
      </p:sp>
      <p:sp>
        <p:nvSpPr>
          <p:cNvPr id="50190" name="Text Box 14"/>
          <p:cNvSpPr txBox="1">
            <a:spLocks noChangeArrowheads="1"/>
          </p:cNvSpPr>
          <p:nvPr/>
        </p:nvSpPr>
        <p:spPr bwMode="auto">
          <a:xfrm>
            <a:off x="5079466" y="4395789"/>
            <a:ext cx="1423468" cy="705321"/>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congestion</a:t>
            </a:r>
          </a:p>
          <a:p>
            <a:r>
              <a:rPr lang="en-US" altLang="zh-CN" sz="2000">
                <a:solidFill>
                  <a:schemeClr val="tx1"/>
                </a:solidFill>
                <a:latin typeface="Arial" pitchFamily="34" charset="0"/>
              </a:rPr>
              <a:t>collapse</a:t>
            </a:r>
          </a:p>
        </p:txBody>
      </p:sp>
      <p:sp>
        <p:nvSpPr>
          <p:cNvPr id="50191" name="Line 15"/>
          <p:cNvSpPr>
            <a:spLocks noChangeShapeType="1"/>
          </p:cNvSpPr>
          <p:nvPr/>
        </p:nvSpPr>
        <p:spPr bwMode="auto">
          <a:xfrm flipH="1">
            <a:off x="5010150" y="5157788"/>
            <a:ext cx="609600" cy="5969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50192" name="Rectangle 16"/>
          <p:cNvSpPr>
            <a:spLocks noGrp="1" noChangeArrowheads="1"/>
          </p:cNvSpPr>
          <p:nvPr>
            <p:ph type="title"/>
          </p:nvPr>
        </p:nvSpPr>
        <p:spPr bwMode="auto">
          <a:xfrm>
            <a:off x="4043363" y="361950"/>
            <a:ext cx="4756150"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sz="3600" b="1">
                <a:solidFill>
                  <a:schemeClr val="hlink"/>
                </a:solidFill>
                <a:latin typeface="Arial" pitchFamily="34" charset="0"/>
                <a:ea typeface="华文楷体" pitchFamily="2" charset="-122"/>
              </a:rPr>
              <a:t>拥塞控制与拥塞避免</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7"/>
          <p:cNvSpPr>
            <a:spLocks noGrp="1" noChangeArrowheads="1"/>
          </p:cNvSpPr>
          <p:nvPr>
            <p:ph type="body" idx="1"/>
          </p:nvPr>
        </p:nvSpPr>
        <p:spPr bwMode="auto">
          <a:xfrm>
            <a:off x="3240089" y="1430339"/>
            <a:ext cx="6345237" cy="1563687"/>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kumimoji="0" lang="zh-CN" altLang="en-US" sz="2400">
                <a:latin typeface="Arial" pitchFamily="34" charset="0"/>
              </a:rPr>
              <a:t>发生报文丢失时表示发生了拥塞，</a:t>
            </a:r>
            <a:r>
              <a:rPr kumimoji="0" lang="en-US" altLang="zh-CN" sz="2400">
                <a:latin typeface="Arial" pitchFamily="34" charset="0"/>
              </a:rPr>
              <a:t>TCP </a:t>
            </a:r>
            <a:r>
              <a:rPr kumimoji="0" lang="zh-CN" altLang="en-US" sz="2400">
                <a:latin typeface="Arial" pitchFamily="34" charset="0"/>
              </a:rPr>
              <a:t>发送方通过以下方式检测丢包</a:t>
            </a:r>
          </a:p>
          <a:p>
            <a:pPr>
              <a:spcBef>
                <a:spcPct val="10000"/>
              </a:spcBef>
              <a:buSzTx/>
              <a:buFont typeface="Wingdings" pitchFamily="2" charset="2"/>
              <a:buChar char="ü"/>
            </a:pPr>
            <a:r>
              <a:rPr kumimoji="0" lang="zh-CN" altLang="en-US" sz="2000">
                <a:latin typeface="Arial" pitchFamily="34" charset="0"/>
              </a:rPr>
              <a:t>传输定时器超时</a:t>
            </a:r>
          </a:p>
          <a:p>
            <a:pPr>
              <a:spcBef>
                <a:spcPct val="10000"/>
              </a:spcBef>
              <a:buSzTx/>
              <a:buFont typeface="Wingdings" pitchFamily="2" charset="2"/>
              <a:buChar char="ü"/>
            </a:pPr>
            <a:r>
              <a:rPr kumimoji="0" lang="zh-CN" altLang="en-US" sz="2000">
                <a:latin typeface="Arial" pitchFamily="34" charset="0"/>
              </a:rPr>
              <a:t>收到重复的</a:t>
            </a:r>
            <a:r>
              <a:rPr kumimoji="0" lang="en-US" altLang="zh-CN" sz="2000">
                <a:latin typeface="Arial" pitchFamily="34" charset="0"/>
              </a:rPr>
              <a:t>ACK</a:t>
            </a:r>
          </a:p>
        </p:txBody>
      </p:sp>
      <p:sp>
        <p:nvSpPr>
          <p:cNvPr id="51203" name="Rectangle 1028"/>
          <p:cNvSpPr>
            <a:spLocks noChangeArrowheads="1"/>
          </p:cNvSpPr>
          <p:nvPr/>
        </p:nvSpPr>
        <p:spPr bwMode="auto">
          <a:xfrm>
            <a:off x="2968625" y="4214813"/>
            <a:ext cx="685800" cy="609600"/>
          </a:xfrm>
          <a:prstGeom prst="rect">
            <a:avLst/>
          </a:prstGeom>
          <a:solidFill>
            <a:schemeClr val="accent1"/>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Src</a:t>
            </a:r>
          </a:p>
        </p:txBody>
      </p:sp>
      <p:sp>
        <p:nvSpPr>
          <p:cNvPr id="51204" name="Rectangle 1029"/>
          <p:cNvSpPr>
            <a:spLocks noChangeArrowheads="1"/>
          </p:cNvSpPr>
          <p:nvPr/>
        </p:nvSpPr>
        <p:spPr bwMode="auto">
          <a:xfrm>
            <a:off x="9293225" y="4138613"/>
            <a:ext cx="685800" cy="609600"/>
          </a:xfrm>
          <a:prstGeom prst="rect">
            <a:avLst/>
          </a:prstGeom>
          <a:solidFill>
            <a:schemeClr val="accent1"/>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Dst</a:t>
            </a:r>
          </a:p>
        </p:txBody>
      </p:sp>
      <p:sp>
        <p:nvSpPr>
          <p:cNvPr id="51205" name="Freeform 1030"/>
          <p:cNvSpPr>
            <a:spLocks/>
          </p:cNvSpPr>
          <p:nvPr/>
        </p:nvSpPr>
        <p:spPr bwMode="auto">
          <a:xfrm>
            <a:off x="3730625" y="3668713"/>
            <a:ext cx="5410200" cy="546100"/>
          </a:xfrm>
          <a:custGeom>
            <a:avLst/>
            <a:gdLst>
              <a:gd name="T0" fmla="*/ 0 w 3408"/>
              <a:gd name="T1" fmla="*/ 344 h 344"/>
              <a:gd name="T2" fmla="*/ 1488 w 3408"/>
              <a:gd name="T3" fmla="*/ 8 h 344"/>
              <a:gd name="T4" fmla="*/ 3408 w 3408"/>
              <a:gd name="T5" fmla="*/ 296 h 344"/>
              <a:gd name="T6" fmla="*/ 0 60000 65536"/>
              <a:gd name="T7" fmla="*/ 0 60000 65536"/>
              <a:gd name="T8" fmla="*/ 0 60000 65536"/>
              <a:gd name="T9" fmla="*/ 0 w 3408"/>
              <a:gd name="T10" fmla="*/ 0 h 344"/>
              <a:gd name="T11" fmla="*/ 3408 w 3408"/>
              <a:gd name="T12" fmla="*/ 344 h 344"/>
            </a:gdLst>
            <a:ahLst/>
            <a:cxnLst>
              <a:cxn ang="T6">
                <a:pos x="T0" y="T1"/>
              </a:cxn>
              <a:cxn ang="T7">
                <a:pos x="T2" y="T3"/>
              </a:cxn>
              <a:cxn ang="T8">
                <a:pos x="T4" y="T5"/>
              </a:cxn>
            </a:cxnLst>
            <a:rect l="T9" t="T10" r="T11" b="T12"/>
            <a:pathLst>
              <a:path w="3408" h="344">
                <a:moveTo>
                  <a:pt x="0" y="344"/>
                </a:moveTo>
                <a:cubicBezTo>
                  <a:pt x="460" y="180"/>
                  <a:pt x="920" y="16"/>
                  <a:pt x="1488" y="8"/>
                </a:cubicBezTo>
                <a:cubicBezTo>
                  <a:pt x="2056" y="0"/>
                  <a:pt x="2732" y="148"/>
                  <a:pt x="3408" y="296"/>
                </a:cubicBezTo>
              </a:path>
            </a:pathLst>
          </a:custGeom>
          <a:noFill/>
          <a:ln w="9525">
            <a:solidFill>
              <a:schemeClr val="tx1"/>
            </a:solidFill>
            <a:miter lim="800000"/>
            <a:headEnd/>
            <a:tailEnd type="triangle" w="med" len="med"/>
          </a:ln>
        </p:spPr>
        <p:txBody>
          <a:bodyPr wrap="none"/>
          <a:lstStyle/>
          <a:p>
            <a:endParaRPr lang="zh-CN" altLang="en-US"/>
          </a:p>
        </p:txBody>
      </p:sp>
      <p:sp>
        <p:nvSpPr>
          <p:cNvPr id="51206" name="Text Box 1031"/>
          <p:cNvSpPr txBox="1">
            <a:spLocks noChangeArrowheads="1"/>
          </p:cNvSpPr>
          <p:nvPr/>
        </p:nvSpPr>
        <p:spPr bwMode="auto">
          <a:xfrm>
            <a:off x="5619750" y="3257550"/>
            <a:ext cx="1068388" cy="457200"/>
          </a:xfrm>
          <a:prstGeom prst="rect">
            <a:avLst/>
          </a:prstGeom>
          <a:noFill/>
          <a:ln w="9525">
            <a:noFill/>
            <a:miter lim="800000"/>
            <a:headEnd/>
            <a:tailEnd/>
          </a:ln>
        </p:spPr>
        <p:txBody>
          <a:bodyPr wrap="none">
            <a:spAutoFit/>
          </a:bodyPr>
          <a:lstStyle/>
          <a:p>
            <a:pPr algn="l" eaLnBrk="1" hangingPunct="1"/>
            <a:r>
              <a:rPr lang="en-US" altLang="zh-CN" sz="2400">
                <a:solidFill>
                  <a:schemeClr val="tx1"/>
                </a:solidFill>
                <a:latin typeface="Tahoma" pitchFamily="34" charset="0"/>
              </a:rPr>
              <a:t>Packet</a:t>
            </a:r>
          </a:p>
        </p:txBody>
      </p:sp>
      <p:sp>
        <p:nvSpPr>
          <p:cNvPr id="51207" name="Freeform 1032"/>
          <p:cNvSpPr>
            <a:spLocks/>
          </p:cNvSpPr>
          <p:nvPr/>
        </p:nvSpPr>
        <p:spPr bwMode="auto">
          <a:xfrm>
            <a:off x="5407025" y="4748213"/>
            <a:ext cx="3810000" cy="444500"/>
          </a:xfrm>
          <a:custGeom>
            <a:avLst/>
            <a:gdLst>
              <a:gd name="T0" fmla="*/ 2400 w 2400"/>
              <a:gd name="T1" fmla="*/ 0 h 280"/>
              <a:gd name="T2" fmla="*/ 1344 w 2400"/>
              <a:gd name="T3" fmla="*/ 240 h 280"/>
              <a:gd name="T4" fmla="*/ 0 w 2400"/>
              <a:gd name="T5" fmla="*/ 240 h 280"/>
              <a:gd name="T6" fmla="*/ 0 60000 65536"/>
              <a:gd name="T7" fmla="*/ 0 60000 65536"/>
              <a:gd name="T8" fmla="*/ 0 60000 65536"/>
              <a:gd name="T9" fmla="*/ 0 w 2400"/>
              <a:gd name="T10" fmla="*/ 0 h 280"/>
              <a:gd name="T11" fmla="*/ 2400 w 2400"/>
              <a:gd name="T12" fmla="*/ 280 h 280"/>
            </a:gdLst>
            <a:ahLst/>
            <a:cxnLst>
              <a:cxn ang="T6">
                <a:pos x="T0" y="T1"/>
              </a:cxn>
              <a:cxn ang="T7">
                <a:pos x="T2" y="T3"/>
              </a:cxn>
              <a:cxn ang="T8">
                <a:pos x="T4" y="T5"/>
              </a:cxn>
            </a:cxnLst>
            <a:rect l="T9" t="T10" r="T11" b="T12"/>
            <a:pathLst>
              <a:path w="2400" h="280">
                <a:moveTo>
                  <a:pt x="2400" y="0"/>
                </a:moveTo>
                <a:cubicBezTo>
                  <a:pt x="2072" y="100"/>
                  <a:pt x="1744" y="200"/>
                  <a:pt x="1344" y="240"/>
                </a:cubicBezTo>
                <a:cubicBezTo>
                  <a:pt x="944" y="280"/>
                  <a:pt x="472" y="260"/>
                  <a:pt x="0" y="240"/>
                </a:cubicBezTo>
              </a:path>
            </a:pathLst>
          </a:custGeom>
          <a:noFill/>
          <a:ln w="9525">
            <a:solidFill>
              <a:schemeClr val="tx1"/>
            </a:solidFill>
            <a:miter lim="800000"/>
            <a:headEnd/>
            <a:tailEnd type="triangle" w="med" len="med"/>
          </a:ln>
        </p:spPr>
        <p:txBody>
          <a:bodyPr wrap="none"/>
          <a:lstStyle/>
          <a:p>
            <a:endParaRPr lang="zh-CN" altLang="en-US"/>
          </a:p>
        </p:txBody>
      </p:sp>
      <p:sp>
        <p:nvSpPr>
          <p:cNvPr id="51208" name="Text Box 1033"/>
          <p:cNvSpPr txBox="1">
            <a:spLocks noChangeArrowheads="1"/>
          </p:cNvSpPr>
          <p:nvPr/>
        </p:nvSpPr>
        <p:spPr bwMode="auto">
          <a:xfrm>
            <a:off x="6626225" y="5129213"/>
            <a:ext cx="660400" cy="457200"/>
          </a:xfrm>
          <a:prstGeom prst="rect">
            <a:avLst/>
          </a:prstGeom>
          <a:noFill/>
          <a:ln w="9525">
            <a:noFill/>
            <a:miter lim="800000"/>
            <a:headEnd/>
            <a:tailEnd/>
          </a:ln>
        </p:spPr>
        <p:txBody>
          <a:bodyPr wrap="none">
            <a:spAutoFit/>
          </a:bodyPr>
          <a:lstStyle/>
          <a:p>
            <a:pPr algn="l" eaLnBrk="1" hangingPunct="1"/>
            <a:r>
              <a:rPr lang="en-US" altLang="zh-CN" sz="2400">
                <a:solidFill>
                  <a:schemeClr val="tx1"/>
                </a:solidFill>
                <a:latin typeface="Tahoma" pitchFamily="34" charset="0"/>
              </a:rPr>
              <a:t>Ack</a:t>
            </a:r>
          </a:p>
        </p:txBody>
      </p:sp>
      <p:sp>
        <p:nvSpPr>
          <p:cNvPr id="51209" name="AutoShape 1034"/>
          <p:cNvSpPr>
            <a:spLocks noChangeArrowheads="1"/>
          </p:cNvSpPr>
          <p:nvPr/>
        </p:nvSpPr>
        <p:spPr bwMode="auto">
          <a:xfrm>
            <a:off x="4171950" y="4400550"/>
            <a:ext cx="1219200" cy="1066800"/>
          </a:xfrm>
          <a:prstGeom prst="irregularSeal1">
            <a:avLst/>
          </a:prstGeom>
          <a:solidFill>
            <a:schemeClr val="hlink"/>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Drop</a:t>
            </a:r>
          </a:p>
        </p:txBody>
      </p:sp>
      <p:sp>
        <p:nvSpPr>
          <p:cNvPr id="51210" name="AutoShape 1035"/>
          <p:cNvSpPr>
            <a:spLocks noChangeArrowheads="1"/>
          </p:cNvSpPr>
          <p:nvPr/>
        </p:nvSpPr>
        <p:spPr bwMode="auto">
          <a:xfrm>
            <a:off x="2571750" y="5467350"/>
            <a:ext cx="3962400" cy="990600"/>
          </a:xfrm>
          <a:prstGeom prst="cloudCallout">
            <a:avLst>
              <a:gd name="adj1" fmla="val -28606"/>
              <a:gd name="adj2" fmla="val -103046"/>
            </a:avLst>
          </a:prstGeom>
          <a:solidFill>
            <a:schemeClr val="accent2"/>
          </a:solidFill>
          <a:ln w="9525">
            <a:solidFill>
              <a:schemeClr val="tx1"/>
            </a:solidFill>
            <a:miter lim="800000"/>
            <a:headEnd/>
            <a:tailEnd/>
          </a:ln>
        </p:spPr>
        <p:txBody>
          <a:bodyPr/>
          <a:lstStyle/>
          <a:p>
            <a:pPr eaLnBrk="1" hangingPunct="1"/>
            <a:r>
              <a:rPr lang="en-US" altLang="zh-CN" sz="2400">
                <a:solidFill>
                  <a:schemeClr val="hlink"/>
                </a:solidFill>
                <a:latin typeface="Tahoma" pitchFamily="34" charset="0"/>
              </a:rPr>
              <a:t>Timeout! No Ack = Congestion!</a:t>
            </a:r>
          </a:p>
        </p:txBody>
      </p:sp>
      <p:sp>
        <p:nvSpPr>
          <p:cNvPr id="51211" name="Rectangle 1036"/>
          <p:cNvSpPr>
            <a:spLocks noGrp="1" noChangeArrowheads="1"/>
          </p:cNvSpPr>
          <p:nvPr>
            <p:ph type="title"/>
          </p:nvPr>
        </p:nvSpPr>
        <p:spPr bwMode="auto">
          <a:xfrm>
            <a:off x="2286000" y="3048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拥塞检测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auto">
          <a:xfrm>
            <a:off x="2238375"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拥塞控制</a:t>
            </a:r>
          </a:p>
        </p:txBody>
      </p:sp>
      <p:sp>
        <p:nvSpPr>
          <p:cNvPr id="884739" name="Text Box 3"/>
          <p:cNvSpPr txBox="1">
            <a:spLocks noChangeArrowheads="1"/>
          </p:cNvSpPr>
          <p:nvPr/>
        </p:nvSpPr>
        <p:spPr bwMode="auto">
          <a:xfrm>
            <a:off x="2701926" y="1900238"/>
            <a:ext cx="6824663" cy="2868612"/>
          </a:xfrm>
          <a:prstGeom prst="rect">
            <a:avLst/>
          </a:prstGeom>
          <a:noFill/>
          <a:ln w="9525">
            <a:noFill/>
            <a:miter lim="800000"/>
            <a:headEnd/>
            <a:tailEnd/>
          </a:ln>
        </p:spPr>
        <p:txBody>
          <a:bodyPr>
            <a:spAutoFit/>
          </a:bodyPr>
          <a:lstStyle/>
          <a:p>
            <a:pPr marL="293688" indent="-293688" algn="l">
              <a:spcBef>
                <a:spcPct val="10000"/>
              </a:spcBef>
            </a:pPr>
            <a:r>
              <a:rPr lang="en-US" altLang="zh-CN">
                <a:solidFill>
                  <a:srgbClr val="000000"/>
                </a:solidFill>
                <a:latin typeface="Arial" pitchFamily="34" charset="0"/>
              </a:rPr>
              <a:t>• TCP </a:t>
            </a:r>
            <a:r>
              <a:rPr lang="zh-CN" altLang="en-US">
                <a:solidFill>
                  <a:srgbClr val="000000"/>
                </a:solidFill>
                <a:latin typeface="Arial" pitchFamily="34" charset="0"/>
              </a:rPr>
              <a:t>拥塞控制机制</a:t>
            </a:r>
            <a:r>
              <a:rPr lang="en-US" altLang="zh-CN">
                <a:solidFill>
                  <a:srgbClr val="000000"/>
                </a:solidFill>
                <a:latin typeface="Arial" pitchFamily="34" charset="0"/>
              </a:rPr>
              <a:t>. </a:t>
            </a:r>
            <a:r>
              <a:rPr lang="zh-CN" altLang="en-US">
                <a:solidFill>
                  <a:srgbClr val="000000"/>
                </a:solidFill>
                <a:latin typeface="Arial" pitchFamily="34" charset="0"/>
              </a:rPr>
              <a:t>由发送方实现</a:t>
            </a:r>
          </a:p>
          <a:p>
            <a:pPr marL="293688" indent="-293688" algn="l">
              <a:spcBef>
                <a:spcPct val="10000"/>
              </a:spcBef>
            </a:pPr>
            <a:r>
              <a:rPr lang="en-US" altLang="zh-CN">
                <a:solidFill>
                  <a:srgbClr val="000000"/>
                </a:solidFill>
                <a:latin typeface="Arial" pitchFamily="34" charset="0"/>
              </a:rPr>
              <a:t>• </a:t>
            </a:r>
            <a:r>
              <a:rPr lang="zh-CN" altLang="en-US">
                <a:solidFill>
                  <a:srgbClr val="000000"/>
                </a:solidFill>
                <a:latin typeface="Arial" pitchFamily="34" charset="0"/>
              </a:rPr>
              <a:t>发送方的发送窗口大小设置如下</a:t>
            </a:r>
            <a:r>
              <a:rPr lang="en-US" altLang="zh-CN">
                <a:solidFill>
                  <a:srgbClr val="000000"/>
                </a:solidFill>
                <a:latin typeface="Arial" pitchFamily="34" charset="0"/>
              </a:rPr>
              <a:t>:</a:t>
            </a:r>
          </a:p>
          <a:p>
            <a:pPr marL="293688" indent="-293688" algn="l">
              <a:spcBef>
                <a:spcPct val="10000"/>
              </a:spcBef>
            </a:pPr>
            <a:r>
              <a:rPr lang="en-US" altLang="zh-CN" sz="2000">
                <a:solidFill>
                  <a:srgbClr val="FF0000"/>
                </a:solidFill>
                <a:latin typeface="Arial" pitchFamily="34" charset="0"/>
              </a:rPr>
              <a:t> </a:t>
            </a:r>
            <a:r>
              <a:rPr lang="zh-CN" altLang="en-US" b="1">
                <a:solidFill>
                  <a:srgbClr val="FF0000"/>
                </a:solidFill>
                <a:latin typeface="Arial" pitchFamily="34" charset="0"/>
              </a:rPr>
              <a:t>发送窗口 </a:t>
            </a:r>
            <a:r>
              <a:rPr lang="en-US" altLang="zh-CN" b="1">
                <a:solidFill>
                  <a:srgbClr val="FF0000"/>
                </a:solidFill>
                <a:latin typeface="Arial" pitchFamily="34" charset="0"/>
              </a:rPr>
              <a:t>= MIN (</a:t>
            </a:r>
            <a:r>
              <a:rPr lang="zh-CN" altLang="en-US" b="1">
                <a:solidFill>
                  <a:srgbClr val="FF0000"/>
                </a:solidFill>
                <a:latin typeface="Arial" pitchFamily="34" charset="0"/>
              </a:rPr>
              <a:t>流控窗口</a:t>
            </a:r>
            <a:r>
              <a:rPr lang="en-US" altLang="zh-CN" b="1">
                <a:solidFill>
                  <a:srgbClr val="FF0000"/>
                </a:solidFill>
                <a:latin typeface="Arial" pitchFamily="34" charset="0"/>
              </a:rPr>
              <a:t>, </a:t>
            </a:r>
            <a:r>
              <a:rPr lang="zh-CN" altLang="en-US" b="1">
                <a:solidFill>
                  <a:srgbClr val="FF0000"/>
                </a:solidFill>
                <a:latin typeface="Arial" pitchFamily="34" charset="0"/>
              </a:rPr>
              <a:t>拥塞窗口</a:t>
            </a:r>
            <a:r>
              <a:rPr lang="en-US" altLang="zh-CN" b="1">
                <a:solidFill>
                  <a:srgbClr val="FF0000"/>
                </a:solidFill>
                <a:latin typeface="Arial" pitchFamily="34" charset="0"/>
              </a:rPr>
              <a:t>)</a:t>
            </a:r>
            <a:endParaRPr lang="en-US" altLang="zh-CN">
              <a:solidFill>
                <a:srgbClr val="000000"/>
              </a:solidFill>
              <a:latin typeface="Arial" pitchFamily="34" charset="0"/>
            </a:endParaRPr>
          </a:p>
          <a:p>
            <a:pPr marL="293688" indent="-293688" algn="l">
              <a:spcBef>
                <a:spcPct val="10000"/>
              </a:spcBef>
            </a:pPr>
            <a:r>
              <a:rPr lang="zh-CN" altLang="en-US">
                <a:solidFill>
                  <a:srgbClr val="000000"/>
                </a:solidFill>
                <a:latin typeface="Arial" pitchFamily="34" charset="0"/>
              </a:rPr>
              <a:t>其中</a:t>
            </a:r>
          </a:p>
          <a:p>
            <a:pPr marL="293688" indent="-293688" algn="l">
              <a:spcBef>
                <a:spcPct val="10000"/>
              </a:spcBef>
            </a:pPr>
            <a:r>
              <a:rPr lang="en-US" altLang="zh-CN">
                <a:solidFill>
                  <a:srgbClr val="FF0000"/>
                </a:solidFill>
                <a:latin typeface="Arial" pitchFamily="34" charset="0"/>
              </a:rPr>
              <a:t>• </a:t>
            </a:r>
            <a:r>
              <a:rPr lang="zh-CN" altLang="en-US">
                <a:solidFill>
                  <a:srgbClr val="FF0000"/>
                </a:solidFill>
                <a:latin typeface="Arial" pitchFamily="34" charset="0"/>
              </a:rPr>
              <a:t>流控窗口：</a:t>
            </a:r>
            <a:r>
              <a:rPr lang="zh-CN" altLang="en-US">
                <a:solidFill>
                  <a:srgbClr val="000000"/>
                </a:solidFill>
                <a:latin typeface="Arial" pitchFamily="34" charset="0"/>
              </a:rPr>
              <a:t>由接收方通报</a:t>
            </a:r>
            <a:r>
              <a:rPr lang="zh-CN" altLang="en-US">
                <a:solidFill>
                  <a:srgbClr val="FF0000"/>
                </a:solidFill>
                <a:latin typeface="Arial" pitchFamily="34" charset="0"/>
              </a:rPr>
              <a:t> </a:t>
            </a:r>
            <a:endParaRPr lang="zh-CN" altLang="en-US">
              <a:solidFill>
                <a:srgbClr val="000000"/>
              </a:solidFill>
              <a:latin typeface="Arial" pitchFamily="34" charset="0"/>
            </a:endParaRPr>
          </a:p>
          <a:p>
            <a:pPr marL="293688" indent="-293688" algn="l">
              <a:spcBef>
                <a:spcPct val="10000"/>
              </a:spcBef>
            </a:pPr>
            <a:r>
              <a:rPr lang="en-US" altLang="zh-CN">
                <a:solidFill>
                  <a:srgbClr val="FF0000"/>
                </a:solidFill>
                <a:latin typeface="Arial" pitchFamily="34" charset="0"/>
              </a:rPr>
              <a:t>• </a:t>
            </a:r>
            <a:r>
              <a:rPr lang="zh-CN" altLang="en-US">
                <a:solidFill>
                  <a:srgbClr val="FF0000"/>
                </a:solidFill>
                <a:latin typeface="Arial" pitchFamily="34" charset="0"/>
              </a:rPr>
              <a:t>拥塞窗口：</a:t>
            </a:r>
            <a:r>
              <a:rPr lang="zh-CN" altLang="en-US">
                <a:solidFill>
                  <a:srgbClr val="000000"/>
                </a:solidFill>
                <a:latin typeface="Arial" pitchFamily="34" charset="0"/>
              </a:rPr>
              <a:t>根据网络的反馈来调整</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4739">
                                            <p:txEl>
                                              <p:pRg st="0" end="0"/>
                                            </p:txEl>
                                          </p:spTgt>
                                        </p:tgtEl>
                                        <p:attrNameLst>
                                          <p:attrName>style.visibility</p:attrName>
                                        </p:attrNameLst>
                                      </p:cBhvr>
                                      <p:to>
                                        <p:strVal val="visible"/>
                                      </p:to>
                                    </p:set>
                                    <p:anim calcmode="lin" valueType="num">
                                      <p:cBhvr additive="base">
                                        <p:cTn id="7" dur="500" fill="hold"/>
                                        <p:tgtEl>
                                          <p:spTgt spid="8847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847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84739">
                                            <p:txEl>
                                              <p:pRg st="1" end="1"/>
                                            </p:txEl>
                                          </p:spTgt>
                                        </p:tgtEl>
                                        <p:attrNameLst>
                                          <p:attrName>style.visibility</p:attrName>
                                        </p:attrNameLst>
                                      </p:cBhvr>
                                      <p:to>
                                        <p:strVal val="visible"/>
                                      </p:to>
                                    </p:set>
                                    <p:anim calcmode="lin" valueType="num">
                                      <p:cBhvr additive="base">
                                        <p:cTn id="13" dur="500" fill="hold"/>
                                        <p:tgtEl>
                                          <p:spTgt spid="88473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847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84739">
                                            <p:txEl>
                                              <p:pRg st="2" end="2"/>
                                            </p:txEl>
                                          </p:spTgt>
                                        </p:tgtEl>
                                        <p:attrNameLst>
                                          <p:attrName>style.visibility</p:attrName>
                                        </p:attrNameLst>
                                      </p:cBhvr>
                                      <p:to>
                                        <p:strVal val="visible"/>
                                      </p:to>
                                    </p:set>
                                    <p:anim calcmode="lin" valueType="num">
                                      <p:cBhvr additive="base">
                                        <p:cTn id="19" dur="500" fill="hold"/>
                                        <p:tgtEl>
                                          <p:spTgt spid="88473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847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84739">
                                            <p:txEl>
                                              <p:pRg st="3" end="3"/>
                                            </p:txEl>
                                          </p:spTgt>
                                        </p:tgtEl>
                                        <p:attrNameLst>
                                          <p:attrName>style.visibility</p:attrName>
                                        </p:attrNameLst>
                                      </p:cBhvr>
                                      <p:to>
                                        <p:strVal val="visible"/>
                                      </p:to>
                                    </p:set>
                                    <p:anim calcmode="lin" valueType="num">
                                      <p:cBhvr additive="base">
                                        <p:cTn id="25" dur="500" fill="hold"/>
                                        <p:tgtEl>
                                          <p:spTgt spid="88473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847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84739">
                                            <p:txEl>
                                              <p:pRg st="4" end="4"/>
                                            </p:txEl>
                                          </p:spTgt>
                                        </p:tgtEl>
                                        <p:attrNameLst>
                                          <p:attrName>style.visibility</p:attrName>
                                        </p:attrNameLst>
                                      </p:cBhvr>
                                      <p:to>
                                        <p:strVal val="visible"/>
                                      </p:to>
                                    </p:set>
                                    <p:anim calcmode="lin" valueType="num">
                                      <p:cBhvr additive="base">
                                        <p:cTn id="31" dur="500" fill="hold"/>
                                        <p:tgtEl>
                                          <p:spTgt spid="88473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847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84739">
                                            <p:txEl>
                                              <p:pRg st="5" end="5"/>
                                            </p:txEl>
                                          </p:spTgt>
                                        </p:tgtEl>
                                        <p:attrNameLst>
                                          <p:attrName>style.visibility</p:attrName>
                                        </p:attrNameLst>
                                      </p:cBhvr>
                                      <p:to>
                                        <p:strVal val="visible"/>
                                      </p:to>
                                    </p:set>
                                    <p:anim calcmode="lin" valueType="num">
                                      <p:cBhvr additive="base">
                                        <p:cTn id="37" dur="500" fill="hold"/>
                                        <p:tgtEl>
                                          <p:spTgt spid="88473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847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3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bwMode="auto">
          <a:xfrm>
            <a:off x="4264026" y="317500"/>
            <a:ext cx="4138613"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慢启动</a:t>
            </a:r>
          </a:p>
        </p:txBody>
      </p:sp>
      <p:sp>
        <p:nvSpPr>
          <p:cNvPr id="997379" name="Text Box 3"/>
          <p:cNvSpPr txBox="1">
            <a:spLocks noChangeArrowheads="1"/>
          </p:cNvSpPr>
          <p:nvPr/>
        </p:nvSpPr>
        <p:spPr bwMode="auto">
          <a:xfrm>
            <a:off x="2062163" y="1609725"/>
            <a:ext cx="8278812" cy="3168650"/>
          </a:xfrm>
          <a:prstGeom prst="rect">
            <a:avLst/>
          </a:prstGeom>
          <a:noFill/>
          <a:ln w="9525">
            <a:noFill/>
            <a:miter lim="800000"/>
            <a:headEnd/>
            <a:tailEnd/>
          </a:ln>
        </p:spPr>
        <p:txBody>
          <a:bodyPr>
            <a:spAutoFit/>
          </a:bodyPr>
          <a:lstStyle/>
          <a:p>
            <a:pPr marL="195263" indent="-195263">
              <a:spcBef>
                <a:spcPct val="30000"/>
              </a:spcBef>
            </a:pPr>
            <a:r>
              <a:rPr lang="zh-CN" altLang="en-US">
                <a:solidFill>
                  <a:schemeClr val="folHlink"/>
                </a:solidFill>
                <a:latin typeface="Arial" pitchFamily="34" charset="0"/>
              </a:rPr>
              <a:t>慢启动：快速增加拥塞窗口</a:t>
            </a:r>
          </a:p>
          <a:p>
            <a:pPr marL="195263" indent="-195263" algn="l">
              <a:spcBef>
                <a:spcPct val="30000"/>
              </a:spcBef>
            </a:pPr>
            <a:r>
              <a:rPr lang="en-US" altLang="zh-CN">
                <a:solidFill>
                  <a:schemeClr val="tx1"/>
                </a:solidFill>
                <a:latin typeface="Arial" pitchFamily="34" charset="0"/>
              </a:rPr>
              <a:t>• </a:t>
            </a:r>
            <a:r>
              <a:rPr lang="zh-CN" altLang="en-US">
                <a:solidFill>
                  <a:schemeClr val="tx1"/>
                </a:solidFill>
                <a:latin typeface="Arial" pitchFamily="34" charset="0"/>
              </a:rPr>
              <a:t>初值</a:t>
            </a:r>
            <a:r>
              <a:rPr lang="en-US" altLang="zh-CN">
                <a:solidFill>
                  <a:schemeClr val="tx1"/>
                </a:solidFill>
                <a:latin typeface="Arial" pitchFamily="34" charset="0"/>
              </a:rPr>
              <a:t>:</a:t>
            </a:r>
          </a:p>
          <a:p>
            <a:pPr marL="195263" indent="-195263" algn="l">
              <a:spcBef>
                <a:spcPct val="30000"/>
              </a:spcBef>
            </a:pPr>
            <a:r>
              <a:rPr lang="en-US" altLang="zh-CN">
                <a:solidFill>
                  <a:schemeClr val="tx1"/>
                </a:solidFill>
                <a:latin typeface="Arial" pitchFamily="34" charset="0"/>
              </a:rPr>
              <a:t>         – </a:t>
            </a:r>
            <a:r>
              <a:rPr lang="en-US" altLang="zh-CN">
                <a:solidFill>
                  <a:schemeClr val="hlink"/>
                </a:solidFill>
                <a:latin typeface="Arial" pitchFamily="34" charset="0"/>
              </a:rPr>
              <a:t>cwnd = MSS bytes (=1 segment)</a:t>
            </a:r>
          </a:p>
          <a:p>
            <a:pPr marL="195263" indent="-195263" algn="l">
              <a:spcBef>
                <a:spcPct val="30000"/>
              </a:spcBef>
            </a:pPr>
            <a:r>
              <a:rPr lang="en-US" altLang="zh-CN">
                <a:solidFill>
                  <a:schemeClr val="tx1"/>
                </a:solidFill>
                <a:latin typeface="Arial" pitchFamily="34" charset="0"/>
              </a:rPr>
              <a:t>• </a:t>
            </a:r>
            <a:r>
              <a:rPr lang="zh-CN" altLang="en-US">
                <a:solidFill>
                  <a:schemeClr val="tx1"/>
                </a:solidFill>
                <a:latin typeface="Arial" pitchFamily="34" charset="0"/>
              </a:rPr>
              <a:t>每收到一个确认就把</a:t>
            </a:r>
            <a:r>
              <a:rPr lang="en-US" altLang="zh-CN">
                <a:solidFill>
                  <a:schemeClr val="tx1"/>
                </a:solidFill>
                <a:latin typeface="Arial" pitchFamily="34" charset="0"/>
              </a:rPr>
              <a:t>cwnd </a:t>
            </a:r>
            <a:r>
              <a:rPr lang="zh-CN" altLang="en-US">
                <a:solidFill>
                  <a:schemeClr val="tx1"/>
                </a:solidFill>
                <a:latin typeface="Arial" pitchFamily="34" charset="0"/>
              </a:rPr>
              <a:t>翻倍 </a:t>
            </a:r>
            <a:r>
              <a:rPr lang="en-US" altLang="zh-CN">
                <a:solidFill>
                  <a:schemeClr val="tx1"/>
                </a:solidFill>
                <a:latin typeface="Arial" pitchFamily="34" charset="0"/>
              </a:rPr>
              <a:t>(</a:t>
            </a:r>
            <a:r>
              <a:rPr lang="en-US" altLang="zh-CN">
                <a:solidFill>
                  <a:schemeClr val="hlink"/>
                </a:solidFill>
                <a:latin typeface="Arial" pitchFamily="34" charset="0"/>
              </a:rPr>
              <a:t>cwnd++</a:t>
            </a:r>
            <a:r>
              <a:rPr lang="en-US" altLang="zh-CN">
                <a:solidFill>
                  <a:schemeClr val="tx1"/>
                </a:solidFill>
                <a:latin typeface="Arial" pitchFamily="34" charset="0"/>
              </a:rPr>
              <a:t>).</a:t>
            </a:r>
          </a:p>
          <a:p>
            <a:pPr marL="195263" indent="-195263" algn="l">
              <a:spcBef>
                <a:spcPct val="30000"/>
              </a:spcBef>
              <a:buFontTx/>
              <a:buChar char="•"/>
            </a:pPr>
            <a:r>
              <a:rPr lang="zh-CN" altLang="en-US">
                <a:solidFill>
                  <a:schemeClr val="tx1"/>
                </a:solidFill>
                <a:latin typeface="Arial" pitchFamily="34" charset="0"/>
              </a:rPr>
              <a:t>直到发生拥塞（出现报文丢失），进入拥塞避免工作状态。</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97379">
                                            <p:txEl>
                                              <p:pRg st="0" end="0"/>
                                            </p:txEl>
                                          </p:spTgt>
                                        </p:tgtEl>
                                        <p:attrNameLst>
                                          <p:attrName>style.visibility</p:attrName>
                                        </p:attrNameLst>
                                      </p:cBhvr>
                                      <p:to>
                                        <p:strVal val="visible"/>
                                      </p:to>
                                    </p:set>
                                    <p:anim calcmode="lin" valueType="num">
                                      <p:cBhvr additive="base">
                                        <p:cTn id="7" dur="500" fill="hold"/>
                                        <p:tgtEl>
                                          <p:spTgt spid="9973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97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97379">
                                            <p:txEl>
                                              <p:pRg st="1" end="1"/>
                                            </p:txEl>
                                          </p:spTgt>
                                        </p:tgtEl>
                                        <p:attrNameLst>
                                          <p:attrName>style.visibility</p:attrName>
                                        </p:attrNameLst>
                                      </p:cBhvr>
                                      <p:to>
                                        <p:strVal val="visible"/>
                                      </p:to>
                                    </p:set>
                                    <p:anim calcmode="lin" valueType="num">
                                      <p:cBhvr additive="base">
                                        <p:cTn id="13" dur="500" fill="hold"/>
                                        <p:tgtEl>
                                          <p:spTgt spid="99737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973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97379">
                                            <p:txEl>
                                              <p:pRg st="2" end="2"/>
                                            </p:txEl>
                                          </p:spTgt>
                                        </p:tgtEl>
                                        <p:attrNameLst>
                                          <p:attrName>style.visibility</p:attrName>
                                        </p:attrNameLst>
                                      </p:cBhvr>
                                      <p:to>
                                        <p:strVal val="visible"/>
                                      </p:to>
                                    </p:set>
                                    <p:anim calcmode="lin" valueType="num">
                                      <p:cBhvr additive="base">
                                        <p:cTn id="19" dur="500" fill="hold"/>
                                        <p:tgtEl>
                                          <p:spTgt spid="99737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97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97379">
                                            <p:txEl>
                                              <p:pRg st="3" end="3"/>
                                            </p:txEl>
                                          </p:spTgt>
                                        </p:tgtEl>
                                        <p:attrNameLst>
                                          <p:attrName>style.visibility</p:attrName>
                                        </p:attrNameLst>
                                      </p:cBhvr>
                                      <p:to>
                                        <p:strVal val="visible"/>
                                      </p:to>
                                    </p:set>
                                    <p:anim calcmode="lin" valueType="num">
                                      <p:cBhvr additive="base">
                                        <p:cTn id="25" dur="500" fill="hold"/>
                                        <p:tgtEl>
                                          <p:spTgt spid="99737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973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97379">
                                            <p:txEl>
                                              <p:pRg st="4" end="4"/>
                                            </p:txEl>
                                          </p:spTgt>
                                        </p:tgtEl>
                                        <p:attrNameLst>
                                          <p:attrName>style.visibility</p:attrName>
                                        </p:attrNameLst>
                                      </p:cBhvr>
                                      <p:to>
                                        <p:strVal val="visible"/>
                                      </p:to>
                                    </p:set>
                                    <p:anim calcmode="lin" valueType="num">
                                      <p:cBhvr additive="base">
                                        <p:cTn id="31" dur="500" fill="hold"/>
                                        <p:tgtEl>
                                          <p:spTgt spid="99737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9737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9"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1524000" y="2286000"/>
            <a:ext cx="4953000" cy="4572000"/>
          </a:xfrm>
          <a:prstGeom prst="rect">
            <a:avLst/>
          </a:prstGeom>
          <a:solidFill>
            <a:schemeClr val="bg1"/>
          </a:solidFill>
          <a:ln w="25400">
            <a:noFill/>
            <a:miter lim="800000"/>
            <a:headEnd/>
            <a:tailEnd/>
          </a:ln>
        </p:spPr>
        <p:txBody>
          <a:bodyPr wrap="none" anchor="ctr"/>
          <a:lstStyle/>
          <a:p>
            <a:endParaRPr lang="zh-CN" altLang="en-US"/>
          </a:p>
        </p:txBody>
      </p:sp>
      <p:sp>
        <p:nvSpPr>
          <p:cNvPr id="54275" name="Rectangle 4"/>
          <p:cNvSpPr>
            <a:spLocks noGrp="1" noChangeArrowheads="1"/>
          </p:cNvSpPr>
          <p:nvPr>
            <p:ph type="body" idx="1"/>
          </p:nvPr>
        </p:nvSpPr>
        <p:spPr bwMode="auto">
          <a:xfrm>
            <a:off x="7078664" y="1955801"/>
            <a:ext cx="3055937" cy="3121025"/>
          </a:xfrm>
          <a:solidFill>
            <a:srgbClr val="FFFFFF"/>
          </a:solidFill>
          <a:ln>
            <a:solidFill>
              <a:srgbClr val="CCFFFF"/>
            </a:solidFill>
            <a:miter lim="800000"/>
            <a:headEnd/>
            <a:tailEnd/>
          </a:ln>
        </p:spPr>
        <p:txBody>
          <a:bodyPr vert="horz" wrap="square" lIns="91440" tIns="45720" rIns="91440" bIns="45720" numCol="1" anchor="t" anchorCtr="0" compatLnSpc="1">
            <a:prstTxWarp prst="textNoShape">
              <a:avLst/>
            </a:prstTxWarp>
          </a:bodyPr>
          <a:lstStyle/>
          <a:p>
            <a:pPr eaLnBrk="1" hangingPunct="1">
              <a:tabLst>
                <a:tab pos="2227263" algn="l"/>
                <a:tab pos="4973638" algn="l"/>
                <a:tab pos="5661025" algn="l"/>
              </a:tabLst>
            </a:pPr>
            <a:r>
              <a:rPr lang="zh-CN" altLang="en-US">
                <a:sym typeface="Math3" pitchFamily="2" charset="2"/>
              </a:rPr>
              <a:t>阻塞窗口的尺寸增加得很迅速</a:t>
            </a:r>
            <a:r>
              <a:rPr lang="zh-CN" altLang="en-US" sz="2400">
                <a:sym typeface="Math3" pitchFamily="2" charset="2"/>
              </a:rPr>
              <a:t>（指数增长）</a:t>
            </a:r>
          </a:p>
        </p:txBody>
      </p:sp>
      <p:grpSp>
        <p:nvGrpSpPr>
          <p:cNvPr id="54276" name="Group 50"/>
          <p:cNvGrpSpPr>
            <a:grpSpLocks/>
          </p:cNvGrpSpPr>
          <p:nvPr/>
        </p:nvGrpSpPr>
        <p:grpSpPr bwMode="auto">
          <a:xfrm>
            <a:off x="1935164" y="1835150"/>
            <a:ext cx="4598987" cy="3786188"/>
            <a:chOff x="2440" y="1141"/>
            <a:chExt cx="2897" cy="2385"/>
          </a:xfrm>
        </p:grpSpPr>
        <p:sp>
          <p:nvSpPr>
            <p:cNvPr id="54278" name="Line 5"/>
            <p:cNvSpPr>
              <a:spLocks noChangeShapeType="1"/>
            </p:cNvSpPr>
            <p:nvPr/>
          </p:nvSpPr>
          <p:spPr bwMode="auto">
            <a:xfrm>
              <a:off x="3021" y="1141"/>
              <a:ext cx="11" cy="2358"/>
            </a:xfrm>
            <a:prstGeom prst="line">
              <a:avLst/>
            </a:prstGeom>
            <a:noFill/>
            <a:ln w="6350">
              <a:solidFill>
                <a:srgbClr val="0000FF"/>
              </a:solidFill>
              <a:round/>
              <a:headEnd/>
              <a:tailEnd/>
            </a:ln>
          </p:spPr>
          <p:txBody>
            <a:bodyPr/>
            <a:lstStyle/>
            <a:p>
              <a:endParaRPr lang="zh-CN" altLang="en-US"/>
            </a:p>
          </p:txBody>
        </p:sp>
        <p:sp>
          <p:nvSpPr>
            <p:cNvPr id="54279" name="Freeform 6"/>
            <p:cNvSpPr>
              <a:spLocks/>
            </p:cNvSpPr>
            <p:nvPr/>
          </p:nvSpPr>
          <p:spPr bwMode="auto">
            <a:xfrm>
              <a:off x="3015" y="3494"/>
              <a:ext cx="33" cy="32"/>
            </a:xfrm>
            <a:custGeom>
              <a:avLst/>
              <a:gdLst>
                <a:gd name="T0" fmla="*/ 33 w 33"/>
                <a:gd name="T1" fmla="*/ 0 h 32"/>
                <a:gd name="T2" fmla="*/ 17 w 33"/>
                <a:gd name="T3" fmla="*/ 32 h 32"/>
                <a:gd name="T4" fmla="*/ 0 w 33"/>
                <a:gd name="T5" fmla="*/ 0 h 32"/>
                <a:gd name="T6" fmla="*/ 33 w 33"/>
                <a:gd name="T7" fmla="*/ 0 h 32"/>
                <a:gd name="T8" fmla="*/ 0 60000 65536"/>
                <a:gd name="T9" fmla="*/ 0 60000 65536"/>
                <a:gd name="T10" fmla="*/ 0 60000 65536"/>
                <a:gd name="T11" fmla="*/ 0 60000 65536"/>
                <a:gd name="T12" fmla="*/ 0 w 33"/>
                <a:gd name="T13" fmla="*/ 0 h 32"/>
                <a:gd name="T14" fmla="*/ 33 w 33"/>
                <a:gd name="T15" fmla="*/ 32 h 32"/>
              </a:gdLst>
              <a:ahLst/>
              <a:cxnLst>
                <a:cxn ang="T8">
                  <a:pos x="T0" y="T1"/>
                </a:cxn>
                <a:cxn ang="T9">
                  <a:pos x="T2" y="T3"/>
                </a:cxn>
                <a:cxn ang="T10">
                  <a:pos x="T4" y="T5"/>
                </a:cxn>
                <a:cxn ang="T11">
                  <a:pos x="T6" y="T7"/>
                </a:cxn>
              </a:cxnLst>
              <a:rect l="T12" t="T13" r="T14" b="T15"/>
              <a:pathLst>
                <a:path w="33" h="32">
                  <a:moveTo>
                    <a:pt x="33" y="0"/>
                  </a:moveTo>
                  <a:lnTo>
                    <a:pt x="17" y="32"/>
                  </a:lnTo>
                  <a:lnTo>
                    <a:pt x="0" y="0"/>
                  </a:lnTo>
                  <a:lnTo>
                    <a:pt x="33" y="0"/>
                  </a:lnTo>
                  <a:close/>
                </a:path>
              </a:pathLst>
            </a:custGeom>
            <a:solidFill>
              <a:srgbClr val="0000FF"/>
            </a:solidFill>
            <a:ln w="9525">
              <a:noFill/>
              <a:round/>
              <a:headEnd/>
              <a:tailEnd/>
            </a:ln>
          </p:spPr>
          <p:txBody>
            <a:bodyPr/>
            <a:lstStyle/>
            <a:p>
              <a:endParaRPr lang="zh-CN" altLang="en-US"/>
            </a:p>
          </p:txBody>
        </p:sp>
        <p:sp>
          <p:nvSpPr>
            <p:cNvPr id="54280" name="Line 7"/>
            <p:cNvSpPr>
              <a:spLocks noChangeShapeType="1"/>
            </p:cNvSpPr>
            <p:nvPr/>
          </p:nvSpPr>
          <p:spPr bwMode="auto">
            <a:xfrm flipH="1">
              <a:off x="5314" y="1141"/>
              <a:ext cx="12" cy="2358"/>
            </a:xfrm>
            <a:prstGeom prst="line">
              <a:avLst/>
            </a:prstGeom>
            <a:noFill/>
            <a:ln w="6350">
              <a:solidFill>
                <a:srgbClr val="0000FF"/>
              </a:solidFill>
              <a:round/>
              <a:headEnd/>
              <a:tailEnd/>
            </a:ln>
          </p:spPr>
          <p:txBody>
            <a:bodyPr/>
            <a:lstStyle/>
            <a:p>
              <a:endParaRPr lang="zh-CN" altLang="en-US"/>
            </a:p>
          </p:txBody>
        </p:sp>
        <p:sp>
          <p:nvSpPr>
            <p:cNvPr id="54281" name="Freeform 8"/>
            <p:cNvSpPr>
              <a:spLocks/>
            </p:cNvSpPr>
            <p:nvPr/>
          </p:nvSpPr>
          <p:spPr bwMode="auto">
            <a:xfrm>
              <a:off x="5298" y="3494"/>
              <a:ext cx="33" cy="32"/>
            </a:xfrm>
            <a:custGeom>
              <a:avLst/>
              <a:gdLst>
                <a:gd name="T0" fmla="*/ 33 w 33"/>
                <a:gd name="T1" fmla="*/ 0 h 32"/>
                <a:gd name="T2" fmla="*/ 16 w 33"/>
                <a:gd name="T3" fmla="*/ 32 h 32"/>
                <a:gd name="T4" fmla="*/ 0 w 33"/>
                <a:gd name="T5" fmla="*/ 0 h 32"/>
                <a:gd name="T6" fmla="*/ 33 w 33"/>
                <a:gd name="T7" fmla="*/ 0 h 32"/>
                <a:gd name="T8" fmla="*/ 0 60000 65536"/>
                <a:gd name="T9" fmla="*/ 0 60000 65536"/>
                <a:gd name="T10" fmla="*/ 0 60000 65536"/>
                <a:gd name="T11" fmla="*/ 0 60000 65536"/>
                <a:gd name="T12" fmla="*/ 0 w 33"/>
                <a:gd name="T13" fmla="*/ 0 h 32"/>
                <a:gd name="T14" fmla="*/ 33 w 33"/>
                <a:gd name="T15" fmla="*/ 32 h 32"/>
              </a:gdLst>
              <a:ahLst/>
              <a:cxnLst>
                <a:cxn ang="T8">
                  <a:pos x="T0" y="T1"/>
                </a:cxn>
                <a:cxn ang="T9">
                  <a:pos x="T2" y="T3"/>
                </a:cxn>
                <a:cxn ang="T10">
                  <a:pos x="T4" y="T5"/>
                </a:cxn>
                <a:cxn ang="T11">
                  <a:pos x="T6" y="T7"/>
                </a:cxn>
              </a:cxnLst>
              <a:rect l="T12" t="T13" r="T14" b="T15"/>
              <a:pathLst>
                <a:path w="33" h="32">
                  <a:moveTo>
                    <a:pt x="33" y="0"/>
                  </a:moveTo>
                  <a:lnTo>
                    <a:pt x="16" y="32"/>
                  </a:lnTo>
                  <a:lnTo>
                    <a:pt x="0" y="0"/>
                  </a:lnTo>
                  <a:lnTo>
                    <a:pt x="33" y="0"/>
                  </a:lnTo>
                  <a:close/>
                </a:path>
              </a:pathLst>
            </a:custGeom>
            <a:solidFill>
              <a:srgbClr val="0000FF"/>
            </a:solidFill>
            <a:ln w="9525">
              <a:noFill/>
              <a:round/>
              <a:headEnd/>
              <a:tailEnd/>
            </a:ln>
          </p:spPr>
          <p:txBody>
            <a:bodyPr/>
            <a:lstStyle/>
            <a:p>
              <a:endParaRPr lang="zh-CN" altLang="en-US"/>
            </a:p>
          </p:txBody>
        </p:sp>
        <p:grpSp>
          <p:nvGrpSpPr>
            <p:cNvPr id="54282" name="Group 9"/>
            <p:cNvGrpSpPr>
              <a:grpSpLocks/>
            </p:cNvGrpSpPr>
            <p:nvPr/>
          </p:nvGrpSpPr>
          <p:grpSpPr bwMode="auto">
            <a:xfrm>
              <a:off x="3021" y="1363"/>
              <a:ext cx="2305" cy="237"/>
              <a:chOff x="3021" y="1363"/>
              <a:chExt cx="2305" cy="237"/>
            </a:xfrm>
          </p:grpSpPr>
          <p:sp>
            <p:nvSpPr>
              <p:cNvPr id="54319" name="Line 10"/>
              <p:cNvSpPr>
                <a:spLocks noChangeShapeType="1"/>
              </p:cNvSpPr>
              <p:nvPr/>
            </p:nvSpPr>
            <p:spPr bwMode="auto">
              <a:xfrm flipV="1">
                <a:off x="3056" y="1406"/>
                <a:ext cx="2270" cy="175"/>
              </a:xfrm>
              <a:prstGeom prst="line">
                <a:avLst/>
              </a:prstGeom>
              <a:noFill/>
              <a:ln w="6350">
                <a:solidFill>
                  <a:srgbClr val="0000FF"/>
                </a:solidFill>
                <a:round/>
                <a:headEnd/>
                <a:tailEnd/>
              </a:ln>
            </p:spPr>
            <p:txBody>
              <a:bodyPr/>
              <a:lstStyle/>
              <a:p>
                <a:endParaRPr lang="zh-CN" altLang="en-US"/>
              </a:p>
            </p:txBody>
          </p:sp>
          <p:sp>
            <p:nvSpPr>
              <p:cNvPr id="54320" name="Freeform 11"/>
              <p:cNvSpPr>
                <a:spLocks/>
              </p:cNvSpPr>
              <p:nvPr/>
            </p:nvSpPr>
            <p:spPr bwMode="auto">
              <a:xfrm>
                <a:off x="3021" y="1561"/>
                <a:ext cx="42" cy="39"/>
              </a:xfrm>
              <a:custGeom>
                <a:avLst/>
                <a:gdLst>
                  <a:gd name="T0" fmla="*/ 38 w 42"/>
                  <a:gd name="T1" fmla="*/ 0 h 39"/>
                  <a:gd name="T2" fmla="*/ 0 w 42"/>
                  <a:gd name="T3" fmla="*/ 22 h 39"/>
                  <a:gd name="T4" fmla="*/ 42 w 42"/>
                  <a:gd name="T5" fmla="*/ 39 h 39"/>
                  <a:gd name="T6" fmla="*/ 38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8" y="0"/>
                    </a:moveTo>
                    <a:lnTo>
                      <a:pt x="0" y="22"/>
                    </a:lnTo>
                    <a:lnTo>
                      <a:pt x="42" y="39"/>
                    </a:lnTo>
                    <a:lnTo>
                      <a:pt x="38" y="0"/>
                    </a:lnTo>
                    <a:close/>
                  </a:path>
                </a:pathLst>
              </a:custGeom>
              <a:solidFill>
                <a:srgbClr val="0000FF"/>
              </a:solidFill>
              <a:ln w="9525">
                <a:noFill/>
                <a:round/>
                <a:headEnd/>
                <a:tailEnd/>
              </a:ln>
            </p:spPr>
            <p:txBody>
              <a:bodyPr/>
              <a:lstStyle/>
              <a:p>
                <a:endParaRPr lang="zh-CN" altLang="en-US"/>
              </a:p>
            </p:txBody>
          </p:sp>
          <p:sp>
            <p:nvSpPr>
              <p:cNvPr id="54321" name="Rectangle 12"/>
              <p:cNvSpPr>
                <a:spLocks noChangeArrowheads="1"/>
              </p:cNvSpPr>
              <p:nvPr/>
            </p:nvSpPr>
            <p:spPr bwMode="auto">
              <a:xfrm rot="21300000">
                <a:off x="3745" y="1363"/>
                <a:ext cx="953"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 1</a:t>
                </a:r>
                <a:endParaRPr lang="en-US" altLang="zh-CN" sz="1400">
                  <a:solidFill>
                    <a:schemeClr val="tx1"/>
                  </a:solidFill>
                  <a:latin typeface="Arial" pitchFamily="34" charset="0"/>
                </a:endParaRPr>
              </a:p>
            </p:txBody>
          </p:sp>
        </p:grpSp>
        <p:grpSp>
          <p:nvGrpSpPr>
            <p:cNvPr id="54283" name="Group 13"/>
            <p:cNvGrpSpPr>
              <a:grpSpLocks/>
            </p:cNvGrpSpPr>
            <p:nvPr/>
          </p:nvGrpSpPr>
          <p:grpSpPr bwMode="auto">
            <a:xfrm>
              <a:off x="2440" y="1152"/>
              <a:ext cx="2886" cy="191"/>
              <a:chOff x="2440" y="1152"/>
              <a:chExt cx="2886" cy="191"/>
            </a:xfrm>
          </p:grpSpPr>
          <p:sp>
            <p:nvSpPr>
              <p:cNvPr id="54315" name="Line 14"/>
              <p:cNvSpPr>
                <a:spLocks noChangeShapeType="1"/>
              </p:cNvSpPr>
              <p:nvPr/>
            </p:nvSpPr>
            <p:spPr bwMode="auto">
              <a:xfrm>
                <a:off x="3021" y="1229"/>
                <a:ext cx="2256" cy="86"/>
              </a:xfrm>
              <a:prstGeom prst="line">
                <a:avLst/>
              </a:prstGeom>
              <a:noFill/>
              <a:ln w="17463">
                <a:solidFill>
                  <a:srgbClr val="0000FF"/>
                </a:solidFill>
                <a:round/>
                <a:headEnd/>
                <a:tailEnd/>
              </a:ln>
            </p:spPr>
            <p:txBody>
              <a:bodyPr/>
              <a:lstStyle/>
              <a:p>
                <a:endParaRPr lang="zh-CN" altLang="en-US"/>
              </a:p>
            </p:txBody>
          </p:sp>
          <p:sp>
            <p:nvSpPr>
              <p:cNvPr id="54316" name="Freeform 15"/>
              <p:cNvSpPr>
                <a:spLocks/>
              </p:cNvSpPr>
              <p:nvPr/>
            </p:nvSpPr>
            <p:spPr bwMode="auto">
              <a:xfrm>
                <a:off x="5269" y="1289"/>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17" name="Rectangle 16"/>
              <p:cNvSpPr>
                <a:spLocks noChangeArrowheads="1"/>
              </p:cNvSpPr>
              <p:nvPr/>
            </p:nvSpPr>
            <p:spPr bwMode="auto">
              <a:xfrm rot="120000">
                <a:off x="3937" y="1152"/>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1</a:t>
                </a:r>
                <a:endParaRPr lang="en-US" altLang="zh-CN" sz="1400">
                  <a:solidFill>
                    <a:schemeClr val="tx1"/>
                  </a:solidFill>
                  <a:latin typeface="Arial" pitchFamily="34" charset="0"/>
                </a:endParaRPr>
              </a:p>
            </p:txBody>
          </p:sp>
          <p:sp>
            <p:nvSpPr>
              <p:cNvPr id="54318" name="Rectangle 17"/>
              <p:cNvSpPr>
                <a:spLocks noChangeArrowheads="1"/>
              </p:cNvSpPr>
              <p:nvPr/>
            </p:nvSpPr>
            <p:spPr bwMode="auto">
              <a:xfrm>
                <a:off x="2440" y="1172"/>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1</a:t>
                </a:r>
                <a:endParaRPr lang="en-US" altLang="zh-CN" sz="1400">
                  <a:solidFill>
                    <a:schemeClr val="tx1"/>
                  </a:solidFill>
                  <a:latin typeface="Arial" pitchFamily="34" charset="0"/>
                </a:endParaRPr>
              </a:p>
            </p:txBody>
          </p:sp>
        </p:grpSp>
        <p:sp>
          <p:nvSpPr>
            <p:cNvPr id="54284" name="Rectangle 18"/>
            <p:cNvSpPr>
              <a:spLocks noChangeArrowheads="1"/>
            </p:cNvSpPr>
            <p:nvPr/>
          </p:nvSpPr>
          <p:spPr bwMode="auto">
            <a:xfrm>
              <a:off x="2440" y="1571"/>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2</a:t>
              </a:r>
              <a:endParaRPr lang="en-US" altLang="zh-CN" sz="1400">
                <a:solidFill>
                  <a:schemeClr val="tx1"/>
                </a:solidFill>
                <a:latin typeface="Arial" pitchFamily="34" charset="0"/>
              </a:endParaRPr>
            </a:p>
          </p:txBody>
        </p:sp>
        <p:grpSp>
          <p:nvGrpSpPr>
            <p:cNvPr id="54285" name="Group 19"/>
            <p:cNvGrpSpPr>
              <a:grpSpLocks/>
            </p:cNvGrpSpPr>
            <p:nvPr/>
          </p:nvGrpSpPr>
          <p:grpSpPr bwMode="auto">
            <a:xfrm>
              <a:off x="3032" y="1589"/>
              <a:ext cx="2305" cy="324"/>
              <a:chOff x="3032" y="1589"/>
              <a:chExt cx="2305" cy="324"/>
            </a:xfrm>
          </p:grpSpPr>
          <p:sp>
            <p:nvSpPr>
              <p:cNvPr id="54309" name="Freeform 20"/>
              <p:cNvSpPr>
                <a:spLocks/>
              </p:cNvSpPr>
              <p:nvPr/>
            </p:nvSpPr>
            <p:spPr bwMode="auto">
              <a:xfrm>
                <a:off x="5280" y="1860"/>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310" name="Line 21"/>
              <p:cNvSpPr>
                <a:spLocks noChangeShapeType="1"/>
              </p:cNvSpPr>
              <p:nvPr/>
            </p:nvSpPr>
            <p:spPr bwMode="auto">
              <a:xfrm>
                <a:off x="3032" y="1666"/>
                <a:ext cx="2257" cy="88"/>
              </a:xfrm>
              <a:prstGeom prst="line">
                <a:avLst/>
              </a:prstGeom>
              <a:noFill/>
              <a:ln w="17463">
                <a:solidFill>
                  <a:srgbClr val="0000FF"/>
                </a:solidFill>
                <a:round/>
                <a:headEnd/>
                <a:tailEnd/>
              </a:ln>
            </p:spPr>
            <p:txBody>
              <a:bodyPr/>
              <a:lstStyle/>
              <a:p>
                <a:endParaRPr lang="zh-CN" altLang="en-US"/>
              </a:p>
            </p:txBody>
          </p:sp>
          <p:sp>
            <p:nvSpPr>
              <p:cNvPr id="54311" name="Freeform 22"/>
              <p:cNvSpPr>
                <a:spLocks/>
              </p:cNvSpPr>
              <p:nvPr/>
            </p:nvSpPr>
            <p:spPr bwMode="auto">
              <a:xfrm>
                <a:off x="5280" y="1726"/>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12" name="Rectangle 23"/>
              <p:cNvSpPr>
                <a:spLocks noChangeArrowheads="1"/>
              </p:cNvSpPr>
              <p:nvPr/>
            </p:nvSpPr>
            <p:spPr bwMode="auto">
              <a:xfrm rot="120000">
                <a:off x="3949" y="1589"/>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2</a:t>
                </a:r>
                <a:endParaRPr lang="en-US" altLang="zh-CN" sz="1400">
                  <a:solidFill>
                    <a:schemeClr val="tx1"/>
                  </a:solidFill>
                  <a:latin typeface="Arial" pitchFamily="34" charset="0"/>
                </a:endParaRPr>
              </a:p>
            </p:txBody>
          </p:sp>
          <p:sp>
            <p:nvSpPr>
              <p:cNvPr id="54313" name="Line 24"/>
              <p:cNvSpPr>
                <a:spLocks noChangeShapeType="1"/>
              </p:cNvSpPr>
              <p:nvPr/>
            </p:nvSpPr>
            <p:spPr bwMode="auto">
              <a:xfrm>
                <a:off x="3032" y="1800"/>
                <a:ext cx="2257" cy="86"/>
              </a:xfrm>
              <a:prstGeom prst="line">
                <a:avLst/>
              </a:prstGeom>
              <a:noFill/>
              <a:ln w="17463">
                <a:solidFill>
                  <a:srgbClr val="0000FF"/>
                </a:solidFill>
                <a:round/>
                <a:headEnd/>
                <a:tailEnd/>
              </a:ln>
            </p:spPr>
            <p:txBody>
              <a:bodyPr/>
              <a:lstStyle/>
              <a:p>
                <a:endParaRPr lang="zh-CN" altLang="en-US"/>
              </a:p>
            </p:txBody>
          </p:sp>
          <p:sp>
            <p:nvSpPr>
              <p:cNvPr id="54314" name="Rectangle 25"/>
              <p:cNvSpPr>
                <a:spLocks noChangeArrowheads="1"/>
              </p:cNvSpPr>
              <p:nvPr/>
            </p:nvSpPr>
            <p:spPr bwMode="auto">
              <a:xfrm rot="120000">
                <a:off x="3949" y="1721"/>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3</a:t>
                </a:r>
                <a:endParaRPr lang="en-US" altLang="zh-CN" sz="1400">
                  <a:solidFill>
                    <a:schemeClr val="tx1"/>
                  </a:solidFill>
                  <a:latin typeface="Arial" pitchFamily="34" charset="0"/>
                </a:endParaRPr>
              </a:p>
            </p:txBody>
          </p:sp>
        </p:grpSp>
        <p:grpSp>
          <p:nvGrpSpPr>
            <p:cNvPr id="54286" name="Group 26"/>
            <p:cNvGrpSpPr>
              <a:grpSpLocks/>
            </p:cNvGrpSpPr>
            <p:nvPr/>
          </p:nvGrpSpPr>
          <p:grpSpPr bwMode="auto">
            <a:xfrm>
              <a:off x="3032" y="1976"/>
              <a:ext cx="2305" cy="238"/>
              <a:chOff x="3032" y="1976"/>
              <a:chExt cx="2305" cy="238"/>
            </a:xfrm>
          </p:grpSpPr>
          <p:sp>
            <p:nvSpPr>
              <p:cNvPr id="54306" name="Line 27"/>
              <p:cNvSpPr>
                <a:spLocks noChangeShapeType="1"/>
              </p:cNvSpPr>
              <p:nvPr/>
            </p:nvSpPr>
            <p:spPr bwMode="auto">
              <a:xfrm flipV="1">
                <a:off x="3068" y="2020"/>
                <a:ext cx="2269" cy="175"/>
              </a:xfrm>
              <a:prstGeom prst="line">
                <a:avLst/>
              </a:prstGeom>
              <a:noFill/>
              <a:ln w="6350">
                <a:solidFill>
                  <a:srgbClr val="0000FF"/>
                </a:solidFill>
                <a:round/>
                <a:headEnd/>
                <a:tailEnd/>
              </a:ln>
            </p:spPr>
            <p:txBody>
              <a:bodyPr/>
              <a:lstStyle/>
              <a:p>
                <a:endParaRPr lang="zh-CN" altLang="en-US"/>
              </a:p>
            </p:txBody>
          </p:sp>
          <p:sp>
            <p:nvSpPr>
              <p:cNvPr id="54307" name="Freeform 28"/>
              <p:cNvSpPr>
                <a:spLocks/>
              </p:cNvSpPr>
              <p:nvPr/>
            </p:nvSpPr>
            <p:spPr bwMode="auto">
              <a:xfrm>
                <a:off x="3032" y="2175"/>
                <a:ext cx="42" cy="39"/>
              </a:xfrm>
              <a:custGeom>
                <a:avLst/>
                <a:gdLst>
                  <a:gd name="T0" fmla="*/ 39 w 42"/>
                  <a:gd name="T1" fmla="*/ 0 h 39"/>
                  <a:gd name="T2" fmla="*/ 0 w 42"/>
                  <a:gd name="T3" fmla="*/ 23 h 39"/>
                  <a:gd name="T4" fmla="*/ 42 w 42"/>
                  <a:gd name="T5" fmla="*/ 39 h 39"/>
                  <a:gd name="T6" fmla="*/ 39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9" y="0"/>
                    </a:moveTo>
                    <a:lnTo>
                      <a:pt x="0" y="23"/>
                    </a:lnTo>
                    <a:lnTo>
                      <a:pt x="42" y="39"/>
                    </a:lnTo>
                    <a:lnTo>
                      <a:pt x="39" y="0"/>
                    </a:lnTo>
                    <a:close/>
                  </a:path>
                </a:pathLst>
              </a:custGeom>
              <a:solidFill>
                <a:srgbClr val="0000FF"/>
              </a:solidFill>
              <a:ln w="9525">
                <a:noFill/>
                <a:round/>
                <a:headEnd/>
                <a:tailEnd/>
              </a:ln>
            </p:spPr>
            <p:txBody>
              <a:bodyPr/>
              <a:lstStyle/>
              <a:p>
                <a:endParaRPr lang="zh-CN" altLang="en-US"/>
              </a:p>
            </p:txBody>
          </p:sp>
          <p:sp>
            <p:nvSpPr>
              <p:cNvPr id="54308" name="Rectangle 29"/>
              <p:cNvSpPr>
                <a:spLocks noChangeArrowheads="1"/>
              </p:cNvSpPr>
              <p:nvPr/>
            </p:nvSpPr>
            <p:spPr bwMode="auto">
              <a:xfrm rot="21300000">
                <a:off x="3642" y="1976"/>
                <a:ext cx="1201"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segments 2 + 3</a:t>
                </a:r>
                <a:endParaRPr lang="en-US" altLang="zh-CN" sz="1400">
                  <a:solidFill>
                    <a:schemeClr val="tx1"/>
                  </a:solidFill>
                  <a:latin typeface="Arial" pitchFamily="34" charset="0"/>
                </a:endParaRPr>
              </a:p>
            </p:txBody>
          </p:sp>
        </p:grpSp>
        <p:sp>
          <p:nvSpPr>
            <p:cNvPr id="54287" name="Rectangle 30"/>
            <p:cNvSpPr>
              <a:spLocks noChangeArrowheads="1"/>
            </p:cNvSpPr>
            <p:nvPr/>
          </p:nvSpPr>
          <p:spPr bwMode="auto">
            <a:xfrm>
              <a:off x="2440" y="2146"/>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4</a:t>
              </a:r>
              <a:endParaRPr lang="en-US" altLang="zh-CN" sz="1400">
                <a:solidFill>
                  <a:schemeClr val="tx1"/>
                </a:solidFill>
                <a:latin typeface="Arial" pitchFamily="34" charset="0"/>
              </a:endParaRPr>
            </a:p>
          </p:txBody>
        </p:sp>
        <p:grpSp>
          <p:nvGrpSpPr>
            <p:cNvPr id="54288" name="Group 31"/>
            <p:cNvGrpSpPr>
              <a:grpSpLocks/>
            </p:cNvGrpSpPr>
            <p:nvPr/>
          </p:nvGrpSpPr>
          <p:grpSpPr bwMode="auto">
            <a:xfrm>
              <a:off x="3032" y="2209"/>
              <a:ext cx="2305" cy="590"/>
              <a:chOff x="3032" y="2209"/>
              <a:chExt cx="2305" cy="590"/>
            </a:xfrm>
          </p:grpSpPr>
          <p:sp>
            <p:nvSpPr>
              <p:cNvPr id="54294" name="Rectangle 32"/>
              <p:cNvSpPr>
                <a:spLocks noChangeArrowheads="1"/>
              </p:cNvSpPr>
              <p:nvPr/>
            </p:nvSpPr>
            <p:spPr bwMode="auto">
              <a:xfrm rot="120000">
                <a:off x="3949" y="2209"/>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4</a:t>
                </a:r>
                <a:endParaRPr lang="en-US" altLang="zh-CN" sz="1400">
                  <a:solidFill>
                    <a:schemeClr val="tx1"/>
                  </a:solidFill>
                  <a:latin typeface="Arial" pitchFamily="34" charset="0"/>
                </a:endParaRPr>
              </a:p>
            </p:txBody>
          </p:sp>
          <p:sp>
            <p:nvSpPr>
              <p:cNvPr id="54295" name="Line 33"/>
              <p:cNvSpPr>
                <a:spLocks noChangeShapeType="1"/>
              </p:cNvSpPr>
              <p:nvPr/>
            </p:nvSpPr>
            <p:spPr bwMode="auto">
              <a:xfrm>
                <a:off x="3032" y="2286"/>
                <a:ext cx="2257" cy="87"/>
              </a:xfrm>
              <a:prstGeom prst="line">
                <a:avLst/>
              </a:prstGeom>
              <a:noFill/>
              <a:ln w="17463">
                <a:solidFill>
                  <a:srgbClr val="0000FF"/>
                </a:solidFill>
                <a:round/>
                <a:headEnd/>
                <a:tailEnd/>
              </a:ln>
            </p:spPr>
            <p:txBody>
              <a:bodyPr/>
              <a:lstStyle/>
              <a:p>
                <a:endParaRPr lang="zh-CN" altLang="en-US"/>
              </a:p>
            </p:txBody>
          </p:sp>
          <p:sp>
            <p:nvSpPr>
              <p:cNvPr id="54296" name="Freeform 34"/>
              <p:cNvSpPr>
                <a:spLocks/>
              </p:cNvSpPr>
              <p:nvPr/>
            </p:nvSpPr>
            <p:spPr bwMode="auto">
              <a:xfrm>
                <a:off x="5280" y="2346"/>
                <a:ext cx="57" cy="53"/>
              </a:xfrm>
              <a:custGeom>
                <a:avLst/>
                <a:gdLst>
                  <a:gd name="T0" fmla="*/ 3 w 57"/>
                  <a:gd name="T1" fmla="*/ 0 h 53"/>
                  <a:gd name="T2" fmla="*/ 57 w 57"/>
                  <a:gd name="T3" fmla="*/ 29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9"/>
                    </a:lnTo>
                    <a:lnTo>
                      <a:pt x="0" y="53"/>
                    </a:lnTo>
                    <a:lnTo>
                      <a:pt x="3" y="0"/>
                    </a:lnTo>
                    <a:close/>
                  </a:path>
                </a:pathLst>
              </a:custGeom>
              <a:solidFill>
                <a:srgbClr val="0000FF"/>
              </a:solidFill>
              <a:ln w="9525">
                <a:noFill/>
                <a:round/>
                <a:headEnd/>
                <a:tailEnd/>
              </a:ln>
            </p:spPr>
            <p:txBody>
              <a:bodyPr/>
              <a:lstStyle/>
              <a:p>
                <a:endParaRPr lang="zh-CN" altLang="en-US"/>
              </a:p>
            </p:txBody>
          </p:sp>
          <p:sp>
            <p:nvSpPr>
              <p:cNvPr id="54297" name="Line 35"/>
              <p:cNvSpPr>
                <a:spLocks noChangeShapeType="1"/>
              </p:cNvSpPr>
              <p:nvPr/>
            </p:nvSpPr>
            <p:spPr bwMode="auto">
              <a:xfrm>
                <a:off x="3032" y="2420"/>
                <a:ext cx="2257" cy="86"/>
              </a:xfrm>
              <a:prstGeom prst="line">
                <a:avLst/>
              </a:prstGeom>
              <a:noFill/>
              <a:ln w="17463">
                <a:solidFill>
                  <a:srgbClr val="0000FF"/>
                </a:solidFill>
                <a:round/>
                <a:headEnd/>
                <a:tailEnd/>
              </a:ln>
            </p:spPr>
            <p:txBody>
              <a:bodyPr/>
              <a:lstStyle/>
              <a:p>
                <a:endParaRPr lang="zh-CN" altLang="en-US"/>
              </a:p>
            </p:txBody>
          </p:sp>
          <p:sp>
            <p:nvSpPr>
              <p:cNvPr id="54298" name="Freeform 36"/>
              <p:cNvSpPr>
                <a:spLocks/>
              </p:cNvSpPr>
              <p:nvPr/>
            </p:nvSpPr>
            <p:spPr bwMode="auto">
              <a:xfrm>
                <a:off x="5280" y="2480"/>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299" name="Rectangle 37"/>
              <p:cNvSpPr>
                <a:spLocks noChangeArrowheads="1"/>
              </p:cNvSpPr>
              <p:nvPr/>
            </p:nvSpPr>
            <p:spPr bwMode="auto">
              <a:xfrm rot="120000">
                <a:off x="3949" y="2341"/>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5</a:t>
                </a:r>
                <a:endParaRPr lang="en-US" altLang="zh-CN" sz="1400">
                  <a:solidFill>
                    <a:schemeClr val="tx1"/>
                  </a:solidFill>
                  <a:latin typeface="Arial" pitchFamily="34" charset="0"/>
                </a:endParaRPr>
              </a:p>
            </p:txBody>
          </p:sp>
          <p:sp>
            <p:nvSpPr>
              <p:cNvPr id="54300" name="Line 38"/>
              <p:cNvSpPr>
                <a:spLocks noChangeShapeType="1"/>
              </p:cNvSpPr>
              <p:nvPr/>
            </p:nvSpPr>
            <p:spPr bwMode="auto">
              <a:xfrm>
                <a:off x="3032" y="2552"/>
                <a:ext cx="2257" cy="87"/>
              </a:xfrm>
              <a:prstGeom prst="line">
                <a:avLst/>
              </a:prstGeom>
              <a:noFill/>
              <a:ln w="17463">
                <a:solidFill>
                  <a:srgbClr val="0000FF"/>
                </a:solidFill>
                <a:round/>
                <a:headEnd/>
                <a:tailEnd/>
              </a:ln>
            </p:spPr>
            <p:txBody>
              <a:bodyPr/>
              <a:lstStyle/>
              <a:p>
                <a:endParaRPr lang="zh-CN" altLang="en-US"/>
              </a:p>
            </p:txBody>
          </p:sp>
          <p:sp>
            <p:nvSpPr>
              <p:cNvPr id="54301" name="Freeform 39"/>
              <p:cNvSpPr>
                <a:spLocks/>
              </p:cNvSpPr>
              <p:nvPr/>
            </p:nvSpPr>
            <p:spPr bwMode="auto">
              <a:xfrm>
                <a:off x="5280" y="2612"/>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302" name="Rectangle 40"/>
              <p:cNvSpPr>
                <a:spLocks noChangeArrowheads="1"/>
              </p:cNvSpPr>
              <p:nvPr/>
            </p:nvSpPr>
            <p:spPr bwMode="auto">
              <a:xfrm rot="120000">
                <a:off x="3949" y="2474"/>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6</a:t>
                </a:r>
                <a:endParaRPr lang="en-US" altLang="zh-CN" sz="1400">
                  <a:solidFill>
                    <a:schemeClr val="tx1"/>
                  </a:solidFill>
                  <a:latin typeface="Arial" pitchFamily="34" charset="0"/>
                </a:endParaRPr>
              </a:p>
            </p:txBody>
          </p:sp>
          <p:sp>
            <p:nvSpPr>
              <p:cNvPr id="54303" name="Line 41"/>
              <p:cNvSpPr>
                <a:spLocks noChangeShapeType="1"/>
              </p:cNvSpPr>
              <p:nvPr/>
            </p:nvSpPr>
            <p:spPr bwMode="auto">
              <a:xfrm>
                <a:off x="3032" y="2685"/>
                <a:ext cx="2257" cy="86"/>
              </a:xfrm>
              <a:prstGeom prst="line">
                <a:avLst/>
              </a:prstGeom>
              <a:noFill/>
              <a:ln w="17463">
                <a:solidFill>
                  <a:srgbClr val="0000FF"/>
                </a:solidFill>
                <a:round/>
                <a:headEnd/>
                <a:tailEnd/>
              </a:ln>
            </p:spPr>
            <p:txBody>
              <a:bodyPr/>
              <a:lstStyle/>
              <a:p>
                <a:endParaRPr lang="zh-CN" altLang="en-US"/>
              </a:p>
            </p:txBody>
          </p:sp>
          <p:sp>
            <p:nvSpPr>
              <p:cNvPr id="54304" name="Freeform 42"/>
              <p:cNvSpPr>
                <a:spLocks/>
              </p:cNvSpPr>
              <p:nvPr/>
            </p:nvSpPr>
            <p:spPr bwMode="auto">
              <a:xfrm>
                <a:off x="5280" y="2745"/>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05" name="Rectangle 43"/>
              <p:cNvSpPr>
                <a:spLocks noChangeArrowheads="1"/>
              </p:cNvSpPr>
              <p:nvPr/>
            </p:nvSpPr>
            <p:spPr bwMode="auto">
              <a:xfrm rot="120000">
                <a:off x="3949" y="2607"/>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7</a:t>
                </a:r>
                <a:endParaRPr lang="en-US" altLang="zh-CN" sz="1400">
                  <a:solidFill>
                    <a:schemeClr val="tx1"/>
                  </a:solidFill>
                  <a:latin typeface="Arial" pitchFamily="34" charset="0"/>
                </a:endParaRPr>
              </a:p>
            </p:txBody>
          </p:sp>
        </p:grpSp>
        <p:grpSp>
          <p:nvGrpSpPr>
            <p:cNvPr id="54289" name="Group 44"/>
            <p:cNvGrpSpPr>
              <a:grpSpLocks/>
            </p:cNvGrpSpPr>
            <p:nvPr/>
          </p:nvGrpSpPr>
          <p:grpSpPr bwMode="auto">
            <a:xfrm>
              <a:off x="3032" y="2860"/>
              <a:ext cx="2305" cy="240"/>
              <a:chOff x="3032" y="2860"/>
              <a:chExt cx="2305" cy="240"/>
            </a:xfrm>
          </p:grpSpPr>
          <p:sp>
            <p:nvSpPr>
              <p:cNvPr id="54291" name="Line 45"/>
              <p:cNvSpPr>
                <a:spLocks noChangeShapeType="1"/>
              </p:cNvSpPr>
              <p:nvPr/>
            </p:nvSpPr>
            <p:spPr bwMode="auto">
              <a:xfrm flipV="1">
                <a:off x="3068" y="2906"/>
                <a:ext cx="2269" cy="175"/>
              </a:xfrm>
              <a:prstGeom prst="line">
                <a:avLst/>
              </a:prstGeom>
              <a:noFill/>
              <a:ln w="6350">
                <a:solidFill>
                  <a:srgbClr val="0000FF"/>
                </a:solidFill>
                <a:round/>
                <a:headEnd/>
                <a:tailEnd/>
              </a:ln>
            </p:spPr>
            <p:txBody>
              <a:bodyPr/>
              <a:lstStyle/>
              <a:p>
                <a:endParaRPr lang="zh-CN" altLang="en-US"/>
              </a:p>
            </p:txBody>
          </p:sp>
          <p:sp>
            <p:nvSpPr>
              <p:cNvPr id="54292" name="Freeform 46"/>
              <p:cNvSpPr>
                <a:spLocks/>
              </p:cNvSpPr>
              <p:nvPr/>
            </p:nvSpPr>
            <p:spPr bwMode="auto">
              <a:xfrm>
                <a:off x="3032" y="3061"/>
                <a:ext cx="42" cy="39"/>
              </a:xfrm>
              <a:custGeom>
                <a:avLst/>
                <a:gdLst>
                  <a:gd name="T0" fmla="*/ 39 w 42"/>
                  <a:gd name="T1" fmla="*/ 0 h 39"/>
                  <a:gd name="T2" fmla="*/ 0 w 42"/>
                  <a:gd name="T3" fmla="*/ 22 h 39"/>
                  <a:gd name="T4" fmla="*/ 42 w 42"/>
                  <a:gd name="T5" fmla="*/ 39 h 39"/>
                  <a:gd name="T6" fmla="*/ 39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9" y="0"/>
                    </a:moveTo>
                    <a:lnTo>
                      <a:pt x="0" y="22"/>
                    </a:lnTo>
                    <a:lnTo>
                      <a:pt x="42" y="39"/>
                    </a:lnTo>
                    <a:lnTo>
                      <a:pt x="39" y="0"/>
                    </a:lnTo>
                    <a:close/>
                  </a:path>
                </a:pathLst>
              </a:custGeom>
              <a:solidFill>
                <a:srgbClr val="0000FF"/>
              </a:solidFill>
              <a:ln w="9525">
                <a:noFill/>
                <a:round/>
                <a:headEnd/>
                <a:tailEnd/>
              </a:ln>
            </p:spPr>
            <p:txBody>
              <a:bodyPr/>
              <a:lstStyle/>
              <a:p>
                <a:endParaRPr lang="zh-CN" altLang="en-US"/>
              </a:p>
            </p:txBody>
          </p:sp>
          <p:sp>
            <p:nvSpPr>
              <p:cNvPr id="54293" name="Rectangle 47"/>
              <p:cNvSpPr>
                <a:spLocks noChangeArrowheads="1"/>
              </p:cNvSpPr>
              <p:nvPr/>
            </p:nvSpPr>
            <p:spPr bwMode="auto">
              <a:xfrm rot="21300000">
                <a:off x="3550" y="2860"/>
                <a:ext cx="1394"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segments 4+5+6+7</a:t>
                </a:r>
                <a:endParaRPr lang="en-US" altLang="zh-CN" sz="1400">
                  <a:solidFill>
                    <a:schemeClr val="tx1"/>
                  </a:solidFill>
                  <a:latin typeface="Arial" pitchFamily="34" charset="0"/>
                </a:endParaRPr>
              </a:p>
            </p:txBody>
          </p:sp>
        </p:grpSp>
        <p:sp>
          <p:nvSpPr>
            <p:cNvPr id="54290" name="Rectangle 48"/>
            <p:cNvSpPr>
              <a:spLocks noChangeArrowheads="1"/>
            </p:cNvSpPr>
            <p:nvPr/>
          </p:nvSpPr>
          <p:spPr bwMode="auto">
            <a:xfrm>
              <a:off x="2440" y="3010"/>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8</a:t>
              </a:r>
              <a:endParaRPr lang="en-US" altLang="zh-CN" sz="1400">
                <a:solidFill>
                  <a:schemeClr val="tx1"/>
                </a:solidFill>
                <a:latin typeface="Arial" pitchFamily="34" charset="0"/>
              </a:endParaRPr>
            </a:p>
          </p:txBody>
        </p:sp>
      </p:grpSp>
      <p:sp>
        <p:nvSpPr>
          <p:cNvPr id="54277" name="Rectangle 49"/>
          <p:cNvSpPr>
            <a:spLocks noGrp="1" noChangeArrowheads="1"/>
          </p:cNvSpPr>
          <p:nvPr>
            <p:ph type="title"/>
          </p:nvPr>
        </p:nvSpPr>
        <p:spPr bwMode="auto">
          <a:xfrm>
            <a:off x="2093913" y="33813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慢启动的例子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bwMode="auto">
          <a:xfrm>
            <a:off x="3567114" y="0"/>
            <a:ext cx="5303837" cy="1143000"/>
          </a:xfrm>
          <a:noFill/>
          <a:ln>
            <a:miter lim="800000"/>
            <a:headEnd/>
            <a:tailEnd/>
          </a:ln>
        </p:spPr>
        <p:txBody>
          <a:bodyPr vert="horz" wrap="square" lIns="92075" tIns="46038" rIns="92075" bIns="46038" numCol="1" anchor="ctr"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拥塞避免</a:t>
            </a:r>
          </a:p>
        </p:txBody>
      </p:sp>
      <p:sp>
        <p:nvSpPr>
          <p:cNvPr id="55299" name="Rectangle 3"/>
          <p:cNvSpPr>
            <a:spLocks noGrp="1" noChangeArrowheads="1"/>
          </p:cNvSpPr>
          <p:nvPr>
            <p:ph type="body" idx="1"/>
          </p:nvPr>
        </p:nvSpPr>
        <p:spPr bwMode="auto">
          <a:xfrm>
            <a:off x="2260600" y="1498600"/>
            <a:ext cx="7772400" cy="4114800"/>
          </a:xfrm>
          <a:noFill/>
          <a:ln>
            <a:miter lim="800000"/>
            <a:headEnd/>
            <a:tailEnd/>
          </a:ln>
        </p:spPr>
        <p:txBody>
          <a:bodyPr vert="horz" wrap="square" lIns="92075" tIns="46038" rIns="92075" bIns="46038" numCol="1" anchor="t" anchorCtr="0" compatLnSpc="1">
            <a:prstTxWarp prst="textNoShape">
              <a:avLst/>
            </a:prstTxWarp>
          </a:bodyPr>
          <a:lstStyle/>
          <a:p>
            <a:pPr eaLnBrk="1" hangingPunct="1"/>
            <a:r>
              <a:rPr lang="zh-CN" altLang="en-US"/>
              <a:t>目标</a:t>
            </a:r>
            <a:r>
              <a:rPr lang="en-US" altLang="zh-CN"/>
              <a:t>: </a:t>
            </a:r>
            <a:r>
              <a:rPr lang="zh-CN" altLang="en-US"/>
              <a:t>通过慢慢增加拥塞窗口的大小，保持工作在完全拥塞点（</a:t>
            </a:r>
            <a:r>
              <a:rPr lang="en-US" altLang="zh-CN"/>
              <a:t>cliff)</a:t>
            </a:r>
            <a:r>
              <a:rPr lang="zh-CN" altLang="en-US"/>
              <a:t>的左边</a:t>
            </a:r>
            <a:r>
              <a:rPr lang="en-US" altLang="zh-CN"/>
              <a:t>:</a:t>
            </a:r>
          </a:p>
          <a:p>
            <a:pPr eaLnBrk="1" hangingPunct="1"/>
            <a:r>
              <a:rPr lang="zh-CN" altLang="en-US"/>
              <a:t>如何实现</a:t>
            </a:r>
            <a:r>
              <a:rPr lang="en-US" altLang="zh-CN"/>
              <a:t>?</a:t>
            </a:r>
          </a:p>
          <a:p>
            <a:pPr lvl="1" eaLnBrk="1" hangingPunct="1"/>
            <a:r>
              <a:rPr lang="en-US" altLang="zh-CN">
                <a:solidFill>
                  <a:schemeClr val="folHlink"/>
                </a:solidFill>
              </a:rPr>
              <a:t>Additive increase:</a:t>
            </a:r>
            <a:r>
              <a:rPr lang="en-US" altLang="zh-CN"/>
              <a:t> </a:t>
            </a:r>
            <a:r>
              <a:rPr lang="zh-CN" altLang="en-US"/>
              <a:t>从一个较粗的估计值 </a:t>
            </a:r>
            <a:r>
              <a:rPr lang="en-US" altLang="zh-CN"/>
              <a:t>(</a:t>
            </a:r>
            <a:r>
              <a:rPr lang="en-US" altLang="zh-CN">
                <a:solidFill>
                  <a:schemeClr val="hlink"/>
                </a:solidFill>
              </a:rPr>
              <a:t>ssthresh</a:t>
            </a:r>
            <a:r>
              <a:rPr lang="en-US" altLang="zh-CN"/>
              <a:t>)</a:t>
            </a:r>
            <a:r>
              <a:rPr lang="zh-CN" altLang="en-US"/>
              <a:t>开始</a:t>
            </a:r>
            <a:r>
              <a:rPr lang="en-US" altLang="zh-CN"/>
              <a:t>, </a:t>
            </a:r>
            <a:r>
              <a:rPr lang="zh-CN" altLang="en-US"/>
              <a:t>缓慢增加</a:t>
            </a:r>
            <a:r>
              <a:rPr lang="en-US" altLang="zh-CN"/>
              <a:t>cwnd</a:t>
            </a:r>
            <a:r>
              <a:rPr lang="zh-CN" altLang="en-US"/>
              <a:t>以探测额外的可用带宽</a:t>
            </a:r>
          </a:p>
          <a:p>
            <a:pPr lvl="1" eaLnBrk="1" hangingPunct="1"/>
            <a:r>
              <a:rPr lang="en-US" altLang="zh-CN">
                <a:solidFill>
                  <a:schemeClr val="folHlink"/>
                </a:solidFill>
              </a:rPr>
              <a:t>Multicative decrease:</a:t>
            </a:r>
            <a:r>
              <a:rPr lang="en-US" altLang="zh-CN"/>
              <a:t> </a:t>
            </a:r>
            <a:r>
              <a:rPr lang="zh-CN" altLang="en-US"/>
              <a:t>一旦发现丢失报文</a:t>
            </a:r>
            <a:r>
              <a:rPr lang="en-US" altLang="zh-CN"/>
              <a:t>(</a:t>
            </a:r>
            <a:r>
              <a:rPr lang="zh-CN" altLang="en-US"/>
              <a:t>拥塞发生</a:t>
            </a:r>
            <a:r>
              <a:rPr lang="en-US" altLang="zh-CN"/>
              <a:t>)</a:t>
            </a:r>
            <a:r>
              <a:rPr lang="zh-CN" altLang="en-US"/>
              <a:t>立即将拥塞窗口的大小减半</a:t>
            </a:r>
            <a:r>
              <a:rPr lang="en-US" altLang="zh-CN"/>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2225675" y="2217738"/>
            <a:ext cx="7924800" cy="4114800"/>
          </a:xfrm>
          <a:prstGeom prst="rect">
            <a:avLst/>
          </a:prstGeom>
          <a:solidFill>
            <a:schemeClr val="bg1"/>
          </a:solidFill>
          <a:ln w="25400">
            <a:solidFill>
              <a:schemeClr val="tx1"/>
            </a:solidFill>
            <a:miter lim="800000"/>
            <a:headEnd/>
            <a:tailEnd/>
          </a:ln>
        </p:spPr>
        <p:txBody>
          <a:bodyPr wrap="none" anchor="ctr"/>
          <a:lstStyle/>
          <a:p>
            <a:endParaRPr lang="zh-CN" altLang="en-US"/>
          </a:p>
        </p:txBody>
      </p:sp>
      <p:sp>
        <p:nvSpPr>
          <p:cNvPr id="56323" name="Rectangle 3"/>
          <p:cNvSpPr>
            <a:spLocks noGrp="1" noChangeArrowheads="1"/>
          </p:cNvSpPr>
          <p:nvPr>
            <p:ph type="title"/>
          </p:nvPr>
        </p:nvSpPr>
        <p:spPr bwMode="auto">
          <a:xfrm>
            <a:off x="3395664" y="0"/>
            <a:ext cx="5894387" cy="1143000"/>
          </a:xfrm>
          <a:noFill/>
          <a:ln>
            <a:miter lim="800000"/>
            <a:headEnd/>
            <a:tailEnd/>
          </a:ln>
        </p:spPr>
        <p:txBody>
          <a:bodyPr vert="horz" wrap="square" lIns="92075" tIns="46038" rIns="92075" bIns="46038" numCol="1" anchor="ctr"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The big picture(</a:t>
            </a:r>
            <a:r>
              <a:rPr lang="zh-CN" altLang="en-US" sz="3600" b="1">
                <a:solidFill>
                  <a:schemeClr val="hlink"/>
                </a:solidFill>
                <a:latin typeface="Arial" pitchFamily="34" charset="0"/>
                <a:ea typeface="华文楷体" pitchFamily="2" charset="-122"/>
              </a:rPr>
              <a:t>整体图）</a:t>
            </a:r>
          </a:p>
        </p:txBody>
      </p:sp>
      <p:sp>
        <p:nvSpPr>
          <p:cNvPr id="56324" name="Line 4"/>
          <p:cNvSpPr>
            <a:spLocks noChangeShapeType="1"/>
          </p:cNvSpPr>
          <p:nvPr/>
        </p:nvSpPr>
        <p:spPr bwMode="auto">
          <a:xfrm>
            <a:off x="2911475" y="2674938"/>
            <a:ext cx="0" cy="3048000"/>
          </a:xfrm>
          <a:prstGeom prst="line">
            <a:avLst/>
          </a:prstGeom>
          <a:noFill/>
          <a:ln w="28575">
            <a:solidFill>
              <a:schemeClr val="tx1"/>
            </a:solidFill>
            <a:round/>
            <a:headEnd type="stealth" w="med" len="med"/>
            <a:tailEnd type="none" w="sm" len="sm"/>
          </a:ln>
        </p:spPr>
        <p:txBody>
          <a:bodyPr wrap="none" anchor="ctr"/>
          <a:lstStyle/>
          <a:p>
            <a:endParaRPr lang="zh-CN" altLang="en-US"/>
          </a:p>
        </p:txBody>
      </p:sp>
      <p:sp>
        <p:nvSpPr>
          <p:cNvPr id="56325" name="Line 5"/>
          <p:cNvSpPr>
            <a:spLocks noChangeShapeType="1"/>
          </p:cNvSpPr>
          <p:nvPr/>
        </p:nvSpPr>
        <p:spPr bwMode="auto">
          <a:xfrm>
            <a:off x="2911475" y="5722938"/>
            <a:ext cx="7086600" cy="0"/>
          </a:xfrm>
          <a:prstGeom prst="line">
            <a:avLst/>
          </a:prstGeom>
          <a:noFill/>
          <a:ln w="28575">
            <a:solidFill>
              <a:schemeClr val="tx1"/>
            </a:solidFill>
            <a:round/>
            <a:headEnd type="none" w="sm" len="sm"/>
            <a:tailEnd type="stealth" w="med" len="med"/>
          </a:ln>
        </p:spPr>
        <p:txBody>
          <a:bodyPr wrap="none" anchor="ctr"/>
          <a:lstStyle/>
          <a:p>
            <a:endParaRPr lang="zh-CN" altLang="en-US"/>
          </a:p>
        </p:txBody>
      </p:sp>
      <p:sp>
        <p:nvSpPr>
          <p:cNvPr id="56326" name="Rectangle 6"/>
          <p:cNvSpPr>
            <a:spLocks noChangeArrowheads="1"/>
          </p:cNvSpPr>
          <p:nvPr/>
        </p:nvSpPr>
        <p:spPr bwMode="auto">
          <a:xfrm>
            <a:off x="9372601" y="5821363"/>
            <a:ext cx="698909" cy="400752"/>
          </a:xfrm>
          <a:prstGeom prst="rect">
            <a:avLst/>
          </a:prstGeom>
          <a:noFill/>
          <a:ln w="9525">
            <a:noFill/>
            <a:miter lim="800000"/>
            <a:headEnd/>
            <a:tailEnd/>
          </a:ln>
        </p:spPr>
        <p:txBody>
          <a:bodyPr wrap="none" lIns="92075" tIns="46038" rIns="92075" bIns="46038">
            <a:spAutoFit/>
          </a:bodyPr>
          <a:lstStyle/>
          <a:p>
            <a:pPr algn="l"/>
            <a:r>
              <a:rPr lang="zh-CN" altLang="en-US" sz="2000">
                <a:solidFill>
                  <a:schemeClr val="tx1"/>
                </a:solidFill>
                <a:latin typeface="Arial" pitchFamily="34" charset="0"/>
              </a:rPr>
              <a:t>时间</a:t>
            </a:r>
          </a:p>
        </p:txBody>
      </p:sp>
      <p:sp>
        <p:nvSpPr>
          <p:cNvPr id="56327" name="Rectangle 7"/>
          <p:cNvSpPr>
            <a:spLocks noChangeArrowheads="1"/>
          </p:cNvSpPr>
          <p:nvPr/>
        </p:nvSpPr>
        <p:spPr bwMode="auto">
          <a:xfrm>
            <a:off x="2209801" y="2620963"/>
            <a:ext cx="698909" cy="400752"/>
          </a:xfrm>
          <a:prstGeom prst="rect">
            <a:avLst/>
          </a:prstGeom>
          <a:noFill/>
          <a:ln w="28575">
            <a:noFill/>
            <a:miter lim="800000"/>
            <a:headEnd/>
            <a:tailEnd/>
          </a:ln>
        </p:spPr>
        <p:txBody>
          <a:bodyPr wrap="none" lIns="92075" tIns="46038" rIns="92075" bIns="46038">
            <a:spAutoFit/>
          </a:bodyPr>
          <a:lstStyle/>
          <a:p>
            <a:pPr algn="l"/>
            <a:r>
              <a:rPr lang="zh-CN" altLang="en-US" sz="2000">
                <a:solidFill>
                  <a:schemeClr val="tx1"/>
                </a:solidFill>
                <a:latin typeface="Arial" pitchFamily="34" charset="0"/>
              </a:rPr>
              <a:t>窗口</a:t>
            </a:r>
          </a:p>
        </p:txBody>
      </p:sp>
      <p:sp>
        <p:nvSpPr>
          <p:cNvPr id="56328" name="Arc 8"/>
          <p:cNvSpPr>
            <a:spLocks/>
          </p:cNvSpPr>
          <p:nvPr/>
        </p:nvSpPr>
        <p:spPr bwMode="auto">
          <a:xfrm>
            <a:off x="2911475" y="3817938"/>
            <a:ext cx="1524000" cy="1905000"/>
          </a:xfrm>
          <a:custGeom>
            <a:avLst/>
            <a:gdLst>
              <a:gd name="T0" fmla="*/ 1524000 w 21600"/>
              <a:gd name="T1" fmla="*/ 0 h 21600"/>
              <a:gd name="T2" fmla="*/ 0 w 21600"/>
              <a:gd name="T3" fmla="*/ 19050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29" name="Line 9"/>
          <p:cNvSpPr>
            <a:spLocks noChangeShapeType="1"/>
          </p:cNvSpPr>
          <p:nvPr/>
        </p:nvSpPr>
        <p:spPr bwMode="auto">
          <a:xfrm>
            <a:off x="4435475" y="3817938"/>
            <a:ext cx="381000" cy="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0" name="Line 10"/>
          <p:cNvSpPr>
            <a:spLocks noChangeShapeType="1"/>
          </p:cNvSpPr>
          <p:nvPr/>
        </p:nvSpPr>
        <p:spPr bwMode="auto">
          <a:xfrm>
            <a:off x="4816475" y="3817938"/>
            <a:ext cx="0" cy="19050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1" name="Line 11"/>
          <p:cNvSpPr>
            <a:spLocks noChangeShapeType="1"/>
          </p:cNvSpPr>
          <p:nvPr/>
        </p:nvSpPr>
        <p:spPr bwMode="auto">
          <a:xfrm>
            <a:off x="4816475" y="4732338"/>
            <a:ext cx="1143000" cy="0"/>
          </a:xfrm>
          <a:prstGeom prst="line">
            <a:avLst/>
          </a:prstGeom>
          <a:noFill/>
          <a:ln w="28575">
            <a:solidFill>
              <a:schemeClr val="tx1"/>
            </a:solidFill>
            <a:prstDash val="sysDot"/>
            <a:round/>
            <a:headEnd type="none" w="sm" len="sm"/>
            <a:tailEnd type="none" w="sm" len="sm"/>
          </a:ln>
        </p:spPr>
        <p:txBody>
          <a:bodyPr wrap="none" anchor="ctr"/>
          <a:lstStyle/>
          <a:p>
            <a:endParaRPr lang="zh-CN" altLang="en-US"/>
          </a:p>
        </p:txBody>
      </p:sp>
      <p:sp>
        <p:nvSpPr>
          <p:cNvPr id="56332" name="Arc 12"/>
          <p:cNvSpPr>
            <a:spLocks/>
          </p:cNvSpPr>
          <p:nvPr/>
        </p:nvSpPr>
        <p:spPr bwMode="auto">
          <a:xfrm>
            <a:off x="4816475" y="4732338"/>
            <a:ext cx="990600" cy="990600"/>
          </a:xfrm>
          <a:custGeom>
            <a:avLst/>
            <a:gdLst>
              <a:gd name="T0" fmla="*/ 990600 w 21600"/>
              <a:gd name="T1" fmla="*/ 0 h 21600"/>
              <a:gd name="T2" fmla="*/ 0 w 21600"/>
              <a:gd name="T3" fmla="*/ 9906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33" name="Line 13"/>
          <p:cNvSpPr>
            <a:spLocks noChangeShapeType="1"/>
          </p:cNvSpPr>
          <p:nvPr/>
        </p:nvSpPr>
        <p:spPr bwMode="auto">
          <a:xfrm flipV="1">
            <a:off x="5807075" y="4351338"/>
            <a:ext cx="1143000" cy="3810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4" name="Line 14"/>
          <p:cNvSpPr>
            <a:spLocks noChangeShapeType="1"/>
          </p:cNvSpPr>
          <p:nvPr/>
        </p:nvSpPr>
        <p:spPr bwMode="auto">
          <a:xfrm>
            <a:off x="6950075" y="4351338"/>
            <a:ext cx="381000" cy="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5" name="Line 15"/>
          <p:cNvSpPr>
            <a:spLocks noChangeShapeType="1"/>
          </p:cNvSpPr>
          <p:nvPr/>
        </p:nvSpPr>
        <p:spPr bwMode="auto">
          <a:xfrm>
            <a:off x="7331075" y="4351338"/>
            <a:ext cx="0" cy="13716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6" name="Line 16"/>
          <p:cNvSpPr>
            <a:spLocks noChangeShapeType="1"/>
          </p:cNvSpPr>
          <p:nvPr/>
        </p:nvSpPr>
        <p:spPr bwMode="auto">
          <a:xfrm>
            <a:off x="7331075" y="5037138"/>
            <a:ext cx="990600" cy="0"/>
          </a:xfrm>
          <a:prstGeom prst="line">
            <a:avLst/>
          </a:prstGeom>
          <a:noFill/>
          <a:ln w="28575">
            <a:solidFill>
              <a:schemeClr val="tx1"/>
            </a:solidFill>
            <a:prstDash val="sysDot"/>
            <a:round/>
            <a:headEnd type="none" w="sm" len="sm"/>
            <a:tailEnd type="none" w="sm" len="sm"/>
          </a:ln>
        </p:spPr>
        <p:txBody>
          <a:bodyPr wrap="none" anchor="ctr"/>
          <a:lstStyle/>
          <a:p>
            <a:endParaRPr lang="zh-CN" altLang="en-US"/>
          </a:p>
        </p:txBody>
      </p:sp>
      <p:sp>
        <p:nvSpPr>
          <p:cNvPr id="56337" name="Arc 17"/>
          <p:cNvSpPr>
            <a:spLocks/>
          </p:cNvSpPr>
          <p:nvPr/>
        </p:nvSpPr>
        <p:spPr bwMode="auto">
          <a:xfrm>
            <a:off x="7331075" y="5037138"/>
            <a:ext cx="914400" cy="685800"/>
          </a:xfrm>
          <a:custGeom>
            <a:avLst/>
            <a:gdLst>
              <a:gd name="T0" fmla="*/ 914400 w 21600"/>
              <a:gd name="T1" fmla="*/ 0 h 21600"/>
              <a:gd name="T2" fmla="*/ 0 w 21600"/>
              <a:gd name="T3" fmla="*/ 6858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38" name="Line 18"/>
          <p:cNvSpPr>
            <a:spLocks noChangeShapeType="1"/>
          </p:cNvSpPr>
          <p:nvPr/>
        </p:nvSpPr>
        <p:spPr bwMode="auto">
          <a:xfrm flipV="1">
            <a:off x="8245475" y="4579938"/>
            <a:ext cx="1371600" cy="4572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9" name="Rectangle 19"/>
          <p:cNvSpPr>
            <a:spLocks noChangeArrowheads="1"/>
          </p:cNvSpPr>
          <p:nvPr/>
        </p:nvSpPr>
        <p:spPr bwMode="auto">
          <a:xfrm>
            <a:off x="4130676" y="3513139"/>
            <a:ext cx="804707"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超时</a:t>
            </a:r>
          </a:p>
        </p:txBody>
      </p:sp>
      <p:sp>
        <p:nvSpPr>
          <p:cNvPr id="56340" name="Rectangle 20"/>
          <p:cNvSpPr>
            <a:spLocks noChangeArrowheads="1"/>
          </p:cNvSpPr>
          <p:nvPr/>
        </p:nvSpPr>
        <p:spPr bwMode="auto">
          <a:xfrm>
            <a:off x="3063875" y="4656139"/>
            <a:ext cx="1114088"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慢启动</a:t>
            </a:r>
          </a:p>
        </p:txBody>
      </p:sp>
      <p:sp>
        <p:nvSpPr>
          <p:cNvPr id="56341" name="Rectangle 21"/>
          <p:cNvSpPr>
            <a:spLocks noChangeArrowheads="1"/>
          </p:cNvSpPr>
          <p:nvPr/>
        </p:nvSpPr>
        <p:spPr bwMode="auto">
          <a:xfrm>
            <a:off x="5654676" y="3894139"/>
            <a:ext cx="1423467"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拥塞避免</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4978400" y="363538"/>
            <a:ext cx="4979988"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Summary</a:t>
            </a:r>
          </a:p>
        </p:txBody>
      </p:sp>
      <p:grpSp>
        <p:nvGrpSpPr>
          <p:cNvPr id="64515" name="Group 4"/>
          <p:cNvGrpSpPr>
            <a:grpSpLocks/>
          </p:cNvGrpSpPr>
          <p:nvPr/>
        </p:nvGrpSpPr>
        <p:grpSpPr bwMode="auto">
          <a:xfrm>
            <a:off x="4629151" y="1392239"/>
            <a:ext cx="2627313" cy="1685925"/>
            <a:chOff x="1847" y="612"/>
            <a:chExt cx="1655" cy="1450"/>
          </a:xfrm>
        </p:grpSpPr>
        <p:grpSp>
          <p:nvGrpSpPr>
            <p:cNvPr id="64517" name="Group 5"/>
            <p:cNvGrpSpPr>
              <a:grpSpLocks/>
            </p:cNvGrpSpPr>
            <p:nvPr/>
          </p:nvGrpSpPr>
          <p:grpSpPr bwMode="auto">
            <a:xfrm>
              <a:off x="2544" y="612"/>
              <a:ext cx="958" cy="631"/>
              <a:chOff x="2544" y="612"/>
              <a:chExt cx="958" cy="631"/>
            </a:xfrm>
          </p:grpSpPr>
          <p:sp>
            <p:nvSpPr>
              <p:cNvPr id="64540" name="Rectangle 6"/>
              <p:cNvSpPr>
                <a:spLocks noChangeArrowheads="1"/>
              </p:cNvSpPr>
              <p:nvPr/>
            </p:nvSpPr>
            <p:spPr bwMode="auto">
              <a:xfrm>
                <a:off x="2544" y="612"/>
                <a:ext cx="958" cy="631"/>
              </a:xfrm>
              <a:prstGeom prst="rect">
                <a:avLst/>
              </a:prstGeom>
              <a:solidFill>
                <a:srgbClr val="C0C0C0"/>
              </a:solidFill>
              <a:ln w="12700">
                <a:noFill/>
                <a:miter lim="800000"/>
                <a:headEnd/>
                <a:tailEnd/>
              </a:ln>
            </p:spPr>
            <p:txBody>
              <a:bodyPr wrap="none" anchor="ctr"/>
              <a:lstStyle/>
              <a:p>
                <a:endParaRPr lang="zh-CN" altLang="en-US"/>
              </a:p>
            </p:txBody>
          </p:sp>
          <p:sp>
            <p:nvSpPr>
              <p:cNvPr id="64541" name="Rectangle 7"/>
              <p:cNvSpPr>
                <a:spLocks noChangeArrowheads="1"/>
              </p:cNvSpPr>
              <p:nvPr/>
            </p:nvSpPr>
            <p:spPr bwMode="auto">
              <a:xfrm>
                <a:off x="2569" y="636"/>
                <a:ext cx="898" cy="577"/>
              </a:xfrm>
              <a:prstGeom prst="rect">
                <a:avLst/>
              </a:prstGeom>
              <a:solidFill>
                <a:srgbClr val="808080"/>
              </a:solidFill>
              <a:ln w="12700">
                <a:noFill/>
                <a:miter lim="800000"/>
                <a:headEnd/>
                <a:tailEnd/>
              </a:ln>
            </p:spPr>
            <p:txBody>
              <a:bodyPr wrap="none" anchor="ctr"/>
              <a:lstStyle/>
              <a:p>
                <a:endParaRPr lang="zh-CN" altLang="en-US"/>
              </a:p>
            </p:txBody>
          </p:sp>
        </p:grpSp>
        <p:grpSp>
          <p:nvGrpSpPr>
            <p:cNvPr id="64518" name="Group 8"/>
            <p:cNvGrpSpPr>
              <a:grpSpLocks/>
            </p:cNvGrpSpPr>
            <p:nvPr/>
          </p:nvGrpSpPr>
          <p:grpSpPr bwMode="auto">
            <a:xfrm>
              <a:off x="1847" y="690"/>
              <a:ext cx="1111" cy="1177"/>
              <a:chOff x="1847" y="690"/>
              <a:chExt cx="1111" cy="1177"/>
            </a:xfrm>
          </p:grpSpPr>
          <p:sp>
            <p:nvSpPr>
              <p:cNvPr id="64533" name="Line 9"/>
              <p:cNvSpPr>
                <a:spLocks noChangeShapeType="1"/>
              </p:cNvSpPr>
              <p:nvPr/>
            </p:nvSpPr>
            <p:spPr bwMode="auto">
              <a:xfrm flipV="1">
                <a:off x="2595" y="690"/>
                <a:ext cx="363" cy="571"/>
              </a:xfrm>
              <a:prstGeom prst="line">
                <a:avLst/>
              </a:prstGeom>
              <a:noFill/>
              <a:ln w="50800">
                <a:solidFill>
                  <a:srgbClr val="000000"/>
                </a:solidFill>
                <a:round/>
                <a:headEnd/>
                <a:tailEnd/>
              </a:ln>
            </p:spPr>
            <p:txBody>
              <a:bodyPr wrap="none" anchor="ctr"/>
              <a:lstStyle/>
              <a:p>
                <a:endParaRPr lang="zh-CN" altLang="en-US"/>
              </a:p>
            </p:txBody>
          </p:sp>
          <p:grpSp>
            <p:nvGrpSpPr>
              <p:cNvPr id="64534" name="Group 10"/>
              <p:cNvGrpSpPr>
                <a:grpSpLocks/>
              </p:cNvGrpSpPr>
              <p:nvPr/>
            </p:nvGrpSpPr>
            <p:grpSpPr bwMode="auto">
              <a:xfrm>
                <a:off x="1847" y="835"/>
                <a:ext cx="886" cy="1032"/>
                <a:chOff x="1847" y="835"/>
                <a:chExt cx="886" cy="1032"/>
              </a:xfrm>
            </p:grpSpPr>
            <p:sp>
              <p:nvSpPr>
                <p:cNvPr id="64535" name="Oval 11"/>
                <p:cNvSpPr>
                  <a:spLocks noChangeArrowheads="1"/>
                </p:cNvSpPr>
                <p:nvPr/>
              </p:nvSpPr>
              <p:spPr bwMode="auto">
                <a:xfrm>
                  <a:off x="2077" y="835"/>
                  <a:ext cx="245" cy="245"/>
                </a:xfrm>
                <a:prstGeom prst="ellipse">
                  <a:avLst/>
                </a:prstGeom>
                <a:solidFill>
                  <a:srgbClr val="FF0000"/>
                </a:solidFill>
                <a:ln w="12700">
                  <a:noFill/>
                  <a:round/>
                  <a:headEnd/>
                  <a:tailEnd/>
                </a:ln>
              </p:spPr>
              <p:txBody>
                <a:bodyPr wrap="none" anchor="ctr"/>
                <a:lstStyle/>
                <a:p>
                  <a:endParaRPr lang="zh-CN" altLang="en-US"/>
                </a:p>
              </p:txBody>
            </p:sp>
            <p:sp>
              <p:nvSpPr>
                <p:cNvPr id="64536" name="Freeform 12"/>
                <p:cNvSpPr>
                  <a:spLocks/>
                </p:cNvSpPr>
                <p:nvPr/>
              </p:nvSpPr>
              <p:spPr bwMode="auto">
                <a:xfrm>
                  <a:off x="1862" y="1081"/>
                  <a:ext cx="871" cy="786"/>
                </a:xfrm>
                <a:custGeom>
                  <a:avLst/>
                  <a:gdLst>
                    <a:gd name="T0" fmla="*/ 258 w 871"/>
                    <a:gd name="T1" fmla="*/ 31 h 786"/>
                    <a:gd name="T2" fmla="*/ 207 w 871"/>
                    <a:gd name="T3" fmla="*/ 31 h 786"/>
                    <a:gd name="T4" fmla="*/ 141 w 871"/>
                    <a:gd name="T5" fmla="*/ 69 h 786"/>
                    <a:gd name="T6" fmla="*/ 0 w 871"/>
                    <a:gd name="T7" fmla="*/ 270 h 786"/>
                    <a:gd name="T8" fmla="*/ 6 w 871"/>
                    <a:gd name="T9" fmla="*/ 363 h 786"/>
                    <a:gd name="T10" fmla="*/ 102 w 871"/>
                    <a:gd name="T11" fmla="*/ 435 h 786"/>
                    <a:gd name="T12" fmla="*/ 179 w 871"/>
                    <a:gd name="T13" fmla="*/ 486 h 786"/>
                    <a:gd name="T14" fmla="*/ 274 w 871"/>
                    <a:gd name="T15" fmla="*/ 368 h 786"/>
                    <a:gd name="T16" fmla="*/ 237 w 871"/>
                    <a:gd name="T17" fmla="*/ 339 h 786"/>
                    <a:gd name="T18" fmla="*/ 208 w 871"/>
                    <a:gd name="T19" fmla="*/ 311 h 786"/>
                    <a:gd name="T20" fmla="*/ 272 w 871"/>
                    <a:gd name="T21" fmla="*/ 210 h 786"/>
                    <a:gd name="T22" fmla="*/ 459 w 871"/>
                    <a:gd name="T23" fmla="*/ 338 h 786"/>
                    <a:gd name="T24" fmla="*/ 276 w 871"/>
                    <a:gd name="T25" fmla="*/ 587 h 786"/>
                    <a:gd name="T26" fmla="*/ 98 w 871"/>
                    <a:gd name="T27" fmla="*/ 459 h 786"/>
                    <a:gd name="T28" fmla="*/ 98 w 871"/>
                    <a:gd name="T29" fmla="*/ 615 h 786"/>
                    <a:gd name="T30" fmla="*/ 125 w 871"/>
                    <a:gd name="T31" fmla="*/ 615 h 786"/>
                    <a:gd name="T32" fmla="*/ 125 w 871"/>
                    <a:gd name="T33" fmla="*/ 785 h 786"/>
                    <a:gd name="T34" fmla="*/ 540 w 871"/>
                    <a:gd name="T35" fmla="*/ 785 h 786"/>
                    <a:gd name="T36" fmla="*/ 540 w 871"/>
                    <a:gd name="T37" fmla="*/ 616 h 786"/>
                    <a:gd name="T38" fmla="*/ 572 w 871"/>
                    <a:gd name="T39" fmla="*/ 616 h 786"/>
                    <a:gd name="T40" fmla="*/ 572 w 871"/>
                    <a:gd name="T41" fmla="*/ 298 h 786"/>
                    <a:gd name="T42" fmla="*/ 608 w 871"/>
                    <a:gd name="T43" fmla="*/ 326 h 786"/>
                    <a:gd name="T44" fmla="*/ 688 w 871"/>
                    <a:gd name="T45" fmla="*/ 326 h 786"/>
                    <a:gd name="T46" fmla="*/ 697 w 871"/>
                    <a:gd name="T47" fmla="*/ 314 h 786"/>
                    <a:gd name="T48" fmla="*/ 756 w 871"/>
                    <a:gd name="T49" fmla="*/ 231 h 786"/>
                    <a:gd name="T50" fmla="*/ 870 w 871"/>
                    <a:gd name="T51" fmla="*/ 87 h 786"/>
                    <a:gd name="T52" fmla="*/ 741 w 871"/>
                    <a:gd name="T53" fmla="*/ 0 h 786"/>
                    <a:gd name="T54" fmla="*/ 660 w 871"/>
                    <a:gd name="T55" fmla="*/ 108 h 786"/>
                    <a:gd name="T56" fmla="*/ 639 w 871"/>
                    <a:gd name="T57" fmla="*/ 130 h 786"/>
                    <a:gd name="T58" fmla="*/ 473 w 871"/>
                    <a:gd name="T59" fmla="*/ 31 h 786"/>
                    <a:gd name="T60" fmla="*/ 406 w 871"/>
                    <a:gd name="T61" fmla="*/ 31 h 786"/>
                    <a:gd name="T62" fmla="*/ 365 w 871"/>
                    <a:gd name="T63" fmla="*/ 126 h 786"/>
                    <a:gd name="T64" fmla="*/ 345 w 871"/>
                    <a:gd name="T65" fmla="*/ 88 h 786"/>
                    <a:gd name="T66" fmla="*/ 366 w 871"/>
                    <a:gd name="T67" fmla="*/ 30 h 786"/>
                    <a:gd name="T68" fmla="*/ 305 w 871"/>
                    <a:gd name="T69" fmla="*/ 30 h 786"/>
                    <a:gd name="T70" fmla="*/ 325 w 871"/>
                    <a:gd name="T71" fmla="*/ 88 h 786"/>
                    <a:gd name="T72" fmla="*/ 305 w 871"/>
                    <a:gd name="T73" fmla="*/ 126 h 786"/>
                    <a:gd name="T74" fmla="*/ 258 w 871"/>
                    <a:gd name="T75" fmla="*/ 31 h 7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71"/>
                    <a:gd name="T115" fmla="*/ 0 h 786"/>
                    <a:gd name="T116" fmla="*/ 871 w 871"/>
                    <a:gd name="T117" fmla="*/ 786 h 78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71" h="786">
                      <a:moveTo>
                        <a:pt x="258" y="31"/>
                      </a:moveTo>
                      <a:lnTo>
                        <a:pt x="207" y="31"/>
                      </a:lnTo>
                      <a:lnTo>
                        <a:pt x="141" y="69"/>
                      </a:lnTo>
                      <a:lnTo>
                        <a:pt x="0" y="270"/>
                      </a:lnTo>
                      <a:lnTo>
                        <a:pt x="6" y="363"/>
                      </a:lnTo>
                      <a:lnTo>
                        <a:pt x="102" y="435"/>
                      </a:lnTo>
                      <a:lnTo>
                        <a:pt x="179" y="486"/>
                      </a:lnTo>
                      <a:lnTo>
                        <a:pt x="274" y="368"/>
                      </a:lnTo>
                      <a:lnTo>
                        <a:pt x="237" y="339"/>
                      </a:lnTo>
                      <a:lnTo>
                        <a:pt x="208" y="311"/>
                      </a:lnTo>
                      <a:lnTo>
                        <a:pt x="272" y="210"/>
                      </a:lnTo>
                      <a:lnTo>
                        <a:pt x="459" y="338"/>
                      </a:lnTo>
                      <a:lnTo>
                        <a:pt x="276" y="587"/>
                      </a:lnTo>
                      <a:lnTo>
                        <a:pt x="98" y="459"/>
                      </a:lnTo>
                      <a:lnTo>
                        <a:pt x="98" y="615"/>
                      </a:lnTo>
                      <a:lnTo>
                        <a:pt x="125" y="615"/>
                      </a:lnTo>
                      <a:lnTo>
                        <a:pt x="125" y="785"/>
                      </a:lnTo>
                      <a:lnTo>
                        <a:pt x="540" y="785"/>
                      </a:lnTo>
                      <a:lnTo>
                        <a:pt x="540" y="616"/>
                      </a:lnTo>
                      <a:lnTo>
                        <a:pt x="572" y="616"/>
                      </a:lnTo>
                      <a:lnTo>
                        <a:pt x="572" y="298"/>
                      </a:lnTo>
                      <a:lnTo>
                        <a:pt x="608" y="326"/>
                      </a:lnTo>
                      <a:lnTo>
                        <a:pt x="688" y="326"/>
                      </a:lnTo>
                      <a:lnTo>
                        <a:pt x="697" y="314"/>
                      </a:lnTo>
                      <a:lnTo>
                        <a:pt x="756" y="231"/>
                      </a:lnTo>
                      <a:lnTo>
                        <a:pt x="870" y="87"/>
                      </a:lnTo>
                      <a:lnTo>
                        <a:pt x="741" y="0"/>
                      </a:lnTo>
                      <a:lnTo>
                        <a:pt x="660" y="108"/>
                      </a:lnTo>
                      <a:lnTo>
                        <a:pt x="639" y="130"/>
                      </a:lnTo>
                      <a:lnTo>
                        <a:pt x="473" y="31"/>
                      </a:lnTo>
                      <a:lnTo>
                        <a:pt x="406" y="31"/>
                      </a:lnTo>
                      <a:lnTo>
                        <a:pt x="365" y="126"/>
                      </a:lnTo>
                      <a:lnTo>
                        <a:pt x="345" y="88"/>
                      </a:lnTo>
                      <a:lnTo>
                        <a:pt x="366" y="30"/>
                      </a:lnTo>
                      <a:lnTo>
                        <a:pt x="305" y="30"/>
                      </a:lnTo>
                      <a:lnTo>
                        <a:pt x="325" y="88"/>
                      </a:lnTo>
                      <a:lnTo>
                        <a:pt x="305" y="126"/>
                      </a:lnTo>
                      <a:lnTo>
                        <a:pt x="258" y="31"/>
                      </a:lnTo>
                    </a:path>
                  </a:pathLst>
                </a:custGeom>
                <a:solidFill>
                  <a:srgbClr val="FF0000"/>
                </a:solidFill>
                <a:ln w="12700" cap="rnd">
                  <a:noFill/>
                  <a:round/>
                  <a:headEnd/>
                  <a:tailEnd/>
                </a:ln>
              </p:spPr>
              <p:txBody>
                <a:bodyPr/>
                <a:lstStyle/>
                <a:p>
                  <a:endParaRPr lang="zh-CN" altLang="en-US"/>
                </a:p>
              </p:txBody>
            </p:sp>
            <p:sp>
              <p:nvSpPr>
                <p:cNvPr id="64537" name="Arc 13"/>
                <p:cNvSpPr>
                  <a:spLocks/>
                </p:cNvSpPr>
                <p:nvPr/>
              </p:nvSpPr>
              <p:spPr bwMode="auto">
                <a:xfrm>
                  <a:off x="2002" y="1114"/>
                  <a:ext cx="116" cy="87"/>
                </a:xfrm>
                <a:custGeom>
                  <a:avLst/>
                  <a:gdLst>
                    <a:gd name="T0" fmla="*/ 18 w 36328"/>
                    <a:gd name="T1" fmla="*/ 87 h 36143"/>
                    <a:gd name="T2" fmla="*/ 116 w 36328"/>
                    <a:gd name="T3" fmla="*/ 14 h 36143"/>
                    <a:gd name="T4" fmla="*/ 69 w 36328"/>
                    <a:gd name="T5" fmla="*/ 52 h 36143"/>
                    <a:gd name="T6" fmla="*/ 0 60000 65536"/>
                    <a:gd name="T7" fmla="*/ 0 60000 65536"/>
                    <a:gd name="T8" fmla="*/ 0 60000 65536"/>
                    <a:gd name="T9" fmla="*/ 0 w 36328"/>
                    <a:gd name="T10" fmla="*/ 0 h 36143"/>
                    <a:gd name="T11" fmla="*/ 36328 w 36328"/>
                    <a:gd name="T12" fmla="*/ 36143 h 36143"/>
                  </a:gdLst>
                  <a:ahLst/>
                  <a:cxnLst>
                    <a:cxn ang="T6">
                      <a:pos x="T0" y="T1"/>
                    </a:cxn>
                    <a:cxn ang="T7">
                      <a:pos x="T2" y="T3"/>
                    </a:cxn>
                    <a:cxn ang="T8">
                      <a:pos x="T4" y="T5"/>
                    </a:cxn>
                  </a:cxnLst>
                  <a:rect l="T9" t="T10" r="T11" b="T12"/>
                  <a:pathLst>
                    <a:path w="36328" h="36143" fill="none" extrusionOk="0">
                      <a:moveTo>
                        <a:pt x="5629" y="36143"/>
                      </a:moveTo>
                      <a:cubicBezTo>
                        <a:pt x="2007" y="32165"/>
                        <a:pt x="0" y="26979"/>
                        <a:pt x="0" y="21600"/>
                      </a:cubicBezTo>
                      <a:cubicBezTo>
                        <a:pt x="0" y="9670"/>
                        <a:pt x="9670" y="0"/>
                        <a:pt x="21600" y="0"/>
                      </a:cubicBezTo>
                      <a:cubicBezTo>
                        <a:pt x="27066" y="-1"/>
                        <a:pt x="32329" y="2072"/>
                        <a:pt x="36328" y="5799"/>
                      </a:cubicBezTo>
                    </a:path>
                    <a:path w="36328" h="36143" stroke="0" extrusionOk="0">
                      <a:moveTo>
                        <a:pt x="5629" y="36143"/>
                      </a:moveTo>
                      <a:cubicBezTo>
                        <a:pt x="2007" y="32165"/>
                        <a:pt x="0" y="26979"/>
                        <a:pt x="0" y="21600"/>
                      </a:cubicBezTo>
                      <a:cubicBezTo>
                        <a:pt x="0" y="9670"/>
                        <a:pt x="9670" y="0"/>
                        <a:pt x="21600" y="0"/>
                      </a:cubicBezTo>
                      <a:cubicBezTo>
                        <a:pt x="27066" y="-1"/>
                        <a:pt x="32329" y="2072"/>
                        <a:pt x="36328" y="5799"/>
                      </a:cubicBezTo>
                      <a:lnTo>
                        <a:pt x="21600" y="21600"/>
                      </a:lnTo>
                      <a:close/>
                    </a:path>
                  </a:pathLst>
                </a:custGeom>
                <a:solidFill>
                  <a:srgbClr val="FF0000"/>
                </a:solidFill>
                <a:ln w="12700" cap="rnd">
                  <a:noFill/>
                  <a:round/>
                  <a:headEnd/>
                  <a:tailEnd/>
                </a:ln>
              </p:spPr>
              <p:txBody>
                <a:bodyPr wrap="none" anchor="ctr"/>
                <a:lstStyle/>
                <a:p>
                  <a:endParaRPr lang="zh-CN" altLang="en-US"/>
                </a:p>
              </p:txBody>
            </p:sp>
            <p:sp>
              <p:nvSpPr>
                <p:cNvPr id="64538" name="Oval 14"/>
                <p:cNvSpPr>
                  <a:spLocks noChangeArrowheads="1"/>
                </p:cNvSpPr>
                <p:nvPr/>
              </p:nvSpPr>
              <p:spPr bwMode="auto">
                <a:xfrm>
                  <a:off x="1847" y="1339"/>
                  <a:ext cx="93" cy="110"/>
                </a:xfrm>
                <a:prstGeom prst="ellipse">
                  <a:avLst/>
                </a:prstGeom>
                <a:solidFill>
                  <a:srgbClr val="FF0000"/>
                </a:solidFill>
                <a:ln w="12700">
                  <a:noFill/>
                  <a:round/>
                  <a:headEnd/>
                  <a:tailEnd/>
                </a:ln>
              </p:spPr>
              <p:txBody>
                <a:bodyPr wrap="none" anchor="ctr"/>
                <a:lstStyle/>
                <a:p>
                  <a:endParaRPr lang="zh-CN" altLang="en-US"/>
                </a:p>
              </p:txBody>
            </p:sp>
            <p:sp>
              <p:nvSpPr>
                <p:cNvPr id="64539" name="Oval 15"/>
                <p:cNvSpPr>
                  <a:spLocks noChangeArrowheads="1"/>
                </p:cNvSpPr>
                <p:nvPr/>
              </p:nvSpPr>
              <p:spPr bwMode="auto">
                <a:xfrm>
                  <a:off x="2461" y="1332"/>
                  <a:ext cx="104" cy="84"/>
                </a:xfrm>
                <a:prstGeom prst="ellipse">
                  <a:avLst/>
                </a:prstGeom>
                <a:solidFill>
                  <a:srgbClr val="FF0000"/>
                </a:solidFill>
                <a:ln w="12700">
                  <a:noFill/>
                  <a:round/>
                  <a:headEnd/>
                  <a:tailEnd/>
                </a:ln>
              </p:spPr>
              <p:txBody>
                <a:bodyPr wrap="none" anchor="ctr"/>
                <a:lstStyle/>
                <a:p>
                  <a:endParaRPr lang="zh-CN" altLang="en-US"/>
                </a:p>
              </p:txBody>
            </p:sp>
          </p:grpSp>
        </p:grpSp>
        <p:grpSp>
          <p:nvGrpSpPr>
            <p:cNvPr id="64519" name="Group 16"/>
            <p:cNvGrpSpPr>
              <a:grpSpLocks/>
            </p:cNvGrpSpPr>
            <p:nvPr/>
          </p:nvGrpSpPr>
          <p:grpSpPr bwMode="auto">
            <a:xfrm>
              <a:off x="2586" y="1342"/>
              <a:ext cx="401" cy="720"/>
              <a:chOff x="2586" y="1342"/>
              <a:chExt cx="401" cy="720"/>
            </a:xfrm>
          </p:grpSpPr>
          <p:grpSp>
            <p:nvGrpSpPr>
              <p:cNvPr id="64527" name="Group 17"/>
              <p:cNvGrpSpPr>
                <a:grpSpLocks/>
              </p:cNvGrpSpPr>
              <p:nvPr/>
            </p:nvGrpSpPr>
            <p:grpSpPr bwMode="auto">
              <a:xfrm>
                <a:off x="2586" y="1619"/>
                <a:ext cx="401" cy="443"/>
                <a:chOff x="2586" y="1619"/>
                <a:chExt cx="401" cy="443"/>
              </a:xfrm>
            </p:grpSpPr>
            <p:sp>
              <p:nvSpPr>
                <p:cNvPr id="64529" name="Rectangle 18"/>
                <p:cNvSpPr>
                  <a:spLocks noChangeArrowheads="1"/>
                </p:cNvSpPr>
                <p:nvPr/>
              </p:nvSpPr>
              <p:spPr bwMode="auto">
                <a:xfrm>
                  <a:off x="2652" y="1620"/>
                  <a:ext cx="264" cy="121"/>
                </a:xfrm>
                <a:prstGeom prst="rect">
                  <a:avLst/>
                </a:prstGeom>
                <a:solidFill>
                  <a:srgbClr val="008000"/>
                </a:solidFill>
                <a:ln w="12700">
                  <a:noFill/>
                  <a:miter lim="800000"/>
                  <a:headEnd/>
                  <a:tailEnd/>
                </a:ln>
              </p:spPr>
              <p:txBody>
                <a:bodyPr wrap="none" anchor="ctr"/>
                <a:lstStyle/>
                <a:p>
                  <a:endParaRPr lang="zh-CN" altLang="en-US"/>
                </a:p>
              </p:txBody>
            </p:sp>
            <p:sp>
              <p:nvSpPr>
                <p:cNvPr id="64530" name="Rectangle 19"/>
                <p:cNvSpPr>
                  <a:spLocks noChangeArrowheads="1"/>
                </p:cNvSpPr>
                <p:nvPr/>
              </p:nvSpPr>
              <p:spPr bwMode="auto">
                <a:xfrm>
                  <a:off x="2586" y="1704"/>
                  <a:ext cx="401" cy="358"/>
                </a:xfrm>
                <a:prstGeom prst="rect">
                  <a:avLst/>
                </a:prstGeom>
                <a:solidFill>
                  <a:srgbClr val="008000"/>
                </a:solidFill>
                <a:ln w="12700">
                  <a:noFill/>
                  <a:miter lim="800000"/>
                  <a:headEnd/>
                  <a:tailEnd/>
                </a:ln>
              </p:spPr>
              <p:txBody>
                <a:bodyPr wrap="none" anchor="ctr"/>
                <a:lstStyle/>
                <a:p>
                  <a:endParaRPr lang="zh-CN" altLang="en-US"/>
                </a:p>
              </p:txBody>
            </p:sp>
            <p:sp>
              <p:nvSpPr>
                <p:cNvPr id="64531" name="Oval 20"/>
                <p:cNvSpPr>
                  <a:spLocks noChangeArrowheads="1"/>
                </p:cNvSpPr>
                <p:nvPr/>
              </p:nvSpPr>
              <p:spPr bwMode="auto">
                <a:xfrm>
                  <a:off x="2586" y="1619"/>
                  <a:ext cx="136" cy="161"/>
                </a:xfrm>
                <a:prstGeom prst="ellipse">
                  <a:avLst/>
                </a:prstGeom>
                <a:solidFill>
                  <a:srgbClr val="008000"/>
                </a:solidFill>
                <a:ln w="12700">
                  <a:noFill/>
                  <a:round/>
                  <a:headEnd/>
                  <a:tailEnd/>
                </a:ln>
              </p:spPr>
              <p:txBody>
                <a:bodyPr wrap="none" anchor="ctr"/>
                <a:lstStyle/>
                <a:p>
                  <a:endParaRPr lang="zh-CN" altLang="en-US"/>
                </a:p>
              </p:txBody>
            </p:sp>
            <p:sp>
              <p:nvSpPr>
                <p:cNvPr id="64532" name="Oval 21"/>
                <p:cNvSpPr>
                  <a:spLocks noChangeArrowheads="1"/>
                </p:cNvSpPr>
                <p:nvPr/>
              </p:nvSpPr>
              <p:spPr bwMode="auto">
                <a:xfrm>
                  <a:off x="2843" y="1619"/>
                  <a:ext cx="143" cy="155"/>
                </a:xfrm>
                <a:prstGeom prst="ellipse">
                  <a:avLst/>
                </a:prstGeom>
                <a:solidFill>
                  <a:srgbClr val="008000"/>
                </a:solidFill>
                <a:ln w="12700">
                  <a:noFill/>
                  <a:round/>
                  <a:headEnd/>
                  <a:tailEnd/>
                </a:ln>
              </p:spPr>
              <p:txBody>
                <a:bodyPr wrap="none" anchor="ctr"/>
                <a:lstStyle/>
                <a:p>
                  <a:endParaRPr lang="zh-CN" altLang="en-US"/>
                </a:p>
              </p:txBody>
            </p:sp>
          </p:grpSp>
          <p:sp>
            <p:nvSpPr>
              <p:cNvPr id="64528" name="Oval 22"/>
              <p:cNvSpPr>
                <a:spLocks noChangeArrowheads="1"/>
              </p:cNvSpPr>
              <p:nvPr/>
            </p:nvSpPr>
            <p:spPr bwMode="auto">
              <a:xfrm>
                <a:off x="2666" y="1342"/>
                <a:ext cx="244" cy="244"/>
              </a:xfrm>
              <a:prstGeom prst="ellipse">
                <a:avLst/>
              </a:prstGeom>
              <a:solidFill>
                <a:srgbClr val="008000"/>
              </a:solidFill>
              <a:ln w="12700">
                <a:noFill/>
                <a:round/>
                <a:headEnd/>
                <a:tailEnd/>
              </a:ln>
            </p:spPr>
            <p:txBody>
              <a:bodyPr wrap="none" anchor="ctr"/>
              <a:lstStyle/>
              <a:p>
                <a:endParaRPr lang="zh-CN" altLang="en-US"/>
              </a:p>
            </p:txBody>
          </p:sp>
        </p:grpSp>
        <p:grpSp>
          <p:nvGrpSpPr>
            <p:cNvPr id="64520" name="Group 23"/>
            <p:cNvGrpSpPr>
              <a:grpSpLocks/>
            </p:cNvGrpSpPr>
            <p:nvPr/>
          </p:nvGrpSpPr>
          <p:grpSpPr bwMode="auto">
            <a:xfrm>
              <a:off x="3027" y="1342"/>
              <a:ext cx="401" cy="720"/>
              <a:chOff x="3027" y="1342"/>
              <a:chExt cx="401" cy="720"/>
            </a:xfrm>
          </p:grpSpPr>
          <p:sp>
            <p:nvSpPr>
              <p:cNvPr id="64521" name="Oval 24"/>
              <p:cNvSpPr>
                <a:spLocks noChangeArrowheads="1"/>
              </p:cNvSpPr>
              <p:nvPr/>
            </p:nvSpPr>
            <p:spPr bwMode="auto">
              <a:xfrm>
                <a:off x="3107" y="1342"/>
                <a:ext cx="244" cy="244"/>
              </a:xfrm>
              <a:prstGeom prst="ellipse">
                <a:avLst/>
              </a:prstGeom>
              <a:solidFill>
                <a:srgbClr val="008080"/>
              </a:solidFill>
              <a:ln w="12700">
                <a:noFill/>
                <a:round/>
                <a:headEnd/>
                <a:tailEnd/>
              </a:ln>
            </p:spPr>
            <p:txBody>
              <a:bodyPr wrap="none" anchor="ctr"/>
              <a:lstStyle/>
              <a:p>
                <a:endParaRPr lang="zh-CN" altLang="en-US"/>
              </a:p>
            </p:txBody>
          </p:sp>
          <p:grpSp>
            <p:nvGrpSpPr>
              <p:cNvPr id="64522" name="Group 25"/>
              <p:cNvGrpSpPr>
                <a:grpSpLocks/>
              </p:cNvGrpSpPr>
              <p:nvPr/>
            </p:nvGrpSpPr>
            <p:grpSpPr bwMode="auto">
              <a:xfrm>
                <a:off x="3027" y="1619"/>
                <a:ext cx="401" cy="443"/>
                <a:chOff x="3027" y="1619"/>
                <a:chExt cx="401" cy="443"/>
              </a:xfrm>
            </p:grpSpPr>
            <p:sp>
              <p:nvSpPr>
                <p:cNvPr id="64523" name="Rectangle 26"/>
                <p:cNvSpPr>
                  <a:spLocks noChangeArrowheads="1"/>
                </p:cNvSpPr>
                <p:nvPr/>
              </p:nvSpPr>
              <p:spPr bwMode="auto">
                <a:xfrm>
                  <a:off x="3093" y="1620"/>
                  <a:ext cx="264" cy="121"/>
                </a:xfrm>
                <a:prstGeom prst="rect">
                  <a:avLst/>
                </a:prstGeom>
                <a:solidFill>
                  <a:srgbClr val="008080"/>
                </a:solidFill>
                <a:ln w="12700">
                  <a:noFill/>
                  <a:miter lim="800000"/>
                  <a:headEnd/>
                  <a:tailEnd/>
                </a:ln>
              </p:spPr>
              <p:txBody>
                <a:bodyPr wrap="none" anchor="ctr"/>
                <a:lstStyle/>
                <a:p>
                  <a:endParaRPr lang="zh-CN" altLang="en-US"/>
                </a:p>
              </p:txBody>
            </p:sp>
            <p:sp>
              <p:nvSpPr>
                <p:cNvPr id="64524" name="Rectangle 27"/>
                <p:cNvSpPr>
                  <a:spLocks noChangeArrowheads="1"/>
                </p:cNvSpPr>
                <p:nvPr/>
              </p:nvSpPr>
              <p:spPr bwMode="auto">
                <a:xfrm>
                  <a:off x="3027" y="1704"/>
                  <a:ext cx="401" cy="358"/>
                </a:xfrm>
                <a:prstGeom prst="rect">
                  <a:avLst/>
                </a:prstGeom>
                <a:solidFill>
                  <a:srgbClr val="008080"/>
                </a:solidFill>
                <a:ln w="12700">
                  <a:noFill/>
                  <a:miter lim="800000"/>
                  <a:headEnd/>
                  <a:tailEnd/>
                </a:ln>
              </p:spPr>
              <p:txBody>
                <a:bodyPr wrap="none" anchor="ctr"/>
                <a:lstStyle/>
                <a:p>
                  <a:endParaRPr lang="zh-CN" altLang="en-US"/>
                </a:p>
              </p:txBody>
            </p:sp>
            <p:sp>
              <p:nvSpPr>
                <p:cNvPr id="64525" name="Oval 28"/>
                <p:cNvSpPr>
                  <a:spLocks noChangeArrowheads="1"/>
                </p:cNvSpPr>
                <p:nvPr/>
              </p:nvSpPr>
              <p:spPr bwMode="auto">
                <a:xfrm>
                  <a:off x="3027" y="1619"/>
                  <a:ext cx="136" cy="161"/>
                </a:xfrm>
                <a:prstGeom prst="ellipse">
                  <a:avLst/>
                </a:prstGeom>
                <a:solidFill>
                  <a:srgbClr val="008080"/>
                </a:solidFill>
                <a:ln w="12700">
                  <a:noFill/>
                  <a:round/>
                  <a:headEnd/>
                  <a:tailEnd/>
                </a:ln>
              </p:spPr>
              <p:txBody>
                <a:bodyPr wrap="none" anchor="ctr"/>
                <a:lstStyle/>
                <a:p>
                  <a:endParaRPr lang="zh-CN" altLang="en-US"/>
                </a:p>
              </p:txBody>
            </p:sp>
            <p:sp>
              <p:nvSpPr>
                <p:cNvPr id="64526" name="Oval 29"/>
                <p:cNvSpPr>
                  <a:spLocks noChangeArrowheads="1"/>
                </p:cNvSpPr>
                <p:nvPr/>
              </p:nvSpPr>
              <p:spPr bwMode="auto">
                <a:xfrm>
                  <a:off x="3284" y="1619"/>
                  <a:ext cx="144" cy="155"/>
                </a:xfrm>
                <a:prstGeom prst="ellipse">
                  <a:avLst/>
                </a:prstGeom>
                <a:solidFill>
                  <a:srgbClr val="008080"/>
                </a:solidFill>
                <a:ln w="12700">
                  <a:noFill/>
                  <a:round/>
                  <a:headEnd/>
                  <a:tailEnd/>
                </a:ln>
              </p:spPr>
              <p:txBody>
                <a:bodyPr wrap="none" anchor="ctr"/>
                <a:lstStyle/>
                <a:p>
                  <a:endParaRPr lang="zh-CN" altLang="en-US"/>
                </a:p>
              </p:txBody>
            </p:sp>
          </p:grpSp>
        </p:grpSp>
      </p:grpSp>
      <p:sp>
        <p:nvSpPr>
          <p:cNvPr id="64516" name="Text Box 30"/>
          <p:cNvSpPr txBox="1">
            <a:spLocks noChangeArrowheads="1"/>
          </p:cNvSpPr>
          <p:nvPr/>
        </p:nvSpPr>
        <p:spPr bwMode="auto">
          <a:xfrm>
            <a:off x="4100513" y="3549651"/>
            <a:ext cx="5586412" cy="2948499"/>
          </a:xfrm>
          <a:prstGeom prst="rect">
            <a:avLst/>
          </a:prstGeom>
          <a:noFill/>
          <a:ln w="9525">
            <a:noFill/>
            <a:miter lim="800000"/>
            <a:headEnd/>
            <a:tailEnd/>
          </a:ln>
        </p:spPr>
        <p:txBody>
          <a:bodyPr>
            <a:spAutoFit/>
          </a:bodyPr>
          <a:lstStyle/>
          <a:p>
            <a:pPr marL="390525" indent="-292100" algn="l">
              <a:spcBef>
                <a:spcPct val="20000"/>
              </a:spcBef>
              <a:buClr>
                <a:schemeClr val="hlink"/>
              </a:buClr>
              <a:buSzPct val="75000"/>
              <a:buFont typeface="Wingdings" pitchFamily="2" charset="2"/>
              <a:buChar char="ü"/>
            </a:pPr>
            <a:r>
              <a:rPr lang="zh-CN" altLang="en-US" sz="3200">
                <a:solidFill>
                  <a:schemeClr val="tx1"/>
                </a:solidFill>
              </a:rPr>
              <a:t>传输层问题</a:t>
            </a:r>
          </a:p>
          <a:p>
            <a:pPr marL="390525" indent="-292100" algn="l">
              <a:spcBef>
                <a:spcPct val="20000"/>
              </a:spcBef>
              <a:buClr>
                <a:schemeClr val="hlink"/>
              </a:buClr>
              <a:buSzPct val="75000"/>
              <a:buFont typeface="Wingdings" pitchFamily="2" charset="2"/>
              <a:buChar char="ü"/>
            </a:pPr>
            <a:r>
              <a:rPr lang="en-US" altLang="zh-CN" sz="3200">
                <a:solidFill>
                  <a:schemeClr val="tx1"/>
                </a:solidFill>
              </a:rPr>
              <a:t>UDP</a:t>
            </a:r>
          </a:p>
          <a:p>
            <a:pPr marL="390525" indent="-292100" algn="l">
              <a:spcBef>
                <a:spcPct val="20000"/>
              </a:spcBef>
              <a:buClr>
                <a:schemeClr val="hlink"/>
              </a:buClr>
              <a:buSzPct val="75000"/>
              <a:buFont typeface="Wingdings" pitchFamily="2" charset="2"/>
              <a:buChar char="ü"/>
            </a:pPr>
            <a:r>
              <a:rPr lang="en-US" altLang="zh-CN" sz="3200">
                <a:solidFill>
                  <a:schemeClr val="tx1"/>
                </a:solidFill>
              </a:rPr>
              <a:t>TCP</a:t>
            </a:r>
          </a:p>
          <a:p>
            <a:pPr marL="390525" indent="-292100" algn="l">
              <a:spcBef>
                <a:spcPct val="20000"/>
              </a:spcBef>
              <a:buClr>
                <a:schemeClr val="hlink"/>
              </a:buClr>
              <a:buSzPct val="75000"/>
              <a:buFont typeface="Wingdings" pitchFamily="2" charset="2"/>
              <a:buChar char="ü"/>
            </a:pPr>
            <a:r>
              <a:rPr lang="zh-CN" altLang="en-US" sz="3200">
                <a:solidFill>
                  <a:schemeClr val="tx1"/>
                </a:solidFill>
              </a:rPr>
              <a:t>可靠数据传输</a:t>
            </a:r>
            <a:endParaRPr lang="en-US" altLang="zh-CN" sz="3200">
              <a:solidFill>
                <a:schemeClr val="tx1"/>
              </a:solidFill>
            </a:endParaRPr>
          </a:p>
          <a:p>
            <a:pPr marL="390525" indent="-292100" algn="l">
              <a:spcBef>
                <a:spcPct val="20000"/>
              </a:spcBef>
              <a:buClr>
                <a:schemeClr val="hlink"/>
              </a:buClr>
              <a:buSzPct val="75000"/>
              <a:buFont typeface="Wingdings" pitchFamily="2" charset="2"/>
              <a:buChar char="ü"/>
            </a:pPr>
            <a:r>
              <a:rPr kumimoji="1" lang="zh-CN" altLang="en-US" sz="3200">
                <a:solidFill>
                  <a:schemeClr val="tx1"/>
                </a:solidFill>
              </a:rPr>
              <a:t>流控与拥塞控制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CACACA"/>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800" b="0" i="0" u="none" strike="noStrike" cap="none" normalizeH="0" baseline="0" smtClean="0">
            <a:ln>
              <a:noFill/>
            </a:ln>
            <a:solidFill>
              <a:srgbClr val="CACACA"/>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CACACA"/>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800" b="0" i="0" u="none" strike="noStrike" cap="none" normalizeH="0" baseline="0" smtClean="0">
            <a:ln>
              <a:noFill/>
            </a:ln>
            <a:solidFill>
              <a:srgbClr val="CACACA"/>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E:\Program Files\Microsoft Office\Templates\Presentation Designs\Blends.pot</Template>
  <TotalTime>9616</TotalTime>
  <Words>1949</Words>
  <Application>Microsoft Office PowerPoint</Application>
  <PresentationFormat>宽屏</PresentationFormat>
  <Paragraphs>452</Paragraphs>
  <Slides>42</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42</vt:i4>
      </vt:variant>
    </vt:vector>
  </HeadingPairs>
  <TitlesOfParts>
    <vt:vector size="59" baseType="lpstr">
      <vt:lpstr>Courier</vt:lpstr>
      <vt:lpstr>Math3</vt:lpstr>
      <vt:lpstr>Monotype Sorts</vt:lpstr>
      <vt:lpstr>华文楷体</vt:lpstr>
      <vt:lpstr>华文中宋</vt:lpstr>
      <vt:lpstr>隶书</vt:lpstr>
      <vt:lpstr>宋体</vt:lpstr>
      <vt:lpstr>Arial</vt:lpstr>
      <vt:lpstr>Comic Sans MS</vt:lpstr>
      <vt:lpstr>Symbol</vt:lpstr>
      <vt:lpstr>Tahoma</vt:lpstr>
      <vt:lpstr>Times New Roman</vt:lpstr>
      <vt:lpstr>Wingdings</vt:lpstr>
      <vt:lpstr>Blends</vt:lpstr>
      <vt:lpstr>文档</vt:lpstr>
      <vt:lpstr>Clip</vt:lpstr>
      <vt:lpstr>VISIO</vt:lpstr>
      <vt:lpstr>PowerPoint 演示文稿</vt:lpstr>
      <vt:lpstr>传输层</vt:lpstr>
      <vt:lpstr>传输层所处的位置</vt:lpstr>
      <vt:lpstr>本章目的</vt:lpstr>
      <vt:lpstr>本章主要内容</vt:lpstr>
      <vt:lpstr>传输服务与协议</vt:lpstr>
      <vt:lpstr>QoS 参数</vt:lpstr>
      <vt:lpstr>Qos 参数(续)</vt:lpstr>
      <vt:lpstr>Internet传输层协议</vt:lpstr>
      <vt:lpstr>UDP – 用户数据报协议</vt:lpstr>
      <vt:lpstr>复用 / 逆复用</vt:lpstr>
      <vt:lpstr>复用 / 逆复用</vt:lpstr>
      <vt:lpstr>复用 / 逆复用</vt:lpstr>
      <vt:lpstr>PowerPoint 演示文稿</vt:lpstr>
      <vt:lpstr>TCP: 概述</vt:lpstr>
      <vt:lpstr>TCP: 概述</vt:lpstr>
      <vt:lpstr>TCP: 概述</vt:lpstr>
      <vt:lpstr>TCP  </vt:lpstr>
      <vt:lpstr>TCP 序列号和确认码 (I)</vt:lpstr>
      <vt:lpstr>TCP Seq. #’s and ACKs (II)20201207</vt:lpstr>
      <vt:lpstr>TCP</vt:lpstr>
      <vt:lpstr>TCP连接管理</vt:lpstr>
      <vt:lpstr>TCP 连接建立</vt:lpstr>
      <vt:lpstr>三次握手</vt:lpstr>
      <vt:lpstr>TCP 连接释放</vt:lpstr>
      <vt:lpstr>正常的TCP生命周期</vt:lpstr>
      <vt:lpstr>复位TCP连接</vt:lpstr>
      <vt:lpstr>TCP</vt:lpstr>
      <vt:lpstr>交互式与海量数据</vt:lpstr>
      <vt:lpstr>TCP  </vt:lpstr>
      <vt:lpstr>流控与阻塞控制</vt:lpstr>
      <vt:lpstr>TCP流控</vt:lpstr>
      <vt:lpstr>拥塞问题</vt:lpstr>
      <vt:lpstr>拥塞: A Close-up View</vt:lpstr>
      <vt:lpstr>拥塞控制与拥塞避免</vt:lpstr>
      <vt:lpstr>拥塞检测</vt:lpstr>
      <vt:lpstr>TCP 拥塞控制</vt:lpstr>
      <vt:lpstr>慢启动</vt:lpstr>
      <vt:lpstr>慢启动的例子</vt:lpstr>
      <vt:lpstr>拥塞避免</vt:lpstr>
      <vt:lpstr>The big picture(整体图）</vt:lpstr>
      <vt:lpstr>Summary</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陈剑波</dc:creator>
  <cp:lastModifiedBy>陈剑波</cp:lastModifiedBy>
  <cp:revision>868</cp:revision>
  <dcterms:created xsi:type="dcterms:W3CDTF">2000-11-07T02:44:39Z</dcterms:created>
  <dcterms:modified xsi:type="dcterms:W3CDTF">2020-12-07T01:35:00Z</dcterms:modified>
</cp:coreProperties>
</file>